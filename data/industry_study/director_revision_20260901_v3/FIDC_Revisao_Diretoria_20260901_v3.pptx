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8.xml" ContentType="application/vnd.openxmlformats-officedocument.drawingml.chart+xml"/>
  <Override PartName="/ppt/slides/charts/chart9.xml" ContentType="application/vnd.openxmlformats-officedocument.drawingml.chart+xml"/>
  <Override PartName="/ppt/slides/charts/chart10.xml" ContentType="application/vnd.openxmlformats-officedocument.drawingml.chart+xml"/>
  <Override PartName="/ppt/slides/charts/chart11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59a6c634ab4bcc" /><Relationship Type="http://schemas.openxmlformats.org/officeDocument/2006/relationships/extended-properties" Target="/docProps/app.xml" Id="R70077c9ed62c4696" /><Relationship Type="http://schemas.openxmlformats.org/officeDocument/2006/relationships/officeDocument" Target="/ppt/presentation.xml" Id="R95a655e3d81b4c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241d1674004c08"/>
  </p:sldMasterIdLst>
  <p:notesMasterIdLst>
    <p:notesMasterId xmlns:r="http://schemas.openxmlformats.org/officeDocument/2006/relationships" r:id="Rb4f523f461614ab6"/>
  </p:notesMasterIdLst>
  <p:sldIdLst>
    <p:sldId xmlns:r="http://schemas.openxmlformats.org/officeDocument/2006/relationships" id="256" r:id="R29cb774712c141c4"/>
    <p:sldId xmlns:r="http://schemas.openxmlformats.org/officeDocument/2006/relationships" id="257" r:id="R0a016c1b338b439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2dbc7bde9f44b2" /><Relationship Type="http://schemas.openxmlformats.org/officeDocument/2006/relationships/slideMaster" Target="/ppt/slideMasters/slideMaster1.xml" Id="Rc7241d1674004c08" /><Relationship Type="http://schemas.openxmlformats.org/officeDocument/2006/relationships/notesMaster" Target="/ppt/notesMasters/notesMaster1.xml" Id="Rb4f523f461614ab6" /><Relationship Type="http://schemas.openxmlformats.org/officeDocument/2006/relationships/presProps" Target="/ppt/presProps.xml" Id="R8d0dd6ba0a6c4657" /><Relationship Type="http://schemas.openxmlformats.org/officeDocument/2006/relationships/tableStyles" Target="/ppt/tableStyles.xml" Id="R009dabb686b64e44" /><Relationship Type="http://schemas.openxmlformats.org/officeDocument/2006/relationships/slide" Target="/ppt/slides/slide1.xml" Id="R29cb774712c141c4" /><Relationship Type="http://schemas.openxmlformats.org/officeDocument/2006/relationships/slide" Target="/ppt/slides/slide2.xml" Id="R0a016c1b338b43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120093da5546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Itau BBA FIDC Editorial">
      <a:dk1>
        <a:srgbClr val="151515"/>
      </a:dk1>
      <a:lt1>
        <a:srgbClr val="FFFFFF"/>
      </a:lt1>
      <a:dk2>
        <a:srgbClr val="30353A"/>
      </a:dk2>
      <a:lt2>
        <a:srgbClr val="E7E9EB"/>
      </a:lt2>
      <a:accent1>
        <a:srgbClr val="EC7000"/>
      </a:accent1>
      <a:accent2>
        <a:srgbClr val="151515"/>
      </a:accent2>
      <a:accent3>
        <a:srgbClr val="30353A"/>
      </a:accent3>
      <a:accent4>
        <a:srgbClr val="73787D"/>
      </a:accent4>
      <a:accent5>
        <a:srgbClr val="8D9399"/>
      </a:accent5>
      <a:accent6>
        <a:srgbClr val="D7DADD"/>
      </a:accent6>
      <a:hlink>
        <a:srgbClr val="EC7000"/>
      </a:hlink>
      <a:folHlink>
        <a:srgbClr val="7378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Itau BBA FIDC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7bab64c5ea4d98" /><Relationship Type="http://schemas.openxmlformats.org/officeDocument/2006/relationships/notesMaster" Target="/ppt/notesMasters/notesMaster1.xml" Id="Rb60f17880ec64a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a016e927f64278" /><Relationship Type="http://schemas.openxmlformats.org/officeDocument/2006/relationships/notesMaster" Target="/ppt/notesMasters/notesMaster1.xml" Id="Ra52a0f74f2f849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CVM Informe Mensal jun/26; bases/prestadores_separados.csv e prestadores_linhagem.csv. Itaú/Intrag/Kinea e Kanastra/Limine conforme curadoria documentada.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CVM Informe Mensal jun/26; bases/saldo_cenarios.csv; bases/emissoes_por_categoria.csv; bases/exclusoes_por_cnpj.csv. PF/PJ via bases/pfpj_24_incluidos.csv. Cenário sem CNPJs 09195235000150 e 26287464000114.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930dc7fb3a4b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1dddb7ebd24dbf" /><Relationship Type="http://schemas.openxmlformats.org/officeDocument/2006/relationships/slideLayout" Target="/ppt/slideLayouts/slideLayout1.xml" Id="R74df1522c31342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df1522c31342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Itau BBA FIDC Editorial">
      <a:dk1>
        <a:srgbClr val="151515"/>
      </a:dk1>
      <a:lt1>
        <a:srgbClr val="FFFFFF"/>
      </a:lt1>
      <a:dk2>
        <a:srgbClr val="30353A"/>
      </a:dk2>
      <a:lt2>
        <a:srgbClr val="E7E9EB"/>
      </a:lt2>
      <a:accent1>
        <a:srgbClr val="EC7000"/>
      </a:accent1>
      <a:accent2>
        <a:srgbClr val="151515"/>
      </a:accent2>
      <a:accent3>
        <a:srgbClr val="30353A"/>
      </a:accent3>
      <a:accent4>
        <a:srgbClr val="73787D"/>
      </a:accent4>
      <a:accent5>
        <a:srgbClr val="8D9399"/>
      </a:accent5>
      <a:accent6>
        <a:srgbClr val="D7DADD"/>
      </a:accent6>
      <a:hlink>
        <a:srgbClr val="EC7000"/>
      </a:hlink>
      <a:folHlink>
        <a:srgbClr val="7378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Itau BBA FIDC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14c0fbf59549bd" /><Relationship Type="http://schemas.openxmlformats.org/officeDocument/2006/relationships/chart" Target="/ppt/slides/charts/chart1.xml" Id="R46e66fc3433e4772" /><Relationship Type="http://schemas.openxmlformats.org/officeDocument/2006/relationships/chart" Target="/ppt/slides/charts/chart2.xml" Id="R6480c891c1064543" /><Relationship Type="http://schemas.openxmlformats.org/officeDocument/2006/relationships/chart" Target="/ppt/slides/charts/chart3.xml" Id="R856554dd6c77413e" /><Relationship Type="http://schemas.openxmlformats.org/officeDocument/2006/relationships/chart" Target="/ppt/slides/charts/chart4.xml" Id="Rcf8ab6e59c244118" /><Relationship Type="http://schemas.openxmlformats.org/officeDocument/2006/relationships/chart" Target="/ppt/slides/charts/chart5.xml" Id="R009510913848478b" /><Relationship Type="http://schemas.openxmlformats.org/officeDocument/2006/relationships/chart" Target="/ppt/slides/charts/chart6.xml" Id="R94661e3060e84889" /><Relationship Type="http://schemas.openxmlformats.org/officeDocument/2006/relationships/chart" Target="/ppt/slides/charts/chart7.xml" Id="R12f3f01f960d4ca8" /><Relationship Type="http://schemas.openxmlformats.org/officeDocument/2006/relationships/notesSlide" Target="/ppt/notesSlides/notesSlide1.xml" Id="R316f3dc6da184e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8f79a3f90142a0" /><Relationship Type="http://schemas.openxmlformats.org/officeDocument/2006/relationships/chart" Target="/ppt/slides/charts/chart8.xml" Id="R8a63395da49b43e0" /><Relationship Type="http://schemas.openxmlformats.org/officeDocument/2006/relationships/chart" Target="/ppt/slides/charts/chart9.xml" Id="Rcfb1e22a6c55409f" /><Relationship Type="http://schemas.openxmlformats.org/officeDocument/2006/relationships/chart" Target="/ppt/slides/charts/chart10.xml" Id="Rf38b1748bb284818" /><Relationship Type="http://schemas.openxmlformats.org/officeDocument/2006/relationships/chart" Target="/ppt/slides/charts/chart11.xml" Id="Re0e6d2ac87244038" /><Relationship Type="http://schemas.openxmlformats.org/officeDocument/2006/relationships/notesSlide" Target="/ppt/notesSlides/notesSlide2.xml" Id="R5d88e745dca14d70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QI Tech</c:v>
          </c:tx>
          <c:spPr>
            <a:ln xmlns:a="http://schemas.openxmlformats.org/drawingml/2006/main" w="28575">
              <a:solidFill>
                <a:srgbClr val="2456D6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1"/>
          <c:order val="1"/>
          <c:tx>
            <c:v>BTG Pactual</c:v>
          </c:tx>
          <c:spPr>
            <a:ln xmlns:a="http://schemas.openxmlformats.org/drawingml/2006/main" w="28575">
              <a:solidFill>
                <a:srgbClr val="1D4080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2"/>
          <c:order val="2"/>
          <c:tx>
            <c:v>Oliveira Trust</c:v>
          </c:tx>
          <c:spPr>
            <a:ln xmlns:a="http://schemas.openxmlformats.org/drawingml/2006/main" w="28575">
              <a:solidFill>
                <a:srgbClr val="7A1F3D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3"/>
          <c:order val="3"/>
          <c:tx>
            <c:v>Itaú</c:v>
          </c:tx>
          <c:spPr>
            <a:ln xmlns:a="http://schemas.openxmlformats.org/drawingml/2006/main" w="28575">
              <a:solidFill>
                <a:srgbClr val="FF5500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4"/>
          <c:order val="4"/>
          <c:tx>
            <c:v>Genial</c:v>
          </c:tx>
          <c:spPr>
            <a:ln xmlns:a="http://schemas.openxmlformats.org/drawingml/2006/main" w="28575">
              <a:solidFill>
                <a:srgbClr val="6EC5E9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5"/>
          <c:order val="5"/>
          <c:tx>
            <c:v>CBSF / REAG</c:v>
          </c:tx>
          <c:spPr>
            <a:ln xmlns:a="http://schemas.openxmlformats.org/drawingml/2006/main" w="28575">
              <a:solidFill>
                <a:srgbClr val="73C6A1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6"/>
          <c:order val="6"/>
          <c:tx>
            <c:v>Demais</c:v>
          </c:tx>
          <c:spPr>
            <a:ln xmlns:a="http://schemas.openxmlformats.org/drawingml/2006/main" w="28575">
              <a:solidFill>
                <a:srgbClr val="73787D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PL jun/26</c:v>
          </c:tx>
          <c:spPr>
            <a:solidFill xmlns:a="http://schemas.openxmlformats.org/drawingml/2006/main">
              <a:srgbClr val="30353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030A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F550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BEC2C5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73787D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7A1F3D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1D4080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2456D6"/>
              </a:solidFill>
            </c:spPr>
          </c:dPt>
          <c:cat>
            <c:strLit>
              <c:ptCount val="7"/>
              <c:pt idx="0">
                <c:v>Kanastra / Limine</c:v>
              </c:pt>
              <c:pt idx="1">
                <c:v>Itaú</c:v>
              </c:pt>
              <c:pt idx="2">
                <c:v>Daycoval</c:v>
              </c:pt>
              <c:pt idx="3">
                <c:v>Bradesco</c:v>
              </c:pt>
              <c:pt idx="4">
                <c:v>Oliveira Trust</c:v>
              </c:pt>
              <c:pt idx="5">
                <c:v>BTG Pactual</c:v>
              </c:pt>
              <c:pt idx="6">
                <c:v>QI Tech</c:v>
              </c:pt>
            </c:strLit>
          </c:cat>
          <c:val>
            <c:numLit>
              <c:formatCode>0.0</c:formatCode>
              <c:ptCount val="7"/>
              <c:pt idx="0">
                <c:v>12.84615693169</c:v>
              </c:pt>
              <c:pt idx="1">
                <c:v>27.05634936661</c:v>
              </c:pt>
              <c:pt idx="2">
                <c:v>49.75417439041</c:v>
              </c:pt>
              <c:pt idx="3">
                <c:v>49.77770817222</c:v>
              </c:pt>
              <c:pt idx="4">
                <c:v>56.87136007691</c:v>
              </c:pt>
              <c:pt idx="5">
                <c:v>107.91817098489999</c:v>
              </c:pt>
              <c:pt idx="6">
                <c:v>116.97439427594999</c:v>
              </c:pt>
            </c:numLit>
          </c:val>
        </c:ser>
        <c:dLbls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PL jun/26</c:v>
          </c:tx>
          <c:spPr>
            <a:solidFill xmlns:a="http://schemas.openxmlformats.org/drawingml/2006/main">
              <a:srgbClr val="30353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30353A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454A4F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5B6065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7A1F3D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2456D6"/>
              </a:solidFill>
            </c:spPr>
          </c:dPt>
          <c:cat>
            <c:strLit>
              <c:ptCount val="5"/>
              <c:pt idx="0">
                <c:v>Hemera</c:v>
              </c:pt>
              <c:pt idx="1">
                <c:v>BRL Trust</c:v>
              </c:pt>
              <c:pt idx="2">
                <c:v>Finaxis</c:v>
              </c:pt>
              <c:pt idx="3">
                <c:v>Oliveira Trust</c:v>
              </c:pt>
              <c:pt idx="4">
                <c:v>QI Tech</c:v>
              </c:pt>
            </c:strLit>
          </c:cat>
          <c:val>
            <c:numLit>
              <c:formatCode>0.0</c:formatCode>
              <c:ptCount val="5"/>
              <c:pt idx="0">
                <c:v>21.00943573536</c:v>
              </c:pt>
              <c:pt idx="1">
                <c:v>21.26060727013</c:v>
              </c:pt>
              <c:pt idx="2">
                <c:v>22.30772786867</c:v>
              </c:pt>
              <c:pt idx="3">
                <c:v>56.87136007691</c:v>
              </c:pt>
              <c:pt idx="4">
                <c:v>116.97439427594999</c:v>
              </c:pt>
            </c:numLit>
          </c:val>
        </c:ser>
        <c:dLbls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PL jun/26</c:v>
          </c:tx>
          <c:spPr>
            <a:solidFill xmlns:a="http://schemas.openxmlformats.org/drawingml/2006/main">
              <a:srgbClr val="30353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030A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F550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8D9399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6EC5E9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7A1F3D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73787D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1D4080"/>
              </a:solidFill>
            </c:spPr>
          </c:dPt>
          <c:cat>
            <c:strLit>
              <c:ptCount val="7"/>
              <c:pt idx="0">
                <c:v>Kanastra / Limine</c:v>
              </c:pt>
              <c:pt idx="1">
                <c:v>Itaú</c:v>
              </c:pt>
              <c:pt idx="2">
                <c:v>Tercon Investimentos</c:v>
              </c:pt>
              <c:pt idx="3">
                <c:v>Genial</c:v>
              </c:pt>
              <c:pt idx="4">
                <c:v>Oliveira Trust</c:v>
              </c:pt>
              <c:pt idx="5">
                <c:v>Bradesco</c:v>
              </c:pt>
              <c:pt idx="6">
                <c:v>BTG Pactual</c:v>
              </c:pt>
            </c:strLit>
          </c:cat>
          <c:val>
            <c:numLit>
              <c:formatCode>0.0</c:formatCode>
              <c:ptCount val="7"/>
              <c:pt idx="0">
                <c:v>10.61117776359</c:v>
              </c:pt>
              <c:pt idx="1">
                <c:v>20.5830639885</c:v>
              </c:pt>
              <c:pt idx="2">
                <c:v>21.696113631950002</c:v>
              </c:pt>
              <c:pt idx="3">
                <c:v>26.87573463003</c:v>
              </c:pt>
              <c:pt idx="4">
                <c:v>35.02222544035998</c:v>
              </c:pt>
              <c:pt idx="5">
                <c:v>39.85656848075</c:v>
              </c:pt>
              <c:pt idx="6">
                <c:v>78.74983410723001</c:v>
              </c:pt>
            </c:numLit>
          </c:val>
        </c:ser>
        <c:dLbls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PL jun/26</c:v>
          </c:tx>
          <c:spPr>
            <a:solidFill xmlns:a="http://schemas.openxmlformats.org/drawingml/2006/main">
              <a:srgbClr val="30353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3C6A1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BEC2C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A7ACB0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8D9399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7A1F3D"/>
              </a:solidFill>
            </c:spPr>
          </c:dPt>
          <c:cat>
            <c:strLit>
              <c:ptCount val="5"/>
              <c:pt idx="0">
                <c:v>CBSF</c:v>
              </c:pt>
              <c:pt idx="1">
                <c:v>Solis Investimentos</c:v>
              </c:pt>
              <c:pt idx="2">
                <c:v>Integral Investimentos</c:v>
              </c:pt>
              <c:pt idx="3">
                <c:v>Tercon Investimentos</c:v>
              </c:pt>
              <c:pt idx="4">
                <c:v>Oliveira Trust</c:v>
              </c:pt>
            </c:strLit>
          </c:cat>
          <c:val>
            <c:numLit>
              <c:formatCode>0.0</c:formatCode>
              <c:ptCount val="5"/>
              <c:pt idx="0">
                <c:v>10.17441132442</c:v>
              </c:pt>
              <c:pt idx="1">
                <c:v>14.32953247391</c:v>
              </c:pt>
              <c:pt idx="2">
                <c:v>14.931875223759999</c:v>
              </c:pt>
              <c:pt idx="3">
                <c:v>21.696113631950002</c:v>
              </c:pt>
              <c:pt idx="4">
                <c:v>35.02222544035998</c:v>
              </c:pt>
            </c:numLit>
          </c:val>
        </c:ser>
        <c:dLbls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PL jun/26</c:v>
          </c:tx>
          <c:spPr>
            <a:solidFill xmlns:a="http://schemas.openxmlformats.org/drawingml/2006/main">
              <a:srgbClr val="30353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030A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F550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3787D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BEC2C5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7A1F3D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1D4080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2456D6"/>
              </a:solidFill>
            </c:spPr>
          </c:dPt>
          <c:cat>
            <c:strLit>
              <c:ptCount val="7"/>
              <c:pt idx="0">
                <c:v>Kanastra / Limine</c:v>
              </c:pt>
              <c:pt idx="1">
                <c:v>Itaú</c:v>
              </c:pt>
              <c:pt idx="2">
                <c:v>Bradesco</c:v>
              </c:pt>
              <c:pt idx="3">
                <c:v>Daycoval</c:v>
              </c:pt>
              <c:pt idx="4">
                <c:v>Oliveira Trust</c:v>
              </c:pt>
              <c:pt idx="5">
                <c:v>BTG Pactual</c:v>
              </c:pt>
              <c:pt idx="6">
                <c:v>QI Tech</c:v>
              </c:pt>
            </c:strLit>
          </c:cat>
          <c:val>
            <c:numLit>
              <c:formatCode>0.0</c:formatCode>
              <c:ptCount val="7"/>
              <c:pt idx="0">
                <c:v>19.494658191289997</c:v>
              </c:pt>
              <c:pt idx="1">
                <c:v>20.405586732159996</c:v>
              </c:pt>
              <c:pt idx="2">
                <c:v>48.43408476549</c:v>
              </c:pt>
              <c:pt idx="3">
                <c:v>55.81924378400999</c:v>
              </c:pt>
              <c:pt idx="4">
                <c:v>71.90092760434999</c:v>
              </c:pt>
              <c:pt idx="5">
                <c:v>107.26541902169001</c:v>
              </c:pt>
              <c:pt idx="6">
                <c:v>115.31244022541</c:v>
              </c:pt>
            </c:numLit>
          </c:val>
        </c:ser>
        <c:dLbls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7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PL jun/26</c:v>
          </c:tx>
          <c:spPr>
            <a:solidFill xmlns:a="http://schemas.openxmlformats.org/drawingml/2006/main">
              <a:srgbClr val="30353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454A4F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5B606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3C6A1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7A1F3D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2456D6"/>
              </a:solidFill>
            </c:spPr>
          </c:dPt>
          <c:cat>
            <c:strLit>
              <c:ptCount val="5"/>
              <c:pt idx="0">
                <c:v>BRL Trust</c:v>
              </c:pt>
              <c:pt idx="1">
                <c:v>Finaxis</c:v>
              </c:pt>
              <c:pt idx="2">
                <c:v>REAG</c:v>
              </c:pt>
              <c:pt idx="3">
                <c:v>Oliveira Trust</c:v>
              </c:pt>
              <c:pt idx="4">
                <c:v>QI Tech</c:v>
              </c:pt>
            </c:strLit>
          </c:cat>
          <c:val>
            <c:numLit>
              <c:formatCode>0.0</c:formatCode>
              <c:ptCount val="5"/>
              <c:pt idx="0">
                <c:v>21.26374598682</c:v>
              </c:pt>
              <c:pt idx="1">
                <c:v>22.30772786867</c:v>
              </c:pt>
              <c:pt idx="2">
                <c:v>25.04054022159</c:v>
              </c:pt>
              <c:pt idx="3">
                <c:v>71.90092760434999</c:v>
              </c:pt>
              <c:pt idx="4">
                <c:v>115.31244022541</c:v>
              </c:pt>
            </c:numLit>
          </c:val>
        </c:ser>
        <c:dLbls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8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Fomento Mercantil</c:v>
          </c:tx>
          <c:spPr>
            <a:solidFill xmlns:a="http://schemas.openxmlformats.org/drawingml/2006/main">
              <a:srgbClr val="73787D"/>
            </a:solidFill>
            <a:ln xmlns:a="http://schemas.openxmlformats.org/drawingml/2006/main">
              <a:solidFill>
                <a:srgbClr val="73787D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53.039866746449995</c:v>
              </c:pt>
              <c:pt idx="1">
                <c:v>66.99363287149001</c:v>
              </c:pt>
              <c:pt idx="2">
                <c:v>84.0510959145</c:v>
              </c:pt>
              <c:pt idx="3">
                <c:v>88.39237477025999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 xmlns:a="http://schemas.openxmlformats.org/drawingml/2006/main">
              <a:srgbClr val="104B08"/>
            </a:solidFill>
            <a:ln xmlns:a="http://schemas.openxmlformats.org/drawingml/2006/main">
              <a:solidFill>
                <a:srgbClr val="104B08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88.01231288842001</c:v>
              </c:pt>
              <c:pt idx="1">
                <c:v>110.78163928671</c:v>
              </c:pt>
              <c:pt idx="2">
                <c:v>134.72203186548</c:v>
              </c:pt>
              <c:pt idx="3">
                <c:v>142.63089658108998</c:v>
              </c:pt>
            </c:numLit>
          </c:val>
        </c:ser>
        <c:ser>
          <c:idx val="2"/>
          <c:order val="2"/>
          <c:tx>
            <c:v>Financeiro</c:v>
          </c:tx>
          <c:spPr>
            <a:solidFill xmlns:a="http://schemas.openxmlformats.org/drawingml/2006/main">
              <a:srgbClr val="F07800"/>
            </a:solidFill>
            <a:ln xmlns:a="http://schemas.openxmlformats.org/drawingml/2006/main">
              <a:solidFill>
                <a:srgbClr val="F0780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126.14605664653</c:v>
              </c:pt>
              <c:pt idx="1">
                <c:v>176.82850856551002</c:v>
              </c:pt>
              <c:pt idx="2">
                <c:v>231.72616772613995</c:v>
              </c:pt>
              <c:pt idx="3">
                <c:v>275.29447198864</c:v>
              </c:pt>
            </c:numLit>
          </c:val>
        </c:ser>
        <c:ser>
          <c:idx val="3"/>
          <c:order val="3"/>
          <c:tx>
            <c:v>Multicarteira Pulverizado PF/PJ</c:v>
          </c:tx>
          <c:spPr>
            <a:solidFill xmlns:a="http://schemas.openxmlformats.org/drawingml/2006/main">
              <a:srgbClr val="4472C4"/>
            </a:solidFill>
            <a:ln xmlns:a="http://schemas.openxmlformats.org/drawingml/2006/main">
              <a:solidFill>
                <a:srgbClr val="4472C4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3.0397972983000003</c:v>
              </c:pt>
              <c:pt idx="1">
                <c:v>3.80886973898</c:v>
              </c:pt>
              <c:pt idx="2">
                <c:v>5.862133668999999</c:v>
              </c:pt>
              <c:pt idx="3">
                <c:v>7.10264044208</c:v>
              </c:pt>
            </c:numLit>
          </c:val>
        </c:ser>
        <c:ser>
          <c:idx val="4"/>
          <c:order val="4"/>
          <c:tx>
            <c:v>Precatórios / ações</c:v>
          </c:tx>
          <c:spPr>
            <a:solidFill xmlns:a="http://schemas.openxmlformats.org/drawingml/2006/main">
              <a:srgbClr val="151515"/>
            </a:solidFill>
            <a:ln xmlns:a="http://schemas.openxmlformats.org/drawingml/2006/main">
              <a:solidFill>
                <a:srgbClr val="151515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54.14687833335</c:v>
              </c:pt>
              <c:pt idx="1">
                <c:v>71.53991117332</c:v>
              </c:pt>
              <c:pt idx="2">
                <c:v>92.67004840915</c:v>
              </c:pt>
              <c:pt idx="3">
                <c:v>81.84740187933002</c:v>
              </c:pt>
            </c:numLit>
          </c:val>
        </c:ser>
        <c:ser>
          <c:idx val="5"/>
          <c:order val="5"/>
          <c:tx>
            <c:v>Multicedente / multisacado</c:v>
          </c:tx>
          <c:spPr>
            <a:solidFill xmlns:a="http://schemas.openxmlformats.org/drawingml/2006/main">
              <a:srgbClr val="7030A0"/>
            </a:solidFill>
            <a:ln xmlns:a="http://schemas.openxmlformats.org/drawingml/2006/main">
              <a:solidFill>
                <a:srgbClr val="7030A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42.82259619404</c:v>
              </c:pt>
              <c:pt idx="1">
                <c:v>63.3543770927</c:v>
              </c:pt>
              <c:pt idx="2">
                <c:v>90.8173192781</c:v>
              </c:pt>
              <c:pt idx="3">
                <c:v>86.50477887797999</c:v>
              </c:pt>
            </c:numLit>
          </c:val>
        </c:ser>
        <c:ser>
          <c:idx val="6"/>
          <c:order val="6"/>
          <c:tx>
            <c:v>Recuperação / NP</c:v>
          </c:tx>
          <c:spPr>
            <a:solidFill xmlns:a="http://schemas.openxmlformats.org/drawingml/2006/main">
              <a:srgbClr val="D7DADF"/>
            </a:solidFill>
            <a:ln xmlns:a="http://schemas.openxmlformats.org/drawingml/2006/main">
              <a:solidFill>
                <a:srgbClr val="D7DADF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21.275962572810005</c:v>
              </c:pt>
              <c:pt idx="1">
                <c:v>33.66266718072</c:v>
              </c:pt>
              <c:pt idx="2">
                <c:v>33.97906413177999</c:v>
              </c:pt>
              <c:pt idx="3">
                <c:v>35.19928678253001</c:v>
              </c:pt>
            </c:numLit>
          </c:val>
        </c:ser>
        <c:ser>
          <c:idx val="7"/>
          <c:order val="7"/>
          <c:tx>
            <c:v>N/D</c:v>
          </c:tx>
          <c:spPr>
            <a:solidFill xmlns:a="http://schemas.openxmlformats.org/drawingml/2006/main">
              <a:srgbClr val="EEF0F2"/>
            </a:solidFill>
            <a:ln xmlns:a="http://schemas.openxmlformats.org/drawingml/2006/main">
              <a:solidFill>
                <a:srgbClr val="EEF0F2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0.4925227090800001</c:v>
              </c:pt>
              <c:pt idx="1">
                <c:v>0.22197586637999997</c:v>
              </c:pt>
              <c:pt idx="2">
                <c:v>0.08320776646000001</c:v>
              </c:pt>
              <c:pt idx="3">
                <c:v>1.63869010794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/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9.xml><?xml version="1.0" encoding="utf-8"?>
<c:chartSpace xmlns:c="http://schemas.openxmlformats.org/drawingml/2006/chart">
  <c:lang val="en-US"/>
  <c:chart>
    <c:plotArea>
      <c:barChart>
        <c:barDir val="col"/>
        <c:grouping val="percentStacked"/>
        <c:varyColors val="0"/>
        <c:ser>
          <c:idx val="0"/>
          <c:order val="0"/>
          <c:tx>
            <c:v>Fomento Mercantil</c:v>
          </c:tx>
          <c:spPr>
            <a:solidFill xmlns:a="http://schemas.openxmlformats.org/drawingml/2006/main">
              <a:srgbClr val="73787D"/>
            </a:solidFill>
            <a:ln xmlns:a="http://schemas.openxmlformats.org/drawingml/2006/main">
              <a:solidFill>
                <a:srgbClr val="73787D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0.1363576869727525</c:v>
              </c:pt>
              <c:pt idx="1">
                <c:v>0.1270764465658316</c:v>
              </c:pt>
              <c:pt idx="2">
                <c:v>0.1247213464961755</c:v>
              </c:pt>
              <c:pt idx="3">
                <c:v>0.123004561823407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 xmlns:a="http://schemas.openxmlformats.org/drawingml/2006/main">
              <a:srgbClr val="104B08"/>
            </a:solidFill>
            <a:ln xmlns:a="http://schemas.openxmlformats.org/drawingml/2006/main">
              <a:solidFill>
                <a:srgbClr val="104B08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0.2262666961053475</c:v>
              </c:pt>
              <c:pt idx="1">
                <c:v>0.2101354481297849</c:v>
              </c:pt>
              <c:pt idx="2">
                <c:v>0.1999106975839517</c:v>
              </c:pt>
              <c:pt idx="3">
                <c:v>0.1984814977766555</c:v>
              </c:pt>
            </c:numLit>
          </c:val>
        </c:ser>
        <c:ser>
          <c:idx val="2"/>
          <c:order val="2"/>
          <c:tx>
            <c:v>Financeiro</c:v>
          </c:tx>
          <c:spPr>
            <a:solidFill xmlns:a="http://schemas.openxmlformats.org/drawingml/2006/main">
              <a:srgbClr val="F07800"/>
            </a:solidFill>
            <a:ln xmlns:a="http://schemas.openxmlformats.org/drawingml/2006/main">
              <a:solidFill>
                <a:srgbClr val="F0780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0.324302935889369</c:v>
              </c:pt>
              <c:pt idx="1">
                <c:v>0.3354160321943587</c:v>
              </c:pt>
              <c:pt idx="2">
                <c:v>0.3438527403212231</c:v>
              </c:pt>
              <c:pt idx="3">
                <c:v>0.3830927270296855</c:v>
              </c:pt>
            </c:numLit>
          </c:val>
        </c:ser>
        <c:ser>
          <c:idx val="3"/>
          <c:order val="3"/>
          <c:tx>
            <c:v>Multicarteira Pulverizado PF/PJ</c:v>
          </c:tx>
          <c:spPr>
            <a:solidFill xmlns:a="http://schemas.openxmlformats.org/drawingml/2006/main">
              <a:srgbClr val="4472C4"/>
            </a:solidFill>
            <a:ln xmlns:a="http://schemas.openxmlformats.org/drawingml/2006/main">
              <a:solidFill>
                <a:srgbClr val="4472C4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0.0078148712258963</c:v>
              </c:pt>
              <c:pt idx="1">
                <c:v>0.0072248303475371</c:v>
              </c:pt>
              <c:pt idx="2">
                <c:v>0.0086986754495382</c:v>
              </c:pt>
              <c:pt idx="3">
                <c:v>0.0098838522851996</c:v>
              </c:pt>
            </c:numLit>
          </c:val>
        </c:ser>
        <c:ser>
          <c:idx val="4"/>
          <c:order val="4"/>
          <c:tx>
            <c:v>Precatórios / ações</c:v>
          </c:tx>
          <c:spPr>
            <a:solidFill xmlns:a="http://schemas.openxmlformats.org/drawingml/2006/main">
              <a:srgbClr val="151515"/>
            </a:solidFill>
            <a:ln xmlns:a="http://schemas.openxmlformats.org/drawingml/2006/main">
              <a:solidFill>
                <a:srgbClr val="151515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0.1392036507487046</c:v>
              </c:pt>
              <c:pt idx="1">
                <c:v>0.1357000256573569</c:v>
              </c:pt>
              <c:pt idx="2">
                <c:v>0.1375107973513174</c:v>
              </c:pt>
              <c:pt idx="3">
                <c:v>0.1138967454004706</c:v>
              </c:pt>
            </c:numLit>
          </c:val>
        </c:ser>
        <c:ser>
          <c:idx val="5"/>
          <c:order val="5"/>
          <c:tx>
            <c:v>Multicedente / multisacado</c:v>
          </c:tx>
          <c:spPr>
            <a:solidFill xmlns:a="http://schemas.openxmlformats.org/drawingml/2006/main">
              <a:srgbClr val="7030A0"/>
            </a:solidFill>
            <a:ln xmlns:a="http://schemas.openxmlformats.org/drawingml/2006/main">
              <a:solidFill>
                <a:srgbClr val="7030A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0.1100905889356954</c:v>
              </c:pt>
              <c:pt idx="1">
                <c:v>0.1201733473802729</c:v>
              </c:pt>
              <c:pt idx="2">
                <c:v>0.134761578326829</c:v>
              </c:pt>
              <c:pt idx="3">
                <c:v>0.1203778317889099</c:v>
              </c:pt>
            </c:numLit>
          </c:val>
        </c:ser>
        <c:ser>
          <c:idx val="6"/>
          <c:order val="6"/>
          <c:tx>
            <c:v>Recuperação / NP</c:v>
          </c:tx>
          <c:spPr>
            <a:solidFill xmlns:a="http://schemas.openxmlformats.org/drawingml/2006/main">
              <a:srgbClr val="D7DADF"/>
            </a:solidFill>
            <a:ln xmlns:a="http://schemas.openxmlformats.org/drawingml/2006/main">
              <a:solidFill>
                <a:srgbClr val="D7DADF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0.0546973667640558</c:v>
              </c:pt>
              <c:pt idx="1">
                <c:v>0.0638528162140403</c:v>
              </c:pt>
              <c:pt idx="2">
                <c:v>0.0504206945202293</c:v>
              </c:pt>
              <c:pt idx="3">
                <c:v>0.0489824247672355</c:v>
              </c:pt>
            </c:numLit>
          </c:val>
        </c:ser>
        <c:ser>
          <c:idx val="7"/>
          <c:order val="7"/>
          <c:tx>
            <c:v>N/D</c:v>
          </c:tx>
          <c:spPr>
            <a:solidFill xmlns:a="http://schemas.openxmlformats.org/drawingml/2006/main">
              <a:srgbClr val="EEF0F2"/>
            </a:solidFill>
            <a:ln xmlns:a="http://schemas.openxmlformats.org/drawingml/2006/main">
              <a:solidFill>
                <a:srgbClr val="EEF0F2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0.0012662033581786</c:v>
              </c:pt>
              <c:pt idx="1">
                <c:v>0.0004210535108172</c:v>
              </c:pt>
              <c:pt idx="2">
                <c:v>0.0001234699507355</c:v>
              </c:pt>
              <c:pt idx="3">
                <c:v>0.0022803591284361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/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0.25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10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Fomento Mercantil</c:v>
          </c:tx>
          <c:spPr>
            <a:solidFill xmlns:a="http://schemas.openxmlformats.org/drawingml/2006/main">
              <a:srgbClr val="73787D"/>
            </a:solidFill>
            <a:ln xmlns:a="http://schemas.openxmlformats.org/drawingml/2006/main">
              <a:solidFill>
                <a:srgbClr val="73787D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4.272733645318789</c:v>
              </c:pt>
              <c:pt idx="1">
                <c:v>9.46084314594</c:v>
              </c:pt>
              <c:pt idx="2">
                <c:v>8.85980114902</c:v>
              </c:pt>
              <c:pt idx="3">
                <c:v>3.9604598731999996</c:v>
              </c:pt>
              <c:pt idx="4">
                <c:v>5.60231892482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 xmlns:a="http://schemas.openxmlformats.org/drawingml/2006/main">
              <a:srgbClr val="104B08"/>
            </a:solidFill>
            <a:ln xmlns:a="http://schemas.openxmlformats.org/drawingml/2006/main">
              <a:solidFill>
                <a:srgbClr val="104B08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4.81492197807918</c:v>
              </c:pt>
              <c:pt idx="1">
                <c:v>17.46136403561</c:v>
              </c:pt>
              <c:pt idx="2">
                <c:v>27.4106918537</c:v>
              </c:pt>
              <c:pt idx="3">
                <c:v>18.84859596717</c:v>
              </c:pt>
              <c:pt idx="4">
                <c:v>10.74513727233</c:v>
              </c:pt>
            </c:numLit>
          </c:val>
        </c:ser>
        <c:ser>
          <c:idx val="2"/>
          <c:order val="2"/>
          <c:tx>
            <c:v>Financeiro</c:v>
          </c:tx>
          <c:spPr>
            <a:solidFill xmlns:a="http://schemas.openxmlformats.org/drawingml/2006/main">
              <a:srgbClr val="F07800"/>
            </a:solidFill>
            <a:ln xmlns:a="http://schemas.openxmlformats.org/drawingml/2006/main">
              <a:solidFill>
                <a:srgbClr val="F0780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15.42043709582751</c:v>
              </c:pt>
              <c:pt idx="1">
                <c:v>42.451896497339995</c:v>
              </c:pt>
              <c:pt idx="2">
                <c:v>51.61086148217</c:v>
              </c:pt>
              <c:pt idx="3">
                <c:v>21.28068209032</c:v>
              </c:pt>
              <c:pt idx="4">
                <c:v>37.7899990259</c:v>
              </c:pt>
            </c:numLit>
          </c:val>
        </c:ser>
        <c:ser>
          <c:idx val="3"/>
          <c:order val="3"/>
          <c:tx>
            <c:v>Multicarteira Pulverizado PF/PJ</c:v>
          </c:tx>
          <c:spPr>
            <a:solidFill xmlns:a="http://schemas.openxmlformats.org/drawingml/2006/main">
              <a:srgbClr val="4472C4"/>
            </a:solidFill>
            <a:ln xmlns:a="http://schemas.openxmlformats.org/drawingml/2006/main">
              <a:solidFill>
                <a:srgbClr val="4472C4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1.3295867388102478</c:v>
              </c:pt>
              <c:pt idx="1">
                <c:v>1.79225</c:v>
              </c:pt>
              <c:pt idx="2">
                <c:v>0.261</c:v>
              </c:pt>
              <c:pt idx="3">
                <c:v>0.13</c:v>
              </c:pt>
              <c:pt idx="4">
                <c:v>2.60300000007</c:v>
              </c:pt>
            </c:numLit>
          </c:val>
        </c:ser>
        <c:ser>
          <c:idx val="4"/>
          <c:order val="4"/>
          <c:tx>
            <c:v>Precatórios / ações</c:v>
          </c:tx>
          <c:spPr>
            <a:solidFill xmlns:a="http://schemas.openxmlformats.org/drawingml/2006/main">
              <a:srgbClr val="151515"/>
            </a:solidFill>
            <a:ln xmlns:a="http://schemas.openxmlformats.org/drawingml/2006/main">
              <a:solidFill>
                <a:srgbClr val="151515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3.339822969232049</c:v>
              </c:pt>
              <c:pt idx="1">
                <c:v>5.5087763108</c:v>
              </c:pt>
              <c:pt idx="2">
                <c:v>7.018108725239999</c:v>
              </c:pt>
              <c:pt idx="3">
                <c:v>3.2252896508299997</c:v>
              </c:pt>
              <c:pt idx="4">
                <c:v>2.07487987222</c:v>
              </c:pt>
            </c:numLit>
          </c:val>
        </c:ser>
        <c:ser>
          <c:idx val="5"/>
          <c:order val="5"/>
          <c:tx>
            <c:v>Multicedente / multisacado</c:v>
          </c:tx>
          <c:spPr>
            <a:solidFill xmlns:a="http://schemas.openxmlformats.org/drawingml/2006/main">
              <a:srgbClr val="7030A0"/>
            </a:solidFill>
            <a:ln xmlns:a="http://schemas.openxmlformats.org/drawingml/2006/main">
              <a:solidFill>
                <a:srgbClr val="7030A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2.287448611391622</c:v>
              </c:pt>
              <c:pt idx="1">
                <c:v>1.90953225977</c:v>
              </c:pt>
              <c:pt idx="2">
                <c:v>3.5888690035</c:v>
              </c:pt>
              <c:pt idx="3">
                <c:v>1.15603067773</c:v>
              </c:pt>
              <c:pt idx="4">
                <c:v>1.21970179492</c:v>
              </c:pt>
            </c:numLit>
          </c:val>
        </c:ser>
        <c:ser>
          <c:idx val="6"/>
          <c:order val="6"/>
          <c:tx>
            <c:v>Recuperação / NP</c:v>
          </c:tx>
          <c:spPr>
            <a:solidFill xmlns:a="http://schemas.openxmlformats.org/drawingml/2006/main">
              <a:srgbClr val="D7DADF"/>
            </a:solidFill>
            <a:ln xmlns:a="http://schemas.openxmlformats.org/drawingml/2006/main">
              <a:solidFill>
                <a:srgbClr val="D7DADF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0.8743020042766778</c:v>
              </c:pt>
              <c:pt idx="1">
                <c:v>1.7879510000799999</c:v>
              </c:pt>
              <c:pt idx="2">
                <c:v>2.45979375898</c:v>
              </c:pt>
              <c:pt idx="3">
                <c:v>0.6778</c:v>
              </c:pt>
              <c:pt idx="4">
                <c:v>0.29309674031</c:v>
              </c:pt>
            </c:numLit>
          </c:val>
        </c:ser>
        <c:ser>
          <c:idx val="7"/>
          <c:order val="7"/>
          <c:tx>
            <c:v>N/D</c:v>
          </c:tx>
          <c:spPr>
            <a:solidFill xmlns:a="http://schemas.openxmlformats.org/drawingml/2006/main">
              <a:srgbClr val="EEF0F2"/>
            </a:solidFill>
            <a:ln xmlns:a="http://schemas.openxmlformats.org/drawingml/2006/main">
              <a:solidFill>
                <a:srgbClr val="EEF0F2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8.542325907839587</c:v>
              </c:pt>
              <c:pt idx="1">
                <c:v>8.013988884309999</c:v>
              </c:pt>
              <c:pt idx="2">
                <c:v>5.23622188904</c:v>
              </c:pt>
              <c:pt idx="3">
                <c:v>3.15074370915</c:v>
              </c:pt>
              <c:pt idx="4">
                <c:v>2.3466058039299997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51515"/>
                  </a:solidFill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11.xml><?xml version="1.0" encoding="utf-8"?>
<c:chartSpace xmlns:c="http://schemas.openxmlformats.org/drawingml/2006/chart">
  <c:lang val="en-US"/>
  <c:chart>
    <c:plotArea>
      <c:barChart>
        <c:barDir val="col"/>
        <c:grouping val="percentStacked"/>
        <c:varyColors val="0"/>
        <c:ser>
          <c:idx val="0"/>
          <c:order val="0"/>
          <c:tx>
            <c:v>Fomento Mercantil</c:v>
          </c:tx>
          <c:spPr>
            <a:solidFill xmlns:a="http://schemas.openxmlformats.org/drawingml/2006/main">
              <a:srgbClr val="73787D"/>
            </a:solidFill>
            <a:ln xmlns:a="http://schemas.openxmlformats.org/drawingml/2006/main">
              <a:solidFill>
                <a:srgbClr val="73787D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0.1045148880003745</c:v>
              </c:pt>
              <c:pt idx="1">
                <c:v>0.1070393353464678</c:v>
              </c:pt>
              <c:pt idx="2">
                <c:v>0.0832333336026609</c:v>
              </c:pt>
              <c:pt idx="3">
                <c:v>0.0755386217806311</c:v>
              </c:pt>
              <c:pt idx="4">
                <c:v>0.0893871913209126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 xmlns:a="http://schemas.openxmlformats.org/drawingml/2006/main">
              <a:srgbClr val="104B08"/>
            </a:solidFill>
            <a:ln xmlns:a="http://schemas.openxmlformats.org/drawingml/2006/main">
              <a:solidFill>
                <a:srgbClr val="104B08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0.1177772997436496</c:v>
              </c:pt>
              <c:pt idx="1">
                <c:v>0.1975566840907294</c:v>
              </c:pt>
              <c:pt idx="2">
                <c:v>0.2575095333365479</c:v>
              </c:pt>
              <c:pt idx="3">
                <c:v>0.359502938407396</c:v>
              </c:pt>
              <c:pt idx="4">
                <c:v>0.1714428710718376</c:v>
              </c:pt>
            </c:numLit>
          </c:val>
        </c:ser>
        <c:ser>
          <c:idx val="2"/>
          <c:order val="2"/>
          <c:tx>
            <c:v>Financeiro</c:v>
          </c:tx>
          <c:spPr>
            <a:solidFill xmlns:a="http://schemas.openxmlformats.org/drawingml/2006/main">
              <a:srgbClr val="F07800"/>
            </a:solidFill>
            <a:ln xmlns:a="http://schemas.openxmlformats.org/drawingml/2006/main">
              <a:solidFill>
                <a:srgbClr val="F0780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0.3771976888269119</c:v>
              </c:pt>
              <c:pt idx="1">
                <c:v>0.480297867238432</c:v>
              </c:pt>
              <c:pt idx="2">
                <c:v>0.4848578403750447</c:v>
              </c:pt>
              <c:pt idx="3">
                <c:v>0.4058905902651357</c:v>
              </c:pt>
              <c:pt idx="4">
                <c:v>0.6029542263257991</c:v>
              </c:pt>
            </c:numLit>
          </c:val>
        </c:ser>
        <c:ser>
          <c:idx val="3"/>
          <c:order val="3"/>
          <c:tx>
            <c:v>Multicarteira Pulverizado PF/PJ</c:v>
          </c:tx>
          <c:spPr>
            <a:solidFill xmlns:a="http://schemas.openxmlformats.org/drawingml/2006/main">
              <a:srgbClr val="4472C4"/>
            </a:solidFill>
            <a:ln xmlns:a="http://schemas.openxmlformats.org/drawingml/2006/main">
              <a:solidFill>
                <a:srgbClr val="4472C4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0.0325228812813508</c:v>
              </c:pt>
              <c:pt idx="1">
                <c:v>0.0202773945001966</c:v>
              </c:pt>
              <c:pt idx="2">
                <c:v>0.0024519624881984</c:v>
              </c:pt>
              <c:pt idx="3">
                <c:v>0.0024795152951638</c:v>
              </c:pt>
              <c:pt idx="4">
                <c:v>0.0415318838746882</c:v>
              </c:pt>
            </c:numLit>
          </c:val>
        </c:ser>
        <c:ser>
          <c:idx val="4"/>
          <c:order val="4"/>
          <c:tx>
            <c:v>Precatórios / ações</c:v>
          </c:tx>
          <c:spPr>
            <a:solidFill xmlns:a="http://schemas.openxmlformats.org/drawingml/2006/main">
              <a:srgbClr val="151515"/>
            </a:solidFill>
            <a:ln xmlns:a="http://schemas.openxmlformats.org/drawingml/2006/main">
              <a:solidFill>
                <a:srgbClr val="151515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0.0816950581398393</c:v>
              </c:pt>
              <c:pt idx="1">
                <c:v>0.062325920193851</c:v>
              </c:pt>
              <c:pt idx="2">
                <c:v>0.0659315683233205</c:v>
              </c:pt>
              <c:pt idx="3">
                <c:v>0.0615165770812817</c:v>
              </c:pt>
              <c:pt idx="4">
                <c:v>0.0331055205165776</c:v>
              </c:pt>
            </c:numLit>
          </c:val>
        </c:ser>
        <c:ser>
          <c:idx val="5"/>
          <c:order val="5"/>
          <c:tx>
            <c:v>Multicedente / multisacado</c:v>
          </c:tx>
          <c:spPr>
            <a:solidFill xmlns:a="http://schemas.openxmlformats.org/drawingml/2006/main">
              <a:srgbClr val="7030A0"/>
            </a:solidFill>
            <a:ln xmlns:a="http://schemas.openxmlformats.org/drawingml/2006/main">
              <a:solidFill>
                <a:srgbClr val="7030A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0.0559530397332714</c:v>
              </c:pt>
              <c:pt idx="1">
                <c:v>0.0216043180037429</c:v>
              </c:pt>
              <c:pt idx="2">
                <c:v>0.033715602190192</c:v>
              </c:pt>
              <c:pt idx="3">
                <c:v>0.0220491980546935</c:v>
              </c:pt>
              <c:pt idx="4">
                <c:v>0.0194608195570511</c:v>
              </c:pt>
            </c:numLit>
          </c:val>
        </c:ser>
        <c:ser>
          <c:idx val="6"/>
          <c:order val="6"/>
          <c:tx>
            <c:v>Recuperação / NP</c:v>
          </c:tx>
          <c:spPr>
            <a:solidFill xmlns:a="http://schemas.openxmlformats.org/drawingml/2006/main">
              <a:srgbClr val="D7DADF"/>
            </a:solidFill>
            <a:ln xmlns:a="http://schemas.openxmlformats.org/drawingml/2006/main">
              <a:solidFill>
                <a:srgbClr val="D7DADF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0.0213862093078498</c:v>
              </c:pt>
              <c:pt idx="1">
                <c:v>0.0202287559077379</c:v>
              </c:pt>
              <c:pt idx="2">
                <c:v>0.0231085135085195</c:v>
              </c:pt>
              <c:pt idx="3">
                <c:v>0.0129278112850927</c:v>
              </c:pt>
              <c:pt idx="4">
                <c:v>0.0046764732163954</c:v>
              </c:pt>
            </c:numLit>
          </c:val>
        </c:ser>
        <c:ser>
          <c:idx val="7"/>
          <c:order val="7"/>
          <c:tx>
            <c:v>N/D</c:v>
          </c:tx>
          <c:spPr>
            <a:solidFill xmlns:a="http://schemas.openxmlformats.org/drawingml/2006/main">
              <a:srgbClr val="EEF0F2"/>
            </a:solidFill>
            <a:ln xmlns:a="http://schemas.openxmlformats.org/drawingml/2006/main">
              <a:solidFill>
                <a:srgbClr val="EEF0F2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0.2089529349667525</c:v>
              </c:pt>
              <c:pt idx="1">
                <c:v>0.090669724718842</c:v>
              </c:pt>
              <c:pt idx="2">
                <c:v>0.0491916461755159</c:v>
              </c:pt>
              <c:pt idx="3">
                <c:v>0.0600947478306052</c:v>
              </c:pt>
              <c:pt idx="4">
                <c:v>0.0374410141167381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51515"/>
                  </a:solidFill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0.25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7BE0B2-82F1-46AC-8B0C-3B4DB0C2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Volume por prestador | Itaú e Kanastra separados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2E9EE8-D19D-4759-92FE-F8E2982A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Jun/26 · PL ex-FIC, em R$ bilhões · Top 5 + comparadores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5FFF56-0E51-4961-9E91-B2E283A6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CVM, jun/26. Sem Petrobras/TAPSO. Itaú inclui Intrag/Kinea; Kanastra inclui Limine. Independentes: curadoria original.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6F0A0E-F496-4C18-8FC2-C71ED293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graphicFrame>
        <p:nvGraphicFramePr>
          <p:cNvPr id="34" name="Chart"/>
          <p:cNvGraphicFramePr/>
          <p:nvPr/>
        </p:nvGraphicFramePr>
        <p:xfrm>
          <a:off xmlns:a="http://schemas.openxmlformats.org/drawingml/2006/main" x="1524000" y="1133475"/>
          <a:ext xmlns:a="http://schemas.openxmlformats.org/drawingml/2006/main" cx="9144000" cy="209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6e66fc3433e4772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5E7FDF-3CCF-4A8D-A229-F008BF3D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62075"/>
            <a:ext cx="528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Top 5 + Itaú + Kanastra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08E78B-B77B-4CFB-8675-D25ABE49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62075"/>
            <a:ext cx="528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Independentes*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404795-4DA9-475E-A82E-FD304DE8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528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8D9399"/>
                </a:solidFill>
                <a:latin typeface="Arial"/>
                <a:ea typeface="Arial"/>
                <a:cs typeface="Arial"/>
              </a:rPr>
              <a:t>Administração · ranking geral</a:t>
            </a:r>
          </a:p>
        </p:txBody>
      </p:sp>
      <p:graphicFrame>
        <p:nvGraphicFramePr>
          <p:cNvPr id="38" name="Chart"/>
          <p:cNvGraphicFramePr/>
          <p:nvPr/>
        </p:nvGraphicFramePr>
        <p:xfrm>
          <a:off xmlns:a="http://schemas.openxmlformats.org/drawingml/2006/main" x="571500" y="1752600"/>
          <a:ext xmlns:a="http://schemas.openxmlformats.org/drawingml/2006/main" cx="5286375" cy="133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480c891c1064543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F90D32-68FB-45D6-AD2B-97D48142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81150"/>
            <a:ext cx="528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8D9399"/>
                </a:solidFill>
                <a:latin typeface="Arial"/>
                <a:ea typeface="Arial"/>
                <a:cs typeface="Arial"/>
              </a:rPr>
              <a:t>Administração · ranking independente</a:t>
            </a:r>
          </a:p>
        </p:txBody>
      </p:sp>
      <p:graphicFrame>
        <p:nvGraphicFramePr>
          <p:cNvPr id="40" name="Chart"/>
          <p:cNvGraphicFramePr/>
          <p:nvPr/>
        </p:nvGraphicFramePr>
        <p:xfrm>
          <a:off xmlns:a="http://schemas.openxmlformats.org/drawingml/2006/main" x="6334125" y="1752600"/>
          <a:ext xmlns:a="http://schemas.openxmlformats.org/drawingml/2006/main" cx="5286375" cy="133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56554dd6c77413e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98255B-6CFA-44E4-A5E4-D5BEED30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14675"/>
            <a:ext cx="528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8D9399"/>
                </a:solidFill>
                <a:latin typeface="Arial"/>
                <a:ea typeface="Arial"/>
                <a:cs typeface="Arial"/>
              </a:rPr>
              <a:t>Gestão · ranking geral</a:t>
            </a:r>
          </a:p>
        </p:txBody>
      </p:sp>
      <p:graphicFrame>
        <p:nvGraphicFramePr>
          <p:cNvPr id="42" name="Chart"/>
          <p:cNvGraphicFramePr/>
          <p:nvPr/>
        </p:nvGraphicFramePr>
        <p:xfrm>
          <a:off xmlns:a="http://schemas.openxmlformats.org/drawingml/2006/main" x="571500" y="3286125"/>
          <a:ext xmlns:a="http://schemas.openxmlformats.org/drawingml/2006/main" cx="5286375" cy="133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f8ab6e59c244118"/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46CE80-C243-4112-822C-10A1EA66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14675"/>
            <a:ext cx="528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8D9399"/>
                </a:solidFill>
                <a:latin typeface="Arial"/>
                <a:ea typeface="Arial"/>
                <a:cs typeface="Arial"/>
              </a:rPr>
              <a:t>Gestão · ranking independente</a:t>
            </a:r>
          </a:p>
        </p:txBody>
      </p:sp>
      <p:graphicFrame>
        <p:nvGraphicFramePr>
          <p:cNvPr id="44" name="Chart"/>
          <p:cNvGraphicFramePr/>
          <p:nvPr/>
        </p:nvGraphicFramePr>
        <p:xfrm>
          <a:off xmlns:a="http://schemas.openxmlformats.org/drawingml/2006/main" x="6334125" y="3286125"/>
          <a:ext xmlns:a="http://schemas.openxmlformats.org/drawingml/2006/main" cx="5286375" cy="133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09510913848478b"/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DF51A5-29E1-4ACD-965A-8D3E316F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48200"/>
            <a:ext cx="528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8D9399"/>
                </a:solidFill>
                <a:latin typeface="Arial"/>
                <a:ea typeface="Arial"/>
                <a:cs typeface="Arial"/>
              </a:rPr>
              <a:t>Custódia · ranking geral</a:t>
            </a:r>
          </a:p>
        </p:txBody>
      </p:sp>
      <p:graphicFrame>
        <p:nvGraphicFramePr>
          <p:cNvPr id="46" name="Chart"/>
          <p:cNvGraphicFramePr/>
          <p:nvPr/>
        </p:nvGraphicFramePr>
        <p:xfrm>
          <a:off xmlns:a="http://schemas.openxmlformats.org/drawingml/2006/main" x="571500" y="4819650"/>
          <a:ext xmlns:a="http://schemas.openxmlformats.org/drawingml/2006/main" cx="5286375" cy="133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4661e3060e84889"/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FEAD2D-C806-47D0-B279-4637EB44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48200"/>
            <a:ext cx="528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8D9399"/>
                </a:solidFill>
                <a:latin typeface="Arial"/>
                <a:ea typeface="Arial"/>
                <a:cs typeface="Arial"/>
              </a:rPr>
              <a:t>Custódia · ranking independente</a:t>
            </a:r>
          </a:p>
        </p:txBody>
      </p:sp>
      <p:graphicFrame>
        <p:nvGraphicFramePr>
          <p:cNvPr id="48" name="Chart"/>
          <p:cNvGraphicFramePr/>
          <p:nvPr/>
        </p:nvGraphicFramePr>
        <p:xfrm>
          <a:off xmlns:a="http://schemas.openxmlformats.org/drawingml/2006/main" x="6334125" y="4819650"/>
          <a:ext xmlns:a="http://schemas.openxmlformats.org/drawingml/2006/main" cx="5286375" cy="133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2f3f01f960d4ca8"/>
          </a:graphicData>
        </a:graphic>
      </p:graphicFrame>
    </p:spTree>
    <p:extLst>
      <p:ext uri="{BB962C8B-B14F-4D97-AF65-F5344CB8AC3E}">
        <p14:creationId xmlns:p14="http://schemas.microsoft.com/office/powerpoint/2010/main" val="16696813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61E9AB-3AAB-4D60-A962-0359578B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Saldo e tipos de FIDCs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1D8600-051A-44EB-A9B1-A9516BD2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Saldo e Tipos de FIDCs | Abertura PF/PJ e cenário sem TAPSO/Petrobras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EFA90E-CFF1-47F3-BE28-1F26255E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* PF/PJ: 24 CNPJs; PL dos fundos, Top1 mensal &lt;=1%; Sólido e BizCapital em Financeiro. Emissões por CNPJ; FIC fora; 2023 escalado ANBIMA.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8893FC-6A38-45B2-9CDC-85DDAE61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D9A593-2060-4D9A-9ED7-7335A4F8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Saldo ex-FIC · R$ bi</a:t>
            </a:r>
          </a:p>
        </p:txBody>
      </p:sp>
      <p:graphicFrame>
        <p:nvGraphicFramePr>
          <p:cNvPr id="43" name="Chart"/>
          <p:cNvGraphicFramePr/>
          <p:nvPr/>
        </p:nvGraphicFramePr>
        <p:xfrm>
          <a:off xmlns:a="http://schemas.openxmlformats.org/drawingml/2006/main" x="571500" y="1495425"/>
          <a:ext xmlns:a="http://schemas.openxmlformats.org/drawingml/2006/main" cx="52387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a63395da49b43e0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A45B6F-20C4-49D6-9BC3-5A08A966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2573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Participação no saldo</a:t>
            </a:r>
          </a:p>
        </p:txBody>
      </p:sp>
      <p:graphicFrame>
        <p:nvGraphicFramePr>
          <p:cNvPr id="45" name="Chart"/>
          <p:cNvGraphicFramePr/>
          <p:nvPr/>
        </p:nvGraphicFramePr>
        <p:xfrm>
          <a:off xmlns:a="http://schemas.openxmlformats.org/drawingml/2006/main" x="6381750" y="1495425"/>
          <a:ext xmlns:a="http://schemas.openxmlformats.org/drawingml/2006/main" cx="52387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fb1e22a6c55409f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A61F68-14C2-42D0-B53D-006B46FD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996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78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9FBE62-BD10-4639-B789-B1FD4768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Fomento Mercantil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0D87BE-32AB-4612-B3E5-E0C2CC50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0996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3A7B0F-BD5F-4803-96B6-EB1A7027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7662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Agro, Indústria e Comércio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40C4AB-E80B-419B-ABEB-BBD76BA6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0996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9078F1-5E06-47BD-AE40-CC0BC454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7662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Financeiro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EAED78-5235-4223-A570-3669391C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0996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721392-2C47-427A-9F53-8C9A2495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7662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Precatórios / ações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BE602E-0B58-437A-A3DA-BE9D600F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331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5063EB-9E03-4318-9F56-22CEBDC1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997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Multicedente / multisacado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BD86D3-B894-4005-BAD6-19F0FBEB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4331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D7763B-CD4E-488C-8F18-459E63FA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0997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Recuperação / NP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56C7A7-6C8D-494B-BE67-899C8D22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4331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8378BB-CD34-4835-9D88-6C8E74D1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0997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PF/PJ*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635A71-6306-4A65-A146-C1F77DC6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290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Novas emissões por setor · R$ bi</a:t>
            </a:r>
          </a:p>
        </p:txBody>
      </p:sp>
      <p:graphicFrame>
        <p:nvGraphicFramePr>
          <p:cNvPr id="61" name="Chart"/>
          <p:cNvGraphicFramePr/>
          <p:nvPr/>
        </p:nvGraphicFramePr>
        <p:xfrm>
          <a:off xmlns:a="http://schemas.openxmlformats.org/drawingml/2006/main" x="571500" y="4067175"/>
          <a:ext xmlns:a="http://schemas.openxmlformats.org/drawingml/2006/main" cx="523875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38b1748bb284818"/>
          </a:graphicData>
        </a:graphic>
      </p:graphicFrame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AE2C19-A79F-4F3D-9BCA-DB4B4969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290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Novas emissões por setor · %</a:t>
            </a:r>
          </a:p>
        </p:txBody>
      </p:sp>
      <p:graphicFrame>
        <p:nvGraphicFramePr>
          <p:cNvPr id="63" name="Chart"/>
          <p:cNvGraphicFramePr/>
          <p:nvPr/>
        </p:nvGraphicFramePr>
        <p:xfrm>
          <a:off xmlns:a="http://schemas.openxmlformats.org/drawingml/2006/main" x="6381750" y="4067175"/>
          <a:ext xmlns:a="http://schemas.openxmlformats.org/drawingml/2006/main" cx="523875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0e6d2ac87244038"/>
          </a:graphicData>
        </a:graphic>
      </p:graphicFrame>
    </p:spTree>
    <p:extLst>
      <p:ext uri="{BB962C8B-B14F-4D97-AF65-F5344CB8AC3E}">
        <p14:creationId xmlns:p14="http://schemas.microsoft.com/office/powerpoint/2010/main" val="948990028"/>
      </p:ext>
    </p:extLst>
  </p:cSld>
</p:sld>
</file>

<file path=ppt/theme/theme1.xml><?xml version="1.0" encoding="utf-8"?>
<a:theme xmlns:a="http://schemas.openxmlformats.org/drawingml/2006/main" name="ChatGPT">
  <a:themeElements>
    <a:clrScheme name="Itau BBA FIDC Editorial">
      <a:dk1>
        <a:srgbClr val="151515"/>
      </a:dk1>
      <a:lt1>
        <a:srgbClr val="FFFFFF"/>
      </a:lt1>
      <a:dk2>
        <a:srgbClr val="30353A"/>
      </a:dk2>
      <a:lt2>
        <a:srgbClr val="E7E9EB"/>
      </a:lt2>
      <a:accent1>
        <a:srgbClr val="EC7000"/>
      </a:accent1>
      <a:accent2>
        <a:srgbClr val="151515"/>
      </a:accent2>
      <a:accent3>
        <a:srgbClr val="30353A"/>
      </a:accent3>
      <a:accent4>
        <a:srgbClr val="73787D"/>
      </a:accent4>
      <a:accent5>
        <a:srgbClr val="8D9399"/>
      </a:accent5>
      <a:accent6>
        <a:srgbClr val="D7DADD"/>
      </a:accent6>
      <a:hlink>
        <a:srgbClr val="EC7000"/>
      </a:hlink>
      <a:folHlink>
        <a:srgbClr val="7378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Itau BBA FIDC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2026-09-01T19:56:43.4790000Z</dcterms:created>
  <dcterms:modified xsi:type="dcterms:W3CDTF">2026-09-01T19:56:43.4790000Z</dcterms:modified>
</coreProperties>
</file>