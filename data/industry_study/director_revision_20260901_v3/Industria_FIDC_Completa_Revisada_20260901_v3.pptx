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slides/charts/chart36.xml" ContentType="application/vnd.openxmlformats-officedocument.drawingml.chart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40.xml" ContentType="application/vnd.openxmlformats-officedocument.drawingml.chart+xml"/>
  <Override PartName="/ppt/slides/charts/chart4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42.xml" ContentType="application/vnd.openxmlformats-officedocument.drawingml.chart+xml"/>
  <Override PartName="/ppt/slides/charts/chart43.xml" ContentType="application/vnd.openxmlformats-officedocument.drawingml.chart+xml"/>
  <Override PartName="/ppt/slides/charts/chart44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5.xml" ContentType="application/vnd.openxmlformats-officedocument.drawingml.chart+xml"/>
  <Override PartName="/ppt/slides/charts/chart46.xml" ContentType="application/vnd.openxmlformats-officedocument.drawingml.chart+xml"/>
  <Override PartName="/ppt/slides/charts/chart47.xml" ContentType="application/vnd.openxmlformats-officedocument.drawingml.chart+xml"/>
  <Override PartName="/ppt/slides/charts/chart48.xml" ContentType="application/vnd.openxmlformats-officedocument.drawingml.chart+xml"/>
  <Override PartName="/ppt/slides/charts/chart49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50.xml" ContentType="application/vnd.openxmlformats-officedocument.drawingml.chart+xml"/>
  <Override PartName="/ppt/slides/charts/chart51.xml" ContentType="application/vnd.openxmlformats-officedocument.drawingml.chart+xml"/>
  <Override PartName="/ppt/slides/charts/chart52.xml" ContentType="application/vnd.openxmlformats-officedocument.drawingml.chart+xml"/>
  <Override PartName="/ppt/slides/charts/chart53.xml" ContentType="application/vnd.openxmlformats-officedocument.drawingml.chart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337ed10a4e4180" /><Relationship Type="http://schemas.openxmlformats.org/officeDocument/2006/relationships/extended-properties" Target="/docProps/app.xml" Id="R5743ab5285f149d7" /><Relationship Type="http://schemas.openxmlformats.org/officeDocument/2006/relationships/officeDocument" Target="/ppt/presentation.xml" Id="Rc17db289d7bb43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402f59a7b43a4"/>
  </p:sldMasterIdLst>
  <p:notesMasterIdLst>
    <p:notesMasterId xmlns:r="http://schemas.openxmlformats.org/officeDocument/2006/relationships" r:id="R08b3b6bf05fe400e"/>
  </p:notesMasterIdLst>
  <p:sldIdLst>
    <p:sldId xmlns:r="http://schemas.openxmlformats.org/officeDocument/2006/relationships" id="256" r:id="R282000a1a817435f"/>
    <p:sldId xmlns:r="http://schemas.openxmlformats.org/officeDocument/2006/relationships" id="257" r:id="R09906b600d2846dc"/>
    <p:sldId xmlns:r="http://schemas.openxmlformats.org/officeDocument/2006/relationships" id="258" r:id="R5e79b17b23144d37"/>
    <p:sldId xmlns:r="http://schemas.openxmlformats.org/officeDocument/2006/relationships" id="259" r:id="Rea0935539d5c46f4"/>
    <p:sldId xmlns:r="http://schemas.openxmlformats.org/officeDocument/2006/relationships" id="260" r:id="R83776cec3fcc4704"/>
    <p:sldId xmlns:r="http://schemas.openxmlformats.org/officeDocument/2006/relationships" id="261" r:id="Rea9b41e50f7e4be7"/>
    <p:sldId xmlns:r="http://schemas.openxmlformats.org/officeDocument/2006/relationships" id="262" r:id="R706796c3f07744b6"/>
    <p:sldId xmlns:r="http://schemas.openxmlformats.org/officeDocument/2006/relationships" id="263" r:id="R7f779e129400404a"/>
    <p:sldId xmlns:r="http://schemas.openxmlformats.org/officeDocument/2006/relationships" id="264" r:id="Rac74b9b3fd2a4f82"/>
    <p:sldId xmlns:r="http://schemas.openxmlformats.org/officeDocument/2006/relationships" id="265" r:id="R1c34b38ddb434c42"/>
    <p:sldId xmlns:r="http://schemas.openxmlformats.org/officeDocument/2006/relationships" id="266" r:id="R0f8ad7aec1a442fe"/>
    <p:sldId xmlns:r="http://schemas.openxmlformats.org/officeDocument/2006/relationships" id="267" r:id="Rb718112b55644a6e"/>
    <p:sldId xmlns:r="http://schemas.openxmlformats.org/officeDocument/2006/relationships" id="268" r:id="Rcaf0ee6be99e498b"/>
    <p:sldId xmlns:r="http://schemas.openxmlformats.org/officeDocument/2006/relationships" id="269" r:id="Rf540329e54e04827"/>
    <p:sldId xmlns:r="http://schemas.openxmlformats.org/officeDocument/2006/relationships" id="270" r:id="R841d82e5314045c3"/>
    <p:sldId xmlns:r="http://schemas.openxmlformats.org/officeDocument/2006/relationships" id="271" r:id="R44e66b6e6cb64a99"/>
    <p:sldId xmlns:r="http://schemas.openxmlformats.org/officeDocument/2006/relationships" id="272" r:id="R4792bc5073ac4cfe"/>
    <p:sldId xmlns:r="http://schemas.openxmlformats.org/officeDocument/2006/relationships" id="273" r:id="R801883cf96864421"/>
    <p:sldId xmlns:r="http://schemas.openxmlformats.org/officeDocument/2006/relationships" id="274" r:id="Rcfdfa059b6b94566"/>
    <p:sldId xmlns:r="http://schemas.openxmlformats.org/officeDocument/2006/relationships" id="275" r:id="Rdc6d33df227e4bea"/>
    <p:sldId xmlns:r="http://schemas.openxmlformats.org/officeDocument/2006/relationships" id="276" r:id="Rbffd303c4a674d58"/>
    <p:sldId xmlns:r="http://schemas.openxmlformats.org/officeDocument/2006/relationships" id="277" r:id="R72575ad4fe604da0"/>
    <p:sldId xmlns:r="http://schemas.openxmlformats.org/officeDocument/2006/relationships" id="278" r:id="R7dfc698bcdb84880"/>
    <p:sldId xmlns:r="http://schemas.openxmlformats.org/officeDocument/2006/relationships" id="279" r:id="Rfb3c132a97fa49b0"/>
    <p:sldId xmlns:r="http://schemas.openxmlformats.org/officeDocument/2006/relationships" id="280" r:id="R9d173e70275043e2"/>
    <p:sldId xmlns:r="http://schemas.openxmlformats.org/officeDocument/2006/relationships" id="281" r:id="Rdab33b172086481e"/>
    <p:sldId xmlns:r="http://schemas.openxmlformats.org/officeDocument/2006/relationships" id="282" r:id="Raa9aba1c62994359"/>
    <p:sldId xmlns:r="http://schemas.openxmlformats.org/officeDocument/2006/relationships" id="283" r:id="Rbaa08c0e8f89442f"/>
    <p:sldId xmlns:r="http://schemas.openxmlformats.org/officeDocument/2006/relationships" id="284" r:id="Rb51abbd7e4cd4b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b0dec60d104b9f" /><Relationship Type="http://schemas.openxmlformats.org/officeDocument/2006/relationships/slideMaster" Target="/ppt/slideMasters/slideMaster1.xml" Id="R966402f59a7b43a4" /><Relationship Type="http://schemas.openxmlformats.org/officeDocument/2006/relationships/notesMaster" Target="/ppt/notesMasters/notesMaster1.xml" Id="R08b3b6bf05fe400e" /><Relationship Type="http://schemas.openxmlformats.org/officeDocument/2006/relationships/presProps" Target="/ppt/presProps.xml" Id="Rbc163a425c334a1b" /><Relationship Type="http://schemas.openxmlformats.org/officeDocument/2006/relationships/tableStyles" Target="/ppt/tableStyles.xml" Id="R597e26969c3d4caf" /><Relationship Type="http://schemas.openxmlformats.org/officeDocument/2006/relationships/slide" Target="/ppt/slides/slide1.xml" Id="R282000a1a817435f" /><Relationship Type="http://schemas.openxmlformats.org/officeDocument/2006/relationships/slide" Target="/ppt/slides/slide2.xml" Id="R09906b600d2846dc" /><Relationship Type="http://schemas.openxmlformats.org/officeDocument/2006/relationships/slide" Target="/ppt/slides/slide3.xml" Id="R5e79b17b23144d37" /><Relationship Type="http://schemas.openxmlformats.org/officeDocument/2006/relationships/slide" Target="/ppt/slides/slide4.xml" Id="Rea0935539d5c46f4" /><Relationship Type="http://schemas.openxmlformats.org/officeDocument/2006/relationships/slide" Target="/ppt/slides/slide5.xml" Id="R83776cec3fcc4704" /><Relationship Type="http://schemas.openxmlformats.org/officeDocument/2006/relationships/slide" Target="/ppt/slides/slide6.xml" Id="Rea9b41e50f7e4be7" /><Relationship Type="http://schemas.openxmlformats.org/officeDocument/2006/relationships/slide" Target="/ppt/slides/slide7.xml" Id="R706796c3f07744b6" /><Relationship Type="http://schemas.openxmlformats.org/officeDocument/2006/relationships/slide" Target="/ppt/slides/slide8.xml" Id="R7f779e129400404a" /><Relationship Type="http://schemas.openxmlformats.org/officeDocument/2006/relationships/slide" Target="/ppt/slides/slide9.xml" Id="Rac74b9b3fd2a4f82" /><Relationship Type="http://schemas.openxmlformats.org/officeDocument/2006/relationships/slide" Target="/ppt/slides/slide10.xml" Id="R1c34b38ddb434c42" /><Relationship Type="http://schemas.openxmlformats.org/officeDocument/2006/relationships/slide" Target="/ppt/slides/slide11.xml" Id="R0f8ad7aec1a442fe" /><Relationship Type="http://schemas.openxmlformats.org/officeDocument/2006/relationships/slide" Target="/ppt/slides/slide12.xml" Id="Rb718112b55644a6e" /><Relationship Type="http://schemas.openxmlformats.org/officeDocument/2006/relationships/slide" Target="/ppt/slides/slide13.xml" Id="Rcaf0ee6be99e498b" /><Relationship Type="http://schemas.openxmlformats.org/officeDocument/2006/relationships/slide" Target="/ppt/slides/slide14.xml" Id="Rf540329e54e04827" /><Relationship Type="http://schemas.openxmlformats.org/officeDocument/2006/relationships/slide" Target="/ppt/slides/slide15.xml" Id="R841d82e5314045c3" /><Relationship Type="http://schemas.openxmlformats.org/officeDocument/2006/relationships/slide" Target="/ppt/slides/slide16.xml" Id="R44e66b6e6cb64a99" /><Relationship Type="http://schemas.openxmlformats.org/officeDocument/2006/relationships/slide" Target="/ppt/slides/slide17.xml" Id="R4792bc5073ac4cfe" /><Relationship Type="http://schemas.openxmlformats.org/officeDocument/2006/relationships/slide" Target="/ppt/slides/slide18.xml" Id="R801883cf96864421" /><Relationship Type="http://schemas.openxmlformats.org/officeDocument/2006/relationships/slide" Target="/ppt/slides/slide19.xml" Id="Rcfdfa059b6b94566" /><Relationship Type="http://schemas.openxmlformats.org/officeDocument/2006/relationships/slide" Target="/ppt/slides/slide20.xml" Id="Rdc6d33df227e4bea" /><Relationship Type="http://schemas.openxmlformats.org/officeDocument/2006/relationships/slide" Target="/ppt/slides/slide21.xml" Id="Rbffd303c4a674d58" /><Relationship Type="http://schemas.openxmlformats.org/officeDocument/2006/relationships/slide" Target="/ppt/slides/slide22.xml" Id="R72575ad4fe604da0" /><Relationship Type="http://schemas.openxmlformats.org/officeDocument/2006/relationships/slide" Target="/ppt/slides/slide23.xml" Id="R7dfc698bcdb84880" /><Relationship Type="http://schemas.openxmlformats.org/officeDocument/2006/relationships/slide" Target="/ppt/slides/slide24.xml" Id="Rfb3c132a97fa49b0" /><Relationship Type="http://schemas.openxmlformats.org/officeDocument/2006/relationships/slide" Target="/ppt/slides/slide25.xml" Id="R9d173e70275043e2" /><Relationship Type="http://schemas.openxmlformats.org/officeDocument/2006/relationships/slide" Target="/ppt/slides/slide26.xml" Id="Rdab33b172086481e" /><Relationship Type="http://schemas.openxmlformats.org/officeDocument/2006/relationships/slide" Target="/ppt/slides/slide27.xml" Id="Raa9aba1c62994359" /><Relationship Type="http://schemas.openxmlformats.org/officeDocument/2006/relationships/slide" Target="/ppt/slides/slide28.xml" Id="Rbaa08c0e8f89442f" /><Relationship Type="http://schemas.openxmlformats.org/officeDocument/2006/relationships/slide" Target="/ppt/slides/slide29.xml" Id="Rb51abbd7e4cd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5316045f646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a7c04f9104bec" /><Relationship Type="http://schemas.openxmlformats.org/officeDocument/2006/relationships/notesMaster" Target="/ppt/notesMasters/notesMaster1.xml" Id="Rc490e60208084f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7d88bbe741480f" /><Relationship Type="http://schemas.openxmlformats.org/officeDocument/2006/relationships/notesMaster" Target="/ppt/notesMasters/notesMaster1.xml" Id="R8c453207a7034f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a5644ee20d407a" /><Relationship Type="http://schemas.openxmlformats.org/officeDocument/2006/relationships/notesMaster" Target="/ppt/notesMasters/notesMaster1.xml" Id="R3e484393179343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9e8076042443f" /><Relationship Type="http://schemas.openxmlformats.org/officeDocument/2006/relationships/notesMaster" Target="/ppt/notesMasters/notesMaster1.xml" Id="Ra7354ae91b7e47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d4eb96722044ad" /><Relationship Type="http://schemas.openxmlformats.org/officeDocument/2006/relationships/notesMaster" Target="/ppt/notesMasters/notesMaster1.xml" Id="R0e762f85edfa4d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b0f60c47334276" /><Relationship Type="http://schemas.openxmlformats.org/officeDocument/2006/relationships/notesMaster" Target="/ppt/notesMasters/notesMaster1.xml" Id="Rff3593273a4846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3eb4537eb2434e" /><Relationship Type="http://schemas.openxmlformats.org/officeDocument/2006/relationships/notesMaster" Target="/ppt/notesMasters/notesMaster1.xml" Id="R8bbaedcebeb544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c9add894bd49dd" /><Relationship Type="http://schemas.openxmlformats.org/officeDocument/2006/relationships/notesMaster" Target="/ppt/notesMasters/notesMaster1.xml" Id="R59c22dc33cc143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ea5b34aaf43e1" /><Relationship Type="http://schemas.openxmlformats.org/officeDocument/2006/relationships/notesMaster" Target="/ppt/notesMasters/notesMaster1.xml" Id="Ra4c09f35b05843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defab602d04cf9" /><Relationship Type="http://schemas.openxmlformats.org/officeDocument/2006/relationships/notesMaster" Target="/ppt/notesMasters/notesMaster1.xml" Id="R92cc9a48792f49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6e4652fa434d5a" /><Relationship Type="http://schemas.openxmlformats.org/officeDocument/2006/relationships/notesMaster" Target="/ppt/notesMasters/notesMaster1.xml" Id="Rb39a340de50143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4da41676684531" /><Relationship Type="http://schemas.openxmlformats.org/officeDocument/2006/relationships/notesMaster" Target="/ppt/notesMasters/notesMaster1.xml" Id="R05d15dae5d7c4b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22523400f54ae4" /><Relationship Type="http://schemas.openxmlformats.org/officeDocument/2006/relationships/notesMaster" Target="/ppt/notesMasters/notesMaster1.xml" Id="R1fa7bb3e1f224b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082e39865e40df" /><Relationship Type="http://schemas.openxmlformats.org/officeDocument/2006/relationships/notesMaster" Target="/ppt/notesMasters/notesMaster1.xml" Id="Rbe8bf02569b245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fdd1f2aadb417a" /><Relationship Type="http://schemas.openxmlformats.org/officeDocument/2006/relationships/notesMaster" Target="/ppt/notesMasters/notesMaster1.xml" Id="R51ad99f42c724d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98f25e9a354d51" /><Relationship Type="http://schemas.openxmlformats.org/officeDocument/2006/relationships/notesMaster" Target="/ppt/notesMasters/notesMaster1.xml" Id="R8daabb8cd36f4b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85e88091834a1e" /><Relationship Type="http://schemas.openxmlformats.org/officeDocument/2006/relationships/notesMaster" Target="/ppt/notesMasters/notesMaster1.xml" Id="R37ff122d0e0340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b043cb17554d9e" /><Relationship Type="http://schemas.openxmlformats.org/officeDocument/2006/relationships/notesMaster" Target="/ppt/notesMasters/notesMaster1.xml" Id="R60ad47f0385d4a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ed318bb39a45db" /><Relationship Type="http://schemas.openxmlformats.org/officeDocument/2006/relationships/notesMaster" Target="/ppt/notesMasters/notesMaster1.xml" Id="Rdbb7f1f9ac6042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b4924c43b8425f" /><Relationship Type="http://schemas.openxmlformats.org/officeDocument/2006/relationships/notesMaster" Target="/ppt/notesMasters/notesMaster1.xml" Id="R0f6c33a5ed924e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866aa0bc644a02" /><Relationship Type="http://schemas.openxmlformats.org/officeDocument/2006/relationships/notesMaster" Target="/ppt/notesMasters/notesMaster1.xml" Id="R90d61fe34fd14b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5b456f73ca4a47" /><Relationship Type="http://schemas.openxmlformats.org/officeDocument/2006/relationships/notesMaster" Target="/ppt/notesMasters/notesMaster1.xml" Id="Rfccca2d9d687405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8f246cccc734cad" /><Relationship Type="http://schemas.openxmlformats.org/officeDocument/2006/relationships/notesMaster" Target="/ppt/notesMasters/notesMaster1.xml" Id="Rce3f3e3d247c4d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774081b8be4c7f" /><Relationship Type="http://schemas.openxmlformats.org/officeDocument/2006/relationships/notesMaster" Target="/ppt/notesMasters/notesMaster1.xml" Id="R4da98c6953a64d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5220c494544362" /><Relationship Type="http://schemas.openxmlformats.org/officeDocument/2006/relationships/notesMaster" Target="/ppt/notesMasters/notesMaster1.xml" Id="Rd08bc99b4bc842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86fb9219a2467e" /><Relationship Type="http://schemas.openxmlformats.org/officeDocument/2006/relationships/notesMaster" Target="/ppt/notesMasters/notesMaster1.xml" Id="Re68044e708074df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3cc55d64df4fd4" /><Relationship Type="http://schemas.openxmlformats.org/officeDocument/2006/relationships/notesMaster" Target="/ppt/notesMasters/notesMaster1.xml" Id="R426c2a02ca174d1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dcf0b791e54edd" /><Relationship Type="http://schemas.openxmlformats.org/officeDocument/2006/relationships/notesMaster" Target="/ppt/notesMasters/notesMaster1.xml" Id="Rdcf8635d64184c9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166d9a07644f26" /><Relationship Type="http://schemas.openxmlformats.org/officeDocument/2006/relationships/notesMaster" Target="/ppt/notesMasters/notesMaster1.xml" Id="Rd7a67a10237c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Ofertas Públicas de Distribuição: https://dados.cvm.gov.br/dataset/oferta-distrib</a:t>
            </a:r>
          </a:p>
          <a:p xmlns:a="http://schemas.openxmlformats.org/drawingml/2006/main">
            <a:r>
              <a:t>- ANBIMA Data — Boletim de Mercado de Capitais, corte em 30/jun/26: https://data.anbima.com.br/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ANBIMA — Coletiva de Mercado de Capitais 1S26, snapshot jun/26, Anexo · pág. 14, Tabela Jan a jun 25 × Jan a jun 26: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Perímetros: CVM/SRE mede valor registrado de ofertas primárias encerradas (R$ 65,5 bi em FIDCs); ANBIMA mede valor encerrado (R$ 53,1 bi). Ambos cobrem jan–jun/26.</a:t>
            </a:r>
          </a:p>
          <a:p xmlns:a="http://schemas.openxmlformats.org/drawingml/2006/main">
            <a:r>
              <a:t>- FIDCs 2023 no gráfico CVM: valor encerrado ANBIMA; a correção é idempotente e preserva bundles anteriores à republicação.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CVM/SRE, ofertas encerradas; bases/emissoes_por_cnpj.csv, emissoes_por_categoria.csv e emissoes_auditoria.csv. Match por CNPJ do fundo e depois da classe; FIC fora; sem match=N/D. 2023 escalado ao total encerrado ANBIMA.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CVM/ANBIMA, regulamentos integrais, taxonomy_review_actions.csv, bases/criterios_categorias.csv e categorias_cnpj_jun26.csv. Taxonomia congelada em jun/26 e retroaplicada.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Métrica: volume = Valor_Total_Registrado; ticket = volume registrado por oferta deduplicada. PF usa quantidade colocada e depende da cobertura do campo.</a:t>
            </a:r>
          </a:p>
          <a:p xmlns:a="http://schemas.openxmlformats.org/drawingml/2006/main">
            <a:r>
              <a:t>- Limitação: valor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2024/2025 = FY e 2026 = jan–jun.</a:t>
            </a:r>
          </a:p>
          <a:p xmlns:a="http://schemas.openxmlformats.org/drawingml/2006/main">
            <a:r>
              <a:t>- Limitação: faixas e participações usam o valor registrado, que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2026 = jan–jun.</a:t>
            </a:r>
          </a:p>
          <a:p xmlns:a="http://schemas.openxmlformats.org/drawingml/2006/main">
            <a:r>
              <a:t>- Métrica: participação no volume = volume registrado da categoria / volume registrado total do período; inclui Não informado e fecha 100%, salvo arredondamento.</a:t>
            </a:r>
          </a:p>
          <a:p xmlns:a="http://schemas.openxmlformats.org/drawingml/2006/main">
            <a:r>
              <a:t>- Comparação YTD: garantia firme R$ 10,4 bi em jan–jun/25 e R$ 14,3 bi em jan–jun/26; variação 37,3%. Melhores esforços representam 69,2% do volume atual.</a:t>
            </a:r>
          </a:p>
          <a:p xmlns:a="http://schemas.openxmlformats.org/drawingml/2006/main">
            <a:r>
              <a:t>- Limitação: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FundosNet/B3 — mesma curadoria documental flagship; fontes linha a linha na aba Auditoria emissões.</a:t>
            </a:r>
          </a:p>
          <a:p xmlns:a="http://schemas.openxmlformats.org/drawingml/2006/main">
            <a:r>
              <a:t>- Universo: Cotas de FIDC, ofertas públicas primárias encerradas, todos os ritos disponíveis, Valor_Total_Registrado positivo e data de encerramento no período; snapshot CVM 24/jul/26.</a:t>
            </a:r>
          </a:p>
          <a:p xmlns:a="http://schemas.openxmlformats.org/drawingml/2006/main">
            <a:r>
              <a:t>- Limitação: campo sem vínculo documental suficiente permanece N/D; o volume registrado pode diferir do valor encerrado informado à ANBIMA.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análises granulares de ofertas públicas primárias encerradas, todos os ritos disponíveis, volume registrado; 2026 = jan–jun: https://dados.cvm.gov.br/dataset/oferta-distrib</a:t>
            </a:r>
          </a:p>
          <a:p xmlns:a="http://schemas.openxmlformats.org/drawingml/2006/main">
            <a:r>
              <a:t>- ANBIMA — Coletiva de Mercado de Capitais 1S26, valor encerrado, snapshot jun/26; 2026 = jan–jun: https://www.anbima.com.br/data/files/8E/86/DB/07/325AF91098D078F9692BA2A8/Apresentacao%20_%20coletiva%20Mercado%20de%20Capitais%20_%201S26.pdf</a:t>
            </a:r>
          </a:p>
          <a:p xmlns:a="http://schemas.openxmlformats.org/drawingml/2006/main">
            <a:r>
              <a:t>- FundosNet/B3 — evidência documental de ratings; rating sem documento público verificável ou sem vínculo exato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bases/prestadores_separados.csv e prestadores_linhagem.csv. Itaú/Intrag/Kinea e Kanastra/Limine conforme curadoria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CVM/SRE — oferta_resolucao_160.csv e oferta_distribuicao.csv: https://dados.cvm.gov.br/dataset/oferta-distrib</a:t>
            </a:r>
          </a:p>
          <a:p xmlns:a="http://schemas.openxmlformats.org/drawingml/2006/main">
            <a:r>
              <a:t>- Resolução CVM 30 — categorias de investidor profissional e qualificado: https://conteudo.cvm.gov.br/legislacao/resolucoes/resolucao030.html</a:t>
            </a:r>
          </a:p>
          <a:p xmlns:a="http://schemas.openxmlformats.org/drawingml/2006/main">
            <a:r>
              <a:t>- Universo: Cotas de FIDC, ofertas públicas primárias encerradas, todos os ritos disponíveis, valor registrado positivo e data de encerramento no período; 2026 = jan–jun.</a:t>
            </a:r>
          </a:p>
          <a:p xmlns:a="http://schemas.openxmlformats.org/drawingml/2006/main">
            <a:r>
              <a:t>- Limitação: público-alvo mede elegibilidade e não alocação final; não separa pessoa física de pessoa jurídica. Campo ausente em registros legados = N/D.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CVM Informe Mensal jun/26; bases/saldo_cenarios.csv; bases/emissoes_por_categoria.csv; bases/exclusoes_por_cnpj.csv. PF/PJ via bases/pfpj_24_incluidos.csv. Cenário sem CNPJs 09195235000150 e 26287464000114.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36bc113114d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febccfc78f4982" /><Relationship Type="http://schemas.openxmlformats.org/officeDocument/2006/relationships/slideLayout" Target="/ppt/slideLayouts/slideLayout1.xml" Id="R45da9d48b626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a9d48b626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7b7436df84ad8" /><Relationship Type="http://schemas.openxmlformats.org/officeDocument/2006/relationships/notesSlide" Target="/ppt/notesSlides/notesSlide1.xml" Id="Rce8a5757d838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23c98f3e74751" /><Relationship Type="http://schemas.openxmlformats.org/officeDocument/2006/relationships/chart" Target="/ppt/slides/charts/chart1.xml" Id="R47e3abe3d0a84e89" /><Relationship Type="http://schemas.openxmlformats.org/officeDocument/2006/relationships/chart" Target="/ppt/slides/charts/chart2.xml" Id="Rba46e62bf4d34f25" /><Relationship Type="http://schemas.openxmlformats.org/officeDocument/2006/relationships/chart" Target="/ppt/slides/charts/chart3.xml" Id="Rc3d0e8b8a4844171" /><Relationship Type="http://schemas.openxmlformats.org/officeDocument/2006/relationships/notesSlide" Target="/ppt/notesSlides/notesSlide2.xml" Id="R8242bfaa536942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4ae19d52c4b85" /><Relationship Type="http://schemas.openxmlformats.org/officeDocument/2006/relationships/chart" Target="/ppt/slides/charts/chart4.xml" Id="Raaee549efdea4a21" /><Relationship Type="http://schemas.openxmlformats.org/officeDocument/2006/relationships/chart" Target="/ppt/slides/charts/chart5.xml" Id="Rc363572338c943a1" /><Relationship Type="http://schemas.openxmlformats.org/officeDocument/2006/relationships/notesSlide" Target="/ppt/notesSlides/notesSlide3.xml" Id="Reaa35d39e6ba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4dee517a478a" /><Relationship Type="http://schemas.openxmlformats.org/officeDocument/2006/relationships/chart" Target="/ppt/slides/charts/chart6.xml" Id="R289129e814ba4d7f" /><Relationship Type="http://schemas.openxmlformats.org/officeDocument/2006/relationships/chart" Target="/ppt/slides/charts/chart7.xml" Id="Rabfd1b58e1af4562" /><Relationship Type="http://schemas.openxmlformats.org/officeDocument/2006/relationships/chart" Target="/ppt/slides/charts/chart8.xml" Id="R2671b0e3161746cd" /><Relationship Type="http://schemas.openxmlformats.org/officeDocument/2006/relationships/chart" Target="/ppt/slides/charts/chart9.xml" Id="R4da0686da981499b" /><Relationship Type="http://schemas.openxmlformats.org/officeDocument/2006/relationships/notesSlide" Target="/ppt/notesSlides/notesSlide4.xml" Id="Rbcb05e3894654d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997c458b54fcf" /><Relationship Type="http://schemas.openxmlformats.org/officeDocument/2006/relationships/chart" Target="/ppt/slides/charts/chart10.xml" Id="R2a2378e6bd8e400b" /><Relationship Type="http://schemas.openxmlformats.org/officeDocument/2006/relationships/chart" Target="/ppt/slides/charts/chart11.xml" Id="R1e9c52ef81bf41c3" /><Relationship Type="http://schemas.openxmlformats.org/officeDocument/2006/relationships/notesSlide" Target="/ppt/notesSlides/notesSlide5.xml" Id="Ra0b0094e000a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4e91ffe54921" /><Relationship Type="http://schemas.openxmlformats.org/officeDocument/2006/relationships/chart" Target="/ppt/slides/charts/chart12.xml" Id="R933b5285cc104f54" /><Relationship Type="http://schemas.openxmlformats.org/officeDocument/2006/relationships/chart" Target="/ppt/slides/charts/chart13.xml" Id="Rbbc2fd3f41ba44d1" /><Relationship Type="http://schemas.openxmlformats.org/officeDocument/2006/relationships/chart" Target="/ppt/slides/charts/chart14.xml" Id="R9d5cef0fa2444504" /><Relationship Type="http://schemas.openxmlformats.org/officeDocument/2006/relationships/notesSlide" Target="/ppt/notesSlides/notesSlide6.xml" Id="R101e1d39d4a342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d801e88fc4eb1" /><Relationship Type="http://schemas.openxmlformats.org/officeDocument/2006/relationships/chart" Target="/ppt/slides/charts/chart15.xml" Id="Rb3aa05e1fa274bdf" /><Relationship Type="http://schemas.openxmlformats.org/officeDocument/2006/relationships/chart" Target="/ppt/slides/charts/chart16.xml" Id="Re4609b0b9eb340e2" /><Relationship Type="http://schemas.openxmlformats.org/officeDocument/2006/relationships/chart" Target="/ppt/slides/charts/chart17.xml" Id="Recbbc9ad6bc044f1" /><Relationship Type="http://schemas.openxmlformats.org/officeDocument/2006/relationships/notesSlide" Target="/ppt/notesSlides/notesSlide7.xml" Id="R28501b4233374a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5a0c484d24253" /><Relationship Type="http://schemas.openxmlformats.org/officeDocument/2006/relationships/chart" Target="/ppt/slides/charts/chart18.xml" Id="R922b8ddd51a044ed" /><Relationship Type="http://schemas.openxmlformats.org/officeDocument/2006/relationships/chart" Target="/ppt/slides/charts/chart19.xml" Id="Rbd8ffd50790c429d" /><Relationship Type="http://schemas.openxmlformats.org/officeDocument/2006/relationships/chart" Target="/ppt/slides/charts/chart20.xml" Id="R07a1ad4b0f574036" /><Relationship Type="http://schemas.openxmlformats.org/officeDocument/2006/relationships/notesSlide" Target="/ppt/notesSlides/notesSlide8.xml" Id="R45fe75fb9eed49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17a5b2c6e46da" /><Relationship Type="http://schemas.openxmlformats.org/officeDocument/2006/relationships/notesSlide" Target="/ppt/notesSlides/notesSlide9.xml" Id="R44b74761e28e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dfae6409f43a3" /><Relationship Type="http://schemas.openxmlformats.org/officeDocument/2006/relationships/chart" Target="/ppt/slides/charts/chart21.xml" Id="Rbce0ecceebcf46b7" /><Relationship Type="http://schemas.openxmlformats.org/officeDocument/2006/relationships/chart" Target="/ppt/slides/charts/chart22.xml" Id="R49e0e46a1503432a" /><Relationship Type="http://schemas.openxmlformats.org/officeDocument/2006/relationships/chart" Target="/ppt/slides/charts/chart23.xml" Id="R3e905f890f73417b" /><Relationship Type="http://schemas.openxmlformats.org/officeDocument/2006/relationships/notesSlide" Target="/ppt/notesSlides/notesSlide10.xml" Id="R53a8cd011c47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c0663585e47b4" /><Relationship Type="http://schemas.openxmlformats.org/officeDocument/2006/relationships/chart" Target="/ppt/slides/charts/chart24.xml" Id="R231db08e01c64d21" /><Relationship Type="http://schemas.openxmlformats.org/officeDocument/2006/relationships/chart" Target="/ppt/slides/charts/chart25.xml" Id="R73bc44c7ed994879" /><Relationship Type="http://schemas.openxmlformats.org/officeDocument/2006/relationships/chart" Target="/ppt/slides/charts/chart26.xml" Id="R99c536737e7b4029" /><Relationship Type="http://schemas.openxmlformats.org/officeDocument/2006/relationships/chart" Target="/ppt/slides/charts/chart27.xml" Id="R2f99cf40a67f4ef6" /><Relationship Type="http://schemas.openxmlformats.org/officeDocument/2006/relationships/notesSlide" Target="/ppt/notesSlides/notesSlide11.xml" Id="Rd17e4125d3bf49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31bed4a364f0b" /><Relationship Type="http://schemas.openxmlformats.org/officeDocument/2006/relationships/chart" Target="/ppt/slides/charts/chart28.xml" Id="R7c3fbf2d57454d8e" /><Relationship Type="http://schemas.openxmlformats.org/officeDocument/2006/relationships/notesSlide" Target="/ppt/notesSlides/notesSlide12.xml" Id="R7c42ff69727b44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b1b1b6d274eb5" /><Relationship Type="http://schemas.openxmlformats.org/officeDocument/2006/relationships/notesSlide" Target="/ppt/notesSlides/notesSlide13.xml" Id="R28215730d00a42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b282cadc34430" /><Relationship Type="http://schemas.openxmlformats.org/officeDocument/2006/relationships/notesSlide" Target="/ppt/notesSlides/notesSlide14.xml" Id="Rec6cd04c0bf949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aacd2de7b41b1" /><Relationship Type="http://schemas.openxmlformats.org/officeDocument/2006/relationships/notesSlide" Target="/ppt/notesSlides/notesSlide15.xml" Id="R01edeabc06d24d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b8851a2354b5e" /><Relationship Type="http://schemas.openxmlformats.org/officeDocument/2006/relationships/notesSlide" Target="/ppt/notesSlides/notesSlide16.xml" Id="R5f52e9b9128c4f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2caf037994b95" /><Relationship Type="http://schemas.openxmlformats.org/officeDocument/2006/relationships/chart" Target="/ppt/slides/charts/chart29.xml" Id="Rfc47b70ebb094233" /><Relationship Type="http://schemas.openxmlformats.org/officeDocument/2006/relationships/chart" Target="/ppt/slides/charts/chart30.xml" Id="R3a988d80643344c0" /><Relationship Type="http://schemas.openxmlformats.org/officeDocument/2006/relationships/notesSlide" Target="/ppt/notesSlides/notesSlide17.xml" Id="R6c7356b7d16e40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39d155cbe4b9a" /><Relationship Type="http://schemas.openxmlformats.org/officeDocument/2006/relationships/notesSlide" Target="/ppt/notesSlides/notesSlide18.xml" Id="R66e68d5562f44e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5f6ec4a8d427a" /><Relationship Type="http://schemas.openxmlformats.org/officeDocument/2006/relationships/chart" Target="/ppt/slides/charts/chart31.xml" Id="R6cffbeda0cf44cd0" /><Relationship Type="http://schemas.openxmlformats.org/officeDocument/2006/relationships/chart" Target="/ppt/slides/charts/chart32.xml" Id="Rf7a23576ca924251" /><Relationship Type="http://schemas.openxmlformats.org/officeDocument/2006/relationships/notesSlide" Target="/ppt/notesSlides/notesSlide19.xml" Id="R2f9ca27f0a7b44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c8e6413484678" /><Relationship Type="http://schemas.openxmlformats.org/officeDocument/2006/relationships/notesSlide" Target="/ppt/notesSlides/notesSlide20.xml" Id="R185391f9245b42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922727130402e" /><Relationship Type="http://schemas.openxmlformats.org/officeDocument/2006/relationships/notesSlide" Target="/ppt/notesSlides/notesSlide21.xml" Id="Ra8c82b76dbd542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72a3e66cc47fa" /><Relationship Type="http://schemas.openxmlformats.org/officeDocument/2006/relationships/notesSlide" Target="/ppt/notesSlides/notesSlide22.xml" Id="R856edfd5867847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657deec614acf" /><Relationship Type="http://schemas.openxmlformats.org/officeDocument/2006/relationships/notesSlide" Target="/ppt/notesSlides/notesSlide23.xml" Id="R7e683d27480143f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331eece884c48" /><Relationship Type="http://schemas.openxmlformats.org/officeDocument/2006/relationships/notesSlide" Target="/ppt/notesSlides/notesSlide24.xml" Id="Ra0716fadfc25478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e5af52e854fdb" /><Relationship Type="http://schemas.openxmlformats.org/officeDocument/2006/relationships/chart" Target="/ppt/slides/charts/chart33.xml" Id="R06541e74fcbe4719" /><Relationship Type="http://schemas.openxmlformats.org/officeDocument/2006/relationships/chart" Target="/ppt/slides/charts/chart34.xml" Id="R958a080764184da3" /><Relationship Type="http://schemas.openxmlformats.org/officeDocument/2006/relationships/chart" Target="/ppt/slides/charts/chart35.xml" Id="R588444b159ca477f" /><Relationship Type="http://schemas.openxmlformats.org/officeDocument/2006/relationships/chart" Target="/ppt/slides/charts/chart36.xml" Id="R7eb847dcca6541e9" /><Relationship Type="http://schemas.openxmlformats.org/officeDocument/2006/relationships/chart" Target="/ppt/slides/charts/chart37.xml" Id="Rb3af1f79ae1a40e6" /><Relationship Type="http://schemas.openxmlformats.org/officeDocument/2006/relationships/chart" Target="/ppt/slides/charts/chart38.xml" Id="R7b28a22d8a5e4b85" /><Relationship Type="http://schemas.openxmlformats.org/officeDocument/2006/relationships/chart" Target="/ppt/slides/charts/chart39.xml" Id="R6a51b0a937204e51" /><Relationship Type="http://schemas.openxmlformats.org/officeDocument/2006/relationships/notesSlide" Target="/ppt/notesSlides/notesSlide25.xml" Id="R6842300783cd4a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cf0ee3f2e4d0b" /><Relationship Type="http://schemas.openxmlformats.org/officeDocument/2006/relationships/chart" Target="/ppt/slides/charts/chart40.xml" Id="R09b70ef754bb487c" /><Relationship Type="http://schemas.openxmlformats.org/officeDocument/2006/relationships/chart" Target="/ppt/slides/charts/chart41.xml" Id="Rd369e55d6e2745de" /><Relationship Type="http://schemas.openxmlformats.org/officeDocument/2006/relationships/notesSlide" Target="/ppt/notesSlides/notesSlide26.xml" Id="Rb45732a581fd4a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18a8cdc2c42e1" /><Relationship Type="http://schemas.openxmlformats.org/officeDocument/2006/relationships/chart" Target="/ppt/slides/charts/chart42.xml" Id="Ra3a2af809c564608" /><Relationship Type="http://schemas.openxmlformats.org/officeDocument/2006/relationships/chart" Target="/ppt/slides/charts/chart43.xml" Id="Rc5d86c0b7831473e" /><Relationship Type="http://schemas.openxmlformats.org/officeDocument/2006/relationships/chart" Target="/ppt/slides/charts/chart44.xml" Id="Rad1b4057ade744bd" /><Relationship Type="http://schemas.openxmlformats.org/officeDocument/2006/relationships/notesSlide" Target="/ppt/notesSlides/notesSlide27.xml" Id="Racf1cb3efd9c47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858ad420f4654" /><Relationship Type="http://schemas.openxmlformats.org/officeDocument/2006/relationships/chart" Target="/ppt/slides/charts/chart45.xml" Id="Ra2b2675729914de1" /><Relationship Type="http://schemas.openxmlformats.org/officeDocument/2006/relationships/chart" Target="/ppt/slides/charts/chart46.xml" Id="R9eef0d7b796f4e78" /><Relationship Type="http://schemas.openxmlformats.org/officeDocument/2006/relationships/chart" Target="/ppt/slides/charts/chart47.xml" Id="R0a60e30650d34bc7" /><Relationship Type="http://schemas.openxmlformats.org/officeDocument/2006/relationships/chart" Target="/ppt/slides/charts/chart48.xml" Id="R8a93e588ce0c405e" /><Relationship Type="http://schemas.openxmlformats.org/officeDocument/2006/relationships/chart" Target="/ppt/slides/charts/chart49.xml" Id="Ra008e6d104124a7f" /><Relationship Type="http://schemas.openxmlformats.org/officeDocument/2006/relationships/notesSlide" Target="/ppt/notesSlides/notesSlide28.xml" Id="R151cd6c132ea4e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29c4e16274713" /><Relationship Type="http://schemas.openxmlformats.org/officeDocument/2006/relationships/chart" Target="/ppt/slides/charts/chart50.xml" Id="R55f4de9a75224b55" /><Relationship Type="http://schemas.openxmlformats.org/officeDocument/2006/relationships/chart" Target="/ppt/slides/charts/chart51.xml" Id="R31acfcc317514b5d" /><Relationship Type="http://schemas.openxmlformats.org/officeDocument/2006/relationships/chart" Target="/ppt/slides/charts/chart52.xml" Id="R3389abd6eba64af3" /><Relationship Type="http://schemas.openxmlformats.org/officeDocument/2006/relationships/chart" Target="/ppt/slides/charts/chart53.xml" Id="Re7aa3b0f11a743bf" /><Relationship Type="http://schemas.openxmlformats.org/officeDocument/2006/relationships/notesSlide" Target="/ppt/notesSlides/notesSlide29.xml" Id="R186673b358bf4e1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 ex-FIC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jun/26</c:v>
              </c:pt>
            </c:strLit>
          </c:cat>
          <c:val>
            <c:numLit>
              <c:formatCode>0.0</c:formatCode>
              <c:ptCount val="12"/>
              <c:pt idx="0">
                <c:v>82.47394622656002</c:v>
              </c:pt>
              <c:pt idx="1">
                <c:v>91.06663976073</c:v>
              </c:pt>
              <c:pt idx="2">
                <c:v>110.17917421320999</c:v>
              </c:pt>
              <c:pt idx="3">
                <c:v>131.15934835309002</c:v>
              </c:pt>
              <c:pt idx="4">
                <c:v>227.71359379045998</c:v>
              </c:pt>
              <c:pt idx="5">
                <c:v>207.20204249441997</c:v>
              </c:pt>
              <c:pt idx="6">
                <c:v>296.00245013669</c:v>
              </c:pt>
              <c:pt idx="7">
                <c:v>361.4746705835</c:v>
              </c:pt>
              <c:pt idx="8">
                <c:v>452.33503972062</c:v>
              </c:pt>
              <c:pt idx="9">
                <c:v>651.4527427988997</c:v>
              </c:pt>
              <c:pt idx="10">
                <c:v>772.1084321980501</c:v>
              </c:pt>
              <c:pt idx="11">
                <c:v>821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Empréstimos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3362.376</c:v>
              </c:pt>
              <c:pt idx="1">
                <c:v>3266.892</c:v>
              </c:pt>
              <c:pt idx="2">
                <c:v>3270.332</c:v>
              </c:pt>
              <c:pt idx="3">
                <c:v>3455.08</c:v>
              </c:pt>
              <c:pt idx="4">
                <c:v>3677.557</c:v>
              </c:pt>
              <c:pt idx="5">
                <c:v>4239.899</c:v>
              </c:pt>
              <c:pt idx="6">
                <c:v>4906.92</c:v>
              </c:pt>
              <c:pt idx="7">
                <c:v>5628.48</c:v>
              </c:pt>
              <c:pt idx="8">
                <c:v>6088.547</c:v>
              </c:pt>
              <c:pt idx="9">
                <c:v>6758.822</c:v>
              </c:pt>
              <c:pt idx="10">
                <c:v>7454.674</c:v>
              </c:pt>
              <c:pt idx="11">
                <c:v>7666.364</c:v>
              </c:pt>
            </c:numLit>
          </c:val>
        </c:ser>
        <c:ser>
          <c:idx val="1"/>
          <c:order val="1"/>
          <c:tx>
            <c:v>Títulos privados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245.674</c:v>
              </c:pt>
              <c:pt idx="1">
                <c:v>242.427</c:v>
              </c:pt>
              <c:pt idx="2">
                <c:v>304.747</c:v>
              </c:pt>
              <c:pt idx="3">
                <c:v>354.539</c:v>
              </c:pt>
              <c:pt idx="4">
                <c:v>480.213</c:v>
              </c:pt>
              <c:pt idx="5">
                <c:v>499.564</c:v>
              </c:pt>
              <c:pt idx="6">
                <c:v>635.901</c:v>
              </c:pt>
              <c:pt idx="7">
                <c:v>849.483</c:v>
              </c:pt>
              <c:pt idx="8">
                <c:v>976.105</c:v>
              </c:pt>
              <c:pt idx="9">
                <c:v>1214.121</c:v>
              </c:pt>
              <c:pt idx="10">
                <c:v>1413.637</c:v>
              </c:pt>
              <c:pt idx="11">
                <c:v>1506.688</c:v>
              </c:pt>
            </c:numLit>
          </c:val>
        </c:ser>
        <c:ser>
          <c:idx val="2"/>
          <c:order val="2"/>
          <c:tx>
            <c:v>FIDCs · carteira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70.69879439891001</c:v>
              </c:pt>
              <c:pt idx="1">
                <c:v>81.9073701812</c:v>
              </c:pt>
              <c:pt idx="2">
                <c:v>95.50993683035</c:v>
              </c:pt>
              <c:pt idx="3">
                <c:v>106.12068752539999</c:v>
              </c:pt>
              <c:pt idx="4">
                <c:v>182.14515826151</c:v>
              </c:pt>
              <c:pt idx="5">
                <c:v>159.9315713704</c:v>
              </c:pt>
              <c:pt idx="6">
                <c:v>250.01323870676</c:v>
              </c:pt>
              <c:pt idx="7">
                <c:v>304.88387968723</c:v>
              </c:pt>
              <c:pt idx="8">
                <c:v>387.79349892013</c:v>
              </c:pt>
              <c:pt idx="9">
                <c:v>549.88571619299</c:v>
              </c:pt>
              <c:pt idx="10">
                <c:v>641.3242789240101</c:v>
              </c:pt>
              <c:pt idx="11">
                <c:v>676.899410153</c:v>
              </c:pt>
            </c:numLit>
          </c:val>
        </c:ser>
        <c:ser>
          <c:idx val="3"/>
          <c:order val="3"/>
          <c:tx>
            <c:v>Outras securitizações</c:v>
          </c:tx>
          <c:spPr>
            <a:solidFill xmlns:a="http://schemas.openxmlformats.org/drawingml/2006/main">
              <a:srgbClr val="D7DADD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72.80420560108999</c:v>
              </c:pt>
              <c:pt idx="1">
                <c:v>91.8096298188</c:v>
              </c:pt>
              <c:pt idx="2">
                <c:v>113.15306316965</c:v>
              </c:pt>
              <c:pt idx="3">
                <c:v>121.5283124746</c:v>
              </c:pt>
              <c:pt idx="4">
                <c:v>128.42384173849</c:v>
              </c:pt>
              <c:pt idx="5">
                <c:v>127.91442862960001</c:v>
              </c:pt>
              <c:pt idx="6">
                <c:v>183.95476129323998</c:v>
              </c:pt>
              <c:pt idx="7">
                <c:v>261.47012031277</c:v>
              </c:pt>
              <c:pt idx="8">
                <c:v>334.01450107987</c:v>
              </c:pt>
              <c:pt idx="9">
                <c:v>444.74928380701</c:v>
              </c:pt>
              <c:pt idx="10">
                <c:v>452.05372107599</c:v>
              </c:pt>
              <c:pt idx="11">
                <c:v>496.839589847</c:v>
              </c:pt>
            </c:numLit>
          </c:val>
        </c:ser>
        <c:ser>
          <c:idx val="4"/>
          <c:order val="4"/>
          <c:tx>
            <c:v>Dívida externa</c:v>
          </c:tx>
          <c:spPr>
            <a:solidFill xmlns:a="http://schemas.openxmlformats.org/drawingml/2006/main">
              <a:srgbClr val="E7E9EB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0">
                      <a:solidFill>
                        <a:srgbClr val="151515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[&gt;=1000]#\.##0;0</c:formatCode>
              <c:ptCount val="12"/>
              <c:pt idx="0">
                <c:v>1996.897</c:v>
              </c:pt>
              <c:pt idx="1">
                <c:v>1735.5</c:v>
              </c:pt>
              <c:pt idx="2">
                <c:v>1743.734</c:v>
              </c:pt>
              <c:pt idx="3">
                <c:v>1982.893</c:v>
              </c:pt>
              <c:pt idx="4">
                <c:v>2075.703</c:v>
              </c:pt>
              <c:pt idx="5">
                <c:v>2566.911</c:v>
              </c:pt>
              <c:pt idx="6">
                <c:v>2820.561</c:v>
              </c:pt>
              <c:pt idx="7">
                <c:v>2714.754</c:v>
              </c:pt>
              <c:pt idx="8">
                <c:v>2713.732</c:v>
              </c:pt>
              <c:pt idx="9">
                <c:v>3408.391</c:v>
              </c:pt>
              <c:pt idx="10">
                <c:v>3405.938</c:v>
              </c:pt>
              <c:pt idx="11">
                <c:v>3432.857</c:v>
              </c:pt>
            </c:numLit>
          </c:val>
        </c:ser>
        <c:gapWidth val="10"/>
        <c:overlap val="100"/>
        <c:axId val="48650112"/>
        <c:axId val="48672768"/>
      </c:barChart>
      <c:lineChart>
        <c:grouping val="standard"/>
        <c:varyColors val="0"/>
        <c:ser>
          <c:idx val="5"/>
          <c:order val="5"/>
          <c:tx>
            <c:v>Total</c:v>
          </c:tx>
          <c:spPr>
            <a:ln xmlns:a="http://schemas.openxmlformats.org/drawingml/2006/main">
              <a:noFill/>
            </a:ln>
          </c:spPr>
          <c:marker>
            <c:symbol val="none"/>
            <c:size val="2"/>
          </c:marker>
          <c:dLbls>
            <c:numFmt formatCode="[&gt;=1000]#\.##0;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2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  <c:pt idx="11">
                <c:v>06/26</c:v>
              </c:pt>
            </c:strLit>
          </c:cat>
          <c:val>
            <c:numLit>
              <c:formatCode>0</c:formatCode>
              <c:ptCount val="12"/>
              <c:pt idx="0">
                <c:v>5748.45</c:v>
              </c:pt>
              <c:pt idx="1">
                <c:v>5418.536</c:v>
              </c:pt>
              <c:pt idx="2">
                <c:v>5527.476</c:v>
              </c:pt>
              <c:pt idx="3">
                <c:v>6020.161</c:v>
              </c:pt>
              <c:pt idx="4">
                <c:v>6544.042</c:v>
              </c:pt>
              <c:pt idx="5">
                <c:v>7594.22</c:v>
              </c:pt>
              <c:pt idx="6">
                <c:v>8797.35</c:v>
              </c:pt>
              <c:pt idx="7">
                <c:v>9759.071</c:v>
              </c:pt>
              <c:pt idx="8">
                <c:v>10500.192</c:v>
              </c:pt>
              <c:pt idx="9">
                <c:v>12375.969</c:v>
              </c:pt>
              <c:pt idx="10">
                <c:v>13367.627</c:v>
              </c:pt>
              <c:pt idx="11">
                <c:v>13779.648</c:v>
              </c:pt>
            </c:numLit>
          </c:val>
          <c:smooth val="0"/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Algn val="ctr"/>
        <c:noMultiLvlLbl val="0"/>
        <c:lblOffset val="100"/>
      </c:catAx>
      <c:valAx>
        <c:axId val="48672768"/>
        <c:scaling>
          <c:orientation val="minMax"/>
          <c:max val="1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[&gt;=1000]#\.##0;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50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Empréstimos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Tít. privados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FIDCs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Outras securit.</c:v>
          </c:tx>
          <c:spPr>
            <a:ln xmlns:a="http://schemas.openxmlformats.org/drawingml/2006/main" w="28575">
              <a:solidFill>
                <a:srgbClr val="D7DAD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Dív. externa</c:v>
          </c:tx>
          <c:spPr>
            <a:ln xmlns:a="http://schemas.openxmlformats.org/drawingml/2006/main" w="28575">
              <a:solidFill>
                <a:srgbClr val="E7E9EB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43.74614019622497</c:v>
              </c:pt>
              <c:pt idx="1">
                <c:v>95.41672613375</c:v>
              </c:pt>
              <c:pt idx="2">
                <c:v>116.92131905477001</c:v>
              </c:pt>
              <c:pt idx="3">
                <c:v>65.48811898356</c:v>
              </c:pt>
            </c:numLit>
          </c:val>
        </c:ser>
        <c:ser>
          <c:idx val="1"/>
          <c:order val="1"/>
          <c:tx>
            <c:v>Demais elegíveis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2026 jan–jun</c:v>
              </c:pt>
            </c:strLit>
          </c:cat>
          <c:val>
            <c:numLit>
              <c:formatCode>0</c:formatCode>
              <c:ptCount val="4"/>
              <c:pt idx="0">
                <c:v>353.4478795703001</c:v>
              </c:pt>
              <c:pt idx="1">
                <c:v>628.73334224723</c:v>
              </c:pt>
              <c:pt idx="2">
                <c:v>656.0946706342701</c:v>
              </c:pt>
              <c:pt idx="3">
                <c:v>246.82887238694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Debêntures</c:v>
          </c:tx>
          <c:spPr>
            <a:solidFill xmlns:a="http://schemas.openxmlformats.org/drawingml/2006/main">
              <a:srgbClr val="151515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236.61663924185</c:v>
              </c:pt>
              <c:pt idx="1">
                <c:v>474.3602899026376</c:v>
              </c:pt>
              <c:pt idx="2">
                <c:v>493.39007310800173</c:v>
              </c:pt>
              <c:pt idx="3">
                <c:v>169.8</c:v>
              </c:pt>
            </c:numLit>
          </c:val>
        </c:ser>
        <c:ser>
          <c:idx val="1"/>
          <c:order val="1"/>
          <c:tx>
            <c:v>FIDCs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43.74614019622497</c:v>
              </c:pt>
              <c:pt idx="1">
                <c:v>82.86326248207118</c:v>
              </c:pt>
              <c:pt idx="2">
                <c:v>90.98510609270312</c:v>
              </c:pt>
              <c:pt idx="3">
                <c:v>53.1</c:v>
              </c:pt>
            </c:numLit>
          </c:val>
        </c:ser>
        <c:ser>
          <c:idx val="2"/>
          <c:order val="2"/>
          <c:tx>
            <c:v>CRI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47.70970732449912</c:v>
              </c:pt>
              <c:pt idx="1">
                <c:v>61.35438150259683</c:v>
              </c:pt>
              <c:pt idx="2">
                <c:v>49.37089080745136</c:v>
              </c:pt>
              <c:pt idx="3">
                <c:v>20.3</c:v>
              </c:pt>
            </c:numLit>
          </c:val>
        </c:ser>
        <c:ser>
          <c:idx val="3"/>
          <c:order val="3"/>
          <c:tx>
            <c:v>Notas comerciais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27.907646005</c:v>
              </c:pt>
              <c:pt idx="1">
                <c:v>43.5623695</c:v>
              </c:pt>
              <c:pt idx="2">
                <c:v>51.792395853</c:v>
              </c:pt>
              <c:pt idx="3">
                <c:v>27.1</c:v>
              </c:pt>
            </c:numLit>
          </c:val>
        </c:ser>
        <c:ser>
          <c:idx val="4"/>
          <c:order val="4"/>
          <c:tx>
            <c:v>CRA</c:v>
          </c:tx>
          <c:spPr>
            <a:solidFill xmlns:a="http://schemas.openxmlformats.org/drawingml/2006/main">
              <a:srgbClr val="D7DADD"/>
            </a:solidFill>
          </c:spPr>
          <c:cat>
            <c:strLit>
              <c:ptCount val="4"/>
              <c:pt idx="0">
                <c:v>2023 FY</c:v>
              </c:pt>
              <c:pt idx="1">
                <c:v>2024 FY</c:v>
              </c:pt>
              <c:pt idx="2">
                <c:v>2025 FY</c:v>
              </c:pt>
              <c:pt idx="3">
                <c:v>2026 jan–jun</c:v>
              </c:pt>
            </c:strLit>
          </c:cat>
          <c:val>
            <c:numLit>
              <c:formatCode>0.0</c:formatCode>
              <c:ptCount val="4"/>
              <c:pt idx="0">
                <c:v>43.29453785729</c:v>
              </c:pt>
              <c:pt idx="1">
                <c:v>41.564214397</c:v>
              </c:pt>
              <c:pt idx="2">
                <c:v>46.16839518391086</c:v>
              </c:pt>
              <c:pt idx="3">
                <c:v>7.1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 w="28575">
              <a:solidFill>
                <a:srgbClr val="104B08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 w="28575">
              <a:solidFill>
                <a:srgbClr val="F078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28575">
              <a:solidFill>
                <a:srgbClr val="4472C4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 w="28575">
              <a:solidFill>
                <a:srgbClr val="151515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 w="28575">
              <a:solidFill>
                <a:srgbClr val="7030A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 w="28575">
              <a:solidFill>
                <a:srgbClr val="D7DADF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 w="28575">
              <a:solidFill>
                <a:srgbClr val="EEF0F2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112.83368367224</c:v>
              </c:pt>
              <c:pt idx="1">
                <c:v>103.39874467744</c:v>
              </c:pt>
              <c:pt idx="2">
                <c:v>51.72285589365</c:v>
              </c:pt>
              <c:pt idx="3">
                <c:v>48.499678</c:v>
              </c:pt>
              <c:pt idx="4">
                <c:v>24.163748261490003</c:v>
              </c:pt>
              <c:pt idx="5">
                <c:v>25.154517560259997</c:v>
              </c:pt>
              <c:pt idx="6">
                <c:v>27.32144595605</c:v>
              </c:pt>
              <c:pt idx="7">
                <c:v>9.90241714442</c:v>
              </c:pt>
              <c:pt idx="8">
                <c:v>17.30426139734</c:v>
              </c:pt>
              <c:pt idx="9">
                <c:v>30.455624762630002</c:v>
              </c:pt>
              <c:pt idx="10">
                <c:v>1.36475726781</c:v>
              </c:pt>
              <c:pt idx="11">
                <c:v>0.21330512728999998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</c:formatCode>
              <c:ptCount val="12"/>
              <c:pt idx="0">
                <c:v>336.68042868161</c:v>
              </c:pt>
              <c:pt idx="1">
                <c:v>118.22202651527</c:v>
              </c:pt>
              <c:pt idx="2">
                <c:v>99.24654124799001</c:v>
              </c:pt>
              <c:pt idx="3">
                <c:v>85.66685206006</c:v>
              </c:pt>
              <c:pt idx="4">
                <c:v>57.4323241591</c:v>
              </c:pt>
              <c:pt idx="5">
                <c:v>43.107876023699994</c:v>
              </c:pt>
              <c:pt idx="6">
                <c:v>27.72682732234</c:v>
              </c:pt>
              <c:pt idx="7">
                <c:v>25.98170017243</c:v>
              </c:pt>
              <c:pt idx="8">
                <c:v>12.07779703784</c:v>
              </c:pt>
              <c:pt idx="9">
                <c:v>11.00644353036</c:v>
              </c:pt>
              <c:pt idx="10">
                <c:v>4.10910183534</c:v>
              </c:pt>
              <c:pt idx="11">
                <c:v>0.10364069841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0.2494471437409106</c:v>
              </c:pt>
              <c:pt idx="1">
                <c:v>0.2285888458725266</c:v>
              </c:pt>
              <c:pt idx="2">
                <c:v>0.1143463392214675</c:v>
              </c:pt>
              <c:pt idx="3">
                <c:v>0.1072206964774502</c:v>
              </c:pt>
              <c:pt idx="4">
                <c:v>0.0534200230793848</c:v>
              </c:pt>
              <c:pt idx="5">
                <c:v>0.055610366987701</c:v>
              </c:pt>
              <c:pt idx="6">
                <c:v>0.0604009054282524</c:v>
              </c:pt>
              <c:pt idx="7">
                <c:v>0.0218917755090035</c:v>
              </c:pt>
              <c:pt idx="8">
                <c:v>0.0382554077792155</c:v>
              </c:pt>
              <c:pt idx="9">
                <c:v>0.0673297933793512</c:v>
              </c:pt>
              <c:pt idx="10">
                <c:v>0.0030171380679527</c:v>
              </c:pt>
              <c:pt idx="11">
                <c:v>0.0004715644567835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2"/>
              <c:pt idx="0">
                <c:v>Financeiro</c:v>
              </c:pt>
              <c:pt idx="1">
                <c:v>Comercial</c:v>
              </c:pt>
              <c:pt idx="2">
                <c:v>Adquirência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N/D</c:v>
              </c:pt>
              <c:pt idx="8">
                <c:v>Agronegócio</c:v>
              </c:pt>
              <c:pt idx="9">
                <c:v>Cartão</c:v>
              </c:pt>
              <c:pt idx="10">
                <c:v>Imobiliário</c:v>
              </c:pt>
              <c:pt idx="11">
                <c:v>Factoring</c:v>
              </c:pt>
            </c:strLit>
          </c:cat>
          <c:val>
            <c:numLit>
              <c:formatCode>0.0%</c:formatCode>
              <c:ptCount val="12"/>
              <c:pt idx="0">
                <c:v>0.4099052662933455</c:v>
              </c:pt>
              <c:pt idx="1">
                <c:v>0.1439342092150771</c:v>
              </c:pt>
              <c:pt idx="2">
                <c:v>0.1208317337549265</c:v>
              </c:pt>
              <c:pt idx="3">
                <c:v>0.1042985894478563</c:v>
              </c:pt>
              <c:pt idx="4">
                <c:v>0.0699233163640305</c:v>
              </c:pt>
              <c:pt idx="5">
                <c:v>0.0524834350188661</c:v>
              </c:pt>
              <c:pt idx="6">
                <c:v>0.0337571523879141</c:v>
              </c:pt>
              <c:pt idx="7">
                <c:v>0.0316324764395653</c:v>
              </c:pt>
              <c:pt idx="8">
                <c:v>0.0147046046912176</c:v>
              </c:pt>
              <c:pt idx="9">
                <c:v>0.0134002418374053</c:v>
              </c:pt>
              <c:pt idx="10">
                <c:v>0.0050027929708808</c:v>
              </c:pt>
              <c:pt idx="11">
                <c:v>0.0001261815789142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118.04530398702</c:v>
              </c:pt>
              <c:pt idx="1">
                <c:v>115.89580945848</c:v>
              </c:pt>
              <c:pt idx="2">
                <c:v>77.90442532195</c:v>
              </c:pt>
              <c:pt idx="3">
                <c:v>39.74983932099</c:v>
              </c:pt>
              <c:pt idx="4">
                <c:v>26.373186905759997</c:v>
              </c:pt>
              <c:pt idx="5">
                <c:v>19.27032074904</c:v>
              </c:pt>
              <c:pt idx="6">
                <c:v>26.30715069555</c:v>
              </c:pt>
              <c:pt idx="7">
                <c:v>14.24326332352</c:v>
              </c:pt>
              <c:pt idx="8">
                <c:v>1.5402300008699998</c:v>
              </c:pt>
              <c:pt idx="9">
                <c:v>0.16600309574000002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</c:formatCode>
              <c:ptCount val="10"/>
              <c:pt idx="0">
                <c:v>326.76177442545</c:v>
              </c:pt>
              <c:pt idx="1">
                <c:v>123.12261035610001</c:v>
              </c:pt>
              <c:pt idx="2">
                <c:v>78.58984371139</c:v>
              </c:pt>
              <c:pt idx="3">
                <c:v>77.39724903534</c:v>
              </c:pt>
              <c:pt idx="4">
                <c:v>57.591468014120004</c:v>
              </c:pt>
              <c:pt idx="5">
                <c:v>34.27503303086</c:v>
              </c:pt>
              <c:pt idx="6">
                <c:v>27.36423282215</c:v>
              </c:pt>
              <c:pt idx="7">
                <c:v>9.12643607218</c:v>
              </c:pt>
              <c:pt idx="8">
                <c:v>3.0872617298200002</c:v>
              </c:pt>
              <c:pt idx="9">
                <c:v>0.09505420486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0.2685927277101883</c:v>
              </c:pt>
              <c:pt idx="1">
                <c:v>0.26370190546551714</c:v>
              </c:pt>
              <c:pt idx="2">
                <c:v>0.17725874212004258</c:v>
              </c:pt>
              <c:pt idx="3">
                <c:v>0.09044423970004235</c:v>
              </c:pt>
              <c:pt idx="4">
                <c:v>0.06000786113615837</c:v>
              </c:pt>
              <c:pt idx="5">
                <c:v>0.04384645419189245</c:v>
              </c:pt>
              <c:pt idx="6">
                <c:v>0.05985760657092893</c:v>
              </c:pt>
              <c:pt idx="7">
                <c:v>0.032408209546221145</c:v>
              </c:pt>
              <c:pt idx="8">
                <c:v>0.0035045407420885447</c:v>
              </c:pt>
              <c:pt idx="9">
                <c:v>0.00037771281692022964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10"/>
              <c:pt idx="0">
                <c:v>Financeiro</c:v>
              </c:pt>
              <c:pt idx="1">
                <c:v>Comercial</c:v>
              </c:pt>
              <c:pt idx="2">
                <c:v>Cartão</c:v>
              </c:pt>
              <c:pt idx="3">
                <c:v>Industrial</c:v>
              </c:pt>
              <c:pt idx="4">
                <c:v>Serviços</c:v>
              </c:pt>
              <c:pt idx="5">
                <c:v>Setor público</c:v>
              </c:pt>
              <c:pt idx="6">
                <c:v>Ações judiciais</c:v>
              </c:pt>
              <c:pt idx="7">
                <c:v>Agronegócio</c:v>
              </c:pt>
              <c:pt idx="8">
                <c:v>Imobiliário</c:v>
              </c:pt>
              <c:pt idx="9">
                <c:v>Factoring</c:v>
              </c:pt>
            </c:strLit>
          </c:cat>
          <c:val>
            <c:numLit>
              <c:formatCode>0.0%</c:formatCode>
              <c:ptCount val="10"/>
              <c:pt idx="0">
                <c:v>0.4431203096273956</c:v>
              </c:pt>
              <c:pt idx="1">
                <c:v>0.16696606975849174</c:v>
              </c:pt>
              <c:pt idx="2">
                <c:v>0.10657536653481774</c:v>
              </c:pt>
              <c:pt idx="3">
                <c:v>0.1049580937585254</c:v>
              </c:pt>
              <c:pt idx="4">
                <c:v>0.07809955489189396</c:v>
              </c:pt>
              <c:pt idx="5">
                <c:v>0.046480232505252836</c:v>
              </c:pt>
              <c:pt idx="6">
                <c:v>0.0371085245273501</c:v>
              </c:pt>
              <c:pt idx="7">
                <c:v>0.012376322736066207</c:v>
              </c:pt>
              <c:pt idx="8">
                <c:v>0.004186623040666466</c:v>
              </c:pt>
              <c:pt idx="9">
                <c:v>0.00012890261953990822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Volume registrado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15151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3"/>
              <c:pt idx="0">
                <c:v>2024FY</c:v>
              </c:pt>
              <c:pt idx="1">
                <c:v>2025FY</c:v>
              </c:pt>
              <c:pt idx="2">
                <c:v>2026YTD</c:v>
              </c:pt>
            </c:strLit>
          </c:cat>
          <c:val>
            <c:numLit>
              <c:formatCode>0.0</c:formatCode>
              <c:ptCount val="3"/>
              <c:pt idx="0">
                <c:v>95.41672613375</c:v>
              </c:pt>
              <c:pt idx="1">
                <c:v>116.92131905477001</c:v>
              </c:pt>
              <c:pt idx="2">
                <c:v>65.48811898356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19050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3.5776889819499997</c:v>
              </c:pt>
              <c:pt idx="1">
                <c:v>6.31697433342</c:v>
              </c:pt>
              <c:pt idx="2">
                <c:v>12.75231637649</c:v>
              </c:pt>
              <c:pt idx="3">
                <c:v>18.982994111559996</c:v>
              </c:pt>
              <c:pt idx="4">
                <c:v>35.57797349489</c:v>
              </c:pt>
              <c:pt idx="5">
                <c:v>40.869510061910006</c:v>
              </c:pt>
              <c:pt idx="6">
                <c:v>49.369269147820006</c:v>
              </c:pt>
              <c:pt idx="7">
                <c:v>54.50517684065001</c:v>
              </c:pt>
              <c:pt idx="8">
                <c:v>59.275357674750005</c:v>
              </c:pt>
              <c:pt idx="9">
                <c:v>68.67479071153001</c:v>
              </c:pt>
              <c:pt idx="10">
                <c:v>80.61445578144</c:v>
              </c:pt>
              <c:pt idx="11">
                <c:v>95.41672613375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095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12"/>
              <c:pt idx="0">
                <c:v>4.69157717423</c:v>
              </c:pt>
              <c:pt idx="1">
                <c:v>13.28230156707</c:v>
              </c:pt>
              <c:pt idx="2">
                <c:v>21.89222074001</c:v>
              </c:pt>
              <c:pt idx="3">
                <c:v>36.243054840190005</c:v>
              </c:pt>
              <c:pt idx="4">
                <c:v>44.91558778326</c:v>
              </c:pt>
              <c:pt idx="5">
                <c:v>57.15870696836</c:v>
              </c:pt>
              <c:pt idx="6">
                <c:v>64.14446989868</c:v>
              </c:pt>
              <c:pt idx="7">
                <c:v>70.52665275716001</c:v>
              </c:pt>
              <c:pt idx="8">
                <c:v>78.53187842665001</c:v>
              </c:pt>
              <c:pt idx="9">
                <c:v>90.04350947167</c:v>
              </c:pt>
              <c:pt idx="10">
                <c:v>100.76052553320001</c:v>
              </c:pt>
              <c:pt idx="11">
                <c:v>116.92131905477002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​​</c:v>
              </c:pt>
              <c:pt idx="2">
                <c:v>Mar</c:v>
              </c:pt>
              <c:pt idx="3">
                <c:v>​​​​</c:v>
              </c:pt>
              <c:pt idx="4">
                <c:v>Mai</c:v>
              </c:pt>
              <c:pt idx="5">
                <c:v>Jun</c:v>
              </c:pt>
              <c:pt idx="6">
                <c:v>​​​​​​​</c:v>
              </c:pt>
              <c:pt idx="7">
                <c:v>Ago</c:v>
              </c:pt>
              <c:pt idx="8">
                <c:v>​​​​​​​​​</c:v>
              </c:pt>
              <c:pt idx="9">
                <c:v>Out</c:v>
              </c:pt>
              <c:pt idx="10">
                <c:v>​​​​​​​​​​​</c:v>
              </c:pt>
              <c:pt idx="11">
                <c:v>Dez</c:v>
              </c:pt>
            </c:strLit>
          </c:cat>
          <c:val>
            <c:numLit>
              <c:formatCode>0.0</c:formatCode>
              <c:ptCount val="6"/>
              <c:pt idx="0">
                <c:v>8.415778112109999</c:v>
              </c:pt>
              <c:pt idx="1">
                <c:v>15.828976040429998</c:v>
              </c:pt>
              <c:pt idx="2">
                <c:v>27.564315847659994</c:v>
              </c:pt>
              <c:pt idx="3">
                <c:v>44.609140465989995</c:v>
              </c:pt>
              <c:pt idx="4">
                <c:v>51.475115157089995</c:v>
              </c:pt>
              <c:pt idx="5">
                <c:v>65.48811898356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0.2289395441030723</c:v>
              </c:pt>
              <c:pt idx="1">
                <c:v>0.2348860257680872</c:v>
              </c:pt>
              <c:pt idx="2">
                <c:v>0.1734390485629336</c:v>
              </c:pt>
              <c:pt idx="3">
                <c:v>0.1565906838453915</c:v>
              </c:pt>
              <c:pt idx="4">
                <c:v>0.0931615460852329</c:v>
              </c:pt>
              <c:pt idx="5">
                <c:v>0.0822596630327056</c:v>
              </c:pt>
              <c:pt idx="6">
                <c:v>0.0307234886025768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0.2376103190767141</c:v>
              </c:pt>
              <c:pt idx="1">
                <c:v>0.2545824847250509</c:v>
              </c:pt>
              <c:pt idx="2">
                <c:v>0.1629327902240326</c:v>
              </c:pt>
              <c:pt idx="3">
                <c:v>0.1575016972165648</c:v>
              </c:pt>
              <c:pt idx="4">
                <c:v>0.0950441276306856</c:v>
              </c:pt>
              <c:pt idx="5">
                <c:v>0.0678886625933469</c:v>
              </c:pt>
              <c:pt idx="6">
                <c:v>0.0244399185336048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0.2399481193255512</c:v>
              </c:pt>
              <c:pt idx="1">
                <c:v>0.2684824902723735</c:v>
              </c:pt>
              <c:pt idx="2">
                <c:v>0.1530479896238651</c:v>
              </c:pt>
              <c:pt idx="3">
                <c:v>0.1569390402075227</c:v>
              </c:pt>
              <c:pt idx="4">
                <c:v>0.0933852140077821</c:v>
              </c:pt>
              <c:pt idx="5">
                <c:v>0.059662775616083</c:v>
              </c:pt>
              <c:pt idx="6">
                <c:v>0.0285343709468223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0.0103321633887131</c:v>
              </c:pt>
              <c:pt idx="1">
                <c:v>0.0361313295137315</c:v>
              </c:pt>
              <c:pt idx="2">
                <c:v>0.0618859371549046</c:v>
              </c:pt>
              <c:pt idx="3">
                <c:v>0.1088463666507672</c:v>
              </c:pt>
              <c:pt idx="4">
                <c:v>0.1257652142029994</c:v>
              </c:pt>
              <c:pt idx="5">
                <c:v>0.2452642827460449</c:v>
              </c:pt>
              <c:pt idx="6">
                <c:v>0.411774706342839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0.011730951363519</c:v>
              </c:pt>
              <c:pt idx="1">
                <c:v>0.0474259703898181</c:v>
              </c:pt>
              <c:pt idx="2">
                <c:v>0.0704715892035931</c:v>
              </c:pt>
              <c:pt idx="3">
                <c:v>0.1291117427322091</c:v>
              </c:pt>
              <c:pt idx="4">
                <c:v>0.1527533319156595</c:v>
              </c:pt>
              <c:pt idx="5">
                <c:v>0.2413792875044426</c:v>
              </c:pt>
              <c:pt idx="6">
                <c:v>0.3471271268907585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0%</c:formatCode>
              <c:ptCount val="7"/>
              <c:pt idx="0">
                <c:v>0.0122362463084512</c:v>
              </c:pt>
              <c:pt idx="1">
                <c:v>0.0464655965907937</c:v>
              </c:pt>
              <c:pt idx="2">
                <c:v>0.0609833624673594</c:v>
              </c:pt>
              <c:pt idx="3">
                <c:v>0.1209441922159701</c:v>
              </c:pt>
              <c:pt idx="4">
                <c:v>0.1441593207615259</c:v>
              </c:pt>
              <c:pt idx="5">
                <c:v>0.1929168497919684</c:v>
              </c:pt>
              <c:pt idx="6">
                <c:v>0.4222944318639312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2024</c:v>
          </c:tx>
          <c:spPr>
            <a:solidFill xmlns:a="http://schemas.openxmlformats.org/drawingml/2006/main">
              <a:srgbClr val="8D9399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985861204.43</c:v>
              </c:pt>
              <c:pt idx="1">
                <c:v>3447533173.06</c:v>
              </c:pt>
              <c:pt idx="2">
                <c:v>5904953517.04</c:v>
              </c:pt>
              <c:pt idx="3">
                <c:v>10385763957.37</c:v>
              </c:pt>
              <c:pt idx="4">
                <c:v>12000105000.76</c:v>
              </c:pt>
              <c:pt idx="5">
                <c:v>23402314897.17</c:v>
              </c:pt>
              <c:pt idx="6">
                <c:v>39290194383.92</c:v>
              </c:pt>
            </c:numLit>
          </c:val>
        </c:ser>
        <c:ser>
          <c:idx val="1"/>
          <c:order val="1"/>
          <c:tx>
            <c:v>2025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1371598307.19</c:v>
              </c:pt>
              <c:pt idx="1">
                <c:v>5545107015.43</c:v>
              </c:pt>
              <c:pt idx="2">
                <c:v>8239631165.57</c:v>
              </c:pt>
              <c:pt idx="3">
                <c:v>15095915265.71</c:v>
              </c:pt>
              <c:pt idx="4">
                <c:v>17860121057.590004</c:v>
              </c:pt>
              <c:pt idx="5">
                <c:v>28222384687.519997</c:v>
              </c:pt>
              <c:pt idx="6">
                <c:v>40586561555.76</c:v>
              </c:pt>
            </c:numLit>
          </c:val>
        </c:ser>
        <c:ser>
          <c:idx val="2"/>
          <c:order val="2"/>
          <c:tx>
            <c:v>Jan–jun/26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7"/>
              <c:pt idx="0">
                <c:v>&lt;10</c:v>
              </c:pt>
              <c:pt idx="1">
                <c:v>10–25</c:v>
              </c:pt>
              <c:pt idx="2">
                <c:v>25–50</c:v>
              </c:pt>
              <c:pt idx="3">
                <c:v>50–
100</c:v>
              </c:pt>
              <c:pt idx="4">
                <c:v>100–
200</c:v>
              </c:pt>
              <c:pt idx="5">
                <c:v>200–
500</c:v>
              </c:pt>
              <c:pt idx="6">
                <c:v>≥500</c:v>
              </c:pt>
            </c:strLit>
          </c:cat>
          <c:val>
            <c:numLit>
              <c:formatCode>0.0,,,</c:formatCode>
              <c:ptCount val="7"/>
              <c:pt idx="0">
                <c:v>801328754.1599998</c:v>
              </c:pt>
              <c:pt idx="1">
                <c:v>3042944518.1800003</c:v>
              </c:pt>
              <c:pt idx="2">
                <c:v>3993685697.28</c:v>
              </c:pt>
              <c:pt idx="3">
                <c:v>7920407650.21</c:v>
              </c:pt>
              <c:pt idx="4">
                <c:v>9440722750.62</c:v>
              </c:pt>
              <c:pt idx="5">
                <c:v>12633761613.11</c:v>
              </c:pt>
              <c:pt idx="6">
                <c:v>27655268000</c:v>
              </c:pt>
            </c:numLit>
          </c:val>
        </c:ser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.0,,,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2024FY</c:v>
          </c:tx>
          <c:spPr>
            <a:ln xmlns:a="http://schemas.openxmlformats.org/drawingml/2006/main" w="28575">
              <a:solidFill>
                <a:srgbClr val="8D939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2025FY</c:v>
          </c:tx>
          <c:spPr>
            <a:ln xmlns:a="http://schemas.openxmlformats.org/drawingml/2006/main" w="28575">
              <a:solidFill>
                <a:srgbClr val="30353A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2026 jan–jun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2026 jan–jun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0.0893902602618587</c:v>
              </c:pt>
              <c:pt idx="2">
                <c:v>0.2183600967923638</c:v>
              </c:pt>
              <c:pt idx="3">
                <c:v>0.6922496429457774</c:v>
              </c:pt>
            </c:numLit>
          </c:val>
        </c:ser>
        <c:ser>
          <c:idx val="1"/>
          <c:order val="1"/>
          <c:tx>
            <c:v>2025FY</c:v>
          </c:tx>
          <c:spPr>
            <a:solidFill xmlns:a="http://schemas.openxmlformats.org/drawingml/2006/main">
              <a:srgbClr val="30353A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0.0049007315742955</c:v>
              </c:pt>
              <c:pt idx="1">
                <c:v>0.0865092588312477</c:v>
              </c:pt>
              <c:pt idx="2">
                <c:v>0.1560715599269108</c:v>
              </c:pt>
              <c:pt idx="3">
                <c:v>0.7525184496675458</c:v>
              </c:pt>
            </c:numLit>
          </c:val>
        </c:ser>
        <c:ser>
          <c:idx val="2"/>
          <c:order val="2"/>
          <c:tx>
            <c:v>2024FY</c:v>
          </c:tx>
          <c:spPr>
            <a:solidFill xmlns:a="http://schemas.openxmlformats.org/drawingml/2006/main">
              <a:srgbClr val="8D9399"/>
            </a:solidFill>
          </c:spPr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/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Não informado</c:v>
              </c:pt>
              <c:pt idx="1">
                <c:v>Misto</c:v>
              </c:pt>
              <c:pt idx="2">
                <c:v>Garantia firme</c:v>
              </c:pt>
              <c:pt idx="3">
                <c:v>Melhores esforços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0.1297392763466582</c:v>
              </c:pt>
              <c:pt idx="2">
                <c:v>0.1435448852101765</c:v>
              </c:pt>
              <c:pt idx="3">
                <c:v>0.7267158384431652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571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8D939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4315C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cat>
            <c:strLit>
              <c:ptCount val="6"/>
              <c:pt idx="0">
                <c:v>6º  UBS BB</c:v>
              </c:pt>
              <c:pt idx="1">
                <c:v>5º  XP Investimentos</c:v>
              </c:pt>
              <c:pt idx="2">
                <c:v>4º  Santander</c:v>
              </c:pt>
              <c:pt idx="3">
                <c:v>3º  BTG Pactual</c:v>
              </c:pt>
              <c:pt idx="4">
                <c:v>2º  Itaú BBA</c:v>
              </c:pt>
              <c:pt idx="5">
                <c:v>1º  Bradesco BBI</c:v>
              </c:pt>
            </c:strLit>
          </c:cat>
          <c:val>
            <c:numLit>
              <c:formatCode>0.0%</c:formatCode>
              <c:ptCount val="6"/>
              <c:pt idx="0">
                <c:v>0.07040879184</c:v>
              </c:pt>
              <c:pt idx="1">
                <c:v>0.07825892098</c:v>
              </c:pt>
              <c:pt idx="2">
                <c:v>0.09456496776</c:v>
              </c:pt>
              <c:pt idx="3">
                <c:v>0.09952460536</c:v>
              </c:pt>
              <c:pt idx="4">
                <c:v>0.2286817511</c:v>
              </c:pt>
              <c:pt idx="5">
                <c:v>0.27789560251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4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8D93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D63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C4248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/>
      </c:spPr>
    </c:plotArea>
    <c:plotVisOnly val="1"/>
  </c:chart>
  <c:spPr>
    <a:ln xmlns:a="http://schemas.openxmlformats.org/drawingml/2006/main" w="0"/>
  </c:spPr>
</c:chartSpace>
</file>

<file path=ppt/slides/charts/chart3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8D939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4315C"/>
              </a:solidFill>
            </c:spPr>
          </c:dPt>
          <c:cat>
            <c:strLit>
              <c:ptCount val="6"/>
              <c:pt idx="0">
                <c:v>6º  UBS BB</c:v>
              </c:pt>
              <c:pt idx="1">
                <c:v>5º  Santander</c:v>
              </c:pt>
              <c:pt idx="2">
                <c:v>4º  XP Investimentos</c:v>
              </c:pt>
              <c:pt idx="3">
                <c:v>3º  BTG Pactual</c:v>
              </c:pt>
              <c:pt idx="4">
                <c:v>2º  Bradesco BBI</c:v>
              </c:pt>
              <c:pt idx="5">
                <c:v>1º  Itaú BBA</c:v>
              </c:pt>
            </c:strLit>
          </c:cat>
          <c:val>
            <c:numLit>
              <c:formatCode>0.0%</c:formatCode>
              <c:ptCount val="6"/>
              <c:pt idx="0">
                <c:v>0.07451209379</c:v>
              </c:pt>
              <c:pt idx="1">
                <c:v>0.08883897779</c:v>
              </c:pt>
              <c:pt idx="2">
                <c:v>0.09451906615</c:v>
              </c:pt>
              <c:pt idx="3">
                <c:v>0.10418540682</c:v>
              </c:pt>
              <c:pt idx="4">
                <c:v>0.20545717664</c:v>
              </c:pt>
              <c:pt idx="5">
                <c:v>0.25024393331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4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8D93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D63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C4248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/>
      </c:spPr>
    </c:plotArea>
    <c:plotVisOnly val="1"/>
  </c:chart>
  <c:spPr>
    <a:ln xmlns:a="http://schemas.openxmlformats.org/drawingml/2006/main" w="0"/>
  </c:spPr>
</c:chartSpace>
</file>

<file path=ppt/slides/charts/chart3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8D939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4315C"/>
              </a:solidFill>
            </c:spPr>
          </c:dPt>
          <c:cat>
            <c:strLit>
              <c:ptCount val="6"/>
              <c:pt idx="0">
                <c:v>6º  UBS BB</c:v>
              </c:pt>
              <c:pt idx="1">
                <c:v>5º  Santander</c:v>
              </c:pt>
              <c:pt idx="2">
                <c:v>4º  XP Investimentos</c:v>
              </c:pt>
              <c:pt idx="3">
                <c:v>3º  BTG Pactual</c:v>
              </c:pt>
              <c:pt idx="4">
                <c:v>2º  Bradesco BBI</c:v>
              </c:pt>
              <c:pt idx="5">
                <c:v>1º  Itaú BBA</c:v>
              </c:pt>
            </c:strLit>
          </c:cat>
          <c:val>
            <c:numLit>
              <c:formatCode>0.0%</c:formatCode>
              <c:ptCount val="6"/>
              <c:pt idx="0">
                <c:v>0.05618662601</c:v>
              </c:pt>
              <c:pt idx="1">
                <c:v>0.07146291134</c:v>
              </c:pt>
              <c:pt idx="2">
                <c:v>0.07350064594</c:v>
              </c:pt>
              <c:pt idx="3">
                <c:v>0.15507438227</c:v>
              </c:pt>
              <c:pt idx="4">
                <c:v>0.17869834915</c:v>
              </c:pt>
              <c:pt idx="5">
                <c:v>0.26599103078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4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8D93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D63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C4248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/>
      </c:spPr>
    </c:plotArea>
    <c:plotVisOnly val="1"/>
  </c:chart>
  <c:spPr>
    <a:ln xmlns:a="http://schemas.openxmlformats.org/drawingml/2006/main" w="0"/>
  </c:spPr>
</c:chartSpace>
</file>

<file path=ppt/slides/charts/chart3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Market share</c:v>
          </c:tx>
          <c:spPr>
            <a:solidFill xmlns:a="http://schemas.openxmlformats.org/drawingml/2006/main">
              <a:srgbClr val="8D939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4315C"/>
              </a:solidFill>
            </c:spPr>
          </c:dPt>
          <c:cat>
            <c:strLit>
              <c:ptCount val="6"/>
              <c:pt idx="0">
                <c:v>6º  UBS BB</c:v>
              </c:pt>
              <c:pt idx="1">
                <c:v>5º  Santander</c:v>
              </c:pt>
              <c:pt idx="2">
                <c:v>4º  XP Investimentos</c:v>
              </c:pt>
              <c:pt idx="3">
                <c:v>3º  BTG Pactual</c:v>
              </c:pt>
              <c:pt idx="4">
                <c:v>2º  Bradesco BBI</c:v>
              </c:pt>
              <c:pt idx="5">
                <c:v>1º  Itaú BBA</c:v>
              </c:pt>
            </c:strLit>
          </c:cat>
          <c:val>
            <c:numLit>
              <c:formatCode>0.0%</c:formatCode>
              <c:ptCount val="6"/>
              <c:pt idx="0">
                <c:v>0.06424275488</c:v>
              </c:pt>
              <c:pt idx="1">
                <c:v>0.0789632087</c:v>
              </c:pt>
              <c:pt idx="2">
                <c:v>0.08384054545</c:v>
              </c:pt>
              <c:pt idx="3">
                <c:v>0.16031117313</c:v>
              </c:pt>
              <c:pt idx="4">
                <c:v>0.16255878564</c:v>
              </c:pt>
              <c:pt idx="5">
                <c:v>0.24625711518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F34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8D939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D63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D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C4248"/>
                </a:solidFill>
              </a:defRPr>
            </a:pPr>
          </a:p>
        </c:txPr>
        <c:crossAx val="48650112"/>
        <c:crossBetween val="between"/>
      </c:valAx>
      <c:spPr>
        <a:ln xmlns:a="http://schemas.openxmlformats.org/drawingml/2006/main" w="0"/>
      </c:spPr>
    </c:plotArea>
    <c:plotVisOnly val="1"/>
  </c:chart>
  <c:spPr>
    <a:ln xmlns:a="http://schemas.openxmlformats.org/drawingml/2006/main" w="0"/>
  </c:spPr>
</c:chartSpace>
</file>

<file path=ppt/slides/charts/chart3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QI Tech</c:v>
          </c:tx>
          <c:spPr>
            <a:ln xmlns:a="http://schemas.openxmlformats.org/drawingml/2006/main" w="28575">
              <a:solidFill>
                <a:srgbClr val="2456D6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BTG Pactual</c:v>
          </c:tx>
          <c:spPr>
            <a:ln xmlns:a="http://schemas.openxmlformats.org/drawingml/2006/main" w="28575">
              <a:solidFill>
                <a:srgbClr val="1D408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2"/>
          <c:order val="2"/>
          <c:tx>
            <c:v>Oliveira Trust</c:v>
          </c:tx>
          <c:spPr>
            <a:ln xmlns:a="http://schemas.openxmlformats.org/drawingml/2006/main" w="28575">
              <a:solidFill>
                <a:srgbClr val="7A1F3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3"/>
          <c:order val="3"/>
          <c:tx>
            <c:v>Itaú</c:v>
          </c:tx>
          <c:spPr>
            <a:ln xmlns:a="http://schemas.openxmlformats.org/drawingml/2006/main" w="28575">
              <a:solidFill>
                <a:srgbClr val="FF55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4"/>
          <c:order val="4"/>
          <c:tx>
            <c:v>Genial</c:v>
          </c:tx>
          <c:spPr>
            <a:ln xmlns:a="http://schemas.openxmlformats.org/drawingml/2006/main" w="28575">
              <a:solidFill>
                <a:srgbClr val="6EC5E9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5"/>
          <c:order val="5"/>
          <c:tx>
            <c:v>CBSF / REAG</c:v>
          </c:tx>
          <c:spPr>
            <a:ln xmlns:a="http://schemas.openxmlformats.org/drawingml/2006/main" w="28575">
              <a:solidFill>
                <a:srgbClr val="73C6A1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6"/>
          <c:order val="6"/>
          <c:tx>
            <c:v>Demais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Daycoval</c:v>
              </c:pt>
              <c:pt idx="3">
                <c:v>Bradesco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12.84615693169</c:v>
              </c:pt>
              <c:pt idx="1">
                <c:v>27.05634936661</c:v>
              </c:pt>
              <c:pt idx="2">
                <c:v>49.75417439041</c:v>
              </c:pt>
              <c:pt idx="3">
                <c:v>49.77770817222</c:v>
              </c:pt>
              <c:pt idx="4">
                <c:v>56.87136007691</c:v>
              </c:pt>
              <c:pt idx="5">
                <c:v>107.91817098489999</c:v>
              </c:pt>
              <c:pt idx="6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Hemera</c:v>
              </c:pt>
              <c:pt idx="1">
                <c:v>BRL Trust</c:v>
              </c:pt>
              <c:pt idx="2">
                <c:v>Finaxis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21.00943573536</c:v>
              </c:pt>
              <c:pt idx="1">
                <c:v>21.26060727013</c:v>
              </c:pt>
              <c:pt idx="2">
                <c:v>22.30772786867</c:v>
              </c:pt>
              <c:pt idx="3">
                <c:v>56.87136007691</c:v>
              </c:pt>
              <c:pt idx="4">
                <c:v>116.97439427594999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EC5E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Tercon Investimentos</c:v>
              </c:pt>
              <c:pt idx="3">
                <c:v>Genial</c:v>
              </c:pt>
              <c:pt idx="4">
                <c:v>Oliveira Trust</c:v>
              </c:pt>
              <c:pt idx="5">
                <c:v>Bradesco</c:v>
              </c:pt>
              <c:pt idx="6">
                <c:v>BTG Pactual</c:v>
              </c:pt>
            </c:strLit>
          </c:cat>
          <c:val>
            <c:numLit>
              <c:formatCode>0.0</c:formatCode>
              <c:ptCount val="7"/>
              <c:pt idx="0">
                <c:v>10.61117776359</c:v>
              </c:pt>
              <c:pt idx="1">
                <c:v>20.5830639885</c:v>
              </c:pt>
              <c:pt idx="2">
                <c:v>21.696113631950002</c:v>
              </c:pt>
              <c:pt idx="3">
                <c:v>26.87573463003</c:v>
              </c:pt>
              <c:pt idx="4">
                <c:v>35.02222544035998</c:v>
              </c:pt>
              <c:pt idx="5">
                <c:v>39.85656848075</c:v>
              </c:pt>
              <c:pt idx="6">
                <c:v>78.74983410723001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ACB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939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cat>
            <c:strLit>
              <c:ptCount val="5"/>
              <c:pt idx="0">
                <c:v>CBSF</c:v>
              </c:pt>
              <c:pt idx="1">
                <c:v>Solis Investimentos</c:v>
              </c:pt>
              <c:pt idx="2">
                <c:v>Integral Investimentos</c:v>
              </c:pt>
              <c:pt idx="3">
                <c:v>Tercon Investimentos</c:v>
              </c:pt>
              <c:pt idx="4">
                <c:v>Oliveira Trust</c:v>
              </c:pt>
            </c:strLit>
          </c:cat>
          <c:val>
            <c:numLit>
              <c:formatCode>0.0</c:formatCode>
              <c:ptCount val="5"/>
              <c:pt idx="0">
                <c:v>10.17441132442</c:v>
              </c:pt>
              <c:pt idx="1">
                <c:v>14.32953247391</c:v>
              </c:pt>
              <c:pt idx="2">
                <c:v>14.931875223759999</c:v>
              </c:pt>
              <c:pt idx="3">
                <c:v>21.696113631950002</c:v>
              </c:pt>
              <c:pt idx="4">
                <c:v>35.02222544035998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030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55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787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EC2C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D40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7"/>
              <c:pt idx="0">
                <c:v>Kanastra / Limine</c:v>
              </c:pt>
              <c:pt idx="1">
                <c:v>Itaú</c:v>
              </c:pt>
              <c:pt idx="2">
                <c:v>Bradesco</c:v>
              </c:pt>
              <c:pt idx="3">
                <c:v>Daycoval</c:v>
              </c:pt>
              <c:pt idx="4">
                <c:v>Oliveira Trust</c:v>
              </c:pt>
              <c:pt idx="5">
                <c:v>BTG Pactual</c:v>
              </c:pt>
              <c:pt idx="6">
                <c:v>QI Tech</c:v>
              </c:pt>
            </c:strLit>
          </c:cat>
          <c:val>
            <c:numLit>
              <c:formatCode>0.0</c:formatCode>
              <c:ptCount val="7"/>
              <c:pt idx="0">
                <c:v>19.494658191289997</c:v>
              </c:pt>
              <c:pt idx="1">
                <c:v>20.405586732159996</c:v>
              </c:pt>
              <c:pt idx="2">
                <c:v>48.43408476549</c:v>
              </c:pt>
              <c:pt idx="3">
                <c:v>55.81924378400999</c:v>
              </c:pt>
              <c:pt idx="4">
                <c:v>71.90092760434999</c:v>
              </c:pt>
              <c:pt idx="5">
                <c:v>107.26541902169001</c:v>
              </c:pt>
              <c:pt idx="6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jun/26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54A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B606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3C6A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A1F3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456D6"/>
              </a:solidFill>
            </c:spPr>
          </c:dPt>
          <c:cat>
            <c:strLit>
              <c:ptCount val="5"/>
              <c:pt idx="0">
                <c:v>BRL Trust</c:v>
              </c:pt>
              <c:pt idx="1">
                <c:v>Finaxis</c:v>
              </c:pt>
              <c:pt idx="2">
                <c:v>REAG</c:v>
              </c:pt>
              <c:pt idx="3">
                <c:v>Oliveira Trust</c:v>
              </c:pt>
              <c:pt idx="4">
                <c:v>QI Tech</c:v>
              </c:pt>
            </c:strLit>
          </c:cat>
          <c:val>
            <c:numLit>
              <c:formatCode>0.0</c:formatCode>
              <c:ptCount val="5"/>
              <c:pt idx="0">
                <c:v>21.26374598682</c:v>
              </c:pt>
              <c:pt idx="1">
                <c:v>22.30772786867</c:v>
              </c:pt>
              <c:pt idx="2">
                <c:v>25.04054022159</c:v>
              </c:pt>
              <c:pt idx="3">
                <c:v>71.90092760434999</c:v>
              </c:pt>
              <c:pt idx="4">
                <c:v>115.31244022541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0.7168643095519629</c:v>
              </c:pt>
              <c:pt idx="1">
                <c:v>0.35810685850247875</c:v>
              </c:pt>
              <c:pt idx="2">
                <c:v>0.7169086306781982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0.7150145774372395</c:v>
              </c:pt>
              <c:pt idx="1">
                <c:v>0.3890568914241183</c:v>
              </c:pt>
              <c:pt idx="2">
                <c:v>0.7349339570479368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Dez/25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0.497141395134468</c:v>
              </c:pt>
              <c:pt idx="1">
                <c:v>0.23645038550679134</c:v>
              </c:pt>
              <c:pt idx="2">
                <c:v>0.5170349888512263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Admin.</c:v>
              </c:pt>
              <c:pt idx="1">
                <c:v>Gestão</c:v>
              </c:pt>
              <c:pt idx="2">
                <c:v>Custódia</c:v>
              </c:pt>
            </c:strLit>
          </c:cat>
          <c:val>
            <c:numLit>
              <c:formatCode>0.0%</c:formatCode>
              <c:ptCount val="3"/>
              <c:pt idx="0">
                <c:v>0.5306014675789608</c:v>
              </c:pt>
              <c:pt idx="1">
                <c:v>0.2813769971812452</c:v>
              </c:pt>
              <c:pt idx="2">
                <c:v>0.5548653859259784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Contas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2"/>
              <c:pt idx="0">
                <c:v>2015</c:v>
              </c:pt>
              <c:pt idx="1">
                <c:v>​​</c:v>
              </c:pt>
              <c:pt idx="2">
                <c:v>​​​</c:v>
              </c:pt>
              <c:pt idx="3">
                <c:v>2018</c:v>
              </c:pt>
              <c:pt idx="4">
                <c:v>​​​​​</c:v>
              </c:pt>
              <c:pt idx="5">
                <c:v>​​​​​​</c:v>
              </c:pt>
              <c:pt idx="6">
                <c:v>2021</c:v>
              </c:pt>
              <c:pt idx="7">
                <c:v>​​​​​​​​</c:v>
              </c:pt>
              <c:pt idx="8">
                <c:v>​​​​​​​​​</c:v>
              </c:pt>
              <c:pt idx="9">
                <c:v>2024</c:v>
              </c:pt>
              <c:pt idx="10">
                <c:v>​​​​​​​​​​​</c:v>
              </c:pt>
              <c:pt idx="11">
                <c:v>Jun/26</c:v>
              </c:pt>
            </c:strLit>
          </c:cat>
          <c:val>
            <c:numLit>
              <c:formatCode>0 "mil"</c:formatCode>
              <c:ptCount val="12"/>
              <c:pt idx="0">
                <c:v>12.508</c:v>
              </c:pt>
              <c:pt idx="1">
                <c:v>13.872</c:v>
              </c:pt>
              <c:pt idx="2">
                <c:v>16.049</c:v>
              </c:pt>
              <c:pt idx="3">
                <c:v>17.678</c:v>
              </c:pt>
              <c:pt idx="4">
                <c:v>25.781</c:v>
              </c:pt>
              <c:pt idx="5">
                <c:v>32.936</c:v>
              </c:pt>
              <c:pt idx="6">
                <c:v>31.626</c:v>
              </c:pt>
              <c:pt idx="7">
                <c:v>48.608</c:v>
              </c:pt>
              <c:pt idx="8">
                <c:v>61.735</c:v>
              </c:pt>
              <c:pt idx="9">
                <c:v>148.582</c:v>
              </c:pt>
              <c:pt idx="10">
                <c:v>387.159</c:v>
              </c:pt>
              <c:pt idx="11">
                <c:v>461.222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 &quot;mil&quot;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Profissional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0.9684547923581838</c:v>
              </c:pt>
              <c:pt idx="1">
                <c:v>0.9441348233073096</c:v>
              </c:pt>
              <c:pt idx="2">
                <c:v>0.9282664027264255</c:v>
              </c:pt>
              <c:pt idx="3">
                <c:v>0.9378646364463225</c:v>
              </c:pt>
            </c:numLit>
          </c:val>
        </c:ser>
        <c:ser>
          <c:idx val="1"/>
          <c:order val="1"/>
          <c:tx>
            <c:v>Qualificado</c:v>
          </c:tx>
          <c:spPr>
            <a:solidFill xmlns:a="http://schemas.openxmlformats.org/drawingml/2006/main">
              <a:srgbClr val="30353A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0.020214315409922565</c:v>
              </c:pt>
              <c:pt idx="1">
                <c:v>0.0558127749786242</c:v>
              </c:pt>
              <c:pt idx="2">
                <c:v>0.06683286569927906</c:v>
              </c:pt>
              <c:pt idx="3">
                <c:v>0.057045463199635146</c:v>
              </c:pt>
            </c:numLit>
          </c:val>
        </c:ser>
        <c:ser>
          <c:idx val="2"/>
          <c:order val="2"/>
          <c:tx>
            <c:v>Geral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</c:v>
              </c:pt>
              <c:pt idx="1">
                <c:v>5.240171406626623E-05</c:v>
              </c:pt>
              <c:pt idx="2">
                <c:v>0</c:v>
              </c:pt>
              <c:pt idx="3">
                <c:v>0.005089900354042509</c:v>
              </c:pt>
            </c:numLit>
          </c:val>
        </c:ser>
        <c:ser>
          <c:idx val="3"/>
          <c:order val="3"/>
          <c:tx>
            <c:v>N/D</c:v>
          </c:tx>
          <c:spPr>
            <a:solidFill xmlns:a="http://schemas.openxmlformats.org/drawingml/2006/main">
              <a:srgbClr val="E7E9EB"/>
            </a:solidFill>
          </c:spPr>
          <c:cat>
            <c:strLit>
              <c:ptCount val="4"/>
              <c:pt idx="0">
                <c:v>2023FY</c:v>
              </c:pt>
              <c:pt idx="1">
                <c:v>2024FY</c:v>
              </c:pt>
              <c:pt idx="2">
                <c:v>2025FY</c:v>
              </c:pt>
              <c:pt idx="3">
                <c:v>Jan–jun/26</c:v>
              </c:pt>
            </c:strLit>
          </c:cat>
          <c:val>
            <c:numLit>
              <c:formatCode>0.0%</c:formatCode>
              <c:ptCount val="4"/>
              <c:pt idx="0">
                <c:v>0.01133089223189357</c:v>
              </c:pt>
              <c:pt idx="1">
                <c:v>0</c:v>
              </c:pt>
              <c:pt idx="2">
                <c:v>0.004900731574295591</c:v>
              </c:pt>
              <c:pt idx="3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Contas</c:v>
          </c:tx>
          <c:spPr>
            <a:solidFill xmlns:a="http://schemas.openxmlformats.org/drawingml/2006/main">
              <a:srgbClr val="30353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0353A"/>
              </a:solidFill>
            </c:spPr>
          </c:dPt>
          <c:cat>
            <c:strLit>
              <c:ptCount val="5"/>
              <c:pt idx="0">
                <c:v>Fundos</c:v>
              </c:pt>
              <c:pt idx="1">
                <c:v>Empresas e outros</c:v>
              </c:pt>
              <c:pt idx="2">
                <c:v>Pessoa física</c:v>
              </c:pt>
              <c:pt idx="3">
                <c:v>Instituições financeiras</c:v>
              </c:pt>
              <c:pt idx="4">
                <c:v>Previdência e seguros</c:v>
              </c:pt>
            </c:strLit>
          </c:cat>
          <c:val>
            <c:numLit>
              <c:formatCode>0.0%</c:formatCode>
              <c:ptCount val="5"/>
              <c:pt idx="0">
                <c:v>0.442722471315705</c:v>
              </c:pt>
              <c:pt idx="1">
                <c:v>0.25706375155020944</c:v>
              </c:pt>
              <c:pt idx="2">
                <c:v>0.20520653559627777</c:v>
              </c:pt>
              <c:pt idx="3">
                <c:v>0.09422238025445116</c:v>
              </c:pt>
              <c:pt idx="4">
                <c:v>0.0007848612833566045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Dez/23</c:v>
          </c:tx>
          <c:spPr>
            <a:ln xmlns:a="http://schemas.openxmlformats.org/drawingml/2006/main" w="28575">
              <a:solidFill>
                <a:srgbClr val="73787D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ser>
          <c:idx val="1"/>
          <c:order val="1"/>
          <c:tx>
            <c:v>Jun/26</c:v>
          </c:tx>
          <c:spPr>
            <a:ln xmlns:a="http://schemas.openxmlformats.org/drawingml/2006/main" w="28575">
              <a:solidFill>
                <a:srgbClr val="EC7000"/>
              </a:solidFill>
              <a:prstDash val="solid"/>
            </a:ln>
          </c:spPr>
          <c:marker>
            <c:symbol val="none"/>
          </c:marker>
          <c:cat>
            <c:strLit>
              <c:ptCount val="1"/>
              <c:pt idx="0">
                <c:v/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3</c:v>
              </c:pt>
              <c:pt idx="1">
                <c:v>106</c:v>
              </c:pt>
              <c:pt idx="2">
                <c:v>104</c:v>
              </c:pt>
              <c:pt idx="3">
                <c:v>71</c:v>
              </c:pt>
              <c:pt idx="4">
                <c:v>50</c:v>
              </c:pt>
              <c:pt idx="5">
                <c:v>75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</c:v>
              </c:pt>
              <c:pt idx="1">
                <c:v>180</c:v>
              </c:pt>
              <c:pt idx="2">
                <c:v>123</c:v>
              </c:pt>
              <c:pt idx="3">
                <c:v>153</c:v>
              </c:pt>
              <c:pt idx="4">
                <c:v>128</c:v>
              </c:pt>
              <c:pt idx="5">
                <c:v>198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4.08011139709</c:v>
              </c:pt>
              <c:pt idx="1">
                <c:v>107.00408055976</c:v>
              </c:pt>
              <c:pt idx="2">
                <c:v>65.98513346480999</c:v>
              </c:pt>
              <c:pt idx="3">
                <c:v>87.13513028292</c:v>
              </c:pt>
              <c:pt idx="4">
                <c:v>27.89580794356</c:v>
              </c:pt>
              <c:pt idx="5">
                <c:v>84.79440519127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</c:formatCode>
              <c:ptCount val="6"/>
              <c:pt idx="0">
                <c:v>2.04153385837</c:v>
              </c:pt>
              <c:pt idx="1">
                <c:v>174.97916627078</c:v>
              </c:pt>
              <c:pt idx="2">
                <c:v>85.07690883193</c:v>
              </c:pt>
              <c:pt idx="3">
                <c:v>174.00964091183</c:v>
              </c:pt>
              <c:pt idx="4">
                <c:v>80.62114320047</c:v>
              </c:pt>
              <c:pt idx="5">
                <c:v>216.35550333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0.007334963325183374</c:v>
              </c:pt>
              <c:pt idx="1">
                <c:v>0.2591687041564792</c:v>
              </c:pt>
              <c:pt idx="2">
                <c:v>0.254278728606357</c:v>
              </c:pt>
              <c:pt idx="3">
                <c:v>0.17359413202933985</c:v>
              </c:pt>
              <c:pt idx="4">
                <c:v>0.12224938875305623</c:v>
              </c:pt>
              <c:pt idx="5">
                <c:v>0.18337408312958436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0.002551020408163265</c:v>
              </c:pt>
              <c:pt idx="1">
                <c:v>0.22959183673469388</c:v>
              </c:pt>
              <c:pt idx="2">
                <c:v>0.1568877551020408</c:v>
              </c:pt>
              <c:pt idx="3">
                <c:v>0.1951530612244898</c:v>
              </c:pt>
              <c:pt idx="4">
                <c:v>0.16326530612244897</c:v>
              </c:pt>
              <c:pt idx="5">
                <c:v>0.25255102040816324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Dez/23</c:v>
          </c:tx>
          <c:spPr>
            <a:solidFill xmlns:a="http://schemas.openxmlformats.org/drawingml/2006/main">
              <a:srgbClr val="73787D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0.010825601247303616</c:v>
              </c:pt>
              <c:pt idx="1">
                <c:v>0.28390977481656304</c:v>
              </c:pt>
              <c:pt idx="2">
                <c:v>0.1750757941681723</c:v>
              </c:pt>
              <c:pt idx="3">
                <c:v>0.23119226003179993</c:v>
              </c:pt>
              <c:pt idx="4">
                <c:v>0.07401486476171423</c:v>
              </c:pt>
              <c:pt idx="5">
                <c:v>0.22498170497444692</c:v>
              </c:pt>
            </c:numLit>
          </c:val>
        </c:ser>
        <c:ser>
          <c:idx val="1"/>
          <c:order val="1"/>
          <c:tx>
            <c:v>Jun/26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6"/>
              <c:pt idx="0">
                <c:v>0</c:v>
              </c:pt>
              <c:pt idx="1">
                <c:v>1</c:v>
              </c:pt>
              <c:pt idx="2">
                <c:v>2–3</c:v>
              </c:pt>
              <c:pt idx="3">
                <c:v>4–10</c:v>
              </c:pt>
              <c:pt idx="4">
                <c:v>11–50</c:v>
              </c:pt>
              <c:pt idx="5">
                <c:v>51+</c:v>
              </c:pt>
            </c:strLit>
          </c:cat>
          <c:val>
            <c:numLit>
              <c:formatCode>0%</c:formatCode>
              <c:ptCount val="6"/>
              <c:pt idx="0">
                <c:v>0.002784857051677267</c:v>
              </c:pt>
              <c:pt idx="1">
                <c:v>0.23868914203306626</c:v>
              </c:pt>
              <c:pt idx="2">
                <c:v>0.11605344115363893</c:v>
              </c:pt>
              <c:pt idx="3">
                <c:v>0.23736661215114327</c:v>
              </c:pt>
              <c:pt idx="4">
                <c:v>0.10997532969419936</c:v>
              </c:pt>
              <c:pt idx="5">
                <c:v>0.29513061791627493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15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0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53.039866746449995</c:v>
              </c:pt>
              <c:pt idx="1">
                <c:v>66.99363287149001</c:v>
              </c:pt>
              <c:pt idx="2">
                <c:v>84.0510959145</c:v>
              </c:pt>
              <c:pt idx="3">
                <c:v>88.39237477025999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88.01231288842001</c:v>
              </c:pt>
              <c:pt idx="1">
                <c:v>110.78163928671</c:v>
              </c:pt>
              <c:pt idx="2">
                <c:v>134.72203186548</c:v>
              </c:pt>
              <c:pt idx="3">
                <c:v>142.63089658108998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126.14605664653</c:v>
              </c:pt>
              <c:pt idx="1">
                <c:v>176.82850856551002</c:v>
              </c:pt>
              <c:pt idx="2">
                <c:v>231.72616772613995</c:v>
              </c:pt>
              <c:pt idx="3">
                <c:v>275.29447198864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3.0397972983000003</c:v>
              </c:pt>
              <c:pt idx="1">
                <c:v>3.80886973898</c:v>
              </c:pt>
              <c:pt idx="2">
                <c:v>5.862133668999999</c:v>
              </c:pt>
              <c:pt idx="3">
                <c:v>7.10264044208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54.14687833335</c:v>
              </c:pt>
              <c:pt idx="1">
                <c:v>71.53991117332</c:v>
              </c:pt>
              <c:pt idx="2">
                <c:v>92.67004840915</c:v>
              </c:pt>
              <c:pt idx="3">
                <c:v>81.84740187933002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42.82259619404</c:v>
              </c:pt>
              <c:pt idx="1">
                <c:v>63.3543770927</c:v>
              </c:pt>
              <c:pt idx="2">
                <c:v>90.8173192781</c:v>
              </c:pt>
              <c:pt idx="3">
                <c:v>86.50477887797999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21.275962572810005</c:v>
              </c:pt>
              <c:pt idx="1">
                <c:v>33.66266718072</c:v>
              </c:pt>
              <c:pt idx="2">
                <c:v>33.97906413177999</c:v>
              </c:pt>
              <c:pt idx="3">
                <c:v>35.19928678253001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</c:formatCode>
              <c:ptCount val="4"/>
              <c:pt idx="0">
                <c:v>0.4925227090800001</c:v>
              </c:pt>
              <c:pt idx="1">
                <c:v>0.22197586637999997</c:v>
              </c:pt>
              <c:pt idx="2">
                <c:v>0.08320776646000001</c:v>
              </c:pt>
              <c:pt idx="3">
                <c:v>1.63869010794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1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0.1363576869727525</c:v>
              </c:pt>
              <c:pt idx="1">
                <c:v>0.1270764465658316</c:v>
              </c:pt>
              <c:pt idx="2">
                <c:v>0.1247213464961755</c:v>
              </c:pt>
              <c:pt idx="3">
                <c:v>0.123004561823407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0.2262666961053475</c:v>
              </c:pt>
              <c:pt idx="1">
                <c:v>0.2101354481297849</c:v>
              </c:pt>
              <c:pt idx="2">
                <c:v>0.1999106975839517</c:v>
              </c:pt>
              <c:pt idx="3">
                <c:v>0.1984814977766555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0.324302935889369</c:v>
              </c:pt>
              <c:pt idx="1">
                <c:v>0.3354160321943587</c:v>
              </c:pt>
              <c:pt idx="2">
                <c:v>0.3438527403212231</c:v>
              </c:pt>
              <c:pt idx="3">
                <c:v>0.3830927270296855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0.0078148712258963</c:v>
              </c:pt>
              <c:pt idx="1">
                <c:v>0.0072248303475371</c:v>
              </c:pt>
              <c:pt idx="2">
                <c:v>0.0086986754495382</c:v>
              </c:pt>
              <c:pt idx="3">
                <c:v>0.0098838522851996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0.1392036507487046</c:v>
              </c:pt>
              <c:pt idx="1">
                <c:v>0.1357000256573569</c:v>
              </c:pt>
              <c:pt idx="2">
                <c:v>0.1375107973513174</c:v>
              </c:pt>
              <c:pt idx="3">
                <c:v>0.1138967454004706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0.1100905889356954</c:v>
              </c:pt>
              <c:pt idx="1">
                <c:v>0.1201733473802729</c:v>
              </c:pt>
              <c:pt idx="2">
                <c:v>0.134761578326829</c:v>
              </c:pt>
              <c:pt idx="3">
                <c:v>0.1203778317889099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0.0546973667640558</c:v>
              </c:pt>
              <c:pt idx="1">
                <c:v>0.0638528162140403</c:v>
              </c:pt>
              <c:pt idx="2">
                <c:v>0.0504206945202293</c:v>
              </c:pt>
              <c:pt idx="3">
                <c:v>0.0489824247672355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dez/23</c:v>
              </c:pt>
              <c:pt idx="1">
                <c:v>dez/24</c:v>
              </c:pt>
              <c:pt idx="2">
                <c:v>dez/25</c:v>
              </c:pt>
              <c:pt idx="3">
                <c:v>jun/26</c:v>
              </c:pt>
            </c:strLit>
          </c:cat>
          <c:val>
            <c:numLit>
              <c:formatCode>0.0%</c:formatCode>
              <c:ptCount val="4"/>
              <c:pt idx="0">
                <c:v>0.0012662033581786</c:v>
              </c:pt>
              <c:pt idx="1">
                <c:v>0.0004210535108172</c:v>
              </c:pt>
              <c:pt idx="2">
                <c:v>0.0001234699507355</c:v>
              </c:pt>
              <c:pt idx="3">
                <c:v>0.0022803591284361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4.272733645318789</c:v>
              </c:pt>
              <c:pt idx="1">
                <c:v>9.46084314594</c:v>
              </c:pt>
              <c:pt idx="2">
                <c:v>8.85980114902</c:v>
              </c:pt>
              <c:pt idx="3">
                <c:v>3.9604598731999996</c:v>
              </c:pt>
              <c:pt idx="4">
                <c:v>5.60231892482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4.81492197807918</c:v>
              </c:pt>
              <c:pt idx="1">
                <c:v>17.46136403561</c:v>
              </c:pt>
              <c:pt idx="2">
                <c:v>27.4106918537</c:v>
              </c:pt>
              <c:pt idx="3">
                <c:v>18.84859596717</c:v>
              </c:pt>
              <c:pt idx="4">
                <c:v>10.74513727233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15.42043709582751</c:v>
              </c:pt>
              <c:pt idx="1">
                <c:v>42.451896497339995</c:v>
              </c:pt>
              <c:pt idx="2">
                <c:v>51.61086148217</c:v>
              </c:pt>
              <c:pt idx="3">
                <c:v>21.28068209032</c:v>
              </c:pt>
              <c:pt idx="4">
                <c:v>37.7899990259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1.3295867388102478</c:v>
              </c:pt>
              <c:pt idx="1">
                <c:v>1.79225</c:v>
              </c:pt>
              <c:pt idx="2">
                <c:v>0.261</c:v>
              </c:pt>
              <c:pt idx="3">
                <c:v>0.13</c:v>
              </c:pt>
              <c:pt idx="4">
                <c:v>2.60300000007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3.339822969232049</c:v>
              </c:pt>
              <c:pt idx="1">
                <c:v>5.5087763108</c:v>
              </c:pt>
              <c:pt idx="2">
                <c:v>7.018108725239999</c:v>
              </c:pt>
              <c:pt idx="3">
                <c:v>3.2252896508299997</c:v>
              </c:pt>
              <c:pt idx="4">
                <c:v>2.07487987222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2.287448611391622</c:v>
              </c:pt>
              <c:pt idx="1">
                <c:v>1.90953225977</c:v>
              </c:pt>
              <c:pt idx="2">
                <c:v>3.5888690035</c:v>
              </c:pt>
              <c:pt idx="3">
                <c:v>1.15603067773</c:v>
              </c:pt>
              <c:pt idx="4">
                <c:v>1.21970179492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0.8743020042766778</c:v>
              </c:pt>
              <c:pt idx="1">
                <c:v>1.7879510000799999</c:v>
              </c:pt>
              <c:pt idx="2">
                <c:v>2.45979375898</c:v>
              </c:pt>
              <c:pt idx="3">
                <c:v>0.6778</c:v>
              </c:pt>
              <c:pt idx="4">
                <c:v>0.29309674031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</c:formatCode>
              <c:ptCount val="5"/>
              <c:pt idx="0">
                <c:v>8.542325907839587</c:v>
              </c:pt>
              <c:pt idx="1">
                <c:v>8.013988884309999</c:v>
              </c:pt>
              <c:pt idx="2">
                <c:v>5.23622188904</c:v>
              </c:pt>
              <c:pt idx="3">
                <c:v>3.15074370915</c:v>
              </c:pt>
              <c:pt idx="4">
                <c:v>2.3466058039299997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3.xml><?xml version="1.0" encoding="utf-8"?>
<c:chartSpace xmlns:c="http://schemas.openxmlformats.org/drawingml/2006/chart">
  <c:lang val="en-US"/>
  <c:chart>
    <c:plotArea>
      <c:barChart>
        <c:barDir val="col"/>
        <c:grouping val="percentStacked"/>
        <c:varyColors val="0"/>
        <c:ser>
          <c:idx val="0"/>
          <c:order val="0"/>
          <c:tx>
            <c:v>Fomento Mercantil</c:v>
          </c:tx>
          <c:spPr>
            <a:solidFill xmlns:a="http://schemas.openxmlformats.org/drawingml/2006/main">
              <a:srgbClr val="73787D"/>
            </a:solidFill>
            <a:ln xmlns:a="http://schemas.openxmlformats.org/drawingml/2006/main">
              <a:solidFill>
                <a:srgbClr val="73787D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0.1045148880003745</c:v>
              </c:pt>
              <c:pt idx="1">
                <c:v>0.1070393353464678</c:v>
              </c:pt>
              <c:pt idx="2">
                <c:v>0.0832333336026609</c:v>
              </c:pt>
              <c:pt idx="3">
                <c:v>0.0755386217806311</c:v>
              </c:pt>
              <c:pt idx="4">
                <c:v>0.0893871913209126</c:v>
              </c:pt>
            </c:numLit>
          </c:val>
        </c:ser>
        <c:ser>
          <c:idx val="1"/>
          <c:order val="1"/>
          <c:tx>
            <c:v>Agro, Indústria e Comércio</c:v>
          </c:tx>
          <c:spPr>
            <a:solidFill xmlns:a="http://schemas.openxmlformats.org/drawingml/2006/main">
              <a:srgbClr val="104B08"/>
            </a:solidFill>
            <a:ln xmlns:a="http://schemas.openxmlformats.org/drawingml/2006/main">
              <a:solidFill>
                <a:srgbClr val="104B08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0.1177772997436496</c:v>
              </c:pt>
              <c:pt idx="1">
                <c:v>0.1975566840907294</c:v>
              </c:pt>
              <c:pt idx="2">
                <c:v>0.2575095333365479</c:v>
              </c:pt>
              <c:pt idx="3">
                <c:v>0.359502938407396</c:v>
              </c:pt>
              <c:pt idx="4">
                <c:v>0.1714428710718376</c:v>
              </c:pt>
            </c:numLit>
          </c:val>
        </c:ser>
        <c:ser>
          <c:idx val="2"/>
          <c:order val="2"/>
          <c:tx>
            <c:v>Financeiro</c:v>
          </c:tx>
          <c:spPr>
            <a:solidFill xmlns:a="http://schemas.openxmlformats.org/drawingml/2006/main">
              <a:srgbClr val="F07800"/>
            </a:solidFill>
            <a:ln xmlns:a="http://schemas.openxmlformats.org/drawingml/2006/main">
              <a:solidFill>
                <a:srgbClr val="F0780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0.3771976888269119</c:v>
              </c:pt>
              <c:pt idx="1">
                <c:v>0.480297867238432</c:v>
              </c:pt>
              <c:pt idx="2">
                <c:v>0.4848578403750447</c:v>
              </c:pt>
              <c:pt idx="3">
                <c:v>0.4058905902651357</c:v>
              </c:pt>
              <c:pt idx="4">
                <c:v>0.6029542263257991</c:v>
              </c:pt>
            </c:numLit>
          </c:val>
        </c:ser>
        <c:ser>
          <c:idx val="3"/>
          <c:order val="3"/>
          <c:tx>
            <c:v>Multicarteira Pulverizado PF/PJ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>
              <a:solidFill>
                <a:srgbClr val="4472C4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0.0325228812813508</c:v>
              </c:pt>
              <c:pt idx="1">
                <c:v>0.0202773945001966</c:v>
              </c:pt>
              <c:pt idx="2">
                <c:v>0.0024519624881984</c:v>
              </c:pt>
              <c:pt idx="3">
                <c:v>0.0024795152951638</c:v>
              </c:pt>
              <c:pt idx="4">
                <c:v>0.0415318838746882</c:v>
              </c:pt>
            </c:numLit>
          </c:val>
        </c:ser>
        <c:ser>
          <c:idx val="4"/>
          <c:order val="4"/>
          <c:tx>
            <c:v>Precatórios / ações</c:v>
          </c:tx>
          <c:spPr>
            <a:solidFill xmlns:a="http://schemas.openxmlformats.org/drawingml/2006/main">
              <a:srgbClr val="151515"/>
            </a:solidFill>
            <a:ln xmlns:a="http://schemas.openxmlformats.org/drawingml/2006/main">
              <a:solidFill>
                <a:srgbClr val="151515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0.0816950581398393</c:v>
              </c:pt>
              <c:pt idx="1">
                <c:v>0.062325920193851</c:v>
              </c:pt>
              <c:pt idx="2">
                <c:v>0.0659315683233205</c:v>
              </c:pt>
              <c:pt idx="3">
                <c:v>0.0615165770812817</c:v>
              </c:pt>
              <c:pt idx="4">
                <c:v>0.0331055205165776</c:v>
              </c:pt>
            </c:numLit>
          </c:val>
        </c:ser>
        <c:ser>
          <c:idx val="5"/>
          <c:order val="5"/>
          <c:tx>
            <c:v>Multicedente / multisacado</c:v>
          </c:tx>
          <c:spPr>
            <a:solidFill xmlns:a="http://schemas.openxmlformats.org/drawingml/2006/main">
              <a:srgbClr val="7030A0"/>
            </a:solidFill>
            <a:ln xmlns:a="http://schemas.openxmlformats.org/drawingml/2006/main">
              <a:solidFill>
                <a:srgbClr val="7030A0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0.0559530397332714</c:v>
              </c:pt>
              <c:pt idx="1">
                <c:v>0.0216043180037429</c:v>
              </c:pt>
              <c:pt idx="2">
                <c:v>0.033715602190192</c:v>
              </c:pt>
              <c:pt idx="3">
                <c:v>0.0220491980546935</c:v>
              </c:pt>
              <c:pt idx="4">
                <c:v>0.0194608195570511</c:v>
              </c:pt>
            </c:numLit>
          </c:val>
        </c:ser>
        <c:ser>
          <c:idx val="6"/>
          <c:order val="6"/>
          <c:tx>
            <c:v>Recuperação / NP</c:v>
          </c:tx>
          <c:spPr>
            <a:solidFill xmlns:a="http://schemas.openxmlformats.org/drawingml/2006/main">
              <a:srgbClr val="D7DADF"/>
            </a:solidFill>
            <a:ln xmlns:a="http://schemas.openxmlformats.org/drawingml/2006/main">
              <a:solidFill>
                <a:srgbClr val="D7DADF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0.0213862093078498</c:v>
              </c:pt>
              <c:pt idx="1">
                <c:v>0.0202287559077379</c:v>
              </c:pt>
              <c:pt idx="2">
                <c:v>0.0231085135085195</c:v>
              </c:pt>
              <c:pt idx="3">
                <c:v>0.0129278112850927</c:v>
              </c:pt>
              <c:pt idx="4">
                <c:v>0.0046764732163954</c:v>
              </c:pt>
            </c:numLit>
          </c:val>
        </c:ser>
        <c:ser>
          <c:idx val="7"/>
          <c:order val="7"/>
          <c:tx>
            <c:v>N/D</c:v>
          </c:tx>
          <c:spPr>
            <a:solidFill xmlns:a="http://schemas.openxmlformats.org/drawingml/2006/main">
              <a:srgbClr val="EEF0F2"/>
            </a:solidFill>
            <a:ln xmlns:a="http://schemas.openxmlformats.org/drawingml/2006/main">
              <a:solidFill>
                <a:srgbClr val="EEF0F2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>
                      <a:solidFill>
                        <a:srgbClr val="151515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5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jan–jun/25</c:v>
              </c:pt>
              <c:pt idx="4">
                <c:v>jan–jun/26</c:v>
              </c:pt>
            </c:strLit>
          </c:cat>
          <c:val>
            <c:numLit>
              <c:formatCode>0.0%</c:formatCode>
              <c:ptCount val="5"/>
              <c:pt idx="0">
                <c:v>0.2089529349667525</c:v>
              </c:pt>
              <c:pt idx="1">
                <c:v>0.090669724718842</c:v>
              </c:pt>
              <c:pt idx="2">
                <c:v>0.0491916461755159</c:v>
              </c:pt>
              <c:pt idx="3">
                <c:v>0.0600947478306052</c:v>
              </c:pt>
              <c:pt idx="4">
                <c:v>0.0374410141167381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51515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3787D"/>
                </a:solidFill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7DA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8D9399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73787D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2FE5-BB8B-4D5D-892F-65A0313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2790C-C098-4727-9C02-FCDA1BFE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Indústria de FIDCs — ago-26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C0E87-0F22-464A-BDEA-3ED8214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de referência: jun-26 · fechamento em 30 de junho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48A6F-5686-45C6-BC03-D9D0056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E7E9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7E9EB"/>
                </a:solidFill>
                <a:latin typeface="Arial"/>
                <a:ea typeface="Arial"/>
                <a:cs typeface="Arial"/>
              </a:rPr>
              <a:t>Ofertas CVM e comparativo ANBIMA até 30 de junho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6B95-20DB-4CC0-A566-F98793F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Itaú BBA ·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72280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72240-DDA3-43B8-86C3-203D566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Escala da indústria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A5B0-4069-4381-83B3-4F940332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FIDCs ex-FIC somam R$ 821,0 bi; o crédito privado ampliado totaliza R$ 13,780 tri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D035-41D2-4992-AB34-5CD0CA2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Informe Mensal de FIDC (jun/26); BCB, SGS 28183–28192 (último mês comum: jun/26).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21330-2A42-4D96-B622-0ED7F349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E509-16FB-45E2-A9E9-10C83FE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dos FIDCs ex-FIC · R$ bi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5286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e3abe3d0a84e8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F3100-2EFD-420E-B36B-09187F53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+16,7%   ·   2020/19 -9,0%   ·   2022/21 +22,1%   ·   2023/22 +25,1%   ·   2024/23 +44,0%   ·   2025/24 +18,5%   ·   2026 YTD +6,4%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39267-1A74-4763-8B9B-D97F941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66825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Carteira de crédito privada ampliada · R$ bi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48375" y="1571625"/>
          <a:ext xmlns:a="http://schemas.openxmlformats.org/drawingml/2006/main" cx="55721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46e62bf4d34f25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096000" y="4914900"/>
          <a:ext xmlns:a="http://schemas.openxmlformats.org/drawingml/2006/main" cx="5524500" cy="19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0e8b8a4844171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E4A6C-9654-431C-B83D-E24ED324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CAGR 2015–18 +1,6%   ·   2020/19 +16,0%   ·   2022/21 +10,9%   ·   2023/22 +7,6%   ·   2024/23 +17,9%   ·   2025/24 +8,0%   ·   2026 YTD +3,1%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2B59D-26C9-41FC-BCEF-8EA9B67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Jun/26: total privado R$ 13,780 tri; securitização R$ 1.174 bi; carteira FIDC R$ 677 bi. O total BCB de R$ 21,681 tri inclui R$ 7.901 bi de títulos públicos e permanece no export para reconciliação.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95FC7-3EC2-4156-B7C6-AF203C2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786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Banco Central do Brasil. Série de carteira de crédito ampliada, excluídos títulos públicos. Securitizações abertas entre FIDCs e demais securitizações (CRIs e CRAs). PL direto e carteira privada têm perímetros contábeis distintos.</a:t>
            </a:r>
          </a:p>
        </p:txBody>
      </p:sp>
    </p:spTree>
    <p:extLst>
      <p:ext uri="{BB962C8B-B14F-4D97-AF65-F5344CB8AC3E}">
        <p14:creationId xmlns:p14="http://schemas.microsoft.com/office/powerpoint/2010/main" val="1966689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333F4-9B51-45DC-9DC6-48D9DC0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FIDCs seguem ganhando escala nas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91225-85F8-47A5-938A-0D0B9CF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No 1S26, FIDCs +14,6%; demais instrumentos −7,8%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0EF51-102E-4583-8552-8BF70FB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CVM/SRE: R$ 65,5 bi registrado primário; ANBIMA: R$ 53,1 bi encerrado. Perímetros distintos; jan–jun/26, snapshot 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E035-85F4-43DC-825F-F3327937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3CAA-F66B-46E7-88FB-9DD52915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FIDCs e demais instrumentos elegíveis · R$ bi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e549efdea4a2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96229-2245-4594-81AB-D72E8F5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encerrado por instrumento · R$ bi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381750" y="15240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63572338c943a1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1C354-78A6-4228-9C24-CFA9DDE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Crescimento por instrumento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2857500" y="4286250"/>
          <a:ext xmlns:a="http://schemas.openxmlformats.org/drawingml/2006/main" cx="6477000" cy="17430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429000"/>
                <a:gridCol w="1524000"/>
                <a:gridCol w="1524000"/>
              </a:tblGrid>
              <a:tr h="2000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Emissões por instrumento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 YoY 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YTD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+22,5%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007A3D"/>
                          </a:solidFill>
                          <a:latin typeface="Arial"/>
                          <a:ea typeface="Arial"/>
                          <a:cs typeface="Arial"/>
                        </a:rPr>
                        <a:t>+14,6%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Demais Instr.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+4,4%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Notas comerciais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-7,8%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84547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+12,8%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7A1F3D"/>
                          </a:solidFill>
                          <a:latin typeface="Arial"/>
                          <a:ea typeface="Arial"/>
                          <a:cs typeface="Arial"/>
                        </a:rPr>
                        <a:t>-44,5%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93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9129e814ba4d7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fd1b58e1af456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71b0e3161746cd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a0686da981499b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EA3B-7A86-4D48-9D99-62CAE42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Emissões por categoria ANBIMA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D2C7-503D-4633-9F20-41677F3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por setor | Financeiro é 60,3% e PF/PJ 4,2% no 1S26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D34E-5762-4587-B040-5439D1D2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ANBIMA. Setores ex-FIC; 1S26 totaliza R$ 62,7 bi e reconcilia com R$ 65,5 bi incluindo R$ 2,8 bi de FIC-FIDC.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277E6-7D2A-41A0-8983-DA52E6F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EF326-DDA2-4670-B7B9-772767F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R$ bi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2378e6bd8e400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2148-8AD4-4902-BF93-C1C58AB9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setor · % do total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381750" y="1562100"/>
          <a:ext xmlns:a="http://schemas.openxmlformats.org/drawingml/2006/main" cx="5238750" cy="1857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9c52ef81bf41c3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074BF-B3CA-44B7-A102-58AD840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Emissões por categoria analítica · taxonomia congelada em jun/26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71500" y="3810000"/>
          <a:ext xmlns:a="http://schemas.openxmlformats.org/drawingml/2006/main" cx="11049000" cy="2038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190750"/>
                <a:gridCol w="1000125"/>
                <a:gridCol w="1000125"/>
                <a:gridCol w="1000125"/>
                <a:gridCol w="1000125"/>
                <a:gridCol w="1000125"/>
                <a:gridCol w="1524000"/>
                <a:gridCol w="2333625"/>
              </a:tblGrid>
              <a:tr h="18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1S25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</a:t>
                      </a:r>
                    </a:p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1S26 YoY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Fomento Mercantil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Agro, Indústria e Comércio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-43,0%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15,4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42,5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60,3%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Multicarteira Pulv. PF/PJ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1.902,3%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Precatórios/ações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-35,7%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Multicedente/multissacado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Recuperação/NP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-56,8%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0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-25,5%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450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8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Total ex-FIC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40,9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88,4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106,4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52,4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62,7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85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87728-7880-4166-B27D-0F3C5D5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AD8A5-395E-4CA7-A78D-7D53160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* Match por CNPJ do fundo e depois da classe; FIC fora; emissor não localizado=N/D; 2023 escalado ao total ANBIMA.</a:t>
            </a:r>
          </a:p>
        </p:txBody>
      </p:sp>
    </p:spTree>
    <p:extLst>
      <p:ext uri="{BB962C8B-B14F-4D97-AF65-F5344CB8AC3E}">
        <p14:creationId xmlns:p14="http://schemas.microsoft.com/office/powerpoint/2010/main" val="1793646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A4CD-7953-411E-B38F-87B6D9A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Taxonomia por CNPJ | Critérios aplicados ao saldo e às emissões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551-676A-4BA6-8A9B-3268939E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cenário sem TAPSO/Petrobras · série retroaplicada com taxonomia congelada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981E7-20BC-46C8-B106-B1CFB5A1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regulamentos integrais e ledgers aprovados. Regras e prompt de atualização no pacote da revisão.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DF20B-3693-43CD-B2B3-20EF7E6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0A5D-F366-41BD-BB8F-840DC88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bilhões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3b5285cc104f5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E966C-90A1-4B2C-ADD9-72D8F25F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PL ex-FIC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c2fd3f41ba44d1"/>
          </a:graphicData>
        </a:graphic>
      </p:graphicFrame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857250" y="5219700"/>
          <a:ext xmlns:a="http://schemas.openxmlformats.org/drawingml/2006/main" cx="10477500" cy="42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5cef0fa244450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B953-1C3C-4356-B72E-FF3B861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Oito blocos fecham R$ 718,6 bi; PF/PJ soma R$ 7,1 bi (1,0%).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71E68-8363-4785-A8E5-59F94F8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0000"/>
            <a:ext cx="10858500" cy="6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crédito direto confirmado em regulamento + Top1 &lt;=1%; 24 CNPJs; Sólido/BizCapital em Financeiro; PL dos fundos, exposição e devedores N/D.
* Precatórios: Outros/Poder Público. Multicedente: Outros/Multicarteira Outros ou Multicedente/Multissacado. Recuperação: Outros/Recuperação.
* Emissões: mesmas listas de CNPJ; fundo &gt; classe &gt; N/D; FIC fora; 2023 escalado ANBIMA.</a:t>
            </a:r>
          </a:p>
        </p:txBody>
      </p:sp>
    </p:spTree>
    <p:extLst>
      <p:ext uri="{BB962C8B-B14F-4D97-AF65-F5344CB8AC3E}">
        <p14:creationId xmlns:p14="http://schemas.microsoft.com/office/powerpoint/2010/main" val="1521510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E8CA-222B-4C07-8E62-CA4D2C1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Adquirência é R$ 99 bi que a taxonomia oficial não mostra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71A19-44B7-44D9-9F3E-C196A3D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33 CNPJs reclassificados, 12,1% do PL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CE9BD-71CD-47F4-B5EE-B644671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 e regulamentos no FundosNet. Curadoria em 21/jul/26; a categoria CVM original permanece preservada.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8B31-3EF3-41FB-9508-CE860D5F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445A-E133-43C4-8C5B-66DCAD4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ex-FIC · R$ bi · dez/23 → jun/26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aa05e1fa274bd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BB07-1CC9-42C3-BEFB-8936A75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PL ex-FIC · dez/23 → jun/26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381750" y="1762125"/>
          <a:ext xmlns:a="http://schemas.openxmlformats.org/drawingml/2006/main" cx="5238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609b0b9eb340e2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858250" y="1200150"/>
          <a:ext xmlns:a="http://schemas.openxmlformats.org/drawingml/2006/main" cx="2762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bbc9ad6bc044f1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E422E-7847-4281-A82A-FEDB4EC7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Bucket Cartão: 26 incluídos, 17 fora e 4 pendentes. Em jun/26, 31 dos 33 CNPJs selecionados têm reporte ativo; 2 não reportam.</a:t>
            </a:r>
          </a:p>
        </p:txBody>
      </p:sp>
    </p:spTree>
    <p:extLst>
      <p:ext uri="{BB962C8B-B14F-4D97-AF65-F5344CB8AC3E}">
        <p14:creationId xmlns:p14="http://schemas.microsoft.com/office/powerpoint/2010/main" val="105318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95EF6-D473-44ED-94A4-896601C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Financeiro explicou 70% do crescimento da carteira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4BE7-F485-4249-8758-28770AA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Ganho de 17,5 p.p. de participação no período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011A0-E01D-45D5-B48D-0C18EE0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Informe Mensal, Tabela II; dez/23 e jun/26. Percentuais sobre a soma dos segmentos reportados; contribuição = Δ Financeiro / Δ total líquido.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CFAC-6B55-4D53-A3EC-69FFEF0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2261-83C7-45A1-98BD-8A3C31B5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Valor reportado · R$ bi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2b8ddd51a044e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65DE-D1C1-45B9-B3C6-226DF1E5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valor segmentado da tabela II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381750" y="1743075"/>
          <a:ext xmlns:a="http://schemas.openxmlformats.org/drawingml/2006/main" cx="5238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8ffd50790c429d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AF52-8F93-45E7-A3EE-B5C386D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C1019-2EAF-495D-980E-F799FFA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Diferença Tabela II − Tabela I: R$ 51,7 bi em dez/23 e R$ 60,4 bi em jun/26. Em jun/26, 0 fundos sem abertura (R$ 0,0 bi de PL); Top 20 explicam 40,5% do gap positivo.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1ad4b0f574036"/>
          </a:graphicData>
        </a:graphic>
      </p:graphicFrame>
    </p:spTree>
    <p:extLst>
      <p:ext uri="{BB962C8B-B14F-4D97-AF65-F5344CB8AC3E}">
        <p14:creationId xmlns:p14="http://schemas.microsoft.com/office/powerpoint/2010/main" val="1024859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9462D-05C6-4D0F-B0A7-8AC5BC1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Ranking · Top 20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19639-5693-42A1-B4CD-2B8A23A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20 somam 27,5% do PL ex-FIC; Petrobras e TAPSO são 45,5% do bloco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5CCC4-E6D9-44E1-B07F-8F03D44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ANBIMA, ledger analítico e base Carteira 101, jun/26. * = cadastro conferido; N/D = originador/cedente não localizado.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10B0-39F6-4078-BD30-B798F53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Sistema Petrobras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61,3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TAPSO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5,1%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PAN Auto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Cloudwalk*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MT Global · Consignado Privado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MeuTudo*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Crédito Privado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1,1%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 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8,0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Aetos Energia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0,9%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Cielo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6,5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Cielo*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Rio Vermelho NP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429250" cy="4429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85750"/>
                <a:gridCol w="2047875"/>
                <a:gridCol w="666750"/>
                <a:gridCol w="619125"/>
                <a:gridCol w="1809750"/>
              </a:tblGrid>
              <a:tr h="1571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 / 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0,8%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PagBank · C: PagSeguro*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Consignados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Banco Pan*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Alternative Assets III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5,9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Monee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5,8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Shopee*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 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PicPay*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Marobá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Itaú BBA*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Venda de Veículos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4,2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Nissan, Renault e Geely*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 Maxx 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0,5%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ACR BEM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Stone*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64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HAVAN ECONÔMICO, FINANCEIRO E COMERCIAL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0,4%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O: Havan*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16090-9BBA-4212-B618-D236736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Cadastro conferido na base Carteira 101; o dado documental permanece prioritário. N/D não é inferido pelo nome do fundo.</a:t>
            </a:r>
          </a:p>
        </p:txBody>
      </p:sp>
    </p:spTree>
    <p:extLst>
      <p:ext uri="{BB962C8B-B14F-4D97-AF65-F5344CB8AC3E}">
        <p14:creationId xmlns:p14="http://schemas.microsoft.com/office/powerpoint/2010/main" val="434029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35FAA-362A-461F-8585-1210FF9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crescem 15% no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DE7B6-FB49-487A-9474-203FDCC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R$ 65,5 bi em 771 ofertas no jan–jun/26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4D60-1450-4DD1-BDBE-34814CA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Primárias encerradas, todos os ritos;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1032-EA65-4209-ABFF-03DB5053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9A098-F884-4909-808C-37D6EBDB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registrado e ticket · FY / YTD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e0ecceebcf46b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14F27-CAA5-4607-A4B8-FE6AF40D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acumulado · jan–dez · R$ bi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5238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e0e46a1503432a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715250" y="4000500"/>
          <a:ext xmlns:a="http://schemas.openxmlformats.org/drawingml/2006/main" cx="3905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905f890f73417b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1CD74-6825-4FF9-86A2-549A05F0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2026 encerra em jun/26; as curvas de 2024 e 2025 seguem até dezembro.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571500" y="4286250"/>
          <a:ext xmlns:a="http://schemas.openxmlformats.org/drawingml/2006/main" cx="11049000" cy="16192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952500"/>
                <a:gridCol w="1476375"/>
                <a:gridCol w="1714500"/>
                <a:gridCol w="1476375"/>
                <a:gridCol w="1476375"/>
                <a:gridCol w="1952625"/>
                <a:gridCol w="2000250"/>
              </a:tblGrid>
              <a:tr h="2286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Ofertas encerradas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 registrado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médio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Ticket mediano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PF no volume colocado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Público profissional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2022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R$ 392,7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R$ 200,0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2023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R$ 26,5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R$ 75,6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R$ 23,3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96,8%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2024 FY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R$ 95,4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R$ 94,6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R$ 30,0 mi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94,4%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2025 FY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1.473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R$ 116,9 bi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R$ 79,4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R$ 25,0 mi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6,6%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92,8%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19716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2026 YTD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771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R$ 65,5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R$ 84,9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R$ 22,5 mi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46C5D-6397-4C8F-917D-44F26EC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PF representa 4,0% do proxy colocado; cobertura 97,3%. Público profissional usa o volume registrado total como denominador, incluindo N/D; 2022 = N/D por ausência de reporte.</a:t>
            </a:r>
          </a:p>
        </p:txBody>
      </p:sp>
    </p:spTree>
    <p:extLst>
      <p:ext uri="{BB962C8B-B14F-4D97-AF65-F5344CB8AC3E}">
        <p14:creationId xmlns:p14="http://schemas.microsoft.com/office/powerpoint/2010/main" val="4706768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BE547-F3FB-4A79-9A34-1A32A09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22 ofertas concentram 42% de todo o volume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C4CA5-4093-4467-8A0D-4ECA844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Tickets acima de R$ 500 mi, jan–jun/26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7721B-5685-41C6-A9F7-9187B7F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mesma coorte primária encerrada do slide anterior. 2026 = jan–jun.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39987-5A15-4746-BB44-EDC5BAE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2526D-C5D0-4B03-A5B7-3BC5DFF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das ofertas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7150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1db08e01c64d2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3579-3850-476A-831A-1FCA6252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286250" y="1743075"/>
          <a:ext xmlns:a="http://schemas.openxmlformats.org/drawingml/2006/main" cx="342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bc44c7ed99487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94E98-AEF3-47EA-A93B-C82286AB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Volume · R$ bi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8001000" y="1743075"/>
          <a:ext xmlns:a="http://schemas.openxmlformats.org/drawingml/2006/main" cx="361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c536737e7b4029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4048125" y="5486400"/>
          <a:ext xmlns:a="http://schemas.openxmlformats.org/drawingml/2006/main" cx="40957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9cf40a67f4ef6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8C66E-6370-4215-9422-8F86090F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Faixas do eixo em R$ mi; fecham no limite inferior. “&gt; R$ 100 mi” é estrito e exclui ofertas exatamente iguais a R$ 100 mi.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CD474-B742-4279-B8D5-B8838D09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2024FY · &gt; R$ 100 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411DC-7CDB-4F2A-89B9-5AF0CB4F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R$ 72,0 bi · 75,5% do volume · 181 ofertas (17,9%)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D7DDB-6A1A-4C2B-92A8-4A8BC4F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B5519-165C-4273-B077-2BEB25F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2025FY · &gt; R$ 100 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406DC-2702-4F74-931D-A6A1632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R$ 81,8 bi · 69,9% do volume · 227 ofertas (15,4%)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74F10-1703-4344-B0AC-AB3CBCC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674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05F39-69A8-4A8D-95E3-F5252BB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2026 YTD · &gt; R$ 100 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21DA-FAEE-44A7-B3CB-A2A03DD7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R$ 47,7 bi · 72,9% do volume · 120 ofertas (15,6%)</a:t>
            </a:r>
          </a:p>
        </p:txBody>
      </p:sp>
    </p:spTree>
    <p:extLst>
      <p:ext uri="{BB962C8B-B14F-4D97-AF65-F5344CB8AC3E}">
        <p14:creationId xmlns:p14="http://schemas.microsoft.com/office/powerpoint/2010/main" val="6227962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8B117-7528-475C-8C71-F3AF669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Ofertas · volume e regime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382E-2DA6-4BCE-8E3B-64AB4EC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Emissões | Garantia firme cresceu 37% YoY YTD, de R$ 10,4 bi para R$ 14,3 bi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2CD9D-3182-4A2A-829D-F59E0AF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ofertas, snapshot 24/jul/26. Regime declarado; campo ausente = Não informado.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C2152-D20C-4E70-AF38-5E331CE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941CE-69A3-464B-8F29-CD3CA506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Melhores esforços repr. 69,2% do volume em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8F6D-6786-4D0D-B764-CAC0835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939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45BD0-6A88-49C1-9C4B-B96AD12D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2024FY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DB65-9391-4903-87AA-0EA51F0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62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5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75B57-19C8-48A3-A636-F3AF24D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45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2025FY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50C15-4820-4166-AAEC-51C9F380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375" y="172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A0A6A-694E-4356-AA55-2611906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1657350"/>
            <a:ext cx="102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2026 jan–jun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071EB-3B97-4DEB-9C22-B15B1A1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Regime de colocação · participação no volume · % do total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fbf2d57454d8e"/>
          </a:graphicData>
        </a:graphic>
      </p:graphicFrame>
    </p:spTree>
    <p:extLst>
      <p:ext uri="{BB962C8B-B14F-4D97-AF65-F5344CB8AC3E}">
        <p14:creationId xmlns:p14="http://schemas.microsoft.com/office/powerpoint/2010/main" val="1309624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59F74-56C2-4EBB-9D31-DEAE228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IBBA esteve em 8 das 15 maiores ofertas do semestre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758C7-FD55-4290-82DF-79FB541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Liderou 5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3FDF-14CC-429C-B097-4E99B16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 e FundosNet. jan–jun/26, ofertas primárias encerradas; volume registrado.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798E-FCBA-4D65-A423-F219066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C9BC-D51D-4333-9C86-25C3D742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jan–jun/26 · Top 15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1438275"/>
          <a:ext xmlns:a="http://schemas.openxmlformats.org/drawingml/2006/main" cx="11049000" cy="47053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04800"/>
                <a:gridCol w="552450"/>
                <a:gridCol w="1333500"/>
                <a:gridCol w="2000250"/>
                <a:gridCol w="1190625"/>
                <a:gridCol w="1190625"/>
                <a:gridCol w="1047750"/>
                <a:gridCol w="1428750"/>
                <a:gridCol w="1285875"/>
                <a:gridCol w="714375"/>
              </a:tblGrid>
              <a:tr h="2214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Emis.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CNPJ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Originador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Cedente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Sub. mín.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Preço por cota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Sacado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R$ bi</a:t>
                      </a:r>
                    </a:p>
                  </a:txBody>
                  <a:tcPr marL="47625" marR="47625" marT="19050" marB="19050" anchor="ctr">
                    <a:solidFill>
                      <a:srgbClr val="151515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24947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62393679000183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1,0% até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22244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62588266000154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VTK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Facta*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2,85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25826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65976848000104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 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Agibank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24712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50114948000146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DRIVER BRASIL SIX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24433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63572282000111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SELLER 3 MEIOS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Mercado Pago /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R$ 1.000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25379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63546406000194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Pine INSS III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Banco Pine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1,5%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26277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65839682000176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INVESTIMENTOS 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PicPay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23614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63733796000101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 INSS II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ICred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1,02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24212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64118207000148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JIVEMAUÁ BOSSANOVA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24371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62393829000159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COMERCIAIS MEDICI I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Fornecedores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BRF*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25708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28169275000172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 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PagSeguro*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24266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63505455000189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IS GREEN SOLFACIL VII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Solfácil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0,77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C7000"/>
                          </a:solidFill>
                          <a:latin typeface="Arial"/>
                          <a:ea typeface="Arial"/>
                          <a:cs typeface="Arial"/>
                        </a:rPr>
                        <a:t>26532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66226355000101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DAYCOVAL D413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23529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61669748000176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 FORNECEDORES DO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Lavoro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0,73</a:t>
                      </a:r>
                    </a:p>
                  </a:txBody>
                  <a:tcPr marL="47625" marR="47625" marT="14288" marB="14288" anchor="ctr">
                    <a:solidFill>
                      <a:srgbClr val="F5F6F7"/>
                    </a:solidFill>
                  </a:tcPr>
                </a:tc>
              </a:tr>
              <a:tr h="22050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23032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44302112000172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CLASSE ÚNICA AGRO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Bayer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120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C363B-0BE4-4944-B48F-AA884BF5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Subtotal: R$ 23,82 bi · 36,4% do período. * = exceção/múltiplas classes; campos integrais: aba Auditoria emissões.</a:t>
            </a:r>
          </a:p>
        </p:txBody>
      </p:sp>
    </p:spTree>
    <p:extLst>
      <p:ext uri="{BB962C8B-B14F-4D97-AF65-F5344CB8AC3E}">
        <p14:creationId xmlns:p14="http://schemas.microsoft.com/office/powerpoint/2010/main" val="1023873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359B63D-9F06-43D5-9ACF-3EE3DC1C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48256"/>
            <a:ext cx="10424160" cy="2266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</a:pPr>
            <a:r>
              <a:rPr sz="1100" b="1">
                <a:solidFill>
                  <a:srgbClr val="E36C0A"/>
                </a:solidFill>
                <a:latin typeface="Arial"/>
                <a:ea typeface="Arial"/>
                <a:cs typeface="Arial"/>
              </a:rPr>
              <a:t>Ranking ANBIMA · junho/2026</a:t>
            </a:r>
          </a:p>
          <a:p xmlns:a="http://schemas.openxmlformats.org/drawingml/2006/main">
            <a:pPr algn="l">
              <a:spcAft>
                <a:spcPts val="9"/>
              </a:spcAft>
            </a:pPr>
            <a:r>
              <a:rPr sz="30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Posição competitiva do Itaú BBA em renda fixa e híbridos</a:t>
            </a:r>
          </a:p>
          <a:p xmlns:a="http://schemas.openxmlformats.org/drawingml/2006/main">
            <a:pPr algn="l">
              <a:spcAft>
                <a:spcPts val="15"/>
              </a:spcAft>
            </a:pPr>
            <a:r>
              <a:rPr sz="1400">
                <a:solidFill>
                  <a:srgbClr val="5D6369"/>
                </a:solidFill>
                <a:latin typeface="Arial"/>
                <a:ea typeface="Arial"/>
                <a:cs typeface="Arial"/>
              </a:rPr>
              <a:t>Originação e distribuição · acumulado de 2026 e últimos 12 meses</a:t>
            </a:r>
          </a:p>
          <a:p xmlns:a="http://schemas.openxmlformats.org/drawingml/2006/main">
            <a:pPr algn="l"/>
            <a:r>
              <a:rPr sz="1100">
                <a:solidFill>
                  <a:srgbClr val="8D9399"/>
                </a:solidFill>
                <a:latin typeface="Arial"/>
                <a:ea typeface="Arial"/>
                <a:cs typeface="Arial"/>
              </a:rPr>
              <a:t>Ranking ANBIMA de Renda Fixa e Híbridos — referência junho/2026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560FE67-E8F9-4DFD-8AE7-BB3483BE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3328"/>
            <a:ext cx="104775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Análise Setorial de Crédito — Itaú BBA</a:t>
            </a:r>
          </a:p>
        </p:txBody>
      </p:sp>
    </p:spTree>
    <p:extLst>
      <p:ext uri="{BB962C8B-B14F-4D97-AF65-F5344CB8AC3E}">
        <p14:creationId xmlns:p14="http://schemas.microsoft.com/office/powerpoint/2010/main" val="1337892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204048-032B-407E-9BF5-52EBF402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7476F4-8A73-4412-A705-51BBE123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Sumário executivo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49265C-3463-46E5-90F9-DB58938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44168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C3FC50-EF70-4DFD-B515-4404E81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98448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Na distribuição de renda fixa — o esforço efetivo de colocação junto ao investidor — o Itaú BBA é líder nas duas janelas: 26,6% no acumulado de 2026 e 24,6% nos últimos 12 meses.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7B1DAF1-8D98-466D-A6BA-1F3BC9F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39111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94CA666-A96B-47CA-BFC4-A944016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93391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Na originação de renda fixa o banco é 1º nos últimos 12 meses, com 25,0%, e 2º no acumulado de 2026, com 22,9%. A troca de posição no semestre não se reproduz na janela de doze meses.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C7FF52-BE4C-4DC0-962D-350C5DF6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34055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C389B1-1F22-4FA6-AEF4-6D4DCEE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88335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A desvantagem para o líder no acumulado de 2026 é de 4,9 p.p. (Bradesco BBI, 27,8%), enquanto a vantagem sobre o 3º colocado supera 12 p.p. — o bloco de liderança segue restrito a duas casas.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E102431-133B-4830-A633-5220D87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8999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59B4A97-10D6-4247-8278-B88784DC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79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Em securitização o Itaú BBA lidera a originação com 37,6%, puxado por FIDC, onde a participação é de 45,7% — mais que o dobro do segundo colocado.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CB0774-BD7C-49F2-801D-139333E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23943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2EF0CC-7093-4D2C-8B78-1D82A9C2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78223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Em operações híbridas o banco também lidera a originação, com 43,3%, incluindo 74,2% em FI-Infra (FIP-IE).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9FAA44F-420D-4DFE-B117-93C12AB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18887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6ECCC41-BEE9-461C-90FC-5060161E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167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O Itaú BBA participou de 260 das 696 operações encerradas no período e foi o maior coordenador em 211 delas, o que sustenta a posição por presença recorrente, não por concentração em poucas transações.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5755A24-A542-4636-B4EB-8804591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13831"/>
            <a:ext cx="4114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5FA2E5-329C-4F0E-9F08-662B4DE3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68111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t>Pontos de atenção específicos, e não sistêmicos: CRA na originação (3º, 12,4%) e renda fixa de curto prazo (3º, 5,4%), ambos segmentos de menor peso no consolidado e com espaço claro de recuperação.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CF4FE85-F79D-4C88-9BA0-B359029B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· Anexo ao Ranking — Tabela de Encerramento, Junho/2026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DD83C60-E821-40C2-B6D9-6610FE6D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03310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CC9EF81-A5F5-4957-9CB1-EF7DFE6D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C908AB1-A1C5-4BFD-B96D-CB15F4C9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Originação de renda fixa: 2º no acumulado de 2026 e 1º nos últimos 12 meses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11C7E8-1C36-46B6-BC0B-83B2E01C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EBDAB0-390C-4A59-B9F9-5A5FFF6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Volume de originação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FC9EB48-0A60-4680-A181-6A2BFA8F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R$ 51,0 bi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BC460D-7F59-47FB-ABC0-F044C8E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acumulado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B258CE4-BEB3-4196-8BB8-9786016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C52BA32-F7B4-48A6-B76A-6C5F4632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Participação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EDD533-0B72-4070-AF43-F0FE341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22,9%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160A7C-8BC6-4BFC-A90C-242C7590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do mercado apurado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A1F6026-F171-4BD9-8284-5B78EC5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F36FF8C-696E-47A0-9691-0D0CBE4A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Posição 2026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EF3EFF9-31C6-40EF-B043-EDA4564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2º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811C81-1153-4AD8-8FFE-497FB718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entre 31 instituições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843ED6D-FF50-463B-B741-9042BB7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9C8EB70-5994-4F6B-988D-CAC0148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Posição 12 meses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2BA0D1B-A366-4BEF-9323-04443A7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1º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78477EA-8EFC-45EE-9EBC-38CD69E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25,0% de participação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41D2545-A809-495D-BECE-F5CAFDC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42032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49" name="Table 21"/>
          <p:cNvGraphicFramePr/>
          <p:nvPr/>
        </p:nvGraphicFramePr>
        <p:xfrm>
          <a:off xmlns:a="http://schemas.openxmlformats.org/drawingml/2006/main" x="566928" y="2852928"/>
          <a:ext xmlns:a="http://schemas.openxmlformats.org/drawingml/2006/main" cx="5394960" cy="2340864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62.033,0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27,8%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+4,9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51.047,3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-4,9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22.216,3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-17,8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-12,9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21.109,2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-13,4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17.469,3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7,8%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-15,0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15.716,9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-20,7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-15,8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7.487,8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-24,4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5.914,2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-25,1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-20,2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9C76344-ACF8-4CAC-8577-72BF3C39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542032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51" name="Table 23"/>
          <p:cNvGraphicFramePr/>
          <p:nvPr/>
        </p:nvGraphicFramePr>
        <p:xfrm>
          <a:off xmlns:a="http://schemas.openxmlformats.org/drawingml/2006/main" x="6190488" y="2852928"/>
          <a:ext xmlns:a="http://schemas.openxmlformats.org/drawingml/2006/main" cx="5394960" cy="2340864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140.863,2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115.652,6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20,5%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-4,5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58.646,4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-14,6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53.205,1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9,5%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-15,6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50.007,8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-16,1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41.943,1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7,5%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-17,6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BNDES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20.928,2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3,7%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18.114,1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A67A7EA-C459-46FA-8DCE-EC103593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— Originação (Valor), Tipo 1: Renda Fixa Consolidado · diferenças em pontos percentuais de market share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46EA63-5E39-4C68-9A6F-F117D1E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07700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27B4F1-57E9-462B-9F0E-D608EC9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FB6B48-6BF0-460C-8BB3-59B47ED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Originação — market share das seis principais casas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A79198-456B-4D28-87F4-35E07338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D6369"/>
                </a:solidFill>
                <a:latin typeface="Arial"/>
                <a:ea typeface="Arial"/>
                <a:cs typeface="Arial"/>
              </a:defRPr>
            </a:pPr>
            <a:r>
              <a:t>Acumulado 2026 (jan–jun)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F44C53-4392-4BE2-A192-EF8A6EB7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298448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D6369"/>
                </a:solidFill>
                <a:latin typeface="Arial"/>
                <a:ea typeface="Arial"/>
                <a:cs typeface="Arial"/>
              </a:defRPr>
            </a:pPr>
            <a:r>
              <a:t>Últimos 12 meses (jul/25–jun/26)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E92E03B-380A-412E-8F59-528FB5CF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18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45476E-8A37-4005-9D67-B0EA9C2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— Originação (Valor), Tipo 1: Renda Fixa Consolidado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5D51E07-E737-42DA-907A-5E037F9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66928" y="1609344"/>
          <a:ext xmlns:a="http://schemas.openxmlformats.org/drawingml/2006/main" cx="5212080" cy="41696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47b70ebb094233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0488" y="1609344"/>
          <a:ext xmlns:a="http://schemas.openxmlformats.org/drawingml/2006/main" cx="5212080" cy="41696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988d80643344c0"/>
          </a:graphicData>
        </a:graphic>
      </p:graphicFrame>
    </p:spTree>
    <p:extLst>
      <p:ext uri="{BB962C8B-B14F-4D97-AF65-F5344CB8AC3E}">
        <p14:creationId xmlns:p14="http://schemas.microsoft.com/office/powerpoint/2010/main" val="41112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2A64E-4775-469D-995C-792B4141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EB5CC6-B9D2-46FD-834F-2EFACE2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Distribuição de renda fixa: Itaú BBA em 1º nas duas janelas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6AB9289-06E5-437B-9C4D-41B5EDC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6901313-FA31-428F-81BB-FCED192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Volume de distribuição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AA6568-DFB2-4719-8597-4A668E23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R$ 21,9 bi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EA8CD1-4FC5-4CC3-A5A0-9CE196BD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acumulado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09C721-1833-4ADF-9A9E-FFB696A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110C85-E390-4EE3-B7FD-ADAEFA5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Participação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D72FB-BD53-4548-92B0-40AFBC9F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26,6%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D97AA3-7CE8-43BC-8C1C-E3EC114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do mercado apurado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9C763F-956C-4333-AC1D-7792A97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677129-77BC-4C7B-BEC1-5F6C2864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Posição 2026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C3EB3C-4CCC-4E45-950D-E8D0A2B2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1º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1B7C69B-6DBA-4DDD-91E3-6ED1B366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entre 38 instituições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584692-B2B2-490A-8312-94FD2200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C4EEC8-9285-41E0-8C01-3A536BC9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Posição 12 meses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7B8F374-1E7A-4D8C-88D6-D047B8C4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1º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AA7EA98-E7A2-4697-ADC7-7A0FB3F0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24,6% de participação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756BA8B-D788-4F2E-965F-BFDF363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42032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Acumulado 2026 (jan–jun)</a:t>
            </a:r>
          </a:p>
        </p:txBody>
      </p:sp>
      <p:graphicFrame>
        <p:nvGraphicFramePr>
          <p:cNvPr id="49" name="Table 21"/>
          <p:cNvGraphicFramePr/>
          <p:nvPr/>
        </p:nvGraphicFramePr>
        <p:xfrm>
          <a:off xmlns:a="http://schemas.openxmlformats.org/drawingml/2006/main" x="566928" y="2852928"/>
          <a:ext xmlns:a="http://schemas.openxmlformats.org/drawingml/2006/main" cx="5394960" cy="2340864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21.946,9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26,6%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14.744,4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-8,7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12.795,2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15,5%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-11,1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6.064,5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-19,2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5.896,4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7,1%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-19,5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4.636,0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Caixa Econômica Federal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2.425,7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2.357,1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-23,7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8D25511-3828-44D8-9A18-934F8591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542032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Últimos 12 meses (jul/25–jun/26)</a:t>
            </a:r>
          </a:p>
        </p:txBody>
      </p:sp>
      <p:graphicFrame>
        <p:nvGraphicFramePr>
          <p:cNvPr id="51" name="Table 23"/>
          <p:cNvGraphicFramePr/>
          <p:nvPr/>
        </p:nvGraphicFramePr>
        <p:xfrm>
          <a:off xmlns:a="http://schemas.openxmlformats.org/drawingml/2006/main" x="6190488" y="2852928"/>
          <a:ext xmlns:a="http://schemas.openxmlformats.org/drawingml/2006/main" cx="5394960" cy="2340864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"/>
                <a:gridCol w="1737360"/>
                <a:gridCol w="1188720"/>
                <a:gridCol w="749808"/>
                <a:gridCol w="713232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Instituição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líder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vs. Itaú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63.243,9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24,6%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41.748,4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16,3%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-8,4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41.171,2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-8,6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21.532,0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-16,2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20.279,4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-16,7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16.498,9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-18,2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11.860,6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9.213,3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-21,0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272B80-C752-42AD-8456-768B0DF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— Distribuição (Valor), Tipo 1: Renda Fixa Consolidado · diferenças em pontos percentuais de market share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9823E00-16D5-4AB1-843E-3AB1A83B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663163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4C1A6A-C4EF-436D-B551-FDA81FA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64E442-3835-4390-86A6-E5700FB9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Distribuição — market share das seis principais casas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254816-2C27-48F0-8110-3B9AF34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D6369"/>
                </a:solidFill>
                <a:latin typeface="Arial"/>
                <a:ea typeface="Arial"/>
                <a:cs typeface="Arial"/>
              </a:defRPr>
            </a:pPr>
            <a:r>
              <a:t>Acumulado 2026 (jan–jun)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128CE18-DF4A-4D8E-9D0D-E0DCA52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298448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5D6369"/>
                </a:solidFill>
                <a:latin typeface="Arial"/>
                <a:ea typeface="Arial"/>
                <a:cs typeface="Arial"/>
              </a:defRPr>
            </a:pPr>
            <a:r>
              <a:t>Últimos 12 meses (jul/25–jun/26)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F90480-7240-4D2A-8269-A1C8553B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18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Itaú BBA em azul; demais casas em cinza. Percentuais referem-se ao total do ranking Tipo 1, que soma 100% em cada janela.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791C81D-05C7-415C-8D91-4D6E4873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— Distribuição (Valor), Tipo 1: Renda Fixa Consolidado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D82D1C-92C2-43DF-9D51-A4D45D3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66928" y="1609344"/>
          <a:ext xmlns:a="http://schemas.openxmlformats.org/drawingml/2006/main" cx="5212080" cy="41696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ffbeda0cf44cd0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0488" y="1609344"/>
          <a:ext xmlns:a="http://schemas.openxmlformats.org/drawingml/2006/main" cx="5212080" cy="41696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a23576ca924251"/>
          </a:graphicData>
        </a:graphic>
      </p:graphicFrame>
    </p:spTree>
    <p:extLst>
      <p:ext uri="{BB962C8B-B14F-4D97-AF65-F5344CB8AC3E}">
        <p14:creationId xmlns:p14="http://schemas.microsoft.com/office/powerpoint/2010/main" val="6103497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97D6CF-D42B-4C83-86CC-DDC9E564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F0D3DD-1580-4E2E-9ABC-12A25C4F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Visão por produto: mercado, posição e participação do Itaú BBA</a:t>
            </a:r>
          </a:p>
        </p:txBody>
      </p:sp>
      <p:graphicFrame>
        <p:nvGraphicFramePr>
          <p:cNvPr id="14" name="Table 4"/>
          <p:cNvGraphicFramePr/>
          <p:nvPr/>
        </p:nvGraphicFramePr>
        <p:xfrm>
          <a:off xmlns:a="http://schemas.openxmlformats.org/drawingml/2006/main" x="566928" y="1298448"/>
          <a:ext xmlns:a="http://schemas.openxmlformats.org/drawingml/2006/main" cx="10744200" cy="3474720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360"/>
                <a:gridCol w="1325880"/>
                <a:gridCol w="1508760"/>
                <a:gridCol w="1234440"/>
                <a:gridCol w="1280160"/>
                <a:gridCol w="12344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Segmento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Mercado (R$ bi)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Rank 1S26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 1S26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Rank 12m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 12m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Renda fixa consolidada*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430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223,2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22,9%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Renda fixa — longo prazo*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314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176,2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Renda fixa — curto prazo*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31,4%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Securitização*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37,6%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27,1%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25,1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36,9%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26,7%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17,3%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78,2%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Operações híbridas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43,3%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39,9%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11,3%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28,4%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FI-Infra (FIP-IE)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74,2%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64,7%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FIAGRO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33,9%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65,2%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7C187C-4420-4E73-827A-1B465C81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11018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* Composição dos agregados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6C55B4-6A85-4610-B36D-9467BC9B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9"/>
            <a:ext cx="11018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369"/>
                </a:solidFill>
                <a:latin typeface="Arial"/>
                <a:ea typeface="Arial"/>
                <a:cs typeface="Arial"/>
              </a:defRPr>
            </a:pPr>
            <a:r>
              <a:t>Renda fixa consolidada: soma de curto prazo, longo prazo e securitização. Renda fixa — curto prazo: vencimento até 366 dias. Longo prazo: acima de 366 dias. Ambos compostos por debêntures simples, notas promissórias, notas comerciais, CPR-F e valor mobiliário de agência multilateral. Securitização: soma de FIDC (cotas seniores e subordinadas de condomínio fechado), CRI, CRA e CR. Prazo considerado é a data da 1ª repactuação ou o vencimento final, o que ocorrer primeiro. Operações de empresas ligadas são apuradas à parte e não entram nestes números.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644205-0BFB-45B8-B72D-766783E2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— Originação (Valor e Nº de Operações), acumulado 2026 e últimos 12 meses · operações do total publicado por tipo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B9C880C-C4D8-4BA0-B50A-82F53997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204660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52E1984-2413-45EF-AA06-A0FE141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38F0E2-AC4C-4CFF-A1DE-67B3035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Em FIDC o Itaú BBA lidera com 45,7%, mais que o dobro do segundo colocado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9B22502-4B21-4DE0-A811-583CFCBB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E087FC-1937-4F13-90C0-9EF11148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Volume originado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D957CFC-A74A-4254-AAB3-D6AFD6FC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R$ 11,4 bi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A86F00-8758-44E9-B3D5-1E33CA6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1S26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697D90-2EB6-4568-8C46-E252C92E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81A7578-DAA2-4E9A-90E8-C98AD359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Participação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387818-27E6-4472-978E-A21B29F9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45,7%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19849FE-0AA9-4363-8320-00E33C9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do mercado apurado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BA8025A-CEE8-4F14-9BB9-0F444198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D18C5F6-3494-4E87-B25D-A18340C6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Posição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1845DA8-FDD2-41AE-B1EC-E28C7C83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1º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E1A12C5-7323-4284-AF73-24E7368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entre 11 coordenadores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BC3B298-0F09-406D-9AEB-04077DC5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1280160"/>
            <a:ext cx="2615184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BE31653-B555-4A6A-8484-7341271E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417319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Operações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D2A9C68-B296-4C53-A2C3-F8E4CF36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1655063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19 de 43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5EA3F22-C455-40AB-93BA-5FCD081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9" y="2057400"/>
            <a:ext cx="2286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originadas no semestre</a:t>
            </a:r>
          </a:p>
        </p:txBody>
      </p:sp>
      <p:graphicFrame>
        <p:nvGraphicFramePr>
          <p:cNvPr id="45" name="Table 20"/>
          <p:cNvGraphicFramePr/>
          <p:nvPr/>
        </p:nvGraphicFramePr>
        <p:xfrm>
          <a:off xmlns:a="http://schemas.openxmlformats.org/drawingml/2006/main" x="566928" y="2542032"/>
          <a:ext xmlns:a="http://schemas.openxmlformats.org/drawingml/2006/main" cx="11018520" cy="2596896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40080"/>
                <a:gridCol w="4892040"/>
                <a:gridCol w="2011680"/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Coordenador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Volume (R$ mi)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Operações (#)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11.442,6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45,7%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8E9D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5.174,5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20,6%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3.296,6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13,2%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ABC Brasil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1.098,1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4,4%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Safra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1.020,0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4,1%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XP Investimentos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730,2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2,9%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8º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Votorantim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631,5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2,5%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9º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 Partners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517,1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2,1%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063C17-E606-4290-B3C6-7686C13A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76672"/>
            <a:ext cx="11018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5D6369"/>
                </a:solidFill>
                <a:latin typeface="Arial"/>
                <a:ea typeface="Arial"/>
                <a:cs typeface="Arial"/>
              </a:defRPr>
            </a:pPr>
            <a:r>
              <a:t>Na distribuição de FIDC o Itaú BBA também é 1º, com 42,5%. O mercado apurado no ranking é de R$ 25,1 bi, contra R$ 65,5 bi de cotas de FIDC registradas na CVM no mesmo período: o ranking cobre a parcela disputada, sem as operações de empresas ligadas e sem as ofertas não reportadas à ANBIMA.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3CDC8B5-3DC6-4CF7-BA67-69C8D88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Ranking de Renda Fixa e Híbridos — Junho/2026 — Originação e Distribuição (Valor), Tipo 1.3.1 · CVM, ofertas públicas de distribuição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20FEB9C-A9FD-4568-B9C3-F87BC0EA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422750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D0C9B4C-D546-4584-AFB0-6294F58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9A3580-89F0-4E17-AE52-F53CA6AE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As maiores operações do período e a presença do Itaú BBA</a:t>
            </a:r>
          </a:p>
        </p:txBody>
      </p:sp>
      <p:graphicFrame>
        <p:nvGraphicFramePr>
          <p:cNvPr id="13" name="Table 4"/>
          <p:cNvGraphicFramePr/>
          <p:nvPr/>
        </p:nvGraphicFramePr>
        <p:xfrm>
          <a:off xmlns:a="http://schemas.openxmlformats.org/drawingml/2006/main" x="566928" y="1298448"/>
          <a:ext xmlns:a="http://schemas.openxmlformats.org/drawingml/2006/main" cx="11018520" cy="3584448"/>
        </p:xfrm>
        <a:graphic xmlns:a="http://schemas.openxmlformats.org/drawingml/2006/main"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31920"/>
                <a:gridCol w="1417320"/>
                <a:gridCol w="868680"/>
                <a:gridCol w="1097280"/>
                <a:gridCol w="246888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Operação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Instrumento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R$ mi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Líder(es)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8D9399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D7DADD"/>
                      </a:solidFill>
                    </a:lnB>
                    <a:solidFill>
                      <a:srgbClr val="F5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GERAIS SANEAMENTO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Nota comercial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5.085,1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25,0%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CLOUDWALK BELA FUNDO DE INVESTIMENTO EM DIR…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20/04/26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4.762,9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UBS BB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19,3%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AGROPECUARIA MAGGI LTDA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CPR-F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09/06/26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3.538,4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KINEA RENDIMENTOS IMOBILIARIOS FUNDO DE INV…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03/03/26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3.110,3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OPEA SECURITIZADORA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30/06/26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3.011,3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TOTVS S.A.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02/02/26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66,7%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CLARO S.A.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27/01/26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Citigroup | 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12/01/26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3.000,0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OCEÂNICA ENGENHARIA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12/06/26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2.600,8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Santander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 VTK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27/02/26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2.550,0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FUNDO DE INVESTIMENTO EM DIREITOS CREDITORI…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FIDC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27/04/26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2.500,0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Bradesco BBI | Itaú BBA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50,0%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REDE DOR SÃO LUIZ SA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Debênture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29/05/26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2.485,0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BTG Pactual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3035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B w="6350">
                      <a:solidFill>
                        <a:srgbClr val="E7E9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3FC68A-A56A-402B-B85F-110DAA02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18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O Itaú BBA participou de 8 das 12 maiores operações do período. A lista das 20 maiores e a matriz completa de participação, operação a operação, estão no arquivo Excel.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287D1A-76F9-426D-A816-E8F6440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Anexo ao Ranking — Tabela de Encerramento, Junho/2026 — originação, ordenado por valor total da operação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F75DE1-86EC-4BA1-BE28-78F4A2E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545552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41A50D1-B165-4A4B-B6E2-986A6648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0" b="1">
                <a:solidFill>
                  <a:srgbClr val="E36C0A"/>
                </a:solidFill>
                <a:latin typeface="Arial"/>
                <a:ea typeface="Arial"/>
                <a:cs typeface="Arial"/>
              </a:defRPr>
            </a:pPr>
            <a:r>
              <a:t>Ranking ANBIMA · junho/2026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7BACE3-87A9-4FCD-A5D7-FFF29A8E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7"/>
            <a:ext cx="11064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t>Como interpretar o ranking ANBIMA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B055BDF-04CF-4A09-975F-57C283A2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298448"/>
            <a:ext cx="5029200" cy="1207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Originação × Distribuição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Originação mede a estruturação e a coordenação da oferta. Distribuição mede o esforço de colocação junto ao investidor. Uma casa pode liderar um e não o outro.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6DD398-7B70-423B-B313-5F81C1E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298448"/>
            <a:ext cx="5029200" cy="12070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 ranking mede valor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A posição vem do volume das operações encerradas no período. Há um ranking separado por número de operações, em que cada coordenador recebe uma unidade.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8126888-A9D7-4B09-8000-6FE5BEB2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42032"/>
            <a:ext cx="5029200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As duas janelas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“Acumulado 2026” cobre jan–jun/26. “Últimos 12 meses” cobre jul/25–jun/26 e suaviza o efeito de operações grandes concentradas em um trimestre.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B9F87A3-2B70-4EC7-A2F8-F1D23379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5029200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Uma operação, vários coordenadores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O crédito segue os percentuais informados à ANBIMA: proporção da garantia firme, ou proporção do fee em melhores esforços. Não é rateio igualitário.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4AD699A-57CF-4718-89D3-20EE6898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85616"/>
            <a:ext cx="5029200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 “Percentual Coordenado” define a liderança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Na matriz de operações, “Líder” marca a casa com o maior percentual coordenado; “X” marca participação sem liderança; “–” marca ausência.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04C5755-A79C-472B-B5AE-DE555FD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785616"/>
            <a:ext cx="5029200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Participação formal sem valor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Alguns registros trazem participantes com percentual e valor zerados. Eles constam como participantes, mas não elevam market share por valor.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7A07660-62BC-4AC8-8E6F-69A8E207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29200"/>
            <a:ext cx="5029200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É um ranking declaratório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Operação cujo formulário-padrão não foi enviado à ANBIMA não entra. Parte do mercado liderado por administradores e DTVMs fica de fora.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66C1F6-2DBD-4F39-B6CB-C0BF474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029200"/>
            <a:ext cx="5029200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</a:pPr>
            <a:r>
              <a:rPr sz="11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Empresas ligadas saem do Tipo 1</a:t>
            </a:r>
          </a:p>
          <a:p xmlns:a="http://schemas.openxmlformats.org/drawingml/2006/main">
            <a:pPr algn="l"/>
            <a:r>
              <a:rPr sz="950">
                <a:solidFill>
                  <a:srgbClr val="5D6369"/>
                </a:solidFill>
                <a:latin typeface="Arial"/>
                <a:ea typeface="Arial"/>
                <a:cs typeface="Arial"/>
              </a:rPr>
              <a:t>Coordenador com 10% ou mais do capital da emissora, cedente ou originadora vai para o Tipo 3, apurado à parte.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4C3C1D-0E10-4772-B0CF-806FCE81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088"/>
            <a:ext cx="104775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Fonte: ANBIMA, Metodologia do Ranking de Renda Fixa e Híbridos, capítulos II a VII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37B9E1F-6E4A-41CD-94A7-CAE16F32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9944"/>
            <a:ext cx="3840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307577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B9CB6-55D0-48CF-A17C-EC2047E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 que muda a leitura do mercado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00E8-3361-4C05-83A6-B1B5DE4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Distribuição, prestadores, migração e ofertas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E3422-EF1E-419B-9ACB-AAE0551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5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Fontes: CVM, ANBIMA e BCB; coorte bancária curada a partir dos conglomerados prudenciais. PF: proxy com 97,3% de cobertura; contas não equivalem a investidores únicos. Verticalização no universo elegível; Top 10 ex-Petrobras/TAPSO. BTG: 30/32 raízes observadas; ofertas CVM e ANBIMA até 30/jun/26.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7C69-4A95-4CC0-939D-F0F5D03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6C11C-061B-456F-9184-B87A8E9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01 · Distribuição após a RCVM 175 segue institucional e concentrada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A103D-819A-4639-B660-0526045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mediana foi de R$ 22,5 mi, apenas 26% do ticket médio de R$ 84,9 mi; 22 ofertas de R$ 500 mi ou mais — 2,9% do total — concentraram 42,2% do volume.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Pessoas físicas responderam por apenas 4,0% do volume colocado estimado; entre os fundos com PL ≥ R$ 200 mi, 58,4% têm até dez contas.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0A1CE-9B45-407B-949C-8F90AF3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02 · Verticalização define o modelo operacional da indústria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D0E1A-0273-407A-94C5-41D6D1B8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954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estão no mesmo conglomerado em 90,7% do PL: nove em cada dez reais da indústria.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Monoestruturas, com as três funções no mesmo grupo, já concentram 40,4% do PL.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8CC92-A3D6-42AF-BA7C-76B0E0E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03 · Escala independente está concentrada em poucas plataformas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8DDD7-E86F-4D26-BEAC-7B9CBB3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QI Tech lidera administração e está em empate técnico com o BTG em custódia; 96% de sua base administrativa em dez/24 veio do legado Singulare.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Oliveira Trust é a terceira maior gestora, com R$ 35,0 bi; na coorte CBSF/Reag, 35,1% do PL continuante já havia migrado de administrador até jun/26.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A557-363E-4A68-9726-320677A8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04 · Movimentação de administradores foi baixa e concentrada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B7DE0-0F3D-463D-A958-F2C70D7B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Apenas 7,6% do PL comparável trocou de administrador entre dez/24 e dez/25: R$ 32,4 bi em 243 fundos.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dois FIDCs Cielo responderam sozinhos por 28% do volume migrado, com R$ 8,9 bi transferidos de Oliveira Trust para Bradesco.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84B1D-F449-41DE-819A-B4FDB464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05 · Gestão é a função mais pulverizada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57A20-7B90-429B-B2BD-3B945DF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dez maiores gestoras reúnem apenas 38,9% do PL ex-FIC; a líder, BTG, tem 11,0%.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Administração e custódia têm, respectivamente, 71,5% e 73,5% do PL nos dez maiores grupos, praticamente o dobro da concentração em gestão.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927A8-7835-4338-99D1-72F1304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06 · Coorte bancária explica dois terços do combo completo do BTG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92CE6-196F-4521-B284-78C886F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Dos 30 FIDCs observados na coorte BTG, 22 concentram as três funções no grupo e representam 98% do PL da coorte — R$ 51,3 bi.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Os R$ 51,3 bi da coorte equivalem a 66,0% dos R$ 77,7 bi de PL ex-FIC atendidos pelo BTG nas três funções.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F5C0B-0ECB-4407-88DA-D4BC2B2D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07 · Emissões aceleraram; a maior oferta explica dois terços do avanço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6084D-0EB0-4A1E-BAF1-AEE9C53C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As 771 ofertas encerradas em jan–jun/26 somaram R$ 65,5 bi, avanço de 15% sobre jan–jun/25 e 60% sobre jan–jun/24.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000" b="0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0353A"/>
                </a:solidFill>
                <a:latin typeface="Arial"/>
                <a:ea typeface="Arial"/>
                <a:cs typeface="Arial"/>
              </a:rPr>
              <a:t>• A oferta CloudWalk Bela, de R$ 5,5 bi, representou 8,4% do volume e 66,0% do crescimento sobre jan–jun/25; na sensibilidade sem essa oferta, o mercado teria avançado 5,0%.</a:t>
            </a:r>
          </a:p>
        </p:txBody>
      </p:sp>
    </p:spTree>
    <p:extLst>
      <p:ext uri="{BB962C8B-B14F-4D97-AF65-F5344CB8AC3E}">
        <p14:creationId xmlns:p14="http://schemas.microsoft.com/office/powerpoint/2010/main" val="15183396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BE0B2-82F1-46AC-8B0C-3B4DB0C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Volume por prestador | Itaú e Kanastra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E9EE8-D19D-4759-92FE-F8E2982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 · PL ex-FIC, em R$ bilhões · Top 5 + comparadores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FFF56-0E51-4961-9E91-B2E283A6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jun/26. Sem Petrobras/TAPSO. Itaú inclui Intrag/Kinea; Kanastra inclui Limine. Independentes: curadoria original.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0A0E-F496-4C18-8FC2-C71ED29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1524000" y="1133475"/>
          <a:ext xmlns:a="http://schemas.openxmlformats.org/drawingml/2006/main" cx="914400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541e74fcbe47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E7FDF-3CCF-4A8D-A229-F008BF3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+ Itaú + Kanastra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8E78B-B77B-4CFB-8675-D25ABE4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6207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Independentes*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4795-4DA9-475E-A82E-FD304DE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geral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8a080764184da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90D32-68FB-45D6-AD2B-97D4814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Administração · ranking independente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334125" y="175260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8444b159ca477f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255B-6CFA-44E4-A5E4-D5BEED3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geral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571500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b847dcca6541e9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6CE80-C243-4112-822C-10A1EA66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Gestão · ranking independente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334125" y="3286125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af1f79ae1a40e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F51A5-29E1-4ACD-965A-8D3E316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geral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571500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28a22d8a5e4b85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EAD2D-C806-47D0-B279-4637EB4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528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8D9399"/>
                </a:solidFill>
                <a:latin typeface="Arial"/>
                <a:ea typeface="Arial"/>
                <a:cs typeface="Arial"/>
              </a:rPr>
              <a:t>Custódia · ranking independente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6334125" y="4819650"/>
          <a:ext xmlns:a="http://schemas.openxmlformats.org/drawingml/2006/main" cx="5286375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51b0a937204e51"/>
          </a:graphicData>
        </a:graphic>
      </p:graphicFrame>
    </p:spTree>
    <p:extLst>
      <p:ext uri="{BB962C8B-B14F-4D97-AF65-F5344CB8AC3E}">
        <p14:creationId xmlns:p14="http://schemas.microsoft.com/office/powerpoint/2010/main" val="16696813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37A4E-57ED-4BEE-9B3F-EB4F148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Prestadores · ranking e concentração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4CED-D956-4032-BEF9-51D33A99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Top 10 mantém cerca de 72% em administração e custódia; gestão subiu a 38,9%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0BC5-8FD0-4F71-9F1D-516AE36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921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dez/25 e jun/26. PL ex-FIC; Sistema Petrobras e TAPSO excluídos do numerador e denominador. Administração observada; gestão/custódia históricas reconstruídas com cadastro vigente.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9FED-15D1-4B58-BFD8-C73C3CB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86154-AA24-43D6-B2D7-3C88BB6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10 · % do PL ex-FIC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b70ef754bb487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AAAAE-4DA5-4961-9E62-8AD84353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28E07-EB9C-472B-8432-656B7FF9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Top 5 · % do PL ex-FIC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477000" y="1857375"/>
          <a:ext xmlns:a="http://schemas.openxmlformats.org/drawingml/2006/main" cx="5143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69e55d6e2745de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A7EC-ED95-4045-B937-33B2349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514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5DAD8-7CBF-4723-9A9F-645A65E2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Cobertura de PL, dez/25 → Jun/26: administração 100,0% → 100,0%; gestão 98,9% → 99,8%; custódia 97,8% → 98,8%.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BC58-7893-49C9-BE79-D86A55C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701FB-A0D7-4C59-98C5-070BAC7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Dez/25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2F10B-1813-4F26-8177-3BAD374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285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CEAAD-936D-430A-8F50-2E2575C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219200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Jun/26</a:t>
            </a:r>
          </a:p>
        </p:txBody>
      </p:sp>
    </p:spTree>
    <p:extLst>
      <p:ext uri="{BB962C8B-B14F-4D97-AF65-F5344CB8AC3E}">
        <p14:creationId xmlns:p14="http://schemas.microsoft.com/office/powerpoint/2010/main" val="4358078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07E02-174B-40D2-B4FB-FA9F25E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Quase todo o volume vai para o investidor profissional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35537-A637-41FC-9D4A-D2EC0D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Entre 93% e 97% ao ano; a classificação mede elegibilidade, não alocação efetiva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89B02-6848-430B-AF77-A065EB0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CVM/SRE, dois arquivos de ofertas; 24/jul/26. Primárias encerradas, todos os ritos. Definições: RCVM 30.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D381-A1EE-4458-AA54-416A400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9A10E-89C7-445C-8CB9-CBC765D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Contas de cotistas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a2af809c56460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F473D-67E0-48EF-BC8E-9E17E9AD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% do volume emitido por público-alvo CVM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71500" y="3971925"/>
          <a:ext xmlns:a="http://schemas.openxmlformats.org/drawingml/2006/main" cx="65722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d86c0b7831473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E85F-DE2D-436F-96F5-B1E38D4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33500"/>
            <a:ext cx="404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Composição das contas · jun/26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524750" y="1714500"/>
          <a:ext xmlns:a="http://schemas.openxmlformats.org/drawingml/2006/main" cx="40957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1b4057ade744bd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2E490-F48D-4DDD-8611-6A5C1CA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A emissão é majoritariamente elegível a investidores profissionais, padrão compatível com demanda institucional/gestoras. A base de público-alvo não separa pessoa física de pessoa jurídica; Público Geral foi 0,0% em 2024 e 0,5% em jan–jun/26. N/D: 1,1% em 2023 e 0,5% em 2025.</a:t>
            </a:r>
          </a:p>
        </p:txBody>
      </p:sp>
    </p:spTree>
    <p:extLst>
      <p:ext uri="{BB962C8B-B14F-4D97-AF65-F5344CB8AC3E}">
        <p14:creationId xmlns:p14="http://schemas.microsoft.com/office/powerpoint/2010/main" val="10528485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06BBD-E422-44D9-A48C-F85373E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Distribuição por número de cotistas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468E9-3DA8-408A-8F56-6CB8B93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Fundos com mais de 10 contas ganharam 11,0 p.p. do universo e 10,6 p.p. do PL desde dez/23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8A594-1932-465C-B54D-EA44917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Fonte: CVM, dez/23 e jun/26. Ex-FIC com PL ≥ R$ 200 mi: 409 → 784 fundos; contas por classe/série, não investidores únicos.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50A7-8A39-4D2B-B6AB-55B7C1F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9239250" y="1219200"/>
          <a:ext xmlns:a="http://schemas.openxmlformats.org/drawingml/2006/main" cx="2381250" cy="20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b2675729914de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ABB6-0B2F-43CD-9880-04C9F93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absoluto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ef0d7b796f4e7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F4EA8-1775-4060-AEE1-A527BDB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23975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R$ bi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334125" y="1724025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60e30650d34bc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229A3-04A1-4A18-9504-678F77A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Quantidade de fundos · % do total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571500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93e588ce0c405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4B37F-5774-472A-93DA-B76CF45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7B2AD-3EE1-4FBC-B44C-5C674654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PL por faixa · % do total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334125" y="4076700"/>
          <a:ext xmlns:a="http://schemas.openxmlformats.org/drawingml/2006/main" cx="528637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08e6d104124a7f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957AC-C720-4F20-A154-2C0D6A0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5285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Soma das barras =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D25C7-5F55-4411-82C6-B9A9F78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Comparação de duas fotografias da indústria, não de coorte constante. Corte de R$ 200 mi em valores nominais; cada histograma percentual fecha em 100%.</a:t>
            </a:r>
          </a:p>
        </p:txBody>
      </p:sp>
    </p:spTree>
    <p:extLst>
      <p:ext uri="{BB962C8B-B14F-4D97-AF65-F5344CB8AC3E}">
        <p14:creationId xmlns:p14="http://schemas.microsoft.com/office/powerpoint/2010/main" val="19369990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1E9AB-3AAB-4D60-A962-0359578B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1">
                <a:solidFill>
                  <a:srgbClr val="EC7000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EC7000"/>
                </a:solidFill>
                <a:latin typeface="Arial"/>
                <a:ea typeface="Arial"/>
                <a:cs typeface="Arial"/>
              </a:rPr>
              <a:t>Saldo e tipos de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8600-051A-44EB-A9B1-A9516BD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Saldo e Tipos de FIDCs | Abertura PF/PJ e cenário sem TAPSO/Petrobras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A90E-CFF1-47F3-BE28-1F26255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47625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* PF/PJ: 24 CNPJs; PL dos fundos, Top1 mensal &lt;=1%; Sólido e BizCapital em Financeiro. Emissões por CNPJ; FIC fora; 2023 escalado ANBIMA.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893FC-6A38-45B2-9CDC-85DDAE6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8D9399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8D939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A593-2060-4D9A-9ED7-7335A4F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Saldo ex-FIC · R$ bi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f4de9a75224b5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45B6F-20C4-49D6-9BC3-5A08A96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Participação no saldo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238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acfcc317514b5d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61F68-14C2-42D0-B53D-006B46F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87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FBE62-BD10-4639-B789-B1FD476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Fomento Mercantil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D87BE-32AB-4612-B3E5-E0C2CC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A7B0F-BD5F-4803-96B6-EB1A702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Agro, Indústria e Comércio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0C4AB-E80B-419B-ABEB-BBD76BA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078F1-5E06-47BD-AE40-CC0BC454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AED78-5235-4223-A570-3669391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9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21392-2C47-427A-9F53-8C9A24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Precatórios / 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602E-0B58-437A-A3DA-BE9D600F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63EB-9E03-4318-9F56-22CEBDC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Multicedente / multisacado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86D3-B894-4005-BAD6-19F0FBEB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7763B-CD4E-488C-8F18-459E63F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Recuperação / NP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C7A7-6C8D-494B-BE67-899C8D2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3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78BB-CD34-4835-9D88-6C8E74D1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0" b="0">
                <a:solidFill>
                  <a:srgbClr val="73787D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73787D"/>
                </a:solidFill>
                <a:latin typeface="Arial"/>
                <a:ea typeface="Arial"/>
                <a:cs typeface="Arial"/>
              </a:rPr>
              <a:t>PF/PJ*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5A71-6306-4A65-A146-C1F77DC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R$ bi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9abd6eba64af3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AE2C19-A79F-4F3D-9BCA-DB4B496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035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353A"/>
                </a:solidFill>
                <a:latin typeface="Arial"/>
                <a:ea typeface="Arial"/>
                <a:cs typeface="Arial"/>
              </a:rPr>
              <a:t>Novas emissões por setor · %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6381750" y="4067175"/>
          <a:ext xmlns:a="http://schemas.openxmlformats.org/drawingml/2006/main" cx="5238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aa3b0f11a743bf"/>
          </a:graphicData>
        </a:graphic>
      </p:graphicFrame>
    </p:spTree>
    <p:extLst>
      <p:ext uri="{BB962C8B-B14F-4D97-AF65-F5344CB8AC3E}">
        <p14:creationId xmlns:p14="http://schemas.microsoft.com/office/powerpoint/2010/main" val="948990028"/>
      </p:ext>
    </p:extLst>
  </p:cSld>
</p:sld>
</file>

<file path=ppt/theme/theme1.xml><?xml version="1.0" encoding="utf-8"?>
<a:theme xmlns:a="http://schemas.openxmlformats.org/drawingml/2006/main" name="ChatGPT">
  <a:themeElements>
    <a:clrScheme name="Itau BBA FIDC Editorial">
      <a:dk1>
        <a:srgbClr val="151515"/>
      </a:dk1>
      <a:lt1>
        <a:srgbClr val="FFFFFF"/>
      </a:lt1>
      <a:dk2>
        <a:srgbClr val="30353A"/>
      </a:dk2>
      <a:lt2>
        <a:srgbClr val="E7E9EB"/>
      </a:lt2>
      <a:accent1>
        <a:srgbClr val="EC7000"/>
      </a:accent1>
      <a:accent2>
        <a:srgbClr val="151515"/>
      </a:accent2>
      <a:accent3>
        <a:srgbClr val="30353A"/>
      </a:accent3>
      <a:accent4>
        <a:srgbClr val="73787D"/>
      </a:accent4>
      <a:accent5>
        <a:srgbClr val="8D9399"/>
      </a:accent5>
      <a:accent6>
        <a:srgbClr val="D7DADD"/>
      </a:accent6>
      <a:hlink>
        <a:srgbClr val="EC7000"/>
      </a:hlink>
      <a:folHlink>
        <a:srgbClr val="7378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FIDC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2026-09-01T19:56:42.8860000Z</dcterms:created>
  <dcterms:modified xsi:type="dcterms:W3CDTF">2026-09-01T19:56:42.8860000Z</dcterms:modified>
</coreProperties>
</file>