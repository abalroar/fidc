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8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slides/charts/chart52.xml" ContentType="application/vnd.openxmlformats-officedocument.drawingml.chart+xml"/>
  <Override PartName="/ppt/slides/charts/chart53.xml" ContentType="application/vnd.openxmlformats-officedocument.drawingml.chart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8337ed10a4e4180" /><Relationship Type="http://schemas.openxmlformats.org/officeDocument/2006/relationships/extended-properties" Target="/docProps/app.xml" Id="R5743ab5285f149d7" /><Relationship Type="http://schemas.openxmlformats.org/officeDocument/2006/relationships/officeDocument" Target="/ppt/presentation.xml" Id="Rc17db289d7bb43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6402f59a7b43a4"/>
  </p:sldMasterIdLst>
  <p:notesMasterIdLst>
    <p:notesMasterId xmlns:r="http://schemas.openxmlformats.org/officeDocument/2006/relationships" r:id="R08b3b6bf05fe400e"/>
  </p:notesMasterIdLst>
  <p:sldIdLst>
    <p:sldId xmlns:r="http://schemas.openxmlformats.org/officeDocument/2006/relationships" id="256" r:id="R282000a1a817435f"/>
    <p:sldId xmlns:r="http://schemas.openxmlformats.org/officeDocument/2006/relationships" id="257" r:id="R09906b600d2846dc"/>
    <p:sldId xmlns:r="http://schemas.openxmlformats.org/officeDocument/2006/relationships" id="258" r:id="R5e79b17b23144d37"/>
    <p:sldId xmlns:r="http://schemas.openxmlformats.org/officeDocument/2006/relationships" id="259" r:id="Rea0935539d5c46f4"/>
    <p:sldId xmlns:r="http://schemas.openxmlformats.org/officeDocument/2006/relationships" id="260" r:id="R83776cec3fcc4704"/>
    <p:sldId xmlns:r="http://schemas.openxmlformats.org/officeDocument/2006/relationships" id="261" r:id="Rea9b41e50f7e4be7"/>
    <p:sldId xmlns:r="http://schemas.openxmlformats.org/officeDocument/2006/relationships" id="262" r:id="R706796c3f07744b6"/>
    <p:sldId xmlns:r="http://schemas.openxmlformats.org/officeDocument/2006/relationships" id="263" r:id="R7f779e129400404a"/>
    <p:sldId xmlns:r="http://schemas.openxmlformats.org/officeDocument/2006/relationships" id="264" r:id="Rac74b9b3fd2a4f82"/>
    <p:sldId xmlns:r="http://schemas.openxmlformats.org/officeDocument/2006/relationships" id="265" r:id="R1c34b38ddb434c42"/>
    <p:sldId xmlns:r="http://schemas.openxmlformats.org/officeDocument/2006/relationships" id="266" r:id="R0f8ad7aec1a442fe"/>
    <p:sldId xmlns:r="http://schemas.openxmlformats.org/officeDocument/2006/relationships" id="267" r:id="Rb718112b55644a6e"/>
    <p:sldId xmlns:r="http://schemas.openxmlformats.org/officeDocument/2006/relationships" id="268" r:id="Rcaf0ee6be99e498b"/>
    <p:sldId xmlns:r="http://schemas.openxmlformats.org/officeDocument/2006/relationships" id="269" r:id="Rf540329e54e04827"/>
    <p:sldId xmlns:r="http://schemas.openxmlformats.org/officeDocument/2006/relationships" id="270" r:id="R841d82e5314045c3"/>
    <p:sldId xmlns:r="http://schemas.openxmlformats.org/officeDocument/2006/relationships" id="271" r:id="R44e66b6e6cb64a99"/>
    <p:sldId xmlns:r="http://schemas.openxmlformats.org/officeDocument/2006/relationships" id="272" r:id="R4792bc5073ac4cfe"/>
    <p:sldId xmlns:r="http://schemas.openxmlformats.org/officeDocument/2006/relationships" id="273" r:id="R801883cf96864421"/>
    <p:sldId xmlns:r="http://schemas.openxmlformats.org/officeDocument/2006/relationships" id="274" r:id="Rcfdfa059b6b94566"/>
    <p:sldId xmlns:r="http://schemas.openxmlformats.org/officeDocument/2006/relationships" id="275" r:id="Rdc6d33df227e4bea"/>
    <p:sldId xmlns:r="http://schemas.openxmlformats.org/officeDocument/2006/relationships" id="276" r:id="Rbffd303c4a674d58"/>
    <p:sldId xmlns:r="http://schemas.openxmlformats.org/officeDocument/2006/relationships" id="277" r:id="R72575ad4fe604da0"/>
    <p:sldId xmlns:r="http://schemas.openxmlformats.org/officeDocument/2006/relationships" id="278" r:id="R7dfc698bcdb84880"/>
    <p:sldId xmlns:r="http://schemas.openxmlformats.org/officeDocument/2006/relationships" id="279" r:id="Rfb3c132a97fa49b0"/>
    <p:sldId xmlns:r="http://schemas.openxmlformats.org/officeDocument/2006/relationships" id="280" r:id="R9d173e70275043e2"/>
    <p:sldId xmlns:r="http://schemas.openxmlformats.org/officeDocument/2006/relationships" id="281" r:id="Rdab33b172086481e"/>
    <p:sldId xmlns:r="http://schemas.openxmlformats.org/officeDocument/2006/relationships" id="282" r:id="Raa9aba1c62994359"/>
    <p:sldId xmlns:r="http://schemas.openxmlformats.org/officeDocument/2006/relationships" id="283" r:id="Rbaa08c0e8f89442f"/>
    <p:sldId xmlns:r="http://schemas.openxmlformats.org/officeDocument/2006/relationships" id="284" r:id="Rb51abbd7e4cd4bf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8b0dec60d104b9f" /><Relationship Type="http://schemas.openxmlformats.org/officeDocument/2006/relationships/slideMaster" Target="/ppt/slideMasters/slideMaster1.xml" Id="R966402f59a7b43a4" /><Relationship Type="http://schemas.openxmlformats.org/officeDocument/2006/relationships/notesMaster" Target="/ppt/notesMasters/notesMaster1.xml" Id="R08b3b6bf05fe400e" /><Relationship Type="http://schemas.openxmlformats.org/officeDocument/2006/relationships/presProps" Target="/ppt/presProps.xml" Id="Rbc163a425c334a1b" /><Relationship Type="http://schemas.openxmlformats.org/officeDocument/2006/relationships/tableStyles" Target="/ppt/tableStyles.xml" Id="R597e26969c3d4caf" /><Relationship Type="http://schemas.openxmlformats.org/officeDocument/2006/relationships/slide" Target="/ppt/slides/slide1.xml" Id="R282000a1a817435f" /><Relationship Type="http://schemas.openxmlformats.org/officeDocument/2006/relationships/slide" Target="/ppt/slides/slide2.xml" Id="R09906b600d2846dc" /><Relationship Type="http://schemas.openxmlformats.org/officeDocument/2006/relationships/slide" Target="/ppt/slides/slide3.xml" Id="R5e79b17b23144d37" /><Relationship Type="http://schemas.openxmlformats.org/officeDocument/2006/relationships/slide" Target="/ppt/slides/slide4.xml" Id="Rea0935539d5c46f4" /><Relationship Type="http://schemas.openxmlformats.org/officeDocument/2006/relationships/slide" Target="/ppt/slides/slide5.xml" Id="R83776cec3fcc4704" /><Relationship Type="http://schemas.openxmlformats.org/officeDocument/2006/relationships/slide" Target="/ppt/slides/slide6.xml" Id="Rea9b41e50f7e4be7" /><Relationship Type="http://schemas.openxmlformats.org/officeDocument/2006/relationships/slide" Target="/ppt/slides/slide7.xml" Id="R706796c3f07744b6" /><Relationship Type="http://schemas.openxmlformats.org/officeDocument/2006/relationships/slide" Target="/ppt/slides/slide8.xml" Id="R7f779e129400404a" /><Relationship Type="http://schemas.openxmlformats.org/officeDocument/2006/relationships/slide" Target="/ppt/slides/slide9.xml" Id="Rac74b9b3fd2a4f82" /><Relationship Type="http://schemas.openxmlformats.org/officeDocument/2006/relationships/slide" Target="/ppt/slides/slide10.xml" Id="R1c34b38ddb434c42" /><Relationship Type="http://schemas.openxmlformats.org/officeDocument/2006/relationships/slide" Target="/ppt/slides/slide11.xml" Id="R0f8ad7aec1a442fe" /><Relationship Type="http://schemas.openxmlformats.org/officeDocument/2006/relationships/slide" Target="/ppt/slides/slide12.xml" Id="Rb718112b55644a6e" /><Relationship Type="http://schemas.openxmlformats.org/officeDocument/2006/relationships/slide" Target="/ppt/slides/slide13.xml" Id="Rcaf0ee6be99e498b" /><Relationship Type="http://schemas.openxmlformats.org/officeDocument/2006/relationships/slide" Target="/ppt/slides/slide14.xml" Id="Rf540329e54e04827" /><Relationship Type="http://schemas.openxmlformats.org/officeDocument/2006/relationships/slide" Target="/ppt/slides/slide15.xml" Id="R841d82e5314045c3" /><Relationship Type="http://schemas.openxmlformats.org/officeDocument/2006/relationships/slide" Target="/ppt/slides/slide16.xml" Id="R44e66b6e6cb64a99" /><Relationship Type="http://schemas.openxmlformats.org/officeDocument/2006/relationships/slide" Target="/ppt/slides/slide17.xml" Id="R4792bc5073ac4cfe" /><Relationship Type="http://schemas.openxmlformats.org/officeDocument/2006/relationships/slide" Target="/ppt/slides/slide18.xml" Id="R801883cf96864421" /><Relationship Type="http://schemas.openxmlformats.org/officeDocument/2006/relationships/slide" Target="/ppt/slides/slide19.xml" Id="Rcfdfa059b6b94566" /><Relationship Type="http://schemas.openxmlformats.org/officeDocument/2006/relationships/slide" Target="/ppt/slides/slide20.xml" Id="Rdc6d33df227e4bea" /><Relationship Type="http://schemas.openxmlformats.org/officeDocument/2006/relationships/slide" Target="/ppt/slides/slide21.xml" Id="Rbffd303c4a674d58" /><Relationship Type="http://schemas.openxmlformats.org/officeDocument/2006/relationships/slide" Target="/ppt/slides/slide22.xml" Id="R72575ad4fe604da0" /><Relationship Type="http://schemas.openxmlformats.org/officeDocument/2006/relationships/slide" Target="/ppt/slides/slide23.xml" Id="R7dfc698bcdb84880" /><Relationship Type="http://schemas.openxmlformats.org/officeDocument/2006/relationships/slide" Target="/ppt/slides/slide24.xml" Id="Rfb3c132a97fa49b0" /><Relationship Type="http://schemas.openxmlformats.org/officeDocument/2006/relationships/slide" Target="/ppt/slides/slide25.xml" Id="R9d173e70275043e2" /><Relationship Type="http://schemas.openxmlformats.org/officeDocument/2006/relationships/slide" Target="/ppt/slides/slide26.xml" Id="Rdab33b172086481e" /><Relationship Type="http://schemas.openxmlformats.org/officeDocument/2006/relationships/slide" Target="/ppt/slides/slide27.xml" Id="Raa9aba1c62994359" /><Relationship Type="http://schemas.openxmlformats.org/officeDocument/2006/relationships/slide" Target="/ppt/slides/slide28.xml" Id="Rbaa08c0e8f89442f" /><Relationship Type="http://schemas.openxmlformats.org/officeDocument/2006/relationships/slide" Target="/ppt/slides/slide29.xml" Id="Rb51abbd7e4cd4bf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85316045f646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93a7c04f9104bec" /><Relationship Type="http://schemas.openxmlformats.org/officeDocument/2006/relationships/notesMaster" Target="/ppt/notesMasters/notesMaster1.xml" Id="Rc490e60208084f8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7d88bbe741480f" /><Relationship Type="http://schemas.openxmlformats.org/officeDocument/2006/relationships/notesMaster" Target="/ppt/notesMasters/notesMaster1.xml" Id="R8c453207a7034f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a5644ee20d407a" /><Relationship Type="http://schemas.openxmlformats.org/officeDocument/2006/relationships/notesMaster" Target="/ppt/notesMasters/notesMaster1.xml" Id="R3e484393179343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69e8076042443f" /><Relationship Type="http://schemas.openxmlformats.org/officeDocument/2006/relationships/notesMaster" Target="/ppt/notesMasters/notesMaster1.xml" Id="Ra7354ae91b7e47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d4eb96722044ad" /><Relationship Type="http://schemas.openxmlformats.org/officeDocument/2006/relationships/notesMaster" Target="/ppt/notesMasters/notesMaster1.xml" Id="R0e762f85edfa4d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b0f60c47334276" /><Relationship Type="http://schemas.openxmlformats.org/officeDocument/2006/relationships/notesMaster" Target="/ppt/notesMasters/notesMaster1.xml" Id="Rff3593273a4846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3eb4537eb2434e" /><Relationship Type="http://schemas.openxmlformats.org/officeDocument/2006/relationships/notesMaster" Target="/ppt/notesMasters/notesMaster1.xml" Id="R8bbaedcebeb544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c9add894bd49dd" /><Relationship Type="http://schemas.openxmlformats.org/officeDocument/2006/relationships/notesMaster" Target="/ppt/notesMasters/notesMaster1.xml" Id="R59c22dc33cc143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a8ea5b34aaf43e1" /><Relationship Type="http://schemas.openxmlformats.org/officeDocument/2006/relationships/notesMaster" Target="/ppt/notesMasters/notesMaster1.xml" Id="Ra4c09f35b05843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2defab602d04cf9" /><Relationship Type="http://schemas.openxmlformats.org/officeDocument/2006/relationships/notesMaster" Target="/ppt/notesMasters/notesMaster1.xml" Id="R92cc9a48792f496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46e4652fa434d5a" /><Relationship Type="http://schemas.openxmlformats.org/officeDocument/2006/relationships/notesMaster" Target="/ppt/notesMasters/notesMaster1.xml" Id="Rb39a340de501435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94da41676684531" /><Relationship Type="http://schemas.openxmlformats.org/officeDocument/2006/relationships/notesMaster" Target="/ppt/notesMasters/notesMaster1.xml" Id="R05d15dae5d7c4be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f22523400f54ae4" /><Relationship Type="http://schemas.openxmlformats.org/officeDocument/2006/relationships/notesMaster" Target="/ppt/notesMasters/notesMaster1.xml" Id="R1fa7bb3e1f224bc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5082e39865e40df" /><Relationship Type="http://schemas.openxmlformats.org/officeDocument/2006/relationships/notesMaster" Target="/ppt/notesMasters/notesMaster1.xml" Id="Rbe8bf02569b245a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9fdd1f2aadb417a" /><Relationship Type="http://schemas.openxmlformats.org/officeDocument/2006/relationships/notesMaster" Target="/ppt/notesMasters/notesMaster1.xml" Id="R51ad99f42c724d7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998f25e9a354d51" /><Relationship Type="http://schemas.openxmlformats.org/officeDocument/2006/relationships/notesMaster" Target="/ppt/notesMasters/notesMaster1.xml" Id="R8daabb8cd36f4b1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d85e88091834a1e" /><Relationship Type="http://schemas.openxmlformats.org/officeDocument/2006/relationships/notesMaster" Target="/ppt/notesMasters/notesMaster1.xml" Id="R37ff122d0e0340a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8b043cb17554d9e" /><Relationship Type="http://schemas.openxmlformats.org/officeDocument/2006/relationships/notesMaster" Target="/ppt/notesMasters/notesMaster1.xml" Id="R60ad47f0385d4a7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1ed318bb39a45db" /><Relationship Type="http://schemas.openxmlformats.org/officeDocument/2006/relationships/notesMaster" Target="/ppt/notesMasters/notesMaster1.xml" Id="Rdbb7f1f9ac60426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0b4924c43b8425f" /><Relationship Type="http://schemas.openxmlformats.org/officeDocument/2006/relationships/notesMaster" Target="/ppt/notesMasters/notesMaster1.xml" Id="R0f6c33a5ed924e1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d866aa0bc644a02" /><Relationship Type="http://schemas.openxmlformats.org/officeDocument/2006/relationships/notesMaster" Target="/ppt/notesMasters/notesMaster1.xml" Id="R90d61fe34fd14b2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75b456f73ca4a47" /><Relationship Type="http://schemas.openxmlformats.org/officeDocument/2006/relationships/notesMaster" Target="/ppt/notesMasters/notesMaster1.xml" Id="Rfccca2d9d687405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8f246cccc734cad" /><Relationship Type="http://schemas.openxmlformats.org/officeDocument/2006/relationships/notesMaster" Target="/ppt/notesMasters/notesMaster1.xml" Id="Rce3f3e3d247c4da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9774081b8be4c7f" /><Relationship Type="http://schemas.openxmlformats.org/officeDocument/2006/relationships/notesMaster" Target="/ppt/notesMasters/notesMaster1.xml" Id="R4da98c6953a64d7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e5220c494544362" /><Relationship Type="http://schemas.openxmlformats.org/officeDocument/2006/relationships/notesMaster" Target="/ppt/notesMasters/notesMaster1.xml" Id="Rd08bc99b4bc8423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186fb9219a2467e" /><Relationship Type="http://schemas.openxmlformats.org/officeDocument/2006/relationships/notesMaster" Target="/ppt/notesMasters/notesMaster1.xml" Id="Re68044e708074df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63cc55d64df4fd4" /><Relationship Type="http://schemas.openxmlformats.org/officeDocument/2006/relationships/notesMaster" Target="/ppt/notesMasters/notesMaster1.xml" Id="R426c2a02ca174d1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2dcf0b791e54edd" /><Relationship Type="http://schemas.openxmlformats.org/officeDocument/2006/relationships/notesMaster" Target="/ppt/notesMasters/notesMaster1.xml" Id="Rdcf8635d64184c9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2166d9a07644f26" /><Relationship Type="http://schemas.openxmlformats.org/officeDocument/2006/relationships/notesMaster" Target="/ppt/notesMasters/notesMaster1.xml" Id="Rd7a67a10237c4e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 Informe Mensal jun/26; bases/saldo_cenarios.csv; bases/emissoes_por_categoria.csv; bases/exclusoes_por_cnpj.csv. PF/PJ via bases/pfpj_24_incluidos.csv. Cenário sem CNPJs 09195235000150 e 26287464000114.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CVM/SRE, ofertas encerradas; bases/emissoes_por_cnpj.csv, emissoes_por_categoria.csv e emissoes_auditoria.csv. Match por CNPJ do fundo e depois da classe; FIC fora; sem match=N/D. 2023 escalado ao total encerrado ANBIMA.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CVM/ANBIMA, regulamentos integrais, taxonomy_review_actions.csv, bases/criterios_categorias.csv e categorias_cnpj_jun26.csv. Taxonomia congelada em jun/26 e retroaplicada.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 Informe Mensal jun/26; bases/prestadores_separados.csv e prestadores_linhagem.csv. Itaú/Intrag/Kinea e Kanastra/Limine conforme curadoria documentada.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 Informe Mensal jun/26; bases/saldo_cenarios.csv; bases/emissoes_por_categoria.csv; bases/exclusoes_por_cnpj.csv. PF/PJ via bases/pfpj_24_incluidos.csv. Cenário sem CNPJs 09195235000150 e 26287464000114.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036bc113114d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febccfc78f4982" /><Relationship Type="http://schemas.openxmlformats.org/officeDocument/2006/relationships/slideLayout" Target="/ppt/slideLayouts/slideLayout1.xml" Id="R45da9d48b6264ac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da9d48b6264ac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7b7436df84ad8" /><Relationship Type="http://schemas.openxmlformats.org/officeDocument/2006/relationships/notesSlide" Target="/ppt/notesSlides/notesSlide1.xml" Id="Rce8a5757d8384c8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323c98f3e74751" /><Relationship Type="http://schemas.openxmlformats.org/officeDocument/2006/relationships/chart" Target="/ppt/slides/charts/chart1.xml" Id="R47e3abe3d0a84e89" /><Relationship Type="http://schemas.openxmlformats.org/officeDocument/2006/relationships/chart" Target="/ppt/slides/charts/chart2.xml" Id="Rba46e62bf4d34f25" /><Relationship Type="http://schemas.openxmlformats.org/officeDocument/2006/relationships/chart" Target="/ppt/slides/charts/chart3.xml" Id="Rc3d0e8b8a4844171" /><Relationship Type="http://schemas.openxmlformats.org/officeDocument/2006/relationships/notesSlide" Target="/ppt/notesSlides/notesSlide2.xml" Id="R8242bfaa536942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94ae19d52c4b85" /><Relationship Type="http://schemas.openxmlformats.org/officeDocument/2006/relationships/chart" Target="/ppt/slides/charts/chart4.xml" Id="Raaee549efdea4a21" /><Relationship Type="http://schemas.openxmlformats.org/officeDocument/2006/relationships/chart" Target="/ppt/slides/charts/chart5.xml" Id="Rc363572338c943a1" /><Relationship Type="http://schemas.openxmlformats.org/officeDocument/2006/relationships/notesSlide" Target="/ppt/notesSlides/notesSlide3.xml" Id="Reaa35d39e6ba40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6a4dee517a478a" /><Relationship Type="http://schemas.openxmlformats.org/officeDocument/2006/relationships/chart" Target="/ppt/slides/charts/chart6.xml" Id="R289129e814ba4d7f" /><Relationship Type="http://schemas.openxmlformats.org/officeDocument/2006/relationships/chart" Target="/ppt/slides/charts/chart7.xml" Id="Rabfd1b58e1af4562" /><Relationship Type="http://schemas.openxmlformats.org/officeDocument/2006/relationships/chart" Target="/ppt/slides/charts/chart8.xml" Id="R2671b0e3161746cd" /><Relationship Type="http://schemas.openxmlformats.org/officeDocument/2006/relationships/chart" Target="/ppt/slides/charts/chart9.xml" Id="R4da0686da981499b" /><Relationship Type="http://schemas.openxmlformats.org/officeDocument/2006/relationships/notesSlide" Target="/ppt/notesSlides/notesSlide4.xml" Id="Rbcb05e3894654d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997c458b54fcf" /><Relationship Type="http://schemas.openxmlformats.org/officeDocument/2006/relationships/chart" Target="/ppt/slides/charts/chart10.xml" Id="R2a2378e6bd8e400b" /><Relationship Type="http://schemas.openxmlformats.org/officeDocument/2006/relationships/chart" Target="/ppt/slides/charts/chart11.xml" Id="R1e9c52ef81bf41c3" /><Relationship Type="http://schemas.openxmlformats.org/officeDocument/2006/relationships/notesSlide" Target="/ppt/notesSlides/notesSlide5.xml" Id="Ra0b0094e000a41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264e91ffe54921" /><Relationship Type="http://schemas.openxmlformats.org/officeDocument/2006/relationships/chart" Target="/ppt/slides/charts/chart12.xml" Id="R933b5285cc104f54" /><Relationship Type="http://schemas.openxmlformats.org/officeDocument/2006/relationships/chart" Target="/ppt/slides/charts/chart13.xml" Id="Rbbc2fd3f41ba44d1" /><Relationship Type="http://schemas.openxmlformats.org/officeDocument/2006/relationships/chart" Target="/ppt/slides/charts/chart14.xml" Id="R9d5cef0fa2444504" /><Relationship Type="http://schemas.openxmlformats.org/officeDocument/2006/relationships/notesSlide" Target="/ppt/notesSlides/notesSlide6.xml" Id="R101e1d39d4a3424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6d801e88fc4eb1" /><Relationship Type="http://schemas.openxmlformats.org/officeDocument/2006/relationships/chart" Target="/ppt/slides/charts/chart15.xml" Id="Rb3aa05e1fa274bdf" /><Relationship Type="http://schemas.openxmlformats.org/officeDocument/2006/relationships/chart" Target="/ppt/slides/charts/chart16.xml" Id="Re4609b0b9eb340e2" /><Relationship Type="http://schemas.openxmlformats.org/officeDocument/2006/relationships/chart" Target="/ppt/slides/charts/chart17.xml" Id="Recbbc9ad6bc044f1" /><Relationship Type="http://schemas.openxmlformats.org/officeDocument/2006/relationships/notesSlide" Target="/ppt/notesSlides/notesSlide7.xml" Id="R28501b4233374af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55a0c484d24253" /><Relationship Type="http://schemas.openxmlformats.org/officeDocument/2006/relationships/chart" Target="/ppt/slides/charts/chart18.xml" Id="R922b8ddd51a044ed" /><Relationship Type="http://schemas.openxmlformats.org/officeDocument/2006/relationships/chart" Target="/ppt/slides/charts/chart19.xml" Id="Rbd8ffd50790c429d" /><Relationship Type="http://schemas.openxmlformats.org/officeDocument/2006/relationships/chart" Target="/ppt/slides/charts/chart20.xml" Id="R07a1ad4b0f574036" /><Relationship Type="http://schemas.openxmlformats.org/officeDocument/2006/relationships/notesSlide" Target="/ppt/notesSlides/notesSlide8.xml" Id="R45fe75fb9eed49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17a5b2c6e46da" /><Relationship Type="http://schemas.openxmlformats.org/officeDocument/2006/relationships/notesSlide" Target="/ppt/notesSlides/notesSlide9.xml" Id="R44b74761e28e41b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5dfae6409f43a3" /><Relationship Type="http://schemas.openxmlformats.org/officeDocument/2006/relationships/chart" Target="/ppt/slides/charts/chart21.xml" Id="Rbce0ecceebcf46b7" /><Relationship Type="http://schemas.openxmlformats.org/officeDocument/2006/relationships/chart" Target="/ppt/slides/charts/chart22.xml" Id="R49e0e46a1503432a" /><Relationship Type="http://schemas.openxmlformats.org/officeDocument/2006/relationships/chart" Target="/ppt/slides/charts/chart23.xml" Id="R3e905f890f73417b" /><Relationship Type="http://schemas.openxmlformats.org/officeDocument/2006/relationships/notesSlide" Target="/ppt/notesSlides/notesSlide10.xml" Id="R53a8cd011c47403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ac0663585e47b4" /><Relationship Type="http://schemas.openxmlformats.org/officeDocument/2006/relationships/chart" Target="/ppt/slides/charts/chart24.xml" Id="R231db08e01c64d21" /><Relationship Type="http://schemas.openxmlformats.org/officeDocument/2006/relationships/chart" Target="/ppt/slides/charts/chart25.xml" Id="R73bc44c7ed994879" /><Relationship Type="http://schemas.openxmlformats.org/officeDocument/2006/relationships/chart" Target="/ppt/slides/charts/chart26.xml" Id="R99c536737e7b4029" /><Relationship Type="http://schemas.openxmlformats.org/officeDocument/2006/relationships/chart" Target="/ppt/slides/charts/chart27.xml" Id="R2f99cf40a67f4ef6" /><Relationship Type="http://schemas.openxmlformats.org/officeDocument/2006/relationships/notesSlide" Target="/ppt/notesSlides/notesSlide11.xml" Id="Rd17e4125d3bf49e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31bed4a364f0b" /><Relationship Type="http://schemas.openxmlformats.org/officeDocument/2006/relationships/chart" Target="/ppt/slides/charts/chart28.xml" Id="R7c3fbf2d57454d8e" /><Relationship Type="http://schemas.openxmlformats.org/officeDocument/2006/relationships/notesSlide" Target="/ppt/notesSlides/notesSlide12.xml" Id="R7c42ff69727b44d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eb1b1b6d274eb5" /><Relationship Type="http://schemas.openxmlformats.org/officeDocument/2006/relationships/notesSlide" Target="/ppt/notesSlides/notesSlide13.xml" Id="R28215730d00a42b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4b282cadc34430" /><Relationship Type="http://schemas.openxmlformats.org/officeDocument/2006/relationships/notesSlide" Target="/ppt/notesSlides/notesSlide14.xml" Id="Rec6cd04c0bf949b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aacd2de7b41b1" /><Relationship Type="http://schemas.openxmlformats.org/officeDocument/2006/relationships/notesSlide" Target="/ppt/notesSlides/notesSlide15.xml" Id="R01edeabc06d24d2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b8851a2354b5e" /><Relationship Type="http://schemas.openxmlformats.org/officeDocument/2006/relationships/notesSlide" Target="/ppt/notesSlides/notesSlide16.xml" Id="R5f52e9b9128c4f4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2caf037994b95" /><Relationship Type="http://schemas.openxmlformats.org/officeDocument/2006/relationships/chart" Target="/ppt/slides/charts/chart29.xml" Id="Rfc47b70ebb094233" /><Relationship Type="http://schemas.openxmlformats.org/officeDocument/2006/relationships/chart" Target="/ppt/slides/charts/chart30.xml" Id="R3a988d80643344c0" /><Relationship Type="http://schemas.openxmlformats.org/officeDocument/2006/relationships/notesSlide" Target="/ppt/notesSlides/notesSlide17.xml" Id="R6c7356b7d16e40f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139d155cbe4b9a" /><Relationship Type="http://schemas.openxmlformats.org/officeDocument/2006/relationships/notesSlide" Target="/ppt/notesSlides/notesSlide18.xml" Id="R66e68d5562f44e1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d5f6ec4a8d427a" /><Relationship Type="http://schemas.openxmlformats.org/officeDocument/2006/relationships/chart" Target="/ppt/slides/charts/chart31.xml" Id="R6cffbeda0cf44cd0" /><Relationship Type="http://schemas.openxmlformats.org/officeDocument/2006/relationships/chart" Target="/ppt/slides/charts/chart32.xml" Id="Rf7a23576ca924251" /><Relationship Type="http://schemas.openxmlformats.org/officeDocument/2006/relationships/notesSlide" Target="/ppt/notesSlides/notesSlide19.xml" Id="R2f9ca27f0a7b442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2c8e6413484678" /><Relationship Type="http://schemas.openxmlformats.org/officeDocument/2006/relationships/notesSlide" Target="/ppt/notesSlides/notesSlide20.xml" Id="R185391f9245b422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8922727130402e" /><Relationship Type="http://schemas.openxmlformats.org/officeDocument/2006/relationships/notesSlide" Target="/ppt/notesSlides/notesSlide21.xml" Id="Ra8c82b76dbd542f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972a3e66cc47fa" /><Relationship Type="http://schemas.openxmlformats.org/officeDocument/2006/relationships/notesSlide" Target="/ppt/notesSlides/notesSlide22.xml" Id="R856edfd5867847d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b657deec614acf" /><Relationship Type="http://schemas.openxmlformats.org/officeDocument/2006/relationships/notesSlide" Target="/ppt/notesSlides/notesSlide23.xml" Id="R7e683d27480143f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2331eece884c48" /><Relationship Type="http://schemas.openxmlformats.org/officeDocument/2006/relationships/notesSlide" Target="/ppt/notesSlides/notesSlide24.xml" Id="Ra0716fadfc25478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e5af52e854fdb" /><Relationship Type="http://schemas.openxmlformats.org/officeDocument/2006/relationships/chart" Target="/ppt/slides/charts/chart33.xml" Id="R06541e74fcbe4719" /><Relationship Type="http://schemas.openxmlformats.org/officeDocument/2006/relationships/chart" Target="/ppt/slides/charts/chart34.xml" Id="R958a080764184da3" /><Relationship Type="http://schemas.openxmlformats.org/officeDocument/2006/relationships/chart" Target="/ppt/slides/charts/chart35.xml" Id="R588444b159ca477f" /><Relationship Type="http://schemas.openxmlformats.org/officeDocument/2006/relationships/chart" Target="/ppt/slides/charts/chart36.xml" Id="R7eb847dcca6541e9" /><Relationship Type="http://schemas.openxmlformats.org/officeDocument/2006/relationships/chart" Target="/ppt/slides/charts/chart37.xml" Id="Rb3af1f79ae1a40e6" /><Relationship Type="http://schemas.openxmlformats.org/officeDocument/2006/relationships/chart" Target="/ppt/slides/charts/chart38.xml" Id="R7b28a22d8a5e4b85" /><Relationship Type="http://schemas.openxmlformats.org/officeDocument/2006/relationships/chart" Target="/ppt/slides/charts/chart39.xml" Id="R6a51b0a937204e51" /><Relationship Type="http://schemas.openxmlformats.org/officeDocument/2006/relationships/notesSlide" Target="/ppt/notesSlides/notesSlide25.xml" Id="R6842300783cd4ae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6cf0ee3f2e4d0b" /><Relationship Type="http://schemas.openxmlformats.org/officeDocument/2006/relationships/chart" Target="/ppt/slides/charts/chart40.xml" Id="R09b70ef754bb487c" /><Relationship Type="http://schemas.openxmlformats.org/officeDocument/2006/relationships/chart" Target="/ppt/slides/charts/chart41.xml" Id="Rd369e55d6e2745de" /><Relationship Type="http://schemas.openxmlformats.org/officeDocument/2006/relationships/notesSlide" Target="/ppt/notesSlides/notesSlide26.xml" Id="Rb45732a581fd4a1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d18a8cdc2c42e1" /><Relationship Type="http://schemas.openxmlformats.org/officeDocument/2006/relationships/chart" Target="/ppt/slides/charts/chart42.xml" Id="Ra3a2af809c564608" /><Relationship Type="http://schemas.openxmlformats.org/officeDocument/2006/relationships/chart" Target="/ppt/slides/charts/chart43.xml" Id="Rc5d86c0b7831473e" /><Relationship Type="http://schemas.openxmlformats.org/officeDocument/2006/relationships/chart" Target="/ppt/slides/charts/chart44.xml" Id="Rad1b4057ade744bd" /><Relationship Type="http://schemas.openxmlformats.org/officeDocument/2006/relationships/notesSlide" Target="/ppt/notesSlides/notesSlide27.xml" Id="Racf1cb3efd9c474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a858ad420f4654" /><Relationship Type="http://schemas.openxmlformats.org/officeDocument/2006/relationships/chart" Target="/ppt/slides/charts/chart45.xml" Id="Ra2b2675729914de1" /><Relationship Type="http://schemas.openxmlformats.org/officeDocument/2006/relationships/chart" Target="/ppt/slides/charts/chart46.xml" Id="R9eef0d7b796f4e78" /><Relationship Type="http://schemas.openxmlformats.org/officeDocument/2006/relationships/chart" Target="/ppt/slides/charts/chart47.xml" Id="R0a60e30650d34bc7" /><Relationship Type="http://schemas.openxmlformats.org/officeDocument/2006/relationships/chart" Target="/ppt/slides/charts/chart48.xml" Id="R8a93e588ce0c405e" /><Relationship Type="http://schemas.openxmlformats.org/officeDocument/2006/relationships/chart" Target="/ppt/slides/charts/chart49.xml" Id="Ra008e6d104124a7f" /><Relationship Type="http://schemas.openxmlformats.org/officeDocument/2006/relationships/notesSlide" Target="/ppt/notesSlides/notesSlide28.xml" Id="R151cd6c132ea4e5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29c4e16274713" /><Relationship Type="http://schemas.openxmlformats.org/officeDocument/2006/relationships/chart" Target="/ppt/slides/charts/chart50.xml" Id="R55f4de9a75224b55" /><Relationship Type="http://schemas.openxmlformats.org/officeDocument/2006/relationships/chart" Target="/ppt/slides/charts/chart51.xml" Id="R31acfcc317514b5d" /><Relationship Type="http://schemas.openxmlformats.org/officeDocument/2006/relationships/chart" Target="/ppt/slides/charts/chart52.xml" Id="R3389abd6eba64af3" /><Relationship Type="http://schemas.openxmlformats.org/officeDocument/2006/relationships/chart" Target="/ppt/slides/charts/chart53.xml" Id="Re7aa3b0f11a743bf" /><Relationship Type="http://schemas.openxmlformats.org/officeDocument/2006/relationships/notesSlide" Target="/ppt/notesSlides/notesSlide29.xml" Id="R186673b358bf4e1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 xmlns:a="http://schemas.openxmlformats.org/drawingml/2006/main">
              <a:srgbClr val="30353A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 xmlns:a="http://schemas.openxmlformats.org/drawingml/2006/main">
              <a:srgbClr val="8D9399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 xmlns:a="http://schemas.openxmlformats.org/drawingml/2006/main">
              <a:noFill/>
            </a:ln>
          </c:spPr>
          <c:marker>
            <c:symbol val="none"/>
            <c:size val="2"/>
          </c:marker>
          <c:dLbls>
            <c:numFmt formatCode="[&gt;=1000]#\.##0;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Algn val="ctr"/>
        <c:noMultiLvlLbl val="0"/>
        <c:lblOffset val="10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Empréstimos</c:v>
          </c:tx>
          <c:spPr>
            <a:ln xmlns:a="http://schemas.openxmlformats.org/drawingml/2006/main"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xmlns:a="http://schemas.openxmlformats.org/drawingml/2006/main"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xmlns:a="http://schemas.openxmlformats.org/drawingml/2006/main"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xmlns:a="http://schemas.openxmlformats.org/drawingml/2006/main"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66.99363287149001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88.01231288842001</c:v>
              </c:pt>
              <c:pt idx="1">
                <c:v>110.78163928671</c:v>
              </c:pt>
              <c:pt idx="2">
                <c:v>134.72203186548</c:v>
              </c:pt>
              <c:pt idx="3">
                <c:v>142.63089658108998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126.14605664653</c:v>
              </c:pt>
              <c:pt idx="1">
                <c:v>176.82850856551002</c:v>
              </c:pt>
              <c:pt idx="2">
                <c:v>231.72616772613995</c:v>
              </c:pt>
              <c:pt idx="3">
                <c:v>275.29447198864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3.0397972983000003</c:v>
              </c:pt>
              <c:pt idx="1">
                <c:v>3.80886973898</c:v>
              </c:pt>
              <c:pt idx="2">
                <c:v>5.862133668999999</c:v>
              </c:pt>
              <c:pt idx="3">
                <c:v>7.10264044208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54.14687833335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86.50477887797999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21.275962572810005</c:v>
              </c:pt>
              <c:pt idx="1">
                <c:v>33.66266718072</c:v>
              </c:pt>
              <c:pt idx="2">
                <c:v>33.97906413177999</c:v>
              </c:pt>
              <c:pt idx="3">
                <c:v>35.19928678253001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0.4925227090800001</c:v>
              </c:pt>
              <c:pt idx="1">
                <c:v>0.22197586637999997</c:v>
              </c:pt>
              <c:pt idx="2">
                <c:v>0.08320776646000001</c:v>
              </c:pt>
              <c:pt idx="3">
                <c:v>1.63869010794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0.1363576869727525</c:v>
              </c:pt>
              <c:pt idx="1">
                <c:v>0.1270764465658316</c:v>
              </c:pt>
              <c:pt idx="2">
                <c:v>0.1247213464961755</c:v>
              </c:pt>
              <c:pt idx="3">
                <c:v>0.123004561823407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0.2262666961053475</c:v>
              </c:pt>
              <c:pt idx="1">
                <c:v>0.2101354481297849</c:v>
              </c:pt>
              <c:pt idx="2">
                <c:v>0.1999106975839517</c:v>
              </c:pt>
              <c:pt idx="3">
                <c:v>0.1984814977766555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0.324302935889369</c:v>
              </c:pt>
              <c:pt idx="1">
                <c:v>0.3354160321943587</c:v>
              </c:pt>
              <c:pt idx="2">
                <c:v>0.3438527403212231</c:v>
              </c:pt>
              <c:pt idx="3">
                <c:v>0.3830927270296855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0.0078148712258963</c:v>
              </c:pt>
              <c:pt idx="1">
                <c:v>0.0072248303475371</c:v>
              </c:pt>
              <c:pt idx="2">
                <c:v>0.0086986754495382</c:v>
              </c:pt>
              <c:pt idx="3">
                <c:v>0.0098838522851996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0.1392036507487046</c:v>
              </c:pt>
              <c:pt idx="1">
                <c:v>0.1357000256573569</c:v>
              </c:pt>
              <c:pt idx="2">
                <c:v>0.1375107973513174</c:v>
              </c:pt>
              <c:pt idx="3">
                <c:v>0.1138967454004706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0.1100905889356954</c:v>
              </c:pt>
              <c:pt idx="1">
                <c:v>0.1201733473802729</c:v>
              </c:pt>
              <c:pt idx="2">
                <c:v>0.134761578326829</c:v>
              </c:pt>
              <c:pt idx="3">
                <c:v>0.1203778317889099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0.0546973667640558</c:v>
              </c:pt>
              <c:pt idx="1">
                <c:v>0.0638528162140403</c:v>
              </c:pt>
              <c:pt idx="2">
                <c:v>0.0504206945202293</c:v>
              </c:pt>
              <c:pt idx="3">
                <c:v>0.0489824247672355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0.0012662033581786</c:v>
              </c:pt>
              <c:pt idx="1">
                <c:v>0.0004210535108172</c:v>
              </c:pt>
              <c:pt idx="2">
                <c:v>0.0001234699507355</c:v>
              </c:pt>
              <c:pt idx="3">
                <c:v>0.0022803591284361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4.272733645318789</c:v>
              </c:pt>
              <c:pt idx="1">
                <c:v>9.46084314594</c:v>
              </c:pt>
              <c:pt idx="2">
                <c:v>8.85980114902</c:v>
              </c:pt>
              <c:pt idx="3">
                <c:v>3.9604598731999996</c:v>
              </c:pt>
              <c:pt idx="4">
                <c:v>5.60231892482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4.81492197807918</c:v>
              </c:pt>
              <c:pt idx="1">
                <c:v>17.46136403561</c:v>
              </c:pt>
              <c:pt idx="2">
                <c:v>27.4106918537</c:v>
              </c:pt>
              <c:pt idx="3">
                <c:v>18.84859596717</c:v>
              </c:pt>
              <c:pt idx="4">
                <c:v>10.74513727233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15.42043709582751</c:v>
              </c:pt>
              <c:pt idx="1">
                <c:v>42.451896497339995</c:v>
              </c:pt>
              <c:pt idx="2">
                <c:v>51.61086148217</c:v>
              </c:pt>
              <c:pt idx="3">
                <c:v>21.28068209032</c:v>
              </c:pt>
              <c:pt idx="4">
                <c:v>37.7899990259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1.3295867388102478</c:v>
              </c:pt>
              <c:pt idx="1">
                <c:v>1.79225</c:v>
              </c:pt>
              <c:pt idx="2">
                <c:v>0.261</c:v>
              </c:pt>
              <c:pt idx="3">
                <c:v>0.13</c:v>
              </c:pt>
              <c:pt idx="4">
                <c:v>2.60300000007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3.339822969232049</c:v>
              </c:pt>
              <c:pt idx="1">
                <c:v>5.5087763108</c:v>
              </c:pt>
              <c:pt idx="2">
                <c:v>7.018108725239999</c:v>
              </c:pt>
              <c:pt idx="3">
                <c:v>3.2252896508299997</c:v>
              </c:pt>
              <c:pt idx="4">
                <c:v>2.07487987222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2.287448611391622</c:v>
              </c:pt>
              <c:pt idx="1">
                <c:v>1.90953225977</c:v>
              </c:pt>
              <c:pt idx="2">
                <c:v>3.5888690035</c:v>
              </c:pt>
              <c:pt idx="3">
                <c:v>1.15603067773</c:v>
              </c:pt>
              <c:pt idx="4">
                <c:v>1.21970179492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0.8743020042766778</c:v>
              </c:pt>
              <c:pt idx="1">
                <c:v>1.7879510000799999</c:v>
              </c:pt>
              <c:pt idx="2">
                <c:v>2.45979375898</c:v>
              </c:pt>
              <c:pt idx="3">
                <c:v>0.6778</c:v>
              </c:pt>
              <c:pt idx="4">
                <c:v>0.29309674031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8.542325907839587</c:v>
              </c:pt>
              <c:pt idx="1">
                <c:v>8.013988884309999</c:v>
              </c:pt>
              <c:pt idx="2">
                <c:v>5.23622188904</c:v>
              </c:pt>
              <c:pt idx="3">
                <c:v>3.15074370915</c:v>
              </c:pt>
              <c:pt idx="4">
                <c:v>2.3466058039299997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0.1045148880003745</c:v>
              </c:pt>
              <c:pt idx="1">
                <c:v>0.1070393353464678</c:v>
              </c:pt>
              <c:pt idx="2">
                <c:v>0.0832333336026609</c:v>
              </c:pt>
              <c:pt idx="3">
                <c:v>0.0755386217806311</c:v>
              </c:pt>
              <c:pt idx="4">
                <c:v>0.0893871913209126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0.1177772997436496</c:v>
              </c:pt>
              <c:pt idx="1">
                <c:v>0.1975566840907294</c:v>
              </c:pt>
              <c:pt idx="2">
                <c:v>0.2575095333365479</c:v>
              </c:pt>
              <c:pt idx="3">
                <c:v>0.359502938407396</c:v>
              </c:pt>
              <c:pt idx="4">
                <c:v>0.1714428710718376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0.3771976888269119</c:v>
              </c:pt>
              <c:pt idx="1">
                <c:v>0.480297867238432</c:v>
              </c:pt>
              <c:pt idx="2">
                <c:v>0.4848578403750447</c:v>
              </c:pt>
              <c:pt idx="3">
                <c:v>0.4058905902651357</c:v>
              </c:pt>
              <c:pt idx="4">
                <c:v>0.6029542263257991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0.0325228812813508</c:v>
              </c:pt>
              <c:pt idx="1">
                <c:v>0.0202773945001966</c:v>
              </c:pt>
              <c:pt idx="2">
                <c:v>0.0024519624881984</c:v>
              </c:pt>
              <c:pt idx="3">
                <c:v>0.0024795152951638</c:v>
              </c:pt>
              <c:pt idx="4">
                <c:v>0.0415318838746882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0.0816950581398393</c:v>
              </c:pt>
              <c:pt idx="1">
                <c:v>0.062325920193851</c:v>
              </c:pt>
              <c:pt idx="2">
                <c:v>0.0659315683233205</c:v>
              </c:pt>
              <c:pt idx="3">
                <c:v>0.0615165770812817</c:v>
              </c:pt>
              <c:pt idx="4">
                <c:v>0.0331055205165776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0.0559530397332714</c:v>
              </c:pt>
              <c:pt idx="1">
                <c:v>0.0216043180037429</c:v>
              </c:pt>
              <c:pt idx="2">
                <c:v>0.033715602190192</c:v>
              </c:pt>
              <c:pt idx="3">
                <c:v>0.0220491980546935</c:v>
              </c:pt>
              <c:pt idx="4">
                <c:v>0.0194608195570511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0.0213862093078498</c:v>
              </c:pt>
              <c:pt idx="1">
                <c:v>0.0202287559077379</c:v>
              </c:pt>
              <c:pt idx="2">
                <c:v>0.0231085135085195</c:v>
              </c:pt>
              <c:pt idx="3">
                <c:v>0.0129278112850927</c:v>
              </c:pt>
              <c:pt idx="4">
                <c:v>0.0046764732163954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0.2089529349667525</c:v>
              </c:pt>
              <c:pt idx="1">
                <c:v>0.090669724718842</c:v>
              </c:pt>
              <c:pt idx="2">
                <c:v>0.0491916461755159</c:v>
              </c:pt>
              <c:pt idx="3">
                <c:v>0.0600947478306052</c:v>
              </c:pt>
              <c:pt idx="4">
                <c:v>0.0374410141167381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4.272733645318789</c:v>
              </c:pt>
              <c:pt idx="1">
                <c:v>9.46084314594</c:v>
              </c:pt>
              <c:pt idx="2">
                <c:v>8.85980114902</c:v>
              </c:pt>
              <c:pt idx="3">
                <c:v>3.9604598731999996</c:v>
              </c:pt>
              <c:pt idx="4">
                <c:v>5.60231892482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4.81492197807918</c:v>
              </c:pt>
              <c:pt idx="1">
                <c:v>17.46136403561</c:v>
              </c:pt>
              <c:pt idx="2">
                <c:v>27.4106918537</c:v>
              </c:pt>
              <c:pt idx="3">
                <c:v>18.84859596717</c:v>
              </c:pt>
              <c:pt idx="4">
                <c:v>10.74513727233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15.42043709582751</c:v>
              </c:pt>
              <c:pt idx="1">
                <c:v>42.451896497339995</c:v>
              </c:pt>
              <c:pt idx="2">
                <c:v>51.61086148217</c:v>
              </c:pt>
              <c:pt idx="3">
                <c:v>21.28068209032</c:v>
              </c:pt>
              <c:pt idx="4">
                <c:v>37.7899990259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1.3295867388102478</c:v>
              </c:pt>
              <c:pt idx="1">
                <c:v>1.79225</c:v>
              </c:pt>
              <c:pt idx="2">
                <c:v>0.261</c:v>
              </c:pt>
              <c:pt idx="3">
                <c:v>0.13</c:v>
              </c:pt>
              <c:pt idx="4">
                <c:v>2.60300000007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3.339822969232049</c:v>
              </c:pt>
              <c:pt idx="1">
                <c:v>5.5087763108</c:v>
              </c:pt>
              <c:pt idx="2">
                <c:v>7.018108725239999</c:v>
              </c:pt>
              <c:pt idx="3">
                <c:v>3.2252896508299997</c:v>
              </c:pt>
              <c:pt idx="4">
                <c:v>2.07487987222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2.287448611391622</c:v>
              </c:pt>
              <c:pt idx="1">
                <c:v>1.90953225977</c:v>
              </c:pt>
              <c:pt idx="2">
                <c:v>3.5888690035</c:v>
              </c:pt>
              <c:pt idx="3">
                <c:v>1.15603067773</c:v>
              </c:pt>
              <c:pt idx="4">
                <c:v>1.21970179492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0.8743020042766778</c:v>
              </c:pt>
              <c:pt idx="1">
                <c:v>1.7879510000799999</c:v>
              </c:pt>
              <c:pt idx="2">
                <c:v>2.45979375898</c:v>
              </c:pt>
              <c:pt idx="3">
                <c:v>0.6778</c:v>
              </c:pt>
              <c:pt idx="4">
                <c:v>0.29309674031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8.542325907839587</c:v>
              </c:pt>
              <c:pt idx="1">
                <c:v>8.013988884309999</c:v>
              </c:pt>
              <c:pt idx="2">
                <c:v>5.23622188904</c:v>
              </c:pt>
              <c:pt idx="3">
                <c:v>3.15074370915</c:v>
              </c:pt>
              <c:pt idx="4">
                <c:v>2.3466058039299997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0.1045148880003745</c:v>
              </c:pt>
              <c:pt idx="1">
                <c:v>0.1070393353464678</c:v>
              </c:pt>
              <c:pt idx="2">
                <c:v>0.0832333336026609</c:v>
              </c:pt>
              <c:pt idx="3">
                <c:v>0.0755386217806311</c:v>
              </c:pt>
              <c:pt idx="4">
                <c:v>0.0893871913209126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0.1177772997436496</c:v>
              </c:pt>
              <c:pt idx="1">
                <c:v>0.1975566840907294</c:v>
              </c:pt>
              <c:pt idx="2">
                <c:v>0.2575095333365479</c:v>
              </c:pt>
              <c:pt idx="3">
                <c:v>0.359502938407396</c:v>
              </c:pt>
              <c:pt idx="4">
                <c:v>0.1714428710718376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0.3771976888269119</c:v>
              </c:pt>
              <c:pt idx="1">
                <c:v>0.480297867238432</c:v>
              </c:pt>
              <c:pt idx="2">
                <c:v>0.4848578403750447</c:v>
              </c:pt>
              <c:pt idx="3">
                <c:v>0.4058905902651357</c:v>
              </c:pt>
              <c:pt idx="4">
                <c:v>0.6029542263257991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0.0325228812813508</c:v>
              </c:pt>
              <c:pt idx="1">
                <c:v>0.0202773945001966</c:v>
              </c:pt>
              <c:pt idx="2">
                <c:v>0.0024519624881984</c:v>
              </c:pt>
              <c:pt idx="3">
                <c:v>0.0024795152951638</c:v>
              </c:pt>
              <c:pt idx="4">
                <c:v>0.0415318838746882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0.0816950581398393</c:v>
              </c:pt>
              <c:pt idx="1">
                <c:v>0.062325920193851</c:v>
              </c:pt>
              <c:pt idx="2">
                <c:v>0.0659315683233205</c:v>
              </c:pt>
              <c:pt idx="3">
                <c:v>0.0615165770812817</c:v>
              </c:pt>
              <c:pt idx="4">
                <c:v>0.0331055205165776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0.0559530397332714</c:v>
              </c:pt>
              <c:pt idx="1">
                <c:v>0.0216043180037429</c:v>
              </c:pt>
              <c:pt idx="2">
                <c:v>0.033715602190192</c:v>
              </c:pt>
              <c:pt idx="3">
                <c:v>0.0220491980546935</c:v>
              </c:pt>
              <c:pt idx="4">
                <c:v>0.0194608195570511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0.0213862093078498</c:v>
              </c:pt>
              <c:pt idx="1">
                <c:v>0.0202287559077379</c:v>
              </c:pt>
              <c:pt idx="2">
                <c:v>0.0231085135085195</c:v>
              </c:pt>
              <c:pt idx="3">
                <c:v>0.0129278112850927</c:v>
              </c:pt>
              <c:pt idx="4">
                <c:v>0.0046764732163954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0.2089529349667525</c:v>
              </c:pt>
              <c:pt idx="1">
                <c:v>0.090669724718842</c:v>
              </c:pt>
              <c:pt idx="2">
                <c:v>0.0491916461755159</c:v>
              </c:pt>
              <c:pt idx="3">
                <c:v>0.0600947478306052</c:v>
              </c:pt>
              <c:pt idx="4">
                <c:v>0.0374410141167381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66.99363287149001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88.01231288842001</c:v>
              </c:pt>
              <c:pt idx="1">
                <c:v>110.78163928671</c:v>
              </c:pt>
              <c:pt idx="2">
                <c:v>134.72203186548</c:v>
              </c:pt>
              <c:pt idx="3">
                <c:v>142.63089658108998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126.14605664653</c:v>
              </c:pt>
              <c:pt idx="1">
                <c:v>176.82850856551002</c:v>
              </c:pt>
              <c:pt idx="2">
                <c:v>231.72616772613995</c:v>
              </c:pt>
              <c:pt idx="3">
                <c:v>275.29447198864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3.0397972983000003</c:v>
              </c:pt>
              <c:pt idx="1">
                <c:v>3.80886973898</c:v>
              </c:pt>
              <c:pt idx="2">
                <c:v>5.862133668999999</c:v>
              </c:pt>
              <c:pt idx="3">
                <c:v>7.10264044208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54.14687833335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86.50477887797999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21.275962572810005</c:v>
              </c:pt>
              <c:pt idx="1">
                <c:v>33.66266718072</c:v>
              </c:pt>
              <c:pt idx="2">
                <c:v>33.97906413177999</c:v>
              </c:pt>
              <c:pt idx="3">
                <c:v>35.19928678253001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0.4925227090800001</c:v>
              </c:pt>
              <c:pt idx="1">
                <c:v>0.22197586637999997</c:v>
              </c:pt>
              <c:pt idx="2">
                <c:v>0.08320776646000001</c:v>
              </c:pt>
              <c:pt idx="3">
                <c:v>1.63869010794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0.1363576869727525</c:v>
              </c:pt>
              <c:pt idx="1">
                <c:v>0.1270764465658316</c:v>
              </c:pt>
              <c:pt idx="2">
                <c:v>0.1247213464961755</c:v>
              </c:pt>
              <c:pt idx="3">
                <c:v>0.123004561823407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0.2262666961053475</c:v>
              </c:pt>
              <c:pt idx="1">
                <c:v>0.2101354481297849</c:v>
              </c:pt>
              <c:pt idx="2">
                <c:v>0.1999106975839517</c:v>
              </c:pt>
              <c:pt idx="3">
                <c:v>0.1984814977766555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0.324302935889369</c:v>
              </c:pt>
              <c:pt idx="1">
                <c:v>0.3354160321943587</c:v>
              </c:pt>
              <c:pt idx="2">
                <c:v>0.3438527403212231</c:v>
              </c:pt>
              <c:pt idx="3">
                <c:v>0.3830927270296855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0.0078148712258963</c:v>
              </c:pt>
              <c:pt idx="1">
                <c:v>0.0072248303475371</c:v>
              </c:pt>
              <c:pt idx="2">
                <c:v>0.0086986754495382</c:v>
              </c:pt>
              <c:pt idx="3">
                <c:v>0.0098838522851996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0.1392036507487046</c:v>
              </c:pt>
              <c:pt idx="1">
                <c:v>0.1357000256573569</c:v>
              </c:pt>
              <c:pt idx="2">
                <c:v>0.1375107973513174</c:v>
              </c:pt>
              <c:pt idx="3">
                <c:v>0.1138967454004706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0.1100905889356954</c:v>
              </c:pt>
              <c:pt idx="1">
                <c:v>0.1201733473802729</c:v>
              </c:pt>
              <c:pt idx="2">
                <c:v>0.134761578326829</c:v>
              </c:pt>
              <c:pt idx="3">
                <c:v>0.1203778317889099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0.0546973667640558</c:v>
              </c:pt>
              <c:pt idx="1">
                <c:v>0.0638528162140403</c:v>
              </c:pt>
              <c:pt idx="2">
                <c:v>0.0504206945202293</c:v>
              </c:pt>
              <c:pt idx="3">
                <c:v>0.0489824247672355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0.0012662033581786</c:v>
              </c:pt>
              <c:pt idx="1">
                <c:v>0.0004210535108172</c:v>
              </c:pt>
              <c:pt idx="2">
                <c:v>0.0001234699507355</c:v>
              </c:pt>
              <c:pt idx="3">
                <c:v>0.0022803591284361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 w="28575">
              <a:solidFill>
                <a:srgbClr val="104B08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 w="28575">
              <a:solidFill>
                <a:srgbClr val="F078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 w="28575">
              <a:solidFill>
                <a:srgbClr val="4472C4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 w="28575">
              <a:solidFill>
                <a:srgbClr val="D7DAD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 w="28575">
              <a:solidFill>
                <a:srgbClr val="EEF0F2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Dez/23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Dez/23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xmlns:a="http://schemas.openxmlformats.org/drawingml/2006/main"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xmlns:a="http://schemas.openxmlformats.org/drawingml/2006/main"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2024FY</c:v>
          </c:tx>
          <c:spPr>
            <a:ln xmlns:a="http://schemas.openxmlformats.org/drawingml/2006/main"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xmlns:a="http://schemas.openxmlformats.org/drawingml/2006/main"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xmlns:a="http://schemas.openxmlformats.org/drawingml/2006/main" w="571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Market share</c:v>
          </c:tx>
          <c:spPr>
            <a:solidFill xmlns:a="http://schemas.openxmlformats.org/drawingml/2006/main">
              <a:srgbClr val="8D9399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14315C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cat>
            <c:strLit>
              <c:ptCount val="6"/>
              <c:pt idx="0">
                <c:v>6º  UBS BB</c:v>
              </c:pt>
              <c:pt idx="1">
                <c:v>5º  XP Investimentos</c:v>
              </c:pt>
              <c:pt idx="2">
                <c:v>4º  Santander</c:v>
              </c:pt>
              <c:pt idx="3">
                <c:v>3º  BTG Pactual</c:v>
              </c:pt>
              <c:pt idx="4">
                <c:v>2º  Itaú BBA</c:v>
              </c:pt>
              <c:pt idx="5">
                <c:v>1º  Bradesco BBI</c:v>
              </c:pt>
            </c:strLit>
          </c:cat>
          <c:val>
            <c:numLit>
              <c:formatCode>0.0%</c:formatCode>
              <c:ptCount val="6"/>
              <c:pt idx="0">
                <c:v>0.07040879184</c:v>
              </c:pt>
              <c:pt idx="1">
                <c:v>0.07825892098</c:v>
              </c:pt>
              <c:pt idx="2">
                <c:v>0.09456496776</c:v>
              </c:pt>
              <c:pt idx="3">
                <c:v>0.09952460536</c:v>
              </c:pt>
              <c:pt idx="4">
                <c:v>0.2286817511</c:v>
              </c:pt>
              <c:pt idx="5">
                <c:v>0.27789560251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2F34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8D939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D636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D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3C4248"/>
                </a:solidFill>
              </a:defRPr>
            </a:pPr>
          </a:p>
        </c:txPr>
        <c:crossAx val="48650112"/>
        <c:crossBetween val="between"/>
      </c:valAx>
      <c:spPr>
        <a:ln xmlns:a="http://schemas.openxmlformats.org/drawingml/2006/main" w="0"/>
      </c:spPr>
    </c:plotArea>
    <c:plotVisOnly val="1"/>
  </c:chart>
  <c:spPr>
    <a:ln xmlns:a="http://schemas.openxmlformats.org/drawingml/2006/main" w="0"/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Market share</c:v>
          </c:tx>
          <c:spPr>
            <a:solidFill xmlns:a="http://schemas.openxmlformats.org/drawingml/2006/main">
              <a:srgbClr val="8D9399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4315C"/>
              </a:solidFill>
            </c:spPr>
          </c:dPt>
          <c:cat>
            <c:strLit>
              <c:ptCount val="6"/>
              <c:pt idx="0">
                <c:v>6º  UBS BB</c:v>
              </c:pt>
              <c:pt idx="1">
                <c:v>5º  Santander</c:v>
              </c:pt>
              <c:pt idx="2">
                <c:v>4º  XP Investimentos</c:v>
              </c:pt>
              <c:pt idx="3">
                <c:v>3º  BTG Pactual</c:v>
              </c:pt>
              <c:pt idx="4">
                <c:v>2º  Bradesco BBI</c:v>
              </c:pt>
              <c:pt idx="5">
                <c:v>1º  Itaú BBA</c:v>
              </c:pt>
            </c:strLit>
          </c:cat>
          <c:val>
            <c:numLit>
              <c:formatCode>0.0%</c:formatCode>
              <c:ptCount val="6"/>
              <c:pt idx="0">
                <c:v>0.07451209379</c:v>
              </c:pt>
              <c:pt idx="1">
                <c:v>0.08883897779</c:v>
              </c:pt>
              <c:pt idx="2">
                <c:v>0.09451906615</c:v>
              </c:pt>
              <c:pt idx="3">
                <c:v>0.10418540682</c:v>
              </c:pt>
              <c:pt idx="4">
                <c:v>0.20545717664</c:v>
              </c:pt>
              <c:pt idx="5">
                <c:v>0.25024393331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2F34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8D939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D636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D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3C4248"/>
                </a:solidFill>
              </a:defRPr>
            </a:pPr>
          </a:p>
        </c:txPr>
        <c:crossAx val="48650112"/>
        <c:crossBetween val="between"/>
      </c:valAx>
      <c:spPr>
        <a:ln xmlns:a="http://schemas.openxmlformats.org/drawingml/2006/main" w="0"/>
      </c:spPr>
    </c:plotArea>
    <c:plotVisOnly val="1"/>
  </c:chart>
  <c:spPr>
    <a:ln xmlns:a="http://schemas.openxmlformats.org/drawingml/2006/main" w="0"/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Market share</c:v>
          </c:tx>
          <c:spPr>
            <a:solidFill xmlns:a="http://schemas.openxmlformats.org/drawingml/2006/main">
              <a:srgbClr val="8D9399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4315C"/>
              </a:solidFill>
            </c:spPr>
          </c:dPt>
          <c:cat>
            <c:strLit>
              <c:ptCount val="6"/>
              <c:pt idx="0">
                <c:v>6º  UBS BB</c:v>
              </c:pt>
              <c:pt idx="1">
                <c:v>5º  Santander</c:v>
              </c:pt>
              <c:pt idx="2">
                <c:v>4º  XP Investimentos</c:v>
              </c:pt>
              <c:pt idx="3">
                <c:v>3º  BTG Pactual</c:v>
              </c:pt>
              <c:pt idx="4">
                <c:v>2º  Bradesco BBI</c:v>
              </c:pt>
              <c:pt idx="5">
                <c:v>1º  Itaú BBA</c:v>
              </c:pt>
            </c:strLit>
          </c:cat>
          <c:val>
            <c:numLit>
              <c:formatCode>0.0%</c:formatCode>
              <c:ptCount val="6"/>
              <c:pt idx="0">
                <c:v>0.05618662601</c:v>
              </c:pt>
              <c:pt idx="1">
                <c:v>0.07146291134</c:v>
              </c:pt>
              <c:pt idx="2">
                <c:v>0.07350064594</c:v>
              </c:pt>
              <c:pt idx="3">
                <c:v>0.15507438227</c:v>
              </c:pt>
              <c:pt idx="4">
                <c:v>0.17869834915</c:v>
              </c:pt>
              <c:pt idx="5">
                <c:v>0.26599103078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2F34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8D939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D636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D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3C4248"/>
                </a:solidFill>
              </a:defRPr>
            </a:pPr>
          </a:p>
        </c:txPr>
        <c:crossAx val="48650112"/>
        <c:crossBetween val="between"/>
      </c:valAx>
      <c:spPr>
        <a:ln xmlns:a="http://schemas.openxmlformats.org/drawingml/2006/main" w="0"/>
      </c:spPr>
    </c:plotArea>
    <c:plotVisOnly val="1"/>
  </c:chart>
  <c:spPr>
    <a:ln xmlns:a="http://schemas.openxmlformats.org/drawingml/2006/main" w="0"/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Market share</c:v>
          </c:tx>
          <c:spPr>
            <a:solidFill xmlns:a="http://schemas.openxmlformats.org/drawingml/2006/main">
              <a:srgbClr val="8D9399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4315C"/>
              </a:solidFill>
            </c:spPr>
          </c:dPt>
          <c:cat>
            <c:strLit>
              <c:ptCount val="6"/>
              <c:pt idx="0">
                <c:v>6º  UBS BB</c:v>
              </c:pt>
              <c:pt idx="1">
                <c:v>5º  Santander</c:v>
              </c:pt>
              <c:pt idx="2">
                <c:v>4º  XP Investimentos</c:v>
              </c:pt>
              <c:pt idx="3">
                <c:v>3º  BTG Pactual</c:v>
              </c:pt>
              <c:pt idx="4">
                <c:v>2º  Bradesco BBI</c:v>
              </c:pt>
              <c:pt idx="5">
                <c:v>1º  Itaú BBA</c:v>
              </c:pt>
            </c:strLit>
          </c:cat>
          <c:val>
            <c:numLit>
              <c:formatCode>0.0%</c:formatCode>
              <c:ptCount val="6"/>
              <c:pt idx="0">
                <c:v>0.06424275488</c:v>
              </c:pt>
              <c:pt idx="1">
                <c:v>0.0789632087</c:v>
              </c:pt>
              <c:pt idx="2">
                <c:v>0.08384054545</c:v>
              </c:pt>
              <c:pt idx="3">
                <c:v>0.16031117313</c:v>
              </c:pt>
              <c:pt idx="4">
                <c:v>0.16255878564</c:v>
              </c:pt>
              <c:pt idx="5">
                <c:v>0.24625711518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2F34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8D939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D636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D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3C4248"/>
                </a:solidFill>
              </a:defRPr>
            </a:pPr>
          </a:p>
        </c:txPr>
        <c:crossAx val="48650112"/>
        <c:crossBetween val="between"/>
      </c:valAx>
      <c:spPr>
        <a:ln xmlns:a="http://schemas.openxmlformats.org/drawingml/2006/main" w="0"/>
      </c:spPr>
    </c:plotArea>
    <c:plotVisOnly val="1"/>
  </c:chart>
  <c:spPr>
    <a:ln xmlns:a="http://schemas.openxmlformats.org/drawingml/2006/main" w="0"/>
  </c:spPr>
</c:chartSpace>
</file>

<file path=ppt/slides/charts/chart33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QI Tech</c:v>
          </c:tx>
          <c:spPr>
            <a:ln xmlns:a="http://schemas.openxmlformats.org/drawingml/2006/main"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xmlns:a="http://schemas.openxmlformats.org/drawingml/2006/main"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xmlns:a="http://schemas.openxmlformats.org/drawingml/2006/main"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xmlns:a="http://schemas.openxmlformats.org/drawingml/2006/main"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xmlns:a="http://schemas.openxmlformats.org/drawingml/2006/main"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xmlns:a="http://schemas.openxmlformats.org/drawingml/2006/main"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Kanastra / Limine</c:v>
              </c:pt>
              <c:pt idx="1">
                <c:v>Itaú</c:v>
              </c:pt>
              <c:pt idx="2">
                <c:v>Daycoval</c:v>
              </c:pt>
              <c:pt idx="3">
                <c:v>Bradesco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12.84615693169</c:v>
              </c:pt>
              <c:pt idx="1">
                <c:v>27.05634936661</c:v>
              </c:pt>
              <c:pt idx="2">
                <c:v>49.75417439041</c:v>
              </c:pt>
              <c:pt idx="3">
                <c:v>49.77770817222</c:v>
              </c:pt>
              <c:pt idx="4">
                <c:v>56.87136007691</c:v>
              </c:pt>
              <c:pt idx="5">
                <c:v>107.91817098489999</c:v>
              </c:pt>
              <c:pt idx="6">
                <c:v>116.97439427594999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Kanastra / Limine</c:v>
              </c:pt>
              <c:pt idx="1">
                <c:v>Itaú</c:v>
              </c:pt>
              <c:pt idx="2">
                <c:v>Tercon Investimentos</c:v>
              </c:pt>
              <c:pt idx="3">
                <c:v>Genial</c:v>
              </c:pt>
              <c:pt idx="4">
                <c:v>Oliveira Trust</c:v>
              </c:pt>
              <c:pt idx="5">
                <c:v>Bradesco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10.61117776359</c:v>
              </c:pt>
              <c:pt idx="1">
                <c:v>20.5830639885</c:v>
              </c:pt>
              <c:pt idx="2">
                <c:v>21.696113631950002</c:v>
              </c:pt>
              <c:pt idx="3">
                <c:v>26.87573463003</c:v>
              </c:pt>
              <c:pt idx="4">
                <c:v>35.02222544035998</c:v>
              </c:pt>
              <c:pt idx="5">
                <c:v>39.85656848075</c:v>
              </c:pt>
              <c:pt idx="6">
                <c:v>78.74983410723001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A7ACB0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Kanastra / Limine</c:v>
              </c:pt>
              <c:pt idx="1">
                <c:v>Itaú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19.494658191289997</c:v>
              </c:pt>
              <c:pt idx="1">
                <c:v>20.405586732159996</c:v>
              </c:pt>
              <c:pt idx="2">
                <c:v>48.43408476549</c:v>
              </c:pt>
              <c:pt idx="3">
                <c:v>55.81924378400999</c:v>
              </c:pt>
              <c:pt idx="4">
                <c:v>71.90092760434999</c:v>
              </c:pt>
              <c:pt idx="5">
                <c:v>107.26541902169001</c:v>
              </c:pt>
              <c:pt idx="6">
                <c:v>115.31244022541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3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 xmlns:a="http://schemas.openxmlformats.org/drawingml/2006/main"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5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Dez/23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0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66.99363287149001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88.01231288842001</c:v>
              </c:pt>
              <c:pt idx="1">
                <c:v>110.78163928671</c:v>
              </c:pt>
              <c:pt idx="2">
                <c:v>134.72203186548</c:v>
              </c:pt>
              <c:pt idx="3">
                <c:v>142.63089658108998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126.14605664653</c:v>
              </c:pt>
              <c:pt idx="1">
                <c:v>176.82850856551002</c:v>
              </c:pt>
              <c:pt idx="2">
                <c:v>231.72616772613995</c:v>
              </c:pt>
              <c:pt idx="3">
                <c:v>275.29447198864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3.0397972983000003</c:v>
              </c:pt>
              <c:pt idx="1">
                <c:v>3.80886973898</c:v>
              </c:pt>
              <c:pt idx="2">
                <c:v>5.862133668999999</c:v>
              </c:pt>
              <c:pt idx="3">
                <c:v>7.10264044208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54.14687833335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86.50477887797999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21.275962572810005</c:v>
              </c:pt>
              <c:pt idx="1">
                <c:v>33.66266718072</c:v>
              </c:pt>
              <c:pt idx="2">
                <c:v>33.97906413177999</c:v>
              </c:pt>
              <c:pt idx="3">
                <c:v>35.19928678253001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0.4925227090800001</c:v>
              </c:pt>
              <c:pt idx="1">
                <c:v>0.22197586637999997</c:v>
              </c:pt>
              <c:pt idx="2">
                <c:v>0.08320776646000001</c:v>
              </c:pt>
              <c:pt idx="3">
                <c:v>1.63869010794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1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0.1363576869727525</c:v>
              </c:pt>
              <c:pt idx="1">
                <c:v>0.1270764465658316</c:v>
              </c:pt>
              <c:pt idx="2">
                <c:v>0.1247213464961755</c:v>
              </c:pt>
              <c:pt idx="3">
                <c:v>0.123004561823407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0.2262666961053475</c:v>
              </c:pt>
              <c:pt idx="1">
                <c:v>0.2101354481297849</c:v>
              </c:pt>
              <c:pt idx="2">
                <c:v>0.1999106975839517</c:v>
              </c:pt>
              <c:pt idx="3">
                <c:v>0.1984814977766555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0.324302935889369</c:v>
              </c:pt>
              <c:pt idx="1">
                <c:v>0.3354160321943587</c:v>
              </c:pt>
              <c:pt idx="2">
                <c:v>0.3438527403212231</c:v>
              </c:pt>
              <c:pt idx="3">
                <c:v>0.3830927270296855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0.0078148712258963</c:v>
              </c:pt>
              <c:pt idx="1">
                <c:v>0.0072248303475371</c:v>
              </c:pt>
              <c:pt idx="2">
                <c:v>0.0086986754495382</c:v>
              </c:pt>
              <c:pt idx="3">
                <c:v>0.0098838522851996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0.1392036507487046</c:v>
              </c:pt>
              <c:pt idx="1">
                <c:v>0.1357000256573569</c:v>
              </c:pt>
              <c:pt idx="2">
                <c:v>0.1375107973513174</c:v>
              </c:pt>
              <c:pt idx="3">
                <c:v>0.1138967454004706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0.1100905889356954</c:v>
              </c:pt>
              <c:pt idx="1">
                <c:v>0.1201733473802729</c:v>
              </c:pt>
              <c:pt idx="2">
                <c:v>0.134761578326829</c:v>
              </c:pt>
              <c:pt idx="3">
                <c:v>0.1203778317889099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0.0546973667640558</c:v>
              </c:pt>
              <c:pt idx="1">
                <c:v>0.0638528162140403</c:v>
              </c:pt>
              <c:pt idx="2">
                <c:v>0.0504206945202293</c:v>
              </c:pt>
              <c:pt idx="3">
                <c:v>0.0489824247672355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0.0012662033581786</c:v>
              </c:pt>
              <c:pt idx="1">
                <c:v>0.0004210535108172</c:v>
              </c:pt>
              <c:pt idx="2">
                <c:v>0.0001234699507355</c:v>
              </c:pt>
              <c:pt idx="3">
                <c:v>0.0022803591284361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4.272733645318789</c:v>
              </c:pt>
              <c:pt idx="1">
                <c:v>9.46084314594</c:v>
              </c:pt>
              <c:pt idx="2">
                <c:v>8.85980114902</c:v>
              </c:pt>
              <c:pt idx="3">
                <c:v>3.9604598731999996</c:v>
              </c:pt>
              <c:pt idx="4">
                <c:v>5.60231892482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4.81492197807918</c:v>
              </c:pt>
              <c:pt idx="1">
                <c:v>17.46136403561</c:v>
              </c:pt>
              <c:pt idx="2">
                <c:v>27.4106918537</c:v>
              </c:pt>
              <c:pt idx="3">
                <c:v>18.84859596717</c:v>
              </c:pt>
              <c:pt idx="4">
                <c:v>10.74513727233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15.42043709582751</c:v>
              </c:pt>
              <c:pt idx="1">
                <c:v>42.451896497339995</c:v>
              </c:pt>
              <c:pt idx="2">
                <c:v>51.61086148217</c:v>
              </c:pt>
              <c:pt idx="3">
                <c:v>21.28068209032</c:v>
              </c:pt>
              <c:pt idx="4">
                <c:v>37.7899990259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1.3295867388102478</c:v>
              </c:pt>
              <c:pt idx="1">
                <c:v>1.79225</c:v>
              </c:pt>
              <c:pt idx="2">
                <c:v>0.261</c:v>
              </c:pt>
              <c:pt idx="3">
                <c:v>0.13</c:v>
              </c:pt>
              <c:pt idx="4">
                <c:v>2.60300000007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3.339822969232049</c:v>
              </c:pt>
              <c:pt idx="1">
                <c:v>5.5087763108</c:v>
              </c:pt>
              <c:pt idx="2">
                <c:v>7.018108725239999</c:v>
              </c:pt>
              <c:pt idx="3">
                <c:v>3.2252896508299997</c:v>
              </c:pt>
              <c:pt idx="4">
                <c:v>2.07487987222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2.287448611391622</c:v>
              </c:pt>
              <c:pt idx="1">
                <c:v>1.90953225977</c:v>
              </c:pt>
              <c:pt idx="2">
                <c:v>3.5888690035</c:v>
              </c:pt>
              <c:pt idx="3">
                <c:v>1.15603067773</c:v>
              </c:pt>
              <c:pt idx="4">
                <c:v>1.21970179492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0.8743020042766778</c:v>
              </c:pt>
              <c:pt idx="1">
                <c:v>1.7879510000799999</c:v>
              </c:pt>
              <c:pt idx="2">
                <c:v>2.45979375898</c:v>
              </c:pt>
              <c:pt idx="3">
                <c:v>0.6778</c:v>
              </c:pt>
              <c:pt idx="4">
                <c:v>0.29309674031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8.542325907839587</c:v>
              </c:pt>
              <c:pt idx="1">
                <c:v>8.013988884309999</c:v>
              </c:pt>
              <c:pt idx="2">
                <c:v>5.23622188904</c:v>
              </c:pt>
              <c:pt idx="3">
                <c:v>3.15074370915</c:v>
              </c:pt>
              <c:pt idx="4">
                <c:v>2.3466058039299997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3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0.1045148880003745</c:v>
              </c:pt>
              <c:pt idx="1">
                <c:v>0.1070393353464678</c:v>
              </c:pt>
              <c:pt idx="2">
                <c:v>0.0832333336026609</c:v>
              </c:pt>
              <c:pt idx="3">
                <c:v>0.0755386217806311</c:v>
              </c:pt>
              <c:pt idx="4">
                <c:v>0.0893871913209126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0.1177772997436496</c:v>
              </c:pt>
              <c:pt idx="1">
                <c:v>0.1975566840907294</c:v>
              </c:pt>
              <c:pt idx="2">
                <c:v>0.2575095333365479</c:v>
              </c:pt>
              <c:pt idx="3">
                <c:v>0.359502938407396</c:v>
              </c:pt>
              <c:pt idx="4">
                <c:v>0.1714428710718376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0.3771976888269119</c:v>
              </c:pt>
              <c:pt idx="1">
                <c:v>0.480297867238432</c:v>
              </c:pt>
              <c:pt idx="2">
                <c:v>0.4848578403750447</c:v>
              </c:pt>
              <c:pt idx="3">
                <c:v>0.4058905902651357</c:v>
              </c:pt>
              <c:pt idx="4">
                <c:v>0.6029542263257991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0.0325228812813508</c:v>
              </c:pt>
              <c:pt idx="1">
                <c:v>0.0202773945001966</c:v>
              </c:pt>
              <c:pt idx="2">
                <c:v>0.0024519624881984</c:v>
              </c:pt>
              <c:pt idx="3">
                <c:v>0.0024795152951638</c:v>
              </c:pt>
              <c:pt idx="4">
                <c:v>0.0415318838746882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0.0816950581398393</c:v>
              </c:pt>
              <c:pt idx="1">
                <c:v>0.062325920193851</c:v>
              </c:pt>
              <c:pt idx="2">
                <c:v>0.0659315683233205</c:v>
              </c:pt>
              <c:pt idx="3">
                <c:v>0.0615165770812817</c:v>
              </c:pt>
              <c:pt idx="4">
                <c:v>0.0331055205165776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0.0559530397332714</c:v>
              </c:pt>
              <c:pt idx="1">
                <c:v>0.0216043180037429</c:v>
              </c:pt>
              <c:pt idx="2">
                <c:v>0.033715602190192</c:v>
              </c:pt>
              <c:pt idx="3">
                <c:v>0.0220491980546935</c:v>
              </c:pt>
              <c:pt idx="4">
                <c:v>0.0194608195570511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0.0213862093078498</c:v>
              </c:pt>
              <c:pt idx="1">
                <c:v>0.0202287559077379</c:v>
              </c:pt>
              <c:pt idx="2">
                <c:v>0.0231085135085195</c:v>
              </c:pt>
              <c:pt idx="3">
                <c:v>0.0129278112850927</c:v>
              </c:pt>
              <c:pt idx="4">
                <c:v>0.0046764732163954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0.2089529349667525</c:v>
              </c:pt>
              <c:pt idx="1">
                <c:v>0.090669724718842</c:v>
              </c:pt>
              <c:pt idx="2">
                <c:v>0.0491916461755159</c:v>
              </c:pt>
              <c:pt idx="3">
                <c:v>0.0600947478306052</c:v>
              </c:pt>
              <c:pt idx="4">
                <c:v>0.0374410141167381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302FE5-BB8B-4D5D-892F-65A03134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2790C-C098-4727-9C02-FCDA1BFE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3C0E87-0F22-464A-BDEA-3ED8214D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248A6F-5686-45C6-BC03-D9D00566B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616B95-20DB-4CC0-A566-F98793F9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1047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17228041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172240-DDA3-43B8-86C3-203D5663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1A5B0-4069-4381-83B3-4F940332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E7D035-41D2-4992-AB34-5CD0CA24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521330-2A42-4D96-B622-0ED7F349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93E509-16FB-45E2-A9E9-10C83FE6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e3abe3d0a84e8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4F3100-2EFD-420E-B36B-09187F53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639267-1A74-4763-8B9B-D97F9415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a46e62bf4d34f25"/>
          </a:graphicData>
        </a:graphic>
      </p:graphicFrame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096000" y="4914900"/>
          <a:ext xmlns:a="http://schemas.openxmlformats.org/drawingml/2006/main" cx="5524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3d0e8b8a4844171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CE4A6C-9654-431C-B83D-E24ED324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62B59D-26C9-41FC-BCEF-8EA9B678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95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895FC7-3EC2-4156-B7C6-AF203C2F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047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86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19666890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D333F4-9B51-45DC-9DC6-48D9DC07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991225-85F8-47A5-938A-0D0B9CF3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50EF51-102E-4583-8552-8BF70FB9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A2E035-85F4-43DC-825F-F3327937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2F3CAA-F66B-46E7-88FB-9DD52915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5240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aee549efdea4a2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496229-2245-4594-81AB-D72E8F54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5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5240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363572338c943a1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31C354-78A6-4228-9C24-CFA9DDE3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48125"/>
            <a:ext cx="647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p:txBody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2857500" y="4286250"/>
          <a:ext xmlns:a="http://schemas.openxmlformats.org/drawingml/2006/main" cx="6477000" cy="174307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06931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61E9AB-3AAB-4D60-A962-0359578B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D8600-051A-44EB-A9B1-A9516BD2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Abertura PF/PJ e cenário sem TAPSO/Petrobras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FA90E-CFF1-47F3-BE28-1F26255E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PF/PJ: 24 CNPJs; PL dos fundos, Top1 mensal &lt;=1%; Sólido e BizCapital em Financeiro. Emissões por CNPJ; FIC fora; 2023 escalado ANBIMA.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893FC-6A38-45B2-9CDC-85DDAE61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9A593-2060-4D9A-9ED7-7335A4F8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p:txBody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1495425"/>
          <a:ext xmlns:a="http://schemas.openxmlformats.org/drawingml/2006/main" cx="523875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89129e814ba4d7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45B6F-20C4-49D6-9BC3-5A08A966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57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p:txBody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6381750" y="1495425"/>
          <a:ext xmlns:a="http://schemas.openxmlformats.org/drawingml/2006/main" cx="523875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bfd1b58e1af4562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A61F68-14C2-42D0-B53D-006B46FD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FBE62-BD10-4639-B789-B1FD4768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0D87BE-32AB-4612-B3E5-E0C2CC50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3B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3A7B0F-BD5F-4803-96B6-EB1A7027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40C4AB-E80B-419B-ABEB-BBD76BA6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9078F1-5E06-47BD-AE40-CC0BC454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EAED78-5235-4223-A570-3669391C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721392-2C47-427A-9F53-8C9A2495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BE602E-0B58-437A-A3DA-BE9D600F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30A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5063EB-9E03-4318-9F56-22CEBDC1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BD86D3-B894-4005-BAD6-19F0FBEB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9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D7763B-CD4E-488C-8F18-459E63FA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56C7A7-6C8D-494B-BE67-899C8D22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72C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8378BB-CD34-4835-9D88-6C8E74D1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PF/PJ*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635A71-6306-4A65-A146-C1F77DC6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p:txBody>
      </p:sp>
      <p:graphicFrame>
        <p:nvGraphicFramePr>
          <p:cNvPr id="61" name="Chart"/>
          <p:cNvGraphicFramePr/>
          <p:nvPr/>
        </p:nvGraphicFramePr>
        <p:xfrm>
          <a:off xmlns:a="http://schemas.openxmlformats.org/drawingml/2006/main" x="571500" y="4067175"/>
          <a:ext xmlns:a="http://schemas.openxmlformats.org/drawingml/2006/main" cx="52387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71b0e3161746cd"/>
          </a:graphicData>
        </a:graphic>
      </p:graphicFrame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AE2C19-A79F-4F3D-9BCA-DB4B4969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2905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p:txBody>
      </p:sp>
      <p:graphicFrame>
        <p:nvGraphicFramePr>
          <p:cNvPr id="63" name="Chart"/>
          <p:cNvGraphicFramePr/>
          <p:nvPr/>
        </p:nvGraphicFramePr>
        <p:xfrm>
          <a:off xmlns:a="http://schemas.openxmlformats.org/drawingml/2006/main" x="6381750" y="4067175"/>
          <a:ext xmlns:a="http://schemas.openxmlformats.org/drawingml/2006/main" cx="52387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a0686da981499b"/>
          </a:graphicData>
        </a:graphic>
      </p:graphicFrame>
    </p:spTree>
    <p:extLst>
      <p:ext uri="{BB962C8B-B14F-4D97-AF65-F5344CB8AC3E}">
        <p14:creationId xmlns:p14="http://schemas.microsoft.com/office/powerpoint/2010/main" val="9489900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62EA3B-7A86-4D48-9D99-62CAE42E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15D2C7-503D-4633-9F20-41677F31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é 60,3% e PF/PJ 4,2% no 1S26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ABD34E-5762-4587-B040-5439D1D2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ANBIMA. Setores ex-FIC; 1S26 totaliza R$ 62,7 bi e reconcilia com R$ 65,5 bi incluindo R$ 2,8 bi de FIC-FIDC.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9277E6-7D2A-41A0-8983-DA52E6F7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0EF326-DDA2-4670-B7B9-772767F8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1562100"/>
          <a:ext xmlns:a="http://schemas.openxmlformats.org/drawingml/2006/main" cx="5238750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2378e6bd8e400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402148-8AD4-4902-BF93-C1C58AB9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5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562100"/>
          <a:ext xmlns:a="http://schemas.openxmlformats.org/drawingml/2006/main" cx="5238750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e9c52ef81bf41c3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1074BF-B3CA-44B7-A102-58AD8403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analítica · taxonomia congelada em jun/26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571500" y="3810000"/>
          <a:ext xmlns:a="http://schemas.openxmlformats.org/drawingml/2006/main" cx="11049000" cy="2038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18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Pulv.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1.902,3%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Precatórios/ações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-35,7%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Multicedente/multissacado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Recuperação/NP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-56,8%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5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ex-FIC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106,4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487728-7880-4166-B27D-0F3C5D56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6AD8A5-395E-4CA7-A78D-7D531609E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* Match por CNPJ do fundo e depois da classe; FIC fora; emissor não localizado=N/D; 2023 escalado ao total ANBIMA.</a:t>
            </a:r>
          </a:p>
        </p:txBody>
      </p:sp>
    </p:spTree>
    <p:extLst>
      <p:ext uri="{BB962C8B-B14F-4D97-AF65-F5344CB8AC3E}">
        <p14:creationId xmlns:p14="http://schemas.microsoft.com/office/powerpoint/2010/main" val="17936461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11A4CD-7953-411E-B38F-87B6D9A3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Taxonomia por CNPJ | Critérios aplicados ao saldo e às emissões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C7551-676A-4BA6-8A9B-3268939E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 · cenário sem TAPSO/Petrobras · série retroaplicada com taxonomia congelada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981E7-20BC-46C8-B106-B1CFB5A1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regulamentos integrais e ledgers aprovados. Regras e prompt de atualização no pacote da revisão.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9DF20B-3693-43CD-B2B3-20EF7E66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BB0A5D-F366-41BD-BB8F-840DC880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33b5285cc104f5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E966C-90A1-4B2C-ADD9-72D8F25F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c2fd3f41ba44d1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857250" y="5219700"/>
          <a:ext xmlns:a="http://schemas.openxmlformats.org/drawingml/2006/main" cx="10477500" cy="42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5cef0fa244450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D7B953-1C3C-4356-B72E-FF3B861B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76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Oito blocos fecham R$ 718,6 bi; PF/PJ soma R$ 7,1 bi (1,0%).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D71E68-8363-4785-A8E5-59F94F82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40000"/>
            <a:ext cx="10858500" cy="6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PF/PJ: crédito direto confirmado em regulamento + Top1 &lt;=1%; 24 CNPJs; Sólido/BizCapital em Financeiro; PL dos fundos, exposição e devedores N/D.
* Precatórios: Outros/Poder Público. Multicedente: Outros/Multicarteira Outros ou Multicedente/Multissacado. Recuperação: Outros/Recuperação.
* Emissões: mesmas listas de CNPJ; fundo &gt; classe &gt; N/D; FIC fora; 2023 escalado ANBIMA.</a:t>
            </a:r>
          </a:p>
        </p:txBody>
      </p:sp>
    </p:spTree>
    <p:extLst>
      <p:ext uri="{BB962C8B-B14F-4D97-AF65-F5344CB8AC3E}">
        <p14:creationId xmlns:p14="http://schemas.microsoft.com/office/powerpoint/2010/main" val="15215106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56E8CA-222B-4C07-8E62-CA4D2C11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571A19-44B7-44D9-9F3E-C196A3D4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7CE9BD-71CD-47F4-B5EE-B644671B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EE8B31-3EF3-41FB-9508-CE860D5F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2445A-E133-43C4-8C5B-66DCAD47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aa05e1fa274bd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2EBB07-1CC9-42C3-BEFB-8936A759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609b0b9eb340e2"/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858250" y="1200150"/>
          <a:ext xmlns:a="http://schemas.openxmlformats.org/drawingml/2006/main" cx="2762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bbc9ad6bc044f1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4E422E-7847-4281-A82A-FEDB4EC7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10531814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795EF6-D473-44ED-94A4-896601C1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774BE7-F485-4249-8758-28770AA6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B011A0-E01D-45D5-B48D-0C18EE06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37CFAC-6B55-4D53-A3EC-69FFEF0F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642261-83C7-45A1-98BD-8A3C31B5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2b8ddd51a044e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565DE-D1C1-45B9-B3C6-226DF1E5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d8ffd50790c429d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0CAF52-8F93-45E7-A3EE-B5C386D1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FC1019-2EAF-495D-980E-F799FFA6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7a1ad4b0f574036"/>
          </a:graphicData>
        </a:graphic>
      </p:graphicFrame>
    </p:spTree>
    <p:extLst>
      <p:ext uri="{BB962C8B-B14F-4D97-AF65-F5344CB8AC3E}">
        <p14:creationId xmlns:p14="http://schemas.microsoft.com/office/powerpoint/2010/main" val="10248593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9462D-05C6-4D0F-B0A7-8AC5BC19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B19639-5693-42A1-B4CD-2B8A23A0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5CCC4-E6D9-44E1-B07F-8F03D44C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7E10B0-39F6-4078-BD30-B798F535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429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429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416090-9BBA-4212-B618-D2367369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p:txBody>
      </p:sp>
    </p:spTree>
    <p:extLst>
      <p:ext uri="{BB962C8B-B14F-4D97-AF65-F5344CB8AC3E}">
        <p14:creationId xmlns:p14="http://schemas.microsoft.com/office/powerpoint/2010/main" val="4340291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A35FAA-362A-461F-8585-1210FF95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7DE7B6-FB49-487A-9474-203FDCC0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64D60-1450-4DD1-BDBE-34814CA1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D11032-EA65-4209-ABFF-03DB5053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9A098-F884-4909-808C-37D6EBDB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e0ecceebcf46b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614F27-CAA5-4607-A4B8-FE6AF40D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e0e46a1503432a"/>
          </a:graphicData>
        </a:graphic>
      </p:graphicFrame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7715250" y="4000500"/>
          <a:ext xmlns:a="http://schemas.openxmlformats.org/drawingml/2006/main" cx="3905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905f890f73417b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B1CD74-6825-4FF9-86A2-549A05F0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32" name=""/>
          <p:cNvGraphicFramePr/>
          <p:nvPr/>
        </p:nvGraphicFramePr>
        <p:xfrm>
          <a:off xmlns:a="http://schemas.openxmlformats.org/drawingml/2006/main" x="571500" y="4286250"/>
          <a:ext xmlns:a="http://schemas.openxmlformats.org/drawingml/2006/main" cx="11049000" cy="1619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D46C5D-6397-4C8F-917D-44F26EC4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p:txBody>
      </p:sp>
    </p:spTree>
    <p:extLst>
      <p:ext uri="{BB962C8B-B14F-4D97-AF65-F5344CB8AC3E}">
        <p14:creationId xmlns:p14="http://schemas.microsoft.com/office/powerpoint/2010/main" val="4706768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8BE547-F3FB-4A79-9A34-1A32A091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9C4CA5-4093-4467-8A0D-4ECA844B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7721B-5685-41C6-A9F7-9187B7F8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939987-5A15-4746-BB44-EDC5BAE8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42526D-C5D0-4B03-A5B7-3BC5DFF1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1db08e01c64d2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8C3579-3850-476A-831A-1FCA6252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bc44c7ed99487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894E98-AEF3-47EA-A93B-C82286AB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c536737e7b4029"/>
          </a:graphicData>
        </a:graphic>
      </p:graphicFrame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048125" y="5486400"/>
          <a:ext xmlns:a="http://schemas.openxmlformats.org/drawingml/2006/main" cx="40957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99cf40a67f4ef6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88C66E-6370-4215-9422-8F86090F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0547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9CD474-B742-4279-B8D5-B8838D092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1047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D411DC-7CDB-4F2A-89B9-5AF0CB4F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047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2D7DDB-6A1A-4C2B-92A8-4A8BC4FA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DB5519-165C-4273-B077-2BEB25F1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1047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9406DC-2702-4F74-931D-A6A16320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047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D74F10-1703-4344-B0AC-AB3CBCC0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505F39-69A8-4A8D-95E3-F5252BB2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1047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A521DA-FAEE-44A7-B3CB-A2A03DD7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047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6227962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8B117-7528-475C-8C71-F3AF669E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1A382E-2DA6-4BCE-8E3B-64AB4ECB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92CD9D-3182-4A2A-829D-F59E0AFA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3C2152-D20C-4E70-AF38-5E331CE8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E941CE-69A3-464B-8F29-CD3CA506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7632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88F6D-6786-4D0D-B764-CAC0835AA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724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445BD0-6A88-49C1-9C4B-B96AD12D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57350"/>
            <a:ext cx="102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D2DB65-9391-4903-87AA-0EA51F0D6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8625" y="1724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E75B57-19C8-48A3-A636-F3AF24DA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2450" y="1657350"/>
            <a:ext cx="102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50C15-4820-4166-AAEC-51C9F380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375" y="1724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9A0A6A-694E-4356-AA55-2611906C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7200" y="1657350"/>
            <a:ext cx="102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8071EB-3B97-4DEB-9C22-B15B1A1F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p:txBody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952625"/>
          <a:ext xmlns:a="http://schemas.openxmlformats.org/drawingml/2006/main" cx="1104900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3fbf2d57454d8e"/>
          </a:graphicData>
        </a:graphic>
      </p:graphicFrame>
    </p:spTree>
    <p:extLst>
      <p:ext uri="{BB962C8B-B14F-4D97-AF65-F5344CB8AC3E}">
        <p14:creationId xmlns:p14="http://schemas.microsoft.com/office/powerpoint/2010/main" val="130962404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859F74-56C2-4EBB-9D31-DEAE228A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3758C7-FD55-4290-82DF-79FB541A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73FDF-14CC-429C-B097-4E99B160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63798E-FCBA-4D65-A423-F219066D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37C9BC-D51D-4333-9C86-25C3D742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DC363B-0BE4-4944-B48F-AA884BF5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047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0238737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359B63D-9F06-43D5-9ACF-3EE3DC1C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048256"/>
            <a:ext cx="10424160" cy="2266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0"/>
              </a:spcAft>
            </a:pPr>
            <a:r>
              <a:rPr sz="1100" b="1">
                <a:solidFill>
                  <a:srgbClr val="E36C0A"/>
                </a:solidFill>
                <a:latin typeface="Arial"/>
                <a:ea typeface="Arial"/>
                <a:cs typeface="Arial"/>
              </a:rPr>
              <a:t>Ranking ANBIMA · junho/2026</a:t>
            </a:r>
          </a:p>
          <a:p xmlns:a="http://schemas.openxmlformats.org/drawingml/2006/main">
            <a:pPr algn="l">
              <a:spcAft>
                <a:spcPts val="9"/>
              </a:spcAft>
            </a:pPr>
            <a:r>
              <a:rPr sz="30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Posição competitiva do Itaú BBA em renda fixa e híbridos</a:t>
            </a:r>
          </a:p>
          <a:p xmlns:a="http://schemas.openxmlformats.org/drawingml/2006/main">
            <a:pPr algn="l">
              <a:spcAft>
                <a:spcPts val="15"/>
              </a:spcAft>
            </a:pPr>
            <a:r>
              <a:rPr sz="1400">
                <a:solidFill>
                  <a:srgbClr val="5D6369"/>
                </a:solidFill>
                <a:latin typeface="Arial"/>
                <a:ea typeface="Arial"/>
                <a:cs typeface="Arial"/>
              </a:rPr>
              <a:t>Originação e distribuição · acumulado de 2026 e últimos 12 meses</a:t>
            </a:r>
          </a:p>
          <a:p xmlns:a="http://schemas.openxmlformats.org/drawingml/2006/main">
            <a:pPr algn="l"/>
            <a:r>
              <a:rPr sz="1100">
                <a:solidFill>
                  <a:srgbClr val="8D9399"/>
                </a:solidFill>
                <a:latin typeface="Arial"/>
                <a:ea typeface="Arial"/>
                <a:cs typeface="Arial"/>
              </a:rPr>
              <a:t>Ranking ANBIMA de Renda Fixa e Híbridos — referência junho/2026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560FE67-E8F9-4DFD-8AE7-BB3483BE4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53328"/>
            <a:ext cx="104775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Análise Setorial de Crédito — Itaú BBA</a:t>
            </a:r>
          </a:p>
        </p:txBody>
      </p:sp>
    </p:spTree>
    <p:extLst>
      <p:ext uri="{BB962C8B-B14F-4D97-AF65-F5344CB8AC3E}">
        <p14:creationId xmlns:p14="http://schemas.microsoft.com/office/powerpoint/2010/main" val="133789252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F204048-032B-407E-9BF5-52EBF402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56032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E36C0A"/>
                </a:solidFill>
                <a:latin typeface="Arial"/>
                <a:ea typeface="Arial"/>
                <a:cs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77476F4-8A73-4412-A705-51BBE123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21207"/>
            <a:ext cx="110642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Sumário executivo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F49265C-3463-46E5-90F9-DB589383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344168"/>
            <a:ext cx="4114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6C0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AC3FC50-EF70-4DFD-B515-4404E816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298448"/>
            <a:ext cx="10607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7B1DAF1-8D98-466D-A6BA-1F3BC9FA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039111"/>
            <a:ext cx="4114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6C0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94CA666-A96B-47CA-BFC4-A944016B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93391"/>
            <a:ext cx="10607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4C7FF52-BE4C-4DC0-962D-350C5DF6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34055"/>
            <a:ext cx="4114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6C0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CC389B1-1F22-4FA6-AEF4-6D4DCEEF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88335"/>
            <a:ext cx="10607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E102431-133B-4830-A633-5220D87F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428999"/>
            <a:ext cx="4114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6C0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59B4A97-10D6-4247-8278-B88784DC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83279"/>
            <a:ext cx="10607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ECB0774-BD7C-49F2-801D-139333E3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23943"/>
            <a:ext cx="4114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6C0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02EF0CC-7093-4D2C-8B78-1D82A9C2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78223"/>
            <a:ext cx="10607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9FAA44F-420D-4DFE-B117-93C12AB80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818887"/>
            <a:ext cx="4114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6C0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6ECCC41-BEE9-461C-90FC-5060161E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73167"/>
            <a:ext cx="10607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5755A24-A542-4636-B4EB-88045912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513831"/>
            <a:ext cx="4114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6C0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55FA2E5-329C-4F0E-9F08-662B4DE3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68111"/>
            <a:ext cx="10607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CF4FE85-F79D-4C88-9BA0-B359029B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088"/>
            <a:ext cx="104775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DD83C60-E821-40C2-B6D9-6610FE6D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9944"/>
            <a:ext cx="384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9033103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CC9EF81-A5F5-4957-9CB1-EF7DFE6D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56032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E36C0A"/>
                </a:solidFill>
                <a:latin typeface="Arial"/>
                <a:ea typeface="Arial"/>
                <a:cs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C908AB1-A1C5-4BFD-B96D-CB15F4C9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21207"/>
            <a:ext cx="110642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911C7E8-1C36-46B6-BC0B-83B2E01C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280160"/>
            <a:ext cx="2615184" cy="1060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8EBDAB0-390C-4A59-B9F9-5A5FFF6E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417319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Volume de originação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C9EB48-0A60-4680-A181-6A2BFA8FA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655063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R$ 51,0 bi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6BC460D-7F59-47FB-ABC0-F044C8E6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057400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acumulado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B258CE4-BEB3-4196-8BB8-97860165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280160"/>
            <a:ext cx="2615184" cy="1060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C52BA32-F7B4-48A6-B76A-6C5F4632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417319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Participação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EDD533-0B72-4070-AF43-F0FE341F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655063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22,9%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9160A7C-8BC6-4BFC-A90C-242C7590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2057400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do mercado apurado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A1F6026-F171-4BD9-8284-5B78EC5F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056" y="1280160"/>
            <a:ext cx="2615184" cy="1060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F36FF8C-696E-47A0-9691-0D0CBE4A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417319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Posição 2026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EF3EFF9-31C6-40EF-B043-EDA4564B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655063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2º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7811C81-1153-4AD8-8FFE-497FB718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057400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843ED6D-FF50-463B-B741-9042BB7F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19" y="1280160"/>
            <a:ext cx="2615184" cy="1060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9C8EB70-5994-4F6B-988D-CAC01486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3999" y="1417319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Posição 12 meses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BA0D1B-A366-4BEF-9323-04443A72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3999" y="1655063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1º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78477EA-8EFC-45EE-9EBC-38CD69E4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3999" y="2057400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41D2545-A809-495D-BECE-F5CAFDC3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542032"/>
            <a:ext cx="52120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E36C0A"/>
                </a:solidFill>
                <a:latin typeface="Arial"/>
                <a:ea typeface="Arial"/>
                <a:cs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49" name="Table 21"/>
          <p:cNvGraphicFramePr/>
          <p:nvPr/>
        </p:nvGraphicFramePr>
        <p:xfrm>
          <a:off xmlns:a="http://schemas.openxmlformats.org/drawingml/2006/main" x="566928" y="2852928"/>
          <a:ext xmlns:a="http://schemas.openxmlformats.org/drawingml/2006/main" cx="5394960" cy="2340864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9C76344-ACF8-4CAC-8577-72BF3C39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2542032"/>
            <a:ext cx="52120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E36C0A"/>
                </a:solidFill>
                <a:latin typeface="Arial"/>
                <a:ea typeface="Arial"/>
                <a:cs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51" name="Table 23"/>
          <p:cNvGraphicFramePr/>
          <p:nvPr/>
        </p:nvGraphicFramePr>
        <p:xfrm>
          <a:off xmlns:a="http://schemas.openxmlformats.org/drawingml/2006/main" x="6190488" y="2852928"/>
          <a:ext xmlns:a="http://schemas.openxmlformats.org/drawingml/2006/main" cx="5394960" cy="2340864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7A67A7EA-C459-46FA-8DCE-EC103593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088"/>
            <a:ext cx="104775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0E46EA63-5E39-4C68-9A6F-F117D1E3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9944"/>
            <a:ext cx="384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6077005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C27B4F1-57E9-462B-9F0E-D608EC94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56032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E36C0A"/>
                </a:solidFill>
                <a:latin typeface="Arial"/>
                <a:ea typeface="Arial"/>
                <a:cs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0FB6B48-6BF0-460C-8BB3-59B47EDB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21207"/>
            <a:ext cx="110642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3A79198-456B-4D28-87F4-35E07338F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298448"/>
            <a:ext cx="52120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5D6369"/>
                </a:solidFill>
                <a:latin typeface="Arial"/>
                <a:ea typeface="Arial"/>
                <a:cs typeface="Arial"/>
              </a:defRPr>
            </a:pPr>
            <a:r>
              <a:t>Acumulado 2026 (jan–jun)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0F44C53-4392-4BE2-A192-EF8A6EB7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298448"/>
            <a:ext cx="52120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5D6369"/>
                </a:solidFill>
                <a:latin typeface="Arial"/>
                <a:ea typeface="Arial"/>
                <a:cs typeface="Arial"/>
              </a:defRPr>
            </a:pPr>
            <a:r>
              <a:t>Últimos 12 meses (jul/25–jun/26)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E92E03B-380A-412E-8F59-528FB5CF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1888"/>
            <a:ext cx="104775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545476E-8A37-4005-9D67-B0EA9C27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088"/>
            <a:ext cx="104775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5D51E07-E737-42DA-907A-5E037F90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9944"/>
            <a:ext cx="384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17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566928" y="1609344"/>
          <a:ext xmlns:a="http://schemas.openxmlformats.org/drawingml/2006/main" cx="5212080" cy="4169664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c47b70ebb094233"/>
          </a:graphicData>
        </a:graphic>
      </p:graphicFrame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6190488" y="1609344"/>
          <a:ext xmlns:a="http://schemas.openxmlformats.org/drawingml/2006/main" cx="5212080" cy="4169664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a988d80643344c0"/>
          </a:graphicData>
        </a:graphic>
      </p:graphicFrame>
    </p:spTree>
    <p:extLst>
      <p:ext uri="{BB962C8B-B14F-4D97-AF65-F5344CB8AC3E}">
        <p14:creationId xmlns:p14="http://schemas.microsoft.com/office/powerpoint/2010/main" val="411125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A72A64E-4775-469D-995C-792B4141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56032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E36C0A"/>
                </a:solidFill>
                <a:latin typeface="Arial"/>
                <a:ea typeface="Arial"/>
                <a:cs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AEB5CC6-B9D2-46FD-834F-2EFACE27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21207"/>
            <a:ext cx="110642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6AB9289-06E5-437B-9C4D-41B5EDCE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280160"/>
            <a:ext cx="2615184" cy="1060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6901313-FA31-428F-81BB-FCED192A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417319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Volume de distribuição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AAA6568-DFB2-4719-8597-4A668E23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655063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R$ 21,9 bi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4EA8CD1-4FC5-4CC3-A5A0-9CE196BD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057400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acumulado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A09C721-1833-4ADF-9A9E-FFB696AB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280160"/>
            <a:ext cx="2615184" cy="1060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C110C85-E390-4EE3-B7FD-ADAEFA53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417319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Participação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04D72FB-BD53-4548-92B0-40AFBC9F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655063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26,6%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CD97AA3-7CE8-43BC-8C1C-E3EC114D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2057400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do mercado apurado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D9C763F-956C-4333-AC1D-7792A974D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056" y="1280160"/>
            <a:ext cx="2615184" cy="1060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5677129-77BC-4C7B-BEC1-5F6C2864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417319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Posição 2026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EC3EB3C-4CCC-4E45-950D-E8D0A2B2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655063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1º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1B7C69B-6DBA-4DDD-91E3-6ED1B366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057400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D584692-B2B2-490A-8312-94FD2200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19" y="1280160"/>
            <a:ext cx="2615184" cy="1060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C4EEC8-9285-41E0-8C01-3A536BC9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3999" y="1417319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Posição 12 meses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7B8F374-1E7A-4D8C-88D6-D047B8C4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3999" y="1655063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1º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AA7EA98-E7A2-4697-ADC7-7A0FB3F0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3999" y="2057400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756BA8B-D788-4F2E-965F-BFDF3636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542032"/>
            <a:ext cx="52120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E36C0A"/>
                </a:solidFill>
                <a:latin typeface="Arial"/>
                <a:ea typeface="Arial"/>
                <a:cs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49" name="Table 21"/>
          <p:cNvGraphicFramePr/>
          <p:nvPr/>
        </p:nvGraphicFramePr>
        <p:xfrm>
          <a:off xmlns:a="http://schemas.openxmlformats.org/drawingml/2006/main" x="566928" y="2852928"/>
          <a:ext xmlns:a="http://schemas.openxmlformats.org/drawingml/2006/main" cx="5394960" cy="2340864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8D25511-3828-44D8-9A18-934F8591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2542032"/>
            <a:ext cx="52120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E36C0A"/>
                </a:solidFill>
                <a:latin typeface="Arial"/>
                <a:ea typeface="Arial"/>
                <a:cs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51" name="Table 23"/>
          <p:cNvGraphicFramePr/>
          <p:nvPr/>
        </p:nvGraphicFramePr>
        <p:xfrm>
          <a:off xmlns:a="http://schemas.openxmlformats.org/drawingml/2006/main" x="6190488" y="2852928"/>
          <a:ext xmlns:a="http://schemas.openxmlformats.org/drawingml/2006/main" cx="5394960" cy="2340864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DB272B80-C752-42AD-8456-768B0DFE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088"/>
            <a:ext cx="104775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B9823E00-16D5-4AB1-843E-3AB1A83B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9944"/>
            <a:ext cx="384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76631639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64C1A6A-C4EF-436D-B551-FDA81FA8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56032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E36C0A"/>
                </a:solidFill>
                <a:latin typeface="Arial"/>
                <a:ea typeface="Arial"/>
                <a:cs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464E442-3835-4390-86A6-E5700FB9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21207"/>
            <a:ext cx="110642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4254816-2C27-48F0-8110-3B9AF342C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298448"/>
            <a:ext cx="52120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5D6369"/>
                </a:solidFill>
                <a:latin typeface="Arial"/>
                <a:ea typeface="Arial"/>
                <a:cs typeface="Arial"/>
              </a:defRPr>
            </a:pPr>
            <a:r>
              <a:t>Acumulado 2026 (jan–jun)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128CE18-DF4A-4D8E-9D0D-E0DCA5295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298448"/>
            <a:ext cx="52120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5D6369"/>
                </a:solidFill>
                <a:latin typeface="Arial"/>
                <a:ea typeface="Arial"/>
                <a:cs typeface="Arial"/>
              </a:defRPr>
            </a:pPr>
            <a:r>
              <a:t>Últimos 12 meses (jul/25–jun/26)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0F90480-7240-4D2A-8269-A1C8553B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1888"/>
            <a:ext cx="104775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791C81D-05C7-415C-8D91-4D6E4873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088"/>
            <a:ext cx="104775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9D82D1C-92C2-43DF-9D51-A4D45D3A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9944"/>
            <a:ext cx="384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19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566928" y="1609344"/>
          <a:ext xmlns:a="http://schemas.openxmlformats.org/drawingml/2006/main" cx="5212080" cy="4169664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cffbeda0cf44cd0"/>
          </a:graphicData>
        </a:graphic>
      </p:graphicFrame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6190488" y="1609344"/>
          <a:ext xmlns:a="http://schemas.openxmlformats.org/drawingml/2006/main" cx="5212080" cy="4169664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7a23576ca924251"/>
          </a:graphicData>
        </a:graphic>
      </p:graphicFrame>
    </p:spTree>
    <p:extLst>
      <p:ext uri="{BB962C8B-B14F-4D97-AF65-F5344CB8AC3E}">
        <p14:creationId xmlns:p14="http://schemas.microsoft.com/office/powerpoint/2010/main" val="61034972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897D6CF-D42B-4C83-86CC-DDC9E564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56032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E36C0A"/>
                </a:solidFill>
                <a:latin typeface="Arial"/>
                <a:ea typeface="Arial"/>
                <a:cs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7F0D3DD-1580-4E2E-9ABC-12A25C4F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21207"/>
            <a:ext cx="110642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Visão por produto: mercado, posição e participação do Itaú BBA</a:t>
            </a:r>
          </a:p>
        </p:txBody>
      </p:sp>
      <p:graphicFrame>
        <p:nvGraphicFramePr>
          <p:cNvPr id="14" name="Table 4"/>
          <p:cNvGraphicFramePr/>
          <p:nvPr/>
        </p:nvGraphicFramePr>
        <p:xfrm>
          <a:off xmlns:a="http://schemas.openxmlformats.org/drawingml/2006/main" x="566928" y="1298448"/>
          <a:ext xmlns:a="http://schemas.openxmlformats.org/drawingml/2006/main" cx="10744200" cy="3474720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F7C187C-4420-4E73-827A-1B465C81F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974336"/>
            <a:ext cx="110185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E36C0A"/>
                </a:solidFill>
                <a:latin typeface="Arial"/>
                <a:ea typeface="Arial"/>
                <a:cs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6C55B4-6A85-4610-B36D-9467BC9B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212079"/>
            <a:ext cx="110185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D6369"/>
                </a:solidFill>
                <a:latin typeface="Arial"/>
                <a:ea typeface="Arial"/>
                <a:cs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5644205-0BFB-45B8-B72D-766783E24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088"/>
            <a:ext cx="104775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B9C880C-C4D8-4BA0-B50A-82F53997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9944"/>
            <a:ext cx="384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42046608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52E1984-2413-45EF-AA06-A0FE141C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56032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E36C0A"/>
                </a:solidFill>
                <a:latin typeface="Arial"/>
                <a:ea typeface="Arial"/>
                <a:cs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338F0E2-AC4C-4CFF-A1DE-67B30354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21207"/>
            <a:ext cx="110642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9B22502-4B21-4DE0-A811-583CFCBB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280160"/>
            <a:ext cx="2615184" cy="1060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E087FC-1937-4F13-90C0-9EF11148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417319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Volume originado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D957CFC-A74A-4254-AAB3-D6AFD6FC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655063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R$ 11,4 bi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DA86F00-8758-44E9-B3D5-1E33CA6B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057400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1S26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7697D90-2EB6-4568-8C46-E252C92E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280160"/>
            <a:ext cx="2615184" cy="1060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81A7578-DAA2-4E9A-90E8-C98AD359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417319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Participação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8387818-27E6-4472-978E-A21B29F9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655063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45,7%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19849FE-0AA9-4363-8320-00E33C9E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2057400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do mercado apurado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BA8025A-CEE8-4F14-9BB9-0F444198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056" y="1280160"/>
            <a:ext cx="2615184" cy="1060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D18C5F6-3494-4E87-B25D-A18340C6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417319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Posição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1845DA8-FDD2-41AE-B1EC-E28C7C83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655063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1º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E1A12C5-7323-4284-AF73-24E73684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057400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BC3B298-0F09-406D-9AEB-04077DC5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19" y="1280160"/>
            <a:ext cx="2615184" cy="1060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BE31653-B555-4A6A-8484-7341271E4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3999" y="1417319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Operações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D2A9C68-B296-4C53-A2C3-F8E4CF36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3999" y="1655063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19 de 43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5EA3F22-C455-40AB-93BA-5FCD0810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3999" y="2057400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originadas no semestre</a:t>
            </a:r>
          </a:p>
        </p:txBody>
      </p:sp>
      <p:graphicFrame>
        <p:nvGraphicFramePr>
          <p:cNvPr id="45" name="Table 20"/>
          <p:cNvGraphicFramePr/>
          <p:nvPr/>
        </p:nvGraphicFramePr>
        <p:xfrm>
          <a:off xmlns:a="http://schemas.openxmlformats.org/drawingml/2006/main" x="566928" y="2542032"/>
          <a:ext xmlns:a="http://schemas.openxmlformats.org/drawingml/2006/main" cx="11018520" cy="2596896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8E9D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F063C17-E606-4290-B3C6-7686C13A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376672"/>
            <a:ext cx="110185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5D6369"/>
                </a:solidFill>
                <a:latin typeface="Arial"/>
                <a:ea typeface="Arial"/>
                <a:cs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3CDC8B5-3DC6-4CF7-BA67-69C8D881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088"/>
            <a:ext cx="104775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720FEB9C-A9FD-4568-B9C3-F87BC0EA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9944"/>
            <a:ext cx="384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24227505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D0C9B4C-D546-4584-AFB0-6294F584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56032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E36C0A"/>
                </a:solidFill>
                <a:latin typeface="Arial"/>
                <a:ea typeface="Arial"/>
                <a:cs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39A3580-89F0-4E17-AE52-F53CA6AE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21207"/>
            <a:ext cx="110642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As maiores operações do período e a presença do Itaú BBA</a:t>
            </a:r>
          </a:p>
        </p:txBody>
      </p:sp>
      <p:graphicFrame>
        <p:nvGraphicFramePr>
          <p:cNvPr id="13" name="Table 4"/>
          <p:cNvGraphicFramePr/>
          <p:nvPr/>
        </p:nvGraphicFramePr>
        <p:xfrm>
          <a:off xmlns:a="http://schemas.openxmlformats.org/drawingml/2006/main" x="566928" y="1298448"/>
          <a:ext xmlns:a="http://schemas.openxmlformats.org/drawingml/2006/main" cx="11018520" cy="3584448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D7DADD"/>
                      </a:solidFill>
                    </a:lnB>
                    <a:solidFill>
                      <a:srgbClr val="F5F6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lnB w="6350">
                      <a:solidFill>
                        <a:srgbClr val="E7E9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D3FC68A-A56A-402B-B85F-110DAA02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102352"/>
            <a:ext cx="110185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0287D1A-76F9-426D-A816-E8F6440A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088"/>
            <a:ext cx="104775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3F75DE1-86EC-4BA1-BE28-78F4A2E6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9944"/>
            <a:ext cx="384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75455525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41A50D1-B165-4A4B-B6E2-986A6648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56032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E36C0A"/>
                </a:solidFill>
                <a:latin typeface="Arial"/>
                <a:ea typeface="Arial"/>
                <a:cs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37BACE3-87A9-4FCD-A5D7-FFF29A8E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21207"/>
            <a:ext cx="110642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t>Como interpretar o ranking ANBIMA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B055BDF-04CF-4A09-975F-57C283A2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298448"/>
            <a:ext cx="5029200" cy="12070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</a:pPr>
            <a:r>
              <a:rPr sz="11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Originação × Distribuição</a:t>
            </a:r>
          </a:p>
          <a:p xmlns:a="http://schemas.openxmlformats.org/drawingml/2006/main">
            <a:pPr algn="l"/>
            <a:r>
              <a:rPr sz="950">
                <a:solidFill>
                  <a:srgbClr val="5D6369"/>
                </a:solidFill>
                <a:latin typeface="Arial"/>
                <a:ea typeface="Arial"/>
                <a:cs typeface="Arial"/>
              </a:rP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A6DD398-7B70-423B-B313-5F81C1EE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1298448"/>
            <a:ext cx="5029200" cy="12070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</a:pPr>
            <a:r>
              <a:rPr sz="11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ranking mede valor</a:t>
            </a:r>
          </a:p>
          <a:p xmlns:a="http://schemas.openxmlformats.org/drawingml/2006/main">
            <a:pPr algn="l"/>
            <a:r>
              <a:rPr sz="950">
                <a:solidFill>
                  <a:srgbClr val="5D6369"/>
                </a:solidFill>
                <a:latin typeface="Arial"/>
                <a:ea typeface="Arial"/>
                <a:cs typeface="Arial"/>
              </a:rP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8126888-A9D7-4B09-8000-6FE5BEB2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542032"/>
            <a:ext cx="5029200" cy="12070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</a:pPr>
            <a:r>
              <a:rPr sz="11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As duas janelas</a:t>
            </a:r>
          </a:p>
          <a:p xmlns:a="http://schemas.openxmlformats.org/drawingml/2006/main">
            <a:pPr algn="l"/>
            <a:r>
              <a:rPr sz="950">
                <a:solidFill>
                  <a:srgbClr val="5D6369"/>
                </a:solidFill>
                <a:latin typeface="Arial"/>
                <a:ea typeface="Arial"/>
                <a:cs typeface="Arial"/>
              </a:rP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B9F87A3-2B70-4EC7-A2F8-F1D23379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542032"/>
            <a:ext cx="5029200" cy="12070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</a:pPr>
            <a:r>
              <a:rPr sz="11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Uma operação, vários coordenadores</a:t>
            </a:r>
          </a:p>
          <a:p xmlns:a="http://schemas.openxmlformats.org/drawingml/2006/main">
            <a:pPr algn="l"/>
            <a:r>
              <a:rPr sz="950">
                <a:solidFill>
                  <a:srgbClr val="5D6369"/>
                </a:solidFill>
                <a:latin typeface="Arial"/>
                <a:ea typeface="Arial"/>
                <a:cs typeface="Arial"/>
              </a:rP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4AD699A-57CF-4718-89D3-20EE6898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785616"/>
            <a:ext cx="5029200" cy="12070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</a:pPr>
            <a:r>
              <a:rPr sz="11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“Percentual Coordenado” define a liderança</a:t>
            </a:r>
          </a:p>
          <a:p xmlns:a="http://schemas.openxmlformats.org/drawingml/2006/main">
            <a:pPr algn="l"/>
            <a:r>
              <a:rPr sz="950">
                <a:solidFill>
                  <a:srgbClr val="5D6369"/>
                </a:solidFill>
                <a:latin typeface="Arial"/>
                <a:ea typeface="Arial"/>
                <a:cs typeface="Arial"/>
              </a:rP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04C5755-A79C-472B-B5AE-DE555FD9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785616"/>
            <a:ext cx="5029200" cy="12070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</a:pPr>
            <a:r>
              <a:rPr sz="11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Participação formal sem valor</a:t>
            </a:r>
          </a:p>
          <a:p xmlns:a="http://schemas.openxmlformats.org/drawingml/2006/main">
            <a:pPr algn="l"/>
            <a:r>
              <a:rPr sz="950">
                <a:solidFill>
                  <a:srgbClr val="5D6369"/>
                </a:solidFill>
                <a:latin typeface="Arial"/>
                <a:ea typeface="Arial"/>
                <a:cs typeface="Arial"/>
              </a:rP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7A07660-62BC-4AC8-8E6F-69A8E207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029200"/>
            <a:ext cx="5029200" cy="12070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</a:pPr>
            <a:r>
              <a:rPr sz="11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É um ranking declaratório</a:t>
            </a:r>
          </a:p>
          <a:p xmlns:a="http://schemas.openxmlformats.org/drawingml/2006/main">
            <a:pPr algn="l"/>
            <a:r>
              <a:rPr sz="950">
                <a:solidFill>
                  <a:srgbClr val="5D6369"/>
                </a:solidFill>
                <a:latin typeface="Arial"/>
                <a:ea typeface="Arial"/>
                <a:cs typeface="Arial"/>
              </a:rP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5166C1F6-2DBD-4F39-B6CB-C0BF474C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5029200"/>
            <a:ext cx="5029200" cy="12070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</a:pPr>
            <a:r>
              <a:rPr sz="11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Empresas ligadas saem do Tipo 1</a:t>
            </a:r>
          </a:p>
          <a:p xmlns:a="http://schemas.openxmlformats.org/drawingml/2006/main">
            <a:pPr algn="l"/>
            <a:r>
              <a:rPr sz="950">
                <a:solidFill>
                  <a:srgbClr val="5D6369"/>
                </a:solidFill>
                <a:latin typeface="Arial"/>
                <a:ea typeface="Arial"/>
                <a:cs typeface="Arial"/>
              </a:rPr>
              <a:t>Coordenador com 10% ou mais do capital da emissora, cedente ou originadora vai para o Tipo 3, apurado à parte.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194C3C1D-0E10-4772-B0CF-806FCE81C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088"/>
            <a:ext cx="104775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137B9E1F-6E4A-41CD-94A7-CAE16F32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9944"/>
            <a:ext cx="384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33075770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4B9CB6-55D0-48CF-A17C-EC2047E3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E700E8-3361-4C05-83A6-B1B5DE4B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5E3422-EF1E-419B-9ACB-AAE05514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595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E17C69-4A95-4CC0-939D-F0F5D03C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6C11C-061B-456F-9184-B87A8E99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8A103D-819A-4639-B660-0526045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50A1CE-9B45-407B-949C-8F90AF3C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5D0E1A-0273-407A-94C5-41D6D1B8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48CC92-A3D6-42AF-BA7C-76B0E0E1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A8DDD7-E86F-4D26-BEAC-7B9CBB302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EBA557-363E-4A68-9726-320677A8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BB7DE0-0F3D-463D-A958-F2C70D7B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284B1D-F449-41DE-819A-B4FDB4645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457A20-7B90-429B-B2BD-3B945DF7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7927A8-7835-4338-99D1-72F13045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892CE6-196F-4521-B284-78C886F2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4F5C0B-0ECB-4407-88DA-D4BC2B2D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66084D-0EB0-4A1E-BAF1-AEE9C53C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p:txBody>
      </p:sp>
    </p:spTree>
    <p:extLst>
      <p:ext uri="{BB962C8B-B14F-4D97-AF65-F5344CB8AC3E}">
        <p14:creationId xmlns:p14="http://schemas.microsoft.com/office/powerpoint/2010/main" val="15183396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7BE0B2-82F1-46AC-8B0C-3B4DB0C2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Volume por prestador | Itaú e Kanastra separados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E9EE8-D19D-4759-92FE-F8E2982A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 · PL ex-FIC, em R$ bilhões · Top 5 + comparadores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5FFF56-0E51-4961-9E91-B2E283A6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Sem Petrobras/TAPSO. Itaú inclui Intrag/Kinea; Kanastra inclui Limine. Independentes: curadoria original.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6F0A0E-F496-4C18-8FC2-C71ED293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1524000" y="1133475"/>
          <a:ext xmlns:a="http://schemas.openxmlformats.org/drawingml/2006/main" cx="914400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541e74fcbe471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5E7FDF-3CCF-4A8D-A229-F008BF3D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+ Itaú + Kanastra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08E78B-B77B-4CFB-8675-D25ABE49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404795-4DA9-475E-A82E-FD304DE8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8a080764184da3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F90D32-68FB-45D6-AD2B-97D48142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88444b159ca477f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98255B-6CFA-44E4-A5E4-D5BEED30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eb847dcca6541e9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46CE80-C243-4112-822C-10A1EA66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af1f79ae1a40e6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DF51A5-29E1-4ACD-965A-8D3E316F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46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b28a22d8a5e4b85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FEAD2D-C806-47D0-B279-4637EB44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a51b0a937204e51"/>
          </a:graphicData>
        </a:graphic>
      </p:graphicFrame>
    </p:spTree>
    <p:extLst>
      <p:ext uri="{BB962C8B-B14F-4D97-AF65-F5344CB8AC3E}">
        <p14:creationId xmlns:p14="http://schemas.microsoft.com/office/powerpoint/2010/main" val="166968132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037A4E-57ED-4BEE-9B3F-EB4F1483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714CED-D956-4032-BEF9-51D33A99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80BC5-8FD0-4F71-9F1D-516AE36D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21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A49FED-15D1-4B58-BFD8-C73C3CB9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86154-AA24-43D6-B2D7-3C88BB6A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9b70ef754bb487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8AAAAE-4DA5-4961-9E62-8AD84353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428E07-EB9C-472B-8432-656B7FF9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69e55d6e2745de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B9A7EC-ED95-4045-B937-33B23490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95DAD8-7CBF-4723-9A9F-645A65E2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73BC58-7893-49C9-BE79-D86A55C2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85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0701FB-A0D7-4C59-98C5-070BAC79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219200"/>
            <a:ext cx="10382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A2F10B-1813-4F26-8177-3BAD3742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85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CCEAAD-936D-430A-8F50-2E2575C8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1219200"/>
            <a:ext cx="10382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43580780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207E02-174B-40D2-B4FB-FA9F25E5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535537-A637-41FC-9D4A-D2EC0DEF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289B02-6848-430B-AF77-A065EB0F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2CD381-A1EE-4458-AA54-416A4008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99A10E-89C7-445C-8CB9-CBC765D2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3a2af809c56460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0F473D-67E0-48EF-BC8E-9E17E9AD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d86c0b7831473e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0DE85F-DE2D-436F-96F5-B1E38D4CF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1b4057ade744bd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32E490-F48D-4DDD-8611-6A5C1CA0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77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105284852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106BBD-E422-44D9-A48C-F85373E0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4468E9-3DA8-408A-8F56-6CB8B937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8A594-1932-465C-B54D-EA449170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E50A7-8A39-4D2B-B6AB-55B7C1FF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b2675729914de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FABB6-0B2F-43CD-9880-04C9F93C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ef0d7b796f4e78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FF4EA8-1775-4060-AEE1-A527BDBE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a60e30650d34bc7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E229A3-04A1-4A18-9504-678F77AA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a93e588ce0c405e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64B37F-5774-472A-93DA-B76CF459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67B2AD-3EE1-4FBC-B44C-5C674654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08e6d104124a7f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8957AC-C720-4F20-A154-2C0D6A06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0D25C7-5F55-4411-82C6-B9A9F78B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93699907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61E9AB-3AAB-4D60-A962-0359578B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D8600-051A-44EB-A9B1-A9516BD2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Abertura PF/PJ e cenário sem TAPSO/Petrobras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FA90E-CFF1-47F3-BE28-1F26255E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47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PF/PJ: 24 CNPJs; PL dos fundos, Top1 mensal &lt;=1%; Sólido e BizCapital em Financeiro. Emissões por CNPJ; FIC fora; 2023 escalado ANBIMA.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893FC-6A38-45B2-9CDC-85DDAE61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9A593-2060-4D9A-9ED7-7335A4F8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p:txBody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1495425"/>
          <a:ext xmlns:a="http://schemas.openxmlformats.org/drawingml/2006/main" cx="523875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5f4de9a75224b5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45B6F-20C4-49D6-9BC3-5A08A966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57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p:txBody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6381750" y="1495425"/>
          <a:ext xmlns:a="http://schemas.openxmlformats.org/drawingml/2006/main" cx="523875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acfcc317514b5d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A61F68-14C2-42D0-B53D-006B46FD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FBE62-BD10-4639-B789-B1FD4768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0D87BE-32AB-4612-B3E5-E0C2CC50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3B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3A7B0F-BD5F-4803-96B6-EB1A7027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40C4AB-E80B-419B-ABEB-BBD76BA6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9078F1-5E06-47BD-AE40-CC0BC454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EAED78-5235-4223-A570-3669391C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721392-2C47-427A-9F53-8C9A2495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BE602E-0B58-437A-A3DA-BE9D600F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30A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5063EB-9E03-4318-9F56-22CEBDC1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BD86D3-B894-4005-BAD6-19F0FBEB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9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D7763B-CD4E-488C-8F18-459E63FA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56C7A7-6C8D-494B-BE67-899C8D22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72C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8378BB-CD34-4835-9D88-6C8E74D1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PF/PJ*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635A71-6306-4A65-A146-C1F77DC6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p:txBody>
      </p:sp>
      <p:graphicFrame>
        <p:nvGraphicFramePr>
          <p:cNvPr id="61" name="Chart"/>
          <p:cNvGraphicFramePr/>
          <p:nvPr/>
        </p:nvGraphicFramePr>
        <p:xfrm>
          <a:off xmlns:a="http://schemas.openxmlformats.org/drawingml/2006/main" x="571500" y="4067175"/>
          <a:ext xmlns:a="http://schemas.openxmlformats.org/drawingml/2006/main" cx="52387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389abd6eba64af3"/>
          </a:graphicData>
        </a:graphic>
      </p:graphicFrame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AE2C19-A79F-4F3D-9BCA-DB4B4969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2905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p:txBody>
      </p:sp>
      <p:graphicFrame>
        <p:nvGraphicFramePr>
          <p:cNvPr id="63" name="Chart"/>
          <p:cNvGraphicFramePr/>
          <p:nvPr/>
        </p:nvGraphicFramePr>
        <p:xfrm>
          <a:off xmlns:a="http://schemas.openxmlformats.org/drawingml/2006/main" x="6381750" y="4067175"/>
          <a:ext xmlns:a="http://schemas.openxmlformats.org/drawingml/2006/main" cx="52387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7aa3b0f11a743bf"/>
          </a:graphicData>
        </a:graphic>
      </p:graphicFrame>
    </p:spTree>
    <p:extLst>
      <p:ext uri="{BB962C8B-B14F-4D97-AF65-F5344CB8AC3E}">
        <p14:creationId xmlns:p14="http://schemas.microsoft.com/office/powerpoint/2010/main" val="948990028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2026-09-01T19:56:42.8860000Z</dcterms:created>
  <dcterms:modified xsi:type="dcterms:W3CDTF">2026-09-01T19:56:42.8860000Z</dcterms:modified>
</coreProperties>
</file>