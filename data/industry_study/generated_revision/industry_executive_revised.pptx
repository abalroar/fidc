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slides/charts/chart4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5.xml" ContentType="application/vnd.openxmlformats-officedocument.drawingml.chart+xml"/>
  <Override PartName="/ppt/slides/charts/chart6.xml" ContentType="application/vnd.openxmlformats-officedocument.drawingml.chart+xml"/>
  <Override PartName="/ppt/slides/charts/chart7.xml" ContentType="application/vnd.openxmlformats-officedocument.drawingml.chart+xml"/>
  <Override PartName="/ppt/slides/charts/chart8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9.xml" ContentType="application/vnd.openxmlformats-officedocument.drawingml.chart+xml"/>
  <Override PartName="/ppt/slides/charts/chart10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1.xml" ContentType="application/vnd.openxmlformats-officedocument.drawingml.chart+xml"/>
  <Override PartName="/ppt/slides/charts/chart12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3.xml" ContentType="application/vnd.openxmlformats-officedocument.drawingml.chart+xml"/>
  <Override PartName="/ppt/slides/charts/chart14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15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16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17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charts/chart18.xml" ContentType="application/vnd.openxmlformats-officedocument.drawingml.chart+xml"/>
  <Override PartName="/ppt/slides/charts/chart19.xml" ContentType="application/vnd.openxmlformats-officedocument.drawingml.chart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slides/charts/chart20.xml" ContentType="application/vnd.openxmlformats-officedocument.drawingml.chart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slides/charts/chart21.xml" ContentType="application/vnd.openxmlformats-officedocument.drawingml.chart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slides/charts/chart22.xml" ContentType="application/vnd.openxmlformats-officedocument.drawingml.chart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slides/charts/chart23.xml" ContentType="application/vnd.openxmlformats-officedocument.drawingml.chart+xml"/>
  <Override PartName="/ppt/slides/charts/chart24.xml" ContentType="application/vnd.openxmlformats-officedocument.drawingml.chart+xml"/>
  <Override PartName="/ppt/slides/charts/chart25.xml" ContentType="application/vnd.openxmlformats-officedocument.drawingml.chart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slides/charts/chart26.xml" ContentType="application/vnd.openxmlformats-officedocument.drawingml.chart+xml"/>
  <Override PartName="/ppt/slides/charts/chart27.xml" ContentType="application/vnd.openxmlformats-officedocument.drawingml.chart+xml"/>
  <Override PartName="/ppt/slides/charts/chart28.xml" ContentType="application/vnd.openxmlformats-officedocument.drawingml.chart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slides/charts/chart29.xml" ContentType="application/vnd.openxmlformats-officedocument.drawingml.chart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slides/charts/chart30.xml" ContentType="application/vnd.openxmlformats-officedocument.drawingml.chart+xml"/>
  <Override PartName="/ppt/slides/charts/chart31.xml" ContentType="application/vnd.openxmlformats-officedocument.drawingml.chart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slides/charts/chart32.xml" ContentType="application/vnd.openxmlformats-officedocument.drawingml.chart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slides/charts/chart33.xml" ContentType="application/vnd.openxmlformats-officedocument.drawingml.chart+xml"/>
  <Override PartName="/ppt/slides/charts/chart34.xml" ContentType="application/vnd.openxmlformats-officedocument.drawingml.chart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slides/charts/chart35.xml" ContentType="application/vnd.openxmlformats-officedocument.drawingml.chart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slides/charts/chart36.xml" ContentType="application/vnd.openxmlformats-officedocument.drawingml.chart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slides/charts/chart37.xml" ContentType="application/vnd.openxmlformats-officedocument.drawingml.chart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slides/charts/chart38.xml" ContentType="application/vnd.openxmlformats-officedocument.drawingml.chart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slides/charts/chart39.xml" ContentType="application/vnd.openxmlformats-officedocument.drawingml.chart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68829320c5f4eb3" /><Relationship Type="http://schemas.openxmlformats.org/officeDocument/2006/relationships/extended-properties" Target="/docProps/app.xml" Id="Refc2612053304939" /><Relationship Type="http://schemas.openxmlformats.org/officeDocument/2006/relationships/officeDocument" Target="/ppt/presentation.xml" Id="R26f13fb9ebeb4b7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1b0457fe6f2492e"/>
  </p:sldMasterIdLst>
  <p:notesMasterIdLst>
    <p:notesMasterId xmlns:r="http://schemas.openxmlformats.org/officeDocument/2006/relationships" r:id="Rc83b7c56b6204cf8"/>
  </p:notesMasterIdLst>
  <p:sldIdLst>
    <p:sldId xmlns:r="http://schemas.openxmlformats.org/officeDocument/2006/relationships" id="256" r:id="Rb7ba2f2db3754481"/>
    <p:sldId xmlns:r="http://schemas.openxmlformats.org/officeDocument/2006/relationships" id="257" r:id="R1025f8d0b6664793"/>
    <p:sldId xmlns:r="http://schemas.openxmlformats.org/officeDocument/2006/relationships" id="258" r:id="R014fd8ffc0ec4250"/>
    <p:sldId xmlns:r="http://schemas.openxmlformats.org/officeDocument/2006/relationships" id="259" r:id="R3f9b2c88c1da4526"/>
    <p:sldId xmlns:r="http://schemas.openxmlformats.org/officeDocument/2006/relationships" id="260" r:id="Rbe01e9c51f9548e3"/>
    <p:sldId xmlns:r="http://schemas.openxmlformats.org/officeDocument/2006/relationships" id="261" r:id="R6bb176090b6746ab"/>
    <p:sldId xmlns:r="http://schemas.openxmlformats.org/officeDocument/2006/relationships" id="262" r:id="R0f7e2d4d85be4048"/>
    <p:sldId xmlns:r="http://schemas.openxmlformats.org/officeDocument/2006/relationships" id="263" r:id="Rcdd3d1381b67458f"/>
    <p:sldId xmlns:r="http://schemas.openxmlformats.org/officeDocument/2006/relationships" id="264" r:id="Re5d62aaead73463a"/>
    <p:sldId xmlns:r="http://schemas.openxmlformats.org/officeDocument/2006/relationships" id="265" r:id="Rf3ccbcdb8c904613"/>
    <p:sldId xmlns:r="http://schemas.openxmlformats.org/officeDocument/2006/relationships" id="266" r:id="Rdf8c4c12538448ee"/>
    <p:sldId xmlns:r="http://schemas.openxmlformats.org/officeDocument/2006/relationships" id="267" r:id="Ra974446a22704d7d"/>
    <p:sldId xmlns:r="http://schemas.openxmlformats.org/officeDocument/2006/relationships" id="268" r:id="R39ceb1ca869e4dc3"/>
    <p:sldId xmlns:r="http://schemas.openxmlformats.org/officeDocument/2006/relationships" id="269" r:id="Ree31eeffde914742"/>
    <p:sldId xmlns:r="http://schemas.openxmlformats.org/officeDocument/2006/relationships" id="270" r:id="Rb87d998de12b46f5"/>
    <p:sldId xmlns:r="http://schemas.openxmlformats.org/officeDocument/2006/relationships" id="271" r:id="Ref1966f20f1e4038"/>
    <p:sldId xmlns:r="http://schemas.openxmlformats.org/officeDocument/2006/relationships" id="272" r:id="R615d90a6fda74bdb"/>
    <p:sldId xmlns:r="http://schemas.openxmlformats.org/officeDocument/2006/relationships" id="273" r:id="R9ffd5c08f9a54e77"/>
    <p:sldId xmlns:r="http://schemas.openxmlformats.org/officeDocument/2006/relationships" id="274" r:id="R28cc3730f7d24741"/>
    <p:sldId xmlns:r="http://schemas.openxmlformats.org/officeDocument/2006/relationships" id="275" r:id="R73cbe470bca74f8c"/>
    <p:sldId xmlns:r="http://schemas.openxmlformats.org/officeDocument/2006/relationships" id="276" r:id="R431eb3bc25f6432f"/>
    <p:sldId xmlns:r="http://schemas.openxmlformats.org/officeDocument/2006/relationships" id="277" r:id="R27ed79649ef24618"/>
    <p:sldId xmlns:r="http://schemas.openxmlformats.org/officeDocument/2006/relationships" id="278" r:id="Rf8226ed42f6c4a36"/>
    <p:sldId xmlns:r="http://schemas.openxmlformats.org/officeDocument/2006/relationships" id="279" r:id="R219714385de8477e"/>
    <p:sldId xmlns:r="http://schemas.openxmlformats.org/officeDocument/2006/relationships" id="280" r:id="Ra717c57cda9c4b2f"/>
    <p:sldId xmlns:r="http://schemas.openxmlformats.org/officeDocument/2006/relationships" id="281" r:id="R281a6694bf5b4e31"/>
    <p:sldId xmlns:r="http://schemas.openxmlformats.org/officeDocument/2006/relationships" id="282" r:id="Rc4424db5f4dc47ef"/>
    <p:sldId xmlns:r="http://schemas.openxmlformats.org/officeDocument/2006/relationships" id="283" r:id="Ra68c10d1289a4eea"/>
    <p:sldId xmlns:r="http://schemas.openxmlformats.org/officeDocument/2006/relationships" id="284" r:id="R72e838aa52534387"/>
    <p:sldId xmlns:r="http://schemas.openxmlformats.org/officeDocument/2006/relationships" id="285" r:id="R8e42853a24ca4e7b"/>
    <p:sldId xmlns:r="http://schemas.openxmlformats.org/officeDocument/2006/relationships" id="286" r:id="R4d6cc0dc9ffc493d"/>
    <p:sldId xmlns:r="http://schemas.openxmlformats.org/officeDocument/2006/relationships" id="287" r:id="Rfb1f269b83994450"/>
    <p:sldId xmlns:r="http://schemas.openxmlformats.org/officeDocument/2006/relationships" id="288" r:id="Rad8c792c777d479a"/>
    <p:sldId xmlns:r="http://schemas.openxmlformats.org/officeDocument/2006/relationships" id="289" r:id="Rf99a9f4ca0b94e72"/>
    <p:sldId xmlns:r="http://schemas.openxmlformats.org/officeDocument/2006/relationships" id="290" r:id="Radf72ac051c34638"/>
    <p:sldId xmlns:r="http://schemas.openxmlformats.org/officeDocument/2006/relationships" id="291" r:id="R8b61ea375e594d32"/>
    <p:sldId xmlns:r="http://schemas.openxmlformats.org/officeDocument/2006/relationships" id="292" r:id="R73579571f14541e3"/>
    <p:sldId xmlns:r="http://schemas.openxmlformats.org/officeDocument/2006/relationships" id="293" r:id="Rd4acccc7475447ed"/>
    <p:sldId xmlns:r="http://schemas.openxmlformats.org/officeDocument/2006/relationships" id="294" r:id="R496abc7fb4994e18"/>
    <p:sldId xmlns:r="http://schemas.openxmlformats.org/officeDocument/2006/relationships" id="295" r:id="R038c08edeef7496d"/>
    <p:sldId xmlns:r="http://schemas.openxmlformats.org/officeDocument/2006/relationships" id="296" r:id="R942396b1002d4042"/>
    <p:sldId xmlns:r="http://schemas.openxmlformats.org/officeDocument/2006/relationships" id="297" r:id="Rc561e509fcd1486f"/>
    <p:sldId xmlns:r="http://schemas.openxmlformats.org/officeDocument/2006/relationships" id="298" r:id="R1c9f8adbd5df4f18"/>
    <p:sldId xmlns:r="http://schemas.openxmlformats.org/officeDocument/2006/relationships" id="299" r:id="R891d406937c24002"/>
    <p:sldId xmlns:r="http://schemas.openxmlformats.org/officeDocument/2006/relationships" id="300" r:id="R7b25413685bf4d1b"/>
    <p:sldId xmlns:r="http://schemas.openxmlformats.org/officeDocument/2006/relationships" id="301" r:id="Rad875f2608144ce7"/>
    <p:sldId xmlns:r="http://schemas.openxmlformats.org/officeDocument/2006/relationships" id="302" r:id="Rbce2d0e814444b0b"/>
    <p:sldId xmlns:r="http://schemas.openxmlformats.org/officeDocument/2006/relationships" id="303" r:id="Rccb37bc5d96b42f6"/>
    <p:sldId xmlns:r="http://schemas.openxmlformats.org/officeDocument/2006/relationships" id="304" r:id="R9fe94bdc54b447af"/>
    <p:sldId xmlns:r="http://schemas.openxmlformats.org/officeDocument/2006/relationships" id="305" r:id="R40b79f3ad1464ded"/>
    <p:sldId xmlns:r="http://schemas.openxmlformats.org/officeDocument/2006/relationships" id="306" r:id="R46f8e4166c964a3b"/>
    <p:sldId xmlns:r="http://schemas.openxmlformats.org/officeDocument/2006/relationships" id="307" r:id="Re00a6234ce724480"/>
    <p:sldId xmlns:r="http://schemas.openxmlformats.org/officeDocument/2006/relationships" id="308" r:id="R14bff31e89594e03"/>
    <p:sldId xmlns:r="http://schemas.openxmlformats.org/officeDocument/2006/relationships" id="309" r:id="R43071f2adce44bea"/>
    <p:sldId xmlns:r="http://schemas.openxmlformats.org/officeDocument/2006/relationships" id="310" r:id="R3e8b2f5889b84889"/>
    <p:sldId xmlns:r="http://schemas.openxmlformats.org/officeDocument/2006/relationships" id="311" r:id="R8da3980d32404be6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bd3ef4f36b24974" /><Relationship Type="http://schemas.openxmlformats.org/officeDocument/2006/relationships/slideMaster" Target="/ppt/slideMasters/slideMaster1.xml" Id="R81b0457fe6f2492e" /><Relationship Type="http://schemas.openxmlformats.org/officeDocument/2006/relationships/notesMaster" Target="/ppt/notesMasters/notesMaster1.xml" Id="Rc83b7c56b6204cf8" /><Relationship Type="http://schemas.openxmlformats.org/officeDocument/2006/relationships/presProps" Target="/ppt/presProps.xml" Id="R821aabbec96548d0" /><Relationship Type="http://schemas.openxmlformats.org/officeDocument/2006/relationships/tableStyles" Target="/ppt/tableStyles.xml" Id="Rbaf99808239b4ea4" /><Relationship Type="http://schemas.openxmlformats.org/officeDocument/2006/relationships/slide" Target="/ppt/slides/slide1.xml" Id="Rb7ba2f2db3754481" /><Relationship Type="http://schemas.openxmlformats.org/officeDocument/2006/relationships/slide" Target="/ppt/slides/slide2.xml" Id="R1025f8d0b6664793" /><Relationship Type="http://schemas.openxmlformats.org/officeDocument/2006/relationships/slide" Target="/ppt/slides/slide3.xml" Id="R014fd8ffc0ec4250" /><Relationship Type="http://schemas.openxmlformats.org/officeDocument/2006/relationships/slide" Target="/ppt/slides/slide4.xml" Id="R3f9b2c88c1da4526" /><Relationship Type="http://schemas.openxmlformats.org/officeDocument/2006/relationships/slide" Target="/ppt/slides/slide5.xml" Id="Rbe01e9c51f9548e3" /><Relationship Type="http://schemas.openxmlformats.org/officeDocument/2006/relationships/slide" Target="/ppt/slides/slide6.xml" Id="R6bb176090b6746ab" /><Relationship Type="http://schemas.openxmlformats.org/officeDocument/2006/relationships/slide" Target="/ppt/slides/slide7.xml" Id="R0f7e2d4d85be4048" /><Relationship Type="http://schemas.openxmlformats.org/officeDocument/2006/relationships/slide" Target="/ppt/slides/slide8.xml" Id="Rcdd3d1381b67458f" /><Relationship Type="http://schemas.openxmlformats.org/officeDocument/2006/relationships/slide" Target="/ppt/slides/slide9.xml" Id="Re5d62aaead73463a" /><Relationship Type="http://schemas.openxmlformats.org/officeDocument/2006/relationships/slide" Target="/ppt/slides/slide10.xml" Id="Rf3ccbcdb8c904613" /><Relationship Type="http://schemas.openxmlformats.org/officeDocument/2006/relationships/slide" Target="/ppt/slides/slide11.xml" Id="Rdf8c4c12538448ee" /><Relationship Type="http://schemas.openxmlformats.org/officeDocument/2006/relationships/slide" Target="/ppt/slides/slide12.xml" Id="Ra974446a22704d7d" /><Relationship Type="http://schemas.openxmlformats.org/officeDocument/2006/relationships/slide" Target="/ppt/slides/slide13.xml" Id="R39ceb1ca869e4dc3" /><Relationship Type="http://schemas.openxmlformats.org/officeDocument/2006/relationships/slide" Target="/ppt/slides/slide14.xml" Id="Ree31eeffde914742" /><Relationship Type="http://schemas.openxmlformats.org/officeDocument/2006/relationships/slide" Target="/ppt/slides/slide15.xml" Id="Rb87d998de12b46f5" /><Relationship Type="http://schemas.openxmlformats.org/officeDocument/2006/relationships/slide" Target="/ppt/slides/slide16.xml" Id="Ref1966f20f1e4038" /><Relationship Type="http://schemas.openxmlformats.org/officeDocument/2006/relationships/slide" Target="/ppt/slides/slide17.xml" Id="R615d90a6fda74bdb" /><Relationship Type="http://schemas.openxmlformats.org/officeDocument/2006/relationships/slide" Target="/ppt/slides/slide18.xml" Id="R9ffd5c08f9a54e77" /><Relationship Type="http://schemas.openxmlformats.org/officeDocument/2006/relationships/slide" Target="/ppt/slides/slide19.xml" Id="R28cc3730f7d24741" /><Relationship Type="http://schemas.openxmlformats.org/officeDocument/2006/relationships/slide" Target="/ppt/slides/slide20.xml" Id="R73cbe470bca74f8c" /><Relationship Type="http://schemas.openxmlformats.org/officeDocument/2006/relationships/slide" Target="/ppt/slides/slide21.xml" Id="R431eb3bc25f6432f" /><Relationship Type="http://schemas.openxmlformats.org/officeDocument/2006/relationships/slide" Target="/ppt/slides/slide22.xml" Id="R27ed79649ef24618" /><Relationship Type="http://schemas.openxmlformats.org/officeDocument/2006/relationships/slide" Target="/ppt/slides/slide23.xml" Id="Rf8226ed42f6c4a36" /><Relationship Type="http://schemas.openxmlformats.org/officeDocument/2006/relationships/slide" Target="/ppt/slides/slide24.xml" Id="R219714385de8477e" /><Relationship Type="http://schemas.openxmlformats.org/officeDocument/2006/relationships/slide" Target="/ppt/slides/slide25.xml" Id="Ra717c57cda9c4b2f" /><Relationship Type="http://schemas.openxmlformats.org/officeDocument/2006/relationships/slide" Target="/ppt/slides/slide26.xml" Id="R281a6694bf5b4e31" /><Relationship Type="http://schemas.openxmlformats.org/officeDocument/2006/relationships/slide" Target="/ppt/slides/slide27.xml" Id="Rc4424db5f4dc47ef" /><Relationship Type="http://schemas.openxmlformats.org/officeDocument/2006/relationships/slide" Target="/ppt/slides/slide28.xml" Id="Ra68c10d1289a4eea" /><Relationship Type="http://schemas.openxmlformats.org/officeDocument/2006/relationships/slide" Target="/ppt/slides/slide29.xml" Id="R72e838aa52534387" /><Relationship Type="http://schemas.openxmlformats.org/officeDocument/2006/relationships/slide" Target="/ppt/slides/slide30.xml" Id="R8e42853a24ca4e7b" /><Relationship Type="http://schemas.openxmlformats.org/officeDocument/2006/relationships/slide" Target="/ppt/slides/slide31.xml" Id="R4d6cc0dc9ffc493d" /><Relationship Type="http://schemas.openxmlformats.org/officeDocument/2006/relationships/slide" Target="/ppt/slides/slide32.xml" Id="Rfb1f269b83994450" /><Relationship Type="http://schemas.openxmlformats.org/officeDocument/2006/relationships/slide" Target="/ppt/slides/slide33.xml" Id="Rad8c792c777d479a" /><Relationship Type="http://schemas.openxmlformats.org/officeDocument/2006/relationships/slide" Target="/ppt/slides/slide34.xml" Id="Rf99a9f4ca0b94e72" /><Relationship Type="http://schemas.openxmlformats.org/officeDocument/2006/relationships/slide" Target="/ppt/slides/slide35.xml" Id="Radf72ac051c34638" /><Relationship Type="http://schemas.openxmlformats.org/officeDocument/2006/relationships/slide" Target="/ppt/slides/slide36.xml" Id="R8b61ea375e594d32" /><Relationship Type="http://schemas.openxmlformats.org/officeDocument/2006/relationships/slide" Target="/ppt/slides/slide37.xml" Id="R73579571f14541e3" /><Relationship Type="http://schemas.openxmlformats.org/officeDocument/2006/relationships/slide" Target="/ppt/slides/slide38.xml" Id="Rd4acccc7475447ed" /><Relationship Type="http://schemas.openxmlformats.org/officeDocument/2006/relationships/slide" Target="/ppt/slides/slide39.xml" Id="R496abc7fb4994e18" /><Relationship Type="http://schemas.openxmlformats.org/officeDocument/2006/relationships/slide" Target="/ppt/slides/slide40.xml" Id="R038c08edeef7496d" /><Relationship Type="http://schemas.openxmlformats.org/officeDocument/2006/relationships/slide" Target="/ppt/slides/slide41.xml" Id="R942396b1002d4042" /><Relationship Type="http://schemas.openxmlformats.org/officeDocument/2006/relationships/slide" Target="/ppt/slides/slide42.xml" Id="Rc561e509fcd1486f" /><Relationship Type="http://schemas.openxmlformats.org/officeDocument/2006/relationships/slide" Target="/ppt/slides/slide43.xml" Id="R1c9f8adbd5df4f18" /><Relationship Type="http://schemas.openxmlformats.org/officeDocument/2006/relationships/slide" Target="/ppt/slides/slide44.xml" Id="R891d406937c24002" /><Relationship Type="http://schemas.openxmlformats.org/officeDocument/2006/relationships/slide" Target="/ppt/slides/slide45.xml" Id="R7b25413685bf4d1b" /><Relationship Type="http://schemas.openxmlformats.org/officeDocument/2006/relationships/slide" Target="/ppt/slides/slide46.xml" Id="Rad875f2608144ce7" /><Relationship Type="http://schemas.openxmlformats.org/officeDocument/2006/relationships/slide" Target="/ppt/slides/slide47.xml" Id="Rbce2d0e814444b0b" /><Relationship Type="http://schemas.openxmlformats.org/officeDocument/2006/relationships/slide" Target="/ppt/slides/slide48.xml" Id="Rccb37bc5d96b42f6" /><Relationship Type="http://schemas.openxmlformats.org/officeDocument/2006/relationships/slide" Target="/ppt/slides/slide49.xml" Id="R9fe94bdc54b447af" /><Relationship Type="http://schemas.openxmlformats.org/officeDocument/2006/relationships/slide" Target="/ppt/slides/slide50.xml" Id="R40b79f3ad1464ded" /><Relationship Type="http://schemas.openxmlformats.org/officeDocument/2006/relationships/slide" Target="/ppt/slides/slide51.xml" Id="R46f8e4166c964a3b" /><Relationship Type="http://schemas.openxmlformats.org/officeDocument/2006/relationships/slide" Target="/ppt/slides/slide52.xml" Id="Re00a6234ce724480" /><Relationship Type="http://schemas.openxmlformats.org/officeDocument/2006/relationships/slide" Target="/ppt/slides/slide53.xml" Id="R14bff31e89594e03" /><Relationship Type="http://schemas.openxmlformats.org/officeDocument/2006/relationships/slide" Target="/ppt/slides/slide54.xml" Id="R43071f2adce44bea" /><Relationship Type="http://schemas.openxmlformats.org/officeDocument/2006/relationships/slide" Target="/ppt/slides/slide55.xml" Id="R3e8b2f5889b84889" /><Relationship Type="http://schemas.openxmlformats.org/officeDocument/2006/relationships/slide" Target="/ppt/slides/slide56.xml" Id="R8da3980d32404be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592accc78414c3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f6fe532f50d4967" /><Relationship Type="http://schemas.openxmlformats.org/officeDocument/2006/relationships/notesMaster" Target="/ppt/notesMasters/notesMaster1.xml" Id="R2a444e58fdaf423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dec774808ab4054" /><Relationship Type="http://schemas.openxmlformats.org/officeDocument/2006/relationships/notesMaster" Target="/ppt/notesMasters/notesMaster1.xml" Id="Rf55bfd9bbb5e463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eca0ed4c41547dc" /><Relationship Type="http://schemas.openxmlformats.org/officeDocument/2006/relationships/notesMaster" Target="/ppt/notesMasters/notesMaster1.xml" Id="Rb53c520b303e416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e5c9f9f9b354674" /><Relationship Type="http://schemas.openxmlformats.org/officeDocument/2006/relationships/notesMaster" Target="/ppt/notesMasters/notesMaster1.xml" Id="Rfe048ee1bf604d9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a1b370bb5584a02" /><Relationship Type="http://schemas.openxmlformats.org/officeDocument/2006/relationships/notesMaster" Target="/ppt/notesMasters/notesMaster1.xml" Id="R554dcd21ad314cf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c108772c7744af7" /><Relationship Type="http://schemas.openxmlformats.org/officeDocument/2006/relationships/notesMaster" Target="/ppt/notesMasters/notesMaster1.xml" Id="Rc660c8c65846496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9a10df0305441f3" /><Relationship Type="http://schemas.openxmlformats.org/officeDocument/2006/relationships/notesMaster" Target="/ppt/notesMasters/notesMaster1.xml" Id="Rccb1b864c626425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023c14b8f4e43be" /><Relationship Type="http://schemas.openxmlformats.org/officeDocument/2006/relationships/notesMaster" Target="/ppt/notesMasters/notesMaster1.xml" Id="Red0caa3e3568452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b72750e53b54603" /><Relationship Type="http://schemas.openxmlformats.org/officeDocument/2006/relationships/notesMaster" Target="/ppt/notesMasters/notesMaster1.xml" Id="R680774692aff4be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92c497faacd46a7" /><Relationship Type="http://schemas.openxmlformats.org/officeDocument/2006/relationships/notesMaster" Target="/ppt/notesMasters/notesMaster1.xml" Id="Ra138407da13b4db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37f837c933445c7" /><Relationship Type="http://schemas.openxmlformats.org/officeDocument/2006/relationships/notesMaster" Target="/ppt/notesMasters/notesMaster1.xml" Id="R176c7fae4d2a4a8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5464e61086b4665" /><Relationship Type="http://schemas.openxmlformats.org/officeDocument/2006/relationships/notesMaster" Target="/ppt/notesMasters/notesMaster1.xml" Id="R6faa60eff362488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31a06cbf3794c2a" /><Relationship Type="http://schemas.openxmlformats.org/officeDocument/2006/relationships/notesMaster" Target="/ppt/notesMasters/notesMaster1.xml" Id="R453d187eb280452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0ee3186af984858" /><Relationship Type="http://schemas.openxmlformats.org/officeDocument/2006/relationships/notesMaster" Target="/ppt/notesMasters/notesMaster1.xml" Id="Rf6953525be72415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3a2f710bb0e43da" /><Relationship Type="http://schemas.openxmlformats.org/officeDocument/2006/relationships/notesMaster" Target="/ppt/notesMasters/notesMaster1.xml" Id="R294b31ee4d6c4709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5842cdddbed4f20" /><Relationship Type="http://schemas.openxmlformats.org/officeDocument/2006/relationships/notesMaster" Target="/ppt/notesMasters/notesMaster1.xml" Id="R6b422004d5bc4a5f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6c401e40bb874c92" /><Relationship Type="http://schemas.openxmlformats.org/officeDocument/2006/relationships/notesMaster" Target="/ppt/notesMasters/notesMaster1.xml" Id="R0d6e056a4c1a44da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6e0994b6d49e4bf1" /><Relationship Type="http://schemas.openxmlformats.org/officeDocument/2006/relationships/notesMaster" Target="/ppt/notesMasters/notesMaster1.xml" Id="R68a995dc5a3746f0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07d3397fec614698" /><Relationship Type="http://schemas.openxmlformats.org/officeDocument/2006/relationships/notesMaster" Target="/ppt/notesMasters/notesMaster1.xml" Id="Ra5337798a7ec440a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d8eb173067fa4650" /><Relationship Type="http://schemas.openxmlformats.org/officeDocument/2006/relationships/notesMaster" Target="/ppt/notesMasters/notesMaster1.xml" Id="R39ed7c8a5d604db3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fe0b593a78354b26" /><Relationship Type="http://schemas.openxmlformats.org/officeDocument/2006/relationships/notesMaster" Target="/ppt/notesMasters/notesMaster1.xml" Id="R5edb58e1db14405d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bcdfc7e2c5364eea" /><Relationship Type="http://schemas.openxmlformats.org/officeDocument/2006/relationships/notesMaster" Target="/ppt/notesMasters/notesMaster1.xml" Id="R1003828815b4489b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14f3c1f0173a4442" /><Relationship Type="http://schemas.openxmlformats.org/officeDocument/2006/relationships/notesMaster" Target="/ppt/notesMasters/notesMaster1.xml" Id="R7fb8cb4e86994624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bbd7b645256e4c9f" /><Relationship Type="http://schemas.openxmlformats.org/officeDocument/2006/relationships/notesMaster" Target="/ppt/notesMasters/notesMaster1.xml" Id="Ra8b45c26c2044d96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bcf8655828ef45c0" /><Relationship Type="http://schemas.openxmlformats.org/officeDocument/2006/relationships/notesMaster" Target="/ppt/notesMasters/notesMaster1.xml" Id="Re4bcf6041a844a34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83bc80ba19034fd2" /><Relationship Type="http://schemas.openxmlformats.org/officeDocument/2006/relationships/notesMaster" Target="/ppt/notesMasters/notesMaster1.xml" Id="R3b24654d848a4513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01908a682af4463d" /><Relationship Type="http://schemas.openxmlformats.org/officeDocument/2006/relationships/notesMaster" Target="/ppt/notesMasters/notesMaster1.xml" Id="R113b62d956ae4aee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5ba336dea22f47ec" /><Relationship Type="http://schemas.openxmlformats.org/officeDocument/2006/relationships/notesMaster" Target="/ppt/notesMasters/notesMaster1.xml" Id="Rbbf7bb15ca0d4849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fb9770caf2c1409a" /><Relationship Type="http://schemas.openxmlformats.org/officeDocument/2006/relationships/notesMaster" Target="/ppt/notesMasters/notesMaster1.xml" Id="R48a9e62653694453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ca838ec8ceaa4767" /><Relationship Type="http://schemas.openxmlformats.org/officeDocument/2006/relationships/notesMaster" Target="/ppt/notesMasters/notesMaster1.xml" Id="Rd4d3e40b406741f4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f9a62db671f84d39" /><Relationship Type="http://schemas.openxmlformats.org/officeDocument/2006/relationships/notesMaster" Target="/ppt/notesMasters/notesMaster1.xml" Id="R8ebb7310c5a244d7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2ef96717f998442d" /><Relationship Type="http://schemas.openxmlformats.org/officeDocument/2006/relationships/notesMaster" Target="/ppt/notesMasters/notesMaster1.xml" Id="Rcd731f5ab34b4d3b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d17b469969fe435a" /><Relationship Type="http://schemas.openxmlformats.org/officeDocument/2006/relationships/notesMaster" Target="/ppt/notesMasters/notesMaster1.xml" Id="R72e951b02d574943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b90ba9ee3b804cee" /><Relationship Type="http://schemas.openxmlformats.org/officeDocument/2006/relationships/notesMaster" Target="/ppt/notesMasters/notesMaster1.xml" Id="R3ce128d5447b4c10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042c63ab6acc4086" /><Relationship Type="http://schemas.openxmlformats.org/officeDocument/2006/relationships/notesMaster" Target="/ppt/notesMasters/notesMaster1.xml" Id="R3022ffbc4d6240e3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ef3e5fc6a10043e4" /><Relationship Type="http://schemas.openxmlformats.org/officeDocument/2006/relationships/notesMaster" Target="/ppt/notesMasters/notesMaster1.xml" Id="Rb1f9ed6476194ce8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fcbc42e38d494d73" /><Relationship Type="http://schemas.openxmlformats.org/officeDocument/2006/relationships/notesMaster" Target="/ppt/notesMasters/notesMaster1.xml" Id="R929aff8b919a4a21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64b0305b89874c68" /><Relationship Type="http://schemas.openxmlformats.org/officeDocument/2006/relationships/notesMaster" Target="/ppt/notesMasters/notesMaster1.xml" Id="R6aee47bd469a4d74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fe2562f45edd4e1c" /><Relationship Type="http://schemas.openxmlformats.org/officeDocument/2006/relationships/notesMaster" Target="/ppt/notesMasters/notesMaster1.xml" Id="R1de2f3af39434baa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98ae89f30cc54611" /><Relationship Type="http://schemas.openxmlformats.org/officeDocument/2006/relationships/notesMaster" Target="/ppt/notesMasters/notesMaster1.xml" Id="Ra213644e02b04928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1c9e45f32ffb4a4d" /><Relationship Type="http://schemas.openxmlformats.org/officeDocument/2006/relationships/notesMaster" Target="/ppt/notesMasters/notesMaster1.xml" Id="Rb9f967ee15af463a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2a5e60a3d9d94703" /><Relationship Type="http://schemas.openxmlformats.org/officeDocument/2006/relationships/notesMaster" Target="/ppt/notesMasters/notesMaster1.xml" Id="Rb6f3113098c241a9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23baa95e39b44b05" /><Relationship Type="http://schemas.openxmlformats.org/officeDocument/2006/relationships/notesMaster" Target="/ppt/notesMasters/notesMaster1.xml" Id="Re003b2122e174c0c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977ada7cd12d4b00" /><Relationship Type="http://schemas.openxmlformats.org/officeDocument/2006/relationships/notesMaster" Target="/ppt/notesMasters/notesMaster1.xml" Id="R551c86eb8ac04509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e1e4d373f4174a45" /><Relationship Type="http://schemas.openxmlformats.org/officeDocument/2006/relationships/notesMaster" Target="/ppt/notesMasters/notesMaster1.xml" Id="Rbc3000a1dddb43ab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b89eeed50025469a" /><Relationship Type="http://schemas.openxmlformats.org/officeDocument/2006/relationships/notesMaster" Target="/ppt/notesMasters/notesMaster1.xml" Id="R87f55f97ae8f48f4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b71bc4f596834b91" /><Relationship Type="http://schemas.openxmlformats.org/officeDocument/2006/relationships/notesMaster" Target="/ppt/notesMasters/notesMaster1.xml" Id="R0034a471d3a448ef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a1e6023335a6492a" /><Relationship Type="http://schemas.openxmlformats.org/officeDocument/2006/relationships/notesMaster" Target="/ppt/notesMasters/notesMaster1.xml" Id="R4712ee872d144f51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7f37cbb46b82457f" /><Relationship Type="http://schemas.openxmlformats.org/officeDocument/2006/relationships/notesMaster" Target="/ppt/notesMasters/notesMaster1.xml" Id="Rb7d53010b0cf4763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5afb2b32bae849b1" /><Relationship Type="http://schemas.openxmlformats.org/officeDocument/2006/relationships/notesMaster" Target="/ppt/notesMasters/notesMaster1.xml" Id="R1928269ce181426f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da185fb39efe4672" /><Relationship Type="http://schemas.openxmlformats.org/officeDocument/2006/relationships/notesMaster" Target="/ppt/notesMasters/notesMaster1.xml" Id="R9acbe8df6a254f48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3b270de98ad440e6" /><Relationship Type="http://schemas.openxmlformats.org/officeDocument/2006/relationships/notesMaster" Target="/ppt/notesMasters/notesMaster1.xml" Id="Rf7582bd09b3a43d9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796e02f56c73483d" /><Relationship Type="http://schemas.openxmlformats.org/officeDocument/2006/relationships/notesMaster" Target="/ppt/notesMasters/notesMaster1.xml" Id="Ra118368c5ae24f57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6f2c7a87cc0f4c48" /><Relationship Type="http://schemas.openxmlformats.org/officeDocument/2006/relationships/notesMaster" Target="/ppt/notesMasters/notesMaster1.xml" Id="R8e49312290884dbf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c19cef9591f047e8" /><Relationship Type="http://schemas.openxmlformats.org/officeDocument/2006/relationships/notesMaster" Target="/ppt/notesMasters/notesMaster1.xml" Id="R489caa0f1629479c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4c8e54754b8a485e" /><Relationship Type="http://schemas.openxmlformats.org/officeDocument/2006/relationships/notesMaster" Target="/ppt/notesMasters/notesMaster1.xml" Id="R8aa76921600c48f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55904b8d8d4499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fa44831560b45aa" /><Relationship Type="http://schemas.openxmlformats.org/officeDocument/2006/relationships/slideLayout" Target="/ppt/slideLayouts/slideLayout1.xml" Id="Ra60fb324270b485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60fb324270b485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8d79b978a84b8c" /><Relationship Type="http://schemas.openxmlformats.org/officeDocument/2006/relationships/notesSlide" Target="/ppt/notesSlides/notesSlide1.xml" Id="Recfe639924cb416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711c819465436d" /><Relationship Type="http://schemas.openxmlformats.org/officeDocument/2006/relationships/notesSlide" Target="/ppt/notesSlides/notesSlide2.xml" Id="R42d820ac6bc8498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1e41af9de54e1b" /><Relationship Type="http://schemas.openxmlformats.org/officeDocument/2006/relationships/chart" Target="/ppt/slides/charts/chart1.xml" Id="R5f6deb87173b4239" /><Relationship Type="http://schemas.openxmlformats.org/officeDocument/2006/relationships/notesSlide" Target="/ppt/notesSlides/notesSlide3.xml" Id="Rdac224ab6c0d4ea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4566a02bdb4b58" /><Relationship Type="http://schemas.openxmlformats.org/officeDocument/2006/relationships/chart" Target="/ppt/slides/charts/chart2.xml" Id="Rceb2f672feaa4b3a" /><Relationship Type="http://schemas.openxmlformats.org/officeDocument/2006/relationships/chart" Target="/ppt/slides/charts/chart3.xml" Id="R4c7f8c3d698743a4" /><Relationship Type="http://schemas.openxmlformats.org/officeDocument/2006/relationships/chart" Target="/ppt/slides/charts/chart4.xml" Id="R4cca252bad904225" /><Relationship Type="http://schemas.openxmlformats.org/officeDocument/2006/relationships/notesSlide" Target="/ppt/notesSlides/notesSlide4.xml" Id="R31b776a3046a4f2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84f1ea518c4dfc" /><Relationship Type="http://schemas.openxmlformats.org/officeDocument/2006/relationships/chart" Target="/ppt/slides/charts/chart5.xml" Id="R414eadb37a6c4e30" /><Relationship Type="http://schemas.openxmlformats.org/officeDocument/2006/relationships/chart" Target="/ppt/slides/charts/chart6.xml" Id="R72f85b2605304b8d" /><Relationship Type="http://schemas.openxmlformats.org/officeDocument/2006/relationships/chart" Target="/ppt/slides/charts/chart7.xml" Id="R4d0f73e60f7444ab" /><Relationship Type="http://schemas.openxmlformats.org/officeDocument/2006/relationships/chart" Target="/ppt/slides/charts/chart8.xml" Id="R78845f9f2f214c48" /><Relationship Type="http://schemas.openxmlformats.org/officeDocument/2006/relationships/notesSlide" Target="/ppt/notesSlides/notesSlide5.xml" Id="Re0912c144b6040a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35738caa2b46af" /><Relationship Type="http://schemas.openxmlformats.org/officeDocument/2006/relationships/chart" Target="/ppt/slides/charts/chart9.xml" Id="Rf9eea177dfa4417c" /><Relationship Type="http://schemas.openxmlformats.org/officeDocument/2006/relationships/chart" Target="/ppt/slides/charts/chart10.xml" Id="Ref9b630ee3cf42bf" /><Relationship Type="http://schemas.openxmlformats.org/officeDocument/2006/relationships/notesSlide" Target="/ppt/notesSlides/notesSlide6.xml" Id="R976443fe9d314cf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b405d03dd74369" /><Relationship Type="http://schemas.openxmlformats.org/officeDocument/2006/relationships/chart" Target="/ppt/slides/charts/chart11.xml" Id="Rece7b52e4dcb4775" /><Relationship Type="http://schemas.openxmlformats.org/officeDocument/2006/relationships/chart" Target="/ppt/slides/charts/chart12.xml" Id="R82d5c51d7cf546e6" /><Relationship Type="http://schemas.openxmlformats.org/officeDocument/2006/relationships/notesSlide" Target="/ppt/notesSlides/notesSlide7.xml" Id="R11fb6b1af7c4435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280cf6692b4db2" /><Relationship Type="http://schemas.openxmlformats.org/officeDocument/2006/relationships/chart" Target="/ppt/slides/charts/chart13.xml" Id="Ra46f79c78e2d4f58" /><Relationship Type="http://schemas.openxmlformats.org/officeDocument/2006/relationships/chart" Target="/ppt/slides/charts/chart14.xml" Id="Rd2d2d10f6fd54648" /><Relationship Type="http://schemas.openxmlformats.org/officeDocument/2006/relationships/notesSlide" Target="/ppt/notesSlides/notesSlide8.xml" Id="Re68360e9ca4046b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9ebfb564b44c3d" /><Relationship Type="http://schemas.openxmlformats.org/officeDocument/2006/relationships/chart" Target="/ppt/slides/charts/chart15.xml" Id="R2bf55b04661e40bc" /><Relationship Type="http://schemas.openxmlformats.org/officeDocument/2006/relationships/notesSlide" Target="/ppt/notesSlides/notesSlide9.xml" Id="R092c8c46e52d4ab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5f0c5ac3a8466d" /><Relationship Type="http://schemas.openxmlformats.org/officeDocument/2006/relationships/chart" Target="/ppt/slides/charts/chart16.xml" Id="R0c9f2de14c654a01" /><Relationship Type="http://schemas.openxmlformats.org/officeDocument/2006/relationships/notesSlide" Target="/ppt/notesSlides/notesSlide10.xml" Id="R7a7955c42f8e454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66d5f7f30d4196" /><Relationship Type="http://schemas.openxmlformats.org/officeDocument/2006/relationships/chart" Target="/ppt/slides/charts/chart17.xml" Id="Rc634fd1f656140cf" /><Relationship Type="http://schemas.openxmlformats.org/officeDocument/2006/relationships/notesSlide" Target="/ppt/notesSlides/notesSlide11.xml" Id="R6e2be18cccac411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2b026dc36e4045" /><Relationship Type="http://schemas.openxmlformats.org/officeDocument/2006/relationships/chart" Target="/ppt/slides/charts/chart18.xml" Id="Re136adc0495a4078" /><Relationship Type="http://schemas.openxmlformats.org/officeDocument/2006/relationships/chart" Target="/ppt/slides/charts/chart19.xml" Id="Rf22b3f03354d4560" /><Relationship Type="http://schemas.openxmlformats.org/officeDocument/2006/relationships/notesSlide" Target="/ppt/notesSlides/notesSlide12.xml" Id="R5371ee324a3a456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43e2f78ebd4954" /><Relationship Type="http://schemas.openxmlformats.org/officeDocument/2006/relationships/chart" Target="/ppt/slides/charts/chart20.xml" Id="Ra227eecbf8e04b7a" /><Relationship Type="http://schemas.openxmlformats.org/officeDocument/2006/relationships/notesSlide" Target="/ppt/notesSlides/notesSlide13.xml" Id="Rdecc9398aec14de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d84f8e7ec4466e" /><Relationship Type="http://schemas.openxmlformats.org/officeDocument/2006/relationships/chart" Target="/ppt/slides/charts/chart21.xml" Id="Rd2021f52ba204271" /><Relationship Type="http://schemas.openxmlformats.org/officeDocument/2006/relationships/notesSlide" Target="/ppt/notesSlides/notesSlide14.xml" Id="R2774c5706dbd4a89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9ca6ccc0134117" /><Relationship Type="http://schemas.openxmlformats.org/officeDocument/2006/relationships/chart" Target="/ppt/slides/charts/chart22.xml" Id="R821a9f450b6f4630" /><Relationship Type="http://schemas.openxmlformats.org/officeDocument/2006/relationships/notesSlide" Target="/ppt/notesSlides/notesSlide15.xml" Id="R945ad1b07344410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74fa6569f64f8a" /><Relationship Type="http://schemas.openxmlformats.org/officeDocument/2006/relationships/chart" Target="/ppt/slides/charts/chart23.xml" Id="Rc6ca55644c424382" /><Relationship Type="http://schemas.openxmlformats.org/officeDocument/2006/relationships/chart" Target="/ppt/slides/charts/chart24.xml" Id="Rf0a89484927145c2" /><Relationship Type="http://schemas.openxmlformats.org/officeDocument/2006/relationships/chart" Target="/ppt/slides/charts/chart25.xml" Id="R386da7f7029b4547" /><Relationship Type="http://schemas.openxmlformats.org/officeDocument/2006/relationships/notesSlide" Target="/ppt/notesSlides/notesSlide16.xml" Id="R23ed9d22f06a4ab7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84e6cf7e1140b3" /><Relationship Type="http://schemas.openxmlformats.org/officeDocument/2006/relationships/chart" Target="/ppt/slides/charts/chart26.xml" Id="Rba296a62acad4aa9" /><Relationship Type="http://schemas.openxmlformats.org/officeDocument/2006/relationships/chart" Target="/ppt/slides/charts/chart27.xml" Id="R15a205cc55d949b0" /><Relationship Type="http://schemas.openxmlformats.org/officeDocument/2006/relationships/chart" Target="/ppt/slides/charts/chart28.xml" Id="Rc15f96e2dc0244bf" /><Relationship Type="http://schemas.openxmlformats.org/officeDocument/2006/relationships/notesSlide" Target="/ppt/notesSlides/notesSlide17.xml" Id="Rac506f416c0149c9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f36341f684467a" /><Relationship Type="http://schemas.openxmlformats.org/officeDocument/2006/relationships/chart" Target="/ppt/slides/charts/chart29.xml" Id="Rf7f371a1b9044c51" /><Relationship Type="http://schemas.openxmlformats.org/officeDocument/2006/relationships/notesSlide" Target="/ppt/notesSlides/notesSlide18.xml" Id="R5ce6bea03c4e47d1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803f4a376841d2" /><Relationship Type="http://schemas.openxmlformats.org/officeDocument/2006/relationships/chart" Target="/ppt/slides/charts/chart30.xml" Id="Re10f124b808d4fac" /><Relationship Type="http://schemas.openxmlformats.org/officeDocument/2006/relationships/chart" Target="/ppt/slides/charts/chart31.xml" Id="R36e2d336a0764bfe" /><Relationship Type="http://schemas.openxmlformats.org/officeDocument/2006/relationships/notesSlide" Target="/ppt/notesSlides/notesSlide19.xml" Id="R32174f74d4094a8b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6895f4b4764053" /><Relationship Type="http://schemas.openxmlformats.org/officeDocument/2006/relationships/image" Target="/ppt/media/image.png" Id="Rd054285042d346ce" /><Relationship Type="http://schemas.openxmlformats.org/officeDocument/2006/relationships/notesSlide" Target="/ppt/notesSlides/notesSlide20.xml" Id="R8fbbe6324de14442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6dfa0b1f71424d" /><Relationship Type="http://schemas.openxmlformats.org/officeDocument/2006/relationships/image" Target="/ppt/media/image2.png" Id="R8bcc108177f7439e" /><Relationship Type="http://schemas.openxmlformats.org/officeDocument/2006/relationships/notesSlide" Target="/ppt/notesSlides/notesSlide21.xml" Id="R3bcddc3d2acf427b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736f59153b4de7" /><Relationship Type="http://schemas.openxmlformats.org/officeDocument/2006/relationships/image" Target="/ppt/media/image3.png" Id="R9308070a9dfc4318" /><Relationship Type="http://schemas.openxmlformats.org/officeDocument/2006/relationships/notesSlide" Target="/ppt/notesSlides/notesSlide22.xml" Id="R43f40bea65fb4208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a05d338a3f4a8e" /><Relationship Type="http://schemas.openxmlformats.org/officeDocument/2006/relationships/image" Target="/ppt/media/image4.png" Id="R8cf1c2901d5c435b" /><Relationship Type="http://schemas.openxmlformats.org/officeDocument/2006/relationships/notesSlide" Target="/ppt/notesSlides/notesSlide23.xml" Id="Ra80cef750a1241be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587294903243fe" /><Relationship Type="http://schemas.openxmlformats.org/officeDocument/2006/relationships/notesSlide" Target="/ppt/notesSlides/notesSlide24.xml" Id="Re004f7039b7c41f8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74f7e2955a4169" /><Relationship Type="http://schemas.openxmlformats.org/officeDocument/2006/relationships/notesSlide" Target="/ppt/notesSlides/notesSlide25.xml" Id="R2fa2708dac184343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699e9f44fa4be4" /><Relationship Type="http://schemas.openxmlformats.org/officeDocument/2006/relationships/chart" Target="/ppt/slides/charts/chart32.xml" Id="R3d87943131844a86" /><Relationship Type="http://schemas.openxmlformats.org/officeDocument/2006/relationships/notesSlide" Target="/ppt/notesSlides/notesSlide26.xml" Id="Rf16d64c05ec34851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b7aa9a5d2a48f1" /><Relationship Type="http://schemas.openxmlformats.org/officeDocument/2006/relationships/notesSlide" Target="/ppt/notesSlides/notesSlide27.xml" Id="R55ce3bcc9dfe4af2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aed88895be462e" /><Relationship Type="http://schemas.openxmlformats.org/officeDocument/2006/relationships/chart" Target="/ppt/slides/charts/chart33.xml" Id="R5d63c7cacf0c44fb" /><Relationship Type="http://schemas.openxmlformats.org/officeDocument/2006/relationships/chart" Target="/ppt/slides/charts/chart34.xml" Id="R08c62ad212224cb5" /><Relationship Type="http://schemas.openxmlformats.org/officeDocument/2006/relationships/notesSlide" Target="/ppt/notesSlides/notesSlide28.xml" Id="Raf9df9b09d544ed0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086eddcf474b8e" /><Relationship Type="http://schemas.openxmlformats.org/officeDocument/2006/relationships/chart" Target="/ppt/slides/charts/chart35.xml" Id="R427346f106e74e44" /><Relationship Type="http://schemas.openxmlformats.org/officeDocument/2006/relationships/notesSlide" Target="/ppt/notesSlides/notesSlide29.xml" Id="Ra1856dded9f2450c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4dda28dc994f7c" /><Relationship Type="http://schemas.openxmlformats.org/officeDocument/2006/relationships/chart" Target="/ppt/slides/charts/chart36.xml" Id="Rece5754b59fa403c" /><Relationship Type="http://schemas.openxmlformats.org/officeDocument/2006/relationships/notesSlide" Target="/ppt/notesSlides/notesSlide30.xml" Id="Rd84352753a8d40f3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46640067aa407e" /><Relationship Type="http://schemas.openxmlformats.org/officeDocument/2006/relationships/notesSlide" Target="/ppt/notesSlides/notesSlide31.xml" Id="R4a0cd4602dff4829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a93cbb6031484e" /><Relationship Type="http://schemas.openxmlformats.org/officeDocument/2006/relationships/notesSlide" Target="/ppt/notesSlides/notesSlide32.xml" Id="R130d5a8cb24f4f26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6c31cd83874268" /><Relationship Type="http://schemas.openxmlformats.org/officeDocument/2006/relationships/chart" Target="/ppt/slides/charts/chart37.xml" Id="R5cc8a1c3c1a743c8" /><Relationship Type="http://schemas.openxmlformats.org/officeDocument/2006/relationships/notesSlide" Target="/ppt/notesSlides/notesSlide33.xml" Id="Rb11390bec80b426f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5746f5df094df3" /><Relationship Type="http://schemas.openxmlformats.org/officeDocument/2006/relationships/chart" Target="/ppt/slides/charts/chart38.xml" Id="R9fb83d8655a340e6" /><Relationship Type="http://schemas.openxmlformats.org/officeDocument/2006/relationships/notesSlide" Target="/ppt/notesSlides/notesSlide34.xml" Id="Rcf3c6fce7c60443b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01e69ef0ab4c62" /><Relationship Type="http://schemas.openxmlformats.org/officeDocument/2006/relationships/chart" Target="/ppt/slides/charts/chart39.xml" Id="R2887069d3020469b" /><Relationship Type="http://schemas.openxmlformats.org/officeDocument/2006/relationships/notesSlide" Target="/ppt/notesSlides/notesSlide35.xml" Id="R8d10e75478874cf7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ae5e6dd9224265" /><Relationship Type="http://schemas.openxmlformats.org/officeDocument/2006/relationships/notesSlide" Target="/ppt/notesSlides/notesSlide36.xml" Id="Rc13c472b95424f34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f8f5928f9c48ed" /><Relationship Type="http://schemas.openxmlformats.org/officeDocument/2006/relationships/notesSlide" Target="/ppt/notesSlides/notesSlide37.xml" Id="R0fa0695024cb48ba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c0c52ef0024a8d" /><Relationship Type="http://schemas.openxmlformats.org/officeDocument/2006/relationships/notesSlide" Target="/ppt/notesSlides/notesSlide38.xml" Id="Ra08c7a75a50549dd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aa304929af47ce" /><Relationship Type="http://schemas.openxmlformats.org/officeDocument/2006/relationships/notesSlide" Target="/ppt/notesSlides/notesSlide39.xml" Id="R8142ba6b76d045af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bdad6247d24666" /><Relationship Type="http://schemas.openxmlformats.org/officeDocument/2006/relationships/notesSlide" Target="/ppt/notesSlides/notesSlide40.xml" Id="R48aef9bbfd574b18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84eb1dedd74160" /><Relationship Type="http://schemas.openxmlformats.org/officeDocument/2006/relationships/notesSlide" Target="/ppt/notesSlides/notesSlide41.xml" Id="R5b80798c25244940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5cc9fe92d14cf2" /><Relationship Type="http://schemas.openxmlformats.org/officeDocument/2006/relationships/notesSlide" Target="/ppt/notesSlides/notesSlide42.xml" Id="Rd36290706b5f4fd3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19ac5ed9c04e94" /><Relationship Type="http://schemas.openxmlformats.org/officeDocument/2006/relationships/notesSlide" Target="/ppt/notesSlides/notesSlide43.xml" Id="Rf07a5562ee8b4027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e74ca713e4437d" /><Relationship Type="http://schemas.openxmlformats.org/officeDocument/2006/relationships/notesSlide" Target="/ppt/notesSlides/notesSlide44.xml" Id="Raa3d331423e54b68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f9b47b7c8c4c6c" /><Relationship Type="http://schemas.openxmlformats.org/officeDocument/2006/relationships/notesSlide" Target="/ppt/notesSlides/notesSlide45.xml" Id="R79b1300f568b49bd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9a609d7c1e4a12" /><Relationship Type="http://schemas.openxmlformats.org/officeDocument/2006/relationships/notesSlide" Target="/ppt/notesSlides/notesSlide46.xml" Id="R16409667267d4076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f8227fa46c4390" /><Relationship Type="http://schemas.openxmlformats.org/officeDocument/2006/relationships/notesSlide" Target="/ppt/notesSlides/notesSlide47.xml" Id="R2af9f0f395eb40f1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97e92fe4224052" /><Relationship Type="http://schemas.openxmlformats.org/officeDocument/2006/relationships/notesSlide" Target="/ppt/notesSlides/notesSlide48.xml" Id="R88a5c5a941774a2b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8eb233284747b1" /><Relationship Type="http://schemas.openxmlformats.org/officeDocument/2006/relationships/notesSlide" Target="/ppt/notesSlides/notesSlide49.xml" Id="R68d999497ac5411b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355a3ffeda4326" /><Relationship Type="http://schemas.openxmlformats.org/officeDocument/2006/relationships/notesSlide" Target="/ppt/notesSlides/notesSlide50.xml" Id="R13326bffb15640db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317592a13348c3" /><Relationship Type="http://schemas.openxmlformats.org/officeDocument/2006/relationships/notesSlide" Target="/ppt/notesSlides/notesSlide51.xml" Id="Rbe7d73df3b224b45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dce22526a6407d" /><Relationship Type="http://schemas.openxmlformats.org/officeDocument/2006/relationships/notesSlide" Target="/ppt/notesSlides/notesSlide52.xml" Id="R151a1450aae54a14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9071b7f55e41a8" /><Relationship Type="http://schemas.openxmlformats.org/officeDocument/2006/relationships/notesSlide" Target="/ppt/notesSlides/notesSlide53.xml" Id="R23f486992ae64468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18d9fb8cb048b2" /><Relationship Type="http://schemas.openxmlformats.org/officeDocument/2006/relationships/notesSlide" Target="/ppt/notesSlides/notesSlide54.xml" Id="Re83cdbcce24a4e6b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edf39050fe482f" /><Relationship Type="http://schemas.openxmlformats.org/officeDocument/2006/relationships/notesSlide" Target="/ppt/notesSlides/notesSlide55.xml" Id="Raed46fa70e504b69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8c70aa45744572" /><Relationship Type="http://schemas.openxmlformats.org/officeDocument/2006/relationships/notesSlide" Target="/ppt/notesSlides/notesSlide56.xml" Id="R263c6e95647b4270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PL ex-FIC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Jun/26</c:v>
              </c:pt>
            </c:strLit>
          </c:cat>
          <c:val>
            <c:numLit>
              <c:formatCode>0</c:formatCode>
              <c:ptCount val="12"/>
              <c:pt idx="0">
                <c:v>82.47394622656002</c:v>
              </c:pt>
              <c:pt idx="1">
                <c:v>91.06663976073001</c:v>
              </c:pt>
              <c:pt idx="2">
                <c:v>110.23395407848999</c:v>
              </c:pt>
              <c:pt idx="3">
                <c:v>131.21875156630003</c:v>
              </c:pt>
              <c:pt idx="4">
                <c:v>229.98374932763</c:v>
              </c:pt>
              <c:pt idx="5">
                <c:v>209.08922654930998</c:v>
              </c:pt>
              <c:pt idx="6">
                <c:v>298.49643822765995</c:v>
              </c:pt>
              <c:pt idx="7">
                <c:v>365.94088087975</c:v>
              </c:pt>
              <c:pt idx="8">
                <c:v>461.75630329412</c:v>
              </c:pt>
              <c:pt idx="9">
                <c:v>682.8970336474498</c:v>
              </c:pt>
              <c:pt idx="10">
                <c:v>833.21732156482</c:v>
              </c:pt>
              <c:pt idx="11">
                <c:v>880.3753465023101</c:v>
              </c:pt>
            </c:numLit>
          </c:val>
        </c:ser>
        <c:ser>
          <c:idx val="1"/>
          <c:order val="1"/>
          <c:tx>
            <c:v>FIC-FIDC</c:v>
          </c:tx>
          <c:spPr>
            <a:solidFill xmlns:a="http://schemas.openxmlformats.org/drawingml/2006/main">
              <a:srgbClr val="D7DADD"/>
            </a:solidFill>
          </c:spPr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85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94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115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142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237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218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309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379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485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732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919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961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Jun/26</c:v>
              </c:pt>
            </c:strLit>
          </c:cat>
          <c:val>
            <c:numLit>
              <c:formatCode>0</c:formatCode>
              <c:ptCount val="12"/>
              <c:pt idx="0">
                <c:v>2.21705534786</c:v>
              </c:pt>
              <c:pt idx="1">
                <c:v>2.73660182632</c:v>
              </c:pt>
              <c:pt idx="2">
                <c:v>5.014084339129999</c:v>
              </c:pt>
              <c:pt idx="3">
                <c:v>10.35147572571</c:v>
              </c:pt>
              <c:pt idx="4">
                <c:v>7.459670380239999</c:v>
              </c:pt>
              <c:pt idx="5">
                <c:v>8.676012592049998</c:v>
              </c:pt>
              <c:pt idx="6">
                <c:v>10.4495380832</c:v>
              </c:pt>
              <c:pt idx="7">
                <c:v>12.957632591489999</c:v>
              </c:pt>
              <c:pt idx="8">
                <c:v>23.60292220748</c:v>
              </c:pt>
              <c:pt idx="9">
                <c:v>48.94008080363</c:v>
              </c:pt>
              <c:pt idx="10">
                <c:v>85.90039630022</c:v>
              </c:pt>
              <c:pt idx="11">
                <c:v>81.11069138634</c:v>
              </c:pt>
            </c:numLit>
          </c:val>
        </c:ser>
        <c:gapWidth val="5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1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200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Contas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2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</c:numLit>
          </c:xVal>
          <c:yVal>
            <c:numLit>
              <c:formatCode>0 "mil"</c:formatCode>
              <c:ptCount val="12"/>
              <c:pt idx="0">
                <c:v>12.508</c:v>
              </c:pt>
              <c:pt idx="1">
                <c:v>13.872</c:v>
              </c:pt>
              <c:pt idx="2">
                <c:v>16.049</c:v>
              </c:pt>
              <c:pt idx="3">
                <c:v>17.678</c:v>
              </c:pt>
              <c:pt idx="4">
                <c:v>25.781</c:v>
              </c:pt>
              <c:pt idx="5">
                <c:v>32.936</c:v>
              </c:pt>
              <c:pt idx="6">
                <c:v>31.626</c:v>
              </c:pt>
              <c:pt idx="7">
                <c:v>48.608</c:v>
              </c:pt>
              <c:pt idx="8">
                <c:v>61.735</c:v>
              </c:pt>
              <c:pt idx="9">
                <c:v>148.582</c:v>
              </c:pt>
              <c:pt idx="10">
                <c:v>387.159</c:v>
              </c:pt>
              <c:pt idx="11">
                <c:v>461.222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 &quot;mil&quot;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</c:valAx>
      <c:valAx>
        <c:axId val="48650112"/>
        <c:scaling>
          <c:orientation val="minMax"/>
          <c:max val="11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Veículos</c:v>
          </c:tx>
          <c:spPr>
            <a:ln xmlns:a="http://schemas.openxmlformats.org/drawingml/2006/main" w="23813">
              <a:solidFill>
                <a:srgbClr val="30353A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2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</c:numLit>
          </c:xVal>
          <c:yVal>
            <c:numLit>
              <c:formatCode>0</c:formatCode>
              <c:ptCount val="12"/>
              <c:pt idx="0">
                <c:v>527</c:v>
              </c:pt>
              <c:pt idx="1">
                <c:v>575</c:v>
              </c:pt>
              <c:pt idx="2">
                <c:v>750</c:v>
              </c:pt>
              <c:pt idx="3">
                <c:v>890</c:v>
              </c:pt>
              <c:pt idx="4">
                <c:v>1042</c:v>
              </c:pt>
              <c:pt idx="5">
                <c:v>1230</c:v>
              </c:pt>
              <c:pt idx="6">
                <c:v>1547</c:v>
              </c:pt>
              <c:pt idx="7">
                <c:v>1912</c:v>
              </c:pt>
              <c:pt idx="8">
                <c:v>2404</c:v>
              </c:pt>
              <c:pt idx="9">
                <c:v>3140</c:v>
              </c:pt>
              <c:pt idx="10">
                <c:v>4007</c:v>
              </c:pt>
              <c:pt idx="11">
                <c:v>4252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</c:valAx>
      <c:valAx>
        <c:axId val="48650112"/>
        <c:scaling>
          <c:orientation val="minMax"/>
          <c:max val="11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Contas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EC7000"/>
              </a:solidFill>
            </c:spPr>
          </c:dPt>
          <c:dPt>
            <c:idx val="1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spPr>
              <a:solidFill xmlns:a="http://schemas.openxmlformats.org/drawingml/2006/main">
                <a:srgbClr val="30353A"/>
              </a:solidFill>
            </c:spPr>
          </c:dPt>
          <c:dPt>
            <c:idx val="3"/>
            <c:spPr>
              <a:solidFill xmlns:a="http://schemas.openxmlformats.org/drawingml/2006/main">
                <a:srgbClr val="30353A"/>
              </a:solidFill>
            </c:spPr>
          </c:dPt>
          <c:dPt>
            <c:idx val="4"/>
            <c:spPr>
              <a:solidFill xmlns:a="http://schemas.openxmlformats.org/drawingml/2006/main">
                <a:srgbClr val="30353A"/>
              </a:solidFill>
            </c:spPr>
          </c:dPt>
          <c:cat>
            <c:strLit>
              <c:ptCount val="5"/>
              <c:pt idx="0">
                <c:v>Fundos</c:v>
              </c:pt>
              <c:pt idx="1">
                <c:v>Empresas e outros</c:v>
              </c:pt>
              <c:pt idx="2">
                <c:v>Pessoa física</c:v>
              </c:pt>
              <c:pt idx="3">
                <c:v>Instituições financeiras</c:v>
              </c:pt>
              <c:pt idx="4">
                <c:v>Previdência e seguros</c:v>
              </c:pt>
            </c:strLit>
          </c:cat>
          <c:val>
            <c:numLit>
              <c:formatCode>0.0%</c:formatCode>
              <c:ptCount val="5"/>
              <c:pt idx="0">
                <c:v>0.442722471315705</c:v>
              </c:pt>
              <c:pt idx="1">
                <c:v>0.25706375155020944</c:v>
              </c:pt>
              <c:pt idx="2">
                <c:v>0.20520653559627777</c:v>
              </c:pt>
              <c:pt idx="3">
                <c:v>0.09422238025445116</c:v>
              </c:pt>
              <c:pt idx="4">
                <c:v>0.0007848612833566045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2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5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3</c:v>
              </c:pt>
              <c:pt idx="1">
                <c:v>106</c:v>
              </c:pt>
              <c:pt idx="2">
                <c:v>104</c:v>
              </c:pt>
              <c:pt idx="3">
                <c:v>71</c:v>
              </c:pt>
              <c:pt idx="4">
                <c:v>50</c:v>
              </c:pt>
              <c:pt idx="5">
                <c:v>75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</c:v>
              </c:pt>
              <c:pt idx="1">
                <c:v>180</c:v>
              </c:pt>
              <c:pt idx="2">
                <c:v>123</c:v>
              </c:pt>
              <c:pt idx="3">
                <c:v>153</c:v>
              </c:pt>
              <c:pt idx="4">
                <c:v>128</c:v>
              </c:pt>
              <c:pt idx="5">
                <c:v>198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6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4.08011139709</c:v>
              </c:pt>
              <c:pt idx="1">
                <c:v>107.00408055976</c:v>
              </c:pt>
              <c:pt idx="2">
                <c:v>65.98513346480999</c:v>
              </c:pt>
              <c:pt idx="3">
                <c:v>87.13513028292</c:v>
              </c:pt>
              <c:pt idx="4">
                <c:v>27.89580794356</c:v>
              </c:pt>
              <c:pt idx="5">
                <c:v>84.79440519127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2.04153385837</c:v>
              </c:pt>
              <c:pt idx="1">
                <c:v>174.97916627078</c:v>
              </c:pt>
              <c:pt idx="2">
                <c:v>85.07690883193</c:v>
              </c:pt>
              <c:pt idx="3">
                <c:v>174.00964091183</c:v>
              </c:pt>
              <c:pt idx="4">
                <c:v>80.62114320047</c:v>
              </c:pt>
              <c:pt idx="5">
                <c:v>216.35550333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7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0.007334963325183374</c:v>
              </c:pt>
              <c:pt idx="1">
                <c:v>0.2591687041564792</c:v>
              </c:pt>
              <c:pt idx="2">
                <c:v>0.254278728606357</c:v>
              </c:pt>
              <c:pt idx="3">
                <c:v>0.17359413202933985</c:v>
              </c:pt>
              <c:pt idx="4">
                <c:v>0.12224938875305623</c:v>
              </c:pt>
              <c:pt idx="5">
                <c:v>0.18337408312958436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0.002551020408163265</c:v>
              </c:pt>
              <c:pt idx="1">
                <c:v>0.22959183673469388</c:v>
              </c:pt>
              <c:pt idx="2">
                <c:v>0.1568877551020408</c:v>
              </c:pt>
              <c:pt idx="3">
                <c:v>0.1951530612244898</c:v>
              </c:pt>
              <c:pt idx="4">
                <c:v>0.16326530612244897</c:v>
              </c:pt>
              <c:pt idx="5">
                <c:v>0.25255102040816324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8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0.010825601247303616</c:v>
              </c:pt>
              <c:pt idx="1">
                <c:v>0.28390977481656304</c:v>
              </c:pt>
              <c:pt idx="2">
                <c:v>0.1750757941681723</c:v>
              </c:pt>
              <c:pt idx="3">
                <c:v>0.23119226003179993</c:v>
              </c:pt>
              <c:pt idx="4">
                <c:v>0.07401486476171423</c:v>
              </c:pt>
              <c:pt idx="5">
                <c:v>0.22498170497444692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0.002784857051677267</c:v>
              </c:pt>
              <c:pt idx="1">
                <c:v>0.23868914203306626</c:v>
              </c:pt>
              <c:pt idx="2">
                <c:v>0.11605344115363893</c:v>
              </c:pt>
              <c:pt idx="3">
                <c:v>0.23736661215114327</c:v>
              </c:pt>
              <c:pt idx="4">
                <c:v>0.10997532969419936</c:v>
              </c:pt>
              <c:pt idx="5">
                <c:v>0.29513061791627493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9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5"/>
              <c:pt idx="0">
                <c:v>Outros</c:v>
              </c:pt>
              <c:pt idx="1">
                <c:v>Financeiro</c:v>
              </c:pt>
              <c:pt idx="2">
                <c:v>Agro, ind. e comércio</c:v>
              </c:pt>
              <c:pt idx="3">
                <c:v>Fomento Mercantil</c:v>
              </c:pt>
              <c:pt idx="4">
                <c:v>N/D</c:v>
              </c:pt>
            </c:strLit>
          </c:cat>
          <c:val>
            <c:numLit>
              <c:formatCode>0.0</c:formatCode>
              <c:ptCount val="5"/>
              <c:pt idx="0">
                <c:v>167.28018582326</c:v>
              </c:pt>
              <c:pt idx="1">
                <c:v>119.92760539484</c:v>
              </c:pt>
              <c:pt idx="2">
                <c:v>119.06650336766</c:v>
              </c:pt>
              <c:pt idx="3">
                <c:v>50.88905009467</c:v>
              </c:pt>
              <c:pt idx="4">
                <c:v>4.5929586136900005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5"/>
              <c:pt idx="0">
                <c:v>Outros</c:v>
              </c:pt>
              <c:pt idx="1">
                <c:v>Financeiro</c:v>
              </c:pt>
              <c:pt idx="2">
                <c:v>Agro, ind. e comércio</c:v>
              </c:pt>
              <c:pt idx="3">
                <c:v>Fomento Mercantil</c:v>
              </c:pt>
              <c:pt idx="4">
                <c:v>N/D</c:v>
              </c:pt>
            </c:strLit>
          </c:cat>
          <c:val>
            <c:numLit>
              <c:formatCode>0.0</c:formatCode>
              <c:ptCount val="5"/>
              <c:pt idx="0">
                <c:v>345.1904543067</c:v>
              </c:pt>
              <c:pt idx="1">
                <c:v>239.36812913753</c:v>
              </c:pt>
              <c:pt idx="2">
                <c:v>189.2379048169</c:v>
              </c:pt>
              <c:pt idx="3">
                <c:v>86.65656370392</c:v>
              </c:pt>
              <c:pt idx="4">
                <c:v>19.92229453726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7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0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5"/>
              <c:pt idx="0">
                <c:v>Outros</c:v>
              </c:pt>
              <c:pt idx="1">
                <c:v>Financeiro</c:v>
              </c:pt>
              <c:pt idx="2">
                <c:v>Agro, ind. e comércio</c:v>
              </c:pt>
              <c:pt idx="3">
                <c:v>Fomento Mercantil</c:v>
              </c:pt>
              <c:pt idx="4">
                <c:v>N/D</c:v>
              </c:pt>
            </c:strLit>
          </c:cat>
          <c:val>
            <c:numLit>
              <c:formatCode>0.0%</c:formatCode>
              <c:ptCount val="5"/>
              <c:pt idx="0">
                <c:v>0.3622694149054406</c:v>
              </c:pt>
              <c:pt idx="1">
                <c:v>0.2597205593931026</c:v>
              </c:pt>
              <c:pt idx="2">
                <c:v>0.2578557185213333</c:v>
              </c:pt>
              <c:pt idx="3">
                <c:v>0.11020759160542687</c:v>
              </c:pt>
              <c:pt idx="4">
                <c:v>0.00994671557469671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5"/>
              <c:pt idx="0">
                <c:v>Outros</c:v>
              </c:pt>
              <c:pt idx="1">
                <c:v>Financeiro</c:v>
              </c:pt>
              <c:pt idx="2">
                <c:v>Agro, ind. e comércio</c:v>
              </c:pt>
              <c:pt idx="3">
                <c:v>Fomento Mercantil</c:v>
              </c:pt>
              <c:pt idx="4">
                <c:v>N/D</c:v>
              </c:pt>
            </c:strLit>
          </c:cat>
          <c:val>
            <c:numLit>
              <c:formatCode>0.0%</c:formatCode>
              <c:ptCount val="5"/>
              <c:pt idx="0">
                <c:v>0.3920946397217114</c:v>
              </c:pt>
              <c:pt idx="1">
                <c:v>0.2718932669895044</c:v>
              </c:pt>
              <c:pt idx="2">
                <c:v>0.21495139041402436</c:v>
              </c:pt>
              <c:pt idx="3">
                <c:v>0.09843138389574682</c:v>
              </c:pt>
              <c:pt idx="4">
                <c:v>0.02262931897901315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7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Industrial</c:v>
              </c:pt>
              <c:pt idx="3">
                <c:v>N/D</c:v>
              </c:pt>
              <c:pt idx="4">
                <c:v>Adquirência</c:v>
              </c:pt>
              <c:pt idx="5">
                <c:v>Serviços</c:v>
              </c:pt>
              <c:pt idx="6">
                <c:v>Setor público</c:v>
              </c:pt>
              <c:pt idx="7">
                <c:v>Cartão</c:v>
              </c:pt>
              <c:pt idx="8">
                <c:v>Ações judiciais</c:v>
              </c:pt>
              <c:pt idx="9">
                <c:v>Agronegócio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112.83368367224</c:v>
              </c:pt>
              <c:pt idx="1">
                <c:v>103.39874467744</c:v>
              </c:pt>
              <c:pt idx="2">
                <c:v>48.499678</c:v>
              </c:pt>
              <c:pt idx="3">
                <c:v>19.32467858927</c:v>
              </c:pt>
              <c:pt idx="4">
                <c:v>45.94413572299</c:v>
              </c:pt>
              <c:pt idx="5">
                <c:v>24.163748261490003</c:v>
              </c:pt>
              <c:pt idx="6">
                <c:v>25.154517560259997</c:v>
              </c:pt>
              <c:pt idx="7">
                <c:v>36.23334706194</c:v>
              </c:pt>
              <c:pt idx="8">
                <c:v>27.32144595605</c:v>
              </c:pt>
              <c:pt idx="9">
                <c:v>17.30426139734</c:v>
              </c:pt>
              <c:pt idx="10">
                <c:v>1.36475726781</c:v>
              </c:pt>
              <c:pt idx="11">
                <c:v>0.21330512728999998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Industrial</c:v>
              </c:pt>
              <c:pt idx="3">
                <c:v>N/D</c:v>
              </c:pt>
              <c:pt idx="4">
                <c:v>Adquirência</c:v>
              </c:pt>
              <c:pt idx="5">
                <c:v>Serviços</c:v>
              </c:pt>
              <c:pt idx="6">
                <c:v>Setor público</c:v>
              </c:pt>
              <c:pt idx="7">
                <c:v>Cartão</c:v>
              </c:pt>
              <c:pt idx="8">
                <c:v>Ações judiciais</c:v>
              </c:pt>
              <c:pt idx="9">
                <c:v>Agronegócio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336.84039317390994</c:v>
              </c:pt>
              <c:pt idx="1">
                <c:v>118.22202651527</c:v>
              </c:pt>
              <c:pt idx="2">
                <c:v>85.66685206006</c:v>
              </c:pt>
              <c:pt idx="3">
                <c:v>84.83552289799</c:v>
              </c:pt>
              <c:pt idx="4">
                <c:v>80.56552407766</c:v>
              </c:pt>
              <c:pt idx="5">
                <c:v>57.4323241591</c:v>
              </c:pt>
              <c:pt idx="6">
                <c:v>43.107876023699994</c:v>
              </c:pt>
              <c:pt idx="7">
                <c:v>29.68746070069</c:v>
              </c:pt>
              <c:pt idx="8">
                <c:v>27.72682732234</c:v>
              </c:pt>
              <c:pt idx="9">
                <c:v>12.07779703784</c:v>
              </c:pt>
              <c:pt idx="10">
                <c:v>4.10910183534</c:v>
              </c:pt>
              <c:pt idx="11">
                <c:v>0.10364069841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5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2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Industrial</c:v>
              </c:pt>
              <c:pt idx="3">
                <c:v>N/D</c:v>
              </c:pt>
              <c:pt idx="4">
                <c:v>Adquirência</c:v>
              </c:pt>
              <c:pt idx="5">
                <c:v>Serviços</c:v>
              </c:pt>
              <c:pt idx="6">
                <c:v>Setor público</c:v>
              </c:pt>
              <c:pt idx="7">
                <c:v>Cartão</c:v>
              </c:pt>
              <c:pt idx="8">
                <c:v>Ações judiciais</c:v>
              </c:pt>
              <c:pt idx="9">
                <c:v>Agronegócio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0.2443576468091428</c:v>
              </c:pt>
              <c:pt idx="1">
                <c:v>0.2239249230379844</c:v>
              </c:pt>
              <c:pt idx="2">
                <c:v>0.1050330610627478</c:v>
              </c:pt>
              <c:pt idx="3">
                <c:v>0.041850383960998</c:v>
              </c:pt>
              <c:pt idx="4">
                <c:v>0.0994986649781052</c:v>
              </c:pt>
              <c:pt idx="5">
                <c:v>0.052330088596752</c:v>
              </c:pt>
              <c:pt idx="6">
                <c:v>0.054475742682472</c:v>
              </c:pt>
              <c:pt idx="7">
                <c:v>0.0784685488935509</c:v>
              </c:pt>
              <c:pt idx="8">
                <c:v>0.0591685392514227</c:v>
              </c:pt>
              <c:pt idx="9">
                <c:v>0.0374748785753291</c:v>
              </c:pt>
              <c:pt idx="10">
                <c:v>0.0029555790750964</c:v>
              </c:pt>
              <c:pt idx="11">
                <c:v>0.0004619430763983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Industrial</c:v>
              </c:pt>
              <c:pt idx="3">
                <c:v>N/D</c:v>
              </c:pt>
              <c:pt idx="4">
                <c:v>Adquirência</c:v>
              </c:pt>
              <c:pt idx="5">
                <c:v>Serviços</c:v>
              </c:pt>
              <c:pt idx="6">
                <c:v>Setor público</c:v>
              </c:pt>
              <c:pt idx="7">
                <c:v>Cartão</c:v>
              </c:pt>
              <c:pt idx="8">
                <c:v>Ações judiciais</c:v>
              </c:pt>
              <c:pt idx="9">
                <c:v>Agronegócio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0.3826099793822727</c:v>
              </c:pt>
              <c:pt idx="1">
                <c:v>0.1342859349537224</c:v>
              </c:pt>
              <c:pt idx="2">
                <c:v>0.097307191075273</c:v>
              </c:pt>
              <c:pt idx="3">
                <c:v>0.0963629016135419</c:v>
              </c:pt>
              <c:pt idx="4">
                <c:v>0.0915126989842946</c:v>
              </c:pt>
              <c:pt idx="5">
                <c:v>0.0652361795310102</c:v>
              </c:pt>
              <c:pt idx="6">
                <c:v>0.0489653375630809</c:v>
              </c:pt>
              <c:pt idx="7">
                <c:v>0.0337213676173883</c:v>
              </c:pt>
              <c:pt idx="8">
                <c:v>0.0314943250427188</c:v>
              </c:pt>
              <c:pt idx="9">
                <c:v>0.0137189178295649</c:v>
              </c:pt>
              <c:pt idx="10">
                <c:v>0.0046674430987479</c:v>
              </c:pt>
              <c:pt idx="11">
                <c:v>0.000117723308384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5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3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118.04530398702</c:v>
              </c:pt>
              <c:pt idx="1">
                <c:v>115.89580945848</c:v>
              </c:pt>
              <c:pt idx="2">
                <c:v>77.90442532195</c:v>
              </c:pt>
              <c:pt idx="3">
                <c:v>39.74983932099</c:v>
              </c:pt>
              <c:pt idx="4">
                <c:v>26.373186905759997</c:v>
              </c:pt>
              <c:pt idx="5">
                <c:v>19.27032074904</c:v>
              </c:pt>
              <c:pt idx="6">
                <c:v>26.30715069555</c:v>
              </c:pt>
              <c:pt idx="7">
                <c:v>14.24326332352</c:v>
              </c:pt>
              <c:pt idx="8">
                <c:v>1.5402300008699998</c:v>
              </c:pt>
              <c:pt idx="9">
                <c:v>0.16600309574000002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326.76177442545</c:v>
              </c:pt>
              <c:pt idx="1">
                <c:v>123.12261035610001</c:v>
              </c:pt>
              <c:pt idx="2">
                <c:v>78.58984371139</c:v>
              </c:pt>
              <c:pt idx="3">
                <c:v>77.39724903534</c:v>
              </c:pt>
              <c:pt idx="4">
                <c:v>57.591468014120004</c:v>
              </c:pt>
              <c:pt idx="5">
                <c:v>34.27503303086</c:v>
              </c:pt>
              <c:pt idx="6">
                <c:v>27.36423282215</c:v>
              </c:pt>
              <c:pt idx="7">
                <c:v>9.12643607218</c:v>
              </c:pt>
              <c:pt idx="8">
                <c:v>3.0872617298200002</c:v>
              </c:pt>
              <c:pt idx="9">
                <c:v>0.09505420486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1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4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0.2685927277101883</c:v>
              </c:pt>
              <c:pt idx="1">
                <c:v>0.26370190546551714</c:v>
              </c:pt>
              <c:pt idx="2">
                <c:v>0.17725874212004258</c:v>
              </c:pt>
              <c:pt idx="3">
                <c:v>0.09044423970004235</c:v>
              </c:pt>
              <c:pt idx="4">
                <c:v>0.06000786113615837</c:v>
              </c:pt>
              <c:pt idx="5">
                <c:v>0.04384645419189245</c:v>
              </c:pt>
              <c:pt idx="6">
                <c:v>0.05985760657092893</c:v>
              </c:pt>
              <c:pt idx="7">
                <c:v>0.032408209546221145</c:v>
              </c:pt>
              <c:pt idx="8">
                <c:v>0.0035045407420885447</c:v>
              </c:pt>
              <c:pt idx="9">
                <c:v>0.00037771281692022964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0.4431203096273956</c:v>
              </c:pt>
              <c:pt idx="1">
                <c:v>0.16696606975849174</c:v>
              </c:pt>
              <c:pt idx="2">
                <c:v>0.10657536653481774</c:v>
              </c:pt>
              <c:pt idx="3">
                <c:v>0.1049580937585254</c:v>
              </c:pt>
              <c:pt idx="4">
                <c:v>0.07809955489189396</c:v>
              </c:pt>
              <c:pt idx="5">
                <c:v>0.046480232505252836</c:v>
              </c:pt>
              <c:pt idx="6">
                <c:v>0.0371085245273501</c:v>
              </c:pt>
              <c:pt idx="7">
                <c:v>0.012376322736066207</c:v>
              </c:pt>
              <c:pt idx="8">
                <c:v>0.004186623040666466</c:v>
              </c:pt>
              <c:pt idx="9">
                <c:v>0.00012890261953990822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1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5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Percentual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30353A"/>
              </a:solidFill>
            </c:spPr>
          </c:dPt>
          <c:dPt>
            <c:idx val="1"/>
            <c:spPr>
              <a:solidFill xmlns:a="http://schemas.openxmlformats.org/drawingml/2006/main">
                <a:srgbClr val="EC7000"/>
              </a:solidFill>
            </c:spPr>
          </c:dPt>
          <c:dPt>
            <c:idx val="2"/>
            <c:spPr>
              <a:solidFill xmlns:a="http://schemas.openxmlformats.org/drawingml/2006/main">
                <a:srgbClr val="30353A"/>
              </a:solidFill>
            </c:spPr>
          </c:dPt>
          <c:dPt>
            <c:idx val="3"/>
            <c:spPr>
              <a:solidFill xmlns:a="http://schemas.openxmlformats.org/drawingml/2006/main">
                <a:srgbClr val="30353A"/>
              </a:solidFill>
            </c:spPr>
          </c:dPt>
          <c:cat>
            <c:strLit>
              <c:ptCount val="4"/>
              <c:pt idx="0">
                <c:v>Inadimplência bruta</c:v>
              </c:pt>
              <c:pt idx="1">
                <c:v>Ajustada pelo cap</c:v>
              </c:pt>
              <c:pt idx="2">
                <c:v>Ajustada ex-NP</c:v>
              </c:pt>
              <c:pt idx="3">
                <c:v>Excluindo casos acima da carteira</c:v>
              </c:pt>
            </c:strLit>
          </c:cat>
          <c:val>
            <c:numLit>
              <c:formatCode>0.0%</c:formatCode>
              <c:ptCount val="4"/>
              <c:pt idx="0">
                <c:v>0.0809058933465922</c:v>
              </c:pt>
              <c:pt idx="1">
                <c:v>0.0593323376099488</c:v>
              </c:pt>
              <c:pt idx="2">
                <c:v>0.0564665522840033</c:v>
              </c:pt>
              <c:pt idx="3">
                <c:v>0.0531719041163333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6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Bruta</c:v>
          </c:tx>
          <c:spPr>
            <a:ln xmlns:a="http://schemas.openxmlformats.org/drawingml/2006/main" w="23813">
              <a:solidFill>
                <a:srgbClr val="30353A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5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</c:numLit>
          </c:xVal>
          <c:yVal>
            <c:numLit>
              <c:formatCode>0.0%</c:formatCode>
              <c:ptCount val="15"/>
              <c:pt idx="0">
                <c:v>0.1953629837546001</c:v>
              </c:pt>
              <c:pt idx="1">
                <c:v>0.1809235440996488</c:v>
              </c:pt>
              <c:pt idx="2">
                <c:v>0.192154933474053</c:v>
              </c:pt>
              <c:pt idx="3">
                <c:v>0.1518453736285437</c:v>
              </c:pt>
              <c:pt idx="4">
                <c:v>0.1435849112425625</c:v>
              </c:pt>
              <c:pt idx="5">
                <c:v>0.1473663046832823</c:v>
              </c:pt>
              <c:pt idx="6">
                <c:v>0.0911001409180365</c:v>
              </c:pt>
              <c:pt idx="7">
                <c:v>0.0919394935790263</c:v>
              </c:pt>
              <c:pt idx="8">
                <c:v>0.0825084228403041</c:v>
              </c:pt>
              <c:pt idx="9">
                <c:v>0.078802626303978</c:v>
              </c:pt>
              <c:pt idx="10">
                <c:v>0.0820881119001283</c:v>
              </c:pt>
              <c:pt idx="11">
                <c:v>0.08378779452232</c:v>
              </c:pt>
              <c:pt idx="12">
                <c:v>0.0698478283500979</c:v>
              </c:pt>
              <c:pt idx="13">
                <c:v>0.0744516655492446</c:v>
              </c:pt>
              <c:pt idx="14">
                <c:v>0.0809058933465922</c:v>
              </c:pt>
            </c:numLit>
          </c:yVal>
        </c:ser>
        <c:ser>
          <c:idx val="1"/>
          <c:order val="1"/>
          <c:tx>
            <c:v>Ajustada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5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</c:numLit>
          </c:xVal>
          <c:yVal>
            <c:numLit>
              <c:formatCode>0.0%</c:formatCode>
              <c:ptCount val="15"/>
              <c:pt idx="0">
                <c:v>0.081130140165096</c:v>
              </c:pt>
              <c:pt idx="1">
                <c:v>0.0745232452683116</c:v>
              </c:pt>
              <c:pt idx="2">
                <c:v>0.0871059391884933</c:v>
              </c:pt>
              <c:pt idx="3">
                <c:v>0.0752028516325915</c:v>
              </c:pt>
              <c:pt idx="4">
                <c:v>0.0704152514172544</c:v>
              </c:pt>
              <c:pt idx="5">
                <c:v>0.0770053144630339</c:v>
              </c:pt>
              <c:pt idx="6">
                <c:v>0.0671417034451458</c:v>
              </c:pt>
              <c:pt idx="7">
                <c:v>0.0698999145821442</c:v>
              </c:pt>
              <c:pt idx="8">
                <c:v>0.0630090651293403</c:v>
              </c:pt>
              <c:pt idx="9">
                <c:v>0.0592500474459332</c:v>
              </c:pt>
              <c:pt idx="10">
                <c:v>0.0623234995475539</c:v>
              </c:pt>
              <c:pt idx="11">
                <c:v>0.0628881535366592</c:v>
              </c:pt>
              <c:pt idx="12">
                <c:v>0.0502587784704449</c:v>
              </c:pt>
              <c:pt idx="13">
                <c:v>0.0536913823719812</c:v>
              </c:pt>
              <c:pt idx="14">
                <c:v>0.0593323376099488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ax val="0.2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.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majorUnit val="0.03"/>
      </c:valAx>
      <c:valAx>
        <c:axId val="48650112"/>
        <c:scaling>
          <c:orientation val="minMax"/>
          <c:max val="14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7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Financeiro</c:v>
          </c:tx>
          <c:spPr>
            <a:ln xmlns:a="http://schemas.openxmlformats.org/drawingml/2006/main" w="19050">
              <a:solidFill>
                <a:srgbClr val="151515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0.0721933056522929</c:v>
              </c:pt>
              <c:pt idx="1">
                <c:v>0.0724527089960241</c:v>
              </c:pt>
              <c:pt idx="2">
                <c:v>0.0730804465099311</c:v>
              </c:pt>
              <c:pt idx="3">
                <c:v>0.0632503901979427</c:v>
              </c:pt>
              <c:pt idx="4">
                <c:v>0.0641912171142307</c:v>
              </c:pt>
              <c:pt idx="5">
                <c:v>0.0657546480281713</c:v>
              </c:pt>
              <c:pt idx="6">
                <c:v>0.0634494475619897</c:v>
              </c:pt>
              <c:pt idx="7">
                <c:v>0.0646543625808829</c:v>
              </c:pt>
              <c:pt idx="8">
                <c:v>0.0673111027113792</c:v>
              </c:pt>
              <c:pt idx="9">
                <c:v>0.0656328096378168</c:v>
              </c:pt>
              <c:pt idx="10">
                <c:v>0.0620757208077272</c:v>
              </c:pt>
              <c:pt idx="11">
                <c:v>0.0736017938293535</c:v>
              </c:pt>
              <c:pt idx="12">
                <c:v>0.0635557109295464</c:v>
              </c:pt>
              <c:pt idx="13">
                <c:v>0.0542417392216208</c:v>
              </c:pt>
              <c:pt idx="14">
                <c:v>0.0538538517691906</c:v>
              </c:pt>
              <c:pt idx="15">
                <c:v>0.0521482823676041</c:v>
              </c:pt>
              <c:pt idx="16">
                <c:v>0.0536968054360994</c:v>
              </c:pt>
              <c:pt idx="17">
                <c:v>0.0518963049039671</c:v>
              </c:pt>
              <c:pt idx="18">
                <c:v>0.0510546702744202</c:v>
              </c:pt>
              <c:pt idx="19">
                <c:v>0.0529196484159213</c:v>
              </c:pt>
              <c:pt idx="20">
                <c:v>0.046013836733936</c:v>
              </c:pt>
              <c:pt idx="21">
                <c:v>0.0550382677231159</c:v>
              </c:pt>
              <c:pt idx="22">
                <c:v>0.0485909630112604</c:v>
              </c:pt>
              <c:pt idx="23">
                <c:v>0.0574955025459674</c:v>
              </c:pt>
              <c:pt idx="24">
                <c:v>0.0468319400175989</c:v>
              </c:pt>
              <c:pt idx="25">
                <c:v>0.0539850839306449</c:v>
              </c:pt>
              <c:pt idx="26">
                <c:v>0.0548524033756501</c:v>
              </c:pt>
              <c:pt idx="27">
                <c:v>0.057384795173174</c:v>
              </c:pt>
              <c:pt idx="28">
                <c:v>0.0561998841914902</c:v>
              </c:pt>
              <c:pt idx="29">
                <c:v>0.0601770065333058</c:v>
              </c:pt>
              <c:pt idx="30">
                <c:v>0.0716771622807513</c:v>
              </c:pt>
            </c:numLit>
          </c:yVal>
        </c:ser>
        <c:ser>
          <c:idx val="1"/>
          <c:order val="1"/>
          <c:tx>
            <c:v>Cartão de crédito</c:v>
          </c:tx>
          <c:spPr>
            <a:ln xmlns:a="http://schemas.openxmlformats.org/drawingml/2006/main" w="19050">
              <a:solidFill>
                <a:srgbClr val="30353A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0.0080429968986406</c:v>
              </c:pt>
              <c:pt idx="1">
                <c:v>0.0103555534057833</c:v>
              </c:pt>
              <c:pt idx="2">
                <c:v>0.0101297396700234</c:v>
              </c:pt>
              <c:pt idx="3">
                <c:v>0.0104827854323463</c:v>
              </c:pt>
              <c:pt idx="4">
                <c:v>0.0111237663607328</c:v>
              </c:pt>
              <c:pt idx="5">
                <c:v>0.0106422727689357</c:v>
              </c:pt>
              <c:pt idx="6">
                <c:v>0.0079913813375405</c:v>
              </c:pt>
              <c:pt idx="7">
                <c:v>0.007890065967714</c:v>
              </c:pt>
              <c:pt idx="8">
                <c:v>0.0079420973656034</c:v>
              </c:pt>
              <c:pt idx="9">
                <c:v>0.0079557633987717</c:v>
              </c:pt>
              <c:pt idx="10">
                <c:v>0.0069164043062772</c:v>
              </c:pt>
              <c:pt idx="11">
                <c:v>0.0064863829417569</c:v>
              </c:pt>
              <c:pt idx="12">
                <c:v>0.0058804822095036</c:v>
              </c:pt>
              <c:pt idx="13">
                <c:v>0.0062984134661783</c:v>
              </c:pt>
              <c:pt idx="14">
                <c:v>0.0068137312399075</c:v>
              </c:pt>
              <c:pt idx="15">
                <c:v>0.0067604454995235</c:v>
              </c:pt>
              <c:pt idx="16">
                <c:v>0.0089037082329132</c:v>
              </c:pt>
              <c:pt idx="17">
                <c:v>0.0085557990476181</c:v>
              </c:pt>
              <c:pt idx="18">
                <c:v>0.0089308937706528</c:v>
              </c:pt>
              <c:pt idx="19">
                <c:v>0.0096799935000471</c:v>
              </c:pt>
              <c:pt idx="20">
                <c:v>0.0097012956016713</c:v>
              </c:pt>
              <c:pt idx="21">
                <c:v>0.0094978815130768</c:v>
              </c:pt>
              <c:pt idx="22">
                <c:v>0.009838827534266</c:v>
              </c:pt>
              <c:pt idx="23">
                <c:v>0.009638514605356</c:v>
              </c:pt>
              <c:pt idx="24">
                <c:v>0.010345169549131</c:v>
              </c:pt>
              <c:pt idx="25">
                <c:v>0.0101429214599004</c:v>
              </c:pt>
              <c:pt idx="26">
                <c:v>0.0106021535752052</c:v>
              </c:pt>
              <c:pt idx="27">
                <c:v>0.0103961681274984</c:v>
              </c:pt>
              <c:pt idx="28">
                <c:v>0.0111458074735555</c:v>
              </c:pt>
              <c:pt idx="29">
                <c:v>0.0112389411589637</c:v>
              </c:pt>
              <c:pt idx="30">
                <c:v>0.0117604400025326</c:v>
              </c:pt>
            </c:numLit>
          </c:yVal>
        </c:ser>
        <c:ser>
          <c:idx val="2"/>
          <c:order val="2"/>
          <c:tx>
            <c:v>Comercial</c:v>
          </c:tx>
          <c:spPr>
            <a:ln xmlns:a="http://schemas.openxmlformats.org/drawingml/2006/main" w="19050">
              <a:solidFill>
                <a:srgbClr val="454A4F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0.1082012781222687</c:v>
              </c:pt>
              <c:pt idx="1">
                <c:v>0.1161592735371424</c:v>
              </c:pt>
              <c:pt idx="2">
                <c:v>0.1194716541232022</c:v>
              </c:pt>
              <c:pt idx="3">
                <c:v>0.110340097661799</c:v>
              </c:pt>
              <c:pt idx="4">
                <c:v>0.1101662641871065</c:v>
              </c:pt>
              <c:pt idx="5">
                <c:v>0.1149075978008279</c:v>
              </c:pt>
              <c:pt idx="6">
                <c:v>0.1124919560057237</c:v>
              </c:pt>
              <c:pt idx="7">
                <c:v>0.098567530605085</c:v>
              </c:pt>
              <c:pt idx="8">
                <c:v>0.1000404253970929</c:v>
              </c:pt>
              <c:pt idx="9">
                <c:v>0.0874582451638325</c:v>
              </c:pt>
              <c:pt idx="10">
                <c:v>0.0856747977502285</c:v>
              </c:pt>
              <c:pt idx="11">
                <c:v>0.0877889765268387</c:v>
              </c:pt>
              <c:pt idx="12">
                <c:v>0.0885286227670983</c:v>
              </c:pt>
              <c:pt idx="13">
                <c:v>0.1431704813182423</c:v>
              </c:pt>
              <c:pt idx="14">
                <c:v>0.1427519812637698</c:v>
              </c:pt>
              <c:pt idx="15">
                <c:v>0.1104294687674457</c:v>
              </c:pt>
              <c:pt idx="16">
                <c:v>0.1092444441783367</c:v>
              </c:pt>
              <c:pt idx="17">
                <c:v>0.1020185080892119</c:v>
              </c:pt>
              <c:pt idx="18">
                <c:v>0.0819808141756463</c:v>
              </c:pt>
              <c:pt idx="19">
                <c:v>0.0739784925005875</c:v>
              </c:pt>
              <c:pt idx="20">
                <c:v>0.0776869622102317</c:v>
              </c:pt>
              <c:pt idx="21">
                <c:v>0.0812227396177681</c:v>
              </c:pt>
              <c:pt idx="22">
                <c:v>0.0778389474752357</c:v>
              </c:pt>
              <c:pt idx="23">
                <c:v>0.0619370973852018</c:v>
              </c:pt>
              <c:pt idx="24">
                <c:v>0.0638211406580486</c:v>
              </c:pt>
              <c:pt idx="25">
                <c:v>0.0615357509303453</c:v>
              </c:pt>
              <c:pt idx="26">
                <c:v>0.0511457130166931</c:v>
              </c:pt>
              <c:pt idx="27">
                <c:v>0.0505787700495826</c:v>
              </c:pt>
              <c:pt idx="28">
                <c:v>0.0485661426696369</c:v>
              </c:pt>
              <c:pt idx="29">
                <c:v>0.0473808964121762</c:v>
              </c:pt>
              <c:pt idx="30">
                <c:v>0.0383198312904363</c:v>
              </c:pt>
            </c:numLit>
          </c:yVal>
        </c:ser>
        <c:ser>
          <c:idx val="3"/>
          <c:order val="3"/>
          <c:tx>
            <c:v>Industrial</c:v>
          </c:tx>
          <c:spPr>
            <a:ln xmlns:a="http://schemas.openxmlformats.org/drawingml/2006/main" w="12859">
              <a:solidFill>
                <a:srgbClr val="5B6065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0.0025995750477537</c:v>
              </c:pt>
              <c:pt idx="1">
                <c:v>0.0027073175458643</c:v>
              </c:pt>
              <c:pt idx="2">
                <c:v>0.0032142957243589</c:v>
              </c:pt>
              <c:pt idx="3">
                <c:v>0.0034097015354183</c:v>
              </c:pt>
              <c:pt idx="4">
                <c:v>0.0021054729286722</c:v>
              </c:pt>
              <c:pt idx="5">
                <c:v>0.0047362923216476</c:v>
              </c:pt>
              <c:pt idx="6">
                <c:v>0.0055366129638028</c:v>
              </c:pt>
              <c:pt idx="7">
                <c:v>0.0024131461675404</c:v>
              </c:pt>
              <c:pt idx="8">
                <c:v>0.0019877205669721</c:v>
              </c:pt>
              <c:pt idx="9">
                <c:v>0.0046091003151197</c:v>
              </c:pt>
              <c:pt idx="10">
                <c:v>0.003757986185218</c:v>
              </c:pt>
              <c:pt idx="11">
                <c:v>0.003791079854629</c:v>
              </c:pt>
              <c:pt idx="12">
                <c:v>0.004061108957977</c:v>
              </c:pt>
              <c:pt idx="13">
                <c:v>0.0036679242090174</c:v>
              </c:pt>
              <c:pt idx="14">
                <c:v>0.0037228807818014</c:v>
              </c:pt>
              <c:pt idx="15">
                <c:v>0.0041390501391543</c:v>
              </c:pt>
              <c:pt idx="16">
                <c:v>0.0043238466007108</c:v>
              </c:pt>
              <c:pt idx="17">
                <c:v>0.0040579403197648</c:v>
              </c:pt>
              <c:pt idx="18">
                <c:v>0.0070527663617381</c:v>
              </c:pt>
              <c:pt idx="19">
                <c:v>0.0067700063530923</c:v>
              </c:pt>
              <c:pt idx="20">
                <c:v>0.0070438224934519</c:v>
              </c:pt>
              <c:pt idx="21">
                <c:v>0.0085456396251194</c:v>
              </c:pt>
              <c:pt idx="22">
                <c:v>0.0091884370424081</c:v>
              </c:pt>
              <c:pt idx="23">
                <c:v>0.0062620305712928</c:v>
              </c:pt>
              <c:pt idx="24">
                <c:v>0.0070617642492158</c:v>
              </c:pt>
              <c:pt idx="25">
                <c:v>0.0063200695172949</c:v>
              </c:pt>
              <c:pt idx="26">
                <c:v>0.0059848905077144</c:v>
              </c:pt>
              <c:pt idx="27">
                <c:v>0.0063789170386723</c:v>
              </c:pt>
              <c:pt idx="28">
                <c:v>0.006420463309229</c:v>
              </c:pt>
              <c:pt idx="29">
                <c:v>0.0096784901416031</c:v>
              </c:pt>
              <c:pt idx="30">
                <c:v>0.0106470085607881</c:v>
              </c:pt>
            </c:numLit>
          </c:yVal>
        </c:ser>
        <c:ser>
          <c:idx val="4"/>
          <c:order val="4"/>
          <c:tx>
            <c:v>Serviços</c:v>
          </c:tx>
          <c:spPr>
            <a:ln xmlns:a="http://schemas.openxmlformats.org/drawingml/2006/main" w="12859">
              <a:solidFill>
                <a:srgbClr val="73787D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0.002761753511805</c:v>
              </c:pt>
              <c:pt idx="1">
                <c:v>0.0027082086002623</c:v>
              </c:pt>
              <c:pt idx="2">
                <c:v>0.0030878238406748</c:v>
              </c:pt>
              <c:pt idx="3">
                <c:v>0.0038134279430219</c:v>
              </c:pt>
              <c:pt idx="4">
                <c:v>0.0047264073090607</c:v>
              </c:pt>
              <c:pt idx="5">
                <c:v>0.0053374101483992</c:v>
              </c:pt>
              <c:pt idx="6">
                <c:v>0.0048777594375193</c:v>
              </c:pt>
              <c:pt idx="7">
                <c:v>0.0060579729890402</c:v>
              </c:pt>
              <c:pt idx="8">
                <c:v>0.0057354615135486</c:v>
              </c:pt>
              <c:pt idx="9">
                <c:v>0.0065809960074512</c:v>
              </c:pt>
              <c:pt idx="10">
                <c:v>0.011011195532876</c:v>
              </c:pt>
              <c:pt idx="11">
                <c:v>0.011019621516894</c:v>
              </c:pt>
              <c:pt idx="12">
                <c:v>0.011761078041623</c:v>
              </c:pt>
              <c:pt idx="13">
                <c:v>0.0052755069921239</c:v>
              </c:pt>
              <c:pt idx="14">
                <c:v>0.0050888290074184</c:v>
              </c:pt>
              <c:pt idx="15">
                <c:v>0.0058759615026774</c:v>
              </c:pt>
              <c:pt idx="16">
                <c:v>0.0061558874072902</c:v>
              </c:pt>
              <c:pt idx="17">
                <c:v>0.0064786730545633</c:v>
              </c:pt>
              <c:pt idx="18">
                <c:v>0.0067141159294199</c:v>
              </c:pt>
              <c:pt idx="19">
                <c:v>0.006201689312099</c:v>
              </c:pt>
              <c:pt idx="20">
                <c:v>0.0058260498006329</c:v>
              </c:pt>
              <c:pt idx="21">
                <c:v>0.006571374774792</c:v>
              </c:pt>
              <c:pt idx="22">
                <c:v>0.0066587917472255</c:v>
              </c:pt>
              <c:pt idx="23">
                <c:v>0.0072842278339582</c:v>
              </c:pt>
              <c:pt idx="24">
                <c:v>0.0081006571546639</c:v>
              </c:pt>
              <c:pt idx="25">
                <c:v>0.0117685005784751</c:v>
              </c:pt>
              <c:pt idx="26">
                <c:v>0.0123753954145278</c:v>
              </c:pt>
              <c:pt idx="27">
                <c:v>0.0140555053054944</c:v>
              </c:pt>
              <c:pt idx="28">
                <c:v>0.0144069916246104</c:v>
              </c:pt>
              <c:pt idx="29">
                <c:v>0.0157044040571552</c:v>
              </c:pt>
              <c:pt idx="30">
                <c:v>0.0155258929379865</c:v>
              </c:pt>
            </c:numLit>
          </c:yVal>
        </c:ser>
        <c:ser>
          <c:idx val="5"/>
          <c:order val="5"/>
          <c:tx>
            <c:v>Setor público</c:v>
          </c:tx>
          <c:spPr>
            <a:ln xmlns:a="http://schemas.openxmlformats.org/drawingml/2006/main" w="12859">
              <a:solidFill>
                <a:srgbClr val="8D9399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0.1854216092153828</c:v>
              </c:pt>
              <c:pt idx="1">
                <c:v>0.1884788306642439</c:v>
              </c:pt>
              <c:pt idx="2">
                <c:v>0.1881706191809939</c:v>
              </c:pt>
              <c:pt idx="3">
                <c:v>0.0598179826329479</c:v>
              </c:pt>
              <c:pt idx="4">
                <c:v>0.2317110731792012</c:v>
              </c:pt>
              <c:pt idx="5">
                <c:v>0.2307453092491834</c:v>
              </c:pt>
              <c:pt idx="6">
                <c:v>0.231820743559852</c:v>
              </c:pt>
              <c:pt idx="7">
                <c:v>0.2276967726779469</c:v>
              </c:pt>
              <c:pt idx="8">
                <c:v>0.2228561784834045</c:v>
              </c:pt>
              <c:pt idx="9">
                <c:v>0.2601261710594481</c:v>
              </c:pt>
              <c:pt idx="10">
                <c:v>0.2226853028361558</c:v>
              </c:pt>
              <c:pt idx="11">
                <c:v>0.2187278941356636</c:v>
              </c:pt>
              <c:pt idx="12">
                <c:v>0.2021675560835505</c:v>
              </c:pt>
              <c:pt idx="13">
                <c:v>0.2127286140116034</c:v>
              </c:pt>
              <c:pt idx="14">
                <c:v>0.2136774816817553</c:v>
              </c:pt>
              <c:pt idx="15">
                <c:v>0.2116474567427985</c:v>
              </c:pt>
              <c:pt idx="16">
                <c:v>0.2182492714737423</c:v>
              </c:pt>
              <c:pt idx="17">
                <c:v>0.2305949573703942</c:v>
              </c:pt>
              <c:pt idx="18">
                <c:v>0.2170184839875787</c:v>
              </c:pt>
              <c:pt idx="19">
                <c:v>0.2066235198492703</c:v>
              </c:pt>
              <c:pt idx="20">
                <c:v>0.204642946005455</c:v>
              </c:pt>
              <c:pt idx="21">
                <c:v>0.2046761144659297</c:v>
              </c:pt>
              <c:pt idx="22">
                <c:v>0.1950570873721957</c:v>
              </c:pt>
              <c:pt idx="23">
                <c:v>0.1838076625569173</c:v>
              </c:pt>
              <c:pt idx="24">
                <c:v>0.0320722949695946</c:v>
              </c:pt>
              <c:pt idx="25">
                <c:v>0.0267519834548788</c:v>
              </c:pt>
              <c:pt idx="26">
                <c:v>0.0254709221093874</c:v>
              </c:pt>
              <c:pt idx="27">
                <c:v>0.0286391392387492</c:v>
              </c:pt>
              <c:pt idx="28">
                <c:v>0.0278719164478153</c:v>
              </c:pt>
              <c:pt idx="29">
                <c:v>0.0310941253039807</c:v>
              </c:pt>
              <c:pt idx="30">
                <c:v>0.0269677990830523</c:v>
              </c:pt>
            </c:numLit>
          </c:yVal>
        </c:ser>
        <c:ser>
          <c:idx val="6"/>
          <c:order val="6"/>
          <c:tx>
            <c:v>Ações judiciais</c:v>
          </c:tx>
          <c:spPr>
            <a:ln xmlns:a="http://schemas.openxmlformats.org/drawingml/2006/main" w="12859">
              <a:solidFill>
                <a:srgbClr val="A7ACB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0.0417142491781317</c:v>
              </c:pt>
              <c:pt idx="1">
                <c:v>0.0423201793463372</c:v>
              </c:pt>
              <c:pt idx="2">
                <c:v>0.0422821490121826</c:v>
              </c:pt>
              <c:pt idx="3">
                <c:v>0.0418197489706348</c:v>
              </c:pt>
              <c:pt idx="4">
                <c:v>0.013868015487937</c:v>
              </c:pt>
              <c:pt idx="5">
                <c:v>0.0161057915619758</c:v>
              </c:pt>
              <c:pt idx="6">
                <c:v>0.0460301180426334</c:v>
              </c:pt>
              <c:pt idx="7">
                <c:v>0.0156646355220548</c:v>
              </c:pt>
              <c:pt idx="8">
                <c:v>0.0127402436285298</c:v>
              </c:pt>
              <c:pt idx="9">
                <c:v>0.0146633705519831</c:v>
              </c:pt>
              <c:pt idx="10">
                <c:v>0.0148839095437175</c:v>
              </c:pt>
              <c:pt idx="11">
                <c:v>0.0145553054107453</c:v>
              </c:pt>
              <c:pt idx="12">
                <c:v>0.0129260058421569</c:v>
              </c:pt>
              <c:pt idx="13">
                <c:v>0.0133275954599381</c:v>
              </c:pt>
              <c:pt idx="14">
                <c:v>0.0135276953704358</c:v>
              </c:pt>
              <c:pt idx="15">
                <c:v>0.0133137511967988</c:v>
              </c:pt>
              <c:pt idx="16">
                <c:v>0.0132286727585075</c:v>
              </c:pt>
              <c:pt idx="17">
                <c:v>0.0129521393419009</c:v>
              </c:pt>
              <c:pt idx="18">
                <c:v>0.0125611054439207</c:v>
              </c:pt>
              <c:pt idx="19">
                <c:v>0.0125414517133714</c:v>
              </c:pt>
              <c:pt idx="20">
                <c:v>0.012167116656769</c:v>
              </c:pt>
              <c:pt idx="21">
                <c:v>0.0116434513520777</c:v>
              </c:pt>
              <c:pt idx="22">
                <c:v>0.0114818559290975</c:v>
              </c:pt>
              <c:pt idx="23">
                <c:v>0.0117198804644548</c:v>
              </c:pt>
              <c:pt idx="24">
                <c:v>0.0521667521091537</c:v>
              </c:pt>
              <c:pt idx="25">
                <c:v>0.0134295528242896</c:v>
              </c:pt>
              <c:pt idx="26">
                <c:v>0.0195114019773375</c:v>
              </c:pt>
              <c:pt idx="27">
                <c:v>0.0176558617875715</c:v>
              </c:pt>
              <c:pt idx="28">
                <c:v>0.0181866201777597</c:v>
              </c:pt>
              <c:pt idx="29">
                <c:v>0.0301063967497122</c:v>
              </c:pt>
              <c:pt idx="30">
                <c:v>0.0276212038505898</c:v>
              </c:pt>
            </c:numLit>
          </c:yVal>
        </c:ser>
        <c:ser>
          <c:idx val="7"/>
          <c:order val="7"/>
          <c:tx>
            <c:v>Agronegócio</c:v>
          </c:tx>
          <c:spPr>
            <a:ln xmlns:a="http://schemas.openxmlformats.org/drawingml/2006/main" w="12859">
              <a:solidFill>
                <a:srgbClr val="BEC2C5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0.0193848320803037</c:v>
              </c:pt>
              <c:pt idx="1">
                <c:v>0.0074534188133573</c:v>
              </c:pt>
              <c:pt idx="2">
                <c:v>0.0073692353757936</c:v>
              </c:pt>
              <c:pt idx="3">
                <c:v>0.0275878340521066</c:v>
              </c:pt>
              <c:pt idx="4">
                <c:v>0.0699173713403787</c:v>
              </c:pt>
              <c:pt idx="5">
                <c:v>0.1071495886627592</c:v>
              </c:pt>
              <c:pt idx="6">
                <c:v>0.081170617074055</c:v>
              </c:pt>
              <c:pt idx="7">
                <c:v>0.0592144502484672</c:v>
              </c:pt>
              <c:pt idx="8">
                <c:v>0.068794386861829</c:v>
              </c:pt>
              <c:pt idx="9">
                <c:v>0.0804965019363218</c:v>
              </c:pt>
              <c:pt idx="10">
                <c:v>0.0568105669235579</c:v>
              </c:pt>
              <c:pt idx="11">
                <c:v>0.0539414905307017</c:v>
              </c:pt>
              <c:pt idx="12">
                <c:v>0.0456547393457803</c:v>
              </c:pt>
              <c:pt idx="13">
                <c:v>0.0938023365883941</c:v>
              </c:pt>
              <c:pt idx="14">
                <c:v>0.0318554027571156</c:v>
              </c:pt>
              <c:pt idx="15">
                <c:v>0.0513104257372555</c:v>
              </c:pt>
              <c:pt idx="16">
                <c:v>0.0844147829421874</c:v>
              </c:pt>
              <c:pt idx="17">
                <c:v>0.1096583784966358</c:v>
              </c:pt>
              <c:pt idx="18">
                <c:v>0.0834970570681469</c:v>
              </c:pt>
              <c:pt idx="19">
                <c:v>0.0543135517074533</c:v>
              </c:pt>
              <c:pt idx="20">
                <c:v>0.0397669344769683</c:v>
              </c:pt>
              <c:pt idx="21">
                <c:v>0.0839122035225489</c:v>
              </c:pt>
              <c:pt idx="22">
                <c:v>0.062508468287794</c:v>
              </c:pt>
              <c:pt idx="23">
                <c:v>0.0403071668157024</c:v>
              </c:pt>
              <c:pt idx="24">
                <c:v>0.0356597059135657</c:v>
              </c:pt>
              <c:pt idx="25">
                <c:v>0.0295211680001266</c:v>
              </c:pt>
              <c:pt idx="26">
                <c:v>0.0252043134620647</c:v>
              </c:pt>
              <c:pt idx="27">
                <c:v>0.1089245109690359</c:v>
              </c:pt>
              <c:pt idx="28">
                <c:v>0.0634141693348424</c:v>
              </c:pt>
              <c:pt idx="29">
                <c:v>0.0985406452471582</c:v>
              </c:pt>
              <c:pt idx="30">
                <c:v>0.0982584113424741</c:v>
              </c:pt>
            </c:numLit>
          </c:yVal>
        </c:ser>
        <c:ser>
          <c:idx val="8"/>
          <c:order val="8"/>
          <c:tx>
            <c:v>Imobiliário</c:v>
          </c:tx>
          <c:spPr>
            <a:ln xmlns:a="http://schemas.openxmlformats.org/drawingml/2006/main" w="12859">
              <a:solidFill>
                <a:srgbClr val="676C71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0.0301544002992957</c:v>
              </c:pt>
              <c:pt idx="1">
                <c:v>0.0327276152039929</c:v>
              </c:pt>
              <c:pt idx="2">
                <c:v>0.0335433779934722</c:v>
              </c:pt>
              <c:pt idx="3">
                <c:v>0.0348421491235876</c:v>
              </c:pt>
              <c:pt idx="4">
                <c:v>0.0428001212242425</c:v>
              </c:pt>
              <c:pt idx="5">
                <c:v>0.0418805697277656</c:v>
              </c:pt>
              <c:pt idx="6">
                <c:v>0.0445162804581016</c:v>
              </c:pt>
              <c:pt idx="7">
                <c:v>0.0450750205215238</c:v>
              </c:pt>
              <c:pt idx="8">
                <c:v>0.0433137428852005</c:v>
              </c:pt>
              <c:pt idx="9">
                <c:v>0.0368120139814974</c:v>
              </c:pt>
              <c:pt idx="10">
                <c:v>0.0370727339192215</c:v>
              </c:pt>
              <c:pt idx="11">
                <c:v>0.0383168676299335</c:v>
              </c:pt>
              <c:pt idx="12">
                <c:v>0.0411647909984821</c:v>
              </c:pt>
              <c:pt idx="13">
                <c:v>0.0420544170094409</c:v>
              </c:pt>
              <c:pt idx="14">
                <c:v>0.0452665646472693</c:v>
              </c:pt>
              <c:pt idx="15">
                <c:v>0.0471589020247165</c:v>
              </c:pt>
              <c:pt idx="16">
                <c:v>0.0479186023653569</c:v>
              </c:pt>
              <c:pt idx="17">
                <c:v>0.0497283898045638</c:v>
              </c:pt>
              <c:pt idx="18">
                <c:v>0.0513562669687059</c:v>
              </c:pt>
              <c:pt idx="19">
                <c:v>0.0524041751673811</c:v>
              </c:pt>
              <c:pt idx="20">
                <c:v>0.0549718365574653</c:v>
              </c:pt>
              <c:pt idx="21">
                <c:v>0.0467619519887603</c:v>
              </c:pt>
              <c:pt idx="22">
                <c:v>0.0529296618834481</c:v>
              </c:pt>
              <c:pt idx="23">
                <c:v>0.0555227271204206</c:v>
              </c:pt>
              <c:pt idx="24">
                <c:v>0.0469577659285627</c:v>
              </c:pt>
              <c:pt idx="25">
                <c:v>0.0508181998171366</c:v>
              </c:pt>
              <c:pt idx="26">
                <c:v>0.0563587832928188</c:v>
              </c:pt>
              <c:pt idx="27">
                <c:v>0.0610793382898068</c:v>
              </c:pt>
              <c:pt idx="28">
                <c:v>0.0669949830191097</c:v>
              </c:pt>
              <c:pt idx="29">
                <c:v>0.0721630638324931</c:v>
              </c:pt>
              <c:pt idx="30">
                <c:v>0.0727874220270115</c:v>
              </c:pt>
            </c:numLit>
          </c:yVal>
        </c:ser>
        <c:ser>
          <c:idx val="9"/>
          <c:order val="9"/>
          <c:tx>
            <c:v>Factoring</c:v>
          </c:tx>
          <c:spPr>
            <a:ln xmlns:a="http://schemas.openxmlformats.org/drawingml/2006/main" w="12859">
              <a:solidFill>
                <a:srgbClr val="92979C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0.0514225192354148</c:v>
              </c:pt>
              <c:pt idx="1">
                <c:v>0.0393907988792837</c:v>
              </c:pt>
              <c:pt idx="2">
                <c:v>0.0204599118110216</c:v>
              </c:pt>
              <c:pt idx="3">
                <c:v>0.0279020955222049</c:v>
              </c:pt>
              <c:pt idx="4">
                <c:v>0.045435158542933</c:v>
              </c:pt>
              <c:pt idx="5">
                <c:v>0.0634913799648424</c:v>
              </c:pt>
              <c:pt idx="6">
                <c:v>0.1018834022199954</c:v>
              </c:pt>
              <c:pt idx="7">
                <c:v>0.053226641038248</c:v>
              </c:pt>
              <c:pt idx="8">
                <c:v>0.0409999642734494</c:v>
              </c:pt>
              <c:pt idx="9">
                <c:v>0.0221743137151051</c:v>
              </c:pt>
              <c:pt idx="10">
                <c:v>0.1189436323844374</c:v>
              </c:pt>
              <c:pt idx="11">
                <c:v>0.0430677893077643</c:v>
              </c:pt>
              <c:pt idx="12">
                <c:v>0.0533502127430201</c:v>
              </c:pt>
              <c:pt idx="13">
                <c:v>0.0375148600614609</c:v>
              </c:pt>
              <c:pt idx="14">
                <c:v>0.0437092853950481</c:v>
              </c:pt>
              <c:pt idx="15">
                <c:v>0.064103135977939</c:v>
              </c:pt>
              <c:pt idx="16">
                <c:v>0.1479488771622266</c:v>
              </c:pt>
              <c:pt idx="17">
                <c:v>0.1174497699924641</c:v>
              </c:pt>
              <c:pt idx="18">
                <c:v>0.1305527242748713</c:v>
              </c:pt>
              <c:pt idx="19">
                <c:v>0.1254080720493426</c:v>
              </c:pt>
              <c:pt idx="20">
                <c:v>0.1486477723764485</c:v>
              </c:pt>
              <c:pt idx="21">
                <c:v>0.1354996954025546</c:v>
              </c:pt>
              <c:pt idx="22">
                <c:v>0.1660000913704232</c:v>
              </c:pt>
              <c:pt idx="23">
                <c:v>0.1605724609434834</c:v>
              </c:pt>
              <c:pt idx="24">
                <c:v>0.2853726896283449</c:v>
              </c:pt>
              <c:pt idx="25">
                <c:v>0.1950978271794026</c:v>
              </c:pt>
              <c:pt idx="26">
                <c:v>0.1466190664090744</c:v>
              </c:pt>
              <c:pt idx="27">
                <c:v>0.1741072914672736</c:v>
              </c:pt>
              <c:pt idx="28">
                <c:v>0.1697199730374612</c:v>
              </c:pt>
              <c:pt idx="29">
                <c:v>0.1549286072994427</c:v>
              </c:pt>
              <c:pt idx="30">
                <c:v>0.1391390506699004</c:v>
              </c:pt>
            </c:numLit>
          </c:yVal>
        </c:ser>
        <c:ser>
          <c:idx val="10"/>
          <c:order val="10"/>
          <c:tx>
            <c:v>Consolidado ajustado</c:v>
          </c:tx>
          <c:spPr>
            <a:ln xmlns:a="http://schemas.openxmlformats.org/drawingml/2006/main" w="30480">
              <a:solidFill>
                <a:srgbClr val="EC700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0.0752028516325915</c:v>
              </c:pt>
              <c:pt idx="1">
                <c:v>0.0778801838724332</c:v>
              </c:pt>
              <c:pt idx="2">
                <c:v>0.0776383095992151</c:v>
              </c:pt>
              <c:pt idx="3">
                <c:v>0.0704152514172544</c:v>
              </c:pt>
              <c:pt idx="4">
                <c:v>0.0797565578705756</c:v>
              </c:pt>
              <c:pt idx="5">
                <c:v>0.0817150208465515</c:v>
              </c:pt>
              <c:pt idx="6">
                <c:v>0.0770053144630339</c:v>
              </c:pt>
              <c:pt idx="7">
                <c:v>0.0671417034451458</c:v>
              </c:pt>
              <c:pt idx="8">
                <c:v>0.0676408843500004</c:v>
              </c:pt>
              <c:pt idx="9">
                <c:v>0.0698999145821442</c:v>
              </c:pt>
              <c:pt idx="10">
                <c:v>0.0684744868137109</c:v>
              </c:pt>
              <c:pt idx="11">
                <c:v>0.0699014101098718</c:v>
              </c:pt>
              <c:pt idx="12">
                <c:v>0.0630090651293403</c:v>
              </c:pt>
              <c:pt idx="13">
                <c:v>0.0614757676630931</c:v>
              </c:pt>
              <c:pt idx="14">
                <c:v>0.0598205980738471</c:v>
              </c:pt>
              <c:pt idx="15">
                <c:v>0.0592500474459332</c:v>
              </c:pt>
              <c:pt idx="16">
                <c:v>0.0624601047334936</c:v>
              </c:pt>
              <c:pt idx="17">
                <c:v>0.0629482537447055</c:v>
              </c:pt>
              <c:pt idx="18">
                <c:v>0.0623234995475539</c:v>
              </c:pt>
              <c:pt idx="19">
                <c:v>0.0601553151901788</c:v>
              </c:pt>
              <c:pt idx="20">
                <c:v>0.0569486394732615</c:v>
              </c:pt>
              <c:pt idx="21">
                <c:v>0.0628881535366592</c:v>
              </c:pt>
              <c:pt idx="22">
                <c:v>0.0584216214864171</c:v>
              </c:pt>
              <c:pt idx="23">
                <c:v>0.0606320127168131</c:v>
              </c:pt>
              <c:pt idx="24">
                <c:v>0.0502587784704449</c:v>
              </c:pt>
              <c:pt idx="25">
                <c:v>0.0507331353304028</c:v>
              </c:pt>
              <c:pt idx="26">
                <c:v>0.0503146572806492</c:v>
              </c:pt>
              <c:pt idx="27">
                <c:v>0.0536913823719812</c:v>
              </c:pt>
              <c:pt idx="28">
                <c:v>0.0520334873726198</c:v>
              </c:pt>
              <c:pt idx="29">
                <c:v>0.0585303345939064</c:v>
              </c:pt>
              <c:pt idx="30">
                <c:v>0.0593323376099488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ax val="0.3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majorUnit val="0.05"/>
      </c:valAx>
      <c:valAx>
        <c:axId val="48650112"/>
        <c:scaling>
          <c:orientation val="minMax"/>
          <c:max val="30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8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0.7240103045302964</c:v>
              </c:pt>
              <c:pt idx="1">
                <c:v>0.33762443171818396</c:v>
              </c:pt>
              <c:pt idx="2">
                <c:v>0.7144041928735754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0.7177319262894483</c:v>
              </c:pt>
              <c:pt idx="1">
                <c:v>0.3640830858142464</c:v>
              </c:pt>
              <c:pt idx="2">
                <c:v>0.7281455649767723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9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0.5047535938429641</c:v>
              </c:pt>
              <c:pt idx="1">
                <c:v>0.22309371585883164</c:v>
              </c:pt>
              <c:pt idx="2">
                <c:v>0.5254792759228104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0.5320851575861103</c:v>
              </c:pt>
              <c:pt idx="1">
                <c:v>0.2617042615232217</c:v>
              </c:pt>
              <c:pt idx="2">
                <c:v>0.5578650737236776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0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0.1116763306350601</c:v>
              </c:pt>
              <c:pt idx="1">
                <c:v>0.6782283246807754</c:v>
              </c:pt>
              <c:pt idx="2">
                <c:v>0.0450938092637845</c:v>
              </c:pt>
              <c:pt idx="3">
                <c:v>0.0383225339956283</c:v>
              </c:pt>
              <c:pt idx="4">
                <c:v>0.0555263851137853</c:v>
              </c:pt>
              <c:pt idx="5">
                <c:v>0.2029820123277025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0.1390963456785791</c:v>
              </c:pt>
              <c:pt idx="1">
                <c:v>0.0085369657675623</c:v>
              </c:pt>
              <c:pt idx="2">
                <c:v>0.2571654070720304</c:v>
              </c:pt>
              <c:pt idx="3">
                <c:v>0.1107504103483613</c:v>
              </c:pt>
              <c:pt idx="4">
                <c:v>0.2863850373099147</c:v>
              </c:pt>
              <c:pt idx="5">
                <c:v>0.269028508380686</c:v>
              </c:pt>
            </c:numLit>
          </c:val>
        </c:ser>
        <c:ser>
          <c:idx val="2"/>
          <c:order val="2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0.0840999608667202</c:v>
              </c:pt>
              <c:pt idx="1">
                <c:v>0.0060998187147488</c:v>
              </c:pt>
              <c:pt idx="2">
                <c:v>0.0121996377120526</c:v>
              </c:pt>
              <c:pt idx="3">
                <c:v>0.1576375144502833</c:v>
              </c:pt>
              <c:pt idx="4">
                <c:v>0.1003776283557518</c:v>
              </c:pt>
              <c:pt idx="5">
                <c:v>0.0561734532046676</c:v>
              </c:pt>
            </c:numLit>
          </c:val>
        </c:ser>
        <c:ser>
          <c:idx val="3"/>
          <c:order val="3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0.0146265486635242</c:v>
              </c:pt>
              <c:pt idx="1">
                <c:v>0.009628795711521</c:v>
              </c:pt>
              <c:pt idx="2">
                <c:v>0.0718716845273516</c:v>
              </c:pt>
              <c:pt idx="3">
                <c:v>0.0746723052215733</c:v>
              </c:pt>
              <c:pt idx="4">
                <c:v>0.253591336198019</c:v>
              </c:pt>
              <c:pt idx="5">
                <c:v>0.0533268146890519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0373374891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0.0600546511336937</c:v>
              </c:pt>
              <c:pt idx="1">
                <c:v>0.0225383075558926</c:v>
              </c:pt>
              <c:pt idx="2">
                <c:v>0.1478667482986454</c:v>
              </c:pt>
              <c:pt idx="3">
                <c:v>0.1403255782349483</c:v>
              </c:pt>
              <c:pt idx="4">
                <c:v>0</c:v>
              </c:pt>
              <c:pt idx="5">
                <c:v>0.0089665861260677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0.0452554036899924</c:v>
              </c:pt>
              <c:pt idx="1">
                <c:v>0.0014290426740686</c:v>
              </c:pt>
              <c:pt idx="2">
                <c:v>0.0938211651306432</c:v>
              </c:pt>
              <c:pt idx="3">
                <c:v>0.1266642208703755</c:v>
              </c:pt>
              <c:pt idx="4">
                <c:v>0.2292028070380465</c:v>
              </c:pt>
              <c:pt idx="5">
                <c:v>0.0148724022126697</c:v>
              </c:pt>
            </c:numLit>
          </c:val>
        </c:ser>
        <c:ser>
          <c:idx val="6"/>
          <c:order val="6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.001549977204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0.0679529812812936</c:v>
              </c:pt>
              <c:pt idx="1">
                <c:v>0.0093365494192045</c:v>
              </c:pt>
              <c:pt idx="2">
                <c:v>0.0435322365450096</c:v>
              </c:pt>
              <c:pt idx="3">
                <c:v>0.0006615413000011</c:v>
              </c:pt>
              <c:pt idx="4">
                <c:v>0</c:v>
              </c:pt>
              <c:pt idx="5">
                <c:v>0.0195927534357799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0.0390778868680176</c:v>
              </c:pt>
              <c:pt idx="1">
                <c:v>0.0308583999379698</c:v>
              </c:pt>
              <c:pt idx="2">
                <c:v>0.0377896853506274</c:v>
              </c:pt>
              <c:pt idx="3">
                <c:v>0.0003689936710498</c:v>
              </c:pt>
              <c:pt idx="4">
                <c:v>0.0030735686210584</c:v>
              </c:pt>
              <c:pt idx="5">
                <c:v>0</c:v>
              </c:pt>
            </c:numLit>
          </c:val>
        </c:ser>
        <c:ser>
          <c:idx val="8"/>
          <c:order val="8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0.0256229759264469</c:v>
              </c:pt>
              <c:pt idx="1">
                <c:v>0.0042743795995927</c:v>
              </c:pt>
              <c:pt idx="2">
                <c:v>0.0026200048135162</c:v>
              </c:pt>
              <c:pt idx="3">
                <c:v>0.0823562202432192</c:v>
              </c:pt>
              <c:pt idx="4">
                <c:v>0.000517442092016</c:v>
              </c:pt>
              <c:pt idx="5">
                <c:v>0.0878398045610501</c:v>
              </c:pt>
            </c:numLit>
          </c:val>
        </c:ser>
        <c:ser>
          <c:idx val="9"/>
          <c:order val="9"/>
          <c:tx>
            <c:v>Hemera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0.0265752299531593</c:v>
              </c:pt>
              <c:pt idx="1">
                <c:v>0.0407324745725011</c:v>
              </c:pt>
              <c:pt idx="2">
                <c:v>0.041430326101634</c:v>
              </c:pt>
              <c:pt idx="3">
                <c:v>0.0163428047472977</c:v>
              </c:pt>
              <c:pt idx="4">
                <c:v>0.006670926137507</c:v>
              </c:pt>
              <c:pt idx="5">
                <c:v>0.0006624396052901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0.3859616853035125</c:v>
              </c:pt>
              <c:pt idx="1">
                <c:v>0.188336941366163</c:v>
              </c:pt>
              <c:pt idx="2">
                <c:v>0.2466092951847047</c:v>
              </c:pt>
              <c:pt idx="3">
                <c:v>0.2518978769172617</c:v>
              </c:pt>
              <c:pt idx="4">
                <c:v>0.0646548691339009</c:v>
              </c:pt>
              <c:pt idx="5">
                <c:v>0.286555225457034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1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19373735004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0.0500957774921574</c:v>
              </c:pt>
              <c:pt idx="1">
                <c:v>0.0012525299906187</c:v>
              </c:pt>
              <c:pt idx="2">
                <c:v>0.2535264495160129</c:v>
              </c:pt>
              <c:pt idx="3">
                <c:v>0.0462427868594103</c:v>
              </c:pt>
              <c:pt idx="4">
                <c:v>0.2758716420451991</c:v>
              </c:pt>
              <c:pt idx="5">
                <c:v>0.0726718301479003</c:v>
              </c:pt>
            </c:numLit>
          </c:val>
        </c:ser>
        <c:ser>
          <c:idx val="1"/>
          <c:order val="1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.00747831623144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0.0469523725398685</c:v>
              </c:pt>
              <c:pt idx="1">
                <c:v>0.0225383075558926</c:v>
              </c:pt>
              <c:pt idx="2">
                <c:v>0.0909821352025632</c:v>
              </c:pt>
              <c:pt idx="3">
                <c:v>0.1379781899976271</c:v>
              </c:pt>
              <c:pt idx="4">
                <c:v>0</c:v>
              </c:pt>
              <c:pt idx="5">
                <c:v>0.0089665861260677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0.0019669412013587</c:v>
              </c:pt>
              <c:pt idx="1">
                <c:v>0.0007064267423984</c:v>
              </c:pt>
              <c:pt idx="2">
                <c:v>0.0510761668947442</c:v>
              </c:pt>
              <c:pt idx="3">
                <c:v>0.0481316360628852</c:v>
              </c:pt>
              <c:pt idx="4">
                <c:v>0.1937323312865176</c:v>
              </c:pt>
              <c:pt idx="5">
                <c:v>0.0319409306110538</c:v>
              </c:pt>
            </c:numLit>
          </c:val>
        </c:ser>
        <c:ser>
          <c:idx val="3"/>
          <c:order val="3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0.0220612214253641</c:v>
              </c:pt>
              <c:pt idx="1">
                <c:v>0</c:v>
              </c:pt>
              <c:pt idx="2">
                <c:v>0.0733873168779346</c:v>
              </c:pt>
              <c:pt idx="3">
                <c:v>0.1081333878129026</c:v>
              </c:pt>
              <c:pt idx="4">
                <c:v>0.0942677758415833</c:v>
              </c:pt>
              <c:pt idx="5">
                <c:v>0.0014030424128084</c:v>
              </c:pt>
            </c:numLit>
          </c:val>
        </c:ser>
        <c:ser>
          <c:idx val="4"/>
          <c:order val="4"/>
          <c:tx>
            <c:v>Tercon Investimentos</c:v>
          </c:tx>
          <c:spPr>
            <a:solidFill>
              <a:srgbClr val="8D9399"/>
            </a:solidFill>
          </c:spPr>
          <c:dLbls>
            <c:dLbl>
              <c:idx val="0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0.006031214274127</c:v>
              </c:pt>
              <c:pt idx="1">
                <c:v>0.2254820036895443</c:v>
              </c:pt>
              <c:pt idx="2">
                <c:v>0.0044598510745928</c:v>
              </c:pt>
              <c:pt idx="3">
                <c:v>0.0024475116853231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5"/>
          <c:order val="5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0.0450847430474019</c:v>
              </c:pt>
              <c:pt idx="1">
                <c:v>0</c:v>
              </c:pt>
              <c:pt idx="2">
                <c:v>0.0171026340935401</c:v>
              </c:pt>
              <c:pt idx="3">
                <c:v>0</c:v>
              </c:pt>
              <c:pt idx="4">
                <c:v>0</c:v>
              </c:pt>
              <c:pt idx="5">
                <c:v>0.0258977954276094</c:v>
              </c:pt>
            </c:numLit>
          </c:val>
        </c:ser>
        <c:ser>
          <c:idx val="6"/>
          <c:order val="6"/>
          <c:tx>
            <c:v>Solis Investimentos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0.0205891110813994</c:v>
              </c:pt>
              <c:pt idx="1">
                <c:v>0.0353488694975699</c:v>
              </c:pt>
              <c:pt idx="2">
                <c:v>0.0103281819969092</c:v>
              </c:pt>
              <c:pt idx="3">
                <c:v>0.0170236300688781</c:v>
              </c:pt>
              <c:pt idx="4">
                <c:v>0.0213932153161958</c:v>
              </c:pt>
              <c:pt idx="5">
                <c:v>0.0006624396052901</c:v>
              </c:pt>
            </c:numLit>
          </c:val>
        </c:ser>
        <c:ser>
          <c:idx val="7"/>
          <c:order val="7"/>
          <c:tx>
            <c:v>XP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0.0124160176066826</c:v>
              </c:pt>
              <c:pt idx="1">
                <c:v>0</c:v>
              </c:pt>
              <c:pt idx="2">
                <c:v>0.0921407401194705</c:v>
              </c:pt>
              <c:pt idx="3">
                <c:v>0.0070214132164745</c:v>
              </c:pt>
              <c:pt idx="4">
                <c:v>0</c:v>
              </c:pt>
              <c:pt idx="5">
                <c:v>0.0642625485190267</c:v>
              </c:pt>
            </c:numLit>
          </c:val>
        </c:ser>
        <c:ser>
          <c:idx val="8"/>
          <c:order val="8"/>
          <c:tx>
            <c:v>Integral Investimentos</c:v>
          </c:tx>
          <c:spPr>
            <a:solidFill>
              <a:srgbClr val="A7ACB0"/>
            </a:solidFill>
          </c:spPr>
          <c:dLbls>
            <c:dLbl>
              <c:idx val="0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.0063792149299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0.0056678347405107</c:v>
              </c:pt>
              <c:pt idx="1">
                <c:v>0.0058311829957581</c:v>
              </c:pt>
              <c:pt idx="2">
                <c:v>0.072361729110744</c:v>
              </c:pt>
              <c:pt idx="3">
                <c:v>0.0067039718840054</c:v>
              </c:pt>
              <c:pt idx="4">
                <c:v>0.0020264986777547</c:v>
              </c:pt>
              <c:pt idx="5">
                <c:v>0</c:v>
              </c:pt>
            </c:numLit>
          </c:val>
        </c:ser>
        <c:ser>
          <c:idx val="9"/>
          <c:order val="9"/>
          <c:tx>
            <c:v>Anga Administracao De Recursos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-0.05"/>
                  <c:y val="0.0025372364845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0.0081687112550485</c:v>
              </c:pt>
              <c:pt idx="1">
                <c:v>0.0031211412936085</c:v>
              </c:pt>
              <c:pt idx="2">
                <c:v>0.0018544989739266</c:v>
              </c:pt>
              <c:pt idx="3">
                <c:v>0.0644142962449783</c:v>
              </c:pt>
              <c:pt idx="4">
                <c:v>0.0996900292425515</c:v>
              </c:pt>
              <c:pt idx="5">
                <c:v>0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0.7803731753534665</c:v>
              </c:pt>
              <c:pt idx="1">
                <c:v>0.7049428932208924</c:v>
              </c:pt>
              <c:pt idx="2">
                <c:v>0.3287800173132373</c:v>
              </c:pt>
              <c:pt idx="3">
                <c:v>0.5619031761675151</c:v>
              </c:pt>
              <c:pt idx="4">
                <c:v>0.3130185075901977</c:v>
              </c:pt>
              <c:pt idx="5">
                <c:v>0.7941948271502433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"/>
                  <c:y val="-0.019703560008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-0.019611677493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-0.01799986058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0.0005928799826141</c:v>
              </c:pt>
              <c:pt idx="1">
                <c:v>0.0007766450137169</c:v>
              </c:pt>
              <c:pt idx="2">
                <c:v>0.0040002788263241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2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18647108614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0.1385988512304118</c:v>
              </c:pt>
              <c:pt idx="1">
                <c:v>0.0027057827718041</c:v>
              </c:pt>
              <c:pt idx="2">
                <c:v>0.2571654070720304</c:v>
              </c:pt>
              <c:pt idx="3">
                <c:v>0.1107504103483613</c:v>
              </c:pt>
              <c:pt idx="4">
                <c:v>0.2863850373099147</c:v>
              </c:pt>
              <c:pt idx="5">
                <c:v>0.269028508380686</c:v>
              </c:pt>
            </c:numLit>
          </c:val>
        </c:ser>
        <c:ser>
          <c:idx val="1"/>
          <c:order val="1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0.1110650498414056</c:v>
              </c:pt>
              <c:pt idx="1">
                <c:v>0.6759912968773222</c:v>
              </c:pt>
              <c:pt idx="2">
                <c:v>0.0451499232981444</c:v>
              </c:pt>
              <c:pt idx="3">
                <c:v>0.0382941953359548</c:v>
              </c:pt>
              <c:pt idx="4">
                <c:v>0.0500143231646444</c:v>
              </c:pt>
              <c:pt idx="5">
                <c:v>0.2029820123277025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0.0367401725104139</c:v>
              </c:pt>
              <c:pt idx="1">
                <c:v>0.0271351448333965</c:v>
              </c:pt>
              <c:pt idx="2">
                <c:v>0.1734502780656785</c:v>
              </c:pt>
              <c:pt idx="3">
                <c:v>0.0746723052215733</c:v>
              </c:pt>
              <c:pt idx="4">
                <c:v>0.254399426087156</c:v>
              </c:pt>
              <c:pt idx="5">
                <c:v>0.0285286777700744</c:v>
              </c:pt>
            </c:numLit>
          </c:val>
        </c:ser>
        <c:ser>
          <c:idx val="3"/>
          <c:order val="3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0.0901371033135809</c:v>
              </c:pt>
              <c:pt idx="1">
                <c:v>0.0060998187147488</c:v>
              </c:pt>
              <c:pt idx="2">
                <c:v>0.0338901250913308</c:v>
              </c:pt>
              <c:pt idx="3">
                <c:v>0.1662834134085645</c:v>
              </c:pt>
              <c:pt idx="4">
                <c:v>0.1003776283557518</c:v>
              </c:pt>
              <c:pt idx="5">
                <c:v>0.0561734532046676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0.0600546511336937</c:v>
              </c:pt>
              <c:pt idx="1">
                <c:v>0.0170780158717631</c:v>
              </c:pt>
              <c:pt idx="2">
                <c:v>0.1117385096852637</c:v>
              </c:pt>
              <c:pt idx="3">
                <c:v>0.1399668200066018</c:v>
              </c:pt>
              <c:pt idx="4">
                <c:v>0</c:v>
              </c:pt>
              <c:pt idx="5">
                <c:v>0.0337647230450451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0.0341699412912885</c:v>
              </c:pt>
              <c:pt idx="1">
                <c:v>0.0014290426740686</c:v>
              </c:pt>
              <c:pt idx="2">
                <c:v>0.0924387555066889</c:v>
              </c:pt>
              <c:pt idx="3">
                <c:v>0.1266642208703755</c:v>
              </c:pt>
              <c:pt idx="4">
                <c:v>0.1377649003513394</c:v>
              </c:pt>
              <c:pt idx="5">
                <c:v>0.0148724022126697</c:v>
              </c:pt>
            </c:numLit>
          </c:val>
        </c:ser>
        <c:ser>
          <c:idx val="6"/>
          <c:order val="6"/>
          <c:tx>
            <c:v>REAG</c:v>
          </c:tx>
          <c:spPr>
            <a:solidFill>
              <a:srgbClr val="73C6A1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.013350666946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0.0766621333152516</c:v>
              </c:pt>
              <c:pt idx="1">
                <c:v>0.0001847303014918</c:v>
              </c:pt>
              <c:pt idx="2">
                <c:v>1.9023858238375103E-05</c:v>
              </c:pt>
              <c:pt idx="3">
                <c:v>0.0013441224672684</c:v>
              </c:pt>
              <c:pt idx="4">
                <c:v>0</c:v>
              </c:pt>
              <c:pt idx="5">
                <c:v>0.0475501029412941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0.0390778868680176</c:v>
              </c:pt>
              <c:pt idx="1">
                <c:v>0.0308583999379698</c:v>
              </c:pt>
              <c:pt idx="2">
                <c:v>0.0377896853506274</c:v>
              </c:pt>
              <c:pt idx="3">
                <c:v>0.0003689936710498</c:v>
              </c:pt>
              <c:pt idx="4">
                <c:v>0.0030735686210584</c:v>
              </c:pt>
              <c:pt idx="5">
                <c:v>0</c:v>
              </c:pt>
            </c:numLit>
          </c:val>
        </c:ser>
        <c:ser>
          <c:idx val="8"/>
          <c:order val="8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0.0529133378830142</c:v>
              </c:pt>
              <c:pt idx="1">
                <c:v>0.0093365494192045</c:v>
              </c:pt>
              <c:pt idx="2">
                <c:v>0.0171026340935401</c:v>
              </c:pt>
              <c:pt idx="3">
                <c:v>0.0006615413000011</c:v>
              </c:pt>
              <c:pt idx="4">
                <c:v>0</c:v>
              </c:pt>
              <c:pt idx="5">
                <c:v>0.0195927534357799</c:v>
              </c:pt>
            </c:numLit>
          </c:val>
        </c:ser>
        <c:ser>
          <c:idx val="9"/>
          <c:order val="9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0.0256229759264469</c:v>
              </c:pt>
              <c:pt idx="1">
                <c:v>0.0042743795995927</c:v>
              </c:pt>
              <c:pt idx="2">
                <c:v>0.0026200048135162</c:v>
              </c:pt>
              <c:pt idx="3">
                <c:v>0.0823562202432192</c:v>
              </c:pt>
              <c:pt idx="4">
                <c:v>0.000517442092016</c:v>
              </c:pt>
              <c:pt idx="5">
                <c:v>0.0878398045610501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0.3241701231603555</c:v>
              </c:pt>
              <c:pt idx="1">
                <c:v>0.2115480334239259</c:v>
              </c:pt>
              <c:pt idx="2">
                <c:v>0.160647830710761</c:v>
              </c:pt>
              <c:pt idx="3">
                <c:v>0.2568686718762569</c:v>
              </c:pt>
              <c:pt idx="4">
                <c:v>0.1673666661701728</c:v>
              </c:pt>
              <c:pt idx="5">
                <c:v>0.2391091484443289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-0.05"/>
                  <c:y val="-0.014606113236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-0.013320597212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-0.019115457374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5"/>
                  <c:y val="-0.019949496076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-0.019720793161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0.0107877735261191</c:v>
              </c:pt>
              <c:pt idx="1">
                <c:v>0.0133588055747116</c:v>
              </c:pt>
              <c:pt idx="2">
                <c:v>0.0679878224541797</c:v>
              </c:pt>
              <c:pt idx="3">
                <c:v>0.0017690852507729</c:v>
              </c:pt>
              <c:pt idx="4">
                <c:v>0.0001010078479461</c:v>
              </c:pt>
              <c:pt idx="5">
                <c:v>0.0005584136767011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3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FF5500"/>
              </a:solidFill>
            </c:spPr>
          </c:dPt>
          <c:dPt>
            <c:idx val="1"/>
            <c:spPr>
              <a:solidFill xmlns:a="http://schemas.openxmlformats.org/drawingml/2006/main">
                <a:srgbClr val="6EC5E9"/>
              </a:solidFill>
            </c:spPr>
          </c:dPt>
          <c:dPt>
            <c:idx val="2"/>
            <c:spPr>
              <a:solidFill xmlns:a="http://schemas.openxmlformats.org/drawingml/2006/main">
                <a:srgbClr val="73787D"/>
              </a:solidFill>
            </c:spPr>
          </c:dPt>
          <c:dPt>
            <c:idx val="3"/>
            <c:spPr>
              <a:solidFill xmlns:a="http://schemas.openxmlformats.org/drawingml/2006/main">
                <a:srgbClr val="7A1F3D"/>
              </a:solidFill>
            </c:spPr>
          </c:dPt>
          <c:dPt>
            <c:idx val="4"/>
            <c:spPr>
              <a:solidFill xmlns:a="http://schemas.openxmlformats.org/drawingml/2006/main">
                <a:srgbClr val="BEC2C5"/>
              </a:solidFill>
            </c:spPr>
          </c:dPt>
          <c:dPt>
            <c:idx val="5"/>
            <c:spPr>
              <a:solidFill xmlns:a="http://schemas.openxmlformats.org/drawingml/2006/main">
                <a:srgbClr val="1D4080"/>
              </a:solidFill>
            </c:spPr>
          </c:dPt>
          <c:dPt>
            <c:idx val="6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7"/>
              <c:pt idx="0">
                <c:v>Itaú</c:v>
              </c:pt>
              <c:pt idx="1">
                <c:v>Genial</c:v>
              </c:pt>
              <c:pt idx="2">
                <c:v>Bradesco</c:v>
              </c:pt>
              <c:pt idx="3">
                <c:v>Oliveira Trust</c:v>
              </c:pt>
              <c:pt idx="4">
                <c:v>Daycoval</c:v>
              </c:pt>
              <c:pt idx="5">
                <c:v>BTG Pactual</c:v>
              </c:pt>
              <c:pt idx="6">
                <c:v>QI Tech</c:v>
              </c:pt>
            </c:strLit>
          </c:cat>
          <c:val>
            <c:numLit>
              <c:formatCode>0.0</c:formatCode>
              <c:ptCount val="7"/>
              <c:pt idx="0">
                <c:v>28.577477955880003</c:v>
              </c:pt>
              <c:pt idx="1">
                <c:v>50.543366234</c:v>
              </c:pt>
              <c:pt idx="2">
                <c:v>51.00175435107</c:v>
              </c:pt>
              <c:pt idx="3">
                <c:v>57.205822956949994</c:v>
              </c:pt>
              <c:pt idx="4">
                <c:v>58.07994111931001</c:v>
              </c:pt>
              <c:pt idx="5">
                <c:v>123.34891855075</c:v>
              </c:pt>
              <c:pt idx="6">
                <c:v>124.12592647323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2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4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FF5500"/>
              </a:solidFill>
            </c:spPr>
          </c:dPt>
          <c:dPt>
            <c:idx val="1"/>
            <c:spPr>
              <a:solidFill xmlns:a="http://schemas.openxmlformats.org/drawingml/2006/main">
                <a:srgbClr val="8D9399"/>
              </a:solidFill>
            </c:spPr>
          </c:dPt>
          <c:dPt>
            <c:idx val="2"/>
            <c:spPr>
              <a:solidFill xmlns:a="http://schemas.openxmlformats.org/drawingml/2006/main">
                <a:srgbClr val="6EC5E9"/>
              </a:solidFill>
            </c:spPr>
          </c:dPt>
          <c:dPt>
            <c:idx val="3"/>
            <c:spPr>
              <a:solidFill xmlns:a="http://schemas.openxmlformats.org/drawingml/2006/main">
                <a:srgbClr val="7A1F3D"/>
              </a:solidFill>
            </c:spPr>
          </c:dPt>
          <c:dPt>
            <c:idx val="4"/>
            <c:spPr>
              <a:solidFill xmlns:a="http://schemas.openxmlformats.org/drawingml/2006/main">
                <a:srgbClr val="73787D"/>
              </a:solidFill>
            </c:spPr>
          </c:dPt>
          <c:dPt>
            <c:idx val="5"/>
            <c:spPr>
              <a:solidFill xmlns:a="http://schemas.openxmlformats.org/drawingml/2006/main">
                <a:srgbClr val="1D4080"/>
              </a:solidFill>
            </c:spPr>
          </c:dPt>
          <c:cat>
            <c:strLit>
              <c:ptCount val="6"/>
              <c:pt idx="0">
                <c:v>Itaú</c:v>
              </c:pt>
              <c:pt idx="1">
                <c:v>Tercon Investimentos</c:v>
              </c:pt>
              <c:pt idx="2">
                <c:v>Genial</c:v>
              </c:pt>
              <c:pt idx="3">
                <c:v>Oliveira Trust</c:v>
              </c:pt>
              <c:pt idx="4">
                <c:v>Bradesco</c:v>
              </c:pt>
              <c:pt idx="5">
                <c:v>BTG Pactual</c:v>
              </c:pt>
            </c:strLit>
          </c:cat>
          <c:val>
            <c:numLit>
              <c:formatCode>0.0</c:formatCode>
              <c:ptCount val="6"/>
              <c:pt idx="0">
                <c:v>18.875169440439997</c:v>
              </c:pt>
              <c:pt idx="1">
                <c:v>22.14586346137</c:v>
              </c:pt>
              <c:pt idx="2">
                <c:v>26.891086880550002</c:v>
              </c:pt>
              <c:pt idx="3">
                <c:v>35.02222544035998</c:v>
              </c:pt>
              <c:pt idx="4">
                <c:v>40.32919650402</c:v>
              </c:pt>
              <c:pt idx="5">
                <c:v>79.11922838494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2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5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FF5500"/>
              </a:solidFill>
            </c:spPr>
          </c:dPt>
          <c:dPt>
            <c:idx val="1"/>
            <c:spPr>
              <a:solidFill xmlns:a="http://schemas.openxmlformats.org/drawingml/2006/main">
                <a:srgbClr val="6EC5E9"/>
              </a:solidFill>
            </c:spPr>
          </c:dPt>
          <c:dPt>
            <c:idx val="2"/>
            <c:spPr>
              <a:solidFill xmlns:a="http://schemas.openxmlformats.org/drawingml/2006/main">
                <a:srgbClr val="73787D"/>
              </a:solidFill>
            </c:spPr>
          </c:dPt>
          <c:dPt>
            <c:idx val="3"/>
            <c:spPr>
              <a:solidFill xmlns:a="http://schemas.openxmlformats.org/drawingml/2006/main">
                <a:srgbClr val="BEC2C5"/>
              </a:solidFill>
            </c:spPr>
          </c:dPt>
          <c:dPt>
            <c:idx val="4"/>
            <c:spPr>
              <a:solidFill xmlns:a="http://schemas.openxmlformats.org/drawingml/2006/main">
                <a:srgbClr val="7A1F3D"/>
              </a:solidFill>
            </c:spPr>
          </c:dPt>
          <c:dPt>
            <c:idx val="5"/>
            <c:spPr>
              <a:solidFill xmlns:a="http://schemas.openxmlformats.org/drawingml/2006/main">
                <a:srgbClr val="2456D6"/>
              </a:solidFill>
            </c:spPr>
          </c:dPt>
          <c:dPt>
            <c:idx val="6"/>
            <c:spPr>
              <a:solidFill xmlns:a="http://schemas.openxmlformats.org/drawingml/2006/main">
                <a:srgbClr val="1D4080"/>
              </a:solidFill>
            </c:spPr>
          </c:dPt>
          <c:cat>
            <c:strLit>
              <c:ptCount val="7"/>
              <c:pt idx="0">
                <c:v>Itaú</c:v>
              </c:pt>
              <c:pt idx="1">
                <c:v>Genial</c:v>
              </c:pt>
              <c:pt idx="2">
                <c:v>Bradesco</c:v>
              </c:pt>
              <c:pt idx="3">
                <c:v>Daycoval</c:v>
              </c:pt>
              <c:pt idx="4">
                <c:v>Oliveira Trust</c:v>
              </c:pt>
              <c:pt idx="5">
                <c:v>QI Tech</c:v>
              </c:pt>
              <c:pt idx="6">
                <c:v>BTG Pactual</c:v>
              </c:pt>
            </c:strLit>
          </c:cat>
          <c:val>
            <c:numLit>
              <c:formatCode>0.0</c:formatCode>
              <c:ptCount val="7"/>
              <c:pt idx="0">
                <c:v>21.926715321429995</c:v>
              </c:pt>
              <c:pt idx="1">
                <c:v>41.210367862009996</c:v>
              </c:pt>
              <c:pt idx="2">
                <c:v>49.658130944339995</c:v>
              </c:pt>
              <c:pt idx="3">
                <c:v>64.38995086032001</c:v>
              </c:pt>
              <c:pt idx="4">
                <c:v>74.73806249444</c:v>
              </c:pt>
              <c:pt idx="5">
                <c:v>122.32123834260001</c:v>
              </c:pt>
              <c:pt idx="6">
                <c:v>122.70207078867999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2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6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73C6A1"/>
              </a:solidFill>
            </c:spPr>
          </c:dPt>
          <c:dPt>
            <c:idx val="1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spPr>
              <a:solidFill xmlns:a="http://schemas.openxmlformats.org/drawingml/2006/main">
                <a:srgbClr val="454A4F"/>
              </a:solidFill>
            </c:spPr>
          </c:dPt>
          <c:dPt>
            <c:idx val="3"/>
            <c:spPr>
              <a:solidFill xmlns:a="http://schemas.openxmlformats.org/drawingml/2006/main">
                <a:srgbClr val="5B6065"/>
              </a:solidFill>
            </c:spPr>
          </c:dPt>
          <c:dPt>
            <c:idx val="4"/>
            <c:spPr>
              <a:solidFill xmlns:a="http://schemas.openxmlformats.org/drawingml/2006/main">
                <a:srgbClr val="7A1F3D"/>
              </a:solidFill>
            </c:spPr>
          </c:dPt>
          <c:dPt>
            <c:idx val="5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6"/>
              <c:pt idx="0">
                <c:v>CBSF</c:v>
              </c:pt>
              <c:pt idx="1">
                <c:v>Hemera</c:v>
              </c:pt>
              <c:pt idx="2">
                <c:v>BRL Trust</c:v>
              </c:pt>
              <c:pt idx="3">
                <c:v>Finaxis</c:v>
              </c:pt>
              <c:pt idx="4">
                <c:v>Oliveira Trust</c:v>
              </c:pt>
              <c:pt idx="5">
                <c:v>QI Tech</c:v>
              </c:pt>
            </c:strLit>
          </c:cat>
          <c:val>
            <c:numLit>
              <c:formatCode>0.0</c:formatCode>
              <c:ptCount val="6"/>
              <c:pt idx="0">
                <c:v>18.69339303628</c:v>
              </c:pt>
              <c:pt idx="1">
                <c:v>21.117364064860002</c:v>
              </c:pt>
              <c:pt idx="2">
                <c:v>21.71761716544</c:v>
              </c:pt>
              <c:pt idx="3">
                <c:v>22.40761845837</c:v>
              </c:pt>
              <c:pt idx="4">
                <c:v>57.205822956949994</c:v>
              </c:pt>
              <c:pt idx="5">
                <c:v>124.12592647323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2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7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73C6A1"/>
              </a:solidFill>
            </c:spPr>
          </c:dPt>
          <c:dPt>
            <c:idx val="1"/>
            <c:spPr>
              <a:solidFill xmlns:a="http://schemas.openxmlformats.org/drawingml/2006/main">
                <a:srgbClr val="73C6A1"/>
              </a:solidFill>
            </c:spPr>
          </c:dPt>
          <c:dPt>
            <c:idx val="2"/>
            <c:spPr>
              <a:solidFill xmlns:a="http://schemas.openxmlformats.org/drawingml/2006/main">
                <a:srgbClr val="A7ACB0"/>
              </a:solidFill>
            </c:spPr>
          </c:dPt>
          <c:dPt>
            <c:idx val="3"/>
            <c:spPr>
              <a:solidFill xmlns:a="http://schemas.openxmlformats.org/drawingml/2006/main">
                <a:srgbClr val="BEC2C5"/>
              </a:solidFill>
            </c:spPr>
          </c:dPt>
          <c:dPt>
            <c:idx val="4"/>
            <c:spPr>
              <a:solidFill xmlns:a="http://schemas.openxmlformats.org/drawingml/2006/main">
                <a:srgbClr val="8D9399"/>
              </a:solidFill>
            </c:spPr>
          </c:dPt>
          <c:dPt>
            <c:idx val="5"/>
            <c:spPr>
              <a:solidFill xmlns:a="http://schemas.openxmlformats.org/drawingml/2006/main">
                <a:srgbClr val="7A1F3D"/>
              </a:solidFill>
            </c:spPr>
          </c:dPt>
          <c:cat>
            <c:strLit>
              <c:ptCount val="6"/>
              <c:pt idx="0">
                <c:v>REAG</c:v>
              </c:pt>
              <c:pt idx="1">
                <c:v>CBSF</c:v>
              </c:pt>
              <c:pt idx="2">
                <c:v>Integral Investimentos</c:v>
              </c:pt>
              <c:pt idx="3">
                <c:v>Solis Investimentos</c:v>
              </c:pt>
              <c:pt idx="4">
                <c:v>Tercon Investimentos</c:v>
              </c:pt>
              <c:pt idx="5">
                <c:v>Oliveira Trust</c:v>
              </c:pt>
            </c:strLit>
          </c:cat>
          <c:val>
            <c:numLit>
              <c:formatCode>0.0</c:formatCode>
              <c:ptCount val="6"/>
              <c:pt idx="0">
                <c:v>8.217051472049999</c:v>
              </c:pt>
              <c:pt idx="1">
                <c:v>10.17441132442</c:v>
              </c:pt>
              <c:pt idx="2">
                <c:v>14.95203415536</c:v>
              </c:pt>
              <c:pt idx="3">
                <c:v>16.12591261212</c:v>
              </c:pt>
              <c:pt idx="4">
                <c:v>22.14586346137</c:v>
              </c:pt>
              <c:pt idx="5">
                <c:v>35.02222544035998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2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8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30353A"/>
              </a:solidFill>
            </c:spPr>
          </c:dPt>
          <c:dPt>
            <c:idx val="1"/>
            <c:spPr>
              <a:solidFill xmlns:a="http://schemas.openxmlformats.org/drawingml/2006/main">
                <a:srgbClr val="454A4F"/>
              </a:solidFill>
            </c:spPr>
          </c:dPt>
          <c:dPt>
            <c:idx val="2"/>
            <c:spPr>
              <a:solidFill xmlns:a="http://schemas.openxmlformats.org/drawingml/2006/main">
                <a:srgbClr val="5B6065"/>
              </a:solidFill>
            </c:spPr>
          </c:dPt>
          <c:dPt>
            <c:idx val="3"/>
            <c:spPr>
              <a:solidFill xmlns:a="http://schemas.openxmlformats.org/drawingml/2006/main">
                <a:srgbClr val="73C6A1"/>
              </a:solidFill>
            </c:spPr>
          </c:dPt>
          <c:dPt>
            <c:idx val="4"/>
            <c:spPr>
              <a:solidFill xmlns:a="http://schemas.openxmlformats.org/drawingml/2006/main">
                <a:srgbClr val="7A1F3D"/>
              </a:solidFill>
            </c:spPr>
          </c:dPt>
          <c:dPt>
            <c:idx val="5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6"/>
              <c:pt idx="0">
                <c:v>Hemera</c:v>
              </c:pt>
              <c:pt idx="1">
                <c:v>BRL Trust</c:v>
              </c:pt>
              <c:pt idx="2">
                <c:v>Finaxis</c:v>
              </c:pt>
              <c:pt idx="3">
                <c:v>REAG</c:v>
              </c:pt>
              <c:pt idx="4">
                <c:v>Oliveira Trust</c:v>
              </c:pt>
              <c:pt idx="5">
                <c:v>QI Tech</c:v>
              </c:pt>
            </c:strLit>
          </c:cat>
          <c:val>
            <c:numLit>
              <c:formatCode>0.0</c:formatCode>
              <c:ptCount val="6"/>
              <c:pt idx="0">
                <c:v>21.117364064860002</c:v>
              </c:pt>
              <c:pt idx="1">
                <c:v>21.72075588213</c:v>
              </c:pt>
              <c:pt idx="2">
                <c:v>22.40761845837</c:v>
              </c:pt>
              <c:pt idx="3">
                <c:v>25.148795168550002</c:v>
              </c:pt>
              <c:pt idx="4">
                <c:v>74.73806249444</c:v>
              </c:pt>
              <c:pt idx="5">
                <c:v>122.32123834260001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2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9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BTG Pactual</c:v>
          </c:tx>
          <c:spPr>
            <a:solidFill xmlns:a="http://schemas.openxmlformats.org/drawingml/2006/main">
              <a:srgbClr val="1D408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31.16523551990001</c:v>
              </c:pt>
              <c:pt idx="1">
                <c:v>33.64749310927</c:v>
              </c:pt>
              <c:pt idx="2">
                <c:v>34.188413197189995</c:v>
              </c:pt>
              <c:pt idx="3">
                <c:v>52.201104080029985</c:v>
              </c:pt>
            </c:numLit>
          </c:val>
        </c:ser>
        <c:ser>
          <c:idx val="1"/>
          <c:order val="1"/>
          <c:tx>
            <c:v>Itaú</c:v>
          </c:tx>
          <c:spPr>
            <a:solidFill xmlns:a="http://schemas.openxmlformats.org/drawingml/2006/main">
              <a:srgbClr val="FF55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4.3629141675</c:v>
              </c:pt>
              <c:pt idx="1">
                <c:v>4.96984899401</c:v>
              </c:pt>
              <c:pt idx="2">
                <c:v>14.07980603803</c:v>
              </c:pt>
              <c:pt idx="3">
                <c:v>11.74979193425</c:v>
              </c:pt>
            </c:numLit>
          </c:val>
        </c:ser>
        <c:ser>
          <c:idx val="2"/>
          <c:order val="2"/>
          <c:tx>
            <c:v>Santander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9.341118916700001</c:v>
              </c:pt>
              <c:pt idx="1">
                <c:v>13.862349673500002</c:v>
              </c:pt>
              <c:pt idx="2">
                <c:v>13.358226244070002</c:v>
              </c:pt>
              <c:pt idx="3">
                <c:v>13.835289126020001</c:v>
              </c:pt>
            </c:numLit>
          </c:val>
        </c:ser>
        <c:ser>
          <c:idx val="3"/>
          <c:order val="3"/>
          <c:tx>
            <c:v>Bradesco</c:v>
          </c:tx>
          <c:spPr>
            <a:solidFill xmlns:a="http://schemas.openxmlformats.org/drawingml/2006/main">
              <a:srgbClr val="454A4F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0.6403486231000001</c:v>
              </c:pt>
              <c:pt idx="1">
                <c:v>1.11949597452</c:v>
              </c:pt>
              <c:pt idx="2">
                <c:v>1.66454381844</c:v>
              </c:pt>
              <c:pt idx="3">
                <c:v>1.88389156603</c:v>
              </c:pt>
            </c:numLit>
          </c:val>
        </c:ser>
        <c:ser>
          <c:idx val="4"/>
          <c:order val="4"/>
          <c:tx>
            <c:v>Banco do Brasil</c:v>
          </c:tx>
          <c:spPr>
            <a:solidFill xmlns:a="http://schemas.openxmlformats.org/drawingml/2006/main">
              <a:srgbClr val="D6A8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0.05108505535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0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administrado</c:v>
          </c:tx>
          <c:spPr>
            <a:solidFill xmlns:a="http://schemas.openxmlformats.org/drawingml/2006/main">
              <a:srgbClr val="2456D6"/>
            </a:solidFill>
          </c:spPr>
          <c:dPt>
            <c:idx val="0"/>
            <c:spPr>
              <a:solidFill xmlns:a="http://schemas.openxmlformats.org/drawingml/2006/main">
                <a:srgbClr val="2456D6"/>
              </a:solidFill>
            </c:spPr>
          </c:dPt>
          <c:dPt>
            <c:idx val="1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2"/>
              <c:pt idx="0">
                <c:v>Singulare legado</c:v>
              </c:pt>
              <c:pt idx="1">
                <c:v>QI DTVM original</c:v>
              </c:pt>
            </c:strLit>
          </c:cat>
          <c:val>
            <c:numLit>
              <c:formatCode>0.0</c:formatCode>
              <c:ptCount val="2"/>
              <c:pt idx="0">
                <c:v>83.49494764802999</c:v>
              </c:pt>
              <c:pt idx="1">
                <c:v>3.5498953478999997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gerido</c:v>
          </c:tx>
          <c:spPr>
            <a:solidFill xmlns:a="http://schemas.openxmlformats.org/drawingml/2006/main">
              <a:srgbClr val="1D4080"/>
            </a:solidFill>
          </c:spPr>
          <c:dPt>
            <c:idx val="0"/>
            <c:spPr>
              <a:solidFill xmlns:a="http://schemas.openxmlformats.org/drawingml/2006/main">
                <a:srgbClr val="1D4080"/>
              </a:solidFill>
            </c:spPr>
          </c:dPt>
          <c:dPt>
            <c:idx val="1"/>
            <c:spPr>
              <a:solidFill xmlns:a="http://schemas.openxmlformats.org/drawingml/2006/main">
                <a:srgbClr val="73787D"/>
              </a:solidFill>
            </c:spPr>
          </c:dPt>
          <c:dPt>
            <c:idx val="2"/>
            <c:spPr>
              <a:solidFill xmlns:a="http://schemas.openxmlformats.org/drawingml/2006/main">
                <a:srgbClr val="1D4080"/>
              </a:solidFill>
            </c:spPr>
          </c:dPt>
          <c:cat>
            <c:strLit>
              <c:ptCount val="3"/>
              <c:pt idx="0">
                <c:v>BTG Pactual</c:v>
              </c:pt>
              <c:pt idx="1">
                <c:v>Bradesco</c:v>
              </c:pt>
              <c:pt idx="2">
                <c:v>BTG sem coorte bancária</c:v>
              </c:pt>
            </c:strLit>
          </c:cat>
          <c:val>
            <c:numLit>
              <c:formatCode>0.0</c:formatCode>
              <c:ptCount val="3"/>
              <c:pt idx="0">
                <c:v>79.11922838494</c:v>
              </c:pt>
              <c:pt idx="1">
                <c:v>40.32919650402</c:v>
              </c:pt>
              <c:pt idx="2">
                <c:v>27.842201097290015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2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% fundos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6"/>
              <c:pt idx="0">
                <c:v>Monoestrutura</c:v>
              </c:pt>
              <c:pt idx="1">
                <c:v>Adm. + Gestão</c:v>
              </c:pt>
              <c:pt idx="2">
                <c:v>Adm. + Custódia</c:v>
              </c:pt>
              <c:pt idx="3">
                <c:v>Gestão + Custódia</c:v>
              </c:pt>
              <c:pt idx="4">
                <c:v>Três distintos</c:v>
              </c:pt>
              <c:pt idx="5">
                <c:v>Dados incompletos</c:v>
              </c:pt>
            </c:strLit>
          </c:cat>
          <c:val>
            <c:numLit>
              <c:formatCode>0.0%</c:formatCode>
              <c:ptCount val="6"/>
              <c:pt idx="0">
                <c:v>0.08029197080291971</c:v>
              </c:pt>
              <c:pt idx="1">
                <c:v>0.007770190722863198</c:v>
              </c:pt>
              <c:pt idx="2">
                <c:v>0.8102189781021898</c:v>
              </c:pt>
              <c:pt idx="3">
                <c:v>0.009182952672474688</c:v>
              </c:pt>
              <c:pt idx="4">
                <c:v>0.07558276430421473</c:v>
              </c:pt>
              <c:pt idx="5">
                <c:v>0.016953143395337884</c:v>
              </c:pt>
            </c:numLit>
          </c:val>
        </c:ser>
        <c:ser>
          <c:idx val="1"/>
          <c:order val="1"/>
          <c:tx>
            <c:v>% PL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Monoestrutura</c:v>
              </c:pt>
              <c:pt idx="1">
                <c:v>Adm. + Gestão</c:v>
              </c:pt>
              <c:pt idx="2">
                <c:v>Adm. + Custódia</c:v>
              </c:pt>
              <c:pt idx="3">
                <c:v>Gestão + Custódia</c:v>
              </c:pt>
              <c:pt idx="4">
                <c:v>Três distintos</c:v>
              </c:pt>
              <c:pt idx="5">
                <c:v>Dados incompletos</c:v>
              </c:pt>
            </c:strLit>
          </c:cat>
          <c:val>
            <c:numLit>
              <c:formatCode>0.0%</c:formatCode>
              <c:ptCount val="6"/>
              <c:pt idx="0">
                <c:v>0.3566815952743106</c:v>
              </c:pt>
              <c:pt idx="1">
                <c:v>0.025023574308591645</c:v>
              </c:pt>
              <c:pt idx="2">
                <c:v>0.5461799583736618</c:v>
              </c:pt>
              <c:pt idx="3">
                <c:v>0.008546199474819226</c:v>
              </c:pt>
              <c:pt idx="4">
                <c:v>0.051578174945170883</c:v>
              </c:pt>
              <c:pt idx="5">
                <c:v>0.011990497623445616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8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3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Volume registrado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30353A"/>
              </a:solidFill>
            </c:spPr>
          </c:dPt>
          <c:dPt>
            <c:idx val="1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spPr>
              <a:solidFill xmlns:a="http://schemas.openxmlformats.org/drawingml/2006/main">
                <a:srgbClr val="EC7000"/>
              </a:solidFill>
            </c:spPr>
          </c:dPt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40,9 bi
413 · R$ 99 mi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57,2 bi
700 · R$ 82 mi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65,5 bi
771 · R$ 85 mi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numLit>
              <c:formatCode>General</c:formatCode>
              <c:ptCount val="3"/>
              <c:pt idx="0">
                <c:v>2024</c:v>
              </c:pt>
              <c:pt idx="1">
                <c:v>2025</c:v>
              </c:pt>
              <c:pt idx="2">
                <c:v>2026</c:v>
              </c:pt>
            </c:numLit>
          </c:cat>
          <c:val>
            <c:numLit>
              <c:formatCode>0.0</c:formatCode>
              <c:ptCount val="3"/>
              <c:pt idx="0">
                <c:v>40.869510061910006</c:v>
              </c:pt>
              <c:pt idx="1">
                <c:v>57.15870696836</c:v>
              </c:pt>
              <c:pt idx="2">
                <c:v>65.48811898356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1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4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2024</c:v>
          </c:tx>
          <c:spPr>
            <a:ln xmlns:a="http://schemas.openxmlformats.org/drawingml/2006/main" w="19050">
              <a:solidFill>
                <a:srgbClr val="8D9399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6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</c:numLit>
          </c:xVal>
          <c:yVal>
            <c:numLit>
              <c:formatCode>0.0</c:formatCode>
              <c:ptCount val="6"/>
              <c:pt idx="0">
                <c:v>3.5776889819499997</c:v>
              </c:pt>
              <c:pt idx="1">
                <c:v>6.31697433342</c:v>
              </c:pt>
              <c:pt idx="2">
                <c:v>12.75231637649</c:v>
              </c:pt>
              <c:pt idx="3">
                <c:v>18.982994111559996</c:v>
              </c:pt>
              <c:pt idx="4">
                <c:v>35.57797349489</c:v>
              </c:pt>
              <c:pt idx="5">
                <c:v>40.869510061910006</c:v>
              </c:pt>
            </c:numLit>
          </c:yVal>
        </c:ser>
        <c:ser>
          <c:idx val="1"/>
          <c:order val="1"/>
          <c:tx>
            <c:v>2025</c:v>
          </c:tx>
          <c:spPr>
            <a:ln xmlns:a="http://schemas.openxmlformats.org/drawingml/2006/main" w="20955">
              <a:solidFill>
                <a:srgbClr val="30353A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6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</c:numLit>
          </c:xVal>
          <c:yVal>
            <c:numLit>
              <c:formatCode>0.0</c:formatCode>
              <c:ptCount val="6"/>
              <c:pt idx="0">
                <c:v>4.69157717423</c:v>
              </c:pt>
              <c:pt idx="1">
                <c:v>13.28230156707</c:v>
              </c:pt>
              <c:pt idx="2">
                <c:v>21.89222074001</c:v>
              </c:pt>
              <c:pt idx="3">
                <c:v>36.243054840190005</c:v>
              </c:pt>
              <c:pt idx="4">
                <c:v>44.91558778326</c:v>
              </c:pt>
              <c:pt idx="5">
                <c:v>57.15870696836</c:v>
              </c:pt>
            </c:numLit>
          </c:yVal>
        </c:ser>
        <c:ser>
          <c:idx val="2"/>
          <c:order val="2"/>
          <c:tx>
            <c:v>2026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6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</c:numLit>
          </c:xVal>
          <c:yVal>
            <c:numLit>
              <c:formatCode>0.0</c:formatCode>
              <c:ptCount val="6"/>
              <c:pt idx="0">
                <c:v>8.415778112109999</c:v>
              </c:pt>
              <c:pt idx="1">
                <c:v>15.828976040429998</c:v>
              </c:pt>
              <c:pt idx="2">
                <c:v>27.564315847659994</c:v>
              </c:pt>
              <c:pt idx="3">
                <c:v>44.609140465989995</c:v>
              </c:pt>
              <c:pt idx="4">
                <c:v>51.475115157089995</c:v>
              </c:pt>
              <c:pt idx="5">
                <c:v>65.48811898356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</c:valAx>
      <c:valAx>
        <c:axId val="48650112"/>
        <c:scaling>
          <c:orientation val="minMax"/>
          <c:max val="5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5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7"/>
              <c:pt idx="0">
                <c:v>&lt; R$ 10 mi</c:v>
              </c:pt>
              <c:pt idx="1">
                <c:v>R$ 10–25 mi</c:v>
              </c:pt>
              <c:pt idx="2">
                <c:v>R$ 25–50 mi</c:v>
              </c:pt>
              <c:pt idx="3">
                <c:v>R$ 50–100 mi</c:v>
              </c:pt>
              <c:pt idx="4">
                <c:v>R$ 100–200 mi</c:v>
              </c:pt>
              <c:pt idx="5">
                <c:v>R$ 200–500 mi</c:v>
              </c:pt>
              <c:pt idx="6">
                <c:v>≥ R$ 500 mi</c:v>
              </c:pt>
            </c:strLit>
          </c:cat>
          <c:val>
            <c:numLit>
              <c:formatCode>0%</c:formatCode>
              <c:ptCount val="7"/>
              <c:pt idx="0">
                <c:v>0.2289395441030723</c:v>
              </c:pt>
              <c:pt idx="1">
                <c:v>0.2348860257680872</c:v>
              </c:pt>
              <c:pt idx="2">
                <c:v>0.1734390485629336</c:v>
              </c:pt>
              <c:pt idx="3">
                <c:v>0.1565906838453915</c:v>
              </c:pt>
              <c:pt idx="4">
                <c:v>0.0931615460852329</c:v>
              </c:pt>
              <c:pt idx="5">
                <c:v>0.0822596630327056</c:v>
              </c:pt>
              <c:pt idx="6">
                <c:v>0.0307234886025768</c:v>
              </c:pt>
            </c:numLit>
          </c:val>
        </c:ser>
        <c:ser>
          <c:idx val="1"/>
          <c:order val="1"/>
          <c:tx>
            <c:v>2025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7"/>
              <c:pt idx="0">
                <c:v>&lt; R$ 10 mi</c:v>
              </c:pt>
              <c:pt idx="1">
                <c:v>R$ 10–25 mi</c:v>
              </c:pt>
              <c:pt idx="2">
                <c:v>R$ 25–50 mi</c:v>
              </c:pt>
              <c:pt idx="3">
                <c:v>R$ 50–100 mi</c:v>
              </c:pt>
              <c:pt idx="4">
                <c:v>R$ 100–200 mi</c:v>
              </c:pt>
              <c:pt idx="5">
                <c:v>R$ 200–500 mi</c:v>
              </c:pt>
              <c:pt idx="6">
                <c:v>≥ R$ 500 mi</c:v>
              </c:pt>
            </c:strLit>
          </c:cat>
          <c:val>
            <c:numLit>
              <c:formatCode>0%</c:formatCode>
              <c:ptCount val="7"/>
              <c:pt idx="0">
                <c:v>0.238095238095238</c:v>
              </c:pt>
              <c:pt idx="1">
                <c:v>0.254421768707483</c:v>
              </c:pt>
              <c:pt idx="2">
                <c:v>0.1632653061224489</c:v>
              </c:pt>
              <c:pt idx="3">
                <c:v>0.1578231292517006</c:v>
              </c:pt>
              <c:pt idx="4">
                <c:v>0.0952380952380952</c:v>
              </c:pt>
              <c:pt idx="5">
                <c:v>0.0666666666666666</c:v>
              </c:pt>
              <c:pt idx="6">
                <c:v>0.0244897959183673</c:v>
              </c:pt>
            </c:numLit>
          </c:val>
        </c:ser>
        <c:ser>
          <c:idx val="2"/>
          <c:order val="2"/>
          <c:tx>
            <c:v>Jan–jun/26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7"/>
              <c:pt idx="0">
                <c:v>&lt; R$ 10 mi</c:v>
              </c:pt>
              <c:pt idx="1">
                <c:v>R$ 10–25 mi</c:v>
              </c:pt>
              <c:pt idx="2">
                <c:v>R$ 25–50 mi</c:v>
              </c:pt>
              <c:pt idx="3">
                <c:v>R$ 50–100 mi</c:v>
              </c:pt>
              <c:pt idx="4">
                <c:v>R$ 100–200 mi</c:v>
              </c:pt>
              <c:pt idx="5">
                <c:v>R$ 200–500 mi</c:v>
              </c:pt>
              <c:pt idx="6">
                <c:v>≥ R$ 500 mi</c:v>
              </c:pt>
            </c:strLit>
          </c:cat>
          <c:val>
            <c:numLit>
              <c:formatCode>0%</c:formatCode>
              <c:ptCount val="7"/>
              <c:pt idx="0">
                <c:v>0.2399481193255512</c:v>
              </c:pt>
              <c:pt idx="1">
                <c:v>0.2684824902723735</c:v>
              </c:pt>
              <c:pt idx="2">
                <c:v>0.1530479896238651</c:v>
              </c:pt>
              <c:pt idx="3">
                <c:v>0.1569390402075227</c:v>
              </c:pt>
              <c:pt idx="4">
                <c:v>0.0933852140077821</c:v>
              </c:pt>
              <c:pt idx="5">
                <c:v>0.059662775616083</c:v>
              </c:pt>
              <c:pt idx="6">
                <c:v>0.0285343709468223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00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9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05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75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6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Volume registrado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30353A"/>
              </a:solidFill>
            </c:spPr>
          </c:dPt>
          <c:dPt>
            <c:idx val="1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spPr>
              <a:solidFill xmlns:a="http://schemas.openxmlformats.org/drawingml/2006/main">
                <a:srgbClr val="30353A"/>
              </a:solidFill>
            </c:spPr>
          </c:dPt>
          <c:dPt>
            <c:idx val="3"/>
            <c:spPr>
              <a:solidFill xmlns:a="http://schemas.openxmlformats.org/drawingml/2006/main">
                <a:srgbClr val="30353A"/>
              </a:solidFill>
            </c:spPr>
          </c:dPt>
          <c:dPt>
            <c:idx val="4"/>
            <c:spPr>
              <a:solidFill xmlns:a="http://schemas.openxmlformats.org/drawingml/2006/main">
                <a:srgbClr val="30353A"/>
              </a:solidFill>
            </c:spPr>
          </c:dPt>
          <c:dPt>
            <c:idx val="5"/>
            <c:spPr>
              <a:solidFill xmlns:a="http://schemas.openxmlformats.org/drawingml/2006/main">
                <a:srgbClr val="30353A"/>
              </a:solidFill>
            </c:spPr>
          </c:dPt>
          <c:dPt>
            <c:idx val="6"/>
            <c:spPr>
              <a:solidFill xmlns:a="http://schemas.openxmlformats.org/drawingml/2006/main">
                <a:srgbClr val="30353A"/>
              </a:solidFill>
            </c:spPr>
          </c:dPt>
          <c:dPt>
            <c:idx val="7"/>
            <c:spPr>
              <a:solidFill xmlns:a="http://schemas.openxmlformats.org/drawingml/2006/main">
                <a:srgbClr val="30353A"/>
              </a:solidFill>
            </c:spPr>
          </c:dPt>
          <c:dPt>
            <c:idx val="8"/>
            <c:spPr>
              <a:solidFill xmlns:a="http://schemas.openxmlformats.org/drawingml/2006/main">
                <a:srgbClr val="30353A"/>
              </a:solidFill>
            </c:spPr>
          </c:dPt>
          <c:dPt>
            <c:idx val="9"/>
            <c:spPr>
              <a:solidFill xmlns:a="http://schemas.openxmlformats.org/drawingml/2006/main">
                <a:srgbClr val="30353A"/>
              </a:solidFill>
            </c:spPr>
          </c:dPt>
          <c:dPt>
            <c:idx val="10"/>
            <c:spPr>
              <a:solidFill xmlns:a="http://schemas.openxmlformats.org/drawingml/2006/main">
                <a:srgbClr val="30353A"/>
              </a:solidFill>
            </c:spPr>
          </c:dPt>
          <c:dPt>
            <c:idx val="11"/>
            <c:spPr>
              <a:solidFill xmlns:a="http://schemas.openxmlformats.org/drawingml/2006/main">
                <a:srgbClr val="30353A"/>
              </a:solidFill>
            </c:spPr>
          </c:dPt>
          <c:dPt>
            <c:idx val="12"/>
            <c:spPr>
              <a:solidFill xmlns:a="http://schemas.openxmlformats.org/drawingml/2006/main">
                <a:srgbClr val="30353A"/>
              </a:solidFill>
            </c:spPr>
          </c:dPt>
          <c:dPt>
            <c:idx val="13"/>
            <c:spPr>
              <a:solidFill xmlns:a="http://schemas.openxmlformats.org/drawingml/2006/main">
                <a:srgbClr val="30353A"/>
              </a:solidFill>
            </c:spPr>
          </c:dPt>
          <c:dPt>
            <c:idx val="14"/>
            <c:spPr>
              <a:solidFill xmlns:a="http://schemas.openxmlformats.org/drawingml/2006/main">
                <a:srgbClr val="30353A"/>
              </a:solidFill>
            </c:spPr>
          </c:dPt>
          <c:dPt>
            <c:idx val="15"/>
            <c:spPr>
              <a:solidFill xmlns:a="http://schemas.openxmlformats.org/drawingml/2006/main">
                <a:srgbClr val="30353A"/>
              </a:solidFill>
            </c:spPr>
          </c:dPt>
          <c:dPt>
            <c:idx val="16"/>
            <c:spPr>
              <a:solidFill xmlns:a="http://schemas.openxmlformats.org/drawingml/2006/main">
                <a:srgbClr val="EC7000"/>
              </a:solidFill>
            </c:spPr>
          </c:dPt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5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6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7"/>
              <c:pt idx="0">
                <c:v>Pravaler</c:v>
              </c:pt>
              <c:pt idx="1">
                <c:v>D365</c:v>
              </c:pt>
              <c:pt idx="2">
                <c:v>Minerva</c:v>
              </c:pt>
              <c:pt idx="3">
                <c:v>Verdecard</c:v>
              </c:pt>
              <c:pt idx="4">
                <c:v>Creditas</c:v>
              </c:pt>
              <c:pt idx="5">
                <c:v>MRV</c:v>
              </c:pt>
              <c:pt idx="6">
                <c:v>Bayer</c:v>
              </c:pt>
              <c:pt idx="7">
                <c:v>Lavoro</c:v>
              </c:pt>
              <c:pt idx="8">
                <c:v>PagSeguro</c:v>
              </c:pt>
              <c:pt idx="9">
                <c:v>ICred</c:v>
              </c:pt>
              <c:pt idx="10">
                <c:v>PicPay</c:v>
              </c:pt>
              <c:pt idx="11">
                <c:v>Banco Pine</c:v>
              </c:pt>
              <c:pt idx="12">
                <c:v>Mercado Pago / Mercado Crédito</c:v>
              </c:pt>
              <c:pt idx="13">
                <c:v>Solfácil</c:v>
              </c:pt>
              <c:pt idx="14">
                <c:v>Banco Volkswagen</c:v>
              </c:pt>
              <c:pt idx="15">
                <c:v>Agibank</c:v>
              </c:pt>
              <c:pt idx="16">
                <c:v>CloudWalk</c:v>
              </c:pt>
            </c:strLit>
          </c:cat>
          <c:val>
            <c:numLit>
              <c:formatCode>0.00</c:formatCode>
              <c:ptCount val="17"/>
              <c:pt idx="0">
                <c:v>0.12502</c:v>
              </c:pt>
              <c:pt idx="1">
                <c:v>0.13</c:v>
              </c:pt>
              <c:pt idx="2">
                <c:v>0.27</c:v>
              </c:pt>
              <c:pt idx="3">
                <c:v>0.45</c:v>
              </c:pt>
              <c:pt idx="4">
                <c:v>0.45</c:v>
              </c:pt>
              <c:pt idx="5">
                <c:v>0.57</c:v>
              </c:pt>
              <c:pt idx="6">
                <c:v>0.7</c:v>
              </c:pt>
              <c:pt idx="7">
                <c:v>0.73</c:v>
              </c:pt>
              <c:pt idx="8">
                <c:v>1</c:v>
              </c:pt>
              <c:pt idx="9">
                <c:v>1.169268</c:v>
              </c:pt>
              <c:pt idx="10">
                <c:v>1.25</c:v>
              </c:pt>
              <c:pt idx="11">
                <c:v>1.25</c:v>
              </c:pt>
              <c:pt idx="12">
                <c:v>1.5</c:v>
              </c:pt>
              <c:pt idx="13">
                <c:v>1.5055</c:v>
              </c:pt>
              <c:pt idx="14">
                <c:v>2</c:v>
              </c:pt>
              <c:pt idx="15">
                <c:v>2.5</c:v>
              </c:pt>
              <c:pt idx="16">
                <c:v>5.5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3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7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0.6782283246807754</c:v>
              </c:pt>
              <c:pt idx="1">
                <c:v>0.2831240514453489</c:v>
              </c:pt>
              <c:pt idx="2">
                <c:v>0.147473411114316</c:v>
              </c:pt>
              <c:pt idx="3">
                <c:v>0.0555263851137853</c:v>
              </c:pt>
              <c:pt idx="4">
                <c:v>0.0691691486679832</c:v>
              </c:pt>
              <c:pt idx="5">
                <c:v>0.0383225339956283</c:v>
              </c:pt>
              <c:pt idx="6">
                <c:v>0</c:v>
              </c:pt>
              <c:pt idx="7">
                <c:v>0.0450938092637845</c:v>
              </c:pt>
              <c:pt idx="8">
                <c:v>0</c:v>
              </c:pt>
              <c:pt idx="9">
                <c:v>0.2264353570509752</c:v>
              </c:pt>
              <c:pt idx="10">
                <c:v>0.0918908689514907</c:v>
              </c:pt>
              <c:pt idx="11">
                <c:v>0.0473805402449094</c:v>
              </c:pt>
              <c:pt idx="12">
                <c:v>0.2029820123277025</c:v>
              </c:pt>
              <c:pt idx="13">
                <c:v>0.1116763306350601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-0.018"/>
                  <c:y val="0.014885390261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.016509164008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0.0085369657675623</c:v>
              </c:pt>
              <c:pt idx="1">
                <c:v>0</c:v>
              </c:pt>
              <c:pt idx="2">
                <c:v>0.1724291641953616</c:v>
              </c:pt>
              <c:pt idx="3">
                <c:v>0.2863850373099147</c:v>
              </c:pt>
              <c:pt idx="4">
                <c:v>0.0195092264928632</c:v>
              </c:pt>
              <c:pt idx="5">
                <c:v>0.1107504103483613</c:v>
              </c:pt>
              <c:pt idx="6">
                <c:v>0.0102292194766519</c:v>
              </c:pt>
              <c:pt idx="7">
                <c:v>0.2571654070720304</c:v>
              </c:pt>
              <c:pt idx="8">
                <c:v>0.0069816719837632</c:v>
              </c:pt>
              <c:pt idx="9">
                <c:v>0.0636220792622765</c:v>
              </c:pt>
              <c:pt idx="10">
                <c:v>0.0352039450932765</c:v>
              </c:pt>
              <c:pt idx="11">
                <c:v>0.0391221710404121</c:v>
              </c:pt>
              <c:pt idx="12">
                <c:v>0.269028508380686</c:v>
              </c:pt>
              <c:pt idx="13">
                <c:v>0.1390963456785791</c:v>
              </c:pt>
            </c:numLit>
          </c:val>
        </c:ser>
        <c:ser>
          <c:idx val="2"/>
          <c:order val="2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0.0060998187147488</c:v>
              </c:pt>
              <c:pt idx="1">
                <c:v>0.0314129103166631</c:v>
              </c:pt>
              <c:pt idx="2">
                <c:v>0.057791127730592</c:v>
              </c:pt>
              <c:pt idx="3">
                <c:v>0.1003776283557518</c:v>
              </c:pt>
              <c:pt idx="4">
                <c:v>0.0518572977986845</c:v>
              </c:pt>
              <c:pt idx="5">
                <c:v>0.1576375144502833</c:v>
              </c:pt>
              <c:pt idx="6">
                <c:v>0.0563502288601275</c:v>
              </c:pt>
              <c:pt idx="7">
                <c:v>0.0121996377120526</c:v>
              </c:pt>
              <c:pt idx="8">
                <c:v>0.0953592279385335</c:v>
              </c:pt>
              <c:pt idx="9">
                <c:v>0.2191987728818734</c:v>
              </c:pt>
              <c:pt idx="10">
                <c:v>0.0851975999676302</c:v>
              </c:pt>
              <c:pt idx="11">
                <c:v>0.0775017988341624</c:v>
              </c:pt>
              <c:pt idx="12">
                <c:v>0.0561734532046676</c:v>
              </c:pt>
              <c:pt idx="13">
                <c:v>0.0840999608667202</c:v>
              </c:pt>
            </c:numLit>
          </c:val>
        </c:ser>
        <c:ser>
          <c:idx val="3"/>
          <c:order val="3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0.009628795711521</c:v>
              </c:pt>
              <c:pt idx="1">
                <c:v>0.210187707644898</c:v>
              </c:pt>
              <c:pt idx="2">
                <c:v>0.3817969787486183</c:v>
              </c:pt>
              <c:pt idx="3">
                <c:v>0.253591336198019</c:v>
              </c:pt>
              <c:pt idx="4">
                <c:v>0</c:v>
              </c:pt>
              <c:pt idx="5">
                <c:v>0.0746723052215733</c:v>
              </c:pt>
              <c:pt idx="6">
                <c:v>0.2170108713330027</c:v>
              </c:pt>
              <c:pt idx="7">
                <c:v>0.0718716845273516</c:v>
              </c:pt>
              <c:pt idx="8">
                <c:v>0.3321544424965538</c:v>
              </c:pt>
              <c:pt idx="9">
                <c:v>0.0268117805118336</c:v>
              </c:pt>
              <c:pt idx="10">
                <c:v>0.1026720112420221</c:v>
              </c:pt>
              <c:pt idx="11">
                <c:v>0</c:v>
              </c:pt>
              <c:pt idx="12">
                <c:v>0.0533268146890519</c:v>
              </c:pt>
              <c:pt idx="13">
                <c:v>0.0146265486635242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-0.018"/>
                  <c:y val="0.00373374891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0.0225383075558926</c:v>
              </c:pt>
              <c:pt idx="1">
                <c:v>0</c:v>
              </c:pt>
              <c:pt idx="2">
                <c:v>6.26366904154456E-05</c:v>
              </c:pt>
              <c:pt idx="3">
                <c:v>0</c:v>
              </c:pt>
              <c:pt idx="4">
                <c:v>0.4931230015075811</c:v>
              </c:pt>
              <c:pt idx="5">
                <c:v>0.1403255782349483</c:v>
              </c:pt>
              <c:pt idx="6">
                <c:v>0</c:v>
              </c:pt>
              <c:pt idx="7">
                <c:v>0.1478667482986454</c:v>
              </c:pt>
              <c:pt idx="8">
                <c:v>0.1537184307008739</c:v>
              </c:pt>
              <c:pt idx="9">
                <c:v>0</c:v>
              </c:pt>
              <c:pt idx="10">
                <c:v>0.0295771875973997</c:v>
              </c:pt>
              <c:pt idx="11">
                <c:v>0.0012377170662472</c:v>
              </c:pt>
              <c:pt idx="12">
                <c:v>0.0089665861260677</c:v>
              </c:pt>
              <c:pt idx="13">
                <c:v>0.0600546511336937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0.0014290426740686</c:v>
              </c:pt>
              <c:pt idx="1">
                <c:v>0.0954434490174933</c:v>
              </c:pt>
              <c:pt idx="2">
                <c:v>0.0120227027155969</c:v>
              </c:pt>
              <c:pt idx="3">
                <c:v>0.2292028070380465</c:v>
              </c:pt>
              <c:pt idx="4">
                <c:v>0</c:v>
              </c:pt>
              <c:pt idx="5">
                <c:v>0.1266642208703755</c:v>
              </c:pt>
              <c:pt idx="6">
                <c:v>0.0801521194835746</c:v>
              </c:pt>
              <c:pt idx="7">
                <c:v>0.0938211651306432</c:v>
              </c:pt>
              <c:pt idx="8">
                <c:v>0.0222904487757394</c:v>
              </c:pt>
              <c:pt idx="9">
                <c:v>0.0947363671905799</c:v>
              </c:pt>
              <c:pt idx="10">
                <c:v>0.0517280519093443</c:v>
              </c:pt>
              <c:pt idx="11">
                <c:v>0.0163574722030135</c:v>
              </c:pt>
              <c:pt idx="12">
                <c:v>0.0148724022126697</c:v>
              </c:pt>
              <c:pt idx="13">
                <c:v>0.0452554036899924</c:v>
              </c:pt>
            </c:numLit>
          </c:val>
        </c:ser>
        <c:ser>
          <c:idx val="6"/>
          <c:order val="6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layout>
                <c:manualLayout>
                  <c:x val="0.018"/>
                  <c:y val="0.001549977204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0.0093365494192045</c:v>
              </c:pt>
              <c:pt idx="1">
                <c:v>0.1227393200815646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0.0006615413000011</c:v>
              </c:pt>
              <c:pt idx="6">
                <c:v>0.0810581734428378</c:v>
              </c:pt>
              <c:pt idx="7">
                <c:v>0.0435322365450096</c:v>
              </c:pt>
              <c:pt idx="8">
                <c:v>0</c:v>
              </c:pt>
              <c:pt idx="9">
                <c:v>0.1013743858313278</c:v>
              </c:pt>
              <c:pt idx="10">
                <c:v>0</c:v>
              </c:pt>
              <c:pt idx="11">
                <c:v>0</c:v>
              </c:pt>
              <c:pt idx="12">
                <c:v>0.0195927534357799</c:v>
              </c:pt>
              <c:pt idx="13">
                <c:v>0.0679529812812936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0.0308583999379698</c:v>
              </c:pt>
              <c:pt idx="1">
                <c:v>0.0011602353362383</c:v>
              </c:pt>
              <c:pt idx="2">
                <c:v>0</c:v>
              </c:pt>
              <c:pt idx="3">
                <c:v>0.0030735686210584</c:v>
              </c:pt>
              <c:pt idx="4">
                <c:v>0</c:v>
              </c:pt>
              <c:pt idx="5">
                <c:v>0.0003689936710498</c:v>
              </c:pt>
              <c:pt idx="6">
                <c:v>0</c:v>
              </c:pt>
              <c:pt idx="7">
                <c:v>0.0377896853506274</c:v>
              </c:pt>
              <c:pt idx="8">
                <c:v>0.0061406084215763</c:v>
              </c:pt>
              <c:pt idx="9">
                <c:v>0.1183666540018785</c:v>
              </c:pt>
              <c:pt idx="10">
                <c:v>0.1745723336276446</c:v>
              </c:pt>
              <c:pt idx="11">
                <c:v>0</c:v>
              </c:pt>
              <c:pt idx="12">
                <c:v>0</c:v>
              </c:pt>
              <c:pt idx="13">
                <c:v>0.0390778868680176</c:v>
              </c:pt>
            </c:numLit>
          </c:val>
        </c:ser>
        <c:ser>
          <c:idx val="8"/>
          <c:order val="8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0.0042743795995927</c:v>
              </c:pt>
              <c:pt idx="1">
                <c:v>0.0719893561435586</c:v>
              </c:pt>
              <c:pt idx="2">
                <c:v>0.010458370410723</c:v>
              </c:pt>
              <c:pt idx="3">
                <c:v>0.000517442092016</c:v>
              </c:pt>
              <c:pt idx="4">
                <c:v>0.0013353036335097</c:v>
              </c:pt>
              <c:pt idx="5">
                <c:v>0.0823562202432192</c:v>
              </c:pt>
              <c:pt idx="6">
                <c:v>0.0729485428985306</c:v>
              </c:pt>
              <c:pt idx="7">
                <c:v>0.0026200048135162</c:v>
              </c:pt>
              <c:pt idx="8">
                <c:v>0.053110144728145</c:v>
              </c:pt>
              <c:pt idx="9">
                <c:v>0.0083461717733962</c:v>
              </c:pt>
              <c:pt idx="10">
                <c:v>0.0560386356538572</c:v>
              </c:pt>
              <c:pt idx="11">
                <c:v>0.1334325730903025</c:v>
              </c:pt>
              <c:pt idx="12">
                <c:v>0.0878398045610501</c:v>
              </c:pt>
              <c:pt idx="13">
                <c:v>0.0256229759264469</c:v>
              </c:pt>
            </c:numLit>
          </c:val>
        </c:ser>
        <c:ser>
          <c:idx val="9"/>
          <c:order val="9"/>
          <c:tx>
            <c:v>Hemera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0.0407324745725011</c:v>
              </c:pt>
              <c:pt idx="1">
                <c:v>0.0052736633265841</c:v>
              </c:pt>
              <c:pt idx="2">
                <c:v>0.0672969122518684</c:v>
              </c:pt>
              <c:pt idx="3">
                <c:v>0.006670926137507</c:v>
              </c:pt>
              <c:pt idx="4">
                <c:v>0</c:v>
              </c:pt>
              <c:pt idx="5">
                <c:v>0.0163428047472977</c:v>
              </c:pt>
              <c:pt idx="6">
                <c:v>0.0026085934051519</c:v>
              </c:pt>
              <c:pt idx="7">
                <c:v>0.041430326101634</c:v>
              </c:pt>
              <c:pt idx="8">
                <c:v>0.0646612509279826</c:v>
              </c:pt>
              <c:pt idx="9">
                <c:v>0</c:v>
              </c:pt>
              <c:pt idx="10">
                <c:v>0.088274982113552</c:v>
              </c:pt>
              <c:pt idx="11">
                <c:v>0.0002506895357074</c:v>
              </c:pt>
              <c:pt idx="12">
                <c:v>0.0006624396052901</c:v>
              </c:pt>
              <c:pt idx="13">
                <c:v>0.0265752299531593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0.188336941366163</c:v>
              </c:pt>
              <c:pt idx="1">
                <c:v>0.1786693066876506</c:v>
              </c:pt>
              <c:pt idx="2">
                <c:v>0.1506686961425081</c:v>
              </c:pt>
              <c:pt idx="3">
                <c:v>0.0646548691339009</c:v>
              </c:pt>
              <c:pt idx="4">
                <c:v>0.3650060218993778</c:v>
              </c:pt>
              <c:pt idx="5">
                <c:v>0.2518978769172617</c:v>
              </c:pt>
              <c:pt idx="6">
                <c:v>0.4796422511001229</c:v>
              </c:pt>
              <c:pt idx="7">
                <c:v>0.2466092951847047</c:v>
              </c:pt>
              <c:pt idx="8">
                <c:v>0.2655837740268318</c:v>
              </c:pt>
              <c:pt idx="9">
                <c:v>0.1411084314958586</c:v>
              </c:pt>
              <c:pt idx="10">
                <c:v>0.2848443838437823</c:v>
              </c:pt>
              <c:pt idx="11">
                <c:v>0.6847170379852451</c:v>
              </c:pt>
              <c:pt idx="12">
                <c:v>0.286555225457034</c:v>
              </c:pt>
              <c:pt idx="13">
                <c:v>0.3859616853035125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8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.019373735004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.014360856910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.017553400999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0.0012525299906187</c:v>
              </c:pt>
              <c:pt idx="1">
                <c:v>0</c:v>
              </c:pt>
              <c:pt idx="2">
                <c:v>0.1625107590450419</c:v>
              </c:pt>
              <c:pt idx="3">
                <c:v>0.2758716420451991</c:v>
              </c:pt>
              <c:pt idx="4">
                <c:v>0</c:v>
              </c:pt>
              <c:pt idx="5">
                <c:v>0.0462427868594103</c:v>
              </c:pt>
              <c:pt idx="6">
                <c:v>0</c:v>
              </c:pt>
              <c:pt idx="7">
                <c:v>0.2535264495160129</c:v>
              </c:pt>
              <c:pt idx="8">
                <c:v>0.1537184307008739</c:v>
              </c:pt>
              <c:pt idx="9">
                <c:v>0.0112782861788371</c:v>
              </c:pt>
              <c:pt idx="10">
                <c:v>0.0314890119720234</c:v>
              </c:pt>
              <c:pt idx="11">
                <c:v>0.0048931980001534</c:v>
              </c:pt>
              <c:pt idx="12">
                <c:v>0.0726718301479003</c:v>
              </c:pt>
              <c:pt idx="13">
                <c:v>0.0500957774921574</c:v>
              </c:pt>
            </c:numLit>
          </c:val>
        </c:ser>
        <c:ser>
          <c:idx val="1"/>
          <c:order val="1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"/>
                  <c:y val="0.00747831623144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0.0225383075558926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0.4116196761376808</c:v>
              </c:pt>
              <c:pt idx="5">
                <c:v>0.1379781899976271</c:v>
              </c:pt>
              <c:pt idx="6">
                <c:v>0</c:v>
              </c:pt>
              <c:pt idx="7">
                <c:v>0.0909821352025632</c:v>
              </c:pt>
              <c:pt idx="8">
                <c:v>0</c:v>
              </c:pt>
              <c:pt idx="9">
                <c:v>0</c:v>
              </c:pt>
              <c:pt idx="10">
                <c:v>0.0295771875973997</c:v>
              </c:pt>
              <c:pt idx="11">
                <c:v>0</c:v>
              </c:pt>
              <c:pt idx="12">
                <c:v>0.0089665861260677</c:v>
              </c:pt>
              <c:pt idx="13">
                <c:v>0.0469523725398685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0"/>
                  <c:y val="0.0072433569168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0.0007064267423984</c:v>
              </c:pt>
              <c:pt idx="1">
                <c:v>0.0399878754183617</c:v>
              </c:pt>
              <c:pt idx="2">
                <c:v>0.2787068023830595</c:v>
              </c:pt>
              <c:pt idx="3">
                <c:v>0.1937323312865176</c:v>
              </c:pt>
              <c:pt idx="4">
                <c:v>0</c:v>
              </c:pt>
              <c:pt idx="5">
                <c:v>0.0481316360628852</c:v>
              </c:pt>
              <c:pt idx="6">
                <c:v>0.126791509057339</c:v>
              </c:pt>
              <c:pt idx="7">
                <c:v>0.0510761668947442</c:v>
              </c:pt>
              <c:pt idx="8">
                <c:v>0.046663448988578</c:v>
              </c:pt>
              <c:pt idx="9">
                <c:v>0.0029567138086895</c:v>
              </c:pt>
              <c:pt idx="10">
                <c:v>0.0090278528000783</c:v>
              </c:pt>
              <c:pt idx="11">
                <c:v>0</c:v>
              </c:pt>
              <c:pt idx="12">
                <c:v>0.0319409306110538</c:v>
              </c:pt>
              <c:pt idx="13">
                <c:v>0.0019669412013587</c:v>
              </c:pt>
            </c:numLit>
          </c:val>
        </c:ser>
        <c:ser>
          <c:idx val="3"/>
          <c:order val="3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0.018"/>
                  <c:y val="0.00303985273864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0.0106586751100265</c:v>
              </c:pt>
              <c:pt idx="2">
                <c:v>0</c:v>
              </c:pt>
              <c:pt idx="3">
                <c:v>0.0942677758415833</c:v>
              </c:pt>
              <c:pt idx="4">
                <c:v>0</c:v>
              </c:pt>
              <c:pt idx="5">
                <c:v>0.1081333878129026</c:v>
              </c:pt>
              <c:pt idx="6">
                <c:v>0</c:v>
              </c:pt>
              <c:pt idx="7">
                <c:v>0.0733873168779346</c:v>
              </c:pt>
              <c:pt idx="8">
                <c:v>0.0001522837473257</c:v>
              </c:pt>
              <c:pt idx="9">
                <c:v>0.005450294547657</c:v>
              </c:pt>
              <c:pt idx="10">
                <c:v>0</c:v>
              </c:pt>
              <c:pt idx="11">
                <c:v>0</c:v>
              </c:pt>
              <c:pt idx="12">
                <c:v>0.0014030424128084</c:v>
              </c:pt>
              <c:pt idx="13">
                <c:v>0.0220612214253641</c:v>
              </c:pt>
            </c:numLit>
          </c:val>
        </c:ser>
        <c:ser>
          <c:idx val="4"/>
          <c:order val="4"/>
          <c:tx>
            <c:v>Tercon Investimentos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0.2254820036895443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0.0024475116853231</c:v>
              </c:pt>
              <c:pt idx="6">
                <c:v>0</c:v>
              </c:pt>
              <c:pt idx="7">
                <c:v>0.0044598510745928</c:v>
              </c:pt>
              <c:pt idx="8">
                <c:v>0.0089359813995084</c:v>
              </c:pt>
              <c:pt idx="9">
                <c:v>0</c:v>
              </c:pt>
              <c:pt idx="10">
                <c:v>0.0115869717776985</c:v>
              </c:pt>
              <c:pt idx="11">
                <c:v>0</c:v>
              </c:pt>
              <c:pt idx="12">
                <c:v>0</c:v>
              </c:pt>
              <c:pt idx="13">
                <c:v>0.006031214274127</c:v>
              </c:pt>
            </c:numLit>
          </c:val>
        </c:ser>
        <c:ser>
          <c:idx val="5"/>
          <c:order val="5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0.1028786530413462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0.0810581734428378</c:v>
              </c:pt>
              <c:pt idx="7">
                <c:v>0.0171026340935401</c:v>
              </c:pt>
              <c:pt idx="8">
                <c:v>0</c:v>
              </c:pt>
              <c:pt idx="9">
                <c:v>0.1004163448849682</c:v>
              </c:pt>
              <c:pt idx="10">
                <c:v>0</c:v>
              </c:pt>
              <c:pt idx="11">
                <c:v>0</c:v>
              </c:pt>
              <c:pt idx="12">
                <c:v>0.0258977954276094</c:v>
              </c:pt>
              <c:pt idx="13">
                <c:v>0.0450847430474019</c:v>
              </c:pt>
            </c:numLit>
          </c:val>
        </c:ser>
        <c:ser>
          <c:idx val="6"/>
          <c:order val="6"/>
          <c:tx>
            <c:v>Solis Investimentos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.014981457232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0.0353488694975699</c:v>
              </c:pt>
              <c:pt idx="1">
                <c:v>0</c:v>
              </c:pt>
              <c:pt idx="2">
                <c:v>0.0727799865103882</c:v>
              </c:pt>
              <c:pt idx="3">
                <c:v>0.0213932153161958</c:v>
              </c:pt>
              <c:pt idx="4">
                <c:v>0</c:v>
              </c:pt>
              <c:pt idx="5">
                <c:v>0.0170236300688781</c:v>
              </c:pt>
              <c:pt idx="6">
                <c:v>0</c:v>
              </c:pt>
              <c:pt idx="7">
                <c:v>0.0103281819969092</c:v>
              </c:pt>
              <c:pt idx="8">
                <c:v>0.0471192664026394</c:v>
              </c:pt>
              <c:pt idx="9">
                <c:v>0</c:v>
              </c:pt>
              <c:pt idx="10">
                <c:v>0.0047678128094529</c:v>
              </c:pt>
              <c:pt idx="11">
                <c:v>0.0002506895357074</c:v>
              </c:pt>
              <c:pt idx="12">
                <c:v>0.0006624396052901</c:v>
              </c:pt>
              <c:pt idx="13">
                <c:v>0.0205891110813994</c:v>
              </c:pt>
            </c:numLit>
          </c:val>
        </c:ser>
        <c:ser>
          <c:idx val="7"/>
          <c:order val="7"/>
          <c:tx>
            <c:v>XP</c:v>
          </c:tx>
          <c:spPr>
            <a:solidFill>
              <a:srgbClr val="73787D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0.0085657720274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0.0888616776787807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0.0070214132164745</c:v>
              </c:pt>
              <c:pt idx="6">
                <c:v>0</c:v>
              </c:pt>
              <c:pt idx="7">
                <c:v>0.0921407401194705</c:v>
              </c:pt>
              <c:pt idx="8">
                <c:v>0</c:v>
              </c:pt>
              <c:pt idx="9">
                <c:v>0</c:v>
              </c:pt>
              <c:pt idx="10">
                <c:v>0.0111310339707986</c:v>
              </c:pt>
              <c:pt idx="11">
                <c:v>0</c:v>
              </c:pt>
              <c:pt idx="12">
                <c:v>0.0642625485190267</c:v>
              </c:pt>
              <c:pt idx="13">
                <c:v>0.0124160176066826</c:v>
              </c:pt>
            </c:numLit>
          </c:val>
        </c:ser>
        <c:ser>
          <c:idx val="8"/>
          <c:order val="8"/>
          <c:tx>
            <c:v>Integral Investimentos</c:v>
          </c:tx>
          <c:spPr>
            <a:solidFill>
              <a:srgbClr val="A7ACB0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.0063792149299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0.0058311829957581</c:v>
              </c:pt>
              <c:pt idx="1">
                <c:v>0</c:v>
              </c:pt>
              <c:pt idx="2">
                <c:v>0.0074072330689735</c:v>
              </c:pt>
              <c:pt idx="3">
                <c:v>0.0020264986777547</c:v>
              </c:pt>
              <c:pt idx="4">
                <c:v>0.3970784801516897</c:v>
              </c:pt>
              <c:pt idx="5">
                <c:v>0.0067039718840054</c:v>
              </c:pt>
              <c:pt idx="6">
                <c:v>0</c:v>
              </c:pt>
              <c:pt idx="7">
                <c:v>0.072361729110744</c:v>
              </c:pt>
              <c:pt idx="8">
                <c:v>0.0559076995390602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0.0056678347405107</c:v>
              </c:pt>
            </c:numLit>
          </c:val>
        </c:ser>
        <c:ser>
          <c:idx val="9"/>
          <c:order val="9"/>
          <c:tx>
            <c:v>Anga Administracao De Recursos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.0025372364845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0.0031211412936085</c:v>
              </c:pt>
              <c:pt idx="1">
                <c:v>0</c:v>
              </c:pt>
              <c:pt idx="2">
                <c:v>0.0112116853396112</c:v>
              </c:pt>
              <c:pt idx="3">
                <c:v>0.0996900292425515</c:v>
              </c:pt>
              <c:pt idx="4">
                <c:v>0.0012378025558711</c:v>
              </c:pt>
              <c:pt idx="5">
                <c:v>0.0644142962449783</c:v>
              </c:pt>
              <c:pt idx="6">
                <c:v>0</c:v>
              </c:pt>
              <c:pt idx="7">
                <c:v>0.0018544989739266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0.0081687112550485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0.7049428932208924</c:v>
              </c:pt>
              <c:pt idx="1">
                <c:v>0.7576131187514845</c:v>
              </c:pt>
              <c:pt idx="2">
                <c:v>0.4673208969625101</c:v>
              </c:pt>
              <c:pt idx="3">
                <c:v>0.3130185075901977</c:v>
              </c:pt>
              <c:pt idx="4">
                <c:v>0.190064041154758</c:v>
              </c:pt>
              <c:pt idx="5">
                <c:v>0.5619031761675151</c:v>
              </c:pt>
              <c:pt idx="6">
                <c:v>0.7921503174998235</c:v>
              </c:pt>
              <c:pt idx="7">
                <c:v>0.3287800173132373</c:v>
              </c:pt>
              <c:pt idx="8">
                <c:v>0.6875028892220143</c:v>
              </c:pt>
              <c:pt idx="9">
                <c:v>0.803030339883502</c:v>
              </c:pt>
              <c:pt idx="10">
                <c:v>0.9024201290725482</c:v>
              </c:pt>
              <c:pt idx="11">
                <c:v>0.9948561124641392</c:v>
              </c:pt>
              <c:pt idx="12">
                <c:v>0.7941948271502433</c:v>
              </c:pt>
              <c:pt idx="13">
                <c:v>0.7803731753534665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.018"/>
                  <c:y val="-0.019611677493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-0.0199686816548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-0.01799986058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-0.019703560008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0.0007766450137169</c:v>
              </c:pt>
              <c:pt idx="1">
                <c:v>0</c:v>
              </c:pt>
              <c:pt idx="2">
                <c:v>6.26366904154456E-05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0.0040002788263241</c:v>
              </c:pt>
              <c:pt idx="8">
                <c:v>0</c:v>
              </c:pt>
              <c:pt idx="9">
                <c:v>0.076868020696346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0.0005928799826141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9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.018647108614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.010245386753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-0.018"/>
                  <c:y val="0.014885390261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.016509164008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0.0027057827718041</c:v>
              </c:pt>
              <c:pt idx="1">
                <c:v>0</c:v>
              </c:pt>
              <c:pt idx="2">
                <c:v>0.1724291641953616</c:v>
              </c:pt>
              <c:pt idx="3">
                <c:v>0.2863850373099147</c:v>
              </c:pt>
              <c:pt idx="4">
                <c:v>0.0195092264928632</c:v>
              </c:pt>
              <c:pt idx="5">
                <c:v>0.1107504103483613</c:v>
              </c:pt>
              <c:pt idx="6">
                <c:v>0.0102292194766519</c:v>
              </c:pt>
              <c:pt idx="7">
                <c:v>0.2571654070720304</c:v>
              </c:pt>
              <c:pt idx="8">
                <c:v>0.0069816719837632</c:v>
              </c:pt>
              <c:pt idx="9">
                <c:v>0.0636220792622765</c:v>
              </c:pt>
              <c:pt idx="10">
                <c:v>0.0352039450932765</c:v>
              </c:pt>
              <c:pt idx="11">
                <c:v>0.0391221710404121</c:v>
              </c:pt>
              <c:pt idx="12">
                <c:v>0.269028508380686</c:v>
              </c:pt>
              <c:pt idx="13">
                <c:v>0.1385988512304118</c:v>
              </c:pt>
            </c:numLit>
          </c:val>
        </c:ser>
        <c:ser>
          <c:idx val="1"/>
          <c:order val="1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0.6759912968773222</c:v>
              </c:pt>
              <c:pt idx="1">
                <c:v>0.2831240514453489</c:v>
              </c:pt>
              <c:pt idx="2">
                <c:v>0.1466552426267883</c:v>
              </c:pt>
              <c:pt idx="3">
                <c:v>0.0500143231646444</c:v>
              </c:pt>
              <c:pt idx="4">
                <c:v>0.0691691486679832</c:v>
              </c:pt>
              <c:pt idx="5">
                <c:v>0.0382941953359548</c:v>
              </c:pt>
              <c:pt idx="6">
                <c:v>0</c:v>
              </c:pt>
              <c:pt idx="7">
                <c:v>0.0451499232981444</c:v>
              </c:pt>
              <c:pt idx="8">
                <c:v>0</c:v>
              </c:pt>
              <c:pt idx="9">
                <c:v>0.1510800867413979</c:v>
              </c:pt>
              <c:pt idx="10">
                <c:v>0.0918908689514907</c:v>
              </c:pt>
              <c:pt idx="11">
                <c:v>0.0473805402449094</c:v>
              </c:pt>
              <c:pt idx="12">
                <c:v>0.2029820123277025</c:v>
              </c:pt>
              <c:pt idx="13">
                <c:v>0.1110650498414056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0.0271351448333965</c:v>
              </c:pt>
              <c:pt idx="1">
                <c:v>0.2481574168942679</c:v>
              </c:pt>
              <c:pt idx="2">
                <c:v>0.3827649209165106</c:v>
              </c:pt>
              <c:pt idx="3">
                <c:v>0.254399426087156</c:v>
              </c:pt>
              <c:pt idx="4">
                <c:v>0.014041110348548</c:v>
              </c:pt>
              <c:pt idx="5">
                <c:v>0.0746723052215733</c:v>
              </c:pt>
              <c:pt idx="6">
                <c:v>0.2448971414342989</c:v>
              </c:pt>
              <c:pt idx="7">
                <c:v>0.1734502780656785</c:v>
              </c:pt>
              <c:pt idx="8">
                <c:v>0.3321544424965538</c:v>
              </c:pt>
              <c:pt idx="9">
                <c:v>0.0268117805118336</c:v>
              </c:pt>
              <c:pt idx="10">
                <c:v>0.1026720112420221</c:v>
              </c:pt>
              <c:pt idx="11">
                <c:v>0</c:v>
              </c:pt>
              <c:pt idx="12">
                <c:v>0.0285286777700744</c:v>
              </c:pt>
              <c:pt idx="13">
                <c:v>0.0367401725104139</c:v>
              </c:pt>
            </c:numLit>
          </c:val>
        </c:ser>
        <c:ser>
          <c:idx val="3"/>
          <c:order val="3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0.0060998187147488</c:v>
              </c:pt>
              <c:pt idx="1">
                <c:v>0.0314129103166631</c:v>
              </c:pt>
              <c:pt idx="2">
                <c:v>0.057791127730592</c:v>
              </c:pt>
              <c:pt idx="3">
                <c:v>0.1003776283557518</c:v>
              </c:pt>
              <c:pt idx="4">
                <c:v>0.0518572977986845</c:v>
              </c:pt>
              <c:pt idx="5">
                <c:v>0.1662834134085645</c:v>
              </c:pt>
              <c:pt idx="6">
                <c:v>0.0563502288601275</c:v>
              </c:pt>
              <c:pt idx="7">
                <c:v>0.0338901250913308</c:v>
              </c:pt>
              <c:pt idx="8">
                <c:v>0.0925444086270469</c:v>
              </c:pt>
              <c:pt idx="9">
                <c:v>0.2191987728818734</c:v>
              </c:pt>
              <c:pt idx="10">
                <c:v>0.1894161385363026</c:v>
              </c:pt>
              <c:pt idx="11">
                <c:v>0.0775017988341624</c:v>
              </c:pt>
              <c:pt idx="12">
                <c:v>0.0561734532046676</c:v>
              </c:pt>
              <c:pt idx="13">
                <c:v>0.0901371033135809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0.0170780158717631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0.4931230015075811</c:v>
              </c:pt>
              <c:pt idx="5">
                <c:v>0.1399668200066018</c:v>
              </c:pt>
              <c:pt idx="6">
                <c:v>0.1284482453683068</c:v>
              </c:pt>
              <c:pt idx="7">
                <c:v>0.1117385096852637</c:v>
              </c:pt>
              <c:pt idx="8">
                <c:v>0.1565332500123605</c:v>
              </c:pt>
              <c:pt idx="9">
                <c:v>0</c:v>
              </c:pt>
              <c:pt idx="10">
                <c:v>0.0295771875973997</c:v>
              </c:pt>
              <c:pt idx="11">
                <c:v>0.0012377170662472</c:v>
              </c:pt>
              <c:pt idx="12">
                <c:v>0.0337647230450451</c:v>
              </c:pt>
              <c:pt idx="13">
                <c:v>0.0600546511336937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0.0014290426740686</c:v>
              </c:pt>
              <c:pt idx="1">
                <c:v>0.0954434490174933</c:v>
              </c:pt>
              <c:pt idx="2">
                <c:v>0.0120227027155969</c:v>
              </c:pt>
              <c:pt idx="3">
                <c:v>0.1377649003513394</c:v>
              </c:pt>
              <c:pt idx="4">
                <c:v>0</c:v>
              </c:pt>
              <c:pt idx="5">
                <c:v>0.1266642208703755</c:v>
              </c:pt>
              <c:pt idx="6">
                <c:v>0.0801521194835746</c:v>
              </c:pt>
              <c:pt idx="7">
                <c:v>0.0924387555066889</c:v>
              </c:pt>
              <c:pt idx="8">
                <c:v>0.0222904487757394</c:v>
              </c:pt>
              <c:pt idx="9">
                <c:v>0.0932236168038112</c:v>
              </c:pt>
              <c:pt idx="10">
                <c:v>0.0517280519093443</c:v>
              </c:pt>
              <c:pt idx="11">
                <c:v>0.0163574722030135</c:v>
              </c:pt>
              <c:pt idx="12">
                <c:v>0.0148724022126697</c:v>
              </c:pt>
              <c:pt idx="13">
                <c:v>0.0341699412912885</c:v>
              </c:pt>
            </c:numLit>
          </c:val>
        </c:ser>
        <c:ser>
          <c:idx val="6"/>
          <c:order val="6"/>
          <c:tx>
            <c:v>REAG</c:v>
          </c:tx>
          <c:spPr>
            <a:solidFill>
              <a:srgbClr val="73C6A1"/>
            </a:solidFill>
          </c:spPr>
          <c:dLbls>
            <c:dLbl>
              <c:idx val="0"/>
              <c:layout>
                <c:manualLayout>
                  <c:x val="0"/>
                  <c:y val="0.013350666946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0.0001847303014918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0.0013441224672684</c:v>
              </c:pt>
              <c:pt idx="6">
                <c:v>0</c:v>
              </c:pt>
              <c:pt idx="7">
                <c:v>1.9023858238375103E-05</c:v>
              </c:pt>
              <c:pt idx="8">
                <c:v>0.0029359315231281</c:v>
              </c:pt>
              <c:pt idx="9">
                <c:v>0</c:v>
              </c:pt>
              <c:pt idx="10">
                <c:v>0</c:v>
              </c:pt>
              <c:pt idx="11">
                <c:v>0.0446982964925705</c:v>
              </c:pt>
              <c:pt idx="12">
                <c:v>0.0475501029412941</c:v>
              </c:pt>
              <c:pt idx="13">
                <c:v>0.0766621333152516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0.0308583999379698</c:v>
              </c:pt>
              <c:pt idx="1">
                <c:v>0.0011602353362383</c:v>
              </c:pt>
              <c:pt idx="2">
                <c:v>0</c:v>
              </c:pt>
              <c:pt idx="3">
                <c:v>0.0030735686210584</c:v>
              </c:pt>
              <c:pt idx="4">
                <c:v>0</c:v>
              </c:pt>
              <c:pt idx="5">
                <c:v>0.0003689936710498</c:v>
              </c:pt>
              <c:pt idx="6">
                <c:v>0</c:v>
              </c:pt>
              <c:pt idx="7">
                <c:v>0.0377896853506274</c:v>
              </c:pt>
              <c:pt idx="8">
                <c:v>0.0061406084215763</c:v>
              </c:pt>
              <c:pt idx="9">
                <c:v>0.1183666540018785</c:v>
              </c:pt>
              <c:pt idx="10">
                <c:v>0.1745723336276446</c:v>
              </c:pt>
              <c:pt idx="11">
                <c:v>0</c:v>
              </c:pt>
              <c:pt idx="12">
                <c:v>0</c:v>
              </c:pt>
              <c:pt idx="13">
                <c:v>0.0390778868680176</c:v>
              </c:pt>
            </c:numLit>
          </c:val>
        </c:ser>
        <c:ser>
          <c:idx val="8"/>
          <c:order val="8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0.0093365494192045</c:v>
              </c:pt>
              <c:pt idx="1">
                <c:v>0.1227393200815646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0.0006615413000011</c:v>
              </c:pt>
              <c:pt idx="6">
                <c:v>0.0810581734428378</c:v>
              </c:pt>
              <c:pt idx="7">
                <c:v>0.0171026340935401</c:v>
              </c:pt>
              <c:pt idx="8">
                <c:v>0</c:v>
              </c:pt>
              <c:pt idx="9">
                <c:v>0.1013743858313278</c:v>
              </c:pt>
              <c:pt idx="10">
                <c:v>0</c:v>
              </c:pt>
              <c:pt idx="11">
                <c:v>0</c:v>
              </c:pt>
              <c:pt idx="12">
                <c:v>0.0195927534357799</c:v>
              </c:pt>
              <c:pt idx="13">
                <c:v>0.0529133378830142</c:v>
              </c:pt>
            </c:numLit>
          </c:val>
        </c:ser>
        <c:ser>
          <c:idx val="9"/>
          <c:order val="9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0.0042743795995927</c:v>
              </c:pt>
              <c:pt idx="1">
                <c:v>0.0724628706745208</c:v>
              </c:pt>
              <c:pt idx="2">
                <c:v>0.010458370410723</c:v>
              </c:pt>
              <c:pt idx="3">
                <c:v>0.000517442092016</c:v>
              </c:pt>
              <c:pt idx="4">
                <c:v>0.0013353036335097</c:v>
              </c:pt>
              <c:pt idx="5">
                <c:v>0.0823562202432192</c:v>
              </c:pt>
              <c:pt idx="6">
                <c:v>0.0729485428985306</c:v>
              </c:pt>
              <c:pt idx="7">
                <c:v>0.0026200048135162</c:v>
              </c:pt>
              <c:pt idx="8">
                <c:v>0.053110144728145</c:v>
              </c:pt>
              <c:pt idx="9">
                <c:v>0.0083461717733962</c:v>
              </c:pt>
              <c:pt idx="10">
                <c:v>0.0560386356538572</c:v>
              </c:pt>
              <c:pt idx="11">
                <c:v>0.1334325730903025</c:v>
              </c:pt>
              <c:pt idx="12">
                <c:v>0.0878398045610501</c:v>
              </c:pt>
              <c:pt idx="13">
                <c:v>0.0256229759264469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0.2115480334239259</c:v>
              </c:pt>
              <c:pt idx="1">
                <c:v>0.1454997462339026</c:v>
              </c:pt>
              <c:pt idx="2">
                <c:v>0.217815834714012</c:v>
              </c:pt>
              <c:pt idx="3">
                <c:v>0.1673666661701728</c:v>
              </c:pt>
              <c:pt idx="4">
                <c:v>0.3509649115508297</c:v>
              </c:pt>
              <c:pt idx="5">
                <c:v>0.2568686718762569</c:v>
              </c:pt>
              <c:pt idx="6">
                <c:v>0.3249582640332574</c:v>
              </c:pt>
              <c:pt idx="7">
                <c:v>0.160647830710761</c:v>
              </c:pt>
              <c:pt idx="8">
                <c:v>0.3273090934316863</c:v>
              </c:pt>
              <c:pt idx="9">
                <c:v>0.1411084314958586</c:v>
              </c:pt>
              <c:pt idx="10">
                <c:v>0.2666485455225821</c:v>
              </c:pt>
              <c:pt idx="11">
                <c:v>0.6402694310283819</c:v>
              </c:pt>
              <c:pt idx="12">
                <c:v>0.2391091484443289</c:v>
              </c:pt>
              <c:pt idx="13">
                <c:v>0.3241701231603555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"/>
                  <c:y val="-0.013320597212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-0.0199686816548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18"/>
                  <c:y val="-0.019949496076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-0.019115457374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0"/>
                  <c:y val="-0.019520967498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-0.01887385906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-0.019720793161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-0.014606113236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0.0133588055747116</c:v>
              </c:pt>
              <c:pt idx="1">
                <c:v>0</c:v>
              </c:pt>
              <c:pt idx="2">
                <c:v>6.26366904154456E-05</c:v>
              </c:pt>
              <c:pt idx="3">
                <c:v>0.0001010078479461</c:v>
              </c:pt>
              <c:pt idx="4">
                <c:v>0</c:v>
              </c:pt>
              <c:pt idx="5">
                <c:v>0.0017690852507729</c:v>
              </c:pt>
              <c:pt idx="6">
                <c:v>0.0009580650024143</c:v>
              </c:pt>
              <c:pt idx="7">
                <c:v>0.0679878224541797</c:v>
              </c:pt>
              <c:pt idx="8">
                <c:v>0</c:v>
              </c:pt>
              <c:pt idx="9">
                <c:v>0.076868020696346</c:v>
              </c:pt>
              <c:pt idx="10">
                <c:v>0.0022522818660797</c:v>
              </c:pt>
              <c:pt idx="11">
                <c:v>0</c:v>
              </c:pt>
              <c:pt idx="12">
                <c:v>0.0005584136767011</c:v>
              </c:pt>
              <c:pt idx="13">
                <c:v>0.0107877735261191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515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7FD498-F2C6-4E56-8E4C-CAAA179FC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00125"/>
            <a:ext cx="838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1484D5-7A6F-474A-939A-2D00F60AD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09700"/>
            <a:ext cx="8572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INDÚSTRIA DE FIDCs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678BC0-B261-46B6-AEAE-B635EAA35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00300"/>
            <a:ext cx="962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7E9EB"/>
                </a:solidFill>
                <a:latin typeface="Arial"/>
                <a:ea typeface="Arial"/>
                <a:cs typeface="Arial"/>
              </a:rPr>
              <a:t>Escala, qualidade do dado, prestadores e fundos que explicam a concentração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FA5C93-CE0D-44C7-B0BF-D77259DE4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4F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3ACE23-28C3-4061-88F4-7C8F79889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Dados de PL: 30 de junho de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B96400-5175-4954-9610-98649FB6E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10225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E7E9EB"/>
                </a:solidFill>
                <a:latin typeface="Arial"/>
                <a:ea typeface="Arial"/>
                <a:cs typeface="Arial"/>
              </a:rPr>
              <a:t>Ofertas encerradas até 30 de junho de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65CA25-5A4C-408C-B6B4-278817AE8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57925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Itaú BBA · Junho de 2026</a:t>
            </a:r>
          </a:p>
        </p:txBody>
      </p:sp>
    </p:spTree>
    <p:extLst>
      <p:ext uri="{BB962C8B-B14F-4D97-AF65-F5344CB8AC3E}">
        <p14:creationId xmlns:p14="http://schemas.microsoft.com/office/powerpoint/2010/main" val="154935146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C50F4AD-595D-4013-BFFE-61F3BC0B2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GRANDES NÚMEROS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012F5D-CF80-47B7-8C9A-5C7766606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R$ 880 bi ex-FIC; a concentração aparece em fundos, prestadores e ajustes de qualidade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60BE1C-14E0-4507-B960-497DDE25E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294C01-3AF5-4CDB-B09B-F7CA2F8B9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5FECCA-7E03-4D91-A4E3-CC0059700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ANBIMA e FundosNet; jun/26, salvo ofertas até 30/jun/26.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2527FB-F5B6-415A-9B9C-2765746B5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65AB04-4D13-4F7B-854D-2770AD20B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8112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R$ 880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B3B5AE-CEC5-4158-805E-0B37F309D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40017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em jun/26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9A3A2F-D470-429D-83CA-7768DB154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78117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10,7 vezes o nível de 2015; FIC-FIDC adiciona R$ 81,1 bi ao PL bruto.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7D6429-ED08-4939-912C-05AA5A39E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7172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6F34C2-8164-44FC-BAC1-1B46BEC84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4317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59%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C603AF-E1A9-43AD-9DDE-AEACA8930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56222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dos fundos acima de R$ 200 mi têm até 10 contas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B28CC2-ED4C-4D1C-8B04-22A997D7F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94322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Esse recorte concentra 60,7% do PL do universo de R$ 733,9 bi.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57EE40-D7B9-4915-BC09-FCC4BBB5D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3377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BA625BC-267A-40C0-BED6-110CCBC2A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0522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178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CC57A2-777E-4792-95EB-4161950F8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72427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com inadimplência acima da carteira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877062-452D-4666-9390-A2286D97C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10527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 cap remove R$ 14,6 bi; os 10 maiores casos explicam 57,4%.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9486D6-D50A-4579-9FB2-49944C201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9582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472EE02-DA08-428D-A72D-B19F37793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6727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35,7%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623C147-2382-48D3-8E5E-4A21AE3CB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88632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 PL em monoestruturas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3099739-A07B-4BC4-86E8-DC7545468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26732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Sistema Petrobras é todo o PL mono do BB; TAPSO representa 54% do PL mono da Oliveira Trust.</a:t>
            </a:r>
          </a:p>
        </p:txBody>
      </p:sp>
    </p:spTree>
    <p:extLst>
      <p:ext uri="{BB962C8B-B14F-4D97-AF65-F5344CB8AC3E}">
        <p14:creationId xmlns:p14="http://schemas.microsoft.com/office/powerpoint/2010/main" val="4813423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457CC50-E72C-40C7-AD46-D257ECD51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ESCALA DA INDÚSTRIA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59EC85-A85C-4CEB-A26D-74003C410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 PL ex-FIC chegou a R$ 880 bi; FIC-FIDC adiciona R$ 81 bi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0391BC-AD80-4C2F-A737-F24563387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997E1E-FDAB-494E-A5E1-88A6055C1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DDFC2F-C673-40BD-AC90-222A47BCF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de FIDC. PL bruto = PL ex-FIC + PL de FIC-FIDC; jun/26.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D302C0-7ACB-4EF0-8EAC-3E27CB79B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graphicFrame>
        <p:nvGraphicFramePr>
          <p:cNvPr id="45" name="Chart"/>
          <p:cNvGraphicFramePr/>
          <p:nvPr/>
        </p:nvGraphicFramePr>
        <p:xfrm>
          <a:off xmlns:a="http://schemas.openxmlformats.org/drawingml/2006/main" x="571500" y="1428750"/>
          <a:ext xmlns:a="http://schemas.openxmlformats.org/drawingml/2006/main" cx="7905750" cy="4429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f6deb87173b4239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135762-1C90-4C9C-92EF-10C0A8A48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513" y="4787153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85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A201B5-9121-4F01-B6B6-7B77C4CFC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2588" y="4755986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94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BE5980-9835-414E-995D-2EF5CE5F1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2663" y="4682637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115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8514F2-D2FA-4261-9B21-5C25B2A19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2738" y="4592607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142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B150B8-6103-4C96-942F-202B81644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2813" y="4264688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237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D2BA49-8BCE-441F-BCA6-1BFA26ED8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2888" y="4331994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218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64F979A-40D8-4B2F-9D22-ED060740B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2963" y="4020124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309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5F7617-B190-4F72-BAE2-F994A76EE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3038" y="3780863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379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C2B601A-18C2-4F04-805D-834742C22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3113" y="3416731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485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16375F-FE20-4842-86CB-523702C21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3188" y="2573693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732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8235B4B-DEB1-40FB-8B6B-CFF95B83C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3263" y="1933129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919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0786DAD-4A2C-42F9-A22B-DD0233DC6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3338" y="1788215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961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38E0709-88D2-433A-9563-F445090ED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1113" y="4421157"/>
            <a:ext cx="18002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2F5D00E-9EB5-4073-8A49-B9E2E1A2E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0675" y="4173507"/>
            <a:ext cx="1181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18,7% a.a.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5BDD68D-CB4C-4C7A-9CCB-CB5F9F7A5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0675" y="4468782"/>
            <a:ext cx="11811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CAGR 2015–2018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D63FA60-EEB6-4A6C-AA64-A6961D657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1338" y="3245281"/>
            <a:ext cx="300037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3DBB15D-BEC3-43DE-86D6-5FBC73DCA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2997631"/>
            <a:ext cx="1181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27,9% a.a.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55C0C01-F5EA-4ECE-A325-785A8FA7A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3292906"/>
            <a:ext cx="11811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CAGR 2018–2023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A56F9A7-3F66-4B9C-9B43-193976449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1809750"/>
            <a:ext cx="9906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11C25D6-0FE4-49A6-AA58-88EFBD87E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1562100"/>
            <a:ext cx="1181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25,6% a.a.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C94E21E-6126-4C9A-857F-85393D2EE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1857375"/>
            <a:ext cx="11811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CAGR 2024–2025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F891984-DA85-4CC1-A81A-62773F4B4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R$ bi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D982429-0C67-44A7-8A50-EDD7B25FF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428750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LEITURA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6DA7EE-E431-42CF-B395-4E608095B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695450"/>
            <a:ext cx="276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062D872-EAFF-45A8-99FD-E8D3728BB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952625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R$ 880 bi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B8ECA36-F55E-42D7-9E31-7D0529EE0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371725"/>
            <a:ext cx="2762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PL ex-FIC em jun/26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6CB1B0E-4BAD-485A-9828-BA43DE6F0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095625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10,7x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6438982-30C6-4C16-8E8C-7E72876CC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514725"/>
            <a:ext cx="2762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crescimento sobre 2015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A48A171-144A-4CDD-81BF-59E0B5C59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238625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R$ 81 bi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C3096C1-B77C-4CEA-82A8-5732DF36E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657725"/>
            <a:ext cx="2762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PL de FIC-FIDC, sem dupla contagem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917E055-4B59-4A66-94D1-5D88FC692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572125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Totais e CAGRs usam o PL bruto; dezembro contra dezembro.</a:t>
            </a:r>
          </a:p>
        </p:txBody>
      </p:sp>
    </p:spTree>
    <p:extLst>
      <p:ext uri="{BB962C8B-B14F-4D97-AF65-F5344CB8AC3E}">
        <p14:creationId xmlns:p14="http://schemas.microsoft.com/office/powerpoint/2010/main" val="82042338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C11020A-6ADB-4406-8AA3-FC75E077F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BASE INVESTIDORA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1DBD32-48C8-4094-BC50-70BA376C4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 base atingiu 461,2 mil contas em 4.252 veículos; contas não são investidores únicos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02D666-70B0-4936-99DD-CB9E470E2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BE5F7B-1ACB-45F1-ADC3-FF1988107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F77361-D0F6-4718-B154-A1F573C2A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de FIDC, jun/26. Contas podem se repetir por classe ou série.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340983-6FFF-48D0-BBC2-B041D7338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0D1E74-2972-4B9F-9557-F82519E0C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33500"/>
            <a:ext cx="657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CONTAS DE COTISTAS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1D2B77-7808-40A3-8912-A50CE4FE9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00200"/>
            <a:ext cx="657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571500" y="1666875"/>
          <a:ext xmlns:a="http://schemas.openxmlformats.org/drawingml/2006/main" cx="6572250" cy="1638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eb2f672feaa4b3a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1F91B4-E3CE-4562-8D22-83506E0A2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334081-6F2A-4983-B03B-C6CD44B75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5495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2018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839A20-CCE9-4C28-A5F0-978DFDF57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891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8A3E20-232A-494E-B47F-CB3844ECD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6286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6ACB4A-4531-4180-B436-1171C42D3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2AE0ACA-DCEE-4924-804F-41EADD5AC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38550"/>
            <a:ext cx="657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REPORTANTES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1FDCA5-B7F0-40CB-82E7-786B29935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05250"/>
            <a:ext cx="657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3" name="Chart"/>
          <p:cNvGraphicFramePr/>
          <p:nvPr/>
        </p:nvGraphicFramePr>
        <p:xfrm>
          <a:off xmlns:a="http://schemas.openxmlformats.org/drawingml/2006/main" x="571500" y="3971925"/>
          <a:ext xmlns:a="http://schemas.openxmlformats.org/drawingml/2006/main" cx="6572250" cy="1638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c7f8c3d698743a4"/>
          </a:graphicData>
        </a:graphic>
      </p:graphicFrame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4A7863F-251F-422D-8657-37C6EEF17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F7669B0-BE20-4DA9-AED5-ACD06B1D1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5495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7A30370-7955-41A3-A9A6-56E747213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891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FA35C3F-5E64-4623-A9C4-D24F620DD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6286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C3B2C53-4085-4BC1-85ED-4C4A96981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D6979C1-EC4C-4DBB-84A9-183F2FC02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333500"/>
            <a:ext cx="4048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COMPOSIÇÃO DAS CONTAS · JUN/26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859CB2F-4E97-467A-A734-807A36C60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600200"/>
            <a:ext cx="4048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51" name="Chart"/>
          <p:cNvGraphicFramePr/>
          <p:nvPr/>
        </p:nvGraphicFramePr>
        <p:xfrm>
          <a:off xmlns:a="http://schemas.openxmlformats.org/drawingml/2006/main" x="7524750" y="1714500"/>
          <a:ext xmlns:a="http://schemas.openxmlformats.org/drawingml/2006/main" cx="4095750" cy="3190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cca252bad904225"/>
          </a:graphicData>
        </a:graphic>
      </p:graphicFrame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4429FFF-2C0A-4D7A-9BB2-EB414F175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5095875"/>
            <a:ext cx="404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Composição reconciliada: 461.228 contas; 0 sem tipo identificado.</a:t>
            </a:r>
          </a:p>
        </p:txBody>
      </p:sp>
    </p:spTree>
    <p:extLst>
      <p:ext uri="{BB962C8B-B14F-4D97-AF65-F5344CB8AC3E}">
        <p14:creationId xmlns:p14="http://schemas.microsoft.com/office/powerpoint/2010/main" val="146643245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64E101E-0F87-4B57-B689-D83A44351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DISTRIBUIÇÃO POR NÚMERO DE COTISTAS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261B46-073E-471B-BC00-B0A32B421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970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Fundos com mais de 10 contas ganharam 11,0 p.p. do universo e 10,6 p.p. do PL desde dez/23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D07431-FB1B-4191-9021-8D0A4A1E9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7231BA-4C59-4D64-94DE-901764924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DE83A9-1FA4-46AB-8644-2C9A0DA02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dez/23 e jun/26. Ex-FIC com PL ≥ R$ 200 mi: 409 → 784 fundos; contas por classe/série, não investidores únicos.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BC62F2-720F-4B11-BA97-6FB7FB4CF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48CFBD-35E2-4DAD-851E-EB3E879A0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0D389A-B13E-48F2-9A4D-C9FF23F46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087C3F-AAFF-4211-8DD7-561E872D7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B1AA35-0C8D-4F4B-9F0B-E1AD91718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F121DF-1621-481E-BB85-1F5B81130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2397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ABSOLUTO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D4D0AC-4E43-4B50-AA27-CA4403BE6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9067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8" name="Chart"/>
          <p:cNvGraphicFramePr/>
          <p:nvPr/>
        </p:nvGraphicFramePr>
        <p:xfrm>
          <a:off xmlns:a="http://schemas.openxmlformats.org/drawingml/2006/main" x="571500" y="1724025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14eadb37a6c4e30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486F0A-13B5-4AC7-83EE-540C624CB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2397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R$ BI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BE151F-3B1D-4E9B-B7C3-BCEC8B061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9067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1" name="Chart"/>
          <p:cNvGraphicFramePr/>
          <p:nvPr/>
        </p:nvGraphicFramePr>
        <p:xfrm>
          <a:off xmlns:a="http://schemas.openxmlformats.org/drawingml/2006/main" x="6334125" y="1724025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2f85b2605304b8d"/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A6B18DA-407E-48D3-A9BE-DA8CB9B98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338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% DO TOTAL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BEBE547-7920-4AA2-936A-A2A2F974F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4" name="Chart"/>
          <p:cNvGraphicFramePr/>
          <p:nvPr/>
        </p:nvGraphicFramePr>
        <p:xfrm>
          <a:off xmlns:a="http://schemas.openxmlformats.org/drawingml/2006/main" x="571500" y="4076700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d0f73e60f7444ab"/>
          </a:graphicData>
        </a:graphic>
      </p:graphicFrame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F30C980-DF42-4C32-881F-36311D8D7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752850"/>
            <a:ext cx="1952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81D79D0-3F95-4853-B909-CC91BCB10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7338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% DO TOTAL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F946E03-6831-4A67-8ED8-0C0AE5E49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8" name="Chart"/>
          <p:cNvGraphicFramePr/>
          <p:nvPr/>
        </p:nvGraphicFramePr>
        <p:xfrm>
          <a:off xmlns:a="http://schemas.openxmlformats.org/drawingml/2006/main" x="6334125" y="4076700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8845f9f2f214c48"/>
          </a:graphicData>
        </a:graphic>
      </p:graphicFrame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36C61BC-90A3-4225-97E2-2D6A1C723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752850"/>
            <a:ext cx="1952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6429266-E318-4FAF-B20B-1761D4438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96000"/>
            <a:ext cx="1104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Comparação de duas fotografias da indústria, não de coorte constante. Corte de R$ 200 mi em valores nominais; cada histograma percentual fecha em 100%.</a:t>
            </a:r>
          </a:p>
        </p:txBody>
      </p:sp>
    </p:spTree>
    <p:extLst>
      <p:ext uri="{BB962C8B-B14F-4D97-AF65-F5344CB8AC3E}">
        <p14:creationId xmlns:p14="http://schemas.microsoft.com/office/powerpoint/2010/main" val="76052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662958B-7900-450E-9C66-23D5F32C3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ANBIMA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3E2470-4250-4390-A00F-6C7C02274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Na taxonomia vigente, Outros ganhou 3,0 p.p. do PL ex-FIC desde dez/23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38D12A-2333-41FE-B9D4-E08B7255A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65C95C-C2D7-4211-9F35-88CB354AA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EB2D37-BC49-4FF2-9480-1D8A07E63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CVM/ANBIMA; dez/23 e jun/26. Tipo/Foco classifica o fundo; fotografia cadastral de dez/25 aplicada ao histórico. Não comparar categoria a categoria com a Tabela II.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9C8B62-DCA6-4923-939B-882D2CF17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ABF702-53F8-460D-A9AC-0FEDD8141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 · DEZ/23 → JUN/26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F3E6C7-8398-4920-9F26-81BFC803C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9eea177dfa4417c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5A60E8-ED4F-49C5-A6FD-51F2E270E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PL EX-FIC · DEZ/23 → 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1B9AE2-A8E2-47D2-9C0D-26BBB464E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638175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f9b630ee3cf42bf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B4F21B-5E09-4766-9C71-4B6D24EB9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5638800"/>
            <a:ext cx="19526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Cada período fecha em 100%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A214329-D442-4613-AA85-BCFB40510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362575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13D00C-5E9F-460F-8407-4E6F93522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0075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2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Jun/26: Outros 39,2%; Financeiro 27,2%. ANBIMA enquadra o fundo inteiro, não cada direito creditório.</a:t>
            </a:r>
          </a:p>
        </p:txBody>
      </p:sp>
    </p:spTree>
    <p:extLst>
      <p:ext uri="{BB962C8B-B14F-4D97-AF65-F5344CB8AC3E}">
        <p14:creationId xmlns:p14="http://schemas.microsoft.com/office/powerpoint/2010/main" val="205212808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C6B6FF-B431-409A-B7DC-5858BC35B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TAXONOMIA CVM · RECLASSIFICAÇÃO DE ADQUIRÊNCIA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02278F-6F39-4CAA-B460-A2DB95770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687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Os 16 CNPJs selecionados formam Adquirência; R$ 80,6 bi e 9,2% do PL ex-FIC em 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625C01-B334-4C7A-944A-07AB48218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F12530-D365-4573-8CA0-8B5884077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C06052-550A-484F-A49F-1EBBEB5D9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Mensal; curadoria: FIDCs.xlsx (13 CNPJs) + 3 FIDCs SELLER informados em 21/jul/26. A categoria CVM original permanece preservada.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A0F8DD-2CC0-4F50-AF46-54ECF5305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C0792A-D47F-4B1D-901D-94E653794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 · DEZ/23 → JUN/26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6AB496-6FDD-4239-A381-81CEA5FCA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ce7b52e4dcb4775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49EC5F-6286-44D2-851D-C4C8B0AC1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PL EX-FIC · DEZ/23 → 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B21187-6A9E-4C50-87D6-396AE65C4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638175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2d5c51d7cf546e6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66962F-5072-4626-AFB3-D7A6DA477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247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DA3F7B-049E-45D9-9F0B-E19B288D5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200150"/>
            <a:ext cx="1190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6387F7A-ABAA-46EB-98B5-EBD917666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9375" y="1247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7DA7372-5275-42F4-B174-0B7314DB7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1775" y="1200150"/>
            <a:ext cx="1190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8A2A44-6CE4-4C45-844E-A2084B39F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5312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0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Em jun/26, os 14 CNPJs ativos vieram de 9 Cartão, 2 Comercial, 2 Serviços e 1 Financeiro; 2 sem reporte ativo. Denominador e demais categorias permanecem idênticos.</a:t>
            </a:r>
          </a:p>
        </p:txBody>
      </p:sp>
    </p:spTree>
    <p:extLst>
      <p:ext uri="{BB962C8B-B14F-4D97-AF65-F5344CB8AC3E}">
        <p14:creationId xmlns:p14="http://schemas.microsoft.com/office/powerpoint/2010/main" val="115046079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186E8F4-DFE4-48A3-8FE6-3B7DFAD57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CARTEIRA POR TIPO DE RECEBÍVEL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6C8937-B49F-4676-B96C-F1BAA2319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ganhou 17,5 p.p. e explicou 67% do crescimento segmentado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70ABA4-20EB-436B-9690-7D92CE2C2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AC71DC-F5D4-47B3-91BC-871BB13DB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1AFB11-342D-4AA6-ACA4-80067DE27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Tabela II, dez/23 e jun/26. Classifica o estoque mensal; percentuais fecham sobre a Tabela II. Soma segmentada supera a Tabela I em 13,3% e 8,9%.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06C6FF-BE67-4170-ADB1-084C3C26D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1F235B-2EA0-490A-929F-9662767F6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REPORTADO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C0002F-2322-47D6-B9DA-BBF9FC758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571500" y="1743075"/>
          <a:ext xmlns:a="http://schemas.openxmlformats.org/drawingml/2006/main" cx="5238750" cy="4238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46f79c78e2d4f58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350AD5-D206-40D9-8B78-815E31410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VALOR SEGMENTADO DA TABELA II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F197CE-0116-44E1-A8AE-8ADED9C5F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6381750" y="1743075"/>
          <a:ext xmlns:a="http://schemas.openxmlformats.org/drawingml/2006/main" cx="5238750" cy="4238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2d2d10f6fd54648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EB73E3-031B-4512-BF87-42F68F44F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715000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D74EC2-F4A1-4736-9369-1514EE39E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48375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Manual CVM: adquirência com cartão usa o campo mais específico, II.g Cartão. Em jun/26, A.I. e PI declararam R$ 5,96 bi em Comercial; Akira I, R$ 0,31 bi em Financeiro. O gráfico mantém o reporte.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545D9C-F60E-4957-8F3A-336CB5E2E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REPORTADO · R$ BI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C31935-A1CB-4BBB-B766-8168D2E1C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DCA5D27-ECF9-4C57-9D13-371FE48C3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VALOR SEGMENTADO DA TABELA II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61CA469-7D22-4A7E-924D-66C144F55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6C0DDC8-BBCA-4F94-958C-25A2580E6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722C6D-75D2-43BF-B142-3A492B5F8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3B006B6-B336-4622-A65F-ADE0C5E1F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FE844C7-8BD5-4D5C-90C9-6F002CA84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</p:spTree>
    <p:extLst>
      <p:ext uri="{BB962C8B-B14F-4D97-AF65-F5344CB8AC3E}">
        <p14:creationId xmlns:p14="http://schemas.microsoft.com/office/powerpoint/2010/main" val="117692388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91A7D13-81A6-4BBD-BF84-B4B345726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OBSERVABILIDADE DA INADIMPLÊNCIA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72989A-76A4-4152-90F0-AE934E2D5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 cap retira R$ 14,6 bi de 178 veículos; 10 casos explicam 57,4%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F2480D-C38E-4B15-A0A9-C462152DC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744BEB-2C54-4D21-A000-6F0070BC3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77100E-1FAD-4DBF-A383-3FCE1262A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jun/26. Ajuste = mínimo entre inadimplência não negativa e carteira não negativa por veículo.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B6BD2A-28D5-4896-93CF-541BE804A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F6A037-EF18-45FA-8F5F-D14949B05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676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MÉTRICAS SOBRE A CARTEIRA COBERTA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406974-B0DD-402D-B4D6-B33B1859A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676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9" name="Chart"/>
          <p:cNvGraphicFramePr/>
          <p:nvPr/>
        </p:nvGraphicFramePr>
        <p:xfrm>
          <a:off xmlns:a="http://schemas.openxmlformats.org/drawingml/2006/main" x="571500" y="1857375"/>
          <a:ext xmlns:a="http://schemas.openxmlformats.org/drawingml/2006/main" cx="676275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bf55b04661e40bc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07BDC0-B486-4CDE-9ADD-FA019F9C7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219700"/>
            <a:ext cx="533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C81ED4-A166-4DB6-A6CD-03FC990A4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428750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UNIVERSO E COBERTURA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70529E-3D1D-4ABC-B802-BE5A225F4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95450"/>
            <a:ext cx="3762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35BC6C-504B-4A6B-8B3F-6E7715495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962150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/ fundos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E356B62-3253-4317-A4F2-4378B3BCB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1962150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4.252 / 4.247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D8F148-5F6B-4551-9287-6887877C9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05063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C1CD03-3F8D-4D29-AAD6-D9962FF28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62213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positiva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555817-1BF7-4C14-947D-A52AC2823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2462213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3.130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A007BAC-354D-4BF6-ABEA-A1672A4CE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905125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75EFF77-ADCB-4270-97AD-DAB4AFF45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962275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Campos reportados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73CD635-B334-4845-994F-5E69ACB3C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2962275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4.252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5697506-D381-4CED-9071-E75F3A111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405188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ABA67A4-934B-45FB-A582-27D4EB87C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462338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Cobertura por PL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AA30670-F8C5-4341-A906-2E858ADC5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3462338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FDD3F73-85F2-40AD-9C5D-DEC18DC8E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905250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5B60773-3D44-467D-823E-5DB84CAA0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962400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Casos acima da carteira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3AAAFBC-7A32-4715-A636-1D5BD6DB0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3962400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178 · 1,04% do PL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4CF7FDC-F983-450A-885A-4E45576A9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405313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4A7D01A-3043-4A0F-B234-58CCAA16C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462463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Excesso Top 1 / 5 / 10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98ABBBB-3861-4A8C-BDF3-E66B65D65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4462463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14,2% / 42,0% / 57,4%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4AE6784-0770-427A-AA8C-F9449F568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238750"/>
            <a:ext cx="3762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Visão ex-360 bloqueada: o aging soma 112,6% da Tabela I e não reconcilia; gap de R$ 6,89 bi no workbook.</a:t>
            </a:r>
          </a:p>
        </p:txBody>
      </p:sp>
    </p:spTree>
    <p:extLst>
      <p:ext uri="{BB962C8B-B14F-4D97-AF65-F5344CB8AC3E}">
        <p14:creationId xmlns:p14="http://schemas.microsoft.com/office/powerpoint/2010/main" val="117496384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C56F1A2-4CF8-4A3A-9973-A323731A1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EVOLUÇÃO E QUEBRA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186C26-B407-4004-B971-B856F1FA3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389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Fundos monotipo cobrem 69,1% do PL; Financeiro e Agro marcam 6,5% e 6,6% de inadimplência/PL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FD7BD8-1568-457E-A943-B98810CB5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CB71CF-8BC6-415D-95BF-952B8C226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694594-CBB2-4DEB-91A3-0255B15BF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Mensal. Série agregada com cap por veículo; tabela monotipo sem cap e com exclusão integral de inadimplência acima da carteira. Denominador da tabela = PL total dos fundos incluídos.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3B5C94-7D85-42E1-88D9-5874E2C80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E91884-01D9-4201-AF9B-250FFB422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23975"/>
            <a:ext cx="5857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SÉRIE AGREGADA · % DA CARTEIRA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0D657C-02B5-4102-BAD8-E7490DDDC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90675"/>
            <a:ext cx="5857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571500" y="1657350"/>
          <a:ext xmlns:a="http://schemas.openxmlformats.org/drawingml/2006/main" cx="5857875" cy="3048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c9f2de14c654a01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AB559B-70E9-4A79-AC13-7357096B4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03/23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A79B8D-436B-480F-A151-10CA8AB3A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8402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1D797A-EA75-478D-81DC-D1E91F8A0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270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06/24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23E764-DF5E-48B5-97E7-C35727173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6704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07/24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2487718-D86C-49D4-8B3F-7F7520F99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5571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CBB1DE-B8F3-4889-9551-933A3594E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3873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09/25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CA9DCB-814A-40B1-AEF1-9E5FAFA9E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06/26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F700CC3-2F96-4FE9-B7CB-E5E71E631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8958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AE4D80-D13B-44DE-8540-0AC26FCBE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848225"/>
            <a:ext cx="1000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Bruta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4CD74E0-2D60-4DF7-BB03-35631DDEE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48958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B27785F-4C85-4D63-B0D9-FAD39ABC0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4848225"/>
            <a:ext cx="1000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Ajustada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9A1761C-FE3E-4F4B-B4D1-B22C23BFE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323975"/>
            <a:ext cx="485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COM UM ÚNICO TIPO NA TABELA II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573B21E-1BE1-4BE3-8190-00D7E84BA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590675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9" name=""/>
          <p:cNvGraphicFramePr/>
          <p:nvPr/>
        </p:nvGraphicFramePr>
        <p:xfrm>
          <a:off xmlns:a="http://schemas.openxmlformats.org/drawingml/2006/main" x="6762750" y="1657350"/>
          <a:ext xmlns:a="http://schemas.openxmlformats.org/drawingml/2006/main" cx="4857750" cy="3429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095500"/>
                <a:gridCol w="714375"/>
                <a:gridCol w="1000125"/>
                <a:gridCol w="10477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incl.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Inad./PL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1.215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256,2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96,9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30,6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91628C9-A97A-4181-B83F-352F93550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B8EDF05-5638-4DCA-B843-CBD32A18B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292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Monotipo incluído: 2.066 fundos e R$ 608,7 bi. Excluídos: 948 multiti­po (R$ 190,2 bi), 126 com inadimplência acima da carteira (R$ 6,1 bi) e 486 sem tipo.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00B200E-ED5A-4BBA-A91C-331C5A84E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578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Quebra jun→jul/24: o excesso do Atlântico caiu R$ 16,7 bi; a troca de administrador coincide com mudança de apresentação. Caso completo no apêndice.</a:t>
            </a:r>
          </a:p>
        </p:txBody>
      </p:sp>
    </p:spTree>
    <p:extLst>
      <p:ext uri="{BB962C8B-B14F-4D97-AF65-F5344CB8AC3E}">
        <p14:creationId xmlns:p14="http://schemas.microsoft.com/office/powerpoint/2010/main" val="179867720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119A960-9C69-43C0-A7CC-FD59AAB82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COORTE ATUAL POR RECEBÍVEL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70912B-C1E1-4647-AFB8-DFB957B62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encerra jun/26 em 7,2%; a coorte fixa soma R$ 608,7 bi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3B4115-FF76-4FA2-B1C3-BAA177BFB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554841-2AAB-41C1-BE21-53D95011F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A94E3E-E73C-4E6E-A2B3-C240B4C3A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Mensal. Subtipo e elegibilidade congelados em jun/26; histórico dos mesmos CNPJs. Linha laranja = consolidado de mercado ajustado. A coorte fixa incorpora viés de sobrevivência.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D7D722-E812-4625-8046-C0CC87196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CD704C-7A36-4B3B-8A33-752991A1F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04925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 CARTEIRA · DEZ/23 → JUN/26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9864FD-B266-422C-9510-2AD4C1F48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71625"/>
            <a:ext cx="742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53" name="Chart"/>
          <p:cNvGraphicFramePr/>
          <p:nvPr/>
        </p:nvGraphicFramePr>
        <p:xfrm>
          <a:off xmlns:a="http://schemas.openxmlformats.org/drawingml/2006/main" x="571500" y="1638300"/>
          <a:ext xmlns:a="http://schemas.openxmlformats.org/drawingml/2006/main" cx="7429500" cy="34956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634fd1f656140cf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3275CC-0EA8-4016-AB7D-AEE1D7E91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60BE5C-F47C-447D-AF0F-1453CB122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926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04/24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105A78-B999-4550-98C0-ACB2A4964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842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08/24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89B24A-7AF2-46C5-B169-BD3F104F5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758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F2B74D-2B76-4BA2-BC11-A12461ED2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674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04/25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FA2100C-443D-4024-8634-F1543650E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08/25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B28DF81-4D49-4822-8812-B00F42A53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506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44A015-9393-42F2-98DC-624CF0FC0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422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04/26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BF73D4F-3492-486A-A2C5-21DBDEB78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06/26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6D73C8C-D2FB-48BC-9E68-C80C8D78E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304925"/>
            <a:ext cx="3381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FOTOGRAFIA · JUN/26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E293A58-2699-4D39-B207-EA287EEAE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571625"/>
            <a:ext cx="3381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65" name=""/>
          <p:cNvGraphicFramePr/>
          <p:nvPr/>
        </p:nvGraphicFramePr>
        <p:xfrm>
          <a:off xmlns:a="http://schemas.openxmlformats.org/drawingml/2006/main" x="8239125" y="1638300"/>
          <a:ext xmlns:a="http://schemas.openxmlformats.org/drawingml/2006/main" cx="3381375" cy="3667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1428750"/>
                <a:gridCol w="523875"/>
                <a:gridCol w="619125"/>
                <a:gridCol w="8096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 Tabela II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Inad./cart.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1.215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256,2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7,2%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96,9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30,6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796C3FB-537E-4216-9868-6907BD2A0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6F24B66-B147-4875-A282-3121C29F9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28E8D2B-B768-43B6-874E-D4E3EA01C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30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EEF72B2-FE8C-4E94-9868-D0B7BF4DA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54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Cartão de crédito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4032F60-3AD3-4B91-AB92-F4ACFC016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4A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34DDD40-EB25-4A3B-8062-5BD33C3E3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69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Comercial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2772D1D-BE8F-4161-BAFB-72DD77310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60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0F93667-7F91-46D0-8160-05A253381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Industrial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83FDB25-14F8-4181-A76D-BCB0C3093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75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E99F446-845C-4CDB-8A1E-CBAF95484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99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Serviços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9968516-20C7-4BDD-85B0-2058022B8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90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2C356EE-87FB-418D-A147-0A9AC60E8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14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Setor público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41B6F99-31FA-404A-A0EE-740D4A2CA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24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AC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B9BBA2B-4E5A-4ED5-A43E-2E7A23834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7690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Ações judiciais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640FC09-BCC7-4D33-A8DC-95B69D463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3000" y="5724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EC2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7371C02-B826-4502-9602-32CFF99DF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5400" y="567690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Agronegócio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1ED1DC7-A47E-4625-B22C-D33E27CB3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5724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76C7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A9A1E2E-8D30-40AE-A627-DF9B78381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6900" y="567690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Imobiliário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D3B412F-E0F5-479A-A2AD-9C4899664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724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2979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EA98D01-DB84-4145-AF67-E7A81462E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67690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Factoring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94544F8-538F-41FB-8132-CF1213924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7500" y="5724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7FD9652-0715-4E3E-B3A5-1CC69D49C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9900" y="567690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Consolidado ajustado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3CD56B8-BF5A-4C91-93D8-53ADCDE51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1980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3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3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Em jun/26, a coorte contém 2.066 fundos. Factoring tem 1 fundo e R$ 0,1 bi; Imobiliário, 15 fundos e R$ 0,9 bi. Oscilações desses subtipos têm baixa representatividade. Consolidado ajustado: 5,9%.</a:t>
            </a:r>
          </a:p>
        </p:txBody>
      </p:sp>
    </p:spTree>
    <p:extLst>
      <p:ext uri="{BB962C8B-B14F-4D97-AF65-F5344CB8AC3E}">
        <p14:creationId xmlns:p14="http://schemas.microsoft.com/office/powerpoint/2010/main" val="211062390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B03B42F-5EAB-4DFE-BFDB-B8BCC8D5D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RANKING E CONCENTRAÇÃO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40AFF2-325F-4150-B2CA-8B00A22F0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10 mantém cerca de 72% em administração e custódia; gestão subiu a 36,4%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629D88-1948-4907-8D92-4A3C6E5E4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2F228E-CE76-4522-A551-DF8CFAB70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9AA433-D743-490F-B85D-A3FE51F76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dez/25 e jun/26. PL ex-FIC; Sistema Petrobras e TAPSO excluídos do numerador e denominador. Administração observada; gestão/custódia históricas reconstruídas com cadastro vigente.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88C813-8509-4959-848D-AD51B555F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70FEB4-8F8D-4740-A92A-F60598F34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10 · % DO PL EX-FIC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EE709F-AB0F-4280-A38D-AD71935E2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4307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571500" y="1857375"/>
          <a:ext xmlns:a="http://schemas.openxmlformats.org/drawingml/2006/main" cx="514350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136adc0495a4078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645873-FBCF-4115-8D20-A8A65F6BF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29150"/>
            <a:ext cx="51435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5BE140-F0E2-4911-8909-519923A4B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47637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5 · % DO PL EX-FIC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D8FC00-F393-4312-A698-2DF3FF31F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74307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3" name="Chart"/>
          <p:cNvGraphicFramePr/>
          <p:nvPr/>
        </p:nvGraphicFramePr>
        <p:xfrm>
          <a:off xmlns:a="http://schemas.openxmlformats.org/drawingml/2006/main" x="6477000" y="1857375"/>
          <a:ext xmlns:a="http://schemas.openxmlformats.org/drawingml/2006/main" cx="514350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22b3f03354d4560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785ADF-82E4-4C16-BE4B-9CBEBA505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29150"/>
            <a:ext cx="51435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7D5F9D-2D40-4B88-84CF-720175429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911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C5BD53-1C86-4EFB-9125-E592D647F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29250"/>
            <a:ext cx="1104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Cobertura de PL, dez/25 → Jun/26: administração 100,0% → 100,0%; gestão 99,0% → 99,8%; custódia 97,7% → 98,6%.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FFCD8C6-813D-4745-9EB2-8EBD69322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C689345-3441-4A66-B668-988E69697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F254755-3079-45A9-A777-4559DC173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711500C-587E-46CE-AD05-F8CE1787C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</p:spTree>
    <p:extLst>
      <p:ext uri="{BB962C8B-B14F-4D97-AF65-F5344CB8AC3E}">
        <p14:creationId xmlns:p14="http://schemas.microsoft.com/office/powerpoint/2010/main" val="176110156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239FC7-3478-436A-B8A7-91A680FC3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ADMINISTRAÇÃO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BEA144-D087-4D7A-BF45-94EE85591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Bradesco e BTG lideram Recebíveis Comerciais após as exclusões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D3ADF0-ECA7-4131-BA31-E7B0C57C8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05005D-CAC8-40A2-B7ED-14630A69B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687BB5-D6B0-4976-9D45-C326EF5D0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97,3%, fora 2,7%.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47AC8E-6550-47CC-8BD6-7F0F89EFB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227eecbf8e04b7a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84EB11-8193-4247-A441-30B619525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85,3% do PL classificado. Fora do gráfico: 8 focos e R$ 111,6 bi.</a:t>
            </a:r>
          </a:p>
        </p:txBody>
      </p:sp>
    </p:spTree>
    <p:extLst>
      <p:ext uri="{BB962C8B-B14F-4D97-AF65-F5344CB8AC3E}">
        <p14:creationId xmlns:p14="http://schemas.microsoft.com/office/powerpoint/2010/main" val="207123221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BCA071-C681-408F-B7D8-A79A5B42E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GESTÃO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29455D-E39C-4BCB-B578-942EC0B05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lidera Crédito Pessoal; Top 10 soma 52% em Recebíveis Comerciais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607A36-8FB1-4BEA-86A8-44E031BB4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3BF701-8877-467E-B080-CBED48ABA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4182EA-3778-453C-987B-2EFC69EE6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97,3%, fora 2,7%.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19DDA5-FBD2-44B7-9EF8-F7CDBFC0D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2021f52ba204271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C8B77F-7875-45DD-B7F2-5DE626A77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85,3% do PL classificado. Fora do gráfico: 8 focos e R$ 111,6 bi.</a:t>
            </a:r>
          </a:p>
        </p:txBody>
      </p:sp>
    </p:spTree>
    <p:extLst>
      <p:ext uri="{BB962C8B-B14F-4D97-AF65-F5344CB8AC3E}">
        <p14:creationId xmlns:p14="http://schemas.microsoft.com/office/powerpoint/2010/main" val="211662383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7E19FB-F7AB-43F5-B5DC-EC5DE8844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CUSTÓDIA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023E79-A244-481E-90A6-57040445A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e Oliveira Trust somam 54% de Crédito Pessoal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DAC99B-7FD5-48B6-9CB7-4839F3DE7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2C365D-42FB-4C82-A6BD-2948E9979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76D6B5-6A2D-4FDB-9D78-8AA01BDF7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97,3%, fora 2,7%.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A06FC1-C903-4F7E-9731-0305708D2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21a9f450b6f4630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6AA005-1B5A-4050-9778-AFD851700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85,3% do PL classificado. Fora do gráfico: 8 focos e R$ 111,6 bi.</a:t>
            </a:r>
          </a:p>
        </p:txBody>
      </p:sp>
    </p:spTree>
    <p:extLst>
      <p:ext uri="{BB962C8B-B14F-4D97-AF65-F5344CB8AC3E}">
        <p14:creationId xmlns:p14="http://schemas.microsoft.com/office/powerpoint/2010/main" val="128760257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9BE15A5-26B3-424F-9400-E92126F81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EVOLUÇÃO DO RANKING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709BEB-6FA4-455A-825B-1C61DD84A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554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fica em #2 na administração e custódia; na gestão, o cenário sem a coorte bancária muda a posição de #1 para #3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BE04A7-F739-4C09-80BE-B4C8CD0B9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115F1C-7666-4C98-8918-8BF1C1C9E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393935-3EE7-45A8-8B3D-331D902B0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FIDCs.xlsx, aba BTG. PL ex-FIC; Sistema Petrobras e TAPSO excluídos. Na gestão, o cenário retira 22 FIDCs e R$ 51,3 bi; o recorte não atribui controle societário.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5CDBAF-5134-4023-903D-EDDDE7DEF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A039AE-0F9C-41B0-A7F5-42ACAC4EF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657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E0B5EC-6B39-4CC3-965E-E7B30F881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1200150"/>
            <a:ext cx="32861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POSIÇÃO · PL (R$ BI) · BTG SEM COORTE NA ÚLTIMA COLUNA</a:t>
            </a:r>
          </a:p>
        </p:txBody>
      </p:sp>
      <p:graphicFrame>
        <p:nvGraphicFramePr>
          <p:cNvPr id="30" name=""/>
          <p:cNvGraphicFramePr/>
          <p:nvPr/>
        </p:nvGraphicFramePr>
        <p:xfrm>
          <a:off xmlns:a="http://schemas.openxmlformats.org/drawingml/2006/main" x="571500" y="1419225"/>
          <a:ext xmlns:a="http://schemas.openxmlformats.org/drawingml/2006/main" cx="6572250" cy="1381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0"/>
                <a:gridCol w="1190625"/>
                <a:gridCol w="1190625"/>
                <a:gridCol w="133350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Participante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Dez/24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Jun/26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Tech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87,0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120,9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124,1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62,5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82,9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123,3</a:t>
                      </a:r>
                    </a:p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s/ coorte 2 · 72,0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Daycoval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39,1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 · 52,1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 · 58,1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 Trust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 · 62,3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48,8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 · 57,2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Bradesco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 · 25,2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45,5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51,0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36,1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 · 44,3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50,5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 · 10,7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 · 28,5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 · 28,6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C3B1BF-2475-49AA-B93A-C57B4432B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1200150"/>
            <a:ext cx="4143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PL JUN/26 · R$ BI</a:t>
            </a:r>
          </a:p>
        </p:txBody>
      </p:sp>
      <p:graphicFrame>
        <p:nvGraphicFramePr>
          <p:cNvPr id="32" name="Chart"/>
          <p:cNvGraphicFramePr/>
          <p:nvPr/>
        </p:nvGraphicFramePr>
        <p:xfrm>
          <a:off xmlns:a="http://schemas.openxmlformats.org/drawingml/2006/main" x="7477125" y="1419225"/>
          <a:ext xmlns:a="http://schemas.openxmlformats.org/drawingml/2006/main" cx="4143375" cy="1381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6ca55644c424382"/>
          </a:graphicData>
        </a:graphic>
      </p:graphicFrame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65C9E0-13D1-463E-905B-EE42C0892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05125"/>
            <a:ext cx="657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GESTÃO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FBF77E-6B07-41D0-8B6E-F17C9E26A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2905125"/>
            <a:ext cx="32861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POSIÇÃO · PL (R$ BI) · BTG SEM COORTE NA ÚLTIMA COLUNA</a:t>
            </a:r>
          </a:p>
        </p:txBody>
      </p:sp>
      <p:graphicFrame>
        <p:nvGraphicFramePr>
          <p:cNvPr id="35" name=""/>
          <p:cNvGraphicFramePr/>
          <p:nvPr/>
        </p:nvGraphicFramePr>
        <p:xfrm>
          <a:off xmlns:a="http://schemas.openxmlformats.org/drawingml/2006/main" x="571500" y="3124200"/>
          <a:ext xmlns:a="http://schemas.openxmlformats.org/drawingml/2006/main" cx="6572250" cy="1381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0"/>
                <a:gridCol w="1190625"/>
                <a:gridCol w="1190625"/>
                <a:gridCol w="133350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Participante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Dez/24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Jun/26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39,2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46,3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79,1</a:t>
                      </a:r>
                    </a:p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s/ coorte 3 · 27,8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Bradesco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26,7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34,2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40,3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21,1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 · 27,2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 · 35,0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22,7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23,7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 · 26,9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Tercon Investimentos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 · 16,5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19,9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22,1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 · 10,2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 · 18,1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18,9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4EE27EE-F57E-49F6-BD76-0F4E3C812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2905125"/>
            <a:ext cx="4143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PL JUN/26 · R$ BI</a:t>
            </a:r>
          </a:p>
        </p:txBody>
      </p:sp>
      <p:graphicFrame>
        <p:nvGraphicFramePr>
          <p:cNvPr id="37" name="Chart"/>
          <p:cNvGraphicFramePr/>
          <p:nvPr/>
        </p:nvGraphicFramePr>
        <p:xfrm>
          <a:off xmlns:a="http://schemas.openxmlformats.org/drawingml/2006/main" x="7477125" y="3124200"/>
          <a:ext xmlns:a="http://schemas.openxmlformats.org/drawingml/2006/main" cx="4143375" cy="1381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0a89484927145c2"/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9465561-95A9-44BB-AB3E-266F01EC8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10100"/>
            <a:ext cx="657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CUSTÓDIA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4E484CA-DCE4-4A2E-B1A7-144A9CE82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4610100"/>
            <a:ext cx="32861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POSIÇÃO · PL (R$ BI) · BTG SEM COORTE NA ÚLTIMA COLUNA</a:t>
            </a:r>
          </a:p>
        </p:txBody>
      </p:sp>
      <p:graphicFrame>
        <p:nvGraphicFramePr>
          <p:cNvPr id="40" name=""/>
          <p:cNvGraphicFramePr/>
          <p:nvPr/>
        </p:nvGraphicFramePr>
        <p:xfrm>
          <a:off xmlns:a="http://schemas.openxmlformats.org/drawingml/2006/main" x="571500" y="4829175"/>
          <a:ext xmlns:a="http://schemas.openxmlformats.org/drawingml/2006/main" cx="6572250" cy="1381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0"/>
                <a:gridCol w="1190625"/>
                <a:gridCol w="1190625"/>
                <a:gridCol w="133350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Participante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Dez/24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Jun/26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64,5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88,2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122,7</a:t>
                      </a:r>
                    </a:p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s/ coorte 3 · 71,3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Tech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78,2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114,4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122,3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 · 46,8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 · 64,2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 · 74,7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Daycoval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45,5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57,2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 · 64,4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Bradesco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36,5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41,8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49,7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 · 31,3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 · 35,6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41,2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 · 11,6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 · 20,6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 · 21,9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43271E7-88AB-4FC4-A312-CD58B2718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4610100"/>
            <a:ext cx="4143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PL JUN/26 · R$ BI</a:t>
            </a:r>
          </a:p>
        </p:txBody>
      </p:sp>
      <p:graphicFrame>
        <p:nvGraphicFramePr>
          <p:cNvPr id="42" name="Chart"/>
          <p:cNvGraphicFramePr/>
          <p:nvPr/>
        </p:nvGraphicFramePr>
        <p:xfrm>
          <a:off xmlns:a="http://schemas.openxmlformats.org/drawingml/2006/main" x="7477125" y="4829175"/>
          <a:ext xmlns:a="http://schemas.openxmlformats.org/drawingml/2006/main" cx="4143375" cy="1381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86da7f7029b4547"/>
          </a:graphicData>
        </a:graphic>
      </p:graphicFrame>
    </p:spTree>
    <p:extLst>
      <p:ext uri="{BB962C8B-B14F-4D97-AF65-F5344CB8AC3E}">
        <p14:creationId xmlns:p14="http://schemas.microsoft.com/office/powerpoint/2010/main" val="24035251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7C72C23-9A34-4183-89CE-BE9E78C3B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INDEPENDENTES · EVOLUÇÃO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4B3053-8E5C-44EE-9E33-789683AC7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QI lidera administração e custódia entre independentes, com R$ 124,1 bi e R$ 122,3 bi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A5F3D2-C48B-41C3-B79A-C924B4BE8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9CE482-AA25-4407-A9B0-28DF17A5B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75EC40-D2D6-440A-B2A7-4EB5C6F09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9826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PL ex-FIC. Sistema Petrobras e TAPSO excluídos. Posição = ranking entre independentes / ranking geral; Singulare consolidada em QI Tech; Kanastra alocada ao Itaú pela regra de afiliação explicitada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D501E5-22D0-49D0-8DB4-6C525D84B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DF6A42-3821-454A-A4E9-22E9C50CA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657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5400E8-3DC5-4BD5-AFBF-935509470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20015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POS. INDEP./GERAL · PL (R$ BI)</a:t>
            </a:r>
          </a:p>
        </p:txBody>
      </p:sp>
      <p:graphicFrame>
        <p:nvGraphicFramePr>
          <p:cNvPr id="30" name=""/>
          <p:cNvGraphicFramePr/>
          <p:nvPr/>
        </p:nvGraphicFramePr>
        <p:xfrm>
          <a:off xmlns:a="http://schemas.openxmlformats.org/drawingml/2006/main" x="571500" y="1419225"/>
          <a:ext xmlns:a="http://schemas.openxmlformats.org/drawingml/2006/main" cx="6572250" cy="1381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0"/>
                <a:gridCol w="1190625"/>
                <a:gridCol w="1190625"/>
                <a:gridCol w="133350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Participante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Dez/24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Jun/26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Tech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1/1 · 87,0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1/1 · 120,9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1/1 · 124,1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 Trust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2/3 · 62,3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3/5 · 48,8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2/4 · 57,2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Finaxis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4/8 · 18,3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5/10 · 20,7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3/8 · 22,4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BRL Trust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5/9 · 17,6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4/9 · 22,1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4/9 · 21,7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Hemera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6/15 · 10,3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6/11 · 17,4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5/10 · 21,1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CBSF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3/4 · 59,5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2/3 · 66,3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6/11 · 18,7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88457B-890F-488F-AB25-05B1BB563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1200150"/>
            <a:ext cx="4143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PL JUN/26 · R$ BI</a:t>
            </a:r>
          </a:p>
        </p:txBody>
      </p:sp>
      <p:graphicFrame>
        <p:nvGraphicFramePr>
          <p:cNvPr id="32" name="Chart"/>
          <p:cNvGraphicFramePr/>
          <p:nvPr/>
        </p:nvGraphicFramePr>
        <p:xfrm>
          <a:off xmlns:a="http://schemas.openxmlformats.org/drawingml/2006/main" x="7477125" y="1419225"/>
          <a:ext xmlns:a="http://schemas.openxmlformats.org/drawingml/2006/main" cx="4143375" cy="1381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a296a62acad4aa9"/>
          </a:graphicData>
        </a:graphic>
      </p:graphicFrame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80CC35-DCCF-4D20-8FEE-F94E5E330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05125"/>
            <a:ext cx="657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GESTÃO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5C1E8D-BDE3-46B3-B565-095DBF868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905125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POS. INDEP./GERAL · PL (R$ BI)</a:t>
            </a:r>
          </a:p>
        </p:txBody>
      </p:sp>
      <p:graphicFrame>
        <p:nvGraphicFramePr>
          <p:cNvPr id="35" name=""/>
          <p:cNvGraphicFramePr/>
          <p:nvPr/>
        </p:nvGraphicFramePr>
        <p:xfrm>
          <a:off xmlns:a="http://schemas.openxmlformats.org/drawingml/2006/main" x="571500" y="3124200"/>
          <a:ext xmlns:a="http://schemas.openxmlformats.org/drawingml/2006/main" cx="6572250" cy="1381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0"/>
                <a:gridCol w="1190625"/>
                <a:gridCol w="1190625"/>
                <a:gridCol w="133350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Participante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Dez/24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Jun/26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2/6 · 21,1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2/5 · 27,2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1/3 · 35,0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Tercon Investimentos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3/7 · 16,5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3/7 · 19,9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2/6 · 22,1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Solis Investimentos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6/13 · 9,2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5/10 · 14,5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3/7 · 16,1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Integral Investimentos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4/9 · 13,6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6/11 · 14,1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4/9 · 15,0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CBSF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1/3 · 26,3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1/4 · 32,5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5/16 · 10,2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REAG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5/10 · 12,5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4/8 · 17,2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6/24 · 8,2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0BA995-5369-4432-B2B8-8A68F9934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2905125"/>
            <a:ext cx="4143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PL JUN/26 · R$ BI</a:t>
            </a:r>
          </a:p>
        </p:txBody>
      </p:sp>
      <p:graphicFrame>
        <p:nvGraphicFramePr>
          <p:cNvPr id="37" name="Chart"/>
          <p:cNvGraphicFramePr/>
          <p:nvPr/>
        </p:nvGraphicFramePr>
        <p:xfrm>
          <a:off xmlns:a="http://schemas.openxmlformats.org/drawingml/2006/main" x="7477125" y="3124200"/>
          <a:ext xmlns:a="http://schemas.openxmlformats.org/drawingml/2006/main" cx="4143375" cy="1381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5a205cc55d949b0"/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B66634-9C2D-4225-B8AE-6F25E1D13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10100"/>
            <a:ext cx="657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CUSTÓDIA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46AFEB5-1A98-4904-A18B-676887E86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61010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POS. INDEP./GERAL · PL (R$ BI)</a:t>
            </a:r>
          </a:p>
        </p:txBody>
      </p:sp>
      <p:graphicFrame>
        <p:nvGraphicFramePr>
          <p:cNvPr id="40" name=""/>
          <p:cNvGraphicFramePr/>
          <p:nvPr/>
        </p:nvGraphicFramePr>
        <p:xfrm>
          <a:off xmlns:a="http://schemas.openxmlformats.org/drawingml/2006/main" x="571500" y="4829175"/>
          <a:ext xmlns:a="http://schemas.openxmlformats.org/drawingml/2006/main" cx="6572250" cy="1381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0"/>
                <a:gridCol w="1190625"/>
                <a:gridCol w="1190625"/>
                <a:gridCol w="133350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Participante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Dez/24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Jun/26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Tech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1/1 · 78,2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1/1 · 114,4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1/2 · 122,3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 Trust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3/4 · 46,8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2/3 · 64,2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2/3 · 74,7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REAG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2/3 · 49,9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3/4 · 62,2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3/7 · 25,1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Finaxis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4/9 · 17,9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4/9 · 20,5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4/8 · 22,4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BRL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5/10 · 13,8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6/11 · 19,6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5/10 · 21,7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Hemera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6/13 · 11,5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7/12 · 18,2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6/11 · 21,1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7551FDE-2A42-4729-B14C-0DABFC9D4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4610100"/>
            <a:ext cx="4143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PL JUN/26 · R$ BI</a:t>
            </a:r>
          </a:p>
        </p:txBody>
      </p:sp>
      <p:graphicFrame>
        <p:nvGraphicFramePr>
          <p:cNvPr id="42" name="Chart"/>
          <p:cNvGraphicFramePr/>
          <p:nvPr/>
        </p:nvGraphicFramePr>
        <p:xfrm>
          <a:off xmlns:a="http://schemas.openxmlformats.org/drawingml/2006/main" x="7477125" y="4829175"/>
          <a:ext xmlns:a="http://schemas.openxmlformats.org/drawingml/2006/main" cx="4143375" cy="1381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15f96e2dc0244bf"/>
          </a:graphicData>
        </a:graphic>
      </p:graphicFrame>
    </p:spTree>
    <p:extLst>
      <p:ext uri="{BB962C8B-B14F-4D97-AF65-F5344CB8AC3E}">
        <p14:creationId xmlns:p14="http://schemas.microsoft.com/office/powerpoint/2010/main" val="4811202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6D1FFD-A488-4CD3-9FFB-A0E429E5D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FIDCs DOS CINCO BANCOS · COORTE ATUAL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9D651D-57D4-4805-8042-5EE1967A7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soma R$ 52,2 bi em jun/26; Consignados I adiciona R$ 7,9 bi ao PL de dez/25*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8057FD-CAE4-4CB5-BF89-EC3357448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551F5B-A590-43CF-AC5E-6767CE186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0E4BEC-E7B0-4B75-89A5-C346FE498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Fundos.NET, FIDCs.xlsx e conglomerados prudenciais BCB consultados em jul/26. Coorte fixa das raízes hoje listadas; PL bruto. O histórico não recupera fundos que saíram do conglomerado atual.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7BE082-6BE3-4B00-ADD3-F5798A05A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9E98D0-CE1F-4C51-9E9F-91627C06A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BRUTO DA COORTE FIXA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06A02E-348B-4A69-9C22-6B424EC76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685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685800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7f371a1b9044c51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0A2138-5B03-4FB8-B4B4-214F65F69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381125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· CINCO MAIORES EM 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B1BE47-5766-4DB4-B378-33509BB94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47825"/>
            <a:ext cx="3762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"/>
          <p:cNvGraphicFramePr/>
          <p:nvPr/>
        </p:nvGraphicFramePr>
        <p:xfrm>
          <a:off xmlns:a="http://schemas.openxmlformats.org/drawingml/2006/main" x="7858125" y="1762125"/>
          <a:ext xmlns:a="http://schemas.openxmlformats.org/drawingml/2006/main" cx="3762375" cy="27622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523875"/>
                <a:gridCol w="2333625"/>
                <a:gridCol w="90487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· R$ mi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17.972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8.032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6.007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5.861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3.031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B2830A-FABF-4B49-B2E6-F0041122B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762500"/>
            <a:ext cx="3381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79,7 bi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4729B2-B0CD-42CF-B814-349F067FA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5219700"/>
            <a:ext cx="33813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5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PL bruto da coorte dos cinco bancos em jun/26. * Dez/25 usa R$ 7,9 bi do IME v2 Fundos.NET 1100733, confirmado pela DF auditada 1150673; o XML traz competência interna divergente e o parser havia lido zero.</a:t>
            </a:r>
          </a:p>
        </p:txBody>
      </p:sp>
    </p:spTree>
    <p:extLst>
      <p:ext uri="{BB962C8B-B14F-4D97-AF65-F5344CB8AC3E}">
        <p14:creationId xmlns:p14="http://schemas.microsoft.com/office/powerpoint/2010/main" val="2128586211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95F388-B053-4A5C-A96A-3FE0F25F0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LIDERANÇA EXPLICADA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76FD24-2ED4-49C5-A911-8B3172B22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Singulare sustenta a escala da QI; sem a coorte bancária, o BTG fica em #3 na gestão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00041E-1B8E-4D4D-A5B3-CB79E3303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DA0570-88D6-4CFA-8C38-93BB228ED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E5CA72-14B8-4EA3-83EE-D99E8C844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CVM; BCB, alterações societárias nov/24–nov/25; FIDCs.xlsx, aba BTG. PL ex-FIC, sem Sistema Petrobras/TAPSO.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B5D3B5-4F5B-47F8-920C-8D6524C44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9EA705-01A8-4481-90D2-30F586991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095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QI TECH · ADMINISTRAÇÃO EM DEZ/24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E5B939-B40A-46A1-9A50-FA189A946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095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571500" y="1809750"/>
          <a:ext xmlns:a="http://schemas.openxmlformats.org/drawingml/2006/main" cx="5095875" cy="2190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10f124b808d4fac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45E597-2FCC-4A85-A854-2C310DA53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86250"/>
            <a:ext cx="4714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95,9%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CA3067-9EE9-4DB9-93D3-A7940898E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05350"/>
            <a:ext cx="4714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do PL administrado do grupo em dez/24 estava no CNPJ legado da Singulare. O controle mudou em nov/24; em nov/25, esse CNPJ incorporou a QI DTVM e passou a QI Corretora.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50DD34-890D-4BAA-AC50-60E90BFE2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811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 · GESTÃO EM JUN/26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5EB1289-6C4B-476B-9DD9-E7687619F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478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6334125" y="1809750"/>
          <a:ext xmlns:a="http://schemas.openxmlformats.org/drawingml/2006/main" cx="5286375" cy="2190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6e2d336a0764bfe"/>
          </a:graphicData>
        </a:graphic>
      </p:graphicFrame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A13ACA-19DA-4310-904A-5DD223622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286250"/>
            <a:ext cx="4905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R$ 51,3 bi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4C6585C-605D-468A-BDD9-8C004BCC9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705350"/>
            <a:ext cx="4905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64,8% do PL gerido pelo BTG está nos 22 FIDCs da coorte com o BTG como gestor. A exclusão leva o banco de #1 a #3.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1DF1EB-2E14-47E3-9852-2F41CD0ED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476875"/>
            <a:ext cx="4905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79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9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 aba BTG de FIDCs.xlsx lista 32 raízes; 30 tinham PL observado em jun/26, somando R$ 52,2 bi. A lista define o recorte analítico; controle societário exige evidência documental específica.</a:t>
            </a:r>
          </a:p>
        </p:txBody>
      </p:sp>
    </p:spTree>
    <p:extLst>
      <p:ext uri="{BB962C8B-B14F-4D97-AF65-F5344CB8AC3E}">
        <p14:creationId xmlns:p14="http://schemas.microsoft.com/office/powerpoint/2010/main" val="1992559124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36A2B2-2143-4149-873F-18168E147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CBSF / REAG · DESTINO DOS FUNDOS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620A68-2E96-4B61-885D-71A698F6F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Master e Planner receberam R$ 9,9 bi; 35% do PL continuante migrou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E37F6C-29F6-47E2-9B11-A8AAE7471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C883DD-8C14-4AAD-B1CD-5A7345BAB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4A16C0-C753-4EC8-B727-CB33291AD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Mensal; BCB, Ato 1.375, liquidação em 15/01/26. Coorte do CNPJ 34.829.992/0001-86 em dez/25; destino em jun/26. PL ex-FIC, sem Petrobras/TAPSO.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978545-6A73-4CE9-8AB0-9B7FFB2B8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54285042d346ce"/>
          <a:stretch xmlns:a="http://schemas.openxmlformats.org/drawingml/2006/main"/>
        </p:blipFill>
        <p:spPr>
          <a:xfrm xmlns:a="http://schemas.openxmlformats.org/drawingml/2006/main">
            <a:off x="786581" y="1123950"/>
            <a:ext cx="10618839" cy="5143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6185657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9D914E-AD42-445B-9BE4-73F216921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MIGRAÇÃO EM ADMINISTRAÇÃO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866227-AB8E-4112-8395-D90AB3E57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363 FIDCs trocaram de administrador; 11,3% do estoque comparável mudou de mãos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30FF47-A9EF-4ED3-A723-2B493D4FF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C7A9AA-96E2-48C7-92A8-1FF6F87AC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5D4894-3909-4846-BF29-4B236F2DF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Mensal. Fundos existentes em jun/26, com administrador observado em dez/24 e jun/26; largura = PL jun/26. Cobertura: 73,1% do PL da coorte. Ex-FIC e sem Sistema Petrobras/TAPSO.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A397A7-6D6B-4D9A-A963-500A7862E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cc108177f7439e"/>
          <a:stretch xmlns:a="http://schemas.openxmlformats.org/drawingml/2006/main"/>
        </p:blipFill>
        <p:spPr>
          <a:xfrm xmlns:a="http://schemas.openxmlformats.org/drawingml/2006/main">
            <a:off x="786581" y="1123950"/>
            <a:ext cx="10618839" cy="5143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1388486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F1ACEC-1F1E-41BA-A4A7-BFFDFB091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MIGRAÇÃO EM GESTÃO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B56775-A605-4E87-B113-B064838DA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3 FIDCs e R$ 1,28 bi mudaram de grupo na amostra observável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EEBAC3-64F9-4B55-B0CA-4AE0DCD26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89A75D-CE26-43BA-B7EA-08DA5CFAD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0CB28D-05EB-400F-AB79-5373D4347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cad_fi_hist.zip, recurso histórico identificado como ICVM 555. Coorte atual de mai/26; dez/24 → mai/26; largura = PL mai/26. Cobertura comparável: 6,40% do PL. Amostra sem extrapolação para a indústria.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3440B5-5C0C-45F2-8DDD-BA1AAD897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08070a9dfc4318"/>
          <a:stretch xmlns:a="http://schemas.openxmlformats.org/drawingml/2006/main"/>
        </p:blipFill>
        <p:spPr>
          <a:xfrm xmlns:a="http://schemas.openxmlformats.org/drawingml/2006/main">
            <a:off x="786581" y="1123950"/>
            <a:ext cx="10618839" cy="5143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3810134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116312-28FB-4666-8EBA-1732542F8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MIGRAÇÃO EM CUSTÓDIA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34E128-2079-40B0-B3BE-A1C180381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2 FIDCs e R$ 0,38 bi mudaram de grupo na amostra observável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6035D7-1C73-4862-9CE8-102BCCD72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FEC022-7218-42A3-B808-0E1D79509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9935F2-9165-423A-9547-D3551AC22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cad_fi_hist.zip, recurso histórico identificado como ICVM 555. Coorte atual de mai/26; dez/24 → mai/26; largura = PL mai/26. Cobertura comparável: 6,43% do PL. Amostra sem extrapolação para a indústria.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039756-7D4F-453E-96DC-FE3DA5381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f1c2901d5c435b"/>
          <a:stretch xmlns:a="http://schemas.openxmlformats.org/drawingml/2006/main"/>
        </p:blipFill>
        <p:spPr>
          <a:xfrm xmlns:a="http://schemas.openxmlformats.org/drawingml/2006/main">
            <a:off x="786581" y="1123950"/>
            <a:ext cx="10618839" cy="5143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5642794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689FB7EE-10B7-42E7-A232-5486664EA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FIDCs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A29B28-E2FB-4E1E-8D7E-C43EF0D6E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somam 25,7% do PL ex-FIC; Petrobras e TAPSO são 45,3% do bloco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3126BB-A9BF-4907-ADEF-52C81F0F9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291350-87DF-4642-BB66-BA48A2CA3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D9A185-5A7E-404E-8D4F-D68FC8F65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ANBIMA, jun/26. Ranking derivado do universo completo ex-FIC; denominação legal completa no apêndice.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301D73-20BC-473D-9DB1-53BC42CA5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7508E9-73B7-4321-9C83-8C498565F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8521BA-1897-403E-94C2-F8ED1EA9D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57325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6E4D56-07B3-4342-93E0-BC9FD201E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57325"/>
            <a:ext cx="1552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5C567E-D5E3-42AA-8C3E-DD926288F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14573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60FAAB-447A-4C38-B0D6-AC12D1598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Share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276C19-7A98-4A5B-B07D-91962641B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457325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Tipo / Foco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E4C20AA-6CFE-4C89-8409-020C698CB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457325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Modelo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3F9E09-5F8D-4ACB-B6D3-BDEE78194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D44FB94-DC76-490C-A429-9E99BEAA2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4491E7-DE96-4934-A67B-6D35622F5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811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1A5F3C7-B2DB-49E8-801A-39CB2F42A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811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FIDC Sistema Petrobras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EB144EE-DA10-4DDB-AC8C-35E31F8C1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17811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61,3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1EF9C9-4231-4350-AC3F-2ACA987A4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7,0%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7B8AA19-14BD-4E0D-AE76-3516D019D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7811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Recebíveis Comerciais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8B02E36-7F7B-4D8D-9761-57876E8C5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7811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B36C593-A871-4482-B8AD-5DAD42EAD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9072C04-0A15-4D2C-AF16-8CDFC4DED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687FCE1-E3D5-4B9C-B2D6-D49ABAB64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155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FE002F6-F69D-4E6E-9B24-5A0ADFAB0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155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TAPSO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D734B32-A76C-4FA9-BCAD-7FEF76E17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22155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41,5 bi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B55BFF0-E9EF-4243-AC42-F0F3B35AD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4,7%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A6555FE-2015-4DA1-B609-57918997A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2155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57433A7-1278-4F17-B692-1EF7745EB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2155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2BBB91F-CA5B-4041-B3A6-EB45ABE61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B68A874-483A-488C-B280-8D0DDEA70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340CA8B-C0DF-48F0-A3E8-E15BC69B6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498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ACEB6EA-7C90-421A-BDB9-D74B211CB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498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PAN Auto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73B16DD-A414-4E0D-A9DE-E107D23E1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26498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18,0 bi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730C098-A604-4A03-A385-A8E2BBAD5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2,0%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B2D3E45-6D28-431E-86BB-15D0923AA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6498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Recebíveis Comerciais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C949643-B167-4A91-AADB-9A7A3D28C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6498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AB42A67-FC22-4015-8C96-181B90711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303781A-3B5B-4619-9E50-D02FAA64A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F3C44D0-668C-402A-9D7C-55138A846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41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CB6123E-BAFF-4432-AAE7-2EA9CCAFA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841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4B805D5-2086-4AEC-A471-6978E4087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30841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10,0 bi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743B87F-13FD-4B0E-B0ED-B0E96F897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1,1%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BC855A9-AF0E-4016-B661-6C3FE6C52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0841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FC928C0-9423-4516-AF01-0EA9ACEF4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0841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F7524C3-C4AE-4677-B03E-BECBC12C9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00856BE-34C7-4553-815D-24520477A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F17A223-3A5D-4792-8785-FEAE8C1DA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185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967D5A5-978D-4649-BAB1-DAE932474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185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MT Global · Consignado Privado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50DC506-7731-495B-9E67-E9F41E9F5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35185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9,4 bi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720FE5A-26E1-48D0-B9E7-F0CE9CE3E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1,1%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36E2A74-7B7A-45D5-8B7E-387296626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5185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8867B21-D4EB-4FAD-BDD9-A1F2AE372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5185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FB4CD6E-305E-4432-B8BC-34983630D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829B6C9-AAE7-4C86-92A3-EB8E5EF5D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23462F9-944E-4355-BACE-2C112EE05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528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9085422-2350-41B2-8D9C-A9F483F95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528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991707D2-692F-47B0-8311-5AB963467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39528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8,7 bi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ABA40700-7159-4D9F-A331-AA8A42D8D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1,0%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D4DC4FB2-714D-46DB-B85E-FC2DB679D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9528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A6477B25-5303-4AC7-8C65-E5BA25F93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9528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2187918E-9E42-436B-AFE1-BECC0BC92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77E91787-1086-442E-A3EE-2C0A1523B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461E7078-2C5B-4A0B-9615-BA3325AC5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872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FFA9F22E-D957-4760-9DCF-248B985A7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872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Consignados II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44B1AC23-E1D6-4226-8C0D-97DFAC0A7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43872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8,0 bi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938CC16B-8BD6-4583-9537-64DB8CC8C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0,9%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B62BF560-46D4-4EAA-94FC-F68E899C7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3872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336FBD6A-E939-477E-B132-5AD974B75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3872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69C8412E-740B-412E-BFAD-F84270601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70DD99F0-3FDD-4639-82CF-20682F4D3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3E8B1F78-7857-4C8E-8056-C92CCB9A6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215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EF61E4E4-3426-4D4A-9D69-3F00FC244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215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Aetos Energia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858516F9-260A-4C6E-B06C-F4874F082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48215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7,4 bi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CB438028-CF58-4D24-8DAE-8B7BF479F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0,8%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CCD684CA-ECF3-4F5C-8320-ADF6E0531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8215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Recebíveis Comerciais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C2C1FC16-F598-4C80-9CC2-8646A0D9F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8215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CE45A84D-23DE-4E08-BB22-E28E7AF80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42AE5217-4E95-4215-BA98-B4CB84AFE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D8736457-A33D-4B57-83B6-2AD4263B1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558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428CD0E4-25A0-4125-8BDF-26097E281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558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Cielo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66626FBE-6EEE-4C58-AB14-5AC55B06F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52558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6,5 bi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2D5C883F-A8C0-4B67-A7D4-CA4A268FC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03173548-57DE-4717-A463-49957F8C1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2558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Financeiro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D15CD5CA-6A57-4076-8CD8-41CBFEB32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52558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D7CB3C30-CCF0-4065-93BC-8B0BED33F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9156D8EA-4EC5-4E7E-A3AF-F04B42839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2EADEB79-E00E-496D-B965-3D79EE255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902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9C90B9F8-6487-4D2E-9349-4DB8B90BC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6902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Rio Vermelho NP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9A712FB4-BBD0-4B4C-9DFB-FD2DBED63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56902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6,4 bi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08DFAA26-F323-4500-AEF2-3F2D08E69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85D83D1E-6A0C-497D-8E27-EA2EBD831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6902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5A28BFF0-395F-47B7-9549-9F13668C4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56902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C06304B1-2F66-40A3-990D-4D77FE49F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B45DF696-28C4-447E-BC2C-24029D519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457325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EDD5ECB1-8F5F-46AA-8250-52589AD13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457325"/>
            <a:ext cx="1552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31918E14-7E70-4E60-9064-40AE33315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14573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00220F41-2033-44BA-B610-7E9152D20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Share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6D107AAC-3B40-4423-B59A-3BCFC6825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457325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Tipo / Foco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A4BDA94F-DD25-41E6-AEA6-270C1CBE5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1457325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Modelo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24637B49-7794-4F02-A0F2-CF6F195E8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0EC368FF-6FC6-4363-9FD7-59196C699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49736019-010B-400B-AEF4-F732C2031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7811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5295FFC1-827C-4EED-8430-3985FE0A7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7811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 I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B747A24B-6FCE-4D98-93D6-88EFD1FB3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17811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6,2 bi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57592D7F-B1FB-4477-B87D-958F22D69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1E365596-42DE-4880-8863-EDD3B4AE3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7811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FF663C42-2220-4106-9692-9A20D7BC8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17811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940F4353-D336-4BC5-9E3A-6CB3CF0E9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E25E3749-AEA9-4D02-BC58-AC6A25BD1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2CAF34FC-9110-4F4C-87A3-B7CB6A14C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155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B1D00473-33D2-4BDE-BE03-0B6E5FD13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2155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Consignados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9D6DCB16-CEE5-47B0-BBCB-E3AACB0AB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22155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6,0 bi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225497AD-3E98-4F14-A261-2841D13F5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1898B2AE-FD7F-465D-912B-B8437B8B4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2155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A9F9A53E-F2D6-471C-B4B3-EC1DB6E1C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22155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77786AF9-F7CF-44DD-8314-BBEBC9225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52801630-E416-465C-A0BF-4223EC3B3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F24C23B4-C68E-4572-95F7-0BD464A03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6498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69ED1FD7-350A-4651-902E-BFBFE030E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6498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Alternative Assets III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5E004664-47C3-4190-A768-FF15D6965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26498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5,9 bi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02BB5D3B-123D-4CD5-810A-48B5CC11F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328ED1D1-6D33-4635-B85F-D76EE648B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6498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EE5731A4-C874-4015-B64D-53AE0735C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26498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529CFC23-FA8D-4D53-B982-7043B4DFA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11534BFD-084C-4E31-A8E9-2BD679927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CDB737EF-F21C-4DCF-9935-48D29D590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841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45CA218C-B302-4D2D-988E-864D3512B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0841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Monee I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688D2F6A-D3F3-4F38-9CF6-617B4B4D1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0841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5,8 bi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2D60C4F3-0D0C-4029-9AD8-201BB87C0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F44B9D6A-EADC-4E18-B935-E1AF8E608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0841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68FAE3CF-A7DC-4008-90E3-BF77B35DD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30841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Custódia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39E58EB2-87E2-4C91-9DD5-41C6CCF5B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D0B0110B-5A60-40C9-AB8B-35AD1541D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1D3F7062-15D4-4B3D-971C-F5C73DBF1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5185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24719EFC-8914-4B66-8078-FB6B4DBFC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5185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PicPay I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D7A81A06-493D-458E-8415-17C9349E9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5185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4,8 bi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745EA57A-FB04-4415-8B5B-023A5A5F3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8C0C26EA-3437-4F3B-B92F-9569AE928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5185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Financeiro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85304FF3-12BB-47E3-BE30-EFB5B0402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35185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FCD7E59D-A52F-4CCE-A73B-F6807B77C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7AF9491A-0165-4E62-B1FD-AFB2DD5D3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2E6BC405-3101-435F-9B3E-8FE46F88F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528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65603891-9D78-48A7-B77F-794555413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9528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Artesanal Master</a:t>
            </a: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C3E2A394-6F4E-46B2-821E-3F4A137E6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9528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4,5 bi</a:t>
            </a: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1A521E55-F8DA-4342-ABB2-5FA5F4853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74E6DAD2-9BE9-4443-AAD4-3DABA8445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9528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6B0FAC7D-C9AD-42F8-BC76-2EA435582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39528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EDE18358-FA19-4709-A089-53E003246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7EABDC8C-3230-490A-AF61-AB6EDC0D0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7E534E41-DFB6-45CB-BF41-04395D179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3872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2AC91288-E738-495A-997E-043E4C1EB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3872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MAROBÁ INVESTMENTO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F0B8E20E-B67B-44DB-B876-50527878E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43872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4,5 bi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E94106E2-1604-4831-8F89-7FDE98AF9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0A031085-D6D5-4E3C-BA67-23FF3FDBF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3872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15EB2841-E894-498D-8CDC-0F319DE60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43872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91918BD5-3F8C-46D1-B148-7D5ECE348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5569FBE3-AA00-46C4-B58D-114AFAC27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FE99447F-BFF6-409E-BC7F-5EF6C9BC7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215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8F6F8DBB-2109-43C4-BD76-C38D83A25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8215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VENDA VEÍCULOS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6A1649A8-D935-4BC4-9B81-E7DD0CD91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48215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4,2 bi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1837D5D0-A8AE-4C52-A1B7-708B7D241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0F2D9E49-ADCD-46AC-B2AD-7617FFD54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8215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Financiamento de Veículos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FABA6324-4DF6-4735-A7B3-398B03140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48215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Custódia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2C12739F-358E-4351-8EF2-114C780A1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7D6201CE-8A35-4315-BF8B-6EB64DB37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EA47E5A3-725A-412E-9034-7ED559DA9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2558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D9C0082B-5DEA-479B-8ED1-B7243C811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2558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Day Maxx 2</a:t>
            </a: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C879710E-B1E1-4A99-87FA-5BE27B7DA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52558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4,0 bi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9C88304D-6C05-4012-840E-72625CCC1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9398A2F4-7232-4564-A891-AC98A8198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52558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0F1CB871-B250-4538-8A75-8A59D0EE2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52558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77FABFDB-3B92-4A61-9300-AFD191D8A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A60A8FA4-23F4-493E-BC89-72398B392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A55A9229-71C9-4B51-851E-8EB0C4AFA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6902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12F57BA4-902E-48F5-8BB8-5D6D2E717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6902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ACR BEM BANCOS EMISSORES CARTÃO CRÉDITO</a:t>
            </a:r>
          </a:p>
        </p:txBody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49AA6ABE-1EE3-4CBE-B361-597BFF808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56902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3,7 bi</a:t>
            </a:r>
          </a:p>
        </p:txBody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2C1DC757-A44F-4CE9-9467-207860580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0,4%</a:t>
            </a:r>
          </a:p>
        </p:txBody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0368D048-23D7-4BE6-A09F-89AA86C0C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56902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Financeiro</a:t>
            </a:r>
          </a:p>
        </p:txBody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21B2EA9E-03D1-4BF2-8BAE-334F10EE9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56902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</p:spTree>
    <p:extLst>
      <p:ext uri="{BB962C8B-B14F-4D97-AF65-F5344CB8AC3E}">
        <p14:creationId xmlns:p14="http://schemas.microsoft.com/office/powerpoint/2010/main" val="434930967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8A080497-7959-47AC-892C-D42731101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OUTROS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1B6F98-5C0F-4363-A08F-3EC3D1B2D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representam 26,0% de Outros; oficial, hipótese e status ficam separados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BA39CD-A1C9-4A9C-B777-3E3C67B7D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6B1666-B3D7-465E-AA89-ADC2CA448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277A21-3476-4A08-8BC7-1F0B854E2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e documentos primários locais; ranking em jun/26. Evidência e links completos constam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0D1D84-110F-49E3-87D5-C15F988E2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D45F31-2E9D-4665-B468-5A9E56837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F90DE9-3FC1-4067-BDF8-5211DCCC1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57325"/>
            <a:ext cx="152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B2426C-FE8D-4B35-95F9-8D5336F76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457325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B65A85-350F-47D2-83A4-F8856966E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8398B4-4B07-4E4F-A503-479507894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457325"/>
            <a:ext cx="790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Oficial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D2B54D-D3F7-4F44-B2E7-FEB3E95AC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457325"/>
            <a:ext cx="885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Hipótese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B5C791-8D0F-4E1D-9AED-6A4F91B87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1457325"/>
            <a:ext cx="1266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Evidência / status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7CDFCB-A8CE-4FBF-A839-D3DD7ACC6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F06D02-1AB5-4E1D-99A8-AC3EE7395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E45341B-0077-4843-B22D-6B33F290E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811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236D78-B066-4063-88A0-1214602FB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811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8793620-C42B-4553-80CA-6B2D0E23D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10,0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E9CE5A-AD85-4C14-94A0-49B23D9A1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7811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2244FF3-E15C-4090-AADC-30BA52C2E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7811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Meios de Pagamento e Cartões —…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4E745C2-A6BE-4EBC-8120-61FF23AE5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17811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6454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TOS CREDITORIOS CEDIDOS SAO ORIUNDOS DO…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9C2F63A-5E1F-4CC6-B5B5-0F2C130CD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6E2AFF2-9FE1-477B-BECC-CA7529BD0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CCD7CEA-32C6-40BC-99E6-D9F7502A9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155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AA6EA1E-51F3-4DA5-A179-67BE10EB6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155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173A68B-428A-4D13-93F3-45714A1D5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8,7 bi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67D5B35-1EBB-4A38-9C7C-D2DE85789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22155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0D66AD5-222B-419B-A76E-1B1DF914F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2155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PJ — Crédito privado/mercado…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88210A6-B63B-4176-B7A7-DBE9D727E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22155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466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ITAU CREDITO PRIVADO FUNDO DE INVESTIMENTO EM…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7240965-E9C9-4100-8309-258937047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98B0BC2-B80C-4B0E-A2D6-06AF6F197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4484EE9-3087-4DB7-9E6F-B3AF9482F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498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F2B2874-5A8C-41F5-A2A4-304C8623A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498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Rio Vermelho NP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D82354D-42B9-43D8-9745-F45B1BDC6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6,4 bi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6579CC1-5199-4A55-A6E5-135333C49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26498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18385F1-E2ED-45E6-903F-BDF7DA154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6498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Judicial/Precatórios/NPL —…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6C63E16-503A-459C-BD68-1CC1A1D89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26498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ESENTE ANEXO, A CLASSE PODERA ADQUIRIR DO S…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3A343DF-02DB-4584-BB19-3B7605146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35CD9FF-156B-4766-98DA-88A8AF9A4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E3E1F97-0284-4C72-ADEB-A822CAE84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41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21DD59B-97F3-4F1C-9AA6-90C5EB9A1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841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 I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A228FA1-8D55-4D22-9339-8C84E1BBA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6,2 bi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CB88DD3-34A1-4290-9594-1670F24C7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0841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27F373C-3C69-4448-8660-974F10B2E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0841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Meios de Pagamento e Cartões —…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EC5E75A-B4DA-4CD2-986C-248FD1F73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0841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6454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TOS CREDITORIOS CEDIDOS SAO ORIUNDOS DO…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EC6961A-2210-45D9-A212-AC2936C0A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473DB9B-B527-45C9-A8AC-A59790175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A6FF389-E276-41FB-826A-25DA1AC6E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185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1F1ACB8-0BEF-4BA2-BAC3-794B47B76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185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Alternative Assets III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AA50213-0FB3-49F5-B49C-7521B6BC1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5,9 bi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6FC93D5-CB2A-46A4-994E-553A73513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5185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32741E8-20CB-4016-9826-9F621CBBD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5185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Judicial/Precatórios/NPL —…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A6AE65D-8C26-45D7-AD07-FA2F7C87C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5185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466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SERAO ADQUIRIDOS INTEGRAL OU PARCIALMENTE,…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ADFA58D-8005-41AE-8A23-50D450F1B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5641A3F-F1CB-4326-A89B-9AEA1E39F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913CAD71-456E-4633-9A11-1D3A12ED5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528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99362B0-0498-42F2-B684-4CC7F0411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9528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Monee I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AB5E0445-B809-4918-8ED9-211C368C1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5,8 bi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BB9A051A-29C8-4813-8B1B-8B71E96C4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9528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7F0AAA06-9D01-4749-BA96-22182999C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9528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Meios de Pagamento e Cartões —…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15B5D0B8-FF7C-49C1-8538-852F1F00A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9528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387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FUNDO DE INVESTIMENTO EM DIREITOS CREDITORIOS…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A751703D-EF21-443D-AAB9-5D44AC11A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CB557E62-2508-4B3D-909B-E15628629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18CCBBE3-DC82-4A55-AA16-2C8383374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872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ED9A0CC3-911F-4B7B-83D3-6E8C033AD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3872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MAROBÁ INVESTMENTO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954C77AE-4DB8-4B8D-8F97-BF38BCA00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4,5 bi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831C2418-A287-4206-A798-847B54B9E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43872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AEB6155D-9268-4DA1-8C29-920F6B2EE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3872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867620E8-1EB7-4C4E-947C-FC701138D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43872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D56D43F6-9298-41CB-AF5A-050ED74A4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45257063-E2A7-4E2C-B57A-EF3767E83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7093870C-68A6-4AB3-B21F-99B81370A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215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02FEC47F-64CF-4049-B0BB-841D3864D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8215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Day Maxx 2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25032BB5-12DB-48B2-B668-44DC42D89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4,0 bi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69892EB6-13A8-4F7F-AA48-EE79D6FCA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48215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6C825834-79B8-4ACA-BC37-77184A117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8215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4B591AB5-0ECC-45F2-9B9D-9F4671068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48215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DAAAB1CB-FC67-4DED-B50C-13996F1B1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359C1DAE-0026-485D-96E4-10AEDDB71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5447FCE8-1FA1-4A3E-8952-842C007F4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558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203614EA-5BD7-4A7D-9642-440FAC1C2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2558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HAVAN ECONÔMICO, FINANCEIRO E COMERCIAL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DD656467-4679-4465-B88E-46E9045F1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3,7 bi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6B93DD57-A8C2-4DC6-AD96-0C1170AE8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52558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860EA37B-964C-4B73-9C05-8A6D7A456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52558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81197B4F-2073-4271-91AF-223E65D68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52558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E89B95C2-48C4-48FF-A717-64B81D07E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28E0D25E-8390-41E1-86D3-09D2B128D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65148940-724B-45F5-BA16-916A7D9F4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902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6B03DBE7-B79F-4A87-8562-5F11C7310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6902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RSCRED MULTIESTRÉGIA - NÃO-PADRONIZADOS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CFC40EFD-1CDF-4953-B1EE-321FD4374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3,6 bi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68270FAD-B486-4DAF-B34B-37E30C67C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56902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14C7B519-0767-4A7A-9FC4-7D5AA81C5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56902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DAA63AAD-56D1-46AC-B3DC-1623DBF76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56902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749BDFFE-5142-4CCD-AAC7-A415F5053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3F8915D7-26A3-45F4-A5E9-D5C8A881E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457325"/>
            <a:ext cx="152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855F6D27-C86E-4392-9811-51D4E801B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457325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A01A2511-10F7-4EC7-97D5-B81B4D8B7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CEDA1599-0788-4F8E-A56A-B6E1E1B50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1457325"/>
            <a:ext cx="790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Oficial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9AE51E77-357C-469E-9DD3-62AD8B93B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457325"/>
            <a:ext cx="885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Hipótese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2E4E395D-B3D7-4976-8C39-95BA9D2B5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1457325"/>
            <a:ext cx="1266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Evidência / status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3EB9A988-E6EE-4439-B641-70EE7BBF2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A6BFC1FE-C8B6-46F7-9197-C53B70081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AE729C79-3935-406B-BEA1-4C62ADD8A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7811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E4559A54-6B9C-4866-B6CC-48277C021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7811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EXPERT III ILIMITADA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580E03E7-5930-41CB-9C35-46627029A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3,5 bi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69DC0F62-7635-466F-A659-E683121D5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17811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70C4EA47-C461-4655-AAFE-C7564290C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7811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8FCB8DDF-11D8-4679-9B84-56775AFB5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17811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84CC8511-0142-45C4-8533-5DD0B1535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243DBA90-1DC0-490B-B373-249F5584E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28821F14-DE88-4232-B53D-0D1AF1785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155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BBB22060-E43A-4844-9053-052415CDE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2155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OCCAM CRÉDITO CORPORATIVO 30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51C78F3B-8D65-4D9D-8308-B3CA9954A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3,5 bi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78BDC659-9788-4432-B253-C8923DFDC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2155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42787202-656C-4C16-975C-FE42FE33A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2155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C31365E1-B320-429B-97F3-26B5E982B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22155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1872DB9F-3A1A-42A3-A2CE-30EF98DD9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26045FB5-5BEF-44CF-8010-B160E59A7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3801EC55-8DEB-4BAF-9698-FA6C35F85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6498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88720AB3-722D-4D6F-85C6-3698ADA15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6498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RED REAL LP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BBB822F9-25A4-406E-8D4F-1013A3535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3,4 bi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EBE093A7-5E02-4BD4-817C-B11A2C375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6498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0474C673-A170-4201-9BCD-FFAA39B4D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6498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74EFC49E-832F-4423-BF5D-91C599DBA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26498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1E46051E-B64B-4856-80B1-B1AFC1600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32C429F2-9DE1-44AF-9A35-D126E95FE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E3DB6BF2-0320-495C-85CF-74FD4841C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841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6793C6B6-7660-4EAB-BD42-6274DE815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0841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ASA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2643258B-D247-4B39-ABEC-D7211F8E1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3,4 bi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FB1E6419-AC1C-457D-990B-507BB9747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0841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5ACF4CFD-446C-4B18-8412-03B9EB1C3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0841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D1755201-0090-419B-A2A3-47250E7FD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0841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6CE72CF5-1952-42A6-929D-929A73528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1DBA6E45-2DED-42DC-8E06-AC0EA7E44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40F19793-C4E4-4DA4-9083-72D0EB7A2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5185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2FC20054-3D68-4918-92F9-B3F9F3BD0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185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PCG - BRASIL MULTICARTEIRA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DA7C77DE-2255-4B58-9856-DC49AB8EF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3,1 bi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29D36769-762F-441A-AA1B-B366FB54C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5185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C4DE6BF8-C839-40CE-A161-25CFC4D67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5185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BC135DF5-A582-4FF4-8DFB-1DF50C27B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5185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7112B2F9-8C1D-4DBA-BADF-96BDBF494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5C458FBE-28E7-4BE3-8523-6294CFF54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654114CF-82FD-4D77-BD2A-E72FEDC08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528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87020AFB-0BA2-433C-B7B1-7AF4AA0DA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9528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CARNIVAL</a:t>
            </a: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D43363F9-1BA4-44F1-BFB7-F83DEFBC4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3,1 bi</a:t>
            </a: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53FC9768-ABF1-4389-8D0F-757D3B0E2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9528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55F0FA09-94EF-410B-B652-D1B838AF1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9528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DE988CBF-C349-4E3C-A293-A644B06DA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9528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A81CFC1E-6C30-4586-89A9-9719E43BE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776E1651-665B-47AF-9B50-1348A18D3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6A1906D4-B21F-49B9-9CD7-DFDF4A69D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3872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742FEA0F-9A52-48E9-90A9-318AE37A5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3872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ALTERNATIVE ASSETS I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99FD96E2-5429-4162-A54A-15494B1D6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3,0 bi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56CE8FE7-E2A4-47FF-AF86-152C9F3B4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3872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FD73F790-0AF7-40C7-B542-7713C7208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3872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ECF68F1E-5F47-4C29-B300-88BBEC297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43872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D841C034-0A8E-4635-BA81-A78F5FCD8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CBD4BFA1-C197-4B09-8D49-F48E40B25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1B496DDD-A2F1-4D65-AA40-7E78FB1A1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215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ADDC2C87-7833-4715-B617-FBF1D73F4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8215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GSR NÃO PADRONIZADOS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7662DD0E-44CE-4E02-89C4-5166275BF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2,9 bi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13F8E4A4-9BAD-4A3A-8482-DB06B4170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8215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DD5137D2-D5D0-4D25-B564-81D512E75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8215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8B71E6DF-452F-424F-93DD-8CB541C38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48215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1422820E-989F-41DB-8D56-3F74A8524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3F0E3E51-FB59-48B7-9544-656EF0E6F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4640FA0A-D452-4B77-B07A-D49B17DE7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2558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9C0D39EA-0BFC-449E-84D6-90A287114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2558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MULTISEGMENTOS NPL IPANEMA VI</a:t>
            </a: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DECF5A4E-B924-4264-AE6A-A2BC7E1D9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2,6 bi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F940FC6A-4E3E-4EE4-866A-777351AE7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2558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B3F788DC-CEBC-4C10-BA4B-AB77158CA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52558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6AA142A5-8CF9-4C12-AF4A-842D663D7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52558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0F35ACBE-B7DC-4123-B00A-37C36450B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621A804B-ECFE-4ABC-B042-7D6439732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D50A151B-3896-40C6-B71B-D9D7BA8EA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6902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D7C552CE-D7FE-4E03-96CA-B2F3BAD0C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6902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ARTESANAL CRÉDITO PRIVADO</a:t>
            </a:r>
          </a:p>
        </p:txBody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41F6FFAA-0EDC-4A56-B8D0-A3B2769E6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2,5 bi</a:t>
            </a:r>
          </a:p>
        </p:txBody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2A4DD9D0-CA70-42EE-809B-067E7648A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6902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FF8BDD17-C372-4CBF-88B9-881808E8C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56902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CC479C50-F746-4298-BFDF-1A2DEC5A1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56902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</p:spTree>
    <p:extLst>
      <p:ext uri="{BB962C8B-B14F-4D97-AF65-F5344CB8AC3E}">
        <p14:creationId xmlns:p14="http://schemas.microsoft.com/office/powerpoint/2010/main" val="1123466977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5BEDC7F-1C34-4C49-8B57-CEE0D1044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MODELO DE PRESTAÇÃO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19C146-6AF4-4C33-8FE3-20E958A62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Monoestruturas são 8,0% dos fundos e 35,7% do PL; dados incompletos cobrem 1,2%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0FFC15-DC54-4147-BCE3-4E5224760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35B1AA-8013-4529-9513-AAB38ABC8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A49C6E-6E8E-4B5C-8E2F-A522D8565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cadastro vigente em jun/26. Definição mono: mesmo conglomerado normalizado em administração, gestão e custódia.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7A159E-619F-4677-ADA2-6F03528DB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571500" y="1476375"/>
          <a:ext xmlns:a="http://schemas.openxmlformats.org/drawingml/2006/main" cx="7048500" cy="4191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d87943131844a86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59DB33-7E4B-4AA4-BA7E-4EABDD054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057775"/>
            <a:ext cx="6000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60DEC9-B50D-4BF1-B93C-B1632ED68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476375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E QUANTIDADE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690DD3-3D9E-427A-87C4-AE741DD49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743075"/>
            <a:ext cx="352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73D352-3FA8-4738-B153-A8A93002B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962150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9E11C9-4B94-4AC1-8670-554D5BAC7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1962150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341 · R$ 342,9 bi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9F3159-FBFD-41A2-9D05-86A142CEF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468563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BFAD39-61F0-41D7-8B5A-1D65C9E4E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525713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68E4D1-CE59-4ACF-AA7B-D0B77292E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2525713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33 · R$ 24,1 bi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9C5400-3C54-4379-90F8-2AD26B221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32125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A30982-5876-4E2A-BBBC-B42E04861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89275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Custódia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C4A52FA-2BA8-43A9-A4ED-594A3CC13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3089275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3.441 · R$ 525,1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9138BF-3E61-42C9-9F60-3850E5160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595688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A71A5AB-BD0B-4178-8B0A-1E979544A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652838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Gestão + Custódia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19C2891-C81D-45B7-9AF5-4D7041237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3652838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39 · R$ 8,2 bi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D7977EB-B44C-4BFC-A7A7-197F68BE2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159250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C289760-CF20-4143-9F06-C626EA955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216400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3F45B07-13D1-4504-9022-3545EEEAB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4216400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321 · R$ 49,6 bi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65F9FE7-4983-4FF5-AA81-F0B12CEC4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22813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33A0CCF-6086-453C-B696-EDF7160F7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79963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Dados incompletos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375CAFC-4201-433A-B348-D63A0DC4D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4779963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72 · R$ 11,5 bi</a:t>
            </a:r>
          </a:p>
        </p:txBody>
      </p:sp>
    </p:spTree>
    <p:extLst>
      <p:ext uri="{BB962C8B-B14F-4D97-AF65-F5344CB8AC3E}">
        <p14:creationId xmlns:p14="http://schemas.microsoft.com/office/powerpoint/2010/main" val="713175778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075F3F8E-FCD1-45CB-816D-53168BEE2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CONCENTRAÇÃO DAS MONOESTRUTURAS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723441-2A04-443E-9944-C19109C7C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597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Sistema Petrobras é todo o PL mono do BB; TAPSO representa 54% do PL mono da Oliveira Trust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6BC4C9-84FA-4DAE-A63C-67414BE9E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6E685C-2FCC-4E11-B846-769899F4E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9B99A8-A979-45A0-8842-04DB90A48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jun/26. A evidência mostra concentração; não permite inferir preços, propostas ou contratos.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3239EF-9006-40D4-93D9-768B834EE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92B463-3409-479C-932A-1E2FED276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70008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27C4FD-0A60-4E3F-97AD-66C3301E1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04950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Grupo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3BB632-20F9-403A-9867-E4DA3D2CB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5049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mono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ABE8AE-9434-4F38-B732-F00599A93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504950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2DB4DB-0BEE-41CF-97B5-EA1666445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504950"/>
            <a:ext cx="1981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Maior fundo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ACC2D9-743B-4CF0-ACAA-070E3AFEB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1504950"/>
            <a:ext cx="64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Top 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11FCE70-F455-4874-9B34-4A50EC16D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504950"/>
            <a:ext cx="64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Top 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5AA754-387E-40D0-9EE8-5988B69D3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15049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HHI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F3051D-4B38-4070-A9F4-6C415D25C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02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A08D1CC-A2A7-4352-8531-CBF368A81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193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1E1B629-493F-499F-B63D-8D34BA8FF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288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5363FD-5A3C-49BE-960D-19ED06EC7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8288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81,0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ACADE7-C349-448A-8EDC-FCAB7AA5E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8288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77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814AF8D-1144-4892-94FC-988D19901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8288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PAN AUTO FUNDO DE INVESTIMENTO…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C2EF339-BDC3-4073-BE39-58BA601F4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18288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22,2%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07B237E-28C0-4BCD-B6D8-50F6357E3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8288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43,7%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9A0ACDD-B0E2-4E28-ADDC-0F7074267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18288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DEAD436-E766-4820-BFF5-EA7B7B5CD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288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E27E3F8-0022-4D46-B37C-D536A276A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1BD6604-B95A-4802-8C12-3241BA975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574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A1F8726-A95B-4956-B87D-394D4149E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4574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76,7 bi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B5095F6-5DAA-4BA4-ADC9-0E1C72A99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4574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CC0358E-3E93-4F30-9109-CE8556E8C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24574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TAPSO FUNDO DE INVESTIMENTO EM…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D6F9DF2-5D8F-4573-8BD7-5C4B4A504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24574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54,1%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4E7B666-747A-43D2-AC71-93A7D5CDA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24574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62,9%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4EF8B48-39C2-4ED7-B49E-2CCD7BFF2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24574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47FA925-C9E8-4D3F-8D1E-4DF1249F2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75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CFB91D5-31D5-4486-8E97-3C8EE0742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766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B0464D1-1805-4099-B533-6DE346958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61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10920A8-45D7-4489-9EFD-07B67556F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0861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61,3 bi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D3FA26E-3EE6-4160-A1A7-59DE48EF6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0861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2CC9766-7DD5-4C8D-8385-0C502EB06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0861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 DO SISTEMA PETROBRAS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88CB607-7309-4740-BC30-43FE66CB2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0861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363689D-346A-40D8-9885-9082F88DD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0861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2319B61-D80A-4131-A72C-478EE4897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0861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F3617D6-4717-4398-ABF1-5CB1D2ACB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861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D5631AD-96E9-4A64-B7F4-43452A7AE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70D9AD1-6511-41B6-8E91-7CB1C7E14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147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Bradesco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EBB5C28-4BB7-43A1-9559-1B10FACFD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7147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39,3 bi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EDD9F3D-A1F8-4EF8-97BF-EC2D0FA14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7147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3926F49-F60E-44DA-99A0-392A6213F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7147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 FUNDO DE…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21E8AFD-7BA0-4235-9428-75192BC4D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7147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25,4%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59E0934-678C-4FC0-98A4-201895C47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7147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51,3%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0F83C5F-8E3E-45CD-B496-720323749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7147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E1D0633-2086-4CD4-BD1C-933F07FCD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148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CBF22E7-BA65-4BF8-855C-19E65C510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339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45D6130-FE57-4328-B046-B5BC71604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434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Genial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5FFEBF4-9769-4B86-936A-75EEE14DE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3434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26,9 bi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424A464C-F5AD-41AA-91D7-A95CC8725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3434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9CFDD14-F372-4166-9DDD-A0C0945CF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3434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FUNDO DE INVESTIMENTO EM…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6277D65D-6BDF-4774-9CA4-1DD0DDA44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43434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23,2%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A8CB4F26-D513-4DA6-9557-A5E80EF36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3434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50,1%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0AB012F2-FE18-401F-9C7F-DA73FE703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3434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076E2010-0200-4B83-9F86-1BC8E56ED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434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5E930E6B-A5C5-467B-8A0E-1519BBAAE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626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FCAA3A8B-9572-4701-83CD-93B93F96B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720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DF02B648-1D4A-44FE-B805-577361BFE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9720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18,9 bi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2C8D57AF-4097-4FBA-AEFE-B1DA204DC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9720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3FD4C8DB-D6DB-4952-AF4E-B7393606D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9720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 FUNDO DE…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9BE62C0D-BDDB-4D26-8F17-5DD18C932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49720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46,0%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81A6E170-A827-4643-BA0B-0EF4D155D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9720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57,6%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84033310-ED07-43BA-B8AC-5907E25BF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9720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298BF51E-94F6-4175-BA39-9B88EEBE3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476375"/>
            <a:ext cx="3571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DOIS CASOS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9AA46312-7365-4F3B-BDF6-AB788FD84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743075"/>
            <a:ext cx="357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DF75AB06-2210-451F-A663-B62152B5A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000250"/>
            <a:ext cx="3571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9578A96B-10A5-4F8B-945B-A4339BDD6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286000"/>
            <a:ext cx="3571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 Sistema Petrobras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80661D62-92A1-4D73-8EAB-70F50D1A2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667000"/>
            <a:ext cx="3571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R$ 61,3 bi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7DE3A71C-6F8F-4D99-BE33-A5D3BD596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086100"/>
            <a:ext cx="3571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 fundo; maior ticket = 100% do PL mono.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47AE9623-8401-49FD-8FB0-6F253BF00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714750"/>
            <a:ext cx="3571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1A396E72-7DE6-4B5B-80C4-D3B681F69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000500"/>
            <a:ext cx="3571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TAPSO FIDC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7FBBE01A-960A-4383-97FF-AE3C67CB3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381500"/>
            <a:ext cx="3571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R$ 41,5 bi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928CB833-9360-452C-948D-BE35637D5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800600"/>
            <a:ext cx="3571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47 fundos; TAPSO = 54,1% do PL mono.</a:t>
            </a:r>
          </a:p>
        </p:txBody>
      </p:sp>
    </p:spTree>
    <p:extLst>
      <p:ext uri="{BB962C8B-B14F-4D97-AF65-F5344CB8AC3E}">
        <p14:creationId xmlns:p14="http://schemas.microsoft.com/office/powerpoint/2010/main" val="1924329524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ACEFF82-4204-4DB3-8364-10F073DD8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VOLUME E TICKET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95DB5A-CC56-43DD-8977-FE1F813F6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Jan–jun/26 somou R$ 65,5 bi em 771 ofertas, alta de 14,6% sobre 2025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F68343-299D-411E-B018-6F60A8B2F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0FBE81-D29F-468A-A17C-D26F02227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08A092-F187-492C-AE13-132343722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8120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oferta_resolucao_160.csv (dados.cvm.gov.br/dataset/oferta-distrib), snapshot de 21/jul/26. Cotas de FIDC, oferta primária, status literal “Oferta Encerrada”, Data de Encerramento até 30/jun/26 e Valor Total Registrado positivo; unidade = Número do Requerimento.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714D78-21DF-4C25-B5A0-425E30E39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887BD6-9496-48BD-8078-1C4E5229F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JAN–JUN · VOLUME REGISTRADO E TICKET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150884-DC5E-47DB-98DC-67A7317C1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571500" y="1714500"/>
          <a:ext xmlns:a="http://schemas.openxmlformats.org/drawingml/2006/main" cx="5238750" cy="2333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d63c7cacf0c44fb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35600A-50CB-428F-AE73-49B1AC434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ACUMULADO · JAN–JUN · R$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F3C442-0842-4481-9B6F-0431AF476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8" name="Chart"/>
          <p:cNvGraphicFramePr/>
          <p:nvPr/>
        </p:nvGraphicFramePr>
        <p:xfrm>
          <a:off xmlns:a="http://schemas.openxmlformats.org/drawingml/2006/main" x="6381750" y="1714500"/>
          <a:ext xmlns:a="http://schemas.openxmlformats.org/drawingml/2006/main" cx="5238750" cy="21621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8c62ad212224cb5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2FAA40-A53E-4D13-ACE2-990BA1977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Jan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E55C63-E20C-43A8-970D-ED370608C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0940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Fev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EB0BC2C-2484-43E4-A69D-159CAF34A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1530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Mar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59D26E5-F44F-4CBD-9C33-EE49AAC53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2120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Abr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D790654-E66A-4E91-9ECE-03402AA0A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2710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Mai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4AAC6DF-7786-4B0C-BCCC-345173176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A27B123-3ACA-4423-815C-F9965AF6F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0481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09B8FAF-D519-4538-B02E-F1C4C5689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000500"/>
            <a:ext cx="111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95CB8AD-91B3-4583-87FA-A47BD92D9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7000" y="40481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94F8381-B240-4AEF-BB03-6EE20BF22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9400" y="4000500"/>
            <a:ext cx="111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4C6E650-3675-47BA-A7EF-6BA40F2DC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8750" y="40481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08EFB86-87C1-43A9-AAB6-6A7253506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1150" y="4000500"/>
            <a:ext cx="111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2026</a:t>
            </a:r>
          </a:p>
        </p:txBody>
      </p:sp>
      <p:graphicFrame>
        <p:nvGraphicFramePr>
          <p:cNvPr id="51" name=""/>
          <p:cNvGraphicFramePr/>
          <p:nvPr/>
        </p:nvGraphicFramePr>
        <p:xfrm>
          <a:off xmlns:a="http://schemas.openxmlformats.org/drawingml/2006/main" x="571500" y="4438650"/>
          <a:ext xmlns:a="http://schemas.openxmlformats.org/drawingml/2006/main" cx="11049000" cy="1428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952500"/>
                <a:gridCol w="1476375"/>
                <a:gridCol w="1714500"/>
                <a:gridCol w="1476375"/>
                <a:gridCol w="1476375"/>
                <a:gridCol w="1952625"/>
                <a:gridCol w="20002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Ofertas encerradas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Volume registrado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médio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mediano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PF no volume colocado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 profissional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048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2023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R$ 26,2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R$ 75,0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R$ 22,0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98,0%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2024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1.009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R$ 95,4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R$ 94,6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R$ 30,0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94,4%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048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2025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1.470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R$ 116,3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R$ 79,1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R$ 25,0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2026 jan–jun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771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R$ 65,5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R$ 84,9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R$ 22,5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CD71527-FF64-4F39-BBB3-631719716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6265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6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PF representa 4,0% do proxy de volume colocado; a cobertura por quantidade colocada equivale a 97,3% do valor registrado.</a:t>
            </a:r>
          </a:p>
        </p:txBody>
      </p:sp>
    </p:spTree>
    <p:extLst>
      <p:ext uri="{BB962C8B-B14F-4D97-AF65-F5344CB8AC3E}">
        <p14:creationId xmlns:p14="http://schemas.microsoft.com/office/powerpoint/2010/main" val="1054582989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2040BA-3222-4D5C-83E9-62BA4D91B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DISTRIBUIÇÃO DO TICKET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3C69C5-4CBA-49F8-BB67-6E65DDD44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16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 mediana caiu a R$ 22,5 mi; 22 ofertas acima de R$ 500 mi concentram 42,2% do volume YTD26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05AD1E-9CF9-4CBB-8F6F-B4F4C54E9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54C01E-AE66-4DDF-883C-ACD5BD070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67E3A5-F0F3-42B8-97E8-69A29B490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8415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oferta_resolucao_160.csv (dados.cvm.gov.br/dataset/oferta-distrib), snapshot de 21/jul/26. 2024/2025 = ano completo; 2026 = jan–jun. Cotas de FIDC, primária, status “Oferta Encerrada” e valor registrado positivo; unidade = Número do Requerimento.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B74B72-307B-4E4D-B76E-9C6F1D74F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1605B2-F98D-401F-ACFB-972AFBF08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DAS OFERTAS POR FAIXA DE VALOR REGISTRADO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181F3B-1D50-4BC9-8648-D3643780B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742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Chart"/>
          <p:cNvGraphicFramePr/>
          <p:nvPr/>
        </p:nvGraphicFramePr>
        <p:xfrm>
          <a:off xmlns:a="http://schemas.openxmlformats.org/drawingml/2006/main" x="571500" y="1743075"/>
          <a:ext xmlns:a="http://schemas.openxmlformats.org/drawingml/2006/main" cx="7429500" cy="3476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27346f106e74e44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B1E10C-7858-44D9-B7E8-266EEAEBC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381125"/>
            <a:ext cx="3286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RESUMO POR PERÍODO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0E5F47-7AA1-4738-9FF4-E9C65BAAB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647825"/>
            <a:ext cx="328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7" name=""/>
          <p:cNvGraphicFramePr/>
          <p:nvPr/>
        </p:nvGraphicFramePr>
        <p:xfrm>
          <a:off xmlns:a="http://schemas.openxmlformats.org/drawingml/2006/main" x="8334375" y="1743075"/>
          <a:ext xmlns:a="http://schemas.openxmlformats.org/drawingml/2006/main" cx="3286125" cy="23812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809625"/>
                <a:gridCol w="523875"/>
                <a:gridCol w="666750"/>
                <a:gridCol w="647700"/>
                <a:gridCol w="63817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4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Período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Ofertas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Volume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Média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Mediana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723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2024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1.009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95,4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94,6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723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2025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1.470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116,3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79,1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25,0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723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2026 jan-jun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771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84,9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22,5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C6B9B8-F349-4A51-A15B-F04C00014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4362450"/>
            <a:ext cx="2905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42,2%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24C499-6AA5-4681-8542-554E891F7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4781550"/>
            <a:ext cx="2905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do volume YTD26 está em ofertas ≥ R$ 500 mi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EEBCC7-6CF4-4D69-B64C-04D16A80F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72125"/>
            <a:ext cx="1104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média ficou em R$ 84,9 mi, enquanto a mediana recuou de R$ 30,0 mi em 2024 para R$ 22,5 mi em jan–jun/26. A cauda de operações grandes elevou o volume sem deslocar o centro da distribuição na mesma proporção.</a:t>
            </a:r>
          </a:p>
        </p:txBody>
      </p:sp>
    </p:spTree>
    <p:extLst>
      <p:ext uri="{BB962C8B-B14F-4D97-AF65-F5344CB8AC3E}">
        <p14:creationId xmlns:p14="http://schemas.microsoft.com/office/powerpoint/2010/main" val="1196750101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124BAA-5BDC-4E6A-861A-77412A894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ORIGINADORES NOMINÁVEIS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212021-C9A9-4A59-9D2E-EA26B9C81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17 originadores identificados somam R$ 21,1 bi em 2026; cobertura nominal de 32,2%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59E95C-7B34-4885-BA09-B52AD73F7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277996-F6B2-4EBC-9416-53503D4BB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3D1A9F-CFA6-499C-8762-6F0229253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Ofertas Públicas; encerramentos até 30/jun/26. Origem = primeiro match nominal auditável em Nome do Emissor ou Ativos-alvo; residual não identificado.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F966EC-12F9-4104-B7C0-F0E23C945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50B83B-7B8D-43B6-BE60-009781D87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657BBC-EDDA-4A06-8D67-98BA58156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685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1" name="Chart"/>
          <p:cNvGraphicFramePr/>
          <p:nvPr/>
        </p:nvGraphicFramePr>
        <p:xfrm>
          <a:off xmlns:a="http://schemas.openxmlformats.org/drawingml/2006/main" x="571500" y="1714500"/>
          <a:ext xmlns:a="http://schemas.openxmlformats.org/drawingml/2006/main" cx="685800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ce5754b59fa403c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2F2629-F6C7-470F-984E-55EB5A9EA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1381125"/>
            <a:ext cx="3857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TICKET POR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696465-22D2-484C-8FB2-64F3825F2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1647825"/>
            <a:ext cx="3857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"/>
          <p:cNvGraphicFramePr/>
          <p:nvPr/>
        </p:nvGraphicFramePr>
        <p:xfrm>
          <a:off xmlns:a="http://schemas.openxmlformats.org/drawingml/2006/main" x="7762875" y="1714500"/>
          <a:ext xmlns:a="http://schemas.openxmlformats.org/drawingml/2006/main" cx="3857625" cy="433387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333375"/>
                <a:gridCol w="1571625"/>
                <a:gridCol w="523875"/>
                <a:gridCol w="714375"/>
                <a:gridCol w="71437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Ofertas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Volume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4260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5.500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4260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2.500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4260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Volkswagen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2.000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4260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502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4260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 Mercado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1.500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4260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1.250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4260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1.250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4260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585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4260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1.000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4260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730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4260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Bayer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700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4260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MRV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4260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Creditas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450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4260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Verdecard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450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4260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Minerva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270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4260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4260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Pravaler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125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17079830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99DC32C-F9E6-4E0A-B43E-146707CC0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PRINCIPAIS CONCLUSÕES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617A6F-DD4D-4C13-887B-F3BFF1D0F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Distribuição institucional, serviços verticalizados e baixa migração de administração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30FBD7-050F-4504-A59F-CC5904EAA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69A5A6-1581-4484-BE42-8C5D9F681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C56119-CAC1-4FE2-99D1-BA914A72C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ANBIMA, BCB e FIDCs.xlsx. PL em jun/26; ofertas encerradas até 30/jun/26.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4E14DD-8736-41E9-90D8-FCAF027BC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4A10CD-0245-4128-84F0-6DF495E3D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01 · DISTRIBUIÇÃO APÓS A RCVM 175 CONTINUA INSTITUCIONAL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3BC4AA-8350-4794-879F-3F96B18DA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954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Ticket médio de R$ 84,9 mi e mediano de R$ 22,5 mi em jan–jun/26. PF respondeu por 4,0% do volume colocado estimado. Entre os fundos com PL ≥ R$ 200 mi, 58% têm até dez contas.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5634C2-176F-485A-9D42-6B533A436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717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57BC22-B378-4C34-B696-02B83391B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2573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02 · PRESTAÇÃO DE SERVIÇOS É VERTICALIZADA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434853-4A37-4D75-B404-3B61242B8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4954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e custódia ficam no mesmo conglomerado em 90,3% do PL bruto, em 3.782 fundos. Monoestruturas reúnem 35,7% do PL.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0544FA-EA44-47EE-A87B-9C369D5F7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717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7652709-7AB1-45D2-83C4-6265E495E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765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03 · INDEPENDENTES PRECISAM DE ESCALA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2E6121-A5C4-4CD0-B9EF-12DC50F18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146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QI Tech lidera administração (R$ 124,1 bi) e custódia (R$ 122,3 bi), com a Singulare no grupo. Oliveira Trust é a maior gestora independente (R$ 35,0 bi; 3ª geral). Na coorte CBSF/Reag, 35,0% do PL continuante migrou de administrador.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114A0EC-1495-4968-9B91-02D09B294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909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EE8239A-FB01-4BA9-A12F-DD734B156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765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04 · MIGRAÇÃO DE ADMINISTRADOR FOI BAIXA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356CF3D-2885-409A-A955-D4EB8AE37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146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257 FIDCs trocaram de administrador entre dez/24 e dez/25: R$ 33,0 bi, ou 7,2% do PL comparável. Oliveira Trust → Bradesco somou R$ 8,9 bi em dois FIDCs Cielo.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C3A3179-0753-4D79-9B7E-33DD31563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5909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D1742BC-F9BE-437D-80CC-B69FC187B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957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05 · GESTÃO É A FUNÇÃO MENOS CONCENTRADA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0F22303-3098-48B5-BC8D-92C5E73C6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338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Top 10 reúne 36,4% do PL ex-FIC em gestão, ante 71,8% na administração e 72,8% na custódia. O recorte exclui Sistema Petrobras e TAPSO.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A23F23-0176-48B7-8A45-854F6CA6E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101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A4AE21D-B500-4E9C-8410-430234FCE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6957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06 · COORTE BANCÁRIA DO BTG CONCENTRA O COMBO COMPLETO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5AF8621-4BFB-4CC3-81D4-3A5B43C35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338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FIDCs.xlsx lista 32 raízes do BTG; 30 tinham PL observado em jun/26, somando R$ 52,2 bi. Dentro da coorte, 22 FIDCs e R$ 51,3 bi concentram administração, gestão e custódia no BTG.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05DF9E6-1183-453A-83E3-0A9DFB118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8101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1CCA1A7-2FF0-4A52-BE98-97E0E3B5D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149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07 · OFERTAS ENCERRADAS EM 2026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9F061E3-2430-438C-A683-928967E13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530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771 ofertas encerradas somaram R$ 65,5 bi em jan–jun/26. O volume cresceu 15% sobre 2025 e 60% sobre 2024. Ofertas nomináveis da CloudWalk somaram R$ 5,5 bi.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148ADA3-01DF-4C09-AAE0-D6261B9B9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293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757467696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A05CDA4-D3EA-45EA-8671-F96094E62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ESCOPO E FONTES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F00539-8EAA-4766-9ABA-112DEA1BA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Escopo, fontes e limitações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ECF5B2-9CBD-4F5B-AD23-78A4DF73F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EB9139-E5A6-4366-9403-7A2BDD8C0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2414B1-3CF8-4E2B-9F41-AC005FAA9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• CVM, ANBIMA Data e FundosNet.  Ofertas consultadas em 21/jul/26.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EBFCDD-81F0-4C40-B78E-EC67336FE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58482A-63CE-4995-B685-92E42900F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1104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754D1A-5C54-4DCB-AF3F-037B9344E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09700"/>
            <a:ext cx="169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Tema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90B320-A651-4DCE-9532-8E4201389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4097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Universo / data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9D660C-B291-458C-958A-59F236EE8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409700"/>
            <a:ext cx="5886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Definição e limitação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581506-3AA6-4493-86F7-00AA42B0F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04975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756CCC-F84B-44A7-8468-13BCE7E68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09825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A47694-E40C-4A8E-BBAB-AC1AF60F3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33550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 base investidora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E51246-2626-453D-92B9-7EB989D06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733550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4.252 veículos; 4.247 fundos; 30 de junho de 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D5600C-604A-47FC-9722-1F1D539A0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733550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 bruto, ex-FIC e FIC-FIDC reconciliados. Contas se repetem por classe/série e não equivalem a investidores únicos.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E4347AB-634A-45E4-839C-2A61D5D86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19350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C4A16F-255C-4905-A6A2-48420DDD4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2420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72C51F-205A-473D-870B-697362679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47925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 e Foco ANBIMA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A28EBD3-2EC5-4E5B-B4E6-7BCA10DF1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447925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89,85% oficial; 0,00% evidência; 7,89% proxy; 2,26% N/D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7C2DA45-0563-44CB-B71E-FF4FBA8BA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447925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Tipo, Foco, origem e data permanecem separados. Séries históricas de gestor/custodiante usam cadastro vigente e não são like-for-like.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44DA876-DEB2-463C-A56D-DE0A25C26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33725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D505A18-09FC-4233-9724-F47300334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38575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BC1882F-22D9-45D6-96DC-5698DF9CF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62300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Inadimplência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67DBD63-7E80-41AA-885C-CC720A294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162300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4.252 veículos; jun/26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0A8F8A5-A8E2-49D5-A453-8A27FFF53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162300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Cap por veículo; vazio não é zero. Aging &gt;360 existe na norma, mas não reconcilia com a Tabela I; visão ex-360 bloqueada.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E79D030-EF6B-4187-AFCE-B54106522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48100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5869162-FBCB-427E-9D78-0B0A22A64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529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D122A48-2E96-42F2-9AD3-55D807190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76675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Market share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7D11ACA-D6B9-4031-AC14-92A2B694F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876675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 focos; 3 funções; jun/26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61D9784-BAFA-4BC0-B03A-B29AB8C41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876675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Denominador = PL do subtipo. Top 10 fixo por função; Outros identificados e prestador não informado separados. PL negativo consta no QA.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881C044-FC1A-45B5-8DE8-53EE26271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62475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9379232-8682-4B8D-BEF7-1EF67F5E6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67325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166A5E4-4053-451F-98D0-FD0B8E635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91050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29F1FEF-A1E9-46AB-9CDC-FFC7F4BD8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591050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4.247 fundos; jun/26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1CAB0FB-C690-489A-9B4F-2AE786C2F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591050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Mesma entidade econômica normalizada nas três funções. Concentração não prova poder de preço ou condições comerciais.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05F9170-12CC-45BD-8914-8E29FBDB8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76850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E1C25EA-AD40-47EB-9E76-B5E8E315C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8170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6B5BAA0-027A-4FB2-A6E8-C6C8823DF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305425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Ofertas encerradas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DB65D4E-DDC8-42ED-B72F-4A41A6B41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305425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2023–2025 FY; 2026 até 30/jun/26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6005B71-005E-454C-B570-6CB086742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5305425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de FIDC, oferta primária, status Oferta Encerrada e valor registrado positivo; coorte pela Data de Encerramento; unidade = Número do Requerimento.</a:t>
            </a:r>
          </a:p>
        </p:txBody>
      </p:sp>
    </p:spTree>
    <p:extLst>
      <p:ext uri="{BB962C8B-B14F-4D97-AF65-F5344CB8AC3E}">
        <p14:creationId xmlns:p14="http://schemas.microsoft.com/office/powerpoint/2010/main" val="1546679813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B5E5E5-BBF7-4319-8857-E0E7711F4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570730-C187-4C9D-A792-5EA30E60E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Administração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15D438-5952-4445-B009-AB7CB25AC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42BE4A-DE48-489F-87CA-92A469950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B897E8-4758-40CE-835B-35E398A9C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97,3%, fora 2,7%.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AD966B-BE5C-44F9-8792-6DA46172D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33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cc8a1c3c1a743c8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1CC4AD-9B65-4297-ACF4-ED41C4BB5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CVM: maior bucket da Tabela II; Factoring→Fomento; Financeiro→foco financeiro; Agro→Agronegócio; Industrial→Crédito Corporativo; Comercial/Cartão/Serviços→Recebíveis Comerciais; Judicial→Recuperação; Público→Poder Público.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E3756E-DAB3-4441-AFB8-E15E0B9D8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27 PLs negativos (R$ 64,5 mi).</a:t>
            </a:r>
          </a:p>
        </p:txBody>
      </p:sp>
    </p:spTree>
    <p:extLst>
      <p:ext uri="{BB962C8B-B14F-4D97-AF65-F5344CB8AC3E}">
        <p14:creationId xmlns:p14="http://schemas.microsoft.com/office/powerpoint/2010/main" val="131749613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F0CFEE-1241-4AB6-A890-8D5DA3CFF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0E5FF8-5B2C-4C1C-B764-2E5BE60AF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Gestão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25BA55-BC0A-4BD3-A6A7-CD10A86FE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911E0D-50AF-4DB9-8C7C-D31688E83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BFD641-D65B-43E2-95F7-D33B85CEE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97,3%, fora 2,7%.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40B0B3-E775-4E15-B0AC-B0D90E62B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34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fb83d8655a340e6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96F3A7-C759-4C50-8AA5-C996AF7C2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CVM: maior bucket da Tabela II; Factoring→Fomento; Financeiro→foco financeiro; Agro→Agronegócio; Industrial→Crédito Corporativo; Comercial/Cartão/Serviços→Recebíveis Comerciais; Judicial→Recuperação; Público→Poder Público.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0AC21A-0F41-4219-A106-0B874D2AC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27 PLs negativos (R$ 64,5 mi).</a:t>
            </a:r>
          </a:p>
        </p:txBody>
      </p:sp>
    </p:spTree>
    <p:extLst>
      <p:ext uri="{BB962C8B-B14F-4D97-AF65-F5344CB8AC3E}">
        <p14:creationId xmlns:p14="http://schemas.microsoft.com/office/powerpoint/2010/main" val="763039980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522991-A942-4EE1-8900-9C46A7C70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3180DA-B77F-450F-978B-D5CE6D922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Custódia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91BE9D-CA9E-4E58-B708-5F0216B2A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2AC1DE-7335-4D18-BC0B-358B67B31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C53303-B5E3-45CD-A1BD-0B506E997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97,3%, fora 2,7%.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B18D14-3722-4286-B709-19EECB4FB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887069d3020469b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B42EC7-4BD0-4A18-A847-A73974C80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CVM: maior bucket da Tabela II; Factoring→Fomento; Financeiro→foco financeiro; Agro→Agronegócio; Industrial→Crédito Corporativo; Comercial/Cartão/Serviços→Recebíveis Comerciais; Judicial→Recuperação; Público→Poder Público.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11E94C-9362-4B5E-9208-CFC632DA6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27 PLs negativos (R$ 64,5 mi).</a:t>
            </a:r>
          </a:p>
        </p:txBody>
      </p:sp>
    </p:spTree>
    <p:extLst>
      <p:ext uri="{BB962C8B-B14F-4D97-AF65-F5344CB8AC3E}">
        <p14:creationId xmlns:p14="http://schemas.microsoft.com/office/powerpoint/2010/main" val="984844319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57169E5-0C29-49E3-94CD-6B2D55407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1B33FC-1D7E-428D-B20E-A33C54B8D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 FIDC Sistema Petrobras — R$ 61,3 bi e 7,0%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CE7FDF-0DD9-4D25-8097-BD99E9A1E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781003-4388-4D3C-9ADF-E89D560D9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703916-5EE8-484E-B46D-4064D297D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https://fnet.bmfbovespa.com.br/fnet/publico/abrirGerenciadorDocumentosCVM?cnpjFundo=09195235000150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7C8571-1E13-448C-A816-AFA835593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5E540B-D396-4835-9DA5-44EC92904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09.195.235/0001-50 · FIDC DO SISTEMA PETROBRAS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C8C170-CBE5-41E5-A905-FC76D7DD9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DB1E55-6E81-4E98-BF95-6C34639EC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55B7A2-C0A6-4A90-91BF-085624D83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60CB12-3BA9-4B17-A336-F87507540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Empresas integrantes do Sistema Petrobras que cedam direitos ao fundo; o regulamento não traz lista fechada de cedentes.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DA2994-4587-44DF-AACD-C1E050ECB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A757D55-9A60-4B70-A8EF-B6FAB6003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jurídicas às quais as cedentes prestam serviços ou alienam bens.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F0EAEB-086B-4D6F-BC19-55E96DEC4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123B00-414D-485D-B4B4-112E268D9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originados em operações industriais, comerciais e de prestação de serviços das empresas do Sistema Petrobras.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1283F7A-721B-45FE-80CC-C88F76BC2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63D0FF4-6C6E-41CB-A6EF-9A84516C5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As empresas do Sistema Petrobras cedem os recebíveis ao fundo. O pagamento dos devedores passa por conta escrow no Banco do Brasil; as cedentes podem atuar na cobrança dos créditos inadimplidos.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FCB4D5A-006E-474A-822B-594D9DA12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EA19E67-A90C-49DD-9214-A4A99A511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8617D31-9B60-47C7-B316-165DAA67C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71F6C00-F1ED-4C8D-811D-BE799402E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D9D1C5D-23C6-4BB0-8627-8736A0CBC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AB23F5F-9A94-43A2-83C7-65A036EC1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Subclasses sênior e subordinada. Enquanto houver cota sênior em circulação, deve existir ao menos uma cota subordinada; o regulamento não fixa razão percentual adicional. Garantias: Garantia específica dos recebíveis não identificada no regulamento consultado; o investimento não conta com garantia geral do administrador, gestor ou 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51B0B8D-47BF-4251-A9E2-206AFEFFD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3A6258B-5B62-44F4-A85A-7CDB2CCC1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BB GESTAO DE RECURSOS DTVM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BB GESTAO DE RECURSOS DTVM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DO BRASIL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DF1036C-F248-4F0A-AFC3-212196C83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463B50F-DC3F-4453-8CF6-88280F2DE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E18114D-F886-4BB8-A471-1F6BA3605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0FD4859-9251-49B9-A381-9E22F5EA3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o Tipo/Foco oficial ANBIMA.</a:t>
            </a:r>
          </a:p>
        </p:txBody>
      </p:sp>
    </p:spTree>
    <p:extLst>
      <p:ext uri="{BB962C8B-B14F-4D97-AF65-F5344CB8AC3E}">
        <p14:creationId xmlns:p14="http://schemas.microsoft.com/office/powerpoint/2010/main" val="1051151698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D5A2261-F537-4261-9269-7E4A2958A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CC4B56-CE5C-4C7E-A972-A85318F1C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#2 TAPSO — R$ 41,5 bi e 4,7%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0CA97E-B0E2-471B-BC45-0743C8768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5DBA3D-A69E-4C04-90D7-22638061D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C1F6F2-8AE7-4383-8029-A2B5BB4BB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https://fnet.bmfbovespa.com.br/fnet/publico/abrirGerenciadorDocumentosCVM?cnpjFundo=26287464000114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708D85-24E7-4CC0-9AB9-D63B1C68D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AC24B8-34F6-4C4B-9C12-351063F87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26.287.464/0001-14 · TAPSO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F59CAF-4BEC-4507-B8FA-9915AE8AC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CAC615-D1EB-4413-83BD-1F1AC48B6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AD037B-D522-4C06-8330-99DA8CD39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ADC3D7A-4020-49D1-AA2C-8EC6610D3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74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credenciados, representados por Stone/Pagar.me ou adquirente autorizada, e instituições financeiras parceiras; o regulamento cita a Stone Sociedade de Crédito Direto no fluxo de sub-rogação.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3C4BB8-DE4D-4FD4-8DDE-9EB8D0116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EA49B1F-DA87-46F5-B9B2-0902B2F64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Stone, Pagar.me e demais adquirentes/subadquirentes autorizadas nos contratos da operação.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038C72B-CA45-4159-92E5-1666436C0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555B16-8AA5-459B-BBF9-1A85E2C0F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Unidades/recebíveis de transações de pagamento e créditos sub-rogados de instituições financeiras parceiras.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6A832F-01DA-4948-8965-2CEF5AD93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727B286-ECA7-4C82-B39B-E7D8D43D3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recebíveis dos estabelecimentos e direitos sub-rogados de parceiros financeiros, com revolvência e pagamento pelos participantes do arranjo de pagamento.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8F113FE-9EC0-4D0E-98A9-71C68A81A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FB7BAE8-CF11-4D98-B5FD-CA1B4DACC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9705B04-837A-483D-A369-B1FAB895C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14ADE13-CDAF-42A7-B1C7-A3C4E2947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52DCBF3-EA84-4DA6-A0D9-BE570748E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9B8DBCB-7C7E-4161-8137-A026377F6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A, mezanino B e subordinada; razão total mínima de subordinação de 20% do PL da classe. Garantias: O regulamento admite cessão fiduciária para assegurar promessa de cessão; não há garantia geral de prestadores ou 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2E31D41-E061-44E0-B409-1375D271B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6AB4D78-09B0-45F5-9586-61EAEDC52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OLIVEIRA TRUST DTVM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OLIVEIRA TRUST SERVICER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OLIVEIRA TRUST DTVM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FA88A67-8395-4FC1-ACF7-B2BD40E60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E72D862-D48C-4769-959F-52D7E8EC7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FD11239-FFBF-4813-99CD-FE7EA5767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832F58A-93C0-4050-A575-FF2342BC9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Financeiro/Crédito Pessoal; o regulamento consultado descreve predominantemente recebíveis de meios de pagamento. Manter as duas leituras separadas.</a:t>
            </a:r>
          </a:p>
        </p:txBody>
      </p:sp>
    </p:spTree>
    <p:extLst>
      <p:ext uri="{BB962C8B-B14F-4D97-AF65-F5344CB8AC3E}">
        <p14:creationId xmlns:p14="http://schemas.microsoft.com/office/powerpoint/2010/main" val="193435167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A7231EC-6396-452D-8330-19A0A9E10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4579F6-B3DD-49FA-AF8B-17C51A55B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#3 PAN Auto — R$ 18,0 bi e 2,0%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A22AA8-88B1-44C1-A436-88FA9D40A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BA07BD-B37C-4D02-B860-DC2EDF046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CD8ACA-7061-46B5-A5E3-096D1CC15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https://fnet.bmfbovespa.com.br/fnet/publico/abrirGerenciadorDocumentosCVM?cnpjFundo=65473848000183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1D64A8-C832-47D9-AC20-F9BBAA207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D2097D-F289-4935-B7F6-B0F2C67EA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65.473.848/0001-83 · PAN AUTO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B4FE0C-9F63-49A8-8FCD-F655ACAB8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A10577-B1DD-4968-962B-556E7E1A3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A0ED0E-EC75-4102-B184-D665073B8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AE4233-B0C5-47AB-87CB-3CEBE0C02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nos documentos selecionados.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21C584-35C0-46BC-8EAB-FD8BCB0EF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D2EEAE-C560-49FF-8F13-DC7AAF03B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Entes públicos responsáveis pelos precatórios federais adquiridos no 1T26; nomes não identificados.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4803F0-3F29-421E-9069-BFA0CEF4B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3F29C34-1227-4E80-AFA6-85C5AEAC5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relatório trimestral confirma que a exposição incluiu precatórios federais no 1T26. O documento não demonstra que toda a carteira era de precatórios e não há evidência primária suficiente para classificá-la como financiamento de veículos.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2154CC8-EEF5-4C9F-8A1C-293CACF6B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BCF24E2-AD56-40AF-9F94-31769E8D3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recebeu parcela cindida da Classe Única do BTG Empresas em março de 2026. No 1T26 houve novas cessões definitivas, alterações de garantias, pré-pagamentos e alienação parcial de direitos.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1F6B1E8-24DC-4C2C-AC4F-DADE05FC9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3D037AF-B050-4C27-8A65-CA9229B32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D0941AE-8D32-49B9-A36B-6EAF677B1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B59D6E-3B2F-465F-8F80-DBCAE5AE4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2026-03-18 | incorporação de parcela cindida da Classe Única do BTG Empresas | montante não identificado | doc. 1142758; Evento societário/patrimonial; não é oferta pública.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378437C-81F1-465A-80F5-6481FE3C7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FE788E8-885F-4BF1-8A47-DC89DF61E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nos documentos selecionados. Garantias: O relatório confirma alteração de garantias no trimestre, mas não descreve seu conteúdo.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020357-3A56-4840-ADB2-E5A0834CF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B123A79-3E9A-4800-8070-B78AD7CC5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BTG PACTUAL GESTORA DE INVESTIMENTOS ALTERNATIVOS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6EBCFF1-17B4-4515-8287-E2F9581D2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D39178B-B915-4216-955B-0A40F34E2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· não identificado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nao_identificado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9F95346-D239-4BA2-9333-2A94D22CE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F80BDDE-B08C-4495-A8F1-56A3E03F3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nome PAN AUTO não é evidência de crédito automotivo. O classificador local baseado no nome deve ser descartado; a única evidência econômica primária localizada foi a aquisição de precatórios federais no 1T26.</a:t>
            </a:r>
          </a:p>
        </p:txBody>
      </p:sp>
    </p:spTree>
    <p:extLst>
      <p:ext uri="{BB962C8B-B14F-4D97-AF65-F5344CB8AC3E}">
        <p14:creationId xmlns:p14="http://schemas.microsoft.com/office/powerpoint/2010/main" val="1526328286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9DA9F67-E6F5-4453-B82D-78F8DA3C3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FD0133-DB56-4E19-A4B0-8127F1789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#4 CloudWalk Bela — R$ 10,0 bi e 1,1%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00CB06-4323-4947-A3E8-D411040C1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25B512-0AF5-4603-8AA8-DD19B79DC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9BC4CB-1851-4F5E-ADB4-BC4DE2A8C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https://fnet.bmfbovespa.com.br/fnet/publico/abrirGerenciadorDocumentosCVM?cnpjFundo=62393679000183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FB63DE-BCB9-472D-87A9-AEBCD2A7E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FD5D16-4AB2-43DE-AB90-75066DB16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62.393.679/0001-83 · CLOUDWALK BELA FUNDO DE INVESTIMENTO EM DIREITOS CREDITÓRIOS SEGMENTO MEIOS DE PAGAMENTO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142EF4-38AB-4539-A132-C0951AB37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29FAB1-7AC9-4C11-AE9E-95AEBDA27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D4F8F3-F64A-4F33-ABFF-23D366FA8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E9D25A-A486-4AA9-A68D-EC5E38460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Instituição de Pagamento.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712E6A-5047-4A78-847B-54343C450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90ECED-F946-4826-B37F-7BF5F98C4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 e instituições de pagamento responsáveis pela liquidação das transações capturadas no sistema CloudWalk.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738F55-4535-4224-90BD-A9BB0ACB0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D8196A-7B3B-4CB9-8EDA-DA4A97559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devidos pelos emissores à CloudWalk, como credenciadora, decorrentes de transações de cartão realizadas por estabelecimentos.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EBE748D-8117-463C-AB8C-27E70100B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692CA2-1863-4EC8-9E11-F17EC68A7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CloudWalk cede à classe recebíveis de liquidação de transações de pagamento; os fluxos dos emissores alimentam o pagamento das cotas.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A95AA93-9788-49AA-9EE6-478ECE288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02C3823-1DCF-43BB-AC65-333298542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B059F9D-7DEF-4483-B5C5-401839932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AB81988-2515-4E17-BB54-E805761F0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2026-04-20 | encerramento de oferta primária da 2ª série | R$ 5.500 bi | doc. 1166893 || 2025-09-16 | encerramento de oferta secundária da 1ª série | R$ 4.200 bi | doc. 993253; Oferta secundária; não representa captação nova da classe.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D24CF87-7DAD-4B61-B940-E5F019DF2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F9CD72A-9758-424A-95EE-2919C7FCF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Sênior, mezanino A, mezanino B e júnior. O regulamento contém índices de subordinação por fase e marcos ligados à oferta da 2ª série; a fase aplicável em mai/26 não foi reconciliada e não deve ser resumida como percentual único. Garantias: Subordinação por subclasses; garantia específica adicional não identificada nos documentos selecionados.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6E14A7F-700F-4609-9B86-BCA6F0787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DA9D0C4-B733-4224-83B3-F5EFB3F4A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480F819-7865-4CA4-8D17-DFE6A4878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87AE04B-821E-4F9E-99D0-027C31416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0F730EC-F62E-4545-8F97-25E5C5F83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F4B71E5-96AF-4E8E-A77E-CDB053342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estrutura econômica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282156857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B92D03F-5CAB-4F4D-A8CB-59D5CCA48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6F2179-050E-42AC-84AF-A377785A2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#5 MT Global · Consignado Privado — R$ 9,4 bi e 1,1%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2AF655-F469-4228-A08D-685B1D496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CE31CC-42B8-4CE9-973E-979B0DF86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84188C-3959-48AA-A057-C98652A0B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https://fnet.bmfbovespa.com.br/fnet/publico/abrirGerenciadorDocumentosCVM?cnpjFundo=63953620000165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868356-D8F4-49F8-BB2F-11E009905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9FD174-9552-4EC1-AA6E-1E828DAD7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63.953.619/0001-30 · CLASSE CONSIGNADO PRIVADO DO MT GLOBAL FUNDO DE INVESTIMENTO EM DIREITOS CREDITÓRIOS RESP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564E0E-2E43-4DF0-949A-696BEADA6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ED4934-D605-4B2E-8687-7B0937641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106DD9-73B7-4C30-8475-3AE4322D0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82BB62-E958-4926-9852-AB45ED3DB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Parati Crédito, Financiamento e Investimento S.A. — CNPJ 03.311.443/0001-91, como endossante das CCB.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B4DBB9-E2D3-4907-B791-346A8F187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612E9F-F8DD-40FE-8B94-74F08CCD7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empregadas em empresas privadas, tomadoras de empréstimos consignados.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11847CA-A841-4EFE-B538-F8AEA2B25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F532B73-5BF9-442E-BE8D-CECB46249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de CCB de empréstimo consignado privado, processadas pela infraestrutura Dataprev/CEF prevista no regulamento.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7A097A-A6B7-4278-8779-401EFCFD0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8EBA8B9-1591-47C7-9563-85BDB26EE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Parati origina e endossa eletronicamente as CCB à classe, sem coobrigação geral; o desconto em folha direciona o pagamento das parcelas.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7C20743-44F9-4FC9-B9F3-1322483A9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1ADA2C7-5F5E-4122-891F-838FD9263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C24575B-6BAF-4EBE-AD2F-5C3B780B3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B420BD1-3BFF-49DE-A7FD-C4FE155CF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9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2026-01-08 | aprovação de colocação privada de cotas sênior em vasos comunicantes | R$ 15.000 bi | doc. 1087883; Valor máximo aprovado entre classes; não comprova captação nem pertence integralmente a esta classe. || 2026-01-08 | aprovação de colocação privada de cotas subordinadas da classe Consignado Privado | R$ 0.007 bi | doc. 1087883; Valor máximo aprovado;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CEB15B9-C5A7-45BE-B6E4-021B6E0B3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41EF44B-7482-453D-8BD2-998B91574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subordinada. Índice mínimo de 1% do PL e índice-alvo de 10%; os dois parâmetros não são equivalentes. Garantias: Desconto consignado em folha; cessão/endosso definitivo sem proteção geral contra inadimplência.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9BE1AE7-FEA7-4A7D-8BE6-5F0DD2410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3E3DBEB-840B-49A4-8253-B77428139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BTG PACTUAL ASSET MANAGEMENT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839738B-B24B-431B-BDAF-948169647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72E7A3A-B841-4B42-A9A8-C1FDADD14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· não identificado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nao_identificado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0D0D11A-E0ED-4D06-A125-2A4CA7D30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7F0089F-1F65-410E-A473-F6384B865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Tipo/Foco não identificado no snapshot ANBIMA de 29/12/2025; o anexo documental descreve consignado privado.</a:t>
            </a:r>
          </a:p>
        </p:txBody>
      </p:sp>
    </p:spTree>
    <p:extLst>
      <p:ext uri="{BB962C8B-B14F-4D97-AF65-F5344CB8AC3E}">
        <p14:creationId xmlns:p14="http://schemas.microsoft.com/office/powerpoint/2010/main" val="2145088977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1F7E0CB-F65F-4297-A34B-77D4F8057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C34AC1-F1F9-4367-9885-AA0347855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#6 Itaú Crédito Privado — R$ 8,7 bi e 1,0%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80B5F1-8068-4BA4-B6C4-087FDF821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AF17DC-BED5-4A0E-865E-AE10A70B7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885BBC-54BA-4E28-AB41-2C61881AC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https://fnet.bmfbovespa.com.br/fnet/publico/abrirGerenciadorDocumentosCVM?cnpjFundo=53286499000101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D5BBA2-8D44-4078-A006-61AD23473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3C75B2-9FEF-4299-ABDA-806DAB36F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53.286.499/0001-01 · ITAÚ CRÉDITO PRIVADO FUNDO DE INVESTIMENTO EM DIREITOS CREDITÓRIOS -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E9C32A-0A67-4CB9-ABB9-C5F0E3EAC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B2F33C-B7E3-4EC1-8CAB-8DBD267E2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36D8F7-0566-44E4-9B2B-D57397A41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AFE809-8F73-4B54-804D-9EA1289EA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como entidade única; os instrumentos podem ser adquiridos de emissores ou no mercado, conforme seleção do gestor.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7BE28C-AD5E-4185-BFA0-5254098D5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608380-FB1F-4FA2-B9A0-9476BE41E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Emissores, devedores, coobrigados ou garantidores dos instrumentos de crédito da carteira.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D2EDA61-567A-4F2A-A15E-1C8FC4AA6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69BCD1-42A7-4D46-A3D7-BDAF27CF3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Debêntures, CRI, CRA, notas comerciais, letras financeiras, LCI, LCA, CDB, CCB, CDCA, cotas de FIDC e outros direitos de crédito previstos no regulamento.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485E7ED-7F35-4C4C-BA72-2354BDBFA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D13F937-3798-4035-9AEA-9BA5433E6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discricionária de crédito privado, sem um único cedente ou fluxo operacional padronizado identificado no regulamento.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87E42D5-B97C-4D15-B0EB-6A70C737C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3CA188A-54C0-420C-B375-25B1602C7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1255C52-D595-464F-84FB-AB37F43EF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B609C8A-55CB-4ACD-ADE4-6C2E99CAE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21E80D3-F315-4E3F-B2B5-091AF0525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573294C-38F4-407A-B3C4-C35EFBB1A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 e subclasse únicas, sem cotas subordinadas no regulamento consultado. Garantias: Variam por instrumento; não há pacote único de garantias descrito para toda a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923059-F131-4658-A6D8-4B3DF90AC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76AB8F3-DCB1-41E2-8A9C-A4C85CE2B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INTRAG DTVM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ITAU UNIBANCO ASSET MANAGEMENT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ITAU UNIBANCO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8A2E0B2-57DF-4E30-8CCE-65FD1EAD0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0EFD666-62F0-40B3-8902-A71FB1642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845E3D3-1FE3-489B-A457-3A4285CF7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E65718E-B719-466B-A8A7-32C447683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Outros/Multicarteira Outros.</a:t>
            </a:r>
          </a:p>
        </p:txBody>
      </p:sp>
    </p:spTree>
    <p:extLst>
      <p:ext uri="{BB962C8B-B14F-4D97-AF65-F5344CB8AC3E}">
        <p14:creationId xmlns:p14="http://schemas.microsoft.com/office/powerpoint/2010/main" val="2075746447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716FA4F-01CD-4CD4-B4F3-379E9B241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C5297A-85DF-48D6-95C8-88D4014FC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#7 BTG Consignados II — R$ 8,0 bi e 0,9%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DA95D0-EF3C-4FAE-952C-54496F492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9E85E7-6AE5-452F-B821-688B334FA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0E3F14-9F65-4F86-8703-97EF6071E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https://fnet.bmfbovespa.com.br/fnet/publico/abrirGerenciadorDocumentosCVM?cnpjFundo=52242420000188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160C3A-9808-4025-85F8-645BA38F7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7C5CB7-4CF6-446C-862C-15C977839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52.242.420/0001-88 · BTG PACTUAL CONSIGNADOS II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47676A-2E2B-4990-9CCA-6728CD764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8C92A7-BA34-4DA1-B665-8A2E7A3C5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C98B41-BF34-49AB-B263-35D85FF09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71E9D5-40F1-4546-BB0F-8FCF511A9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Instituições financeiras que concedam as CCBs; nomes individuais não identificados no regulamento selecionado.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EDE7024-0732-4CDE-B939-FA9BC8142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EB6909-F69B-4B9E-9991-3C03B1579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incluindo beneficiários de INSS/Auxílio Brasil e trabalhadores com saldo de FGTS, conforme a modalidade da CCB.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42B104-32F4-4CBE-84ED-B9E3337CA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08CD5F-1CE3-45B9-B4ED-E565172C1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vincendas de CCB de empréstimo pessoal com cessão fiduciária do saque-aniversário FGTS ou consignação operacionalizada pela Dataprev.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110522-4BFB-4D34-A50D-EB6996F56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44EE0A-1D3A-4A8D-86BC-382A308DC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ou recebe por endosso parcelas de CCB; o pagamento ocorre pelo fluxo do FGTS/CEF ou por consignação processada pela Dataprev.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FD8F52-2B1D-4677-8465-585BF286B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8FC556-DD80-4671-B5D7-F7F3157B2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83731C1-E22D-41E3-BB09-B56E5C859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6F48476-DA0F-4F07-AA0B-3C57332DB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2023-09-19 | aprovação de primeira emissão privada | R$ 2.500 bi | doc. 523931; Valor máximo aprovado; o documento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73F61F5-F2DB-4B96-A2D1-E52E658AA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89E39B9-5DEB-41D7-A489-DF7759D09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 única com cotas pari passu no regulamento atual; não há índice de subordinação. Garantias: Cessão fiduciária do saque-aniversário nas CCB de FGTS; nas demais modalidades, consignação conforme convênio aplicável.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CFEF426-A359-4E76-B001-C7393D311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F607C89-8874-43FA-8EE7-1A132ECD3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07277C5-736F-4C58-A0AC-487ECEAB6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2E88189-BB5D-404E-B273-9E5DF24A3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54FAA65-3425-4921-AE9E-C056ADC44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BA50512-03B7-46E6-B752-379025B7F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Financeiro/Crédito Pessoal do snapshot, embora o foco contratual seja mais específico.</a:t>
            </a:r>
          </a:p>
        </p:txBody>
      </p:sp>
    </p:spTree>
    <p:extLst>
      <p:ext uri="{BB962C8B-B14F-4D97-AF65-F5344CB8AC3E}">
        <p14:creationId xmlns:p14="http://schemas.microsoft.com/office/powerpoint/2010/main" val="2118703603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AA1CC80-BC5C-42A6-BE10-1A3027607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A59802-5B77-43D1-A507-D8AEFAC49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#8 Aetos Energia — R$ 7,4 bi e 0,8%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D03CDD-4FA3-417E-9A2F-09FD27BAB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883D2C-4A3B-4DBE-973B-14E020AB6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9518AB-5129-4788-A0FC-7AE331A4A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https://fnet.bmfbovespa.com.br/fnet/publico/abrirGerenciadorDocumentosCVM?cnpjFundo=52610624000124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7905B4-9BC4-4E18-8925-443272FA8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72270C-295A-4B8D-99AA-E1289DB25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52.610.624/0001-24 · AETOS ENERGIA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DDDBB6-63D3-4443-9BE3-4D82952FF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CDDFB4-38A8-4F5F-BF94-EDFB2EB6C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A8E1F4-3147-41D9-AF06-CC7C4EACE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784D3B-6A0A-42CE-9C6C-EBF8E9324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XP Comercializadora de Energia S.A. — CNPJ 34.475.373/0001-30.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C0D246-B016-4306-AAA7-B6A723B09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53B308-7813-496F-A9CF-4268A749F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Contrapartes compradoras nos contratos de compra e venda de energia elétrica.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3B90BA-655C-425C-B746-2F3DD956E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E36DE66-A01A-4A30-9147-37CD007C5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Fluxos presentes e futuros decorrentes de contratos de comercialização de energia elétrica.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AE330C-32AD-4C61-9EE6-13CA9AA67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6D3CB4-03A2-487F-AB72-F5A16E273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XP Comercializadora cede os recebíveis de contratos de energia; os pagamentos dos devedores transitam por conta escrow da operação.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DC5B464-E198-4EE7-940D-3361E119D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DA7B1DC-06A4-419C-9F01-B2CAF4527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86FF9CF-ED77-4D19-9FF4-C060A3FDB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CB63197-0B83-4E08-907D-156955FB6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6FE0022-F1DB-4585-A597-DDC4E6C99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967246D-71DA-41A6-9451-21666CB4B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subordinada. O regulamento vigente em 21/11/2024 fixa índice mínimo de 10% do PL; o instrumento de constituição de 19/10/2023 trazia 15%, indicando alteração contratual entre as versões. Garantias: O regulamento admite acessórios e garantias dos contratos, sem garantia geral de prestadores/FGC.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0FF47CB-EF26-489A-B3C7-4B284D1A3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52943A2-23DE-4F6F-9670-7ACC027D5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XP INVESTIMENTOS CCTVM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XP INVESTIMENTOS CCTVM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OLIVEIRA TRUST DTVM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DE22748-0FC6-4F2A-B193-208D12F92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52F0518-6317-4BC7-95F5-EF2603841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DC0DF71-E1F4-4EDD-BEDF-68C8C70A2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581FAE1-5EF1-4982-8C38-53646F7D7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Agro, Indústria e Comércio/Recebíveis Comerciais.</a:t>
            </a:r>
          </a:p>
        </p:txBody>
      </p:sp>
    </p:spTree>
    <p:extLst>
      <p:ext uri="{BB962C8B-B14F-4D97-AF65-F5344CB8AC3E}">
        <p14:creationId xmlns:p14="http://schemas.microsoft.com/office/powerpoint/2010/main" val="689154905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3F3CE29-ADF7-44A7-A208-CE284AC7F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F4C08A-7D3B-4D3C-868D-32D9D5388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#9 Cielo — R$ 6,5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D12ED7-C7AA-4E23-84E3-18217278D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C1BCB3-5E18-4F15-96F2-7AD2C528A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5373FE-18FD-4639-83A8-5EECA86D0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https://fnet.bmfbovespa.com.br/fnet/publico/abrirGerenciadorDocumentosCVM?cnpjFundo=26286939000158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6B6CF2-E21C-4C12-8F6D-66C0EFFD9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B5D729-A84A-4575-8EC4-0563C75E9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26.286.939/0001-58 · CIELO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C65FE0-786A-45BC-9F92-C83C70F09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CAABE5-FBE1-41CF-B414-776CF971D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151C46-2AF6-4BAE-A1AC-2FA96F49B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1E4EA2-E707-43F0-9CE0-4DECDE225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 à Cielo.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082EE6-03C1-42AB-8069-C36BB0A01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708187-C97E-4542-8A37-A1CA1D151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Cielo, como adquirente e devedora dos recebíveis cedidos pelos estabelecimentos.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BE8536-8653-4982-9A4A-F0A996880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7B66B17-3D31-4605-B1DA-072508BF2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 liquidação de transações de pagamento/unidades de recebíveis processadas no Sistema Cielo.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ABE615-A4A1-4112-8645-A95B96F90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FEB9BB-9C3E-4C88-8187-423A6B10A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estabelecimentos cedem recebíveis contra a Cielo; a Cielo liquida os créditos para a classe conforme os registros da operação.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1F3B875-F2A4-4C1B-AAC4-9DEA6A738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6FDCCF-B9B1-47DE-ABF2-53DC32493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21CFE18-E45E-4C2E-A6FC-1E7819548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0256C0F-CF97-4E15-A79E-0D60060F8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2025-11-03 | encerramento da oferta da 4ª série sênior | R$ 1.000 bi | doc. 1026980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2BA1A94-060D-41B1-BF79-875A6C311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2997BBC-567A-45EA-8EBE-0A2EEAE79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subordinada; mezanino mais subordinada devem somar ao menos 20% do PL. Garantias: Reforço estrutural por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C0474E6-B272-49B6-9B9D-BD2DF99AE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E6AD6DF-F48A-4523-A5AC-417B7CB35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32A0072-C9AA-4DA8-9281-B8E100094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131A2DE-4786-44BB-A8C4-430ACE5F9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1D7B450-4297-49A0-A706-512E070BF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80B86D3-5FDD-4787-806E-AA0A98C44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Financeiro/Multicarteira Financeiro; a estrutura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54677436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EB6CB6D-8854-4007-83FA-AB11E434E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342B31-0D65-4B7C-AAC6-BDFD5483B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#10 Rio Vermelho NP — R$ 6,4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62AE5F-DDEB-40DB-8E38-9CB252EFF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61FED6-DF60-4B5A-8166-BE74EE73F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EE1598-B772-400F-A078-5E3BC0732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https://fnet.bmfbovespa.com.br/fnet/publico/abrirGerenciadorDocumentosCVM?cnpjFundo=53216449000158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168637-3814-41D9-9919-F727C624B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4773F6-3780-40F1-A0D6-B9341C6C0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53.216.449/0001-58 · RIO VERMELHO FUNDO DE INVESTIMENTO EM DIREITOS CREDITÓRIOS NÃO PADRONIZADO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E712F2-8588-4AD6-BFB6-04CBA4763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18E419-27D5-496C-AC71-6C722330C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E8B88D-AB93-4719-9100-B2C6F7B0B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4D2EC7-2631-43C5-9475-2A3812519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jurídicas ou fundos que transfiram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1CC13D-BAA6-48CA-A210-B6A2F61A1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0D690A-65D7-4475-898B-9DC4BA8FF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Entes públicos e demais pessoas físicas/jurídicas devedoras dos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292949-8120-4ACB-8085-980608B3F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4182FB-111F-4896-9524-855E87422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Precatórios e créditos públicos; créditos vencidos; direitos litigiosos, penhorados, futuros e outros não padronizados permitidos.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6C6DAAF-73E6-4380-8A63-528E9A1D6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E131897-4CD8-40CD-A705-81927D780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carteiras de NPL/direitos judiciais com ou sem coobrigação, segundo seleção do gestor.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F495C7F-82C6-46D8-BC4A-4EFAFB895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BC8D330-C273-470E-B0E3-9321784D8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3910464-6ED5-4465-A474-6A4D382FA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9CDABDE-B5E1-4F90-A38C-D1E9168C3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5307EB1-AD2D-4BFB-B5F6-56CE621D0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2BBAEA5-8FB8-46E5-A7EC-5121602E2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em séries pari passu; o regulamento consultado declara ausência de preferência, prioridade ou subordinação entre titulares. Garantias: Variam conforme cada direito; não há garantia uniforme de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BA717C4-8999-4AB0-B193-467FE71AB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77AD219-B92F-45CE-AF48-4253FD802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CBSF DISTRIBUIDORA DE TÍTULOS 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CBSF TRUST ADMINISTRADORA DE RECURSOS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REAG TRUST DISTRIBUIDORA DE TITULOS E VALORES MOBILIARIOS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C2FC6D8-F748-448D-A973-D91FD18B4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DCB466B-A9A0-4028-B858-E4F6A8D3E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B6377E5-8601-43BD-B9E4-6CE97AF23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EE30792-A173-4C52-81BE-36725EB34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documental permite NPL e precatórios.</a:t>
            </a:r>
          </a:p>
        </p:txBody>
      </p:sp>
    </p:spTree>
    <p:extLst>
      <p:ext uri="{BB962C8B-B14F-4D97-AF65-F5344CB8AC3E}">
        <p14:creationId xmlns:p14="http://schemas.microsoft.com/office/powerpoint/2010/main" val="901580842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93618B2-2CBC-48BC-B1AF-3983C40C3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F1E383-B818-4211-9C30-0E56319DA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#11 PagSeguro I — R$ 6,2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5DFE83-F7E3-4321-A225-6C002875D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AA02FB-C945-4FC8-9D71-95B0228FF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E2A806-CBE1-49F2-8E31-56428FBC7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https://fnet.bmfbovespa.com.br/fnet/publico/abrirGerenciadorDocumentosCVM?cnpjFundo=28169275000172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39437B-1F7D-4664-A962-27B0F5547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E6CD68-70E3-41A8-B360-8D9B0455B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28.169.275/0001-72 · FUNDO DE INVESTIMENTO EM DIREITOS CREDITÓRIOS PAGSEGURO 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324C98-181A-4D8E-AE0C-1ACFB2180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CB26A9-ED43-4CBD-A21F-4589A0D0B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884865-807E-40B9-961F-39A9A5BAF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0982BB-8629-472E-BCB7-8495870CA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 ao sistema PagSeguro.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82C83E-D701-418E-9A40-451DF4346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92C079-0FBE-4DE5-8C0E-778F87994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PagSeguro, como devedor dos valores de liquidação devidos aos estabelecimentos.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1121E5-A392-42FC-A92A-357476FB5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B4EC97-4747-4DD9-9536-7B62362F9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Unidades/recebíveis de transações de pagamento a débito e crédito, à vista ou parceladas, capturadas e liquidadas pelo sistema PagSeguro.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91C051-BCF9-471E-942D-A8CF1F68E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133A84-78E5-4961-BE6A-256F54561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estabelecimentos cedem à classe seus recebíveis contra PagSeguro; a liquidação das transações alimenta o caixa da classe.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F1012B4-EBB7-4E23-98E7-9A181F996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30683A3-6427-4E3B-99F0-F9EB65952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7057917-4B8C-4FF1-8E0D-4F197A279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D914AD4-53E2-473C-8AAF-0926E0069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2026-03-30 | início de oferta da 4ª série sênior | R$ 1.000 bi | doc. 1148251; Valor ofertado; o anúncio de início não comprova colocação. || 2024-11-06 | encerramento da oferta da 3ª série sênior | R$ 1.000 bi | doc. 773514; Documento informa 1.000.000 de cotas subscritas e integralizadas.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AF5936E-3627-4199-A4A8-B92FB24AA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C6A46F4-8EF8-4EAA-AFF9-FCDC1198E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subordinada; razão mínima de cotas subordinadas de 50% do PL da classe. Garantias: Reforço estrutural pela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9976EEE-4983-4FA2-8E40-D47BB3796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FCA7CE2-D3CD-4B13-9EC4-30E355460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GENIAL INVESTIMENTOS CORRETORA DE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GENIAL GESTÃO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GENIAL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FFD0037-492C-49E6-A0C0-FCA4BEBA2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D704F91-4F5C-4AC8-967E-4FBA4A317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74601C8-A83E-4EBB-BD1E-A498E86FB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A0372F4-A2DC-4B08-B377-EDCDF29C6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estrutura econômica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733221302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F55E20B-D433-4035-B24F-4BD019DBE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53BF51-1592-463C-AF18-ECC24B6C9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#12 BTG Consignados — R$ 6,0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388BA7-BE28-45A8-B33F-93FDB052D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772B7D-B2C5-43D1-8EBD-89FC2DB41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EA7656-6340-43C8-8F08-03A0BDD89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https://fnet.bmfbovespa.com.br/fnet/publico/abrirGerenciadorDocumentosCVM?cnpjFundo=50906397000153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F0065A-AA67-4F42-8565-322F3E606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8D94B5-CF96-4977-A73D-8D94D0D5F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50.906.397/0001-53 · BTG PACTUAL CONSIGNADOS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17A389-5662-4A02-99C7-AE0070DFD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CE172C-7B4A-4097-A236-B91763548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424303-B49B-4E1E-985D-5D3C6D38E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DA706D-C6B2-4C3C-BAEE-A338FAC97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Instituições financeiras que concedam as CCB; nomes individuais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7EBC64-7A0D-47C6-9FFB-92AEF2EC1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F455EC-182C-4A42-846F-5E478FF34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incluindo beneficiários de INSS e trabalhadores com saldo de FGTS.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A680BD-BC43-4506-866D-302B23861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83C27A-2423-40EE-9494-2F32A855F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vincendas de CCB de empréstimo pessoal com garantia do saque-aniversário FGTS ou consignação processada pela Dataprev.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CA0C7E-E552-4140-AB6A-0DD03D091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0C92E7-DCB8-43FA-9BB9-445607043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CCB/parcelas por cessão ou endosso; CEF/FGTS e Dataprev processam os fluxos conforme a modalidade.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E53D885-DC47-406E-A802-DCF222033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D8ABE8-2C1C-4145-A097-5AB8D7602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BC5AA38-B575-4794-9172-6A41AF01E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7E5E68E-9CD1-447B-9ADC-D83BDAB7B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2023-06-01 | aprovação de primeira emissão privada | R$ 11.000 bi | doc. 483282; Valor máximo aprovado; o documento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AC1BF46-52ED-443B-99C7-51BD0FACF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8502E74-2B3A-44EB-9AA6-4568D1DCB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Subclasse única de cotas no regulamento consolidado; não há índice de subordinação entre subclasses. Garantias: Cessão fiduciária do saque-aniversário nas operações FGTS; consignação nas demais modalidades.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8C668A8-D819-43D5-8C08-3BD94A06D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D1BB3BA-BFD1-47E0-9CE4-241C6C507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7070D8B-8044-4D73-BD4F-A83163774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9DE7A69-C26C-47CE-811E-71D072780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0C5A259-4AAC-4A02-BB36-669DB2098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BCA3207-9E26-4321-B080-20FAAC72E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Financeiro/Crédito Pessoal, com foco contratual mais específico.</a:t>
            </a:r>
          </a:p>
        </p:txBody>
      </p:sp>
    </p:spTree>
    <p:extLst>
      <p:ext uri="{BB962C8B-B14F-4D97-AF65-F5344CB8AC3E}">
        <p14:creationId xmlns:p14="http://schemas.microsoft.com/office/powerpoint/2010/main" val="1582571544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F4931D4-F1BB-4D53-A99D-C8A80D887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42B1F7-EC9C-4810-9385-473B22F69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#13 Alternative Assets III — R$ 5,9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283B52-8B6B-4FE8-A5B9-9F951D11A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D7537A-4660-40F3-8ECE-F982AA367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681811-2DE3-4C35-BE17-0ECC46BE3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https://fnet.bmfbovespa.com.br/fnet/publico/abrirGerenciadorDocumentosCVM?cnpjFundo=29225241000110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CDB506-F564-4116-90D7-9E497308B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3767D8-DCB8-4289-BF93-6B121A3C7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29.225.241/0001-10 · FUNDO DE INVESTIMENTO EM DIREITOS CREDITÓRIOS ALTERNATIVE ASSETS III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55B348-5BD4-4603-9325-9F33BC48C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375388-4A72-479C-8A95-42D69702B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D3A16F-C439-4C2C-929F-ECE43D599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4CC626-C3A8-490E-967E-409A19485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jurídicas ou fundos que transfiram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D8BFF1-83E9-47AC-8938-1897C6F94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2D51FF-9E21-4595-AD79-F7871E87C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jurídicas, privadas ou públicas, obrigadas nos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4C4593-0EE3-44AE-83EE-F83915E1D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BAF7D7-8817-4F14-961E-353B259F0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Créditos em litígio, precatórios e direitos vencidos/inadimplidos já performados.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1A7381D-954A-48CC-88DE-73C32E10C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FD426D-82DD-4209-9E21-626413549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comprar direitos judiciais/NPL integral ou parcialmente; o regulamento não comprova que esses ativos compunham a carteira em mai/26.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AB7BB07-3F40-4D55-ADB1-63F4014EB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F236A80-B8F7-41DF-A01D-BD86EC7A0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F7A39F9-66D1-40D8-B5BE-699D5576A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C146198-E399-4D29-B872-F5B0A6890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A705436-D52B-4463-A0EB-D4F2DA963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69580D0-FA1A-4094-B90D-CC5C486CF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Única subclasse de cotas pari passu; sem preferência, prioridade ou subordinação entre titulares. Garantias: Variam por direito; não há garantia uniforme da carteira nem garantia geral de prestadores/FGC.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0577FC9-86DF-47F3-8C53-1833B2932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F0F23D8-F328-41AE-AB00-D55E67C2D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2B8C3E3-9347-4613-B92E-8D0B20E25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D30DF6E-6304-45BB-B12E-C6D99D3FA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C00D8E5-C2BB-4A07-A166-A985453E1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82F9A93-8AA2-4A60-98CA-A0F27577E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documental é de NPL/direitos judiciais.</a:t>
            </a:r>
          </a:p>
        </p:txBody>
      </p:sp>
    </p:spTree>
    <p:extLst>
      <p:ext uri="{BB962C8B-B14F-4D97-AF65-F5344CB8AC3E}">
        <p14:creationId xmlns:p14="http://schemas.microsoft.com/office/powerpoint/2010/main" val="1617365426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ADE68D3-3333-43C9-9832-3FA729EF3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95AFAC-55CF-4F4F-80A8-EED469FE3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#14 Monee I — R$ 5,8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A5171F-483F-4AC7-923E-A6BDDF37D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360D19-E57C-435D-B557-1621D1A2D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8DF3BF-CFA1-40B5-811C-6F54AD559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https://fnet.bmfbovespa.com.br/fnet/publico/abrirGerenciadorDocumentosCVM?cnpjFundo=42922136000107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7955F6-454A-46DF-B587-011C1412B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EDA7C6-A33A-4E7E-947E-997B8BB72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42.922.136/0001-07 · FUNDO DE INVESTIMENTO EM DIREITOS CREDITÓRIOS MONEE I DE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B1C3C4-347F-4AE6-95DA-BE0BF3411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194C5C-3085-4D46-986D-438DEB2B0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8D0C89-6181-491E-BC71-6042600E0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3C2CE2-3B23-4770-92FA-E92E80B86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74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SHPP Brasil Instituição de Pagamento e Serviços de Pagamentos Ltda. — CNPJ 38.372.267/0001-82 — atua como originadora/correspondente; CCB são endossadas por instituições financeiras parceiras e recebíveis de pagamento são cedidos por estabelecimentos.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1AB387-A8CB-41DA-9E54-AA20E05E7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DD9E58-5807-45E4-B8D3-9FAD09B27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tomadoras dos empréstimos e participantes das operações de pagamento, conforme o ativo.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97578B-50CD-4B79-96A5-B4313C1B2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CD70D0-9E32-461D-94F2-8ED3AE063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CCB de empréstimos e unidades de recebíveis de transações de cartão realizadas em estabelecimentos.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24E232-BAFE-4C1D-8B06-886FDE20F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C2A8053-E27B-4AB7-ADF8-B981FC77B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SHPP capta e analisa clientes como correspondente dos endossantes; a classe adquire CCB por endosso e recebíveis de pagamento por cessão.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62541C0-3097-4654-ACFF-B09DB6FAE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1A90009-BB23-48F4-854D-0DAAE83A7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875A618-9AC9-4E9E-8CBE-F4048A402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C5BF2C-B0B9-4026-BD61-A66BBA9B7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D81854B-E065-4DD2-9A5D-7E71B10EA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EC70922-B0E3-4155-9FC4-DDC1E917B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pari passu; o regulamento consultado declara ausência de preferência, prioridade ou subordinação. Garantias: Não há garantia uniforme identificada; a transferência é sem coobrigação geral nos contratos descritos.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23C3899-8819-4270-B17A-D2B5CD595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04EDF35-F47D-47B9-96CA-2CBD65290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QI CORRETORA DE TÍTULOS 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VALORA RENDA FIXA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QI CORRETORA DE TÍTULOS E VALORES MOBILIÁRIOS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70C739A-0CBF-4403-9BA2-6D3D0483D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BC88467-FF32-469A-97CE-58FFD6F0D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7AADC1E-02E8-43D2-A04E-4C6999246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B30A162-4E74-42C7-B31F-C62447EB7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documental combina crédito pessoal 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23160946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4395507-58F1-478F-8468-FD8CF16A8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718ADA-79A9-4006-8EC3-3E2CDAD80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#15 PicPay I — R$ 4,8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15F2D7-D620-49B5-9643-134A1CBB7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44A9E8-58B4-4627-B9FD-9918D37AE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D01828-4790-40B7-81A2-E29C207B5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https://fnet.bmfbovespa.com.br/fnet/publico/abrirGerenciadorDocumentosCVM?cnpjFundo=32527650000186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E3EEFA-AFB5-4AA8-953A-6B1B8FC48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518BDA-E82B-4464-A316-FE41FE16A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32.527.650/0001-86 · FUNDO DE INVESTIMENTO EM DIREITOS CREDITÓRIOS PICPAY 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856C85-5AC9-4E1E-AC3D-81DE8B2EF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3C92BD-1634-4C32-A945-FF4523AFA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6DDA9F-D4CD-4A94-AAF1-A6E7200C4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EE0F98-20F4-40E2-A5ED-9EB6FA055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Usuários finais do PicPay que transferem seus recebíveis à classe por mandato previsto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34978F-155B-4836-BEC0-87B76D0B6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06357D-DA2A-4B29-9BA0-507A7FEF3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PicPay, responsável pelos pagamentos devidos aos cedentes nas transações abrangidas.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D4C745-06F4-4203-98CA-3001AE06E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CDCCE9-BA49-40D5-9348-5A69458D1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 transações de pagamento, cash-in e moeda eletrônica processados no sistema PicPay.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4F30FD-629A-4130-AD4C-8AEFFD62F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7525384-C78F-4881-B197-FC3F5AA05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Usuários cedem à classe os direitos contra o PicPay; o PicPay efetua os pagamentos que alimentam o caixa da classe.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44CF01F-968B-4B10-B791-1EE84F59D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277540F-42D7-4873-8452-C5D587ACA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90D7568-CEB1-403E-A3A2-3E94D3E11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8DFAE6A-2792-4B92-A366-D0BF5ECA5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DD16ED9-7397-424B-944C-610EAA9E9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49B2411-C01E-44BD-8804-E1DF9481F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subordinadas júnior; razão mínima de subordinação júnior de 10% do PL. Garantias: Reforço estrutural por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14A4C98-9FAC-4D6F-BCD4-3CA50C873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20626E6-E49A-4141-BD86-D64D55D34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GENIAL INVESTIMENTOS CORRETORA DE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GENIAL GESTÃO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GENIAL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868C10E-F9DE-4FF8-B012-3C7E0DEFF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D68430E-69C0-4F43-8992-D347D1D29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C1C22F0-FE9E-486D-AFD9-54776E448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B780946-1C20-481A-B276-714318CF6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Financeiro/Multicarteira Financeiro; a estrutura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208311133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C8EF331-FAE9-4E68-8290-7D83AB444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DAF83B-D01B-4CF1-860F-0137B2479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#16 Artesanal Master — R$ 4,5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850A32-C997-43DF-9824-7D3479AB1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6AA254-9670-49BD-9ECE-B503085FC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006D27-0529-4006-9D29-83158BC01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https://fnet.bmfbovespa.com.br/fnet/publico/abrirGerenciadorDocumentosCVM?cnpjFundo=30576260000170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8DBACA-85D5-4766-A9CD-3BA3C93A0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211D47-CDF7-4034-82B9-F2FB1E249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30.576.260/0001-70 · ARTESANAL MASTER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611178-CD1F-4277-A2F1-186372BCE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661A43-7915-4CE5-944F-45D11BD7E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403FF7-9079-4E57-B954-EFCE7B0F9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24780B-E5A8-4AF6-B321-A1372EB37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titulares dos instrumentos elegíveis; nenhuma entidade única foi identificada.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E294D5E-D27C-43A1-9C85-71FE9BE4D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453960-2CA8-4BF3-9996-A8EB9152D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Emissores/devedores dos instrumentos adquiridos; nomes não identificados no regulamento.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E6E293D-1B59-4150-B663-B7B453536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17F939-F815-41F6-8E97-2EDC8F881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e títulos de crédito, valores mobiliários de crédito, instrumentos de securitização e cotas de FIDC previstos na política ampla.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0482EC8-A774-499D-9C50-988CCF192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3FDEFDE-FA5B-4E76-B0C3-192FC99F8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veículo era FIC-FIDC e foi transformado em FIDC direto com vigência em 23/07/2024; desde então a política permite aquisição direta de instrumentos de crédito.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CA19DEB-2FDB-4F6A-9943-24B6417B2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63E4B9-C819-4BDC-8DB0-82389D444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85E29D3-42BD-4319-9550-40B0E98EB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2587269-C989-4D14-9A9F-AA216B734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87FFC95-BCCA-44A4-8A55-F9A4B8481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FEA3A88-4556-4C86-AC5B-B68049456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sem preferência, prioridade ou subordinação entre os titulares. Garantias: Variam por instrumento; não há pacote uniforme de garantias.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2A0713D-7A9C-41EF-AB9E-425DD6C7E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7AC6ED5-D22A-4EE1-88DE-317748EDB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BANCO GENIAL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ARTESANAL INVESTIMENTOS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B3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DB71169-9B3C-4A51-B39E-66B55AD66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A965DE8-6062-4B45-AA14-D0B52F9D5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CF30828-E4C5-44CB-BFCB-4096C2721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79265BB-F1FF-426B-AE89-C959E0ED8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Financeiro/Crédito Pessoal; a política documental atual é ampla. A quebra histórica FIC→FIDC em julho de 2024 deve ser tratada explicitamente.</a:t>
            </a:r>
          </a:p>
        </p:txBody>
      </p:sp>
    </p:spTree>
    <p:extLst>
      <p:ext uri="{BB962C8B-B14F-4D97-AF65-F5344CB8AC3E}">
        <p14:creationId xmlns:p14="http://schemas.microsoft.com/office/powerpoint/2010/main" val="1233906701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987F991-6C74-493F-8DDB-CDDB3C3D1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7C6CD8-720A-4A86-8857-AE3DC0CBD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#17 MAROBÁ INVESTMENTO — R$ 4,5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D61E58-53B1-4885-99E4-1364612B4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3DFEBF-D3C9-447B-889A-C4B870707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70A700-2C78-49C9-85FA-9C4CFF464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CVM/FundosNet consultado; campo não identificado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0D6128-E3AE-4E60-A8CB-D1582ABE8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9F9749-4FE4-485D-96B3-A6206DCA7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61.285.603/0001-71 · MAROBÁ FUNDO DE INVESTMENTO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D11CFB-970E-45DC-902D-4645E9CB4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007DA1-8369-41A0-B118-C765D40E2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EADF1D-7DB8-4AB1-8EBF-DF19594BF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5480A0-FC33-473C-844E-804518518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AB8ADD-D974-4174-9C67-B17DE514D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97D7AB-C7BE-4311-9906-A57529E8B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7D4D9B-2DCA-4668-A8D7-BEAF57AF0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1D8433-35AF-40CA-887B-C6BD46C45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63420A-D8F4-4153-B24B-1ACC99724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1832AA2-390B-424F-991E-79964B14D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28BC64D-74DA-42E8-8BD5-319FE90DA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E7BB358-E97D-41CD-AF2E-8D1C8EB8D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96CD696-242F-4830-BE90-49C5E94B3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C579002-C7A9-48D4-8CFF-CFD3B087B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6BCEF0F-8FF8-4AF3-9DE6-FD7D16D1D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FD4310E-F325-47BE-AF28-019FACFA6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0FDE59C-A646-4790-BC24-7F77F6C45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E2E4DF2-20B8-4EF4-ACB5-262F82164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INTRAG DTVM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KANASTRA ADMINISTRAÇÃO DE RECURSOS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LIMINE TRUST DISTRIBUIDORA DE TITULOS E VALORES MOBILIARIOS LTDA.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3C3EC77-4031-49A3-B349-067A183DB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1523510-8A60-489C-AD72-AA7648BF8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495686C-4D79-437F-A489-123C9606D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FEF21A6-020E-400A-A4EA-E577AD8F2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campo não identificado nos documentos consultados</a:t>
            </a:r>
          </a:p>
        </p:txBody>
      </p:sp>
    </p:spTree>
    <p:extLst>
      <p:ext uri="{BB962C8B-B14F-4D97-AF65-F5344CB8AC3E}">
        <p14:creationId xmlns:p14="http://schemas.microsoft.com/office/powerpoint/2010/main" val="276913185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91623D8-BF4E-4FDB-B0FF-C9A460408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00FC35-E30A-42C3-BF68-1C4A1C730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#18 VENDA VEÍCULOS — R$ 4,2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2E752B-DF97-4F35-BCAD-448FD50E2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D33802-1D80-471C-9698-BF87738C6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66D2B9-1F92-47F1-B428-D8D279F28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CVM/FundosNet consultado; campo não identificado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DFCF0B-C45A-4D2C-B54E-53AEE4959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C0F6BB-A23B-422F-BDDE-114E15C9B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21.126.275/0001-46 · VENDA DE VEÍCULOS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4F6C71-2F0B-41A9-BF37-461E69F1A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ACF222-4465-49EC-A963-0846D0E51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CC6E48-DA5D-429A-81A8-8E0E06D0F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7F44CA-39FC-4229-A54C-4C00DFEF3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B2B0E1-16CF-4ACA-964D-D98857315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A99756C-6C4D-474B-AC7C-0E8827E36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3095B30-C392-4108-89B8-6F75B7E80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E0ED4C-30AD-4048-BDD7-80A72991B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D9B64D-6E83-4794-9387-4CC1F3CDF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A8DD00-77B5-48FB-88DA-0ECB55A99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EF6485B-9502-496B-A866-407C81320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E4EF2A-763E-4961-BA9F-A36F75F5E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06C34A-7B14-4E79-81E2-2D8425235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35F8A21-B649-4241-AEFE-F2C1222CE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A003C5F-A833-48B1-A030-FB8603911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65AC01F-9E00-48E0-84A4-9A30A8670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BC60DD8-0E4E-49CA-B1BE-B581E79C3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D50CC52-5611-49D1-993E-FAA9A3C3D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55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S3 CACEIS BRASIL DISTRIBUIDORA DE TITULOS E VALORES MOBILIARIOS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INTEGRAL INVESTIMENTOS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S3 CACEIS BRASIL DISTRIBUIDORA DE TITULOS E VALORES MOBILIARIOS S.A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436485C-F0A0-4552-92AA-1760FB97F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E87B5C7-BC65-48CF-BA57-F09C1BC91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Financiamento de Veículos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36FA6EA-1BD6-4310-AF80-D3ABCFA31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ECB527F-B289-4491-88EA-B8AA5AD6A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campo não identificado nos documentos consultados</a:t>
            </a:r>
          </a:p>
        </p:txBody>
      </p:sp>
    </p:spTree>
    <p:extLst>
      <p:ext uri="{BB962C8B-B14F-4D97-AF65-F5344CB8AC3E}">
        <p14:creationId xmlns:p14="http://schemas.microsoft.com/office/powerpoint/2010/main" val="192679588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AD75863-EB0C-452D-8A18-D23D60571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BAED59-7C52-4EF0-828F-13E0AF9A7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#19 Day Maxx 2 — R$ 4,0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D5ABD6-C7DC-45F6-9C15-8869B0EDB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29DC80-978F-447A-8CAE-F812D2CAE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3660B2-CC75-4A22-B2E8-B0728A0BA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https://fnet.bmfbovespa.com.br/fnet/publico/abrirGerenciadorDocumentosCVM?cnpjFundo=34197588000137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5EDCA6-29B4-4CE2-85F7-EB8D791CD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5FB637-9BCC-45FF-8AA1-66A18235F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34.197.588/0001-37 · DAY MAXX 2 FUNDO DE INVESTIMENTO EM DIREITOS CREDITÓRIOS DE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3C24C0-883F-424F-BDA9-B464F2B23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99DA1B-272A-4C84-9C96-2A96F6FA1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D10DDF-D161-4726-992B-C977726AF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 / ORIGINADOR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que cedam os direitos; nomes não identificados no regulamento.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jurídicas e entes públicos, conforme os direitos adquiridos.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NATUREZA DOS RECEBÍVEIS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títulos de crédito; recebíveis mercantis, de transporte, industriais e de serviços; contratos futuros; precatórios federais; direitos não padronizados; créditos de cedentes em recuperação judicial; e até 100% do PL em cotas de outros FIDC, inclusive mezanino/júnior.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FUNCIONAMENTO ECONÔMICO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exposição direta a recebíveis/NPL e indireta via cotas de FIDC; o regulamento não comprova a composição efetiva em mai/26.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ED260F-CB14-4682-B30D-8A92BFFBD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8DC60C-97CC-4D18-A4E5-1F1EF1D50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A3BF72-5BCD-47A4-B5CD-8469F8DB3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júnior; índice mínimo de cotas subordinadas de 25% do PL. A amortização antecipada exige subordinação mínima de 30%. Garantias: Variam por direito; não há garantia uniforme da carteira.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PRESTADORES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BANCO DAYCOVAL S.A.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DAYCOVAL ASSET MANAGEMENT ADMINISTRACAO DE RECURSOS LTDA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DAYCOVAL S.A.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 / FOCO ANBIMA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B36081A-315C-4AAD-98C0-156545DD7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592A56-8FB8-4B79-AFCA-C6C59DC98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documental é ampla e inclui NPL/precatórios.</a:t>
            </a:r>
          </a:p>
        </p:txBody>
      </p:sp>
    </p:spTree>
    <p:extLst>
      <p:ext uri="{BB962C8B-B14F-4D97-AF65-F5344CB8AC3E}">
        <p14:creationId xmlns:p14="http://schemas.microsoft.com/office/powerpoint/2010/main" val="1272135583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DF4A187-7B96-4732-BB55-BDC5B70AC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CE1CA5-BDFF-4521-9FDF-AB0B3DBE8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90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#20 ACR BEM BANCOS EMISSORES CARTÃO CRÉDITO — R$ 3,7 bi e 0,4%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7B9955-E2CF-44D8-AF37-610BC29D1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43F638-5CD9-4FEC-9D85-7539743E4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4AC123-D0EB-4457-BE07-B3CB4810E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CVM/FundosNet consultado; campo não identificado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8D0F2A-E033-4054-9703-663D30FF5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1CB5FA-36AE-48F8-A508-B777486AD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54.979.779/0001-68 · FIDC ACR BEM BANCOS EMISSORES DE CARTÃO DE CRÉDITO -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80D018-1998-4674-BD86-C01A368BD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0C41DC-C93B-453C-80D9-36BDC7995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0FE94C-093F-4EF3-9495-0884E614A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5B792F-E921-4D4A-AE9F-6EF1EB08E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F330DD-D252-49B1-90E1-B62CF9322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74A7D5-F06D-45EC-9D8C-419001233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CF9028-CF2B-47B5-8D20-39FEAAB63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83DF00F-4BCF-45D8-9483-DB296AEFC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7A2816-A636-4403-9A34-877977D9F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7BAD834-14C2-4627-8478-1F462A03B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5D0EF69-F698-4266-B130-D2B9FE9C4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DA23AAA-5A28-407A-B58C-0186979E6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3188E67-53B4-4308-8F86-082C1BE4E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572EB99-6556-4627-803B-2B1260ED7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E849B09-CC4A-49F2-9F01-E13FAA7DD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535A637-7FE0-4B6C-BD6C-1BC060510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FECD4A7-B205-4C6F-B4FF-17DB4B08D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F2F0DFA-33CE-47DD-BBC3-E137A32C8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61DF596-225B-4CEC-899A-6F1A08086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ADA429A-2FCF-4059-9783-19DD946B2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CE5EFF7-A9F5-44C6-B37B-D71E4EC3D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72A53E8-BD5A-41C0-8C36-9FF512EE9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campo não identificado nos documentos consultados</a:t>
            </a:r>
          </a:p>
        </p:txBody>
      </p:sp>
    </p:spTree>
    <p:extLst>
      <p:ext uri="{BB962C8B-B14F-4D97-AF65-F5344CB8AC3E}">
        <p14:creationId xmlns:p14="http://schemas.microsoft.com/office/powerpoint/2010/main" val="1267053589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78C4B73-E4B8-440A-BD6F-62B99F98F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CASO ATLÂNTICO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D090C5-C96A-4B9E-89A3-FFA9B8E17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Atlântico compra créditos já inadimplidos; jul/24 muda a base de reporte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2C7918-86C3-40D4-B38B-AA6BFF6F8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8209A2-FD69-4DC9-978F-032E6B6B7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5663DF-3D36-4911-8561-B7A70D2C0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regulamento de 12/11/24, AGE de 08/07/24 e DFs auditadas de 2024/25. Links completos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07492A-EEF4-4468-AE3B-811C10779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2EFBCF-C9D4-4826-ABEB-1C4A980B9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1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1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09.194.841/0001-51 · ATLÂNTICO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7B6AA1-330F-4954-9F0D-8C7471EB2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O QUE É E COMO FUNCIONA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2A931E-54B0-407B-9943-2099DFF2B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C3CB4E-0735-4E66-9058-97681E6C6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19300"/>
            <a:ext cx="5286375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ESTRATÉGIA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 fechado de recuperação. O regulamento descreve as carteiras, em regra, como NP, 100% inadimplidas e já baixadas pelos cedentes.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ECONÔMICA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Compra definitiva em BIDs, com alto deságio e sem originação pelo Fundo. O retorno depende da recuperação agregada; o saldo contábil é valor esperado descontado, não valor de face.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CEDENTES E DEVEDORES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Mai/26 nomina Ativos S.A. (19%) e Carrefour Promotora, carteira legada (11%); 70% não são nominados. Devedores são sobretudo PF pulverizadas, com PJ pontuais.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ATIVOS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Empréstimos, consignado, cheque especial, cartão, CDC, varejo e serviços. Garantias podem existir caso a caso, mas a carteira massificada normalmente não tem garantia real.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771543-92C8-43E7-8289-C692F82CD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006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PRESTADORES ATUAIS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DA84B9-6B3A-409C-B9C3-F12A94414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673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CF8EBF-EF9C-427F-8679-97EC47387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05425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6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Administrador e custodiante: ID S.A · Gestor: HYPERION ASSET MANAGEMENT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6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Consultoria: MGC Capital · Cobrança: Crediativos · Auditor: BDO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D9A8EE4-BC8D-4C11-B2F1-7E5AF783F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POR QUE A INADIMPLÊNCIA É ALTA · JUN/26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C2A362-8E36-4A65-AACA-E3F7BF0E0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C4899D-610E-4400-8C3D-0DAA9E8B8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76450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8C830CE-FD56-40B9-A42A-9B8CDDBE5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076450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R$ 143,6 mi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F7B8A68-7956-4BF0-B37A-9B7B1F6A8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376488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D7E384F-B803-443E-9CA5-DE8AD8EEF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33638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DC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E59FEEF-1893-446F-8A59-58F0F38FE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433638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R$ 155,6 mi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6EE533B-826D-4563-B8AD-56D855CDB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336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727FB50-4F30-4C6B-A311-8E968BF56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90825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820100C-E0EB-471F-805C-18DC0D74E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790825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R$ 153,8 mi · 98,8%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4549319-49DC-41B1-8235-F3ED456D6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90863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B100EA4-FF13-469E-A2C4-F8DF2462A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148013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&gt; 1.080 dias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4D98E8D-0CA0-4B33-8A74-4FE1A8A2C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3148013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R$ 153,8 mi · 100,00% da inad.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45864BC-67D1-462D-8512-CEBC3FDBE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562350"/>
            <a:ext cx="5286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91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99% é coerente com a estratégia NPL: o fundo compra créditos já vencidos. Aging mede o estado jurídico do crédito; não representa perda adicional de 100% sobre o valor contábil.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F046C5A-2B3A-481E-864A-191BEF976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3053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QUEBRA JUN→JUL/24 · R$ MI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E71F824-53EA-4806-B992-6DBC4B63C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5720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16141F-3E88-49EB-93EA-03A4962C8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29150"/>
            <a:ext cx="5286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739E098-AEFD-4482-A210-683EBEB0A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657725"/>
            <a:ext cx="1885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Métrica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074E0D0-66FE-41CE-B0F1-BBB1A2B06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657725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Jun/24 · Sefer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FB0F344-B001-44DE-96B9-B43F949BF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657725"/>
            <a:ext cx="933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Jul/24 · ID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5AB1169-DFCB-4A6E-A90F-A18C0B2E0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657725"/>
            <a:ext cx="9810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Δ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E638647-C25B-453A-AB57-355D3C18F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FE3A804-8EA2-4711-A004-EB38AA5F2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2101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F9540D4-D075-4EEC-9AF8-610E65AA0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9815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bruta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CD721E9-617B-4DDA-91F1-219CEEFF7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9815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16.722,8 mi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C0E4E66-DE3E-42EC-8BB0-6227DFC89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9815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103,4 mi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3E2118A-D8ED-4E11-932A-EBC75BBD6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9815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-16.619,4 mi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02F7856-9EC4-4166-B1B9-1DDF14D53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2197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E87AAF1-A4B5-4319-86E5-C6113BCDD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4768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B17CF57-659E-42C1-92DC-E812B42F9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52482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DC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876FB15-137E-4744-9BEC-C1751F9A2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2482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34,2 mi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9A3621D-6531-4443-B7D4-7DC27B0E7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52482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114,2 mi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E7F5811-B78F-4983-9B50-216F2FD5E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52482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80,0 mi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BEC1C6A-9899-44D2-A4BA-E3BBC92D7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4864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2F5BD23-48C4-49AA-8D75-47B23B260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7435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D98BD18-CBD3-4F31-A2A9-A7D68EB45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55149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2D4369C-863F-44C2-9FD5-E6398982A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5149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111,8 mi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FB53075-DC2C-49FC-9912-3363F1455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55149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125,6 mi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D6FDBEC-C153-41AD-8711-C1362181E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55149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13,8 mi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258ECEF-77AF-42C4-B2A7-21150E45A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2936C56-395A-403C-851F-692FBE219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0075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78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 queda de R$ 16,6 bi no bruto não foi recuperação em caixa: coincide com troca de administrador e mudança de apresentação/mensuração. As DFs registram opinião modificada para 01/01–19/07/24 por inconsistências de lastro e posição. A série não é like-for-like; a subclasse atual também diverge entre DFs e informe mensal.</a:t>
            </a:r>
          </a:p>
        </p:txBody>
      </p:sp>
    </p:spTree>
    <p:extLst>
      <p:ext uri="{BB962C8B-B14F-4D97-AF65-F5344CB8AC3E}">
        <p14:creationId xmlns:p14="http://schemas.microsoft.com/office/powerpoint/2010/main" val="904026986"/>
      </p:ext>
    </p:extLst>
  </p:cSld>
</p:sld>
</file>

<file path=ppt/theme/theme1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2026-07-21T18:49:42.5030000Z</dcterms:created>
  <dcterms:modified xsi:type="dcterms:W3CDTF">2026-07-21T18:49:42.5030000Z</dcterms:modified>
</coreProperties>
</file>