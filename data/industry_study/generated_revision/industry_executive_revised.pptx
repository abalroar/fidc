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5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6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7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20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21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22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charts/chart29.xml" ContentType="application/vnd.openxmlformats-officedocument.drawingml.chart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32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slides/charts/chart33.xml" ContentType="application/vnd.openxmlformats-officedocument.drawingml.chart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slides/charts/chart34.xml" ContentType="application/vnd.openxmlformats-officedocument.drawingml.chart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slides/charts/chart35.xml" ContentType="application/vnd.openxmlformats-officedocument.drawingml.chart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slides/charts/chart36.xml" ContentType="application/vnd.openxmlformats-officedocument.drawingml.chart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slides/charts/chart37.xml" ContentType="application/vnd.openxmlformats-officedocument.drawingml.chart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9cd7f57c00b4e74" /><Relationship Type="http://schemas.openxmlformats.org/officeDocument/2006/relationships/extended-properties" Target="/docProps/app.xml" Id="Rafd512cefc56400f" /><Relationship Type="http://schemas.openxmlformats.org/officeDocument/2006/relationships/officeDocument" Target="/ppt/presentation.xml" Id="Rd09acface1ec434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0f1f4122b5c42e8"/>
  </p:sldMasterIdLst>
  <p:notesMasterIdLst>
    <p:notesMasterId xmlns:r="http://schemas.openxmlformats.org/officeDocument/2006/relationships" r:id="Ra4b77d1047b94259"/>
  </p:notesMasterIdLst>
  <p:sldIdLst>
    <p:sldId xmlns:r="http://schemas.openxmlformats.org/officeDocument/2006/relationships" id="256" r:id="Red67ccb1eae346d5"/>
    <p:sldId xmlns:r="http://schemas.openxmlformats.org/officeDocument/2006/relationships" id="257" r:id="R5462bb726bb947b1"/>
    <p:sldId xmlns:r="http://schemas.openxmlformats.org/officeDocument/2006/relationships" id="258" r:id="Rbf69327679fa4c6a"/>
    <p:sldId xmlns:r="http://schemas.openxmlformats.org/officeDocument/2006/relationships" id="259" r:id="R6bd37c5c598d404f"/>
    <p:sldId xmlns:r="http://schemas.openxmlformats.org/officeDocument/2006/relationships" id="260" r:id="R3a815d7530564c65"/>
    <p:sldId xmlns:r="http://schemas.openxmlformats.org/officeDocument/2006/relationships" id="261" r:id="R9270da808c63450c"/>
    <p:sldId xmlns:r="http://schemas.openxmlformats.org/officeDocument/2006/relationships" id="262" r:id="Rbe0a1330469f4a9a"/>
    <p:sldId xmlns:r="http://schemas.openxmlformats.org/officeDocument/2006/relationships" id="263" r:id="R7e11dc69eba249c7"/>
    <p:sldId xmlns:r="http://schemas.openxmlformats.org/officeDocument/2006/relationships" id="264" r:id="Ra38d5facf03d41b4"/>
    <p:sldId xmlns:r="http://schemas.openxmlformats.org/officeDocument/2006/relationships" id="265" r:id="Rbb829081a37640cb"/>
    <p:sldId xmlns:r="http://schemas.openxmlformats.org/officeDocument/2006/relationships" id="266" r:id="R7d73e5813b374d29"/>
    <p:sldId xmlns:r="http://schemas.openxmlformats.org/officeDocument/2006/relationships" id="267" r:id="Rf55b85457f394754"/>
    <p:sldId xmlns:r="http://schemas.openxmlformats.org/officeDocument/2006/relationships" id="268" r:id="R45d919b793874caf"/>
    <p:sldId xmlns:r="http://schemas.openxmlformats.org/officeDocument/2006/relationships" id="269" r:id="R495c58b838ef4175"/>
    <p:sldId xmlns:r="http://schemas.openxmlformats.org/officeDocument/2006/relationships" id="270" r:id="R6e6a22108d894da1"/>
    <p:sldId xmlns:r="http://schemas.openxmlformats.org/officeDocument/2006/relationships" id="271" r:id="R84a2ae0d14c84e19"/>
    <p:sldId xmlns:r="http://schemas.openxmlformats.org/officeDocument/2006/relationships" id="272" r:id="R28e950c234384698"/>
    <p:sldId xmlns:r="http://schemas.openxmlformats.org/officeDocument/2006/relationships" id="273" r:id="R21c7dfcbb1644399"/>
    <p:sldId xmlns:r="http://schemas.openxmlformats.org/officeDocument/2006/relationships" id="274" r:id="R5f0c5e038168447e"/>
    <p:sldId xmlns:r="http://schemas.openxmlformats.org/officeDocument/2006/relationships" id="275" r:id="Rd6fb04bb5a7d4893"/>
    <p:sldId xmlns:r="http://schemas.openxmlformats.org/officeDocument/2006/relationships" id="276" r:id="R51d36636b2004934"/>
    <p:sldId xmlns:r="http://schemas.openxmlformats.org/officeDocument/2006/relationships" id="277" r:id="R1d8438b39c4a41f9"/>
    <p:sldId xmlns:r="http://schemas.openxmlformats.org/officeDocument/2006/relationships" id="278" r:id="R9d874ab9a99b4646"/>
    <p:sldId xmlns:r="http://schemas.openxmlformats.org/officeDocument/2006/relationships" id="279" r:id="R254d23894aa146ad"/>
    <p:sldId xmlns:r="http://schemas.openxmlformats.org/officeDocument/2006/relationships" id="280" r:id="R3a56f577c577462c"/>
    <p:sldId xmlns:r="http://schemas.openxmlformats.org/officeDocument/2006/relationships" id="281" r:id="Rcba636b4e4b54248"/>
    <p:sldId xmlns:r="http://schemas.openxmlformats.org/officeDocument/2006/relationships" id="282" r:id="R89017eda4eee4b9b"/>
    <p:sldId xmlns:r="http://schemas.openxmlformats.org/officeDocument/2006/relationships" id="283" r:id="R77816dc807f34d7b"/>
    <p:sldId xmlns:r="http://schemas.openxmlformats.org/officeDocument/2006/relationships" id="284" r:id="R980c778e5a984ba6"/>
    <p:sldId xmlns:r="http://schemas.openxmlformats.org/officeDocument/2006/relationships" id="285" r:id="Rf7ad09af909f4158"/>
    <p:sldId xmlns:r="http://schemas.openxmlformats.org/officeDocument/2006/relationships" id="286" r:id="R6d2f187b78ef4c0b"/>
    <p:sldId xmlns:r="http://schemas.openxmlformats.org/officeDocument/2006/relationships" id="287" r:id="R3c6b75ded3134113"/>
    <p:sldId xmlns:r="http://schemas.openxmlformats.org/officeDocument/2006/relationships" id="288" r:id="R3a049c1ce4884bb6"/>
    <p:sldId xmlns:r="http://schemas.openxmlformats.org/officeDocument/2006/relationships" id="289" r:id="R79218f597d3c4d7b"/>
    <p:sldId xmlns:r="http://schemas.openxmlformats.org/officeDocument/2006/relationships" id="290" r:id="Rc471360643664313"/>
    <p:sldId xmlns:r="http://schemas.openxmlformats.org/officeDocument/2006/relationships" id="291" r:id="Re0cde3a0b4ba4de8"/>
    <p:sldId xmlns:r="http://schemas.openxmlformats.org/officeDocument/2006/relationships" id="292" r:id="Rb9ea9e64d72e45ea"/>
    <p:sldId xmlns:r="http://schemas.openxmlformats.org/officeDocument/2006/relationships" id="293" r:id="Rfb03620f7dd84d78"/>
    <p:sldId xmlns:r="http://schemas.openxmlformats.org/officeDocument/2006/relationships" id="294" r:id="Ra131317258af44e2"/>
    <p:sldId xmlns:r="http://schemas.openxmlformats.org/officeDocument/2006/relationships" id="295" r:id="Rad3df05631384c14"/>
    <p:sldId xmlns:r="http://schemas.openxmlformats.org/officeDocument/2006/relationships" id="296" r:id="Rc95300b870614e9a"/>
    <p:sldId xmlns:r="http://schemas.openxmlformats.org/officeDocument/2006/relationships" id="297" r:id="R948c4b54bd0f4632"/>
    <p:sldId xmlns:r="http://schemas.openxmlformats.org/officeDocument/2006/relationships" id="298" r:id="R9db4823e16154b95"/>
    <p:sldId xmlns:r="http://schemas.openxmlformats.org/officeDocument/2006/relationships" id="299" r:id="Rb48f0441baff4f6b"/>
    <p:sldId xmlns:r="http://schemas.openxmlformats.org/officeDocument/2006/relationships" id="300" r:id="Rc86ed9ea94684760"/>
    <p:sldId xmlns:r="http://schemas.openxmlformats.org/officeDocument/2006/relationships" id="301" r:id="Refd8eb7efb8a465b"/>
    <p:sldId xmlns:r="http://schemas.openxmlformats.org/officeDocument/2006/relationships" id="302" r:id="R6846250e50674a47"/>
    <p:sldId xmlns:r="http://schemas.openxmlformats.org/officeDocument/2006/relationships" id="303" r:id="R30e2bfd964ef471b"/>
    <p:sldId xmlns:r="http://schemas.openxmlformats.org/officeDocument/2006/relationships" id="304" r:id="R87473f1817004311"/>
    <p:sldId xmlns:r="http://schemas.openxmlformats.org/officeDocument/2006/relationships" id="305" r:id="R136cd7a79ccf4be3"/>
    <p:sldId xmlns:r="http://schemas.openxmlformats.org/officeDocument/2006/relationships" id="306" r:id="Rbbae28996533413e"/>
    <p:sldId xmlns:r="http://schemas.openxmlformats.org/officeDocument/2006/relationships" id="307" r:id="R75b5a7a3069c4803"/>
    <p:sldId xmlns:r="http://schemas.openxmlformats.org/officeDocument/2006/relationships" id="308" r:id="R4a5efb5930e446e3"/>
    <p:sldId xmlns:r="http://schemas.openxmlformats.org/officeDocument/2006/relationships" id="309" r:id="R680ee7a9fee04c27"/>
    <p:sldId xmlns:r="http://schemas.openxmlformats.org/officeDocument/2006/relationships" id="310" r:id="R20b937d497f545e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d31576a0ad14df2" /><Relationship Type="http://schemas.openxmlformats.org/officeDocument/2006/relationships/slideMaster" Target="/ppt/slideMasters/slideMaster1.xml" Id="R80f1f4122b5c42e8" /><Relationship Type="http://schemas.openxmlformats.org/officeDocument/2006/relationships/notesMaster" Target="/ppt/notesMasters/notesMaster1.xml" Id="Ra4b77d1047b94259" /><Relationship Type="http://schemas.openxmlformats.org/officeDocument/2006/relationships/presProps" Target="/ppt/presProps.xml" Id="Rb7a47dfc89d547b2" /><Relationship Type="http://schemas.openxmlformats.org/officeDocument/2006/relationships/tableStyles" Target="/ppt/tableStyles.xml" Id="R005a483f7c224446" /><Relationship Type="http://schemas.openxmlformats.org/officeDocument/2006/relationships/slide" Target="/ppt/slides/slide1.xml" Id="Red67ccb1eae346d5" /><Relationship Type="http://schemas.openxmlformats.org/officeDocument/2006/relationships/slide" Target="/ppt/slides/slide2.xml" Id="R5462bb726bb947b1" /><Relationship Type="http://schemas.openxmlformats.org/officeDocument/2006/relationships/slide" Target="/ppt/slides/slide3.xml" Id="Rbf69327679fa4c6a" /><Relationship Type="http://schemas.openxmlformats.org/officeDocument/2006/relationships/slide" Target="/ppt/slides/slide4.xml" Id="R6bd37c5c598d404f" /><Relationship Type="http://schemas.openxmlformats.org/officeDocument/2006/relationships/slide" Target="/ppt/slides/slide5.xml" Id="R3a815d7530564c65" /><Relationship Type="http://schemas.openxmlformats.org/officeDocument/2006/relationships/slide" Target="/ppt/slides/slide6.xml" Id="R9270da808c63450c" /><Relationship Type="http://schemas.openxmlformats.org/officeDocument/2006/relationships/slide" Target="/ppt/slides/slide7.xml" Id="Rbe0a1330469f4a9a" /><Relationship Type="http://schemas.openxmlformats.org/officeDocument/2006/relationships/slide" Target="/ppt/slides/slide8.xml" Id="R7e11dc69eba249c7" /><Relationship Type="http://schemas.openxmlformats.org/officeDocument/2006/relationships/slide" Target="/ppt/slides/slide9.xml" Id="Ra38d5facf03d41b4" /><Relationship Type="http://schemas.openxmlformats.org/officeDocument/2006/relationships/slide" Target="/ppt/slides/slide10.xml" Id="Rbb829081a37640cb" /><Relationship Type="http://schemas.openxmlformats.org/officeDocument/2006/relationships/slide" Target="/ppt/slides/slide11.xml" Id="R7d73e5813b374d29" /><Relationship Type="http://schemas.openxmlformats.org/officeDocument/2006/relationships/slide" Target="/ppt/slides/slide12.xml" Id="Rf55b85457f394754" /><Relationship Type="http://schemas.openxmlformats.org/officeDocument/2006/relationships/slide" Target="/ppt/slides/slide13.xml" Id="R45d919b793874caf" /><Relationship Type="http://schemas.openxmlformats.org/officeDocument/2006/relationships/slide" Target="/ppt/slides/slide14.xml" Id="R495c58b838ef4175" /><Relationship Type="http://schemas.openxmlformats.org/officeDocument/2006/relationships/slide" Target="/ppt/slides/slide15.xml" Id="R6e6a22108d894da1" /><Relationship Type="http://schemas.openxmlformats.org/officeDocument/2006/relationships/slide" Target="/ppt/slides/slide16.xml" Id="R84a2ae0d14c84e19" /><Relationship Type="http://schemas.openxmlformats.org/officeDocument/2006/relationships/slide" Target="/ppt/slides/slide17.xml" Id="R28e950c234384698" /><Relationship Type="http://schemas.openxmlformats.org/officeDocument/2006/relationships/slide" Target="/ppt/slides/slide18.xml" Id="R21c7dfcbb1644399" /><Relationship Type="http://schemas.openxmlformats.org/officeDocument/2006/relationships/slide" Target="/ppt/slides/slide19.xml" Id="R5f0c5e038168447e" /><Relationship Type="http://schemas.openxmlformats.org/officeDocument/2006/relationships/slide" Target="/ppt/slides/slide20.xml" Id="Rd6fb04bb5a7d4893" /><Relationship Type="http://schemas.openxmlformats.org/officeDocument/2006/relationships/slide" Target="/ppt/slides/slide21.xml" Id="R51d36636b2004934" /><Relationship Type="http://schemas.openxmlformats.org/officeDocument/2006/relationships/slide" Target="/ppt/slides/slide22.xml" Id="R1d8438b39c4a41f9" /><Relationship Type="http://schemas.openxmlformats.org/officeDocument/2006/relationships/slide" Target="/ppt/slides/slide23.xml" Id="R9d874ab9a99b4646" /><Relationship Type="http://schemas.openxmlformats.org/officeDocument/2006/relationships/slide" Target="/ppt/slides/slide24.xml" Id="R254d23894aa146ad" /><Relationship Type="http://schemas.openxmlformats.org/officeDocument/2006/relationships/slide" Target="/ppt/slides/slide25.xml" Id="R3a56f577c577462c" /><Relationship Type="http://schemas.openxmlformats.org/officeDocument/2006/relationships/slide" Target="/ppt/slides/slide26.xml" Id="Rcba636b4e4b54248" /><Relationship Type="http://schemas.openxmlformats.org/officeDocument/2006/relationships/slide" Target="/ppt/slides/slide27.xml" Id="R89017eda4eee4b9b" /><Relationship Type="http://schemas.openxmlformats.org/officeDocument/2006/relationships/slide" Target="/ppt/slides/slide28.xml" Id="R77816dc807f34d7b" /><Relationship Type="http://schemas.openxmlformats.org/officeDocument/2006/relationships/slide" Target="/ppt/slides/slide29.xml" Id="R980c778e5a984ba6" /><Relationship Type="http://schemas.openxmlformats.org/officeDocument/2006/relationships/slide" Target="/ppt/slides/slide30.xml" Id="Rf7ad09af909f4158" /><Relationship Type="http://schemas.openxmlformats.org/officeDocument/2006/relationships/slide" Target="/ppt/slides/slide31.xml" Id="R6d2f187b78ef4c0b" /><Relationship Type="http://schemas.openxmlformats.org/officeDocument/2006/relationships/slide" Target="/ppt/slides/slide32.xml" Id="R3c6b75ded3134113" /><Relationship Type="http://schemas.openxmlformats.org/officeDocument/2006/relationships/slide" Target="/ppt/slides/slide33.xml" Id="R3a049c1ce4884bb6" /><Relationship Type="http://schemas.openxmlformats.org/officeDocument/2006/relationships/slide" Target="/ppt/slides/slide34.xml" Id="R79218f597d3c4d7b" /><Relationship Type="http://schemas.openxmlformats.org/officeDocument/2006/relationships/slide" Target="/ppt/slides/slide35.xml" Id="Rc471360643664313" /><Relationship Type="http://schemas.openxmlformats.org/officeDocument/2006/relationships/slide" Target="/ppt/slides/slide36.xml" Id="Re0cde3a0b4ba4de8" /><Relationship Type="http://schemas.openxmlformats.org/officeDocument/2006/relationships/slide" Target="/ppt/slides/slide37.xml" Id="Rb9ea9e64d72e45ea" /><Relationship Type="http://schemas.openxmlformats.org/officeDocument/2006/relationships/slide" Target="/ppt/slides/slide38.xml" Id="Rfb03620f7dd84d78" /><Relationship Type="http://schemas.openxmlformats.org/officeDocument/2006/relationships/slide" Target="/ppt/slides/slide39.xml" Id="Ra131317258af44e2" /><Relationship Type="http://schemas.openxmlformats.org/officeDocument/2006/relationships/slide" Target="/ppt/slides/slide40.xml" Id="Rad3df05631384c14" /><Relationship Type="http://schemas.openxmlformats.org/officeDocument/2006/relationships/slide" Target="/ppt/slides/slide41.xml" Id="Rc95300b870614e9a" /><Relationship Type="http://schemas.openxmlformats.org/officeDocument/2006/relationships/slide" Target="/ppt/slides/slide42.xml" Id="R948c4b54bd0f4632" /><Relationship Type="http://schemas.openxmlformats.org/officeDocument/2006/relationships/slide" Target="/ppt/slides/slide43.xml" Id="R9db4823e16154b95" /><Relationship Type="http://schemas.openxmlformats.org/officeDocument/2006/relationships/slide" Target="/ppt/slides/slide44.xml" Id="Rb48f0441baff4f6b" /><Relationship Type="http://schemas.openxmlformats.org/officeDocument/2006/relationships/slide" Target="/ppt/slides/slide45.xml" Id="Rc86ed9ea94684760" /><Relationship Type="http://schemas.openxmlformats.org/officeDocument/2006/relationships/slide" Target="/ppt/slides/slide46.xml" Id="Refd8eb7efb8a465b" /><Relationship Type="http://schemas.openxmlformats.org/officeDocument/2006/relationships/slide" Target="/ppt/slides/slide47.xml" Id="R6846250e50674a47" /><Relationship Type="http://schemas.openxmlformats.org/officeDocument/2006/relationships/slide" Target="/ppt/slides/slide48.xml" Id="R30e2bfd964ef471b" /><Relationship Type="http://schemas.openxmlformats.org/officeDocument/2006/relationships/slide" Target="/ppt/slides/slide49.xml" Id="R87473f1817004311" /><Relationship Type="http://schemas.openxmlformats.org/officeDocument/2006/relationships/slide" Target="/ppt/slides/slide50.xml" Id="R136cd7a79ccf4be3" /><Relationship Type="http://schemas.openxmlformats.org/officeDocument/2006/relationships/slide" Target="/ppt/slides/slide51.xml" Id="Rbbae28996533413e" /><Relationship Type="http://schemas.openxmlformats.org/officeDocument/2006/relationships/slide" Target="/ppt/slides/slide52.xml" Id="R75b5a7a3069c4803" /><Relationship Type="http://schemas.openxmlformats.org/officeDocument/2006/relationships/slide" Target="/ppt/slides/slide53.xml" Id="R4a5efb5930e446e3" /><Relationship Type="http://schemas.openxmlformats.org/officeDocument/2006/relationships/slide" Target="/ppt/slides/slide54.xml" Id="R680ee7a9fee04c27" /><Relationship Type="http://schemas.openxmlformats.org/officeDocument/2006/relationships/slide" Target="/ppt/slides/slide55.xml" Id="R20b937d497f545e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5dcc54b067743a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1e3e051b3524c83" /><Relationship Type="http://schemas.openxmlformats.org/officeDocument/2006/relationships/notesMaster" Target="/ppt/notesMasters/notesMaster1.xml" Id="Rd60cc564b04a481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e7102ef272843ad" /><Relationship Type="http://schemas.openxmlformats.org/officeDocument/2006/relationships/notesMaster" Target="/ppt/notesMasters/notesMaster1.xml" Id="Rb9459135dd6a497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84e472730264f12" /><Relationship Type="http://schemas.openxmlformats.org/officeDocument/2006/relationships/notesMaster" Target="/ppt/notesMasters/notesMaster1.xml" Id="R86b535b555d3444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9d6c8983d074668" /><Relationship Type="http://schemas.openxmlformats.org/officeDocument/2006/relationships/notesMaster" Target="/ppt/notesMasters/notesMaster1.xml" Id="R52d5a161409646b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3cd89bb31f64231" /><Relationship Type="http://schemas.openxmlformats.org/officeDocument/2006/relationships/notesMaster" Target="/ppt/notesMasters/notesMaster1.xml" Id="R09e48380c07e4b5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88c86f045f84301" /><Relationship Type="http://schemas.openxmlformats.org/officeDocument/2006/relationships/notesMaster" Target="/ppt/notesMasters/notesMaster1.xml" Id="R33c0d3cec4784d3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1672c4b9d984f89" /><Relationship Type="http://schemas.openxmlformats.org/officeDocument/2006/relationships/notesMaster" Target="/ppt/notesMasters/notesMaster1.xml" Id="Rd09846f72cea473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5b0d94f6c3c4b24" /><Relationship Type="http://schemas.openxmlformats.org/officeDocument/2006/relationships/notesMaster" Target="/ppt/notesMasters/notesMaster1.xml" Id="R302eb2a5043849b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4f7c6315dde40f8" /><Relationship Type="http://schemas.openxmlformats.org/officeDocument/2006/relationships/notesMaster" Target="/ppt/notesMasters/notesMaster1.xml" Id="R8add09eddc8247f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654c4628c364690" /><Relationship Type="http://schemas.openxmlformats.org/officeDocument/2006/relationships/notesMaster" Target="/ppt/notesMasters/notesMaster1.xml" Id="R5d99888bafaf4f9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91117ff7425412e" /><Relationship Type="http://schemas.openxmlformats.org/officeDocument/2006/relationships/notesMaster" Target="/ppt/notesMasters/notesMaster1.xml" Id="R6a4d2c61d0b8488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81faca8cb1545b6" /><Relationship Type="http://schemas.openxmlformats.org/officeDocument/2006/relationships/notesMaster" Target="/ppt/notesMasters/notesMaster1.xml" Id="Re8c871705f514bd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8080c6d73f8460a" /><Relationship Type="http://schemas.openxmlformats.org/officeDocument/2006/relationships/notesMaster" Target="/ppt/notesMasters/notesMaster1.xml" Id="Ra91f6b460bc3401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5c8b4e65a8a46f6" /><Relationship Type="http://schemas.openxmlformats.org/officeDocument/2006/relationships/notesMaster" Target="/ppt/notesMasters/notesMaster1.xml" Id="Raf54e89cafad479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e83ae80dd0840be" /><Relationship Type="http://schemas.openxmlformats.org/officeDocument/2006/relationships/notesMaster" Target="/ppt/notesMasters/notesMaster1.xml" Id="R9e67f74bfd594b6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1a05f76edf84205" /><Relationship Type="http://schemas.openxmlformats.org/officeDocument/2006/relationships/notesMaster" Target="/ppt/notesMasters/notesMaster1.xml" Id="Rbb4f9ffae5784d3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a24ae2697a244e8" /><Relationship Type="http://schemas.openxmlformats.org/officeDocument/2006/relationships/notesMaster" Target="/ppt/notesMasters/notesMaster1.xml" Id="Rb59d0c1873aa4f1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632d885d5f44ab1" /><Relationship Type="http://schemas.openxmlformats.org/officeDocument/2006/relationships/notesMaster" Target="/ppt/notesMasters/notesMaster1.xml" Id="Ra413710634634fe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64012c5d4244415" /><Relationship Type="http://schemas.openxmlformats.org/officeDocument/2006/relationships/notesMaster" Target="/ppt/notesMasters/notesMaster1.xml" Id="R79cef276abfe469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ee7a1884ced41d7" /><Relationship Type="http://schemas.openxmlformats.org/officeDocument/2006/relationships/notesMaster" Target="/ppt/notesMasters/notesMaster1.xml" Id="R9cb1dfc62ec548d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61ab2dfb518412d" /><Relationship Type="http://schemas.openxmlformats.org/officeDocument/2006/relationships/notesMaster" Target="/ppt/notesMasters/notesMaster1.xml" Id="Rcd20955625fc4a9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c42e515945e4614" /><Relationship Type="http://schemas.openxmlformats.org/officeDocument/2006/relationships/notesMaster" Target="/ppt/notesMasters/notesMaster1.xml" Id="Rec50f98270ea4373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0d03946e3fc42c6" /><Relationship Type="http://schemas.openxmlformats.org/officeDocument/2006/relationships/notesMaster" Target="/ppt/notesMasters/notesMaster1.xml" Id="R9f52ee272db74ad2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6ba2d0b9289f4d7a" /><Relationship Type="http://schemas.openxmlformats.org/officeDocument/2006/relationships/notesMaster" Target="/ppt/notesMasters/notesMaster1.xml" Id="R7c11b457081546b2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a55d1cef3f674268" /><Relationship Type="http://schemas.openxmlformats.org/officeDocument/2006/relationships/notesMaster" Target="/ppt/notesMasters/notesMaster1.xml" Id="Ra83996a5dbf44520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8832271edefe4148" /><Relationship Type="http://schemas.openxmlformats.org/officeDocument/2006/relationships/notesMaster" Target="/ppt/notesMasters/notesMaster1.xml" Id="R16523868b0684255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e9294175da2f41db" /><Relationship Type="http://schemas.openxmlformats.org/officeDocument/2006/relationships/notesMaster" Target="/ppt/notesMasters/notesMaster1.xml" Id="R3e51ef5f39174aa0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726b11b048c24472" /><Relationship Type="http://schemas.openxmlformats.org/officeDocument/2006/relationships/notesMaster" Target="/ppt/notesMasters/notesMaster1.xml" Id="R2fb50dac6d334c52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38322a4824f94e70" /><Relationship Type="http://schemas.openxmlformats.org/officeDocument/2006/relationships/notesMaster" Target="/ppt/notesMasters/notesMaster1.xml" Id="R42498489a6404c9e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25662b2d31ae40f2" /><Relationship Type="http://schemas.openxmlformats.org/officeDocument/2006/relationships/notesMaster" Target="/ppt/notesMasters/notesMaster1.xml" Id="R910e52159270440e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37fb8867dde141f3" /><Relationship Type="http://schemas.openxmlformats.org/officeDocument/2006/relationships/notesMaster" Target="/ppt/notesMasters/notesMaster1.xml" Id="Rc81a57bb80f94a0f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ba6605e04569488d" /><Relationship Type="http://schemas.openxmlformats.org/officeDocument/2006/relationships/notesMaster" Target="/ppt/notesMasters/notesMaster1.xml" Id="R55b86a8d908045e4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82f7a97665504090" /><Relationship Type="http://schemas.openxmlformats.org/officeDocument/2006/relationships/notesMaster" Target="/ppt/notesMasters/notesMaster1.xml" Id="Rcc1f9d03ebbf4ac6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b317d239cd1047e6" /><Relationship Type="http://schemas.openxmlformats.org/officeDocument/2006/relationships/notesMaster" Target="/ppt/notesMasters/notesMaster1.xml" Id="Rf1cda438de684192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a07087e1149c4809" /><Relationship Type="http://schemas.openxmlformats.org/officeDocument/2006/relationships/notesMaster" Target="/ppt/notesMasters/notesMaster1.xml" Id="R0f65171f0f6647a3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3fd7dd0067bb4508" /><Relationship Type="http://schemas.openxmlformats.org/officeDocument/2006/relationships/notesMaster" Target="/ppt/notesMasters/notesMaster1.xml" Id="R95aa4b10800f4833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19179b060243429c" /><Relationship Type="http://schemas.openxmlformats.org/officeDocument/2006/relationships/notesMaster" Target="/ppt/notesMasters/notesMaster1.xml" Id="R1cc55d603a024968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90ce4922299c4925" /><Relationship Type="http://schemas.openxmlformats.org/officeDocument/2006/relationships/notesMaster" Target="/ppt/notesMasters/notesMaster1.xml" Id="R75fbfff26a3a4b54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bc628c94abe9496e" /><Relationship Type="http://schemas.openxmlformats.org/officeDocument/2006/relationships/notesMaster" Target="/ppt/notesMasters/notesMaster1.xml" Id="Re7fcd52959fe4caf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0fac1304fff34821" /><Relationship Type="http://schemas.openxmlformats.org/officeDocument/2006/relationships/notesMaster" Target="/ppt/notesMasters/notesMaster1.xml" Id="R39be7d2f88bd4964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26e081325483467a" /><Relationship Type="http://schemas.openxmlformats.org/officeDocument/2006/relationships/notesMaster" Target="/ppt/notesMasters/notesMaster1.xml" Id="R9c8fad2fb3dd4a3f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af6611a10f194aa8" /><Relationship Type="http://schemas.openxmlformats.org/officeDocument/2006/relationships/notesMaster" Target="/ppt/notesMasters/notesMaster1.xml" Id="R573afe314a6f4c91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74bf469259d6462e" /><Relationship Type="http://schemas.openxmlformats.org/officeDocument/2006/relationships/notesMaster" Target="/ppt/notesMasters/notesMaster1.xml" Id="R1aad8b4d7e374edf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7b803ebd09f7401b" /><Relationship Type="http://schemas.openxmlformats.org/officeDocument/2006/relationships/notesMaster" Target="/ppt/notesMasters/notesMaster1.xml" Id="Rc8edebba30b648ae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6d68570b4da944ae" /><Relationship Type="http://schemas.openxmlformats.org/officeDocument/2006/relationships/notesMaster" Target="/ppt/notesMasters/notesMaster1.xml" Id="Rfc65b0126aae46d0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3f2770b311054921" /><Relationship Type="http://schemas.openxmlformats.org/officeDocument/2006/relationships/notesMaster" Target="/ppt/notesMasters/notesMaster1.xml" Id="R2b1b6c54a96245cc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5d2e4239dbe74d79" /><Relationship Type="http://schemas.openxmlformats.org/officeDocument/2006/relationships/notesMaster" Target="/ppt/notesMasters/notesMaster1.xml" Id="R88742906dcf74e9d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fc563b27a077428b" /><Relationship Type="http://schemas.openxmlformats.org/officeDocument/2006/relationships/notesMaster" Target="/ppt/notesMasters/notesMaster1.xml" Id="R38f2b156093a4a9b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1d496427e918430c" /><Relationship Type="http://schemas.openxmlformats.org/officeDocument/2006/relationships/notesMaster" Target="/ppt/notesMasters/notesMaster1.xml" Id="R42bbd077b68145d2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4c5b7ab857fc41b5" /><Relationship Type="http://schemas.openxmlformats.org/officeDocument/2006/relationships/notesMaster" Target="/ppt/notesMasters/notesMaster1.xml" Id="R95c323f42ed144dd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4ca85e7673f74274" /><Relationship Type="http://schemas.openxmlformats.org/officeDocument/2006/relationships/notesMaster" Target="/ppt/notesMasters/notesMaster1.xml" Id="Rff33123821e34fc9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be9abc9e550743f2" /><Relationship Type="http://schemas.openxmlformats.org/officeDocument/2006/relationships/notesMaster" Target="/ppt/notesMasters/notesMaster1.xml" Id="R2cdee0a5f7504599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4731025b2dbb47f3" /><Relationship Type="http://schemas.openxmlformats.org/officeDocument/2006/relationships/notesMaster" Target="/ppt/notesMasters/notesMaster1.xml" Id="Rbc06e01a0b6f404c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f48f3796c4084743" /><Relationship Type="http://schemas.openxmlformats.org/officeDocument/2006/relationships/notesMaster" Target="/ppt/notesMasters/notesMaster1.xml" Id="R451f3ea902344c6c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2d49fe9a13434568" /><Relationship Type="http://schemas.openxmlformats.org/officeDocument/2006/relationships/notesMaster" Target="/ppt/notesMasters/notesMaster1.xml" Id="R9797d9b785214d0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c1eddeec80403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59bacc6ef734031" /><Relationship Type="http://schemas.openxmlformats.org/officeDocument/2006/relationships/slideLayout" Target="/ppt/slideLayouts/slideLayout1.xml" Id="Rc2847938c882427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2847938c882427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6b6f348a1c4022" /><Relationship Type="http://schemas.openxmlformats.org/officeDocument/2006/relationships/notesSlide" Target="/ppt/notesSlides/notesSlide1.xml" Id="R27ac81462022420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eaf4c520604999" /><Relationship Type="http://schemas.openxmlformats.org/officeDocument/2006/relationships/notesSlide" Target="/ppt/notesSlides/notesSlide2.xml" Id="Re5219064433e417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5048e4b42d422f" /><Relationship Type="http://schemas.openxmlformats.org/officeDocument/2006/relationships/chart" Target="/ppt/slides/charts/chart1.xml" Id="Rf8ed61617e2c494f" /><Relationship Type="http://schemas.openxmlformats.org/officeDocument/2006/relationships/notesSlide" Target="/ppt/notesSlides/notesSlide3.xml" Id="R800b11d0b3954ed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95d8c2e7d344dc" /><Relationship Type="http://schemas.openxmlformats.org/officeDocument/2006/relationships/chart" Target="/ppt/slides/charts/chart2.xml" Id="Rfbc1a1befa5848b9" /><Relationship Type="http://schemas.openxmlformats.org/officeDocument/2006/relationships/chart" Target="/ppt/slides/charts/chart3.xml" Id="R268c91035b1c4692" /><Relationship Type="http://schemas.openxmlformats.org/officeDocument/2006/relationships/chart" Target="/ppt/slides/charts/chart4.xml" Id="R7a5103aa13fb47ec" /><Relationship Type="http://schemas.openxmlformats.org/officeDocument/2006/relationships/notesSlide" Target="/ppt/notesSlides/notesSlide4.xml" Id="Ra97b6f31469e495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52de071cb04d2f" /><Relationship Type="http://schemas.openxmlformats.org/officeDocument/2006/relationships/chart" Target="/ppt/slides/charts/chart5.xml" Id="R049807ce636042c6" /><Relationship Type="http://schemas.openxmlformats.org/officeDocument/2006/relationships/chart" Target="/ppt/slides/charts/chart6.xml" Id="Rc422112a31e24874" /><Relationship Type="http://schemas.openxmlformats.org/officeDocument/2006/relationships/chart" Target="/ppt/slides/charts/chart7.xml" Id="R1e2668f2bdce4db0" /><Relationship Type="http://schemas.openxmlformats.org/officeDocument/2006/relationships/chart" Target="/ppt/slides/charts/chart8.xml" Id="R1f4e35dab90f4892" /><Relationship Type="http://schemas.openxmlformats.org/officeDocument/2006/relationships/notesSlide" Target="/ppt/notesSlides/notesSlide5.xml" Id="R595d189ff40b48d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301ba7844d402e" /><Relationship Type="http://schemas.openxmlformats.org/officeDocument/2006/relationships/chart" Target="/ppt/slides/charts/chart9.xml" Id="Ra766fa28e4484cf7" /><Relationship Type="http://schemas.openxmlformats.org/officeDocument/2006/relationships/chart" Target="/ppt/slides/charts/chart10.xml" Id="Ra544760830ad4ecc" /><Relationship Type="http://schemas.openxmlformats.org/officeDocument/2006/relationships/notesSlide" Target="/ppt/notesSlides/notesSlide6.xml" Id="Ra14fe79ac717405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f655b4a6fe4ad6" /><Relationship Type="http://schemas.openxmlformats.org/officeDocument/2006/relationships/chart" Target="/ppt/slides/charts/chart11.xml" Id="R5b771b6b58b64488" /><Relationship Type="http://schemas.openxmlformats.org/officeDocument/2006/relationships/chart" Target="/ppt/slides/charts/chart12.xml" Id="R24f617b0bb9946f5" /><Relationship Type="http://schemas.openxmlformats.org/officeDocument/2006/relationships/notesSlide" Target="/ppt/notesSlides/notesSlide7.xml" Id="R7d5a602c132a465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4cca0cf97a41be" /><Relationship Type="http://schemas.openxmlformats.org/officeDocument/2006/relationships/chart" Target="/ppt/slides/charts/chart13.xml" Id="R70e20423ac8a4c8d" /><Relationship Type="http://schemas.openxmlformats.org/officeDocument/2006/relationships/chart" Target="/ppt/slides/charts/chart14.xml" Id="R5783d71a580f4b61" /><Relationship Type="http://schemas.openxmlformats.org/officeDocument/2006/relationships/notesSlide" Target="/ppt/notesSlides/notesSlide8.xml" Id="Rc60dedf4bf2144e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56704b8a184888" /><Relationship Type="http://schemas.openxmlformats.org/officeDocument/2006/relationships/chart" Target="/ppt/slides/charts/chart15.xml" Id="Rc556dfb0ba3d49f0" /><Relationship Type="http://schemas.openxmlformats.org/officeDocument/2006/relationships/notesSlide" Target="/ppt/notesSlides/notesSlide9.xml" Id="Re996765fbc8448f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a0011852f24fdf" /><Relationship Type="http://schemas.openxmlformats.org/officeDocument/2006/relationships/chart" Target="/ppt/slides/charts/chart16.xml" Id="R5f8329fa30da4982" /><Relationship Type="http://schemas.openxmlformats.org/officeDocument/2006/relationships/notesSlide" Target="/ppt/notesSlides/notesSlide10.xml" Id="R08d23cff6e24493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2d6d0923df4d58" /><Relationship Type="http://schemas.openxmlformats.org/officeDocument/2006/relationships/chart" Target="/ppt/slides/charts/chart17.xml" Id="R0c9f4a64f8234b4b" /><Relationship Type="http://schemas.openxmlformats.org/officeDocument/2006/relationships/notesSlide" Target="/ppt/notesSlides/notesSlide11.xml" Id="Rf0d12e6dbebb43e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5de4f01f8d4935" /><Relationship Type="http://schemas.openxmlformats.org/officeDocument/2006/relationships/chart" Target="/ppt/slides/charts/chart18.xml" Id="R12908716088644b8" /><Relationship Type="http://schemas.openxmlformats.org/officeDocument/2006/relationships/chart" Target="/ppt/slides/charts/chart19.xml" Id="R6603506e2d6c4703" /><Relationship Type="http://schemas.openxmlformats.org/officeDocument/2006/relationships/notesSlide" Target="/ppt/notesSlides/notesSlide12.xml" Id="Rffddd81c116d403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24929d00524058" /><Relationship Type="http://schemas.openxmlformats.org/officeDocument/2006/relationships/chart" Target="/ppt/slides/charts/chart20.xml" Id="R5546dd70a9504b81" /><Relationship Type="http://schemas.openxmlformats.org/officeDocument/2006/relationships/notesSlide" Target="/ppt/notesSlides/notesSlide13.xml" Id="Rf508629211db49f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1c562e8a744512" /><Relationship Type="http://schemas.openxmlformats.org/officeDocument/2006/relationships/chart" Target="/ppt/slides/charts/chart21.xml" Id="R9152316b9b114fc5" /><Relationship Type="http://schemas.openxmlformats.org/officeDocument/2006/relationships/notesSlide" Target="/ppt/notesSlides/notesSlide14.xml" Id="R28bcb8322c064ef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70b063ad734db4" /><Relationship Type="http://schemas.openxmlformats.org/officeDocument/2006/relationships/chart" Target="/ppt/slides/charts/chart22.xml" Id="R604fc226c88543e4" /><Relationship Type="http://schemas.openxmlformats.org/officeDocument/2006/relationships/notesSlide" Target="/ppt/notesSlides/notesSlide15.xml" Id="Rb572c51c2a3b46d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fe7260225d414d" /><Relationship Type="http://schemas.openxmlformats.org/officeDocument/2006/relationships/chart" Target="/ppt/slides/charts/chart23.xml" Id="R7c1ffd930e064a05" /><Relationship Type="http://schemas.openxmlformats.org/officeDocument/2006/relationships/chart" Target="/ppt/slides/charts/chart24.xml" Id="R9950e6401f984a7a" /><Relationship Type="http://schemas.openxmlformats.org/officeDocument/2006/relationships/chart" Target="/ppt/slides/charts/chart25.xml" Id="R80624da5f4d04c31" /><Relationship Type="http://schemas.openxmlformats.org/officeDocument/2006/relationships/notesSlide" Target="/ppt/notesSlides/notesSlide16.xml" Id="R7fc21f82e8ab4fa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18a429c7724668" /><Relationship Type="http://schemas.openxmlformats.org/officeDocument/2006/relationships/chart" Target="/ppt/slides/charts/chart26.xml" Id="R21b99cf61d9a4450" /><Relationship Type="http://schemas.openxmlformats.org/officeDocument/2006/relationships/chart" Target="/ppt/slides/charts/chart27.xml" Id="R7c3e619993c243e1" /><Relationship Type="http://schemas.openxmlformats.org/officeDocument/2006/relationships/chart" Target="/ppt/slides/charts/chart28.xml" Id="R126fbb422927465c" /><Relationship Type="http://schemas.openxmlformats.org/officeDocument/2006/relationships/notesSlide" Target="/ppt/notesSlides/notesSlide17.xml" Id="R4ec46c30a3d14d7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848a5c923b4bb5" /><Relationship Type="http://schemas.openxmlformats.org/officeDocument/2006/relationships/chart" Target="/ppt/slides/charts/chart29.xml" Id="R293fad88d4504193" /><Relationship Type="http://schemas.openxmlformats.org/officeDocument/2006/relationships/notesSlide" Target="/ppt/notesSlides/notesSlide18.xml" Id="R6bac2cf0f7364b1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dd90aba17a4a4b" /><Relationship Type="http://schemas.openxmlformats.org/officeDocument/2006/relationships/chart" Target="/ppt/slides/charts/chart30.xml" Id="R790704d492bc4d11" /><Relationship Type="http://schemas.openxmlformats.org/officeDocument/2006/relationships/chart" Target="/ppt/slides/charts/chart31.xml" Id="R9320ca41e821470a" /><Relationship Type="http://schemas.openxmlformats.org/officeDocument/2006/relationships/notesSlide" Target="/ppt/notesSlides/notesSlide19.xml" Id="R273dceccd8454e5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0a482f22014e05" /><Relationship Type="http://schemas.openxmlformats.org/officeDocument/2006/relationships/image" Target="/ppt/media/image.png" Id="R4e9e1fe544e6496d" /><Relationship Type="http://schemas.openxmlformats.org/officeDocument/2006/relationships/notesSlide" Target="/ppt/notesSlides/notesSlide20.xml" Id="R57d76060263a48d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bc2eb9980a4954" /><Relationship Type="http://schemas.openxmlformats.org/officeDocument/2006/relationships/image" Target="/ppt/media/image2.png" Id="R062f9128df4e4deb" /><Relationship Type="http://schemas.openxmlformats.org/officeDocument/2006/relationships/notesSlide" Target="/ppt/notesSlides/notesSlide21.xml" Id="R0f8c31caca50432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7d071654134724" /><Relationship Type="http://schemas.openxmlformats.org/officeDocument/2006/relationships/image" Target="/ppt/media/image3.png" Id="R9dfd9c5ff5594cec" /><Relationship Type="http://schemas.openxmlformats.org/officeDocument/2006/relationships/notesSlide" Target="/ppt/notesSlides/notesSlide22.xml" Id="Rb1e5c27eb175466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bbe484d9534009" /><Relationship Type="http://schemas.openxmlformats.org/officeDocument/2006/relationships/image" Target="/ppt/media/image4.png" Id="R1c16334a99984271" /><Relationship Type="http://schemas.openxmlformats.org/officeDocument/2006/relationships/notesSlide" Target="/ppt/notesSlides/notesSlide23.xml" Id="R362b014188a947c3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0cc855d94645af" /><Relationship Type="http://schemas.openxmlformats.org/officeDocument/2006/relationships/notesSlide" Target="/ppt/notesSlides/notesSlide24.xml" Id="R0f0a0ad85781407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f75da884104b00" /><Relationship Type="http://schemas.openxmlformats.org/officeDocument/2006/relationships/notesSlide" Target="/ppt/notesSlides/notesSlide25.xml" Id="R2ab0fc43163e4795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469e08f24a4b40" /><Relationship Type="http://schemas.openxmlformats.org/officeDocument/2006/relationships/chart" Target="/ppt/slides/charts/chart32.xml" Id="Raa44d1f2a001405d" /><Relationship Type="http://schemas.openxmlformats.org/officeDocument/2006/relationships/notesSlide" Target="/ppt/notesSlides/notesSlide26.xml" Id="Rf3a28cb3ff954702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72a6650f87463e" /><Relationship Type="http://schemas.openxmlformats.org/officeDocument/2006/relationships/notesSlide" Target="/ppt/notesSlides/notesSlide27.xml" Id="Rd5e01908f0614c3a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4c3618e3644fad" /><Relationship Type="http://schemas.openxmlformats.org/officeDocument/2006/relationships/chart" Target="/ppt/slides/charts/chart33.xml" Id="R0526d258ac9a4643" /><Relationship Type="http://schemas.openxmlformats.org/officeDocument/2006/relationships/notesSlide" Target="/ppt/notesSlides/notesSlide28.xml" Id="Rb8faa14cba9e4391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1443a5f05d4192" /><Relationship Type="http://schemas.openxmlformats.org/officeDocument/2006/relationships/chart" Target="/ppt/slides/charts/chart34.xml" Id="R62d0d66d01ad43bd" /><Relationship Type="http://schemas.openxmlformats.org/officeDocument/2006/relationships/notesSlide" Target="/ppt/notesSlides/notesSlide29.xml" Id="R34ba7334503247b7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fd0191ff6b4a9f" /><Relationship Type="http://schemas.openxmlformats.org/officeDocument/2006/relationships/notesSlide" Target="/ppt/notesSlides/notesSlide30.xml" Id="Re43b602aef1a4322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0450a0b9f441d0" /><Relationship Type="http://schemas.openxmlformats.org/officeDocument/2006/relationships/notesSlide" Target="/ppt/notesSlides/notesSlide31.xml" Id="Rb84ec54264894cff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faaea392aa4032" /><Relationship Type="http://schemas.openxmlformats.org/officeDocument/2006/relationships/chart" Target="/ppt/slides/charts/chart35.xml" Id="Rbb4edddb28a54a68" /><Relationship Type="http://schemas.openxmlformats.org/officeDocument/2006/relationships/notesSlide" Target="/ppt/notesSlides/notesSlide32.xml" Id="R5cc7c81914244fd2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adefb86047464b" /><Relationship Type="http://schemas.openxmlformats.org/officeDocument/2006/relationships/chart" Target="/ppt/slides/charts/chart36.xml" Id="R1cb9629498de4cd3" /><Relationship Type="http://schemas.openxmlformats.org/officeDocument/2006/relationships/notesSlide" Target="/ppt/notesSlides/notesSlide33.xml" Id="R906497f41f8d4012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6f61b1220a4fac" /><Relationship Type="http://schemas.openxmlformats.org/officeDocument/2006/relationships/chart" Target="/ppt/slides/charts/chart37.xml" Id="R5d60c9e84ea74d78" /><Relationship Type="http://schemas.openxmlformats.org/officeDocument/2006/relationships/notesSlide" Target="/ppt/notesSlides/notesSlide34.xml" Id="Rab676a56696849ee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d5e4fddd414348" /><Relationship Type="http://schemas.openxmlformats.org/officeDocument/2006/relationships/notesSlide" Target="/ppt/notesSlides/notesSlide35.xml" Id="R444fca7e2e8841ad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42997cdac64795" /><Relationship Type="http://schemas.openxmlformats.org/officeDocument/2006/relationships/notesSlide" Target="/ppt/notesSlides/notesSlide36.xml" Id="R9f4f0a0fb6914c50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a0d753ab2f46a6" /><Relationship Type="http://schemas.openxmlformats.org/officeDocument/2006/relationships/notesSlide" Target="/ppt/notesSlides/notesSlide37.xml" Id="R0b857a1cfece406f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bc954583c74488" /><Relationship Type="http://schemas.openxmlformats.org/officeDocument/2006/relationships/notesSlide" Target="/ppt/notesSlides/notesSlide38.xml" Id="Rbed2a078ce9849aa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6e364a8bc74bd9" /><Relationship Type="http://schemas.openxmlformats.org/officeDocument/2006/relationships/notesSlide" Target="/ppt/notesSlides/notesSlide39.xml" Id="Rf5f9b70d0823457c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0a6eb32f2a49bb" /><Relationship Type="http://schemas.openxmlformats.org/officeDocument/2006/relationships/notesSlide" Target="/ppt/notesSlides/notesSlide40.xml" Id="R388fce9412ac4637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2dca3fd6ba4d89" /><Relationship Type="http://schemas.openxmlformats.org/officeDocument/2006/relationships/notesSlide" Target="/ppt/notesSlides/notesSlide41.xml" Id="R18ab68d9e80345a6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d8343aa80d470e" /><Relationship Type="http://schemas.openxmlformats.org/officeDocument/2006/relationships/notesSlide" Target="/ppt/notesSlides/notesSlide42.xml" Id="R340235903e344817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1e6fa2de424a5b" /><Relationship Type="http://schemas.openxmlformats.org/officeDocument/2006/relationships/notesSlide" Target="/ppt/notesSlides/notesSlide43.xml" Id="R26a7d32641294b64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b58fbfac914409" /><Relationship Type="http://schemas.openxmlformats.org/officeDocument/2006/relationships/notesSlide" Target="/ppt/notesSlides/notesSlide44.xml" Id="Rb86ef6f0e208481c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3e1ea701b64e54" /><Relationship Type="http://schemas.openxmlformats.org/officeDocument/2006/relationships/notesSlide" Target="/ppt/notesSlides/notesSlide45.xml" Id="Re37d8d780a11464c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ddd7a512f445b0" /><Relationship Type="http://schemas.openxmlformats.org/officeDocument/2006/relationships/notesSlide" Target="/ppt/notesSlides/notesSlide46.xml" Id="R69c28205d8cf4e38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108fd7038b4768" /><Relationship Type="http://schemas.openxmlformats.org/officeDocument/2006/relationships/notesSlide" Target="/ppt/notesSlides/notesSlide47.xml" Id="Rac0592b17fa14181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0d9acaeb5f4ebe" /><Relationship Type="http://schemas.openxmlformats.org/officeDocument/2006/relationships/notesSlide" Target="/ppt/notesSlides/notesSlide48.xml" Id="Rb7bc43b8712f4717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3d7665dc6f4496" /><Relationship Type="http://schemas.openxmlformats.org/officeDocument/2006/relationships/notesSlide" Target="/ppt/notesSlides/notesSlide49.xml" Id="Ra1b8ef16604a4d72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3aeaff2f104f8e" /><Relationship Type="http://schemas.openxmlformats.org/officeDocument/2006/relationships/notesSlide" Target="/ppt/notesSlides/notesSlide50.xml" Id="R85d2090c33df4847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23b6953f5e4148" /><Relationship Type="http://schemas.openxmlformats.org/officeDocument/2006/relationships/notesSlide" Target="/ppt/notesSlides/notesSlide51.xml" Id="R48468360af0e447b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c98e887f9946ad" /><Relationship Type="http://schemas.openxmlformats.org/officeDocument/2006/relationships/notesSlide" Target="/ppt/notesSlides/notesSlide52.xml" Id="R719c3f55d93941a5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36795027664be9" /><Relationship Type="http://schemas.openxmlformats.org/officeDocument/2006/relationships/notesSlide" Target="/ppt/notesSlides/notesSlide53.xml" Id="Rafb99deaa5824875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fbc82e316f4e89" /><Relationship Type="http://schemas.openxmlformats.org/officeDocument/2006/relationships/notesSlide" Target="/ppt/notesSlides/notesSlide54.xml" Id="R3c2f868216714ea5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2a73c1ee854daa" /><Relationship Type="http://schemas.openxmlformats.org/officeDocument/2006/relationships/notesSlide" Target="/ppt/notesSlides/notesSlide55.xml" Id="R311a0dda86b54758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PL ex-FIC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Mai/26</c:v>
              </c:pt>
            </c:strLit>
          </c:cat>
          <c:val>
            <c:numLit>
              <c:formatCode>R$ 0 "bi"</c:formatCode>
              <c:ptCount val="12"/>
              <c:pt idx="0">
                <c:v>82.47394622656002</c:v>
              </c:pt>
              <c:pt idx="1">
                <c:v>91.06663976073001</c:v>
              </c:pt>
              <c:pt idx="2">
                <c:v>110.23395407848999</c:v>
              </c:pt>
              <c:pt idx="3">
                <c:v>131.21875156630003</c:v>
              </c:pt>
              <c:pt idx="4">
                <c:v>229.98374932763</c:v>
              </c:pt>
              <c:pt idx="5">
                <c:v>209.08922654930998</c:v>
              </c:pt>
              <c:pt idx="6">
                <c:v>298.49643822765995</c:v>
              </c:pt>
              <c:pt idx="7">
                <c:v>365.94088087975</c:v>
              </c:pt>
              <c:pt idx="8">
                <c:v>461.75630329412</c:v>
              </c:pt>
              <c:pt idx="9">
                <c:v>682.8970336474498</c:v>
              </c:pt>
              <c:pt idx="10">
                <c:v>833.21732156482</c:v>
              </c:pt>
              <c:pt idx="11">
                <c:v>880.0902938555801</c:v>
              </c:pt>
            </c:numLit>
          </c:val>
        </c:ser>
        <c:ser>
          <c:idx val="1"/>
          <c:order val="1"/>
          <c:tx>
            <c:v>FIC-FIDC</c:v>
          </c:tx>
          <c:spPr>
            <a:solidFill xmlns:a="http://schemas.openxmlformats.org/drawingml/2006/main">
              <a:srgbClr val="D7DADD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94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115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142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237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218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309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379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485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732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919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959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Mai/26</c:v>
              </c:pt>
            </c:strLit>
          </c:cat>
          <c:val>
            <c:numLit>
              <c:formatCode>R$ 0 "bi"</c:formatCode>
              <c:ptCount val="12"/>
              <c:pt idx="0">
                <c:v>2.21705534786</c:v>
              </c:pt>
              <c:pt idx="1">
                <c:v>2.73660182632</c:v>
              </c:pt>
              <c:pt idx="2">
                <c:v>5.014084339129999</c:v>
              </c:pt>
              <c:pt idx="3">
                <c:v>10.35147572571</c:v>
              </c:pt>
              <c:pt idx="4">
                <c:v>7.459670380239999</c:v>
              </c:pt>
              <c:pt idx="5">
                <c:v>8.676012592049998</c:v>
              </c:pt>
              <c:pt idx="6">
                <c:v>10.4495380832</c:v>
              </c:pt>
              <c:pt idx="7">
                <c:v>12.957632591489999</c:v>
              </c:pt>
              <c:pt idx="8">
                <c:v>23.60292220748</c:v>
              </c:pt>
              <c:pt idx="9">
                <c:v>48.94008080363</c:v>
              </c:pt>
              <c:pt idx="10">
                <c:v>85.90039630022</c:v>
              </c:pt>
              <c:pt idx="11">
                <c:v>78.61281392618</c:v>
              </c:pt>
            </c:numLit>
          </c:val>
        </c:ser>
        <c:gapWidth val="5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R$ 0 &quot;bi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Contas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445.677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Veículos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</c:formatCode>
              <c:ptCount val="12"/>
              <c:pt idx="0">
                <c:v>527</c:v>
              </c:pt>
              <c:pt idx="1">
                <c:v>575</c:v>
              </c:pt>
              <c:pt idx="2">
                <c:v>750</c:v>
              </c:pt>
              <c:pt idx="3">
                <c:v>890</c:v>
              </c:pt>
              <c:pt idx="4">
                <c:v>1042</c:v>
              </c:pt>
              <c:pt idx="5">
                <c:v>1230</c:v>
              </c:pt>
              <c:pt idx="6">
                <c:v>1547</c:v>
              </c:pt>
              <c:pt idx="7">
                <c:v>1912</c:v>
              </c:pt>
              <c:pt idx="8">
                <c:v>2404</c:v>
              </c:pt>
              <c:pt idx="9">
                <c:v>3140</c:v>
              </c:pt>
              <c:pt idx="10">
                <c:v>4007</c:v>
              </c:pt>
              <c:pt idx="11">
                <c:v>4227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EC7000"/>
              </a:solidFill>
            </c:spPr>
          </c:dPt>
          <c:dPt>
            <c:idx val="1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spPr>
              <a:solidFill xmlns:a="http://schemas.openxmlformats.org/drawingml/2006/main">
                <a:srgbClr val="30353A"/>
              </a:solidFill>
            </c:spPr>
          </c:dPt>
          <c:dPt>
            <c:idx val="5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6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  <c:pt idx="5">
                <c:v>Não classificado</c:v>
              </c:pt>
            </c:strLit>
          </c:cat>
          <c:val>
            <c:numLit>
              <c:formatCode>0.0%</c:formatCode>
              <c:ptCount val="6"/>
              <c:pt idx="0">
                <c:v>0.44344895518503313</c:v>
              </c:pt>
              <c:pt idx="1">
                <c:v>0.253151946364744</c:v>
              </c:pt>
              <c:pt idx="2">
                <c:v>0.21658061780168147</c:v>
              </c:pt>
              <c:pt idx="3">
                <c:v>0.08595013877763492</c:v>
              </c:pt>
              <c:pt idx="4">
                <c:v>0.0007965409926920169</c:v>
              </c:pt>
              <c:pt idx="5">
                <c:v>7.180087821449166E-05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5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1</c:v>
              </c:pt>
              <c:pt idx="1">
                <c:v>186</c:v>
              </c:pt>
              <c:pt idx="2">
                <c:v>124</c:v>
              </c:pt>
              <c:pt idx="3">
                <c:v>148</c:v>
              </c:pt>
              <c:pt idx="4">
                <c:v>126</c:v>
              </c:pt>
              <c:pt idx="5">
                <c:v>193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6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0.5495960022699999</c:v>
              </c:pt>
              <c:pt idx="1">
                <c:v>184.81479596079998</c:v>
              </c:pt>
              <c:pt idx="2">
                <c:v>88.72399138631</c:v>
              </c:pt>
              <c:pt idx="3">
                <c:v>171.16402364894</c:v>
              </c:pt>
              <c:pt idx="4">
                <c:v>77.21175767653</c:v>
              </c:pt>
              <c:pt idx="5">
                <c:v>211.4223398025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7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0.0012853470437017994</c:v>
              </c:pt>
              <c:pt idx="1">
                <c:v>0.2390745501285347</c:v>
              </c:pt>
              <c:pt idx="2">
                <c:v>0.15938303341902313</c:v>
              </c:pt>
              <c:pt idx="3">
                <c:v>0.19023136246786632</c:v>
              </c:pt>
              <c:pt idx="4">
                <c:v>0.16195372750642673</c:v>
              </c:pt>
              <c:pt idx="5">
                <c:v>0.2480719794344473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8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0.0007488841924697938</c:v>
              </c:pt>
              <c:pt idx="1">
                <c:v>0.2518302146629867</c:v>
              </c:pt>
              <c:pt idx="2">
                <c:v>0.12089606614240213</c:v>
              </c:pt>
              <c:pt idx="3">
                <c:v>0.23322955607534634</c:v>
              </c:pt>
              <c:pt idx="4">
                <c:v>0.1052093984634827</c:v>
              </c:pt>
              <c:pt idx="5">
                <c:v>0.28808588046331235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9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</c:formatCode>
              <c:ptCount val="5"/>
              <c:pt idx="0">
                <c:v>167.28018582326</c:v>
              </c:pt>
              <c:pt idx="1">
                <c:v>120.08809595328</c:v>
              </c:pt>
              <c:pt idx="2">
                <c:v>118.90601280922</c:v>
              </c:pt>
              <c:pt idx="3">
                <c:v>50.88905009467</c:v>
              </c:pt>
              <c:pt idx="4">
                <c:v>4.5929586136900005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</c:formatCode>
              <c:ptCount val="5"/>
              <c:pt idx="0">
                <c:v>367.43677886158</c:v>
              </c:pt>
              <c:pt idx="1">
                <c:v>234.07845143214</c:v>
              </c:pt>
              <c:pt idx="2">
                <c:v>173.49802700684</c:v>
              </c:pt>
              <c:pt idx="3">
                <c:v>88.01637854215</c:v>
              </c:pt>
              <c:pt idx="4">
                <c:v>17.06065801287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0.0%</c:formatCode>
              <c:ptCount val="5"/>
              <c:pt idx="0">
                <c:v>0.3622694149054406</c:v>
              </c:pt>
              <c:pt idx="1">
                <c:v>0.26006812488878744</c:v>
              </c:pt>
              <c:pt idx="2">
                <c:v>0.2575081530256485</c:v>
              </c:pt>
              <c:pt idx="3">
                <c:v>0.11020759160542687</c:v>
              </c:pt>
              <c:pt idx="4">
                <c:v>0.00994671557469671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0.0%</c:formatCode>
              <c:ptCount val="5"/>
              <c:pt idx="0">
                <c:v>0.4174989559899353</c:v>
              </c:pt>
              <c:pt idx="1">
                <c:v>0.2659709498745495</c:v>
              </c:pt>
              <c:pt idx="2">
                <c:v>0.19713662134229887</c:v>
              </c:pt>
              <c:pt idx="3">
                <c:v>0.10000835045749659</c:v>
              </c:pt>
              <c:pt idx="4">
                <c:v>0.019385122335719793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N/D</c:v>
              </c:pt>
              <c:pt idx="3">
                <c:v>Industrial</c:v>
              </c:pt>
              <c:pt idx="4">
                <c:v>Serviços</c:v>
              </c:pt>
              <c:pt idx="5">
                <c:v>Adquirência</c:v>
              </c:pt>
              <c:pt idx="6">
                <c:v>Setor público</c:v>
              </c:pt>
              <c:pt idx="7">
                <c:v>Cartão</c:v>
              </c:pt>
              <c:pt idx="8">
                <c:v>Ações judiciais</c:v>
              </c:pt>
              <c:pt idx="9">
                <c:v>Agronegócio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19.32467858927</c:v>
              </c:pt>
              <c:pt idx="3">
                <c:v>48.499678</c:v>
              </c:pt>
              <c:pt idx="4">
                <c:v>26.51274050049</c:v>
              </c:pt>
              <c:pt idx="5">
                <c:v>43.59514348399</c:v>
              </c:pt>
              <c:pt idx="6">
                <c:v>25.154517560259997</c:v>
              </c:pt>
              <c:pt idx="7">
                <c:v>36.23334706194</c:v>
              </c:pt>
              <c:pt idx="8">
                <c:v>27.32144595605</c:v>
              </c:pt>
              <c:pt idx="9">
                <c:v>17.30426139734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N/D</c:v>
              </c:pt>
              <c:pt idx="3">
                <c:v>Industrial</c:v>
              </c:pt>
              <c:pt idx="4">
                <c:v>Serviços</c:v>
              </c:pt>
              <c:pt idx="5">
                <c:v>Adquirência</c:v>
              </c:pt>
              <c:pt idx="6">
                <c:v>Setor público</c:v>
              </c:pt>
              <c:pt idx="7">
                <c:v>Cartão</c:v>
              </c:pt>
              <c:pt idx="8">
                <c:v>Ações judiciais</c:v>
              </c:pt>
              <c:pt idx="9">
                <c:v>Agronegócio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332.9783642844</c:v>
              </c:pt>
              <c:pt idx="1">
                <c:v>113.13010920698</c:v>
              </c:pt>
              <c:pt idx="2">
                <c:v>84.18613848502001</c:v>
              </c:pt>
              <c:pt idx="3">
                <c:v>81.78142711743001</c:v>
              </c:pt>
              <c:pt idx="4">
                <c:v>78.85932230361</c:v>
              </c:pt>
              <c:pt idx="5">
                <c:v>71.78412923471</c:v>
              </c:pt>
              <c:pt idx="6">
                <c:v>44.85384452113</c:v>
              </c:pt>
              <c:pt idx="7">
                <c:v>29.479384406290002</c:v>
              </c:pt>
              <c:pt idx="8">
                <c:v>26.68073480255</c:v>
              </c:pt>
              <c:pt idx="9">
                <c:v>12.13921388159</c:v>
              </c:pt>
              <c:pt idx="10">
                <c:v>4.1245656075</c:v>
              </c:pt>
              <c:pt idx="11">
                <c:v>0.09306000437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N/D</c:v>
              </c:pt>
              <c:pt idx="3">
                <c:v>Industrial</c:v>
              </c:pt>
              <c:pt idx="4">
                <c:v>Serviços</c:v>
              </c:pt>
              <c:pt idx="5">
                <c:v>Adquirência</c:v>
              </c:pt>
              <c:pt idx="6">
                <c:v>Setor público</c:v>
              </c:pt>
              <c:pt idx="7">
                <c:v>Cartão</c:v>
              </c:pt>
              <c:pt idx="8">
                <c:v>Ações judiciais</c:v>
              </c:pt>
              <c:pt idx="9">
                <c:v>Agronegócio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0.2443576468091428</c:v>
              </c:pt>
              <c:pt idx="1">
                <c:v>0.2239249230379844</c:v>
              </c:pt>
              <c:pt idx="2">
                <c:v>0.041850383960998</c:v>
              </c:pt>
              <c:pt idx="3">
                <c:v>0.1050330610627478</c:v>
              </c:pt>
              <c:pt idx="4">
                <c:v>0.0574171707269634</c:v>
              </c:pt>
              <c:pt idx="5">
                <c:v>0.0944115828478938</c:v>
              </c:pt>
              <c:pt idx="6">
                <c:v>0.054475742682472</c:v>
              </c:pt>
              <c:pt idx="7">
                <c:v>0.0784685488935509</c:v>
              </c:pt>
              <c:pt idx="8">
                <c:v>0.0591685392514227</c:v>
              </c:pt>
              <c:pt idx="9">
                <c:v>0.0374748785753291</c:v>
              </c:pt>
              <c:pt idx="10">
                <c:v>0.0029555790750964</c:v>
              </c:pt>
              <c:pt idx="11">
                <c:v>0.0004619430763983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N/D</c:v>
              </c:pt>
              <c:pt idx="3">
                <c:v>Industrial</c:v>
              </c:pt>
              <c:pt idx="4">
                <c:v>Serviços</c:v>
              </c:pt>
              <c:pt idx="5">
                <c:v>Adquirência</c:v>
              </c:pt>
              <c:pt idx="6">
                <c:v>Setor público</c:v>
              </c:pt>
              <c:pt idx="7">
                <c:v>Cartão</c:v>
              </c:pt>
              <c:pt idx="8">
                <c:v>Ações judiciais</c:v>
              </c:pt>
              <c:pt idx="9">
                <c:v>Agronegócio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0.3783456840839114</c:v>
              </c:pt>
              <c:pt idx="1">
                <c:v>0.1285437528362792</c:v>
              </c:pt>
              <c:pt idx="2">
                <c:v>0.0956562514923436</c:v>
              </c:pt>
              <c:pt idx="3">
                <c:v>0.0929239052951651</c:v>
              </c:pt>
              <c:pt idx="4">
                <c:v>0.0896036723210931</c:v>
              </c:pt>
              <c:pt idx="5">
                <c:v>0.0815645050693963</c:v>
              </c:pt>
              <c:pt idx="6">
                <c:v>0.0509650485118182</c:v>
              </c:pt>
              <c:pt idx="7">
                <c:v>0.0334958635632078</c:v>
              </c:pt>
              <c:pt idx="8">
                <c:v>0.0303159062073785</c:v>
              </c:pt>
              <c:pt idx="9">
                <c:v>0.0137931459605234</c:v>
              </c:pt>
              <c:pt idx="10">
                <c:v>0.0046865255034579</c:v>
              </c:pt>
              <c:pt idx="11">
                <c:v>0.0001057391554249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312.05045657159997</c:v>
              </c:pt>
              <c:pt idx="1">
                <c:v>116.43114710328999</c:v>
              </c:pt>
              <c:pt idx="2">
                <c:v>77.84961525946001</c:v>
              </c:pt>
              <c:pt idx="3">
                <c:v>74.12660807569</c:v>
              </c:pt>
              <c:pt idx="4">
                <c:v>70.06538925120002</c:v>
              </c:pt>
              <c:pt idx="5">
                <c:v>38.784257866059995</c:v>
              </c:pt>
              <c:pt idx="6">
                <c:v>27.315528831659996</c:v>
              </c:pt>
              <c:pt idx="7">
                <c:v>9.08208747866</c:v>
              </c:pt>
              <c:pt idx="8">
                <c:v>3.1408293285699997</c:v>
              </c:pt>
              <c:pt idx="9">
                <c:v>0.08783373547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0.4280916545194519</c:v>
              </c:pt>
              <c:pt idx="1">
                <c:v>0.15972802266869487</c:v>
              </c:pt>
              <c:pt idx="2">
                <c:v>0.106799300876774</c:v>
              </c:pt>
              <c:pt idx="3">
                <c:v>0.10169183100604105</c:v>
              </c:pt>
              <c:pt idx="4">
                <c:v>0.09612037982137488</c:v>
              </c:pt>
              <c:pt idx="5">
                <c:v>0.05320683488691222</c:v>
              </c:pt>
              <c:pt idx="6">
                <c:v>0.03747326653545861</c:v>
              </c:pt>
              <c:pt idx="7">
                <c:v>0.012459414089457879</c:v>
              </c:pt>
              <c:pt idx="8">
                <c:v>0.004308799412130456</c:v>
              </c:pt>
              <c:pt idx="9">
                <c:v>0.0001204961837040243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Percentual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spPr>
              <a:solidFill xmlns:a="http://schemas.openxmlformats.org/drawingml/2006/main">
                <a:srgbClr val="EC7000"/>
              </a:solidFill>
            </c:spPr>
          </c:dPt>
          <c:dPt>
            <c:idx val="2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4"/>
              <c:pt idx="0">
                <c:v>Inadimplência bruta</c:v>
              </c:pt>
              <c:pt idx="1">
                <c:v>Ajustada pelo cap</c:v>
              </c:pt>
              <c:pt idx="2">
                <c:v>Ajustada ex-NP</c:v>
              </c:pt>
              <c:pt idx="3">
                <c:v>Excluindo casos acima da carteira</c:v>
              </c:pt>
            </c:strLit>
          </c:cat>
          <c:val>
            <c:numLit>
              <c:formatCode>0.0%</c:formatCode>
              <c:ptCount val="4"/>
              <c:pt idx="0">
                <c:v>0.0802740222867937</c:v>
              </c:pt>
              <c:pt idx="1">
                <c:v>0.0585303345939064</c:v>
              </c:pt>
              <c:pt idx="2">
                <c:v>0.0581799790131143</c:v>
              </c:pt>
              <c:pt idx="3">
                <c:v>0.048395735178671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6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Bruta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0.1953629837546001</c:v>
              </c:pt>
              <c:pt idx="1">
                <c:v>0.1809235440996488</c:v>
              </c:pt>
              <c:pt idx="2">
                <c:v>0.192154933474053</c:v>
              </c:pt>
              <c:pt idx="3">
                <c:v>0.1518453736285437</c:v>
              </c:pt>
              <c:pt idx="4">
                <c:v>0.1435849112425625</c:v>
              </c:pt>
              <c:pt idx="5">
                <c:v>0.1473663046832823</c:v>
              </c:pt>
              <c:pt idx="6">
                <c:v>0.0911001409180365</c:v>
              </c:pt>
              <c:pt idx="7">
                <c:v>0.0919394935790263</c:v>
              </c:pt>
              <c:pt idx="8">
                <c:v>0.0825084228403041</c:v>
              </c:pt>
              <c:pt idx="9">
                <c:v>0.078802626303978</c:v>
              </c:pt>
              <c:pt idx="10">
                <c:v>0.0820881119001283</c:v>
              </c:pt>
              <c:pt idx="11">
                <c:v>0.08378779452232</c:v>
              </c:pt>
              <c:pt idx="12">
                <c:v>0.0698478283500979</c:v>
              </c:pt>
              <c:pt idx="13">
                <c:v>0.0744516655492446</c:v>
              </c:pt>
              <c:pt idx="14">
                <c:v>0.0802740222867937</c:v>
              </c:pt>
            </c:numLit>
          </c:yVal>
        </c:ser>
        <c:ser>
          <c:idx val="1"/>
          <c:order val="1"/>
          <c:tx>
            <c:v>Ajustada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0.081130140165096</c:v>
              </c:pt>
              <c:pt idx="1">
                <c:v>0.0745232452683116</c:v>
              </c:pt>
              <c:pt idx="2">
                <c:v>0.0871059391884933</c:v>
              </c:pt>
              <c:pt idx="3">
                <c:v>0.0752028516325915</c:v>
              </c:pt>
              <c:pt idx="4">
                <c:v>0.0704152514172544</c:v>
              </c:pt>
              <c:pt idx="5">
                <c:v>0.0770053144630339</c:v>
              </c:pt>
              <c:pt idx="6">
                <c:v>0.0671417034451458</c:v>
              </c:pt>
              <c:pt idx="7">
                <c:v>0.0698999145821442</c:v>
              </c:pt>
              <c:pt idx="8">
                <c:v>0.0630090651293403</c:v>
              </c:pt>
              <c:pt idx="9">
                <c:v>0.0592500474459332</c:v>
              </c:pt>
              <c:pt idx="10">
                <c:v>0.0623234995475539</c:v>
              </c:pt>
              <c:pt idx="11">
                <c:v>0.0628881535366592</c:v>
              </c:pt>
              <c:pt idx="12">
                <c:v>0.0502587784704449</c:v>
              </c:pt>
              <c:pt idx="13">
                <c:v>0.0536913823719812</c:v>
              </c:pt>
              <c:pt idx="14">
                <c:v>0.0585303345939064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2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majorUnit val="0.03"/>
      </c:valAx>
      <c:valAx>
        <c:axId val="48650112"/>
        <c:scaling>
          <c:orientation val="minMax"/>
          <c:max val="14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7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Financeiro</c:v>
          </c:tx>
          <c:spPr>
            <a:ln xmlns:a="http://schemas.openxmlformats.org/drawingml/2006/main" w="19050">
              <a:solidFill>
                <a:srgbClr val="15151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0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</c:numLit>
          </c:xVal>
          <c:yVal>
            <c:numLit>
              <c:formatCode>0.0%</c:formatCode>
              <c:ptCount val="30"/>
              <c:pt idx="0">
                <c:v>0.0855579986985247</c:v>
              </c:pt>
              <c:pt idx="1">
                <c:v>0.0854887470487205</c:v>
              </c:pt>
              <c:pt idx="2">
                <c:v>0.0856968803550609</c:v>
              </c:pt>
              <c:pt idx="3">
                <c:v>0.076028491992252</c:v>
              </c:pt>
              <c:pt idx="4">
                <c:v>0.0787613706800146</c:v>
              </c:pt>
              <c:pt idx="5">
                <c:v>0.0773348150833872</c:v>
              </c:pt>
              <c:pt idx="6">
                <c:v>0.0779983666552579</c:v>
              </c:pt>
              <c:pt idx="7">
                <c:v>0.0776126890134955</c:v>
              </c:pt>
              <c:pt idx="8">
                <c:v>0.0789418658689153</c:v>
              </c:pt>
              <c:pt idx="9">
                <c:v>0.0778915770688264</c:v>
              </c:pt>
              <c:pt idx="10">
                <c:v>0.0706042062442011</c:v>
              </c:pt>
              <c:pt idx="11">
                <c:v>0.0813699590888542</c:v>
              </c:pt>
              <c:pt idx="12">
                <c:v>0.0671632930454648</c:v>
              </c:pt>
              <c:pt idx="13">
                <c:v>0.0567204246991748</c:v>
              </c:pt>
              <c:pt idx="14">
                <c:v>0.0560682901372232</c:v>
              </c:pt>
              <c:pt idx="15">
                <c:v>0.0530842334283072</c:v>
              </c:pt>
              <c:pt idx="16">
                <c:v>0.0551629635388359</c:v>
              </c:pt>
              <c:pt idx="17">
                <c:v>0.0533002702997621</c:v>
              </c:pt>
              <c:pt idx="18">
                <c:v>0.0524130951483984</c:v>
              </c:pt>
              <c:pt idx="19">
                <c:v>0.0546061953676112</c:v>
              </c:pt>
              <c:pt idx="20">
                <c:v>0.0483630515591677</c:v>
              </c:pt>
              <c:pt idx="21">
                <c:v>0.0568067809285558</c:v>
              </c:pt>
              <c:pt idx="22">
                <c:v>0.0482576972035788</c:v>
              </c:pt>
              <c:pt idx="23">
                <c:v>0.0570396232174282</c:v>
              </c:pt>
              <c:pt idx="24">
                <c:v>0.0473844554306711</c:v>
              </c:pt>
              <c:pt idx="25">
                <c:v>0.0557355582247756</c:v>
              </c:pt>
              <c:pt idx="26">
                <c:v>0.0583637844792484</c:v>
              </c:pt>
              <c:pt idx="27">
                <c:v>0.059955214584374</c:v>
              </c:pt>
              <c:pt idx="28">
                <c:v>0.0592843221101122</c:v>
              </c:pt>
              <c:pt idx="29">
                <c:v>0.0641900677510449</c:v>
              </c:pt>
            </c:numLit>
          </c:yVal>
        </c:ser>
        <c:ser>
          <c:idx val="1"/>
          <c:order val="1"/>
          <c:tx>
            <c:v>Cartão de crédito</c:v>
          </c:tx>
          <c:spPr>
            <a:ln xmlns:a="http://schemas.openxmlformats.org/drawingml/2006/main" w="19050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0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</c:numLit>
          </c:xVal>
          <c:yVal>
            <c:numLit>
              <c:formatCode>0.0%</c:formatCode>
              <c:ptCount val="30"/>
              <c:pt idx="0">
                <c:v>0.0080429968986406</c:v>
              </c:pt>
              <c:pt idx="1">
                <c:v>0.0103555534057833</c:v>
              </c:pt>
              <c:pt idx="2">
                <c:v>0.0101297396700234</c:v>
              </c:pt>
              <c:pt idx="3">
                <c:v>0.0104827854323463</c:v>
              </c:pt>
              <c:pt idx="4">
                <c:v>0.0111237663607328</c:v>
              </c:pt>
              <c:pt idx="5">
                <c:v>0.0106422727689357</c:v>
              </c:pt>
              <c:pt idx="6">
                <c:v>0.0079913813375405</c:v>
              </c:pt>
              <c:pt idx="7">
                <c:v>0.007890065967714</c:v>
              </c:pt>
              <c:pt idx="8">
                <c:v>0.0079420973656034</c:v>
              </c:pt>
              <c:pt idx="9">
                <c:v>0.0079557633987717</c:v>
              </c:pt>
              <c:pt idx="10">
                <c:v>0.0069164043062772</c:v>
              </c:pt>
              <c:pt idx="11">
                <c:v>0.0064863829417569</c:v>
              </c:pt>
              <c:pt idx="12">
                <c:v>0.0058804822095036</c:v>
              </c:pt>
              <c:pt idx="13">
                <c:v>0.0062984134661783</c:v>
              </c:pt>
              <c:pt idx="14">
                <c:v>0.0068137312399075</c:v>
              </c:pt>
              <c:pt idx="15">
                <c:v>0.0067604454995235</c:v>
              </c:pt>
              <c:pt idx="16">
                <c:v>0.0089037082329132</c:v>
              </c:pt>
              <c:pt idx="17">
                <c:v>0.0085557990476181</c:v>
              </c:pt>
              <c:pt idx="18">
                <c:v>0.0089308937706528</c:v>
              </c:pt>
              <c:pt idx="19">
                <c:v>0.0096799935000471</c:v>
              </c:pt>
              <c:pt idx="20">
                <c:v>0.0097012956016713</c:v>
              </c:pt>
              <c:pt idx="21">
                <c:v>0.0094978815130768</c:v>
              </c:pt>
              <c:pt idx="22">
                <c:v>0.009838827534266</c:v>
              </c:pt>
              <c:pt idx="23">
                <c:v>0.009638514605356</c:v>
              </c:pt>
              <c:pt idx="24">
                <c:v>0.010345169549131</c:v>
              </c:pt>
              <c:pt idx="25">
                <c:v>0.0101445486952357</c:v>
              </c:pt>
              <c:pt idx="26">
                <c:v>0.0108164294191372</c:v>
              </c:pt>
              <c:pt idx="27">
                <c:v>0.0106472517141496</c:v>
              </c:pt>
              <c:pt idx="28">
                <c:v>0.0114155416318205</c:v>
              </c:pt>
              <c:pt idx="29">
                <c:v>0.011510969162289</c:v>
              </c:pt>
            </c:numLit>
          </c:yVal>
        </c:ser>
        <c:ser>
          <c:idx val="2"/>
          <c:order val="2"/>
          <c:tx>
            <c:v>Comercial</c:v>
          </c:tx>
          <c:spPr>
            <a:ln xmlns:a="http://schemas.openxmlformats.org/drawingml/2006/main" w="19050">
              <a:solidFill>
                <a:srgbClr val="454A4F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0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</c:numLit>
          </c:xVal>
          <c:yVal>
            <c:numLit>
              <c:formatCode>0.0%</c:formatCode>
              <c:ptCount val="30"/>
              <c:pt idx="0">
                <c:v>0.0680082079357988</c:v>
              </c:pt>
              <c:pt idx="1">
                <c:v>0.0704070612700872</c:v>
              </c:pt>
              <c:pt idx="2">
                <c:v>0.074099979493902</c:v>
              </c:pt>
              <c:pt idx="3">
                <c:v>0.0702742666999948</c:v>
              </c:pt>
              <c:pt idx="4">
                <c:v>0.0712252777042628</c:v>
              </c:pt>
              <c:pt idx="5">
                <c:v>0.075114084151861</c:v>
              </c:pt>
              <c:pt idx="6">
                <c:v>0.0761107819177111</c:v>
              </c:pt>
              <c:pt idx="7">
                <c:v>0.0687138571767504</c:v>
              </c:pt>
              <c:pt idx="8">
                <c:v>0.0744318524327165</c:v>
              </c:pt>
              <c:pt idx="9">
                <c:v>0.0668541648099709</c:v>
              </c:pt>
              <c:pt idx="10">
                <c:v>0.0651629253262892</c:v>
              </c:pt>
              <c:pt idx="11">
                <c:v>0.0684099440014807</c:v>
              </c:pt>
              <c:pt idx="12">
                <c:v>0.0697007940075151</c:v>
              </c:pt>
              <c:pt idx="13">
                <c:v>0.1160032755284795</c:v>
              </c:pt>
              <c:pt idx="14">
                <c:v>0.1161228461785805</c:v>
              </c:pt>
              <c:pt idx="15">
                <c:v>0.0904743511708359</c:v>
              </c:pt>
              <c:pt idx="16">
                <c:v>0.0904358049815366</c:v>
              </c:pt>
              <c:pt idx="17">
                <c:v>0.0858194645627202</c:v>
              </c:pt>
              <c:pt idx="18">
                <c:v>0.0708160850865787</c:v>
              </c:pt>
              <c:pt idx="19">
                <c:v>0.0638941224008752</c:v>
              </c:pt>
              <c:pt idx="20">
                <c:v>0.0670145026738279</c:v>
              </c:pt>
              <c:pt idx="21">
                <c:v>0.0710967111468131</c:v>
              </c:pt>
              <c:pt idx="22">
                <c:v>0.0674259936333629</c:v>
              </c:pt>
              <c:pt idx="23">
                <c:v>0.0534042711586425</c:v>
              </c:pt>
              <c:pt idx="24">
                <c:v>0.061263585260918</c:v>
              </c:pt>
              <c:pt idx="25">
                <c:v>0.0586368879336226</c:v>
              </c:pt>
              <c:pt idx="26">
                <c:v>0.0484153612418518</c:v>
              </c:pt>
              <c:pt idx="27">
                <c:v>0.048285579926842</c:v>
              </c:pt>
              <c:pt idx="28">
                <c:v>0.0428742832645217</c:v>
              </c:pt>
              <c:pt idx="29">
                <c:v>0.0432405118898396</c:v>
              </c:pt>
            </c:numLit>
          </c:yVal>
        </c:ser>
        <c:ser>
          <c:idx val="3"/>
          <c:order val="3"/>
          <c:tx>
            <c:v>Industrial</c:v>
          </c:tx>
          <c:spPr>
            <a:ln xmlns:a="http://schemas.openxmlformats.org/drawingml/2006/main" w="12859">
              <a:solidFill>
                <a:srgbClr val="5B606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0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</c:numLit>
          </c:xVal>
          <c:yVal>
            <c:numLit>
              <c:formatCode>0.0%</c:formatCode>
              <c:ptCount val="30"/>
              <c:pt idx="0">
                <c:v>0.0025835497732944</c:v>
              </c:pt>
              <c:pt idx="1">
                <c:v>0.0027033236057064</c:v>
              </c:pt>
              <c:pt idx="2">
                <c:v>0.0031493887921637</c:v>
              </c:pt>
              <c:pt idx="3">
                <c:v>0.0033666846280653</c:v>
              </c:pt>
              <c:pt idx="4">
                <c:v>0.0020816904239381</c:v>
              </c:pt>
              <c:pt idx="5">
                <c:v>0.0046585834745183</c:v>
              </c:pt>
              <c:pt idx="6">
                <c:v>0.0054578468246306</c:v>
              </c:pt>
              <c:pt idx="7">
                <c:v>0.0023743117450079</c:v>
              </c:pt>
              <c:pt idx="8">
                <c:v>0.0019403273128492</c:v>
              </c:pt>
              <c:pt idx="9">
                <c:v>0.0045671411878843</c:v>
              </c:pt>
              <c:pt idx="10">
                <c:v>0.0037134893826855</c:v>
              </c:pt>
              <c:pt idx="11">
                <c:v>0.0037602727210871</c:v>
              </c:pt>
              <c:pt idx="12">
                <c:v>0.004040041433396</c:v>
              </c:pt>
              <c:pt idx="13">
                <c:v>0.0036410595285815</c:v>
              </c:pt>
              <c:pt idx="14">
                <c:v>0.0036961669730105</c:v>
              </c:pt>
              <c:pt idx="15">
                <c:v>0.0041013593197657</c:v>
              </c:pt>
              <c:pt idx="16">
                <c:v>0.0042839735760113</c:v>
              </c:pt>
              <c:pt idx="17">
                <c:v>0.0040268029753727</c:v>
              </c:pt>
              <c:pt idx="18">
                <c:v>0.0070109872080256</c:v>
              </c:pt>
              <c:pt idx="19">
                <c:v>0.0067128070684441</c:v>
              </c:pt>
              <c:pt idx="20">
                <c:v>0.0070292261178574</c:v>
              </c:pt>
              <c:pt idx="21">
                <c:v>0.0085379739210007</c:v>
              </c:pt>
              <c:pt idx="22">
                <c:v>0.0091618979070662</c:v>
              </c:pt>
              <c:pt idx="23">
                <c:v>0.0062014103758135</c:v>
              </c:pt>
              <c:pt idx="24">
                <c:v>0.0069857316610348</c:v>
              </c:pt>
              <c:pt idx="25">
                <c:v>0.0064797751723549</c:v>
              </c:pt>
              <c:pt idx="26">
                <c:v>0.0061908829470412</c:v>
              </c:pt>
              <c:pt idx="27">
                <c:v>0.0063377766957214</c:v>
              </c:pt>
              <c:pt idx="28">
                <c:v>0.0065579190811219</c:v>
              </c:pt>
              <c:pt idx="29">
                <c:v>0.0091927647417753</c:v>
              </c:pt>
            </c:numLit>
          </c:yVal>
        </c:ser>
        <c:ser>
          <c:idx val="4"/>
          <c:order val="4"/>
          <c:tx>
            <c:v>Serviços</c:v>
          </c:tx>
          <c:spPr>
            <a:ln xmlns:a="http://schemas.openxmlformats.org/drawingml/2006/main" w="12859">
              <a:solidFill>
                <a:srgbClr val="73787D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0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</c:numLit>
          </c:xVal>
          <c:yVal>
            <c:numLit>
              <c:formatCode>0.0%</c:formatCode>
              <c:ptCount val="30"/>
              <c:pt idx="0">
                <c:v>0.0066898190535054</c:v>
              </c:pt>
              <c:pt idx="1">
                <c:v>0.0065291732386137</c:v>
              </c:pt>
              <c:pt idx="2">
                <c:v>0.006768336918366</c:v>
              </c:pt>
              <c:pt idx="3">
                <c:v>0.006522204726598</c:v>
              </c:pt>
              <c:pt idx="4">
                <c:v>0.0069652763000004</c:v>
              </c:pt>
              <c:pt idx="5">
                <c:v>0.00362463975522</c:v>
              </c:pt>
              <c:pt idx="6">
                <c:v>0.002346454605597</c:v>
              </c:pt>
              <c:pt idx="7">
                <c:v>0.0035983049841749</c:v>
              </c:pt>
              <c:pt idx="8">
                <c:v>0.0035320991208034</c:v>
              </c:pt>
              <c:pt idx="9">
                <c:v>0.0044747411193754</c:v>
              </c:pt>
              <c:pt idx="10">
                <c:v>0.0067875832753137</c:v>
              </c:pt>
              <c:pt idx="11">
                <c:v>0.0076698168092406</c:v>
              </c:pt>
              <c:pt idx="12">
                <c:v>0.0076733936098986</c:v>
              </c:pt>
              <c:pt idx="13">
                <c:v>0.0061969452738148</c:v>
              </c:pt>
              <c:pt idx="14">
                <c:v>0.0060760111994373</c:v>
              </c:pt>
              <c:pt idx="15">
                <c:v>0.0066529427711746</c:v>
              </c:pt>
              <c:pt idx="16">
                <c:v>0.0071681181746563</c:v>
              </c:pt>
              <c:pt idx="17">
                <c:v>0.0074113030673372</c:v>
              </c:pt>
              <c:pt idx="18">
                <c:v>0.0075442483605752</c:v>
              </c:pt>
              <c:pt idx="19">
                <c:v>0.006840438260504</c:v>
              </c:pt>
              <c:pt idx="20">
                <c:v>0.0065543750305914</c:v>
              </c:pt>
              <c:pt idx="21">
                <c:v>0.007012976876212</c:v>
              </c:pt>
              <c:pt idx="22">
                <c:v>0.0068885684686903</c:v>
              </c:pt>
              <c:pt idx="23">
                <c:v>0.0072903277155558</c:v>
              </c:pt>
              <c:pt idx="24">
                <c:v>0.0079307365090687</c:v>
              </c:pt>
              <c:pt idx="25">
                <c:v>0.0090623119080633</c:v>
              </c:pt>
              <c:pt idx="26">
                <c:v>0.0082043642289494</c:v>
              </c:pt>
              <c:pt idx="27">
                <c:v>0.0098375745570957</c:v>
              </c:pt>
              <c:pt idx="28">
                <c:v>0.0106767361144659</c:v>
              </c:pt>
              <c:pt idx="29">
                <c:v>0.0108166372984477</c:v>
              </c:pt>
            </c:numLit>
          </c:yVal>
        </c:ser>
        <c:ser>
          <c:idx val="5"/>
          <c:order val="5"/>
          <c:tx>
            <c:v>Setor público</c:v>
          </c:tx>
          <c:spPr>
            <a:ln xmlns:a="http://schemas.openxmlformats.org/drawingml/2006/main" w="12859">
              <a:solidFill>
                <a:srgbClr val="8D9399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0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</c:numLit>
          </c:xVal>
          <c:yVal>
            <c:numLit>
              <c:formatCode>0.0%</c:formatCode>
              <c:ptCount val="30"/>
              <c:pt idx="0">
                <c:v>0.1716421144880943</c:v>
              </c:pt>
              <c:pt idx="1">
                <c:v>0.1748005539424328</c:v>
              </c:pt>
              <c:pt idx="2">
                <c:v>0.174596310561884</c:v>
              </c:pt>
              <c:pt idx="3">
                <c:v>0.0558437722250873</c:v>
              </c:pt>
              <c:pt idx="4">
                <c:v>0.2155424341949412</c:v>
              </c:pt>
              <c:pt idx="5">
                <c:v>0.2146775998749274</c:v>
              </c:pt>
              <c:pt idx="6">
                <c:v>0.203042474147648</c:v>
              </c:pt>
              <c:pt idx="7">
                <c:v>0.198181985558518</c:v>
              </c:pt>
              <c:pt idx="8">
                <c:v>0.1923229555573133</c:v>
              </c:pt>
              <c:pt idx="9">
                <c:v>0.219386450278958</c:v>
              </c:pt>
              <c:pt idx="10">
                <c:v>0.1960933015331685</c:v>
              </c:pt>
              <c:pt idx="11">
                <c:v>0.1902431877844592</c:v>
              </c:pt>
              <c:pt idx="12">
                <c:v>0.1760758198805902</c:v>
              </c:pt>
              <c:pt idx="13">
                <c:v>0.190994446687657</c:v>
              </c:pt>
              <c:pt idx="14">
                <c:v>0.1923426276784455</c:v>
              </c:pt>
              <c:pt idx="15">
                <c:v>0.1917830476659274</c:v>
              </c:pt>
              <c:pt idx="16">
                <c:v>0.1920726598269204</c:v>
              </c:pt>
              <c:pt idx="17">
                <c:v>0.2012897579917769</c:v>
              </c:pt>
              <c:pt idx="18">
                <c:v>0.1905223180626911</c:v>
              </c:pt>
              <c:pt idx="19">
                <c:v>0.1871319030840225</c:v>
              </c:pt>
              <c:pt idx="20">
                <c:v>0.1898445974883141</c:v>
              </c:pt>
              <c:pt idx="21">
                <c:v>0.1867630057175719</c:v>
              </c:pt>
              <c:pt idx="22">
                <c:v>0.1774881213910857</c:v>
              </c:pt>
              <c:pt idx="23">
                <c:v>0.1677561961878335</c:v>
              </c:pt>
              <c:pt idx="24">
                <c:v>0.0291953511164331</c:v>
              </c:pt>
              <c:pt idx="25">
                <c:v>0.0209092395187652</c:v>
              </c:pt>
              <c:pt idx="26">
                <c:v>0.0202446613357293</c:v>
              </c:pt>
              <c:pt idx="27">
                <c:v>0.0227192136327863</c:v>
              </c:pt>
              <c:pt idx="28">
                <c:v>0.0221580095926356</c:v>
              </c:pt>
              <c:pt idx="29">
                <c:v>0.0240306255787799</c:v>
              </c:pt>
            </c:numLit>
          </c:yVal>
        </c:ser>
        <c:ser>
          <c:idx val="6"/>
          <c:order val="6"/>
          <c:tx>
            <c:v>Ações judiciais</c:v>
          </c:tx>
          <c:spPr>
            <a:ln xmlns:a="http://schemas.openxmlformats.org/drawingml/2006/main" w="12859">
              <a:solidFill>
                <a:srgbClr val="A7ACB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0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</c:numLit>
          </c:xVal>
          <c:yVal>
            <c:numLit>
              <c:formatCode>0.0%</c:formatCode>
              <c:ptCount val="30"/>
              <c:pt idx="0">
                <c:v>0.0458834393836095</c:v>
              </c:pt>
              <c:pt idx="1">
                <c:v>0.0466009780873263</c:v>
              </c:pt>
              <c:pt idx="2">
                <c:v>0.0466275750086467</c:v>
              </c:pt>
              <c:pt idx="3">
                <c:v>0.0461654468084358</c:v>
              </c:pt>
              <c:pt idx="4">
                <c:v>0.0158418183013909</c:v>
              </c:pt>
              <c:pt idx="5">
                <c:v>0.0183264889665747</c:v>
              </c:pt>
              <c:pt idx="6">
                <c:v>0.0511155799233677</c:v>
              </c:pt>
              <c:pt idx="7">
                <c:v>0.0179401600834556</c:v>
              </c:pt>
              <c:pt idx="8">
                <c:v>0.0147380519243235</c:v>
              </c:pt>
              <c:pt idx="9">
                <c:v>0.0168501545344445</c:v>
              </c:pt>
              <c:pt idx="10">
                <c:v>0.0171617431256212</c:v>
              </c:pt>
              <c:pt idx="11">
                <c:v>0.0167994280652375</c:v>
              </c:pt>
              <c:pt idx="12">
                <c:v>0.0147298259778678</c:v>
              </c:pt>
              <c:pt idx="13">
                <c:v>0.0152408560549925</c:v>
              </c:pt>
              <c:pt idx="14">
                <c:v>0.0154609002423609</c:v>
              </c:pt>
              <c:pt idx="15">
                <c:v>0.0152532476043271</c:v>
              </c:pt>
              <c:pt idx="16">
                <c:v>0.0152382688815609</c:v>
              </c:pt>
              <c:pt idx="17">
                <c:v>0.0149273208887351</c:v>
              </c:pt>
              <c:pt idx="18">
                <c:v>0.0146873322148183</c:v>
              </c:pt>
              <c:pt idx="19">
                <c:v>0.014673814260195</c:v>
              </c:pt>
              <c:pt idx="20">
                <c:v>0.0142965670821052</c:v>
              </c:pt>
              <c:pt idx="21">
                <c:v>0.0137120881407954</c:v>
              </c:pt>
              <c:pt idx="22">
                <c:v>0.0135732192466145</c:v>
              </c:pt>
              <c:pt idx="23">
                <c:v>0.014078069430171</c:v>
              </c:pt>
              <c:pt idx="24">
                <c:v>0.0601865892733064</c:v>
              </c:pt>
              <c:pt idx="25">
                <c:v>0.0161014712366266</c:v>
              </c:pt>
              <c:pt idx="26">
                <c:v>0.0231292962276292</c:v>
              </c:pt>
              <c:pt idx="27">
                <c:v>0.0214546228836939</c:v>
              </c:pt>
              <c:pt idx="28">
                <c:v>0.0220825833374245</c:v>
              </c:pt>
              <c:pt idx="29">
                <c:v>0.0312131180928734</c:v>
              </c:pt>
            </c:numLit>
          </c:yVal>
        </c:ser>
        <c:ser>
          <c:idx val="7"/>
          <c:order val="7"/>
          <c:tx>
            <c:v>Agronegócio</c:v>
          </c:tx>
          <c:spPr>
            <a:ln xmlns:a="http://schemas.openxmlformats.org/drawingml/2006/main" w="12859">
              <a:solidFill>
                <a:srgbClr val="BEC2C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0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</c:numLit>
          </c:xVal>
          <c:yVal>
            <c:numLit>
              <c:formatCode>0.0%</c:formatCode>
              <c:ptCount val="30"/>
              <c:pt idx="0">
                <c:v>0.0193834617137513</c:v>
              </c:pt>
              <c:pt idx="1">
                <c:v>0.0074291129573394</c:v>
              </c:pt>
              <c:pt idx="2">
                <c:v>0.007333490811835</c:v>
              </c:pt>
              <c:pt idx="3">
                <c:v>0.0279674218446734</c:v>
              </c:pt>
              <c:pt idx="4">
                <c:v>0.0696067155563357</c:v>
              </c:pt>
              <c:pt idx="5">
                <c:v>0.1066652441141125</c:v>
              </c:pt>
              <c:pt idx="6">
                <c:v>0.0823398002410793</c:v>
              </c:pt>
              <c:pt idx="7">
                <c:v>0.0604441706512532</c:v>
              </c:pt>
              <c:pt idx="8">
                <c:v>0.0698088195045172</c:v>
              </c:pt>
              <c:pt idx="9">
                <c:v>0.0794823375539498</c:v>
              </c:pt>
              <c:pt idx="10">
                <c:v>0.0548545926019397</c:v>
              </c:pt>
              <c:pt idx="11">
                <c:v>0.0517708583036001</c:v>
              </c:pt>
              <c:pt idx="12">
                <c:v>0.0447271833632081</c:v>
              </c:pt>
              <c:pt idx="13">
                <c:v>0.0906744263643291</c:v>
              </c:pt>
              <c:pt idx="14">
                <c:v>0.0318564274421929</c:v>
              </c:pt>
              <c:pt idx="15">
                <c:v>0.0509330017010333</c:v>
              </c:pt>
              <c:pt idx="16">
                <c:v>0.08411716560091</c:v>
              </c:pt>
              <c:pt idx="17">
                <c:v>0.1065907999338496</c:v>
              </c:pt>
              <c:pt idx="18">
                <c:v>0.0826736314811322</c:v>
              </c:pt>
              <c:pt idx="19">
                <c:v>0.0532939480951812</c:v>
              </c:pt>
              <c:pt idx="20">
                <c:v>0.0390231313834609</c:v>
              </c:pt>
              <c:pt idx="21">
                <c:v>0.0829644989806403</c:v>
              </c:pt>
              <c:pt idx="22">
                <c:v>0.0614292027076475</c:v>
              </c:pt>
              <c:pt idx="23">
                <c:v>0.0392421901395975</c:v>
              </c:pt>
              <c:pt idx="24">
                <c:v>0.034658299259298</c:v>
              </c:pt>
              <c:pt idx="25">
                <c:v>0.029231084024172</c:v>
              </c:pt>
              <c:pt idx="26">
                <c:v>0.0247777120798121</c:v>
              </c:pt>
              <c:pt idx="27">
                <c:v>0.1063396743265808</c:v>
              </c:pt>
              <c:pt idx="28">
                <c:v>0.0618413609740055</c:v>
              </c:pt>
              <c:pt idx="29">
                <c:v>0.0961444582842291</c:v>
              </c:pt>
            </c:numLit>
          </c:yVal>
        </c:ser>
        <c:ser>
          <c:idx val="8"/>
          <c:order val="8"/>
          <c:tx>
            <c:v>Imobiliário</c:v>
          </c:tx>
          <c:spPr>
            <a:ln xmlns:a="http://schemas.openxmlformats.org/drawingml/2006/main" w="12859">
              <a:solidFill>
                <a:srgbClr val="676C71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0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</c:numLit>
          </c:xVal>
          <c:yVal>
            <c:numLit>
              <c:formatCode>0.0%</c:formatCode>
              <c:ptCount val="30"/>
              <c:pt idx="0">
                <c:v>0.0301544002992957</c:v>
              </c:pt>
              <c:pt idx="1">
                <c:v>0.0327276152039929</c:v>
              </c:pt>
              <c:pt idx="2">
                <c:v>0.0335433779934722</c:v>
              </c:pt>
              <c:pt idx="3">
                <c:v>0.0348421491235876</c:v>
              </c:pt>
              <c:pt idx="4">
                <c:v>0.0428001212242425</c:v>
              </c:pt>
              <c:pt idx="5">
                <c:v>0.0418805697277656</c:v>
              </c:pt>
              <c:pt idx="6">
                <c:v>0.0445162804581016</c:v>
              </c:pt>
              <c:pt idx="7">
                <c:v>0.0450750205215238</c:v>
              </c:pt>
              <c:pt idx="8">
                <c:v>0.0433137428852005</c:v>
              </c:pt>
              <c:pt idx="9">
                <c:v>0.0435541311578574</c:v>
              </c:pt>
              <c:pt idx="10">
                <c:v>0.0469233338791018</c:v>
              </c:pt>
              <c:pt idx="11">
                <c:v>0.0483506711530582</c:v>
              </c:pt>
              <c:pt idx="12">
                <c:v>0.0507729897968142</c:v>
              </c:pt>
              <c:pt idx="13">
                <c:v>0.0527007958685011</c:v>
              </c:pt>
              <c:pt idx="14">
                <c:v>0.0569150809799261</c:v>
              </c:pt>
              <c:pt idx="15">
                <c:v>0.0596091131534749</c:v>
              </c:pt>
              <c:pt idx="16">
                <c:v>0.0606180579663615</c:v>
              </c:pt>
              <c:pt idx="17">
                <c:v>0.0608669051570376</c:v>
              </c:pt>
              <c:pt idx="18">
                <c:v>0.0608869936007728</c:v>
              </c:pt>
              <c:pt idx="19">
                <c:v>0.0619666367544641</c:v>
              </c:pt>
              <c:pt idx="20">
                <c:v>0.0650413889034812</c:v>
              </c:pt>
              <c:pt idx="21">
                <c:v>0.0531656259171715</c:v>
              </c:pt>
              <c:pt idx="22">
                <c:v>0.059647568037394</c:v>
              </c:pt>
              <c:pt idx="23">
                <c:v>0.0623689031516558</c:v>
              </c:pt>
              <c:pt idx="24">
                <c:v>0.0513880118085583</c:v>
              </c:pt>
              <c:pt idx="25">
                <c:v>0.0565693850768594</c:v>
              </c:pt>
              <c:pt idx="26">
                <c:v>0.0623104683022178</c:v>
              </c:pt>
              <c:pt idx="27">
                <c:v>0.0674532139268082</c:v>
              </c:pt>
              <c:pt idx="28">
                <c:v>0.0757478851076387</c:v>
              </c:pt>
              <c:pt idx="29">
                <c:v>0.0816372279901838</c:v>
              </c:pt>
            </c:numLit>
          </c:yVal>
        </c:ser>
        <c:ser>
          <c:idx val="9"/>
          <c:order val="9"/>
          <c:tx>
            <c:v>Factoring</c:v>
          </c:tx>
          <c:spPr>
            <a:ln xmlns:a="http://schemas.openxmlformats.org/drawingml/2006/main" w="12859">
              <a:solidFill>
                <a:srgbClr val="92979C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0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</c:numLit>
          </c:xVal>
          <c:yVal>
            <c:numLit>
              <c:formatCode>0.0%</c:formatCode>
              <c:ptCount val="30"/>
              <c:pt idx="0">
                <c:v>0.0514225192354148</c:v>
              </c:pt>
              <c:pt idx="1">
                <c:v>0.0393907988792837</c:v>
              </c:pt>
              <c:pt idx="2">
                <c:v>0.0204599118110216</c:v>
              </c:pt>
              <c:pt idx="3">
                <c:v>0.0279020955222049</c:v>
              </c:pt>
              <c:pt idx="4">
                <c:v>0.045435158542933</c:v>
              </c:pt>
              <c:pt idx="5">
                <c:v>0.0634913799648424</c:v>
              </c:pt>
              <c:pt idx="6">
                <c:v>0.1018834022199954</c:v>
              </c:pt>
              <c:pt idx="7">
                <c:v>0.053226641038248</c:v>
              </c:pt>
              <c:pt idx="8">
                <c:v>0.0409999642734494</c:v>
              </c:pt>
              <c:pt idx="9">
                <c:v>0.0221743137151051</c:v>
              </c:pt>
              <c:pt idx="10">
                <c:v>0.1189436323844374</c:v>
              </c:pt>
              <c:pt idx="11">
                <c:v>0.0430677893077643</c:v>
              </c:pt>
              <c:pt idx="12">
                <c:v>0.0533502127430201</c:v>
              </c:pt>
              <c:pt idx="13">
                <c:v>0.0375148600614609</c:v>
              </c:pt>
              <c:pt idx="14">
                <c:v>0.0437092853950481</c:v>
              </c:pt>
              <c:pt idx="15">
                <c:v>0.064103135977939</c:v>
              </c:pt>
              <c:pt idx="16">
                <c:v>0.1479488771622266</c:v>
              </c:pt>
              <c:pt idx="17">
                <c:v>0.1174497699924641</c:v>
              </c:pt>
              <c:pt idx="18">
                <c:v>0.1305527242748713</c:v>
              </c:pt>
              <c:pt idx="19">
                <c:v>0.1254080720493426</c:v>
              </c:pt>
              <c:pt idx="20">
                <c:v>0.1486477723764485</c:v>
              </c:pt>
              <c:pt idx="21">
                <c:v>0.1354996954025546</c:v>
              </c:pt>
              <c:pt idx="22">
                <c:v>0.1660000913704232</c:v>
              </c:pt>
              <c:pt idx="23">
                <c:v>0.1605724609434834</c:v>
              </c:pt>
              <c:pt idx="24">
                <c:v>0.2853726896283449</c:v>
              </c:pt>
              <c:pt idx="25">
                <c:v>0.1950978271794026</c:v>
              </c:pt>
              <c:pt idx="26">
                <c:v>0.1466190664090744</c:v>
              </c:pt>
              <c:pt idx="27">
                <c:v>0.1741072914672736</c:v>
              </c:pt>
              <c:pt idx="28">
                <c:v>0.1697199730374612</c:v>
              </c:pt>
              <c:pt idx="29">
                <c:v>0.1549286072994427</c:v>
              </c:pt>
            </c:numLit>
          </c:yVal>
        </c:ser>
        <c:ser>
          <c:idx val="10"/>
          <c:order val="10"/>
          <c:tx>
            <c:v>Consolidado ajustado</c:v>
          </c:tx>
          <c:spPr>
            <a:ln xmlns:a="http://schemas.openxmlformats.org/drawingml/2006/main" w="30480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0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</c:numLit>
          </c:xVal>
          <c:yVal>
            <c:numLit>
              <c:formatCode>0.0%</c:formatCode>
              <c:ptCount val="30"/>
              <c:pt idx="0">
                <c:v>0.0752028516325915</c:v>
              </c:pt>
              <c:pt idx="1">
                <c:v>0.0778801838724332</c:v>
              </c:pt>
              <c:pt idx="2">
                <c:v>0.0776383095992151</c:v>
              </c:pt>
              <c:pt idx="3">
                <c:v>0.0704152514172544</c:v>
              </c:pt>
              <c:pt idx="4">
                <c:v>0.0797565578705756</c:v>
              </c:pt>
              <c:pt idx="5">
                <c:v>0.0817150208465515</c:v>
              </c:pt>
              <c:pt idx="6">
                <c:v>0.0770053144630339</c:v>
              </c:pt>
              <c:pt idx="7">
                <c:v>0.0671417034451458</c:v>
              </c:pt>
              <c:pt idx="8">
                <c:v>0.0676408843500004</c:v>
              </c:pt>
              <c:pt idx="9">
                <c:v>0.0698999145821442</c:v>
              </c:pt>
              <c:pt idx="10">
                <c:v>0.0684744868137109</c:v>
              </c:pt>
              <c:pt idx="11">
                <c:v>0.0699014101098718</c:v>
              </c:pt>
              <c:pt idx="12">
                <c:v>0.0630090651293403</c:v>
              </c:pt>
              <c:pt idx="13">
                <c:v>0.0614757676630931</c:v>
              </c:pt>
              <c:pt idx="14">
                <c:v>0.0598205980738471</c:v>
              </c:pt>
              <c:pt idx="15">
                <c:v>0.0592500474459332</c:v>
              </c:pt>
              <c:pt idx="16">
                <c:v>0.0624601047334936</c:v>
              </c:pt>
              <c:pt idx="17">
                <c:v>0.0629482537447055</c:v>
              </c:pt>
              <c:pt idx="18">
                <c:v>0.0623234995475539</c:v>
              </c:pt>
              <c:pt idx="19">
                <c:v>0.0601553151901788</c:v>
              </c:pt>
              <c:pt idx="20">
                <c:v>0.0569486394732615</c:v>
              </c:pt>
              <c:pt idx="21">
                <c:v>0.0628881535366592</c:v>
              </c:pt>
              <c:pt idx="22">
                <c:v>0.0584216214864171</c:v>
              </c:pt>
              <c:pt idx="23">
                <c:v>0.0606320127168131</c:v>
              </c:pt>
              <c:pt idx="24">
                <c:v>0.0502587784704449</c:v>
              </c:pt>
              <c:pt idx="25">
                <c:v>0.0507331353304028</c:v>
              </c:pt>
              <c:pt idx="26">
                <c:v>0.0503146572806492</c:v>
              </c:pt>
              <c:pt idx="27">
                <c:v>0.0536913823719812</c:v>
              </c:pt>
              <c:pt idx="28">
                <c:v>0.0520334873726198</c:v>
              </c:pt>
              <c:pt idx="29">
                <c:v>0.0585303345939064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majorUnit val="0.05"/>
      </c:valAx>
      <c:valAx>
        <c:axId val="48650112"/>
        <c:scaling>
          <c:orientation val="minMax"/>
          <c:max val="29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0.7240103045302964</c:v>
              </c:pt>
              <c:pt idx="1">
                <c:v>0.33762443171818396</c:v>
              </c:pt>
              <c:pt idx="2">
                <c:v>0.7144041928735754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0.7183131045712461</c:v>
              </c:pt>
              <c:pt idx="1">
                <c:v>0.3567294541524492</c:v>
              </c:pt>
              <c:pt idx="2">
                <c:v>0.7280980440364134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9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0.5047535938429641</c:v>
              </c:pt>
              <c:pt idx="1">
                <c:v>0.22309371585883164</c:v>
              </c:pt>
              <c:pt idx="2">
                <c:v>0.5254792759228104</c:v>
              </c:pt>
            </c:numLit>
          </c:val>
        </c:ser>
        <c:ser>
          <c:idx val="1"/>
          <c:order val="1"/>
          <c:tx>
            <c:v>Mai/26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0.503901550605627</c:v>
              </c:pt>
              <c:pt idx="1">
                <c:v>0.24232087001181668</c:v>
              </c:pt>
              <c:pt idx="2">
                <c:v>0.5288054576797567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0.0990264248232046</c:v>
              </c:pt>
              <c:pt idx="1">
                <c:v>0.6611870074822579</c:v>
              </c:pt>
              <c:pt idx="2">
                <c:v>0.0414481143203419</c:v>
              </c:pt>
              <c:pt idx="3">
                <c:v>0.0521489342892355</c:v>
              </c:pt>
              <c:pt idx="4">
                <c:v>0.0567572663282072</c:v>
              </c:pt>
              <c:pt idx="5">
                <c:v>0.2136203543533293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0.128212506976499</c:v>
              </c:pt>
              <c:pt idx="1">
                <c:v>0.0096806367055208</c:v>
              </c:pt>
              <c:pt idx="2">
                <c:v>0.1137488845128169</c:v>
              </c:pt>
              <c:pt idx="3">
                <c:v>0.1601130774154732</c:v>
              </c:pt>
              <c:pt idx="4">
                <c:v>0.2987017997195839</c:v>
              </c:pt>
              <c:pt idx="5">
                <c:v>0.241155891421021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0.0140116005534091</c:v>
              </c:pt>
              <c:pt idx="1">
                <c:v>0.0094527897804782</c:v>
              </c:pt>
              <c:pt idx="2">
                <c:v>0.0975132700060647</c:v>
              </c:pt>
              <c:pt idx="3">
                <c:v>0.0620957844585563</c:v>
              </c:pt>
              <c:pt idx="4">
                <c:v>0.2386922325581826</c:v>
              </c:pt>
              <c:pt idx="5">
                <c:v>0.0528015720604226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0.075505515120115</c:v>
              </c:pt>
              <c:pt idx="1">
                <c:v>0.005650213947542</c:v>
              </c:pt>
              <c:pt idx="2">
                <c:v>0.1110519536793041</c:v>
              </c:pt>
              <c:pt idx="3">
                <c:v>0.014768115843443</c:v>
              </c:pt>
              <c:pt idx="4">
                <c:v>0.1056482624842525</c:v>
              </c:pt>
              <c:pt idx="5">
                <c:v>0.0743239223341259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041254623940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0.0555376438055603</c:v>
              </c:pt>
              <c:pt idx="1">
                <c:v>0.0218624310503035</c:v>
              </c:pt>
              <c:pt idx="2">
                <c:v>0.1441403762734957</c:v>
              </c:pt>
              <c:pt idx="3">
                <c:v>0.1675256950501003</c:v>
              </c:pt>
              <c:pt idx="4">
                <c:v>0</c:v>
              </c:pt>
              <c:pt idx="5">
                <c:v>0.0091459098495054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2053761316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0.0431588576073536</c:v>
              </c:pt>
              <c:pt idx="1">
                <c:v>0.0014143975904966</c:v>
              </c:pt>
              <c:pt idx="2">
                <c:v>0.1282934257881305</c:v>
              </c:pt>
              <c:pt idx="3">
                <c:v>0.1124159134008817</c:v>
              </c:pt>
              <c:pt idx="4">
                <c:v>0.2219096503793298</c:v>
              </c:pt>
              <c:pt idx="5">
                <c:v>0.0100687880387016</c:v>
              </c:pt>
            </c:numLit>
          </c:val>
        </c:ser>
        <c:ser>
          <c:idx val="6"/>
          <c:order val="6"/>
          <c:tx>
            <c:v>CBSF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0.1222860396106066</c:v>
              </c:pt>
              <c:pt idx="1">
                <c:v>0.0215818662038886</c:v>
              </c:pt>
              <c:pt idx="2">
                <c:v>0.0012651187619958</c:v>
              </c:pt>
              <c:pt idx="3">
                <c:v>2.2729500657420742E-05</c:v>
              </c:pt>
              <c:pt idx="4">
                <c:v>0</c:v>
              </c:pt>
              <c:pt idx="5">
                <c:v>0.0328418092712618</c:v>
              </c:pt>
            </c:numLit>
          </c:val>
        </c:ser>
        <c:ser>
          <c:idx val="7"/>
          <c:order val="7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006366677984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0.0703673776854007</c:v>
              </c:pt>
              <c:pt idx="1">
                <c:v>0.0091226305520816</c:v>
              </c:pt>
              <c:pt idx="2">
                <c:v>0.0006705493289052</c:v>
              </c:pt>
              <c:pt idx="3">
                <c:v>0.0509084621156352</c:v>
              </c:pt>
              <c:pt idx="4">
                <c:v>0</c:v>
              </c:pt>
              <c:pt idx="5">
                <c:v>0.0196753475958024</c:v>
              </c:pt>
            </c:numLit>
          </c:val>
        </c:ser>
        <c:ser>
          <c:idx val="8"/>
          <c:order val="8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0.03615203126776</c:v>
              </c:pt>
              <c:pt idx="1">
                <c:v>0.0299300898256725</c:v>
              </c:pt>
              <c:pt idx="2">
                <c:v>0.0003817965185774</c:v>
              </c:pt>
              <c:pt idx="3">
                <c:v>0.0452350377070635</c:v>
              </c:pt>
              <c:pt idx="4">
                <c:v>0.0032891441904342</c:v>
              </c:pt>
              <c:pt idx="5">
                <c:v>0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0.0240515940768077</c:v>
              </c:pt>
              <c:pt idx="1">
                <c:v>0.0014712290879408</c:v>
              </c:pt>
              <c:pt idx="2">
                <c:v>0.0861419194953894</c:v>
              </c:pt>
              <c:pt idx="3">
                <c:v>0.0032775916620824</c:v>
              </c:pt>
              <c:pt idx="4">
                <c:v>0.0005295626945933</c:v>
              </c:pt>
              <c:pt idx="5">
                <c:v>0.0895063986320403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0.3316904084732829</c:v>
              </c:pt>
              <c:pt idx="1">
                <c:v>0.2286467077738171</c:v>
              </c:pt>
              <c:pt idx="2">
                <c:v>0.275344591314978</c:v>
              </c:pt>
              <c:pt idx="3">
                <c:v>0.331488658556871</c:v>
              </c:pt>
              <c:pt idx="4">
                <c:v>0.0744720816454161</c:v>
              </c:pt>
              <c:pt idx="5">
                <c:v>0.2568600064437893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94784283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0.0458089085133664</c:v>
              </c:pt>
              <c:pt idx="1">
                <c:v>0.0010431433080663</c:v>
              </c:pt>
              <c:pt idx="2">
                <c:v>0.0476979191106428</c:v>
              </c:pt>
              <c:pt idx="3">
                <c:v>0.1612643199454508</c:v>
              </c:pt>
              <c:pt idx="4">
                <c:v>0.2879172705646674</c:v>
              </c:pt>
              <c:pt idx="5">
                <c:v>0.0445222159437067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80256411667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0.0435787128216393</c:v>
              </c:pt>
              <c:pt idx="1">
                <c:v>0.0218624310503035</c:v>
              </c:pt>
              <c:pt idx="2">
                <c:v>0.1416344579115185</c:v>
              </c:pt>
              <c:pt idx="3">
                <c:v>0.0988373717941237</c:v>
              </c:pt>
              <c:pt idx="4">
                <c:v>0</c:v>
              </c:pt>
              <c:pt idx="5">
                <c:v>0.0091459098495054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0.0022422931404634</c:v>
              </c:pt>
              <c:pt idx="1">
                <c:v>0.0006138459364985</c:v>
              </c:pt>
              <c:pt idx="2">
                <c:v>0.0749544808439372</c:v>
              </c:pt>
              <c:pt idx="3">
                <c:v>0.0346788102765514</c:v>
              </c:pt>
              <c:pt idx="4">
                <c:v>0.1779321795935377</c:v>
              </c:pt>
              <c:pt idx="5">
                <c:v>0.0315432619313249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0.0221725257014319</c:v>
              </c:pt>
              <c:pt idx="1">
                <c:v>0</c:v>
              </c:pt>
              <c:pt idx="2">
                <c:v>0.1092199950973199</c:v>
              </c:pt>
              <c:pt idx="3">
                <c:v>0.0823597948755415</c:v>
              </c:pt>
              <c:pt idx="4">
                <c:v>0.0932577416285109</c:v>
              </c:pt>
              <c:pt idx="5">
                <c:v>0.0014288577438735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-5.55111512313e-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0.0055435920253086</c:v>
              </c:pt>
              <c:pt idx="1">
                <c:v>0.2212588608018581</c:v>
              </c:pt>
              <c:pt idx="2">
                <c:v>0.0021820525999263</c:v>
              </c:pt>
              <c:pt idx="3">
                <c:v>0.0048604745270052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CBSF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0.0586752184843061</c:v>
              </c:pt>
              <c:pt idx="1">
                <c:v>0.0215818662038886</c:v>
              </c:pt>
              <c:pt idx="2">
                <c:v>0.0001817325630543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0.0544619859653589</c:v>
              </c:pt>
              <c:pt idx="1">
                <c:v>0</c:v>
              </c:pt>
              <c:pt idx="2">
                <c:v>0.000679199356909</c:v>
              </c:pt>
              <c:pt idx="3">
                <c:v>0</c:v>
              </c:pt>
              <c:pt idx="4">
                <c:v>0</c:v>
              </c:pt>
              <c:pt idx="5">
                <c:v>0.0328418092712618</c:v>
              </c:pt>
            </c:numLit>
          </c:val>
        </c:ser>
        <c:ser>
          <c:idx val="7"/>
          <c:order val="7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0.0412484428841916</c:v>
              </c:pt>
              <c:pt idx="1">
                <c:v>0</c:v>
              </c:pt>
              <c:pt idx="2">
                <c:v>0</c:v>
              </c:pt>
              <c:pt idx="3">
                <c:v>0.0196685284996068</c:v>
              </c:pt>
              <c:pt idx="4">
                <c:v>0</c:v>
              </c:pt>
              <c:pt idx="5">
                <c:v>0.0259737742764902</c:v>
              </c:pt>
            </c:numLit>
          </c:val>
        </c:ser>
        <c:ser>
          <c:idx val="8"/>
          <c:order val="8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.02599508542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0.0193437048109999</c:v>
              </c:pt>
              <c:pt idx="1">
                <c:v>0.0344936681835347</c:v>
              </c:pt>
              <c:pt idx="2">
                <c:v>0.0141059127113014</c:v>
              </c:pt>
              <c:pt idx="3">
                <c:v>0.0116493245680644</c:v>
              </c:pt>
              <c:pt idx="4">
                <c:v>0.0219114699406215</c:v>
              </c:pt>
              <c:pt idx="5">
                <c:v>0.0007285216184997</c:v>
              </c:pt>
            </c:numLit>
          </c:val>
        </c:ser>
        <c:ser>
          <c:idx val="9"/>
          <c:order val="9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.015665977291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0.0115970386379531</c:v>
              </c:pt>
              <c:pt idx="1">
                <c:v>0</c:v>
              </c:pt>
              <c:pt idx="2">
                <c:v>0.0089160887169426</c:v>
              </c:pt>
              <c:pt idx="3">
                <c:v>0.1103711874874502</c:v>
              </c:pt>
              <c:pt idx="4">
                <c:v>0</c:v>
              </c:pt>
              <c:pt idx="5">
                <c:v>0.0660942165481527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0.6951518050425334</c:v>
              </c:pt>
              <c:pt idx="1">
                <c:v>0.6983799241362908</c:v>
              </c:pt>
              <c:pt idx="2">
                <c:v>0.600417311600118</c:v>
              </c:pt>
              <c:pt idx="3">
                <c:v>0.4698135654200273</c:v>
              </c:pt>
              <c:pt idx="4">
                <c:v>0.4189813382726622</c:v>
              </c:pt>
              <c:pt idx="5">
                <c:v>0.7877214328171848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.05"/>
                  <c:y val="-0.019912114013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-0.019616869810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-0.019994575255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-0.01675168869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0.0001757719724468</c:v>
              </c:pt>
              <c:pt idx="1">
                <c:v>0.0007662603795592</c:v>
              </c:pt>
              <c:pt idx="2">
                <c:v>1.0849488329413316E-05</c:v>
              </c:pt>
              <c:pt idx="3">
                <c:v>0.0064966226061782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0.0987009938453259</c:v>
              </c:pt>
              <c:pt idx="1">
                <c:v>0.6560004771902346</c:v>
              </c:pt>
              <c:pt idx="2">
                <c:v>0.041426253610816</c:v>
              </c:pt>
              <c:pt idx="3">
                <c:v>0.0518817821355781</c:v>
              </c:pt>
              <c:pt idx="4">
                <c:v>0.0510814780348981</c:v>
              </c:pt>
              <c:pt idx="5">
                <c:v>0.209321755829712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0.1277549900044911</c:v>
              </c:pt>
              <c:pt idx="1">
                <c:v>0.0025226456325374</c:v>
              </c:pt>
              <c:pt idx="2">
                <c:v>0.1137488845128169</c:v>
              </c:pt>
              <c:pt idx="3">
                <c:v>0.1645238454260667</c:v>
              </c:pt>
              <c:pt idx="4">
                <c:v>0.2987017997195839</c:v>
              </c:pt>
              <c:pt idx="5">
                <c:v>0.2411558914210211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0.0327733739005585</c:v>
              </c:pt>
              <c:pt idx="1">
                <c:v>0.0270516797938475</c:v>
              </c:pt>
              <c:pt idx="2">
                <c:v>0.1009891858114575</c:v>
              </c:pt>
              <c:pt idx="3">
                <c:v>0.1817324636579589</c:v>
              </c:pt>
              <c:pt idx="4">
                <c:v>0.23956474396316</c:v>
              </c:pt>
              <c:pt idx="5">
                <c:v>0.0281081386502681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0.0809487716581075</c:v>
              </c:pt>
              <c:pt idx="1">
                <c:v>0.005650213947542</c:v>
              </c:pt>
              <c:pt idx="2">
                <c:v>0.1194570293861305</c:v>
              </c:pt>
              <c:pt idx="3">
                <c:v>0.0404370516427307</c:v>
              </c:pt>
              <c:pt idx="4">
                <c:v>0.1056482624842525</c:v>
              </c:pt>
              <c:pt idx="5">
                <c:v>0.0743239223341259</c:v>
              </c:pt>
            </c:numLit>
          </c:val>
        </c:ser>
        <c:ser>
          <c:idx val="4"/>
          <c:order val="4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0.14038080593539</c:v>
              </c:pt>
              <c:pt idx="1">
                <c:v>0.0215818662038886</c:v>
              </c:pt>
              <c:pt idx="2">
                <c:v>0.0012651187619958</c:v>
              </c:pt>
              <c:pt idx="3">
                <c:v>2.2729500657420742E-05</c:v>
              </c:pt>
              <c:pt idx="4">
                <c:v>0</c:v>
              </c:pt>
              <c:pt idx="5">
                <c:v>0.0484882936067297</c:v>
              </c:pt>
            </c:numLit>
          </c:val>
        </c:ser>
        <c:ser>
          <c:idx val="5"/>
          <c:order val="5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0.0555376438055603</c:v>
              </c:pt>
              <c:pt idx="1">
                <c:v>0.0182205848015808</c:v>
              </c:pt>
              <c:pt idx="2">
                <c:v>0.1437676770818388</c:v>
              </c:pt>
              <c:pt idx="3">
                <c:v>0.1235060587467477</c:v>
              </c:pt>
              <c:pt idx="4">
                <c:v>0</c:v>
              </c:pt>
              <c:pt idx="5">
                <c:v>0.0338393432596599</c:v>
              </c:pt>
            </c:numLit>
          </c:val>
        </c:ser>
        <c:ser>
          <c:idx val="6"/>
          <c:order val="6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0.0329520502592444</c:v>
              </c:pt>
              <c:pt idx="1">
                <c:v>0.0014143975904966</c:v>
              </c:pt>
              <c:pt idx="2">
                <c:v>0.1282934257881305</c:v>
              </c:pt>
              <c:pt idx="3">
                <c:v>0.1063549107852659</c:v>
              </c:pt>
              <c:pt idx="4">
                <c:v>0.1345238572052303</c:v>
              </c:pt>
              <c:pt idx="5">
                <c:v>0.0100687880387016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0.03615203126776</c:v>
              </c:pt>
              <c:pt idx="1">
                <c:v>0.0293876981486142</c:v>
              </c:pt>
              <c:pt idx="2">
                <c:v>0.0003817965185774</c:v>
              </c:pt>
              <c:pt idx="3">
                <c:v>0.0452350377070635</c:v>
              </c:pt>
              <c:pt idx="4">
                <c:v>0.0032891441904342</c:v>
              </c:pt>
              <c:pt idx="5">
                <c:v>0</c:v>
              </c:pt>
            </c:numLit>
          </c:val>
        </c:ser>
        <c:ser>
          <c:idx val="8"/>
          <c:order val="8"/>
          <c:tx>
            <c:v>Limine Trust</c:v>
          </c:tx>
          <c:spPr>
            <a:solidFill>
              <a:srgbClr val="A7ACB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0.0372259116486354</c:v>
              </c:pt>
              <c:pt idx="1">
                <c:v>0.0258844589270298</c:v>
              </c:pt>
              <c:pt idx="2">
                <c:v>0.0062089418936455</c:v>
              </c:pt>
              <c:pt idx="3">
                <c:v>0.0588516441861489</c:v>
              </c:pt>
              <c:pt idx="4">
                <c:v>0.0361947972578764</c:v>
              </c:pt>
              <c:pt idx="5">
                <c:v>0.0001885623105163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0.023451517330568</c:v>
              </c:pt>
              <c:pt idx="1">
                <c:v>0.0041128018022995</c:v>
              </c:pt>
              <c:pt idx="2">
                <c:v>0.0861419194953894</c:v>
              </c:pt>
              <c:pt idx="3">
                <c:v>0.0032775916620824</c:v>
              </c:pt>
              <c:pt idx="4">
                <c:v>0.0005295626945933</c:v>
              </c:pt>
              <c:pt idx="5">
                <c:v>0.0895063986320403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0.3245295358095095</c:v>
              </c:pt>
              <c:pt idx="1">
                <c:v>0.1952952214070387</c:v>
              </c:pt>
              <c:pt idx="2">
                <c:v>0.256717713385141</c:v>
              </c:pt>
              <c:pt idx="3">
                <c:v>0.1404751731853252</c:v>
              </c:pt>
              <c:pt idx="4">
                <c:v>0.1304204514597114</c:v>
              </c:pt>
              <c:pt idx="5">
                <c:v>0.26443415946581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520381273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-0.01356102272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-0.01919897312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-0.0199770485049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717626774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Financeiro
Multicarteira</c:v>
              </c:pt>
              <c:pt idx="3">
                <c:v>Agro
Recebíveis comerciais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0.0095923745348489</c:v>
              </c:pt>
              <c:pt idx="1">
                <c:v>0.0128779545548899</c:v>
              </c:pt>
              <c:pt idx="2">
                <c:v>0.0016020537540602</c:v>
              </c:pt>
              <c:pt idx="3">
                <c:v>0.0837017113643743</c:v>
              </c:pt>
              <c:pt idx="4">
                <c:v>4.5902990259467114E-05</c:v>
              </c:pt>
              <c:pt idx="5">
                <c:v>0.0005647464514148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mai/26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spPr>
              <a:solidFill xmlns:a="http://schemas.openxmlformats.org/drawingml/2006/main">
                <a:srgbClr val="6EC5E9"/>
              </a:solidFill>
            </c:spPr>
          </c:dPt>
          <c:dPt>
            <c:idx val="2"/>
            <c:spPr>
              <a:solidFill xmlns:a="http://schemas.openxmlformats.org/drawingml/2006/main">
                <a:srgbClr val="73787D"/>
              </a:solidFill>
            </c:spPr>
          </c:dPt>
          <c:dPt>
            <c:idx val="3"/>
            <c:spPr>
              <a:solidFill xmlns:a="http://schemas.openxmlformats.org/drawingml/2006/main">
                <a:srgbClr val="BEC2C5"/>
              </a:solidFill>
            </c:spPr>
          </c:dPt>
          <c:dPt>
            <c:idx val="4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spPr>
              <a:solidFill xmlns:a="http://schemas.openxmlformats.org/drawingml/2006/main">
                <a:srgbClr val="1D4080"/>
              </a:solidFill>
            </c:spPr>
          </c:dPt>
          <c:dPt>
            <c:idx val="6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7"/>
              <c:pt idx="0">
                <c:v>Itaú</c:v>
              </c:pt>
              <c:pt idx="1">
                <c:v>Genial</c:v>
              </c:pt>
              <c:pt idx="2">
                <c:v>Bradesco</c:v>
              </c:pt>
              <c:pt idx="3">
                <c:v>Daycoval</c:v>
              </c:pt>
              <c:pt idx="4">
                <c:v>Oliveira Trust</c:v>
              </c:pt>
              <c:pt idx="5">
                <c:v>BTG Pactual</c:v>
              </c:pt>
              <c:pt idx="6">
                <c:v>QI Tech</c:v>
              </c:pt>
            </c:strLit>
          </c:cat>
          <c:val>
            <c:numLit>
              <c:formatCode>0.0</c:formatCode>
              <c:ptCount val="7"/>
              <c:pt idx="0">
                <c:v>30.503652120020003</c:v>
              </c:pt>
              <c:pt idx="1">
                <c:v>49.791555930259996</c:v>
              </c:pt>
              <c:pt idx="2">
                <c:v>50.02522483326</c:v>
              </c:pt>
              <c:pt idx="3">
                <c:v>54.205320400379996</c:v>
              </c:pt>
              <c:pt idx="4">
                <c:v>55.848683708799996</c:v>
              </c:pt>
              <c:pt idx="5">
                <c:v>109.74781118374001</c:v>
              </c:pt>
              <c:pt idx="6">
                <c:v>122.50570171086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mai/26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spPr>
              <a:solidFill xmlns:a="http://schemas.openxmlformats.org/drawingml/2006/main">
                <a:srgbClr val="73C6A1"/>
              </a:solidFill>
            </c:spPr>
          </c:dPt>
          <c:dPt>
            <c:idx val="2"/>
            <c:spPr>
              <a:solidFill xmlns:a="http://schemas.openxmlformats.org/drawingml/2006/main">
                <a:srgbClr val="8D9399"/>
              </a:solidFill>
            </c:spPr>
          </c:dPt>
          <c:dPt>
            <c:idx val="3"/>
            <c:spPr>
              <a:solidFill xmlns:a="http://schemas.openxmlformats.org/drawingml/2006/main">
                <a:srgbClr val="6EC5E9"/>
              </a:solidFill>
            </c:spPr>
          </c:dPt>
          <c:dPt>
            <c:idx val="4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spPr>
              <a:solidFill xmlns:a="http://schemas.openxmlformats.org/drawingml/2006/main">
                <a:srgbClr val="73787D"/>
              </a:solidFill>
            </c:spPr>
          </c:dPt>
          <c:dPt>
            <c:idx val="6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7"/>
              <c:pt idx="0">
                <c:v>Itaú</c:v>
              </c:pt>
              <c:pt idx="1">
                <c:v>CBSF</c:v>
              </c:pt>
              <c:pt idx="2">
                <c:v>Tercon Investimentos</c:v>
              </c:pt>
              <c:pt idx="3">
                <c:v>Genial</c:v>
              </c:pt>
              <c:pt idx="4">
                <c:v>Oliveira Trust</c:v>
              </c:pt>
              <c:pt idx="5">
                <c:v>Bradesco</c:v>
              </c:pt>
              <c:pt idx="6">
                <c:v>BTG Pactual</c:v>
              </c:pt>
            </c:strLit>
          </c:cat>
          <c:val>
            <c:numLit>
              <c:formatCode>0.0</c:formatCode>
              <c:ptCount val="7"/>
              <c:pt idx="0">
                <c:v>18.295029832140003</c:v>
              </c:pt>
              <c:pt idx="1">
                <c:v>20.98235935844</c:v>
              </c:pt>
              <c:pt idx="2">
                <c:v>22.01425002545</c:v>
              </c:pt>
              <c:pt idx="3">
                <c:v>26.694370669599998</c:v>
              </c:pt>
              <c:pt idx="4">
                <c:v>34.007826304160005</c:v>
              </c:pt>
              <c:pt idx="5">
                <c:v>40.313986110689996</c:v>
              </c:pt>
              <c:pt idx="6">
                <c:v>65.63818920692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mai/26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spPr>
              <a:solidFill xmlns:a="http://schemas.openxmlformats.org/drawingml/2006/main">
                <a:srgbClr val="73787D"/>
              </a:solidFill>
            </c:spPr>
          </c:dPt>
          <c:dPt>
            <c:idx val="2"/>
            <c:spPr>
              <a:solidFill xmlns:a="http://schemas.openxmlformats.org/drawingml/2006/main">
                <a:srgbClr val="73C6A1"/>
              </a:solidFill>
            </c:spPr>
          </c:dPt>
          <c:dPt>
            <c:idx val="3"/>
            <c:spPr>
              <a:solidFill xmlns:a="http://schemas.openxmlformats.org/drawingml/2006/main">
                <a:srgbClr val="BEC2C5"/>
              </a:solidFill>
            </c:spPr>
          </c:dPt>
          <c:dPt>
            <c:idx val="4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spPr>
              <a:solidFill xmlns:a="http://schemas.openxmlformats.org/drawingml/2006/main">
                <a:srgbClr val="1D4080"/>
              </a:solidFill>
            </c:spPr>
          </c:dPt>
          <c:dPt>
            <c:idx val="6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7"/>
              <c:pt idx="0">
                <c:v>Itaú</c:v>
              </c:pt>
              <c:pt idx="1">
                <c:v>Bradesco</c:v>
              </c:pt>
              <c:pt idx="2">
                <c:v>REAG</c:v>
              </c:pt>
              <c:pt idx="3">
                <c:v>Daycoval</c:v>
              </c:pt>
              <c:pt idx="4">
                <c:v>Oliveira Trust</c:v>
              </c:pt>
              <c:pt idx="5">
                <c:v>BTG Pactual</c:v>
              </c:pt>
              <c:pt idx="6">
                <c:v>QI Tech</c:v>
              </c:pt>
            </c:strLit>
          </c:cat>
          <c:val>
            <c:numLit>
              <c:formatCode>0.0</c:formatCode>
              <c:ptCount val="7"/>
              <c:pt idx="0">
                <c:v>21.328667657280008</c:v>
              </c:pt>
              <c:pt idx="1">
                <c:v>48.781716176079996</c:v>
              </c:pt>
              <c:pt idx="2">
                <c:v>49.18187183748001</c:v>
              </c:pt>
              <c:pt idx="3">
                <c:v>60.3404601286</c:v>
              </c:pt>
              <c:pt idx="4">
                <c:v>72.34396085720999</c:v>
              </c:pt>
              <c:pt idx="5">
                <c:v>109.27981553644001</c:v>
              </c:pt>
              <c:pt idx="6">
                <c:v>120.57656814432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mai/26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spPr>
              <a:solidFill xmlns:a="http://schemas.openxmlformats.org/drawingml/2006/main">
                <a:srgbClr val="454A4F"/>
              </a:solidFill>
            </c:spPr>
          </c:dPt>
          <c:dPt>
            <c:idx val="2"/>
            <c:spPr>
              <a:solidFill xmlns:a="http://schemas.openxmlformats.org/drawingml/2006/main">
                <a:srgbClr val="5B6065"/>
              </a:solidFill>
            </c:spPr>
          </c:dPt>
          <c:dPt>
            <c:idx val="3"/>
            <c:spPr>
              <a:solidFill xmlns:a="http://schemas.openxmlformats.org/drawingml/2006/main">
                <a:srgbClr val="73C6A1"/>
              </a:solidFill>
            </c:spPr>
          </c:dPt>
          <c:dPt>
            <c:idx val="4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6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CBSF</c:v>
              </c:pt>
              <c:pt idx="4">
                <c:v>Oliveira Trust</c:v>
              </c:pt>
              <c:pt idx="5">
                <c:v>QI Tech</c:v>
              </c:pt>
            </c:strLit>
          </c:cat>
          <c:val>
            <c:numLit>
              <c:formatCode>0.0</c:formatCode>
              <c:ptCount val="6"/>
              <c:pt idx="0">
                <c:v>20.284278257340002</c:v>
              </c:pt>
              <c:pt idx="1">
                <c:v>21.684726333900002</c:v>
              </c:pt>
              <c:pt idx="2">
                <c:v>22.191436059639997</c:v>
              </c:pt>
              <c:pt idx="3">
                <c:v>42.767335634320006</c:v>
              </c:pt>
              <c:pt idx="4">
                <c:v>55.848683708799996</c:v>
              </c:pt>
              <c:pt idx="5">
                <c:v>122.50570171086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mai/26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A7ACB0"/>
              </a:solidFill>
            </c:spPr>
          </c:dPt>
          <c:dPt>
            <c:idx val="1"/>
            <c:spPr>
              <a:solidFill xmlns:a="http://schemas.openxmlformats.org/drawingml/2006/main">
                <a:srgbClr val="BEC2C5"/>
              </a:solidFill>
            </c:spPr>
          </c:dPt>
          <c:dPt>
            <c:idx val="2"/>
            <c:spPr>
              <a:solidFill xmlns:a="http://schemas.openxmlformats.org/drawingml/2006/main">
                <a:srgbClr val="73C6A1"/>
              </a:solidFill>
            </c:spPr>
          </c:dPt>
          <c:dPt>
            <c:idx val="3"/>
            <c:spPr>
              <a:solidFill xmlns:a="http://schemas.openxmlformats.org/drawingml/2006/main">
                <a:srgbClr val="73C6A1"/>
              </a:solidFill>
            </c:spPr>
          </c:dPt>
          <c:dPt>
            <c:idx val="4"/>
            <c:spPr>
              <a:solidFill xmlns:a="http://schemas.openxmlformats.org/drawingml/2006/main">
                <a:srgbClr val="8D9399"/>
              </a:solidFill>
            </c:spPr>
          </c:dPt>
          <c:dPt>
            <c:idx val="5"/>
            <c:spPr>
              <a:solidFill xmlns:a="http://schemas.openxmlformats.org/drawingml/2006/main">
                <a:srgbClr val="7A1F3D"/>
              </a:solidFill>
            </c:spPr>
          </c:dPt>
          <c:cat>
            <c:strLit>
              <c:ptCount val="6"/>
              <c:pt idx="0">
                <c:v>Integral Investimentos</c:v>
              </c:pt>
              <c:pt idx="1">
                <c:v>Solis Investimentos</c:v>
              </c:pt>
              <c:pt idx="2">
                <c:v>REAG</c:v>
              </c:pt>
              <c:pt idx="3">
                <c:v>CBSF</c:v>
              </c:pt>
              <c:pt idx="4">
                <c:v>Tercon Investimentos</c:v>
              </c:pt>
              <c:pt idx="5">
                <c:v>Oliveira Trust</c:v>
              </c:pt>
            </c:strLit>
          </c:cat>
          <c:val>
            <c:numLit>
              <c:formatCode>0.0</c:formatCode>
              <c:ptCount val="6"/>
              <c:pt idx="0">
                <c:v>14.101509780250002</c:v>
              </c:pt>
              <c:pt idx="1">
                <c:v>15.72886361959</c:v>
              </c:pt>
              <c:pt idx="2">
                <c:v>18.82731708095</c:v>
              </c:pt>
              <c:pt idx="3">
                <c:v>20.98235935844</c:v>
              </c:pt>
              <c:pt idx="4">
                <c:v>22.01425002545</c:v>
              </c:pt>
              <c:pt idx="5">
                <c:v>34.007826304160005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mai/26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454A4F"/>
              </a:solidFill>
            </c:spPr>
          </c:dPt>
          <c:dPt>
            <c:idx val="1"/>
            <c:spPr>
              <a:solidFill xmlns:a="http://schemas.openxmlformats.org/drawingml/2006/main">
                <a:srgbClr val="A7ACB0"/>
              </a:solidFill>
            </c:spPr>
          </c:dPt>
          <c:dPt>
            <c:idx val="2"/>
            <c:spPr>
              <a:solidFill xmlns:a="http://schemas.openxmlformats.org/drawingml/2006/main">
                <a:srgbClr val="5B6065"/>
              </a:solidFill>
            </c:spPr>
          </c:dPt>
          <c:dPt>
            <c:idx val="3"/>
            <c:spPr>
              <a:solidFill xmlns:a="http://schemas.openxmlformats.org/drawingml/2006/main">
                <a:srgbClr val="73C6A1"/>
              </a:solidFill>
            </c:spPr>
          </c:dPt>
          <c:dPt>
            <c:idx val="4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6"/>
              <c:pt idx="0">
                <c:v>BRL Trust</c:v>
              </c:pt>
              <c:pt idx="1">
                <c:v>Limine Trust</c:v>
              </c:pt>
              <c:pt idx="2">
                <c:v>Finaxis</c:v>
              </c:pt>
              <c:pt idx="3">
                <c:v>REAG</c:v>
              </c:pt>
              <c:pt idx="4">
                <c:v>Oliveira Trust</c:v>
              </c:pt>
              <c:pt idx="5">
                <c:v>QI Tech</c:v>
              </c:pt>
            </c:strLit>
          </c:cat>
          <c:val>
            <c:numLit>
              <c:formatCode>0.0</c:formatCode>
              <c:ptCount val="6"/>
              <c:pt idx="0">
                <c:v>21.739432960400002</c:v>
              </c:pt>
              <c:pt idx="1">
                <c:v>21.98342361947</c:v>
              </c:pt>
              <c:pt idx="2">
                <c:v>22.14372755424</c:v>
              </c:pt>
              <c:pt idx="3">
                <c:v>49.18187183748001</c:v>
              </c:pt>
              <c:pt idx="4">
                <c:v>72.34396085720999</c:v>
              </c:pt>
              <c:pt idx="5">
                <c:v>120.57656814432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9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BTG Pactual</c:v>
          </c:tx>
          <c:spPr>
            <a:solidFill xmlns:a="http://schemas.openxmlformats.org/drawingml/2006/main">
              <a:srgbClr val="1D408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Mai/26</c:v>
              </c:pt>
            </c:strLit>
          </c:cat>
          <c:val>
            <c:numLit>
              <c:formatCode>0.0</c:formatCode>
              <c:ptCount val="4"/>
              <c:pt idx="0">
                <c:v>31.16523551990001</c:v>
              </c:pt>
              <c:pt idx="1">
                <c:v>33.64749310927</c:v>
              </c:pt>
              <c:pt idx="2">
                <c:v>26.269659124189996</c:v>
              </c:pt>
              <c:pt idx="3">
                <c:v>41.157753002499994</c:v>
              </c:pt>
            </c:numLit>
          </c:val>
        </c:ser>
        <c:ser>
          <c:idx val="1"/>
          <c:order val="1"/>
          <c:tx>
            <c:v>Itaú</c:v>
          </c:tx>
          <c:spPr>
            <a:solidFill xmlns:a="http://schemas.openxmlformats.org/drawingml/2006/main">
              <a:srgbClr val="FF55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Mai/26</c:v>
              </c:pt>
            </c:strLit>
          </c:cat>
          <c:val>
            <c:numLit>
              <c:formatCode>0.0</c:formatCode>
              <c:ptCount val="4"/>
              <c:pt idx="0">
                <c:v>4.3629141675</c:v>
              </c:pt>
              <c:pt idx="1">
                <c:v>4.96984899401</c:v>
              </c:pt>
              <c:pt idx="2">
                <c:v>14.07980603803</c:v>
              </c:pt>
              <c:pt idx="3">
                <c:v>14.30340731856</c:v>
              </c:pt>
            </c:numLit>
          </c:val>
        </c:ser>
        <c:ser>
          <c:idx val="2"/>
          <c:order val="2"/>
          <c:tx>
            <c:v>Santander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Mai/26</c:v>
              </c:pt>
            </c:strLit>
          </c:cat>
          <c:val>
            <c:numLit>
              <c:formatCode>0.0</c:formatCode>
              <c:ptCount val="4"/>
              <c:pt idx="0">
                <c:v>9.341118916700001</c:v>
              </c:pt>
              <c:pt idx="1">
                <c:v>13.862349673500002</c:v>
              </c:pt>
              <c:pt idx="2">
                <c:v>13.358226244070002</c:v>
              </c:pt>
              <c:pt idx="3">
                <c:v>13.01120255059</c:v>
              </c:pt>
            </c:numLit>
          </c:val>
        </c:ser>
        <c:ser>
          <c:idx val="3"/>
          <c:order val="3"/>
          <c:tx>
            <c:v>Bradesco</c:v>
          </c:tx>
          <c:spPr>
            <a:solidFill xmlns:a="http://schemas.openxmlformats.org/drawingml/2006/main">
              <a:srgbClr val="454A4F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Mai/26</c:v>
              </c:pt>
            </c:strLit>
          </c:cat>
          <c:val>
            <c:numLit>
              <c:formatCode>0.0</c:formatCode>
              <c:ptCount val="4"/>
              <c:pt idx="0">
                <c:v>0.6403486231000001</c:v>
              </c:pt>
              <c:pt idx="1">
                <c:v>1.11949597452</c:v>
              </c:pt>
              <c:pt idx="2">
                <c:v>1.66454381844</c:v>
              </c:pt>
              <c:pt idx="3">
                <c:v>1.86220044155</c:v>
              </c:pt>
            </c:numLit>
          </c:val>
        </c:ser>
        <c:ser>
          <c:idx val="4"/>
          <c:order val="4"/>
          <c:tx>
            <c:v>Banco do Brasil</c:v>
          </c:tx>
          <c:spPr>
            <a:solidFill xmlns:a="http://schemas.openxmlformats.org/drawingml/2006/main">
              <a:srgbClr val="D6A8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Mai/26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0.05062752539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administrado</c:v>
          </c:tx>
          <c:spPr>
            <a:solidFill xmlns:a="http://schemas.openxmlformats.org/drawingml/2006/main">
              <a:srgbClr val="2456D6"/>
            </a:solidFill>
          </c:spPr>
          <c:dPt>
            <c:idx val="0"/>
            <c:spPr>
              <a:solidFill xmlns:a="http://schemas.openxmlformats.org/drawingml/2006/main">
                <a:srgbClr val="2456D6"/>
              </a:solidFill>
            </c:spPr>
          </c:dPt>
          <c:dPt>
            <c:idx val="1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2"/>
              <c:pt idx="0">
                <c:v>Singulare legado</c:v>
              </c:pt>
              <c:pt idx="1">
                <c:v>QI DTVM original</c:v>
              </c:pt>
            </c:strLit>
          </c:cat>
          <c:val>
            <c:numLit>
              <c:formatCode>0.0</c:formatCode>
              <c:ptCount val="2"/>
              <c:pt idx="0">
                <c:v>83.49494764802999</c:v>
              </c:pt>
              <c:pt idx="1">
                <c:v>3.5498953478999997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gerido</c:v>
          </c:tx>
          <c:spPr>
            <a:solidFill xmlns:a="http://schemas.openxmlformats.org/drawingml/2006/main">
              <a:srgbClr val="1D4080"/>
            </a:solidFill>
          </c:spPr>
          <c:dPt>
            <c:idx val="0"/>
            <c:spPr>
              <a:solidFill xmlns:a="http://schemas.openxmlformats.org/drawingml/2006/main">
                <a:srgbClr val="1D4080"/>
              </a:solidFill>
            </c:spPr>
          </c:dPt>
          <c:dPt>
            <c:idx val="1"/>
            <c:spPr>
              <a:solidFill xmlns:a="http://schemas.openxmlformats.org/drawingml/2006/main">
                <a:srgbClr val="73787D"/>
              </a:solidFill>
            </c:spPr>
          </c:dPt>
          <c:dPt>
            <c:idx val="2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3"/>
              <c:pt idx="0">
                <c:v>BTG Pactual</c:v>
              </c:pt>
              <c:pt idx="1">
                <c:v>Bradesco</c:v>
              </c:pt>
              <c:pt idx="2">
                <c:v>BTG ex-6 controlados</c:v>
              </c:pt>
            </c:strLit>
          </c:cat>
          <c:val>
            <c:numLit>
              <c:formatCode>0.0</c:formatCode>
              <c:ptCount val="3"/>
              <c:pt idx="0">
                <c:v>65.63818920692</c:v>
              </c:pt>
              <c:pt idx="1">
                <c:v>40.313986110689996</c:v>
              </c:pt>
              <c:pt idx="2">
                <c:v>36.99760712574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% fundos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0.0783988630980578</c:v>
              </c:pt>
              <c:pt idx="1">
                <c:v>0.00994789199431549</c:v>
              </c:pt>
              <c:pt idx="2">
                <c:v>0.7984367598294647</c:v>
              </c:pt>
              <c:pt idx="3">
                <c:v>0.010421601136901942</c:v>
              </c:pt>
              <c:pt idx="4">
                <c:v>0.08408337280909521</c:v>
              </c:pt>
              <c:pt idx="5">
                <c:v>0.018711511132164852</c:v>
              </c:pt>
            </c:numLit>
          </c:val>
        </c:ser>
        <c:ser>
          <c:idx val="1"/>
          <c:order val="1"/>
          <c:tx>
            <c:v>% PL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0.3401555639274464</c:v>
              </c:pt>
              <c:pt idx="1">
                <c:v>0.03632358129979824</c:v>
              </c:pt>
              <c:pt idx="2">
                <c:v>0.533550356635145</c:v>
              </c:pt>
              <c:pt idx="3">
                <c:v>0.019980720583593427</c:v>
              </c:pt>
              <c:pt idx="4">
                <c:v>0.058027674260146406</c:v>
              </c:pt>
              <c:pt idx="5">
                <c:v>0.011962103293870421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 R$ 10 mi</c:v>
              </c:pt>
              <c:pt idx="1">
                <c:v>R$ 10–25 mi</c:v>
              </c:pt>
              <c:pt idx="2">
                <c:v>R$ 25–50 mi</c:v>
              </c:pt>
              <c:pt idx="3">
                <c:v>R$ 50–100 mi</c:v>
              </c:pt>
              <c:pt idx="4">
                <c:v>R$ 100–200 mi</c:v>
              </c:pt>
              <c:pt idx="5">
                <c:v>R$ 200–500 mi</c:v>
              </c:pt>
              <c:pt idx="6">
                <c:v>≥ R$ 500 mi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 R$ 10 mi</c:v>
              </c:pt>
              <c:pt idx="1">
                <c:v>R$ 10–25 mi</c:v>
              </c:pt>
              <c:pt idx="2">
                <c:v>R$ 25–50 mi</c:v>
              </c:pt>
              <c:pt idx="3">
                <c:v>R$ 50–100 mi</c:v>
              </c:pt>
              <c:pt idx="4">
                <c:v>R$ 100–200 mi</c:v>
              </c:pt>
              <c:pt idx="5">
                <c:v>R$ 200–500 mi</c:v>
              </c:pt>
              <c:pt idx="6">
                <c:v>≥ R$ 500 mi</c:v>
              </c:pt>
            </c:strLit>
          </c:cat>
          <c:val>
            <c:numLit>
              <c:formatCode>0%</c:formatCode>
              <c:ptCount val="7"/>
              <c:pt idx="0">
                <c:v>0.238095238095238</c:v>
              </c:pt>
              <c:pt idx="1">
                <c:v>0.254421768707483</c:v>
              </c:pt>
              <c:pt idx="2">
                <c:v>0.1632653061224489</c:v>
              </c:pt>
              <c:pt idx="3">
                <c:v>0.1578231292517006</c:v>
              </c:pt>
              <c:pt idx="4">
                <c:v>0.0952380952380952</c:v>
              </c:pt>
              <c:pt idx="5">
                <c:v>0.0666666666666666</c:v>
              </c:pt>
              <c:pt idx="6">
                <c:v>0.0244897959183673</c:v>
              </c:pt>
            </c:numLit>
          </c:val>
        </c:ser>
        <c:ser>
          <c:idx val="2"/>
          <c:order val="2"/>
          <c:tx>
            <c:v>2026 jan-mai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 R$ 10 mi</c:v>
              </c:pt>
              <c:pt idx="1">
                <c:v>R$ 10–25 mi</c:v>
              </c:pt>
              <c:pt idx="2">
                <c:v>R$ 25–50 mi</c:v>
              </c:pt>
              <c:pt idx="3">
                <c:v>R$ 50–100 mi</c:v>
              </c:pt>
              <c:pt idx="4">
                <c:v>R$ 100–200 mi</c:v>
              </c:pt>
              <c:pt idx="5">
                <c:v>R$ 200–500 mi</c:v>
              </c:pt>
              <c:pt idx="6">
                <c:v>≥ R$ 500 mi</c:v>
              </c:pt>
            </c:strLit>
          </c:cat>
          <c:val>
            <c:numLit>
              <c:formatCode>0%</c:formatCode>
              <c:ptCount val="7"/>
              <c:pt idx="0">
                <c:v>0.2527075812274368</c:v>
              </c:pt>
              <c:pt idx="1">
                <c:v>0.259927797833935</c:v>
              </c:pt>
              <c:pt idx="2">
                <c:v>0.1498194945848375</c:v>
              </c:pt>
              <c:pt idx="3">
                <c:v>0.1534296028880866</c:v>
              </c:pt>
              <c:pt idx="4">
                <c:v>0.0938628158844765</c:v>
              </c:pt>
              <c:pt idx="5">
                <c:v>0.0595667870036101</c:v>
              </c:pt>
              <c:pt idx="6">
                <c:v>0.0306859205776173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00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9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0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5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Volume registrado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spPr>
              <a:solidFill xmlns:a="http://schemas.openxmlformats.org/drawingml/2006/main">
                <a:srgbClr val="30353A"/>
              </a:solidFill>
            </c:spPr>
          </c:dPt>
          <c:dPt>
            <c:idx val="5"/>
            <c:spPr>
              <a:solidFill xmlns:a="http://schemas.openxmlformats.org/drawingml/2006/main">
                <a:srgbClr val="30353A"/>
              </a:solidFill>
            </c:spPr>
          </c:dPt>
          <c:dPt>
            <c:idx val="6"/>
            <c:spPr>
              <a:solidFill xmlns:a="http://schemas.openxmlformats.org/drawingml/2006/main">
                <a:srgbClr val="30353A"/>
              </a:solidFill>
            </c:spPr>
          </c:dPt>
          <c:dPt>
            <c:idx val="7"/>
            <c:spPr>
              <a:solidFill xmlns:a="http://schemas.openxmlformats.org/drawingml/2006/main">
                <a:srgbClr val="30353A"/>
              </a:solidFill>
            </c:spPr>
          </c:dPt>
          <c:dPt>
            <c:idx val="8"/>
            <c:spPr>
              <a:solidFill xmlns:a="http://schemas.openxmlformats.org/drawingml/2006/main">
                <a:srgbClr val="30353A"/>
              </a:solidFill>
            </c:spPr>
          </c:dPt>
          <c:dPt>
            <c:idx val="9"/>
            <c:spPr>
              <a:solidFill xmlns:a="http://schemas.openxmlformats.org/drawingml/2006/main">
                <a:srgbClr val="30353A"/>
              </a:solidFill>
            </c:spPr>
          </c:dPt>
          <c:dPt>
            <c:idx val="10"/>
            <c:spPr>
              <a:solidFill xmlns:a="http://schemas.openxmlformats.org/drawingml/2006/main">
                <a:srgbClr val="30353A"/>
              </a:solidFill>
            </c:spPr>
          </c:dPt>
          <c:dPt>
            <c:idx val="11"/>
            <c:spPr>
              <a:solidFill xmlns:a="http://schemas.openxmlformats.org/drawingml/2006/main">
                <a:srgbClr val="30353A"/>
              </a:solidFill>
            </c:spPr>
          </c:dPt>
          <c:dPt>
            <c:idx val="12"/>
            <c:spPr>
              <a:solidFill xmlns:a="http://schemas.openxmlformats.org/drawingml/2006/main">
                <a:srgbClr val="30353A"/>
              </a:solidFill>
            </c:spPr>
          </c:dPt>
          <c:dPt>
            <c:idx val="13"/>
            <c:spPr>
              <a:solidFill xmlns:a="http://schemas.openxmlformats.org/drawingml/2006/main">
                <a:srgbClr val="30353A"/>
              </a:solidFill>
            </c:spPr>
          </c:dPt>
          <c:dPt>
            <c:idx val="14"/>
            <c:spPr>
              <a:solidFill xmlns:a="http://schemas.openxmlformats.org/drawingml/2006/main">
                <a:srgbClr val="30353A"/>
              </a:solidFill>
            </c:spPr>
          </c:dPt>
          <c:dPt>
            <c:idx val="15"/>
            <c:spPr>
              <a:solidFill xmlns:a="http://schemas.openxmlformats.org/drawingml/2006/main">
                <a:srgbClr val="30353A"/>
              </a:solidFill>
            </c:spPr>
          </c:dPt>
          <c:dPt>
            <c:idx val="16"/>
            <c:spPr>
              <a:solidFill xmlns:a="http://schemas.openxmlformats.org/drawingml/2006/main">
                <a:srgbClr val="30353A"/>
              </a:solidFill>
            </c:spPr>
          </c:dPt>
          <c:dPt>
            <c:idx val="17"/>
            <c:spPr>
              <a:solidFill xmlns:a="http://schemas.openxmlformats.org/drawingml/2006/main">
                <a:srgbClr val="30353A"/>
              </a:solidFill>
            </c:spPr>
          </c:dPt>
          <c:dPt>
            <c:idx val="18"/>
            <c:spPr>
              <a:solidFill xmlns:a="http://schemas.openxmlformats.org/drawingml/2006/main">
                <a:srgbClr val="EC7000"/>
              </a:solidFill>
            </c:spPr>
          </c:dPt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5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6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7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8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9"/>
              <c:pt idx="0">
                <c:v>Pravaler</c:v>
              </c:pt>
              <c:pt idx="1">
                <c:v>D365</c:v>
              </c:pt>
              <c:pt idx="2">
                <c:v>Minerva</c:v>
              </c:pt>
              <c:pt idx="3">
                <c:v>Paraná Banco</c:v>
              </c:pt>
              <c:pt idx="4">
                <c:v>Verdecard</c:v>
              </c:pt>
              <c:pt idx="5">
                <c:v>Creditas</c:v>
              </c:pt>
              <c:pt idx="6">
                <c:v>MRV</c:v>
              </c:pt>
              <c:pt idx="7">
                <c:v>iFood</c:v>
              </c:pt>
              <c:pt idx="8">
                <c:v>Bayer</c:v>
              </c:pt>
              <c:pt idx="9">
                <c:v>Lavoro</c:v>
              </c:pt>
              <c:pt idx="10">
                <c:v>PagSeguro</c:v>
              </c:pt>
              <c:pt idx="11">
                <c:v>ICred</c:v>
              </c:pt>
              <c:pt idx="12">
                <c:v>PicPay</c:v>
              </c:pt>
              <c:pt idx="13">
                <c:v>Banco Pine</c:v>
              </c:pt>
              <c:pt idx="14">
                <c:v>Mercado Pago / Mercado Crédito</c:v>
              </c:pt>
              <c:pt idx="15">
                <c:v>Solfácil</c:v>
              </c:pt>
              <c:pt idx="16">
                <c:v>Banco Volkswagen</c:v>
              </c:pt>
              <c:pt idx="17">
                <c:v>Agibank</c:v>
              </c:pt>
              <c:pt idx="18">
                <c:v>CloudWalk</c:v>
              </c:pt>
            </c:strLit>
          </c:cat>
          <c:val>
            <c:numLit>
              <c:formatCode>0.00</c:formatCode>
              <c:ptCount val="19"/>
              <c:pt idx="0">
                <c:v>0.12502</c:v>
              </c:pt>
              <c:pt idx="1">
                <c:v>0.13</c:v>
              </c:pt>
              <c:pt idx="2">
                <c:v>0.27</c:v>
              </c:pt>
              <c:pt idx="3">
                <c:v>0.3465</c:v>
              </c:pt>
              <c:pt idx="4">
                <c:v>0.45</c:v>
              </c:pt>
              <c:pt idx="5">
                <c:v>0.45</c:v>
              </c:pt>
              <c:pt idx="6">
                <c:v>0.57</c:v>
              </c:pt>
              <c:pt idx="7">
                <c:v>0.6</c:v>
              </c:pt>
              <c:pt idx="8">
                <c:v>0.7</c:v>
              </c:pt>
              <c:pt idx="9">
                <c:v>0.73</c:v>
              </c:pt>
              <c:pt idx="10">
                <c:v>1</c:v>
              </c:pt>
              <c:pt idx="11">
                <c:v>1.169268</c:v>
              </c:pt>
              <c:pt idx="12">
                <c:v>1.25</c:v>
              </c:pt>
              <c:pt idx="13">
                <c:v>1.25</c:v>
              </c:pt>
              <c:pt idx="14">
                <c:v>1.5</c:v>
              </c:pt>
              <c:pt idx="15">
                <c:v>1.5055</c:v>
              </c:pt>
              <c:pt idx="16">
                <c:v>2</c:v>
              </c:pt>
              <c:pt idx="17">
                <c:v>2.5</c:v>
              </c:pt>
              <c:pt idx="18">
                <c:v>5.5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0.6611870074822579</c:v>
              </c:pt>
              <c:pt idx="1">
                <c:v>0.3065550509629137</c:v>
              </c:pt>
              <c:pt idx="2">
                <c:v>0.1384886862758975</c:v>
              </c:pt>
              <c:pt idx="3">
                <c:v>0.0567572663282072</c:v>
              </c:pt>
              <c:pt idx="4">
                <c:v>0.0748397996820013</c:v>
              </c:pt>
              <c:pt idx="5">
                <c:v>0.0414481143203419</c:v>
              </c:pt>
              <c:pt idx="6">
                <c:v>0</c:v>
              </c:pt>
              <c:pt idx="7">
                <c:v>0.0521489342892355</c:v>
              </c:pt>
              <c:pt idx="8">
                <c:v>0</c:v>
              </c:pt>
              <c:pt idx="9">
                <c:v>0.2605841370684867</c:v>
              </c:pt>
              <c:pt idx="10">
                <c:v>0.0951979889117662</c:v>
              </c:pt>
              <c:pt idx="11">
                <c:v>0.0515483285980513</c:v>
              </c:pt>
              <c:pt idx="12">
                <c:v>0.2136203543533293</c:v>
              </c:pt>
              <c:pt idx="13">
                <c:v>0.0990264248232046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58226892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5578793495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0.0096806367055208</c:v>
              </c:pt>
              <c:pt idx="1">
                <c:v>0</c:v>
              </c:pt>
              <c:pt idx="2">
                <c:v>0.1723637321299062</c:v>
              </c:pt>
              <c:pt idx="3">
                <c:v>0.2987017997195839</c:v>
              </c:pt>
              <c:pt idx="4">
                <c:v>0.0216782388311303</c:v>
              </c:pt>
              <c:pt idx="5">
                <c:v>0.1137488845128169</c:v>
              </c:pt>
              <c:pt idx="6">
                <c:v>0.010283546215548</c:v>
              </c:pt>
              <c:pt idx="7">
                <c:v>0.1601130774154732</c:v>
              </c:pt>
              <c:pt idx="8">
                <c:v>0.0088424130081329</c:v>
              </c:pt>
              <c:pt idx="9">
                <c:v>0.0650570577377896</c:v>
              </c:pt>
              <c:pt idx="10">
                <c:v>0.034867787265154</c:v>
              </c:pt>
              <c:pt idx="11">
                <c:v>0.0386763249777689</c:v>
              </c:pt>
              <c:pt idx="12">
                <c:v>0.241155891421021</c:v>
              </c:pt>
              <c:pt idx="13">
                <c:v>0.128212506976499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0.0094527897804782</c:v>
              </c:pt>
              <c:pt idx="1">
                <c:v>0.2340357556865194</c:v>
              </c:pt>
              <c:pt idx="2">
                <c:v>0.3835604510065076</c:v>
              </c:pt>
              <c:pt idx="3">
                <c:v>0.2386922325581826</c:v>
              </c:pt>
              <c:pt idx="4">
                <c:v>0</c:v>
              </c:pt>
              <c:pt idx="5">
                <c:v>0.0975132700060647</c:v>
              </c:pt>
              <c:pt idx="6">
                <c:v>0.2056251377166127</c:v>
              </c:pt>
              <c:pt idx="7">
                <c:v>0.0620957844585563</c:v>
              </c:pt>
              <c:pt idx="8">
                <c:v>0.4268975722865307</c:v>
              </c:pt>
              <c:pt idx="9">
                <c:v>0.0299889329892</c:v>
              </c:pt>
              <c:pt idx="10">
                <c:v>0.0968713149591156</c:v>
              </c:pt>
              <c:pt idx="11">
                <c:v>0</c:v>
              </c:pt>
              <c:pt idx="12">
                <c:v>0.0528015720604226</c:v>
              </c:pt>
              <c:pt idx="13">
                <c:v>0.0140116005534091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0.005650213947542</c:v>
              </c:pt>
              <c:pt idx="1">
                <c:v>0.0339495695667946</c:v>
              </c:pt>
              <c:pt idx="2">
                <c:v>0.0599764711599138</c:v>
              </c:pt>
              <c:pt idx="3">
                <c:v>0.1056482624842525</c:v>
              </c:pt>
              <c:pt idx="4">
                <c:v>0.0554049149913933</c:v>
              </c:pt>
              <c:pt idx="5">
                <c:v>0.1110519536793041</c:v>
              </c:pt>
              <c:pt idx="6">
                <c:v>0.058882728248978</c:v>
              </c:pt>
              <c:pt idx="7">
                <c:v>0.014768115843443</c:v>
              </c:pt>
              <c:pt idx="8">
                <c:v>0.119866476718708</c:v>
              </c:pt>
              <c:pt idx="9">
                <c:v>0.2175764336860203</c:v>
              </c:pt>
              <c:pt idx="10">
                <c:v>0.0850940839033368</c:v>
              </c:pt>
              <c:pt idx="11">
                <c:v>0.0733115187257639</c:v>
              </c:pt>
              <c:pt idx="12">
                <c:v>0.0743239223341259</c:v>
              </c:pt>
              <c:pt idx="13">
                <c:v>0.075505515120115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-0.018"/>
                  <c:y val="0.0041254623940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0.0218624310503035</c:v>
              </c:pt>
              <c:pt idx="1">
                <c:v>0</c:v>
              </c:pt>
              <c:pt idx="2">
                <c:v>6.281556998813609E-05</c:v>
              </c:pt>
              <c:pt idx="3">
                <c:v>0</c:v>
              </c:pt>
              <c:pt idx="4">
                <c:v>0.5171854935971928</c:v>
              </c:pt>
              <c:pt idx="5">
                <c:v>0.1441403762734957</c:v>
              </c:pt>
              <c:pt idx="6">
                <c:v>0</c:v>
              </c:pt>
              <c:pt idx="7">
                <c:v>0.1675256950501003</c:v>
              </c:pt>
              <c:pt idx="8">
                <c:v>0</c:v>
              </c:pt>
              <c:pt idx="9">
                <c:v>0</c:v>
              </c:pt>
              <c:pt idx="10">
                <c:v>0.0293999059712772</c:v>
              </c:pt>
              <c:pt idx="11">
                <c:v>0.001224536929653</c:v>
              </c:pt>
              <c:pt idx="12">
                <c:v>0.0091459098495054</c:v>
              </c:pt>
              <c:pt idx="13">
                <c:v>0.0555376438055603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.002053761316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0.0014143975904966</c:v>
              </c:pt>
              <c:pt idx="1">
                <c:v>0.1050350765144157</c:v>
              </c:pt>
              <c:pt idx="2">
                <c:v>0.0118370206161566</c:v>
              </c:pt>
              <c:pt idx="3">
                <c:v>0.2219096503793298</c:v>
              </c:pt>
              <c:pt idx="4">
                <c:v>0</c:v>
              </c:pt>
              <c:pt idx="5">
                <c:v>0.1282934257881305</c:v>
              </c:pt>
              <c:pt idx="6">
                <c:v>0.0820968236937576</c:v>
              </c:pt>
              <c:pt idx="7">
                <c:v>0.1124159134008817</c:v>
              </c:pt>
              <c:pt idx="8">
                <c:v>0.0274252954275441</c:v>
              </c:pt>
              <c:pt idx="9">
                <c:v>0.0653384865149628</c:v>
              </c:pt>
              <c:pt idx="10">
                <c:v>0.0519432171691935</c:v>
              </c:pt>
              <c:pt idx="11">
                <c:v>0.0161874270129937</c:v>
              </c:pt>
              <c:pt idx="12">
                <c:v>0.0100687880387016</c:v>
              </c:pt>
              <c:pt idx="13">
                <c:v>0.0431588576073536</c:v>
              </c:pt>
            </c:numLit>
          </c:val>
        </c:ser>
        <c:ser>
          <c:idx val="6"/>
          <c:order val="6"/>
          <c:tx>
            <c:v>CBSF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0.0215818662038886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0.0012651187619958</c:v>
              </c:pt>
              <c:pt idx="6">
                <c:v>0</c:v>
              </c:pt>
              <c:pt idx="7">
                <c:v>2.2729500657420742E-05</c:v>
              </c:pt>
              <c:pt idx="8">
                <c:v>0.0037035017141062</c:v>
              </c:pt>
              <c:pt idx="9">
                <c:v>0</c:v>
              </c:pt>
              <c:pt idx="10">
                <c:v>0</c:v>
              </c:pt>
              <c:pt idx="11">
                <c:v>0.0446554095032045</c:v>
              </c:pt>
              <c:pt idx="12">
                <c:v>0.0328418092712618</c:v>
              </c:pt>
              <c:pt idx="13">
                <c:v>0.1222860396106066</c:v>
              </c:pt>
            </c:numLit>
          </c:val>
        </c:ser>
        <c:ser>
          <c:idx val="7"/>
          <c:order val="7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-0.018"/>
                  <c:y val="0.0006366677984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0.0091226305520816</c:v>
              </c:pt>
              <c:pt idx="1">
                <c:v>0.0622568638776309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0.0006705493289052</c:v>
              </c:pt>
              <c:pt idx="6">
                <c:v>0.0815048018193664</c:v>
              </c:pt>
              <c:pt idx="7">
                <c:v>0.0509084621156352</c:v>
              </c:pt>
              <c:pt idx="8">
                <c:v>0.0063526004800165</c:v>
              </c:pt>
              <c:pt idx="9">
                <c:v>0.1060388872397302</c:v>
              </c:pt>
              <c:pt idx="10">
                <c:v>0</c:v>
              </c:pt>
              <c:pt idx="11">
                <c:v>0</c:v>
              </c:pt>
              <c:pt idx="12">
                <c:v>0.0196753475958024</c:v>
              </c:pt>
              <c:pt idx="13">
                <c:v>0.0703673776854007</c:v>
              </c:pt>
            </c:numLit>
          </c:val>
        </c:ser>
        <c:ser>
          <c:idx val="8"/>
          <c:order val="8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0.0299300898256725</c:v>
              </c:pt>
              <c:pt idx="1">
                <c:v>0.0012950121619806</c:v>
              </c:pt>
              <c:pt idx="2">
                <c:v>0</c:v>
              </c:pt>
              <c:pt idx="3">
                <c:v>0.0032891441904342</c:v>
              </c:pt>
              <c:pt idx="4">
                <c:v>0</c:v>
              </c:pt>
              <c:pt idx="5">
                <c:v>0.0003817965185774</c:v>
              </c:pt>
              <c:pt idx="6">
                <c:v>0</c:v>
              </c:pt>
              <c:pt idx="7">
                <c:v>0.0452350377070635</c:v>
              </c:pt>
              <c:pt idx="8">
                <c:v>0</c:v>
              </c:pt>
              <c:pt idx="9">
                <c:v>0.1185221016978889</c:v>
              </c:pt>
              <c:pt idx="10">
                <c:v>0.1696255142228581</c:v>
              </c:pt>
              <c:pt idx="11">
                <c:v>0</c:v>
              </c:pt>
              <c:pt idx="12">
                <c:v>0</c:v>
              </c:pt>
              <c:pt idx="13">
                <c:v>0.03615203126776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0.0014712290879408</c:v>
              </c:pt>
              <c:pt idx="1">
                <c:v>0.0866620254832727</c:v>
              </c:pt>
              <c:pt idx="2">
                <c:v>0.0104903023035456</c:v>
              </c:pt>
              <c:pt idx="3">
                <c:v>0.0005295626945933</c:v>
              </c:pt>
              <c:pt idx="4">
                <c:v>0.0016187625060064</c:v>
              </c:pt>
              <c:pt idx="5">
                <c:v>0.0861419194953894</c:v>
              </c:pt>
              <c:pt idx="6">
                <c:v>0.0736717709890082</c:v>
              </c:pt>
              <c:pt idx="7">
                <c:v>0.0032775916620824</c:v>
              </c:pt>
              <c:pt idx="8">
                <c:v>0.0698786005800293</c:v>
              </c:pt>
              <c:pt idx="9">
                <c:v>0.0082255331037107</c:v>
              </c:pt>
              <c:pt idx="10">
                <c:v>0.0566945158955612</c:v>
              </c:pt>
              <c:pt idx="11">
                <c:v>0.1346563668780915</c:v>
              </c:pt>
              <c:pt idx="12">
                <c:v>0.0895063986320403</c:v>
              </c:pt>
              <c:pt idx="13">
                <c:v>0.0240515940768077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0.2286467077738171</c:v>
              </c:pt>
              <c:pt idx="1">
                <c:v>0.1702106457464722</c:v>
              </c:pt>
              <c:pt idx="2">
                <c:v>0.2232205209380841</c:v>
              </c:pt>
              <c:pt idx="3">
                <c:v>0.0744720816454161</c:v>
              </c:pt>
              <c:pt idx="4">
                <c:v>0.3292727903922756</c:v>
              </c:pt>
              <c:pt idx="5">
                <c:v>0.275344591314978</c:v>
              </c:pt>
              <c:pt idx="6">
                <c:v>0.4879351913167288</c:v>
              </c:pt>
              <c:pt idx="7">
                <c:v>0.331488658556871</c:v>
              </c:pt>
              <c:pt idx="8">
                <c:v>0.3370335397849319</c:v>
              </c:pt>
              <c:pt idx="9">
                <c:v>0.1286684299622103</c:v>
              </c:pt>
              <c:pt idx="10">
                <c:v>0.3803056717017374</c:v>
              </c:pt>
              <c:pt idx="11">
                <c:v>0.6397400873744729</c:v>
              </c:pt>
              <c:pt idx="12">
                <c:v>0.2568600064437893</c:v>
              </c:pt>
              <c:pt idx="13">
                <c:v>0.3316904084732829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94784283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.014585313058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.017557577494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0.0010431433080663</c:v>
              </c:pt>
              <c:pt idx="1">
                <c:v>0</c:v>
              </c:pt>
              <c:pt idx="2">
                <c:v>0.1620819157782274</c:v>
              </c:pt>
              <c:pt idx="3">
                <c:v>0.2879172705646674</c:v>
              </c:pt>
              <c:pt idx="4">
                <c:v>0</c:v>
              </c:pt>
              <c:pt idx="5">
                <c:v>0.0476979191106428</c:v>
              </c:pt>
              <c:pt idx="6">
                <c:v>0</c:v>
              </c:pt>
              <c:pt idx="7">
                <c:v>0.1612643199454508</c:v>
              </c:pt>
              <c:pt idx="8">
                <c:v>0</c:v>
              </c:pt>
              <c:pt idx="9">
                <c:v>0.0108293738831371</c:v>
              </c:pt>
              <c:pt idx="10">
                <c:v>0.0311258560003973</c:v>
              </c:pt>
              <c:pt idx="11">
                <c:v>0.0048848450101991</c:v>
              </c:pt>
              <c:pt idx="12">
                <c:v>0.0445222159437067</c:v>
              </c:pt>
              <c:pt idx="13">
                <c:v>0.0458089085133664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.0080256411667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0.0218624310503035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0.4427778819644692</c:v>
              </c:pt>
              <c:pt idx="5">
                <c:v>0.1416344579115185</c:v>
              </c:pt>
              <c:pt idx="6">
                <c:v>0</c:v>
              </c:pt>
              <c:pt idx="7">
                <c:v>0.0988373717941237</c:v>
              </c:pt>
              <c:pt idx="8">
                <c:v>0</c:v>
              </c:pt>
              <c:pt idx="9">
                <c:v>0</c:v>
              </c:pt>
              <c:pt idx="10">
                <c:v>0.0293999059712772</c:v>
              </c:pt>
              <c:pt idx="11">
                <c:v>0</c:v>
              </c:pt>
              <c:pt idx="12">
                <c:v>0.0091459098495054</c:v>
              </c:pt>
              <c:pt idx="13">
                <c:v>0.0435787128216393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.007700390505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0.0006138459364985</c:v>
              </c:pt>
              <c:pt idx="1">
                <c:v>0.0442126454698642</c:v>
              </c:pt>
              <c:pt idx="2">
                <c:v>0.2811942809310054</c:v>
              </c:pt>
              <c:pt idx="3">
                <c:v>0.1779321795935377</c:v>
              </c:pt>
              <c:pt idx="4">
                <c:v>0</c:v>
              </c:pt>
              <c:pt idx="5">
                <c:v>0.0749544808439372</c:v>
              </c:pt>
              <c:pt idx="6">
                <c:v>0.1256325612690352</c:v>
              </c:pt>
              <c:pt idx="7">
                <c:v>0.0346788102765514</c:v>
              </c:pt>
              <c:pt idx="8">
                <c:v>0.060618362683471</c:v>
              </c:pt>
              <c:pt idx="9">
                <c:v>0.0029404712225746</c:v>
              </c:pt>
              <c:pt idx="10">
                <c:v>0.0089787950009705</c:v>
              </c:pt>
              <c:pt idx="11">
                <c:v>0</c:v>
              </c:pt>
              <c:pt idx="12">
                <c:v>0.0315432619313249</c:v>
              </c:pt>
              <c:pt idx="13">
                <c:v>0.0022422931404634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.018"/>
                  <c:y val="0.0036046075655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0.0119282578190441</c:v>
              </c:pt>
              <c:pt idx="2">
                <c:v>0</c:v>
              </c:pt>
              <c:pt idx="3">
                <c:v>0.0932577416285109</c:v>
              </c:pt>
              <c:pt idx="4">
                <c:v>0</c:v>
              </c:pt>
              <c:pt idx="5">
                <c:v>0.1092199950973199</c:v>
              </c:pt>
              <c:pt idx="6">
                <c:v>0</c:v>
              </c:pt>
              <c:pt idx="7">
                <c:v>0.0823597948755415</c:v>
              </c:pt>
              <c:pt idx="8">
                <c:v>0.0002117687649444</c:v>
              </c:pt>
              <c:pt idx="9">
                <c:v>0.0052510946575456</c:v>
              </c:pt>
              <c:pt idx="10">
                <c:v>0</c:v>
              </c:pt>
              <c:pt idx="11">
                <c:v>0</c:v>
              </c:pt>
              <c:pt idx="12">
                <c:v>0.0014288577438735</c:v>
              </c:pt>
              <c:pt idx="13">
                <c:v>0.0221725257014319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-5.55111512313e-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0.2212588608018581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0.0021820525999263</c:v>
              </c:pt>
              <c:pt idx="6">
                <c:v>0</c:v>
              </c:pt>
              <c:pt idx="7">
                <c:v>0.0048604745270052</c:v>
              </c:pt>
              <c:pt idx="8">
                <c:v>0.015033560571567</c:v>
              </c:pt>
              <c:pt idx="9">
                <c:v>0</c:v>
              </c:pt>
              <c:pt idx="10">
                <c:v>0.0115120249960094</c:v>
              </c:pt>
              <c:pt idx="11">
                <c:v>0</c:v>
              </c:pt>
              <c:pt idx="12">
                <c:v>0</c:v>
              </c:pt>
              <c:pt idx="13">
                <c:v>0.0055435920253086</c:v>
              </c:pt>
            </c:numLit>
          </c:val>
        </c:ser>
        <c:ser>
          <c:idx val="5"/>
          <c:order val="5"/>
          <c:tx>
            <c:v>CBSF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0.0215818662038886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0.0001817325630543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0.0410644229302643</c:v>
              </c:pt>
              <c:pt idx="12">
                <c:v>0</c:v>
              </c:pt>
              <c:pt idx="13">
                <c:v>0.0586752184843061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0.000679199356909</c:v>
              </c:pt>
              <c:pt idx="6">
                <c:v>0</c:v>
              </c:pt>
              <c:pt idx="7">
                <c:v>0</c:v>
              </c:pt>
              <c:pt idx="8">
                <c:v>0.0037035017141062</c:v>
              </c:pt>
              <c:pt idx="9">
                <c:v>0</c:v>
              </c:pt>
              <c:pt idx="10">
                <c:v>0</c:v>
              </c:pt>
              <c:pt idx="11">
                <c:v>0.0035909865729401</c:v>
              </c:pt>
              <c:pt idx="12">
                <c:v>0.0328418092712618</c:v>
              </c:pt>
              <c:pt idx="13">
                <c:v>0.0544619859653589</c:v>
              </c:pt>
            </c:numLit>
          </c:val>
        </c:ser>
        <c:ser>
          <c:idx val="7"/>
          <c:order val="7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0.0547197874056144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0.0815048018193664</c:v>
              </c:pt>
              <c:pt idx="7">
                <c:v>0.0196685284996068</c:v>
              </c:pt>
              <c:pt idx="8">
                <c:v>0</c:v>
              </c:pt>
              <c:pt idx="9">
                <c:v>0.0999317479213442</c:v>
              </c:pt>
              <c:pt idx="10">
                <c:v>0</c:v>
              </c:pt>
              <c:pt idx="11">
                <c:v>0</c:v>
              </c:pt>
              <c:pt idx="12">
                <c:v>0.0259737742764902</c:v>
              </c:pt>
              <c:pt idx="13">
                <c:v>0.0412484428841916</c:v>
              </c:pt>
            </c:numLit>
          </c:val>
        </c:ser>
        <c:ser>
          <c:idx val="8"/>
          <c:order val="8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.02599508542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0.0344936681835347</c:v>
              </c:pt>
              <c:pt idx="1">
                <c:v>0</c:v>
              </c:pt>
              <c:pt idx="2">
                <c:v>0.0707778035816525</c:v>
              </c:pt>
              <c:pt idx="3">
                <c:v>0.0219114699406215</c:v>
              </c:pt>
              <c:pt idx="4">
                <c:v>0</c:v>
              </c:pt>
              <c:pt idx="5">
                <c:v>0.0141059127113014</c:v>
              </c:pt>
              <c:pt idx="6">
                <c:v>0</c:v>
              </c:pt>
              <c:pt idx="7">
                <c:v>0.0116493245680644</c:v>
              </c:pt>
              <c:pt idx="8">
                <c:v>0.058622173425719</c:v>
              </c:pt>
              <c:pt idx="9">
                <c:v>0</c:v>
              </c:pt>
              <c:pt idx="10">
                <c:v>0.0047005873098373</c:v>
              </c:pt>
              <c:pt idx="11">
                <c:v>0.000271393290433</c:v>
              </c:pt>
              <c:pt idx="12">
                <c:v>0.0007285216184997</c:v>
              </c:pt>
              <c:pt idx="13">
                <c:v>0.0193437048109999</c:v>
              </c:pt>
            </c:numLit>
          </c:val>
        </c:ser>
        <c:ser>
          <c:idx val="9"/>
          <c:order val="9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.015665977291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.0084620599530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0.0947597191319019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0.0089160887169426</c:v>
              </c:pt>
              <c:pt idx="6">
                <c:v>0</c:v>
              </c:pt>
              <c:pt idx="7">
                <c:v>0.1103711874874502</c:v>
              </c:pt>
              <c:pt idx="8">
                <c:v>0</c:v>
              </c:pt>
              <c:pt idx="9">
                <c:v>0</c:v>
              </c:pt>
              <c:pt idx="10">
                <c:v>0.0116718604811848</c:v>
              </c:pt>
              <c:pt idx="11">
                <c:v>0</c:v>
              </c:pt>
              <c:pt idx="12">
                <c:v>0.0660942165481527</c:v>
              </c:pt>
              <c:pt idx="13">
                <c:v>0.0115970386379531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0.6983799241362908</c:v>
              </c:pt>
              <c:pt idx="1">
                <c:v>0.7943795901735753</c:v>
              </c:pt>
              <c:pt idx="2">
                <c:v>0.4858831841391264</c:v>
              </c:pt>
              <c:pt idx="3">
                <c:v>0.4189813382726622</c:v>
              </c:pt>
              <c:pt idx="4">
                <c:v>0.5572221180355307</c:v>
              </c:pt>
              <c:pt idx="5">
                <c:v>0.600417311600118</c:v>
              </c:pt>
              <c:pt idx="6">
                <c:v>0.7928626369115981</c:v>
              </c:pt>
              <c:pt idx="7">
                <c:v>0.4698135654200273</c:v>
              </c:pt>
              <c:pt idx="8">
                <c:v>0.8618106328401921</c:v>
              </c:pt>
              <c:pt idx="9">
                <c:v>0.8042631706928404</c:v>
              </c:pt>
              <c:pt idx="10">
                <c:v>0.9026109702403236</c:v>
              </c:pt>
              <c:pt idx="11">
                <c:v>0.950188352196163</c:v>
              </c:pt>
              <c:pt idx="12">
                <c:v>0.7877214328171848</c:v>
              </c:pt>
              <c:pt idx="13">
                <c:v>0.6951518050425334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9616869810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-0.019968592215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-0.019994575255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-0.01675168869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-0.019912114013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0.0007662603795592</c:v>
              </c:pt>
              <c:pt idx="1">
                <c:v>0</c:v>
              </c:pt>
              <c:pt idx="2">
                <c:v>6.281556998813609E-05</c:v>
              </c:pt>
              <c:pt idx="3">
                <c:v>0</c:v>
              </c:pt>
              <c:pt idx="4">
                <c:v>0</c:v>
              </c:pt>
              <c:pt idx="5">
                <c:v>1.0849488329413316E-05</c:v>
              </c:pt>
              <c:pt idx="6">
                <c:v>0</c:v>
              </c:pt>
              <c:pt idx="7">
                <c:v>0.0064966226061782</c:v>
              </c:pt>
              <c:pt idx="8">
                <c:v>0</c:v>
              </c:pt>
              <c:pt idx="9">
                <c:v>0.0767841416225579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0.0001757719724468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0.6560004771902346</c:v>
              </c:pt>
              <c:pt idx="1">
                <c:v>0.3065550509629137</c:v>
              </c:pt>
              <c:pt idx="2">
                <c:v>0.1443388986280784</c:v>
              </c:pt>
              <c:pt idx="3">
                <c:v>0.0510814780348981</c:v>
              </c:pt>
              <c:pt idx="4">
                <c:v>0.0748397996820013</c:v>
              </c:pt>
              <c:pt idx="5">
                <c:v>0.041426253610816</c:v>
              </c:pt>
              <c:pt idx="6">
                <c:v>0</c:v>
              </c:pt>
              <c:pt idx="7">
                <c:v>0.0518817821355781</c:v>
              </c:pt>
              <c:pt idx="8">
                <c:v>0</c:v>
              </c:pt>
              <c:pt idx="9">
                <c:v>0.1853089860888031</c:v>
              </c:pt>
              <c:pt idx="10">
                <c:v>0.0951979889117662</c:v>
              </c:pt>
              <c:pt idx="11">
                <c:v>0.0515483285980513</c:v>
              </c:pt>
              <c:pt idx="12">
                <c:v>0.209321755829712</c:v>
              </c:pt>
              <c:pt idx="13">
                <c:v>0.0987009938453259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58226892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5578793495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0.0025226456325374</c:v>
              </c:pt>
              <c:pt idx="1">
                <c:v>0</c:v>
              </c:pt>
              <c:pt idx="2">
                <c:v>0.1723637321299062</c:v>
              </c:pt>
              <c:pt idx="3">
                <c:v>0.2987017997195839</c:v>
              </c:pt>
              <c:pt idx="4">
                <c:v>0.0216782388311303</c:v>
              </c:pt>
              <c:pt idx="5">
                <c:v>0.1137488845128169</c:v>
              </c:pt>
              <c:pt idx="6">
                <c:v>0.010283546215548</c:v>
              </c:pt>
              <c:pt idx="7">
                <c:v>0.1645238454260667</c:v>
              </c:pt>
              <c:pt idx="8">
                <c:v>0.0088424130081329</c:v>
              </c:pt>
              <c:pt idx="9">
                <c:v>0.0650570577377896</c:v>
              </c:pt>
              <c:pt idx="10">
                <c:v>0.034867787265154</c:v>
              </c:pt>
              <c:pt idx="11">
                <c:v>0.0386763249777689</c:v>
              </c:pt>
              <c:pt idx="12">
                <c:v>0.2411558914210211</c:v>
              </c:pt>
              <c:pt idx="13">
                <c:v>0.1277549900044911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0.0270516797938475</c:v>
              </c:pt>
              <c:pt idx="1">
                <c:v>0.2717322646373472</c:v>
              </c:pt>
              <c:pt idx="2">
                <c:v>0.3843394735701309</c:v>
              </c:pt>
              <c:pt idx="3">
                <c:v>0.23956474396316</c:v>
              </c:pt>
              <c:pt idx="4">
                <c:v>0.0136993357098014</c:v>
              </c:pt>
              <c:pt idx="5">
                <c:v>0.1009891858114575</c:v>
              </c:pt>
              <c:pt idx="6">
                <c:v>0.2337807539485041</c:v>
              </c:pt>
              <c:pt idx="7">
                <c:v>0.1817324636579589</c:v>
              </c:pt>
              <c:pt idx="8">
                <c:v>0.4268975722865307</c:v>
              </c:pt>
              <c:pt idx="9">
                <c:v>0.0299889329892</c:v>
              </c:pt>
              <c:pt idx="10">
                <c:v>0.0968713149591156</c:v>
              </c:pt>
              <c:pt idx="11">
                <c:v>0</c:v>
              </c:pt>
              <c:pt idx="12">
                <c:v>0.0281081386502681</c:v>
              </c:pt>
              <c:pt idx="13">
                <c:v>0.0327733739005585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0.005650213947542</c:v>
              </c:pt>
              <c:pt idx="1">
                <c:v>0.0339495695667946</c:v>
              </c:pt>
              <c:pt idx="2">
                <c:v>0.0599764711599138</c:v>
              </c:pt>
              <c:pt idx="3">
                <c:v>0.1056482624842525</c:v>
              </c:pt>
              <c:pt idx="4">
                <c:v>0.0554049149913933</c:v>
              </c:pt>
              <c:pt idx="5">
                <c:v>0.1194570293861305</c:v>
              </c:pt>
              <c:pt idx="6">
                <c:v>0.058882728248978</c:v>
              </c:pt>
              <c:pt idx="7">
                <c:v>0.0404370516427307</c:v>
              </c:pt>
              <c:pt idx="8">
                <c:v>0.116864520710458</c:v>
              </c:pt>
              <c:pt idx="9">
                <c:v>0.2175764336860203</c:v>
              </c:pt>
              <c:pt idx="10">
                <c:v>0.1886924315296011</c:v>
              </c:pt>
              <c:pt idx="11">
                <c:v>0.0733115187257639</c:v>
              </c:pt>
              <c:pt idx="12">
                <c:v>0.0743239223341259</c:v>
              </c:pt>
              <c:pt idx="13">
                <c:v>0.0809487716581075</c:v>
              </c:pt>
            </c:numLit>
          </c:val>
        </c:ser>
        <c:ser>
          <c:idx val="4"/>
          <c:order val="4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0.0215818662038886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0.0012651187619958</c:v>
              </c:pt>
              <c:pt idx="6">
                <c:v>0</c:v>
              </c:pt>
              <c:pt idx="7">
                <c:v>2.2729500657420742E-05</c:v>
              </c:pt>
              <c:pt idx="8">
                <c:v>0.0037035017141062</c:v>
              </c:pt>
              <c:pt idx="9">
                <c:v>0</c:v>
              </c:pt>
              <c:pt idx="10">
                <c:v>0</c:v>
              </c:pt>
              <c:pt idx="11">
                <c:v>0.0446554095032045</c:v>
              </c:pt>
              <c:pt idx="12">
                <c:v>0.0484882936067297</c:v>
              </c:pt>
              <c:pt idx="13">
                <c:v>0.14038080593539</c:v>
              </c:pt>
            </c:numLit>
          </c:val>
        </c:ser>
        <c:ser>
          <c:idx val="5"/>
          <c:order val="5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0.0182205848015808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0.5171854935971928</c:v>
              </c:pt>
              <c:pt idx="5">
                <c:v>0.1437676770818388</c:v>
              </c:pt>
              <c:pt idx="6">
                <c:v>0.1302282787238085</c:v>
              </c:pt>
              <c:pt idx="7">
                <c:v>0.1235060587467477</c:v>
              </c:pt>
              <c:pt idx="8">
                <c:v>0.0030019560082499</c:v>
              </c:pt>
              <c:pt idx="9">
                <c:v>0</c:v>
              </c:pt>
              <c:pt idx="10">
                <c:v>0.0293999059712772</c:v>
              </c:pt>
              <c:pt idx="11">
                <c:v>0.001224536929653</c:v>
              </c:pt>
              <c:pt idx="12">
                <c:v>0.0338393432596599</c:v>
              </c:pt>
              <c:pt idx="13">
                <c:v>0.0555376438055603</c:v>
              </c:pt>
            </c:numLit>
          </c:val>
        </c:ser>
        <c:ser>
          <c:idx val="6"/>
          <c:order val="6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0.0014143975904966</c:v>
              </c:pt>
              <c:pt idx="1">
                <c:v>0.1050350765144157</c:v>
              </c:pt>
              <c:pt idx="2">
                <c:v>0.0118370206161566</c:v>
              </c:pt>
              <c:pt idx="3">
                <c:v>0.1345238572052303</c:v>
              </c:pt>
              <c:pt idx="4">
                <c:v>0</c:v>
              </c:pt>
              <c:pt idx="5">
                <c:v>0.1282934257881305</c:v>
              </c:pt>
              <c:pt idx="6">
                <c:v>0.0820968236937576</c:v>
              </c:pt>
              <c:pt idx="7">
                <c:v>0.1063549107852659</c:v>
              </c:pt>
              <c:pt idx="8">
                <c:v>0.0274252954275441</c:v>
              </c:pt>
              <c:pt idx="9">
                <c:v>0.0638294958720886</c:v>
              </c:pt>
              <c:pt idx="10">
                <c:v>0.0519432171691935</c:v>
              </c:pt>
              <c:pt idx="11">
                <c:v>0.0161874270129937</c:v>
              </c:pt>
              <c:pt idx="12">
                <c:v>0.0100687880387016</c:v>
              </c:pt>
              <c:pt idx="13">
                <c:v>0.0329520502592444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0.0293876981486142</c:v>
              </c:pt>
              <c:pt idx="1">
                <c:v>0.0012950121619806</c:v>
              </c:pt>
              <c:pt idx="2">
                <c:v>0</c:v>
              </c:pt>
              <c:pt idx="3">
                <c:v>0.0032891441904342</c:v>
              </c:pt>
              <c:pt idx="4">
                <c:v>0</c:v>
              </c:pt>
              <c:pt idx="5">
                <c:v>0.0003817965185774</c:v>
              </c:pt>
              <c:pt idx="6">
                <c:v>0</c:v>
              </c:pt>
              <c:pt idx="7">
                <c:v>0.0452350377070635</c:v>
              </c:pt>
              <c:pt idx="8">
                <c:v>0</c:v>
              </c:pt>
              <c:pt idx="9">
                <c:v>0.1185221016978889</c:v>
              </c:pt>
              <c:pt idx="10">
                <c:v>0.1696255142228581</c:v>
              </c:pt>
              <c:pt idx="11">
                <c:v>0</c:v>
              </c:pt>
              <c:pt idx="12">
                <c:v>0</c:v>
              </c:pt>
              <c:pt idx="13">
                <c:v>0.03615203126776</c:v>
              </c:pt>
            </c:numLit>
          </c:val>
        </c:ser>
        <c:ser>
          <c:idx val="8"/>
          <c:order val="8"/>
          <c:tx>
            <c:v>Limine Trust</c:v>
          </c:tx>
          <c:spPr>
            <a:solidFill>
              <a:srgbClr val="A7ACB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0.0258844589270298</c:v>
              </c:pt>
              <c:pt idx="1">
                <c:v>0.0259876479550446</c:v>
              </c:pt>
              <c:pt idx="2">
                <c:v>0.0038513441818396</c:v>
              </c:pt>
              <c:pt idx="3">
                <c:v>0.0361947972578764</c:v>
              </c:pt>
              <c:pt idx="4">
                <c:v>0.0228848438659473</c:v>
              </c:pt>
              <c:pt idx="5">
                <c:v>0.0062089418936455</c:v>
              </c:pt>
              <c:pt idx="6">
                <c:v>0</c:v>
              </c:pt>
              <c:pt idx="7">
                <c:v>0.0588516441861489</c:v>
              </c:pt>
              <c:pt idx="8">
                <c:v>0.0298022404971431</c:v>
              </c:pt>
              <c:pt idx="9">
                <c:v>0.0128304663626766</c:v>
              </c:pt>
              <c:pt idx="10">
                <c:v>0.0067169555656875</c:v>
              </c:pt>
              <c:pt idx="11">
                <c:v>0</c:v>
              </c:pt>
              <c:pt idx="12">
                <c:v>0.0001885623105163</c:v>
              </c:pt>
              <c:pt idx="13">
                <c:v>0.0372259116486354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0.0041128018022995</c:v>
              </c:pt>
              <c:pt idx="1">
                <c:v>0.087195517913098</c:v>
              </c:pt>
              <c:pt idx="2">
                <c:v>0.0104903023035456</c:v>
              </c:pt>
              <c:pt idx="3">
                <c:v>0.0005295626945933</c:v>
              </c:pt>
              <c:pt idx="4">
                <c:v>0.0016187625060064</c:v>
              </c:pt>
              <c:pt idx="5">
                <c:v>0.0861419194953894</c:v>
              </c:pt>
              <c:pt idx="6">
                <c:v>0.0736717709890082</c:v>
              </c:pt>
              <c:pt idx="7">
                <c:v>0.0032775916620824</c:v>
              </c:pt>
              <c:pt idx="8">
                <c:v>0.0698786005800293</c:v>
              </c:pt>
              <c:pt idx="9">
                <c:v>0.0082255331037107</c:v>
              </c:pt>
              <c:pt idx="10">
                <c:v>0.0566945158955612</c:v>
              </c:pt>
              <c:pt idx="11">
                <c:v>0.1362491351604199</c:v>
              </c:pt>
              <c:pt idx="12">
                <c:v>0.0895063986320403</c:v>
              </c:pt>
              <c:pt idx="13">
                <c:v>0.023451517330568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0.1952952214070387</c:v>
              </c:pt>
              <c:pt idx="1">
                <c:v>0.1682498602884054</c:v>
              </c:pt>
              <c:pt idx="2">
                <c:v>0.2127399418404404</c:v>
              </c:pt>
              <c:pt idx="3">
                <c:v>0.1304204514597114</c:v>
              </c:pt>
              <c:pt idx="4">
                <c:v>0.2926886108165267</c:v>
              </c:pt>
              <c:pt idx="5">
                <c:v>0.256717713385141</c:v>
              </c:pt>
              <c:pt idx="6">
                <c:v>0.4101144099982526</c:v>
              </c:pt>
              <c:pt idx="7">
                <c:v>0.1404751731853252</c:v>
              </c:pt>
              <c:pt idx="8">
                <c:v>0.3135838997678053</c:v>
              </c:pt>
              <c:pt idx="9">
                <c:v>0.2218768508392639</c:v>
              </c:pt>
              <c:pt idx="10">
                <c:v>0.2677637195878389</c:v>
              </c:pt>
              <c:pt idx="11">
                <c:v>0.6381473190921444</c:v>
              </c:pt>
              <c:pt idx="12">
                <c:v>0.26443415946581</c:v>
              </c:pt>
              <c:pt idx="13">
                <c:v>0.3245295358095095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18"/>
                  <c:y val="-0.01356102272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-0.019968592215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-0.0199770485049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-0.01919897312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-0.019529155908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-0.01888667553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-0.0197176267743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-0.01520381273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0.0128779545548899</c:v>
              </c:pt>
              <c:pt idx="1">
                <c:v>0</c:v>
              </c:pt>
              <c:pt idx="2">
                <c:v>6.281556998813609E-05</c:v>
              </c:pt>
              <c:pt idx="3">
                <c:v>4.5902990259467114E-05</c:v>
              </c:pt>
              <c:pt idx="4">
                <c:v>0</c:v>
              </c:pt>
              <c:pt idx="5">
                <c:v>0.0016020537540602</c:v>
              </c:pt>
              <c:pt idx="6">
                <c:v>0.0009416881821426</c:v>
              </c:pt>
              <c:pt idx="7">
                <c:v>0.0837017113643743</c:v>
              </c:pt>
              <c:pt idx="8">
                <c:v>0</c:v>
              </c:pt>
              <c:pt idx="9">
                <c:v>0.0767841416225579</c:v>
              </c:pt>
              <c:pt idx="10">
                <c:v>0.0022266489219465</c:v>
              </c:pt>
              <c:pt idx="11">
                <c:v>0</c:v>
              </c:pt>
              <c:pt idx="12">
                <c:v>0.0005647464514148</c:v>
              </c:pt>
              <c:pt idx="13">
                <c:v>0.0095923745348489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0E527B-E5A4-40C2-B00B-B019FADEE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FB5B03-9099-4AA1-8CBB-2A675C3A8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CFC378-5A55-4749-9837-13FEC931A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962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Escala, qualidade do dado, prestadores e fundos que explicam a concentração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95C18F-4FA6-4F76-8CE6-74EA618A2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4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5CA8E2-20CA-429B-BE3F-727B99FF2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31 de maio de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B0064D-0E35-4D84-86FF-C68F33742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0225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encerradas até 17 de julho de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9A0470-5536-4B79-8961-16417CEED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5792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Julho de 2026</a:t>
            </a:r>
          </a:p>
        </p:txBody>
      </p:sp>
    </p:spTree>
    <p:extLst>
      <p:ext uri="{BB962C8B-B14F-4D97-AF65-F5344CB8AC3E}">
        <p14:creationId xmlns:p14="http://schemas.microsoft.com/office/powerpoint/2010/main" val="64054045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0EC923-9439-4BF1-81B3-8C6F41AFC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SÍNTESE EXECUTIVA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3C0A40-2CA0-4491-952B-76BB66F85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R$ 880 bi ex-FIC; a concentração aparece em fundos, prestadores e ajustes de qualidade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1ABFC3-B94E-46D0-A3E9-0B01F6843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C1B62E-8A6F-4F6D-B79C-7635D70FE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4E607F-568E-4CEE-9459-278C1EF8D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FundosNet; mai/26, salvo ofertas até 17/jul/26.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C622CE-AE2D-4226-AFB6-0630C0D11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2C2256-3E7A-4CCD-BEBC-F8791F008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811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C413C9-175B-493D-8D0F-B8F4F05F3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001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em mai/26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666FC1-167B-4228-87EB-DC307104B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811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10,7 vezes o nível de 2015; FIC-FIDC adiciona R$ 78,6 bi ao PL bruto.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B54393-F8F7-4F07-8CCE-44B20F2D2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717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F7BC34-7863-48A4-B19A-AC8CFC228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59%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039C69-481C-4437-B41B-A2303080B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622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dos fundos acima de R$ 200 mi têm até 10 contas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E58AA5-4349-42B3-BE46-69D46EF70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432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Esse recorte concentra 60,7% do PL do universo de R$ 733,9 bi.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A865A1-171A-44B3-AEB3-9B86D1A8E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3377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D61E08-5AFA-4BFF-B8B5-16EC4BFF6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052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197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E00AA9-0B71-49A3-915A-EB88F8F2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242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com inadimplência acima da carteira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7A976B-32C2-4D23-89D2-59284E941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052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 cap remove R$ 14,6 bi; os 10 maiores casos explicam 52,6%.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C3357D-5E6F-40B4-ADE8-D29966EF5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8AF5E6-9FEF-475E-B4AD-16D385365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672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34,0%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C13764-5A4D-474C-B8FF-84CF9BDD1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863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 PL em monoestruturas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285CD4-D004-4A67-9EC5-EE6A48070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673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Trust.</a:t>
            </a:r>
          </a:p>
        </p:txBody>
      </p:sp>
    </p:spTree>
    <p:extLst>
      <p:ext uri="{BB962C8B-B14F-4D97-AF65-F5344CB8AC3E}">
        <p14:creationId xmlns:p14="http://schemas.microsoft.com/office/powerpoint/2010/main" val="182537050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80B18E5-2771-4E8E-B489-1DE475AA5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0A2763-B675-4C58-93A5-B7F30AFEA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PL ex-FIC chegou a R$ 880 bi; FIC-FIDC adiciona R$ 79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D405A3-93AA-4014-A09B-1362B02CA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DF97A4-FFA4-4900-9B7F-DA11D366E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2BAA8F-E09B-447D-AE61-7E24055D4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FIDC. PL bruto = PL ex-FIC + PL de FIC-FIDC; mai/26.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468DD8-6B04-4CF7-86F2-203EA4577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7905750" cy="4429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8ed61617e2c494f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2E490A-1748-4AD5-B140-66396AFE2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3" y="4758186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AB230A-68A7-44F8-AB69-8A34E7460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2588" y="4723902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97E287-B0AB-43AE-A918-E89B35C27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2663" y="4643219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06FD97-2278-4634-B0D2-BBD8F220E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738" y="4544185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0EFB7D-CD38-4E64-916C-F26C221BB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2813" y="4183474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C5B7F6-54CC-4269-9607-1513770C6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2888" y="4257511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291BDC-3D87-44F4-8B9C-25678C688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2963" y="3914454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687F2F-BA1F-4A1C-B5B6-0503C1968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038" y="3651267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F100A7-8B16-4406-B88F-4FE9FFFAF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3113" y="3250722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E27581-C916-4D73-863E-E78DA8E2F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3188" y="2323379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732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13059C-FA08-4D79-9686-861C5CCC2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3263" y="1618759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919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8AA9B5-1627-4BD0-ADDC-5724A5228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338" y="1485900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959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01686F-4168-48E7-80FC-B1A68B316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bi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57308B-45F9-4F36-AED7-F1725DC4C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42875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LEITURA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A5040F-CFA6-4DAE-AC9F-F12369446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695450"/>
            <a:ext cx="276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90C33F-513A-41B4-9A2B-E440C8420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952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6294B4-E09C-4193-BAEA-D7514A5C5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717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ex-FIC em mai/26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C23536-DE27-4486-86AF-0C1BE193B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95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10,7x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219FDC-8444-459E-91BC-46B5AD03E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147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crescimento sobre 2015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F15218-9AA9-4361-AF5F-7E0AFA2DB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238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R$ 79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48D2143-BA24-4350-B0AE-3DA9EB30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57725"/>
            <a:ext cx="2762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de FIC-FIDC, sem dupla contagem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2FE90F-EDE4-4735-A267-C77847D61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6197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O total no topo da coluna é o PL bruto.</a:t>
            </a:r>
          </a:p>
        </p:txBody>
      </p:sp>
    </p:spTree>
    <p:extLst>
      <p:ext uri="{BB962C8B-B14F-4D97-AF65-F5344CB8AC3E}">
        <p14:creationId xmlns:p14="http://schemas.microsoft.com/office/powerpoint/2010/main" val="82435096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D03D70-5AC2-4556-B910-1A8D31DF3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BASE INVESTIDORA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309034-6ADD-4697-9BE0-250EF7247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base atingiu 445,7 mil contas em 4.227 veículos; contas não são investidores únicos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893453-9F8F-44DA-900D-3D94C3B9F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CBF128-3BE6-4F96-924F-358A5F1B6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29B25C-4D89-4B15-BDD5-C9F87CBAE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FIDC, mai/26. Contas podem se repetir por classe ou série.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DF3D0A-2094-443E-880A-C760F81EF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777E8D-9378-42CE-9DAA-D73A096FD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5B3AEB-0F05-4172-8879-A816154D0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bc1a1befa5848b9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965572-C77F-432D-84BE-7EC241630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5701C6-894F-4912-B341-CF321B2E6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9BA9F1-98E7-4A36-94B9-66F69BD0C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33475B-3DF5-4BF0-BC4C-463F71C7A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8D8BF6-4F3E-4ADC-8D94-08502A45F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FD0BBE-13F2-4FDA-8043-FDB79D066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REPORTANTES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E8F8F7-CBB1-4F61-A6D6-6079D5FEB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3" name="Chart"/>
          <p:cNvGraphicFramePr/>
          <p:nvPr/>
        </p:nvGraphicFramePr>
        <p:xfrm>
          <a:off xmlns:a="http://schemas.openxmlformats.org/drawingml/2006/main" x="571500" y="397192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68c91035b1c4692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1DB0BB-0AAC-45F3-A26A-5C098A7EC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3988B3-8A76-47C9-9503-7DBE5008C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3F9A86-B637-43A1-A425-A2450ED0C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0CD560-9477-4021-A451-3F1F9E15C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860AD4-9285-493F-8294-477269714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53064B-9D81-483A-825E-84E031F7C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333500"/>
            <a:ext cx="404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MAI/26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F0D694-C16F-4AB4-B1B1-F3BFB9227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600200"/>
            <a:ext cx="4048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1" name="Chart"/>
          <p:cNvGraphicFramePr/>
          <p:nvPr/>
        </p:nvGraphicFramePr>
        <p:xfrm>
          <a:off xmlns:a="http://schemas.openxmlformats.org/drawingml/2006/main" x="7524750" y="1714500"/>
          <a:ext xmlns:a="http://schemas.openxmlformats.org/drawingml/2006/main" cx="4095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a5103aa13fb47ec"/>
          </a:graphicData>
        </a:graphic>
      </p:graphicFrame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93CAFC4-A6EA-465F-BBFA-A6E9983C2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095875"/>
            <a:ext cx="404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Composição reconciliada: 445.677 contas; 32 sem tipo identificado.</a:t>
            </a:r>
          </a:p>
        </p:txBody>
      </p:sp>
    </p:spTree>
    <p:extLst>
      <p:ext uri="{BB962C8B-B14F-4D97-AF65-F5344CB8AC3E}">
        <p14:creationId xmlns:p14="http://schemas.microsoft.com/office/powerpoint/2010/main" val="86726780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AEFC2BB-78D6-4A5A-808D-199F7D8C3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2B667D-251F-4B9B-BA95-D6B2FFEE2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10,4 p.p. do universo e 9,4 p.p. do PL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561852-9246-4450-9095-AA507B9F7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D6F441-D2C1-4EAF-A772-05DA7CA15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F83988-042D-4320-9CD3-C7F009DC0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mai/26. Ex-FIC com PL ≥ R$ 200 mi: 409 → 778 fundos; contas por classe/série, não investidores únicos.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708FAF-6285-4655-ADED-FAE608039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2F2FB1-CD12-409A-AA72-6BF699DC1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472547-0226-4DF7-8C1D-0E1569B8C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23089B-187B-41BB-8C90-FB407288E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3796B4-F4B2-43D2-A241-059D0863B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442B3A-66F6-43A4-BA3E-9FA32551C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C8422A-C113-4E02-9A58-ACEB8A880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49807ce636042c6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A9BEBD-57E3-4FC3-8ED0-6F7CC9309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3F4998-F2F6-4783-ADE5-139655542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6334125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422112a31e24874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2E93C4-5C14-4FE1-9958-F8AF3E78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E1CE2F-7216-45F0-9C76-C908FA993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4" name="Chart"/>
          <p:cNvGraphicFramePr/>
          <p:nvPr/>
        </p:nvGraphicFramePr>
        <p:xfrm>
          <a:off xmlns:a="http://schemas.openxmlformats.org/drawingml/2006/main" x="571500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e2668f2bdce4db0"/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C5277A-D1AF-4923-A01A-23C379DF1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F57DA4-B0DD-4111-80C4-63D6F5724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4F4219-0493-417B-9547-A1C338377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8" name="Chart"/>
          <p:cNvGraphicFramePr/>
          <p:nvPr/>
        </p:nvGraphicFramePr>
        <p:xfrm>
          <a:off xmlns:a="http://schemas.openxmlformats.org/drawingml/2006/main" x="6334125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f4e35dab90f4892"/>
          </a:graphicData>
        </a:graphic>
      </p:graphicFrame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62785E-2FD1-4D80-A558-F10C4F78C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183B60A-64FF-4B8C-AECA-0B7559D1C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960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p:txBody>
      </p:sp>
    </p:spTree>
    <p:extLst>
      <p:ext uri="{BB962C8B-B14F-4D97-AF65-F5344CB8AC3E}">
        <p14:creationId xmlns:p14="http://schemas.microsoft.com/office/powerpoint/2010/main" val="1446195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A527C6-E71E-450F-9B3C-449F789DA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71EF09-A162-461D-90DC-AE4AE012C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Na taxonomia vigente, Outros ganhou 5,5 p.p. do PL ex-FIC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0DF980-BC12-4B01-812A-47E9C4BB4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8586CE-61DB-4164-A9F6-941093449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B2E7F4-B799-49D5-9EA9-9297ACCFE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CVM/ANBIMA; dez/23 e mai/26. Tipo/Foco classifica o fundo; fotografia cadastral de dez/25 aplicada ao histórico. Não comparar categoria a categoria com a Tabela II.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0DC15E-A78C-4944-A544-4F41708E8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14EDE1-B500-4536-B45A-FB7006CAB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MAI/26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622324-EBA1-475C-9691-3D291D832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766fa28e4484cf7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BCC279-AF7D-452B-B0C6-40A81DE7A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MAI/26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E79E8D-BAE6-4A54-9EB8-FADF3B58D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544760830ad4ecc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85DA05-9915-4964-96B7-3725D3653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5638800"/>
            <a:ext cx="19526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Cada período fecha em 100%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D65221-62D4-4B47-A5F1-3B2C37FEE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362575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F813C8-1210-49BE-ADC5-2C58D91B5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2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Mai/26: Outros 41,7%; Financeiro 26,6%. ANBIMA enquadra o fundo inteiro, não cada direito creditório.</a:t>
            </a:r>
          </a:p>
        </p:txBody>
      </p:sp>
    </p:spTree>
    <p:extLst>
      <p:ext uri="{BB962C8B-B14F-4D97-AF65-F5344CB8AC3E}">
        <p14:creationId xmlns:p14="http://schemas.microsoft.com/office/powerpoint/2010/main" val="67640298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1A9B40-9E29-463E-BD0B-13ED1BA4A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CVM · RECLASSIFICAÇÃO DE ADQUIRÊNCIA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FEB9B7-D7F9-4EE4-BD7A-008D676BE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04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Os 13 CNPJs selecionados formam Adquirência; R$ 71,8 bi e 8,2% do PL ex-FIC em mai/26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B86BDE-0CF9-4D9E-8969-F23970D9F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C95E93-8E60-47C6-B86D-3B66BF9BD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FB254E-72D7-404B-942A-691AB3502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e FIDCs.xlsx. Reclassificação analítica restrita aos 13 CNPJs listados no workbook; a categoria original da CVM permanece preservada na base detalhada.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63CD57-0289-4738-9C8A-5BD0EE288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77AA6D-8308-4B36-A2FD-D084D0B15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MAI/26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A2B040-EC17-4212-A0CC-0C9BA009D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b771b6b58b64488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9276EC-96F5-424F-AA06-066777367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MAI/26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BF4E85-11E3-4D65-96AC-EBDB1AC54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4f617b0bb9946f5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118CC9-1C4E-4B33-92C3-4DF935223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24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D091F6-206E-48FA-81FA-4BE60BF31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200150"/>
            <a:ext cx="119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1FA9ED-6C71-4B65-84BA-E16F50515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124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6EF1CB-CB9B-485D-A939-30A998DAC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1200150"/>
            <a:ext cx="119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F4FC6C-78A6-41BC-B1C1-C756872A2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0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abertura altera somente os CNPJs indicados: oito estavam em Cartão e três em Comercial em mai/26; dois não tinham reporte ativo. Denominador e demais categorias permanecem idênticos ao mix CVM ex-FIC.</a:t>
            </a:r>
          </a:p>
        </p:txBody>
      </p:sp>
    </p:spTree>
    <p:extLst>
      <p:ext uri="{BB962C8B-B14F-4D97-AF65-F5344CB8AC3E}">
        <p14:creationId xmlns:p14="http://schemas.microsoft.com/office/powerpoint/2010/main" val="41053220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5F574C-D6A6-4538-9EA9-6F4E4E571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POR TIPO DE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53560C-CAA7-4B8E-B71F-E83ED5595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ganhou 15,9 p.p. e explicou 67% do crescimento segmentado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269163-3B85-47C3-8AA6-23F5A00E4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4FF728-D030-495F-9BD6-0E68A854C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3493B6-CDEB-454F-ACBE-D110ED032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Tabela II, dez/23 e mai/26. Classifica o estoque mensal; percentuais fecham sobre a Tabela II. Soma segmentada supera a Tabela I em 13,3% e 8,7%.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224794-7667-441E-B863-C9454B5DF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F1C19D-6125-4B34-B818-9558B1E6F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3C303D-3201-4534-9C7F-2DFA6B0FB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0e20423ac8a4c8d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1F25B6-9EAB-42F0-8D8B-23BA4AE4F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8B7FE-0AA7-432F-9625-CEAB5D6B6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38175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783d71a580f4b61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46C74B-A077-4399-AAA3-812A0AD93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1500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E77C2B-61C8-47EC-A97F-D726C80CB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Manual CVM: adquirência com cartão usa o campo mais específico, II.g Cartão. Em mai/26, três CloudWalk declararam R$ 5,24 bi em Comercial; o gráfico mantém o reporte, sem reclassificar.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3368C9-2E9D-4FA3-8B5D-0B8F4FF40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61A81A-03ED-4950-8DDB-E8665E29D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192E17-CECF-4D12-8A45-AC350138D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F53F6A-4510-4E29-A50A-EFBDC410E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08E872-F222-4874-99B9-C6ED3DD93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53A7EE-1F0C-49B5-95BE-F5171F58B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3068C7-1DE5-4E56-B78B-9BD1F6447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47D08C-120D-4DFC-8A12-54800DD19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</p:spTree>
    <p:extLst>
      <p:ext uri="{BB962C8B-B14F-4D97-AF65-F5344CB8AC3E}">
        <p14:creationId xmlns:p14="http://schemas.microsoft.com/office/powerpoint/2010/main" val="22932697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4856311-502E-430A-9AFF-8646E9419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OBSERVABILIDADE DA INADIMPLÊNCIA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75FCDC-B1A3-4367-8C99-399806C18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cap retira R$ 14,6 bi de 197 veículos; 10 casos explicam 52,6%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A50B82-E6C6-4B69-9A7D-8A0E0B1E3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E17FD0-1022-4DF6-B644-FB2EA774C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174E4C-32E1-46FC-ABD8-F2FB76F0D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mai/26. Ajuste = mínimo entre inadimplência não negativa e carteira não negativa por veículo.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CC56D4-721F-4AC9-A2A7-955AC4F4A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5A0DC7-326C-4799-B23C-21D9017E8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76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MÉTRICAS SOBRE A CARTEIRA COBERTA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CBB256-5062-45F5-8FBB-E9CA83F17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676275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556dfb0ba3d49f0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1A23F2-421E-41E5-8CE9-20A1FC98D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19700"/>
            <a:ext cx="533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49D23F-FC0B-4CCC-8C51-0D5E0BC9C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4287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 E COBERTURA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2D3C8C-A12D-4FF8-A485-8452FEAE5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95450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1C4325-BE0B-4C23-AE0B-BC3CED513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96215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/ fundos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712729-3BB5-4412-B87D-310DD6D59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196215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4.227 / 4.222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59B8A2-6FE3-4316-BD54-68AAB8A4D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0506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3CD695-FB74-46C6-A5DF-6B277D1BF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221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positiva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F786E4-6E47-4C73-91B5-F4590E3F6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46221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3.119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FA5896-3571-4CBF-8D3E-16CDE619D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05125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062A45-6C2E-4075-BDCC-B8FBDA4F2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62275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Campos reportados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9EF691-1BD6-409F-9AD1-4A92EB30C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962275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4.227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CA4292-7744-45D5-AA38-A259BF4F4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05188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004301-F00A-4939-B254-72952279A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62338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Cobertura por PL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D7CB7B-6240-4FDF-B3B0-2FD2DF09D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462338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15F81E5-8556-49C1-98B0-70141D365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05250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CD14B4-B856-4C0E-B383-5A7610202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6240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Casos acima da carteira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A6B1653-BD8B-463F-8D5B-6D0677155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96240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197 · 1,02% do PL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47BC553-009F-410F-B209-4F0122458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0531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3ECF29C-7636-4BFC-B487-F508D15A7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6246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Excesso Top 1 / 5 / 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21795A4-F760-4708-8204-BCE7C701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446246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9,8% / 37,1% / 52,6%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2ACC428-F83C-42A6-9776-5FB6080E7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238750"/>
            <a:ext cx="3762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Visão ex-360 bloqueada: o aging soma 112,1% da Tabela I e não reconcilia; gap de R$ 6,52 bi no workbook.</a:t>
            </a:r>
          </a:p>
        </p:txBody>
      </p:sp>
    </p:spTree>
    <p:extLst>
      <p:ext uri="{BB962C8B-B14F-4D97-AF65-F5344CB8AC3E}">
        <p14:creationId xmlns:p14="http://schemas.microsoft.com/office/powerpoint/2010/main" val="209814011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BDE69C0-5ACE-4F10-A0B3-310420984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EVOLUÇÃO E QUEBRA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83F3FE-B80A-4CB8-ABC4-4E4474670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89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monotipo cobrem 68,6% do PL; Financeiro e Agro marcam 5,7% e 5,8% de inadimplência/PL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A077FA-2BCE-475F-B4EB-87F8B8CFC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089B5C-CC31-47D4-ACD8-45CB48588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A47D31-ECE6-42B2-A9EB-31F111635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Série agregada com cap por veículo; tabela monotipo sem cap e com exclusão integral de inadimplência acima da carteira. Denominador da tabela = PL total dos fundos incluídos.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0EC8EB-D35A-4CDA-AE67-610439327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BD5C6D-D2A5-4D6D-8BD9-A4FF3636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AGREGADA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C1214F-A330-454E-87F3-9A010B9B9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f8329fa30da4982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FE74CC-BAE4-4B13-AC73-DCFCE3A65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03/23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D2A389-1925-4CCD-8796-57DB6ED7F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8402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AF3DA8-2F00-4512-97D7-E59A939B6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270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7E9196-C2ED-42A3-810C-164F713BD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704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07/24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0F53B5-9FD1-4CF3-B298-BE2FB64CE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5571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946DBA-30AA-4FA8-AE8E-F31A2C714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3873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09/25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E913C2-CB2A-4223-8EEB-E4D383247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05/26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38393D-6ADA-46D0-BE46-FECD89087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FF7D86-B825-4CDC-BAB0-D40E40C68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848225"/>
            <a:ext cx="100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Bruta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B3A51B-C74D-4A52-93FD-DF5B569A9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584397-5EED-470E-A33F-2E5D3EBC9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848225"/>
            <a:ext cx="100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Ajustada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C0A4DF-E9B2-4056-A45B-40E7F3058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COM UM ÚNICO TIPO NA TABELA II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5B1D29-C4BA-46DC-BBB5-408E5294A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9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0"/>
                <a:gridCol w="714375"/>
                <a:gridCol w="1000125"/>
                <a:gridCol w="10477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incl.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1.181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240,8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88,6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7ABB00-A88B-4A1A-8115-C10D2313B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AD5585-CEC7-4206-A3D7-483406D93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Monotipo incluído: 2.050 fundos e R$ 603,5 bi. Excluídos: 937 multiti­po (R$ 191,7 bi), 143 com inadimplência acima da carteira (R$ 8,5 bi) e 474 sem tipo.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F1DEC1D-FEF7-4C2D-950A-F8CD5D438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Quebra jun→jul/24: o excesso do Atlântico caiu R$ 16,7 bi; a troca de administrador coincide com mudança de apresentação. Caso completo no apêndice.</a:t>
            </a:r>
          </a:p>
        </p:txBody>
      </p:sp>
    </p:spTree>
    <p:extLst>
      <p:ext uri="{BB962C8B-B14F-4D97-AF65-F5344CB8AC3E}">
        <p14:creationId xmlns:p14="http://schemas.microsoft.com/office/powerpoint/2010/main" val="108318883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D79E10B-7090-4CE1-B45C-42A7CB981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COORTE ATUAL POR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5F129E-E097-48EB-8E44-657DDF8C6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encerra mai/26 em 6,4%; a coorte fixa soma R$ 603,5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50341F-9401-40A3-B7C9-43DA2EFEE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1FA268-D2F8-4BB1-A1B5-8088F058D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DA2FDD-3C68-49E4-A94D-5857ADBE8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Subtipo e elegibilidade congelados em mai/26; histórico dos mesmos CNPJs. Linha laranja = consolidado de mercado ajustado. A coorte fixa incorpora viés de sobrevivência.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50EA31-46AB-4C2B-A00E-AAF89D7B0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FA8DF0-2A85-4F6D-9376-1FA4CEE1D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 CARTEIRA · DEZ/23 → MAI/26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CE0CFC-28DA-4056-BC36-FA033BECA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3" name="Chart"/>
          <p:cNvGraphicFramePr/>
          <p:nvPr/>
        </p:nvGraphicFramePr>
        <p:xfrm>
          <a:off xmlns:a="http://schemas.openxmlformats.org/drawingml/2006/main" x="571500" y="1638300"/>
          <a:ext xmlns:a="http://schemas.openxmlformats.org/drawingml/2006/main" cx="7429500" cy="34956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c9f4a64f8234b4b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D47E30-CD64-4A49-861C-8BE55616B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AB7479-2B6D-4B5F-909C-EE40D798D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0266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853551-BDA5-4A49-9B6B-3955766D6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0431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08/24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9443B7-48C8-46BF-A60C-12CD3878E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597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192DBC-43FD-4133-9121-081397ABD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0762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92B3F9-28BB-4294-873D-270F0CF00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0928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08/25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A8012A-3EFC-472B-BC07-78C40E49B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093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BB91CD-AD05-4693-95FB-876C56FFB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1259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583BBD-317C-4F6D-BCBB-26E4D1170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05/26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C8E691-7C78-464E-8A0A-0AAA3040B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304925"/>
            <a:ext cx="3381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FOTOGRAFIA · MAI/26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BE9560-41CF-4CC0-86FA-58808D7F6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571625"/>
            <a:ext cx="3381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65" name=""/>
          <p:cNvGraphicFramePr/>
          <p:nvPr/>
        </p:nvGraphicFramePr>
        <p:xfrm>
          <a:off xmlns:a="http://schemas.openxmlformats.org/drawingml/2006/main" x="8239125" y="1638300"/>
          <a:ext xmlns:a="http://schemas.openxmlformats.org/drawingml/2006/main" cx="3381375" cy="3667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428750"/>
                <a:gridCol w="523875"/>
                <a:gridCol w="61912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Tabela II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1.181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240,8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88,6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108427-706D-4409-A025-D32C035A3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D679D7-6A49-4255-82B6-BB25785E2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68AEC7-B6E8-40F0-8E3F-6B48ADD15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B39BB9-8A66-4A74-B07A-FF7B64163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Cartão de crédito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205F981-859F-4087-B336-F88EEEF10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4A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93B160C-4059-446B-B91F-B70522586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Comercial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C772907-4DB0-43FD-BD79-DDB78AAE7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60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24EC84A-85CB-4661-B4BE-8C05A9C00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Industrial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82C129F-A3E7-4539-8303-2C5AA4998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A9E0017-5591-45F8-A536-0735FF6E3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Serviços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ECFD7F8-F394-4B61-A284-53E1B0D44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9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BF2258F-25A1-4007-9B9B-39E664A5D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1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Setor público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BDD12E7-EE70-4543-9CC3-DFCBE6A67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AC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25D4021-5117-4025-AEC0-6EE9BC362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Ações judiciais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C255883-7DE3-4A8C-B272-4D95A020F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0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C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ECB4C65-BE37-4AFB-BE90-BD15D1165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Agronegócio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77EF2BA-B457-4497-9E41-2CB397651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6C7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413BBEA-FAB0-47C7-8008-8CE209FFA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Imobiliário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1A55BB8-E712-4D68-954A-A09E3755D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979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AB14F67-5065-4AC9-80A1-EE0841108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Factoring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E73F81F-DB7B-4F71-B1BE-BB2310BE3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1B4DB78-251B-4881-A5F6-50ECC8FC2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Consolidado ajustado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683388A-26B1-4AA1-90C3-E7A70BD81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Em mai/26, a coorte contém 2.050 fundos. Factoring tem 1 fundo e R$ 0,1 bi; Imobiliário, 15 fundos e R$ 0,9 bi. Oscilações desses subtipos têm baixa representatividade. Consolidado ajustado: 5,9%.</a:t>
            </a:r>
          </a:p>
        </p:txBody>
      </p:sp>
    </p:spTree>
    <p:extLst>
      <p:ext uri="{BB962C8B-B14F-4D97-AF65-F5344CB8AC3E}">
        <p14:creationId xmlns:p14="http://schemas.microsoft.com/office/powerpoint/2010/main" val="207649012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3A865F-932E-4B33-9E81-7EBE5385A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CA7991-2C78-479E-B9F5-262B8B5EB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35,7%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D1173E-3C54-4586-ABF8-9CD503964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CDC749-3819-419C-8CFA-BA3BAE95C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95CF45-FB23-4C5D-9B1F-F879E740F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mai/26. PL ex-FIC; Sistema Petrobras e TAPSO excluídos do numerador e denominador. Administração observada; gestão/custódia históricas reconstruídas com cadastro vigente.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B6131D-3D6A-47E9-BAA7-05DE2E905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2B2EA3-31C6-4100-AF3B-757E67F7B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95C3D6-9CCF-42F8-84DE-55F6FD949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2908716088644b8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73BE65-FCB1-4FD4-A949-7CBA1DF8B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A26735-BE24-4475-BBC7-D7E7DAAA0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7BC919-66F0-4812-9B62-4C9F20A69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64770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603506e2d6c4703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CC0E22-AED7-41C7-B348-5BDC2CC6F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0469BF-E3CC-47E6-9CF0-A86A20A18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3CFB3E-F4DC-4D58-8C72-7AA218BBF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Mai/26: administração 100,0% → 100,0%; gestão 99,0% → 99,8%; custódia 97,7% → 98,6%.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3B18A6-3557-46B1-A46E-E3A593C54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D90304-F101-4A5B-A480-ADEAAF01E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A72F35-0D1E-4FBB-BF93-2C12C6643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8106E6-F8EF-4365-9FE8-A13E94909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Mai/26</a:t>
            </a:r>
          </a:p>
        </p:txBody>
      </p:sp>
    </p:spTree>
    <p:extLst>
      <p:ext uri="{BB962C8B-B14F-4D97-AF65-F5344CB8AC3E}">
        <p14:creationId xmlns:p14="http://schemas.microsoft.com/office/powerpoint/2010/main" val="82035407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936FFF-B6B4-4CBA-B9EE-A3CC6D3EB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A2E737-CE98-4771-80F7-977903D91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Bradesco e BTG lideram Recebíveis Comerciais após as exclusões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E18400-C533-4E64-88F0-B3E16BD45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63CF74-8F9A-4144-BA5D-EBAC309B7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6C4E03-08BA-4BB8-AC91-D16AA94E7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2269C7-4E20-452E-B750-AA912E001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546dd70a9504b81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DE1984-2A3E-47E9-A018-0D6B8630B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85,7% do PL classificado. Fora do gráfico: 8 focos e R$ 109,1 bi.</a:t>
            </a:r>
          </a:p>
        </p:txBody>
      </p:sp>
    </p:spTree>
    <p:extLst>
      <p:ext uri="{BB962C8B-B14F-4D97-AF65-F5344CB8AC3E}">
        <p14:creationId xmlns:p14="http://schemas.microsoft.com/office/powerpoint/2010/main" val="84745393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3B6EB2-F1D3-416F-9565-30C194E33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75C7C4-DA97-4023-9225-7A0140132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lidera Crédito Pessoal; Top 10 soma 52% em Recebíveis Comerciais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CDC3C3-D91A-401F-879F-E166CC966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129CB4-2273-4862-96B2-47CBF18E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3015E5-D72C-41AA-88EF-BE9192F18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D69E9C-9AB3-48CB-AF68-028570DE6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152316b9b114fc5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413C09-12F5-4F68-8D39-6D7D17C47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85,7% do PL classificado. Fora do gráfico: 8 focos e R$ 109,1 bi.</a:t>
            </a:r>
          </a:p>
        </p:txBody>
      </p:sp>
    </p:spTree>
    <p:extLst>
      <p:ext uri="{BB962C8B-B14F-4D97-AF65-F5344CB8AC3E}">
        <p14:creationId xmlns:p14="http://schemas.microsoft.com/office/powerpoint/2010/main" val="63378798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52F13C-0574-4484-A3DD-42F657E5B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F45215-ED23-485D-9151-B5DF71958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e Oliveira Trust somam 54% de Crédito Pessoal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C4B533-8053-4BFC-AD60-C80208464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CAD1BF-5E64-4945-9551-CF1DE07B8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F41395-95C5-4C09-A57D-76653C915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E2CE75-A351-487C-9811-61FA41A22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04fc226c88543e4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EA66F0-1661-45CC-908A-9DE423ED3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85,7% do PL classificado. Fora do gráfico: 8 focos e R$ 109,1 bi.</a:t>
            </a:r>
          </a:p>
        </p:txBody>
      </p:sp>
    </p:spTree>
    <p:extLst>
      <p:ext uri="{BB962C8B-B14F-4D97-AF65-F5344CB8AC3E}">
        <p14:creationId xmlns:p14="http://schemas.microsoft.com/office/powerpoint/2010/main" val="98523324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8A04DB-C179-43A5-95B3-388977592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EVOLUÇÃO DO RANKING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25AA34-581D-4C40-830B-3847E763B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57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permanece #2 em administração e custódia; em gestão cai #1→#2 ao retirar seis controlados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2CC3CB-2B62-4BC1-825D-7EFBF4000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14519D-5ABE-4300-B3A5-C556F6B55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919455-1DB5-4017-B513-3A61D0C33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DF BTG 1T26, nota 3.d. PL ex-FIC; Sistema Petrobras e TAPSO excluídos. Cenário ex-controlados retira seis FIDCs e R$ 28,6 bi; o saldo não é classificado automaticamente como terceiros.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0005FA-1A61-4F13-97E2-B16B2A41B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801131-4DCB-4872-A831-04C9AE773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C26A88-EF9C-4C7D-A1BA-EC6BE941E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200150"/>
            <a:ext cx="3286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POSIÇÃO · PL (R$ BI) · BTG EX-6 NA ÚLTIMA COLUNA</a:t>
            </a:r>
          </a:p>
        </p:txBody>
      </p:sp>
      <p:graphicFrame>
        <p:nvGraphicFramePr>
          <p:cNvPr id="30" name=""/>
          <p:cNvGraphicFramePr/>
          <p:nvPr/>
        </p:nvGraphicFramePr>
        <p:xfrm>
          <a:off xmlns:a="http://schemas.openxmlformats.org/drawingml/2006/main" x="571500" y="141922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Mai/26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87,0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120,9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122,5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62,5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82,9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109,7</a:t>
                      </a:r>
                    </a:p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ex-6 2 · 81,1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62,3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48,8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55,8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39,1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52,1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54,2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25,2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45,5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50,0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36,1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44,3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49,8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 · 10,7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28,5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30,5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EFF186-B58D-4FC5-BD79-4F3D116DE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20015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MAI/26 · R$ BI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7477125" y="141922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c1ffd930e064a05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AC14D4-8AA5-4497-A00C-C0D7017F5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05125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54AAB6-B400-4632-9C6A-24830AE5F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905125"/>
            <a:ext cx="3286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POSIÇÃO · PL (R$ BI) · BTG EX-6 NA ÚLTIMA COLUNA</a:t>
            </a:r>
          </a:p>
        </p:txBody>
      </p:sp>
      <p:graphicFrame>
        <p:nvGraphicFramePr>
          <p:cNvPr id="35" name=""/>
          <p:cNvGraphicFramePr/>
          <p:nvPr/>
        </p:nvGraphicFramePr>
        <p:xfrm>
          <a:off xmlns:a="http://schemas.openxmlformats.org/drawingml/2006/main" x="571500" y="3124200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Mai/26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39,2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46,3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65,6</a:t>
                      </a:r>
                    </a:p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ex-6 2 · 37,0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26,7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34,2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40,3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21,1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27,2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34,0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22,7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23,7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26,7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16,5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19,9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26,3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32,5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21,0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 · 10,2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18,1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18,3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E51CC0-A432-4AC3-B3AA-90F0728CB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905125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MAI/26 · R$ BI</a:t>
            </a:r>
          </a:p>
        </p:txBody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7477125" y="3124200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950e6401f984a7a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C09F40-271A-4D4B-A067-803D1A559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1010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6F7D10-AE36-4641-A518-86343B937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610100"/>
            <a:ext cx="3286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POSIÇÃO · PL (R$ BI) · BTG EX-6 NA ÚLTIMA COLUNA</a:t>
            </a:r>
          </a:p>
        </p:txBody>
      </p:sp>
      <p:graphicFrame>
        <p:nvGraphicFramePr>
          <p:cNvPr id="40" name=""/>
          <p:cNvGraphicFramePr/>
          <p:nvPr/>
        </p:nvGraphicFramePr>
        <p:xfrm>
          <a:off xmlns:a="http://schemas.openxmlformats.org/drawingml/2006/main" x="571500" y="482917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Mai/26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78,2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114,4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120,6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64,5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88,2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109,3</a:t>
                      </a:r>
                    </a:p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ex-6 2 · 80,6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46,8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64,2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72,3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45,5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57,2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60,3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49,9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62,2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49,2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36,5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41,8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48,8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 · 11,6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20,6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 · 21,3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DD626B-3559-4FDC-A2C1-AF677D3A3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61010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MAI/26 · R$ BI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7477125" y="482917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0624da5f4d04c31"/>
          </a:graphicData>
        </a:graphic>
      </p:graphicFrame>
    </p:spTree>
    <p:extLst>
      <p:ext uri="{BB962C8B-B14F-4D97-AF65-F5344CB8AC3E}">
        <p14:creationId xmlns:p14="http://schemas.microsoft.com/office/powerpoint/2010/main" val="69277589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E35579-6137-41C9-9265-D81A733C0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INDEPENDENTES · EVOLUÇÃO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D2F696-7668-4761-8EB3-0CC087783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 e custódia entre independentes, com R$ 122,5 bi e R$ 120,6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B23DE5-E921-45D3-9ECD-0FCE5ADCB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3BF94F-AB55-4412-ACA5-B46A3E427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AFB1DB-4E8A-41AC-8915-39634CC89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982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PL ex-FIC. Sistema Petrobras e TAPSO excluídos. Posição = ranking entre independentes / ranking geral; Singulare consolidada em QI Tech; Kanastra alocada ao Itaú pela regra de afiliação explicitada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143914-4E26-4372-A714-518A3B0A6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6CFFB0-EF81-47D8-B20E-DF5EDD54C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3A26CC-6818-41AD-A848-1CB53E7C4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20015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POS. INDEP./GERAL · PL (R$ BI)</a:t>
            </a:r>
          </a:p>
        </p:txBody>
      </p:sp>
      <p:graphicFrame>
        <p:nvGraphicFramePr>
          <p:cNvPr id="30" name=""/>
          <p:cNvGraphicFramePr/>
          <p:nvPr/>
        </p:nvGraphicFramePr>
        <p:xfrm>
          <a:off xmlns:a="http://schemas.openxmlformats.org/drawingml/2006/main" x="571500" y="141922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Mai/26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87,0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120,9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122,5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62,3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3/5 · 48,8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55,8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3/4 · 59,5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66,3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3/7 · 42,8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4/8 · 18,3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20,7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22,2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5/9 · 17,6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22,1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21,7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6/15 · 10,3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17,4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20,3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BDA8C7-3321-4D34-A6E2-20E6CF83A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20015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MAI/26 · R$ BI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7477125" y="141922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1b99cf61d9a4450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9424DC-78DD-48B0-A9BF-EF313BAE2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05125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F0C463-551F-4E7A-B1BA-F363FA0B8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905125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POS. INDEP./GERAL · PL (R$ BI)</a:t>
            </a:r>
          </a:p>
        </p:txBody>
      </p:sp>
      <p:graphicFrame>
        <p:nvGraphicFramePr>
          <p:cNvPr id="35" name=""/>
          <p:cNvGraphicFramePr/>
          <p:nvPr/>
        </p:nvGraphicFramePr>
        <p:xfrm>
          <a:off xmlns:a="http://schemas.openxmlformats.org/drawingml/2006/main" x="571500" y="3124200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Mai/26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2/6 · 21,1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2/5 · 27,2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1/3 · 34,0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3/7 · 16,5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3/7 · 19,9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2/6 · 22,0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1/3 · 26,3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1/4 · 32,5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3/7 · 21,0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12,5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4/8 · 17,2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4/8 · 18,8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Solis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6/13 · 9,2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14,5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5/9 · 15,7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13,6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14,1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14,1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6BF81F-B582-4EC2-8FA5-4B5034FF9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905125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MAI/26 · R$ BI</a:t>
            </a:r>
          </a:p>
        </p:txBody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7477125" y="3124200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c3e619993c243e1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4D6652-28C1-46B1-B869-37ABC5BF7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1010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ED8F8D-561C-4431-8596-BAB669933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6101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POS. INDEP./GERAL · PL (R$ BI)</a:t>
            </a:r>
          </a:p>
        </p:txBody>
      </p:sp>
      <p:graphicFrame>
        <p:nvGraphicFramePr>
          <p:cNvPr id="40" name=""/>
          <p:cNvGraphicFramePr/>
          <p:nvPr/>
        </p:nvGraphicFramePr>
        <p:xfrm>
          <a:off xmlns:a="http://schemas.openxmlformats.org/drawingml/2006/main" x="571500" y="482917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Mai/26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78,2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114,4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120,6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3/4 · 46,8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64,2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72,3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49,9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3/4 · 62,2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3/5 · 49,2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17,9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20,5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4/8 · 22,1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Limine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7/19 · 6,8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20,3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5/9 · 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13,8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19,6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6/10 · 21,7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1223E7-F1DE-4EDB-81E4-2B37894C6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61010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MAI/26 · R$ BI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7477125" y="482917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26fbb422927465c"/>
          </a:graphicData>
        </a:graphic>
      </p:graphicFrame>
    </p:spTree>
    <p:extLst>
      <p:ext uri="{BB962C8B-B14F-4D97-AF65-F5344CB8AC3E}">
        <p14:creationId xmlns:p14="http://schemas.microsoft.com/office/powerpoint/2010/main" val="66479684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14626C-AE04-487A-A2DC-2F5C64B6A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FIDCs DOS CINCO BANCOS · COORTE ATUAL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D42EE8-3727-43C5-AE9B-22316F060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14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volta a R$ 41,2 bi em mai/26; Consignados I explica R$ 8,2 bi da queda aparente em dez/25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DD33F5-BC42-40FD-9E3D-0B5F04FA0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0541DE-BCF8-4D50-9A2F-20C731D3A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A67251-E735-4E60-81AB-2361E35E7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FIDCs.xlsx e conglomerados prudenciais BCB consultados em jul/26. Coorte fixa das raízes hoje listadas; PL bruto. O histórico não recupera fundos que saíram do conglomerado atual.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B29061-0F69-4A1F-B840-4B952A4F9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FAC1F0-D1B8-4771-8CA3-5771728DF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 DA COORTE FIXA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C0BCCF-B190-4B8A-B825-1A46D0F4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68580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93fad88d4504193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44F597-A1FE-4FF3-B700-B8DBA566E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381125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· CINCO MAIORES EM MAI/26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E858C6-E6DC-44AD-9F93-B5336A2AC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47825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7858125" y="1762125"/>
          <a:ext xmlns:a="http://schemas.openxmlformats.org/drawingml/2006/main" cx="3762375" cy="2762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523875"/>
                <a:gridCol w="2333625"/>
                <a:gridCol w="9048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mi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7.919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7.730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5.930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5.765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3.003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50B4BC-2AC2-4EEF-8411-21FB84756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7625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70,4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EEB79B-A5B7-4D93-BAA6-ADD046BFE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219700"/>
            <a:ext cx="33813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5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bruto da coorte dos cinco bancos em mai/26. A ausência de BTG Consignados I em dez/25, seguida do reaparecimento em abr/mai-26 sob registro de classe, caracteriza quebra de reporte; liquidação econômica não foi comprovada.</a:t>
            </a:r>
          </a:p>
        </p:txBody>
      </p:sp>
    </p:spTree>
    <p:extLst>
      <p:ext uri="{BB962C8B-B14F-4D97-AF65-F5344CB8AC3E}">
        <p14:creationId xmlns:p14="http://schemas.microsoft.com/office/powerpoint/2010/main" val="180463405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60209C-F6FA-47C2-A6EB-144206E08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LIDERANÇA EXPLICADA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88EB41-0241-4D57-BBB2-45BB49501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Singulare explica a escala da QI; seis FIDCs controlados explicam o #1 do BTG em gestão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BF42A6-8DAE-402D-B251-6504D9036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94C0A2-2963-48D8-AE2C-0F6AD0529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1E223A-6AC6-42AF-88B0-61FF562AA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CVM; BCB, alterações societárias nov/24–nov/25; DF consolidada do BTG 1T26, pp. 18–19. PL ex-FIC,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A97F29-5733-4DEE-BF49-52155BE6D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69DD5A-50F2-4F42-91A0-34D713D04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095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 · ADMINISTRAÇÃO EM DEZ/24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F59491-A7FA-4A93-9FA3-1CD95FFA3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095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09750"/>
          <a:ext xmlns:a="http://schemas.openxmlformats.org/drawingml/2006/main" cx="50958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90704d492bc4d11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8DB13A-25E1-48D2-9DAC-5939546D1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4714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95,9%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7577AB-E01E-409F-8CC8-1E4018243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4714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PL administrado do grupo em dez/24 estava no CNPJ legado da Singulare. O controle mudou em nov/24; em nov/25, esse CNPJ incorporou a QI DTVM e passou a QI Corretora.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6BDD3F-B301-40D6-BF74-C83DFEFBD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· GESTÃO EM MAI/26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5BA736-2E0F-42C6-B067-A241BBE59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334125" y="1809750"/>
          <a:ext xmlns:a="http://schemas.openxmlformats.org/drawingml/2006/main" cx="52863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320ca41e821470a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922863-8341-4F6E-8A53-9D10AAD76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86250"/>
            <a:ext cx="490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R$ 28,6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9E5DF9-0196-44CF-97AC-8FDA4C1C5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705350"/>
            <a:ext cx="4905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43,6% do PL gerido pelo BTG. Sem os seis fundos nominalmente reconciliados à DF, o BTG cairia para #2.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025465-3110-44CF-B7FD-09F5DC03B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476875"/>
            <a:ext cx="4905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79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9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Seis reconciliados: BTGP Consignados I/II, Alternative Assets I/III, MT Consignado I e Consignado Delta. No caso Meu Tudo, o FIDC é controlado pelo BTG, mas a originação/operação do crédito é externa, via Parati e meutudo.</a:t>
            </a:r>
          </a:p>
        </p:txBody>
      </p:sp>
    </p:spTree>
    <p:extLst>
      <p:ext uri="{BB962C8B-B14F-4D97-AF65-F5344CB8AC3E}">
        <p14:creationId xmlns:p14="http://schemas.microsoft.com/office/powerpoint/2010/main" val="98122084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B83CC5-2987-4902-A3A3-0022860C2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CBSF / REAG · DESTINO DOS FUNDOS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6B8045-D65F-4B8C-B437-6B4798DD3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Master e Planner receberam R$ 10,1 bi; 19% do PL continuante migrou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B5A12E-4E21-4CEC-9DAA-824FFC9F3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44C81F-E8C2-459A-AF16-0E0107C1D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25567E-D6B3-48AF-8ACC-69A420D4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Mensal; BCB, Ato 1.375, liquidação em 15/01/26. Coorte do CNPJ 34.829.992/0001-86 em dez/25; destino em mai/26. PL ex-FIC, sem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C22915-ADE1-462A-99BB-26DD1F562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9e1fe544e6496d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24685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938EEA-16F2-483D-8304-0DD292F67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MIGRAÇÃO EM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3CC1F6-32DF-42D4-8773-1BCB92D12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358 FIDCs trocaram de administrador; 10,7% do estoque comparável mudou de mãos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894EEB-A9D6-4DF7-A4C4-B63A7E241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2661B9-0EA2-4BA2-80E6-B2FBE6903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C67675-2516-46E5-9D7C-122F95427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Fundos existentes em mai/26, com administrador observado em dez/24 e mai/26; largura = PL mai/26. Cobertura: 75,6% do PL da coorte. Ex-FIC e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CC9D78-7866-4272-BCE2-7EC6760E5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2f9128df4e4deb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735424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3B7C29-F586-42B4-B2A0-2442887F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MIGRAÇÃO EM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010C30-EA93-41A9-A22D-F969878C9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 FIDCs e R$ 1,28 bi mudaram de grupo na amostra observável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F9862C-3A83-479E-942C-22D9370A6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DF5B66-2E7E-4D29-AD2C-EEA23C57D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62E74C-DC8F-4A90-A04A-5F44307A9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cad_fi_hist.zip, recurso histórico identificado como ICVM 555. Coorte atual de mai/26; dez/24 → mai/26; largura = PL mai/26. Cobertura comparável: 7,25% do PL. Amostra sem extrapolação para a indústria.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C5768D-B82A-43EB-98AC-5E03837E8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fd9c5ff5594cec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87336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F0E4DB-A894-4417-AE00-1774E95CA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MIGRAÇÃO EM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F0D6C6-DF87-46FA-B37D-908DEA14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 FIDC e R$ 0,02 bi mudaram de grupo na amostra observável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F7A1DA-5A83-420D-9709-ED303FCC3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CCE9EC-5503-4F7D-8370-DB559E8C6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947385-0373-4425-B224-2018788A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cad_fi_hist.zip, recurso histórico identificado como ICVM 555. Coorte atual de mai/26; dez/24 → mai/26; largura = PL mai/26. Cobertura comparável: 6,20% do PL. Amostra sem extrapolação para a indústria.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B27DE9-4CA9-4617-8253-D486870DA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16334a99984271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715409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4586C903-5061-423A-A4D5-7879FD1D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23E9B4-FFBB-4BFD-AB39-574021A97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24,8% do PL ex-FIC; Petrobras e TAPSO são 46,5% do bloco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369DC0-3A23-4B80-AF7F-A16E6A5C2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40162A-56F4-4A8C-9966-10922ACC0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B1D73E-8DE6-43C1-B61E-66601EB22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ANBIMA, mai/26. Ranking derivado do universo completo ex-FIC; denominação legal completa no apêndice.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31D287-D271-4B45-843F-B894B04AD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B1590F-7A62-431F-9CF2-A5238B619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263A5C-4AE4-44B7-97E4-B85CB9BA4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169D7C-1402-411A-80BF-96236DF9C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2E26EC-62C4-4C02-958F-E65C421F6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93734A-8C00-4BCA-ADE4-4AF430097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B52C0E-11CB-469F-AA76-69A6BA592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36AB04-7244-4C84-BF07-1094B4C67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CC116C-FC08-434F-8DB3-BD616056B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6C0C09-34F0-4840-A641-0EC98BC9B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E90AE1-EE22-4AD2-9DE3-A72C9F936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67811D-86D9-4ED0-BC09-BBCDCAA19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5155B4-28B8-4556-A730-D9C740F3A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60,8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344E4C-280A-4CCC-BD07-86268A89D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6,9%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9F480F-776D-403F-829B-1171BC1C4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0F52FA-A534-4986-9C77-A8CD6D3C7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FCEA08-5E99-41A6-A978-1BCA82C9B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8FD9D5B-0F56-4DB6-ADC9-7054F295C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F0C23B-89F7-42C8-8FAB-DD5855EAE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DD5AD4-3C87-4134-99F6-3F4342295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064B87D-BE9C-467F-B55C-C74EAA0A5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40,7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5929C03-3337-46B5-817C-49C7DF22A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4,6%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37FF841-0854-48B5-B45A-6CF96CE13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A04F709-E351-4786-A274-C450F5845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608E27E-AAEE-4D1B-AAD3-43D6DDAE2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4AA01A4-5BDC-4D41-8FE5-F660D5407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FFC4822-0AB4-470F-A19E-291EEACD5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6D0D6D6-0D93-47A1-A92F-97582ED8C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B788DEF-CA1B-420E-901C-24B333921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B739CA3-65CC-4FC9-A0A2-AB6EB1A66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1,1%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EAAB43A-4B21-40B4-BA73-8E4B524D6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5B3905E-EFFA-4AF0-AF6C-B4A406BC2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12C5568-630F-4F56-8793-27C14BEE2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F178648-83E0-4B1E-8BAB-232C36F5C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B552C23-57E4-462E-B7EF-0C64C692A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E16FBBA-DFC2-417C-9240-675F88743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2B37D10-FF6A-40D5-89FA-A7A703C2B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8,6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58A4F04-913F-4467-AD48-D601442C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4873635-F521-471B-9576-841716AB8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FA03A86-91C5-4EA9-A429-FA994DBA8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F9400D8-6394-4315-97D1-DDFF7FFB3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DEDBE4A-5933-4974-A4FA-3ACBBAAA2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764FC74-917E-4205-9B5C-BF4C50814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0469852-6C2D-4A80-A9D4-AB61AD8B8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Esperanza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C7AE38A-9D7C-4356-9FD9-A8E09F7D2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8,4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6C0FE25-775E-43BB-B4C6-D507068CA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4ABC66B-15C4-4958-8BC3-3831DDB4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BB5C3E7-1E8D-4518-91DC-3182F3C21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E5F4C8B-FA66-421C-BDCD-4112538FF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A5A99AF-1C28-4944-B56F-C1E380E31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830D78A-073D-40F2-9DDE-5BC5DD5BF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52A4A0E-C93E-4F72-8723-9B0AEE80E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 II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5343DEE-0299-47FC-8A81-942D89768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7,9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AD9D811-60DE-401A-829E-7F5F4C0B9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B1B8B30-136D-415B-A9B1-F795F1EBD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587856D-B99C-4D20-9364-48B0B9E76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4966CE5-8703-46FD-A853-A9218A8CD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C4E9881-567C-47DA-988A-BC2D1B37E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9D6E163-1CBA-43C7-9A00-2E2C77433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B450F95-38C8-4A26-91F8-1D6FC15CE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MT Global · Consignado Privado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2D773EF-70FC-4FB2-A930-CF49B037E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7,8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C2B5ABA-4F69-4A8F-B085-64966C3A7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9A23F73-370A-48ED-8DA1-E3407B0F5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676B55E-9AEC-41A4-B325-DBBFB212C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DBBBCAC-CCC7-4CDF-96E4-EE7746BC1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6A1697F-FC81-4C46-9506-6DFEF3347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4EE82A0-DF2C-4F85-BEDD-0D495B026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51814D16-EAF9-42BE-A655-1051B83B3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C4D4F651-8F4B-4BE4-A7F0-5D912D1F4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7,7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AFA6852-BE7E-4FC5-B3E7-9F3E485F1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F6DA841F-70A4-48AE-BFB0-48A941EC1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610C610C-5C25-4B80-9B92-E562CD772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975D6FF2-EEF9-47F8-817E-F6C2C0682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25E74D09-00FC-4163-AD5A-C91FF1019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4BE389B2-B83A-4E3F-8D65-D2D233520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EA77B79F-6DDC-422D-93B7-C58ED00A1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Aetos Energia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3A53975E-8C8C-4FC7-B31A-72DBB1A90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7,4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5EA71436-2B38-49F2-8A54-C61478FCF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0,8%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BBCE2F9D-929F-4787-87D0-C92F8D8C5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D564CDA4-B59A-42FD-A44E-6DC53600D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5719A048-5100-45C1-87C9-4C895AEB4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4EF8F147-4B9F-4732-BF0B-3F46D1AA9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0AADC41D-8EB3-48A9-884C-DD6050FAA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34EDDF4A-664D-48CA-9846-7B07BC3B0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B5103FC0-8252-4649-AD02-C0BCBE205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6,7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B40B0831-C9F4-43F3-8EE8-0BBA17A69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0,8%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2E3408F0-A8E3-4D33-9618-4D25C3503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57999889-24C0-4C00-9026-C460B7269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DCC185BA-8E95-4BBD-BE33-7FDF46479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8503ACE7-BBD3-434A-8571-BEFF8AD8C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790B669F-63A6-4057-9B70-F3FE78440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DF1B6195-A6A4-4592-BE4D-70B369D57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1BEED9D9-107D-4837-A609-AEF2905E3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72D2A9B0-78D3-4A72-99E7-EA761F145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E60C2743-ECA9-4C4D-AC16-89BC75CA3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C7728C68-4DD0-4496-933B-550D18CE1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DA82A016-E485-41F4-BB52-56A8ADFD4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81ABF89E-0438-4007-8A4E-7B7F2C6A7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C0FE84E9-F544-4A4F-A90A-F5ADC9757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FC58CE2D-2676-4D7E-AF73-A855E48F9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6,5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D3ECB5EB-FB99-43D8-89BA-2A7BC68DE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6263A3CC-CD8D-4CD0-8BF1-3A7E971F6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65261522-1FB6-4BF2-9675-0FE108FD6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9DC40D6D-11A0-4C5B-AAD7-5E2EFB013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86CE10FB-8C03-45FF-BE07-A25B60BF2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D2087487-9A69-47E4-941D-1A27F4FCE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A1196AF0-87EA-4E90-A922-221BCF236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2C988A1C-14A3-48E5-B01E-BAEF63A33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49FD28F7-F8AB-4C67-AD49-57CEA0144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2166F320-2CFC-42E4-B84B-11DDA235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EE3BEB79-4AFD-420A-90AE-F9E47094C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813A12C9-3788-47B1-BC14-D31C247B4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7DEAE985-41B8-4C5E-AFD7-D81BCD34C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EB149B8B-C0A2-4BA8-82C2-90BB6CEAA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5E330817-10F6-42B9-BBB0-A7E1BE562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3473FB73-8D1B-4FBD-BF27-894BF93A8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5,9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EEEEB589-EADF-44D8-B46B-909CBB20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23251CA8-A544-43F8-9B74-399482985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AAE12405-2A78-4379-9F33-2D6FF3439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EB621A29-3956-4B87-B1ED-4F3F8EA99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7615E4BC-E20A-4E8C-8787-ED11A025C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42D07EB2-8308-4B00-8D80-03BC3ABD5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6AE57DBD-BA1E-4A9A-9A52-083FCF76C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C6147B29-A926-481A-957D-430CE46A1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BA2A821A-EC6B-4DE3-A0ED-5D4C553CC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46F5B23C-C8EF-48F6-BBA0-7C91F2872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68B4EDEC-ED1F-49AA-9A37-4C2DBA185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3606985B-CE88-46C2-8326-E1712D646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7C0BE2F1-A588-4BC4-90B1-A7CBB9563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D0E9F9DF-2710-41D7-8C2F-EE2EEEA25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A2AC4C3D-2843-4AF7-9EA0-5FE91F857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NC 2025 I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DADCD6F2-7519-4A9C-93AC-B45D24616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5,7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5CB83098-FF21-4D3F-BADB-8181A3D02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0,6%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1719875B-BE38-47BB-8E76-9A906B498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2059ABFD-CD78-4716-B5D7-C23C9B62E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8EF0895C-7C6B-4745-9472-7CB1B6F31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BBE10FC8-8A8C-4B89-B764-508BF8E46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451D5256-98F3-4D7E-9278-5A3722A30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031B4594-197F-4CD3-BB43-C7E13649B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535741EB-4888-4706-912D-702129B25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5,0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BF5BDA5B-401F-472E-A1F4-83AB44651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0,6%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8337BAAF-656B-473E-87B5-2D1AD4CDB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48F975A4-AA86-4A1A-9478-A347BA35D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15DC7888-0747-437A-AA89-82C7D2266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9BA96AE0-830A-4B78-AC7D-FBF3D86C1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36BD0730-F7F3-40F5-B64B-F2408D9FB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E3148164-C021-4B0B-9183-3642CEBD4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 I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6D4EE055-FA8C-467E-B508-996556877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4,6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C0FE8900-479B-45E0-BD9E-DA9F9327E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99B696AD-3379-4F80-B407-4BF4DE55A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FAE344C9-4255-4CDC-AE48-F40AED48F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B6D52616-C20B-4C9F-A6A3-D77EE7857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A1ABC329-AFCD-48B1-8272-5969B438A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B31999F3-C56C-4DCB-9D45-D936B7764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AC85BBF0-4E9C-4F53-A6CF-8635F9353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Artesanal Master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B7223C9F-6209-4792-8AE8-4DD873FF0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4,3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EC78C8CA-4D5F-401A-847F-E40852195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3C117282-2E26-44A7-90CA-B01270957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D948CE2D-8ADE-4C0F-936E-315CA166D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FAA92D54-6C0E-4C8E-A115-746BF5821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C54A8EAE-4575-45D3-84C8-1F866C65A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80855DD9-185A-46CE-BAE9-0AD0E9F63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DBA55D53-D9F1-4E84-8F7A-11BE55DE8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High Tower NP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4D0EC163-B66E-493C-B31B-2E2AF770A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D51B814F-F0BC-428E-AD32-48835E682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0C591178-7649-4659-9F64-3080CE1A2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FDD9A9DA-989A-484D-8C48-98E130088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60822416-70AD-4224-9E39-86805CF8B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38B89D25-66D0-495C-A511-3D462EAD7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C988E64B-13E5-4FF2-B3A7-E81F1B2DE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8A7B3F66-B17E-4988-AE81-D868116B9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33EF6A51-4D64-48FF-808B-3609BA0AC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3,9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2F16EE90-291E-4708-B577-11DC41B52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0,4%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23D86F0B-D904-4D51-A2DF-76134DC66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AAAFF95D-F18D-4E09-A855-30FF367DD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</p:spTree>
    <p:extLst>
      <p:ext uri="{BB962C8B-B14F-4D97-AF65-F5344CB8AC3E}">
        <p14:creationId xmlns:p14="http://schemas.microsoft.com/office/powerpoint/2010/main" val="180179396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4D3A9A7C-93B4-440B-A5A0-CFDCF1327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OUTROS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53A79D-323C-44B9-872A-CEDA649A2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representam 26,5% de Outros; oficial, hipótese e status ficam separados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8BCCF0-382B-4432-A513-A1960072C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DAA9F8-D9E8-4E88-8ED0-03E318E53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A39E4-3D88-4E31-9482-9074DE15B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e documentos primários locais, mai/26. Evidência e links completos constam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511A29-E1FF-4EE1-BCF2-C141E59CB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71028D-6238-4CC3-8636-19C7F3C5A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8035DA-B3C2-4F77-A779-3D7817D8E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542AB2-FAE5-4ECD-97FC-662C7844E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1D3DB6-F374-4B60-8D81-452481351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BFF620-9F9B-4A04-AAD0-4DE03EC47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651B4D-AEFC-4799-B5E6-CD4EEB99C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8B112C-D952-484C-8FE3-A6C17E4FC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2B6DA0-C9B3-41DC-86E3-43DFEB9DA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C03081-D636-498D-B2D1-AA02EE989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986F19-ABDA-4EA4-BD12-4EFA32D82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F4D6F3-D52D-4650-B8AE-6EE4EC699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2F4757-E92A-474F-AA74-1C01BED58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E4CC75-6545-409D-A289-399512301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6ED07E-841E-44EE-8138-7179EF22B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9EC3A8-9511-4297-A09C-707B3EDAD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4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TOS CREDITORIOS CEDIDOS SAO ORIUNDOS DO…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89138F-DE3A-44A1-88EA-938227457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9FB3297-F6F8-45A9-A283-964788B28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1A2622C-050C-4225-9C22-7ABD3CBB1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C10516-F7D0-49C2-9CA0-9B474E0CD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9D5A02-BD00-42C7-90C7-E52ABE1DB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8,6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8329C5-BB7D-4563-9BF2-460EF9D0E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AE5A0B2-8393-4358-A6DC-FDA900F81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PJ — Crédito privado/mercado…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6E62D45-305E-4B9F-B0B5-2CC7A442C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CREDITO PRIVADO FUNDO DE INVESTIMENTO EM…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6C175F5-E4F6-4866-A7B7-AA86BBCB5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66B66E6-271E-4768-9324-7CD21E0FC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4E569C2-0243-4F94-A249-7D7C320C2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9513919-5F87-4E6C-AEAB-D71D5314E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Esperanza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B3C8CEF-4718-41DE-B7D6-1D35C0219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8,4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292C1D0-5702-42D7-BE50-FFC07AFE5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0C713F7-2F20-4AEF-9484-A6C3E40D9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F15DC18-2403-4160-A78F-4DD3E42E3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ESENTE ANEXO, A CLASSE PODERA ADQUIRIR DO 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1530C95-6ACB-43B2-B16B-3D4E91C95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E15F9B1-F9E6-4A96-82AF-ABB12959E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FE9F43A-8BE3-4DB8-9959-2FE6E7541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C7F50C7-624C-4C60-8E8A-C2D7274B8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B8ECF81-4D73-468B-A1E1-1B1C9AB9C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6,7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040D140-6A13-42DB-A472-E7CD3935A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26A38D7-0C39-4AFB-8A8B-BA2B697DA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B12A7E5-CBF7-4938-B413-7D6DABABC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4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TOS CREDITORIOS CEDIDOS SAO ORIUNDOS DO…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174CCC3-8141-48C4-91B6-1FBA17851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7B60018-9C08-4970-B89F-4DA1D640A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832FE1F-22A7-4916-857D-75A8AB856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5E97F5F-BA00-42A9-88A5-D6F74E649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30ADB24-43D6-44E6-88DC-E77A7EB39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EE30DC1-10AC-4C52-94AC-D2E8F7CFD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3E47A63-9874-4ECE-8679-7E08407F3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6B7F18D-0004-4D30-ACA5-4A8CCC89A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ESENTE ANEXO, A CLASSE PODERA ADQUIRIR DO 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594E7E1-378E-407E-9CAC-553F3FA1B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5587DDF-E4C3-4989-B59D-0BBEDF0B2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4EE748A-D59D-49C8-ADCB-9F9D5FFE4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C60EBF6-CEBB-4B11-8BDF-B4B9AB9F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67340B9-8801-4081-A419-2796D08AE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1990FBD-27DD-47FD-8A4B-107CE9194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8311E75-3437-4D6A-B324-97F24EE04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A91F55D-A7B1-423C-B477-0F11EA879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SERAO ADQUIRIDOS INTEGRAL OU PARCIALMENTE,…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E16976F-F45B-4B7B-B145-A0B581559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87F45E2-6C17-47D6-AAD5-768CAA539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2705AC6-CD0B-4C71-AB91-AD332F0A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D8807DB-D6CA-4D71-8FB0-688B0B816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NC 2025 I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297C470-284D-428A-B8F6-EA38E3598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5,7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353AFBB-3EF5-4C3D-919B-DC56A7EEC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9667D81-4661-490C-8CAD-99BE821F2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Multissetorial / Outros —…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ACD3449-7A7A-4F86-916F-05AA5EC74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UNDO E CLASSIFICADO COMO UM FUNDO DE…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4B410AB-17B6-4C7A-A00C-68D418B0F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8CF7C42D-774C-440D-AD09-F9E0867FA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66702B8-1D2F-4240-9DA6-9E9FE52F0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5E33DD7-B42D-4094-BB3E-F224B8BFA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6513D0FB-260F-4C26-82AE-D892B1F85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5,0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1A8E7258-E516-4BCE-97E4-1FE161962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E4DB989-8CEB-45FE-8C7E-614782FBA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27DDACC-81E8-4989-A633-A3643412F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8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FUNDO DE INVESTIMENTO EM DIREITOS CREDITORIOS…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25FE916-7467-481E-B5F0-A92E8197B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2FADA37-6445-43AB-A42B-864DEF35C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51A48F1E-4A06-4548-84EA-75DC20ED8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2AA4C29B-3BD0-4E78-9581-E3A1469F5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High Tower NP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B5ED120-0B40-42BD-BC9D-CA01D233F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ADCBED05-A81E-47FD-9F49-9DC8DC342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A7820AEB-FA76-4B76-A10C-500B61B92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B18337BD-D629-482F-9E62-A7ED0989B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95322CC8-FF30-4FA4-92AF-CC8E2AD4D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F3948BEC-BD79-4DCE-A40C-22D1812E0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A59D76DD-BA0D-4340-B244-4DFFDDF4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B21C8773-965B-4C1B-BE69-894B9EF13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19BC0BCF-CA89-4774-AE81-DBFE87D5F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3,9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363C0F5E-3B65-456A-B645-23BB874EE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BC1455FD-D531-4355-8078-A757986BF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7001C49C-E8C0-4F7F-BF44-008CDD95D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09A4FC41-15D0-4708-B826-432B32F58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428395D2-DD7D-4528-8E4F-ACAD3ECC8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A7CF51D2-43C7-4692-A695-60DECD1BE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BCA76DF9-8EF3-4BFB-85E6-5B36E588B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6228C39E-AC0D-4196-8C89-9B6E61439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BB2E5C75-4120-4353-846E-B21DC633A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49DCA2C1-E8E8-4BF0-AA5A-C7F07AE7E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84694ED9-E1AD-4B92-869C-95CC00E24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9D3E03E9-3E0C-4FD3-854E-37A19EC63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B7106DD1-AD82-4D8F-AFB9-D65C51A28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4F5FAA1B-C121-4230-B857-FA4BA75B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RSCRED MULTIESTRÉGIA - NÃO-PADRONIZADOS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579DD4AF-0F52-4168-B39E-533A939C2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3,6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E9B46A1B-34CA-4C9A-B170-30779C4C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CE600A49-E2E1-47A1-B917-F3B44B79B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B2FF7DDD-6224-4EBE-A223-8AB53F3A3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18E50841-5DCB-4840-88A8-BA1E4D523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233FB86F-DB44-45A3-9217-2454FA303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F6D05FFC-1117-41D4-9DAD-3A8E50850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186A6799-0386-4A2C-A92A-9901AAE71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HAVAN ECONÔMICO, FINANCEIRO E COMERCIAL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48C04498-BDB2-4D4E-8D8B-0CFEC4C5A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3,6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DE2E2B61-AD18-4CA6-960A-0679AC7D8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C89850CE-CFBE-4E8B-A2BE-504C764FF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0E38C30A-2DBA-4250-AE94-F1379AFF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290149FA-97F2-414F-B62C-60625D666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F32B8256-1C96-459F-8D33-AC1DEA5F0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C248ED69-8CD5-4248-9217-3C41950FC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1B2AA9EC-68ED-44F2-86CE-826BAA0B3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EXPERT III ILIMITADA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FE81B02F-9611-40FF-B424-4CF6C26C0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9367DD90-7D10-464F-8356-D7BF9FAAD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492CD648-3D1F-4B03-A76E-013759165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A5ACDFB8-851A-4BF5-8CFC-0481D2B3E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FB4F9243-2707-4747-9B98-4E6DA5E96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2EE7D040-F522-49B6-B72D-EEE3915D5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DA336249-F072-4C00-A034-CE6EE9AC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5EFC0F5D-98CF-4A5D-9DF8-A4ED3988A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RED REAL LP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452ADEBE-B990-4AFF-A614-CC0B6A639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B5E038A7-6F3D-4755-B9A9-9A522AA26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A0289708-53E2-4011-8CA5-EB25144F3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64FA91D1-AB8C-48DC-89D9-16E5C209D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8FB02EF0-628E-493C-B548-9DBEA5FE5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2F2B57A1-3F72-4D06-BEE0-F2A39BBA5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A53FCE4A-2EB0-4A53-B6F2-B985F2404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7E84D5CF-2C47-49D8-88B8-1C136ECF1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OCCAM CRÉDITO CORPORATIVO 30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6BAE2617-94B0-42A6-8094-E35052BBB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3,3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8DCCD458-01DC-403D-9C0A-1D58EE84F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3F8D5240-C46E-434B-8BD3-53B1A7986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B75F60E0-6BEC-4774-B70C-D6AB61696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CACCDE89-61B5-4649-82F8-810DD0330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00F64668-1E84-4360-978A-5C570EA17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585AC9F8-4323-46D3-83A3-B08AA25CF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9BD55CDA-8AEC-455F-919B-0E6391B15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ASA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D006255A-4D07-4EFC-B0A5-2C3BCF541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3,2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5BE0D26B-5CD8-4D2F-A881-93E6C3D0D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536C2454-F647-41D7-AF6A-EDED4E055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4455B105-5609-4CED-949B-76FC0F771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1D535863-4DBD-43DB-962E-4C18CFDCD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D874E5B0-0011-470A-8795-69EE7D929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AB462ED6-B264-4456-A2CA-D06D1B6A5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493C29F0-D86E-4EA6-8E29-525EF3C52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PCG - BRASIL MULTICARTEIRA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CF90C03B-D414-4244-A8E8-380AED51B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078E42CD-5F5A-41B1-A736-E0E25C86D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12D54579-5141-4184-AF84-2B3E806D7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8D968908-B726-40BC-86C8-0C81E464A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EFCAB220-8B40-4D54-99D5-288915E7F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DD854AFD-9EED-4F08-8D97-BEC4802CF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6D8B30F9-EAD0-440E-9E71-4930348A5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C2B00885-64F5-49AF-9836-C7864C076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CARNIVAL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1BD46E10-DB92-4425-A780-9E568BA7D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FBC4FDD3-FB2F-4C02-9F20-DCFCF7090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805E2C64-4010-4621-87B5-188D5A3AD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B5B23EF0-C19B-4C96-B807-3011FC0EC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786A71DC-23C6-4B5B-9CA9-A1E99A6E5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2B16DE81-537B-4A7C-8ED2-568E2EE18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5F12CD95-FBE2-4B8F-BE32-61D0185CE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8A7456A0-071C-4608-821C-DF2FB6DA8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02BCD01E-D73A-4E80-B193-0EA9FF896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6611820C-3EFA-491C-8974-1DA9E70CC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ABEAD536-86A8-495A-877A-E784CADCA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496F7F98-EE90-4103-9696-21D7E6B4A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D609DB98-F627-41AD-A5F6-713964E83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0E99C903-C790-451C-BBFD-02A82FCFC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4E87CB9A-F756-4FCB-8574-01D6970BC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E6C868C5-D49B-40FE-A4D8-D0A6D245B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GSR NÃO PADRONIZADOS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A75EE4DA-C6AA-4E23-9156-A56631085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32123670-613B-4596-9299-743665101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D744DB0A-1AF8-4AEC-90E7-77F9521EB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666C9043-381A-414F-BD15-4F4E7302C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</p:spTree>
    <p:extLst>
      <p:ext uri="{BB962C8B-B14F-4D97-AF65-F5344CB8AC3E}">
        <p14:creationId xmlns:p14="http://schemas.microsoft.com/office/powerpoint/2010/main" val="179814945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AB86805-3CB1-429A-8D00-E2BE3CCC6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MODELO DE PRESTAÇÃO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CF29D1-1D19-4F81-B89A-C24100DD5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Monoestruturas são 7,8% dos fundos e 34,0% do PL; dados incompletos cobrem 1,2%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5F8ADF-A605-446E-A643-8B1E3E2EE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AC36F8-5D37-40B6-B0A8-388D3AFD8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D41C21-034C-4FF4-B246-3515E2FC8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cadastro vigente em mai/26. Definição mono: mesmo conglomerado normalizado em administração, gestão e custódia.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7CE28E-7929-4189-A832-B15CE4189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704850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a44d1f2a001405d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765C04-7D1E-4465-8C71-029FCFB45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57775"/>
            <a:ext cx="600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1BB1B9-F206-4180-85EB-445BFA518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763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E QUANTIDADE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75B8FF-46BB-4B48-A819-EB1445644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43075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AB27FC-5532-4A62-B0D2-23269F9E4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6215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1ADAF0-49D5-4C9A-92E2-B1FF0F188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196215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331 · R$ 326,1 bi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E84151-9D6C-47C7-95D8-740A54F94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6856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8599B5-70F5-44C0-BF44-88CD57CCE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571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3850F8-49A9-4F41-A86E-AA8AE23EC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252571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42 · R$ 34,8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A51166-8E4B-4EA6-8320-3B5F2DDD3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2125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1F341B-4129-46BF-8BFB-E56E76B3A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9275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8BBD1F-87BF-4A8C-85B7-D5EB5CD56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089275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3.371 · R$ 511,5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1AFAFF-58D7-47E2-B2DC-8DA263D6B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95688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0BFC9D-9416-492E-A71E-D832DFCF3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52838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C689DE-C7BB-49A7-81C5-C894DDDF8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652838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44 · R$ 19,2 bi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DF0273-708A-4F54-A889-14406063D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59250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443860-7724-43C5-BEC7-0DAA5B5BA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640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49D215-8318-4F80-A0FE-75198642F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21640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355 · R$ 55,6 bi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46E469-C9BC-4EF6-9283-696A0BD2D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2281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C8DC0F-BB41-4DF2-84D1-7B0B54BEA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7996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Dados incompletos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D8D64E-D24F-4C4F-B83D-565124833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77996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79 · R$ 11,5 bi</a:t>
            </a:r>
          </a:p>
        </p:txBody>
      </p:sp>
    </p:spTree>
    <p:extLst>
      <p:ext uri="{BB962C8B-B14F-4D97-AF65-F5344CB8AC3E}">
        <p14:creationId xmlns:p14="http://schemas.microsoft.com/office/powerpoint/2010/main" val="194455165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B404A4F8-98B6-477D-83CF-4182BBFBE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CONCENTRAÇÃO DAS MONOESTRUTURAS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134DF4-F1B4-4E10-BCBE-F5B645DED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5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F68F34-39F4-4917-8DE7-B2DBBD456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6F014C-450A-43C8-93DD-B7A97CB34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EC608C-B817-469A-BA5D-401BBD240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mai/26. A evidência mostra concentração; não permite inferir preços, propostas ou contratos.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AC9A4D-8627-4AB2-99D5-8417A88FE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85DDBE-5E9E-499F-81E9-7246F736F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7000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7E2026-E77B-44AA-BE1B-A808A1CC4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806E77-E667-4B14-B81F-4FA20BF86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mono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E33057-1F36-474E-B8E0-2E7E22CA7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504950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31F2FE-68BF-4226-BDA1-533AC66E5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5049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Maior fundo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822FD7-205D-4CB6-8099-FB9EF084B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DEBC61-2C73-47C9-9371-27346833C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9CA2F7-73D9-4CFE-8E77-29D8ED945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HHI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2751CF-7B35-4FB3-ABC1-B712AB78F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9548A7-3841-40D9-8486-B44D11DD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2F0897-1558-49E7-B5DB-315DC6AE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B80AE7-FED6-47DD-A184-502CE0482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74,8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D44B0E-EDD3-4258-8852-796B86363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8288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90F01F-FFF0-4CE5-9628-C369EC290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288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TAPSO FUNDO DE INVESTIMENTO EM…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2109C2-2E2C-4472-9876-32B05AC34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54,4%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BF6B82-0170-4215-BB3A-83E57E310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63,3%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79D1A6-B1A0-4803-BDC5-36BA50A95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2F98A3-3AAE-43A3-8343-80E8A99A8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C381B4-2646-415E-9A8A-5455B0577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C5D39C4-B58C-4CA3-AAB3-B815ACABE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5B2E2C7-AC36-42B2-B8EB-FC5F3CDA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67,7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B8769B1-3FC7-4D27-968C-0A8E2DC04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574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38F2C0C-408C-4346-8110-28B35CCE2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4574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CONSIGNADOS II…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18D502A-27E8-4FC7-9060-AB50655EF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11,7%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51D220F-DD9A-4525-8676-7E1F6AA2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34,6%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7311246-8B50-42A2-B750-E95A427D6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977DEEB-E87F-4F47-8738-9CCD7EBB2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75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870D239-E57D-4DBF-A386-A398BAC38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6015AE2-CD4C-4DAC-88CB-E34A4DBF8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13D4074-099D-4689-AB8E-EEA47751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60,8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5D5623A-9DB8-49DE-A81D-D15FFF5BB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861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864E26C-3895-4947-B011-0687D4A95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0861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DO SISTEMA PETROBRAS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513E60F-6DDE-4160-A336-B0CE52675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124C2EE-96CF-4C34-A019-1A34BC5A9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8D88CCB-717F-4FFC-AE25-6771AB5E2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52FA973-3096-4BD0-9222-DBAE26BDB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861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F196737-1591-44D8-B00D-9A31494D0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E7DCB3C-AA50-4835-ADB8-37AC32E27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3AF5BA0-8890-49D0-9207-50142734F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39,4 bi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77F4A37-D5F0-41F9-8FFE-4D620687B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7147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212D2E9-99D2-4095-87BD-9EE1CD1B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7147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 FUNDO DE…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5B97F88-063C-47E4-ADBE-2FC3FF5D4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25,4%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127D069-B74B-4937-AAF8-4696A9ECE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51,0%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1B568BD-3F66-4A89-87F9-8872C4071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88561D0-57BD-4DAB-B2EE-08DB64654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148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BCCE8E9-507C-40C9-BB43-B5827D1B6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AE4E91E-7955-49D6-986A-AF6CD703C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434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381D22D-30E7-474A-84E7-706B302CC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26,7 bi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2F30D30-0F44-4796-9C40-63FCC6698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3434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D1DD4F2-3274-46DA-8153-6DF67848C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3434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FUNDO DE INVESTIMENTO EM…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209C786-5D01-4B06-9F48-48656E8C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25,1%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FA91321-E574-495D-B006-92460F31E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51,3%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3664C2D-1F89-49B7-A832-572A9A084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22A5254-322B-417A-B7CD-7C5FE0AD7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434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2D62FA3-2408-4E83-BAA3-66291C177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626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B24233F-1C1B-4726-BE18-442C0EEB4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720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A653C6F-5EC2-401F-AA4F-1E289F3B7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18,4 bi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CD547CF-9137-4CB9-A371-1DC58D235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9720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7DE0D37-650C-4557-8C3B-4B50D1EF0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9720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 FUNDO DE…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6E8FC11-FCBA-406F-B5B0-C91A7304D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46,8%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1B55C12-84FE-4B82-A447-C8A634707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58,7%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174942B-E9B2-4EFA-8E6C-15CFE26C0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B8C4E0C-902F-48B1-B862-6C9E3AF18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476375"/>
            <a:ext cx="357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DOIS CASOS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FE802D7-C59D-4414-8175-5A131CB4A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43075"/>
            <a:ext cx="357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F55022C-9786-4002-A27E-540E8CA64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E510E9C-6E27-44C4-9E3A-A3E318D9C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860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86636B0-E861-485D-ABF1-1C86B322B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670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R$ 60,8 bi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C5ABF806-A211-4BDD-A42A-8663948CC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0861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 fundo; maior ticket = 100% do PL mono.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49E54AA-B1D5-4722-A53F-5F9A8646D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147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8C27F2F-4C13-4C39-A56D-9CE7EDDD9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0005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 FIDC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3A188B3-1368-4AC2-912E-27C24CD6C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3815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R$ 40,7 bi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C98CAFF9-6AA8-4BB8-8D80-BE1407306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8006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48 fundos; TAPSO = 54,4% do PL mono.</a:t>
            </a:r>
          </a:p>
        </p:txBody>
      </p:sp>
    </p:spTree>
    <p:extLst>
      <p:ext uri="{BB962C8B-B14F-4D97-AF65-F5344CB8AC3E}">
        <p14:creationId xmlns:p14="http://schemas.microsoft.com/office/powerpoint/2010/main" val="460957703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39BF1F-82CC-4227-99B8-6F3C90551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DISTRIBUIÇÃO DO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314026-D0E4-4A49-BCF7-026B1AC18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16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mediana caiu a R$ 21,4 mi; 17 ofertas acima de R$ 500 mi concentram 47,2% do volume YTD26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C527D8-9549-4165-8159-C94686EE6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D07549-CAAA-40FC-9A44-01D4BA416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0A311D-CD88-4920-AFDB-11B08220D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Ofertas Públicas, snapshot de 20/jul/26. 2024/2025 = ano completo; 2026 = jan–mai. Cotas de FIDC, oferta primária, Oferta Encerrada, valor registrado positivo; unidade = Número do Requerimento.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4E97E6-C32C-4EF7-8829-23DFA6AAF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A3538D-0615-496E-A76D-F3D4C0B69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 POR FAIXA DE VALOR REGISTRADO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2FBB4D-01C0-4490-8524-26E441005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7429500" cy="3476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526d258ac9a4643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B512BD-EB2A-4ACF-8C30-F5A3DA33A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381125"/>
            <a:ext cx="3286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RESUMO POR PERÍODO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EB5B05-6AA5-499C-8C99-7E00AFB52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647825"/>
            <a:ext cx="328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"/>
          <p:cNvGraphicFramePr/>
          <p:nvPr/>
        </p:nvGraphicFramePr>
        <p:xfrm>
          <a:off xmlns:a="http://schemas.openxmlformats.org/drawingml/2006/main" x="8334375" y="1743075"/>
          <a:ext xmlns:a="http://schemas.openxmlformats.org/drawingml/2006/main" cx="3286125" cy="2381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809625"/>
                <a:gridCol w="523875"/>
                <a:gridCol w="666750"/>
                <a:gridCol w="647700"/>
                <a:gridCol w="6381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Período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Média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Mediana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723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116,3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79,1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723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jan-mai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21,4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213D4F-E278-4ABD-9662-DDAE16E7E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362450"/>
            <a:ext cx="2905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47,2%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79796D-44A3-4C69-9D9F-DE3B5140A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781550"/>
            <a:ext cx="2905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volume YTD26 está em ofertas ≥ R$ 500 mi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91A149-DE3F-4AAD-AD4A-E56D7B74E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72125"/>
            <a:ext cx="1104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média volta a R$ 92,9 mi, enquanto a mediana recua de R$ 30,0 mi em 2024 para R$ 21,4 mi em jan–mai/26. A cauda de operações grandes elevou o volume sem deslocar o centro da distribuição na mesma proporção.</a:t>
            </a:r>
          </a:p>
        </p:txBody>
      </p:sp>
    </p:spTree>
    <p:extLst>
      <p:ext uri="{BB962C8B-B14F-4D97-AF65-F5344CB8AC3E}">
        <p14:creationId xmlns:p14="http://schemas.microsoft.com/office/powerpoint/2010/main" val="201722832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9AF302-34F7-47C3-B91A-8E2CE48EA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ORIGINADORES NOMINÁVEIS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BEE78E-4569-4E27-ABC4-3E5E6F7C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19 originadores identificados somam R$ 22,0 bi em 2026; cobertura nominal de 31,7%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B709C0-765F-4ADE-8368-9DF56A2B7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08FCD3-62CB-432A-AFC2-7A92BB135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BD287D-C8FE-48D3-9BDE-3F05367F4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Ofertas Públicas; encerramentos até 17/jul/26. Origem = primeiro match nominal auditável em emissor, ativos-alvo, lastro ou devedores; residual não identificado.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DD6AF4-61C7-4E69-8D8C-2FDB7805B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0B8468-16F5-44CC-BE3E-67E72805E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1042E1-2B31-48C8-A23A-4EC6AA8FB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685800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2d0d66d01ad43bd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BA2E6D-E68C-4701-A895-57A8766C9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381125"/>
            <a:ext cx="3857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TICKET POR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719678-7850-4567-B557-4691F0E22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647825"/>
            <a:ext cx="3857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7762875" y="1714500"/>
          <a:ext xmlns:a="http://schemas.openxmlformats.org/drawingml/2006/main" cx="3857625" cy="433387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33375"/>
                <a:gridCol w="1571625"/>
                <a:gridCol w="523875"/>
                <a:gridCol w="714375"/>
                <a:gridCol w="7143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5.500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2.500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2.000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502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1.500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1.250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1.250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585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730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700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iFood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MRV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Creditas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450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Verdecard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450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Paraná 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347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Minerva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270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170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Pravaler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125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7849259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49577AE-44B2-438F-8213-49D82049D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PRINCIPAIS CONCLUSÕES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A789D6-0608-4FC7-BA61-8CC3E9AF4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5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perfil segue profissional; gestão é dispersa e a infraestrutura fiduciária permanece integrada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1175B8-481F-4815-82B2-F5C992307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FA46E8-72B8-4C4B-B457-E6D0490B3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A3B9ED-B89F-47FE-A3CE-13032B7BC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ANBIMA, FundosNet, FIDCs.xlsx, BCB e DF BTG 1T26. Datas e universos seguem as notas dos slides de origem; valores arredondados.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5CEE54-FE52-4F30-A82C-142ED24AD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BB4E77-1AC6-4F75-B5D1-77FFB9961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PERFIL DE DISTRIBUIÇÃO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1ABA40-207B-48E2-A095-A3A1AA031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143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93,0% do volume jan–mai/26 teve público profissional. O ticket médio foi R$ 92,9 mi e a mediana, R$ 21,4 mi. Na amostra com PL ≥ R$ 200 mi, 59,0% dos fundos têm até dez contas e reúnem 60,7% do PL.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CB4E4F-3CF2-4B89-BC71-15AA11F0D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52700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87CB7B-C00B-489D-B551-69632076C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33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CONCENTRAÇÃO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A9FA25-BFBF-404B-A65A-8E3333264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90675"/>
            <a:ext cx="5143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tem Top 10 de 35,7% e HHI 211, abaixo de administração (71,8%) e custódia (72,8%).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3F7879-E300-4C3C-A5E1-02ABC17B3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552700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C92994-8A3F-4FB7-9E5C-0AC873743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8605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ADMINISTRAÇÃO + CUSTÓDIA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ED1684-2D72-412F-9850-C02FFC7F8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43225"/>
            <a:ext cx="5143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 do mesmo grupo econômico respondem por 84,9% do PL de R$ 778,7 bi. A cobertura conjunta dos dois campos é 98,6%.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EE90F4-F8AD-40E1-9AA2-B00327E62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B964F1-691B-45CA-8524-C5202C4C3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8605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COMBO BTG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AEA9DF-F4A4-4AC0-BF4A-E5ADF06D4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943225"/>
            <a:ext cx="5143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Após retirar os seis FIDCs controlados identificados nas DFs, o BTG mantém administração, gestão e custódia no mesmo grupo em 60 FIDCs e R$ 36,4 bi. É o maior grupo em quantidade nesse recorte.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6F05E3-845E-46D6-B787-A21D77702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5250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2F3C27-DA5E-40FF-B35C-2FC2B6540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386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INDEPENDENTES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5444E0-15A4-42C2-BCE2-CFDDB501D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95775"/>
            <a:ext cx="5143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grupos independentes revisados representam ao menos 38,4% da administração e 42,2% da custódia. QI Tech lidera as duas atividades; a curadoria cobre 11 grupos e funciona como piso.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198875-866C-4A0F-834A-86FA9FAAD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57800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D385B0-B38C-4E2D-A990-28EE729F3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386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OFERTAS ENCERRADAS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6DBD2B-D7B6-424E-A24B-5D4D78920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95775"/>
            <a:ext cx="5143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volume jan–mai/26 alcançou R$ 51,5 bi, alta de 14,6% sobre jan–mai/25, com 4,6% menos ofertas. A originação permaneceu ativa e o ticket médio subiu 20,2%.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A3B3D7-C7AD-4ABF-B212-B23183674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57800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7C6B45-E0D5-4852-9EA5-E3D7FD874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5782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MIGRAÇÃO DE ADMINISTRAÇÃO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09DA37A-1020-42B5-90E3-34DA100BA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5429250"/>
            <a:ext cx="8334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R$ 63,0 bi de PL atual trocaram de grupo desde dez/24, equivalentes a 10,7% da coorte comparável. O maior fluxo foi Oliveira Trust → Bradesco: dois FIDCs Cielo e R$ 6,7 bi. Gestão e custódia cobrem somente 7,25% e 6,20% do PL; os fluxos dessas funções permanecem descritos como amostra ICVM 555.</a:t>
            </a:r>
          </a:p>
        </p:txBody>
      </p:sp>
    </p:spTree>
    <p:extLst>
      <p:ext uri="{BB962C8B-B14F-4D97-AF65-F5344CB8AC3E}">
        <p14:creationId xmlns:p14="http://schemas.microsoft.com/office/powerpoint/2010/main" val="1598393145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7395558-03F8-4488-A0F3-8A2703010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ESCOPO E FONTES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1C77B4-C216-4DF1-84EC-0F0D0690E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Escopo, fontes e limitações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D41094-498B-4D85-ADED-993826790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03B142-08AC-4688-BB64-27A90BF13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052857-23DA-4803-A3AA-7E2F839AA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• Fontes primárias: CVM, ANBIMA Data e FundosNet. Ofertas consultadas em 20/jul/26.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6D1B08-8DA5-40B5-B71F-3D5EBA95E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9234FF-33B9-4594-926F-52D8D8718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7BC940-191B-440D-8E9E-F70BB4516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5403BF-12EE-4A40-8C88-B1D4FEB2B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4097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Universo /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95B196-9E8E-4A0B-B3AE-89C0A5CE4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09700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Definição e limitação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D2E47B-B7DB-40EE-805A-6389FC98B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049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041DB3-6937-4D17-9722-3CA567BEA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98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944CFB-39D2-4435-A659-CCF7AD7B6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 base investidora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7CCD08-D1B1-44E3-B9CC-85DAC821E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7335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4.227 veículos; 4.222 fundos; 31 de maio de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024D19-4600-49BA-BAFB-0832C628E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7335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ex-FIC e FIC-FIDC reconciliados. Contas se repetem por classe/série e não equivalem a investidores únicos.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7A6D39-F330-4F6D-9B69-546D6E805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5D67D7-1851-4F57-90E4-DAF0B657D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242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DD3C16-6FCF-4B89-8292-8DDC8F3FD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e Foco ANBIMA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D7D67A-A33A-474D-A1B1-4F14B57BD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4479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91,55% oficial; 0,64% evidência; 5,87% proxy; 1,94% N/D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23111D-03ED-4DD8-87F3-CF5286D81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4479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Tipo, Foco, origem e data permanecem separados. Séries históricas de gestor/custodiante usam cadastro vigente e não são like-for-like.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E9E456-6E6B-462E-A707-B8CB1F39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3372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83AF67-8A6B-4EF2-A52E-FF71014B9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3857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877A421-71CA-4B4A-B96F-B54CD4002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6230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FCEFBF-8FAF-409B-ABD7-2798AD285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16230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4.227 veículos; mai/26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C0DDB5D-B136-4284-AECE-BFD2D1BCF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6230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Cap por veículo; vazio não é zero. Aging &gt;360 existe na norma, mas não reconcilia com a Tabela I; visão ex-360 bloqueada.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81D2DEE-702A-4BC7-BE7A-57A924A74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4810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F70ABCD-F6DF-4F2D-A768-3DB19119E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529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F2512C6-F99B-424E-9B5A-5D54913BD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7667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Market share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5B2708-8808-40F3-8314-8EC60F98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87667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 focos; 3 funções; mai/26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6B45131-D80B-4721-91EE-D9475A5A3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87667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Denominador = PL do subtipo. Top 10 fixo por função; Outros identificados e prestador não informado separados. PL negativo consta no QA.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140F428-1719-47F9-8F82-2CD3A45CD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C385037-68E8-4960-97E7-62DC3FF8D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C40CCFB-2325-4100-994E-9F7B0F521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910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3EAA906-4329-48B3-8521-EA9E8A8F4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5910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4.222 fundos; mai/26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7A8CE2C-1AE5-43A6-B072-32E0E00B9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5910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Mesma entidade econômica normalizada nas três funções. Concentração não prova poder de preço ou condições comerciais.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EC90304-E860-47C9-947D-A9D45424F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768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8D7F82F-4B1F-4B74-976D-502CE42E4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93004A7-7595-4D62-A62C-214CD8943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054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Ofertas encerradas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489BD89-37B9-4C5A-95E7-82E1B524A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3054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2023–2025 FY; 2026 até 17/jul/26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072766E-61E1-4F9E-B516-CC5FAB1B7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3054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de FIDC, oferta primária, status Oferta Encerrada e valor registrado positivo; coorte pela Data de Encerramento; unidade = Número do Requerimento.</a:t>
            </a:r>
          </a:p>
        </p:txBody>
      </p:sp>
    </p:spTree>
    <p:extLst>
      <p:ext uri="{BB962C8B-B14F-4D97-AF65-F5344CB8AC3E}">
        <p14:creationId xmlns:p14="http://schemas.microsoft.com/office/powerpoint/2010/main" val="130171589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38D179-6E8E-4656-AC5F-8BA10DC48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254112-A971-48A3-8E19-F7A08A25B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D090CB-3508-45C7-9B23-0CA4B381A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AAE801-1737-4045-8BAA-C665419AC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9E60B2-9E57-445C-B8FD-F56D50559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50977F-7D5D-4305-93E8-60694280A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b4edddb28a54a68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C436B4-B91F-420A-BF4B-7E1C564D2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CVM: maior bucket da Tabela II; Factoring→Fomento; Financeiro→foco financeiro; Agro→Agronegócio; Industrial→Crédito Corporativo; Comercial/Cartão/Serviços→Recebíveis Comerciais; Judicial→Recuperação; Público→Poder Público.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4F857C-F5F5-45A7-88D4-3EDFAE156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29 PLs negativos (R$ 69,3 mi).</a:t>
            </a:r>
          </a:p>
        </p:txBody>
      </p:sp>
    </p:spTree>
    <p:extLst>
      <p:ext uri="{BB962C8B-B14F-4D97-AF65-F5344CB8AC3E}">
        <p14:creationId xmlns:p14="http://schemas.microsoft.com/office/powerpoint/2010/main" val="894174683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D21FA3-DEF1-4724-A105-48231DAE6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941395-BA6C-4B96-9610-281BA2CE8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Gestão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1A5980-66EB-484C-AF1C-A38C87B16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93B2D0-9552-48FB-8C55-CA685F5C4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ABA0B6-5D6E-4E32-BFE8-C65311E33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BB6B17-5897-43F5-837B-E7499B522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cb9629498de4cd3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C03775-9426-408A-B0D6-7984879BE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CVM: maior bucket da Tabela II; Factoring→Fomento; Financeiro→foco financeiro; Agro→Agronegócio; Industrial→Crédito Corporativo; Comercial/Cartão/Serviços→Recebíveis Comerciais; Judicial→Recuperação; Público→Poder Público.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DFC8EC-64BE-4D7B-AAC8-FD1F9B4FF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29 PLs negativos (R$ 69,3 mi).</a:t>
            </a:r>
          </a:p>
        </p:txBody>
      </p:sp>
    </p:spTree>
    <p:extLst>
      <p:ext uri="{BB962C8B-B14F-4D97-AF65-F5344CB8AC3E}">
        <p14:creationId xmlns:p14="http://schemas.microsoft.com/office/powerpoint/2010/main" val="382692424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774180-51C7-4177-A891-0A44AE496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7EC57B-4DCA-4BF8-A189-DFDBBF685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Custódia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E7C825-2670-463A-9292-6EB3C9D8D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DBE08F-32CD-45D7-912B-1E218A472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283A4B-A769-4E11-B0D7-6AA4FC160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mai/26. Subtipo = Tipo+Foco ANBIMA (cadastro dez/25, evidência e proxy determinístico da Tabela II). PL ex-FIC sem Sistema Petrobras/TAPSO; cobertura 97,7%, fora 2,3%.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821BD0-3CCF-452A-A5AA-41AE80DE2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d60c9e84ea74d78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317AED-5A4F-423A-9832-ACF469B06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CVM: maior bucket da Tabela II; Factoring→Fomento; Financeiro→foco financeiro; Agro→Agronegócio; Industrial→Crédito Corporativo; Comercial/Cartão/Serviços→Recebíveis Comerciais; Judicial→Recuperação; Público→Poder Público.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FB3E71-D616-49ED-8DF4-89AD2B662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29 PLs negativos (R$ 69,3 mi).</a:t>
            </a:r>
          </a:p>
        </p:txBody>
      </p:sp>
    </p:spTree>
    <p:extLst>
      <p:ext uri="{BB962C8B-B14F-4D97-AF65-F5344CB8AC3E}">
        <p14:creationId xmlns:p14="http://schemas.microsoft.com/office/powerpoint/2010/main" val="312062562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4D5444C-10DA-44C5-BFCF-E43C50B9B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25D906-2E1E-485F-B820-3558A930D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 FIDC Sistema Petrobras — R$ 60,8 bi e 6,9%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559178-3CC3-4207-9431-C1D79ACA4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148F8D-B134-4630-AF3B-778EF0207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09B524-9B79-47FE-88F8-097B84004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https://fnet.bmfbovespa.com.br/fnet/publico/abrirGerenciadorDocumentosCVM?cnpjFundo=09195235000150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69C867-0F73-4B64-BD36-8E3608ACD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A799C8-75E7-4F23-98BF-D4FECECD3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09.195.235/0001-50 · FIDC DO SISTEMA PETROBRAS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E43BCA-0C21-4551-954F-36E3FC41C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A9AD00-7194-4A24-A6B3-B6902524F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C1F20F-A05F-492A-A44E-4E9E21349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902BD4-A51E-420F-B292-4C7C2FFDB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integrantes do Sistema Petrobras que cedam direitos ao fundo; o regulamento não traz lista fechada de cedentes.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D1051D-B292-4D22-B9E2-79B2A33A1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829FDF-0BFA-4930-B50A-C9F353D8D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às quais as cedentes prestam serviços ou alienam bens.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DEA478-F352-4275-A668-494570006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FB1D00-10DE-43F1-B682-92DD278D0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originados em operações industriais, comerciais e de prestação de serviços das empresas do Sistema Petrobras.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912BF8-0665-4510-A21D-C1DD55E9C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190BBD-4AAD-45B4-845B-D98ECC175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 empresas do Sistema Petrobras cedem os recebíveis ao fundo. O pagamento dos devedores passa por conta escrow no Banco do Brasil; as cedentes podem atuar na cobrança dos créditos inadimplidos.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CDB2B8-4F35-406D-9980-FA76BC00A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81B724-3B2F-4ED4-977B-C3AA90373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51EE64-9845-47F0-95FF-238D4BED3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A27768-EA58-4978-9094-2B2D90664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304F2E-B286-4FBB-9006-BFDD3F0DB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4DE375-569F-4588-BF94-66EA7DF58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Subclasses sênior e subordinada. Enquanto houver cota sênior em circulação, deve existir ao menos uma cota subordinada; o regulamento não fixa razão percentual adicional. Garantias: Garantia específica dos recebíveis não identificada no regulamento consultado; o investimento não conta com garantia geral do administrador, gestor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143034-E01A-44C4-A0C1-ACB61B587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681E183-C5D7-4401-BBA1-3E68E2AAB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DO BRASIL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FE267A3-94F7-45CC-90D3-EE34AE4E6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0325E41-5EA9-4D28-9D4D-8EE9862FC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B0F60A9-1B1C-412B-A6DF-CA9FE1149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7818E70-E40A-443A-BCDF-FAA94E423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 Tipo/Foco oficial ANBIMA.</a:t>
            </a:r>
          </a:p>
        </p:txBody>
      </p:sp>
    </p:spTree>
    <p:extLst>
      <p:ext uri="{BB962C8B-B14F-4D97-AF65-F5344CB8AC3E}">
        <p14:creationId xmlns:p14="http://schemas.microsoft.com/office/powerpoint/2010/main" val="466604862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1360B87-EC17-42EB-9FB4-2AF556DE7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ED61CD-FB77-46A5-814F-467DA7755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 TAPSO — R$ 40,7 bi e 4,6%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122CCC-9F7C-4FC4-AF3E-A305745D9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717B58-829E-4492-A5F3-FF86D4987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556B1E-1F81-4067-8619-F24DC63ED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https://fnet.bmfbovespa.com.br/fnet/publico/abrirGerenciadorDocumentosCVM?cnpjFundo=26287464000114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A9CA9F-6393-4835-8F02-5B4D22D22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1FB27D-12C3-43FC-82CE-BC53401AA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26.287.464/0001-14 · TAPSO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1A28A2-D95F-4F6C-83CB-2075E7580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A902C2-9322-4C35-86B2-5B7125E95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F23964-4CA7-4555-B8FB-295A71402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FF3335-7414-4715-BE35-63371F905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credenciados, representados por Stone/Pagar.me ou adquirente autorizada, e instituições financeiras parceiras; o regulamento cita a Stone Sociedade de Crédito Direto no fluxo de sub-rogação.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8A4210-52C6-46E2-85A6-582D36E8A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F9191B-C464-4B38-ABC0-A9B600D7F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Stone, Pagar.me e demais adquirentes/subadquirentes autorizadas nos contratos da operação.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9530B6-6A5E-4376-99C0-E60C44A15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733CB7-038B-4A1D-B586-D761E1C98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e créditos sub-rogados de instituições financeiras parceiras.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69EA7E-E99A-4A80-9C66-632A8A9E1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8EBFC0-0D0D-43F7-B22B-80625A82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recebíveis dos estabelecimentos e direitos sub-rogados de parceiros financeiros, com revolvência e pagamento pelos participantes do arranjo de pagamento.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22B13D-0798-4672-9262-E7D956111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FDD2C7-4539-449A-B50E-7C5E91828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58F6FC-264E-4BA7-8884-6A2F84F2F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588F04-73BD-41C7-B6C3-B904B83DB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681F661-606F-42E7-9180-E95D0906A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649D94-5AD7-451E-BDE6-B4E1CF301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A, mezanino B e subordinada; razão total mínima de subordinação de 20% do PL da classe. Garantias: O regulamento admite cessão fiduciária para assegurar promessa de cessão; não há garantia geral de prestadores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B7472B3-10F0-4211-B905-71364E93D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8F2A75B-3288-4B8F-99A3-E831BC4EE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OLIVEIRA TRUST DTVM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OLIVEIRA TRUST SERVICER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CF7C467-3CD8-49F9-BC2A-9BC23BB7F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11C26E2-EBC2-49FE-A10F-5A5E83D42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66A8CF8-2950-4D80-8BA3-6588B7CF6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D2BBD1-5BAB-4F71-A18A-4E8B91E5C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Financeiro/Crédito Pessoal; o regulamento consultado descreve predominantemente recebíveis de meios de pagamento. Manter as duas leituras separadas.</a:t>
            </a:r>
          </a:p>
        </p:txBody>
      </p:sp>
    </p:spTree>
    <p:extLst>
      <p:ext uri="{BB962C8B-B14F-4D97-AF65-F5344CB8AC3E}">
        <p14:creationId xmlns:p14="http://schemas.microsoft.com/office/powerpoint/2010/main" val="1571284649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B8164FD-BAD7-49BB-A1A9-FBA689333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F496CC-CA8A-4AD9-B76A-C3F7AF094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#3 CloudWalk Bela — R$ 10,0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A21135-1E2E-42AA-A3CE-6D6C944CD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6115D0-1E7F-4AC9-94F5-8200D613A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91FBA3-0195-4CB0-9E87-E13E413A7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https://fnet.bmfbovespa.com.br/fnet/publico/abrirGerenciadorDocumentosCVM?cnpjFundo=62393679000183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9589C0-F369-42C4-8D23-6C39E2E12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95E6C2-95B1-44F3-9BBD-9F5B5B427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62.393.679/0001-83 · CLOUDWALK BELA FUNDO DE INVESTIMENTO EM DIREITOS CREDITÓRIOS SEGMENTO MEIOS DE PAGAMENTO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152506-B3C9-4286-B7A8-71BEE58CA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2DDA9C-8BAE-48A2-B1F1-D089C1988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458461-18D1-4364-BA23-906F644BD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0A1443-57DA-4D4B-8AB2-40FD6B2BD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 de Pagamento.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216631-0D76-478B-8CA2-170C00A61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995BB0-5384-453E-9E11-61C7F5B83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e instituições de pagamento responsáveis pela liquidação das transações capturadas no sistema CloudWalk.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7FB892-59BD-4FF8-BAD6-3737C7D13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2F6434-C542-4EFA-B65C-FB64DE743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devidos pelos emissores à CloudWalk, como credenciadora, decorrentes de transações de cartão realizadas por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8008B3-6214-4071-8A27-65D8C5E56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19C61E-6F60-4D45-9763-3E0E8BD18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CloudWalk cede à classe recebíveis de liquidação de transações de pagamento; os fluxos dos emissores alimentam o pagamento das cotas.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DDBC11-5985-4130-BD62-9BF99BDEF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F8918D-9FC7-4956-BE7E-C5A0F42F7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F58334-94E8-4534-8E19-715922F5B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902CEB-57C5-411F-AD32-10BBE58B2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2026-04-20 | encerramento de oferta primária da 2ª série | R$ 5.500 bi | doc. 1166893 || 2025-09-16 | encerramento de oferta secundária da 1ª série | R$ 4.200 bi | doc. 993253; Oferta secundária; não representa captação nova da classe.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0B0FE5-E892-4089-8300-C81A97BC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07D5EE-5CB6-4B8E-B768-2B226D5A1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Sênior, mezanino A, mezanino B e júnior. O regulamento contém índices de subordinação por fase e marcos ligados à oferta da 2ª série; a fase aplicável em mai/26 não foi reconciliada e não deve ser resumida como percentual único. Garantias: Subordinação por subclasses; garantia específica adicional não identificada nos documentos selecionados.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20560E5-F8BA-4644-8740-E87E5C678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561EF71-DC86-430B-94CA-8B5C23038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C8C9F6B-7DD7-4941-9D52-DB9A1D60B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EA6EF4E-8332-48E8-9A34-AAFA04637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0CD9834-4248-47F6-96DA-717F7E167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E24AB63-82C5-4F47-B16B-F4381FF2E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911327598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6627A54-907F-4700-92C7-FAD0B67BC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357128-43E5-49C4-800E-E9784E472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#4 Itaú Crédito Privado — R$ 8,6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8043C5-ACE6-4104-9D51-5C9770576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3FCF6A-E9BF-46FE-9589-B1FAED719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89D3A0-898B-4020-A5ED-28B537CF7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https://fnet.bmfbovespa.com.br/fnet/publico/abrirGerenciadorDocumentosCVM?cnpjFundo=53286499000101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49F4AA-E44E-4D91-8D63-668A3CBDB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ECDF09-422F-424D-B7D3-9FDB88AA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53.286.499/0001-01 · ITAÚ CRÉDITO PRIVADO FUNDO DE INVESTIMENTO EM DIREITOS CREDITÓRIOS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81E205-AA4D-4409-AB70-923BCAC89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ECF2B4-8A65-4318-BAFE-CBE60A839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D68F70-FF71-48C9-945E-B6E173C15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804A24-DB5E-404B-9997-C36FCA056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como entidade única; os instrumentos podem ser adquiridos de emissores ou no mercado, conforme seleção do gestor.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008C23-076F-4FE7-B772-A98B13B80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ADA9E8-480A-4C9A-AF47-4430A437D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Emissores, devedores, coobrigados ou garantidores dos instrumentos de crédito da carteira.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65A48C-D199-49A3-9B26-DF2AA09FD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308810-7E0D-43FF-B47B-E3791E73C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Debêntures, CRI, CRA, notas comerciais, letras financeiras, LCI, LCA, CDB, CCB, CDCA, cotas de FIDC e outros direitos de crédito previstos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888457-5EF0-4AD8-83BA-5CACF1D99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E2D848-D3A8-4310-91C0-DB87D9EEA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um único cedente ou fluxo operacional padronizado identificado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DB9AB7-BFA9-40FA-B478-49ECE8879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CAAD6A-1405-42FA-AC74-8D311C9A8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61B939-FB11-4C8C-8BC4-D80524135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6DA211-A5F6-48A6-B408-1233D86B0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772BB7-C051-4F47-8411-6AE0A5F15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86AA1D-64C6-4E91-B30E-6FC52C5CF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e subclasse únicas, sem cotas subordinadas no regulamento consultado. Garantias: Variam por instrumento; não há pacote único de garantias descrito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D57BE2-59A4-43F3-BD34-A5A1F7D98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B5395E-73FF-4C3B-A217-A12D1D181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ITAU UNIBANCO ASSET MANAGEMENT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ITAU UNIBANCO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F89442-B025-4FEE-8E6D-C7975B165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8651C87-E65C-4387-8C05-D089A7143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312299B-87E3-4210-9797-B0D855423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82F8E73-60AD-4F34-92AA-609B2BF0E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Outros/Multicarteira Outros.</a:t>
            </a:r>
          </a:p>
        </p:txBody>
      </p:sp>
    </p:spTree>
    <p:extLst>
      <p:ext uri="{BB962C8B-B14F-4D97-AF65-F5344CB8AC3E}">
        <p14:creationId xmlns:p14="http://schemas.microsoft.com/office/powerpoint/2010/main" val="1098779609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83D953C-3338-4339-8167-6F56762C8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22D4FF-526B-49A1-98C7-53E546F53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#5 Esperanza — R$ 8,4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5B0158-01E9-4039-B361-4411BDEC8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D1DFF4-81D2-4BF9-BE28-431E0798B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6D0FFB-73B2-4D42-A444-082E82806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https://fnet.bmfbovespa.com.br/fnet/publico/abrirGerenciadorDocumentosCVM?cnpjFundo=53263761000100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7E8B20-D6B6-43D5-A853-CDA910A3A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038E03-3E76-44FD-AB11-C4CC9315C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53.263.761/0001-00 · ESPERANZA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A3D5F4-F741-4787-A17F-1C8C061EC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B12DA1-F18D-4648-AC86-AFA3260A8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3A5D79-6C2C-48CF-8D7E-3650B0D1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4E870E-A82F-4FE8-9BDE-6E3319BF0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5AA69C-6A83-4B0B-BAC1-85BBB8130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F6B2F0-A458-4F1A-80A8-CF039AB4B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União, estados, municípios, autarquias, fundações e demais devedores de créditos vencidos ou litigiosos, conforme o direito adquirido.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2B1548-C298-433E-B7E7-6B719A90C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5FA476-A92C-416C-97A7-1DCF463E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em litígio, penhorados ou dados em garantia; direitos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89B2A3-8AA6-4B1E-B264-BB7AB826D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0188E6-A1EB-4DDA-9AF4-32CB54594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gestor seleciona direitos judiciais/NPL e outros créditos não padronizados. O regulamento permite aquisição com ou sem coobrigação do cedente.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AF2D7A-6A85-49A4-8602-75A31454A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863117-2506-4B24-B1D4-C7953DD0C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F9F513-F13E-49C6-BC5D-A59638278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2BBE48-7635-4E2D-87CC-08710C215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209011-C17D-4840-AB24-5CAB9110F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705595-3B2C-42B0-A70E-DD5C4222D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regulamento prevê subclasses e apêndice de cotas subordinadas; eventual índice deve constar do apêndice/suplemento e não foi identificado com segurança. Garantias: Podem existir no direito adquirido; não há garantia uniforme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616A434-30CE-441D-A698-C2392ECA1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27391B7-CA64-45DB-8F49-177A18396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REAG JUS GESTÃO DE ATIVOS JUDICIAIS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3C389E-2842-431A-B8BC-606F146CE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C38EC6-F784-4876-AEC0-17DE0C902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59BBBE-14A4-4FAF-85A1-D06576100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D36543-998F-442A-82FC-B869C93E8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permite carteira judicial/NPL ampla.</a:t>
            </a:r>
          </a:p>
        </p:txBody>
      </p:sp>
    </p:spTree>
    <p:extLst>
      <p:ext uri="{BB962C8B-B14F-4D97-AF65-F5344CB8AC3E}">
        <p14:creationId xmlns:p14="http://schemas.microsoft.com/office/powerpoint/2010/main" val="183996276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27F01BA-CC93-4A7C-9E13-F3E5AB582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3C577A-0F5A-4EF5-9F20-8722FCE3B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#6 BTG Consignados II — R$ 7,9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8E42E6-AEBA-4133-982A-6EF196AC9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6D200C-B4BA-416A-9A25-45821154D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D1E96A-2EDF-4E82-97D7-C7D766568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https://fnet.bmfbovespa.com.br/fnet/publico/abrirGerenciadorDocumentosCVM?cnpjFundo=52242420000188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0C1C80-2FCF-45CB-BA54-ED382B316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7A22D4-C1D9-4764-9B5E-2D2933164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52.242.420/0001-88 · BTG PACTUAL CONSIGNADOS II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80D761-9DDB-4F4C-8188-A8F9677BB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B9C06B-9829-4F80-AC4F-C137A1F4A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558103-EFB3-4247-9C68-2C5574E6E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E7B587-A4A3-482F-B522-C668B097B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CCBs; nomes individuais não identificados no regulamento selecionado.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F50C45-D502-4C58-9225-E50B180A2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B8EE4E-8B00-4C75-B4B4-090AFFA61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INSS/Auxílio Brasil e trabalhadores com saldo de FGTS, conforme a modalidade da CCB.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6BC489-4D06-49D9-BD99-4CD14A915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E8FE53-1D37-4E2B-B609-C6F6A2831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cessão fiduciária do saque-aniversário FGTS ou consignação operacionalizada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75ADDE-677B-404E-9A83-7EC8B6BBF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A4B9A7-1EB0-42A6-B106-84CD4ACC9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ou recebe por endosso parcelas de CCB; o pagamento ocorre pelo fluxo do FGTS/CEF ou por consignação processada pela Dataprev.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B12B54-79DE-4732-A90E-0A657CB70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65E1DE-7613-46E8-8560-96F00D3AB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44C5F8-0298-491F-839E-A3FE8403D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341D56-AFA9-476C-AEEF-A8B6A551C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2023-09-19 | aprovação de primeira emissão privada | R$ 2.500 bi | doc. 523931;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B9F4D5-87A8-4C71-AB05-3B0471A4E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CC97B6-3444-4E53-A17C-33CFF6DAD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com cotas pari passu no regulamento atual; não há índice de subordinação. Garantias: Cessão fiduciária do saque-aniversário nas CCB de FGTS; nas demais modalidades, consignação conforme convênio aplicável.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730A00-4484-4504-AFE1-4EFE8367B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2345EC-0130-4010-9881-FB7BCDB72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B6A3646-9986-44BF-9EEA-1BA99305A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BB797A-D92C-4686-848B-E9882798F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0FC9408-9E57-4232-A5A5-C57EDB9EA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B80C8F2-BAD5-421D-AC37-5F0F2D2D6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Financeiro/Crédito Pessoal do snapshot, embora o foco contratual seja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1341050120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71D73F2-F44D-4178-BA2D-060E101FC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E9F7FE-0EFE-4DAE-A67F-E587F8350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#7 MT Global · Consignado Privado — R$ 7,8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51DF5C-C43D-447F-8BB9-7B5578F15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A4161B-EA42-4B90-9B0D-310F653D6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673FC3-9E49-4628-B6EB-411AF4CB7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https://fnet.bmfbovespa.com.br/fnet/publico/abrirGerenciadorDocumentosCVM?cnpjFundo=63953620000165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9D2284-B06A-4552-9EE1-1A116C62B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056131-09F5-49FF-AE3F-299A3BC1B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63.953.619/0001-30 · CLASSE CONSIGNADO PRIVADO DO MT GLOBAL FUNDO DE INVESTIMENTO EM DIREITOS CREDITÓRIOS RESP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9FE44B-D6BA-440C-9FE1-CF9009F54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6073FB-DAC4-4646-89A7-480BEF55C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0B1D23-5F1A-4CA5-833A-EA69D004E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D65F2C-4DFF-4131-A9E5-CDA02262A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Parati Crédito, Financiamento e Investimento S.A. — CNPJ 03.311.443/0001-91, como endossante das CCB.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3AC160-4D87-41F6-A89D-6A4256729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27B3A7-3A4F-4844-A848-7D18C04F5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empregadas em empresas privadas, tomadoras de empréstimos consignados.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44F78D-70C7-44AA-8C9E-2131A9D4E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B8E491-D16C-4492-9709-9F046F493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de CCB de empréstimo consignado privado, processadas pela infraestrutura Dataprev/CEF prevista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82A433-6F35-491B-BBB6-D6A0FA27F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69BF1E-0FFF-49F3-8637-B33EE2095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Parati origina e endossa eletronicamente as CCB à classe, sem coobrigação geral; o desconto em folha direciona o pagamento das parcelas.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0528E2-7618-4CC4-9A9F-AA871C76D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88C18D-452C-4B10-99CD-A4FB22A00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3CA9E8-2F63-4B89-8944-975C8E8C1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77F7EC-5CD2-479F-9EEB-84176905C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9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2026-01-08 | aprovação de colocação privada de cotas sênior em vasos comunicantes | R$ 15.000 bi | doc. 1087883; Valor máximo aprovado entre classes; não comprova captação nem pertence integralmente a esta classe. || 2026-01-08 | aprovação de colocação privada de cotas subordinadas da classe Consignado Privado | R$ 0.007 bi | doc. 1087883; Valor máximo aprovado;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6BFDFD-70F9-46CE-A5DA-A846BE586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81D1BE-0B2C-4096-B99D-CB5EB42FE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Índice mínimo de 1% do PL e índice-alvo de 10%; os dois parâmetros não são equivalentes. Garantias: Desconto consignado em folha; cessão/endosso definitivo sem proteção geral contra inadimplência.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D30EB3-E01B-4164-A02F-BB4738B3B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E1148F-1A8B-4C25-99F6-B20BF67CF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ASSET MANAGEMENT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6551498-5AA6-40E4-963C-DCC55DE52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C600CF1-5CC3-4D8F-9BFF-33C982777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 não identificado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nao_identificado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A5DFA9-A88F-4FB5-A94E-693B36972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7EACDAF-8765-4054-988E-995497B05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Tipo/Foco não identificado no snapshot ANBIMA de 29/12/2025; o anexo documental descreve consignado privado.</a:t>
            </a:r>
          </a:p>
        </p:txBody>
      </p:sp>
    </p:spTree>
    <p:extLst>
      <p:ext uri="{BB962C8B-B14F-4D97-AF65-F5344CB8AC3E}">
        <p14:creationId xmlns:p14="http://schemas.microsoft.com/office/powerpoint/2010/main" val="1904745064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0CD6424-7250-4476-B1AF-DB55F4149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B6E01C-F902-4CE8-B463-9F14C9891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#8 PAN Auto — R$ 7,7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4E53AE-B2AF-439D-94A2-8F7F5563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6F8ECE-7DEC-4D84-ACD0-40AB30D8B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98C79E-4A9D-46B8-800C-EA2BF92DF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https://fnet.bmfbovespa.com.br/fnet/publico/abrirGerenciadorDocumentosCVM?cnpjFundo=65473848000183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428661-6DF2-4A1F-B139-08F15F086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6A6A83-E9B2-40FF-AA38-97998A02C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65.473.848/0001-83 · PAN AUTO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4AE381-7892-4EF3-B575-7F13D8C07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25509D-45FE-4475-B9B4-165092345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AB6E76-B28A-4746-99C6-543E42A03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E45911-5A7A-47A4-983A-43FD299B1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nos documentos selecionados.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2F1EB0-1F9A-4013-BF22-134C95DE1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BEF18E-E1A5-4C45-B3A6-367AB5545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responsáveis pelos precatórios federais adquiridos no 1T26; nomes não identificados.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E2BDFC-B396-4B13-865F-1961EE889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8B3715-02CC-4CDF-BF76-3A4B383C4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relatório trimestral confirma que a exposição incluiu precatórios federais no 1T26. O documento não demonstra que toda a carteira era de precatórios e não há evidência primária suficiente para classificá-la como financiamento de veículos.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394C2C-D349-4E3A-8DB6-8ADE3AD5F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AF870B-78D7-4B12-8313-AC69327AE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recebeu parcela cindida da Classe Única do BTG Empresas em março de 2026. No 1T26 houve novas cessões definitivas, alterações de garantias, pré-pagamentos e alienação parcial de direitos.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379721-B6CF-432E-944B-48F7BA93F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B0EE07-668C-4F62-ACBB-F0C31998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F97795-8149-4CAA-96E9-56D5C68AC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846F65-54B4-4D82-B8C6-0793BFDA3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2026-03-18 | incorporação de parcela cindida da Classe Única do BTG Empresas | montante não identificado | doc. 1142758; Evento societário/patrimonial; não é oferta pública.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D44903-FD34-4D8F-B300-B6B36F4E6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993A61-37E6-450E-8FAD-4BF800938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nos documentos selecionados. Garantias: O relatório confirma alteração de garantias no trimestre, mas não descreve seu conteúdo.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2C08980-9498-4763-B217-1DE439287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2462693-797A-4C7B-8F99-8E575713D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GESTORA DE INVESTIMENTOS ALTERNATIVOS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D5EB655-725D-408C-931D-F6F9920F5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D6951B8-2D59-4F17-AF5B-4765ECEFC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 não identificado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nao_identificado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86F2A6-A33C-46A6-9216-FD479C32F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06ABB1-0E11-4E70-8498-739FF0D62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nome PAN AUTO não é evidência de crédito automotivo. O classificador local baseado no nome deve ser descartado; a única evidência econômica primária localizada foi a aquisição de precatórios federais no 1T26.</a:t>
            </a:r>
          </a:p>
        </p:txBody>
      </p:sp>
    </p:spTree>
    <p:extLst>
      <p:ext uri="{BB962C8B-B14F-4D97-AF65-F5344CB8AC3E}">
        <p14:creationId xmlns:p14="http://schemas.microsoft.com/office/powerpoint/2010/main" val="402075218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01B7DD1-1999-4B32-A80A-F2509C076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C1D124-11FC-4D12-B562-6E6FFF09F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#9 Aetos Energia — R$ 7,4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8EEA89-EDB2-4AD7-8E11-E3D93F396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B11122-1FB8-4F4F-BE3F-BDD810884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0DCA40-54D6-42EF-9508-BF72D973A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https://fnet.bmfbovespa.com.br/fnet/publico/abrirGerenciadorDocumentosCVM?cnpjFundo=52610624000124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E7DA66-D85C-4FF2-B47F-BE0B1B0CE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52998A-8A71-4157-A861-DF6BEBDCA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52.610.624/0001-24 · AETOS ENERGIA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1A0357-CC04-41E0-9547-9CD92075C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B17A76-E6F6-4A77-BBC0-5A0F16B1F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A48ABD-1EE3-4B03-ADA5-8D0B28731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A71CEB-6600-41B2-B3D6-B1CB96070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Comercializadora de Energia S.A. — CNPJ 34.475.373/0001-30.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895134-6FDD-4D24-977C-545C01E4C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59B9E1-D95A-4925-B3AA-C633AC077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Contrapartes compradoras nos contratos de compra e venda de energia elétrica.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2077E2-8FB0-43EC-8493-C4F57E846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BE8B36-8F5E-4DD5-8413-EAE638D40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Fluxos presentes e futuros decorrentes de contratos de comercialização de energia elétrica.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BC56FD-656E-4E9F-B81C-873552393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887AA5-AFBD-4286-A8F8-B8C9C3B65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XP Comercializadora cede os recebíveis de contratos de energia; os pagamentos dos devedores transitam por conta escrow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F8BC7E-F36E-46FC-803D-FD064D3D5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A6424D-8156-47AC-824A-8DC0C7566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268EAF-7556-498B-B8A0-7B12A9E78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AD6376-CF3B-4592-A387-31B9A1EE7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8A74F1-F894-4012-B466-260CCEAE2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5DB88C-A497-4CF0-9333-BFE5A6E94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O regulamento vigente em 21/11/2024 fixa índice mínimo de 10% do PL; o instrumento de constituição de 19/10/2023 trazia 15%, indicando alteração contratual entre as versões. Garantias: O regulamento admite acessórios e garantias dos contratos, sem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16C8F06-98B7-4334-AE58-DBB562837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3C0402B-BBA8-49A2-BED5-D0DDF9F22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B33F61-E606-4488-829D-94673D537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2ED835B-CAD9-4302-A047-B42CF1877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57533F0-3FD5-4F1A-84DD-CF7FDA0EE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141523E-DE92-4D76-8182-D00324438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Agro, Indústria e Comércio/Recebíveis Comerciais.</a:t>
            </a:r>
          </a:p>
        </p:txBody>
      </p:sp>
    </p:spTree>
    <p:extLst>
      <p:ext uri="{BB962C8B-B14F-4D97-AF65-F5344CB8AC3E}">
        <p14:creationId xmlns:p14="http://schemas.microsoft.com/office/powerpoint/2010/main" val="1196351041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7436590-CCEC-4DE8-8273-06145ABCA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E73507-2824-43B0-811C-C03DBC8BF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#10 PagSeguro I — R$ 6,7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5A4CE7-8597-471D-80E0-6CFAE6CA1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90BFB8-F285-438C-BA4C-BED5AC183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0501D5-B150-4BAB-81CE-2D5AD39A5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https://fnet.bmfbovespa.com.br/fnet/publico/abrirGerenciadorDocumentosCVM?cnpjFundo=28169275000172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CCA2C7-B76F-4E23-9181-4A9ED3F17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DD2B4D-70C5-4A5B-9F91-53A115AF4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28.169.275/0001-72 · FUNDO DE INVESTIMENTO EM DIREITOS CREDITÓRIOS PAGSEGURO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D8F336-E372-4087-988E-9CD505439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6E71B6-50CD-4F5A-968A-B1FC14623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3BC02C-EF86-4FBC-A0E8-DBA405479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3ACCD0-DCF1-4772-A5CE-7A0385AE2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ao sistema PagSeguro.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BFC592-819E-4772-BA11-1BC7119F8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74B98E-71F6-4417-BCC7-19618C347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PagSeguro, como devedor dos valores de liquidação devidos aos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F00D94-06F1-4330-8061-BE3FF6CAB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40A923-672C-4700-9708-60766E7D3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a débito e crédito, à vista ou parceladas, capturadas e liquidadas pelo sistema PagSeguro.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7ABADE-4290-4301-B18F-0CF14E3E7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87C7D8-308F-4F64-B9F9-4755B12CB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à classe seus recebíveis contra PagSeguro; a liquidação das transações alimenta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8239FB-E962-46FB-9E9D-E19496CCD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B1EE24-2387-4ED3-A326-9D9A185C5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8EA5B3-9C10-4877-80C4-1542A94E0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134456-32A4-4203-ADFD-0EBF6F2D5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2026-03-30 | início de oferta da 4ª série sênior | R$ 1.000 bi | doc. 1148251; Valor ofertado; o anúncio de início não comprova colocação. || 2024-11-06 | encerramento da oferta da 3ª série sênior | R$ 1.000 bi | doc. 773514; Documento informa 1.000.000 de cotas subscritas e integralizadas.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C3B22A-69BB-4000-BF77-3344B28D4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DB21948-FC90-44DF-BE90-D00AA2D63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razão mínima de cotas subordinadas de 50% do PL da classe. Garantias: Reforço estrutural pela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E1AD2D-45CD-47F6-B974-F5894AA1C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274EAFD-4861-4852-9321-F08DD38A8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031F822-24FC-47A4-8BBA-D6B62A465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335BD6F-3C93-4644-A456-A12687F75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AECE3DE-3428-46EB-890D-46F54A300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45DC2EF-2C84-4C1C-A275-4BB66C6AD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985033683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CD6072D-6471-4531-BF66-93951069E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9CD69A-4D1D-445C-9AD3-AA6146B88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#11 Cielo — R$ 6,5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6BCF47-92E5-414E-8FA6-421F0EEAF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154322-3C1C-446B-9A93-4CF217A1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F5AD8E-7FC9-4C63-8CD5-FB6364BFA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https://fnet.bmfbovespa.com.br/fnet/publico/abrirGerenciadorDocumentosCVM?cnpjFundo=26286939000158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D29BCC-E2B2-4B98-9010-F7A2D55D9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C53BEF-94E1-420D-9126-0AA24CB32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26.286.939/0001-58 · CIELO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0DAA71-C80E-4351-B4C6-B8EAF9819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617228-9AC4-4676-A9EA-28B886264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9586A6-C94D-481A-AE3C-B782273EF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9F3A27-B599-4D07-BEDF-37343635F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à Cielo.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2ECF3D-99EA-42A4-B1E1-69E7480C1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28EE2C-38E5-433B-8B68-AB7D2CB0F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Cielo, como adquirente e devedora dos recebíveis cedidos pelos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B23F34-28BA-4D0C-B7E7-5A0545AD3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AB77E0-C2BC-476A-B4D8-4A9ABFF3F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liquidação de transações de pagamento/unidades de recebíveis processadas no Sistema Cielo.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E460AD-1CF0-4934-83AE-36B17D701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6A5690-6549-4C8E-AE88-1ED7A364E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recebíveis contra a Cielo; a Cielo liquida os créditos para a classe conforme os registros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4DD3F7-06ED-45DE-BC2A-D66C91D69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6DE835-04FE-4DA8-A372-F05E226D1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0211FC-C997-49DF-B16B-8F4A5325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383AA1-3F04-4407-BCDB-EC777794E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2025-11-03 | encerramento da oferta da 4ª série sênior | R$ 1.000 bi | doc. 1026980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8D4877-B53F-4052-81C3-CF3C2989D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211D07-4133-4DD6-9F68-F64CA6547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mezanino mais subordinada devem somar ao menos 20%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A7AAFF0-351C-4777-83A0-87BCB5B9B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6A2537-2100-48C3-8259-2E2EC34B8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3F33220-6E4C-4796-AFE6-F96308BE6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8083991-1FD7-4E93-934C-9F1048778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EC8E8C-9D46-4092-AC72-7A7E7A18E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D0FC1F8-0ECE-440D-AA54-83A9FAD58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89298417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B3D3C92-28DE-4CC9-BFEC-02DCD424C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4E1226-C209-4105-8A24-DF2CA630D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#12 Rio Vermelho NP — R$ 6,4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2388D0-3E69-4A20-BF40-2983074DD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493336-AC95-4898-B7D6-B0D784B8B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785630-EC94-48FF-8E16-B5F5A4AD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https://fnet.bmfbovespa.com.br/fnet/publico/abrirGerenciadorDocumentosCVM?cnpjFundo=53216449000158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5A79F6-5931-4DA6-B339-E27A07013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B131C1-10DC-4987-87D2-1EA395061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53.216.449/0001-58 · RIO VERMELHO FUNDO DE INVESTIMENTO EM DIREITOS CREDITÓRIOS NÃO PADRONIZADO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3632AE-6AFC-44CF-B457-8A927C71C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A10A88-8143-46D1-B695-691E51643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8DFF41-86FE-4777-A586-FD52F709A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EAD9CA-1A15-4159-8769-55B544F1F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024ED6-CB7D-456C-BED4-62106B15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59F4D2-98E4-464D-AFBA-D4CB3B1B2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e demais pessoas físicas/jurídicas devedoras dos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BF78EF-2233-49C8-AD3F-92C8AA2D2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6A5A2F-8624-4D7E-B3DE-7AC6F9AB2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litigiosos, penhorados,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01C693-38F2-4EC2-A06F-A072183FB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FF69A7-1734-4565-B738-E981EDF7F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carteiras de NPL/direitos judiciais com ou sem coobrigação, segundo seleção do gestor.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276A5C-58BA-4DDB-A100-9BCA24EF6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E2D685-7F3E-4511-9D87-B0E08846E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5EC6DB-E753-4B2B-94CC-DDDAF5104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633C87-C212-4A6B-B5A0-8489D3699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C62CFE-9656-4ADA-A8E5-7710C3FC4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3ABAC9-B662-45C7-876D-73820FF44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em séries pari passu; o regulamento consultado declara ausência de preferência, prioridade ou subordinação entre titulares. Garantias: Variam conforme cada direito; não há garantia uniforme de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050BCA-878E-4EC4-949B-9A14BDBD0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ECE567D-0F14-445C-81BB-5AA298104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E7D1CF-D82D-4BA2-8865-CE76EA026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F2F81E-7529-48D6-BF01-1E2B18B9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7BC7E2C-6369-46CF-9819-4C88ADC6B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B08594B-0734-4040-9CF1-393E569CC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permite NPL e precatórios.</a:t>
            </a:r>
          </a:p>
        </p:txBody>
      </p:sp>
    </p:spTree>
    <p:extLst>
      <p:ext uri="{BB962C8B-B14F-4D97-AF65-F5344CB8AC3E}">
        <p14:creationId xmlns:p14="http://schemas.microsoft.com/office/powerpoint/2010/main" val="1223986157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49869E7-97DE-477E-B525-062F811C2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F726B0-5308-4CA3-B6F4-A881EA4AF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#13 BTG Consignados — R$ 5,9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F4A6EE-15D8-4A1F-870B-88807DD11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4C4190-451A-40B8-A744-D7AECC3ED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6FC46C-02B8-4276-BC49-12D238C66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https://fnet.bmfbovespa.com.br/fnet/publico/abrirGerenciadorDocumentosCVM?cnpjFundo=50906397000153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68C55F-BD47-4EC6-AE57-4C36C010E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C97D12-A656-45C7-ACF0-6B5254AAD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50.906.397/0001-53 · BTG PACTUAL CONSIGNADOS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894E03-EAE6-4964-8703-FA5132778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9BD08A-0618-4A06-B854-DEDA43564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736B71-A28C-44EA-AB25-0BBD7A103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D01D8A-22C2-4BCF-AB8D-EE59454E8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CCB; nomes individuais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24439C-B3BA-44B8-9C12-46E71733A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2D38D1-8222-45FB-8201-4FEFBC41C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 e trabalhadores com saldo de FGTS.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13C2BE-47A0-4B3F-9166-DE4D7614C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253EAE-DBCB-42F5-862E-F56BBDD01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garantia do saque-aniversário FGTS ou consignação processada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0F283E-37C0-4E10-B272-D79E08275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E50D19-F64C-4B65-AF89-F46B2B7F6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CCB/parcelas por cessão ou endosso; CEF/FGTS e Dataprev processam os fluxos conforme a modalidade.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11DA14-859E-4AF7-803A-E379780A8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9CA67E-D28D-40E9-9DCA-AFC8B7EE0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648417-D88C-4B98-A699-CA4F2E830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9110A7-686D-4E68-AA1B-BABC27EBF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2023-06-01 | aprovação de primeira emissão privada | R$ 11.000 bi | doc. 483282;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23D133-7F82-4A6D-AAFE-DCEB45AE1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1F9ACF-1E01-4A80-B98F-977AD396F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 de cotas no regulamento consolidado; não há índice de subordinação entre subclasses. Garantias: Cessão fiduciária do saque-aniversário nas operações FGTS; consignação nas demais modalidades.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737E02-7C32-47ED-9FDF-2F0048369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9B18D0-B129-4462-8D35-1C319AFBE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DDC9C3-2021-4B91-BDC2-B7E0BBB8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408FE68-2A0E-4713-B09E-5FCB7975F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91E76E1-587E-4CF3-AF06-2E496A8EE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5EEE11D-94BE-40BF-9732-C92A84270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Financeiro/Crédito Pessoal, com foco contratual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1960603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41E6314-64BA-461D-8DC7-9BF585ED6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B1E051-94F7-485E-AD6B-B985FECCE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#14 Alternative Assets III — R$ 5,8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0078B0-11E5-4C9A-B9B8-4D410AEDF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27F555-4FCB-4F53-AEA3-FF522A36F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9AF5C5-048D-4654-9352-1536C51EF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https://fnet.bmfbovespa.com.br/fnet/publico/abrirGerenciadorDocumentosCVM?cnpjFundo=29225241000110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565DDF-4A66-4507-867C-619CBD191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3A27C9-2D9A-4541-BF1A-A2C9F0B97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29.225.241/0001-10 · FUNDO DE INVESTIMENTO EM DIREITOS CREDITÓRIOS ALTERNATIVE ASSETS III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A5C901-3D4D-418E-9F00-8CD39A47D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840328-64AA-4E1E-A7B7-2DF094644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460DB6-D83B-434D-B452-D00BACF13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695E6F-D47F-414C-BF76-D5EACBB1F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A4BE0E-97B1-418E-AEF4-9286103F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01B76C-3634-41C2-B66A-4C3711C91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jurídicas, privadas ou públicas, obrigadas nos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4A1B15-9351-4536-9A0F-BA95B3DB7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1B591F-CC87-4676-9D9D-22270ABE5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Créditos em litígio, precatórios e direitos vencidos/inadimplidos já performados.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08F28E-7A94-40FE-88D4-2D0407D79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FDF9DC-0082-4FA0-A08B-6188BC25F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comprar direitos judiciais/NPL integral ou parcialmente; o regulamento não comprova que esses ativos compunham a carteira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5E7FCE-05AA-41E7-93C0-436A57445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EC3E30-8543-459E-8673-7EDCCE205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0270B7-27FD-4D3B-B418-CCBFD455C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39C7F4-8FAC-4790-8AFC-B022AA1B3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3D8591-92EF-4B02-8A87-437E0723A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345994-BFAE-40A1-B453-3DD2CC255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Única subclasse de cotas pari passu; sem preferência, prioridade ou subordinação entre titulares. Garantias: Variam por direito; não há garantia uniforme da carteira nem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4458BA-C71B-4E72-BC63-C9884E76F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CD5315-9484-4B8B-9654-2C9848F60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104CB4-8ADD-44F0-AEE1-3263062AE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39E9D64-FCDE-48F4-88EE-F181D9339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F4E3314-4B0D-4241-BBB8-E3CAD563C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66D7B62-661D-4277-9D25-4B4626B90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é de NPL/direitos judiciais.</a:t>
            </a:r>
          </a:p>
        </p:txBody>
      </p:sp>
    </p:spTree>
    <p:extLst>
      <p:ext uri="{BB962C8B-B14F-4D97-AF65-F5344CB8AC3E}">
        <p14:creationId xmlns:p14="http://schemas.microsoft.com/office/powerpoint/2010/main" val="1631633490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7D3199D-308A-42B2-B861-8A3A1712E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770BBC-B2D4-42A3-AF2A-B07747F8C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#15 NC 2025 I — R$ 5,7 bi e 0,6%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8340ED-4219-4CED-97B4-89850EDC3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3645F8-3C25-4AE9-9A4E-8DE12BB5A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EF1039-3D2F-424C-803F-FE73D53CF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https://fnet.bmfbovespa.com.br/fnet/publico/abrirGerenciadorDocumentosCVM?cnpjFundo=63700113000110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6D8BA0-2BF7-4244-B8F3-BA17437FD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6E3DAA-8902-4D76-9371-C0E86FA04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63.700.113/0001-10 · NC 2025 I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FBB6D1-0B2F-4E12-9FA3-2A6C8A802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E5DC8F-04C0-4CF7-A746-21555CB1F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1C8665-9476-4A49-BA6B-494882FB1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13F21C-5A3B-4CFA-899E-76E6B74CE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há cedente único nomeado; o gestor pode adquirir direitos nos mercados primário e secundário.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8E4686-1CA1-4C91-9AE2-3C8722C03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A5A990-82C9-4784-865D-6E1732FC4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Devedores/emissores dos instrumentos selecionados;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4F61EF-AEC2-45FA-9616-36A6AF458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4C05EB-A91B-4B18-BEF8-9EF05DF9A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permitidos pelo art. 2º, XII, do Anexo II da RCVM 175, em qualquer setor; o regulamento exclui os direitos não padronizados do inciso XIII.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D0F94F-160F-472B-B4AB-11FE33841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EE4A2C-3248-4FC0-BDC9-52178043C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concentração setorial contratual e com possibilidade de concentração em um mesmo devedor dentro das condições do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ED074E-1188-43AA-8505-4626D29AF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E431FE-0DE9-4F44-A982-B2A0EF4F7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E5499F-35B3-404D-811B-22C8F72B1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1D4978-EE55-41A7-B9AC-E57960A0E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2025-12-09 | incorporação decorrente de cisão parcial do NC 2025 | R$ 5.300 bi | doc. 1057972; Foram incorporadas 4.953.498,00000167 cotas; não foi captação em dinheiro.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44DE2D-7180-45CF-B466-1A60FDD96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D8C32F-78A7-4CBC-BC04-8E5DC0618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única; o regulamento declara que não observa índice de subordinação.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61E4F9-340D-4D66-9063-350C2697B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B5254F6-E4C7-452A-85C5-491BED971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KANASTRA ADMINISTRAÇÃO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LIMINE TRUST DISTRIBUIDORA DE TITULOS E VALORES MOBILIARIOS LTDA.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A67860-5632-43A1-81C7-888AA8BBF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6CEFBB7-C13F-49E4-A8A2-F019F9531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Multicarteiras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evidencia_documental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C2E02C6-35DB-4AAD-A57D-F6D466B61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15BBA77-42DE-41C0-9B72-446511D6B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Não está no snapshot ANBIMA; o regulamento declara Tipo Outros/Foco Multicarteiras Outros. Tratar como evidência documental, não cadastro oficial da fotografia.</a:t>
            </a:r>
          </a:p>
        </p:txBody>
      </p:sp>
    </p:spTree>
    <p:extLst>
      <p:ext uri="{BB962C8B-B14F-4D97-AF65-F5344CB8AC3E}">
        <p14:creationId xmlns:p14="http://schemas.microsoft.com/office/powerpoint/2010/main" val="266406621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37C186E-5C83-4C01-958C-EBAB7E5D1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234335-4434-4D25-AF28-F7ACC97D1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#16 Monee I — R$ 5,0 bi e 0,6%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C47BC9-0289-4635-AD26-ED7771D5D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036F76-971E-4986-A801-CE03C7EE0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4E3F25-CE29-48F6-85C4-C6C240DFA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https://fnet.bmfbovespa.com.br/fnet/publico/abrirGerenciadorDocumentosCVM?cnpjFundo=42922136000107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B86DE6-3437-4942-B51B-A5FE7D565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0F0A29-1495-44C6-B6CF-F6DA38E26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42.922.136/0001-07 · FUNDO DE INVESTIMENTO EM DIREITOS CREDITÓRIOS MONEE I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1DB837-3CA5-4F1F-8049-FEA2CD5A1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489005-BE52-4F75-B767-D498FAE41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F81A09-6ED1-493F-BD9B-6A9A5EBD1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120C73-3B96-4D27-B818-687C2E7DC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 Instituição de Pagamento e Serviços de Pagamentos Ltda. — CNPJ 38.372.267/0001-82 — atua como originadora/correspondente; CCB são endossadas por instituições financeiras parceiras e recebíveis de pagamento são cedidos por estabelecimentos.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4DFE4B-E49B-41FD-8D03-AFBE6616B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380E9D-EFFA-4946-8F5F-BEFA95E8E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tomadoras dos empréstimos e participantes das operações de pagamento, conforme o ativo.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CD18EE-8365-42AC-A81E-DAA114BAB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889271-0DD3-4A01-8A14-7A94FA2EA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CCB de empréstimos e unidades de recebíveis de transações de cartão realizadas em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C68661-88B1-4123-A153-3C77050A1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77357E-566A-47C8-B9C0-6D6A8966A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SHPP capta e analisa clientes como correspondente dos endossantes; a classe adquire CCB por endosso e recebíveis de pagamento por cessão.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78C2FA-D717-4E28-B0DB-C9265FD96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98C7D9-CB59-4B8B-90B9-03BEF78B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F776BA-8506-424B-B83F-94534445E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FE746B-0E1C-4A8F-888C-21946129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FAE7B9-7D8C-4416-BE64-034E48F8C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959033-4FCC-42D6-B2E1-496018C8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pari passu; o regulamento consultado declara ausência de preferência, prioridade ou subordinação. Garantias: Não há garantia uniforme identificada; a transferência é sem coobrigação geral nos contratos descritos.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2C5FF7-D4ED-4E44-9E1A-C13BE1BBD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B045D2-CF56-4CDC-9AE6-EA497D354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QI CORRETORA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VALORA RENDA FIXA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QI CORRETORA DE TÍTULOS E VALORES MOBILIÁRIOS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934B50-8C84-496D-BBA6-F6DDED13E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B252A81-91A7-4D1F-80AC-D8A3D626A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A73828C-07B1-4C91-BE7A-877CADDF0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3DA49D0-28C1-49EF-8F3E-0339A76A1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combina crédito pessoal 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891655227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7E831D0-8917-473D-94C8-E3473BE4E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1CCCB8-01C7-4D94-8974-1A07184CE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#17 PicPay I — R$ 4,6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53F611-BEBE-4E0E-BAAB-EAF1845CD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7DA396-6B31-451B-A3BC-3C9A29B0F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8C6DA8-5351-4533-874D-138D05152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https://fnet.bmfbovespa.com.br/fnet/publico/abrirGerenciadorDocumentosCVM?cnpjFundo=32527650000186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F293B9-1F00-48CF-8ACF-E8C5C106D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BECF28-54C2-4BC7-AF8C-D468B6225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32.527.650/0001-86 · FUNDO DE INVESTIMENTO EM DIREITOS CREDITÓRIOS PICPAY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310F67-791C-4D30-9E16-E3C327CEF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A9D394-E412-4F20-AECA-5B91A26A2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1D9A34-C393-4711-9431-D040E8BC5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898556-58A3-478E-9009-309623ADF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finais do PicPay que transferem seus recebíveis à classe por mandato previsto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A45354-12E9-44EE-94BD-6B09B5A53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A387C0-E9FE-458B-A830-28CB15B1A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PicPay, responsável pelos pagamentos devidos aos cedentes nas transações abrangidas.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2222FC-4D23-4F03-9635-6C31F9254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23F9EB-6A08-4C72-B8D4-3F694BF67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transações de pagamento, cash-in e moeda eletrônica processados no sistema PicPay.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08BC3F-1564-4B0F-9533-4C4FC9A64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88B3C5-FB31-46A9-A8C1-EFA20433F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cedem à classe os direitos contra o PicPay; o PicPay efetua os pagamentos que alimentam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96A0F2-9D5B-4F33-BB84-5FD90E726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CBBC8E-9B42-4384-924C-C3217B758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E01B296-7FAF-4F54-B4D9-9F9451428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FDB1C5-F626-4959-B911-409BED2C9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1D2A22-5572-4EFA-A20A-763BE5C70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812B39-4886-4F61-BCC5-8C753102B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 júnior; razão mínima de subordinação júnior de 10%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EE87729-ADCB-40D5-903A-30D4F9BAE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538034-42CC-45EB-86C0-E37B4C382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CD91CD-5138-47FC-8DB4-12B599BBD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72C38E-86B5-47AD-B15F-67A730400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17FB816-37D4-4AB9-B2D5-EBE068746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6B1B26D-CC09-4EB1-8DD8-F722AD5BB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748513447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653A34-9F07-44C1-B2B9-19A9F0065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1C4FBB-8F7E-4617-A952-6E3855DA0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#18 Artesanal Master — R$ 4,3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4F987E-946B-4C9E-9C85-8B6C444D8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618266-8535-4FC5-A27D-A1436C54A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25CBA6-1FC8-4A5E-A090-CF26E3CB5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https://fnet.bmfbovespa.com.br/fnet/publico/abrirGerenciadorDocumentosCVM?cnpjFundo=30576260000170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8AC879-1B94-4F92-A29A-6F277B786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36C551-7C7A-4152-93D0-B50494963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30.576.260/0001-70 · ARTESANAL MASTER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62DCA6-5992-43C0-B179-07C724B00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7F6AD7-988E-4F76-89D3-6FFD142B8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55659A-FDE0-4903-A3EF-E3AE66D95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FAC095-3AD3-4FD3-96E2-C130018E7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titulares dos instrumentos elegíveis; nenhuma entidade única foi identificada.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C1EFB0-6B37-4182-B0DD-BF6184EAB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B770BD-BBDB-42E5-BE73-E0A08BAEC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Emissores/devedores dos instrumentos adquiridos;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8F4DCA-AAB7-449C-A2E7-D12F62EA4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22761F-457D-402C-A752-F4317C7D8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e títulos de crédito, valores mobiliários de crédito, instrumentos de securitização e cotas de FIDC previstos na política ampla.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49A302-936F-4A82-A615-D08D71DB1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368236-1A30-4E5E-B662-713490750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veículo era FIC-FIDC e foi transformado em FIDC direto com vigência em 23/07/2024; desde então a política permite aquisição direta de instrumentos de crédito.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001A0E-9473-4FFC-8DF1-30974C055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32C17B-ACCC-4A9B-A009-3E2DFD3DC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29E270-E8FF-46CB-BB41-8C65095CD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001D0D-1FDC-4511-A559-A2A5F083B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6A30C8-D9D9-412B-9781-F3E625ED2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E6214F-9FF2-45A7-95E7-5A3E858EA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sem preferência, prioridade ou subordinação entre os titulares.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4E9051-B08B-40C4-9930-7F3C10A78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F5B459-1F05-4A45-914F-DB5D32A7E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GENIAL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ARTESANAL INVESTIMENTOS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B3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D02E02-EAB8-4827-B366-FDC4A9D68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3B6665F-53D1-4228-A376-F9FD74FDB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296C59C-1C7B-483D-89BC-591CADAE4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D56A12F-9FFC-4EA8-9B87-934285D27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Financeiro/Crédito Pessoal; a política documental atual é ampla. A quebra histórica FIC→FIDC em julho de 2024 deve ser tratada explicitamente.</a:t>
            </a:r>
          </a:p>
        </p:txBody>
      </p:sp>
    </p:spTree>
    <p:extLst>
      <p:ext uri="{BB962C8B-B14F-4D97-AF65-F5344CB8AC3E}">
        <p14:creationId xmlns:p14="http://schemas.microsoft.com/office/powerpoint/2010/main" val="1593711108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60A809-708E-4E16-A3FB-04A492457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831558-A01C-4555-BD79-4BABAB0D9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#19 High Tower NP — R$ 4,0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2CEED0-5140-42D1-8D2A-269C408D2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75182C-A12A-4DFF-B354-EB04C29A9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CE1611-0EB7-40A1-B059-D11E334BD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https://fnet.bmfbovespa.com.br/fnet/publico/abrirGerenciadorDocumentosCVM?cnpjFundo=51152102000163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875017-59EB-487D-BA03-97EBFE2EF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BF712A-3066-4802-A742-63FB9DF73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51.152.102/0001-63 · HIGH TOWER FUNDO DE INVESTIMENTO EM DIREITOS CREDITÓRIOS NÃO-PADRONIZADOS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4CD54B-07AB-4BF2-94C2-12CAFA66B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46BAC8-6BEC-4505-B02E-BB21DAC2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7EB30B-B8FA-4027-B51D-D3640E026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 / ORIGINADOR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de diferentes setores, em recuperação judicial ou não; nomes não identificados no regulamento.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Clientes/sacados das cedentes e demais devedores dos direitos adquiridos.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Política ampla de direitos financeiros, comerciais, industriais, imobiliários, de serviços, leasing e contratos de performance futura, inclusive não padronizados. Warrants não foram listados por haver conflito interno entre itens do regulamento.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FUNCIONAMENTO ECONÔMICO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compra carteiras de cedentes distintos e setores diversos, sob critérios de elegibilidade e cobrança próprios.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21BC74-252F-43ED-BE56-6E6B65F58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97FB36-BE90-46CE-871F-553124D8A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0DAA46-D0CA-4C8B-93D3-2A0CC09D6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2023-06-22 | lançamento da primeira oferta | R$ 0.100 bi | doc. 487085; Valor máximo; distribuição parcial permitida e colocação integral não comprovada.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subordinada; subordinação mínima de 5% do PL após emissão de cotas sênior. Garantias: Variam por direito; não há garantia uniforme identificada.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/ FOCO ANBIMA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C53061-524F-499F-88C6-E02F02EC0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5285C8-6F13-4D44-A166-312411012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Outros/Multicarteira Outros, com direitos não padronizados amplos. Ata de 06/05/2026 identifica cotista único e administradora em liquidação extrajudicial; reconciliar a denominação dos prestadores com o cadastro CVM.</a:t>
            </a:r>
          </a:p>
        </p:txBody>
      </p:sp>
    </p:spTree>
    <p:extLst>
      <p:ext uri="{BB962C8B-B14F-4D97-AF65-F5344CB8AC3E}">
        <p14:creationId xmlns:p14="http://schemas.microsoft.com/office/powerpoint/2010/main" val="740657340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40A79E1-BFE9-4457-AE73-8D5577A60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59698C-61CF-4023-9015-C400A2F25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#20 Day Maxx 2 — R$ 3,9 bi e 0,4%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62A1B3-AE2F-43A4-A714-6763A925A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EF6DFF-CED2-4ECE-BBB9-2D93D4CC6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45116B-83E6-4A46-853A-6E667E81E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https://fnet.bmfbovespa.com.br/fnet/publico/abrirGerenciadorDocumentosCVM?cnpjFundo=34197588000137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1ADDBF-ECE9-4E98-9BAF-AB778E3AB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E65AC1-9B3D-41DC-9503-A66BF87C9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34.197.588/0001-37 · DAY MAXX 2 FUNDO DE INVESTIMENTO EM DIREITOS CREDITÓRIOS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E16584-D8A5-4107-91A5-D9E70518E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053526-14FF-476A-BFCE-2DBC60E0D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09424D-15A4-4914-927A-ADD7678DB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F7A776-E532-4825-868C-8789133D1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que cedam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5D2E46-3F02-447A-98C0-8936C1CE1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445B60-2403-4DB9-AC0F-45E7C895C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e entes públicos, conforme 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5F7175-AE00-47AF-B31E-6C265FE77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D1340D-BD24-44D1-BD2A-09AF09F5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0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títulos de crédito; recebíveis mercantis, de transporte, industriais e de serviços; contratos futuros; precatórios federais; direitos não padronizados; créditos de cedentes em recuperação judicial; e até 100% do PL em cotas de outros FIDC, inclusive mezanino/júnior.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830D66-C687-4E20-802B-843083639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23772F-E3FE-4269-BB3F-EA9BA633D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exposição direta a recebíveis/NPL e indireta via cotas de FIDC; o regulamento não comprova a composição efetiva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4013B1-359D-437D-B0DE-9CEFE9A38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F42D0F-EC74-47F6-B002-12103D50C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3EBEDF-E781-4FF7-AC6A-BAA53D14C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61EDEA-EF3E-4C10-978D-15DD8998B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0F5FB8-246E-4378-93EF-1C0B4EBFC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3D85B4-3414-4BA2-A6A1-B4DC72755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júnior; índice mínimo de cotas subordinadas de 25% do PL. A amortização antecipada exige subordinação mínima de 30%. Garantias: Variam por direito; não há garantia uniforme da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47836F-06B2-4470-BE26-9C5279A7C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D49D88F-5658-4F99-9CA5-6F43544B6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DAYCOVAL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DAYCOVAL ASSET MANAGEMENT ADMINISTRACAO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DAYCOVAL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FDE0BCD-E1C5-4D4F-ACA3-854FDA724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E97D59A-86B5-4DEA-A13D-19485B056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CA0ED9-095B-42E1-B138-4768254A3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0FEC00-3591-4031-8492-B8D349D32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é ampla e inclui NPL/precatórios.</a:t>
            </a:r>
          </a:p>
        </p:txBody>
      </p:sp>
    </p:spTree>
    <p:extLst>
      <p:ext uri="{BB962C8B-B14F-4D97-AF65-F5344CB8AC3E}">
        <p14:creationId xmlns:p14="http://schemas.microsoft.com/office/powerpoint/2010/main" val="898034830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31175A9-DFFD-4A77-A4AD-189A857E8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685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CASO ATLÂNTICO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AF0D95-76B3-48D8-A19C-3DD5970AE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compra créditos já inadimplidos; jul/24 muda a base de reporte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334316-D498-4121-802B-2D1203080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88A533-F5D5-4FA7-88BA-3117A20CE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21A3AE-56B6-45E3-A8C0-1013E588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regulamento de 12/11/24, AGE de 08/07/24 e DFs auditadas de 2024/25. Links completos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0FF4A2-EA7D-4463-8808-FDE644EBA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E82A26-502D-4207-A9F2-A6DF5AD5F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09.194.841/0001-51 · ATLÂNTICO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BAB549-2B85-4D3B-B4CF-713B18D9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O QUE É E COMO FUNCIONA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F99CBE-B45A-4721-BBCE-36DB60C37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5E7690-E5F8-4006-8C38-919715C8F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528637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ESTRATÉGIA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 fechado de recuperação. O regulamento descreve as carteiras, em regra, como NP, 100% inadimplidas e já baixadas pelos cedentes.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Compra definitiva em BIDs, com alto deságio e sem originação pelo Fundo. O retorno depende da recuperação agregada; o saldo contábil é valor esperado descontado, não valor de 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CEDENTES E DEVEDORES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 nomina Ativos S.A. (19%) e Carrefour Promotora, carteira legada (11%); 70% não são nominados. Devedores são sobretudo PF pulverizadas, com PJ pontuais.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ATIVOS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Empréstimos, consignado, cheque especial, cartão, CDC, varejo e serviços. Garantias podem existir caso a caso, mas a carteira massificada normalmente não tem garantia real.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18F591-8164-4F60-A117-C1E3F0E1F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 ATUAIS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31CF89-2B9C-484F-9516-3AF6D8783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439E0A-5528-41A9-ADF4-6875B531A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05425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Administrador e custodiante: ID S.A · Gestor: HYPERION ASSET MANAGEMENT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Consultoria: MGC Capital · Cobrança: Crediativos · Auditor: BDO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A8D813-5C00-4914-88B0-99B252678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POR QUE A INADIMPLÊNCIA É ALTA · MAI/26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FF5F1C-568F-4777-B9BF-44C3EC650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A5D4BB-EAD5-4CA3-8697-8B4A3B140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76450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5086E8-8F46-42F0-8B19-A139BCE75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076450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R$ 142,2 mi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F433D7-17CC-486F-B9CE-CB44121AE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76488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5872AA-C87D-4FAE-AAC4-82DFE86B7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33638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F47986-25A0-4FC3-A4D7-76439BA34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433638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R$ 155,0 mi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8DE85F-6E78-45DC-BCB1-B114968D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336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02F5D6-0790-4D5F-AA2C-31BCA5707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90825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D27D55D-C31E-4335-961E-C482736E1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790825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R$ 153,9 mi · 99,3%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196B3E8-C693-4E6A-9674-F982824FD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90863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838A6B-59D7-4D6C-9B7C-C61500A65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48013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&gt; 1.080 dias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B4621C7-205E-4DDC-84C7-4AD8B10B0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3148013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R$ 153,9 mi · 99,95% da inad.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65078F-5F8A-4837-9860-19B70BCF1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62350"/>
            <a:ext cx="5286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99% é coerente com a estratégia NPL: o fundo compra créditos já vencidos. Aging mede o estado jurídico do crédito; não representa perda adicional de 100% sobre o valor contábil.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4611E77-FB20-40E7-BDB4-97F11A084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05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QUEBRA JUN→JUL/24 · R$ 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4A19132-0725-4E8B-8D9D-11C710297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72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3B8C51F-2E70-48CD-9CBF-F7FEE0544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29150"/>
            <a:ext cx="5286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4B80D69-B6A7-4570-A606-00A6F678C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657725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0C32B20-DC66-4D8F-AE95-996AF955D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6577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Jun/24 · Sefer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873D113-5324-490B-8CDF-FF12A65D3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6577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Jul/24 · 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60FA2A3-2B27-479F-BEF0-540F987A9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657725"/>
            <a:ext cx="981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0822D49-A88B-49DC-BF89-4677DA293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604A229-DE92-4E08-8DE1-0BED87747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01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996753F-7A49-4881-A604-A1FCEE259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815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bruta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107CED1-4978-41D6-A19B-BF08909ED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9815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16.722,8 mi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0A69B75-055D-44FF-9060-389177B3C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815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103,4 mi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84EDE68-D440-41FF-B379-3D6F1239C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9815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-16.619,4 mi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5A1AE56-031E-45E1-9A9E-37826807C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97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8B84EBD-6FCE-4C3B-8358-AE54627BB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768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0A83948-C7A0-48BA-84E4-23B01B7C7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2482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FAE8461-F86C-4DDD-B226-120BFBAC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482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34,2 mi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38F281C-5729-4725-8DCD-9D6A8D2C8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2482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114,2 mi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35B13B5-5A3F-43B7-8D7B-392FA284B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2482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80,0 mi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AA54FE0-11FA-4532-AD1F-0635F7672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864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57AFD2E-5CE4-479A-B4BB-4376DDEC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7435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C02282B-C44A-4316-BCE4-D5695CC17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5149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ECD6F44-14D2-4586-A1BC-B975E51C3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5149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111,8 mi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CB38954-349F-42D3-98A8-53CBED217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5149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125,6 mi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AC86271-2A13-4F80-B12F-84F57513F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5149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13,8 mi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68BF784-53E5-4365-8AEC-EADE35E5E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9D3A719-B64B-4395-85DB-33963516B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queda de R$ 16,6 bi no bruto não foi recuperação em caixa: coincide com troca de administrador e mudança de apresentação/mensuração. As DFs registram opinião modificada para 01/01–19/07/24 por inconsistências de lastro e posição. A série não é like-for-like; a subclasse atual também diverge entre DFs e informe mensal.</a:t>
            </a:r>
          </a:p>
        </p:txBody>
      </p:sp>
    </p:spTree>
    <p:extLst>
      <p:ext uri="{BB962C8B-B14F-4D97-AF65-F5344CB8AC3E}">
        <p14:creationId xmlns:p14="http://schemas.microsoft.com/office/powerpoint/2010/main" val="1323502253"/>
      </p:ext>
    </p:extLst>
  </p:cSld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2026-07-21T01:00:10.5500000Z</dcterms:created>
  <dcterms:modified xsi:type="dcterms:W3CDTF">2026-07-21T01:00:10.5500000Z</dcterms:modified>
</coreProperties>
</file>