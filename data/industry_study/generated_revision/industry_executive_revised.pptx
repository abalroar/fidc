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8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083e944e6043c6" /><Relationship Type="http://schemas.openxmlformats.org/officeDocument/2006/relationships/extended-properties" Target="/docProps/app.xml" Id="Rf642e6dde3624bae" /><Relationship Type="http://schemas.openxmlformats.org/officeDocument/2006/relationships/officeDocument" Target="/ppt/presentation.xml" Id="R47bab46391e04b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d13d51834a4685"/>
  </p:sldMasterIdLst>
  <p:notesMasterIdLst>
    <p:notesMasterId xmlns:r="http://schemas.openxmlformats.org/officeDocument/2006/relationships" r:id="Raa1c4c60ce134dcd"/>
  </p:notesMasterIdLst>
  <p:sldIdLst>
    <p:sldId xmlns:r="http://schemas.openxmlformats.org/officeDocument/2006/relationships" id="256" r:id="Rbf5021fb0532461d"/>
    <p:sldId xmlns:r="http://schemas.openxmlformats.org/officeDocument/2006/relationships" id="257" r:id="R0558bcf38eab47bb"/>
    <p:sldId xmlns:r="http://schemas.openxmlformats.org/officeDocument/2006/relationships" id="258" r:id="R9b10faccc3414146"/>
    <p:sldId xmlns:r="http://schemas.openxmlformats.org/officeDocument/2006/relationships" id="259" r:id="Rf5d0102e97d04327"/>
    <p:sldId xmlns:r="http://schemas.openxmlformats.org/officeDocument/2006/relationships" id="260" r:id="R76d8a544e44b4ba0"/>
    <p:sldId xmlns:r="http://schemas.openxmlformats.org/officeDocument/2006/relationships" id="261" r:id="R01917175baf74115"/>
    <p:sldId xmlns:r="http://schemas.openxmlformats.org/officeDocument/2006/relationships" id="262" r:id="R2f1ea658ff3c46b6"/>
    <p:sldId xmlns:r="http://schemas.openxmlformats.org/officeDocument/2006/relationships" id="263" r:id="R85aaffa18e4b4f12"/>
    <p:sldId xmlns:r="http://schemas.openxmlformats.org/officeDocument/2006/relationships" id="264" r:id="R39fce78dd9ee4e14"/>
    <p:sldId xmlns:r="http://schemas.openxmlformats.org/officeDocument/2006/relationships" id="265" r:id="R37a0ffe1a45e4fd5"/>
    <p:sldId xmlns:r="http://schemas.openxmlformats.org/officeDocument/2006/relationships" id="266" r:id="Rc6da3a34983d4797"/>
    <p:sldId xmlns:r="http://schemas.openxmlformats.org/officeDocument/2006/relationships" id="267" r:id="R69b313ed2a9c484c"/>
    <p:sldId xmlns:r="http://schemas.openxmlformats.org/officeDocument/2006/relationships" id="268" r:id="R3fdd2398c4454568"/>
    <p:sldId xmlns:r="http://schemas.openxmlformats.org/officeDocument/2006/relationships" id="269" r:id="R1a9b7e2ca5ca4d47"/>
    <p:sldId xmlns:r="http://schemas.openxmlformats.org/officeDocument/2006/relationships" id="270" r:id="Rd31a8632ee21409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f7becb166447c7" /><Relationship Type="http://schemas.openxmlformats.org/officeDocument/2006/relationships/slideMaster" Target="/ppt/slideMasters/slideMaster1.xml" Id="Raad13d51834a4685" /><Relationship Type="http://schemas.openxmlformats.org/officeDocument/2006/relationships/notesMaster" Target="/ppt/notesMasters/notesMaster1.xml" Id="Raa1c4c60ce134dcd" /><Relationship Type="http://schemas.openxmlformats.org/officeDocument/2006/relationships/presProps" Target="/ppt/presProps.xml" Id="R82d56d91103e47d0" /><Relationship Type="http://schemas.openxmlformats.org/officeDocument/2006/relationships/tableStyles" Target="/ppt/tableStyles.xml" Id="Rf9d69cee17484336" /><Relationship Type="http://schemas.openxmlformats.org/officeDocument/2006/relationships/slide" Target="/ppt/slides/slide1.xml" Id="Rbf5021fb0532461d" /><Relationship Type="http://schemas.openxmlformats.org/officeDocument/2006/relationships/slide" Target="/ppt/slides/slide2.xml" Id="R0558bcf38eab47bb" /><Relationship Type="http://schemas.openxmlformats.org/officeDocument/2006/relationships/slide" Target="/ppt/slides/slide3.xml" Id="R9b10faccc3414146" /><Relationship Type="http://schemas.openxmlformats.org/officeDocument/2006/relationships/slide" Target="/ppt/slides/slide4.xml" Id="Rf5d0102e97d04327" /><Relationship Type="http://schemas.openxmlformats.org/officeDocument/2006/relationships/slide" Target="/ppt/slides/slide5.xml" Id="R76d8a544e44b4ba0" /><Relationship Type="http://schemas.openxmlformats.org/officeDocument/2006/relationships/slide" Target="/ppt/slides/slide6.xml" Id="R01917175baf74115" /><Relationship Type="http://schemas.openxmlformats.org/officeDocument/2006/relationships/slide" Target="/ppt/slides/slide7.xml" Id="R2f1ea658ff3c46b6" /><Relationship Type="http://schemas.openxmlformats.org/officeDocument/2006/relationships/slide" Target="/ppt/slides/slide8.xml" Id="R85aaffa18e4b4f12" /><Relationship Type="http://schemas.openxmlformats.org/officeDocument/2006/relationships/slide" Target="/ppt/slides/slide9.xml" Id="R39fce78dd9ee4e14" /><Relationship Type="http://schemas.openxmlformats.org/officeDocument/2006/relationships/slide" Target="/ppt/slides/slide10.xml" Id="R37a0ffe1a45e4fd5" /><Relationship Type="http://schemas.openxmlformats.org/officeDocument/2006/relationships/slide" Target="/ppt/slides/slide11.xml" Id="Rc6da3a34983d4797" /><Relationship Type="http://schemas.openxmlformats.org/officeDocument/2006/relationships/slide" Target="/ppt/slides/slide12.xml" Id="R69b313ed2a9c484c" /><Relationship Type="http://schemas.openxmlformats.org/officeDocument/2006/relationships/slide" Target="/ppt/slides/slide13.xml" Id="R3fdd2398c4454568" /><Relationship Type="http://schemas.openxmlformats.org/officeDocument/2006/relationships/slide" Target="/ppt/slides/slide14.xml" Id="R1a9b7e2ca5ca4d47" /><Relationship Type="http://schemas.openxmlformats.org/officeDocument/2006/relationships/slide" Target="/ppt/slides/slide15.xml" Id="Rd31a8632ee2140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fdc4f466afa45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462c6272db40b9" /><Relationship Type="http://schemas.openxmlformats.org/officeDocument/2006/relationships/notesMaster" Target="/ppt/notesMasters/notesMaster1.xml" Id="R0c1cd2d2005a43c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51b8a9a46648f8" /><Relationship Type="http://schemas.openxmlformats.org/officeDocument/2006/relationships/notesMaster" Target="/ppt/notesMasters/notesMaster1.xml" Id="Re1e10850ae3240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f7c83601a734c3a" /><Relationship Type="http://schemas.openxmlformats.org/officeDocument/2006/relationships/notesMaster" Target="/ppt/notesMasters/notesMaster1.xml" Id="Rfa64c1890a9249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ef21797fffa4535" /><Relationship Type="http://schemas.openxmlformats.org/officeDocument/2006/relationships/notesMaster" Target="/ppt/notesMasters/notesMaster1.xml" Id="R79c5071d3beb49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29536037b94245" /><Relationship Type="http://schemas.openxmlformats.org/officeDocument/2006/relationships/notesMaster" Target="/ppt/notesMasters/notesMaster1.xml" Id="R87c87421fddf47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d54cc7c5fa54166" /><Relationship Type="http://schemas.openxmlformats.org/officeDocument/2006/relationships/notesMaster" Target="/ppt/notesMasters/notesMaster1.xml" Id="R88af33392adc471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566072a9684488" /><Relationship Type="http://schemas.openxmlformats.org/officeDocument/2006/relationships/notesMaster" Target="/ppt/notesMasters/notesMaster1.xml" Id="Rdfae8d63e4144ed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8dc86e51b2d415e" /><Relationship Type="http://schemas.openxmlformats.org/officeDocument/2006/relationships/notesMaster" Target="/ppt/notesMasters/notesMaster1.xml" Id="R4124168fa5e4486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fea5505ab5741e1" /><Relationship Type="http://schemas.openxmlformats.org/officeDocument/2006/relationships/notesMaster" Target="/ppt/notesMasters/notesMaster1.xml" Id="Reb4159e2077b4fb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7dd924045444a5f" /><Relationship Type="http://schemas.openxmlformats.org/officeDocument/2006/relationships/notesMaster" Target="/ppt/notesMasters/notesMaster1.xml" Id="R611c7c06210c40e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aa00072d43744a9" /><Relationship Type="http://schemas.openxmlformats.org/officeDocument/2006/relationships/notesMaster" Target="/ppt/notesMasters/notesMaster1.xml" Id="Rc3285b7b1a07482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e8a6fc3f7d0465c" /><Relationship Type="http://schemas.openxmlformats.org/officeDocument/2006/relationships/notesMaster" Target="/ppt/notesMasters/notesMaster1.xml" Id="R3cce7df078d64bb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2a167cafbe5482f" /><Relationship Type="http://schemas.openxmlformats.org/officeDocument/2006/relationships/notesMaster" Target="/ppt/notesMasters/notesMaster1.xml" Id="Rc8b13fb3af4b46a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b18921a62d7438c" /><Relationship Type="http://schemas.openxmlformats.org/officeDocument/2006/relationships/notesMaster" Target="/ppt/notesMasters/notesMaster1.xml" Id="R0a8d73e0ed8e4d1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bc905e89d794b40" /><Relationship Type="http://schemas.openxmlformats.org/officeDocument/2006/relationships/notesMaster" Target="/ppt/notesMasters/notesMaster1.xml" Id="Rc5e0bef7018840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31/ago/26: https://data.anbima.com.br/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[Industry contract] {"id":"cover","latest_complete":"2026-08","offers_as_of":"2026-08-31","executive_conclusions":5,"source_signature":"c4c868a5e5924b391ec6b611ee7484f13bf36737f0991d1d518c8985263aa45c"}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[Footer source]</a:t>
            </a:r>
          </a:p>
          <a:p xmlns:a="http://schemas.openxmlformats.org/drawingml/2006/main">
            <a:r>
              <a:t>Fontes: CVM, Informe Mensal de FIDC (ago/26); BCB, SGS 28183–28192 (último mês comum: ago/26).</a:t>
            </a:r>
          </a:p>
          <a:p xmlns:a="http://schemas.openxmlformats.org/drawingml/2006/main">
            <a:r>
              <a:t>[/Footer source]</a:t>
            </a:r>
          </a:p>
          <a:p xmlns:a="http://schemas.openxmlformats.org/drawingml/2006/main">
            <a:r>
              <a:t>[Industry contract] {"id":"industry_scale","latest_complete":"2026-08","offers_as_of":"2026-08-31","executive_conclusions":5,"source_signature":"c4c868a5e5924b391ec6b611ee7484f13bf36737f0991d1d518c8985263aa45c"}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[Footer source]</a:t>
            </a:r>
          </a:p>
          <a:p xmlns:a="http://schemas.openxmlformats.org/drawingml/2006/main">
            <a:r>
              <a:t>CVM/SRE: R$ 91,9 bi registrado primário; ANBIMA: R$ 74,3 bi encerrado. Perímetros distintos; jan–ago/26, snapshot ago/26.</a:t>
            </a:r>
          </a:p>
          <a:p xmlns:a="http://schemas.openxmlformats.org/drawingml/2006/main">
            <a:r>
              <a:t>[/Footer source]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ago/26, 02-02-Vlr, D91:D98: https://data-strapi.prd.anbima.com.br/uploads/Boletim_MK_Anexo_652e5f2862.xlsx</a:t>
            </a:r>
          </a:p>
          <a:p xmlns:a="http://schemas.openxmlformats.org/drawingml/2006/main">
            <a:r>
              <a:t>- Perímetros: CVM/SRE mede valor registrado de ofertas primárias encerradas (R$ 91,9 bi em FIDCs); ANBIMA mede valor encerrado (R$ 74,3 bi). CVM cobre jan–ago/26; ANBIMA cobre jan–ago/26. A reconciliação por instrumento recorta a CVM à janela da ANBIMA.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[Industry contract] {"id":"annual_issuance","latest_complete":"2026-08","offers_as_of":"2026-08-31","executive_conclusions":5,"source_signature":"c4c868a5e5924b391ec6b611ee7484f13bf36737f0991d1d518c8985263aa45c"}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[Footer source]</a:t>
            </a:r>
          </a:p>
          <a:p xmlns:a="http://schemas.openxmlformats.org/drawingml/2006/main">
            <a:r>
              <a:t>Fontes: CVM/SRE, ofertas encerradas até 2026-08-31, snapshot 8/out/26; ANBIMA para 2023. Volume registrado, tipos ANBIMA e reconciliação no XLSX.</a:t>
            </a:r>
          </a:p>
          <a:p xmlns:a="http://schemas.openxmlformats.org/drawingml/2006/main">
            <a:r>
              <a:t>[/Footer source]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- Rótulos dos segmentos menores que 8% da escala do eixo ficam ocultos; os valores e as séries são preservados no gráfico nativo e no XLSX.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[Industry contract] {"id":"issuance_taxonomy_summary","latest_complete":"2026-08","offers_as_of":"2026-08-31","executive_conclusions":5,"source_signature":"c4c868a5e5924b391ec6b611ee7484f13bf36737f0991d1d518c8985263aa45c"}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[Footer source]</a:t>
            </a:r>
          </a:p>
          <a:p xmlns:a="http://schemas.openxmlformats.org/drawingml/2006/main">
            <a:r>
              <a:t>Fonte: ANBIMA Data (Tipo/Foco, dez/25), Informe Mensal CVM (ago/26) e ledger documental aprovado; classificação oficial preservada no workbook.</a:t>
            </a:r>
          </a:p>
          <a:p xmlns:a="http://schemas.openxmlformats.org/drawingml/2006/main">
            <a:r>
              <a:t>[/Footer source]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Rótulos de exibição: Poder Público → Precatórios e/ou Ações Judiciais; Multicarteira Outros e Multicedente/Multissacado → Multicedente/Multisacado; Recuperação → Recuperação / FIDCs NP. A taxonomia oficial e os valores integrais ficam preservados no XLSX.</a:t>
            </a:r>
          </a:p>
          <a:p xmlns:a="http://schemas.openxmlformats.org/drawingml/2006/main">
            <a:r>
              <a:t>- Rótulos dos segmentos menores que 8% da escala do eixo ficam ocultos; os valores são preservados no gráfico nativo.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[Industry contract] {"id":"analytical_taxonomy","latest_complete":"2026-08","offers_as_of":"2026-08-31","executive_conclusions":5,"source_signature":"c4c868a5e5924b391ec6b611ee7484f13bf36737f0991d1d518c8985263aa45c"}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[Footer source]</a:t>
            </a:r>
          </a:p>
          <a:p xmlns:a="http://schemas.openxmlformats.org/drawingml/2006/main">
            <a:r>
              <a:t>Fonte: CVM, Informe Mensal e regulamentos no FundosNet. Curadoria em 21/jul/26; a categoria CVM original permanece preservada.</a:t>
            </a:r>
          </a:p>
          <a:p xmlns:a="http://schemas.openxmlformats.org/drawingml/2006/main">
            <a:r>
              <a:t>[/Footer source]</a:t>
            </a:r>
          </a:p>
          <a:p xmlns:a="http://schemas.openxmlformats.org/drawingml/2006/main">
            <a:r>
              <a:t>[Industry contract] {"id":"acquiring","latest_complete":"2026-08","offers_as_of":"2026-08-31","executive_conclusions":5,"source_signature":"c4c868a5e5924b391ec6b611ee7484f13bf36737f0991d1d518c8985263aa45c"}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[Footer source]</a:t>
            </a:r>
          </a:p>
          <a:p xmlns:a="http://schemas.openxmlformats.org/drawingml/2006/main">
            <a:r>
              <a:t>Fonte: CVM, Informe Mensal, Tabela II; dez/23 e ago/26. Percentuais sobre a soma dos segmentos reportados; contribuição = Δ Financeiro / Δ total líquido.</a:t>
            </a:r>
          </a:p>
          <a:p xmlns:a="http://schemas.openxmlformats.org/drawingml/2006/main">
            <a:r>
              <a:t>[/Footer source]</a:t>
            </a:r>
          </a:p>
          <a:p xmlns:a="http://schemas.openxmlformats.org/drawingml/2006/main">
            <a:r>
              <a:t>[Industry contract] {"id":"receivables","latest_complete":"2026-08","offers_as_of":"2026-08-31","executive_conclusions":5,"source_signature":"c4c868a5e5924b391ec6b611ee7484f13bf36737f0991d1d518c8985263aa45c"}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[Footer source]</a:t>
            </a:r>
          </a:p>
          <a:p xmlns:a="http://schemas.openxmlformats.org/drawingml/2006/main">
            <a:r>
              <a:t>Fonte: CVM/SRE, dois arquivos de ofertas, snapshot 8/out/26. Primárias encerradas, todos os ritos; volume registrado.</a:t>
            </a:r>
          </a:p>
          <a:p xmlns:a="http://schemas.openxmlformats.org/drawingml/2006/main">
            <a:r>
              <a:t>[/Footer source]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jan–ago/26.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[Industry contract] {"id":"offers_volume_ticket","latest_complete":"2026-08","offers_as_of":"2026-08-31","executive_conclusions":5,"source_signature":"c4c868a5e5924b391ec6b611ee7484f13bf36737f0991d1d518c8985263aa45c"}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[Footer source]</a:t>
            </a:r>
          </a:p>
          <a:p xmlns:a="http://schemas.openxmlformats.org/drawingml/2006/main">
            <a:r>
              <a:t>Fonte: CVM/SRE, dois arquivos de ofertas; mesma coorte primária encerrada do slide anterior. 2026 = jan–ago/26.</a:t>
            </a:r>
          </a:p>
          <a:p xmlns:a="http://schemas.openxmlformats.org/drawingml/2006/main">
            <a:r>
              <a:t>[/Footer source]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jan–ago/26.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[Industry contract] {"id":"offers_ticket_distribution","latest_complete":"2026-08","offers_as_of":"2026-08-31","executive_conclusions":5,"source_signature":"c4c868a5e5924b391ec6b611ee7484f13bf36737f0991d1d518c8985263aa45c"}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[Footer source]</a:t>
            </a:r>
          </a:p>
          <a:p xmlns:a="http://schemas.openxmlformats.org/drawingml/2006/main">
            <a:r>
              <a:t>Fonte: CVM/SRE, dois arquivos de ofertas, snapshot 8/out/26. jan–ago/26; regime declarado; campo ausente = Não informado.</a:t>
            </a:r>
          </a:p>
          <a:p xmlns:a="http://schemas.openxmlformats.org/drawingml/2006/main">
            <a:r>
              <a:t>[/Footer source]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jan–ago/26.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R$ 13,4 bi em jan–ago/25 e R$ 18,3 bi em jan–ago/26; variação 36,8%. Melhores esforços representam 70,5%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[Industry contract] {"id":"offers_placement_regime","latest_complete":"2026-08","offers_as_of":"2026-08-31","executive_conclusions":5,"source_signature":"c4c868a5e5924b391ec6b611ee7484f13bf36737f0991d1d518c8985263aa45c"}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[Footer source]</a:t>
            </a:r>
          </a:p>
          <a:p xmlns:a="http://schemas.openxmlformats.org/drawingml/2006/main">
            <a:r>
              <a:t>Fontes: CVM, Informe Mensal e ofertas públicas. PL ex-FIC. Perímetros e documentação no XLSX.</a:t>
            </a:r>
          </a:p>
          <a:p xmlns:a="http://schemas.openxmlformats.org/drawingml/2006/main">
            <a:r>
              <a:t>[/Footer source]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de FIDC: https://dados.cvm.gov.br/dataset/fidc-doc-inf_mensal</a:t>
            </a:r>
          </a:p>
          <a:p xmlns:a="http://schemas.openxmlformats.org/drawingml/2006/main">
            <a:r>
              <a:t>- CVM/SRE, ofertas públicas: https://dados.cvm.gov.br/dataset/oferta-distrib</a:t>
            </a:r>
          </a:p>
          <a:p xmlns:a="http://schemas.openxmlformats.org/drawingml/2006/main">
            <a:r>
              <a:t>- Estoque: CVM, Informe Mensal FIDC de ago/26. Valores monetários arredondados a R$ 10 bi e percentuais a 5 pontos percentuais.</a:t>
            </a:r>
          </a:p>
          <a:p xmlns:a="http://schemas.openxmlformats.org/drawingml/2006/main">
            <a:r>
              <a:t>- PL ex-FIC: exclui os fundos de cotas identificados na base. Valores exatos e critérios disponíveis no Excel.</a:t>
            </a:r>
          </a:p>
          <a:p xmlns:a="http://schemas.openxmlformats.org/drawingml/2006/main">
            <a:r>
              <a:t>- Recebíveis: participação sobre a soma dos segmentos reportados na Tabela II. Essa soma pode divergir da carteira da Tabela I.</a:t>
            </a:r>
          </a:p>
          <a:p xmlns:a="http://schemas.openxmlformats.org/drawingml/2006/main">
            <a:r>
              <a:t>- Contas: fundos de maior porte têm PL a partir de R$ 200 mi. Contas reportadas são agregadas ao CNPJ legal e admitem mais de uma conta por investidor.</a:t>
            </a:r>
          </a:p>
          <a:p xmlns:a="http://schemas.openxmlformats.org/drawingml/2006/main">
            <a:r>
              <a:t>- Prestadores: PL ex-FIC elegível e grupos econômicos normalizados. Gestor e custodiante seguem a fotografia cadastral identificada nas fontes.</a:t>
            </a:r>
          </a:p>
          <a:p xmlns:a="http://schemas.openxmlformats.org/drawingml/2006/main">
            <a:r>
              <a:t>- Ofertas: recorte jan–ago/26, cotas primárias encerradas, uma oferta por Numero_Requerimento. Grandes ofertas têm Valor_Total_Registrado a partir de R$ 500 mi.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[Industry contract] {"id":"conclusions","latest_complete":"2026-08","offers_as_of":"2026-08-31","executive_conclusions":5,"source_signature":"c4c868a5e5924b391ec6b611ee7484f13bf36737f0991d1d518c8985263aa45c"}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[Footer source]</a:t>
            </a:r>
          </a:p>
          <a:p xmlns:a="http://schemas.openxmlformats.org/drawingml/2006/main">
            <a:r>
              <a:t>Fonte: CVM, Informe Mensal e cadastro de prestadores, ago/26. Exclui Sistema Petrobras e TAPSO. Gestão/custódia históricas reconstruídas com cadastro vigente.</a:t>
            </a:r>
          </a:p>
          <a:p xmlns:a="http://schemas.openxmlformats.org/drawingml/2006/main">
            <a:r>
              <a:t>[/Footer source]</a:t>
            </a:r>
          </a:p>
          <a:p xmlns:a="http://schemas.openxmlformats.org/drawingml/2006/main">
            <a:r>
              <a:t>[Industry contract] {"id":"provider_history","latest_complete":"2026-08","offers_as_of":"2026-08-31","executive_conclusions":5,"source_signature":"c4c868a5e5924b391ec6b611ee7484f13bf36737f0991d1d518c8985263aa45c"}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[Footer source]</a:t>
            </a:r>
          </a:p>
          <a:p xmlns:a="http://schemas.openxmlformats.org/drawingml/2006/main">
            <a:r>
              <a:t>Fonte: CVM, dez/25 e ago/26. PL ex-FIC; Sistema Petrobras e TAPSO excluídos do numerador e denominador. Administração observada; gestão/custódia históricas reconstruídas com cadastro vigente.</a:t>
            </a:r>
          </a:p>
          <a:p xmlns:a="http://schemas.openxmlformats.org/drawingml/2006/main">
            <a:r>
              <a:t>[/Footer source]</a:t>
            </a:r>
          </a:p>
          <a:p xmlns:a="http://schemas.openxmlformats.org/drawingml/2006/main">
            <a:r>
              <a:t>[Industry contract] {"id":"provider_ranking","latest_complete":"2026-08","offers_as_of":"2026-08-31","executive_conclusions":5,"source_signature":"c4c868a5e5924b391ec6b611ee7484f13bf36737f0991d1d518c8985263aa45c"}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[Footer source]</a:t>
            </a:r>
          </a:p>
          <a:p xmlns:a="http://schemas.openxmlformats.org/drawingml/2006/main">
            <a:r>
              <a:t>Fonte: CVM/SRE, snapshot 8/out/26. Primárias encerradas, volume registrado. Público-alvo mede elegibilidade. Contas podem repetir investidores.</a:t>
            </a:r>
          </a:p>
          <a:p xmlns:a="http://schemas.openxmlformats.org/drawingml/2006/main">
            <a:r>
              <a:t>[/Footer source]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jan–ago/26.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[Industry contract] {"id":"investor_base","latest_complete":"2026-08","offers_as_of":"2026-08-31","executive_conclusions":5,"source_signature":"c4c868a5e5924b391ec6b611ee7484f13bf36737f0991d1d518c8985263aa45c"}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[Footer source]</a:t>
            </a:r>
          </a:p>
          <a:p xmlns:a="http://schemas.openxmlformats.org/drawingml/2006/main">
            <a:r>
              <a:t>Fonte: CVM, dez/23 e ago/26. Ex-FIC com PL ≥ R$ 200 mi: 397 → 736 fundos; contas por classe/série, não investidores únicos.</a:t>
            </a:r>
          </a:p>
          <a:p xmlns:a="http://schemas.openxmlformats.org/drawingml/2006/main">
            <a:r>
              <a:t>[/Footer source]</a:t>
            </a:r>
          </a:p>
          <a:p xmlns:a="http://schemas.openxmlformats.org/drawingml/2006/main">
            <a:r>
              <a:t>[Industry contract] {"id":"holder_distribution","latest_complete":"2026-08","offers_as_of":"2026-08-31","executive_conclusions":5,"source_signature":"c4c868a5e5924b391ec6b611ee7484f13bf36737f0991d1d518c8985263aa45c"}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d6890cef1f42b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8b757c862d480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2673e296894aa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53e253c53d40a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adf59427cc4dc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22f05cb03342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FD5BAC-5B11-4E3E-97F8-15BF36B667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1E9755C-18E6-4F97-9F08-EFB3439B614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499B74A-F24D-4E4B-8E9A-06634BE6C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08D5CE6-C38F-4A7F-9463-E52381B986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99C731E-53F0-46DE-BFC5-A7CCB263FB8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0958610-9D76-4544-990D-CABCADA364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1242370-61B1-40BD-86DD-BF4854525B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EFF55E9-44C8-4434-9D48-6AF4F221D95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AF96963-9730-4B22-BF68-4A8F83CE5F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B17756-A4FE-41DE-98E9-A96DE94C6E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c98961f9784fba" /><Relationship Type="http://schemas.openxmlformats.org/officeDocument/2006/relationships/slideLayout" Target="/ppt/slideLayouts/slideLayout1.xml" Id="Rd136bd3491c944f0" /><Relationship Type="http://schemas.openxmlformats.org/officeDocument/2006/relationships/slideLayout" Target="/ppt/slideLayouts/slideLayout2.xml" Id="R96369e20fda840de" /><Relationship Type="http://schemas.openxmlformats.org/officeDocument/2006/relationships/slideLayout" Target="/ppt/slideLayouts/slideLayout3.xml" Id="R712aa2d83b624fc2" /><Relationship Type="http://schemas.openxmlformats.org/officeDocument/2006/relationships/slideLayout" Target="/ppt/slideLayouts/slideLayout4.xml" Id="R627463bfdfa14909" /><Relationship Type="http://schemas.openxmlformats.org/officeDocument/2006/relationships/slideLayout" Target="/ppt/slideLayouts/slideLayout5.xml" Id="R8e75f7e659094070" /><Relationship Type="http://schemas.openxmlformats.org/officeDocument/2006/relationships/slideLayout" Target="/ppt/slideLayouts/slideLayout6.xml" Id="R586d1644875c4a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36bd3491c944f0"/>
    <p:sldLayoutId xmlns:r="http://schemas.openxmlformats.org/officeDocument/2006/relationships" id="2147483650" r:id="R96369e20fda840de"/>
    <p:sldLayoutId xmlns:r="http://schemas.openxmlformats.org/officeDocument/2006/relationships" id="2147483651" r:id="R712aa2d83b624fc2"/>
    <p:sldLayoutId xmlns:r="http://schemas.openxmlformats.org/officeDocument/2006/relationships" id="2147483652" r:id="R627463bfdfa14909"/>
    <p:sldLayoutId xmlns:r="http://schemas.openxmlformats.org/officeDocument/2006/relationships" id="2147483653" r:id="R8e75f7e659094070"/>
    <p:sldLayoutId xmlns:r="http://schemas.openxmlformats.org/officeDocument/2006/relationships" id="2147483654" r:id="R586d1644875c4a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b97ad1c0d147f3" /><Relationship Type="http://schemas.openxmlformats.org/officeDocument/2006/relationships/notesSlide" Target="/ppt/notesSlides/notesSlide1.xml" Id="R68a99a51e1314f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20b89517a345ab" /><Relationship Type="http://schemas.openxmlformats.org/officeDocument/2006/relationships/chart" Target="/ppt/slides/charts/chart1.xml" Id="R14443294571c4481" /><Relationship Type="http://schemas.openxmlformats.org/officeDocument/2006/relationships/chart" Target="/ppt/slides/charts/chart2.xml" Id="R5ee6cd80e6f042e6" /><Relationship Type="http://schemas.openxmlformats.org/officeDocument/2006/relationships/notesSlide" Target="/ppt/notesSlides/notesSlide2.xml" Id="Rfc583637419441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2b0ab5c6ab4a60" /><Relationship Type="http://schemas.openxmlformats.org/officeDocument/2006/relationships/chart" Target="/ppt/slides/charts/chart3.xml" Id="Rc9c0ab00fa4c4a3f" /><Relationship Type="http://schemas.openxmlformats.org/officeDocument/2006/relationships/chart" Target="/ppt/slides/charts/chart4.xml" Id="R349e717244f7426d" /><Relationship Type="http://schemas.openxmlformats.org/officeDocument/2006/relationships/notesSlide" Target="/ppt/notesSlides/notesSlide3.xml" Id="R18c280c878ee41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4ce0c79aaa47c4" /><Relationship Type="http://schemas.openxmlformats.org/officeDocument/2006/relationships/chart" Target="/ppt/slides/charts/chart5.xml" Id="R883979df7eb74067" /><Relationship Type="http://schemas.openxmlformats.org/officeDocument/2006/relationships/chart" Target="/ppt/slides/charts/chart6.xml" Id="R520a01d8221e424f" /><Relationship Type="http://schemas.openxmlformats.org/officeDocument/2006/relationships/notesSlide" Target="/ppt/notesSlides/notesSlide4.xml" Id="Rb258b1ce7a1a40a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47d460ba8448db" /><Relationship Type="http://schemas.openxmlformats.org/officeDocument/2006/relationships/chart" Target="/ppt/slides/charts/chart7.xml" Id="R8e8e049c3f544572" /><Relationship Type="http://schemas.openxmlformats.org/officeDocument/2006/relationships/chart" Target="/ppt/slides/charts/chart8.xml" Id="R66e304399e8c4721" /><Relationship Type="http://schemas.openxmlformats.org/officeDocument/2006/relationships/notesSlide" Target="/ppt/notesSlides/notesSlide5.xml" Id="R585ff0932ac846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c63c4f337d472b" /><Relationship Type="http://schemas.openxmlformats.org/officeDocument/2006/relationships/chart" Target="/ppt/slides/charts/chart9.xml" Id="Red6902bfb444454b" /><Relationship Type="http://schemas.openxmlformats.org/officeDocument/2006/relationships/chart" Target="/ppt/slides/charts/chart10.xml" Id="Rdd543e66e2f7471f" /><Relationship Type="http://schemas.openxmlformats.org/officeDocument/2006/relationships/notesSlide" Target="/ppt/notesSlides/notesSlide6.xml" Id="Rd0c13dc081bd40b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ec58fad85743e0" /><Relationship Type="http://schemas.openxmlformats.org/officeDocument/2006/relationships/chart" Target="/ppt/slides/charts/chart11.xml" Id="Rff9ceba655b64b99" /><Relationship Type="http://schemas.openxmlformats.org/officeDocument/2006/relationships/chart" Target="/ppt/slides/charts/chart12.xml" Id="R99902a3bdf6f4d5a" /><Relationship Type="http://schemas.openxmlformats.org/officeDocument/2006/relationships/notesSlide" Target="/ppt/notesSlides/notesSlide7.xml" Id="Raca2696b85a54b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586457bb3241fa" /><Relationship Type="http://schemas.openxmlformats.org/officeDocument/2006/relationships/chart" Target="/ppt/slides/charts/chart13.xml" Id="R700fdb5dd10e4bfe" /><Relationship Type="http://schemas.openxmlformats.org/officeDocument/2006/relationships/chart" Target="/ppt/slides/charts/chart14.xml" Id="R92a092dd332d40e4" /><Relationship Type="http://schemas.openxmlformats.org/officeDocument/2006/relationships/notesSlide" Target="/ppt/notesSlides/notesSlide8.xml" Id="R89b07546ef70443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094bec8bbb4f23" /><Relationship Type="http://schemas.openxmlformats.org/officeDocument/2006/relationships/chart" Target="/ppt/slides/charts/chart15.xml" Id="R35477c08c8ac4477" /><Relationship Type="http://schemas.openxmlformats.org/officeDocument/2006/relationships/chart" Target="/ppt/slides/charts/chart16.xml" Id="R40af07843fc0489a" /><Relationship Type="http://schemas.openxmlformats.org/officeDocument/2006/relationships/chart" Target="/ppt/slides/charts/chart17.xml" Id="R513703b73cd84959" /><Relationship Type="http://schemas.openxmlformats.org/officeDocument/2006/relationships/notesSlide" Target="/ppt/notesSlides/notesSlide9.xml" Id="Rbf20129c3dc94d7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c919bf40aa4ff6" /><Relationship Type="http://schemas.openxmlformats.org/officeDocument/2006/relationships/chart" Target="/ppt/slides/charts/chart18.xml" Id="R003cfc7563f64aa0" /><Relationship Type="http://schemas.openxmlformats.org/officeDocument/2006/relationships/notesSlide" Target="/ppt/notesSlides/notesSlide10.xml" Id="R111ee9740c1840c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5292b5f6e24cf9" /><Relationship Type="http://schemas.openxmlformats.org/officeDocument/2006/relationships/notesSlide" Target="/ppt/notesSlides/notesSlide11.xml" Id="R1a6dfee68e28429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c55ce9bf844096" /><Relationship Type="http://schemas.openxmlformats.org/officeDocument/2006/relationships/chart" Target="/ppt/slides/charts/chart19.xml" Id="R6505b03b022a4757" /><Relationship Type="http://schemas.openxmlformats.org/officeDocument/2006/relationships/chart" Target="/ppt/slides/charts/chart20.xml" Id="Re6d29434240d4a1e" /><Relationship Type="http://schemas.openxmlformats.org/officeDocument/2006/relationships/chart" Target="/ppt/slides/charts/chart21.xml" Id="R3745d504ddf045a3" /><Relationship Type="http://schemas.openxmlformats.org/officeDocument/2006/relationships/chart" Target="/ppt/slides/charts/chart22.xml" Id="Rdd0471f9323a4e35" /><Relationship Type="http://schemas.openxmlformats.org/officeDocument/2006/relationships/chart" Target="/ppt/slides/charts/chart23.xml" Id="Rd0b29a38801b4047" /><Relationship Type="http://schemas.openxmlformats.org/officeDocument/2006/relationships/chart" Target="/ppt/slides/charts/chart24.xml" Id="R26035e19fc7247f9" /><Relationship Type="http://schemas.openxmlformats.org/officeDocument/2006/relationships/notesSlide" Target="/ppt/notesSlides/notesSlide12.xml" Id="R925efd3a4b57438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5a164491224ebf" /><Relationship Type="http://schemas.openxmlformats.org/officeDocument/2006/relationships/chart" Target="/ppt/slides/charts/chart25.xml" Id="Raa4668c8492e4e00" /><Relationship Type="http://schemas.openxmlformats.org/officeDocument/2006/relationships/chart" Target="/ppt/slides/charts/chart26.xml" Id="R40c33382c55a4180" /><Relationship Type="http://schemas.openxmlformats.org/officeDocument/2006/relationships/notesSlide" Target="/ppt/notesSlides/notesSlide13.xml" Id="R8516dc708f43446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18e7af3c444ebb" /><Relationship Type="http://schemas.openxmlformats.org/officeDocument/2006/relationships/chart" Target="/ppt/slides/charts/chart27.xml" Id="R9244f9814f69458d" /><Relationship Type="http://schemas.openxmlformats.org/officeDocument/2006/relationships/chart" Target="/ppt/slides/charts/chart28.xml" Id="Rb11b9cc868ab40a1" /><Relationship Type="http://schemas.openxmlformats.org/officeDocument/2006/relationships/chart" Target="/ppt/slides/charts/chart29.xml" Id="Rc6be9a6c2f814bb6" /><Relationship Type="http://schemas.openxmlformats.org/officeDocument/2006/relationships/notesSlide" Target="/ppt/notesSlides/notesSlide14.xml" Id="R82d643475096486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c984c86ab447f1" /><Relationship Type="http://schemas.openxmlformats.org/officeDocument/2006/relationships/chart" Target="/ppt/slides/charts/chart30.xml" Id="R519a66e45bc6470d" /><Relationship Type="http://schemas.openxmlformats.org/officeDocument/2006/relationships/chart" Target="/ppt/slides/charts/chart31.xml" Id="R8ca47764c9574c14" /><Relationship Type="http://schemas.openxmlformats.org/officeDocument/2006/relationships/chart" Target="/ppt/slides/charts/chart32.xml" Id="Rdc0cd18fb5144ec6" /><Relationship Type="http://schemas.openxmlformats.org/officeDocument/2006/relationships/chart" Target="/ppt/slides/charts/chart33.xml" Id="R95571c662a1f4c8c" /><Relationship Type="http://schemas.openxmlformats.org/officeDocument/2006/relationships/notesSlide" Target="/ppt/notesSlides/notesSlide15.xml" Id="Rf0026b2e9aa64c9e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ago/26</c:v>
              </c:pt>
            </c:strLit>
          </c:cat>
          <c:val>
            <c:numLit>
              <c:formatCode>0.0</c:formatCode>
              <c:ptCount val="12"/>
              <c:pt idx="0">
                <c:v>82.63155676417998</c:v>
              </c:pt>
              <c:pt idx="1">
                <c:v>91.42660161545</c:v>
              </c:pt>
              <c:pt idx="2">
                <c:v>111.00114440981</c:v>
              </c:pt>
              <c:pt idx="3">
                <c:v>134.38066146695</c:v>
              </c:pt>
              <c:pt idx="4">
                <c:v>228.12883197556</c:v>
              </c:pt>
              <c:pt idx="5">
                <c:v>207.50230456466997</c:v>
              </c:pt>
              <c:pt idx="6">
                <c:v>296.30685152310997</c:v>
              </c:pt>
              <c:pt idx="7">
                <c:v>361.9357137532</c:v>
              </c:pt>
              <c:pt idx="8">
                <c:v>454.64868686874</c:v>
              </c:pt>
              <c:pt idx="9">
                <c:v>654.4195968116601</c:v>
              </c:pt>
              <c:pt idx="10">
                <c:v>789.36577017306</c:v>
              </c:pt>
              <c:pt idx="11">
                <c:v>844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08/26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7455.305</c:v>
              </c:pt>
              <c:pt idx="11">
                <c:v>7732.16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08/26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1526.812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08/26</c:v>
              </c:pt>
            </c:strLit>
          </c:cat>
          <c:val>
            <c:numLit>
              <c:formatCode>[&gt;=1000]#\.##0;0</c:formatCode>
              <c:ptCount val="12"/>
              <c:pt idx="0">
                <c:v>70.86095119410001</c:v>
              </c:pt>
              <c:pt idx="1">
                <c:v>82.19072984</c:v>
              </c:pt>
              <c:pt idx="2">
                <c:v>95.75352406850999</c:v>
              </c:pt>
              <c:pt idx="3">
                <c:v>106.12068752539999</c:v>
              </c:pt>
              <c:pt idx="4">
                <c:v>182.22866537173002</c:v>
              </c:pt>
              <c:pt idx="5">
                <c:v>160.17258675028998</c:v>
              </c:pt>
              <c:pt idx="6">
                <c:v>250.02515732651</c:v>
              </c:pt>
              <c:pt idx="7">
                <c:v>304.88729907795</c:v>
              </c:pt>
              <c:pt idx="8">
                <c:v>387.7969193108501</c:v>
              </c:pt>
              <c:pt idx="9">
                <c:v>549.9166688619099</c:v>
              </c:pt>
              <c:pt idx="10">
                <c:v>641.37597886001</c:v>
              </c:pt>
              <c:pt idx="11">
                <c:v>702.06274298256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08/26</c:v>
              </c:pt>
            </c:strLit>
          </c:cat>
          <c:val>
            <c:numLit>
              <c:formatCode>[&gt;=1000]#\.##0;0</c:formatCode>
              <c:ptCount val="12"/>
              <c:pt idx="0">
                <c:v>72.64204880589999</c:v>
              </c:pt>
              <c:pt idx="1">
                <c:v>91.52627016</c:v>
              </c:pt>
              <c:pt idx="2">
                <c:v>112.90947593149001</c:v>
              </c:pt>
              <c:pt idx="3">
                <c:v>121.5283124746</c:v>
              </c:pt>
              <c:pt idx="4">
                <c:v>128.34033462827</c:v>
              </c:pt>
              <c:pt idx="5">
                <c:v>127.67341324971002</c:v>
              </c:pt>
              <c:pt idx="6">
                <c:v>183.94284267349</c:v>
              </c:pt>
              <c:pt idx="7">
                <c:v>261.46670092205</c:v>
              </c:pt>
              <c:pt idx="8">
                <c:v>334.0110806891499</c:v>
              </c:pt>
              <c:pt idx="9">
                <c:v>444.7183311380901</c:v>
              </c:pt>
              <c:pt idx="10">
                <c:v>452.00202113999</c:v>
              </c:pt>
              <c:pt idx="11">
                <c:v>517.5192570174399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08/26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3419.51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>
              <c:idx val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Pos val="t"/>
            <c:numFmt formatCode="[&gt;=1000]#\.##0;0" sourceLinked="0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08/26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13368.258</c:v>
              </c:pt>
              <c:pt idx="11">
                <c:v>13898.064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jan–ago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116.94131905477</c:v>
              </c:pt>
              <c:pt idx="3">
                <c:v>91.91777863226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jan–ago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656.33667063427</c:v>
              </c:pt>
              <c:pt idx="3">
                <c:v>315.70277845794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dLbls>
            <c:txPr>
              <a:bodyPr anchorCtr="1"/>
              <a:lstStyle/>
              <a:p>
                <a:pPr>
                  <a:defRPr sz="1200" b="1" lang="pt-BR">
                    <a:solidFill>
                      <a:srgbClr val="151515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jan–ago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493.2750731080017</c:v>
              </c:pt>
              <c:pt idx="3">
                <c:v>229.7424619536112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dLbls>
            <c:txPr>
              <a:bodyPr anchorCtr="1"/>
              <a:lstStyle/>
              <a:p>
                <a:pPr>
                  <a:defRPr sz="1200" b="1" lang="pt-BR">
                    <a:solidFill>
                      <a:srgbClr val="151515"/>
                    </a:solidFill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jan–ago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74.26224557847324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dLbls>
            <c:txPr>
              <a:bodyPr anchorCtr="1"/>
              <a:lstStyle/>
              <a:p>
                <a:pPr>
                  <a:defRPr sz="1200" b="1" lang="pt-BR">
                    <a:solidFill>
                      <a:srgbClr val="151515"/>
                    </a:solidFill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jan–ago</c:v>
              </c:pt>
            </c:strLit>
          </c:cat>
          <c:val>
            <c:numLit>
              <c:formatCode>0.0</c:formatCode>
              <c:ptCount val="4"/>
              <c:pt idx="0">
                <c:v>47.64495032449912</c:v>
              </c:pt>
              <c:pt idx="1">
                <c:v>61.35438150259682</c:v>
              </c:pt>
              <c:pt idx="2">
                <c:v>49.37089080745136</c:v>
              </c:pt>
              <c:pt idx="3">
                <c:v>24.438827825440583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dLbls>
            <c:txPr>
              <a:bodyPr anchorCtr="1"/>
              <a:lstStyle/>
              <a:p>
                <a:pPr>
                  <a:defRPr sz="1200" b="1" lang="pt-BR">
                    <a:solidFill>
                      <a:srgbClr val="151515"/>
                    </a:solidFill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jan–ago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33.683449893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dLbls>
            <c:txPr>
              <a:bodyPr anchorCtr="1"/>
              <a:lstStyle/>
              <a:p>
                <a:pPr>
                  <a:defRPr sz="1200" b="1" lang="pt-BR">
                    <a:solidFill>
                      <a:srgbClr val="151515"/>
                    </a:solidFill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jan–ago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10.108581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jan–ago/25</c:v>
              </c:pt>
              <c:pt idx="4">
                <c:v>jan–ago/26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5.53843491194</c:v>
              </c:pt>
              <c:pt idx="4">
                <c:v>7.5066689231099994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jan–ago/25</c:v>
              </c:pt>
              <c:pt idx="4">
                <c:v>jan–ago/26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19.7735035084</c:v>
              </c:pt>
              <c:pt idx="2">
                <c:v>28.71965699961</c:v>
              </c:pt>
              <c:pt idx="3">
                <c:v>20.718512685009998</c:v>
              </c:pt>
              <c:pt idx="4">
                <c:v>14.90623897177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jan–ago/25</c:v>
              </c:pt>
              <c:pt idx="4">
                <c:v>jan–ago/26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52.34243792368</c:v>
              </c:pt>
              <c:pt idx="3">
                <c:v>28.69109895684</c:v>
              </c:pt>
              <c:pt idx="4">
                <c:v>55.916809684620006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jan–ago/25</c:v>
              </c:pt>
              <c:pt idx="4">
                <c:v>jan–ago/26</c:v>
              </c:pt>
            </c:strLit>
          </c:cat>
          <c:val>
            <c:numLit>
              <c:formatCode>0.0</c:formatCode>
              <c:ptCount val="5"/>
              <c:pt idx="0">
                <c:v>8.665270348109308</c:v>
              </c:pt>
              <c:pt idx="1">
                <c:v>12.10586395418</c:v>
              </c:pt>
              <c:pt idx="2">
                <c:v>17.029451789299998</c:v>
              </c:pt>
              <c:pt idx="3">
                <c:v>10.01550119843</c:v>
              </c:pt>
              <c:pt idx="4">
                <c:v>9.248481503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5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jan–ago/25</c:v>
              </c:pt>
              <c:pt idx="4">
                <c:v>jan–ago/26</c:v>
              </c:pt>
            </c:strLit>
          </c:cat>
          <c:val>
            <c:numLit>
              <c:formatCode>0.0%</c:formatCode>
              <c:ptCount val="5"/>
              <c:pt idx="0">
                <c:v>0.1060214980571875</c:v>
              </c:pt>
              <c:pt idx="1">
                <c:v>0.10976123933728438</c:v>
              </c:pt>
              <c:pt idx="2">
                <c:v>0.08433780605242078</c:v>
              </c:pt>
              <c:pt idx="3">
                <c:v>0.08525450200263632</c:v>
              </c:pt>
              <c:pt idx="4">
                <c:v>0.08571389914102484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jan–ago/25</c:v>
              </c:pt>
              <c:pt idx="4">
                <c:v>jan–ago/26</c:v>
              </c:pt>
            </c:strLit>
          </c:cat>
          <c:val>
            <c:numLit>
              <c:formatCode>0.0%</c:formatCode>
              <c:ptCount val="5"/>
              <c:pt idx="0">
                <c:v>0.21240708879058579</c:v>
              </c:pt>
              <c:pt idx="1">
                <c:v>0.22340013096246855</c:v>
              </c:pt>
              <c:pt idx="2">
                <c:v>0.2680914413016343</c:v>
              </c:pt>
              <c:pt idx="3">
                <c:v>0.3189252034700027</c:v>
              </c:pt>
              <c:pt idx="4">
                <c:v>0.17020490405069982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jan–ago/25</c:v>
              </c:pt>
              <c:pt idx="4">
                <c:v>jan–ago/26</c:v>
              </c:pt>
            </c:strLit>
          </c:cat>
          <c:val>
            <c:numLit>
              <c:formatCode>0.0%</c:formatCode>
              <c:ptCount val="5"/>
              <c:pt idx="0">
                <c:v>0.470634179844277</c:v>
              </c:pt>
              <c:pt idx="1">
                <c:v>0.530067136897833</c:v>
              </c:pt>
              <c:pt idx="2">
                <c:v>0.4886047080712437</c:v>
              </c:pt>
              <c:pt idx="3">
                <c:v>0.44164920096839294</c:v>
              </c:pt>
              <c:pt idx="4">
                <c:v>0.6384786427492705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jan–ago/25</c:v>
              </c:pt>
              <c:pt idx="4">
                <c:v>jan–ago/26</c:v>
              </c:pt>
            </c:strLit>
          </c:cat>
          <c:val>
            <c:numLit>
              <c:formatCode>0.0%</c:formatCode>
              <c:ptCount val="5"/>
              <c:pt idx="0">
                <c:v>0.21093723330794978</c:v>
              </c:pt>
              <c:pt idx="1">
                <c:v>0.13677149280241402</c:v>
              </c:pt>
              <c:pt idx="2">
                <c:v>0.15896604457470118</c:v>
              </c:pt>
              <c:pt idx="3">
                <c:v>0.1541710935589681</c:v>
              </c:pt>
              <c:pt idx="4">
                <c:v>0.1056025540590049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ago/26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67.01959486204</c:v>
              </c:pt>
              <c:pt idx="2">
                <c:v>84.24207384086</c:v>
              </c:pt>
              <c:pt idx="3">
                <c:v>88.15667028778999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ago/26</c:v>
              </c:pt>
            </c:strLit>
          </c:cat>
          <c:val>
            <c:numLit>
              <c:formatCode>0.0</c:formatCode>
              <c:ptCount val="4"/>
              <c:pt idx="0">
                <c:v>125.55640366619001</c:v>
              </c:pt>
              <c:pt idx="1">
                <c:v>202.41346003143</c:v>
              </c:pt>
              <c:pt idx="2">
                <c:v>196.58030103999</c:v>
              </c:pt>
              <c:pt idx="3">
                <c:v>215.39038080041001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ago/26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213.09916363506</c:v>
              </c:pt>
              <c:pt idx="2">
                <c:v>273.75106386191</c:v>
              </c:pt>
              <c:pt idx="3">
                <c:v>327.25363108997004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ago/26</c:v>
              </c:pt>
            </c:strLit>
          </c:cat>
          <c:val>
            <c:numLit>
              <c:formatCode>0.0</c:formatCode>
              <c:ptCount val="4"/>
              <c:pt idx="0">
                <c:v>56.46220370918</c:v>
              </c:pt>
              <c:pt idx="1">
                <c:v>73.90003974282</c:v>
              </c:pt>
              <c:pt idx="2">
                <c:v>92.53182619136</c:v>
              </c:pt>
              <c:pt idx="3">
                <c:v>83.43211407329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ago/26</c:v>
              </c:pt>
            </c:strLit>
          </c:cat>
          <c:val>
            <c:numLit>
              <c:formatCode>0.0</c:formatCode>
              <c:ptCount val="4"/>
              <c:pt idx="0">
                <c:v>42.82151457432</c:v>
              </c:pt>
              <c:pt idx="1">
                <c:v>63.92391056737</c:v>
              </c:pt>
              <c:pt idx="2">
                <c:v>107.99310821489</c:v>
              </c:pt>
              <c:pt idx="3">
                <c:v>91.76959446947001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ago/26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34.994465756669996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ago/26</c:v>
              </c:pt>
            </c:strLit>
          </c:cat>
          <c:val>
            <c:numLit>
              <c:formatCode>0.0</c:formatCode>
              <c:ptCount val="4"/>
              <c:pt idx="0">
                <c:v>0.68858651543</c:v>
              </c:pt>
              <c:pt idx="1">
                <c:v>0.40076079222</c:v>
              </c:pt>
              <c:pt idx="2">
                <c:v>0.28833289227</c:v>
              </c:pt>
              <c:pt idx="3">
                <c:v>3.40772504529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ago/26</c:v>
              </c:pt>
            </c:strLit>
          </c:cat>
          <c:val>
            <c:numLit>
              <c:formatCode>0.0%</c:formatCode>
              <c:ptCount val="4"/>
              <c:pt idx="0">
                <c:v>0.11666121178474435</c:v>
              </c:pt>
              <c:pt idx="1">
                <c:v>0.10241073951415919</c:v>
              </c:pt>
              <c:pt idx="2">
                <c:v>0.10672121470682827</c:v>
              </c:pt>
              <c:pt idx="3">
                <c:v>0.10440098528219585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ago/26</c:v>
              </c:pt>
            </c:strLit>
          </c:cat>
          <c:val>
            <c:numLit>
              <c:formatCode>0.0%</c:formatCode>
              <c:ptCount val="4"/>
              <c:pt idx="0">
                <c:v>0.2761613687502829</c:v>
              </c:pt>
              <c:pt idx="1">
                <c:v>0.30930225961690444</c:v>
              </c:pt>
              <c:pt idx="2">
                <c:v>0.24903575562554714</c:v>
              </c:pt>
              <c:pt idx="3">
                <c:v>0.25507959752178494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ago/26</c:v>
              </c:pt>
            </c:strLit>
          </c:cat>
          <c:val>
            <c:numLit>
              <c:formatCode>0.0%</c:formatCode>
              <c:ptCount val="4"/>
              <c:pt idx="0">
                <c:v>0.3404917985148672</c:v>
              </c:pt>
              <c:pt idx="1">
                <c:v>0.32563077981356553</c:v>
              </c:pt>
              <c:pt idx="2">
                <c:v>0.3467987518661887</c:v>
              </c:pt>
              <c:pt idx="3">
                <c:v>0.38755548969164244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ago/26</c:v>
              </c:pt>
            </c:strLit>
          </c:cat>
          <c:val>
            <c:numLit>
              <c:formatCode>0.0%</c:formatCode>
              <c:ptCount val="4"/>
              <c:pt idx="0">
                <c:v>0.12418864353935988</c:v>
              </c:pt>
              <c:pt idx="1">
                <c:v>0.1129245519279402</c:v>
              </c:pt>
              <c:pt idx="2">
                <c:v>0.1172230031852957</c:v>
              </c:pt>
              <c:pt idx="3">
                <c:v>0.09880585195643958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ago/26</c:v>
              </c:pt>
            </c:strLit>
          </c:cat>
          <c:val>
            <c:numLit>
              <c:formatCode>0.0%</c:formatCode>
              <c:ptCount val="4"/>
              <c:pt idx="0">
                <c:v>0.09418594138969294</c:v>
              </c:pt>
              <c:pt idx="1">
                <c:v>0.09768031226266458</c:v>
              </c:pt>
              <c:pt idx="2">
                <c:v>0.13680997111290205</c:v>
              </c:pt>
              <c:pt idx="3">
                <c:v>0.10867965010796464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ago/26</c:v>
              </c:pt>
            </c:strLit>
          </c:cat>
          <c:val>
            <c:numLit>
              <c:formatCode>0.0%</c:formatCode>
              <c:ptCount val="4"/>
              <c:pt idx="0">
                <c:v>0.04679648965741434</c:v>
              </c:pt>
              <c:pt idx="1">
                <c:v>0.051438965680008525</c:v>
              </c:pt>
              <c:pt idx="2">
                <c:v>0.043046031910315107</c:v>
              </c:pt>
              <c:pt idx="3">
                <c:v>0.041442771063081175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ago/26</c:v>
              </c:pt>
            </c:strLit>
          </c:cat>
          <c:val>
            <c:numLit>
              <c:formatCode>0.0%</c:formatCode>
              <c:ptCount val="4"/>
              <c:pt idx="0">
                <c:v>0.001514546363638348</c:v>
              </c:pt>
              <c:pt idx="1">
                <c:v>0.0006123911847574726</c:v>
              </c:pt>
              <c:pt idx="2">
                <c:v>0.0003652715929229945</c:v>
              </c:pt>
              <c:pt idx="3">
                <c:v>0.004035654376891398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Cartão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112.84223906272</c:v>
              </c:pt>
              <c:pt idx="1">
                <c:v>103.38959267897</c:v>
              </c:pt>
              <c:pt idx="2">
                <c:v>51.72285589365</c:v>
              </c:pt>
              <c:pt idx="3">
                <c:v>48.49859638028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12.21774252025</c:v>
              </c:pt>
              <c:pt idx="8">
                <c:v>30.455624762630002</c:v>
              </c:pt>
              <c:pt idx="9">
                <c:v>17.30426139734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Ago/26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Cartão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344.92603977681</c:v>
              </c:pt>
              <c:pt idx="1">
                <c:v>144.43601850436002</c:v>
              </c:pt>
              <c:pt idx="2">
                <c:v>90.55212175287</c:v>
              </c:pt>
              <c:pt idx="3">
                <c:v>84.23829787557001</c:v>
              </c:pt>
              <c:pt idx="4">
                <c:v>57.21448843553</c:v>
              </c:pt>
              <c:pt idx="5">
                <c:v>39.64713624611</c:v>
              </c:pt>
              <c:pt idx="6">
                <c:v>28.030075386630003</c:v>
              </c:pt>
              <c:pt idx="7">
                <c:v>23.715751771009998</c:v>
              </c:pt>
              <c:pt idx="8">
                <c:v>16.2004902444</c:v>
              </c:pt>
              <c:pt idx="9">
                <c:v>11.070608548520001</c:v>
              </c:pt>
              <c:pt idx="10">
                <c:v>4.24984038337</c:v>
              </c:pt>
              <c:pt idx="11">
                <c:v>0.12371259771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Cartão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0.2481965577419522</c:v>
              </c:pt>
              <c:pt idx="1">
                <c:v>0.2274054575875619</c:v>
              </c:pt>
              <c:pt idx="2">
                <c:v>0.1137644457963269</c:v>
              </c:pt>
              <c:pt idx="3">
                <c:v>0.1066726854844779</c:v>
              </c:pt>
              <c:pt idx="4">
                <c:v>0.05314817563405</c:v>
              </c:pt>
              <c:pt idx="5">
                <c:v>0.0553273731713697</c:v>
              </c:pt>
              <c:pt idx="6">
                <c:v>0.0600935331942086</c:v>
              </c:pt>
              <c:pt idx="7">
                <c:v>0.0268729304034641</c:v>
              </c:pt>
              <c:pt idx="8">
                <c:v>0.0669871609492248</c:v>
              </c:pt>
              <c:pt idx="9">
                <c:v>0.0380607310592229</c:v>
              </c:pt>
              <c:pt idx="10">
                <c:v>0.0030017842506251</c:v>
              </c:pt>
              <c:pt idx="11">
                <c:v>0.0004691647275153</c:v>
              </c:pt>
            </c:numLit>
          </c:val>
        </c:ser>
        <c:ser>
          <c:idx val="1"/>
          <c:order val="1"/>
          <c:tx>
            <c:v>Ago/26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Cartão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0.408484330052702</c:v>
              </c:pt>
              <c:pt idx="1">
                <c:v>0.1710507281282967</c:v>
              </c:pt>
              <c:pt idx="2">
                <c:v>0.1072378380391524</c:v>
              </c:pt>
              <c:pt idx="3">
                <c:v>0.0997605883706192</c:v>
              </c:pt>
              <c:pt idx="4">
                <c:v>0.0677571980156043</c:v>
              </c:pt>
              <c:pt idx="5">
                <c:v>0.0469527725377876</c:v>
              </c:pt>
              <c:pt idx="6">
                <c:v>0.0331950773361242</c:v>
              </c:pt>
              <c:pt idx="7">
                <c:v>0.0280857687060845</c:v>
              </c:pt>
              <c:pt idx="8">
                <c:v>0.0191856967606479</c:v>
              </c:pt>
              <c:pt idx="9">
                <c:v>0.0131105500737029</c:v>
              </c:pt>
              <c:pt idx="10">
                <c:v>0.0050329433027298</c:v>
              </c:pt>
              <c:pt idx="11">
                <c:v>0.000146508676548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118.05331292622</c:v>
              </c:pt>
              <c:pt idx="1">
                <c:v>115.8808738307</c:v>
              </c:pt>
              <c:pt idx="2">
                <c:v>77.90442532195</c:v>
              </c:pt>
              <c:pt idx="3">
                <c:v>39.75107760756</c:v>
              </c:pt>
              <c:pt idx="4">
                <c:v>26.37716938582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Ago/26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332.65925821093</c:v>
              </c:pt>
              <c:pt idx="1">
                <c:v>144.16812922201</c:v>
              </c:pt>
              <c:pt idx="2">
                <c:v>82.83315724176</c:v>
              </c:pt>
              <c:pt idx="3">
                <c:v>78.10700725635</c:v>
              </c:pt>
              <c:pt idx="4">
                <c:v>57.659952725500005</c:v>
              </c:pt>
              <c:pt idx="5">
                <c:v>30.446461592120002</c:v>
              </c:pt>
              <c:pt idx="6">
                <c:v>28.56465528831</c:v>
              </c:pt>
              <c:pt idx="7">
                <c:v>9.2676754882</c:v>
              </c:pt>
              <c:pt idx="8">
                <c:v>3.27430774881</c:v>
              </c:pt>
              <c:pt idx="9">
                <c:v>0.13230815233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0.26861199336743047</c:v>
              </c:pt>
              <c:pt idx="1">
                <c:v>0.2636689453372437</c:v>
              </c:pt>
              <c:pt idx="2">
                <c:v>0.17725943016060305</c:v>
              </c:pt>
              <c:pt idx="3">
                <c:v>0.09044740829377088</c:v>
              </c:pt>
              <c:pt idx="4">
                <c:v>0.060017155575663825</c:v>
              </c:pt>
              <c:pt idx="5">
                <c:v>0.043846624384564235</c:v>
              </c:pt>
              <c:pt idx="6">
                <c:v>0.05985783891185994</c:v>
              </c:pt>
              <c:pt idx="7">
                <c:v>0.03240833534065246</c:v>
              </c:pt>
              <c:pt idx="8">
                <c:v>0.0035045543451760293</c:v>
              </c:pt>
              <c:pt idx="9">
                <c:v>0.00037771428303544146</c:v>
              </c:pt>
            </c:numLit>
          </c:val>
        </c:ser>
        <c:ser>
          <c:idx val="1"/>
          <c:order val="1"/>
          <c:tx>
            <c:v>Ago/26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0.4336509692450991</c:v>
              </c:pt>
              <c:pt idx="1">
                <c:v>0.1879359958523565</c:v>
              </c:pt>
              <c:pt idx="2">
                <c:v>0.107980397469487</c:v>
              </c:pt>
              <c:pt idx="3">
                <c:v>0.10181944005921337</c:v>
              </c:pt>
              <c:pt idx="4">
                <c:v>0.0751648834922404</c:v>
              </c:pt>
              <c:pt idx="5">
                <c:v>0.03968967420451223</c:v>
              </c:pt>
              <c:pt idx="6">
                <c:v>0.03723657209646475</c:v>
              </c:pt>
              <c:pt idx="7">
                <c:v>0.012081240365054506</c:v>
              </c:pt>
              <c:pt idx="8">
                <c:v>0.004268351755831403</c:v>
              </c:pt>
              <c:pt idx="9">
                <c:v>0.00017247545974070702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116.94131905477</c:v>
              </c:pt>
              <c:pt idx="2">
                <c:v>91.91777863226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44.935587783260004</c:v>
              </c:pt>
              <c:pt idx="5">
                <c:v>57.178706968360004</c:v>
              </c:pt>
              <c:pt idx="6">
                <c:v>64.16446989868</c:v>
              </c:pt>
              <c:pt idx="7">
                <c:v>70.54665275716</c:v>
              </c:pt>
              <c:pt idx="8">
                <c:v>78.55187842665</c:v>
              </c:pt>
              <c:pt idx="9">
                <c:v>90.06350947167002</c:v>
              </c:pt>
              <c:pt idx="10">
                <c:v>100.7805255332</c:v>
              </c:pt>
              <c:pt idx="11">
                <c:v>116.94131905477002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8.415778112109999</c:v>
              </c:pt>
              <c:pt idx="1">
                <c:v>15.828976040429998</c:v>
              </c:pt>
              <c:pt idx="2">
                <c:v>27.622315847659998</c:v>
              </c:pt>
              <c:pt idx="3">
                <c:v>44.667140465989995</c:v>
              </c:pt>
              <c:pt idx="4">
                <c:v>51.68311515708999</c:v>
              </c:pt>
              <c:pt idx="5">
                <c:v>65.69611898356</c:v>
              </c:pt>
              <c:pt idx="6">
                <c:v>73.99679376974</c:v>
              </c:pt>
              <c:pt idx="7">
                <c:v>91.91777863226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txPr>
              <a:bodyPr anchorCtr="1"/>
              <a:lstStyle/>
              <a:p>
                <a:pPr>
                  <a:defRPr sz="1200" b="1" lang="pt-BR">
                    <a:solidFill>
                      <a:srgbClr val="151515"/>
                    </a:solidFill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txPr>
              <a:bodyPr anchorCtr="1"/>
              <a:lstStyle/>
              <a:p>
                <a:pPr>
                  <a:defRPr sz="1200" b="1" lang="pt-BR">
                    <a:solidFill>
                      <a:srgbClr val="151515"/>
                    </a:solidFill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0.2384823848238482</c:v>
              </c:pt>
              <c:pt idx="1">
                <c:v>0.2547425474254742</c:v>
              </c:pt>
              <c:pt idx="2">
                <c:v>0.1626016260162601</c:v>
              </c:pt>
              <c:pt idx="3">
                <c:v>0.1571815718157181</c:v>
              </c:pt>
              <c:pt idx="4">
                <c:v>0.0948509485094851</c:v>
              </c:pt>
              <c:pt idx="5">
                <c:v>0.067750677506775</c:v>
              </c:pt>
              <c:pt idx="6">
                <c:v>0.024390243902439</c:v>
              </c:pt>
            </c:numLit>
          </c:val>
        </c:ser>
        <c:ser>
          <c:idx val="2"/>
          <c:order val="2"/>
          <c:tx>
            <c:v>jan–ago/26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anchorCtr="1"/>
              <a:lstStyle/>
              <a:p>
                <a:pPr>
                  <a:defRPr sz="1200" b="1" lang="pt-BR">
                    <a:solidFill>
                      <a:srgbClr val="151515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0.2282398452611218</c:v>
              </c:pt>
              <c:pt idx="1">
                <c:v>0.2746615087040619</c:v>
              </c:pt>
              <c:pt idx="2">
                <c:v>0.1537717601547388</c:v>
              </c:pt>
              <c:pt idx="3">
                <c:v>0.1566731141199226</c:v>
              </c:pt>
              <c:pt idx="4">
                <c:v>0.0938104448742746</c:v>
              </c:pt>
              <c:pt idx="5">
                <c:v>0.0589941972920696</c:v>
              </c:pt>
              <c:pt idx="6">
                <c:v>0.0338491295938104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txPr>
              <a:bodyPr anchorCtr="1"/>
              <a:lstStyle/>
              <a:p>
                <a:pPr>
                  <a:defRPr sz="1200" b="1" lang="pt-BR">
                    <a:solidFill>
                      <a:srgbClr val="151515"/>
                    </a:solidFill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txPr>
              <a:bodyPr anchorCtr="1"/>
              <a:lstStyle/>
              <a:p>
                <a:pPr>
                  <a:defRPr sz="1200" b="1" lang="pt-BR">
                    <a:solidFill>
                      <a:srgbClr val="151515"/>
                    </a:solidFill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0.0117802528509601</c:v>
              </c:pt>
              <c:pt idx="1">
                <c:v>0.0475375774821418</c:v>
              </c:pt>
              <c:pt idx="2">
                <c:v>0.0704595367332134</c:v>
              </c:pt>
              <c:pt idx="3">
                <c:v>0.129089661273957</c:v>
              </c:pt>
              <c:pt idx="4">
                <c:v>0.1527272071321954</c:v>
              </c:pt>
              <c:pt idx="5">
                <c:v>0.2413380053828699</c:v>
              </c:pt>
              <c:pt idx="6">
                <c:v>0.3470677591446621</c:v>
              </c:pt>
            </c:numLit>
          </c:val>
        </c:ser>
        <c:ser>
          <c:idx val="2"/>
          <c:order val="2"/>
          <c:tx>
            <c:v>jan–ago/26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anchorCtr="1"/>
              <a:lstStyle/>
              <a:p>
                <a:pPr>
                  <a:defRPr sz="1200" b="1" lang="pt-BR">
                    <a:solidFill>
                      <a:srgbClr val="151515"/>
                    </a:solidFill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0.0108909674340047</c:v>
              </c:pt>
              <c:pt idx="1">
                <c:v>0.0459534320600687</c:v>
              </c:pt>
              <c:pt idx="2">
                <c:v>0.0577656009633644</c:v>
              </c:pt>
              <c:pt idx="3">
                <c:v>0.1165052921225789</c:v>
              </c:pt>
              <c:pt idx="4">
                <c:v>0.1359592600253935</c:v>
              </c:pt>
              <c:pt idx="5">
                <c:v>0.1876651135723369</c:v>
              </c:pt>
              <c:pt idx="6">
                <c:v>0.4452603338222525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txPr>
              <a:bodyPr anchorCtr="1"/>
              <a:lstStyle/>
              <a:p>
                <a:pPr>
                  <a:defRPr sz="1200" b="1" lang="pt-BR">
                    <a:solidFill>
                      <a:srgbClr val="151515"/>
                    </a:solidFill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txPr>
              <a:bodyPr anchorCtr="1"/>
              <a:lstStyle/>
              <a:p>
                <a:pPr>
                  <a:defRPr sz="1200" b="1" lang="pt-BR">
                    <a:solidFill>
                      <a:srgbClr val="151515"/>
                    </a:solidFill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1377598307.19</c:v>
              </c:pt>
              <c:pt idx="1">
                <c:v>5559107015.43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jan–ago/26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txPr>
              <a:bodyPr anchorCtr="1"/>
              <a:lstStyle/>
              <a:p>
                <a:pPr>
                  <a:defRPr sz="1200" b="1" lang="pt-BR">
                    <a:solidFill>
                      <a:srgbClr val="151515"/>
                    </a:solidFill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1001073533.69</c:v>
              </c:pt>
              <c:pt idx="1">
                <c:v>4223937395.49</c:v>
              </c:pt>
              <c:pt idx="2">
                <c:v>5309685721.91</c:v>
              </c:pt>
              <c:pt idx="3">
                <c:v>10708907650.81</c:v>
              </c:pt>
              <c:pt idx="4">
                <c:v>12497073166.020002</c:v>
              </c:pt>
              <c:pt idx="5">
                <c:v>17249760366.34</c:v>
              </c:pt>
              <c:pt idx="6">
                <c:v>40927340798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jan–ago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0.0959199638110664</c:v>
              </c:pt>
              <c:pt idx="2">
                <c:v>0.1992397474406819</c:v>
              </c:pt>
              <c:pt idx="3">
                <c:v>0.7048402887482513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0.0048998934220301</c:v>
              </c:pt>
              <c:pt idx="1">
                <c:v>0.0864944635032096</c:v>
              </c:pt>
              <c:pt idx="2">
                <c:v>0.156044867640354</c:v>
              </c:pt>
              <c:pt idx="3">
                <c:v>0.7525607754344061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ago/26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2456D6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QI Tech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28.68803190114</c:v>
              </c:pt>
              <c:pt idx="1">
                <c:v>56.23369816</c:v>
              </c:pt>
              <c:pt idx="2">
                <c:v>63.849729013200005</c:v>
              </c:pt>
              <c:pt idx="3">
                <c:v>118.02444367447002</c:v>
              </c:pt>
              <c:pt idx="4">
                <c:v>120.12383432733999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ago/26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Hemera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14.703818202799999</c:v>
              </c:pt>
              <c:pt idx="1">
                <c:v>21.51329132993</c:v>
              </c:pt>
              <c:pt idx="2">
                <c:v>22.828669994509998</c:v>
              </c:pt>
              <c:pt idx="3">
                <c:v>63.849729013200005</c:v>
              </c:pt>
              <c:pt idx="4">
                <c:v>118.02444367447002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ago/26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3787D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Oliveira Trust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19.78984260333</c:v>
              </c:pt>
              <c:pt idx="1">
                <c:v>26.36946240533</c:v>
              </c:pt>
              <c:pt idx="2">
                <c:v>42.07634182946</c:v>
              </c:pt>
              <c:pt idx="3">
                <c:v>42.49518240193</c:v>
              </c:pt>
              <c:pt idx="4">
                <c:v>87.16012705544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ago/26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A7ACB0"/>
              </a:solidFill>
            </c:spPr>
          </c:dPt>
          <c:dPt>
            <c:idx val="2"/>
            <c:invertIfNegative val="0"/>
            <c:spPr>
              <a:solidFill>
                <a:srgbClr val="BEC2C5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Integral Investimentos</c:v>
              </c:pt>
              <c:pt idx="2">
                <c:v>Solis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9.865271274100001</c:v>
              </c:pt>
              <c:pt idx="1">
                <c:v>13.888233018860001</c:v>
              </c:pt>
              <c:pt idx="2">
                <c:v>14.59126724553</c:v>
              </c:pt>
              <c:pt idx="3">
                <c:v>18.22254439571</c:v>
              </c:pt>
              <c:pt idx="4">
                <c:v>42.49518240193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ago/26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2456D6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QI Tech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21.81407703156</c:v>
              </c:pt>
              <c:pt idx="1">
                <c:v>62.59959108251</c:v>
              </c:pt>
              <c:pt idx="2">
                <c:v>81.37491463410998</c:v>
              </c:pt>
              <c:pt idx="3">
                <c:v>116.98319936882001</c:v>
              </c:pt>
              <c:pt idx="4">
                <c:v>120.37499667349002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ago/26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73C6A1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CBSF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21.40896437398</c:v>
              </c:pt>
              <c:pt idx="1">
                <c:v>22.34973465327</c:v>
              </c:pt>
              <c:pt idx="2">
                <c:v>23.31074141513</c:v>
              </c:pt>
              <c:pt idx="3">
                <c:v>81.37491463410998</c:v>
              </c:pt>
              <c:pt idx="4">
                <c:v>116.98319936882001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0.7239147912315363</c:v>
              </c:pt>
              <c:pt idx="1">
                <c:v>0.3665235868793718</c:v>
              </c:pt>
              <c:pt idx="2">
                <c:v>0.7195264286585489</c:v>
              </c:pt>
            </c:numLit>
          </c:val>
        </c:ser>
        <c:ser>
          <c:idx val="1"/>
          <c:order val="1"/>
          <c:tx>
            <c:v>Ago/26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0.7263739002187518</c:v>
              </c:pt>
              <c:pt idx="1">
                <c:v>0.3960710403881259</c:v>
              </c:pt>
              <c:pt idx="2">
                <c:v>0.7450975937718561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1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0.5096779964890795</c:v>
              </c:pt>
              <c:pt idx="1">
                <c:v>0.2517632823317417</c:v>
              </c:pt>
              <c:pt idx="2">
                <c:v>0.5296946658165912</c:v>
              </c:pt>
            </c:numLit>
          </c:val>
        </c:ser>
        <c:ser>
          <c:idx val="1"/>
          <c:order val="1"/>
          <c:tx>
            <c:v>Ago/26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0.5456612813561854</c:v>
              </c:pt>
              <c:pt idx="1">
                <c:v>0.2896969513736841</c:v>
              </c:pt>
              <c:pt idx="2">
                <c:v>0.5748822972479061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1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Ago/26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17.689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48.606</c:v>
              </c:pt>
              <c:pt idx="8">
                <c:v>61.546</c:v>
              </c:pt>
              <c:pt idx="9">
                <c:v>148.605</c:v>
              </c:pt>
              <c:pt idx="10">
                <c:v>390.128</c:v>
              </c:pt>
              <c:pt idx="11">
                <c:v>501.367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dLbls>
            <c:txPr>
              <a:bodyPr anchorCtr="1"/>
              <a:lstStyle/>
              <a:p>
                <a:pPr>
                  <a:defRPr sz="1200" b="1" lang="pt-BR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jan–ago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0.9282786710329323</c:v>
              </c:pt>
              <c:pt idx="3">
                <c:v>0.9417890652505161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jan–ago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0.06682143554503768</c:v>
              </c:pt>
              <c:pt idx="3">
                <c:v>0.05458456338847054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jan–ago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0.003626371361013431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jan–ago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0.00489989342203018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dPt>
            <c:idx val="5"/>
            <c:invertIfNegative val="0"/>
            <c:spPr>
              <a:solidFill>
                <a:srgbClr val="30353A"/>
              </a:solidFill>
            </c:spPr>
          </c:dPt>
          <c:cat>
            <c:strLit>
              <c:ptCount val="6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  <c:pt idx="5">
                <c:v>Não classificado</c:v>
              </c:pt>
            </c:strLit>
          </c:cat>
          <c:val>
            <c:numLit>
              <c:formatCode>0.0%</c:formatCode>
              <c:ptCount val="6"/>
              <c:pt idx="0">
                <c:v>0.4421611314665704</c:v>
              </c:pt>
              <c:pt idx="1">
                <c:v>0.2674587677290288</c:v>
              </c:pt>
              <c:pt idx="2">
                <c:v>0.20963884739123237</c:v>
              </c:pt>
              <c:pt idx="3">
                <c:v>0.08006111291728414</c:v>
              </c:pt>
              <c:pt idx="4">
                <c:v>0.0006582004798879863</c:v>
              </c:pt>
              <c:pt idx="5">
                <c:v>2.1940015996266208E-05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102</c:v>
              </c:pt>
              <c:pt idx="2">
                <c:v>103</c:v>
              </c:pt>
              <c:pt idx="3">
                <c:v>67</c:v>
              </c:pt>
              <c:pt idx="4">
                <c:v>50</c:v>
              </c:pt>
              <c:pt idx="5">
                <c:v>73</c:v>
              </c:pt>
            </c:numLit>
          </c:val>
        </c:ser>
        <c:ser>
          <c:idx val="1"/>
          <c:order val="1"/>
          <c:tx>
            <c:v>Ago/26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1</c:v>
              </c:pt>
              <c:pt idx="1">
                <c:v>156</c:v>
              </c:pt>
              <c:pt idx="2">
                <c:v>127</c:v>
              </c:pt>
              <c:pt idx="3">
                <c:v>139</c:v>
              </c:pt>
              <c:pt idx="4">
                <c:v>124</c:v>
              </c:pt>
              <c:pt idx="5">
                <c:v>189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3.85046664218</c:v>
              </c:pt>
              <c:pt idx="1">
                <c:v>105.79027545369</c:v>
              </c:pt>
              <c:pt idx="2">
                <c:v>67.2919030688</c:v>
              </c:pt>
              <c:pt idx="3">
                <c:v>83.4806111088</c:v>
              </c:pt>
              <c:pt idx="4">
                <c:v>27.89580794356</c:v>
              </c:pt>
              <c:pt idx="5">
                <c:v>84.21676150369001</c:v>
              </c:pt>
            </c:numLit>
          </c:val>
        </c:ser>
        <c:ser>
          <c:idx val="1"/>
          <c:order val="1"/>
          <c:tx>
            <c:v>Ago/26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0.54025053743</c:v>
              </c:pt>
              <c:pt idx="1">
                <c:v>171.44814385220002</c:v>
              </c:pt>
              <c:pt idx="2">
                <c:v>95.74805697863</c:v>
              </c:pt>
              <c:pt idx="3">
                <c:v>163.53390143437</c:v>
              </c:pt>
              <c:pt idx="4">
                <c:v>67.48216744858</c:v>
              </c:pt>
              <c:pt idx="5">
                <c:v>208.71267665304998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0.005037783375314861</c:v>
              </c:pt>
              <c:pt idx="1">
                <c:v>0.25692695214105793</c:v>
              </c:pt>
              <c:pt idx="2">
                <c:v>0.2594458438287154</c:v>
              </c:pt>
              <c:pt idx="3">
                <c:v>0.16876574307304787</c:v>
              </c:pt>
              <c:pt idx="4">
                <c:v>0.12594458438287154</c:v>
              </c:pt>
              <c:pt idx="5">
                <c:v>0.18387909319899245</c:v>
              </c:pt>
            </c:numLit>
          </c:val>
        </c:ser>
        <c:ser>
          <c:idx val="1"/>
          <c:order val="1"/>
          <c:tx>
            <c:v>Ago/26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0.001358695652173913</c:v>
              </c:pt>
              <c:pt idx="1">
                <c:v>0.21195652173913043</c:v>
              </c:pt>
              <c:pt idx="2">
                <c:v>0.17255434782608695</c:v>
              </c:pt>
              <c:pt idx="3">
                <c:v>0.18885869565217392</c:v>
              </c:pt>
              <c:pt idx="4">
                <c:v>0.16847826086956522</c:v>
              </c:pt>
              <c:pt idx="5">
                <c:v>0.25679347826086957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0.010336106590007717</c:v>
              </c:pt>
              <c:pt idx="1">
                <c:v>0.2839810508412918</c:v>
              </c:pt>
              <c:pt idx="2">
                <c:v>0.1806368805132138</c:v>
              </c:pt>
              <c:pt idx="3">
                <c:v>0.22409348653154812</c:v>
              </c:pt>
              <c:pt idx="4">
                <c:v>0.07488288332651948</c:v>
              </c:pt>
              <c:pt idx="5">
                <c:v>0.22606959219741915</c:v>
              </c:pt>
            </c:numLit>
          </c:val>
        </c:ser>
        <c:ser>
          <c:idx val="1"/>
          <c:order val="1"/>
          <c:tx>
            <c:v>Ago/26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0.0007636425647424619</c:v>
              </c:pt>
              <c:pt idx="1">
                <c:v>0.24234145312366762</c:v>
              </c:pt>
              <c:pt idx="2">
                <c:v>0.13533960030487185</c:v>
              </c:pt>
              <c:pt idx="3">
                <c:v>0.23115469446407375</c:v>
              </c:pt>
              <c:pt idx="4">
                <c:v>0.09538584759203673</c:v>
              </c:pt>
              <c:pt idx="5">
                <c:v>0.2950147619506076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742C05D5-55D6-470C-A4E2-4B8A6C87A7EC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43B13F7B-3E61-45A6-82E4-CCF369C5BC55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435DE2E-57D2-4205-A783-20D7B575559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57EDB33-358A-4B5D-B91E-0AB14B75CF37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ago/26 · fechamento em 31 de agosto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A6BD205E-9ADB-40AB-B225-D3302D65E318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CVM: jan–ago/26; ANBIMA: jan–ago/26. Extração CVM: 8/out/26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90C5746-5049-4111-8022-FF8838B9B569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</a:t>
            </a:r>
          </a:p>
        </ns0:txBody>
      </ns0:sp>
    </ns0:spTree>
    <ns0:extLst>
      <ns0:ext uri="{BB962C8B-B14F-4D97-AF65-F5344CB8AC3E}">
        <ns3:creationId val="1603135628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7" name="">
            <a:extLst>
              <a:ext uri="{FF2B5EF4-FFF2-40B4-BE49-F238E27FC236}">
                <ns2:creationId id="{5CB2D901-88D4-4AD4-8515-E1EBD4F560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C9059DC-640A-488C-A8C9-30AC833B3F0C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 carteira de crédito privada ampliada, até ago/26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E1A4C61-A245-498D-8112-075D97E0E44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FE426D0-C664-4529-AC67-934E19F011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2100ADB-3325-4B47-B44E-EE83323D575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 e BCB, ago/26. PL ex-FIC; crédito privado ampliado. Séries e perímetros no XLSX.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AE5907D-74A4-4803-B8BA-1B33A6899E1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8F007D6-772C-4364-BFE9-C16343F5715B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A350CFD-3034-4C03-A1D0-A9140097F82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9" name="Chart">
            <a:extLst>
              <a:ext uri="{FF2B5EF4-FFF2-40B4-BE49-F238E27FC236}">
                <ns2:creationId id="{F8FB601E-9257-4923-9388-97E5DD7658C8}"/>
              </a:ext>
            </a:extLst>
          </ns0:cNvPr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14443294571c448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1606FB6-F41B-44DF-9CA6-CDE58B431B4C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>
            <a:defPPr algn="ctr"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+17,6%   ·   2020/19 -9,0%   ·   2022/21 +22,1%   ·   2023/22 +25,6%   ·   2024/23 +43,9%   ·   2025/24 +20,6%   ·   2026 YTD +7,0%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405D2EA-E437-475C-8D1F-69421B9E3941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EF3896FB-F995-4615-9885-E503FA2168BC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3" name="Chart">
            <a:extLst>
              <a:ext uri="{FF2B5EF4-FFF2-40B4-BE49-F238E27FC236}">
                <ns2:creationId id="{6E346C15-6FFD-46E2-AC22-D87C2BF7DCF4}"/>
              </a:ext>
            </a:extLst>
          </ns0:cNvPr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5ee6cd80e6f042e6"/>
          </a:graphicData>
        </a:graphic>
      </ns0:graphicFrame>
      <ns0:sp>
        <ns0:nvSpPr>
          <ns0:cNvPr id="14" name="">
            <a:extLst>
              <a:ext uri="{FF2B5EF4-FFF2-40B4-BE49-F238E27FC236}">
                <ns2:creationId id="{6307B30F-BEFE-4D65-BBA1-D4F5CD114E9E}"/>
              </a:ext>
            </a:extLst>
          </ns0:cNvPr>
          <ns0:cNvSpPr>
            <a:spLocks noGrp="1"/>
          </ns0:cNvSpPr>
          <ns0:nvPr/>
        </ns0:nvSpPr>
        <ns0:spPr>
          <a:xfrm>
            <a:off x="6096000" y="49244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A4042F64-CD35-42D2-9FEA-9397BEB18687}"/>
              </a:ext>
            </a:extLst>
          </ns0:cNvPr>
          <ns0:cNvSpPr>
            <a:spLocks noGrp="1"/>
          </ns0:cNvSpPr>
          <ns0:nvPr/>
        </ns0:nvSpPr>
        <ns0:spPr>
          <a:xfrm>
            <a:off x="6219825" y="4914900"/>
            <a:ext cx="1689100" cy="95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625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Empréstimos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3E310183-CAA2-4B7B-9326-1472E7251890}"/>
              </a:ext>
            </a:extLst>
          </ns0:cNvPr>
          <ns0:cNvSpPr>
            <a:spLocks noGrp="1"/>
          </ns0:cNvSpPr>
          <ns0:nvPr/>
        </ns0:nvSpPr>
        <ns0:spPr>
          <a:xfrm>
            <a:off x="7937500" y="49244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1AD6366-B5FF-4652-8909-5EB3D2F8257A}"/>
              </a:ext>
            </a:extLst>
          </ns0:cNvPr>
          <ns0:cNvSpPr>
            <a:spLocks noGrp="1"/>
          </ns0:cNvSpPr>
          <ns0:nvPr/>
        </ns0:nvSpPr>
        <ns0:spPr>
          <a:xfrm>
            <a:off x="8061325" y="4914900"/>
            <a:ext cx="1689100" cy="95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625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Tít. privados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DE526878-484C-4F68-9DE8-C57C3B6C95F0}"/>
              </a:ext>
            </a:extLst>
          </ns0:cNvPr>
          <ns0:cNvSpPr>
            <a:spLocks noGrp="1"/>
          </ns0:cNvSpPr>
          <ns0:nvPr/>
        </ns0:nvSpPr>
        <ns0:spPr>
          <a:xfrm>
            <a:off x="9779000" y="49244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C0F5F92D-634E-483F-BF4F-9437961E1A97}"/>
              </a:ext>
            </a:extLst>
          </ns0:cNvPr>
          <ns0:cNvSpPr>
            <a:spLocks noGrp="1"/>
          </ns0:cNvSpPr>
          <ns0:nvPr/>
        </ns0:nvSpPr>
        <ns0:spPr>
          <a:xfrm>
            <a:off x="9902825" y="4914900"/>
            <a:ext cx="1689100" cy="95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625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FIDCs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A0EA5A06-6F10-41CD-9E70-4F05334B6B39}"/>
              </a:ext>
            </a:extLst>
          </ns0:cNvPr>
          <ns0:cNvSpPr>
            <a:spLocks noGrp="1"/>
          </ns0:cNvSpPr>
          <ns0:nvPr/>
        </ns0:nvSpPr>
        <ns0:spPr>
          <a:xfrm>
            <a:off x="6096000" y="5019675"/>
            <a:ext cx="76200" cy="7620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E41206B1-186B-4E0B-B2DD-6DB67A3950D6}"/>
              </a:ext>
            </a:extLst>
          </ns0:cNvPr>
          <ns0:cNvSpPr>
            <a:spLocks noGrp="1"/>
          </ns0:cNvSpPr>
          <ns0:nvPr/>
        </ns0:nvSpPr>
        <ns0:spPr>
          <a:xfrm>
            <a:off x="6219825" y="5010150"/>
            <a:ext cx="1689100" cy="95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625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Outras securit.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649DC4E2-048E-44DC-9622-47DCE14BA0DC}"/>
              </a:ext>
            </a:extLst>
          </ns0:cNvPr>
          <ns0:cNvSpPr>
            <a:spLocks noGrp="1"/>
          </ns0:cNvSpPr>
          <ns0:nvPr/>
        </ns0:nvSpPr>
        <ns0:spPr>
          <a:xfrm>
            <a:off x="7937500" y="5019675"/>
            <a:ext cx="76200" cy="76200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63038963-9D93-4996-8F72-C21026216139}"/>
              </a:ext>
            </a:extLst>
          </ns0:cNvPr>
          <ns0:cNvSpPr>
            <a:spLocks noGrp="1"/>
          </ns0:cNvSpPr>
          <ns0:nvPr/>
        </ns0:nvSpPr>
        <ns0:spPr>
          <a:xfrm>
            <a:off x="8061325" y="5010150"/>
            <a:ext cx="1689100" cy="95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625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Dív. externa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B003E904-BD40-42B8-B72F-F3934D13B83E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ctr"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+4,0%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1B8DD82A-F7A1-419C-9D07-26D4636F7CB7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439"/>
          </a:bodyPr>
          <a:lstStyle>
            <a:defPPr algn="ct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Ago/26: total privado R$ 13,898 tri; securitização R$ 1.220 bi; carteira FIDC R$ 702 bi. O total BCB de R$ 21,996 tri inclui R$ 8.098 bi de títulos públicos e permanece no export para reconciliação.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56D69EBC-280C-4AD0-A69F-AB275C86F7F0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>
            <a:defPPr algn="ct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887584441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CA6698B-E3D9-486D-95FB-AA37F240DEA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de FIDCs e outros instrumentos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0895CB0-9DAE-412E-B7B7-06BEBF072CE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CVM e ANBIMA, perímetros comparados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8935E79-9AF9-45D2-828D-715B2D7C775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1B9F4AD-96EA-4CA8-A283-4B21BD253D0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8270CC0-72CD-4690-9051-05113EEDF4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CVM/SRE (8/out/26), jan–ago/26; ANBIMA, jan–ago/26. Perímetros e método no XLSX.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8780F84-D2ED-4CDE-B767-C4FD049478C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56A1D40-39CC-4E7F-AB99-ABEBB561965C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0D7F451-15AE-4C4C-8BD9-AD07FC51354A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9" name="Chart">
            <a:extLst>
              <a:ext uri="{FF2B5EF4-FFF2-40B4-BE49-F238E27FC236}">
                <ns2:creationId id="{560645EE-D908-4AD1-8D5E-ECB83DF9BEA3}"/>
              </a:ext>
            </a:extLst>
          </ns0:cNvPr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c9c0ab00fa4c4a3f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391637F-1E2E-4805-B2BF-C7F96FFEEA06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6A63907-A793-4A20-850E-762FBA2827B9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2" name="Chart">
            <a:extLst>
              <a:ext uri="{FF2B5EF4-FFF2-40B4-BE49-F238E27FC236}">
                <ns2:creationId id="{BFD9BA2C-3C71-4949-AAE1-05C06C3E31E5}"/>
              </a:ext>
            </a:extLst>
          </ns0:cNvPr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349e717244f7426d"/>
          </a:graphicData>
        </a:graphic>
      </ns0:graphicFrame>
      <ns0:sp>
        <ns0:nvSpPr>
          <ns0:cNvPr id="13" name="">
            <a:extLst>
              <a:ext uri="{FF2B5EF4-FFF2-40B4-BE49-F238E27FC236}">
                <ns2:creationId id="{67B609C7-75B2-4814-95A2-B0616FD13A86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5307012C-56CB-4401-8FA0-512D22CF43D7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5" name="">
            <a:extLst>
              <a:ext uri="{FF2B5EF4-FFF2-40B4-BE49-F238E27FC236}">
                <ns2:creationId id="{8E6E5601-38D3-4CD7-AEBF-3E95D37F6601}"/>
              </a:ext>
            </a:extLst>
          </ns0:cNvPr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jan–ago/26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+30,3%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-14,5%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-6,7%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-52,0%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87249372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8789BC8A-D0CB-4C95-BE43-E923C550F6E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93214F1-3482-41F3-9065-19E1B002A3C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Ofertas primárias encerradas, jan–ago/26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405D6C5-605B-46D3-AD3A-25F65F270F9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DC84023-21CB-40FB-B04A-EFE3BA4D79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F6B48EF-3CA1-42F0-9AAB-F2822D224E1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CVM/SRE, jan–ago/26, e ANBIMA (2023). Volume registrado; reconciliação no XLSX.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FAE54C5-C199-4C82-82B0-8F1D9FD4B9A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AC3CB8A-A200-4AD1-A153-8FBC51400BBE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emitido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90518AC-E37F-4A3D-88B5-3D7369F32B6C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9" name="Chart">
            <a:extLst>
              <a:ext uri="{FF2B5EF4-FFF2-40B4-BE49-F238E27FC236}">
                <ns2:creationId id="{AD642CB6-57F8-492B-B0E9-FAA3F8A185C0}"/>
              </a:ext>
            </a:extLst>
          </ns0:cNvPr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83979df7eb7406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DFEE7558-F318-4D24-B1A8-07B345D978F1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volume emitido · 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64DE93D-2751-447E-80F1-7000243F814B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2" name="Chart">
            <a:extLst>
              <a:ext uri="{FF2B5EF4-FFF2-40B4-BE49-F238E27FC236}">
                <ns2:creationId id="{9EB336DD-6739-4D29-AAAB-4F894DF93B3F}"/>
              </a:ext>
            </a:extLst>
          </ns0:cNvPr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520a01d8221e424f"/>
          </a:graphicData>
        </a:graphic>
      </ns0:graphicFrame>
      <ns0:sp>
        <ns0:nvSpPr>
          <ns0:cNvPr id="13" name="">
            <a:extLst>
              <a:ext uri="{FF2B5EF4-FFF2-40B4-BE49-F238E27FC236}">
                <ns2:creationId id="{21B1A727-DC60-494D-9C35-852451DF95A4}"/>
              </a:ext>
            </a:extLst>
          </ns0:cNvPr>
          <ns0:cNvSpPr>
            <a:spLocks noGrp="1"/>
          </ns0:cNvSpPr>
          <ns0:nvPr/>
        </ns0:nvSpPr>
        <ns0:spPr>
          <a:xfrm>
            <a:off x="857250" y="5391150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04D6A10-5106-486D-93B7-9ECDE94C938B}"/>
              </a:ext>
            </a:extLst>
          </ns0:cNvPr>
          <ns0:cNvSpPr>
            <a:spLocks noGrp="1"/>
          </ns0:cNvSpPr>
          <ns0:nvPr/>
        </ns0:nvSpPr>
        <ns0:spPr>
          <a:xfrm>
            <a:off x="981075" y="5286375"/>
            <a:ext cx="2466975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A85D6BBC-68A3-4C33-A8DA-DD82B5DA12C7}"/>
              </a:ext>
            </a:extLst>
          </ns0:cNvPr>
          <ns0:cNvSpPr>
            <a:spLocks noGrp="1"/>
          </ns0:cNvSpPr>
          <ns0:nvPr/>
        </ns0:nvSpPr>
        <ns0:spPr>
          <a:xfrm>
            <a:off x="3476625" y="5391150"/>
            <a:ext cx="76200" cy="76200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8C1EB5DC-DED3-46B4-93FB-F47850E8E72E}"/>
              </a:ext>
            </a:extLst>
          </ns0:cNvPr>
          <ns0:cNvSpPr>
            <a:spLocks noGrp="1"/>
          </ns0:cNvSpPr>
          <ns0:nvPr/>
        </ns0:nvSpPr>
        <ns0:spPr>
          <a:xfrm>
            <a:off x="3600450" y="5286375"/>
            <a:ext cx="2466975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5872AD95-8358-4B6C-AD69-537C0C6D4667}"/>
              </a:ext>
            </a:extLst>
          </ns0:cNvPr>
          <ns0:cNvSpPr>
            <a:spLocks noGrp="1"/>
          </ns0:cNvSpPr>
          <ns0:nvPr/>
        </ns0:nvSpPr>
        <ns0:spPr>
          <a:xfrm>
            <a:off x="6096000" y="5391150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46EBBB59-730E-4A58-8E4C-A31535959398}"/>
              </a:ext>
            </a:extLst>
          </ns0:cNvPr>
          <ns0:cNvSpPr>
            <a:spLocks noGrp="1"/>
          </ns0:cNvSpPr>
          <ns0:nvPr/>
        </ns0:nvSpPr>
        <ns0:spPr>
          <a:xfrm>
            <a:off x="6219825" y="5286375"/>
            <a:ext cx="2466975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C29EFCB7-3708-428E-9C89-1B284D23AF8B}"/>
              </a:ext>
            </a:extLst>
          </ns0:cNvPr>
          <ns0:cNvSpPr>
            <a:spLocks noGrp="1"/>
          </ns0:cNvSpPr>
          <ns0:nvPr/>
        </ns0:nvSpPr>
        <ns0:spPr>
          <a:xfrm>
            <a:off x="8715375" y="5391150"/>
            <a:ext cx="76200" cy="7620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8594A1F6-ED08-40EA-A76F-444EE619026A}"/>
              </a:ext>
            </a:extLst>
          </ns0:cNvPr>
          <ns0:cNvSpPr>
            <a:spLocks noGrp="1"/>
          </ns0:cNvSpPr>
          <ns0:nvPr/>
        </ns0:nvSpPr>
        <ns0:spPr>
          <a:xfrm>
            <a:off x="8839200" y="5286375"/>
            <a:ext cx="2466975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ns0:txBody>
      </ns0:sp>
    </ns0:spTree>
    <ns0:extLst>
      <ns0:ext uri="{BB962C8B-B14F-4D97-AF65-F5344CB8AC3E}">
        <ns5:creationId val="174593169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D1FC875-3719-4D4C-853F-C413D9F59AB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Composição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03EA6C9-2F69-4DFF-BD33-9BDC4B20C58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até ago/26, classificação analítica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E245BC1-68A2-418D-97F1-BBC03C40C81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9FDC3A9-9F31-4BE7-82D0-9860EDA7199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B7284A7-244E-40BB-8031-7E53FB915B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ANBIMA (dez/25), CVM (ago/26) e ledger documental. PL ex-FIC; taxonomia oficial no XLSX.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D8CD2DB-997E-42D9-80D7-FA15E9C2805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AE1871C-4F84-4DFE-9D5A-AFDB095529C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627BBBC-2196-4D06-8535-E1C3BEDB066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9" name="Chart">
            <a:extLst>
              <a:ext uri="{FF2B5EF4-FFF2-40B4-BE49-F238E27FC236}">
                <ns2:creationId id="{C231139F-7391-4BD4-A6A6-008DC7D622A1}"/>
              </a:ext>
            </a:extLst>
          </ns0:cNvPr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e8e049c3f544572"/>
          </a:graphicData>
        </a:graphic>
      </ns0:graphicFrame>
      <ns0:sp>
        <ns0:nvSpPr>
          <ns0:cNvPr id="10" name="">
            <a:extLst>
              <a:ext uri="{FF2B5EF4-FFF2-40B4-BE49-F238E27FC236}">
                <ns2:creationId id="{88A00F43-7525-4767-BA01-81793DB01ED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FCB65F3-6F81-4F2E-8954-28A6359F7105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2" name="Chart">
            <a:extLst>
              <a:ext uri="{FF2B5EF4-FFF2-40B4-BE49-F238E27FC236}">
                <ns2:creationId id="{176D3613-9297-4FA4-AF8D-84AF468C02C6}"/>
              </a:ext>
            </a:extLst>
          </ns0:cNvPr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66e304399e8c4721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39082B7-3671-4249-BFC2-9994E6AA6F08}"/>
              </a:ext>
            </a:extLst>
          </ns0:cNvPr>
          <ns0:cNvSpPr>
            <a:spLocks noGrp="1"/>
          </ns0:cNvSpPr>
          <ns0:nvPr/>
        </ns0:nvSpPr>
        <ns0:spPr>
          <a:xfrm>
            <a:off x="857250" y="5288756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DFD31DF3-A591-4605-9A6B-74007C4A6B69}"/>
              </a:ext>
            </a:extLst>
          </ns0:cNvPr>
          <ns0:cNvSpPr>
            <a:spLocks noGrp="1"/>
          </ns0:cNvSpPr>
          <ns0:nvPr/>
        </ns0:nvSpPr>
        <ns0:spPr>
          <a:xfrm>
            <a:off x="981075" y="5219700"/>
            <a:ext cx="2466975" cy="21431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728D336-B33B-4C07-A697-23408A40370B}"/>
              </a:ext>
            </a:extLst>
          </ns0:cNvPr>
          <ns0:cNvSpPr>
            <a:spLocks noGrp="1"/>
          </ns0:cNvSpPr>
          <ns0:nvPr/>
        </ns0:nvSpPr>
        <ns0:spPr>
          <a:xfrm>
            <a:off x="3476625" y="5288756"/>
            <a:ext cx="76200" cy="76200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4EDBA5DF-D3AD-4148-9A13-1DD46B5516A2}"/>
              </a:ext>
            </a:extLst>
          </ns0:cNvPr>
          <ns0:cNvSpPr>
            <a:spLocks noGrp="1"/>
          </ns0:cNvSpPr>
          <ns0:nvPr/>
        </ns0:nvSpPr>
        <ns0:spPr>
          <a:xfrm>
            <a:off x="3600450" y="5219700"/>
            <a:ext cx="2466975" cy="21431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9057394-D3AF-4A24-9874-501A7C01F9BC}"/>
              </a:ext>
            </a:extLst>
          </ns0:cNvPr>
          <ns0:cNvSpPr>
            <a:spLocks noGrp="1"/>
          </ns0:cNvSpPr>
          <ns0:nvPr/>
        </ns0:nvSpPr>
        <ns0:spPr>
          <a:xfrm>
            <a:off x="6096000" y="5288756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0E95C2A2-3B14-4489-BC7B-F956061F2529}"/>
              </a:ext>
            </a:extLst>
          </ns0:cNvPr>
          <ns0:cNvSpPr>
            <a:spLocks noGrp="1"/>
          </ns0:cNvSpPr>
          <ns0:nvPr/>
        </ns0:nvSpPr>
        <ns0:spPr>
          <a:xfrm>
            <a:off x="6219825" y="5219700"/>
            <a:ext cx="2466975" cy="21431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C4163588-720C-41B7-9045-A0F5C75FDAF2}"/>
              </a:ext>
            </a:extLst>
          </ns0:cNvPr>
          <ns0:cNvSpPr>
            <a:spLocks noGrp="1"/>
          </ns0:cNvSpPr>
          <ns0:nvPr/>
        </ns0:nvSpPr>
        <ns0:spPr>
          <a:xfrm>
            <a:off x="8715375" y="5288756"/>
            <a:ext cx="76200" cy="7620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BA99EC95-05D0-4067-B16F-B9EC5D22A4C8}"/>
              </a:ext>
            </a:extLst>
          </ns0:cNvPr>
          <ns0:cNvSpPr>
            <a:spLocks noGrp="1"/>
          </ns0:cNvSpPr>
          <ns0:nvPr/>
        </ns0:nvSpPr>
        <ns0:spPr>
          <a:xfrm>
            <a:off x="8839200" y="5219700"/>
            <a:ext cx="2466975" cy="21431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e/ou Ações Judiciais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195AA48-D000-408B-9A83-78FBAD614627}"/>
              </a:ext>
            </a:extLst>
          </ns0:cNvPr>
          <ns0:cNvSpPr>
            <a:spLocks noGrp="1"/>
          </ns0:cNvSpPr>
          <ns0:nvPr/>
        </ns0:nvSpPr>
        <ns0:spPr>
          <a:xfrm>
            <a:off x="857250" y="5503069"/>
            <a:ext cx="76200" cy="76200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8AEF45AB-056B-4B3B-8C9E-BCA70DD76E5B}"/>
              </a:ext>
            </a:extLst>
          </ns0:cNvPr>
          <ns0:cNvSpPr>
            <a:spLocks noGrp="1"/>
          </ns0:cNvSpPr>
          <ns0:nvPr/>
        </ns0:nvSpPr>
        <ns0:spPr>
          <a:xfrm>
            <a:off x="981075" y="5434013"/>
            <a:ext cx="2466975" cy="21431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Multicedente/Multisacado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ACE87D71-D3A3-4030-9D3C-414299C1F135}"/>
              </a:ext>
            </a:extLst>
          </ns0:cNvPr>
          <ns0:cNvSpPr>
            <a:spLocks noGrp="1"/>
          </ns0:cNvSpPr>
          <ns0:nvPr/>
        </ns0:nvSpPr>
        <ns0:spPr>
          <a:xfrm>
            <a:off x="3476625" y="5503069"/>
            <a:ext cx="76200" cy="76200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A4A8B5A3-C56E-4D22-BC6E-F969AE2C3458}"/>
              </a:ext>
            </a:extLst>
          </ns0:cNvPr>
          <ns0:cNvSpPr>
            <a:spLocks noGrp="1"/>
          </ns0:cNvSpPr>
          <ns0:nvPr/>
        </ns0:nvSpPr>
        <ns0:spPr>
          <a:xfrm>
            <a:off x="3600450" y="5434013"/>
            <a:ext cx="2466975" cy="21431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FIDCs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5665639D-F56E-41E0-814D-6DEA8E3251C1}"/>
              </a:ext>
            </a:extLst>
          </ns0:cNvPr>
          <ns0:cNvSpPr>
            <a:spLocks noGrp="1"/>
          </ns0:cNvSpPr>
          <ns0:nvPr/>
        </ns0:nvSpPr>
        <ns0:spPr>
          <a:xfrm>
            <a:off x="6096000" y="5503069"/>
            <a:ext cx="76200" cy="7620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DAAFB444-ECE1-4D87-802D-83AB4158A68F}"/>
              </a:ext>
            </a:extLst>
          </ns0:cNvPr>
          <ns0:cNvSpPr>
            <a:spLocks noGrp="1"/>
          </ns0:cNvSpPr>
          <ns0:nvPr/>
        </ns0:nvSpPr>
        <ns0:spPr>
          <a:xfrm>
            <a:off x="6219825" y="5434013"/>
            <a:ext cx="2466975" cy="21431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BC56FF29-34AE-4D60-AA0E-54933ECA46DF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ctr"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R$ 844,4 bi e fecham 100% do PL ex-FIC de ago/26.</a:t>
            </a:r>
          </a:p>
        </ns0:txBody>
      </ns0:sp>
    </ns0:spTree>
    <ns0:extLst>
      <ns0:ext uri="{BB962C8B-B14F-4D97-AF65-F5344CB8AC3E}">
        <ns5:creationId val="1876517381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4FC2B6AA-4F20-4140-BB9E-778405C750F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na indústria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0417F2F-8227-4BA7-BA72-41120454311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Curadoria documental, estoque em ago/26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477968F-7EA9-4901-B5A3-6212E0F3670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571C72A-F29A-490C-9A76-9255C42F404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A9A597E-D563-4CC5-A068-E6CE618D9E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 (ago/26) e FundosNet. Curadoria de 21/jul/26; categoria oficial no XLSX.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85E746F-E78D-4979-BBA0-7287356852F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C912AB6-8487-4D50-8551-224E7C90460B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ago/26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12EF0D3-4941-4D9F-B526-99421F948957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9" name="Chart">
            <a:extLst>
              <a:ext uri="{FF2B5EF4-FFF2-40B4-BE49-F238E27FC236}">
                <ns2:creationId id="{EF7F45D3-0705-4D41-9AD0-9B839B2E5549}"/>
              </a:ext>
            </a:extLst>
          </ns0:cNvPr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ed6902bfb444454b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8A36C7-3697-4B46-875F-6873C8687433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ago/26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777C424-22A0-4374-A8EA-B05D225D9949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2" name="Chart">
            <a:extLst>
              <a:ext uri="{FF2B5EF4-FFF2-40B4-BE49-F238E27FC236}">
                <ns2:creationId id="{B52D4ECB-40DB-412A-B6B4-67A617BCF040}"/>
              </a:ext>
            </a:extLst>
          </ns0:cNvPr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dd543e66e2f7471f"/>
          </a:graphicData>
        </a:graphic>
      </ns0:graphicFrame>
      <ns0:sp>
        <ns0:nvSpPr>
          <ns0:cNvPr id="13" name="">
            <a:extLst>
              <a:ext uri="{FF2B5EF4-FFF2-40B4-BE49-F238E27FC236}">
                <ns2:creationId id="{034E2D96-FB7D-40E7-8BB6-9F6D47EDE749}"/>
              </a:ext>
            </a:extLst>
          </ns0:cNvPr>
          <ns0:cNvSpPr>
            <a:spLocks noGrp="1"/>
          </ns0:cNvSpPr>
          <ns0:nvPr/>
        </ns0:nvSpPr>
        <ns0:spPr>
          <a:xfrm>
            <a:off x="8858250" y="126682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9B2C05E3-0686-4A63-BE01-3D5504B12246}"/>
              </a:ext>
            </a:extLst>
          </ns0:cNvPr>
          <ns0:cNvSpPr>
            <a:spLocks noGrp="1"/>
          </ns0:cNvSpPr>
          <ns0:nvPr/>
        </ns0:nvSpPr>
        <ns0:spPr>
          <a:xfrm>
            <a:off x="8982075" y="1200150"/>
            <a:ext cx="12287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38C98B73-214E-47B0-B2AA-CE6956D053F6}"/>
              </a:ext>
            </a:extLst>
          </ns0:cNvPr>
          <ns0:cNvSpPr>
            <a:spLocks noGrp="1"/>
          </ns0:cNvSpPr>
          <ns0:nvPr/>
        </ns0:nvSpPr>
        <ns0:spPr>
          <a:xfrm>
            <a:off x="10239375" y="12668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4F47D324-787B-4363-9D52-5B37E1E676C2}"/>
              </a:ext>
            </a:extLst>
          </ns0:cNvPr>
          <ns0:cNvSpPr>
            <a:spLocks noGrp="1"/>
          </ns0:cNvSpPr>
          <ns0:nvPr/>
        </ns0:nvSpPr>
        <ns0:spPr>
          <a:xfrm>
            <a:off x="10363200" y="1200150"/>
            <a:ext cx="12287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Ago/26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16CD6869-B44A-4A93-A976-C2648C14BD00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22 incluídos, 17 fora e 5 pendentes. Em ago/26, 31 dos 33 CNPJs selecionados têm reporte ativo; 2 não reportam.</a:t>
            </a:r>
          </a:p>
        </ns0:txBody>
      </ns0:sp>
    </ns0:spTree>
    <ns0:extLst>
      <ns0:ext uri="{BB962C8B-B14F-4D97-AF65-F5344CB8AC3E}">
        <ns5:creationId val="1193199745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9" name="">
            <a:extLst>
              <a:ext uri="{FF2B5EF4-FFF2-40B4-BE49-F238E27FC236}">
                <ns2:creationId id="{8DF2D685-50E9-4DDE-BD66-BF4B983757D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Evolução dos recebíveis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3824A1F-2CA9-46C0-968F-8C5AA689B9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 a ago/26, abertura da Tabela II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32B94F7-5B73-4B14-B058-B56EF9AB34D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D9E5116-EADD-44E2-9F9E-7506F5ED214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4F1EE96-C8BF-4FBD-9E1D-C63ED065F55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Tabela II, dez/23 e ago/26. Percentuais sobre o total dos segmentos reportados.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16D4806-553A-49C4-A486-1BCD58D164D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8981B29-B2CE-460F-BADD-536B75D0A42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95B133A-90FF-43DD-B559-CD6D8C8DE29E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9" name="Chart">
            <a:extLst>
              <a:ext uri="{FF2B5EF4-FFF2-40B4-BE49-F238E27FC236}">
                <ns2:creationId id="{B2E3F8E5-5D32-4A8D-825C-386B178F6FF5}"/>
              </a:ext>
            </a:extLst>
          </ns0:cNvPr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ff9ceba655b64b99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5DCDBFF-763D-4364-B52F-D63554874468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849D32C-7247-4F71-A580-50C227EE2F81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2" name="Chart">
            <a:extLst>
              <a:ext uri="{FF2B5EF4-FFF2-40B4-BE49-F238E27FC236}">
                <ns2:creationId id="{9D298DE6-86AB-4C3C-9C78-FE79366DEC26}"/>
              </a:ext>
            </a:extLst>
          </ns0:cNvPr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99902a3bdf6f4d5a"/>
          </a:graphicData>
        </a:graphic>
      </ns0:graphicFrame>
      <ns0:sp>
        <ns0:nvSpPr>
          <ns0:cNvPr id="13" name="">
            <a:extLst>
              <a:ext uri="{FF2B5EF4-FFF2-40B4-BE49-F238E27FC236}">
                <ns2:creationId id="{E449C16C-6267-4337-B19D-FCC3E172BE25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6B4D1994-EDB8-4741-A054-1770E0008CBF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R$ 65,1 bi em ago/26. Em ago/26, 0 fundos sem abertura (R$ 0,0 bi de PL); Top 20 explicam 40,0% do gap positivo.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73613B20-FE03-42CA-ACB4-7955F36D7209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8B5C0FE-B4A9-4B06-BC67-C50BA45D4A12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DD5B4B55-2B5C-4428-BC9C-3E85E3A0A521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4FDDF959-550E-4AB3-B194-C8F8EA9713E2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Ago/26</a:t>
            </a:r>
          </a:p>
        </ns0:txBody>
      </ns0:sp>
    </ns0:spTree>
    <ns0:extLst>
      <ns0:ext uri="{BB962C8B-B14F-4D97-AF65-F5344CB8AC3E}">
        <ns5:creationId val="125351519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68F2FCF6-31B5-4ABB-987B-55341F68580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Volume e ticket das ofertas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9D1313A-0A89-4443-95F5-3601A543775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Ofertas primárias encerradas, jan–ago/26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6E6CBC0-6A7E-44D7-A38E-061EBA8DF1D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6F22546-3289-419E-AD37-065082F2546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87541E8-007A-427F-BCA8-A7C46D0DBC9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snapshot 8/out/26. Primárias encerradas, jan–ago/26;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D9ECE92-D644-419C-A7CD-E4C6F70CBA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7A24613-D1EF-462E-8D11-FA0684B36977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FE059F0-CE08-41BF-AE22-131E6CBFED1A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9" name="Chart">
            <a:extLst>
              <a:ext uri="{FF2B5EF4-FFF2-40B4-BE49-F238E27FC236}">
                <ns2:creationId id="{EEF1F989-0F9A-4CFD-8407-89480AE7C5D8}"/>
              </a:ext>
            </a:extLst>
          </ns0:cNvPr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700fdb5dd10e4bfe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81B259F-0907-4187-A4E5-365398C65F62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748B32D-CBF3-4FDF-9E4D-E4741675B729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2" name="Chart">
            <a:extLst>
              <a:ext uri="{FF2B5EF4-FFF2-40B4-BE49-F238E27FC236}">
                <ns2:creationId id="{5B4219D5-3191-402E-B899-591A54F635E3}"/>
              </a:ext>
            </a:extLst>
          </ns0:cNvPr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92a092dd332d40e4"/>
          </a:graphicData>
        </a:graphic>
      </ns0:graphicFrame>
      <ns0:sp>
        <ns0:nvSpPr>
          <ns0:cNvPr id="13" name="">
            <a:extLst>
              <a:ext uri="{FF2B5EF4-FFF2-40B4-BE49-F238E27FC236}">
                <ns2:creationId id="{036887EC-E50B-4C77-9EC0-5CA0A93CA376}"/>
              </a:ext>
            </a:extLst>
          </ns0:cNvPr>
          <ns0:cNvSpPr>
            <a:spLocks noGrp="1"/>
          </ns0:cNvSpPr>
          <ns0:nvPr/>
        </ns0:nvSpPr>
        <ns0:spPr>
          <a:xfrm>
            <a:off x="7715250" y="406717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17E6996E-B312-4AD3-80D2-C87E6CCDC325}"/>
              </a:ext>
            </a:extLst>
          </ns0:cNvPr>
          <ns0:cNvSpPr>
            <a:spLocks noGrp="1"/>
          </ns0:cNvSpPr>
          <ns0:nvPr/>
        </ns0:nvSpPr>
        <ns0:spPr>
          <a:xfrm>
            <a:off x="7839075" y="4000500"/>
            <a:ext cx="1149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950F1CE8-04A6-4A36-94C2-B2C1DAB94DF7}"/>
              </a:ext>
            </a:extLst>
          </ns0:cNvPr>
          <ns0:cNvSpPr>
            <a:spLocks noGrp="1"/>
          </ns0:cNvSpPr>
          <ns0:nvPr/>
        </ns0:nvSpPr>
        <ns0:spPr>
          <a:xfrm>
            <a:off x="9017000" y="406717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F8242012-6A74-4757-8DCF-419F44A983EE}"/>
              </a:ext>
            </a:extLst>
          </ns0:cNvPr>
          <ns0:cNvSpPr>
            <a:spLocks noGrp="1"/>
          </ns0:cNvSpPr>
          <ns0:nvPr/>
        </ns0:nvSpPr>
        <ns0:spPr>
          <a:xfrm>
            <a:off x="9140825" y="4000500"/>
            <a:ext cx="1149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AC417A42-FDA7-4866-8472-7F43B39A0DFD}"/>
              </a:ext>
            </a:extLst>
          </ns0:cNvPr>
          <ns0:cNvSpPr>
            <a:spLocks noGrp="1"/>
          </ns0:cNvSpPr>
          <ns0:nvPr/>
        </ns0:nvSpPr>
        <ns0:spPr>
          <a:xfrm>
            <a:off x="10318750" y="40671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ADD2CF2A-3226-4913-BF8F-AF08E6F990FF}"/>
              </a:ext>
            </a:extLst>
          </ns0:cNvPr>
          <ns0:cNvSpPr>
            <a:spLocks noGrp="1"/>
          </ns0:cNvSpPr>
          <ns0:nvPr/>
        </ns0:nvSpPr>
        <ns0:spPr>
          <a:xfrm>
            <a:off x="10442575" y="4000500"/>
            <a:ext cx="1149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</a:t>
            </a:r>
          </a:p>
        </ns0:txBody>
      </ns0:sp>
      <ns0:graphicFrame>
        <ns0:nvGraphicFramePr>
          <ns0:cNvPr id="19" name="">
            <a:extLst>
              <a:ext uri="{FF2B5EF4-FFF2-40B4-BE49-F238E27FC236}">
                <ns2:creationId id="{F36D8F1E-851F-408D-B780-0D59C88EF5C0}"/>
              </a:ext>
            </a:extLst>
          </ns0:cNvPr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R$ 79,2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1.034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R$ 91,9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R$ 88,9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20" name="">
            <a:extLst>
              <a:ext uri="{FF2B5EF4-FFF2-40B4-BE49-F238E27FC236}">
                <ns2:creationId id="{5C163A61-FB27-4499-B596-99CD85FF93B1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3,8% do proxy colocado; cobertura 96,0%.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1733738317"/>
      </ns0:ext>
    </ns0:extLst>
  </ns0:cSld>
</ns0:sld>
</file>

<file path=ppt/slides/slide9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1" name="">
            <a:extLst>
              <a:ext uri="{FF2B5EF4-FFF2-40B4-BE49-F238E27FC236}">
                <ns2:creationId id="{404F1718-3BC2-4B88-A152-E510E4AEEDA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Concentração das ofertas por ticket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179D922-3A48-40D1-882E-30A71E845DB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 do volume, jan–ago/26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3F87F8B-68FC-4FC2-8F88-871AC9C577E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29A3AEA-4951-4C8E-BA72-AA5FB7CBA4D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45D96DF-8C50-4A94-AE3F-26634EFEEE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snapshot 8/out/26. Primárias encerradas, jan–ago/26;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060DBE6-A170-4CD7-89D5-21692877DD0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77E21B9-213A-44B9-BDD9-3CA58DD7F64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BD159F-4C69-4818-B3C4-A8458BC2DE52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9" name="Chart">
            <a:extLst>
              <a:ext uri="{FF2B5EF4-FFF2-40B4-BE49-F238E27FC236}">
                <ns2:creationId id="{957D18CC-B529-4149-A696-709633C72D23}"/>
              </a:ext>
            </a:extLst>
          </ns0:cNvPr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35477c08c8ac44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07CBC15-4AB3-471B-B51B-BB25DC1E6A5B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1260762-20E5-4FF1-9C47-D502E7E5309E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2" name="Chart">
            <a:extLst>
              <a:ext uri="{FF2B5EF4-FFF2-40B4-BE49-F238E27FC236}">
                <ns2:creationId id="{E81A9896-FE2F-489E-A3BE-525C98BFFDB6}"/>
              </a:ext>
            </a:extLst>
          </ns0:cNvPr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40af07843fc0489a"/>
          </a:graphicData>
        </a:graphic>
      </ns0:graphicFrame>
      <ns0:sp>
        <ns0:nvSpPr>
          <ns0:cNvPr id="13" name="">
            <a:extLst>
              <a:ext uri="{FF2B5EF4-FFF2-40B4-BE49-F238E27FC236}">
                <ns2:creationId id="{F9B9F390-4CC4-4B60-BCF4-30E4EE1B4B09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C6F9E88A-1E95-49F1-99FD-82A19F693020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5" name="Chart">
            <a:extLst>
              <a:ext uri="{FF2B5EF4-FFF2-40B4-BE49-F238E27FC236}">
                <ns2:creationId id="{9C7CE1A0-86A4-4C50-AFC2-8E21816C5BF7}"/>
              </a:ext>
            </a:extLst>
          </ns0:cNvPr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3703b73cd84959"/>
          </a:graphicData>
        </a:graphic>
      </ns0:graphicFrame>
      <ns0:sp>
        <ns0:nvSpPr>
          <ns0:cNvPr id="16" name="">
            <a:extLst>
              <a:ext uri="{FF2B5EF4-FFF2-40B4-BE49-F238E27FC236}">
                <ns2:creationId id="{C80BF549-915E-4822-94E8-F95C03042231}"/>
              </a:ext>
            </a:extLst>
          </ns0:cNvPr>
          <ns0:cNvSpPr>
            <a:spLocks noGrp="1"/>
          </ns0:cNvSpPr>
          <ns0:nvPr/>
        </ns0:nvSpPr>
        <ns0:spPr>
          <a:xfrm>
            <a:off x="4048125" y="555307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254A6B25-495E-465D-8D7A-ABDFF41307ED}"/>
              </a:ext>
            </a:extLst>
          </ns0:cNvPr>
          <ns0:cNvSpPr>
            <a:spLocks noGrp="1"/>
          </ns0:cNvSpPr>
          <ns0:nvPr/>
        </ns0:nvSpPr>
        <ns0:spPr>
          <a:xfrm>
            <a:off x="4171950" y="5486400"/>
            <a:ext cx="12128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F6D3A178-F0DA-4E70-B09C-715849CA83EE}"/>
              </a:ext>
            </a:extLst>
          </ns0:cNvPr>
          <ns0:cNvSpPr>
            <a:spLocks noGrp="1"/>
          </ns0:cNvSpPr>
          <ns0:nvPr/>
        </ns0:nvSpPr>
        <ns0:spPr>
          <a:xfrm>
            <a:off x="5413375" y="555307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519571D6-2201-4CF8-89D6-EC4E715AE29B}"/>
              </a:ext>
            </a:extLst>
          </ns0:cNvPr>
          <ns0:cNvSpPr>
            <a:spLocks noGrp="1"/>
          </ns0:cNvSpPr>
          <ns0:nvPr/>
        </ns0:nvSpPr>
        <ns0:spPr>
          <a:xfrm>
            <a:off x="5537200" y="5486400"/>
            <a:ext cx="12128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EFA76F27-3CC8-4BAB-AD7E-603E56D8B495}"/>
              </a:ext>
            </a:extLst>
          </ns0:cNvPr>
          <ns0:cNvSpPr>
            <a:spLocks noGrp="1"/>
          </ns0:cNvSpPr>
          <ns0:nvPr/>
        </ns0:nvSpPr>
        <ns0:spPr>
          <a:xfrm>
            <a:off x="6778625" y="55530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C62698EC-53FC-4C4D-A026-94F33CB45D77}"/>
              </a:ext>
            </a:extLst>
          </ns0:cNvPr>
          <ns0:cNvSpPr>
            <a:spLocks noGrp="1"/>
          </ns0:cNvSpPr>
          <ns0:nvPr/>
        </ns0:nvSpPr>
        <ns0:spPr>
          <a:xfrm>
            <a:off x="6902450" y="5486400"/>
            <a:ext cx="12128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jan–ago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90CF6BEC-3A1D-427C-8E1C-1D68B327D99B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>
            <a:defPPr algn="ct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AEA31795-633A-4A13-A7D5-8DE5B5712E26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2444D199-B798-4D64-8E94-A7DB5846D578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D38B10DF-9E05-4F3A-88CD-7DE52755DBDC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2DD8C78E-D58C-4B3D-AD08-16A444EE869F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77D3A77B-57DC-45E3-88FD-ECB54E99A517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CF7F9C01-3CF2-45DE-9BED-8D8C4D056DDF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1770D7A2-4D71-4288-9A34-9D2EBD24D69A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56F82467-A13B-43E6-BFF6-E32ACCBD2883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R$ 68,0 bi · 74,0% do volume · 166 ofertas (16,1%)</a:t>
            </a:r>
          </a:p>
        </ns0:txBody>
      </ns0:sp>
    </ns0:spTree>
    <ns0:extLst>
      <ns0:ext uri="{BB962C8B-B14F-4D97-AF65-F5344CB8AC3E}">
        <ns5:creationId val="1682169864"/>
      </ns0:ext>
    </ns0:extLst>
  </ns0:cSld>
</ns0:sld>
</file>

<file path=ppt/slides/slide10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93D427C-32A7-43FC-AB33-6E200A4A7C1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Regime de colocação das ofertas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067570-41A4-4528-8EC6-5B32B3AAC8B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Garantia firme e melhores esforços, jan–ago/26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88B2410-D459-4E4A-8671-F1C35C50686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2E488D5-3FA6-4DA2-A71B-3A38B145BBB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467E838-4F7A-4B4E-A014-2E0D38BBB97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snapshot 8/out/26. jan–ago/26; regime declarado.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88EF8A7-3A09-40D4-AAEE-A05B8E86B91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197DD1F-8071-43A7-B753-A8D851E21C7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70,5%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4BE6AEF-416D-4712-997C-C07797A6829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FB7D4DCD-CBDA-4CB0-91EA-0893AAEB868B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D020D78A-40E1-49C5-B8B9-D0392A3752B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B4D075A-9E6F-41E1-A987-5C00A67C2D53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548A076-78F5-41F4-A8A2-62553CAB8641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5EAFB7F4-5D36-4518-9F99-F4DA644A78B0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jan–ago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39E3560-E23F-4A3D-96B8-36A5F85FC76E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3800B52-28F4-4486-81F4-5D9A7053C501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6" name="Chart">
            <a:extLst>
              <a:ext uri="{FF2B5EF4-FFF2-40B4-BE49-F238E27FC236}">
                <ns2:creationId id="{EC4A05C0-BB3A-4348-8860-AA73DAF493AC}"/>
              </a:ext>
            </a:extLst>
          </ns0:cNvPr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003cfc7563f64aa0"/>
          </a:graphicData>
        </a:graphic>
      </ns0:graphicFrame>
    </ns0:spTree>
    <ns0:extLst>
      <ns0:ext uri="{BB962C8B-B14F-4D97-AF65-F5344CB8AC3E}">
        <ns5:creationId val="318828320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628F7F31-AA1C-44EF-B501-E9195DAF24A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Principais conclusões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4BB0E03-8DEA-4E1C-A7BF-127CBE3230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Estoque em ago/26, ofertas em jan–ago/26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7D16143-2781-4A16-A88D-69B5A37A6BB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CE009F3-4653-47A1-B939-C61F1612C7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1C4E0E4-2C77-469C-8678-D44F760DC8B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e ofertas públicas. PL ex-FIC. Perímetros e documentação no XLSX.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3F7D387-D0D1-493F-8784-3355A12D34A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0CFF464-A597-40F5-8755-1C7CDFB0AF01}"/>
              </a:ext>
            </a:extLst>
          </ns0:cNvPr>
          <ns0:cNvSpPr>
            <a:spLocks noGrp="1"/>
          </ns0:cNvSpPr>
          <ns0:nvPr/>
        </ns0:nvSpPr>
        <ns0:spPr>
          <a:xfrm>
            <a:off x="571500" y="1352550"/>
            <a:ext cx="523875" cy="3048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6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6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6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38EA433-3C1A-4079-BD93-7642EBAD7A77}"/>
              </a:ext>
            </a:extLst>
          </ns0:cNvPr>
          <ns0:cNvSpPr>
            <a:spLocks noGrp="1"/>
          </ns0:cNvSpPr>
          <ns0:nvPr/>
        </ns0:nvSpPr>
        <ns0:spPr>
          <a:xfrm>
            <a:off x="1285875" y="1352550"/>
            <a:ext cx="10334625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6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6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6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5C0F976-BE60-4A52-94A9-11CDC4972511}"/>
              </a:ext>
            </a:extLst>
          </ns0:cNvPr>
          <ns0:cNvSpPr>
            <a:spLocks noGrp="1"/>
          </ns0:cNvSpPr>
          <ns0:nvPr/>
        </ns0:nvSpPr>
        <ns0:spPr>
          <a:xfrm>
            <a:off x="1285875" y="16859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42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2000"/>
              </a:lnSpc>
              <a:buNone/>
              <a:defRPr sz="142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 PL ex-FIC está em cerca de R$ 840 bi em ago/26.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2A67B047-3B97-44FD-AE61-4ACF3CF14883}"/>
              </a:ext>
            </a:extLst>
          </ns0:cNvPr>
          <ns0:cNvSpPr>
            <a:spLocks noGrp="1"/>
          </ns0:cNvSpPr>
          <ns0:nvPr/>
        </ns0:nvSpPr>
        <ns0:spPr>
          <a:xfrm>
            <a:off x="1285875" y="2190750"/>
            <a:ext cx="10334625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63B1804A-FD99-4060-8E68-003A01731DBA}"/>
              </a:ext>
            </a:extLst>
          </ns0:cNvPr>
          <ns0:cNvSpPr>
            <a:spLocks noGrp="1"/>
          </ns0:cNvSpPr>
          <ns0:nvPr/>
        </ns0:nvSpPr>
        <ns0:spPr>
          <a:xfrm>
            <a:off x="571500" y="2286000"/>
            <a:ext cx="523875" cy="3048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6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6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6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87B9E44A-F28E-4383-916A-2EB2AD442D7C}"/>
              </a:ext>
            </a:extLst>
          </ns0:cNvPr>
          <ns0:cNvSpPr>
            <a:spLocks noGrp="1"/>
          </ns0:cNvSpPr>
          <ns0:nvPr/>
        </ns0:nvSpPr>
        <ns0:spPr>
          <a:xfrm>
            <a:off x="1285875" y="2286000"/>
            <a:ext cx="10334625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6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6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6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Composição dos recebíveis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5CAFA0B8-5CFD-4E57-9D61-B25AE2A2A628}"/>
              </a:ext>
            </a:extLst>
          </ns0:cNvPr>
          <ns0:cNvSpPr>
            <a:spLocks noGrp="1"/>
          </ns0:cNvSpPr>
          <ns0:nvPr/>
        </ns0:nvSpPr>
        <ns0:spPr>
          <a:xfrm>
            <a:off x="1285875" y="261937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42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2000"/>
              </a:lnSpc>
              <a:buNone/>
              <a:defRPr sz="142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responde por cerca de 45% da composição reportada na Tabela II em ago/26.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D9FB8C1-9724-41C5-AFBF-A2ECA5D0ED53}"/>
              </a:ext>
            </a:extLst>
          </ns0:cNvPr>
          <ns0:cNvSpPr>
            <a:spLocks noGrp="1"/>
          </ns0:cNvSpPr>
          <ns0:nvPr/>
        </ns0:nvSpPr>
        <ns0:spPr>
          <a:xfrm>
            <a:off x="1285875" y="3124200"/>
            <a:ext cx="10334625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FDE093B9-1F16-4565-95F5-01D65D374BB0}"/>
              </a:ext>
            </a:extLst>
          </ns0:cNvPr>
          <ns0:cNvSpPr>
            <a:spLocks noGrp="1"/>
          </ns0:cNvSpPr>
          <ns0:nvPr/>
        </ns0:nvSpPr>
        <ns0:spPr>
          <a:xfrm>
            <a:off x="571500" y="3219450"/>
            <a:ext cx="523875" cy="3048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6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6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6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9D51F1BC-59BB-4EA4-B987-EBF0EE093369}"/>
              </a:ext>
            </a:extLst>
          </ns0:cNvPr>
          <ns0:cNvSpPr>
            <a:spLocks noGrp="1"/>
          </ns0:cNvSpPr>
          <ns0:nvPr/>
        </ns0:nvSpPr>
        <ns0:spPr>
          <a:xfrm>
            <a:off x="1285875" y="3219450"/>
            <a:ext cx="10334625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6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6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6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Base de cotistas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EBE1988-28A4-4DFF-BC6A-82341DE45E3A}"/>
              </a:ext>
            </a:extLst>
          </ns0:cNvPr>
          <ns0:cNvSpPr>
            <a:spLocks noGrp="1"/>
          </ns0:cNvSpPr>
          <ns0:nvPr/>
        </ns0:nvSpPr>
        <ns0:spPr>
          <a:xfrm>
            <a:off x="1285875" y="35528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42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2000"/>
              </a:lnSpc>
              <a:buNone/>
              <a:defRPr sz="142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Mais da metade dos fundos de maior porte reporta até dez contas em ago/26.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64DEA8C9-D903-4D2D-B87D-3D177128E6E9}"/>
              </a:ext>
            </a:extLst>
          </ns0:cNvPr>
          <ns0:cNvSpPr>
            <a:spLocks noGrp="1"/>
          </ns0:cNvSpPr>
          <ns0:nvPr/>
        </ns0:nvSpPr>
        <ns0:spPr>
          <a:xfrm>
            <a:off x="1285875" y="4057650"/>
            <a:ext cx="10334625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47AE52E-04E2-4EB5-A71E-03CA725C6441}"/>
              </a:ext>
            </a:extLst>
          </ns0:cNvPr>
          <ns0:cNvSpPr>
            <a:spLocks noGrp="1"/>
          </ns0:cNvSpPr>
          <ns0:nvPr/>
        </ns0:nvSpPr>
        <ns0:spPr>
          <a:xfrm>
            <a:off x="571500" y="4152900"/>
            <a:ext cx="523875" cy="3048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6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6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6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33679C27-3562-479D-9B8F-FAFFA472B622}"/>
              </a:ext>
            </a:extLst>
          </ns0:cNvPr>
          <ns0:cNvSpPr>
            <a:spLocks noGrp="1"/>
          </ns0:cNvSpPr>
          <ns0:nvPr/>
        </ns0:nvSpPr>
        <ns0:spPr>
          <a:xfrm>
            <a:off x="1285875" y="4152900"/>
            <a:ext cx="10334625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6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6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6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e custódia no mesmo grupo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EAB43FD-23FD-47EC-9A79-ABC69CBEDD9C}"/>
              </a:ext>
            </a:extLst>
          </ns0:cNvPr>
          <ns0:cNvSpPr>
            <a:spLocks noGrp="1"/>
          </ns0:cNvSpPr>
          <ns0:nvPr/>
        </ns0:nvSpPr>
        <ns0:spPr>
          <a:xfrm>
            <a:off x="1285875" y="448627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42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2000"/>
              </a:lnSpc>
              <a:buNone/>
              <a:defRPr sz="142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e custódia pertencem ao mesmo grupo em cerca de 90% do PL ex-FIC em ago/26.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E650021C-8B7E-4FDF-931E-7C003178FAA5}"/>
              </a:ext>
            </a:extLst>
          </ns0:cNvPr>
          <ns0:cNvSpPr>
            <a:spLocks noGrp="1"/>
          </ns0:cNvSpPr>
          <ns0:nvPr/>
        </ns0:nvSpPr>
        <ns0:spPr>
          <a:xfrm>
            <a:off x="1285875" y="4991100"/>
            <a:ext cx="10334625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93B69110-824F-4F38-BF05-9E758B87B606}"/>
              </a:ext>
            </a:extLst>
          </ns0:cNvPr>
          <ns0:cNvSpPr>
            <a:spLocks noGrp="1"/>
          </ns0:cNvSpPr>
          <ns0:nvPr/>
        </ns0:nvSpPr>
        <ns0:spPr>
          <a:xfrm>
            <a:off x="571500" y="5086350"/>
            <a:ext cx="523875" cy="3048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6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6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6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1237A80B-D305-4A22-8E63-13FA0ED627C8}"/>
              </a:ext>
            </a:extLst>
          </ns0:cNvPr>
          <ns0:cNvSpPr>
            <a:spLocks noGrp="1"/>
          </ns0:cNvSpPr>
          <ns0:nvPr/>
        </ns0:nvSpPr>
        <ns0:spPr>
          <a:xfrm>
            <a:off x="1285875" y="5086350"/>
            <a:ext cx="10334625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6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6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6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Concentração nas ofertas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9BD8792-90C4-43B1-989D-541B675A1038}"/>
              </a:ext>
            </a:extLst>
          </ns0:cNvPr>
          <ns0:cNvSpPr>
            <a:spLocks noGrp="1"/>
          </ns0:cNvSpPr>
          <ns0:nvPr/>
        </ns0:nvSpPr>
        <ns0:spPr>
          <a:xfrm>
            <a:off x="1285875" y="54197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42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2000"/>
              </a:lnSpc>
              <a:buNone/>
              <a:defRPr sz="142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As grandes ofertas concentram cerca de 45% do volume registrado das ofertas encerradas em jan–ago/26.</a:t>
            </a:r>
          </a:p>
        </ns0:txBody>
      </ns0:sp>
    </ns0:spTree>
    <ns0:extLst>
      <ns0:ext uri="{BB962C8B-B14F-4D97-AF65-F5344CB8AC3E}">
        <ns3:creationId val="131113697"/>
      </ns0:ext>
    </ns0:extLst>
  </ns0:cSld>
</ns0:sld>
</file>

<file path=ppt/slides/slide1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5" name="">
            <a:extLst>
              <a:ext uri="{FF2B5EF4-FFF2-40B4-BE49-F238E27FC236}">
                <ns2:creationId id="{4B49DFD4-BC8F-4D07-A718-5FA4E0C3749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Ranking de prestadores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8537A1E-09D6-4F6B-8DA9-6EDE1257A244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(R$ bi), ago/26: ranking geral e independentes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BEA55BE-01F9-459C-A264-ED4662D4A0F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6E62C63-53F2-4C05-8AF4-42BBDD0988E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4B3AA8F-1E48-432E-8BA7-9BE4D61B1AC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ago/26. Exclui Petrobras/TAPSO. Gestão/custódia reconstruídas; método no XLSX.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99097EE-396E-4310-B7E7-06F8E4627B2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790ACF0-E37E-40BA-AB17-6A5B8C44A720}"/>
              </a:ext>
            </a:extLst>
          </ns0:cNvPr>
          <ns0:cNvSpPr>
            <a:spLocks noGrp="1"/>
          </ns0:cNvSpPr>
          <ns0:nvPr/>
        </ns0:nvSpPr>
        <ns0:spPr>
          <a:xfrm>
            <a:off x="1524000" y="1200150"/>
            <a:ext cx="76200" cy="76200"/>
          </a:xfrm>
          <a:prstGeom prst="rect">
            <a:avLst/>
          </a:prstGeom>
          <a:solidFill>
            <a:srgbClr val="2456D6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091D9F9D-C0C7-4A29-9C08-802AEDC32A69}"/>
              </a:ext>
            </a:extLst>
          </ns0:cNvPr>
          <ns0:cNvSpPr>
            <a:spLocks noGrp="1"/>
          </ns0:cNvSpPr>
          <ns0:nvPr/>
        </ns0:nvSpPr>
        <ns0:spPr>
          <a:xfrm>
            <a:off x="1647825" y="1133475"/>
            <a:ext cx="1153886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5DBA52E9-9BB7-4BCA-B05F-A1B2EE404A4A}"/>
              </a:ext>
            </a:extLst>
          </ns0:cNvPr>
          <ns0:cNvSpPr>
            <a:spLocks noGrp="1"/>
          </ns0:cNvSpPr>
          <ns0:nvPr/>
        </ns0:nvSpPr>
        <ns0:spPr>
          <a:xfrm>
            <a:off x="2830286" y="1200150"/>
            <a:ext cx="76200" cy="76200"/>
          </a:xfrm>
          <a:prstGeom prst="rect">
            <a:avLst/>
          </a:prstGeom>
          <a:solidFill>
            <a:srgbClr val="1D4080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97D7CC44-292A-4265-B083-5B85C42DD6CD}"/>
              </a:ext>
            </a:extLst>
          </ns0:cNvPr>
          <ns0:cNvSpPr>
            <a:spLocks noGrp="1"/>
          </ns0:cNvSpPr>
          <ns0:nvPr/>
        </ns0:nvSpPr>
        <ns0:spPr>
          <a:xfrm>
            <a:off x="2954111" y="1133475"/>
            <a:ext cx="1153886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E8B04D6-B35D-4134-8BD0-D4D5FE137658}"/>
              </a:ext>
            </a:extLst>
          </ns0:cNvPr>
          <ns0:cNvSpPr>
            <a:spLocks noGrp="1"/>
          </ns0:cNvSpPr>
          <ns0:nvPr/>
        </ns0:nvSpPr>
        <ns0:spPr>
          <a:xfrm>
            <a:off x="4136571" y="1200150"/>
            <a:ext cx="76200" cy="76200"/>
          </a:xfrm>
          <a:prstGeom prst="rect">
            <a:avLst/>
          </a:prstGeom>
          <a:solidFill>
            <a:srgbClr val="7A1F3D"/>
          </a:solidFill>
          <a:ln w="0">
            <a:noFill/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3EB8DB5B-E2B1-43CF-B25C-41BC5A0DAB0E}"/>
              </a:ext>
            </a:extLst>
          </ns0:cNvPr>
          <ns0:cNvSpPr>
            <a:spLocks noGrp="1"/>
          </ns0:cNvSpPr>
          <ns0:nvPr/>
        </ns0:nvSpPr>
        <ns0:spPr>
          <a:xfrm>
            <a:off x="4260396" y="1133475"/>
            <a:ext cx="1153886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A665946-D4D4-4B70-8A3E-17A1B84760C3}"/>
              </a:ext>
            </a:extLst>
          </ns0:cNvPr>
          <ns0:cNvSpPr>
            <a:spLocks noGrp="1"/>
          </ns0:cNvSpPr>
          <ns0:nvPr/>
        </ns0:nvSpPr>
        <ns0:spPr>
          <a:xfrm>
            <a:off x="5442857" y="1200150"/>
            <a:ext cx="76200" cy="76200"/>
          </a:xfrm>
          <a:prstGeom prst="rect">
            <a:avLst/>
          </a:prstGeom>
          <a:solidFill>
            <a:srgbClr val="FF5500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9DBBDF94-8148-4097-A9E0-A7E485D806C9}"/>
              </a:ext>
            </a:extLst>
          </ns0:cNvPr>
          <ns0:cNvSpPr>
            <a:spLocks noGrp="1"/>
          </ns0:cNvSpPr>
          <ns0:nvPr/>
        </ns0:nvSpPr>
        <ns0:spPr>
          <a:xfrm>
            <a:off x="5566682" y="1133475"/>
            <a:ext cx="1153886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90F65361-B366-463D-B880-47F9F9487CB1}"/>
              </a:ext>
            </a:extLst>
          </ns0:cNvPr>
          <ns0:cNvSpPr>
            <a:spLocks noGrp="1"/>
          </ns0:cNvSpPr>
          <ns0:nvPr/>
        </ns0:nvSpPr>
        <ns0:spPr>
          <a:xfrm>
            <a:off x="6749143" y="1200150"/>
            <a:ext cx="76200" cy="76200"/>
          </a:xfrm>
          <a:prstGeom prst="rect">
            <a:avLst/>
          </a:prstGeom>
          <a:solidFill>
            <a:srgbClr val="6EC5E9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44622DBE-39E0-445D-838D-1D8BBC88D121}"/>
              </a:ext>
            </a:extLst>
          </ns0:cNvPr>
          <ns0:cNvSpPr>
            <a:spLocks noGrp="1"/>
          </ns0:cNvSpPr>
          <ns0:nvPr/>
        </ns0:nvSpPr>
        <ns0:spPr>
          <a:xfrm>
            <a:off x="6872968" y="1133475"/>
            <a:ext cx="1153886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3A0FD15-7CFC-4795-A39B-4CF6B2C22DD2}"/>
              </a:ext>
            </a:extLst>
          </ns0:cNvPr>
          <ns0:cNvSpPr>
            <a:spLocks noGrp="1"/>
          </ns0:cNvSpPr>
          <ns0:nvPr/>
        </ns0:nvSpPr>
        <ns0:spPr>
          <a:xfrm>
            <a:off x="8055429" y="1200150"/>
            <a:ext cx="76200" cy="76200"/>
          </a:xfrm>
          <a:prstGeom prst="rect">
            <a:avLst/>
          </a:prstGeom>
          <a:solidFill>
            <a:srgbClr val="73C6A1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B9F94259-6BE0-4B40-8551-DFADBDF4CF5D}"/>
              </a:ext>
            </a:extLst>
          </ns0:cNvPr>
          <ns0:cNvSpPr>
            <a:spLocks noGrp="1"/>
          </ns0:cNvSpPr>
          <ns0:nvPr/>
        </ns0:nvSpPr>
        <ns0:spPr>
          <a:xfrm>
            <a:off x="8179254" y="1133475"/>
            <a:ext cx="1153886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 / REAG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5686191C-8753-4209-ABA1-892DB5997291}"/>
              </a:ext>
            </a:extLst>
          </ns0:cNvPr>
          <ns0:cNvSpPr>
            <a:spLocks noGrp="1"/>
          </ns0:cNvSpPr>
          <ns0:nvPr/>
        </ns0:nvSpPr>
        <ns0:spPr>
          <a:xfrm>
            <a:off x="9361714" y="1200150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CBB61258-9400-4FE3-A243-FA1B688AFCA9}"/>
              </a:ext>
            </a:extLst>
          </ns0:cNvPr>
          <ns0:cNvSpPr>
            <a:spLocks noGrp="1"/>
          </ns0:cNvSpPr>
          <ns0:nvPr/>
        </ns0:nvSpPr>
        <ns0:spPr>
          <a:xfrm>
            <a:off x="9485539" y="1133475"/>
            <a:ext cx="1153886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Demais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4AE378F4-B13D-4F32-9628-5773B3F8E6A5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ctr"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AA1D7768-C6DA-4058-80CD-F33F7724F0FC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ctr"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92A8A3F7-76BD-4776-BCCB-2759D073F6A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24" name="Chart">
            <a:extLst>
              <a:ext uri="{FF2B5EF4-FFF2-40B4-BE49-F238E27FC236}">
                <ns2:creationId id="{08F5B16A-280B-4551-9FEF-9C5DF2940041}"/>
              </a:ext>
            </a:extLst>
          </ns0:cNvPr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6505b03b022a4757"/>
          </a:graphicData>
        </a:graphic>
      </ns0:graphicFrame>
      <ns0:sp>
        <ns0:nvSpPr>
          <ns0:cNvPr id="25" name="">
            <a:extLst>
              <a:ext uri="{FF2B5EF4-FFF2-40B4-BE49-F238E27FC236}">
                <ns2:creationId id="{BEA37AAE-5FDB-4C49-A145-41053EC14E46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26" name="Chart">
            <a:extLst>
              <a:ext uri="{FF2B5EF4-FFF2-40B4-BE49-F238E27FC236}">
                <ns2:creationId id="{10507DC3-3AC9-4AA0-9979-3C2A002E5436}"/>
              </a:ext>
            </a:extLst>
          </ns0:cNvPr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e6d29434240d4a1e"/>
          </a:graphicData>
        </a:graphic>
      </ns0:graphicFrame>
      <ns0:sp>
        <ns0:nvSpPr>
          <ns0:cNvPr id="27" name="">
            <a:extLst>
              <a:ext uri="{FF2B5EF4-FFF2-40B4-BE49-F238E27FC236}">
                <ns2:creationId id="{020BC782-D6A2-4C43-8EA0-9F4C014F1A9F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28" name="Chart">
            <a:extLst>
              <a:ext uri="{FF2B5EF4-FFF2-40B4-BE49-F238E27FC236}">
                <ns2:creationId id="{73BC2243-27ED-4CB3-8166-AFA9DC7061EF}"/>
              </a:ext>
            </a:extLst>
          </ns0:cNvPr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3745d504ddf045a3"/>
          </a:graphicData>
        </a:graphic>
      </ns0:graphicFrame>
      <ns0:sp>
        <ns0:nvSpPr>
          <ns0:cNvPr id="29" name="">
            <a:extLst>
              <a:ext uri="{FF2B5EF4-FFF2-40B4-BE49-F238E27FC236}">
                <ns2:creationId id="{24E5D383-FF80-4D2E-A54F-7EEC46CCC53F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0" name="Chart">
            <a:extLst>
              <a:ext uri="{FF2B5EF4-FFF2-40B4-BE49-F238E27FC236}">
                <ns2:creationId id="{034D32D2-4D4B-4317-A349-33D4D575FF71}"/>
              </a:ext>
            </a:extLst>
          </ns0:cNvPr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dd0471f9323a4e35"/>
          </a:graphicData>
        </a:graphic>
      </ns0:graphicFrame>
      <ns0:sp>
        <ns0:nvSpPr>
          <ns0:cNvPr id="31" name="">
            <a:extLst>
              <a:ext uri="{FF2B5EF4-FFF2-40B4-BE49-F238E27FC236}">
                <ns2:creationId id="{EC3ED0B6-87F9-474E-9F78-F17F1496DCA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32" name="Chart">
            <a:extLst>
              <a:ext uri="{FF2B5EF4-FFF2-40B4-BE49-F238E27FC236}">
                <ns2:creationId id="{BA938DCD-F8B9-4151-8852-1EDBB56CD2BD}"/>
              </a:ext>
            </a:extLst>
          </ns0:cNvPr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d0b29a38801b4047"/>
          </a:graphicData>
        </a:graphic>
      </ns0:graphicFrame>
      <ns0:sp>
        <ns0:nvSpPr>
          <ns0:cNvPr id="33" name="">
            <a:extLst>
              <a:ext uri="{FF2B5EF4-FFF2-40B4-BE49-F238E27FC236}">
                <ns2:creationId id="{20908B9B-4F46-415A-8935-70BBCE9C8F60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34" name="Chart">
            <a:extLst>
              <a:ext uri="{FF2B5EF4-FFF2-40B4-BE49-F238E27FC236}">
                <ns2:creationId id="{9CE54A04-CC5C-4C40-8CEE-07D51466F607}"/>
              </a:ext>
            </a:extLst>
          </ns0:cNvPr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26035e19fc7247f9"/>
          </a:graphicData>
        </a:graphic>
      </ns0:graphicFrame>
    </ns0:spTree>
    <ns0:extLst>
      <ns0:ext uri="{BB962C8B-B14F-4D97-AF65-F5344CB8AC3E}">
        <ns5:creationId val="956833371"/>
      </ns0:ext>
    </ns0:extLst>
  </ns0:cSld>
</ns0:sld>
</file>

<file path=ppt/slides/slide1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0210E5BF-DF4B-4CE8-B008-C05FB364C5A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>
            <a:defPPr algn="l"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308CE3-909F-44AA-94DD-34AD48243D9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Concentração de prestadores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463F862-8B9F-455A-AC6A-F96AB13EEB4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AAC0D64-8154-4B17-B34E-08FB3A98E89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3B3C122-FA60-4603-9962-9DE4D08AE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ago/26. PL ex-FIC, sem Petrobras/TAPSO. Gestão/custódia reconstruídas.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89978-FFD8-497E-87AB-AB27378A479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88F25A0-09FC-47FE-8954-113BB96E0204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AFE5B69-71D9-455C-AC92-A6377BE48C8D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9" name="Chart">
            <a:extLst>
              <a:ext uri="{FF2B5EF4-FFF2-40B4-BE49-F238E27FC236}">
                <ns2:creationId id="{FC208C9F-E6E1-4D12-9710-0BC6CBB43053}"/>
              </a:ext>
            </a:extLst>
          </ns0:cNvPr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aa4668c8492e4e0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8F98666-BDBA-4075-B5AD-A91711590037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B12F779-F377-4F13-9428-A31033696AC1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2DF9B2C0-27BA-45A4-9E53-AA261EBBC4D7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3" name="Chart">
            <a:extLst>
              <a:ext uri="{FF2B5EF4-FFF2-40B4-BE49-F238E27FC236}">
                <ns2:creationId id="{51F3F9B2-888C-41CC-8CEC-9E34F5A0B007}"/>
              </a:ext>
            </a:extLst>
          </ns0:cNvPr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40c33382c55a418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668A039-DBBC-46FA-AD16-42433E60BBE8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CBD6AC89-30C3-4AE2-A7B9-8A3DB19C0EC8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A00BE02-7121-43EF-BFF7-FA8E3EAF0AB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ctr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Ago/26: administração 100,0% → 100,0%; gestão 98,1% → 100,0%; custódia 97,1% → 99,3%.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DE675B7D-1CFF-4E81-9A0C-E2A200AA8135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A65161FE-D4F9-4ADD-B7C2-5640E888C951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57F0C5A6-41E3-45E5-84A3-44E4652E66A6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1C44330-2DEB-4E91-99AF-C575E8A3B825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Ago/26</a:t>
            </a:r>
          </a:p>
        </ns0:txBody>
      </ns0:sp>
    </ns0:spTree>
    <ns0:extLst>
      <ns0:ext uri="{BB962C8B-B14F-4D97-AF65-F5344CB8AC3E}">
        <ns5:creationId val="1750882732"/>
      </ns0:ext>
    </ns0:extLst>
  </ns0:cSld>
</ns0:sld>
</file>

<file path=ppt/slides/slide1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A7548AD-66B2-429A-9B9C-EF0B510DCF7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Público-alvo e base investidora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F2710EA-2F7E-460B-A86C-6B4F75C542D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Ofertas até ago/26; contas em ago/26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421AEC-55D6-4E87-BF66-CECDD10EB6B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0D42E59-1AB2-4EF5-88B3-5763F420DEB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D562494-FF0B-4481-8765-788A8511579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CVM/SRE, jan–ago/26; CVM, ago/26. Público-alvo = elegibilidade; contas podem se repetir.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0FA2815-1925-4A69-A260-C75AAB60A84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8386E7B-F2D0-493D-B4EC-02A2D71A09D6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EADD67D-F2BD-4671-8AE7-2F403736BF3D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9" name="Chart">
            <a:extLst>
              <a:ext uri="{FF2B5EF4-FFF2-40B4-BE49-F238E27FC236}">
                <ns2:creationId id="{20A034E2-F3C5-41B4-847C-F8CCE5B9F10E}"/>
              </a:ext>
            </a:extLst>
          </ns0:cNvPr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9244f9814f69458d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40517A4-7125-4679-B6BC-9405C82DCA8C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F97093A-161C-4B24-A974-B6E7CDD6E005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2" name="Chart">
            <a:extLst>
              <a:ext uri="{FF2B5EF4-FFF2-40B4-BE49-F238E27FC236}">
                <ns2:creationId id="{EBBCA7B1-5569-4CBF-8C13-3A940E9A3D8F}"/>
              </a:ext>
            </a:extLst>
          </ns0:cNvPr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11b9cc868ab40a1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3BFBF1F-6FB0-446A-BCD7-E3B7EA81F9EA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ago/26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8FC89927-0689-43E7-B91E-4FA5C23F90C0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5" name="Chart">
            <a:extLst>
              <a:ext uri="{FF2B5EF4-FFF2-40B4-BE49-F238E27FC236}">
                <ns2:creationId id="{22584D43-4EB9-475E-B52F-543AC568CC96}"/>
              </a:ext>
            </a:extLst>
          </ns0:cNvPr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6be9a6c2f814bb6"/>
          </a:graphicData>
        </a:graphic>
      </ns0:graphicFrame>
      <ns0:sp>
        <ns0:nvSpPr>
          <ns0:cNvPr id="16" name="">
            <a:extLst>
              <a:ext uri="{FF2B5EF4-FFF2-40B4-BE49-F238E27FC236}">
                <ns2:creationId id="{8A4B7DA4-F0FB-4956-AF67-84AFC2142310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maioria do volume emitido admite investidores profissionais. Público-alvo mede elegibilidade; contas podem repetir investidores.</a:t>
            </a:r>
          </a:p>
        </ns0:txBody>
      </ns0:sp>
    </ns0:spTree>
    <ns0:extLst>
      <ns0:ext uri="{BB962C8B-B14F-4D97-AF65-F5344CB8AC3E}">
        <ns5:creationId val="2021987922"/>
      </ns0:ext>
    </ns0:extLst>
  </ns0:cSld>
</ns0:sld>
</file>

<file path=ppt/slides/slide1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C7617F3C-4EDE-4BFF-9302-4EB157503AD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6207D3-A5AD-46AB-BA2D-5E9B7BA5347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>
            <a:defPPr algn="l"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Fundos com PL a partir de R$ 200 mi, dez/23 a ago/26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42C6CC7-AB21-4936-B570-F56B24EDC08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418E0A2-F03E-48DF-AD7E-3795DB07C22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93F6B76-E9DA-4551-B14C-FDCF0DB0C64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ago/26. PL ex-FIC ≥ R$ 200 mi; contas por classe/série.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9970957-A4EE-4BB4-807E-B7611E2D99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996471-F2CC-4A91-BF39-5E7BEAE39001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3E3E13FB-110E-47C1-A750-15EE0A5DC2A0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C4418EEB-6EE7-4804-8655-0EC6B22CAB51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22C1A01-A760-49FB-845C-0D102FC34956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Ago/26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A31BA48-9036-4F22-800C-957B2A533F4E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8A8EEF99-7BF7-4AE4-86B4-D8872DA790B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3" name="Chart">
            <a:extLst>
              <a:ext uri="{FF2B5EF4-FFF2-40B4-BE49-F238E27FC236}">
                <ns2:creationId id="{63CC2431-C691-4E6D-A1A3-14ABAB35757D}"/>
              </a:ext>
            </a:extLst>
          </ns0:cNvPr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519a66e45bc6470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708CC03-D778-40F3-8867-18CED71F56F7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021B44E-16FA-422A-A87B-C7AD774C85AC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6" name="Chart">
            <a:extLst>
              <a:ext uri="{FF2B5EF4-FFF2-40B4-BE49-F238E27FC236}">
                <ns2:creationId id="{DBB7596F-DC56-4552-A8B3-5F0966861FDD}"/>
              </a:ext>
            </a:extLst>
          </ns0:cNvPr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8ca47764c9574c14"/>
          </a:graphicData>
        </a:graphic>
      </ns0:graphicFrame>
      <ns0:sp>
        <ns0:nvSpPr>
          <ns0:cNvPr id="17" name="">
            <a:extLst>
              <a:ext uri="{FF2B5EF4-FFF2-40B4-BE49-F238E27FC236}">
                <ns2:creationId id="{13E0571B-60C6-490C-A20D-8A295F99E70E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F401D153-2D4B-4890-B540-E23902644298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Chart">
            <a:extLst>
              <a:ext uri="{FF2B5EF4-FFF2-40B4-BE49-F238E27FC236}">
                <ns2:creationId id="{7DBF70CA-DFA3-4497-A048-A4336C63A4E6}"/>
              </a:ext>
            </a:extLst>
          </ns0:cNvPr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dc0cd18fb5144ec6"/>
          </a:graphicData>
        </a:graphic>
      </ns0:graphicFrame>
      <ns0:sp>
        <ns0:nvSpPr>
          <ns0:cNvPr id="20" name="">
            <a:extLst>
              <a:ext uri="{FF2B5EF4-FFF2-40B4-BE49-F238E27FC236}">
                <ns2:creationId id="{F117F458-F55D-4C2B-A64E-A59347353810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7BAFD8B8-930F-4970-B434-D040412C03CA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l"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2015AD1B-6149-443E-BE10-FA8FFF30271C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>
            <a:extLst>
              <a:ext uri="{FF2B5EF4-FFF2-40B4-BE49-F238E27FC236}">
                <ns2:creationId id="{E0237ACA-EE94-4357-B92D-0247724D9228}"/>
              </a:ext>
            </a:extLst>
          </ns0:cNvPr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95571c662a1f4c8c"/>
          </a:graphicData>
        </a:graphic>
      </ns0:graphicFrame>
      <ns0:sp>
        <ns0:nvSpPr>
          <ns0:cNvPr id="24" name="">
            <a:extLst>
              <a:ext uri="{FF2B5EF4-FFF2-40B4-BE49-F238E27FC236}">
                <ns2:creationId id="{EE48D42C-5D91-4A50-96F5-B2EF689B90F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F92FCEA6-87CA-4684-A016-4DBA61CAF006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>
            <a:defPPr algn="r"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10904620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2026-10-08T20:13:38.1770000Z</dcterms:created>
  <dcterms:modified xsi:type="dcterms:W3CDTF">2026-10-08T20:13:38.1770000Z</dcterms:modified>
</coreProperties>
</file>