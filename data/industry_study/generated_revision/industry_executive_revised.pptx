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slides/charts/chart5.xml" ContentType="application/vnd.openxmlformats-officedocument.drawingml.chart+xml"/>
  <Override PartName="/ppt/slides/charts/chart6.xml" ContentType="application/vnd.openxmlformats-officedocument.drawingml.chart+xml"/>
  <Override PartName="/ppt/slides/charts/chart7.xml" ContentType="application/vnd.openxmlformats-officedocument.drawingml.chart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charts/chart8.xml" ContentType="application/vnd.openxmlformats-officedocument.drawingml.chart+xml"/>
  <Override PartName="/ppt/slides/charts/chart9.xml" ContentType="application/vnd.openxmlformats-officedocument.drawingml.chart+xml"/>
  <Override PartName="/ppt/slides/charts/chart10.xml" ContentType="application/vnd.openxmlformats-officedocument.drawingml.chart+xml"/>
  <Override PartName="/ppt/slides/charts/chart11.xml" ContentType="application/vnd.openxmlformats-officedocument.drawingml.chart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slides/charts/chart12.xml" ContentType="application/vnd.openxmlformats-officedocument.drawingml.chart+xml"/>
  <Override PartName="/ppt/slides/charts/chart13.xml" ContentType="application/vnd.openxmlformats-officedocument.drawingml.chart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charts/chart14.xml" ContentType="application/vnd.openxmlformats-officedocument.drawingml.chart+xml"/>
  <Override PartName="/ppt/slides/charts/chart15.xml" ContentType="application/vnd.openxmlformats-officedocument.drawingml.chart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slides/charts/chart16.xml" ContentType="application/vnd.openxmlformats-officedocument.drawingml.chart+xml"/>
  <Override PartName="/ppt/slides/charts/chart17.xml" ContentType="application/vnd.openxmlformats-officedocument.drawingml.chart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slides/charts/chart18.xml" ContentType="application/vnd.openxmlformats-officedocument.drawingml.chart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slides/charts/chart19.xml" ContentType="application/vnd.openxmlformats-officedocument.drawingml.chart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20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21.xml" ContentType="application/vnd.openxmlformats-officedocument.drawingml.chart+xml"/>
  <Override PartName="/ppt/slides/charts/chart22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23.xml" ContentType="application/vnd.openxmlformats-officedocument.drawingml.chart+xml"/>
  <Override PartName="/ppt/slides/charts/chart24.xml" ContentType="application/vnd.openxmlformats-officedocument.drawingml.chart+xml"/>
  <Override PartName="/ppt/slides/charts/chart25.xml" ContentType="application/vnd.openxmlformats-officedocument.drawingml.chart+xml"/>
  <Override PartName="/ppt/slides/charts/chart26.xml" ContentType="application/vnd.openxmlformats-officedocument.drawingml.chart+xml"/>
  <Override PartName="/ppt/slides/charts/chart27.xml" ContentType="application/vnd.openxmlformats-officedocument.drawingml.chart+xml"/>
  <Override PartName="/ppt/slides/charts/chart28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29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30.xml" ContentType="application/vnd.openxmlformats-officedocument.drawingml.chart+xml"/>
  <Override PartName="/ppt/slides/charts/chart31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slides/charts/chart32.xml" ContentType="application/vnd.openxmlformats-officedocument.drawingml.chart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33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34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35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slides/charts/chart36.xml" ContentType="application/vnd.openxmlformats-officedocument.drawingml.chart+xml"/>
  <Override PartName="/ppt/slides/charts/chart37.xml" ContentType="application/vnd.openxmlformats-officedocument.drawingml.chart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slides/charts/chart38.xml" ContentType="application/vnd.openxmlformats-officedocument.drawingml.chart+xml"/>
  <Override PartName="/ppt/slides/charts/chart39.xml" ContentType="application/vnd.openxmlformats-officedocument.drawingml.chart+xml"/>
  <Override PartName="/ppt/slides/charts/chart40.xml" ContentType="application/vnd.openxmlformats-officedocument.drawingml.chart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slides/charts/chart41.xml" ContentType="application/vnd.openxmlformats-officedocument.drawingml.chart+xml"/>
  <Override PartName="/ppt/slides/charts/chart42.xml" ContentType="application/vnd.openxmlformats-officedocument.drawingml.chart+xml"/>
  <Override PartName="/ppt/slides/charts/chart43.xml" ContentType="application/vnd.openxmlformats-officedocument.drawingml.chart+xml"/>
  <Override PartName="/ppt/slides/charts/chart44.xml" ContentType="application/vnd.openxmlformats-officedocument.drawingml.chart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Override PartName="/ppt/slides/slide48.xml" ContentType="application/vnd.openxmlformats-officedocument.presentationml.slide+xml"/>
  <Override PartName="/ppt/notesSlides/notesSlide48.xml" ContentType="application/vnd.openxmlformats-officedocument.presentationml.notesSlide+xml"/>
  <Override PartName="/ppt/slides/slide49.xml" ContentType="application/vnd.openxmlformats-officedocument.presentationml.slide+xml"/>
  <Override PartName="/ppt/notesSlides/notesSlide49.xml" ContentType="application/vnd.openxmlformats-officedocument.presentationml.notesSlide+xml"/>
  <Override PartName="/ppt/slides/slide50.xml" ContentType="application/vnd.openxmlformats-officedocument.presentationml.slide+xml"/>
  <Override PartName="/ppt/slides/charts/chart45.xml" ContentType="application/vnd.openxmlformats-officedocument.drawingml.chart+xml"/>
  <Override PartName="/ppt/notesSlides/notesSlide50.xml" ContentType="application/vnd.openxmlformats-officedocument.presentationml.notesSlide+xml"/>
  <Override PartName="/ppt/slides/slide51.xml" ContentType="application/vnd.openxmlformats-officedocument.presentationml.slide+xml"/>
  <Override PartName="/ppt/slides/charts/chart46.xml" ContentType="application/vnd.openxmlformats-officedocument.drawingml.chart+xml"/>
  <Override PartName="/ppt/notesSlides/notesSlide51.xml" ContentType="application/vnd.openxmlformats-officedocument.presentationml.notesSlide+xml"/>
  <Override PartName="/ppt/slides/slide52.xml" ContentType="application/vnd.openxmlformats-officedocument.presentationml.slide+xml"/>
  <Override PartName="/ppt/slides/charts/chart47.xml" ContentType="application/vnd.openxmlformats-officedocument.drawingml.chart+xml"/>
  <Override PartName="/ppt/notesSlides/notesSlide52.xml" ContentType="application/vnd.openxmlformats-officedocument.presentationml.notesSlide+xml"/>
  <Override PartName="/ppt/slides/slide53.xml" ContentType="application/vnd.openxmlformats-officedocument.presentationml.slide+xml"/>
  <Override PartName="/ppt/notesSlides/notesSlide53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137c7c048a1c4b24" /><Relationship Type="http://schemas.openxmlformats.org/officeDocument/2006/relationships/extended-properties" Target="/docProps/app.xml" Id="R9c8dc90b629349e0" /><Relationship Type="http://schemas.openxmlformats.org/officeDocument/2006/relationships/officeDocument" Target="/ppt/presentation.xml" Id="Rf08ab01a48264d12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97e96fb4a594b4b"/>
  </p:sldMasterIdLst>
  <p:notesMasterIdLst>
    <p:notesMasterId xmlns:r="http://schemas.openxmlformats.org/officeDocument/2006/relationships" r:id="Rb9b1c2a4ed2c4aab"/>
  </p:notesMasterIdLst>
  <p:sldIdLst>
    <p:sldId xmlns:r="http://schemas.openxmlformats.org/officeDocument/2006/relationships" id="256" r:id="R4080a9eed3c24b86"/>
    <p:sldId xmlns:r="http://schemas.openxmlformats.org/officeDocument/2006/relationships" id="257" r:id="Rc426b94f6c89476c"/>
    <p:sldId xmlns:r="http://schemas.openxmlformats.org/officeDocument/2006/relationships" id="258" r:id="Rd1411522752341f2"/>
    <p:sldId xmlns:r="http://schemas.openxmlformats.org/officeDocument/2006/relationships" id="259" r:id="R1372fa655f324cd1"/>
    <p:sldId xmlns:r="http://schemas.openxmlformats.org/officeDocument/2006/relationships" id="260" r:id="R9f7b01cc4a584c24"/>
    <p:sldId xmlns:r="http://schemas.openxmlformats.org/officeDocument/2006/relationships" id="261" r:id="R0e06007e6f504870"/>
    <p:sldId xmlns:r="http://schemas.openxmlformats.org/officeDocument/2006/relationships" id="262" r:id="Rad5a378f3dd14a20"/>
    <p:sldId xmlns:r="http://schemas.openxmlformats.org/officeDocument/2006/relationships" id="263" r:id="R330d089660e0416b"/>
    <p:sldId xmlns:r="http://schemas.openxmlformats.org/officeDocument/2006/relationships" id="264" r:id="R1929fafe75c04f5e"/>
    <p:sldId xmlns:r="http://schemas.openxmlformats.org/officeDocument/2006/relationships" id="265" r:id="R30ff36ccdf104159"/>
    <p:sldId xmlns:r="http://schemas.openxmlformats.org/officeDocument/2006/relationships" id="266" r:id="R29070cf843d9437b"/>
    <p:sldId xmlns:r="http://schemas.openxmlformats.org/officeDocument/2006/relationships" id="267" r:id="R4f8d986d1dd04a44"/>
    <p:sldId xmlns:r="http://schemas.openxmlformats.org/officeDocument/2006/relationships" id="268" r:id="R92b0969e2fb54296"/>
    <p:sldId xmlns:r="http://schemas.openxmlformats.org/officeDocument/2006/relationships" id="269" r:id="R00600f998c344b90"/>
    <p:sldId xmlns:r="http://schemas.openxmlformats.org/officeDocument/2006/relationships" id="270" r:id="Ra71b240e38b04f68"/>
    <p:sldId xmlns:r="http://schemas.openxmlformats.org/officeDocument/2006/relationships" id="271" r:id="R905a7c5893c44fee"/>
    <p:sldId xmlns:r="http://schemas.openxmlformats.org/officeDocument/2006/relationships" id="272" r:id="R3e6c12f79bfd443b"/>
    <p:sldId xmlns:r="http://schemas.openxmlformats.org/officeDocument/2006/relationships" id="273" r:id="R8b34a25cf29e471e"/>
    <p:sldId xmlns:r="http://schemas.openxmlformats.org/officeDocument/2006/relationships" id="274" r:id="R056f2f1a47874cb0"/>
    <p:sldId xmlns:r="http://schemas.openxmlformats.org/officeDocument/2006/relationships" id="275" r:id="R68b776b90eeb452c"/>
    <p:sldId xmlns:r="http://schemas.openxmlformats.org/officeDocument/2006/relationships" id="276" r:id="Rd403cf9494f04d7d"/>
    <p:sldId xmlns:r="http://schemas.openxmlformats.org/officeDocument/2006/relationships" id="277" r:id="Rebdb08d05ffc465e"/>
    <p:sldId xmlns:r="http://schemas.openxmlformats.org/officeDocument/2006/relationships" id="278" r:id="R5f174fc64a1047f7"/>
    <p:sldId xmlns:r="http://schemas.openxmlformats.org/officeDocument/2006/relationships" id="279" r:id="R611c8825d8034677"/>
    <p:sldId xmlns:r="http://schemas.openxmlformats.org/officeDocument/2006/relationships" id="280" r:id="Radbb29bc087b4531"/>
    <p:sldId xmlns:r="http://schemas.openxmlformats.org/officeDocument/2006/relationships" id="281" r:id="R93621cf3704544d1"/>
    <p:sldId xmlns:r="http://schemas.openxmlformats.org/officeDocument/2006/relationships" id="282" r:id="R51bdb002b677443e"/>
    <p:sldId xmlns:r="http://schemas.openxmlformats.org/officeDocument/2006/relationships" id="283" r:id="R9c11157bc8244f25"/>
    <p:sldId xmlns:r="http://schemas.openxmlformats.org/officeDocument/2006/relationships" id="284" r:id="R0f42cbf5ad7b4c69"/>
    <p:sldId xmlns:r="http://schemas.openxmlformats.org/officeDocument/2006/relationships" id="285" r:id="Rb471dc77b15040d9"/>
    <p:sldId xmlns:r="http://schemas.openxmlformats.org/officeDocument/2006/relationships" id="286" r:id="R8b206a70717c45bf"/>
    <p:sldId xmlns:r="http://schemas.openxmlformats.org/officeDocument/2006/relationships" id="287" r:id="R5a9a6cb5249847e9"/>
    <p:sldId xmlns:r="http://schemas.openxmlformats.org/officeDocument/2006/relationships" id="288" r:id="R4863806f0c2446ae"/>
    <p:sldId xmlns:r="http://schemas.openxmlformats.org/officeDocument/2006/relationships" id="289" r:id="Rf61f94b88b73409c"/>
    <p:sldId xmlns:r="http://schemas.openxmlformats.org/officeDocument/2006/relationships" id="290" r:id="Rdd5124e1092a4f31"/>
    <p:sldId xmlns:r="http://schemas.openxmlformats.org/officeDocument/2006/relationships" id="291" r:id="R52d73646284b4afe"/>
    <p:sldId xmlns:r="http://schemas.openxmlformats.org/officeDocument/2006/relationships" id="292" r:id="R060447535dd14e61"/>
    <p:sldId xmlns:r="http://schemas.openxmlformats.org/officeDocument/2006/relationships" id="293" r:id="R2fa5d8eee86f42e4"/>
    <p:sldId xmlns:r="http://schemas.openxmlformats.org/officeDocument/2006/relationships" id="294" r:id="Rfb2e17604ae64799"/>
    <p:sldId xmlns:r="http://schemas.openxmlformats.org/officeDocument/2006/relationships" id="295" r:id="R065a9718cce94f4c"/>
    <p:sldId xmlns:r="http://schemas.openxmlformats.org/officeDocument/2006/relationships" id="296" r:id="Rdff2047f57ea4ba6"/>
    <p:sldId xmlns:r="http://schemas.openxmlformats.org/officeDocument/2006/relationships" id="297" r:id="R925c2a24177b4eed"/>
    <p:sldId xmlns:r="http://schemas.openxmlformats.org/officeDocument/2006/relationships" id="298" r:id="R632b2f91ff5a4e46"/>
    <p:sldId xmlns:r="http://schemas.openxmlformats.org/officeDocument/2006/relationships" id="299" r:id="Rfea6645569a24fc4"/>
    <p:sldId xmlns:r="http://schemas.openxmlformats.org/officeDocument/2006/relationships" id="300" r:id="R0b379280f70f4641"/>
    <p:sldId xmlns:r="http://schemas.openxmlformats.org/officeDocument/2006/relationships" id="301" r:id="R04bc8b66d83c4b69"/>
    <p:sldId xmlns:r="http://schemas.openxmlformats.org/officeDocument/2006/relationships" id="302" r:id="Raa085e595cec43c4"/>
    <p:sldId xmlns:r="http://schemas.openxmlformats.org/officeDocument/2006/relationships" id="303" r:id="R0a63b9b992534879"/>
    <p:sldId xmlns:r="http://schemas.openxmlformats.org/officeDocument/2006/relationships" id="304" r:id="R93e557c57d46492e"/>
    <p:sldId xmlns:r="http://schemas.openxmlformats.org/officeDocument/2006/relationships" id="305" r:id="R48a4a7bb687943df"/>
    <p:sldId xmlns:r="http://schemas.openxmlformats.org/officeDocument/2006/relationships" id="306" r:id="R87e8708dcee74974"/>
    <p:sldId xmlns:r="http://schemas.openxmlformats.org/officeDocument/2006/relationships" id="307" r:id="R95d0dd4562c24ffd"/>
    <p:sldId xmlns:r="http://schemas.openxmlformats.org/officeDocument/2006/relationships" id="308" r:id="R5a66ba148fdb47e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13469dcc4c34e01" /><Relationship Type="http://schemas.openxmlformats.org/officeDocument/2006/relationships/slideMaster" Target="/ppt/slideMasters/slideMaster1.xml" Id="Rc97e96fb4a594b4b" /><Relationship Type="http://schemas.openxmlformats.org/officeDocument/2006/relationships/notesMaster" Target="/ppt/notesMasters/notesMaster1.xml" Id="Rb9b1c2a4ed2c4aab" /><Relationship Type="http://schemas.openxmlformats.org/officeDocument/2006/relationships/presProps" Target="/ppt/presProps.xml" Id="R631e398120cd46ad" /><Relationship Type="http://schemas.openxmlformats.org/officeDocument/2006/relationships/tableStyles" Target="/ppt/tableStyles.xml" Id="Rab5a9caf27a44493" /><Relationship Type="http://schemas.openxmlformats.org/officeDocument/2006/relationships/slide" Target="/ppt/slides/slide1.xml" Id="R4080a9eed3c24b86" /><Relationship Type="http://schemas.openxmlformats.org/officeDocument/2006/relationships/slide" Target="/ppt/slides/slide2.xml" Id="Rc426b94f6c89476c" /><Relationship Type="http://schemas.openxmlformats.org/officeDocument/2006/relationships/slide" Target="/ppt/slides/slide3.xml" Id="Rd1411522752341f2" /><Relationship Type="http://schemas.openxmlformats.org/officeDocument/2006/relationships/slide" Target="/ppt/slides/slide4.xml" Id="R1372fa655f324cd1" /><Relationship Type="http://schemas.openxmlformats.org/officeDocument/2006/relationships/slide" Target="/ppt/slides/slide5.xml" Id="R9f7b01cc4a584c24" /><Relationship Type="http://schemas.openxmlformats.org/officeDocument/2006/relationships/slide" Target="/ppt/slides/slide6.xml" Id="R0e06007e6f504870" /><Relationship Type="http://schemas.openxmlformats.org/officeDocument/2006/relationships/slide" Target="/ppt/slides/slide7.xml" Id="Rad5a378f3dd14a20" /><Relationship Type="http://schemas.openxmlformats.org/officeDocument/2006/relationships/slide" Target="/ppt/slides/slide8.xml" Id="R330d089660e0416b" /><Relationship Type="http://schemas.openxmlformats.org/officeDocument/2006/relationships/slide" Target="/ppt/slides/slide9.xml" Id="R1929fafe75c04f5e" /><Relationship Type="http://schemas.openxmlformats.org/officeDocument/2006/relationships/slide" Target="/ppt/slides/slide10.xml" Id="R30ff36ccdf104159" /><Relationship Type="http://schemas.openxmlformats.org/officeDocument/2006/relationships/slide" Target="/ppt/slides/slide11.xml" Id="R29070cf843d9437b" /><Relationship Type="http://schemas.openxmlformats.org/officeDocument/2006/relationships/slide" Target="/ppt/slides/slide12.xml" Id="R4f8d986d1dd04a44" /><Relationship Type="http://schemas.openxmlformats.org/officeDocument/2006/relationships/slide" Target="/ppt/slides/slide13.xml" Id="R92b0969e2fb54296" /><Relationship Type="http://schemas.openxmlformats.org/officeDocument/2006/relationships/slide" Target="/ppt/slides/slide14.xml" Id="R00600f998c344b90" /><Relationship Type="http://schemas.openxmlformats.org/officeDocument/2006/relationships/slide" Target="/ppt/slides/slide15.xml" Id="Ra71b240e38b04f68" /><Relationship Type="http://schemas.openxmlformats.org/officeDocument/2006/relationships/slide" Target="/ppt/slides/slide16.xml" Id="R905a7c5893c44fee" /><Relationship Type="http://schemas.openxmlformats.org/officeDocument/2006/relationships/slide" Target="/ppt/slides/slide17.xml" Id="R3e6c12f79bfd443b" /><Relationship Type="http://schemas.openxmlformats.org/officeDocument/2006/relationships/slide" Target="/ppt/slides/slide18.xml" Id="R8b34a25cf29e471e" /><Relationship Type="http://schemas.openxmlformats.org/officeDocument/2006/relationships/slide" Target="/ppt/slides/slide19.xml" Id="R056f2f1a47874cb0" /><Relationship Type="http://schemas.openxmlformats.org/officeDocument/2006/relationships/slide" Target="/ppt/slides/slide20.xml" Id="R68b776b90eeb452c" /><Relationship Type="http://schemas.openxmlformats.org/officeDocument/2006/relationships/slide" Target="/ppt/slides/slide21.xml" Id="Rd403cf9494f04d7d" /><Relationship Type="http://schemas.openxmlformats.org/officeDocument/2006/relationships/slide" Target="/ppt/slides/slide22.xml" Id="Rebdb08d05ffc465e" /><Relationship Type="http://schemas.openxmlformats.org/officeDocument/2006/relationships/slide" Target="/ppt/slides/slide23.xml" Id="R5f174fc64a1047f7" /><Relationship Type="http://schemas.openxmlformats.org/officeDocument/2006/relationships/slide" Target="/ppt/slides/slide24.xml" Id="R611c8825d8034677" /><Relationship Type="http://schemas.openxmlformats.org/officeDocument/2006/relationships/slide" Target="/ppt/slides/slide25.xml" Id="Radbb29bc087b4531" /><Relationship Type="http://schemas.openxmlformats.org/officeDocument/2006/relationships/slide" Target="/ppt/slides/slide26.xml" Id="R93621cf3704544d1" /><Relationship Type="http://schemas.openxmlformats.org/officeDocument/2006/relationships/slide" Target="/ppt/slides/slide27.xml" Id="R51bdb002b677443e" /><Relationship Type="http://schemas.openxmlformats.org/officeDocument/2006/relationships/slide" Target="/ppt/slides/slide28.xml" Id="R9c11157bc8244f25" /><Relationship Type="http://schemas.openxmlformats.org/officeDocument/2006/relationships/slide" Target="/ppt/slides/slide29.xml" Id="R0f42cbf5ad7b4c69" /><Relationship Type="http://schemas.openxmlformats.org/officeDocument/2006/relationships/slide" Target="/ppt/slides/slide30.xml" Id="Rb471dc77b15040d9" /><Relationship Type="http://schemas.openxmlformats.org/officeDocument/2006/relationships/slide" Target="/ppt/slides/slide31.xml" Id="R8b206a70717c45bf" /><Relationship Type="http://schemas.openxmlformats.org/officeDocument/2006/relationships/slide" Target="/ppt/slides/slide32.xml" Id="R5a9a6cb5249847e9" /><Relationship Type="http://schemas.openxmlformats.org/officeDocument/2006/relationships/slide" Target="/ppt/slides/slide33.xml" Id="R4863806f0c2446ae" /><Relationship Type="http://schemas.openxmlformats.org/officeDocument/2006/relationships/slide" Target="/ppt/slides/slide34.xml" Id="Rf61f94b88b73409c" /><Relationship Type="http://schemas.openxmlformats.org/officeDocument/2006/relationships/slide" Target="/ppt/slides/slide35.xml" Id="Rdd5124e1092a4f31" /><Relationship Type="http://schemas.openxmlformats.org/officeDocument/2006/relationships/slide" Target="/ppt/slides/slide36.xml" Id="R52d73646284b4afe" /><Relationship Type="http://schemas.openxmlformats.org/officeDocument/2006/relationships/slide" Target="/ppt/slides/slide37.xml" Id="R060447535dd14e61" /><Relationship Type="http://schemas.openxmlformats.org/officeDocument/2006/relationships/slide" Target="/ppt/slides/slide38.xml" Id="R2fa5d8eee86f42e4" /><Relationship Type="http://schemas.openxmlformats.org/officeDocument/2006/relationships/slide" Target="/ppt/slides/slide39.xml" Id="Rfb2e17604ae64799" /><Relationship Type="http://schemas.openxmlformats.org/officeDocument/2006/relationships/slide" Target="/ppt/slides/slide40.xml" Id="R065a9718cce94f4c" /><Relationship Type="http://schemas.openxmlformats.org/officeDocument/2006/relationships/slide" Target="/ppt/slides/slide41.xml" Id="Rdff2047f57ea4ba6" /><Relationship Type="http://schemas.openxmlformats.org/officeDocument/2006/relationships/slide" Target="/ppt/slides/slide42.xml" Id="R925c2a24177b4eed" /><Relationship Type="http://schemas.openxmlformats.org/officeDocument/2006/relationships/slide" Target="/ppt/slides/slide43.xml" Id="R632b2f91ff5a4e46" /><Relationship Type="http://schemas.openxmlformats.org/officeDocument/2006/relationships/slide" Target="/ppt/slides/slide44.xml" Id="Rfea6645569a24fc4" /><Relationship Type="http://schemas.openxmlformats.org/officeDocument/2006/relationships/slide" Target="/ppt/slides/slide45.xml" Id="R0b379280f70f4641" /><Relationship Type="http://schemas.openxmlformats.org/officeDocument/2006/relationships/slide" Target="/ppt/slides/slide46.xml" Id="R04bc8b66d83c4b69" /><Relationship Type="http://schemas.openxmlformats.org/officeDocument/2006/relationships/slide" Target="/ppt/slides/slide47.xml" Id="Raa085e595cec43c4" /><Relationship Type="http://schemas.openxmlformats.org/officeDocument/2006/relationships/slide" Target="/ppt/slides/slide48.xml" Id="R0a63b9b992534879" /><Relationship Type="http://schemas.openxmlformats.org/officeDocument/2006/relationships/slide" Target="/ppt/slides/slide49.xml" Id="R93e557c57d46492e" /><Relationship Type="http://schemas.openxmlformats.org/officeDocument/2006/relationships/slide" Target="/ppt/slides/slide50.xml" Id="R48a4a7bb687943df" /><Relationship Type="http://schemas.openxmlformats.org/officeDocument/2006/relationships/slide" Target="/ppt/slides/slide51.xml" Id="R87e8708dcee74974" /><Relationship Type="http://schemas.openxmlformats.org/officeDocument/2006/relationships/slide" Target="/ppt/slides/slide52.xml" Id="R95d0dd4562c24ffd" /><Relationship Type="http://schemas.openxmlformats.org/officeDocument/2006/relationships/slide" Target="/ppt/slides/slide53.xml" Id="R5a66ba148fdb47e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f351ee70da24071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4ac007730e4b74" /><Relationship Type="http://schemas.openxmlformats.org/officeDocument/2006/relationships/notesMaster" Target="/ppt/notesMasters/notesMaster1.xml" Id="R92bc7a00c9ea4d0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3e57850a750464b" /><Relationship Type="http://schemas.openxmlformats.org/officeDocument/2006/relationships/notesMaster" Target="/ppt/notesMasters/notesMaster1.xml" Id="Rc471e9e2a132493b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e31dc155a014696" /><Relationship Type="http://schemas.openxmlformats.org/officeDocument/2006/relationships/notesMaster" Target="/ppt/notesMasters/notesMaster1.xml" Id="Rbaa886d6d661414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a23a6a4447d493a" /><Relationship Type="http://schemas.openxmlformats.org/officeDocument/2006/relationships/notesMaster" Target="/ppt/notesMasters/notesMaster1.xml" Id="R26dd23c249654938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5103f1a452c4475" /><Relationship Type="http://schemas.openxmlformats.org/officeDocument/2006/relationships/notesMaster" Target="/ppt/notesMasters/notesMaster1.xml" Id="Rd1612070dbb24e0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ee21b5a8719f49f5" /><Relationship Type="http://schemas.openxmlformats.org/officeDocument/2006/relationships/notesMaster" Target="/ppt/notesMasters/notesMaster1.xml" Id="R65684be59fb440f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0ebf7c5ded704d9e" /><Relationship Type="http://schemas.openxmlformats.org/officeDocument/2006/relationships/notesMaster" Target="/ppt/notesMasters/notesMaster1.xml" Id="R6ffda66e953d4e8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35557e32bf7c4b48" /><Relationship Type="http://schemas.openxmlformats.org/officeDocument/2006/relationships/notesMaster" Target="/ppt/notesMasters/notesMaster1.xml" Id="R51efe2dcef50443f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3403e51c4dfb4170" /><Relationship Type="http://schemas.openxmlformats.org/officeDocument/2006/relationships/notesMaster" Target="/ppt/notesMasters/notesMaster1.xml" Id="R9567094be7814399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d541da3cf2884145" /><Relationship Type="http://schemas.openxmlformats.org/officeDocument/2006/relationships/notesMaster" Target="/ppt/notesMasters/notesMaster1.xml" Id="Rcb1e129b24ed4359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e9160a4f8854841" /><Relationship Type="http://schemas.openxmlformats.org/officeDocument/2006/relationships/notesMaster" Target="/ppt/notesMasters/notesMaster1.xml" Id="R2699c8b6448a4dcd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6aef79bd38b41e6" /><Relationship Type="http://schemas.openxmlformats.org/officeDocument/2006/relationships/notesMaster" Target="/ppt/notesMasters/notesMaster1.xml" Id="Re0a2f425cec349b5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daf07b63447641b5" /><Relationship Type="http://schemas.openxmlformats.org/officeDocument/2006/relationships/notesMaster" Target="/ppt/notesMasters/notesMaster1.xml" Id="Ree3cb5b7adba4f3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103062e01d244cd" /><Relationship Type="http://schemas.openxmlformats.org/officeDocument/2006/relationships/notesMaster" Target="/ppt/notesMasters/notesMaster1.xml" Id="R2ca6e431607842e5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a570e6568fd4905" /><Relationship Type="http://schemas.openxmlformats.org/officeDocument/2006/relationships/notesMaster" Target="/ppt/notesMasters/notesMaster1.xml" Id="Rcce931ccf02f43d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f98761fcb51417c" /><Relationship Type="http://schemas.openxmlformats.org/officeDocument/2006/relationships/notesMaster" Target="/ppt/notesMasters/notesMaster1.xml" Id="Rfd5887322ada4db0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940e18828dc4781" /><Relationship Type="http://schemas.openxmlformats.org/officeDocument/2006/relationships/notesMaster" Target="/ppt/notesMasters/notesMaster1.xml" Id="R30a655d84b304714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e5c522e92b34dce" /><Relationship Type="http://schemas.openxmlformats.org/officeDocument/2006/relationships/notesMaster" Target="/ppt/notesMasters/notesMaster1.xml" Id="R402e5a1f004f4036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2fbaaf2c26c45a3" /><Relationship Type="http://schemas.openxmlformats.org/officeDocument/2006/relationships/notesMaster" Target="/ppt/notesMasters/notesMaster1.xml" Id="R35b8ab5b07ab427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428b2884b6a34a79" /><Relationship Type="http://schemas.openxmlformats.org/officeDocument/2006/relationships/notesMaster" Target="/ppt/notesMasters/notesMaster1.xml" Id="R904ef63788734973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d4db46536f6f40aa" /><Relationship Type="http://schemas.openxmlformats.org/officeDocument/2006/relationships/notesMaster" Target="/ppt/notesMasters/notesMaster1.xml" Id="Rafe62f54273547b9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26ab44f705d34697" /><Relationship Type="http://schemas.openxmlformats.org/officeDocument/2006/relationships/notesMaster" Target="/ppt/notesMasters/notesMaster1.xml" Id="R8efc8324d2f341b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e250a67c9c2a477a" /><Relationship Type="http://schemas.openxmlformats.org/officeDocument/2006/relationships/notesMaster" Target="/ppt/notesMasters/notesMaster1.xml" Id="Rff1bdd1ea8b14214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b6fff53f927b4342" /><Relationship Type="http://schemas.openxmlformats.org/officeDocument/2006/relationships/notesMaster" Target="/ppt/notesMasters/notesMaster1.xml" Id="R5e60f1b1519348fb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1cf7f3cc46e4819" /><Relationship Type="http://schemas.openxmlformats.org/officeDocument/2006/relationships/notesMaster" Target="/ppt/notesMasters/notesMaster1.xml" Id="Rd24e80e2a06e44ff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fbbd7a290ee4fc4" /><Relationship Type="http://schemas.openxmlformats.org/officeDocument/2006/relationships/notesMaster" Target="/ppt/notesMasters/notesMaster1.xml" Id="R2f13d0fcf53a4b2a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f34c422e012944b5" /><Relationship Type="http://schemas.openxmlformats.org/officeDocument/2006/relationships/notesMaster" Target="/ppt/notesMasters/notesMaster1.xml" Id="R9f58b41cdd8c41f0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3f088fb55cb46b9" /><Relationship Type="http://schemas.openxmlformats.org/officeDocument/2006/relationships/notesMaster" Target="/ppt/notesMasters/notesMaster1.xml" Id="Red71624f06fc4c6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8ebc83865e414c42" /><Relationship Type="http://schemas.openxmlformats.org/officeDocument/2006/relationships/notesMaster" Target="/ppt/notesMasters/notesMaster1.xml" Id="R7e7e1766b84f463d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f4554593cec1438d" /><Relationship Type="http://schemas.openxmlformats.org/officeDocument/2006/relationships/notesMaster" Target="/ppt/notesMasters/notesMaster1.xml" Id="Rbf2daeb14ccb46ab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28e133d7ba6d4d2d" /><Relationship Type="http://schemas.openxmlformats.org/officeDocument/2006/relationships/notesMaster" Target="/ppt/notesMasters/notesMaster1.xml" Id="Rd374c35f09b548af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8e4731f768734263" /><Relationship Type="http://schemas.openxmlformats.org/officeDocument/2006/relationships/notesMaster" Target="/ppt/notesMasters/notesMaster1.xml" Id="R944e630e48d64a75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f6fd606a30eb4e58" /><Relationship Type="http://schemas.openxmlformats.org/officeDocument/2006/relationships/notesMaster" Target="/ppt/notesMasters/notesMaster1.xml" Id="R723e0597c13e4acc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22f10193dad94916" /><Relationship Type="http://schemas.openxmlformats.org/officeDocument/2006/relationships/notesMaster" Target="/ppt/notesMasters/notesMaster1.xml" Id="R88d586dec2434b06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cc8da85fe8614ad0" /><Relationship Type="http://schemas.openxmlformats.org/officeDocument/2006/relationships/notesMaster" Target="/ppt/notesMasters/notesMaster1.xml" Id="R6b238798d2d84939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e88d3e8f08f046a0" /><Relationship Type="http://schemas.openxmlformats.org/officeDocument/2006/relationships/notesMaster" Target="/ppt/notesMasters/notesMaster1.xml" Id="R9f59021d7f954665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cf8f49dcd8394d71" /><Relationship Type="http://schemas.openxmlformats.org/officeDocument/2006/relationships/notesMaster" Target="/ppt/notesMasters/notesMaster1.xml" Id="Rb9ccbfe13a364911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0db89b519474392" /><Relationship Type="http://schemas.openxmlformats.org/officeDocument/2006/relationships/notesMaster" Target="/ppt/notesMasters/notesMaster1.xml" Id="Rc33183ec9f4046cb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af5eb32ce5e14f48" /><Relationship Type="http://schemas.openxmlformats.org/officeDocument/2006/relationships/notesMaster" Target="/ppt/notesMasters/notesMaster1.xml" Id="R21635626596749e6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dbfd0e6bae04595" /><Relationship Type="http://schemas.openxmlformats.org/officeDocument/2006/relationships/notesMaster" Target="/ppt/notesMasters/notesMaster1.xml" Id="Raf224c841cdc470e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6505c64f17b744e9" /><Relationship Type="http://schemas.openxmlformats.org/officeDocument/2006/relationships/notesMaster" Target="/ppt/notesMasters/notesMaster1.xml" Id="Ra53a7cf217c44538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7d1e574562504f66" /><Relationship Type="http://schemas.openxmlformats.org/officeDocument/2006/relationships/notesMaster" Target="/ppt/notesMasters/notesMaster1.xml" Id="R7b83831c8d5b4ef3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fb13f7c49ae44dce" /><Relationship Type="http://schemas.openxmlformats.org/officeDocument/2006/relationships/notesMaster" Target="/ppt/notesMasters/notesMaster1.xml" Id="R8f3a8782d90045b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ed7f6e3a7c794e1d" /><Relationship Type="http://schemas.openxmlformats.org/officeDocument/2006/relationships/notesMaster" Target="/ppt/notesMasters/notesMaster1.xml" Id="Ra36dd5ffa28e419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e47d0262870042d2" /><Relationship Type="http://schemas.openxmlformats.org/officeDocument/2006/relationships/notesMaster" Target="/ppt/notesMasters/notesMaster1.xml" Id="R0531fe4e6db34f08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96dab10856cb49f1" /><Relationship Type="http://schemas.openxmlformats.org/officeDocument/2006/relationships/notesMaster" Target="/ppt/notesMasters/notesMaster1.xml" Id="R5c77f609f15b4fe8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949d1755617b451b" /><Relationship Type="http://schemas.openxmlformats.org/officeDocument/2006/relationships/notesMaster" Target="/ppt/notesMasters/notesMaster1.xml" Id="R716bc4d090f64555" /></Relationships>
</file>

<file path=ppt/notesSlides/_rels/notesSlide48.xml.rels>&#65279;<?xml version="1.0" encoding="utf-8"?><Relationships xmlns="http://schemas.openxmlformats.org/package/2006/relationships"><Relationship Type="http://schemas.openxmlformats.org/officeDocument/2006/relationships/slide" Target="/ppt/slides/slide48.xml" Id="R2d1aa9b2c9b84125" /><Relationship Type="http://schemas.openxmlformats.org/officeDocument/2006/relationships/notesMaster" Target="/ppt/notesMasters/notesMaster1.xml" Id="R1b5acc48379f46f3" /></Relationships>
</file>

<file path=ppt/notesSlides/_rels/notesSlide49.xml.rels>&#65279;<?xml version="1.0" encoding="utf-8"?><Relationships xmlns="http://schemas.openxmlformats.org/package/2006/relationships"><Relationship Type="http://schemas.openxmlformats.org/officeDocument/2006/relationships/slide" Target="/ppt/slides/slide49.xml" Id="Rec3c01e7230142c8" /><Relationship Type="http://schemas.openxmlformats.org/officeDocument/2006/relationships/notesMaster" Target="/ppt/notesMasters/notesMaster1.xml" Id="R489a4c6b96a34dc9" /></Relationships>
</file>

<file path=ppt/notesSlides/_rels/notesSlide50.xml.rels>&#65279;<?xml version="1.0" encoding="utf-8"?><Relationships xmlns="http://schemas.openxmlformats.org/package/2006/relationships"><Relationship Type="http://schemas.openxmlformats.org/officeDocument/2006/relationships/slide" Target="/ppt/slides/slide50.xml" Id="R85bdc9bf873c472f" /><Relationship Type="http://schemas.openxmlformats.org/officeDocument/2006/relationships/notesMaster" Target="/ppt/notesMasters/notesMaster1.xml" Id="R38233a51b8354f79" /></Relationships>
</file>

<file path=ppt/notesSlides/_rels/notesSlide51.xml.rels>&#65279;<?xml version="1.0" encoding="utf-8"?><Relationships xmlns="http://schemas.openxmlformats.org/package/2006/relationships"><Relationship Type="http://schemas.openxmlformats.org/officeDocument/2006/relationships/slide" Target="/ppt/slides/slide51.xml" Id="Rf83ef315ca4645c6" /><Relationship Type="http://schemas.openxmlformats.org/officeDocument/2006/relationships/notesMaster" Target="/ppt/notesMasters/notesMaster1.xml" Id="Rcb6010191b7d466d" /></Relationships>
</file>

<file path=ppt/notesSlides/_rels/notesSlide52.xml.rels>&#65279;<?xml version="1.0" encoding="utf-8"?><Relationships xmlns="http://schemas.openxmlformats.org/package/2006/relationships"><Relationship Type="http://schemas.openxmlformats.org/officeDocument/2006/relationships/slide" Target="/ppt/slides/slide52.xml" Id="R9c69372a57744c3e" /><Relationship Type="http://schemas.openxmlformats.org/officeDocument/2006/relationships/notesMaster" Target="/ppt/notesMasters/notesMaster1.xml" Id="R9806a07ce244409a" /></Relationships>
</file>

<file path=ppt/notesSlides/_rels/notesSlide53.xml.rels>&#65279;<?xml version="1.0" encoding="utf-8"?><Relationships xmlns="http://schemas.openxmlformats.org/package/2006/relationships"><Relationship Type="http://schemas.openxmlformats.org/officeDocument/2006/relationships/slide" Target="/ppt/slides/slide53.xml" Id="Re62c8d82cd76424e" /><Relationship Type="http://schemas.openxmlformats.org/officeDocument/2006/relationships/notesMaster" Target="/ppt/notesMasters/notesMaster1.xml" Id="R6a49a6216ccc4c5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b2505b972214c7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52f17b1a8dfe429c" /><Relationship Type="http://schemas.openxmlformats.org/officeDocument/2006/relationships/slideLayout" Target="/ppt/slideLayouts/slideLayout1.xml" Id="R05547e9046ac4b68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5547e9046ac4b68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43deae3a3d248f4" /><Relationship Type="http://schemas.openxmlformats.org/officeDocument/2006/relationships/notesSlide" Target="/ppt/notesSlides/notesSlide1.xml" Id="Rd5d64f92faeb450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b6ec883bf7e42b1" /><Relationship Type="http://schemas.openxmlformats.org/officeDocument/2006/relationships/notesSlide" Target="/ppt/notesSlides/notesSlide2.xml" Id="Rd728059731c1418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c85e70729d2406f" /><Relationship Type="http://schemas.openxmlformats.org/officeDocument/2006/relationships/chart" Target="/ppt/slides/charts/chart1.xml" Id="R00be452c3c5e4d2d" /><Relationship Type="http://schemas.openxmlformats.org/officeDocument/2006/relationships/chart" Target="/ppt/slides/charts/chart2.xml" Id="R7a79048acdd546a3" /><Relationship Type="http://schemas.openxmlformats.org/officeDocument/2006/relationships/notesSlide" Target="/ppt/notesSlides/notesSlide3.xml" Id="R7321631cf9fa496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efc933e39914f0a" /><Relationship Type="http://schemas.openxmlformats.org/officeDocument/2006/relationships/chart" Target="/ppt/slides/charts/chart3.xml" Id="R4c5bee7daace452a" /><Relationship Type="http://schemas.openxmlformats.org/officeDocument/2006/relationships/chart" Target="/ppt/slides/charts/chart4.xml" Id="R89bdee6fc613491e" /><Relationship Type="http://schemas.openxmlformats.org/officeDocument/2006/relationships/notesSlide" Target="/ppt/notesSlides/notesSlide4.xml" Id="Re7c00e107aa042d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f2b17fd205e429c" /><Relationship Type="http://schemas.openxmlformats.org/officeDocument/2006/relationships/chart" Target="/ppt/slides/charts/chart5.xml" Id="R1c0e165d892a486b" /><Relationship Type="http://schemas.openxmlformats.org/officeDocument/2006/relationships/chart" Target="/ppt/slides/charts/chart6.xml" Id="R7aa1ca28c8824651" /><Relationship Type="http://schemas.openxmlformats.org/officeDocument/2006/relationships/chart" Target="/ppt/slides/charts/chart7.xml" Id="R5902be96de014fd7" /><Relationship Type="http://schemas.openxmlformats.org/officeDocument/2006/relationships/notesSlide" Target="/ppt/notesSlides/notesSlide5.xml" Id="R95bdf3d283864119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caaadf8f9c4ccd" /><Relationship Type="http://schemas.openxmlformats.org/officeDocument/2006/relationships/chart" Target="/ppt/slides/charts/chart8.xml" Id="Ra9bcbf3685a445a3" /><Relationship Type="http://schemas.openxmlformats.org/officeDocument/2006/relationships/chart" Target="/ppt/slides/charts/chart9.xml" Id="R092d827fc6d148b9" /><Relationship Type="http://schemas.openxmlformats.org/officeDocument/2006/relationships/chart" Target="/ppt/slides/charts/chart10.xml" Id="Re02f19ce85434826" /><Relationship Type="http://schemas.openxmlformats.org/officeDocument/2006/relationships/chart" Target="/ppt/slides/charts/chart11.xml" Id="R7fa5f908fa564c60" /><Relationship Type="http://schemas.openxmlformats.org/officeDocument/2006/relationships/notesSlide" Target="/ppt/notesSlides/notesSlide6.xml" Id="R7d5fc6a18755477b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11be323a51c4821" /><Relationship Type="http://schemas.openxmlformats.org/officeDocument/2006/relationships/chart" Target="/ppt/slides/charts/chart12.xml" Id="Rc0fb7f8d03f840e3" /><Relationship Type="http://schemas.openxmlformats.org/officeDocument/2006/relationships/chart" Target="/ppt/slides/charts/chart13.xml" Id="R647f2f0bc1e94a4c" /><Relationship Type="http://schemas.openxmlformats.org/officeDocument/2006/relationships/notesSlide" Target="/ppt/notesSlides/notesSlide7.xml" Id="Ra9b2937775ba4547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6c040cc7a4448f" /><Relationship Type="http://schemas.openxmlformats.org/officeDocument/2006/relationships/chart" Target="/ppt/slides/charts/chart14.xml" Id="R35dc310969c943e2" /><Relationship Type="http://schemas.openxmlformats.org/officeDocument/2006/relationships/chart" Target="/ppt/slides/charts/chart15.xml" Id="R29296695151c4c27" /><Relationship Type="http://schemas.openxmlformats.org/officeDocument/2006/relationships/notesSlide" Target="/ppt/notesSlides/notesSlide8.xml" Id="R19a1ae23d7df4a2c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1fe882ed3194dc2" /><Relationship Type="http://schemas.openxmlformats.org/officeDocument/2006/relationships/chart" Target="/ppt/slides/charts/chart16.xml" Id="R06247c89174a4185" /><Relationship Type="http://schemas.openxmlformats.org/officeDocument/2006/relationships/chart" Target="/ppt/slides/charts/chart17.xml" Id="R51deb3171fb5498b" /><Relationship Type="http://schemas.openxmlformats.org/officeDocument/2006/relationships/notesSlide" Target="/ppt/notesSlides/notesSlide9.xml" Id="R3c7adb6d5c604a82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f7b1da240d74387" /><Relationship Type="http://schemas.openxmlformats.org/officeDocument/2006/relationships/chart" Target="/ppt/slides/charts/chart18.xml" Id="Rdad943e76c8b4ed5" /><Relationship Type="http://schemas.openxmlformats.org/officeDocument/2006/relationships/notesSlide" Target="/ppt/notesSlides/notesSlide10.xml" Id="R78942e9a511a440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7ae092cbd249af" /><Relationship Type="http://schemas.openxmlformats.org/officeDocument/2006/relationships/chart" Target="/ppt/slides/charts/chart19.xml" Id="Rb0bf1697cd504b87" /><Relationship Type="http://schemas.openxmlformats.org/officeDocument/2006/relationships/notesSlide" Target="/ppt/notesSlides/notesSlide11.xml" Id="R1b3b0614331344a5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2b469270c044fae" /><Relationship Type="http://schemas.openxmlformats.org/officeDocument/2006/relationships/chart" Target="/ppt/slides/charts/chart20.xml" Id="Rea92fe270f064b36" /><Relationship Type="http://schemas.openxmlformats.org/officeDocument/2006/relationships/notesSlide" Target="/ppt/notesSlides/notesSlide12.xml" Id="Rec52a76621d84de9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c2018e2e24de4" /><Relationship Type="http://schemas.openxmlformats.org/officeDocument/2006/relationships/chart" Target="/ppt/slides/charts/chart21.xml" Id="R75d296b8b71f4881" /><Relationship Type="http://schemas.openxmlformats.org/officeDocument/2006/relationships/chart" Target="/ppt/slides/charts/chart22.xml" Id="R101791fb1cbd44eb" /><Relationship Type="http://schemas.openxmlformats.org/officeDocument/2006/relationships/notesSlide" Target="/ppt/notesSlides/notesSlide13.xml" Id="R6bc2c99dac8047f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ff7a00c08a425f" /><Relationship Type="http://schemas.openxmlformats.org/officeDocument/2006/relationships/chart" Target="/ppt/slides/charts/chart23.xml" Id="R3f55069cbea14d5d" /><Relationship Type="http://schemas.openxmlformats.org/officeDocument/2006/relationships/chart" Target="/ppt/slides/charts/chart24.xml" Id="R12857f51894745a7" /><Relationship Type="http://schemas.openxmlformats.org/officeDocument/2006/relationships/chart" Target="/ppt/slides/charts/chart25.xml" Id="R153d76d88f3d4e4f" /><Relationship Type="http://schemas.openxmlformats.org/officeDocument/2006/relationships/chart" Target="/ppt/slides/charts/chart26.xml" Id="R7596b7871c0c4bf1" /><Relationship Type="http://schemas.openxmlformats.org/officeDocument/2006/relationships/chart" Target="/ppt/slides/charts/chart27.xml" Id="R07cd58a7205642c5" /><Relationship Type="http://schemas.openxmlformats.org/officeDocument/2006/relationships/chart" Target="/ppt/slides/charts/chart28.xml" Id="R1479162863024a4d" /><Relationship Type="http://schemas.openxmlformats.org/officeDocument/2006/relationships/notesSlide" Target="/ppt/notesSlides/notesSlide14.xml" Id="R2c7e90baa34c495e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0c16020b16e47f9" /><Relationship Type="http://schemas.openxmlformats.org/officeDocument/2006/relationships/chart" Target="/ppt/slides/charts/chart29.xml" Id="R9ca655858e7345d1" /><Relationship Type="http://schemas.openxmlformats.org/officeDocument/2006/relationships/notesSlide" Target="/ppt/notesSlides/notesSlide15.xml" Id="Rc157a41ed29e403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8632d83c32a40e1" /><Relationship Type="http://schemas.openxmlformats.org/officeDocument/2006/relationships/chart" Target="/ppt/slides/charts/chart30.xml" Id="Rfdd7b6e55cf740df" /><Relationship Type="http://schemas.openxmlformats.org/officeDocument/2006/relationships/chart" Target="/ppt/slides/charts/chart31.xml" Id="R4d301822b56c4858" /><Relationship Type="http://schemas.openxmlformats.org/officeDocument/2006/relationships/notesSlide" Target="/ppt/notesSlides/notesSlide16.xml" Id="R1bf746a41e074ce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f87c86efbc4ec1" /><Relationship Type="http://schemas.openxmlformats.org/officeDocument/2006/relationships/chart" Target="/ppt/slides/charts/chart32.xml" Id="Rd99be43c70f5446a" /><Relationship Type="http://schemas.openxmlformats.org/officeDocument/2006/relationships/notesSlide" Target="/ppt/notesSlides/notesSlide17.xml" Id="R260f7bb4997d416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65cd78f5aa41ab" /><Relationship Type="http://schemas.openxmlformats.org/officeDocument/2006/relationships/chart" Target="/ppt/slides/charts/chart33.xml" Id="R55ea8bfeb8a842b5" /><Relationship Type="http://schemas.openxmlformats.org/officeDocument/2006/relationships/notesSlide" Target="/ppt/notesSlides/notesSlide18.xml" Id="Rb5e749cd387e436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5374862ce143f3" /><Relationship Type="http://schemas.openxmlformats.org/officeDocument/2006/relationships/chart" Target="/ppt/slides/charts/chart34.xml" Id="R7945bda3e2ed4c9c" /><Relationship Type="http://schemas.openxmlformats.org/officeDocument/2006/relationships/notesSlide" Target="/ppt/notesSlides/notesSlide19.xml" Id="R1691c8e373a34082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cea42b66904c02" /><Relationship Type="http://schemas.openxmlformats.org/officeDocument/2006/relationships/notesSlide" Target="/ppt/notesSlides/notesSlide20.xml" Id="Rf8109a3775f044c4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fcf6a59cb44af" /><Relationship Type="http://schemas.openxmlformats.org/officeDocument/2006/relationships/notesSlide" Target="/ppt/notesSlides/notesSlide21.xml" Id="Reca9c990070e470d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3d7e240d1c4b5b" /><Relationship Type="http://schemas.openxmlformats.org/officeDocument/2006/relationships/chart" Target="/ppt/slides/charts/chart35.xml" Id="Rffbdd7fe5e7f4a8f" /><Relationship Type="http://schemas.openxmlformats.org/officeDocument/2006/relationships/notesSlide" Target="/ppt/notesSlides/notesSlide22.xml" Id="R9bbaea015e6a4416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6c1257f53f4a24" /><Relationship Type="http://schemas.openxmlformats.org/officeDocument/2006/relationships/notesSlide" Target="/ppt/notesSlides/notesSlide23.xml" Id="R47e32189ae3347a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c5b217455640c1" /><Relationship Type="http://schemas.openxmlformats.org/officeDocument/2006/relationships/chart" Target="/ppt/slides/charts/chart36.xml" Id="Racfc9b13005041a5" /><Relationship Type="http://schemas.openxmlformats.org/officeDocument/2006/relationships/chart" Target="/ppt/slides/charts/chart37.xml" Id="R03d02ff8384b4223" /><Relationship Type="http://schemas.openxmlformats.org/officeDocument/2006/relationships/notesSlide" Target="/ppt/notesSlides/notesSlide24.xml" Id="R5db97ba0deb8474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0a6329300144a9c" /><Relationship Type="http://schemas.openxmlformats.org/officeDocument/2006/relationships/chart" Target="/ppt/slides/charts/chart38.xml" Id="R63104112a39e42b3" /><Relationship Type="http://schemas.openxmlformats.org/officeDocument/2006/relationships/chart" Target="/ppt/slides/charts/chart39.xml" Id="R7b5e72356e314147" /><Relationship Type="http://schemas.openxmlformats.org/officeDocument/2006/relationships/chart" Target="/ppt/slides/charts/chart40.xml" Id="R7568f0c161ef44e2" /><Relationship Type="http://schemas.openxmlformats.org/officeDocument/2006/relationships/notesSlide" Target="/ppt/notesSlides/notesSlide25.xml" Id="R500563fcb70a48f1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1dd54a660044cc" /><Relationship Type="http://schemas.openxmlformats.org/officeDocument/2006/relationships/chart" Target="/ppt/slides/charts/chart41.xml" Id="Ra9e4720b1232403b" /><Relationship Type="http://schemas.openxmlformats.org/officeDocument/2006/relationships/chart" Target="/ppt/slides/charts/chart42.xml" Id="R92d32a939b314751" /><Relationship Type="http://schemas.openxmlformats.org/officeDocument/2006/relationships/chart" Target="/ppt/slides/charts/chart43.xml" Id="Re0e349f473b1465c" /><Relationship Type="http://schemas.openxmlformats.org/officeDocument/2006/relationships/chart" Target="/ppt/slides/charts/chart44.xml" Id="R0ea2c18ccc554003" /><Relationship Type="http://schemas.openxmlformats.org/officeDocument/2006/relationships/notesSlide" Target="/ppt/notesSlides/notesSlide26.xml" Id="Rfe279ee8931d4952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5b08cb1164eb3" /><Relationship Type="http://schemas.openxmlformats.org/officeDocument/2006/relationships/notesSlide" Target="/ppt/notesSlides/notesSlide27.xml" Id="Rd86ab5b200554a17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af6182dc754fd1" /><Relationship Type="http://schemas.openxmlformats.org/officeDocument/2006/relationships/notesSlide" Target="/ppt/notesSlides/notesSlide28.xml" Id="Rc16386804bc740cf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f18a6ae696b4c1b" /><Relationship Type="http://schemas.openxmlformats.org/officeDocument/2006/relationships/notesSlide" Target="/ppt/notesSlides/notesSlide29.xml" Id="Rd8e2e2ce3efc40a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30228afc4e4cc5" /><Relationship Type="http://schemas.openxmlformats.org/officeDocument/2006/relationships/notesSlide" Target="/ppt/notesSlides/notesSlide30.xml" Id="Rda3cc8ea1cdf41b9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51dbb09adfa4d9e" /><Relationship Type="http://schemas.openxmlformats.org/officeDocument/2006/relationships/notesSlide" Target="/ppt/notesSlides/notesSlide31.xml" Id="R86d9f23390fa481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f56576f8164785" /><Relationship Type="http://schemas.openxmlformats.org/officeDocument/2006/relationships/notesSlide" Target="/ppt/notesSlides/notesSlide32.xml" Id="R8f21387ba7b0451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e30510d67241d0" /><Relationship Type="http://schemas.openxmlformats.org/officeDocument/2006/relationships/notesSlide" Target="/ppt/notesSlides/notesSlide33.xml" Id="R39bca237c68a4ff4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8e9567c65748c4" /><Relationship Type="http://schemas.openxmlformats.org/officeDocument/2006/relationships/notesSlide" Target="/ppt/notesSlides/notesSlide34.xml" Id="R73eba65de7ef4b72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10bfaa6c444645" /><Relationship Type="http://schemas.openxmlformats.org/officeDocument/2006/relationships/notesSlide" Target="/ppt/notesSlides/notesSlide35.xml" Id="Rfee5cd0fc1df4051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b6d28002d584702" /><Relationship Type="http://schemas.openxmlformats.org/officeDocument/2006/relationships/notesSlide" Target="/ppt/notesSlides/notesSlide36.xml" Id="Rf8595b0449834765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c01e449f7544df0" /><Relationship Type="http://schemas.openxmlformats.org/officeDocument/2006/relationships/notesSlide" Target="/ppt/notesSlides/notesSlide37.xml" Id="Rf1cb6cf9f16041e3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cf278869c34e99" /><Relationship Type="http://schemas.openxmlformats.org/officeDocument/2006/relationships/notesSlide" Target="/ppt/notesSlides/notesSlide38.xml" Id="R512c931e24414caa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78e7858c44d4c18" /><Relationship Type="http://schemas.openxmlformats.org/officeDocument/2006/relationships/notesSlide" Target="/ppt/notesSlides/notesSlide39.xml" Id="R77497528fe6945a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d0a98ad52f342b7" /><Relationship Type="http://schemas.openxmlformats.org/officeDocument/2006/relationships/notesSlide" Target="/ppt/notesSlides/notesSlide40.xml" Id="Rf00a7dc45e0e485b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137dd167c4411f" /><Relationship Type="http://schemas.openxmlformats.org/officeDocument/2006/relationships/notesSlide" Target="/ppt/notesSlides/notesSlide41.xml" Id="R10493330fa9a4431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c41465b0a7640df" /><Relationship Type="http://schemas.openxmlformats.org/officeDocument/2006/relationships/notesSlide" Target="/ppt/notesSlides/notesSlide42.xml" Id="Rfd0c9c9612074484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6013896de9442a" /><Relationship Type="http://schemas.openxmlformats.org/officeDocument/2006/relationships/notesSlide" Target="/ppt/notesSlides/notesSlide43.xml" Id="Rd38ad8ad9b9e48ca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7d5b608954485c" /><Relationship Type="http://schemas.openxmlformats.org/officeDocument/2006/relationships/notesSlide" Target="/ppt/notesSlides/notesSlide44.xml" Id="R095b0802e47349e0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e6446b19114889" /><Relationship Type="http://schemas.openxmlformats.org/officeDocument/2006/relationships/notesSlide" Target="/ppt/notesSlides/notesSlide45.xml" Id="R5f770f6db4df4f8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31a537e1d64e70" /><Relationship Type="http://schemas.openxmlformats.org/officeDocument/2006/relationships/notesSlide" Target="/ppt/notesSlides/notesSlide46.xml" Id="R721cd373f6254ba2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07f6c6be854e41" /><Relationship Type="http://schemas.openxmlformats.org/officeDocument/2006/relationships/notesSlide" Target="/ppt/notesSlides/notesSlide47.xml" Id="R61f7b9731fdd47e0" /></Relationships>
</file>

<file path=ppt/slides/_rels/slide4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0efe75868274a22" /><Relationship Type="http://schemas.openxmlformats.org/officeDocument/2006/relationships/notesSlide" Target="/ppt/notesSlides/notesSlide48.xml" Id="R0d64ce4f45094ba2" /></Relationships>
</file>

<file path=ppt/slides/_rels/slide4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798a971de4343e5" /><Relationship Type="http://schemas.openxmlformats.org/officeDocument/2006/relationships/notesSlide" Target="/ppt/notesSlides/notesSlide49.xml" Id="R7aef573e43ac44bc" /></Relationships>
</file>

<file path=ppt/slides/_rels/slide5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e5987a105e14c3d" /><Relationship Type="http://schemas.openxmlformats.org/officeDocument/2006/relationships/chart" Target="/ppt/slides/charts/chart45.xml" Id="R6c6f2ebcf1394d15" /><Relationship Type="http://schemas.openxmlformats.org/officeDocument/2006/relationships/notesSlide" Target="/ppt/notesSlides/notesSlide50.xml" Id="R6db6907263cf448a" /></Relationships>
</file>

<file path=ppt/slides/_rels/slide5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3b2fac911944fd" /><Relationship Type="http://schemas.openxmlformats.org/officeDocument/2006/relationships/chart" Target="/ppt/slides/charts/chart46.xml" Id="R0fdc628df7fa4d5e" /><Relationship Type="http://schemas.openxmlformats.org/officeDocument/2006/relationships/notesSlide" Target="/ppt/notesSlides/notesSlide51.xml" Id="Rbe5a505e03614279" /></Relationships>
</file>

<file path=ppt/slides/_rels/slide5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8086720677e465c" /><Relationship Type="http://schemas.openxmlformats.org/officeDocument/2006/relationships/chart" Target="/ppt/slides/charts/chart47.xml" Id="R7e2007d453214049" /><Relationship Type="http://schemas.openxmlformats.org/officeDocument/2006/relationships/notesSlide" Target="/ppt/notesSlides/notesSlide52.xml" Id="R3bde0cabd9bb4f92" /></Relationships>
</file>

<file path=ppt/slides/_rels/slide5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aaa960afcf4c4b" /><Relationship Type="http://schemas.openxmlformats.org/officeDocument/2006/relationships/notesSlide" Target="/ppt/notesSlides/notesSlide53.xml" Id="R461e85aae7c6428c" /></Relationships>
</file>

<file path=ppt/slides/charts/chart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PL ex-FIC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91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110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131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230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209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298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366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0">
                        <a:solidFill>
                          <a:srgbClr val="8D9399"/>
                        </a:solidFill>
                      </a:rPr>
                      <a:t>462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0">
                      <a:solidFill>
                        <a:srgbClr val="8D9399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683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638" b="1">
                        <a:solidFill>
                          <a:srgbClr val="151515"/>
                        </a:solidFill>
                      </a:rPr>
                      <a:t>880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638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Jun/26</c:v>
              </c:pt>
            </c:strLit>
          </c:cat>
          <c:val>
            <c:numLit>
              <c:formatCode>0</c:formatCode>
              <c:ptCount val="12"/>
              <c:pt idx="0">
                <c:v>82.47394622656002</c:v>
              </c:pt>
              <c:pt idx="1">
                <c:v>91.06663976073001</c:v>
              </c:pt>
              <c:pt idx="2">
                <c:v>110.23395407848999</c:v>
              </c:pt>
              <c:pt idx="3">
                <c:v>131.21875156630003</c:v>
              </c:pt>
              <c:pt idx="4">
                <c:v>229.98374932763</c:v>
              </c:pt>
              <c:pt idx="5">
                <c:v>209.08922654930998</c:v>
              </c:pt>
              <c:pt idx="6">
                <c:v>298.49643822765995</c:v>
              </c:pt>
              <c:pt idx="7">
                <c:v>365.94088087975</c:v>
              </c:pt>
              <c:pt idx="8">
                <c:v>461.75630329412</c:v>
              </c:pt>
              <c:pt idx="9">
                <c:v>682.8970336474498</c:v>
              </c:pt>
              <c:pt idx="10">
                <c:v>833.21732156482</c:v>
              </c:pt>
              <c:pt idx="11">
                <c:v>880.3753465023101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2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2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Empréstimos</c:v>
          </c:tx>
          <c:spPr>
            <a:solidFill xmlns:a="http://schemas.openxmlformats.org/drawingml/2006/main">
              <a:srgbClr val="30353A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3.362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3.270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3.678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4.240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4.907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5.628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6.089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6.759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7.455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7.617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3362.376</c:v>
              </c:pt>
              <c:pt idx="1">
                <c:v>3266.892</c:v>
              </c:pt>
              <c:pt idx="2">
                <c:v>3270.332</c:v>
              </c:pt>
              <c:pt idx="3">
                <c:v>3455.08</c:v>
              </c:pt>
              <c:pt idx="4">
                <c:v>3677.557</c:v>
              </c:pt>
              <c:pt idx="5">
                <c:v>4239.899</c:v>
              </c:pt>
              <c:pt idx="6">
                <c:v>4906.92</c:v>
              </c:pt>
              <c:pt idx="7">
                <c:v>5628.48</c:v>
              </c:pt>
              <c:pt idx="8">
                <c:v>6088.547</c:v>
              </c:pt>
              <c:pt idx="9">
                <c:v>6758.822</c:v>
              </c:pt>
              <c:pt idx="10">
                <c:v>7454.674</c:v>
              </c:pt>
              <c:pt idx="11">
                <c:v>7617.175</c:v>
              </c:pt>
            </c:numLit>
          </c:val>
        </c:ser>
        <c:ser>
          <c:idx val="1"/>
          <c:order val="1"/>
          <c:tx>
            <c:v>Títulos públicos</c:v>
          </c:tx>
          <c:spPr>
            <a:solidFill xmlns:a="http://schemas.openxmlformats.org/drawingml/2006/main">
              <a:srgbClr val="73787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2.181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3.045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3.685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4.356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4.815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5.198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5.697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6.286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7.485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7.841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2181.013</c:v>
              </c:pt>
              <c:pt idx="1">
                <c:v>2585.043</c:v>
              </c:pt>
              <c:pt idx="2">
                <c:v>3045.05</c:v>
              </c:pt>
              <c:pt idx="3">
                <c:v>3327.984</c:v>
              </c:pt>
              <c:pt idx="4">
                <c:v>3684.96</c:v>
              </c:pt>
              <c:pt idx="5">
                <c:v>4356.017</c:v>
              </c:pt>
              <c:pt idx="6">
                <c:v>4814.732</c:v>
              </c:pt>
              <c:pt idx="7">
                <c:v>5198.462</c:v>
              </c:pt>
              <c:pt idx="8">
                <c:v>5697.472</c:v>
              </c:pt>
              <c:pt idx="9">
                <c:v>6286.455</c:v>
              </c:pt>
              <c:pt idx="10">
                <c:v>7485.488</c:v>
              </c:pt>
              <c:pt idx="11">
                <c:v>7841</c:v>
              </c:pt>
            </c:numLit>
          </c:val>
        </c:ser>
        <c:ser>
          <c:idx val="2"/>
          <c:order val="2"/>
          <c:tx>
            <c:v>Títulos privados</c:v>
          </c:tx>
          <c:spPr>
            <a:solidFill xmlns:a="http://schemas.openxmlformats.org/drawingml/2006/main">
              <a:srgbClr val="8D9399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242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355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500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636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849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1.214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1.414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1.533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245.674</c:v>
              </c:pt>
              <c:pt idx="1">
                <c:v>242.427</c:v>
              </c:pt>
              <c:pt idx="2">
                <c:v>304.747</c:v>
              </c:pt>
              <c:pt idx="3">
                <c:v>354.539</c:v>
              </c:pt>
              <c:pt idx="4">
                <c:v>480.213</c:v>
              </c:pt>
              <c:pt idx="5">
                <c:v>499.564</c:v>
              </c:pt>
              <c:pt idx="6">
                <c:v>635.901</c:v>
              </c:pt>
              <c:pt idx="7">
                <c:v>849.483</c:v>
              </c:pt>
              <c:pt idx="8">
                <c:v>976.105</c:v>
              </c:pt>
              <c:pt idx="9">
                <c:v>1214.121</c:v>
              </c:pt>
              <c:pt idx="10">
                <c:v>1413.637</c:v>
              </c:pt>
              <c:pt idx="11">
                <c:v>1533.136</c:v>
              </c:pt>
            </c:numLit>
          </c:val>
        </c:ser>
        <c:ser>
          <c:idx val="3"/>
          <c:order val="3"/>
          <c:tx>
            <c:v>FIDCs · carteira</c:v>
          </c:tx>
          <c:spPr>
            <a:solidFill xmlns:a="http://schemas.openxmlformats.org/drawingml/2006/main">
              <a:srgbClr val="EC7000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71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96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182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160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250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305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388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550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641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FFFFFF"/>
                        </a:solidFill>
                      </a:rPr>
                      <a:t>670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FFFFFF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70.86095119410001</c:v>
              </c:pt>
              <c:pt idx="1">
                <c:v>82.19072984</c:v>
              </c:pt>
              <c:pt idx="2">
                <c:v>95.75352406850999</c:v>
              </c:pt>
              <c:pt idx="3">
                <c:v>106.12068752539999</c:v>
              </c:pt>
              <c:pt idx="4">
                <c:v>182.22866537173002</c:v>
              </c:pt>
              <c:pt idx="5">
                <c:v>160.17258675028998</c:v>
              </c:pt>
              <c:pt idx="6">
                <c:v>250.02515732651</c:v>
              </c:pt>
              <c:pt idx="7">
                <c:v>304.88729907795</c:v>
              </c:pt>
              <c:pt idx="8">
                <c:v>387.7969193108501</c:v>
              </c:pt>
              <c:pt idx="9">
                <c:v>549.9166688619099</c:v>
              </c:pt>
              <c:pt idx="10">
                <c:v>641.37597886001</c:v>
              </c:pt>
              <c:pt idx="11">
                <c:v>670.4811522614399</c:v>
              </c:pt>
            </c:numLit>
          </c:val>
        </c:ser>
        <c:ser>
          <c:idx val="4"/>
          <c:order val="4"/>
          <c:tx>
            <c:v>Outras securitizações</c:v>
          </c:tx>
          <c:spPr>
            <a:solidFill xmlns:a="http://schemas.openxmlformats.org/drawingml/2006/main">
              <a:srgbClr val="D7DADD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73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92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113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128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184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261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334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445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452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486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72.64204880589999</c:v>
              </c:pt>
              <c:pt idx="1">
                <c:v>91.52627016</c:v>
              </c:pt>
              <c:pt idx="2">
                <c:v>112.90947593149001</c:v>
              </c:pt>
              <c:pt idx="3">
                <c:v>121.5283124746</c:v>
              </c:pt>
              <c:pt idx="4">
                <c:v>128.34033462827</c:v>
              </c:pt>
              <c:pt idx="5">
                <c:v>127.67341324971002</c:v>
              </c:pt>
              <c:pt idx="6">
                <c:v>183.94284267349</c:v>
              </c:pt>
              <c:pt idx="7">
                <c:v>261.46670092205</c:v>
              </c:pt>
              <c:pt idx="8">
                <c:v>334.0110806891499</c:v>
              </c:pt>
              <c:pt idx="9">
                <c:v>444.7183311380901</c:v>
              </c:pt>
              <c:pt idx="10">
                <c:v>452.00202113999</c:v>
              </c:pt>
              <c:pt idx="11">
                <c:v>486.4528477385601</c:v>
              </c:pt>
            </c:numLit>
          </c:val>
        </c:ser>
        <c:ser>
          <c:idx val="5"/>
          <c:order val="5"/>
          <c:tx>
            <c:v>Dívida externa</c:v>
          </c:tx>
          <c:spPr>
            <a:solidFill xmlns:a="http://schemas.openxmlformats.org/drawingml/2006/main">
              <a:srgbClr val="E7E9EB"/>
            </a:solidFill>
          </c:spPr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1.997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1.736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1.744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1.983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2.076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2.567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2.821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2.714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3.408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3.406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458" b="0">
                        <a:solidFill>
                          <a:srgbClr val="151515"/>
                        </a:solidFill>
                      </a:rPr>
                      <a:t>3.365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458" b="0">
                      <a:solidFill>
                        <a:srgbClr val="151515"/>
                      </a:solidFill>
                    </a:defRPr>
                  </a:pPr>
                </a:p>
              </c:txPr>
              <c:dLblPos val="ctr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2"/>
              <c:pt idx="0">
                <c:v>2015</c:v>
              </c:pt>
              <c:pt idx="1">
                <c:v>2016</c:v>
              </c:pt>
              <c:pt idx="2">
                <c:v>2017</c:v>
              </c:pt>
              <c:pt idx="3">
                <c:v>2018</c:v>
              </c:pt>
              <c:pt idx="4">
                <c:v>2019</c:v>
              </c:pt>
              <c:pt idx="5">
                <c:v>2020</c:v>
              </c:pt>
              <c:pt idx="6">
                <c:v>2021</c:v>
              </c:pt>
              <c:pt idx="7">
                <c:v>2022</c:v>
              </c:pt>
              <c:pt idx="8">
                <c:v>2023</c:v>
              </c:pt>
              <c:pt idx="9">
                <c:v>2024</c:v>
              </c:pt>
              <c:pt idx="10">
                <c:v>2025</c:v>
              </c:pt>
              <c:pt idx="11">
                <c:v>05/26</c:v>
              </c:pt>
            </c:strLit>
          </c:cat>
          <c:val>
            <c:numLit>
              <c:formatCode>0</c:formatCode>
              <c:ptCount val="12"/>
              <c:pt idx="0">
                <c:v>1996.897</c:v>
              </c:pt>
              <c:pt idx="1">
                <c:v>1735.5</c:v>
              </c:pt>
              <c:pt idx="2">
                <c:v>1743.734</c:v>
              </c:pt>
              <c:pt idx="3">
                <c:v>1982.893</c:v>
              </c:pt>
              <c:pt idx="4">
                <c:v>2075.703</c:v>
              </c:pt>
              <c:pt idx="5">
                <c:v>2566.911</c:v>
              </c:pt>
              <c:pt idx="6">
                <c:v>2820.561</c:v>
              </c:pt>
              <c:pt idx="7">
                <c:v>2714.754</c:v>
              </c:pt>
              <c:pt idx="8">
                <c:v>2713.732</c:v>
              </c:pt>
              <c:pt idx="9">
                <c:v>3408.391</c:v>
              </c:pt>
              <c:pt idx="10">
                <c:v>3405.938</c:v>
              </c:pt>
              <c:pt idx="11">
                <c:v>3364.88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435" b="0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220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5000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Demais elegíveis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353.4478795703001</c:v>
              </c:pt>
              <c:pt idx="1">
                <c:v>628.73334224723</c:v>
              </c:pt>
              <c:pt idx="2">
                <c:v>656.0946706342701</c:v>
              </c:pt>
              <c:pt idx="3">
                <c:v>246.88123756594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7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FIDCs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26.47628619356</c:v>
              </c:pt>
              <c:pt idx="1">
                <c:v>95.41672613375</c:v>
              </c:pt>
              <c:pt idx="2">
                <c:v>116.92131905477001</c:v>
              </c:pt>
              <c:pt idx="3">
                <c:v>65.48811898356</c:v>
              </c:pt>
            </c:numLit>
          </c:val>
        </c:ser>
        <c:ser>
          <c:idx val="1"/>
          <c:order val="1"/>
          <c:tx>
            <c:v>Debêntures</c:v>
          </c:tx>
          <c:spPr>
            <a:solidFill xmlns:a="http://schemas.openxmlformats.org/drawingml/2006/main">
              <a:srgbClr val="151515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229.291431673</c:v>
              </c:pt>
              <c:pt idx="1">
                <c:v>472.8632475001801</c:v>
              </c:pt>
              <c:pt idx="2">
                <c:v>453.66557470805</c:v>
              </c:pt>
              <c:pt idx="3">
                <c:v>148.028583447</c:v>
              </c:pt>
            </c:numLit>
          </c:val>
        </c:ser>
        <c:ser>
          <c:idx val="2"/>
          <c:order val="2"/>
          <c:tx>
            <c:v>CRI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47.3460402706</c:v>
              </c:pt>
              <c:pt idx="1">
                <c:v>57.687766747050006</c:v>
              </c:pt>
              <c:pt idx="2">
                <c:v>54.329561267269995</c:v>
              </c:pt>
              <c:pt idx="3">
                <c:v>22.11693260334</c:v>
              </c:pt>
            </c:numLit>
          </c:val>
        </c:ser>
        <c:ser>
          <c:idx val="3"/>
          <c:order val="3"/>
          <c:tx>
            <c:v>Notas comerciais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25.407368005</c:v>
              </c:pt>
              <c:pt idx="1">
                <c:v>45.7676395</c:v>
              </c:pt>
              <c:pt idx="2">
                <c:v>53.583946853</c:v>
              </c:pt>
              <c:pt idx="3">
                <c:v>28.60619646</c:v>
              </c:pt>
            </c:numLit>
          </c:val>
        </c:ser>
        <c:ser>
          <c:idx val="4"/>
          <c:order val="4"/>
          <c:tx>
            <c:v>CRA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2023FY</c:v>
              </c:pt>
              <c:pt idx="1">
                <c:v>2024FY</c:v>
              </c:pt>
              <c:pt idx="2">
                <c:v>2025FY</c:v>
              </c:pt>
              <c:pt idx="3">
                <c:v>2026 1S</c:v>
              </c:pt>
            </c:strLit>
          </c:cat>
          <c:val>
            <c:numLit>
              <c:formatCode>0</c:formatCode>
              <c:ptCount val="4"/>
              <c:pt idx="0">
                <c:v>51.149282621699996</c:v>
              </c:pt>
              <c:pt idx="1">
                <c:v>41.832471</c:v>
              </c:pt>
              <c:pt idx="2">
                <c:v>47.202138266949994</c:v>
              </c:pt>
              <c:pt idx="3">
                <c:v>7.291704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4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Contas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 "mil"</c:formatCode>
              <c:ptCount val="12"/>
              <c:pt idx="0">
                <c:v>12.508</c:v>
              </c:pt>
              <c:pt idx="1">
                <c:v>13.872</c:v>
              </c:pt>
              <c:pt idx="2">
                <c:v>16.049</c:v>
              </c:pt>
              <c:pt idx="3">
                <c:v>17.678</c:v>
              </c:pt>
              <c:pt idx="4">
                <c:v>25.781</c:v>
              </c:pt>
              <c:pt idx="5">
                <c:v>32.936</c:v>
              </c:pt>
              <c:pt idx="6">
                <c:v>31.626</c:v>
              </c:pt>
              <c:pt idx="7">
                <c:v>48.608</c:v>
              </c:pt>
              <c:pt idx="8">
                <c:v>61.735</c:v>
              </c:pt>
              <c:pt idx="9">
                <c:v>148.582</c:v>
              </c:pt>
              <c:pt idx="10">
                <c:v>387.159</c:v>
              </c:pt>
              <c:pt idx="11">
                <c:v>461.222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 &quot;mil&quot;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Veículos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</c:formatCode>
              <c:ptCount val="12"/>
              <c:pt idx="0">
                <c:v>527</c:v>
              </c:pt>
              <c:pt idx="1">
                <c:v>575</c:v>
              </c:pt>
              <c:pt idx="2">
                <c:v>750</c:v>
              </c:pt>
              <c:pt idx="3">
                <c:v>890</c:v>
              </c:pt>
              <c:pt idx="4">
                <c:v>1042</c:v>
              </c:pt>
              <c:pt idx="5">
                <c:v>1230</c:v>
              </c:pt>
              <c:pt idx="6">
                <c:v>1547</c:v>
              </c:pt>
              <c:pt idx="7">
                <c:v>1912</c:v>
              </c:pt>
              <c:pt idx="8">
                <c:v>2404</c:v>
              </c:pt>
              <c:pt idx="9">
                <c:v>3140</c:v>
              </c:pt>
              <c:pt idx="10">
                <c:v>4007</c:v>
              </c:pt>
              <c:pt idx="11">
                <c:v>4252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Contas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5"/>
              <c:pt idx="0">
                <c:v>Fundos</c:v>
              </c:pt>
              <c:pt idx="1">
                <c:v>Empresas e outros</c:v>
              </c:pt>
              <c:pt idx="2">
                <c:v>Pessoa física</c:v>
              </c:pt>
              <c:pt idx="3">
                <c:v>Instituições financeiras</c:v>
              </c:pt>
              <c:pt idx="4">
                <c:v>Previdência e seguros</c:v>
              </c:pt>
            </c:strLit>
          </c:cat>
          <c:val>
            <c:numLit>
              <c:formatCode>0.0%</c:formatCode>
              <c:ptCount val="5"/>
              <c:pt idx="0">
                <c:v>0.442722471315705</c:v>
              </c:pt>
              <c:pt idx="1">
                <c:v>0.25706375155020944</c:v>
              </c:pt>
              <c:pt idx="2">
                <c:v>0.20520653559627777</c:v>
              </c:pt>
              <c:pt idx="3">
                <c:v>0.09422238025445116</c:v>
              </c:pt>
              <c:pt idx="4">
                <c:v>0.0007848612833566045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3</c:v>
              </c:pt>
              <c:pt idx="1">
                <c:v>106</c:v>
              </c:pt>
              <c:pt idx="2">
                <c:v>104</c:v>
              </c:pt>
              <c:pt idx="3">
                <c:v>71</c:v>
              </c:pt>
              <c:pt idx="4">
                <c:v>50</c:v>
              </c:pt>
              <c:pt idx="5">
                <c:v>75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</c:v>
              </c:pt>
              <c:pt idx="1">
                <c:v>180</c:v>
              </c:pt>
              <c:pt idx="2">
                <c:v>123</c:v>
              </c:pt>
              <c:pt idx="3">
                <c:v>153</c:v>
              </c:pt>
              <c:pt idx="4">
                <c:v>128</c:v>
              </c:pt>
              <c:pt idx="5">
                <c:v>198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4.08011139709</c:v>
              </c:pt>
              <c:pt idx="1">
                <c:v>107.00408055976</c:v>
              </c:pt>
              <c:pt idx="2">
                <c:v>65.98513346480999</c:v>
              </c:pt>
              <c:pt idx="3">
                <c:v>87.13513028292</c:v>
              </c:pt>
              <c:pt idx="4">
                <c:v>27.89580794356</c:v>
              </c:pt>
              <c:pt idx="5">
                <c:v>84.79440519127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</c:formatCode>
              <c:ptCount val="6"/>
              <c:pt idx="0">
                <c:v>2.04153385837</c:v>
              </c:pt>
              <c:pt idx="1">
                <c:v>174.97916627078</c:v>
              </c:pt>
              <c:pt idx="2">
                <c:v>85.07690883193</c:v>
              </c:pt>
              <c:pt idx="3">
                <c:v>174.00964091183</c:v>
              </c:pt>
              <c:pt idx="4">
                <c:v>80.62114320047</c:v>
              </c:pt>
              <c:pt idx="5">
                <c:v>216.35550333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0.007334963325183374</c:v>
              </c:pt>
              <c:pt idx="1">
                <c:v>0.2591687041564792</c:v>
              </c:pt>
              <c:pt idx="2">
                <c:v>0.254278728606357</c:v>
              </c:pt>
              <c:pt idx="3">
                <c:v>0.17359413202933985</c:v>
              </c:pt>
              <c:pt idx="4">
                <c:v>0.12224938875305623</c:v>
              </c:pt>
              <c:pt idx="5">
                <c:v>0.18337408312958436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0.002551020408163265</c:v>
              </c:pt>
              <c:pt idx="1">
                <c:v>0.22959183673469388</c:v>
              </c:pt>
              <c:pt idx="2">
                <c:v>0.1568877551020408</c:v>
              </c:pt>
              <c:pt idx="3">
                <c:v>0.1951530612244898</c:v>
              </c:pt>
              <c:pt idx="4">
                <c:v>0.16326530612244897</c:v>
              </c:pt>
              <c:pt idx="5">
                <c:v>0.25255102040816324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0.010825601247303616</c:v>
              </c:pt>
              <c:pt idx="1">
                <c:v>0.28390977481656304</c:v>
              </c:pt>
              <c:pt idx="2">
                <c:v>0.1750757941681723</c:v>
              </c:pt>
              <c:pt idx="3">
                <c:v>0.23119226003179993</c:v>
              </c:pt>
              <c:pt idx="4">
                <c:v>0.07401486476171423</c:v>
              </c:pt>
              <c:pt idx="5">
                <c:v>0.22498170497444692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0</c:v>
              </c:pt>
              <c:pt idx="1">
                <c:v>1</c:v>
              </c:pt>
              <c:pt idx="2">
                <c:v>2–3</c:v>
              </c:pt>
              <c:pt idx="3">
                <c:v>4–10</c:v>
              </c:pt>
              <c:pt idx="4">
                <c:v>11–50</c:v>
              </c:pt>
              <c:pt idx="5">
                <c:v>51+</c:v>
              </c:pt>
            </c:strLit>
          </c:cat>
          <c:val>
            <c:numLit>
              <c:formatCode>0%</c:formatCode>
              <c:ptCount val="6"/>
              <c:pt idx="0">
                <c:v>0.002784857051677267</c:v>
              </c:pt>
              <c:pt idx="1">
                <c:v>0.23868914203306626</c:v>
              </c:pt>
              <c:pt idx="2">
                <c:v>0.11605344115363893</c:v>
              </c:pt>
              <c:pt idx="3">
                <c:v>0.23736661215114327</c:v>
              </c:pt>
              <c:pt idx="4">
                <c:v>0.10997532969419936</c:v>
              </c:pt>
              <c:pt idx="5">
                <c:v>0.29513061791627493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3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0.3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1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2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50.88905009467</c:v>
              </c:pt>
              <c:pt idx="1">
                <c:v>65.33776656658</c:v>
              </c:pt>
              <c:pt idx="2">
                <c:v>81.70753862344999</c:v>
              </c:pt>
              <c:pt idx="3">
                <c:v>86.65656370392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119.06650336766</c:v>
              </c:pt>
              <c:pt idx="1">
                <c:v>187.83835901057998</c:v>
              </c:pt>
              <c:pt idx="2">
                <c:v>166.6673864538</c:v>
              </c:pt>
              <c:pt idx="3">
                <c:v>189.2379048169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119.92760539484</c:v>
              </c:pt>
              <c:pt idx="1">
                <c:v>168.15979170238</c:v>
              </c:pt>
              <c:pt idx="2">
                <c:v>213.62236975357</c:v>
              </c:pt>
              <c:pt idx="3">
                <c:v>248.7758374328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171.87314443695</c:v>
              </c:pt>
              <c:pt idx="1">
                <c:v>261.56111636791</c:v>
              </c:pt>
              <c:pt idx="2">
                <c:v>371.220026734</c:v>
              </c:pt>
              <c:pt idx="3">
                <c:v>355.70504054869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90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3.xml><?xml version="1.0" encoding="utf-8"?>
<c:chartSpace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Fomento Mercantil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0.11020759160542684</c:v>
              </c:pt>
              <c:pt idx="1">
                <c:v>0.09567733252200807</c:v>
              </c:pt>
              <c:pt idx="2">
                <c:v>0.09806269806057262</c:v>
              </c:pt>
              <c:pt idx="3">
                <c:v>0.09843138389574681</c:v>
              </c:pt>
            </c:numLit>
          </c:val>
        </c:ser>
        <c:ser>
          <c:idx val="1"/>
          <c:order val="1"/>
          <c:tx>
            <c:v>Agro, Indústria e Comércio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0.25785571852133327</c:v>
              </c:pt>
              <c:pt idx="1">
                <c:v>0.2750610264146392</c:v>
              </c:pt>
              <c:pt idx="2">
                <c:v>0.2000287105659194</c:v>
              </c:pt>
              <c:pt idx="3">
                <c:v>0.21495139041402433</c:v>
              </c:pt>
            </c:numLit>
          </c:val>
        </c:ser>
        <c:ser>
          <c:idx val="2"/>
          <c:order val="2"/>
          <c:tx>
            <c:v>Financeiro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0.25972055939310257</c:v>
              </c:pt>
              <c:pt idx="1">
                <c:v>0.2462447241924814</c:v>
              </c:pt>
              <c:pt idx="2">
                <c:v>0.25638253577395326</c:v>
              </c:pt>
              <c:pt idx="3">
                <c:v>0.2825792866885411</c:v>
              </c:pt>
            </c:numLit>
          </c:val>
        </c:ser>
        <c:ser>
          <c:idx val="3"/>
          <c:order val="3"/>
          <c:tx>
            <c:v>Outros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</c:v>
              </c:pt>
              <c:pt idx="3">
                <c:v>jun/26</c:v>
              </c:pt>
            </c:strLit>
          </c:cat>
          <c:val>
            <c:numLit>
              <c:formatCode>0.0%</c:formatCode>
              <c:ptCount val="4"/>
              <c:pt idx="0">
                <c:v>0.37221613048013724</c:v>
              </c:pt>
              <c:pt idx="1">
                <c:v>0.3830169168708714</c:v>
              </c:pt>
              <c:pt idx="2">
                <c:v>0.4455260555995546</c:v>
              </c:pt>
              <c:pt idx="3">
                <c:v>0.40403793900168766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112.83368367224</c:v>
              </c:pt>
              <c:pt idx="1">
                <c:v>103.39874467744</c:v>
              </c:pt>
              <c:pt idx="2">
                <c:v>51.72285589365</c:v>
              </c:pt>
              <c:pt idx="3">
                <c:v>48.499678</c:v>
              </c:pt>
              <c:pt idx="4">
                <c:v>19.32368071792</c:v>
              </c:pt>
              <c:pt idx="5">
                <c:v>24.163748261490003</c:v>
              </c:pt>
              <c:pt idx="6">
                <c:v>25.154517560259997</c:v>
              </c:pt>
              <c:pt idx="7">
                <c:v>27.32144595605</c:v>
              </c:pt>
              <c:pt idx="8">
                <c:v>17.30426139734</c:v>
              </c:pt>
              <c:pt idx="9">
                <c:v>30.455624762630002</c:v>
              </c:pt>
              <c:pt idx="10">
                <c:v>1.36475726781</c:v>
              </c:pt>
              <c:pt idx="11">
                <c:v>0.21330512728999998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</c:formatCode>
              <c:ptCount val="12"/>
              <c:pt idx="0">
                <c:v>336.84039317390994</c:v>
              </c:pt>
              <c:pt idx="1">
                <c:v>118.22202651527</c:v>
              </c:pt>
              <c:pt idx="2">
                <c:v>99.24654124799001</c:v>
              </c:pt>
              <c:pt idx="3">
                <c:v>85.66685206006</c:v>
              </c:pt>
              <c:pt idx="4">
                <c:v>84.83552289799</c:v>
              </c:pt>
              <c:pt idx="5">
                <c:v>57.4323241591</c:v>
              </c:pt>
              <c:pt idx="6">
                <c:v>43.107876023699994</c:v>
              </c:pt>
              <c:pt idx="7">
                <c:v>27.72682732234</c:v>
              </c:pt>
              <c:pt idx="8">
                <c:v>12.07779703784</c:v>
              </c:pt>
              <c:pt idx="9">
                <c:v>11.00644353036</c:v>
              </c:pt>
              <c:pt idx="10">
                <c:v>4.10910183534</c:v>
              </c:pt>
              <c:pt idx="11">
                <c:v>0.10364069841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0.2443576468091428</c:v>
              </c:pt>
              <c:pt idx="1">
                <c:v>0.2239249230379844</c:v>
              </c:pt>
              <c:pt idx="2">
                <c:v>0.1120133185506395</c:v>
              </c:pt>
              <c:pt idx="3">
                <c:v>0.1050330610627478</c:v>
              </c:pt>
              <c:pt idx="4">
                <c:v>0.0418482229263941</c:v>
              </c:pt>
              <c:pt idx="5">
                <c:v>0.052330088596752</c:v>
              </c:pt>
              <c:pt idx="6">
                <c:v>0.054475742682472</c:v>
              </c:pt>
              <c:pt idx="7">
                <c:v>0.0591685392514227</c:v>
              </c:pt>
              <c:pt idx="8">
                <c:v>0.0374748785753291</c:v>
              </c:pt>
              <c:pt idx="9">
                <c:v>0.0659560563556205</c:v>
              </c:pt>
              <c:pt idx="10">
                <c:v>0.0029555790750964</c:v>
              </c:pt>
              <c:pt idx="11">
                <c:v>0.0004619430763983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2"/>
              <c:pt idx="0">
                <c:v>Financeiro</c:v>
              </c:pt>
              <c:pt idx="1">
                <c:v>Comercial</c:v>
              </c:pt>
              <c:pt idx="2">
                <c:v>Adquirência</c:v>
              </c:pt>
              <c:pt idx="3">
                <c:v>Industrial</c:v>
              </c:pt>
              <c:pt idx="4">
                <c:v>N/D</c:v>
              </c:pt>
              <c:pt idx="5">
                <c:v>Serviços</c:v>
              </c:pt>
              <c:pt idx="6">
                <c:v>Setor público</c:v>
              </c:pt>
              <c:pt idx="7">
                <c:v>Ações judiciais</c:v>
              </c:pt>
              <c:pt idx="8">
                <c:v>Agronegócio</c:v>
              </c:pt>
              <c:pt idx="9">
                <c:v>Cartão</c:v>
              </c:pt>
              <c:pt idx="10">
                <c:v>Imobiliário</c:v>
              </c:pt>
              <c:pt idx="11">
                <c:v>Factoring</c:v>
              </c:pt>
            </c:strLit>
          </c:cat>
          <c:val>
            <c:numLit>
              <c:formatCode>0.0%</c:formatCode>
              <c:ptCount val="12"/>
              <c:pt idx="0">
                <c:v>0.3826099793822727</c:v>
              </c:pt>
              <c:pt idx="1">
                <c:v>0.1342859349537224</c:v>
              </c:pt>
              <c:pt idx="2">
                <c:v>0.1127320768832201</c:v>
              </c:pt>
              <c:pt idx="3">
                <c:v>0.097307191075273</c:v>
              </c:pt>
              <c:pt idx="4">
                <c:v>0.0963629016135419</c:v>
              </c:pt>
              <c:pt idx="5">
                <c:v>0.0652361795310102</c:v>
              </c:pt>
              <c:pt idx="6">
                <c:v>0.0489653375630809</c:v>
              </c:pt>
              <c:pt idx="7">
                <c:v>0.0314943250427188</c:v>
              </c:pt>
              <c:pt idx="8">
                <c:v>0.0137189178295649</c:v>
              </c:pt>
              <c:pt idx="9">
                <c:v>0.0125019897184627</c:v>
              </c:pt>
              <c:pt idx="10">
                <c:v>0.0046674430987479</c:v>
              </c:pt>
              <c:pt idx="11">
                <c:v>0.000117723308384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5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2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118.04530398702</c:v>
              </c:pt>
              <c:pt idx="1">
                <c:v>115.89580945848</c:v>
              </c:pt>
              <c:pt idx="2">
                <c:v>77.90442532195</c:v>
              </c:pt>
              <c:pt idx="3">
                <c:v>39.74983932099</c:v>
              </c:pt>
              <c:pt idx="4">
                <c:v>26.373186905759997</c:v>
              </c:pt>
              <c:pt idx="5">
                <c:v>19.27032074904</c:v>
              </c:pt>
              <c:pt idx="6">
                <c:v>26.30715069555</c:v>
              </c:pt>
              <c:pt idx="7">
                <c:v>14.24326332352</c:v>
              </c:pt>
              <c:pt idx="8">
                <c:v>1.5402300008699998</c:v>
              </c:pt>
              <c:pt idx="9">
                <c:v>0.16600309574000002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</c:formatCode>
              <c:ptCount val="10"/>
              <c:pt idx="0">
                <c:v>326.76177442545</c:v>
              </c:pt>
              <c:pt idx="1">
                <c:v>123.12261035610001</c:v>
              </c:pt>
              <c:pt idx="2">
                <c:v>78.58984371139</c:v>
              </c:pt>
              <c:pt idx="3">
                <c:v>77.39724903534</c:v>
              </c:pt>
              <c:pt idx="4">
                <c:v>57.591468014120004</c:v>
              </c:pt>
              <c:pt idx="5">
                <c:v>34.27503303086</c:v>
              </c:pt>
              <c:pt idx="6">
                <c:v>27.36423282215</c:v>
              </c:pt>
              <c:pt idx="7">
                <c:v>9.12643607218</c:v>
              </c:pt>
              <c:pt idx="8">
                <c:v>3.0872617298200002</c:v>
              </c:pt>
              <c:pt idx="9">
                <c:v>0.09505420486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Dez/23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0.2685927277101883</c:v>
              </c:pt>
              <c:pt idx="1">
                <c:v>0.26370190546551714</c:v>
              </c:pt>
              <c:pt idx="2">
                <c:v>0.17725874212004258</c:v>
              </c:pt>
              <c:pt idx="3">
                <c:v>0.09044423970004235</c:v>
              </c:pt>
              <c:pt idx="4">
                <c:v>0.06000786113615837</c:v>
              </c:pt>
              <c:pt idx="5">
                <c:v>0.04384645419189245</c:v>
              </c:pt>
              <c:pt idx="6">
                <c:v>0.05985760657092893</c:v>
              </c:pt>
              <c:pt idx="7">
                <c:v>0.032408209546221145</c:v>
              </c:pt>
              <c:pt idx="8">
                <c:v>0.0035045407420885447</c:v>
              </c:pt>
              <c:pt idx="9">
                <c:v>0.00037771281692022964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10"/>
              <c:pt idx="0">
                <c:v>Financeiro</c:v>
              </c:pt>
              <c:pt idx="1">
                <c:v>Comercial</c:v>
              </c:pt>
              <c:pt idx="2">
                <c:v>Cartão</c:v>
              </c:pt>
              <c:pt idx="3">
                <c:v>Industrial</c:v>
              </c:pt>
              <c:pt idx="4">
                <c:v>Serviços</c:v>
              </c:pt>
              <c:pt idx="5">
                <c:v>Setor público</c:v>
              </c:pt>
              <c:pt idx="6">
                <c:v>Ações judiciais</c:v>
              </c:pt>
              <c:pt idx="7">
                <c:v>Agronegócio</c:v>
              </c:pt>
              <c:pt idx="8">
                <c:v>Imobiliário</c:v>
              </c:pt>
              <c:pt idx="9">
                <c:v>Factoring</c:v>
              </c:pt>
            </c:strLit>
          </c:cat>
          <c:val>
            <c:numLit>
              <c:formatCode>0.0%</c:formatCode>
              <c:ptCount val="10"/>
              <c:pt idx="0">
                <c:v>0.4431203096273956</c:v>
              </c:pt>
              <c:pt idx="1">
                <c:v>0.16696606975849174</c:v>
              </c:pt>
              <c:pt idx="2">
                <c:v>0.10657536653481774</c:v>
              </c:pt>
              <c:pt idx="3">
                <c:v>0.1049580937585254</c:v>
              </c:pt>
              <c:pt idx="4">
                <c:v>0.07809955489189396</c:v>
              </c:pt>
              <c:pt idx="5">
                <c:v>0.046480232505252836</c:v>
              </c:pt>
              <c:pt idx="6">
                <c:v>0.0371085245273501</c:v>
              </c:pt>
              <c:pt idx="7">
                <c:v>0.012376322736066207</c:v>
              </c:pt>
              <c:pt idx="8">
                <c:v>0.004186623040666466</c:v>
              </c:pt>
              <c:pt idx="9">
                <c:v>0.00012890261953990822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15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8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Percentual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cat>
            <c:strLit>
              <c:ptCount val="4"/>
              <c:pt idx="0">
                <c:v>Inadimplência bruta</c:v>
              </c:pt>
              <c:pt idx="1">
                <c:v>Ajustada pelo cap</c:v>
              </c:pt>
              <c:pt idx="2">
                <c:v>Ajustada ex-NP</c:v>
              </c:pt>
              <c:pt idx="3">
                <c:v>Excluindo casos acima da carteira</c:v>
              </c:pt>
            </c:strLit>
          </c:cat>
          <c:val>
            <c:numLit>
              <c:formatCode>0.0%</c:formatCode>
              <c:ptCount val="4"/>
              <c:pt idx="0">
                <c:v>0.0809058933465922</c:v>
              </c:pt>
              <c:pt idx="1">
                <c:v>0.0593323376099488</c:v>
              </c:pt>
              <c:pt idx="2">
                <c:v>0.0564665522840033</c:v>
              </c:pt>
              <c:pt idx="3">
                <c:v>0.0531719041163333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90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00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19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Bruta</c:v>
          </c:tx>
          <c:spPr>
            <a:ln xmlns:a="http://schemas.openxmlformats.org/drawingml/2006/main" w="23813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0.1953629837546001</c:v>
              </c:pt>
              <c:pt idx="1">
                <c:v>0.1809235440996488</c:v>
              </c:pt>
              <c:pt idx="2">
                <c:v>0.192154933474053</c:v>
              </c:pt>
              <c:pt idx="3">
                <c:v>0.1518453736285437</c:v>
              </c:pt>
              <c:pt idx="4">
                <c:v>0.1435849112425625</c:v>
              </c:pt>
              <c:pt idx="5">
                <c:v>0.1473663046832823</c:v>
              </c:pt>
              <c:pt idx="6">
                <c:v>0.0911001409180365</c:v>
              </c:pt>
              <c:pt idx="7">
                <c:v>0.0919394935790263</c:v>
              </c:pt>
              <c:pt idx="8">
                <c:v>0.0825084228403041</c:v>
              </c:pt>
              <c:pt idx="9">
                <c:v>0.078802626303978</c:v>
              </c:pt>
              <c:pt idx="10">
                <c:v>0.0820881119001283</c:v>
              </c:pt>
              <c:pt idx="11">
                <c:v>0.08378779452232</c:v>
              </c:pt>
              <c:pt idx="12">
                <c:v>0.0698478283500979</c:v>
              </c:pt>
              <c:pt idx="13">
                <c:v>0.0744516655492446</c:v>
              </c:pt>
              <c:pt idx="14">
                <c:v>0.0809058933465922</c:v>
              </c:pt>
            </c:numLit>
          </c:yVal>
        </c:ser>
        <c:ser>
          <c:idx val="1"/>
          <c:order val="1"/>
          <c:tx>
            <c:v>Ajustada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5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</c:numLit>
          </c:xVal>
          <c:yVal>
            <c:numLit>
              <c:formatCode>0.0%</c:formatCode>
              <c:ptCount val="15"/>
              <c:pt idx="0">
                <c:v>0.081130140165096</c:v>
              </c:pt>
              <c:pt idx="1">
                <c:v>0.0745232452683116</c:v>
              </c:pt>
              <c:pt idx="2">
                <c:v>0.0871059391884933</c:v>
              </c:pt>
              <c:pt idx="3">
                <c:v>0.0752028516325915</c:v>
              </c:pt>
              <c:pt idx="4">
                <c:v>0.0704152514172544</c:v>
              </c:pt>
              <c:pt idx="5">
                <c:v>0.0770053144630339</c:v>
              </c:pt>
              <c:pt idx="6">
                <c:v>0.0671417034451458</c:v>
              </c:pt>
              <c:pt idx="7">
                <c:v>0.0698999145821442</c:v>
              </c:pt>
              <c:pt idx="8">
                <c:v>0.0630090651293403</c:v>
              </c:pt>
              <c:pt idx="9">
                <c:v>0.0592500474459332</c:v>
              </c:pt>
              <c:pt idx="10">
                <c:v>0.0623234995475539</c:v>
              </c:pt>
              <c:pt idx="11">
                <c:v>0.0628881535366592</c:v>
              </c:pt>
              <c:pt idx="12">
                <c:v>0.0502587784704449</c:v>
              </c:pt>
              <c:pt idx="13">
                <c:v>0.0536913823719812</c:v>
              </c:pt>
              <c:pt idx="14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2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majorUnit val="0.03"/>
      </c:valAx>
      <c:valAx>
        <c:axId val="48650112"/>
        <c:scaling>
          <c:orientation val="minMax"/>
          <c:max val="14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0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Financeiro</c:v>
          </c:tx>
          <c:spPr>
            <a:ln xmlns:a="http://schemas.openxmlformats.org/drawingml/2006/main" w="19050">
              <a:solidFill>
                <a:srgbClr val="15151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0.0721933056522929</c:v>
              </c:pt>
              <c:pt idx="1">
                <c:v>0.0724527089960241</c:v>
              </c:pt>
              <c:pt idx="2">
                <c:v>0.0730804465099311</c:v>
              </c:pt>
              <c:pt idx="3">
                <c:v>0.0632503901979427</c:v>
              </c:pt>
              <c:pt idx="4">
                <c:v>0.0641912171142307</c:v>
              </c:pt>
              <c:pt idx="5">
                <c:v>0.0657546480281713</c:v>
              </c:pt>
              <c:pt idx="6">
                <c:v>0.0634494475619897</c:v>
              </c:pt>
              <c:pt idx="7">
                <c:v>0.0646543625808829</c:v>
              </c:pt>
              <c:pt idx="8">
                <c:v>0.0673111027113792</c:v>
              </c:pt>
              <c:pt idx="9">
                <c:v>0.0656328096378168</c:v>
              </c:pt>
              <c:pt idx="10">
                <c:v>0.0620757208077272</c:v>
              </c:pt>
              <c:pt idx="11">
                <c:v>0.0736017938293535</c:v>
              </c:pt>
              <c:pt idx="12">
                <c:v>0.0635557109295464</c:v>
              </c:pt>
              <c:pt idx="13">
                <c:v>0.0542417392216208</c:v>
              </c:pt>
              <c:pt idx="14">
                <c:v>0.0538538517691906</c:v>
              </c:pt>
              <c:pt idx="15">
                <c:v>0.0521482823676041</c:v>
              </c:pt>
              <c:pt idx="16">
                <c:v>0.0536968054360994</c:v>
              </c:pt>
              <c:pt idx="17">
                <c:v>0.0518963049039671</c:v>
              </c:pt>
              <c:pt idx="18">
                <c:v>0.0510546702744202</c:v>
              </c:pt>
              <c:pt idx="19">
                <c:v>0.0529196484159213</c:v>
              </c:pt>
              <c:pt idx="20">
                <c:v>0.046013836733936</c:v>
              </c:pt>
              <c:pt idx="21">
                <c:v>0.0550382677231159</c:v>
              </c:pt>
              <c:pt idx="22">
                <c:v>0.0485909630112604</c:v>
              </c:pt>
              <c:pt idx="23">
                <c:v>0.0574955025459674</c:v>
              </c:pt>
              <c:pt idx="24">
                <c:v>0.0468319400175989</c:v>
              </c:pt>
              <c:pt idx="25">
                <c:v>0.0539850839306449</c:v>
              </c:pt>
              <c:pt idx="26">
                <c:v>0.0548524033756501</c:v>
              </c:pt>
              <c:pt idx="27">
                <c:v>0.057384795173174</c:v>
              </c:pt>
              <c:pt idx="28">
                <c:v>0.0561998841914902</c:v>
              </c:pt>
              <c:pt idx="29">
                <c:v>0.0601770065333058</c:v>
              </c:pt>
              <c:pt idx="30">
                <c:v>0.0716771622807513</c:v>
              </c:pt>
            </c:numLit>
          </c:yVal>
        </c:ser>
        <c:ser>
          <c:idx val="1"/>
          <c:order val="1"/>
          <c:tx>
            <c:v>Cartão de crédito</c:v>
          </c:tx>
          <c:spPr>
            <a:ln xmlns:a="http://schemas.openxmlformats.org/drawingml/2006/main" w="19050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0.0080429968986406</c:v>
              </c:pt>
              <c:pt idx="1">
                <c:v>0.0103555534057833</c:v>
              </c:pt>
              <c:pt idx="2">
                <c:v>0.0101297396700234</c:v>
              </c:pt>
              <c:pt idx="3">
                <c:v>0.0104827854323463</c:v>
              </c:pt>
              <c:pt idx="4">
                <c:v>0.0111237663607328</c:v>
              </c:pt>
              <c:pt idx="5">
                <c:v>0.0106422727689357</c:v>
              </c:pt>
              <c:pt idx="6">
                <c:v>0.0079913813375405</c:v>
              </c:pt>
              <c:pt idx="7">
                <c:v>0.007890065967714</c:v>
              </c:pt>
              <c:pt idx="8">
                <c:v>0.0079420973656034</c:v>
              </c:pt>
              <c:pt idx="9">
                <c:v>0.0079557633987717</c:v>
              </c:pt>
              <c:pt idx="10">
                <c:v>0.0069164043062772</c:v>
              </c:pt>
              <c:pt idx="11">
                <c:v>0.0064863829417569</c:v>
              </c:pt>
              <c:pt idx="12">
                <c:v>0.0058804822095036</c:v>
              </c:pt>
              <c:pt idx="13">
                <c:v>0.0062984134661783</c:v>
              </c:pt>
              <c:pt idx="14">
                <c:v>0.0068137312399075</c:v>
              </c:pt>
              <c:pt idx="15">
                <c:v>0.0067604454995235</c:v>
              </c:pt>
              <c:pt idx="16">
                <c:v>0.0089037082329132</c:v>
              </c:pt>
              <c:pt idx="17">
                <c:v>0.0085557990476181</c:v>
              </c:pt>
              <c:pt idx="18">
                <c:v>0.0089308937706528</c:v>
              </c:pt>
              <c:pt idx="19">
                <c:v>0.0096799935000471</c:v>
              </c:pt>
              <c:pt idx="20">
                <c:v>0.0097012956016713</c:v>
              </c:pt>
              <c:pt idx="21">
                <c:v>0.0094978815130768</c:v>
              </c:pt>
              <c:pt idx="22">
                <c:v>0.009838827534266</c:v>
              </c:pt>
              <c:pt idx="23">
                <c:v>0.009638514605356</c:v>
              </c:pt>
              <c:pt idx="24">
                <c:v>0.010345169549131</c:v>
              </c:pt>
              <c:pt idx="25">
                <c:v>0.0101429214599004</c:v>
              </c:pt>
              <c:pt idx="26">
                <c:v>0.0106021535752052</c:v>
              </c:pt>
              <c:pt idx="27">
                <c:v>0.0103961681274984</c:v>
              </c:pt>
              <c:pt idx="28">
                <c:v>0.0111458074735555</c:v>
              </c:pt>
              <c:pt idx="29">
                <c:v>0.0112389411589637</c:v>
              </c:pt>
              <c:pt idx="30">
                <c:v>0.0117604400025326</c:v>
              </c:pt>
            </c:numLit>
          </c:yVal>
        </c:ser>
        <c:ser>
          <c:idx val="2"/>
          <c:order val="2"/>
          <c:tx>
            <c:v>Comercial</c:v>
          </c:tx>
          <c:spPr>
            <a:ln xmlns:a="http://schemas.openxmlformats.org/drawingml/2006/main" w="19050">
              <a:solidFill>
                <a:srgbClr val="454A4F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0.1082012781222687</c:v>
              </c:pt>
              <c:pt idx="1">
                <c:v>0.1161592735371424</c:v>
              </c:pt>
              <c:pt idx="2">
                <c:v>0.1194716541232022</c:v>
              </c:pt>
              <c:pt idx="3">
                <c:v>0.110340097661799</c:v>
              </c:pt>
              <c:pt idx="4">
                <c:v>0.1101662641871065</c:v>
              </c:pt>
              <c:pt idx="5">
                <c:v>0.1149075978008279</c:v>
              </c:pt>
              <c:pt idx="6">
                <c:v>0.1124919560057237</c:v>
              </c:pt>
              <c:pt idx="7">
                <c:v>0.098567530605085</c:v>
              </c:pt>
              <c:pt idx="8">
                <c:v>0.1000404253970929</c:v>
              </c:pt>
              <c:pt idx="9">
                <c:v>0.0874582451638325</c:v>
              </c:pt>
              <c:pt idx="10">
                <c:v>0.0856747977502285</c:v>
              </c:pt>
              <c:pt idx="11">
                <c:v>0.0877889765268387</c:v>
              </c:pt>
              <c:pt idx="12">
                <c:v>0.0885286227670983</c:v>
              </c:pt>
              <c:pt idx="13">
                <c:v>0.1431704813182423</c:v>
              </c:pt>
              <c:pt idx="14">
                <c:v>0.1427519812637698</c:v>
              </c:pt>
              <c:pt idx="15">
                <c:v>0.1104294687674457</c:v>
              </c:pt>
              <c:pt idx="16">
                <c:v>0.1092444441783367</c:v>
              </c:pt>
              <c:pt idx="17">
                <c:v>0.1020185080892119</c:v>
              </c:pt>
              <c:pt idx="18">
                <c:v>0.0819808141756463</c:v>
              </c:pt>
              <c:pt idx="19">
                <c:v>0.0739784925005875</c:v>
              </c:pt>
              <c:pt idx="20">
                <c:v>0.0776869622102317</c:v>
              </c:pt>
              <c:pt idx="21">
                <c:v>0.0812227396177681</c:v>
              </c:pt>
              <c:pt idx="22">
                <c:v>0.0778389474752357</c:v>
              </c:pt>
              <c:pt idx="23">
                <c:v>0.0619370973852018</c:v>
              </c:pt>
              <c:pt idx="24">
                <c:v>0.0638211406580486</c:v>
              </c:pt>
              <c:pt idx="25">
                <c:v>0.0615357509303453</c:v>
              </c:pt>
              <c:pt idx="26">
                <c:v>0.0511457130166931</c:v>
              </c:pt>
              <c:pt idx="27">
                <c:v>0.0505787700495826</c:v>
              </c:pt>
              <c:pt idx="28">
                <c:v>0.0485661426696369</c:v>
              </c:pt>
              <c:pt idx="29">
                <c:v>0.0473808964121762</c:v>
              </c:pt>
              <c:pt idx="30">
                <c:v>0.0383198312904363</c:v>
              </c:pt>
            </c:numLit>
          </c:yVal>
        </c:ser>
        <c:ser>
          <c:idx val="3"/>
          <c:order val="3"/>
          <c:tx>
            <c:v>Industrial</c:v>
          </c:tx>
          <c:spPr>
            <a:ln xmlns:a="http://schemas.openxmlformats.org/drawingml/2006/main" w="12859">
              <a:solidFill>
                <a:srgbClr val="5B606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0.0025995750477537</c:v>
              </c:pt>
              <c:pt idx="1">
                <c:v>0.0027073175458643</c:v>
              </c:pt>
              <c:pt idx="2">
                <c:v>0.0032142957243589</c:v>
              </c:pt>
              <c:pt idx="3">
                <c:v>0.0034097015354183</c:v>
              </c:pt>
              <c:pt idx="4">
                <c:v>0.0021054729286722</c:v>
              </c:pt>
              <c:pt idx="5">
                <c:v>0.0047362923216476</c:v>
              </c:pt>
              <c:pt idx="6">
                <c:v>0.0055366129638028</c:v>
              </c:pt>
              <c:pt idx="7">
                <c:v>0.0024131461675404</c:v>
              </c:pt>
              <c:pt idx="8">
                <c:v>0.0019877205669721</c:v>
              </c:pt>
              <c:pt idx="9">
                <c:v>0.0046091003151197</c:v>
              </c:pt>
              <c:pt idx="10">
                <c:v>0.003757986185218</c:v>
              </c:pt>
              <c:pt idx="11">
                <c:v>0.003791079854629</c:v>
              </c:pt>
              <c:pt idx="12">
                <c:v>0.004061108957977</c:v>
              </c:pt>
              <c:pt idx="13">
                <c:v>0.0036679242090174</c:v>
              </c:pt>
              <c:pt idx="14">
                <c:v>0.0037228807818014</c:v>
              </c:pt>
              <c:pt idx="15">
                <c:v>0.0041390501391543</c:v>
              </c:pt>
              <c:pt idx="16">
                <c:v>0.0043238466007108</c:v>
              </c:pt>
              <c:pt idx="17">
                <c:v>0.0040579403197648</c:v>
              </c:pt>
              <c:pt idx="18">
                <c:v>0.0070527663617381</c:v>
              </c:pt>
              <c:pt idx="19">
                <c:v>0.0067700063530923</c:v>
              </c:pt>
              <c:pt idx="20">
                <c:v>0.0070438224934519</c:v>
              </c:pt>
              <c:pt idx="21">
                <c:v>0.0085456396251194</c:v>
              </c:pt>
              <c:pt idx="22">
                <c:v>0.0091884370424081</c:v>
              </c:pt>
              <c:pt idx="23">
                <c:v>0.0062620305712928</c:v>
              </c:pt>
              <c:pt idx="24">
                <c:v>0.0070617642492158</c:v>
              </c:pt>
              <c:pt idx="25">
                <c:v>0.0063200695172949</c:v>
              </c:pt>
              <c:pt idx="26">
                <c:v>0.0059848905077144</c:v>
              </c:pt>
              <c:pt idx="27">
                <c:v>0.0063789170386723</c:v>
              </c:pt>
              <c:pt idx="28">
                <c:v>0.006420463309229</c:v>
              </c:pt>
              <c:pt idx="29">
                <c:v>0.0096784901416031</c:v>
              </c:pt>
              <c:pt idx="30">
                <c:v>0.0106470085607881</c:v>
              </c:pt>
            </c:numLit>
          </c:yVal>
        </c:ser>
        <c:ser>
          <c:idx val="4"/>
          <c:order val="4"/>
          <c:tx>
            <c:v>Serviços</c:v>
          </c:tx>
          <c:spPr>
            <a:ln xmlns:a="http://schemas.openxmlformats.org/drawingml/2006/main" w="12859">
              <a:solidFill>
                <a:srgbClr val="73787D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0.002761753511805</c:v>
              </c:pt>
              <c:pt idx="1">
                <c:v>0.0027082086002623</c:v>
              </c:pt>
              <c:pt idx="2">
                <c:v>0.0030878238406748</c:v>
              </c:pt>
              <c:pt idx="3">
                <c:v>0.0038134279430219</c:v>
              </c:pt>
              <c:pt idx="4">
                <c:v>0.0047264073090607</c:v>
              </c:pt>
              <c:pt idx="5">
                <c:v>0.0053374101483992</c:v>
              </c:pt>
              <c:pt idx="6">
                <c:v>0.0048777594375193</c:v>
              </c:pt>
              <c:pt idx="7">
                <c:v>0.0060579729890402</c:v>
              </c:pt>
              <c:pt idx="8">
                <c:v>0.0057354615135486</c:v>
              </c:pt>
              <c:pt idx="9">
                <c:v>0.0065809960074512</c:v>
              </c:pt>
              <c:pt idx="10">
                <c:v>0.011011195532876</c:v>
              </c:pt>
              <c:pt idx="11">
                <c:v>0.011019621516894</c:v>
              </c:pt>
              <c:pt idx="12">
                <c:v>0.011761078041623</c:v>
              </c:pt>
              <c:pt idx="13">
                <c:v>0.0052755069921239</c:v>
              </c:pt>
              <c:pt idx="14">
                <c:v>0.0050888290074184</c:v>
              </c:pt>
              <c:pt idx="15">
                <c:v>0.0058759615026774</c:v>
              </c:pt>
              <c:pt idx="16">
                <c:v>0.0061558874072902</c:v>
              </c:pt>
              <c:pt idx="17">
                <c:v>0.0064786730545633</c:v>
              </c:pt>
              <c:pt idx="18">
                <c:v>0.0067141159294199</c:v>
              </c:pt>
              <c:pt idx="19">
                <c:v>0.006201689312099</c:v>
              </c:pt>
              <c:pt idx="20">
                <c:v>0.0058260498006329</c:v>
              </c:pt>
              <c:pt idx="21">
                <c:v>0.006571374774792</c:v>
              </c:pt>
              <c:pt idx="22">
                <c:v>0.0066587917472255</c:v>
              </c:pt>
              <c:pt idx="23">
                <c:v>0.0072842278339582</c:v>
              </c:pt>
              <c:pt idx="24">
                <c:v>0.0081006571546639</c:v>
              </c:pt>
              <c:pt idx="25">
                <c:v>0.0117685005784751</c:v>
              </c:pt>
              <c:pt idx="26">
                <c:v>0.0123753954145278</c:v>
              </c:pt>
              <c:pt idx="27">
                <c:v>0.0140555053054944</c:v>
              </c:pt>
              <c:pt idx="28">
                <c:v>0.0144069916246104</c:v>
              </c:pt>
              <c:pt idx="29">
                <c:v>0.0157044040571552</c:v>
              </c:pt>
              <c:pt idx="30">
                <c:v>0.0155258929379865</c:v>
              </c:pt>
            </c:numLit>
          </c:yVal>
        </c:ser>
        <c:ser>
          <c:idx val="5"/>
          <c:order val="5"/>
          <c:tx>
            <c:v>Setor público</c:v>
          </c:tx>
          <c:spPr>
            <a:ln xmlns:a="http://schemas.openxmlformats.org/drawingml/2006/main" w="12859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0.1854216092153828</c:v>
              </c:pt>
              <c:pt idx="1">
                <c:v>0.1884788306642439</c:v>
              </c:pt>
              <c:pt idx="2">
                <c:v>0.1881706191809939</c:v>
              </c:pt>
              <c:pt idx="3">
                <c:v>0.0598179826329479</c:v>
              </c:pt>
              <c:pt idx="4">
                <c:v>0.2317110731792012</c:v>
              </c:pt>
              <c:pt idx="5">
                <c:v>0.2307453092491834</c:v>
              </c:pt>
              <c:pt idx="6">
                <c:v>0.231820743559852</c:v>
              </c:pt>
              <c:pt idx="7">
                <c:v>0.2276967726779469</c:v>
              </c:pt>
              <c:pt idx="8">
                <c:v>0.2228561784834045</c:v>
              </c:pt>
              <c:pt idx="9">
                <c:v>0.2601261710594481</c:v>
              </c:pt>
              <c:pt idx="10">
                <c:v>0.2226853028361558</c:v>
              </c:pt>
              <c:pt idx="11">
                <c:v>0.2187278941356636</c:v>
              </c:pt>
              <c:pt idx="12">
                <c:v>0.2021675560835505</c:v>
              </c:pt>
              <c:pt idx="13">
                <c:v>0.2127286140116034</c:v>
              </c:pt>
              <c:pt idx="14">
                <c:v>0.2136774816817553</c:v>
              </c:pt>
              <c:pt idx="15">
                <c:v>0.2116474567427985</c:v>
              </c:pt>
              <c:pt idx="16">
                <c:v>0.2182492714737423</c:v>
              </c:pt>
              <c:pt idx="17">
                <c:v>0.2305949573703942</c:v>
              </c:pt>
              <c:pt idx="18">
                <c:v>0.2170184839875787</c:v>
              </c:pt>
              <c:pt idx="19">
                <c:v>0.2066235198492703</c:v>
              </c:pt>
              <c:pt idx="20">
                <c:v>0.204642946005455</c:v>
              </c:pt>
              <c:pt idx="21">
                <c:v>0.2046761144659297</c:v>
              </c:pt>
              <c:pt idx="22">
                <c:v>0.1950570873721957</c:v>
              </c:pt>
              <c:pt idx="23">
                <c:v>0.1838076625569173</c:v>
              </c:pt>
              <c:pt idx="24">
                <c:v>0.0320722949695946</c:v>
              </c:pt>
              <c:pt idx="25">
                <c:v>0.0267519834548788</c:v>
              </c:pt>
              <c:pt idx="26">
                <c:v>0.0254709221093874</c:v>
              </c:pt>
              <c:pt idx="27">
                <c:v>0.0286391392387492</c:v>
              </c:pt>
              <c:pt idx="28">
                <c:v>0.0278719164478153</c:v>
              </c:pt>
              <c:pt idx="29">
                <c:v>0.0310941253039807</c:v>
              </c:pt>
              <c:pt idx="30">
                <c:v>0.0269677990830523</c:v>
              </c:pt>
            </c:numLit>
          </c:yVal>
        </c:ser>
        <c:ser>
          <c:idx val="6"/>
          <c:order val="6"/>
          <c:tx>
            <c:v>Ações judiciais</c:v>
          </c:tx>
          <c:spPr>
            <a:ln xmlns:a="http://schemas.openxmlformats.org/drawingml/2006/main" w="12859">
              <a:solidFill>
                <a:srgbClr val="A7ACB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0.0417142491781317</c:v>
              </c:pt>
              <c:pt idx="1">
                <c:v>0.0423201793463372</c:v>
              </c:pt>
              <c:pt idx="2">
                <c:v>0.0422821490121826</c:v>
              </c:pt>
              <c:pt idx="3">
                <c:v>0.0418197489706348</c:v>
              </c:pt>
              <c:pt idx="4">
                <c:v>0.013868015487937</c:v>
              </c:pt>
              <c:pt idx="5">
                <c:v>0.0161057915619758</c:v>
              </c:pt>
              <c:pt idx="6">
                <c:v>0.0460301180426334</c:v>
              </c:pt>
              <c:pt idx="7">
                <c:v>0.0156646355220548</c:v>
              </c:pt>
              <c:pt idx="8">
                <c:v>0.0127402436285298</c:v>
              </c:pt>
              <c:pt idx="9">
                <c:v>0.0146633705519831</c:v>
              </c:pt>
              <c:pt idx="10">
                <c:v>0.0148839095437175</c:v>
              </c:pt>
              <c:pt idx="11">
                <c:v>0.0145553054107453</c:v>
              </c:pt>
              <c:pt idx="12">
                <c:v>0.0129260058421569</c:v>
              </c:pt>
              <c:pt idx="13">
                <c:v>0.0133275954599381</c:v>
              </c:pt>
              <c:pt idx="14">
                <c:v>0.0135276953704358</c:v>
              </c:pt>
              <c:pt idx="15">
                <c:v>0.0133137511967988</c:v>
              </c:pt>
              <c:pt idx="16">
                <c:v>0.0132286727585075</c:v>
              </c:pt>
              <c:pt idx="17">
                <c:v>0.0129521393419009</c:v>
              </c:pt>
              <c:pt idx="18">
                <c:v>0.0125611054439207</c:v>
              </c:pt>
              <c:pt idx="19">
                <c:v>0.0125414517133714</c:v>
              </c:pt>
              <c:pt idx="20">
                <c:v>0.012167116656769</c:v>
              </c:pt>
              <c:pt idx="21">
                <c:v>0.0116434513520777</c:v>
              </c:pt>
              <c:pt idx="22">
                <c:v>0.0114818559290975</c:v>
              </c:pt>
              <c:pt idx="23">
                <c:v>0.0117198804644548</c:v>
              </c:pt>
              <c:pt idx="24">
                <c:v>0.0521667521091537</c:v>
              </c:pt>
              <c:pt idx="25">
                <c:v>0.0134295528242896</c:v>
              </c:pt>
              <c:pt idx="26">
                <c:v>0.0195114019773375</c:v>
              </c:pt>
              <c:pt idx="27">
                <c:v>0.0176558617875715</c:v>
              </c:pt>
              <c:pt idx="28">
                <c:v>0.0181866201777597</c:v>
              </c:pt>
              <c:pt idx="29">
                <c:v>0.0301063967497122</c:v>
              </c:pt>
              <c:pt idx="30">
                <c:v>0.0276212038505898</c:v>
              </c:pt>
            </c:numLit>
          </c:yVal>
        </c:ser>
        <c:ser>
          <c:idx val="7"/>
          <c:order val="7"/>
          <c:tx>
            <c:v>Agronegócio</c:v>
          </c:tx>
          <c:spPr>
            <a:ln xmlns:a="http://schemas.openxmlformats.org/drawingml/2006/main" w="12859">
              <a:solidFill>
                <a:srgbClr val="BEC2C5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0.0193848320803037</c:v>
              </c:pt>
              <c:pt idx="1">
                <c:v>0.0074534188133573</c:v>
              </c:pt>
              <c:pt idx="2">
                <c:v>0.0073692353757936</c:v>
              </c:pt>
              <c:pt idx="3">
                <c:v>0.0275878340521066</c:v>
              </c:pt>
              <c:pt idx="4">
                <c:v>0.0699173713403787</c:v>
              </c:pt>
              <c:pt idx="5">
                <c:v>0.1071495886627592</c:v>
              </c:pt>
              <c:pt idx="6">
                <c:v>0.081170617074055</c:v>
              </c:pt>
              <c:pt idx="7">
                <c:v>0.0592144502484672</c:v>
              </c:pt>
              <c:pt idx="8">
                <c:v>0.068794386861829</c:v>
              </c:pt>
              <c:pt idx="9">
                <c:v>0.0804965019363218</c:v>
              </c:pt>
              <c:pt idx="10">
                <c:v>0.0568105669235579</c:v>
              </c:pt>
              <c:pt idx="11">
                <c:v>0.0539414905307017</c:v>
              </c:pt>
              <c:pt idx="12">
                <c:v>0.0456547393457803</c:v>
              </c:pt>
              <c:pt idx="13">
                <c:v>0.0938023365883941</c:v>
              </c:pt>
              <c:pt idx="14">
                <c:v>0.0318554027571156</c:v>
              </c:pt>
              <c:pt idx="15">
                <c:v>0.0513104257372555</c:v>
              </c:pt>
              <c:pt idx="16">
                <c:v>0.0844147829421874</c:v>
              </c:pt>
              <c:pt idx="17">
                <c:v>0.1096583784966358</c:v>
              </c:pt>
              <c:pt idx="18">
                <c:v>0.0834970570681469</c:v>
              </c:pt>
              <c:pt idx="19">
                <c:v>0.0543135517074533</c:v>
              </c:pt>
              <c:pt idx="20">
                <c:v>0.0397669344769683</c:v>
              </c:pt>
              <c:pt idx="21">
                <c:v>0.0839122035225489</c:v>
              </c:pt>
              <c:pt idx="22">
                <c:v>0.062508468287794</c:v>
              </c:pt>
              <c:pt idx="23">
                <c:v>0.0403071668157024</c:v>
              </c:pt>
              <c:pt idx="24">
                <c:v>0.0356597059135657</c:v>
              </c:pt>
              <c:pt idx="25">
                <c:v>0.0295211680001266</c:v>
              </c:pt>
              <c:pt idx="26">
                <c:v>0.0252043134620647</c:v>
              </c:pt>
              <c:pt idx="27">
                <c:v>0.1089245109690359</c:v>
              </c:pt>
              <c:pt idx="28">
                <c:v>0.0634141693348424</c:v>
              </c:pt>
              <c:pt idx="29">
                <c:v>0.0985406452471582</c:v>
              </c:pt>
              <c:pt idx="30">
                <c:v>0.0982584113424741</c:v>
              </c:pt>
            </c:numLit>
          </c:yVal>
        </c:ser>
        <c:ser>
          <c:idx val="8"/>
          <c:order val="8"/>
          <c:tx>
            <c:v>Imobiliário</c:v>
          </c:tx>
          <c:spPr>
            <a:ln xmlns:a="http://schemas.openxmlformats.org/drawingml/2006/main" w="12859">
              <a:solidFill>
                <a:srgbClr val="676C71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0.0301544002992957</c:v>
              </c:pt>
              <c:pt idx="1">
                <c:v>0.0327276152039929</c:v>
              </c:pt>
              <c:pt idx="2">
                <c:v>0.0335433779934722</c:v>
              </c:pt>
              <c:pt idx="3">
                <c:v>0.0348421491235876</c:v>
              </c:pt>
              <c:pt idx="4">
                <c:v>0.0428001212242425</c:v>
              </c:pt>
              <c:pt idx="5">
                <c:v>0.0418805697277656</c:v>
              </c:pt>
              <c:pt idx="6">
                <c:v>0.0445162804581016</c:v>
              </c:pt>
              <c:pt idx="7">
                <c:v>0.0450750205215238</c:v>
              </c:pt>
              <c:pt idx="8">
                <c:v>0.0433137428852005</c:v>
              </c:pt>
              <c:pt idx="9">
                <c:v>0.0368120139814974</c:v>
              </c:pt>
              <c:pt idx="10">
                <c:v>0.0370727339192215</c:v>
              </c:pt>
              <c:pt idx="11">
                <c:v>0.0383168676299335</c:v>
              </c:pt>
              <c:pt idx="12">
                <c:v>0.0411647909984821</c:v>
              </c:pt>
              <c:pt idx="13">
                <c:v>0.0420544170094409</c:v>
              </c:pt>
              <c:pt idx="14">
                <c:v>0.0452665646472693</c:v>
              </c:pt>
              <c:pt idx="15">
                <c:v>0.0471589020247165</c:v>
              </c:pt>
              <c:pt idx="16">
                <c:v>0.0479186023653569</c:v>
              </c:pt>
              <c:pt idx="17">
                <c:v>0.0497283898045638</c:v>
              </c:pt>
              <c:pt idx="18">
                <c:v>0.0513562669687059</c:v>
              </c:pt>
              <c:pt idx="19">
                <c:v>0.0524041751673811</c:v>
              </c:pt>
              <c:pt idx="20">
                <c:v>0.0549718365574653</c:v>
              </c:pt>
              <c:pt idx="21">
                <c:v>0.0467619519887603</c:v>
              </c:pt>
              <c:pt idx="22">
                <c:v>0.0529296618834481</c:v>
              </c:pt>
              <c:pt idx="23">
                <c:v>0.0555227271204206</c:v>
              </c:pt>
              <c:pt idx="24">
                <c:v>0.0469577659285627</c:v>
              </c:pt>
              <c:pt idx="25">
                <c:v>0.0508181998171366</c:v>
              </c:pt>
              <c:pt idx="26">
                <c:v>0.0563587832928188</c:v>
              </c:pt>
              <c:pt idx="27">
                <c:v>0.0610793382898068</c:v>
              </c:pt>
              <c:pt idx="28">
                <c:v>0.0669949830191097</c:v>
              </c:pt>
              <c:pt idx="29">
                <c:v>0.0721630638324931</c:v>
              </c:pt>
              <c:pt idx="30">
                <c:v>0.0727874220270115</c:v>
              </c:pt>
            </c:numLit>
          </c:yVal>
        </c:ser>
        <c:ser>
          <c:idx val="9"/>
          <c:order val="9"/>
          <c:tx>
            <c:v>Factoring</c:v>
          </c:tx>
          <c:spPr>
            <a:ln xmlns:a="http://schemas.openxmlformats.org/drawingml/2006/main" w="12859">
              <a:solidFill>
                <a:srgbClr val="92979C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0.0514225192354148</c:v>
              </c:pt>
              <c:pt idx="1">
                <c:v>0.0393907988792837</c:v>
              </c:pt>
              <c:pt idx="2">
                <c:v>0.0204599118110216</c:v>
              </c:pt>
              <c:pt idx="3">
                <c:v>0.0279020955222049</c:v>
              </c:pt>
              <c:pt idx="4">
                <c:v>0.045435158542933</c:v>
              </c:pt>
              <c:pt idx="5">
                <c:v>0.0634913799648424</c:v>
              </c:pt>
              <c:pt idx="6">
                <c:v>0.1018834022199954</c:v>
              </c:pt>
              <c:pt idx="7">
                <c:v>0.053226641038248</c:v>
              </c:pt>
              <c:pt idx="8">
                <c:v>0.0409999642734494</c:v>
              </c:pt>
              <c:pt idx="9">
                <c:v>0.0221743137151051</c:v>
              </c:pt>
              <c:pt idx="10">
                <c:v>0.1189436323844374</c:v>
              </c:pt>
              <c:pt idx="11">
                <c:v>0.0430677893077643</c:v>
              </c:pt>
              <c:pt idx="12">
                <c:v>0.0533502127430201</c:v>
              </c:pt>
              <c:pt idx="13">
                <c:v>0.0375148600614609</c:v>
              </c:pt>
              <c:pt idx="14">
                <c:v>0.0437092853950481</c:v>
              </c:pt>
              <c:pt idx="15">
                <c:v>0.064103135977939</c:v>
              </c:pt>
              <c:pt idx="16">
                <c:v>0.1479488771622266</c:v>
              </c:pt>
              <c:pt idx="17">
                <c:v>0.1174497699924641</c:v>
              </c:pt>
              <c:pt idx="18">
                <c:v>0.1305527242748713</c:v>
              </c:pt>
              <c:pt idx="19">
                <c:v>0.1254080720493426</c:v>
              </c:pt>
              <c:pt idx="20">
                <c:v>0.1486477723764485</c:v>
              </c:pt>
              <c:pt idx="21">
                <c:v>0.1354996954025546</c:v>
              </c:pt>
              <c:pt idx="22">
                <c:v>0.1660000913704232</c:v>
              </c:pt>
              <c:pt idx="23">
                <c:v>0.1605724609434834</c:v>
              </c:pt>
              <c:pt idx="24">
                <c:v>0.2853726896283449</c:v>
              </c:pt>
              <c:pt idx="25">
                <c:v>0.1950978271794026</c:v>
              </c:pt>
              <c:pt idx="26">
                <c:v>0.1466190664090744</c:v>
              </c:pt>
              <c:pt idx="27">
                <c:v>0.1741072914672736</c:v>
              </c:pt>
              <c:pt idx="28">
                <c:v>0.1697199730374612</c:v>
              </c:pt>
              <c:pt idx="29">
                <c:v>0.1549286072994427</c:v>
              </c:pt>
              <c:pt idx="30">
                <c:v>0.1391390506699004</c:v>
              </c:pt>
            </c:numLit>
          </c:yVal>
        </c:ser>
        <c:ser>
          <c:idx val="10"/>
          <c:order val="10"/>
          <c:tx>
            <c:v>Consolidado ajustado</c:v>
          </c:tx>
          <c:spPr>
            <a:ln xmlns:a="http://schemas.openxmlformats.org/drawingml/2006/main" w="30480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31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  <c:pt idx="12">
                <c:v>12</c:v>
              </c:pt>
              <c:pt idx="13">
                <c:v>13</c:v>
              </c:pt>
              <c:pt idx="14">
                <c:v>14</c:v>
              </c:pt>
              <c:pt idx="15">
                <c:v>15</c:v>
              </c:pt>
              <c:pt idx="16">
                <c:v>16</c:v>
              </c:pt>
              <c:pt idx="17">
                <c:v>17</c:v>
              </c:pt>
              <c:pt idx="18">
                <c:v>18</c:v>
              </c:pt>
              <c:pt idx="19">
                <c:v>19</c:v>
              </c:pt>
              <c:pt idx="20">
                <c:v>20</c:v>
              </c:pt>
              <c:pt idx="21">
                <c:v>21</c:v>
              </c:pt>
              <c:pt idx="22">
                <c:v>22</c:v>
              </c:pt>
              <c:pt idx="23">
                <c:v>23</c:v>
              </c:pt>
              <c:pt idx="24">
                <c:v>24</c:v>
              </c:pt>
              <c:pt idx="25">
                <c:v>25</c:v>
              </c:pt>
              <c:pt idx="26">
                <c:v>26</c:v>
              </c:pt>
              <c:pt idx="27">
                <c:v>27</c:v>
              </c:pt>
              <c:pt idx="28">
                <c:v>28</c:v>
              </c:pt>
              <c:pt idx="29">
                <c:v>29</c:v>
              </c:pt>
              <c:pt idx="30">
                <c:v>30</c:v>
              </c:pt>
            </c:numLit>
          </c:xVal>
          <c:yVal>
            <c:numLit>
              <c:formatCode>0.0%</c:formatCode>
              <c:ptCount val="31"/>
              <c:pt idx="0">
                <c:v>0.0752028516325915</c:v>
              </c:pt>
              <c:pt idx="1">
                <c:v>0.0778801838724332</c:v>
              </c:pt>
              <c:pt idx="2">
                <c:v>0.0776383095992151</c:v>
              </c:pt>
              <c:pt idx="3">
                <c:v>0.0704152514172544</c:v>
              </c:pt>
              <c:pt idx="4">
                <c:v>0.0797565578705756</c:v>
              </c:pt>
              <c:pt idx="5">
                <c:v>0.0817150208465515</c:v>
              </c:pt>
              <c:pt idx="6">
                <c:v>0.0770053144630339</c:v>
              </c:pt>
              <c:pt idx="7">
                <c:v>0.0671417034451458</c:v>
              </c:pt>
              <c:pt idx="8">
                <c:v>0.0676408843500004</c:v>
              </c:pt>
              <c:pt idx="9">
                <c:v>0.0698999145821442</c:v>
              </c:pt>
              <c:pt idx="10">
                <c:v>0.0684744868137109</c:v>
              </c:pt>
              <c:pt idx="11">
                <c:v>0.0699014101098718</c:v>
              </c:pt>
              <c:pt idx="12">
                <c:v>0.0630090651293403</c:v>
              </c:pt>
              <c:pt idx="13">
                <c:v>0.0614757676630931</c:v>
              </c:pt>
              <c:pt idx="14">
                <c:v>0.0598205980738471</c:v>
              </c:pt>
              <c:pt idx="15">
                <c:v>0.0592500474459332</c:v>
              </c:pt>
              <c:pt idx="16">
                <c:v>0.0624601047334936</c:v>
              </c:pt>
              <c:pt idx="17">
                <c:v>0.0629482537447055</c:v>
              </c:pt>
              <c:pt idx="18">
                <c:v>0.0623234995475539</c:v>
              </c:pt>
              <c:pt idx="19">
                <c:v>0.0601553151901788</c:v>
              </c:pt>
              <c:pt idx="20">
                <c:v>0.0569486394732615</c:v>
              </c:pt>
              <c:pt idx="21">
                <c:v>0.0628881535366592</c:v>
              </c:pt>
              <c:pt idx="22">
                <c:v>0.0584216214864171</c:v>
              </c:pt>
              <c:pt idx="23">
                <c:v>0.0606320127168131</c:v>
              </c:pt>
              <c:pt idx="24">
                <c:v>0.0502587784704449</c:v>
              </c:pt>
              <c:pt idx="25">
                <c:v>0.0507331353304028</c:v>
              </c:pt>
              <c:pt idx="26">
                <c:v>0.0503146572806492</c:v>
              </c:pt>
              <c:pt idx="27">
                <c:v>0.0536913823719812</c:v>
              </c:pt>
              <c:pt idx="28">
                <c:v>0.0520334873726198</c:v>
              </c:pt>
              <c:pt idx="29">
                <c:v>0.0585303345939064</c:v>
              </c:pt>
              <c:pt idx="30">
                <c:v>0.0593323376099488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ax val="0.3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majorUnit val="0.05"/>
      </c:valAx>
      <c:valAx>
        <c:axId val="48650112"/>
        <c:scaling>
          <c:orientation val="minMax"/>
          <c:max val="30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0.7240103045302964</c:v>
              </c:pt>
              <c:pt idx="1">
                <c:v>0.33762443171818396</c:v>
              </c:pt>
              <c:pt idx="2">
                <c:v>0.7144041928735754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0.7177319262894483</c:v>
              </c:pt>
              <c:pt idx="1">
                <c:v>0.3640830858142464</c:v>
              </c:pt>
              <c:pt idx="2">
                <c:v>0.7281455649767723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2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Dez/25</c:v>
          </c:tx>
          <c:spPr>
            <a:solidFill xmlns:a="http://schemas.openxmlformats.org/drawingml/2006/main">
              <a:srgbClr val="73787D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0.5047535938429641</c:v>
              </c:pt>
              <c:pt idx="1">
                <c:v>0.22309371585883164</c:v>
              </c:pt>
              <c:pt idx="2">
                <c:v>0.5254792759228104</c:v>
              </c:pt>
            </c:numLit>
          </c:val>
        </c:ser>
        <c:ser>
          <c:idx val="1"/>
          <c:order val="1"/>
          <c:tx>
            <c:v>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Admin.</c:v>
              </c:pt>
              <c:pt idx="1">
                <c:v>Gestão</c:v>
              </c:pt>
              <c:pt idx="2">
                <c:v>Custódia</c:v>
              </c:pt>
            </c:strLit>
          </c:cat>
          <c:val>
            <c:numLit>
              <c:formatCode>0.0%</c:formatCode>
              <c:ptCount val="3"/>
              <c:pt idx="0">
                <c:v>0.5320851575861103</c:v>
              </c:pt>
              <c:pt idx="1">
                <c:v>0.2617042615232217</c:v>
              </c:pt>
              <c:pt idx="2">
                <c:v>0.5578650737236776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4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938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Oliveira Trust</c:v>
              </c:pt>
              <c:pt idx="2">
                <c:v>Daycoval</c:v>
              </c:pt>
              <c:pt idx="3">
                <c:v>BTG Pactual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28.577477955880003</c:v>
              </c:pt>
              <c:pt idx="1">
                <c:v>57.205822956949994</c:v>
              </c:pt>
              <c:pt idx="2">
                <c:v>58.07994111931001</c:v>
              </c:pt>
              <c:pt idx="3">
                <c:v>123.34891855075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Hemera</c:v>
              </c:pt>
              <c:pt idx="1">
                <c:v>BRL Trust</c:v>
              </c:pt>
              <c:pt idx="2">
                <c:v>Finaxis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21.117364064860002</c:v>
              </c:pt>
              <c:pt idx="1">
                <c:v>21.71761716544</c:v>
              </c:pt>
              <c:pt idx="2">
                <c:v>22.40761845837</c:v>
              </c:pt>
              <c:pt idx="3">
                <c:v>57.205822956949994</c:v>
              </c:pt>
              <c:pt idx="4">
                <c:v>124.12592647323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6EC5E9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Genial</c:v>
              </c:pt>
              <c:pt idx="2">
                <c:v>Oliveira Trust</c:v>
              </c:pt>
              <c:pt idx="3">
                <c:v>Bradesco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18.875169440439997</c:v>
              </c:pt>
              <c:pt idx="1">
                <c:v>26.891086880550002</c:v>
              </c:pt>
              <c:pt idx="2">
                <c:v>35.02222544035998</c:v>
              </c:pt>
              <c:pt idx="3">
                <c:v>40.32919650402</c:v>
              </c:pt>
              <c:pt idx="4">
                <c:v>79.11922838494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6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A7ACB0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cat>
            <c:strLit>
              <c:ptCount val="5"/>
              <c:pt idx="0">
                <c:v>CBSF</c:v>
              </c:pt>
              <c:pt idx="1">
                <c:v>Integral Investimentos</c:v>
              </c:pt>
              <c:pt idx="2">
                <c:v>Solis Investimentos</c:v>
              </c:pt>
              <c:pt idx="3">
                <c:v>Tercon Investimentos</c:v>
              </c:pt>
              <c:pt idx="4">
                <c:v>Oliveira Trust</c:v>
              </c:pt>
            </c:strLit>
          </c:cat>
          <c:val>
            <c:numLit>
              <c:formatCode>0.0</c:formatCode>
              <c:ptCount val="5"/>
              <c:pt idx="0">
                <c:v>10.17441132442</c:v>
              </c:pt>
              <c:pt idx="1">
                <c:v>14.95203415536</c:v>
              </c:pt>
              <c:pt idx="2">
                <c:v>16.12591261212</c:v>
              </c:pt>
              <c:pt idx="3">
                <c:v>22.14586346137</c:v>
              </c:pt>
              <c:pt idx="4">
                <c:v>35.02222544035998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7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FF55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BEC2C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5"/>
              <c:pt idx="0">
                <c:v>Itaú</c:v>
              </c:pt>
              <c:pt idx="1">
                <c:v>Daycoval</c:v>
              </c:pt>
              <c:pt idx="2">
                <c:v>Oliveira Trust</c:v>
              </c:pt>
              <c:pt idx="3">
                <c:v>QI Tech</c:v>
              </c:pt>
              <c:pt idx="4">
                <c:v>BTG Pactual</c:v>
              </c:pt>
            </c:strLit>
          </c:cat>
          <c:val>
            <c:numLit>
              <c:formatCode>0.0</c:formatCode>
              <c:ptCount val="5"/>
              <c:pt idx="0">
                <c:v>21.926715321429995</c:v>
              </c:pt>
              <c:pt idx="1">
                <c:v>64.38995086032001</c:v>
              </c:pt>
              <c:pt idx="2">
                <c:v>74.73806249444</c:v>
              </c:pt>
              <c:pt idx="3">
                <c:v>122.32123834260001</c:v>
              </c:pt>
              <c:pt idx="4">
                <c:v>122.70207078867999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8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jun/26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454A4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5B6065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73C6A1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A1F3D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5"/>
              <c:pt idx="0">
                <c:v>BRL Trust</c:v>
              </c:pt>
              <c:pt idx="1">
                <c:v>Finaxis</c:v>
              </c:pt>
              <c:pt idx="2">
                <c:v>REAG</c:v>
              </c:pt>
              <c:pt idx="3">
                <c:v>Oliveira Trust</c:v>
              </c:pt>
              <c:pt idx="4">
                <c:v>QI Tech</c:v>
              </c:pt>
            </c:strLit>
          </c:cat>
          <c:val>
            <c:numLit>
              <c:formatCode>0.0</c:formatCode>
              <c:ptCount val="5"/>
              <c:pt idx="0">
                <c:v>21.72075588213</c:v>
              </c:pt>
              <c:pt idx="1">
                <c:v>22.40761845837</c:v>
              </c:pt>
              <c:pt idx="2">
                <c:v>25.148795168550002</c:v>
              </c:pt>
              <c:pt idx="3">
                <c:v>74.73806249444</c:v>
              </c:pt>
              <c:pt idx="4">
                <c:v>122.32123834260001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65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26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7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29.xml><?xml version="1.0" encoding="utf-8"?>
<c:chartSpace xmlns:c="http://schemas.openxmlformats.org/drawingml/2006/chart">
  <c:lang val="en-US"/>
  <c:chart>
    <c:plotArea>
      <c:barChart>
        <c:barDir val="col"/>
        <c:grouping val="stacked"/>
        <c:varyColors val="0"/>
        <c:ser>
          <c:idx val="0"/>
          <c:order val="0"/>
          <c:tx>
            <c:v>BTG Pactual</c:v>
          </c:tx>
          <c:spPr>
            <a:solidFill xmlns:a="http://schemas.openxmlformats.org/drawingml/2006/main">
              <a:srgbClr val="1D408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31.16523551990001</c:v>
              </c:pt>
              <c:pt idx="1">
                <c:v>33.64749310927</c:v>
              </c:pt>
              <c:pt idx="2">
                <c:v>34.188413197189995</c:v>
              </c:pt>
              <c:pt idx="3">
                <c:v>52.201104080029985</c:v>
              </c:pt>
            </c:numLit>
          </c:val>
        </c:ser>
        <c:ser>
          <c:idx val="1"/>
          <c:order val="1"/>
          <c:tx>
            <c:v>Itaú</c:v>
          </c:tx>
          <c:spPr>
            <a:solidFill xmlns:a="http://schemas.openxmlformats.org/drawingml/2006/main">
              <a:srgbClr val="FF55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4.3629141675</c:v>
              </c:pt>
              <c:pt idx="1">
                <c:v>4.96984899401</c:v>
              </c:pt>
              <c:pt idx="2">
                <c:v>14.07980603803</c:v>
              </c:pt>
              <c:pt idx="3">
                <c:v>11.74979193425</c:v>
              </c:pt>
            </c:numLit>
          </c:val>
        </c:ser>
        <c:ser>
          <c:idx val="2"/>
          <c:order val="2"/>
          <c:tx>
            <c:v>Santander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9.341118916700001</c:v>
              </c:pt>
              <c:pt idx="1">
                <c:v>13.862349673500002</c:v>
              </c:pt>
              <c:pt idx="2">
                <c:v>13.358226244070002</c:v>
              </c:pt>
              <c:pt idx="3">
                <c:v>13.835289126020001</c:v>
              </c:pt>
            </c:numLit>
          </c:val>
        </c:ser>
        <c:ser>
          <c:idx val="3"/>
          <c:order val="3"/>
          <c:tx>
            <c:v>Bradesco</c:v>
          </c:tx>
          <c:spPr>
            <a:solidFill xmlns:a="http://schemas.openxmlformats.org/drawingml/2006/main">
              <a:srgbClr val="454A4F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0.6403486231000001</c:v>
              </c:pt>
              <c:pt idx="1">
                <c:v>1.11949597452</c:v>
              </c:pt>
              <c:pt idx="2">
                <c:v>1.66454381844</c:v>
              </c:pt>
              <c:pt idx="3">
                <c:v>1.88389156603</c:v>
              </c:pt>
            </c:numLit>
          </c:val>
        </c:ser>
        <c:ser>
          <c:idx val="4"/>
          <c:order val="4"/>
          <c:tx>
            <c:v>Banco do Brasil</c:v>
          </c:tx>
          <c:spPr>
            <a:solidFill xmlns:a="http://schemas.openxmlformats.org/drawingml/2006/main">
              <a:srgbClr val="D6A800"/>
            </a:solidFill>
          </c:spPr>
          <c:cat>
            <c:strLit>
              <c:ptCount val="4"/>
              <c:pt idx="0">
                <c:v>Dez/23</c:v>
              </c:pt>
              <c:pt idx="1">
                <c:v>Dez/24</c:v>
              </c:pt>
              <c:pt idx="2">
                <c:v>Dez/25*</c:v>
              </c:pt>
              <c:pt idx="3">
                <c:v>Jun/26</c:v>
              </c:pt>
            </c:strLit>
          </c:cat>
          <c:val>
            <c:numLit>
              <c:formatCode>0.0</c:formatCode>
              <c:ptCount val="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0.05108505535</c:v>
              </c:pt>
            </c:numLit>
          </c:val>
        </c:ser>
        <c:dLbls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13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0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administrado</c:v>
          </c:tx>
          <c:spPr>
            <a:solidFill xmlns:a="http://schemas.openxmlformats.org/drawingml/2006/main">
              <a:srgbClr val="2456D6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2456D6"/>
              </a:solidFill>
            </c:spPr>
          </c:dPt>
          <c:cat>
            <c:strLit>
              <c:ptCount val="2"/>
              <c:pt idx="0">
                <c:v>Singulare legado</c:v>
              </c:pt>
              <c:pt idx="1">
                <c:v>QI DTVM original</c:v>
              </c:pt>
            </c:strLit>
          </c:cat>
          <c:val>
            <c:numLit>
              <c:formatCode>0.0</c:formatCode>
              <c:ptCount val="2"/>
              <c:pt idx="0">
                <c:v>83.49494764802999</c:v>
              </c:pt>
              <c:pt idx="1">
                <c:v>3.5498953478999997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1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PL gerido</c:v>
          </c:tx>
          <c:spPr>
            <a:solidFill xmlns:a="http://schemas.openxmlformats.org/drawingml/2006/main">
              <a:srgbClr val="1D408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3787D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1D4080"/>
              </a:solidFill>
            </c:spPr>
          </c:dPt>
          <c:cat>
            <c:strLit>
              <c:ptCount val="3"/>
              <c:pt idx="0">
                <c:v>BTG Pactual</c:v>
              </c:pt>
              <c:pt idx="1">
                <c:v>Bradesco</c:v>
              </c:pt>
              <c:pt idx="2">
                <c:v>BTG sem coorte bancária</c:v>
              </c:pt>
            </c:strLit>
          </c:cat>
          <c:val>
            <c:numLit>
              <c:formatCode>0.0</c:formatCode>
              <c:ptCount val="3"/>
              <c:pt idx="0">
                <c:v>79.11922838494</c:v>
              </c:pt>
              <c:pt idx="1">
                <c:v>40.32919650402</c:v>
              </c:pt>
              <c:pt idx="2">
                <c:v>27.842201097290015</c:v>
              </c:pt>
            </c:numLit>
          </c:val>
        </c:ser>
        <c:dLbls>
          <c:spPr>
            <a:noFill xmlns:a="http://schemas.openxmlformats.org/drawingml/2006/main"/>
            <a:ln xmlns:a="http://schemas.openxmlformats.org/drawingml/2006/main" w="0">
              <a:noFill/>
              <a:prstDash val="solid"/>
            </a:ln>
          </c:spPr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0">
                  <a:solidFill>
                    <a:srgbClr val="FFFFFF"/>
                  </a:solidFill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0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2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0.1116763306350601</c:v>
              </c:pt>
              <c:pt idx="1">
                <c:v>0.6782283246807754</c:v>
              </c:pt>
              <c:pt idx="2">
                <c:v>0.0450938092637845</c:v>
              </c:pt>
              <c:pt idx="3">
                <c:v>0.0383225339956283</c:v>
              </c:pt>
              <c:pt idx="4">
                <c:v>0.0555263851137853</c:v>
              </c:pt>
              <c:pt idx="5">
                <c:v>0.1191594010470072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0.1390963456785791</c:v>
              </c:pt>
              <c:pt idx="1">
                <c:v>0.0085369657675623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0.0840999608667202</c:v>
              </c:pt>
              <c:pt idx="1">
                <c:v>0.0060998187147488</c:v>
              </c:pt>
              <c:pt idx="2">
                <c:v>0.0121996377120526</c:v>
              </c:pt>
              <c:pt idx="3">
                <c:v>0.1576375144502833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0.0146265486635242</c:v>
              </c:pt>
              <c:pt idx="1">
                <c:v>0.009628795711521</c:v>
              </c:pt>
              <c:pt idx="2">
                <c:v>0.0718716845273516</c:v>
              </c:pt>
              <c:pt idx="3">
                <c:v>0.0746723052215733</c:v>
              </c:pt>
              <c:pt idx="4">
                <c:v>0.253591336198019</c:v>
              </c:pt>
              <c:pt idx="5">
                <c:v>0.3084942496785164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0.0225383075558926</c:v>
              </c:pt>
              <c:pt idx="2">
                <c:v>0.1478667482986454</c:v>
              </c:pt>
              <c:pt idx="3">
                <c:v>0.1403255782349483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0.0452554036899924</c:v>
              </c:pt>
              <c:pt idx="1">
                <c:v>0.0014290426740686</c:v>
              </c:pt>
              <c:pt idx="2">
                <c:v>0.0938211651306432</c:v>
              </c:pt>
              <c:pt idx="3">
                <c:v>0.1266642208703755</c:v>
              </c:pt>
              <c:pt idx="4">
                <c:v>0.2292028070380465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0.0679529812812936</c:v>
              </c:pt>
              <c:pt idx="1">
                <c:v>0.0093365494192045</c:v>
              </c:pt>
              <c:pt idx="2">
                <c:v>0.0435322365450096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0.0265752299531593</c:v>
              </c:pt>
              <c:pt idx="1">
                <c:v>0.0407324745725011</c:v>
              </c:pt>
              <c:pt idx="2">
                <c:v>0.041430326101634</c:v>
              </c:pt>
              <c:pt idx="3">
                <c:v>0.0163428047472977</c:v>
              </c:pt>
              <c:pt idx="4">
                <c:v>0.006670926137507</c:v>
              </c:pt>
              <c:pt idx="5">
                <c:v>0.0543763088929269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0.3859616853035125</c:v>
              </c:pt>
              <c:pt idx="1">
                <c:v>0.188336941366163</c:v>
              </c:pt>
              <c:pt idx="2">
                <c:v>0.2466092951847047</c:v>
              </c:pt>
              <c:pt idx="3">
                <c:v>0.2518978769172617</c:v>
              </c:pt>
              <c:pt idx="4">
                <c:v>0.0646548691339009</c:v>
              </c:pt>
              <c:pt idx="5">
                <c:v>0.1217412105220637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3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0.0500957774921574</c:v>
              </c:pt>
              <c:pt idx="1">
                <c:v>0.0012525299906187</c:v>
              </c:pt>
              <c:pt idx="2">
                <c:v>0.2535264495160129</c:v>
              </c:pt>
              <c:pt idx="3">
                <c:v>0.0462427868594103</c:v>
              </c:pt>
              <c:pt idx="4">
                <c:v>0.2758716420451991</c:v>
              </c:pt>
              <c:pt idx="5">
                <c:v>0.3233036682243127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0.0469523725398685</c:v>
              </c:pt>
              <c:pt idx="1">
                <c:v>0.0225383075558926</c:v>
              </c:pt>
              <c:pt idx="2">
                <c:v>0.0909821352025632</c:v>
              </c:pt>
              <c:pt idx="3">
                <c:v>0.1379781899976271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0.0019669412013587</c:v>
              </c:pt>
              <c:pt idx="1">
                <c:v>0.0007064267423984</c:v>
              </c:pt>
              <c:pt idx="2">
                <c:v>0.0510761668947442</c:v>
              </c:pt>
              <c:pt idx="3">
                <c:v>0.0481316360628852</c:v>
              </c:pt>
              <c:pt idx="4">
                <c:v>0.1937323312865176</c:v>
              </c:pt>
              <c:pt idx="5">
                <c:v>0.2251967686157905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0.0220612214253641</c:v>
              </c:pt>
              <c:pt idx="1">
                <c:v>0</c:v>
              </c:pt>
              <c:pt idx="2">
                <c:v>0.0733873168779346</c:v>
              </c:pt>
              <c:pt idx="3">
                <c:v>0.1081333878129026</c:v>
              </c:pt>
              <c:pt idx="4">
                <c:v>0.0942677758415833</c:v>
              </c:pt>
              <c:pt idx="5">
                <c:v>0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0.006031214274127</c:v>
              </c:pt>
              <c:pt idx="1">
                <c:v>0.2254820036895443</c:v>
              </c:pt>
              <c:pt idx="2">
                <c:v>0.0044598510745928</c:v>
              </c:pt>
              <c:pt idx="3">
                <c:v>0.0024475116853231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0.0450847430474019</c:v>
              </c:pt>
              <c:pt idx="1">
                <c:v>0</c:v>
              </c:pt>
              <c:pt idx="2">
                <c:v>0.0171026340935401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0.0205891110813994</c:v>
              </c:pt>
              <c:pt idx="1">
                <c:v>0.0353488694975699</c:v>
              </c:pt>
              <c:pt idx="2">
                <c:v>0.0103281819969092</c:v>
              </c:pt>
              <c:pt idx="3">
                <c:v>0.0170236300688781</c:v>
              </c:pt>
              <c:pt idx="4">
                <c:v>0.0213932153161958</c:v>
              </c:pt>
              <c:pt idx="5">
                <c:v>0.0588066657932295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0.0124160176066826</c:v>
              </c:pt>
              <c:pt idx="1">
                <c:v>0</c:v>
              </c:pt>
              <c:pt idx="2">
                <c:v>0.0921407401194705</c:v>
              </c:pt>
              <c:pt idx="3">
                <c:v>0.0070214132164745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0.0056678347405107</c:v>
              </c:pt>
              <c:pt idx="1">
                <c:v>0.0058311829957581</c:v>
              </c:pt>
              <c:pt idx="2">
                <c:v>0.072361729110744</c:v>
              </c:pt>
              <c:pt idx="3">
                <c:v>0.0067039718840054</c:v>
              </c:pt>
              <c:pt idx="4">
                <c:v>0.0020264986777547</c:v>
              </c:pt>
              <c:pt idx="5">
                <c:v>0.0059850887644436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5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0.0081687112550485</c:v>
              </c:pt>
              <c:pt idx="1">
                <c:v>0.0031211412936085</c:v>
              </c:pt>
              <c:pt idx="2">
                <c:v>0.0018544989739266</c:v>
              </c:pt>
              <c:pt idx="3">
                <c:v>0.0644142962449783</c:v>
              </c:pt>
              <c:pt idx="4">
                <c:v>0.0996900292425515</c:v>
              </c:pt>
              <c:pt idx="5">
                <c:v>0.0090591090265077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0.7803731753534665</c:v>
              </c:pt>
              <c:pt idx="1">
                <c:v>0.7049428932208924</c:v>
              </c:pt>
              <c:pt idx="2">
                <c:v>0.3287800173132373</c:v>
              </c:pt>
              <c:pt idx="3">
                <c:v>0.5619031761675151</c:v>
              </c:pt>
              <c:pt idx="4">
                <c:v>0.3130185075901977</c:v>
              </c:pt>
              <c:pt idx="5">
                <c:v>0.3775980887540289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0.0005928799826141</c:v>
              </c:pt>
              <c:pt idx="1">
                <c:v>0.0007766450137169</c:v>
              </c:pt>
              <c:pt idx="2">
                <c:v>0.0040002788263241</c:v>
              </c:pt>
              <c:pt idx="3">
                <c:v>0</c:v>
              </c:pt>
              <c:pt idx="4">
                <c:v>0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4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0.1385988512304118</c:v>
              </c:pt>
              <c:pt idx="1">
                <c:v>0.0027057827718041</c:v>
              </c:pt>
              <c:pt idx="2">
                <c:v>0.2571654070720304</c:v>
              </c:pt>
              <c:pt idx="3">
                <c:v>0.1107504103483613</c:v>
              </c:pt>
              <c:pt idx="4">
                <c:v>0.2863850373099147</c:v>
              </c:pt>
              <c:pt idx="5">
                <c:v>0.3313177990979622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0.1110650498414056</c:v>
              </c:pt>
              <c:pt idx="1">
                <c:v>0.6759912968773222</c:v>
              </c:pt>
              <c:pt idx="2">
                <c:v>0.0451499232981444</c:v>
              </c:pt>
              <c:pt idx="3">
                <c:v>0.0382941953359548</c:v>
              </c:pt>
              <c:pt idx="4">
                <c:v>0.0500143231646444</c:v>
              </c:pt>
              <c:pt idx="5">
                <c:v>0.1184983159999287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0.0367401725104139</c:v>
              </c:pt>
              <c:pt idx="1">
                <c:v>0.0271351448333965</c:v>
              </c:pt>
              <c:pt idx="2">
                <c:v>0.1734502780656785</c:v>
              </c:pt>
              <c:pt idx="3">
                <c:v>0.0746723052215733</c:v>
              </c:pt>
              <c:pt idx="4">
                <c:v>0.254399426087156</c:v>
              </c:pt>
              <c:pt idx="5">
                <c:v>0.3092763527579982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0.0901371033135809</c:v>
              </c:pt>
              <c:pt idx="1">
                <c:v>0.0060998187147488</c:v>
              </c:pt>
              <c:pt idx="2">
                <c:v>0.0338901250913308</c:v>
              </c:pt>
              <c:pt idx="3">
                <c:v>0.1662834134085645</c:v>
              </c:pt>
              <c:pt idx="4">
                <c:v>0.1003776283557518</c:v>
              </c:pt>
              <c:pt idx="5">
                <c:v>0.0466955779633413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0.0600546511336937</c:v>
              </c:pt>
              <c:pt idx="1">
                <c:v>0.0170780158717631</c:v>
              </c:pt>
              <c:pt idx="2">
                <c:v>0.1117385096852637</c:v>
              </c:pt>
              <c:pt idx="3">
                <c:v>0.1399668200066018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0.0341699412912885</c:v>
              </c:pt>
              <c:pt idx="1">
                <c:v>0.0014290426740686</c:v>
              </c:pt>
              <c:pt idx="2">
                <c:v>0.0924387555066889</c:v>
              </c:pt>
              <c:pt idx="3">
                <c:v>0.1266642208703755</c:v>
              </c:pt>
              <c:pt idx="4">
                <c:v>0.1377649003513394</c:v>
              </c:pt>
              <c:pt idx="5">
                <c:v>0.0097144159325523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5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0.0766621333152516</c:v>
              </c:pt>
              <c:pt idx="1">
                <c:v>0.0001847303014918</c:v>
              </c:pt>
              <c:pt idx="2">
                <c:v>1.9023858238375103E-05</c:v>
              </c:pt>
              <c:pt idx="3">
                <c:v>0.0013441224672684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0.0390778868680176</c:v>
              </c:pt>
              <c:pt idx="1">
                <c:v>0.0308583999379698</c:v>
              </c:pt>
              <c:pt idx="2">
                <c:v>0.0377896853506274</c:v>
              </c:pt>
              <c:pt idx="3">
                <c:v>0.0003689936710498</c:v>
              </c:pt>
              <c:pt idx="4">
                <c:v>0.0030735686210584</c:v>
              </c:pt>
              <c:pt idx="5">
                <c:v>0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0.0529133378830142</c:v>
              </c:pt>
              <c:pt idx="1">
                <c:v>0.0093365494192045</c:v>
              </c:pt>
              <c:pt idx="2">
                <c:v>0.0171026340935401</c:v>
              </c:pt>
              <c:pt idx="3">
                <c:v>0.0006615413000011</c:v>
              </c:pt>
              <c:pt idx="4">
                <c:v>0</c:v>
              </c:pt>
              <c:pt idx="5">
                <c:v>0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5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0.0256229759264469</c:v>
              </c:pt>
              <c:pt idx="1">
                <c:v>0.0042743795995927</c:v>
              </c:pt>
              <c:pt idx="2">
                <c:v>0.0026200048135162</c:v>
              </c:pt>
              <c:pt idx="3">
                <c:v>0.0823562202432192</c:v>
              </c:pt>
              <c:pt idx="4">
                <c:v>0.000517442092016</c:v>
              </c:pt>
              <c:pt idx="5">
                <c:v>0.0084504260439428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0.3241701231603555</c:v>
              </c:pt>
              <c:pt idx="1">
                <c:v>0.2115480334239259</c:v>
              </c:pt>
              <c:pt idx="2">
                <c:v>0.160647830710761</c:v>
              </c:pt>
              <c:pt idx="3">
                <c:v>0.2568686718762569</c:v>
              </c:pt>
              <c:pt idx="4">
                <c:v>0.1673666661701728</c:v>
              </c:pt>
              <c:pt idx="5">
                <c:v>0.1759965013825875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-0.05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5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5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5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6"/>
              <c:pt idx="0">
                <c:v>Outros
Multicarteira</c:v>
              </c:pt>
              <c:pt idx="1">
                <c:v>Fomento
Fomento Mercantil</c:v>
              </c:pt>
              <c:pt idx="2">
                <c:v>Agro
Recebíveis comerciais</c:v>
              </c:pt>
              <c:pt idx="3">
                <c:v>Financeiro
Multicarteira</c:v>
              </c:pt>
              <c:pt idx="4">
                <c:v>Financeiro
Crédito pessoal</c:v>
              </c:pt>
              <c:pt idx="5">
                <c:v>Financeiro
Crédito Consignado</c:v>
              </c:pt>
            </c:strLit>
          </c:cat>
          <c:val>
            <c:numLit>
              <c:formatCode>0.0%</c:formatCode>
              <c:ptCount val="6"/>
              <c:pt idx="0">
                <c:v>0.0107877735261191</c:v>
              </c:pt>
              <c:pt idx="1">
                <c:v>0.0133588055747116</c:v>
              </c:pt>
              <c:pt idx="2">
                <c:v>0.0679878224541797</c:v>
              </c:pt>
              <c:pt idx="3">
                <c:v>0.0017690852507729</c:v>
              </c:pt>
              <c:pt idx="4">
                <c:v>0.0001010078479461</c:v>
              </c:pt>
              <c:pt idx="5">
                <c:v>5.061082168693914E-05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8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713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35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% fundos</c:v>
          </c:tx>
          <c:spPr>
            <a:solidFill xmlns:a="http://schemas.openxmlformats.org/drawingml/2006/main">
              <a:srgbClr val="D7DADD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0.08029197080291971</c:v>
              </c:pt>
              <c:pt idx="1">
                <c:v>0.007770190722863198</c:v>
              </c:pt>
              <c:pt idx="2">
                <c:v>0.8102189781021898</c:v>
              </c:pt>
              <c:pt idx="3">
                <c:v>0.009182952672474688</c:v>
              </c:pt>
              <c:pt idx="4">
                <c:v>0.07558276430421473</c:v>
              </c:pt>
              <c:pt idx="5">
                <c:v>0.016953143395337884</c:v>
              </c:pt>
            </c:numLit>
          </c:val>
        </c:ser>
        <c:ser>
          <c:idx val="1"/>
          <c:order val="1"/>
          <c:tx>
            <c:v>% PL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6"/>
              <c:pt idx="0">
                <c:v>Monoestrutura</c:v>
              </c:pt>
              <c:pt idx="1">
                <c:v>Adm. + Gestão</c:v>
              </c:pt>
              <c:pt idx="2">
                <c:v>Adm. + Custódia</c:v>
              </c:pt>
              <c:pt idx="3">
                <c:v>Gestão + Custódia</c:v>
              </c:pt>
              <c:pt idx="4">
                <c:v>Três distintos</c:v>
              </c:pt>
              <c:pt idx="5">
                <c:v>Dados incompletos</c:v>
              </c:pt>
            </c:strLit>
          </c:cat>
          <c:val>
            <c:numLit>
              <c:formatCode>0.0%</c:formatCode>
              <c:ptCount val="6"/>
              <c:pt idx="0">
                <c:v>0.3566815952743106</c:v>
              </c:pt>
              <c:pt idx="1">
                <c:v>0.025023574308591645</c:v>
              </c:pt>
              <c:pt idx="2">
                <c:v>0.5461799583736618</c:v>
              </c:pt>
              <c:pt idx="3">
                <c:v>0.008546199474819226</c:v>
              </c:pt>
              <c:pt idx="4">
                <c:v>0.051578174945170883</c:v>
              </c:pt>
              <c:pt idx="5">
                <c:v>0.011990497623445616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88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8D9399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63">
                <a:solidFill>
                  <a:srgbClr val="73787D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900">
              <a:solidFill>
                <a:srgbClr val="73787D"/>
              </a:solidFill>
            </a:defRPr>
          </a:pPr>
        </a:p>
      </c:txPr>
    </c:legend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dLbls>
            <c:dLbl>
              <c:idx val="0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95,4 bi
1.009 · R$ 95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116,9 bi
1.473 · R$ 79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>
                <c:rich>
                  <a:bodyPr xmlns:a="http://schemas.openxmlformats.org/drawingml/2006/main"/>
                  <a:lstStyle xmlns:a="http://schemas.openxmlformats.org/drawingml/2006/main"/>
                  <a:p xmlns:a="http://schemas.openxmlformats.org/drawingml/2006/main">
                    <a:r>
                      <a:rPr sz="713" b="1">
                        <a:solidFill>
                          <a:srgbClr val="151515"/>
                        </a:solidFill>
                      </a:rPr>
                      <a:t>65,5 bi
771 · R$ 85 mi</a:t>
                    </a:r>
                  </a:p>
                </c:rich>
              </c:tx>
              <c:txPr>
                <a:bodyPr xmlns:a="http://schemas.openxmlformats.org/drawingml/2006/main" anchorCtr="1"/>
                <a:lstStyle xmlns:a="http://schemas.openxmlformats.org/drawingml/2006/main"/>
                <a:p xmlns:a="http://schemas.openxmlformats.org/drawingml/2006/main">
                  <a:pPr>
                    <a:defRPr sz="713" b="1">
                      <a:solidFill>
                        <a:srgbClr val="151515"/>
                      </a:solidFill>
                    </a:defRPr>
                  </a:pPr>
                </a:p>
              </c:txPr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2026YTD</c:v>
              </c:pt>
            </c:strLit>
          </c:cat>
          <c:val>
            <c:numLit>
              <c:formatCode>0.0</c:formatCode>
              <c:ptCount val="3"/>
              <c:pt idx="0">
                <c:v>95.41672613375</c:v>
              </c:pt>
              <c:pt idx="1">
                <c:v>116.92131905477001</c:v>
              </c:pt>
              <c:pt idx="2">
                <c:v>65.48811898356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7.xml><?xml version="1.0" encoding="utf-8"?>
<c:chartSpace xmlns:c="http://schemas.openxmlformats.org/drawingml/2006/chart">
  <c:lang val="en-US"/>
  <c:chart>
    <c:plotArea>
      <c:scatterChart>
        <c:scatterStyle val="line"/>
        <c:ser>
          <c:idx val="0"/>
          <c:order val="0"/>
          <c:tx>
            <c:v>2024</c:v>
          </c:tx>
          <c:spPr>
            <a:ln xmlns:a="http://schemas.openxmlformats.org/drawingml/2006/main" w="19050">
              <a:solidFill>
                <a:srgbClr val="8D9399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3.5776889819499997</c:v>
              </c:pt>
              <c:pt idx="1">
                <c:v>6.31697433342</c:v>
              </c:pt>
              <c:pt idx="2">
                <c:v>12.75231637649</c:v>
              </c:pt>
              <c:pt idx="3">
                <c:v>18.982994111559996</c:v>
              </c:pt>
              <c:pt idx="4">
                <c:v>35.57797349489</c:v>
              </c:pt>
              <c:pt idx="5">
                <c:v>40.869510061910006</c:v>
              </c:pt>
              <c:pt idx="6">
                <c:v>49.369269147820006</c:v>
              </c:pt>
              <c:pt idx="7">
                <c:v>54.50517684065001</c:v>
              </c:pt>
              <c:pt idx="8">
                <c:v>59.275357674750005</c:v>
              </c:pt>
              <c:pt idx="9">
                <c:v>68.67479071153001</c:v>
              </c:pt>
              <c:pt idx="10">
                <c:v>80.61445578144</c:v>
              </c:pt>
              <c:pt idx="11">
                <c:v>95.41672613375</c:v>
              </c:pt>
            </c:numLit>
          </c:yVal>
        </c:ser>
        <c:ser>
          <c:idx val="1"/>
          <c:order val="1"/>
          <c:tx>
            <c:v>2025</c:v>
          </c:tx>
          <c:spPr>
            <a:ln xmlns:a="http://schemas.openxmlformats.org/drawingml/2006/main" w="20955">
              <a:solidFill>
                <a:srgbClr val="30353A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12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  <c:pt idx="6">
                <c:v>6</c:v>
              </c:pt>
              <c:pt idx="7">
                <c:v>7</c:v>
              </c:pt>
              <c:pt idx="8">
                <c:v>8</c:v>
              </c:pt>
              <c:pt idx="9">
                <c:v>9</c:v>
              </c:pt>
              <c:pt idx="10">
                <c:v>10</c:v>
              </c:pt>
              <c:pt idx="11">
                <c:v>11</c:v>
              </c:pt>
            </c:numLit>
          </c:xVal>
          <c:yVal>
            <c:numLit>
              <c:formatCode>0.0</c:formatCode>
              <c:ptCount val="12"/>
              <c:pt idx="0">
                <c:v>4.69157717423</c:v>
              </c:pt>
              <c:pt idx="1">
                <c:v>13.28230156707</c:v>
              </c:pt>
              <c:pt idx="2">
                <c:v>21.89222074001</c:v>
              </c:pt>
              <c:pt idx="3">
                <c:v>36.243054840190005</c:v>
              </c:pt>
              <c:pt idx="4">
                <c:v>44.91558778326</c:v>
              </c:pt>
              <c:pt idx="5">
                <c:v>57.15870696836</c:v>
              </c:pt>
              <c:pt idx="6">
                <c:v>64.14446989868</c:v>
              </c:pt>
              <c:pt idx="7">
                <c:v>70.52665275716001</c:v>
              </c:pt>
              <c:pt idx="8">
                <c:v>78.53187842665001</c:v>
              </c:pt>
              <c:pt idx="9">
                <c:v>90.04350947167</c:v>
              </c:pt>
              <c:pt idx="10">
                <c:v>100.76052553320001</c:v>
              </c:pt>
              <c:pt idx="11">
                <c:v>116.92131905477002</c:v>
              </c:pt>
            </c:numLit>
          </c:yVal>
        </c:ser>
        <c:ser>
          <c:idx val="2"/>
          <c:order val="2"/>
          <c:tx>
            <c:v>2026</c:v>
          </c:tx>
          <c:spPr>
            <a:ln xmlns:a="http://schemas.openxmlformats.org/drawingml/2006/main" w="28575">
              <a:solidFill>
                <a:srgbClr val="EC7000"/>
              </a:solidFill>
              <a:prstDash val="solid"/>
            </a:ln>
          </c:spPr>
          <c:marker>
            <c:symbol val="none"/>
          </c:marker>
          <c:xVal>
            <c:numLit>
              <c:formatCode>General</c:formatCode>
              <c:ptCount val="6"/>
              <c:pt idx="0">
                <c:v>0</c:v>
              </c:pt>
              <c:pt idx="1">
                <c:v>1</c:v>
              </c:pt>
              <c:pt idx="2">
                <c:v>2</c:v>
              </c:pt>
              <c:pt idx="3">
                <c:v>3</c:v>
              </c:pt>
              <c:pt idx="4">
                <c:v>4</c:v>
              </c:pt>
              <c:pt idx="5">
                <c:v>5</c:v>
              </c:pt>
            </c:numLit>
          </c:xVal>
          <c:yVal>
            <c:numLit>
              <c:formatCode>0.0</c:formatCode>
              <c:ptCount val="6"/>
              <c:pt idx="0">
                <c:v>8.415778112109999</c:v>
              </c:pt>
              <c:pt idx="1">
                <c:v>15.828976040429998</c:v>
              </c:pt>
              <c:pt idx="2">
                <c:v>27.564315847659994</c:v>
              </c:pt>
              <c:pt idx="3">
                <c:v>44.609140465989995</c:v>
              </c:pt>
              <c:pt idx="4">
                <c:v>51.475115157089995</c:v>
              </c:pt>
              <c:pt idx="5">
                <c:v>65.48811898356</c:v>
              </c:pt>
            </c:numLit>
          </c:yVal>
        </c:ser>
        <c:axId val="48650112"/>
        <c:axId val="48672768"/>
      </c:scatterChart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8D9399"/>
                </a:solidFill>
              </a:defRPr>
            </a:pPr>
          </a:p>
        </c:txPr>
        <c:crossAx val="48650112"/>
      </c:valAx>
      <c:valAx>
        <c:axId val="48650112"/>
        <c:scaling>
          <c:orientation val="minMax"/>
          <c:max val="11"/>
          <c:min val="0"/>
        </c:scaling>
        <c:delete val="0"/>
        <c:axPos val="b"/>
        <c:numFmt formatCode="General"/>
        <c:majorTickMark val="none"/>
        <c:minorTickMark val="none"/>
        <c:tickLblPos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72768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8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0.2289395441030723</c:v>
              </c:pt>
              <c:pt idx="1">
                <c:v>0.2348860257680872</c:v>
              </c:pt>
              <c:pt idx="2">
                <c:v>0.1734390485629336</c:v>
              </c:pt>
              <c:pt idx="3">
                <c:v>0.1565906838453915</c:v>
              </c:pt>
              <c:pt idx="4">
                <c:v>0.0931615460852329</c:v>
              </c:pt>
              <c:pt idx="5">
                <c:v>0.0822596630327056</c:v>
              </c:pt>
              <c:pt idx="6">
                <c:v>0.0307234886025768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0.2376103190767141</c:v>
              </c:pt>
              <c:pt idx="1">
                <c:v>0.2545824847250509</c:v>
              </c:pt>
              <c:pt idx="2">
                <c:v>0.1629327902240326</c:v>
              </c:pt>
              <c:pt idx="3">
                <c:v>0.1575016972165648</c:v>
              </c:pt>
              <c:pt idx="4">
                <c:v>0.0950441276306856</c:v>
              </c:pt>
              <c:pt idx="5">
                <c:v>0.0678886625933469</c:v>
              </c:pt>
              <c:pt idx="6">
                <c:v>0.0244399185336048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0.2399481193255512</c:v>
              </c:pt>
              <c:pt idx="1">
                <c:v>0.2684824902723735</c:v>
              </c:pt>
              <c:pt idx="2">
                <c:v>0.1530479896238651</c:v>
              </c:pt>
              <c:pt idx="3">
                <c:v>0.1569390402075227</c:v>
              </c:pt>
              <c:pt idx="4">
                <c:v>0.0933852140077821</c:v>
              </c:pt>
              <c:pt idx="5">
                <c:v>0.059662775616083</c:v>
              </c:pt>
              <c:pt idx="6">
                <c:v>0.0285343709468223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39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0.0103321633887131</c:v>
              </c:pt>
              <c:pt idx="1">
                <c:v>0.0361313295137315</c:v>
              </c:pt>
              <c:pt idx="2">
                <c:v>0.0618859371549046</c:v>
              </c:pt>
              <c:pt idx="3">
                <c:v>0.1088463666507672</c:v>
              </c:pt>
              <c:pt idx="4">
                <c:v>0.1257652142029994</c:v>
              </c:pt>
              <c:pt idx="5">
                <c:v>0.2452642827460449</c:v>
              </c:pt>
              <c:pt idx="6">
                <c:v>0.411774706342839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0.011730951363519</c:v>
              </c:pt>
              <c:pt idx="1">
                <c:v>0.0474259703898181</c:v>
              </c:pt>
              <c:pt idx="2">
                <c:v>0.0704715892035931</c:v>
              </c:pt>
              <c:pt idx="3">
                <c:v>0.1291117427322091</c:v>
              </c:pt>
              <c:pt idx="4">
                <c:v>0.1527533319156595</c:v>
              </c:pt>
              <c:pt idx="5">
                <c:v>0.2413792875044426</c:v>
              </c:pt>
              <c:pt idx="6">
                <c:v>0.3471271268907585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0%</c:formatCode>
              <c:ptCount val="7"/>
              <c:pt idx="0">
                <c:v>0.0122362463084512</c:v>
              </c:pt>
              <c:pt idx="1">
                <c:v>0.0464655965907937</c:v>
              </c:pt>
              <c:pt idx="2">
                <c:v>0.0609833624673594</c:v>
              </c:pt>
              <c:pt idx="3">
                <c:v>0.1209441922159701</c:v>
              </c:pt>
              <c:pt idx="4">
                <c:v>0.1441593207615259</c:v>
              </c:pt>
              <c:pt idx="5">
                <c:v>0.1929168497919684</c:v>
              </c:pt>
              <c:pt idx="6">
                <c:v>0.4222944318639312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0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2024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985861204.43</c:v>
              </c:pt>
              <c:pt idx="1">
                <c:v>3447533173.06</c:v>
              </c:pt>
              <c:pt idx="2">
                <c:v>5904953517.04</c:v>
              </c:pt>
              <c:pt idx="3">
                <c:v>10385763957.37</c:v>
              </c:pt>
              <c:pt idx="4">
                <c:v>12000105000.76</c:v>
              </c:pt>
              <c:pt idx="5">
                <c:v>23402314897.17</c:v>
              </c:pt>
              <c:pt idx="6">
                <c:v>39290194383.92</c:v>
              </c:pt>
            </c:numLit>
          </c:val>
        </c:ser>
        <c:ser>
          <c:idx val="1"/>
          <c:order val="1"/>
          <c:tx>
            <c:v>2025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1371598307.19</c:v>
              </c:pt>
              <c:pt idx="1">
                <c:v>5545107015.43</c:v>
              </c:pt>
              <c:pt idx="2">
                <c:v>8239631165.57</c:v>
              </c:pt>
              <c:pt idx="3">
                <c:v>15095915265.71</c:v>
              </c:pt>
              <c:pt idx="4">
                <c:v>17860121057.590004</c:v>
              </c:pt>
              <c:pt idx="5">
                <c:v>28222384687.519997</c:v>
              </c:pt>
              <c:pt idx="6">
                <c:v>40586561555.76</c:v>
              </c:pt>
            </c:numLit>
          </c:val>
        </c:ser>
        <c:ser>
          <c:idx val="2"/>
          <c:order val="2"/>
          <c:tx>
            <c:v>Jan–jun/26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7"/>
              <c:pt idx="0">
                <c:v>&lt; R$ 10</c:v>
              </c:pt>
              <c:pt idx="1">
                <c:v>R$ 10–25</c:v>
              </c:pt>
              <c:pt idx="2">
                <c:v>R$ 25–50</c:v>
              </c:pt>
              <c:pt idx="3">
                <c:v>R$ 50–100</c:v>
              </c:pt>
              <c:pt idx="4">
                <c:v>R$ 100–200</c:v>
              </c:pt>
              <c:pt idx="5">
                <c:v>R$ 200–500</c:v>
              </c:pt>
              <c:pt idx="6">
                <c:v>≥ R$ 500</c:v>
              </c:pt>
            </c:strLit>
          </c:cat>
          <c:val>
            <c:numLit>
              <c:formatCode>0.0,,,</c:formatCode>
              <c:ptCount val="7"/>
              <c:pt idx="0">
                <c:v>801328754.1599998</c:v>
              </c:pt>
              <c:pt idx="1">
                <c:v>3042944518.1800003</c:v>
              </c:pt>
              <c:pt idx="2">
                <c:v>3993685697.28</c:v>
              </c:pt>
              <c:pt idx="3">
                <c:v>7920407650.21</c:v>
              </c:pt>
              <c:pt idx="4">
                <c:v>9440722750.62</c:v>
              </c:pt>
              <c:pt idx="5">
                <c:v>12633761613.11</c:v>
              </c:pt>
              <c:pt idx="6">
                <c:v>27655268000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0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55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70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1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NÚMERO DE OFERTAS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</c:formatCode>
              <c:ptCount val="3"/>
              <c:pt idx="0">
                <c:v>1009</c:v>
              </c:pt>
              <c:pt idx="1">
                <c:v>1473</c:v>
              </c:pt>
              <c:pt idx="2">
                <c:v>771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2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VOLUME REGISTRADO · R$ BI</c:v>
          </c:tx>
          <c:spPr>
            <a:solidFill xmlns:a="http://schemas.openxmlformats.org/drawingml/2006/main">
              <a:srgbClr val="30353A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8D9399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30353A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EC7000"/>
              </a:solidFill>
            </c:spPr>
          </c:dPt>
          <c:cat>
            <c:strLit>
              <c:ptCount val="3"/>
              <c:pt idx="0">
                <c:v>2024FY</c:v>
              </c:pt>
              <c:pt idx="1">
                <c:v>2025FY</c:v>
              </c:pt>
              <c:pt idx="2">
                <c:v>2026 jan–jun</c:v>
              </c:pt>
            </c:strLit>
          </c:cat>
          <c:val>
            <c:numLit>
              <c:formatCode>0.0,,,</c:formatCode>
              <c:ptCount val="3"/>
              <c:pt idx="0">
                <c:v>95416726133.75</c:v>
              </c:pt>
              <c:pt idx="1">
                <c:v>116921319054.77</c:v>
              </c:pt>
              <c:pt idx="2">
                <c:v>65488118983.56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690" b="1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E7E9EB"/>
              </a:solidFill>
              <a:prstDash val="solid"/>
            </a:ln>
          </c:spPr>
        </c:majorGridlines>
        <c:numFmt formatCode="0.0,,,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8D9399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12</c:v>
              </c:pt>
              <c:pt idx="1">
                <c:v>22</c:v>
              </c:pt>
              <c:pt idx="2">
                <c:v>737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21</c:v>
              </c:pt>
              <c:pt idx="1">
                <c:v>50</c:v>
              </c:pt>
              <c:pt idx="2">
                <c:v>1399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</c:formatCode>
              <c:ptCount val="3"/>
              <c:pt idx="0">
                <c:v>26</c:v>
              </c:pt>
              <c:pt idx="1">
                <c:v>38</c:v>
              </c:pt>
              <c:pt idx="2">
                <c:v>945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4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2026 jan–jun</c:v>
          </c:tx>
          <c:spPr>
            <a:solidFill xmlns:a="http://schemas.openxmlformats.org/drawingml/2006/main">
              <a:srgbClr val="EC7000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5854000000</c:v>
              </c:pt>
              <c:pt idx="1">
                <c:v>14299992000</c:v>
              </c:pt>
              <c:pt idx="2">
                <c:v>45334126983.56</c:v>
              </c:pt>
            </c:numLit>
          </c:val>
        </c:ser>
        <c:ser>
          <c:idx val="1"/>
          <c:order val="1"/>
          <c:tx>
            <c:v>2025FY</c:v>
          </c:tx>
          <c:spPr>
            <a:solidFill xmlns:a="http://schemas.openxmlformats.org/drawingml/2006/main">
              <a:srgbClr val="30353A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10114776653</c:v>
              </c:pt>
              <c:pt idx="1">
                <c:v>18248092653.59</c:v>
              </c:pt>
              <c:pt idx="2">
                <c:v>87985449748.18</c:v>
              </c:pt>
            </c:numLit>
          </c:val>
        </c:ser>
        <c:ser>
          <c:idx val="2"/>
          <c:order val="2"/>
          <c:tx>
            <c:v>2024FY</c:v>
          </c:tx>
          <c:spPr>
            <a:solidFill xmlns:a="http://schemas.openxmlformats.org/drawingml/2006/main">
              <a:srgbClr val="8D9399"/>
            </a:solidFill>
          </c:spPr>
          <c:cat>
            <c:strLit>
              <c:ptCount val="3"/>
              <c:pt idx="0">
                <c:v>Misto</c:v>
              </c:pt>
              <c:pt idx="1">
                <c:v>Garantia firme</c:v>
              </c:pt>
              <c:pt idx="2">
                <c:v>Melhores esforços</c:v>
              </c:pt>
            </c:strLit>
          </c:cat>
          <c:val>
            <c:numLit>
              <c:formatCode>0.0,,,</c:formatCode>
              <c:ptCount val="3"/>
              <c:pt idx="0">
                <c:v>12379296999.96</c:v>
              </c:pt>
              <c:pt idx="1">
                <c:v>13696583000</c:v>
              </c:pt>
              <c:pt idx="2">
                <c:v>69340846133.79001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563" b="0">
                  <a:solidFill>
                    <a:srgbClr val="151515"/>
                  </a:solidFill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7DADD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56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in val="0"/>
        </c:scaling>
        <c:delete val="0"/>
        <c:axPos val="b"/>
        <c:numFmt formatCode="0.0,,,"/>
        <c:majorTickMark val="none"/>
        <c:minorTickMark val="none"/>
        <c:spPr>
          <a:ln xmlns:a="http://schemas.openxmlformats.org/drawingml/2006/main" w="953">
            <a:solidFill>
              <a:srgbClr val="FFFFFF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00">
                <a:solidFill>
                  <a:srgbClr val="FFFFFF"/>
                </a:solidFill>
              </a:defRPr>
            </a:pPr>
          </a:p>
        </c:txPr>
        <c:crossAx val="48650112"/>
        <c:crossBetween val="between"/>
      </c:valAx>
      <c:spPr>
        <a:noFill xmlns:a="http://schemas.openxmlformats.org/drawingml/2006/main"/>
        <a:ln xmlns:a="http://schemas.openxmlformats.org/drawingml/2006/main" w="0">
          <a:noFill/>
          <a:prstDash val="solid"/>
        </a:ln>
      </c:spPr>
    </c:plotArea>
    <c:plotVisOnly val="1"/>
  </c:chart>
  <c:spPr>
    <a:noFill xmlns:a="http://schemas.openxmlformats.org/drawingml/2006/main"/>
    <a:ln xmlns:a="http://schemas.openxmlformats.org/drawingml/2006/main" w="0">
      <a:noFill/>
      <a:prstDash val="solid"/>
    </a:ln>
  </c:spPr>
</c:chartSpace>
</file>

<file path=ppt/slides/charts/chart45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0.6782283246807754</c:v>
              </c:pt>
              <c:pt idx="1">
                <c:v>0.2831240514453489</c:v>
              </c:pt>
              <c:pt idx="2">
                <c:v>0.1191594010470072</c:v>
              </c:pt>
              <c:pt idx="3">
                <c:v>0.0555263851137853</c:v>
              </c:pt>
              <c:pt idx="4">
                <c:v>0.0691691486679832</c:v>
              </c:pt>
              <c:pt idx="5">
                <c:v>0.0383225339956283</c:v>
              </c:pt>
              <c:pt idx="6">
                <c:v>0</c:v>
              </c:pt>
              <c:pt idx="7">
                <c:v>0.0450938092637845</c:v>
              </c:pt>
              <c:pt idx="8">
                <c:v>0</c:v>
              </c:pt>
              <c:pt idx="9">
                <c:v>0.2264353570509752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0.1116763306350601</c:v>
              </c:pt>
            </c:numLit>
          </c:val>
        </c:ser>
        <c:ser>
          <c:idx val="1"/>
          <c:order val="1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0.0085369657675623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0.1390963456785791</c:v>
              </c:pt>
            </c:numLit>
          </c:val>
        </c:ser>
        <c:ser>
          <c:idx val="2"/>
          <c:order val="2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0.1576375144502833</c:v>
              </c:pt>
              <c:pt idx="6">
                <c:v>0.0563502288601275</c:v>
              </c:pt>
              <c:pt idx="7">
                <c:v>0.0121996377120526</c:v>
              </c:pt>
              <c:pt idx="8">
                <c:v>0.0953592279385335</c:v>
              </c:pt>
              <c:pt idx="9">
                <c:v>0.2191987728818734</c:v>
              </c:pt>
              <c:pt idx="10">
                <c:v>0.0851975999676302</c:v>
              </c:pt>
              <c:pt idx="11">
                <c:v>0.0775017988341624</c:v>
              </c:pt>
              <c:pt idx="12">
                <c:v>0.0561734532046676</c:v>
              </c:pt>
              <c:pt idx="13">
                <c:v>0.0840999608667202</c:v>
              </c:pt>
            </c:numLit>
          </c:val>
        </c:ser>
        <c:ser>
          <c:idx val="3"/>
          <c:order val="3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0.009628795711521</c:v>
              </c:pt>
              <c:pt idx="1">
                <c:v>0.210187707644898</c:v>
              </c:pt>
              <c:pt idx="2">
                <c:v>0.3084942496785164</c:v>
              </c:pt>
              <c:pt idx="3">
                <c:v>0.253591336198019</c:v>
              </c:pt>
              <c:pt idx="4">
                <c:v>0</c:v>
              </c:pt>
              <c:pt idx="5">
                <c:v>0.0746723052215733</c:v>
              </c:pt>
              <c:pt idx="6">
                <c:v>0.2170108713330027</c:v>
              </c:pt>
              <c:pt idx="7">
                <c:v>0.0718716845273516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0.0533268146890519</c:v>
              </c:pt>
              <c:pt idx="13">
                <c:v>0.0146265486635242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-0.018"/>
                  <c:y val="0.00373374891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0.4931230015075811</c:v>
              </c:pt>
              <c:pt idx="5">
                <c:v>0.1403255782349483</c:v>
              </c:pt>
              <c:pt idx="6">
                <c:v>0</c:v>
              </c:pt>
              <c:pt idx="7">
                <c:v>0.1478667482986454</c:v>
              </c:pt>
              <c:pt idx="8">
                <c:v>0.1537184307008739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0.0089665861260677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0.2292028070380465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0.0938211651306432</c:v>
              </c:pt>
              <c:pt idx="8">
                <c:v>0.0222904487757394</c:v>
              </c:pt>
              <c:pt idx="9">
                <c:v>0.0947363671905799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0.0452554036899924</c:v>
              </c:pt>
            </c:numLit>
          </c:val>
        </c:ser>
        <c:ser>
          <c:idx val="6"/>
          <c:order val="6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.001549977204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0.0435322365450096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0.0679529812812936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0.0719893561435586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9"/>
          <c:order val="9"/>
          <c:tx>
            <c:v>Hemera</c:v>
          </c:tx>
          <c:spPr>
            <a:solidFill>
              <a:srgbClr val="30353A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0.0407324745725011</c:v>
              </c:pt>
              <c:pt idx="1">
                <c:v>0.0052736633265841</c:v>
              </c:pt>
              <c:pt idx="2">
                <c:v>0.0543763088929269</c:v>
              </c:pt>
              <c:pt idx="3">
                <c:v>0.006670926137507</c:v>
              </c:pt>
              <c:pt idx="4">
                <c:v>0</c:v>
              </c:pt>
              <c:pt idx="5">
                <c:v>0.0163428047472977</c:v>
              </c:pt>
              <c:pt idx="6">
                <c:v>0.0026085934051519</c:v>
              </c:pt>
              <c:pt idx="7">
                <c:v>0.041430326101634</c:v>
              </c:pt>
              <c:pt idx="8">
                <c:v>0.0646612509279826</c:v>
              </c:pt>
              <c:pt idx="9">
                <c:v>0</c:v>
              </c:pt>
              <c:pt idx="10">
                <c:v>0.088274982113552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0.0265752299531593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0.188336941366163</c:v>
              </c:pt>
              <c:pt idx="1">
                <c:v>0.1786693066876506</c:v>
              </c:pt>
              <c:pt idx="2">
                <c:v>0.1217412105220637</c:v>
              </c:pt>
              <c:pt idx="3">
                <c:v>0.0646548691339009</c:v>
              </c:pt>
              <c:pt idx="4">
                <c:v>0.3650060218993778</c:v>
              </c:pt>
              <c:pt idx="5">
                <c:v>0.2518978769172617</c:v>
              </c:pt>
              <c:pt idx="6">
                <c:v>0.4796422511001229</c:v>
              </c:pt>
              <c:pt idx="7">
                <c:v>0.2466092951847047</c:v>
              </c:pt>
              <c:pt idx="8">
                <c:v>0.2655837740268318</c:v>
              </c:pt>
              <c:pt idx="9">
                <c:v>0.1411084314958586</c:v>
              </c:pt>
              <c:pt idx="10">
                <c:v>0.2848443838437823</c:v>
              </c:pt>
              <c:pt idx="11">
                <c:v>0.6847170379852451</c:v>
              </c:pt>
              <c:pt idx="12">
                <c:v>0.286555225457034</c:v>
              </c:pt>
              <c:pt idx="13">
                <c:v>0.3859616853035125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showLegendKey val="0"/>
              <c:showVal val="0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6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9373735004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.014360856910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.017553400999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0.0012525299906187</c:v>
              </c:pt>
              <c:pt idx="1">
                <c:v>0</c:v>
              </c:pt>
              <c:pt idx="2">
                <c:v>0.3233036682243127</c:v>
              </c:pt>
              <c:pt idx="3">
                <c:v>0.2758716420451991</c:v>
              </c:pt>
              <c:pt idx="4">
                <c:v>0</c:v>
              </c:pt>
              <c:pt idx="5">
                <c:v>0.0462427868594103</c:v>
              </c:pt>
              <c:pt idx="6">
                <c:v>0</c:v>
              </c:pt>
              <c:pt idx="7">
                <c:v>0.2535264495160129</c:v>
              </c:pt>
              <c:pt idx="8">
                <c:v>0.1537184307008739</c:v>
              </c:pt>
              <c:pt idx="9">
                <c:v>0.0112782861788371</c:v>
              </c:pt>
              <c:pt idx="10">
                <c:v>0.0314890119720234</c:v>
              </c:pt>
              <c:pt idx="11">
                <c:v>0.0048931980001534</c:v>
              </c:pt>
              <c:pt idx="12">
                <c:v>0.0726718301479003</c:v>
              </c:pt>
              <c:pt idx="13">
                <c:v>0.0500957774921574</c:v>
              </c:pt>
            </c:numLit>
          </c:val>
        </c:ser>
        <c:ser>
          <c:idx val="1"/>
          <c:order val="1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"/>
                  <c:y val="0.0074783162314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0.0225383075558926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0.4116196761376808</c:v>
              </c:pt>
              <c:pt idx="5">
                <c:v>0.1379781899976271</c:v>
              </c:pt>
              <c:pt idx="6">
                <c:v>0</c:v>
              </c:pt>
              <c:pt idx="7">
                <c:v>0.0909821352025632</c:v>
              </c:pt>
              <c:pt idx="8">
                <c:v>0</c:v>
              </c:pt>
              <c:pt idx="9">
                <c:v>0</c:v>
              </c:pt>
              <c:pt idx="10">
                <c:v>0.0295771875973997</c:v>
              </c:pt>
              <c:pt idx="11">
                <c:v>0</c:v>
              </c:pt>
              <c:pt idx="12">
                <c:v>0.0089665861260677</c:v>
              </c:pt>
              <c:pt idx="13">
                <c:v>0.0469523725398685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"/>
                  <c:y val="0.00724335691682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0.0007064267423984</c:v>
              </c:pt>
              <c:pt idx="1">
                <c:v>0.0399878754183617</c:v>
              </c:pt>
              <c:pt idx="2">
                <c:v>0.2251967686157905</c:v>
              </c:pt>
              <c:pt idx="3">
                <c:v>0.1937323312865176</c:v>
              </c:pt>
              <c:pt idx="4">
                <c:v>0</c:v>
              </c:pt>
              <c:pt idx="5">
                <c:v>0.0481316360628852</c:v>
              </c:pt>
              <c:pt idx="6">
                <c:v>0.126791509057339</c:v>
              </c:pt>
              <c:pt idx="7">
                <c:v>0.0510761668947442</c:v>
              </c:pt>
              <c:pt idx="8">
                <c:v>0.046663448988578</c:v>
              </c:pt>
              <c:pt idx="9">
                <c:v>0.0029567138086895</c:v>
              </c:pt>
              <c:pt idx="10">
                <c:v>0.0090278528000783</c:v>
              </c:pt>
              <c:pt idx="11">
                <c:v>0</c:v>
              </c:pt>
              <c:pt idx="12">
                <c:v>0.0319409306110538</c:v>
              </c:pt>
              <c:pt idx="13">
                <c:v>0.0019669412013587</c:v>
              </c:pt>
            </c:numLit>
          </c:val>
        </c:ser>
        <c:ser>
          <c:idx val="3"/>
          <c:order val="3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0.018"/>
                  <c:y val="0.00303985273864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0.0106586751100265</c:v>
              </c:pt>
              <c:pt idx="2">
                <c:v>0</c:v>
              </c:pt>
              <c:pt idx="3">
                <c:v>0.0942677758415833</c:v>
              </c:pt>
              <c:pt idx="4">
                <c:v>0</c:v>
              </c:pt>
              <c:pt idx="5">
                <c:v>0.1081333878129026</c:v>
              </c:pt>
              <c:pt idx="6">
                <c:v>0</c:v>
              </c:pt>
              <c:pt idx="7">
                <c:v>0.0733873168779346</c:v>
              </c:pt>
              <c:pt idx="8">
                <c:v>0.0001522837473257</c:v>
              </c:pt>
              <c:pt idx="9">
                <c:v>0.005450294547657</c:v>
              </c:pt>
              <c:pt idx="10">
                <c:v>0</c:v>
              </c:pt>
              <c:pt idx="11">
                <c:v>0</c:v>
              </c:pt>
              <c:pt idx="12">
                <c:v>0.0014030424128084</c:v>
              </c:pt>
              <c:pt idx="13">
                <c:v>0.0220612214253641</c:v>
              </c:pt>
            </c:numLit>
          </c:val>
        </c:ser>
        <c:ser>
          <c:idx val="4"/>
          <c:order val="4"/>
          <c:tx>
            <c:v>Tercon Investimentos</c:v>
          </c:tx>
          <c:spPr>
            <a:solidFill>
              <a:srgbClr val="8D9399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0.2254820036895443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0.0024475116853231</c:v>
              </c:pt>
              <c:pt idx="6">
                <c:v>0</c:v>
              </c:pt>
              <c:pt idx="7">
                <c:v>0.0044598510745928</c:v>
              </c:pt>
              <c:pt idx="8">
                <c:v>0.0089359813995084</c:v>
              </c:pt>
              <c:pt idx="9">
                <c:v>0</c:v>
              </c:pt>
              <c:pt idx="10">
                <c:v>0.0115869717776985</c:v>
              </c:pt>
              <c:pt idx="11">
                <c:v>0</c:v>
              </c:pt>
              <c:pt idx="12">
                <c:v>0</c:v>
              </c:pt>
              <c:pt idx="13">
                <c:v>0.006031214274127</c:v>
              </c:pt>
            </c:numLit>
          </c:val>
        </c:ser>
        <c:ser>
          <c:idx val="5"/>
          <c:order val="5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0.1028786530413462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0.1004163448849682</c:v>
              </c:pt>
              <c:pt idx="10">
                <c:v>0</c:v>
              </c:pt>
              <c:pt idx="11">
                <c:v>0</c:v>
              </c:pt>
              <c:pt idx="12">
                <c:v>0.0258977954276094</c:v>
              </c:pt>
              <c:pt idx="13">
                <c:v>0.0450847430474019</c:v>
              </c:pt>
            </c:numLit>
          </c:val>
        </c:ser>
        <c:ser>
          <c:idx val="6"/>
          <c:order val="6"/>
          <c:tx>
            <c:v>Solis Investimentos</c:v>
          </c:tx>
          <c:spPr>
            <a:solidFill>
              <a:srgbClr val="BEC2C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.01498145723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0.0353488694975699</c:v>
              </c:pt>
              <c:pt idx="1">
                <c:v>0</c:v>
              </c:pt>
              <c:pt idx="2">
                <c:v>0.0588066657932295</c:v>
              </c:pt>
              <c:pt idx="3">
                <c:v>0.0213932153161958</c:v>
              </c:pt>
              <c:pt idx="4">
                <c:v>0</c:v>
              </c:pt>
              <c:pt idx="5">
                <c:v>0.0170236300688781</c:v>
              </c:pt>
              <c:pt idx="6">
                <c:v>0</c:v>
              </c:pt>
              <c:pt idx="7">
                <c:v>0.0103281819969092</c:v>
              </c:pt>
              <c:pt idx="8">
                <c:v>0.0471192664026394</c:v>
              </c:pt>
              <c:pt idx="9">
                <c:v>0</c:v>
              </c:pt>
              <c:pt idx="10">
                <c:v>0.0047678128094529</c:v>
              </c:pt>
              <c:pt idx="11">
                <c:v>0.0002506895357074</c:v>
              </c:pt>
              <c:pt idx="12">
                <c:v>0.0006624396052901</c:v>
              </c:pt>
              <c:pt idx="13">
                <c:v>0.0205891110813994</c:v>
              </c:pt>
            </c:numLit>
          </c:val>
        </c:ser>
        <c:ser>
          <c:idx val="7"/>
          <c:order val="7"/>
          <c:tx>
            <c:v>XP</c:v>
          </c:tx>
          <c:spPr>
            <a:solidFill>
              <a:srgbClr val="73787D"/>
            </a:solidFill>
          </c:spPr>
          <c:dLbls>
            <c:dLbl>
              <c:idx val="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0.008565772027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</c:v>
              </c:pt>
              <c:pt idx="1">
                <c:v>0.0888616776787807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0.0070214132164745</c:v>
              </c:pt>
              <c:pt idx="6">
                <c:v>0</c:v>
              </c:pt>
              <c:pt idx="7">
                <c:v>0.0921407401194705</c:v>
              </c:pt>
              <c:pt idx="8">
                <c:v>0</c:v>
              </c:pt>
              <c:pt idx="9">
                <c:v>0</c:v>
              </c:pt>
              <c:pt idx="10">
                <c:v>0.0111310339707986</c:v>
              </c:pt>
              <c:pt idx="11">
                <c:v>0</c:v>
              </c:pt>
              <c:pt idx="12">
                <c:v>0.0642625485190267</c:v>
              </c:pt>
              <c:pt idx="13">
                <c:v>0.0124160176066826</c:v>
              </c:pt>
            </c:numLit>
          </c:val>
        </c:ser>
        <c:ser>
          <c:idx val="8"/>
          <c:order val="8"/>
          <c:tx>
            <c:v>Integral Investimentos</c:v>
          </c:tx>
          <c:spPr>
            <a:solidFill>
              <a:srgbClr val="A7ACB0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.0063792149299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0.0058311829957581</c:v>
              </c:pt>
              <c:pt idx="1">
                <c:v>0</c:v>
              </c:pt>
              <c:pt idx="2">
                <c:v>0.0059850887644436</c:v>
              </c:pt>
              <c:pt idx="3">
                <c:v>0.0020264986777547</c:v>
              </c:pt>
              <c:pt idx="4">
                <c:v>0.3970784801516897</c:v>
              </c:pt>
              <c:pt idx="5">
                <c:v>0.0067039718840054</c:v>
              </c:pt>
              <c:pt idx="6">
                <c:v>0</c:v>
              </c:pt>
              <c:pt idx="7">
                <c:v>0.072361729110744</c:v>
              </c:pt>
              <c:pt idx="8">
                <c:v>0.0559076995390602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0.0056678347405107</c:v>
              </c:pt>
            </c:numLit>
          </c:val>
        </c:ser>
        <c:ser>
          <c:idx val="9"/>
          <c:order val="9"/>
          <c:tx>
            <c:v>Anga Administracao De Recursos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0.0025372364845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0.0031211412936085</c:v>
              </c:pt>
              <c:pt idx="1">
                <c:v>0</c:v>
              </c:pt>
              <c:pt idx="2">
                <c:v>0.0090591090265077</c:v>
              </c:pt>
              <c:pt idx="3">
                <c:v>0.0996900292425515</c:v>
              </c:pt>
              <c:pt idx="4">
                <c:v>0.0012378025558711</c:v>
              </c:pt>
              <c:pt idx="5">
                <c:v>0.0644142962449783</c:v>
              </c:pt>
              <c:pt idx="6">
                <c:v>0</c:v>
              </c:pt>
              <c:pt idx="7">
                <c:v>0.0018544989739266</c:v>
              </c:pt>
              <c:pt idx="8">
                <c:v>0</c:v>
              </c:pt>
              <c:pt idx="9">
                <c:v>0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0.0081687112550485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0.7049428932208924</c:v>
              </c:pt>
              <c:pt idx="1">
                <c:v>0.7576131187514845</c:v>
              </c:pt>
              <c:pt idx="2">
                <c:v>0.3775980887540289</c:v>
              </c:pt>
              <c:pt idx="3">
                <c:v>0.3130185075901977</c:v>
              </c:pt>
              <c:pt idx="4">
                <c:v>0.190064041154758</c:v>
              </c:pt>
              <c:pt idx="5">
                <c:v>0.5619031761675151</c:v>
              </c:pt>
              <c:pt idx="6">
                <c:v>0.7921503174998235</c:v>
              </c:pt>
              <c:pt idx="7">
                <c:v>0.3287800173132373</c:v>
              </c:pt>
              <c:pt idx="8">
                <c:v>0.6875028892220143</c:v>
              </c:pt>
              <c:pt idx="9">
                <c:v>0.803030339883502</c:v>
              </c:pt>
              <c:pt idx="10">
                <c:v>0.9024201290725482</c:v>
              </c:pt>
              <c:pt idx="11">
                <c:v>0.9948561124641392</c:v>
              </c:pt>
              <c:pt idx="12">
                <c:v>0.7941948271502433</c:v>
              </c:pt>
              <c:pt idx="13">
                <c:v>0.7803731753534665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.018"/>
                  <c:y val="-0.019611677493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-0.017999860586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0"/>
                  <c:y val="-0.019703560008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0.0007766450137169</c:v>
              </c:pt>
              <c:pt idx="1">
                <c:v>0</c:v>
              </c:pt>
              <c:pt idx="2">
                <c:v>5.061082168693914E-05</c:v>
              </c:pt>
              <c:pt idx="3">
                <c:v>0</c:v>
              </c:pt>
              <c:pt idx="4">
                <c:v>0</c:v>
              </c:pt>
              <c:pt idx="5">
                <c:v>0</c:v>
              </c:pt>
              <c:pt idx="6">
                <c:v>0</c:v>
              </c:pt>
              <c:pt idx="7">
                <c:v>0.0040002788263241</c:v>
              </c:pt>
              <c:pt idx="8">
                <c:v>0</c:v>
              </c:pt>
              <c:pt idx="9">
                <c:v>0.076868020696346</c:v>
              </c:pt>
              <c:pt idx="10">
                <c:v>0</c:v>
              </c:pt>
              <c:pt idx="11">
                <c:v>0</c:v>
              </c:pt>
              <c:pt idx="12">
                <c:v>0</c:v>
              </c:pt>
              <c:pt idx="13">
                <c:v>0.0005928799826141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charts/chart47.xml><?xml version="1.0" encoding="utf-8"?>
<c:chartSpace xmlns:a="http://schemas.openxmlformats.org/drawingml/2006/main" xmlns:c="http://schemas.openxmlformats.org/drawingml/2006/chart">
  <c:lang val="en-US"/>
  <c:chart>
    <c:plotArea>
      <c:barChart>
        <c:barDir val="col"/>
        <c:grouping val="percentStacked"/>
        <c:varyColors val="0"/>
        <c:ser>
          <c:idx val="0"/>
          <c:order val="0"/>
          <c:tx>
            <c:v>BTG Pactual</c:v>
          </c:tx>
          <c:spPr>
            <a:solidFill>
              <a:srgbClr val="1D4080"/>
            </a:solidFill>
          </c:spPr>
          <c:dLbls>
            <c:dLbl>
              <c:idx val="0"/>
              <c:layout>
                <c:manualLayout>
                  <c:x val="-0.018"/>
                  <c:y val="0.018647108614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-0.018"/>
                  <c:y val="0.010245386753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-0.018"/>
                  <c:y val="0.014885390261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.0165091640081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0.0027057827718041</c:v>
              </c:pt>
              <c:pt idx="1">
                <c:v>0</c:v>
              </c:pt>
              <c:pt idx="2">
                <c:v>0.3313177990979622</c:v>
              </c:pt>
              <c:pt idx="3">
                <c:v>0.2863850373099147</c:v>
              </c:pt>
              <c:pt idx="4">
                <c:v>0.0195092264928632</c:v>
              </c:pt>
              <c:pt idx="5">
                <c:v>0.1107504103483613</c:v>
              </c:pt>
              <c:pt idx="6">
                <c:v>0.0102292194766519</c:v>
              </c:pt>
              <c:pt idx="7">
                <c:v>0.2571654070720304</c:v>
              </c:pt>
              <c:pt idx="8">
                <c:v>0.0069816719837632</c:v>
              </c:pt>
              <c:pt idx="9">
                <c:v>0.0636220792622765</c:v>
              </c:pt>
              <c:pt idx="10">
                <c:v>0.0352039450932765</c:v>
              </c:pt>
              <c:pt idx="11">
                <c:v>0.0391221710404121</c:v>
              </c:pt>
              <c:pt idx="12">
                <c:v>0.269028508380686</c:v>
              </c:pt>
              <c:pt idx="13">
                <c:v>0.1385988512304118</c:v>
              </c:pt>
            </c:numLit>
          </c:val>
        </c:ser>
        <c:ser>
          <c:idx val="1"/>
          <c:order val="1"/>
          <c:tx>
            <c:v>QI Tech</c:v>
          </c:tx>
          <c:spPr>
            <a:solidFill>
              <a:srgbClr val="2456D6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0.6759912968773222</c:v>
              </c:pt>
              <c:pt idx="1">
                <c:v>0.2831240514453489</c:v>
              </c:pt>
              <c:pt idx="2">
                <c:v>0.1184983159999287</c:v>
              </c:pt>
              <c:pt idx="3">
                <c:v>0.0500143231646444</c:v>
              </c:pt>
              <c:pt idx="4">
                <c:v>0.0691691486679832</c:v>
              </c:pt>
              <c:pt idx="5">
                <c:v>0.0382941953359548</c:v>
              </c:pt>
              <c:pt idx="6">
                <c:v>0</c:v>
              </c:pt>
              <c:pt idx="7">
                <c:v>0.0451499232981444</c:v>
              </c:pt>
              <c:pt idx="8">
                <c:v>0</c:v>
              </c:pt>
              <c:pt idx="9">
                <c:v>0.1510800867413979</c:v>
              </c:pt>
              <c:pt idx="10">
                <c:v>0.0918908689514907</c:v>
              </c:pt>
              <c:pt idx="11">
                <c:v>0.0473805402449094</c:v>
              </c:pt>
              <c:pt idx="12">
                <c:v>0.2029820123277025</c:v>
              </c:pt>
              <c:pt idx="13">
                <c:v>0.1110650498414056</c:v>
              </c:pt>
            </c:numLit>
          </c:val>
        </c:ser>
        <c:ser>
          <c:idx val="2"/>
          <c:order val="2"/>
          <c:tx>
            <c:v>Oliveira Trust</c:v>
          </c:tx>
          <c:spPr>
            <a:solidFill>
              <a:srgbClr val="7A1F3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0.0271351448333965</c:v>
              </c:pt>
              <c:pt idx="1">
                <c:v>0.2481574168942679</c:v>
              </c:pt>
              <c:pt idx="2">
                <c:v>0.3092763527579982</c:v>
              </c:pt>
              <c:pt idx="3">
                <c:v>0.254399426087156</c:v>
              </c:pt>
              <c:pt idx="4">
                <c:v>0.014041110348548</c:v>
              </c:pt>
              <c:pt idx="5">
                <c:v>0.0746723052215733</c:v>
              </c:pt>
              <c:pt idx="6">
                <c:v>0.2448971414342989</c:v>
              </c:pt>
              <c:pt idx="7">
                <c:v>0.1734502780656785</c:v>
              </c:pt>
              <c:pt idx="8">
                <c:v>0.3321544424965538</c:v>
              </c:pt>
              <c:pt idx="9">
                <c:v>0.0268117805118336</c:v>
              </c:pt>
              <c:pt idx="10">
                <c:v>0.1026720112420221</c:v>
              </c:pt>
              <c:pt idx="11">
                <c:v>0</c:v>
              </c:pt>
              <c:pt idx="12">
                <c:v>0.0285286777700744</c:v>
              </c:pt>
              <c:pt idx="13">
                <c:v>0.0367401725104139</c:v>
              </c:pt>
            </c:numLit>
          </c:val>
        </c:ser>
        <c:ser>
          <c:idx val="3"/>
          <c:order val="3"/>
          <c:tx>
            <c:v>Daycoval</c:v>
          </c:tx>
          <c:spPr>
            <a:solidFill>
              <a:srgbClr val="BEC2C5"/>
            </a:solidFill>
          </c:spPr>
          <c:dLbls>
            <c:dLbl>
              <c:idx val="0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0.0060998187147488</c:v>
              </c:pt>
              <c:pt idx="1">
                <c:v>0.0314129103166631</c:v>
              </c:pt>
              <c:pt idx="2">
                <c:v>0.0466955779633413</c:v>
              </c:pt>
              <c:pt idx="3">
                <c:v>0.1003776283557518</c:v>
              </c:pt>
              <c:pt idx="4">
                <c:v>0.0518572977986845</c:v>
              </c:pt>
              <c:pt idx="5">
                <c:v>0.1662834134085645</c:v>
              </c:pt>
              <c:pt idx="6">
                <c:v>0.0563502288601275</c:v>
              </c:pt>
              <c:pt idx="7">
                <c:v>0.0338901250913308</c:v>
              </c:pt>
              <c:pt idx="8">
                <c:v>0.0925444086270469</c:v>
              </c:pt>
              <c:pt idx="9">
                <c:v>0.2191987728818734</c:v>
              </c:pt>
              <c:pt idx="10">
                <c:v>0.1894161385363026</c:v>
              </c:pt>
              <c:pt idx="11">
                <c:v>0.0775017988341624</c:v>
              </c:pt>
              <c:pt idx="12">
                <c:v>0.0561734532046676</c:v>
              </c:pt>
              <c:pt idx="13">
                <c:v>0.0901371033135809</c:v>
              </c:pt>
            </c:numLit>
          </c:val>
        </c:ser>
        <c:ser>
          <c:idx val="4"/>
          <c:order val="4"/>
          <c:tx>
            <c:v>Bradesco</c:v>
          </c:tx>
          <c:spPr>
            <a:solidFill>
              <a:srgbClr val="73787D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0.0170780158717631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0.4931230015075811</c:v>
              </c:pt>
              <c:pt idx="5">
                <c:v>0.1399668200066018</c:v>
              </c:pt>
              <c:pt idx="6">
                <c:v>0.1284482453683068</c:v>
              </c:pt>
              <c:pt idx="7">
                <c:v>0.1117385096852637</c:v>
              </c:pt>
              <c:pt idx="8">
                <c:v>0.1565332500123605</c:v>
              </c:pt>
              <c:pt idx="9">
                <c:v>0</c:v>
              </c:pt>
              <c:pt idx="10">
                <c:v>0.0295771875973997</c:v>
              </c:pt>
              <c:pt idx="11">
                <c:v>0.0012377170662472</c:v>
              </c:pt>
              <c:pt idx="12">
                <c:v>0.0337647230450451</c:v>
              </c:pt>
              <c:pt idx="13">
                <c:v>0.0600546511336937</c:v>
              </c:pt>
            </c:numLit>
          </c:val>
        </c:ser>
        <c:ser>
          <c:idx val="5"/>
          <c:order val="5"/>
          <c:tx>
            <c:v>Genial</c:v>
          </c:tx>
          <c:spPr>
            <a:solidFill>
              <a:srgbClr val="6EC5E9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0.0014290426740686</c:v>
              </c:pt>
              <c:pt idx="1">
                <c:v>0.0954434490174933</c:v>
              </c:pt>
              <c:pt idx="2">
                <c:v>0.0097144159325523</c:v>
              </c:pt>
              <c:pt idx="3">
                <c:v>0.1377649003513394</c:v>
              </c:pt>
              <c:pt idx="4">
                <c:v>0</c:v>
              </c:pt>
              <c:pt idx="5">
                <c:v>0.1266642208703755</c:v>
              </c:pt>
              <c:pt idx="6">
                <c:v>0.0801521194835746</c:v>
              </c:pt>
              <c:pt idx="7">
                <c:v>0.0924387555066889</c:v>
              </c:pt>
              <c:pt idx="8">
                <c:v>0.0222904487757394</c:v>
              </c:pt>
              <c:pt idx="9">
                <c:v>0.0932236168038112</c:v>
              </c:pt>
              <c:pt idx="10">
                <c:v>0.0517280519093443</c:v>
              </c:pt>
              <c:pt idx="11">
                <c:v>0.0163574722030135</c:v>
              </c:pt>
              <c:pt idx="12">
                <c:v>0.0148724022126697</c:v>
              </c:pt>
              <c:pt idx="13">
                <c:v>0.0341699412912885</c:v>
              </c:pt>
            </c:numLit>
          </c:val>
        </c:ser>
        <c:ser>
          <c:idx val="6"/>
          <c:order val="6"/>
          <c:tx>
            <c:v>REAG</c:v>
          </c:tx>
          <c:spPr>
            <a:solidFill>
              <a:srgbClr val="73C6A1"/>
            </a:solidFill>
          </c:spPr>
          <c:dLbls>
            <c:dLbl>
              <c:idx val="0"/>
              <c:layout>
                <c:manualLayout>
                  <c:x val="0"/>
                  <c:y val="0.01335066694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-0.018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0.0001847303014918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0.0013441224672684</c:v>
              </c:pt>
              <c:pt idx="6">
                <c:v>0</c:v>
              </c:pt>
              <c:pt idx="7">
                <c:v>1.9023858238375103E-05</c:v>
              </c:pt>
              <c:pt idx="8">
                <c:v>0.0029359315231281</c:v>
              </c:pt>
              <c:pt idx="9">
                <c:v>0</c:v>
              </c:pt>
              <c:pt idx="10">
                <c:v>0</c:v>
              </c:pt>
              <c:pt idx="11">
                <c:v>0.0446982964925705</c:v>
              </c:pt>
              <c:pt idx="12">
                <c:v>0.0475501029412941</c:v>
              </c:pt>
              <c:pt idx="13">
                <c:v>0.0766621333152516</c:v>
              </c:pt>
            </c:numLit>
          </c:val>
        </c:ser>
        <c:ser>
          <c:idx val="7"/>
          <c:order val="7"/>
          <c:tx>
            <c:v>Finaxis</c:v>
          </c:tx>
          <c:spPr>
            <a:solidFill>
              <a:srgbClr val="5B6065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"/>
                  <c:y val="0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0.0308583999379698</c:v>
              </c:pt>
              <c:pt idx="1">
                <c:v>0.0011602353362383</c:v>
              </c:pt>
              <c:pt idx="2">
                <c:v>0</c:v>
              </c:pt>
              <c:pt idx="3">
                <c:v>0.0030735686210584</c:v>
              </c:pt>
              <c:pt idx="4">
                <c:v>0</c:v>
              </c:pt>
              <c:pt idx="5">
                <c:v>0.0003689936710498</c:v>
              </c:pt>
              <c:pt idx="6">
                <c:v>0</c:v>
              </c:pt>
              <c:pt idx="7">
                <c:v>0.0377896853506274</c:v>
              </c:pt>
              <c:pt idx="8">
                <c:v>0.0061406084215763</c:v>
              </c:pt>
              <c:pt idx="9">
                <c:v>0.1183666540018785</c:v>
              </c:pt>
              <c:pt idx="10">
                <c:v>0.1745723336276446</c:v>
              </c:pt>
              <c:pt idx="11">
                <c:v>0</c:v>
              </c:pt>
              <c:pt idx="12">
                <c:v>0</c:v>
              </c:pt>
              <c:pt idx="13">
                <c:v>0.0390778868680176</c:v>
              </c:pt>
            </c:numLit>
          </c:val>
        </c:ser>
        <c:ser>
          <c:idx val="8"/>
          <c:order val="8"/>
          <c:tx>
            <c:v>Itaú</c:v>
          </c:tx>
          <c:spPr>
            <a:solidFill>
              <a:srgbClr val="FF5500"/>
            </a:solidFill>
          </c:spPr>
          <c:dLbls>
            <c:dLbl>
              <c:idx val="0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3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0.0093365494192045</c:v>
              </c:pt>
              <c:pt idx="1">
                <c:v>0.1227393200815646</c:v>
              </c:pt>
              <c:pt idx="2">
                <c:v>0</c:v>
              </c:pt>
              <c:pt idx="3">
                <c:v>0</c:v>
              </c:pt>
              <c:pt idx="4">
                <c:v>0</c:v>
              </c:pt>
              <c:pt idx="5">
                <c:v>0.0006615413000011</c:v>
              </c:pt>
              <c:pt idx="6">
                <c:v>0.0810581734428378</c:v>
              </c:pt>
              <c:pt idx="7">
                <c:v>0.0171026340935401</c:v>
              </c:pt>
              <c:pt idx="8">
                <c:v>0</c:v>
              </c:pt>
              <c:pt idx="9">
                <c:v>0.1013743858313278</c:v>
              </c:pt>
              <c:pt idx="10">
                <c:v>0</c:v>
              </c:pt>
              <c:pt idx="11">
                <c:v>0</c:v>
              </c:pt>
              <c:pt idx="12">
                <c:v>0.0195927534357799</c:v>
              </c:pt>
              <c:pt idx="13">
                <c:v>0.0529133378830142</c:v>
              </c:pt>
            </c:numLit>
          </c:val>
        </c:ser>
        <c:ser>
          <c:idx val="9"/>
          <c:order val="9"/>
          <c:tx>
            <c:v>BRL Trust</c:v>
          </c:tx>
          <c:spPr>
            <a:solidFill>
              <a:srgbClr val="454A4F"/>
            </a:solidFill>
          </c:spPr>
          <c:dLbls>
            <c:dLbl>
              <c:idx val="0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layout>
                <c:manualLayout>
                  <c:x val="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layout>
                <c:manualLayout>
                  <c:x val="-0.018"/>
                  <c:y val="0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0.0042743795995927</c:v>
              </c:pt>
              <c:pt idx="1">
                <c:v>0.0724628706745208</c:v>
              </c:pt>
              <c:pt idx="2">
                <c:v>0.0084504260439428</c:v>
              </c:pt>
              <c:pt idx="3">
                <c:v>0.000517442092016</c:v>
              </c:pt>
              <c:pt idx="4">
                <c:v>0.0013353036335097</c:v>
              </c:pt>
              <c:pt idx="5">
                <c:v>0.0823562202432192</c:v>
              </c:pt>
              <c:pt idx="6">
                <c:v>0.0729485428985306</c:v>
              </c:pt>
              <c:pt idx="7">
                <c:v>0.0026200048135162</c:v>
              </c:pt>
              <c:pt idx="8">
                <c:v>0.053110144728145</c:v>
              </c:pt>
              <c:pt idx="9">
                <c:v>0.0083461717733962</c:v>
              </c:pt>
              <c:pt idx="10">
                <c:v>0.0560386356538572</c:v>
              </c:pt>
              <c:pt idx="11">
                <c:v>0.1334325730903025</c:v>
              </c:pt>
              <c:pt idx="12">
                <c:v>0.0878398045610501</c:v>
              </c:pt>
              <c:pt idx="13">
                <c:v>0.0256229759264469</c:v>
              </c:pt>
            </c:numLit>
          </c:val>
        </c:ser>
        <c:ser>
          <c:idx val="10"/>
          <c:order val="10"/>
          <c:tx>
            <c:v>Outros identificados</c:v>
          </c:tx>
          <c:spPr>
            <a:solidFill>
              <a:srgbClr val="D7DADD"/>
            </a:solidFill>
          </c:spPr>
          <c:dLbls>
            <c:dLbl>
              <c:idx val="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5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2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0.2115480334239259</c:v>
              </c:pt>
              <c:pt idx="1">
                <c:v>0.1454997462339026</c:v>
              </c:pt>
              <c:pt idx="2">
                <c:v>0.1759965013825875</c:v>
              </c:pt>
              <c:pt idx="3">
                <c:v>0.1673666661701728</c:v>
              </c:pt>
              <c:pt idx="4">
                <c:v>0.3509649115508297</c:v>
              </c:pt>
              <c:pt idx="5">
                <c:v>0.2568686718762569</c:v>
              </c:pt>
              <c:pt idx="6">
                <c:v>0.3249582640332574</c:v>
              </c:pt>
              <c:pt idx="7">
                <c:v>0.160647830710761</c:v>
              </c:pt>
              <c:pt idx="8">
                <c:v>0.3273090934316863</c:v>
              </c:pt>
              <c:pt idx="9">
                <c:v>0.1411084314958586</c:v>
              </c:pt>
              <c:pt idx="10">
                <c:v>0.2666485455225821</c:v>
              </c:pt>
              <c:pt idx="11">
                <c:v>0.6402694310283819</c:v>
              </c:pt>
              <c:pt idx="12">
                <c:v>0.2391091484443289</c:v>
              </c:pt>
              <c:pt idx="13">
                <c:v>0.3241701231603555</c:v>
              </c:pt>
            </c:numLit>
          </c:val>
        </c:ser>
        <c:ser>
          <c:idx val="11"/>
          <c:order val="11"/>
          <c:tx>
            <c:v>Prestador não informado</c:v>
          </c:tx>
          <c:spPr>
            <a:solidFill>
              <a:srgbClr val="F5F6F7"/>
            </a:solidFill>
          </c:spPr>
          <c:dLbls>
            <c:dLbl>
              <c:idx val="0"/>
              <c:layout>
                <c:manualLayout>
                  <c:x val="0"/>
                  <c:y val="-0.013320597212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2"/>
              <c:layout>
                <c:manualLayout>
                  <c:x val="0.018"/>
                  <c:y val="-0.0199746945892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3"/>
              <c:layout>
                <c:manualLayout>
                  <c:x val="0.018"/>
                  <c:y val="-0.019949496076"/>
                </c:manualLayout>
              </c:layout>
              <c:tx>
                <c:rich>
                  <a:bodyPr/>
                  <a:lstStyle/>
                  <a:p>
                    <a:r>
                      <a:rPr sz="1000" b="0">
                        <a:solidFill>
                          <a:srgbClr val="FFFFFF"/>
                        </a:solidFill>
                      </a:rPr>
                      <a:t>&lt;0,1%</a:t>
                    </a:r>
                  </a:p>
                </c:rich>
              </c:tx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4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5"/>
              <c:layout>
                <c:manualLayout>
                  <c:x val="-0.018"/>
                  <c:y val="-0.019115457374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6"/>
              <c:layout>
                <c:manualLayout>
                  <c:x val="0"/>
                  <c:y val="-0.0195209674988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7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8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9"/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0"/>
              <c:layout>
                <c:manualLayout>
                  <c:x val="-0.018"/>
                  <c:y val="-0.018873859067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1"/>
              <c:showLegendKey val="0"/>
              <c:showVal val="0"/>
              <c:showCatName val="0"/>
              <c:showSerName val="0"/>
              <c:showPercent val="0"/>
              <c:showBubbleSize val="0"/>
            </c:dLbl>
            <c:dLbl>
              <c:idx val="12"/>
              <c:layout>
                <c:manualLayout>
                  <c:x val="0.018"/>
                  <c:y val="-0.0197207931616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3"/>
              <c:layout>
                <c:manualLayout>
                  <c:x val="-0.018"/>
                  <c:y val="-0.0146061132369"/>
                </c:manualLayout>
              </c:layout>
              <c:txPr>
                <a:bodyPr anchorCtr="1"/>
                <a:lstStyle/>
                <a:p>
                  <a:pPr>
                    <a:defRPr sz="1000" b="0">
                      <a:solidFill>
                        <a:srgbClr val="FFFFFF"/>
                      </a:solidFill>
                      <a:latin typeface="Arial"/>
                      <a:ea typeface="Arial"/>
                      <a:cs typeface="Arial"/>
                    </a:defRPr>
                  </a:pPr>
                </a:p>
              </c:txPr>
              <c:dLblPos val="ctr"/>
              <c:showLegendKey val="0"/>
              <c:showVal val="1"/>
              <c:showCatName val="0"/>
              <c:showSerName val="0"/>
              <c:showPercent val="0"/>
              <c:showBubbleSize val="0"/>
            </c:dLbl>
          </c:dLbls>
          <c:cat>
            <c:strLit>
              <c:ptCount val="14"/>
              <c:pt idx="0">
                <c:v>Fomento
Fomento Mercantil</c:v>
              </c:pt>
              <c:pt idx="1">
                <c:v>Financeiro
Crédito Imobiliário</c:v>
              </c:pt>
              <c:pt idx="2">
                <c:v>Financeiro
Crédito Consignado</c:v>
              </c:pt>
              <c:pt idx="3">
                <c:v>Financeiro
Crédito pessoal</c:v>
              </c:pt>
              <c:pt idx="4">
                <c:v>Financeiro
Financiamento de Veículos</c:v>
              </c:pt>
              <c:pt idx="5">
                <c:v>Financeiro
Multicarteira</c:v>
              </c:pt>
              <c:pt idx="6">
                <c:v>Agro
Infraestrutura</c:v>
              </c:pt>
              <c:pt idx="7">
                <c:v>Agro
Recebíveis comerciais</c:v>
              </c:pt>
              <c:pt idx="8">
                <c:v>Agro
Crédito corporativo</c:v>
              </c:pt>
              <c:pt idx="9">
                <c:v>Agro
Agronegócio</c:v>
              </c:pt>
              <c:pt idx="10">
                <c:v>Agro
Multicarteira Agro, Indústria e Comércio</c:v>
              </c:pt>
              <c:pt idx="11">
                <c:v>Outros
Recuperação</c:v>
              </c:pt>
              <c:pt idx="12">
                <c:v>Outros
Poder público</c:v>
              </c:pt>
              <c:pt idx="13">
                <c:v>Outros
Multicarteira</c:v>
              </c:pt>
            </c:strLit>
          </c:cat>
          <c:val>
            <c:numLit>
              <c:formatCode>0.0%</c:formatCode>
              <c:ptCount val="14"/>
              <c:pt idx="0">
                <c:v>0.0133588055747116</c:v>
              </c:pt>
              <c:pt idx="1">
                <c:v>0</c:v>
              </c:pt>
              <c:pt idx="2">
                <c:v>5.061082168693914E-05</c:v>
              </c:pt>
              <c:pt idx="3">
                <c:v>0.0001010078479461</c:v>
              </c:pt>
              <c:pt idx="4">
                <c:v>0</c:v>
              </c:pt>
              <c:pt idx="5">
                <c:v>0.0017690852507729</c:v>
              </c:pt>
              <c:pt idx="6">
                <c:v>0.0009580650024143</c:v>
              </c:pt>
              <c:pt idx="7">
                <c:v>0.0679878224541797</c:v>
              </c:pt>
              <c:pt idx="8">
                <c:v>0</c:v>
              </c:pt>
              <c:pt idx="9">
                <c:v>0.076868020696346</c:v>
              </c:pt>
              <c:pt idx="10">
                <c:v>0.0022522818660797</c:v>
              </c:pt>
              <c:pt idx="11">
                <c:v>0</c:v>
              </c:pt>
              <c:pt idx="12">
                <c:v>0.0005584136767011</c:v>
              </c:pt>
              <c:pt idx="13">
                <c:v>0.0107877735261191</c:v>
              </c:pt>
            </c:numLit>
          </c:val>
        </c:ser>
        <c:dLbls>
          <c:spPr>
            <a:noFill/>
            <a:ln w="0">
              <a:noFill/>
              <a:prstDash val="solid"/>
            </a:ln>
          </c:spPr>
          <c:txPr>
            <a:bodyPr anchorCtr="1"/>
            <a:lstStyle/>
            <a:p>
              <a:pPr>
                <a:defRPr sz="1000" b="0">
                  <a:solidFill>
                    <a:srgbClr val="FFFFFF"/>
                  </a:solidFill>
                  <a:latin typeface="Arial"/>
                  <a:ea typeface="Arial"/>
                  <a:cs typeface="Arial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2"/>
        <c:overlap val="10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13">
                <a:solidFill>
                  <a:srgbClr val="73787D"/>
                </a:solidFill>
              </a:defRPr>
            </a:pPr>
          </a:p>
        </c:txPr>
        <c:crossAx val="48672768"/>
        <c:lblAlgn val="ctr"/>
        <c:lblOffset val="100"/>
        <c:noMultiLvlLbl val="0"/>
      </c:catAx>
      <c:valAx>
        <c:axId val="48672768"/>
        <c:scaling>
          <c:orientation val="minMax"/>
          <c:max val="1"/>
          <c:min val="0"/>
        </c:scaling>
        <c:delete val="0"/>
        <c:axPos val="l"/>
        <c:majorGridlines>
          <c:spPr>
            <a:ln w="9525">
              <a:solidFill>
                <a:srgbClr val="E7E9EB"/>
              </a:solidFill>
              <a:prstDash val="solid"/>
            </a:ln>
          </c:spPr>
        </c:majorGridlines>
        <c:numFmt formatCode="0%"/>
        <c:majorTickMark val="none"/>
        <c:minorTickMark val="none"/>
        <c:spPr>
          <a:ln w="9525">
            <a:solidFill>
              <a:srgbClr val="D7DADD"/>
            </a:solidFill>
            <a:prstDash val="solid"/>
          </a:ln>
        </c:spPr>
        <c:txPr>
          <a:bodyPr anchorCtr="1"/>
          <a:lstStyle/>
          <a:p>
            <a:pPr>
              <a:defRPr sz="750">
                <a:solidFill>
                  <a:srgbClr val="8D9399"/>
                </a:solidFill>
              </a:defRPr>
            </a:pPr>
          </a:p>
        </c:txPr>
        <c:crossAx val="48650112"/>
        <c:crossBetween val="between"/>
        <c:majorUnit val="0.25"/>
      </c:valAx>
      <c:spPr>
        <a:noFill/>
        <a:ln w="0">
          <a:noFill/>
          <a:prstDash val="solid"/>
        </a:ln>
      </c:spPr>
    </c:plotArea>
    <c:legend>
      <c:legendPos val="b"/>
      <c:overlay val="0"/>
      <c:txPr>
        <a:bodyPr anchorCtr="1"/>
        <a:lstStyle/>
        <a:p>
          <a:pPr>
            <a:defRPr sz="638">
              <a:solidFill>
                <a:srgbClr val="73787D"/>
              </a:solidFill>
            </a:defRPr>
          </a:pPr>
        </a:p>
      </c:txPr>
    </c:legend>
    <c:plotVisOnly val="1"/>
  </c:chart>
  <c:spPr>
    <a:noFill/>
    <a:ln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5151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BC45A78-BD63-4D47-BCEC-D9712AC34F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00125"/>
            <a:ext cx="838200" cy="47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2A8DEB1-26B9-42FF-B455-4F79F01C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09700"/>
            <a:ext cx="8572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36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INDÚSTRIA DE FIDCs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30755DA-7C4E-47DD-934B-0190362E2A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0300"/>
            <a:ext cx="962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Escala, qualidade do dado, prestadores e fundos que explicam a concentração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E66A63D-FB3D-4202-AF69-04E81B70A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B4F53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98985-DEDF-4972-AC1C-39AE2DD3B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4762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Dados de PL: 30 de junho de 2026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45B62CA-D324-47F4-A6E0-6126E3D2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10225"/>
            <a:ext cx="4953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E7E9EB"/>
                </a:solidFill>
                <a:latin typeface="Arial"/>
                <a:ea typeface="Arial"/>
                <a:cs typeface="Arial"/>
              </a:defRPr>
            </a:pPr>
            <a:r>
              <a:rPr sz="1200" b="0">
                <a:solidFill>
                  <a:srgbClr val="E7E9EB"/>
                </a:solidFill>
                <a:latin typeface="Arial"/>
                <a:ea typeface="Arial"/>
                <a:cs typeface="Arial"/>
              </a:rPr>
              <a:t>Ofertas encerradas até 30 de junho de 2026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D912A-EF11-432C-ACEF-7E8C06CC6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257925"/>
            <a:ext cx="4762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Itaú BBA · Junho de 2026</a:t>
            </a:r>
          </a:p>
        </p:txBody>
      </p:sp>
    </p:spTree>
    <p:extLst>
      <p:ext uri="{BB962C8B-B14F-4D97-AF65-F5344CB8AC3E}">
        <p14:creationId xmlns:p14="http://schemas.microsoft.com/office/powerpoint/2010/main" val="200580364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10F26C-B127-4C5E-9E0F-F563C61749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GRANDES NÚMEROS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57CDCF-113B-4DAE-B4A8-64DCFE3BC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R$ 880 bi ex-FIC; a concentração aparece em fundos, prestadores e ajustes de qualidade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1F1F6B-C851-4317-AC80-E04AF1298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94DE78-2B0E-4352-9E49-19225F7AB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05F034-A89A-4602-B900-AC1F1AEA5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ANBIMA e FundosNet; jun/26, salvo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736215-0E16-4B05-9C5C-2518D6DA2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38C8F10-26CC-4E2F-867D-1A1971E08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3811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R$ 880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C2C17-36A6-4DF5-BED1-A0B804B09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4001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em jun/26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E602099-DA27-4BE4-8C5F-5FAB0B49D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17811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10,7× 2015; FIC-FIDC: R$ 81,1 bi.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831985-1F2C-4C8B-8E85-D53384369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3717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7A63688-CC7F-40A0-AF42-A8AFA136E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431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59%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77A6C45-0038-4DE0-9040-8E55E150C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5622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dos fundos acima de R$ 200 mi têm até 10 contas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E23DEEA-3E2E-419E-B3A9-CEC77FAF2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29432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60,7% do PL no recorte de R$ 733,9 bi.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005B391-21EF-4299-B1BE-769759AFF2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53377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F970134-B9C7-4709-B6A4-BDC901BE7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0522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178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2E4B89-DB37-46AF-845C-7DBA6F3D0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372427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com inadimplência acima da carteira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79AD2A2-AB01-4352-8A0A-2C413137AD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10527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Cap: R$ 14,6 bi; Top 10: 57,4%.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9B56B77-9054-4B8A-9D4F-3E790CAC2F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695825"/>
            <a:ext cx="103251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DF6A2B6-EB26-489C-AA80-6705A8528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67275"/>
            <a:ext cx="1762125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35,7%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F63649-A5A5-4C0C-A901-9F23E51C1B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4886325"/>
            <a:ext cx="8382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 PL em monoestruturas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7CE3AD4-A2F3-4DFE-89A0-BAA1288A6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67325"/>
            <a:ext cx="8382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12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Administração, gestão e custódia no mesmo conglomerado.</a:t>
            </a:r>
          </a:p>
        </p:txBody>
      </p:sp>
    </p:spTree>
    <p:extLst>
      <p:ext uri="{BB962C8B-B14F-4D97-AF65-F5344CB8AC3E}">
        <p14:creationId xmlns:p14="http://schemas.microsoft.com/office/powerpoint/2010/main" val="500569762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177C2D47-DC54-4FDF-B738-149CD851C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ESCALA DA INDÚSTRIA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C8FE1F0-BB18-4EC6-A24F-3AF0F97FB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somam R$ 880 bi de PL ex-FIC; a carteira representa parte relevante da securitização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B1EA428-FE86-435A-B13D-A41B75AD5D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A904800-A005-4C8C-B704-374008822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48B63-609C-4715-9696-9F810C4B8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Informe Mensal de FIDC (jun/26); BCB, SGS 28183–28192 (último mês comum: mai/26).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9A0D18-F749-4D5E-8F3C-FCE6A7F05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727BA5C-E3E8-496C-8E71-9EF13732A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66825"/>
            <a:ext cx="5191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DOS FIDCs · EX-FIC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AF7BD71-5014-4A7F-9D72-2A1C624E5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33525"/>
            <a:ext cx="5191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523875" y="1571625"/>
          <a:ext xmlns:a="http://schemas.openxmlformats.org/drawingml/2006/main" cx="528637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0be452c3c5e4d2d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7406A87-178C-482E-90F5-C79700AD93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43649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82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AC4D38-29B3-4404-92AE-7CC56D5FA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218" y="434035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91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DE960C-19E2-4039-8F91-E658133AB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9111" y="428558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110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1A686FF-A46D-4EEA-B5EB-48B7D6A1BA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76005" y="422561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131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E48391-01BC-4162-85D1-2C3D826EE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2898" y="394339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230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7ED4428-C5F6-462D-ACE6-9A19258EE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29791" y="4003103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209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BBE838E-B9FD-436D-B6E1-D971C4150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56684" y="3747621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298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392B27E-9AF4-4906-A099-1E1E7A86AE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577" y="3554899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366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B8BF0E-06A1-4426-AE6A-6154FC83F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0470" y="3281106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462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A9225B8-F4A6-47AB-9B46-4EEF70145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37364" y="264919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683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B724C2F-F102-473B-A62F-6446EFDC6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64257" y="2219657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833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01BCC80-D48D-4154-869C-5E4AEFC49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084902"/>
            <a:ext cx="342900" cy="123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1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1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122BB7F-20A4-4D0D-9639-157A86E90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67300"/>
            <a:ext cx="523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+16,7%   ·   2020/19 -9,1%   ·   2022/21 +22,6%   ·   2023/22 +26,2%   ·   2024/23 +47,9%   ·   2025/24 +22,0%   ·   2026 YTD +5,7%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2550F2F-C76E-4B40-8114-EFA4AEA7F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266825"/>
            <a:ext cx="5476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DE CRÉDITO AMPLIADA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6468AE-7453-4BD8-81D6-8F25B6F54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43625" y="1533525"/>
            <a:ext cx="5476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76" name="Chart"/>
          <p:cNvGraphicFramePr/>
          <p:nvPr/>
        </p:nvGraphicFramePr>
        <p:xfrm>
          <a:off xmlns:a="http://schemas.openxmlformats.org/drawingml/2006/main" x="6048375" y="1571625"/>
          <a:ext xmlns:a="http://schemas.openxmlformats.org/drawingml/2006/main" cx="5572125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79048acdd546a3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5AAE7CF-D156-45C0-9EC7-4961D0CC9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489567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7.929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29959E6-8693-41E6-9437-C69AD5D1DF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3784" y="348051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8.004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8D10AE-D567-47B4-86B3-959AF1BE4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61068" y="3411053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8.573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89EF961-96C6-4E80-8234-569CB8AA8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98352" y="331635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9.348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C2ED360-592A-4A55-B405-4D8B5B2CBB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5636" y="3208809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10.229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DF9FFDC-5DA3-4C8B-84CF-3922AAC00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2920" y="299865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11.950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44F05C-01CA-4623-8739-9EC6C9B1B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0205" y="2795758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13.612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BAA4DAE-6440-4B6F-8F90-70AFBB24E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47489" y="2631487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14.958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B558F44-EE26-400A-A536-E5D0FEE9C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84773" y="2480076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16.198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5C6E03F1-A710-437C-A74A-D83FD97C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22057" y="2179145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18.662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C07551A2-7E44-4B11-8DA1-F256CDA64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59341" y="1911677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20.853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0D9EBD8-9D36-404F-A9F8-994CA31BCD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96625" y="1831094"/>
            <a:ext cx="400050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503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503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21.513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A012CBFB-C0CD-41FB-94D6-C2F3B0A8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07599A1-7943-40DC-8A53-DD6C18B2B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Empréstimos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E145226-A00F-41ED-ABA3-8451D2820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4274250-A9ED-48EA-A255-B7A35D25EC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públicos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31C5774-503C-4B8B-84D6-4D34D2355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4962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2D1C3BA1-74DB-4C3E-BFC4-24FD2BFA3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491490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Tít. privados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868E0606-3C28-47B8-8267-6456345B20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5B1E7B1-255C-4170-9130-90A74104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FIDCs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1B5D2001-F5D7-4A74-853D-2B69EEA165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F18A763-450A-47C5-AE91-798EA5668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Outras securitizações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6271E67-C705-47C5-9E22-B5BB09D493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05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7E9EB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677D15AA-1B95-447A-B1C5-99B4ABBF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010150"/>
            <a:ext cx="1651000" cy="95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931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Dívida externa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2827241-75F5-4711-823B-890BCF0CE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53025"/>
            <a:ext cx="5524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1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CAGR 2015–18 +5,6%   ·   2020/19 +16,8%   ·   2022/21 +9,9%   ·   2023/22 +8,3%   ·   2024/23 +15,2%   ·   2025/24 +11,7%   ·   2026 YTD +3,2%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5B4F6DF-12EE-4290-BECB-217511017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543550"/>
            <a:ext cx="5524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Mai/26: securitização R$ 1.157 bi; carteira FIDC R$ 670 bi. SGS 28191 reúne CRI, CRA e direitos creditórios em FIDCs; debêntures e notas comerciais estão em títulos privados.</a:t>
            </a:r>
          </a:p>
        </p:txBody>
      </p:sp>
    </p:spTree>
    <p:extLst>
      <p:ext uri="{BB962C8B-B14F-4D97-AF65-F5344CB8AC3E}">
        <p14:creationId xmlns:p14="http://schemas.microsoft.com/office/powerpoint/2010/main" val="209997649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93D2FE-7E83-4D6A-BAE7-A89F2665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RENDA FIXA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6809B6-C3F2-48C7-8936-B5A7125868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FIDCs cresceram 15% no 1S26; os demais instrumentos elegíveis recuaram 8%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4EB375E-9899-45E8-9AFA-6992B7BB8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CC274FE-9C08-4A7F-B0F0-D8B46B300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3007FB-ADB3-48B8-A4FB-021A55D8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Sistema de Registro de Ofertas (SRE), base pública de Ofertas Públicas de Distribuição; consulta em 24/jul/26. Ofertas primárias encerradas, todos os ritos, com volume registrado positivo.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190BD6F-5FB2-468E-B7FD-F0D59FBB5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BED3EC6-2D63-4A73-B02E-38C5ED1E7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E DEMAIS INSTRUMENTOS ELEGÍVEIS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A1AE9E4-54A3-4BB0-BDEF-EA3106F675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c5bee7daace452a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E79A58-8DAC-4142-9F4F-051600D9D9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257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INSTRUMENTOS MAIS EMITIDOS EM 2025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5F5899-9363-4C9F-BDC8-5B91C3C0B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24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6334125" y="1581150"/>
          <a:ext xmlns:a="http://schemas.openxmlformats.org/drawingml/2006/main" cx="5286375" cy="2762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bdee6fc613491e"/>
          </a:graphicData>
        </a:graphic>
      </p:graphicFrame>
      <p:graphicFrame>
        <p:nvGraphicFramePr>
          <p:cNvPr id="27" name=""/>
          <p:cNvGraphicFramePr/>
          <p:nvPr/>
        </p:nvGraphicFramePr>
        <p:xfrm>
          <a:off xmlns:a="http://schemas.openxmlformats.org/drawingml/2006/main" x="571500" y="4552950"/>
          <a:ext xmlns:a="http://schemas.openxmlformats.org/drawingml/2006/main" cx="11049000" cy="13525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4191000"/>
                <a:gridCol w="2286000"/>
                <a:gridCol w="2286000"/>
                <a:gridCol w="228600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Instrumento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2024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2025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1S26 YoY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FIDCs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+260,4%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+22,5%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+14,6%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Demais elegíveis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+77,9%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Debêntures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+106,2%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-21,8%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+21,8%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-5,8%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Notas comerciais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+80,1%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+17,1%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-7,8%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1905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CRA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-18,2%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+12,8%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53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-44,5%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37D2137-C20D-4EA4-8B87-459088C9F5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compara jan–jun/26 com jan–jun/25. Exclui cotas de fundos, ações, Units, debêntures conversíveis e os instrumentos FIAGRO especificados.</a:t>
            </a:r>
          </a:p>
        </p:txBody>
      </p:sp>
    </p:spTree>
    <p:extLst>
      <p:ext uri="{BB962C8B-B14F-4D97-AF65-F5344CB8AC3E}">
        <p14:creationId xmlns:p14="http://schemas.microsoft.com/office/powerpoint/2010/main" val="185111119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188F432-F5E1-4B35-A882-99040AAECC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BASE INVESTIDORA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9A46F83-A587-4FD6-B47D-43504AAF0A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171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 base atingiu 461,2 mil contas em 4.252 veículos; uma pessoa pode aparecer em mais de uma classe ou série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18F0E71-C213-4704-91BB-F05559568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B7C8465-D0DC-49CC-91BE-0BCE3B2A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3540DFB-C6C2-4BE8-BEA9-B24AE644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de FIDC, jun/26. Contas podem se repetir por classe ou série.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E0A3DE-15A4-446C-AC3D-96F66EB8C8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648A1C2-1D9F-4A5E-A116-02D2B244E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3350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CONTAS DE COTISTAS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994E885-32E3-45A8-83B9-0BAB65F35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0020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6687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c0e165d892a486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9A4B088-1B3F-4A68-9135-15FC6CCA5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0E7E5CE-67C2-420B-A4B1-C06EAEF1C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D90ED6-2CB5-434D-B48C-13190B4E9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D2A9EE-F8F7-4903-8F79-6A5EA2518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97EBF8-7274-40E2-93DE-15D69E37A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2956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87B6023-6D7B-4CF3-97B7-A59B91193C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38550"/>
            <a:ext cx="6572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REPORTANTES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492F032-6B89-4A44-8D8E-33CF14179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05250"/>
            <a:ext cx="6572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3" name="Chart"/>
          <p:cNvGraphicFramePr/>
          <p:nvPr/>
        </p:nvGraphicFramePr>
        <p:xfrm>
          <a:off xmlns:a="http://schemas.openxmlformats.org/drawingml/2006/main" x="571500" y="3971925"/>
          <a:ext xmlns:a="http://schemas.openxmlformats.org/drawingml/2006/main" cx="6572250" cy="16383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aa1ca28c8824651"/>
          </a:graphicData>
        </a:graphic>
      </p:graphicFrame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7A38D64-9ED0-4972-A652-440241240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6C690EC-480A-4AE6-9853-1C782A292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5495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2018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EEC15E1-87F9-4A65-ADD4-3033A5DA1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10891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2021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5348D27-232E-4F5B-A028-2A0294190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16286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C006D54-3F21-4F1A-8003-23910F852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560070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B7D0826-60DD-4EB8-A85A-FC4B8EB33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333500"/>
            <a:ext cx="4048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COMPOSIÇÃO DAS CONTAS · JUN/26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3A1BE9E-4452-43D3-A7F5-2B7A854AD1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1600200"/>
            <a:ext cx="40481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1" name="Chart"/>
          <p:cNvGraphicFramePr/>
          <p:nvPr/>
        </p:nvGraphicFramePr>
        <p:xfrm>
          <a:off xmlns:a="http://schemas.openxmlformats.org/drawingml/2006/main" x="7524750" y="1714500"/>
          <a:ext xmlns:a="http://schemas.openxmlformats.org/drawingml/2006/main" cx="4095750" cy="3190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902be96de014fd7"/>
          </a:graphicData>
        </a:graphic>
      </p:graphicFrame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90163C6-C3AD-404F-8C22-DBA589E537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72375" y="5095875"/>
            <a:ext cx="404812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Composição reconciliada: 461.228 contas; 0 sem tipo identificado.</a:t>
            </a:r>
          </a:p>
        </p:txBody>
      </p:sp>
    </p:spTree>
    <p:extLst>
      <p:ext uri="{BB962C8B-B14F-4D97-AF65-F5344CB8AC3E}">
        <p14:creationId xmlns:p14="http://schemas.microsoft.com/office/powerpoint/2010/main" val="138612032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20D8BF0-2196-4EBE-8785-223E4F556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DISTRIBUIÇÃO POR NÚMERO DE COTISTAS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5D8948A-BD39-4065-9360-745253C9A1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9702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com mais de 10 contas ganharam 11,0 p.p. do universo e 10,6 p.p. do PL desde dez/23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E6995C7-CC7A-4CF7-90FD-3DE048E0E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EDC3EDE-722F-4AE2-9106-723598881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1E4904-AC6D-495D-BE70-81FE068CA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dez/23 e jun/26. Ex-FIC com PL ≥ R$ 200 mi: 409 → 784 fundos; contas por classe/série, não investidores únicos.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A1B45D2-4B10-4A8E-923F-3498DB857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634352C-5EFC-40F9-99C8-EF687A49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B17A6C4-EE26-4CB9-B245-42B439BD0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B6AF322-8104-4898-A7E7-680595F338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ACFB84-28AA-4A2B-BB16-B68E0287F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E3BA1A0-020E-479E-A3F0-F761A61CA0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ABSOLUTO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AB26DD-24B2-45D5-8D00-463742E35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bcbf3685a445a3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580681-4F25-44EC-BAF5-8EAFB2184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2397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R$ BI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BB764D-EA80-4019-B813-5FF1F3EBC4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9067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6334125" y="1724025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92d827fc6d148b9"/>
          </a:graphicData>
        </a:graphic>
      </p:graphicFrame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8CFE67-CECF-40D8-831A-1CE04E6394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QUANTIDADE DE FUNDOS · % DO TOTAL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7254249-AF6D-4927-B676-FC776DB99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71500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2f19ce85434826"/>
          </a:graphicData>
        </a:graphic>
      </p:graphicFrame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2603FB-D3F8-4760-AE54-AC4CBDAC2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CB27FC8-9205-4429-95E8-46D5AF1C2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7338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POR FAIXA · % DO TOTAL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B9E6448-788F-4ECF-90F9-6177A7135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8" name="Chart"/>
          <p:cNvGraphicFramePr/>
          <p:nvPr/>
        </p:nvGraphicFramePr>
        <p:xfrm>
          <a:off xmlns:a="http://schemas.openxmlformats.org/drawingml/2006/main" x="6334125" y="4076700"/>
          <a:ext xmlns:a="http://schemas.openxmlformats.org/drawingml/2006/main" cx="5286375" cy="1809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fa5f908fa564c60"/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489501A-F433-4253-A9F6-E107E087A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3752850"/>
            <a:ext cx="19526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Soma das barras = 100%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9975EAD1-E98A-431E-9DB5-59872C672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96000"/>
            <a:ext cx="11049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Comparação de duas fotografias da indústria, não de coorte constante. Corte de R$ 200 mi em valores nominais; cada histograma percentual fecha em 100%.</a:t>
            </a:r>
          </a:p>
        </p:txBody>
      </p:sp>
    </p:spTree>
    <p:extLst>
      <p:ext uri="{BB962C8B-B14F-4D97-AF65-F5344CB8AC3E}">
        <p14:creationId xmlns:p14="http://schemas.microsoft.com/office/powerpoint/2010/main" val="8406974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F793892-1896-429B-AA98-547A204361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VIGENTE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2780AA-FBFD-44C3-ABD5-BE0A1AD9B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+ Outros = 68,7% do PL ex-FIC ·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A908DA2-02A6-4EEF-B027-8E099D6505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D72ED4-482A-4316-8F2F-EE15D277DA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A81B440-8A02-4EB1-BE97-D931A7C1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 Data (Tipo/Foco, dez/25) + Informe Mensal CVM (jun/26).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D2C42C-7E09-41E2-8F6A-47EB2A14C3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D52ED9F-6641-4730-A2B3-8A69489D60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BILHÕES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917BDF-4F65-41C2-B64A-C14FE48ACD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0fb7f8d03f840e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2AFEDF9-54C9-4D11-90A2-A5791E7F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PARTICIPAÇÃO NO PL EX-FIC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CCC0BB7-541E-43E9-A323-46D3A8F8FA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381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47f2f0bc1e94a4c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E41B0E2-B295-49FF-9383-0C8F917ADD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8D05E62-9BA5-4AA4-A707-CBC17D06C4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Fomento Mercantil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99DEF4-A16C-4A6D-AA61-3F4BD1777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7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5507B6D-EAA6-4898-8520-02E468199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12BD98-6E10-493C-9BFC-49AABBD3EA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7DC6A41-86A8-4DE1-91D5-4E236F55C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665A189-2EE8-4738-AC8C-A13709BE3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343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3DD2698-84D8-40DC-A62A-25C3199680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295900"/>
            <a:ext cx="1809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Outros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D56107-45A3-48BF-B1B1-4E50CA726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638800"/>
            <a:ext cx="9906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As quatro categorias somam R$ 880,4 bi, equivalentes a 100% do PL ex-FIC de jun/26.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CCFB323-4B53-40D2-ACDE-2125F7858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876925"/>
            <a:ext cx="10668000" cy="333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82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82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Fomento Mercantil: recebíveis comerciais de empresas. Agro/Indústria/Comércio: agro, cadeia produtiva, crédito corporativo e infraestrutura. Financeiro: pessoal, consignado, imobiliário e veículos. Outros: multicarteira, poder público, recuperação e N/D.</a:t>
            </a:r>
          </a:p>
        </p:txBody>
      </p:sp>
    </p:spTree>
    <p:extLst>
      <p:ext uri="{BB962C8B-B14F-4D97-AF65-F5344CB8AC3E}">
        <p14:creationId xmlns:p14="http://schemas.microsoft.com/office/powerpoint/2010/main" val="1060124624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2FAD62-55C9-40B4-9FA1-F90FA4597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TAXONOMIA CVM · RECLASSIFICAÇÃO DE ADQUIRÊNCIA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1DA4328-A5DD-451C-B2A8-F1E130C5EB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Os 33 CNPJs selecionados formam Adquirência; R$ 99,2 bi e 11,3% do PL ex-FIC em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996EFB6-1C97-4912-8925-77BD0C8F7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E68C885-47ED-4A28-A29F-FDC502E49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265694-E109-4334-A029-742422D67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regulamentos no FundosNet. Curadoria em 21/jul/26; a categoria CVM original permanece preservada.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A3565D4-AA24-48BE-82FA-53AF146760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62BAD20-00C5-404F-AF90-E3472CA03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EX-FIC · R$ BI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E9592E5-1579-4C93-ADF6-00E041C52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5dc310969c943e2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7472E24-3205-416F-9002-111C626C4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PL EX-FIC · DEZ/23 →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516721-DF20-4F74-AC18-26B7692C39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6381750" y="1762125"/>
          <a:ext xmlns:a="http://schemas.openxmlformats.org/drawingml/2006/main" cx="5238750" cy="3810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9296695151c4c27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248828D-2850-471A-A875-E00A05096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F4FF8F9-ED00-4CC1-B674-2E3FBD717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0650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AD1944B-A400-44E5-A46E-70C709295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9375" y="12477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762A461-E4A2-465A-880F-15E0E51A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91775" y="1200150"/>
            <a:ext cx="11906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1EB7D6-F7E4-4761-BBB0-FCD33F6592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5312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0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Bucket Cartão: 26 incluídos, 17 fora e 1 pendentes. Em jun/26, 31 dos 33 CNPJs selecionados têm reporte ativo; 2 não reportam.</a:t>
            </a:r>
          </a:p>
        </p:txBody>
      </p:sp>
    </p:spTree>
    <p:extLst>
      <p:ext uri="{BB962C8B-B14F-4D97-AF65-F5344CB8AC3E}">
        <p14:creationId xmlns:p14="http://schemas.microsoft.com/office/powerpoint/2010/main" val="716060960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8B3AFD2-28D3-440A-8237-10A4C52CA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CARTEIRA POR TIPO DE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4B98053-7531-4408-A5D5-8707426A7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ganhou 17,5 p.p. e explicou 67% do crescimento segmentado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2319A85-1A05-4F3B-81ED-AA6ED2CF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D846E-1E16-4273-80BB-46DACED1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5246137-6CE1-457B-8F0A-A978EC51B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Mensal, Tabela II; dez/23 e jun/26. Percentuais sobre a soma dos segmentos reportados.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B3C5A9-66F4-407D-AEC6-022F92D96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8118B3-083E-4153-9485-B6C4C33721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 REPORTADO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D4041F-95B4-4994-A2D2-532A51328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247c89174a418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8708009-B8C2-43D2-A60B-5DA9A9028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428750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VALOR SEGMENTADO DA TABELA II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B973DB-036F-4B8A-9389-B4061FC3F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95450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0" name="Chart"/>
          <p:cNvGraphicFramePr/>
          <p:nvPr/>
        </p:nvGraphicFramePr>
        <p:xfrm>
          <a:off xmlns:a="http://schemas.openxmlformats.org/drawingml/2006/main" x="6381750" y="1743075"/>
          <a:ext xmlns:a="http://schemas.openxmlformats.org/drawingml/2006/main" cx="5238750" cy="4238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1deb3171fb5498b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6FEA333-0739-4E23-BEA2-F41F91FB7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5715000"/>
            <a:ext cx="4381500" cy="228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FD8EC15-90BC-45A9-9552-DA94DAE45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48375"/>
            <a:ext cx="1104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Diferença Tabela II − Tabela I: R$ 51,7 bi em dez/23 e R$ 60,4 bi em jun/26. Em jun/26, 0 fundos sem abertura (R$ 0,0 bi de PL); Top 20 explicam 40,5% do gap positivo.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B3175C-8530-4328-8AEE-4E988CDB6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8637A2B-C57C-46BF-BB90-CCCB567F6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30765A-DA1E-471E-A091-F193573799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393DF3-F608-49A2-9053-32DB89AF6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43425922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C17040C-CA53-4679-A7A5-171DA38C48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OBSERVABILIDADE DA INADIMPLÊNCIA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FC6D77B-4376-404B-8ABE-E787855D72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O cap retira R$ 14,6 bi de 178 veículos; 10 casos explicam 57,4%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6D7E728-DB8C-4FF2-937D-41DDA6253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0B06BE4-2A12-4A83-AB38-6CAAFC1DC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F66D75E-A406-4340-BE7B-3A19D2BCF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Ajuste = mínimo entre inadimplência não negativa e carteira não negativa por veículo.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1CED910-034F-405C-A96C-9B9BFEF538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EDE0A3-B754-4DED-949C-42807EB7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6762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MÉTRICAS SOBRE A CARTEIRA COBERTA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04C589-D3AE-413F-BC9F-09CCC48D9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95450"/>
            <a:ext cx="6762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676275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ad943e76c8b4ed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FD41FE5-9A70-42B5-AFB9-141461D3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219700"/>
            <a:ext cx="533400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8BEE237-34C0-41F4-B92B-3686D3055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428750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UNIVERSO E COBERTURA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0E6353-7243-45FD-A483-F1AD3E4DF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95450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4A599F-E78A-4D49-97C5-F370C38A4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96215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Veículos / fundos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44F4F8A-38FB-4F07-BF4E-EFE6BE30A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196215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 / 4.247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E693416-8ED8-4EB9-841D-96DEE84B9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0506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BD72D2E-1E06-45A9-8B8D-0D330116E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46221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positiva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DF483D4-066D-426E-A174-3F7B1B4E4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46221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3.130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A4BE2F-36E6-4C8E-80D5-1E7E929C61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05125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3CFE8FF-F6B6-46F7-A44E-A8BA6124E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2962275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Campos reportados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3406FBF-2C05-44E0-B549-7BFD0E1C2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2962275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4.252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3D01758-FAB1-4E30-A7B0-B0BC9D5323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05188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736AAB4-EBD8-4C4B-B4EE-99CAF26EA0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462338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Cobertura por PL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6BFEC48-2094-41B3-A62D-71284D4944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462338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2A3CC12-D42D-4A82-AC56-5A2FDFAC8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05250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D96BD0-56A4-42FC-AF96-957222359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3962400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Casos acima da carteira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E49255-6C87-4CA5-8649-0F5E38000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3962400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178 · 1,04% do PL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84F0B3A-4688-4EF9-9414-A437A603B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05313"/>
            <a:ext cx="3762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641C780-1A7B-4F2E-941B-B3B98CC525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4462463"/>
            <a:ext cx="1994059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Excesso Top 1 / 5 / 10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4094530-23CB-41B7-9EFB-B233CF3ED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65055" y="4462463"/>
            <a:ext cx="1655445" cy="3857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013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14,2% / 42,0% / 57,4%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4D33B3D-2441-4C7D-9A14-FDC8D91F6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238750"/>
            <a:ext cx="3762375" cy="523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Ex-360 publicável: 4,9% ajustada. O antigo excesso de R$ 6,89 bi era a parcela vincenda ligada a créditos inadimplentes, prevista na Tabela I e omitida do comparador; 555 veículos reportam o campo.</a:t>
            </a:r>
          </a:p>
        </p:txBody>
      </p:sp>
    </p:spTree>
    <p:extLst>
      <p:ext uri="{BB962C8B-B14F-4D97-AF65-F5344CB8AC3E}">
        <p14:creationId xmlns:p14="http://schemas.microsoft.com/office/powerpoint/2010/main" val="1129616607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A2B8DC2-4625-4624-A645-27F692B8B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EVOLUÇÃO E QUEBRA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924DEB-B200-4851-86C1-6DD79F166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3894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Fundos monotipo cobrem 69,1% do PL; Financeiro e Agro marcam 6,5% e 6,6% de inadimplência/PL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22AD52E-282C-4F16-908D-D34E92D85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84A6AED-7F2D-47B0-9029-F1AF47C1F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B302F4-BB67-4209-82DB-9A62EF2BD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Série com cap por veículo; quadro monotipo exclui casos acima da carteira e usa PL como denominador.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54B027-8D05-4F46-B5CC-3BEDF2C9F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0CE7503-12F4-4024-B710-D6E1DE10E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23975"/>
            <a:ext cx="5857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SÉRIE AGREGADA · % DA CARTEIRA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3B1738A-C5A7-480F-A849-A2D41AEDE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90675"/>
            <a:ext cx="5857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5" name="Chart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857875" cy="3048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bf1697cd504b87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CA1FF53-3577-49A8-A98C-814AAF87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03/23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D0EC99C-F2BD-4E0E-986E-17791C4D1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08402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2D61F5-A559-4D39-AD08-B9309099D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270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D8D00CC-4201-424A-A9C1-D8C1FE86BF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16704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07/24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C91B3D-8765-47C9-912D-DF16714CA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5571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E9B6C9-168B-4867-A138-BA1714BF74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63873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09/25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3F8B768-45C5-4E01-9F84-7BE910E16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4695825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ED942FA-A4D1-4370-949C-C435771B73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88BFCA-8466-4CF0-861D-F33B16423E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33650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Bruta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E0B4A4E-BA72-4974-B625-B87466E4D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1875" y="48958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8022EC-BA44-4EAF-8E4E-F4F7B446F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4848225"/>
            <a:ext cx="1000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Ajustada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5C8B678-4980-4BEA-B717-F4BA959243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323975"/>
            <a:ext cx="4857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FIDCs COM UM ÚNICO TIPO NA TABELA II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F9181FE-0B96-46DF-A9A6-8605FF286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2750" y="1590675"/>
            <a:ext cx="4857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9" name=""/>
          <p:cNvGraphicFramePr/>
          <p:nvPr/>
        </p:nvGraphicFramePr>
        <p:xfrm>
          <a:off xmlns:a="http://schemas.openxmlformats.org/drawingml/2006/main" x="6762750" y="1657350"/>
          <a:ext xmlns:a="http://schemas.openxmlformats.org/drawingml/2006/main" cx="4857750" cy="3429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0"/>
                <a:gridCol w="714375"/>
                <a:gridCol w="1000125"/>
                <a:gridCol w="10477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incl.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23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Inad./PL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6,5%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21945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DD70FA7-8808-4FC9-807A-988CC15EC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863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1481C70-5C20-4FF5-81EE-8AD86EC8C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6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Monotipo: 2.066 fundos e R$ 608,7 bi. Fora: 948 multitipo (R$ 190,2 bi), 126 acima da carteira (R$ 6,1 bi) e 486 sem tipo (R$ 75,4 bi).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84DE65-3572-40B1-8AFC-DE68CC87FC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57875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Atlântico explica R$ 16,69 bi da redução do excesso; a série ajustada não repete a queda. Caso no apêndice.</a:t>
            </a:r>
          </a:p>
        </p:txBody>
      </p:sp>
    </p:spTree>
    <p:extLst>
      <p:ext uri="{BB962C8B-B14F-4D97-AF65-F5344CB8AC3E}">
        <p14:creationId xmlns:p14="http://schemas.microsoft.com/office/powerpoint/2010/main" val="184693411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FF7D3973-9314-433D-ADC7-26F7CC15CA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· COORTE ATUAL POR RECEBÍVEL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DDF5BA2-FDC9-4E2D-A18E-F966BFEAE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Financeiro encerra jun/26 em 7,2%; a coorte fixa soma R$ 608,7 bi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3B916E-1836-4FE3-BCFC-D9FF552EF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05ECA5D-D136-4C9D-B886-9F8774302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EA5812-E00B-4479-8DD7-26DBF9C52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Mensal. CNPJs monotipo em jun/26 aplicados ao histórico; laranja = mercado ajustado. Há viés de sobrevivência.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B4F93-3F8D-48AD-A048-C8BE2A7B9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BC57C4-DA24-40C5-8505-9B97649E7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742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 CARTEIRA · DEZ/23 → JUN/26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73670F4-D460-4DD7-A5D0-067262A4A0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742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3" name="Chart"/>
          <p:cNvGraphicFramePr/>
          <p:nvPr/>
        </p:nvGraphicFramePr>
        <p:xfrm>
          <a:off xmlns:a="http://schemas.openxmlformats.org/drawingml/2006/main" x="571500" y="1638300"/>
          <a:ext xmlns:a="http://schemas.openxmlformats.org/drawingml/2006/main" cx="7429500" cy="34956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a92fe270f064b36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DE96D-4FCE-4678-825B-57648AB66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4F8D2A-0105-40C6-90DB-F1D867339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992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43840D-7B66-4C09-8152-8A63A1D80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984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37EDEA-4FFE-44A7-86F1-17497D70F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9758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6038EF-F1CB-488C-A717-8CBA4E805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9674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B06AC5C-5978-4A0E-BF92-1D1CA0367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959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08/25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435C37D-93AE-4DF4-9665-66C41707B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506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12/25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B900C4-F681-499F-8B78-AF0566E628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9422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04/26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B0918A-D61E-400F-AA37-8F846E58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43800" y="51244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1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1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06/26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6F62A2-E454-4FAB-8C31-3D9609589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304925"/>
            <a:ext cx="3381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FOTOGRAFIA · JUN/26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5161DC-74A5-40AB-8A0B-8A374785E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1571625"/>
            <a:ext cx="3381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65" name=""/>
          <p:cNvGraphicFramePr/>
          <p:nvPr/>
        </p:nvGraphicFramePr>
        <p:xfrm>
          <a:off xmlns:a="http://schemas.openxmlformats.org/drawingml/2006/main" x="8239125" y="1638300"/>
          <a:ext xmlns:a="http://schemas.openxmlformats.org/drawingml/2006/main" cx="3381375" cy="3667125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1428750"/>
                <a:gridCol w="523875"/>
                <a:gridCol w="619125"/>
                <a:gridCol w="80962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Tipo Tabela II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Fundos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4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Inad./cart.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Financeiro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1.215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256,2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7,2%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Cartão de crédito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96,9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Comercial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93,4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Industrial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65,0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1,1%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Serviços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36,5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Setor público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30,6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2,7%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Ações judiciais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22,0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9,8%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Imobiliário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45758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Factoring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57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13,9%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</a:tbl>
          </a:graphicData>
        </a:graphic>
      </p:graphicFrame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E099CAF-D675-46C8-9F7F-4ED750064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A2E084F-CD2F-472D-8A9D-C7BDCFF13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Financeiro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6A157E-7C2C-4651-BB08-FD3CF0032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0617E4-FE73-493B-B088-628F08ED64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Cartão de crédito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1F146B9-999A-45D5-834F-3DB660851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54A4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633E3A-3A3F-400C-A7DF-9BA6421AF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Comercial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199BA6-5AA8-4783-A0CD-E8BB049ACF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606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B377CF6-2025-4D8F-AD85-B265E455E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Industrial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28196E7-C203-4504-849E-E7D931BCD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CD5D432-3CA9-47A5-8211-4E90094DD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Serviços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CA6DE8B-5181-417E-A03B-1AF8B1EDA1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9000" y="547687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04EDAD6-D0F9-4BEF-B213-274CB2AB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31400" y="542925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Setor público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4D78D61-E13B-4A3B-8A05-8DB98DD0C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7AC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C036DBD-6AE3-471A-89F7-326046605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Ações judiciais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1572F7CC-B478-47CA-977D-7E2D9D4AF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3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EC2C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537C7E33-F470-47D3-B787-5F4FA46DE9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5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Agronegócio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9B2299D-0298-4D4F-BEFF-FD541E30E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54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76C7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311DCEF-6CDF-4311-B388-A00F42713B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6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Imobiliário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616DBFD-0443-4D5F-B645-1ECA85D39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2979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D0EC1A7-A9CB-4FDB-AADB-C8C48AC833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Factoring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F29C88E-8668-484B-9023-AE19834BC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37500" y="57245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C3681EF-63A1-4BDB-9B51-5A66BA27B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89900" y="5676900"/>
            <a:ext cx="1651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Consolidado ajustado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4ABF45-CE2B-4974-B5B6-444D31A7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19800"/>
            <a:ext cx="1104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3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3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Coorte: 2.066 fundos e R$ 608,7 bi; consolidado ajustado 5,9%. Factoring e Imobiliário têm base pequena.</a:t>
            </a:r>
          </a:p>
        </p:txBody>
      </p:sp>
    </p:spTree>
    <p:extLst>
      <p:ext uri="{BB962C8B-B14F-4D97-AF65-F5344CB8AC3E}">
        <p14:creationId xmlns:p14="http://schemas.microsoft.com/office/powerpoint/2010/main" val="955023841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F72110C-6D4E-4D62-94F1-6C7FE90BA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RANKING E CONCENTRAÇÃO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93B2417-FEA2-4ED7-9903-D0968A41D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10 mantém cerca de 72% em administração e custódia; gestão subiu a 36,4%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FDE7FF-BBE2-40C2-B923-4B2828A6A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F09500-A064-4F06-8085-5D9563573C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3328E-31A7-4F64-AA3C-EEA5C2382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dez/25 e jun/26. PL ex-FIC; Sistema Petrobras e TAPSO excluídos do numerador e denominador. Administração observada; gestão/custódia históricas reconstruídas com cadastro vigente.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4E2901-56BE-46FF-A026-992177114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4E4784-ADE6-4C81-97FB-2E04C7C64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10 · % DO PL EX-FIC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9DC993-C335-4CC9-A37D-9E562BDEC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9" name="Chart"/>
          <p:cNvGraphicFramePr/>
          <p:nvPr/>
        </p:nvGraphicFramePr>
        <p:xfrm>
          <a:off xmlns:a="http://schemas.openxmlformats.org/drawingml/2006/main" x="5715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d296b8b71f488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F696E2F-0EDB-4260-B37C-BE4836774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46630D-1E9A-4297-A3BC-D74FB9176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476375"/>
            <a:ext cx="5143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TOP 5 · % DO PL EX-FIC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D90157-C531-4FD4-9992-497C3E2A98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743075"/>
            <a:ext cx="5143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3" name="Chart"/>
          <p:cNvGraphicFramePr/>
          <p:nvPr/>
        </p:nvGraphicFramePr>
        <p:xfrm>
          <a:off xmlns:a="http://schemas.openxmlformats.org/drawingml/2006/main" x="6477000" y="1857375"/>
          <a:ext xmlns:a="http://schemas.openxmlformats.org/drawingml/2006/main" cx="5143500" cy="3000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01791fb1cbd44eb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2ED4710-E7DF-486C-A21F-FF8966E727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629150"/>
            <a:ext cx="5143500" cy="333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4B5C0C-6A39-4F0D-BEDA-07D526B231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9112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C797440-C6F7-4EFA-AD2D-BB3EDA408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429250"/>
            <a:ext cx="1104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Cobertura de PL, dez/25 → Jun/26: administração 100,0% → 100,0%; gestão 99,0% → 99,8%; custódia 97,7% → 98,6%.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8C467F7-9580-46C7-80D4-1EACBFFF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8151014-F262-47EC-BE6F-173600EFC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91650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Dez/25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5199B6-EB41-459C-9C1A-7025531B19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29875" y="12668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EAA14BA-8D17-4BC4-9E04-1FEA6F9AC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1219200"/>
            <a:ext cx="1000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Jun/26</a:t>
            </a:r>
          </a:p>
        </p:txBody>
      </p:sp>
    </p:spTree>
    <p:extLst>
      <p:ext uri="{BB962C8B-B14F-4D97-AF65-F5344CB8AC3E}">
        <p14:creationId xmlns:p14="http://schemas.microsoft.com/office/powerpoint/2010/main" val="1408235967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478FC8-8758-4AAF-ACF1-F6FD994BB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EVOLUÇÃO E RANKING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BE3603E-C1E9-45CD-81B9-60625F96B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QI lidera administração; BTG lidera gestão e custódia no ranking geral de 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542C541-996E-4E08-8E5A-100FAFCEAE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BB62C5-762C-4B9D-A496-CDA87F7A11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741CA4B-59E2-49DF-9DD7-0A10F9352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Informe Mensal e cadastro de prestadores, jun/26. Exclui Sistema Petrobras e TAPSO. *Independentes: grupos sem controlador bancário na curadoria; Singulare consolidada em QI Tech e Kanastra no Itaú.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F969421-A20A-4847-A8DC-60F0B0FEA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26AA62-A4FF-442D-898A-98A87F38EE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456D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2C30069-0397-4246-987A-9B7BE6BAA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QI Tech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4F523F-4B89-4A2C-B064-8A1A83F20A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0286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08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CD7452-27CC-4E66-8044-C1B5FFFD6D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82686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F8054A-0C44-4E16-A797-A2CB510E07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36571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A1F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B47902-0244-4301-8E7B-865C2F42D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8971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4864FF-0FB7-481B-B118-40FC04813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42857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55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FBDBE6-BA0F-4AB1-867B-F2CA0DE6CC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95257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4C2A483-CF5A-4465-94C0-74F11646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9143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EC5E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95B5E6-3D2E-430C-9AE2-E28EEE72E9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01543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4D990D9-A901-4334-AA23-F7D4BB889B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5429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C6A1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77B042F-5F7E-47BA-8E0A-97A179F33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7829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CBSF / REAG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35BFB78-6867-4B65-B1DA-869E084C0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61714" y="118110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3787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6991158-5160-4041-AEC6-A5C534CD4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14114" y="1133475"/>
            <a:ext cx="1115786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Demais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31AD9F-540D-4156-9D59-0D96EA63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TODOS OS PRESTADORES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FF3143-5555-49EB-99EA-2F014D916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62075"/>
            <a:ext cx="5286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INDEPENDENTES*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846877C-C38C-400E-85F4-B5C055381F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GERAL</a:t>
            </a:r>
          </a:p>
        </p:txBody>
      </p:sp>
      <p:graphicFrame>
        <p:nvGraphicFramePr>
          <p:cNvPr id="58" name="Chart"/>
          <p:cNvGraphicFramePr/>
          <p:nvPr/>
        </p:nvGraphicFramePr>
        <p:xfrm>
          <a:off xmlns:a="http://schemas.openxmlformats.org/drawingml/2006/main" x="571500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f55069cbea14d5d"/>
          </a:graphicData>
        </a:graphic>
      </p:graphicFrame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D3839F-5BFD-49DA-887C-998E516E2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8115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ADMINISTRAÇÃO · RANKING INDEPENDENTE</a:t>
            </a:r>
          </a:p>
        </p:txBody>
      </p:sp>
      <p:graphicFrame>
        <p:nvGraphicFramePr>
          <p:cNvPr id="60" name="Chart"/>
          <p:cNvGraphicFramePr/>
          <p:nvPr/>
        </p:nvGraphicFramePr>
        <p:xfrm>
          <a:off xmlns:a="http://schemas.openxmlformats.org/drawingml/2006/main" x="6334125" y="175260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2857f51894745a7"/>
          </a:graphicData>
        </a:graphic>
      </p:graphicFrame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728C309-922B-4E63-ABDF-47F3D90E5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GERAL</a:t>
            </a:r>
          </a:p>
        </p:txBody>
      </p:sp>
      <p:graphicFrame>
        <p:nvGraphicFramePr>
          <p:cNvPr id="62" name="Chart"/>
          <p:cNvGraphicFramePr/>
          <p:nvPr/>
        </p:nvGraphicFramePr>
        <p:xfrm>
          <a:off xmlns:a="http://schemas.openxmlformats.org/drawingml/2006/main" x="571500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53d76d88f3d4e4f"/>
          </a:graphicData>
        </a:graphic>
      </p:graphicFrame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984BEBA-3EE6-40EE-97D5-C9052C39C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14675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GESTÃO · RANKING INDEPENDENTE</a:t>
            </a:r>
          </a:p>
        </p:txBody>
      </p:sp>
      <p:graphicFrame>
        <p:nvGraphicFramePr>
          <p:cNvPr id="64" name="Chart"/>
          <p:cNvGraphicFramePr/>
          <p:nvPr/>
        </p:nvGraphicFramePr>
        <p:xfrm>
          <a:off xmlns:a="http://schemas.openxmlformats.org/drawingml/2006/main" x="6334125" y="3286125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96b7871c0c4bf1"/>
          </a:graphicData>
        </a:graphic>
      </p:graphicFrame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A982E75-9782-40F3-A63E-E2856BDE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GERAL</a:t>
            </a:r>
          </a:p>
        </p:txBody>
      </p:sp>
      <p:graphicFrame>
        <p:nvGraphicFramePr>
          <p:cNvPr id="66" name="Chart"/>
          <p:cNvGraphicFramePr/>
          <p:nvPr/>
        </p:nvGraphicFramePr>
        <p:xfrm>
          <a:off xmlns:a="http://schemas.openxmlformats.org/drawingml/2006/main" x="571500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7cd58a7205642c5"/>
          </a:graphicData>
        </a:graphic>
      </p:graphicFrame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ABC97B15-4B43-4A1B-840F-51266CB83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48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8D9399"/>
                </a:solidFill>
                <a:latin typeface="Arial"/>
                <a:ea typeface="Arial"/>
                <a:cs typeface="Arial"/>
              </a:rPr>
              <a:t>CUSTÓDIA · RANKING INDEPENDENTE</a:t>
            </a:r>
          </a:p>
        </p:txBody>
      </p:sp>
      <p:graphicFrame>
        <p:nvGraphicFramePr>
          <p:cNvPr id="68" name="Chart"/>
          <p:cNvGraphicFramePr/>
          <p:nvPr/>
        </p:nvGraphicFramePr>
        <p:xfrm>
          <a:off xmlns:a="http://schemas.openxmlformats.org/drawingml/2006/main" x="6334125" y="4819650"/>
          <a:ext xmlns:a="http://schemas.openxmlformats.org/drawingml/2006/main" cx="5286375" cy="1333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1479162863024a4d"/>
          </a:graphicData>
        </a:graphic>
      </p:graphicFrame>
    </p:spTree>
    <p:extLst>
      <p:ext uri="{BB962C8B-B14F-4D97-AF65-F5344CB8AC3E}">
        <p14:creationId xmlns:p14="http://schemas.microsoft.com/office/powerpoint/2010/main" val="1342721909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F88E22F-050D-4114-9782-B6C5625CE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FIDCs DOS CINCO BANCOS · COORTE ATUAL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47E343-B89F-40BE-8550-6CBA04A53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soma R$ 52,2 bi em jun/26; Consignados I adiciona R$ 7,9 bi ao PL de dez/25*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B1C609E-2702-4DE4-AF2A-C80B0A3F0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424BFF-9039-4003-8B74-B0D29054A0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F90899-3433-4A6D-8DBA-2A467575A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FundosNet e conglomerados prudenciais do BCB consultados em jul/26. Coorte fixa das raízes hoje listadas; PL bruto. O histórico não recupera fundos que saíram do conglomerado atual.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BA155E-6977-480D-98E9-1410A2F7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73E6A9A-1BBF-4AE2-A105-5F7E3A47A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6858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 DA COORTE FIXA · R$ BI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1E9E3C3-D37A-4F7F-9FE4-D60B74458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6858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3" name="Chart"/>
          <p:cNvGraphicFramePr/>
          <p:nvPr/>
        </p:nvGraphicFramePr>
        <p:xfrm>
          <a:off xmlns:a="http://schemas.openxmlformats.org/drawingml/2006/main" x="571500" y="1762125"/>
          <a:ext xmlns:a="http://schemas.openxmlformats.org/drawingml/2006/main" cx="6858000" cy="36671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ca655858e7345d1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2568BD3-467F-49A5-AD68-B66158EA9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381125"/>
            <a:ext cx="3762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· CINCO MAIORES EM JUN/26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2FE1D12-F11C-49EA-942C-5E1E6E74E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1647825"/>
            <a:ext cx="3762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"/>
          <p:cNvGraphicFramePr/>
          <p:nvPr/>
        </p:nvGraphicFramePr>
        <p:xfrm>
          <a:off xmlns:a="http://schemas.openxmlformats.org/drawingml/2006/main" x="7858125" y="1762125"/>
          <a:ext xmlns:a="http://schemas.openxmlformats.org/drawingml/2006/main" cx="3762375" cy="27622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523875"/>
                <a:gridCol w="2333625"/>
                <a:gridCol w="904875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PL · R$ mi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PAN Auto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17.972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8.032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 Consignados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6.007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5.861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51054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BTG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ALTERNATIVE ASSETS 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9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3.031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557535F-F668-4796-BC46-960530B1F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7625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79,7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1D72854-78FF-4E86-8FAB-2305AA225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5219700"/>
            <a:ext cx="33813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5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PL bruto da coorte dos cinco bancos em jun/26. * Dez/25 usa R$ 7,9 bi do IME v2 Fundos.NET 1100733, confirmado pela DF auditada 1150673; o XML traz competência interna divergente e o parser havia lido zero.</a:t>
            </a:r>
          </a:p>
        </p:txBody>
      </p:sp>
    </p:spTree>
    <p:extLst>
      <p:ext uri="{BB962C8B-B14F-4D97-AF65-F5344CB8AC3E}">
        <p14:creationId xmlns:p14="http://schemas.microsoft.com/office/powerpoint/2010/main" val="96293566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548B61-2071-4365-AFCF-983B253645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 · LIDERANÇA EXPLICADA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F553E73-9066-40D0-A7A5-0A22F1B715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Singulare sustenta a escala da QI; sem a coorte bancária, o BTG fica em #3 na gestão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35DD705-11A8-4BE5-A70C-BDCF386380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C37C4E5-DBAA-4169-A8B0-7B96C08E8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360516A-212A-490C-8432-5251165AE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CVM; BCB, alterações societárias nov/24–nov/25; coorte bancária curada a partir dos conglomerados prudenciais. PL ex-FIC, sem Sistema Petrobras/TAPSO.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8C0BA9F-50C6-4D44-B32D-A585642DDA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D1A62D9-F7BC-424B-A46A-DC483C102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095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QI TECH · ADMINISTRAÇÃO EM DEZ/24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284B976-39E6-4146-AD15-ECDBDC465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095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6" name="Chart"/>
          <p:cNvGraphicFramePr/>
          <p:nvPr/>
        </p:nvGraphicFramePr>
        <p:xfrm>
          <a:off xmlns:a="http://schemas.openxmlformats.org/drawingml/2006/main" x="571500" y="1809750"/>
          <a:ext xmlns:a="http://schemas.openxmlformats.org/drawingml/2006/main" cx="50958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dd7b6e55cf740df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793357A-38DD-4771-BDED-6327D3758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286250"/>
            <a:ext cx="47148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95,9%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76B8A0-4BE3-4AC4-BC58-9F16201E63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05350"/>
            <a:ext cx="4714875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do PL administrado do grupo em dez/24 estava no CNPJ legado da Singulare. O controle mudou em nov/24; em nov/25, esse CNPJ incorporou a QI DTVM e passou a QI Corretora.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3BE2307-92C5-4D12-878D-33AD5267E5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811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 · GESTÃO EM JUN/26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41B70A9-C8AA-4F1E-A3ED-99E12A3963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478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1" name="Chart"/>
          <p:cNvGraphicFramePr/>
          <p:nvPr/>
        </p:nvGraphicFramePr>
        <p:xfrm>
          <a:off xmlns:a="http://schemas.openxmlformats.org/drawingml/2006/main" x="6334125" y="1809750"/>
          <a:ext xmlns:a="http://schemas.openxmlformats.org/drawingml/2006/main" cx="5286375" cy="2190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d301822b56c4858"/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4B31E78-E2E5-4658-B0FC-23CA7B0B5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286250"/>
            <a:ext cx="4905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25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R$ 51,3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9B0EFEC-00EA-4FA7-927D-5A2CEB977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4705350"/>
            <a:ext cx="4905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05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5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64,8% do PL gerido pelo BTG está nos 22 FIDCs da coorte com o BTG como gestor. A exclusão leva o banco de #1 a #3.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1452291-93C1-4E25-98A6-B51C2A3B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24625" y="5476875"/>
            <a:ext cx="4905375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795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95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 coorte bancária curada lista 32 raízes do BTG; 30 tinham PL observado em jun/26, somando R$ 52,2 bi. O recorte não atribui controle societário sem evidência documental.</a:t>
            </a:r>
          </a:p>
        </p:txBody>
      </p:sp>
    </p:spTree>
    <p:extLst>
      <p:ext uri="{BB962C8B-B14F-4D97-AF65-F5344CB8AC3E}">
        <p14:creationId xmlns:p14="http://schemas.microsoft.com/office/powerpoint/2010/main" val="617621144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D3012A4-ECE9-414D-AF09-8A86936EB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ADMINISTRAÇÃO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F5C6E9-C816-495B-9AA5-EFA50019A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Bradesco e BTG lideram Recebíveis Comerciais após as exclusões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C6109C-A54B-49AB-8351-1F4C6EC58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8AC06DF-E14C-4D11-8B75-B5114A49F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3EEB7-7616-4166-8826-BC8009B40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639CC35-901E-4D65-91F3-8CA96C845C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99be43c70f5446a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6AA52EE-06C7-4224-A869-2107FFB12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958087704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A9A6FD0-DFAD-4DF1-A563-E65EE6515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GESTÃO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3A7F90-A166-4236-B82E-1C92A6F4C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lidera Crédito Pessoal; Top 10 soma 52% em Recebíveis Comerciais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DED7A69-80A0-488F-82AA-1ACA0B5CD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2ECD0F-A903-457A-9715-962500065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3DCD6B4-906B-4BCA-AD82-F4F2D01C2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53EA6C7-FD1F-4BF9-9D03-F735442AA5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5ea8bfeb8a842b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A8900F8-D357-4D51-AF25-FFF13E862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126071813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29697D7-E830-4C75-9401-C1FEFB5D7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MARKET SHARE · CUSTÓDIA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B52835-E4A2-4EEC-A239-49F2FF970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BTG e Oliveira Trust somam 54% de Crédito Pessoal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89222F-B600-46B9-A878-74C4D944B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DA600B1-EEF2-409B-A110-792D2DE88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F1DB71-4099-4151-AF44-68B4A98427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F055605-DED9-4F6A-BB9E-14E89B043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graphicFrame>
        <p:nvGraphicFramePr>
          <p:cNvPr id="15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945bda3e2ed4c9c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7C1006-35B4-4CCD-B62F-F3E22280E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76950"/>
            <a:ext cx="1076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Corpo principal: 6 focos, 85,3% do PL classificado. Fora do gráfico: 8 focos e R$ 112,6 bi.</a:t>
            </a:r>
          </a:p>
        </p:txBody>
      </p:sp>
    </p:spTree>
    <p:extLst>
      <p:ext uri="{BB962C8B-B14F-4D97-AF65-F5344CB8AC3E}">
        <p14:creationId xmlns:p14="http://schemas.microsoft.com/office/powerpoint/2010/main" val="20617975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2E9D6CA1-C1D5-49FE-87BE-4B01EA14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FIDCs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A9E489C-F413-444D-B8BC-9117CC82F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somam 25,7% do PL ex-FIC; Petrobras e TAPSO são 45,3% do bloco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BA7811-220D-4F3B-8AAF-7B779E8ABC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5FC62D8-17DE-469B-AD81-B73F7A6E6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F54C91-F1BA-4126-89A2-8E7720D1C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 e ANBIMA, jun/26. Ranking derivado do universo completo ex-FIC; denominação legal completa no apêndice.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3C0BC1-A5EC-4936-ABAF-628828217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47D4C41-24ED-443B-9207-A6BCEED84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1735000-E5C6-43E0-91AD-4E0683D50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9660EFE-C7B9-45BF-89D3-EE05D26F8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29526A-666D-4BCF-BEBA-4201104DC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1E93E96-22F7-47D1-8E4C-F9E20B3B4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A20196-767C-4F5F-B6FE-4D1E1164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AE2844-93A8-4299-ADFC-4758906E1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6BD58FE-F365-4333-B097-A77D5A0D8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CA17362-0671-48DA-B5C0-994E312C5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F2A253C-758D-4907-9C0F-A5DA12A2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2C69D5-ED36-4044-8B0F-FB0013A44F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FD2898D-1229-4155-9800-BEBE8CDC74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5E33286-9DDE-4AB5-8949-CBE438A3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7,0%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BC787A-1CAE-43FA-8B53-23D374C71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1BD3DF6-E6B8-45C8-A67F-058A8ACE4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8B106B8-1AF6-49CC-8C06-F60BDAB46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095F20-66A4-4C9A-8C2C-702FD2871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B4A7EA-2E2D-4A6F-B51A-B40ECC7D9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A21452-91DD-4E39-9903-2343AB3D7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03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3B2E05-2E09-4D88-A6D0-9B5A20A6F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41,5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4799985-FBEB-4AEF-A226-BDAF8B765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4,7%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79C412-ACAF-4761-A88D-593E89B4E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6408701-D053-4472-A0A7-123B73804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F776E0E-72C0-4AB2-903A-C79C7B72D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4F15D311-2AB1-4DA4-A1C3-493A33508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A253846-EE80-49F8-9BB1-00D1E55070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EB06F71-3D25-4FFC-B3CF-1F43F8631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6405D0F-8615-4A33-92A4-FCF0A1BB89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18,0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374013E-F652-4C9A-9A2C-5EB64EE62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2,0%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40EB320-E3B0-4227-AAC0-CB0F4CAF5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7D62FA1D-F71A-4865-A40B-3844C1E6E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5236BDA-5593-4FA3-B78F-770BECA4E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D640FEA4-5F30-4D1A-B544-B54487756C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47C5D74-91B3-4780-BD2A-1B92E7DE03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EE96A3-C486-4028-B298-DE704DA35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84CBBF6-5DC3-4B32-A252-5D80B3542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B35B63C-1921-4A4B-B093-022B37CED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C211E67A-6F38-4F2A-B427-330A264E19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683D1060-8A56-49C8-9586-B1E165148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64902FA-65F1-40D1-B74E-F5A8E5006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31CC81E-4F6B-49A2-8614-88CDC77B7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C9C37D03-96A3-48E2-B555-D741A88A0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A9B5993-69F9-4DD7-B4A2-CA3F22A257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MT Global · Consignado Privado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DB8CAE4-B6E3-4A97-8418-595B217BC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9,4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91F5C10-453B-459E-82B2-103AD637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1,1%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D48CBF70-FD36-4E28-9F82-63FF23C884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Consignado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66271A6-84AB-4D26-A436-7723AF515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50D290B-B99B-44D8-9574-E83F490A7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0784E595-6544-416D-902E-24FD014FE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A7CF4EF4-1DA2-4278-AD70-32F852854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7E3EC8A-8959-48E1-9380-EBE817DD1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B6D44935-5E1E-4167-8DA3-0388FF810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21748AF6-DEB6-428A-BE2E-1E4397DC2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1,0%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47B5B82E-F05C-4FBD-B293-0612548C2D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682C2DCF-EBDA-4EC5-9FF4-AA94F678F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940F89F3-A0B9-417D-A603-9D36D2949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CC01FF1B-BD65-4AA8-B3C3-119116FBB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CEDB8F14-344F-42DD-9E46-4F7283E0D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76F34668-3413-463D-BA93-A23CEC3B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 II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83DC4258-3638-49C6-ADE2-722DF04FE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8,0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DD7C35AC-75C1-40A4-B519-4104B9470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0,9%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67332D5F-69EA-438F-ABF6-956FE445C5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D9B15FB6-C3A8-4DD7-8C09-AD2D2F4BA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17CA84E6-BE77-4865-848A-D636FD633D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DFA93BDC-7A65-4266-BE6E-131FECFE5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003231B5-E35A-41CB-B0E7-FD920EBC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0FE74114-79C7-4D30-A363-0B9339D006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Aetos Energia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B2E9C334-B1FF-4B36-A2C5-818F4534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7,4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818227F7-A9A8-45CD-9CC2-4ABB098D97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0,8%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FAA6E4D2-3D2C-4EE4-BC65-C0E458538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Recebíveis Comerciais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642A1E5A-3C83-4189-A8A8-585342709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4344689-E1FD-4E38-8642-45D01321C1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89DBB879-2684-4D79-86D2-B10F64EF7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CABEA490-9EE9-4785-9A03-BB7738C10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9F4258E4-5EE4-4AB3-8C90-37234AC65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DF430B70-45D6-47BC-AAD3-B41B3552B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6,5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F87F1966-C2D1-43D1-B73B-A3E250444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86410FB-2CB4-4CEE-A2DA-BC1C71EA37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528DA362-43BB-4618-A78A-054DDBABC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B80131B9-73E5-45A3-BB04-1DEB35211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41976C0-BFDA-4FAB-B01C-B93A7CC3C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D8A4C7F1-70BC-4C4F-A70C-D8E4C1059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DFE9BF14-4DEC-45C8-876E-F76672919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90F66E86-4890-4108-AB1A-30EA9CD90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8127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29A994FA-E0E8-4D69-8E36-709A40F3E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3372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494F5544-F211-4736-B970-E19DD2210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760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1607E38D-B0EB-4E17-A2D4-B946201286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B9F130CE-14FF-43B3-B4F7-4A78AECA9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2A636334-F3EA-4AE1-B817-394B8AF93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71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8D9FC92-DA77-4CF2-B769-59B9B4946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457325"/>
            <a:ext cx="1552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1A535E72-F801-4322-AE5B-464D5F1C3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457325"/>
            <a:ext cx="438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9E531B68-E005-41DA-A86E-FE4DE13680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Share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C6E5785F-BF99-4B04-87F7-DC52088FB1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457325"/>
            <a:ext cx="1123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Tipo / Foco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F8090A6C-1E7C-45F4-9745-6DED6B30A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457325"/>
            <a:ext cx="104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7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Modelo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B71152BD-9942-4D3D-91B6-F2C5730B8B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A8741012-F046-4409-9539-938901C27F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4D0FD2C5-E937-4C8C-A202-2595419F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66B0540B-F4FB-4395-AD09-6041F5E0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811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0EF4BE4A-10E6-4593-B31D-F6E9255E00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17811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4FCEF22D-45DB-48CA-A6B0-6C9B5EA9E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D309B43D-1CB0-40D7-A588-8C22A0AF0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811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ADA9E35E-C764-4648-B99C-674E9F751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17811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D68356FC-BD6F-48B7-A794-0446788A14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1D62F9EF-674D-40AC-ADDD-9E08BC47D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DFCB9FB-54A4-4085-971F-BCDD0C14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7FAD2AA8-34E2-44E7-A2C2-F96C0F054E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2155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Consignados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0A15D098-1014-4348-B44B-47BB3A1F64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2155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6,0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D78C94B7-0DCA-47CF-81DD-F1D86F1EAD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0AD71274-F12F-4FBC-90DE-CE8F4761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2155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D9DE29EE-6451-477A-9571-25C46536F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2155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E4CC537D-8F64-47D1-BB0B-1682D15C9C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41D56F46-FC6A-45D0-85F4-ABDA4CB23E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70A14388-7C30-415F-8C27-22F25C81FC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1E95069F-7216-4D69-8CFB-599D8F5796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6498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9D12C643-3FAC-4744-8CB7-8572E8037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26498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33014B15-4876-4D90-B94E-2DB27A5A6C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66311705-BCC5-47AD-BB23-7A22F388D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6498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ED63C14B-DF7F-44FB-8968-D02C04D39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26498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8BAB7573-5CDF-4F58-AA52-F8E26F736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CDC1EC26-DAB7-4499-AB7D-40151EA98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049F4CD5-05AA-4ADB-93C1-8DF554984A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B55426A2-5961-43BD-95B9-FB7FDCCDC0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0841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76666955-D90A-47F3-81E4-78F7BD4C7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0841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17FAB356-93C7-45C9-92B1-AEF17B8A5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0,7%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46607FEC-981A-4C06-9947-FA1F9E32F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0841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9890AE67-8EA8-4E46-B5B8-4927C73D8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0841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37615B5C-EA04-4693-B1ED-A4E7B9A37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993BEC0-AA73-4582-B8CE-3F9D64B77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EC54752F-805A-45BB-9842-988FB877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E961E598-92BA-4376-8A8C-75770C6AD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5185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 I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0581610B-70A3-4E23-B258-D7724B4146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5185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4,8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1301E2BB-F637-46C6-BE87-36F204A40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FAED7BA8-A481-416C-8015-71D260560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5185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B598ECAC-42D7-4D7A-9E45-D9D34B68F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5185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E0552BB0-37AE-4D9D-89A1-10B05F30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903A0864-FD60-4A11-98D1-BACEAAC82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F84668DB-23CF-4BA5-A6C4-290664E713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05C6F45-88AD-48B2-ABA5-5EE31164C7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395287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Master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E6D2749E-64CD-4987-92A3-9BB76B7D2F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395287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FCA85B00-C132-49D0-95BF-2A839A6C4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BB8DA8A9-BB60-44F1-A20C-8C2F592885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395287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Pessoal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FACD6E6A-1C07-4674-B1D9-41628A3FF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395287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B68CBCA9-8E81-40DB-A3C6-4ED4B450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5CFFFA46-EB4A-401B-BC41-66A3DC8E79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F9BDE845-BC29-4AFF-B24E-E20A36DFAB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8007B70B-35AB-4D6F-AA10-AA8DD8289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38721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9EB42389-1635-4889-B0BD-CAC45543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38721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3751F58E-E0A3-45BA-A8AD-588E986516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B86F9CAF-205F-4457-99C3-CA9336EB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38721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A6072191-102D-4DBD-9B41-79A3819C4E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38721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D8749C84-3F96-4D73-804C-FFDD72C64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5E38D60A-296B-4FEB-9DE7-6C966C33AC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B17E92B3-7F83-4721-8F25-DDFDA21EE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2E0B390-5D4B-4875-BC8D-A1CCDFF8A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482155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Venda de Veículos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66A2EF18-0DA1-44E6-976F-F8D903743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482155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4,2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D12466FE-9378-4A1B-BFF7-CF45EEB41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B1165AEE-FCCC-43B8-BDC0-35859BCB8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82155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Financiamento de Veículos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9BDAA0A4-DB4C-48B3-9BF7-CFD9BEB36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482155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DC51C9FB-5FE0-40C0-A85A-BCDB901A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680FA1D8-BE7D-4122-A2F3-4486BA348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E1A3EC6D-41B2-4FBC-BD67-AF10388D0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0B430DEE-DC12-4C49-8870-F8A6C7097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25589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1D21489E-86A5-43CC-B7AC-66D633BEBF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25589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16D4E38D-18DF-4B1D-B0BD-11F9A3EE7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0,5%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4B877392-6E6F-44FD-80A7-CAB440E303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25589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Outros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7CB8FE80-D02D-4619-A76F-C8A7F8607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25589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5A7C1EB4-1F29-43C5-9BFA-A8E2AB5CC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FC95E0F0-340F-43E7-8043-1C0A34F23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463B0145-E851-4E78-9918-39C59FA059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714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9A42BD85-2B9A-40C9-AFA4-8609AE78C8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5690235"/>
            <a:ext cx="1552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ACR BEM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2E3AB89D-4A3A-4BBA-93D1-AD4DF7F0A8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01025" y="5690235"/>
            <a:ext cx="4381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C5DF16C-F232-433B-B959-C922E5B50E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53475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0,4%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EEFBBB84-DAC8-4A19-BFBC-045AE0ED7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5690235"/>
            <a:ext cx="11239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Multicarteira Financeiro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C61F4DF1-4FBB-4E0E-9B78-2C4C84366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0" y="5690235"/>
            <a:ext cx="10477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0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0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</p:spTree>
    <p:extLst>
      <p:ext uri="{BB962C8B-B14F-4D97-AF65-F5344CB8AC3E}">
        <p14:creationId xmlns:p14="http://schemas.microsoft.com/office/powerpoint/2010/main" val="67815019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1" name="">
            <a:extLst xmlns:a="http://schemas.openxmlformats.org/drawingml/2006/main">
              <a:ext uri="{FF2B5EF4-FFF2-40B4-BE49-F238E27FC236}">
                <a16:creationId xmlns:a16="http://schemas.microsoft.com/office/drawing/2014/main" id="{046ED23E-9253-495A-85DB-4A95570A89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RANKING · TOP 20 OUTROS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343A33-1058-45B5-8B9E-EF67FF436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Top 20 representam 26,0% de Outros; oficial, hipótese e status ficam separados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F6ED0B-22F9-42B4-8E03-B783A781D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7BA5B9E-A40D-4141-B05F-07F237EC6C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5E1BED-A518-4267-835E-8497F908C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ANBIMA, regulamentos e documentos das ofertas; ranking em jun/26. Evidência e links completos constam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743175D-43F3-4BC9-B693-E722EA01F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2F3B546-2DDD-4E34-A1D9-A2AE2B1921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F68EF47-81AE-4CA1-BCDD-A9DD2794D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3327CEC-5517-430B-9C24-F2913DB2D2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5A92792-8079-4B29-96BB-D52AD16CDC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050C37-8F75-4DDC-8EE5-16C79D398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AF2D7C-05A3-4DD1-9FC4-D27FE4ACFB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73773B-D376-4A92-9F7A-7AD7825C4F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70A5771-5305-43D8-91E5-3B682F228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A704066-74F1-47D6-9455-2E264EAFC5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DE5DB97-6E37-4B3C-BB16-FF1598995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34038A9-77A0-4EB7-BEA7-5C8CA0A02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C26FB1A-1877-4CD2-96B6-529B4FDEA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2A45237-6B77-4E33-ACE5-713768628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8402B3F-D3DD-42FC-A046-F5F6963D13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 Arranjos de pagamento/adquirência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15C788-6B9F-4285-9F80-AB61DB092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5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Arranjos de pagamento/adquirência, dentro de Meios de Pagamento e Cartões.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4C4F76F-929D-4801-AB39-2E322E900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528BEE6-A0F4-409A-8CC8-F10DA972E2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1499D96-144B-41DF-BB08-96AFBDCA1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360372E-F5EE-4BCC-8A3F-845D07586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91E5414-47CA-47DD-89FF-017E670C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8,7 bi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04F810BA-B33B-489D-9A40-80D3F936A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FC0018-1B23-42C1-9F69-D06E15520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 PJ — Crédito privado/mercado de capitais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B3CCE6F-7319-4C10-99F4-C331371DD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945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Crédito privado/mercado de capitais, dentro de Crédito PJ.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F278AA4-6A16-4C33-890B-B82DE0D26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22D82C7C-702D-4A71-8CBE-CDF1B0751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1D7A844-4311-4C44-B753-A795DD843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8B4FD7E-5B5E-4B0E-B039-DBC7B2F043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Rio Vermelho NP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0389C2F-CBC3-498C-AC18-B1BADA260E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6,4 bi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F45433B-4083-4135-9F48-85C63435B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33ED7604-8784-460F-8779-389E19685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 Precatórios/direitos judiciais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1BFAC661-44E9-458C-9478-1BEC12BEC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85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Precatórios/direitos judiciais, dentro de Judicial/Precatórios/NPL.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C10B01FB-4FF9-4710-8181-2253438CF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B5668F9-E0B3-4301-9D10-1D1AFF8AB1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224F0A0-2AEA-42C6-B8B5-28ED00D94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EB76FF1-BD3F-410B-A415-3012FD3B4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213BDEA-EE5B-4961-B93B-F09D7EE16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6,2 bi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68D2E7EF-D32A-4569-A82F-BE38491A3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DA51EC1-5319-47D2-91D2-35596E780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 Arranjos de pagamento/adquirência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7B04F46-7283-4BFF-BDE8-6C6667DB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5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Arranjos de pagamento/adquirência, dentro de Meios de Pagamento e Cartões.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515DB01-6DB9-4F60-BE06-2D1FBE701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2850CEB6-E0E8-49BA-8912-87073C72A1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2E2CC60-A95C-437F-AB52-03EDB60C5B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ADEDE92-BB73-4321-93C0-E489A60AF6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III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BFF979B-E016-4001-9929-311852DE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5,9 bi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C41EE50-92E3-4B15-BDCE-D1AE7E7C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F13FBEBC-EE1F-4DC3-A548-85BE97008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962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Judicial/Precatórios/NPL — Precatórios/direitos judiciais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8EC35A82-9455-4477-B0B7-F838AE9E1E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87852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Precatórios/direitos judiciais, dentro de Judicial/Precatórios/NPL.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2139E6C5-AD7E-4D2B-9AA2-D47DCCB817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51E47F55-3925-4C14-86CF-4827C6C42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55CF5820-7A5B-46CD-B706-46BDD9FC2E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FD4BDC75-313B-44D3-969E-30AB6C7755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Monee I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C089B867-DA11-4378-AB08-E3BE6B5AE4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5,8 bi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CB390BB-A6E7-4B4C-8A14-10D58EFC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C3980810-AB17-44D6-93A1-229AE40278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1097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Meios de Pagamento e Cartões — Arranjos de pagamento/adquirência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C116D834-B136-482B-B869-79AEB99759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72574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regulamento enquadra a carteira em Arranjos de pagamento/adquirência, dentro de Meios de Pagamento e Cartões.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evidência documental — alta</a:t>
            </a:r>
          </a:p>
        </p:txBody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24507D6A-AAD2-447E-ADF7-BCBA862B77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10C217CB-8C2D-4912-8198-231C8B2CC1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781DB927-8618-47C0-87A8-E7C3B5EBAB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642538CD-B409-47DE-B0C8-83F003F3C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Marobá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76FAF67C-BA71-421D-8A48-B5B6CCEAC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4,5 bi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807D0B52-4F37-48BA-9792-777A886C3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BC7D4C93-D58D-41BD-8C3F-C3BBA02908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615D038D-4A1D-4C65-9AB4-4DD73F6EE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C670B745-8CAB-4FAA-BCD1-97DEDAC33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187860E8-02C7-421D-881B-6C8D7355E6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E6BE5E8E-EFB8-4AA2-9DB5-064C1FFB3D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FD5D07F1-ABF7-4079-BCD9-A051F8C1D1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Day Maxx 2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0A0F40F7-D70D-46A6-994F-8F2A33BAB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4,0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AEA8A0E3-C388-473D-AE9A-BBEC7464D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22320AA9-2594-413E-A442-1669EA8FF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D085E9F4-D409-4775-B27B-41B45E425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A4921000-BA5C-4323-AFC0-C9B54AEA1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E5F815B1-C2C2-47CE-9602-4C99911FD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9295BC37-A54E-4CE2-96B5-E3B743214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</a:t>
            </a:r>
          </a:p>
        </p:txBody>
      </p:sp>
      <p:sp>
        <p:nvSpPr>
          <p:cNvPr id="81" name="">
            <a:extLst xmlns:a="http://schemas.openxmlformats.org/drawingml/2006/main">
              <a:ext uri="{FF2B5EF4-FFF2-40B4-BE49-F238E27FC236}">
                <a16:creationId xmlns:a16="http://schemas.microsoft.com/office/drawing/2014/main" id="{459D6828-FDFA-4E5F-816C-CEB6833A6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HAVAN ECONÔMICO, FINANCEIRO E COMERCIAL</a:t>
            </a:r>
          </a:p>
        </p:txBody>
      </p:sp>
      <p:sp>
        <p:nvSpPr>
          <p:cNvPr id="82" name="">
            <a:extLst xmlns:a="http://schemas.openxmlformats.org/drawingml/2006/main">
              <a:ext uri="{FF2B5EF4-FFF2-40B4-BE49-F238E27FC236}">
                <a16:creationId xmlns:a16="http://schemas.microsoft.com/office/drawing/2014/main" id="{847A71E9-D979-4495-B963-BAFE2887D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3,7 bi</a:t>
            </a:r>
          </a:p>
        </p:txBody>
      </p:sp>
      <p:sp>
        <p:nvSpPr>
          <p:cNvPr id="83" name="">
            <a:extLst xmlns:a="http://schemas.openxmlformats.org/drawingml/2006/main">
              <a:ext uri="{FF2B5EF4-FFF2-40B4-BE49-F238E27FC236}">
                <a16:creationId xmlns:a16="http://schemas.microsoft.com/office/drawing/2014/main" id="{B174139A-BFFD-42F0-BF64-422DA6B33D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84" name="">
            <a:extLst xmlns:a="http://schemas.openxmlformats.org/drawingml/2006/main">
              <a:ext uri="{FF2B5EF4-FFF2-40B4-BE49-F238E27FC236}">
                <a16:creationId xmlns:a16="http://schemas.microsoft.com/office/drawing/2014/main" id="{9F27236F-F55F-41DD-BFC4-4B1E79793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85" name="">
            <a:extLst xmlns:a="http://schemas.openxmlformats.org/drawingml/2006/main">
              <a:ext uri="{FF2B5EF4-FFF2-40B4-BE49-F238E27FC236}">
                <a16:creationId xmlns:a16="http://schemas.microsoft.com/office/drawing/2014/main" id="{AEFD4045-D2A0-4E02-9A2A-53B492368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86" name="">
            <a:extLst xmlns:a="http://schemas.openxmlformats.org/drawingml/2006/main">
              <a:ext uri="{FF2B5EF4-FFF2-40B4-BE49-F238E27FC236}">
                <a16:creationId xmlns:a16="http://schemas.microsoft.com/office/drawing/2014/main" id="{D4D3083C-925D-484B-9AB3-7434C11A1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7" name="">
            <a:extLst xmlns:a="http://schemas.openxmlformats.org/drawingml/2006/main">
              <a:ext uri="{FF2B5EF4-FFF2-40B4-BE49-F238E27FC236}">
                <a16:creationId xmlns:a16="http://schemas.microsoft.com/office/drawing/2014/main" id="{BF1467FB-EB31-4252-A81D-76C51BB53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8" name="">
            <a:extLst xmlns:a="http://schemas.openxmlformats.org/drawingml/2006/main">
              <a:ext uri="{FF2B5EF4-FFF2-40B4-BE49-F238E27FC236}">
                <a16:creationId xmlns:a16="http://schemas.microsoft.com/office/drawing/2014/main" id="{E1CC0861-496A-49CF-88CF-56A94DF4F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89" name="">
            <a:extLst xmlns:a="http://schemas.openxmlformats.org/drawingml/2006/main">
              <a:ext uri="{FF2B5EF4-FFF2-40B4-BE49-F238E27FC236}">
                <a16:creationId xmlns:a16="http://schemas.microsoft.com/office/drawing/2014/main" id="{5059D4A2-22E5-482A-B987-0F97FD3E5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RSCRED MULTIESTRÉGIA - NÃO-PADRONIZADOS</a:t>
            </a:r>
          </a:p>
        </p:txBody>
      </p:sp>
      <p:sp>
        <p:nvSpPr>
          <p:cNvPr id="90" name="">
            <a:extLst xmlns:a="http://schemas.openxmlformats.org/drawingml/2006/main">
              <a:ext uri="{FF2B5EF4-FFF2-40B4-BE49-F238E27FC236}">
                <a16:creationId xmlns:a16="http://schemas.microsoft.com/office/drawing/2014/main" id="{5CB4CD73-8F72-4B31-B7DB-2074B5ADEA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790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3,6 bi</a:t>
            </a:r>
          </a:p>
        </p:txBody>
      </p:sp>
      <p:sp>
        <p:nvSpPr>
          <p:cNvPr id="91" name="">
            <a:extLst xmlns:a="http://schemas.openxmlformats.org/drawingml/2006/main">
              <a:ext uri="{FF2B5EF4-FFF2-40B4-BE49-F238E27FC236}">
                <a16:creationId xmlns:a16="http://schemas.microsoft.com/office/drawing/2014/main" id="{460D5A34-EAD0-4A2F-A08F-66F0C0AEB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92" name="">
            <a:extLst xmlns:a="http://schemas.openxmlformats.org/drawingml/2006/main">
              <a:ext uri="{FF2B5EF4-FFF2-40B4-BE49-F238E27FC236}">
                <a16:creationId xmlns:a16="http://schemas.microsoft.com/office/drawing/2014/main" id="{7160F669-CF58-42AF-A194-97F2C4AFB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7665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93" name="">
            <a:extLst xmlns:a="http://schemas.openxmlformats.org/drawingml/2006/main">
              <a:ext uri="{FF2B5EF4-FFF2-40B4-BE49-F238E27FC236}">
                <a16:creationId xmlns:a16="http://schemas.microsoft.com/office/drawing/2014/main" id="{694DD734-BCAD-41EF-8B12-8E091F3A21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7677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94" name="">
            <a:extLst xmlns:a="http://schemas.openxmlformats.org/drawingml/2006/main">
              <a:ext uri="{FF2B5EF4-FFF2-40B4-BE49-F238E27FC236}">
                <a16:creationId xmlns:a16="http://schemas.microsoft.com/office/drawing/2014/main" id="{103A18F4-449C-4185-8F80-F7924843B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428750"/>
            <a:ext cx="542925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5" name="">
            <a:extLst xmlns:a="http://schemas.openxmlformats.org/drawingml/2006/main">
              <a:ext uri="{FF2B5EF4-FFF2-40B4-BE49-F238E27FC236}">
                <a16:creationId xmlns:a16="http://schemas.microsoft.com/office/drawing/2014/main" id="{4625A321-B06C-4ACE-A2AF-89026D961B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457325"/>
            <a:ext cx="1524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#</a:t>
            </a:r>
          </a:p>
        </p:txBody>
      </p:sp>
      <p:sp>
        <p:nvSpPr>
          <p:cNvPr id="96" name="">
            <a:extLst xmlns:a="http://schemas.openxmlformats.org/drawingml/2006/main">
              <a:ext uri="{FF2B5EF4-FFF2-40B4-BE49-F238E27FC236}">
                <a16:creationId xmlns:a16="http://schemas.microsoft.com/office/drawing/2014/main" id="{5CAF5ED0-55A1-4E0D-91FC-5120A9591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457325"/>
            <a:ext cx="1238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</a:t>
            </a:r>
          </a:p>
        </p:txBody>
      </p:sp>
      <p:sp>
        <p:nvSpPr>
          <p:cNvPr id="97" name="">
            <a:extLst xmlns:a="http://schemas.openxmlformats.org/drawingml/2006/main">
              <a:ext uri="{FF2B5EF4-FFF2-40B4-BE49-F238E27FC236}">
                <a16:creationId xmlns:a16="http://schemas.microsoft.com/office/drawing/2014/main" id="{7A14B92C-A692-4D6E-AC24-E7594C001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bi</a:t>
            </a:r>
          </a:p>
        </p:txBody>
      </p:sp>
      <p:sp>
        <p:nvSpPr>
          <p:cNvPr id="98" name="">
            <a:extLst xmlns:a="http://schemas.openxmlformats.org/drawingml/2006/main">
              <a:ext uri="{FF2B5EF4-FFF2-40B4-BE49-F238E27FC236}">
                <a16:creationId xmlns:a16="http://schemas.microsoft.com/office/drawing/2014/main" id="{1D518255-A0D8-4ADA-A2AC-D7E90FB4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457325"/>
            <a:ext cx="790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Oficial</a:t>
            </a:r>
          </a:p>
        </p:txBody>
      </p:sp>
      <p:sp>
        <p:nvSpPr>
          <p:cNvPr id="99" name="">
            <a:extLst xmlns:a="http://schemas.openxmlformats.org/drawingml/2006/main">
              <a:ext uri="{FF2B5EF4-FFF2-40B4-BE49-F238E27FC236}">
                <a16:creationId xmlns:a16="http://schemas.microsoft.com/office/drawing/2014/main" id="{BCF7057A-1396-4BA1-9090-7B2BF192EE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457325"/>
            <a:ext cx="885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Hipótese</a:t>
            </a:r>
          </a:p>
        </p:txBody>
      </p:sp>
      <p:sp>
        <p:nvSpPr>
          <p:cNvPr id="100" name="">
            <a:extLst xmlns:a="http://schemas.openxmlformats.org/drawingml/2006/main">
              <a:ext uri="{FF2B5EF4-FFF2-40B4-BE49-F238E27FC236}">
                <a16:creationId xmlns:a16="http://schemas.microsoft.com/office/drawing/2014/main" id="{42431154-9AAA-4306-9958-E68DE13EED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457325"/>
            <a:ext cx="12668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98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98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Evidência / status</a:t>
            </a:r>
          </a:p>
        </p:txBody>
      </p:sp>
      <p:sp>
        <p:nvSpPr>
          <p:cNvPr id="101" name="">
            <a:extLst xmlns:a="http://schemas.openxmlformats.org/drawingml/2006/main">
              <a:ext uri="{FF2B5EF4-FFF2-40B4-BE49-F238E27FC236}">
                <a16:creationId xmlns:a16="http://schemas.microsoft.com/office/drawing/2014/main" id="{FBBD1FA6-ECD5-4E40-BE75-251A7B45F0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526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2" name="">
            <a:extLst xmlns:a="http://schemas.openxmlformats.org/drawingml/2006/main">
              <a:ext uri="{FF2B5EF4-FFF2-40B4-BE49-F238E27FC236}">
                <a16:creationId xmlns:a16="http://schemas.microsoft.com/office/drawing/2014/main" id="{5A515109-BAA8-4DF3-9338-F1083E08A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774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3" name="">
            <a:extLst xmlns:a="http://schemas.openxmlformats.org/drawingml/2006/main">
              <a:ext uri="{FF2B5EF4-FFF2-40B4-BE49-F238E27FC236}">
                <a16:creationId xmlns:a16="http://schemas.microsoft.com/office/drawing/2014/main" id="{C95DC57A-F178-4865-A312-1D6BB7A06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7811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104" name="">
            <a:extLst xmlns:a="http://schemas.openxmlformats.org/drawingml/2006/main">
              <a:ext uri="{FF2B5EF4-FFF2-40B4-BE49-F238E27FC236}">
                <a16:creationId xmlns:a16="http://schemas.microsoft.com/office/drawing/2014/main" id="{6B59FE7C-86FF-4F64-9866-CB071F346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17811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EXPERT III ILIMITADA</a:t>
            </a:r>
          </a:p>
        </p:txBody>
      </p:sp>
      <p:sp>
        <p:nvSpPr>
          <p:cNvPr id="105" name="">
            <a:extLst xmlns:a="http://schemas.openxmlformats.org/drawingml/2006/main">
              <a:ext uri="{FF2B5EF4-FFF2-40B4-BE49-F238E27FC236}">
                <a16:creationId xmlns:a16="http://schemas.microsoft.com/office/drawing/2014/main" id="{24C7AE02-FAA7-4633-9F79-6EA13094B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811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06" name="">
            <a:extLst xmlns:a="http://schemas.openxmlformats.org/drawingml/2006/main">
              <a:ext uri="{FF2B5EF4-FFF2-40B4-BE49-F238E27FC236}">
                <a16:creationId xmlns:a16="http://schemas.microsoft.com/office/drawing/2014/main" id="{E5CE5EE2-10D5-4EDB-8410-6CFF2A038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17811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07" name="">
            <a:extLst xmlns:a="http://schemas.openxmlformats.org/drawingml/2006/main">
              <a:ext uri="{FF2B5EF4-FFF2-40B4-BE49-F238E27FC236}">
                <a16:creationId xmlns:a16="http://schemas.microsoft.com/office/drawing/2014/main" id="{833AD58D-6DEB-4A22-AC10-42C9CCCB5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17811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08" name="">
            <a:extLst xmlns:a="http://schemas.openxmlformats.org/drawingml/2006/main">
              <a:ext uri="{FF2B5EF4-FFF2-40B4-BE49-F238E27FC236}">
                <a16:creationId xmlns:a16="http://schemas.microsoft.com/office/drawing/2014/main" id="{CAE67B12-858B-4A99-AFC2-00102FF70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17811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09" name="">
            <a:extLst xmlns:a="http://schemas.openxmlformats.org/drawingml/2006/main">
              <a:ext uri="{FF2B5EF4-FFF2-40B4-BE49-F238E27FC236}">
                <a16:creationId xmlns:a16="http://schemas.microsoft.com/office/drawing/2014/main" id="{0222E192-FCFB-4A4E-A7F3-2A2AE3A0C1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1869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0" name="">
            <a:extLst xmlns:a="http://schemas.openxmlformats.org/drawingml/2006/main">
              <a:ext uri="{FF2B5EF4-FFF2-40B4-BE49-F238E27FC236}">
                <a16:creationId xmlns:a16="http://schemas.microsoft.com/office/drawing/2014/main" id="{9E5EFDC5-3718-43D8-97D8-F3AB94B67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117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1" name="">
            <a:extLst xmlns:a="http://schemas.openxmlformats.org/drawingml/2006/main">
              <a:ext uri="{FF2B5EF4-FFF2-40B4-BE49-F238E27FC236}">
                <a16:creationId xmlns:a16="http://schemas.microsoft.com/office/drawing/2014/main" id="{403ADF4D-A497-4598-AEFD-7563E02E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2155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</a:t>
            </a:r>
          </a:p>
        </p:txBody>
      </p:sp>
      <p:sp>
        <p:nvSpPr>
          <p:cNvPr id="112" name="">
            <a:extLst xmlns:a="http://schemas.openxmlformats.org/drawingml/2006/main">
              <a:ext uri="{FF2B5EF4-FFF2-40B4-BE49-F238E27FC236}">
                <a16:creationId xmlns:a16="http://schemas.microsoft.com/office/drawing/2014/main" id="{BA524C8E-BE2E-4FBB-BD5F-22A9DC53E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2155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OCCAM CRÉDITO CORPORATIVO 30</a:t>
            </a:r>
          </a:p>
        </p:txBody>
      </p:sp>
      <p:sp>
        <p:nvSpPr>
          <p:cNvPr id="113" name="">
            <a:extLst xmlns:a="http://schemas.openxmlformats.org/drawingml/2006/main">
              <a:ext uri="{FF2B5EF4-FFF2-40B4-BE49-F238E27FC236}">
                <a16:creationId xmlns:a16="http://schemas.microsoft.com/office/drawing/2014/main" id="{2892F637-4C7E-4726-9DF9-522A68D9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2155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3,5 bi</a:t>
            </a:r>
          </a:p>
        </p:txBody>
      </p:sp>
      <p:sp>
        <p:nvSpPr>
          <p:cNvPr id="114" name="">
            <a:extLst xmlns:a="http://schemas.openxmlformats.org/drawingml/2006/main">
              <a:ext uri="{FF2B5EF4-FFF2-40B4-BE49-F238E27FC236}">
                <a16:creationId xmlns:a16="http://schemas.microsoft.com/office/drawing/2014/main" id="{F117DDF5-3D76-49F3-8B02-DA68DC2064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2155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15" name="">
            <a:extLst xmlns:a="http://schemas.openxmlformats.org/drawingml/2006/main">
              <a:ext uri="{FF2B5EF4-FFF2-40B4-BE49-F238E27FC236}">
                <a16:creationId xmlns:a16="http://schemas.microsoft.com/office/drawing/2014/main" id="{AF49A29B-2D73-4740-9250-040AF3722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2155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16" name="">
            <a:extLst xmlns:a="http://schemas.openxmlformats.org/drawingml/2006/main">
              <a:ext uri="{FF2B5EF4-FFF2-40B4-BE49-F238E27FC236}">
                <a16:creationId xmlns:a16="http://schemas.microsoft.com/office/drawing/2014/main" id="{AE8E7310-22B7-471C-B146-904A3036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2155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17" name="">
            <a:extLst xmlns:a="http://schemas.openxmlformats.org/drawingml/2006/main">
              <a:ext uri="{FF2B5EF4-FFF2-40B4-BE49-F238E27FC236}">
                <a16:creationId xmlns:a16="http://schemas.microsoft.com/office/drawing/2014/main" id="{4A837820-1A82-41B5-9227-9145FC72C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212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8" name="">
            <a:extLst xmlns:a="http://schemas.openxmlformats.org/drawingml/2006/main">
              <a:ext uri="{FF2B5EF4-FFF2-40B4-BE49-F238E27FC236}">
                <a16:creationId xmlns:a16="http://schemas.microsoft.com/office/drawing/2014/main" id="{A3B5427A-4953-456D-BF3F-7AF85D8A9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460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9" name="">
            <a:extLst xmlns:a="http://schemas.openxmlformats.org/drawingml/2006/main">
              <a:ext uri="{FF2B5EF4-FFF2-40B4-BE49-F238E27FC236}">
                <a16:creationId xmlns:a16="http://schemas.microsoft.com/office/drawing/2014/main" id="{89585126-9C1C-4D92-AFE7-9DC46CAF4C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6498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</a:t>
            </a:r>
          </a:p>
        </p:txBody>
      </p:sp>
      <p:sp>
        <p:nvSpPr>
          <p:cNvPr id="120" name="">
            <a:extLst xmlns:a="http://schemas.openxmlformats.org/drawingml/2006/main">
              <a:ext uri="{FF2B5EF4-FFF2-40B4-BE49-F238E27FC236}">
                <a16:creationId xmlns:a16="http://schemas.microsoft.com/office/drawing/2014/main" id="{8A3DD9A6-D7C6-4374-850B-176B63CD0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498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RED REAL LP</a:t>
            </a:r>
          </a:p>
        </p:txBody>
      </p:sp>
      <p:sp>
        <p:nvSpPr>
          <p:cNvPr id="121" name="">
            <a:extLst xmlns:a="http://schemas.openxmlformats.org/drawingml/2006/main">
              <a:ext uri="{FF2B5EF4-FFF2-40B4-BE49-F238E27FC236}">
                <a16:creationId xmlns:a16="http://schemas.microsoft.com/office/drawing/2014/main" id="{E93DF701-9A0A-4893-B56C-D69FAD0CB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26498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22" name="">
            <a:extLst xmlns:a="http://schemas.openxmlformats.org/drawingml/2006/main">
              <a:ext uri="{FF2B5EF4-FFF2-40B4-BE49-F238E27FC236}">
                <a16:creationId xmlns:a16="http://schemas.microsoft.com/office/drawing/2014/main" id="{B615A139-7C62-4081-8800-FCBF9A26F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26498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23" name="">
            <a:extLst xmlns:a="http://schemas.openxmlformats.org/drawingml/2006/main">
              <a:ext uri="{FF2B5EF4-FFF2-40B4-BE49-F238E27FC236}">
                <a16:creationId xmlns:a16="http://schemas.microsoft.com/office/drawing/2014/main" id="{C4FF9D40-46B4-4AB0-9794-0E4E0FC8B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26498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24" name="">
            <a:extLst xmlns:a="http://schemas.openxmlformats.org/drawingml/2006/main">
              <a:ext uri="{FF2B5EF4-FFF2-40B4-BE49-F238E27FC236}">
                <a16:creationId xmlns:a16="http://schemas.microsoft.com/office/drawing/2014/main" id="{6E3A7672-2838-4444-8E24-8180A964A9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26498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25" name="">
            <a:extLst xmlns:a="http://schemas.openxmlformats.org/drawingml/2006/main">
              <a:ext uri="{FF2B5EF4-FFF2-40B4-BE49-F238E27FC236}">
                <a16:creationId xmlns:a16="http://schemas.microsoft.com/office/drawing/2014/main" id="{9F878183-6610-4E46-8AF2-B020902B4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556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6" name="">
            <a:extLst xmlns:a="http://schemas.openxmlformats.org/drawingml/2006/main">
              <a:ext uri="{FF2B5EF4-FFF2-40B4-BE49-F238E27FC236}">
                <a16:creationId xmlns:a16="http://schemas.microsoft.com/office/drawing/2014/main" id="{75442107-02A8-4A1F-AFC0-4E791E33E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04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7" name="">
            <a:extLst xmlns:a="http://schemas.openxmlformats.org/drawingml/2006/main">
              <a:ext uri="{FF2B5EF4-FFF2-40B4-BE49-F238E27FC236}">
                <a16:creationId xmlns:a16="http://schemas.microsoft.com/office/drawing/2014/main" id="{587EF070-012E-4598-87DA-713668BA15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0841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</a:t>
            </a:r>
          </a:p>
        </p:txBody>
      </p:sp>
      <p:sp>
        <p:nvSpPr>
          <p:cNvPr id="128" name="">
            <a:extLst xmlns:a="http://schemas.openxmlformats.org/drawingml/2006/main">
              <a:ext uri="{FF2B5EF4-FFF2-40B4-BE49-F238E27FC236}">
                <a16:creationId xmlns:a16="http://schemas.microsoft.com/office/drawing/2014/main" id="{691D3BBC-FCE8-4D47-B882-CC1BD55E8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0841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ASA</a:t>
            </a:r>
          </a:p>
        </p:txBody>
      </p:sp>
      <p:sp>
        <p:nvSpPr>
          <p:cNvPr id="129" name="">
            <a:extLst xmlns:a="http://schemas.openxmlformats.org/drawingml/2006/main">
              <a:ext uri="{FF2B5EF4-FFF2-40B4-BE49-F238E27FC236}">
                <a16:creationId xmlns:a16="http://schemas.microsoft.com/office/drawing/2014/main" id="{03C6E2EE-5427-4F1F-B194-54CDB2B45B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0841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3,4 bi</a:t>
            </a:r>
          </a:p>
        </p:txBody>
      </p:sp>
      <p:sp>
        <p:nvSpPr>
          <p:cNvPr id="130" name="">
            <a:extLst xmlns:a="http://schemas.openxmlformats.org/drawingml/2006/main">
              <a:ext uri="{FF2B5EF4-FFF2-40B4-BE49-F238E27FC236}">
                <a16:creationId xmlns:a16="http://schemas.microsoft.com/office/drawing/2014/main" id="{ED5D6D46-98D2-4E42-A7EB-927ED353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0841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1" name="">
            <a:extLst xmlns:a="http://schemas.openxmlformats.org/drawingml/2006/main">
              <a:ext uri="{FF2B5EF4-FFF2-40B4-BE49-F238E27FC236}">
                <a16:creationId xmlns:a16="http://schemas.microsoft.com/office/drawing/2014/main" id="{62066EF4-C22D-4429-9529-40453E641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0841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32" name="">
            <a:extLst xmlns:a="http://schemas.openxmlformats.org/drawingml/2006/main">
              <a:ext uri="{FF2B5EF4-FFF2-40B4-BE49-F238E27FC236}">
                <a16:creationId xmlns:a16="http://schemas.microsoft.com/office/drawing/2014/main" id="{B79BA14E-FA1E-4088-A471-9B7D990A7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0841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33" name="">
            <a:extLst xmlns:a="http://schemas.openxmlformats.org/drawingml/2006/main">
              <a:ext uri="{FF2B5EF4-FFF2-40B4-BE49-F238E27FC236}">
                <a16:creationId xmlns:a16="http://schemas.microsoft.com/office/drawing/2014/main" id="{FA4B3279-0A53-4D12-BD51-FF7EF5E36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4899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4" name="">
            <a:extLst xmlns:a="http://schemas.openxmlformats.org/drawingml/2006/main">
              <a:ext uri="{FF2B5EF4-FFF2-40B4-BE49-F238E27FC236}">
                <a16:creationId xmlns:a16="http://schemas.microsoft.com/office/drawing/2014/main" id="{34F02ECC-8CCA-41AB-952B-4BF3FBC1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147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5" name="">
            <a:extLst xmlns:a="http://schemas.openxmlformats.org/drawingml/2006/main">
              <a:ext uri="{FF2B5EF4-FFF2-40B4-BE49-F238E27FC236}">
                <a16:creationId xmlns:a16="http://schemas.microsoft.com/office/drawing/2014/main" id="{1FC83AB6-1208-4976-BB75-A48EE77AC2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5185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15</a:t>
            </a:r>
          </a:p>
        </p:txBody>
      </p:sp>
      <p:sp>
        <p:nvSpPr>
          <p:cNvPr id="136" name="">
            <a:extLst xmlns:a="http://schemas.openxmlformats.org/drawingml/2006/main">
              <a:ext uri="{FF2B5EF4-FFF2-40B4-BE49-F238E27FC236}">
                <a16:creationId xmlns:a16="http://schemas.microsoft.com/office/drawing/2014/main" id="{D6BC4410-E865-46A9-B013-03D6759B6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5185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PCG - BRASIL MULTICARTEIRA</a:t>
            </a:r>
          </a:p>
        </p:txBody>
      </p:sp>
      <p:sp>
        <p:nvSpPr>
          <p:cNvPr id="137" name="">
            <a:extLst xmlns:a="http://schemas.openxmlformats.org/drawingml/2006/main">
              <a:ext uri="{FF2B5EF4-FFF2-40B4-BE49-F238E27FC236}">
                <a16:creationId xmlns:a16="http://schemas.microsoft.com/office/drawing/2014/main" id="{B4AC7DEC-5E32-4CD6-8871-2B4A3AD0FE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5185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38" name="">
            <a:extLst xmlns:a="http://schemas.openxmlformats.org/drawingml/2006/main">
              <a:ext uri="{FF2B5EF4-FFF2-40B4-BE49-F238E27FC236}">
                <a16:creationId xmlns:a16="http://schemas.microsoft.com/office/drawing/2014/main" id="{BE9316EF-39D0-4368-A647-E034C9E2B8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5185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39" name="">
            <a:extLst xmlns:a="http://schemas.openxmlformats.org/drawingml/2006/main">
              <a:ext uri="{FF2B5EF4-FFF2-40B4-BE49-F238E27FC236}">
                <a16:creationId xmlns:a16="http://schemas.microsoft.com/office/drawing/2014/main" id="{F147F164-2918-4870-AB27-F67219666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5185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40" name="">
            <a:extLst xmlns:a="http://schemas.openxmlformats.org/drawingml/2006/main">
              <a:ext uri="{FF2B5EF4-FFF2-40B4-BE49-F238E27FC236}">
                <a16:creationId xmlns:a16="http://schemas.microsoft.com/office/drawing/2014/main" id="{A4AAA5DB-0245-4968-815E-92AFB2C99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5185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1" name="">
            <a:extLst xmlns:a="http://schemas.openxmlformats.org/drawingml/2006/main">
              <a:ext uri="{FF2B5EF4-FFF2-40B4-BE49-F238E27FC236}">
                <a16:creationId xmlns:a16="http://schemas.microsoft.com/office/drawing/2014/main" id="{9FD47CA3-BB36-4964-A328-EAFDCBE08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92430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2" name="">
            <a:extLst xmlns:a="http://schemas.openxmlformats.org/drawingml/2006/main">
              <a:ext uri="{FF2B5EF4-FFF2-40B4-BE49-F238E27FC236}">
                <a16:creationId xmlns:a16="http://schemas.microsoft.com/office/drawing/2014/main" id="{2C474051-2462-4F30-BCFA-99D3EA144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4911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3" name="">
            <a:extLst xmlns:a="http://schemas.openxmlformats.org/drawingml/2006/main">
              <a:ext uri="{FF2B5EF4-FFF2-40B4-BE49-F238E27FC236}">
                <a16:creationId xmlns:a16="http://schemas.microsoft.com/office/drawing/2014/main" id="{DE96BEDA-D4D8-4383-A7D1-E117795EB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95287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16</a:t>
            </a:r>
          </a:p>
        </p:txBody>
      </p:sp>
      <p:sp>
        <p:nvSpPr>
          <p:cNvPr id="144" name="">
            <a:extLst xmlns:a="http://schemas.openxmlformats.org/drawingml/2006/main">
              <a:ext uri="{FF2B5EF4-FFF2-40B4-BE49-F238E27FC236}">
                <a16:creationId xmlns:a16="http://schemas.microsoft.com/office/drawing/2014/main" id="{BD44944E-E6B9-42FE-96E0-ABBFAE935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95287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CARNIVAL</a:t>
            </a:r>
          </a:p>
        </p:txBody>
      </p:sp>
      <p:sp>
        <p:nvSpPr>
          <p:cNvPr id="145" name="">
            <a:extLst xmlns:a="http://schemas.openxmlformats.org/drawingml/2006/main">
              <a:ext uri="{FF2B5EF4-FFF2-40B4-BE49-F238E27FC236}">
                <a16:creationId xmlns:a16="http://schemas.microsoft.com/office/drawing/2014/main" id="{DDD872C3-8E0E-4B71-8797-3BF69FE88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395287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3,1 bi</a:t>
            </a:r>
          </a:p>
        </p:txBody>
      </p:sp>
      <p:sp>
        <p:nvSpPr>
          <p:cNvPr id="146" name="">
            <a:extLst xmlns:a="http://schemas.openxmlformats.org/drawingml/2006/main">
              <a:ext uri="{FF2B5EF4-FFF2-40B4-BE49-F238E27FC236}">
                <a16:creationId xmlns:a16="http://schemas.microsoft.com/office/drawing/2014/main" id="{AB9D5382-E82C-4639-AA6C-63CDB4BB8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395287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47" name="">
            <a:extLst xmlns:a="http://schemas.openxmlformats.org/drawingml/2006/main">
              <a:ext uri="{FF2B5EF4-FFF2-40B4-BE49-F238E27FC236}">
                <a16:creationId xmlns:a16="http://schemas.microsoft.com/office/drawing/2014/main" id="{A62DE750-F1E6-40E8-9E3D-05D9BE5EB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395287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48" name="">
            <a:extLst xmlns:a="http://schemas.openxmlformats.org/drawingml/2006/main">
              <a:ext uri="{FF2B5EF4-FFF2-40B4-BE49-F238E27FC236}">
                <a16:creationId xmlns:a16="http://schemas.microsoft.com/office/drawing/2014/main" id="{EDBCD4BB-AFA0-4916-AAAF-D9F4C1B66B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395287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49" name="">
            <a:extLst xmlns:a="http://schemas.openxmlformats.org/drawingml/2006/main">
              <a:ext uri="{FF2B5EF4-FFF2-40B4-BE49-F238E27FC236}">
                <a16:creationId xmlns:a16="http://schemas.microsoft.com/office/drawing/2014/main" id="{A68638A9-9E39-4841-A6D8-A9C3D8A2A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35864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0" name="">
            <a:extLst xmlns:a="http://schemas.openxmlformats.org/drawingml/2006/main">
              <a:ext uri="{FF2B5EF4-FFF2-40B4-BE49-F238E27FC236}">
                <a16:creationId xmlns:a16="http://schemas.microsoft.com/office/drawing/2014/main" id="{CDACB5C5-A004-4F86-938F-BF8226F1F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8345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1" name="">
            <a:extLst xmlns:a="http://schemas.openxmlformats.org/drawingml/2006/main">
              <a:ext uri="{FF2B5EF4-FFF2-40B4-BE49-F238E27FC236}">
                <a16:creationId xmlns:a16="http://schemas.microsoft.com/office/drawing/2014/main" id="{9B7A3CF1-2BCF-4129-A3A4-9592F4918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38721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17</a:t>
            </a:r>
          </a:p>
        </p:txBody>
      </p:sp>
      <p:sp>
        <p:nvSpPr>
          <p:cNvPr id="152" name="">
            <a:extLst xmlns:a="http://schemas.openxmlformats.org/drawingml/2006/main">
              <a:ext uri="{FF2B5EF4-FFF2-40B4-BE49-F238E27FC236}">
                <a16:creationId xmlns:a16="http://schemas.microsoft.com/office/drawing/2014/main" id="{74C1531A-409E-4E89-9DC3-D38D79768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38721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ALTERNATIVE ASSETS I</a:t>
            </a:r>
          </a:p>
        </p:txBody>
      </p:sp>
      <p:sp>
        <p:nvSpPr>
          <p:cNvPr id="153" name="">
            <a:extLst xmlns:a="http://schemas.openxmlformats.org/drawingml/2006/main">
              <a:ext uri="{FF2B5EF4-FFF2-40B4-BE49-F238E27FC236}">
                <a16:creationId xmlns:a16="http://schemas.microsoft.com/office/drawing/2014/main" id="{6949322A-9795-42A8-A58A-2195E90B8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38721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3,0 bi</a:t>
            </a:r>
          </a:p>
        </p:txBody>
      </p:sp>
      <p:sp>
        <p:nvSpPr>
          <p:cNvPr id="154" name="">
            <a:extLst xmlns:a="http://schemas.openxmlformats.org/drawingml/2006/main">
              <a:ext uri="{FF2B5EF4-FFF2-40B4-BE49-F238E27FC236}">
                <a16:creationId xmlns:a16="http://schemas.microsoft.com/office/drawing/2014/main" id="{4F788207-ABCE-45B6-B134-4A014401C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38721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55" name="">
            <a:extLst xmlns:a="http://schemas.openxmlformats.org/drawingml/2006/main">
              <a:ext uri="{FF2B5EF4-FFF2-40B4-BE49-F238E27FC236}">
                <a16:creationId xmlns:a16="http://schemas.microsoft.com/office/drawing/2014/main" id="{A4EFF252-9383-466C-ADF6-3146F34306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38721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56" name="">
            <a:extLst xmlns:a="http://schemas.openxmlformats.org/drawingml/2006/main">
              <a:ext uri="{FF2B5EF4-FFF2-40B4-BE49-F238E27FC236}">
                <a16:creationId xmlns:a16="http://schemas.microsoft.com/office/drawing/2014/main" id="{6F9CEB7C-4161-47DC-AA4F-61AD8B72B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38721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57" name="">
            <a:extLst xmlns:a="http://schemas.openxmlformats.org/drawingml/2006/main">
              <a:ext uri="{FF2B5EF4-FFF2-40B4-BE49-F238E27FC236}">
                <a16:creationId xmlns:a16="http://schemas.microsoft.com/office/drawing/2014/main" id="{6ACCBD25-D15B-4227-95F5-3935DC06CB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9298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8" name="">
            <a:extLst xmlns:a="http://schemas.openxmlformats.org/drawingml/2006/main">
              <a:ext uri="{FF2B5EF4-FFF2-40B4-BE49-F238E27FC236}">
                <a16:creationId xmlns:a16="http://schemas.microsoft.com/office/drawing/2014/main" id="{E9CD9720-0F7F-42E4-AE93-140D31B2B5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1779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9" name="">
            <a:extLst xmlns:a="http://schemas.openxmlformats.org/drawingml/2006/main">
              <a:ext uri="{FF2B5EF4-FFF2-40B4-BE49-F238E27FC236}">
                <a16:creationId xmlns:a16="http://schemas.microsoft.com/office/drawing/2014/main" id="{637DED3B-C069-40CD-9EBA-A2A6D43C4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482155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</a:t>
            </a:r>
          </a:p>
        </p:txBody>
      </p:sp>
      <p:sp>
        <p:nvSpPr>
          <p:cNvPr id="160" name="">
            <a:extLst xmlns:a="http://schemas.openxmlformats.org/drawingml/2006/main">
              <a:ext uri="{FF2B5EF4-FFF2-40B4-BE49-F238E27FC236}">
                <a16:creationId xmlns:a16="http://schemas.microsoft.com/office/drawing/2014/main" id="{87875C81-4FA1-4CF0-B663-55DE4CD4D4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482155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GSR NÃO PADRONIZADOS</a:t>
            </a:r>
          </a:p>
        </p:txBody>
      </p:sp>
      <p:sp>
        <p:nvSpPr>
          <p:cNvPr id="161" name="">
            <a:extLst xmlns:a="http://schemas.openxmlformats.org/drawingml/2006/main">
              <a:ext uri="{FF2B5EF4-FFF2-40B4-BE49-F238E27FC236}">
                <a16:creationId xmlns:a16="http://schemas.microsoft.com/office/drawing/2014/main" id="{DC6FC67C-506D-4C33-9D2F-0F8EE5447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82155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2,9 bi</a:t>
            </a:r>
          </a:p>
        </p:txBody>
      </p:sp>
      <p:sp>
        <p:nvSpPr>
          <p:cNvPr id="162" name="">
            <a:extLst xmlns:a="http://schemas.openxmlformats.org/drawingml/2006/main">
              <a:ext uri="{FF2B5EF4-FFF2-40B4-BE49-F238E27FC236}">
                <a16:creationId xmlns:a16="http://schemas.microsoft.com/office/drawing/2014/main" id="{A17971E0-A7EC-43CD-898B-FDCC4791E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82155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63" name="">
            <a:extLst xmlns:a="http://schemas.openxmlformats.org/drawingml/2006/main">
              <a:ext uri="{FF2B5EF4-FFF2-40B4-BE49-F238E27FC236}">
                <a16:creationId xmlns:a16="http://schemas.microsoft.com/office/drawing/2014/main" id="{A4757EC3-FFF5-4922-9075-D93BC0141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482155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64" name="">
            <a:extLst xmlns:a="http://schemas.openxmlformats.org/drawingml/2006/main">
              <a:ext uri="{FF2B5EF4-FFF2-40B4-BE49-F238E27FC236}">
                <a16:creationId xmlns:a16="http://schemas.microsoft.com/office/drawing/2014/main" id="{74D88DD1-1EF2-4D0A-8C20-940FA9855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482155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65" name="">
            <a:extLst xmlns:a="http://schemas.openxmlformats.org/drawingml/2006/main">
              <a:ext uri="{FF2B5EF4-FFF2-40B4-BE49-F238E27FC236}">
                <a16:creationId xmlns:a16="http://schemas.microsoft.com/office/drawing/2014/main" id="{33494A92-6F83-4E16-A770-0681C6ABC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22732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6" name="">
            <a:extLst xmlns:a="http://schemas.openxmlformats.org/drawingml/2006/main">
              <a:ext uri="{FF2B5EF4-FFF2-40B4-BE49-F238E27FC236}">
                <a16:creationId xmlns:a16="http://schemas.microsoft.com/office/drawing/2014/main" id="{F3596350-82D0-4ECF-9780-3D8F13532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5213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7" name="">
            <a:extLst xmlns:a="http://schemas.openxmlformats.org/drawingml/2006/main">
              <a:ext uri="{FF2B5EF4-FFF2-40B4-BE49-F238E27FC236}">
                <a16:creationId xmlns:a16="http://schemas.microsoft.com/office/drawing/2014/main" id="{A79A0AA6-7A3D-4D9B-8A94-7AAA295A11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25589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19</a:t>
            </a:r>
          </a:p>
        </p:txBody>
      </p:sp>
      <p:sp>
        <p:nvSpPr>
          <p:cNvPr id="168" name="">
            <a:extLst xmlns:a="http://schemas.openxmlformats.org/drawingml/2006/main">
              <a:ext uri="{FF2B5EF4-FFF2-40B4-BE49-F238E27FC236}">
                <a16:creationId xmlns:a16="http://schemas.microsoft.com/office/drawing/2014/main" id="{3C0225B9-CC3B-4DE4-8221-83A70CD08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25589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MULTISEGMENTOS NPL IPANEMA VI</a:t>
            </a:r>
          </a:p>
        </p:txBody>
      </p:sp>
      <p:sp>
        <p:nvSpPr>
          <p:cNvPr id="169" name="">
            <a:extLst xmlns:a="http://schemas.openxmlformats.org/drawingml/2006/main">
              <a:ext uri="{FF2B5EF4-FFF2-40B4-BE49-F238E27FC236}">
                <a16:creationId xmlns:a16="http://schemas.microsoft.com/office/drawing/2014/main" id="{2C12BE8A-E875-4951-932E-10C6D3956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25589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2,6 bi</a:t>
            </a:r>
          </a:p>
        </p:txBody>
      </p:sp>
      <p:sp>
        <p:nvSpPr>
          <p:cNvPr id="170" name="">
            <a:extLst xmlns:a="http://schemas.openxmlformats.org/drawingml/2006/main">
              <a:ext uri="{FF2B5EF4-FFF2-40B4-BE49-F238E27FC236}">
                <a16:creationId xmlns:a16="http://schemas.microsoft.com/office/drawing/2014/main" id="{077B31A1-C96D-433A-B8A2-0CE5C0DA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5589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1" name="">
            <a:extLst xmlns:a="http://schemas.openxmlformats.org/drawingml/2006/main">
              <a:ext uri="{FF2B5EF4-FFF2-40B4-BE49-F238E27FC236}">
                <a16:creationId xmlns:a16="http://schemas.microsoft.com/office/drawing/2014/main" id="{5DE7E1F0-DEB1-4E02-982D-A62F3DED8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25589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72" name="">
            <a:extLst xmlns:a="http://schemas.openxmlformats.org/drawingml/2006/main">
              <a:ext uri="{FF2B5EF4-FFF2-40B4-BE49-F238E27FC236}">
                <a16:creationId xmlns:a16="http://schemas.microsoft.com/office/drawing/2014/main" id="{35710A29-E241-41EC-BB63-B7B9B3C33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25589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  <p:sp>
        <p:nvSpPr>
          <p:cNvPr id="173" name="">
            <a:extLst xmlns:a="http://schemas.openxmlformats.org/drawingml/2006/main">
              <a:ext uri="{FF2B5EF4-FFF2-40B4-BE49-F238E27FC236}">
                <a16:creationId xmlns:a16="http://schemas.microsoft.com/office/drawing/2014/main" id="{BEDB2044-2845-461C-A17A-F6F5C077E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661660"/>
            <a:ext cx="5429250" cy="43434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4" name="">
            <a:extLst xmlns:a="http://schemas.openxmlformats.org/drawingml/2006/main">
              <a:ext uri="{FF2B5EF4-FFF2-40B4-BE49-F238E27FC236}">
                <a16:creationId xmlns:a16="http://schemas.microsoft.com/office/drawing/2014/main" id="{724558DA-6DBE-43B3-B509-9393E2FCC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6086475"/>
            <a:ext cx="5429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5" name="">
            <a:extLst xmlns:a="http://schemas.openxmlformats.org/drawingml/2006/main">
              <a:ext uri="{FF2B5EF4-FFF2-40B4-BE49-F238E27FC236}">
                <a16:creationId xmlns:a16="http://schemas.microsoft.com/office/drawing/2014/main" id="{1A475F82-5F71-4CAD-A83A-3317385EE8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690235"/>
            <a:ext cx="15240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</a:t>
            </a:r>
          </a:p>
        </p:txBody>
      </p:sp>
      <p:sp>
        <p:nvSpPr>
          <p:cNvPr id="176" name="">
            <a:extLst xmlns:a="http://schemas.openxmlformats.org/drawingml/2006/main">
              <a:ext uri="{FF2B5EF4-FFF2-40B4-BE49-F238E27FC236}">
                <a16:creationId xmlns:a16="http://schemas.microsoft.com/office/drawing/2014/main" id="{D902FDA1-B320-4379-BEE9-73FF4766AE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5690235"/>
            <a:ext cx="1238250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ARTESANAL CRÉDITO PRIVADO</a:t>
            </a:r>
          </a:p>
        </p:txBody>
      </p:sp>
      <p:sp>
        <p:nvSpPr>
          <p:cNvPr id="177" name="">
            <a:extLst xmlns:a="http://schemas.openxmlformats.org/drawingml/2006/main">
              <a:ext uri="{FF2B5EF4-FFF2-40B4-BE49-F238E27FC236}">
                <a16:creationId xmlns:a16="http://schemas.microsoft.com/office/drawing/2014/main" id="{6709ED53-474F-4579-945E-7B53FB033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90235"/>
            <a:ext cx="409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2,5 bi</a:t>
            </a:r>
          </a:p>
        </p:txBody>
      </p:sp>
      <p:sp>
        <p:nvSpPr>
          <p:cNvPr id="178" name="">
            <a:extLst xmlns:a="http://schemas.openxmlformats.org/drawingml/2006/main">
              <a:ext uri="{FF2B5EF4-FFF2-40B4-BE49-F238E27FC236}">
                <a16:creationId xmlns:a16="http://schemas.microsoft.com/office/drawing/2014/main" id="{54F6CECA-6EBF-42EE-A806-A2837CCB9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690235"/>
            <a:ext cx="79057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| Multicarteira Outros</a:t>
            </a:r>
          </a:p>
        </p:txBody>
      </p:sp>
      <p:sp>
        <p:nvSpPr>
          <p:cNvPr id="179" name="">
            <a:extLst xmlns:a="http://schemas.openxmlformats.org/drawingml/2006/main">
              <a:ext uri="{FF2B5EF4-FFF2-40B4-BE49-F238E27FC236}">
                <a16:creationId xmlns:a16="http://schemas.microsoft.com/office/drawing/2014/main" id="{E0E6EBC4-27C9-4A14-85BA-4B0E6F14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6400" y="5690235"/>
            <a:ext cx="885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hipótese documental.</a:t>
            </a:r>
          </a:p>
        </p:txBody>
      </p:sp>
      <p:sp>
        <p:nvSpPr>
          <p:cNvPr id="180" name="">
            <a:extLst xmlns:a="http://schemas.openxmlformats.org/drawingml/2006/main">
              <a:ext uri="{FF2B5EF4-FFF2-40B4-BE49-F238E27FC236}">
                <a16:creationId xmlns:a16="http://schemas.microsoft.com/office/drawing/2014/main" id="{DA73EEAC-5A6B-40B7-A776-4831FD0E7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96525" y="5690235"/>
            <a:ext cx="1266825" cy="37719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Sem trecho citável no corpus consultado.</a:t>
            </a:r>
          </a:p>
          <a:p xmlns:a="http://schemas.openxmlformats.org/drawingml/2006/main">
            <a:pPr algn="l">
              <a:lnSpc>
                <a:spcPct val="95000"/>
              </a:lnSpc>
              <a:buNone/>
              <a:defRPr sz="72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2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pendente</a:t>
            </a:r>
          </a:p>
        </p:txBody>
      </p:sp>
    </p:spTree>
    <p:extLst>
      <p:ext uri="{BB962C8B-B14F-4D97-AF65-F5344CB8AC3E}">
        <p14:creationId xmlns:p14="http://schemas.microsoft.com/office/powerpoint/2010/main" val="78012824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F45465E-B9C9-4A96-AFDD-77CFEA0C0B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MODELO DE PRESTAÇÃO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1492DB-9DC7-479F-A2BB-D444FCD61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Monoestruturas são 8,0% dos fundos e 35,7% do PL; dados incompletos cobrem 1,2%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F8E11B2-6C07-4D7B-88FC-467C32CB6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9801399-DFA9-4DC1-9AB3-1DD00568C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08E127A-EB1F-4649-9A00-611F465BE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cadastro vigente em jun/26. Definição mono: mesmo conglomerado normalizado em administração, gestão e custódia.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6EA4841-2812-451E-B043-06C5A86B0F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22</a:t>
            </a:r>
          </a:p>
        </p:txBody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476375"/>
          <a:ext xmlns:a="http://schemas.openxmlformats.org/drawingml/2006/main" cx="7048500" cy="41910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ffbdd7fe5e7f4a8f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0D22A66-493F-4D60-AF51-A5CD356864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5057775"/>
            <a:ext cx="6000750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76F3D9-B07E-467D-A06A-5E9927C72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476375"/>
            <a:ext cx="3524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E QUANTIDADE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23EB6A-412F-4EF9-B45B-7412FBF69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743075"/>
            <a:ext cx="35242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05CE9E1-D4FE-4FB4-AC2B-61AC19C8C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96215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E9937B5-F4BA-4222-9E0F-74952C4A2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196215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341 · R$ 342,9 bi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C08A762-3D1B-4263-99BE-53F7BB0AC5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46856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D97F9E6-BB32-42CC-BF59-4EFAEB1EB2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52571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Gestão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54F6084-24B7-4F9A-BB9E-1FDF8514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252571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33 · R$ 24,1 bi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4D3EB4-03AA-4F34-B01B-61FE7C830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32125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C4AC70A-810A-46CA-8D52-FFB40EB32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89275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Administração + Custódia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2FBF6D2-0FD8-4862-B4FC-467CB4199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089275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3.441 · R$ 525,1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C5B264F-CA6C-4464-98D7-9D5D7C16B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595688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6F1485E-C4C7-4148-A76A-DE4BE85CB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652838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Gestão + Custódia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F46A450-08A0-4743-A80C-37839E28A3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3652838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39 · R$ 8,2 bi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3251BFA-8731-405C-A1DC-8664C0A6B9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159250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30B167E-FEFA-4FD2-AEF5-AC1DA8596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216400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Três prestadores distintos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0F2CCB0-33B3-455A-BDF9-B08EC66F7A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216400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321 · R$ 49,6 bi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F0684D9-6547-443F-9833-3F78CCCF4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22813"/>
            <a:ext cx="352425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CBEF73B-D087-468F-844B-D55822AEFD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779963"/>
            <a:ext cx="1867853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Dados incompletos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4A6C9EC-A306-47B0-803C-A933BA6E6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69830" y="4779963"/>
            <a:ext cx="1550670" cy="44926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72 · R$ 11,5 bi</a:t>
            </a:r>
          </a:p>
        </p:txBody>
      </p:sp>
    </p:spTree>
    <p:extLst>
      <p:ext uri="{BB962C8B-B14F-4D97-AF65-F5344CB8AC3E}">
        <p14:creationId xmlns:p14="http://schemas.microsoft.com/office/powerpoint/2010/main" val="1204769155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0" name="">
            <a:extLst xmlns:a="http://schemas.openxmlformats.org/drawingml/2006/main">
              <a:ext uri="{FF2B5EF4-FFF2-40B4-BE49-F238E27FC236}">
                <a16:creationId xmlns:a16="http://schemas.microsoft.com/office/drawing/2014/main" id="{DB20D957-E7B2-4183-B17C-D7665FB98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CONCENTRAÇÃO DAS MONOESTRUTURAS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BF6ADF-7222-44CA-B419-C215D822A9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95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9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Sistema Petrobras é todo o PL mono do BB; TAPSO representa 54% do PL mono da Oliveira Trust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C80AA54-AE7A-4302-8ECF-24A4A910FB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5F6A8B-1902-4B11-8F05-0221032F9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119A9A-97F6-4C4F-AD1A-C756EE156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jun/26. Preço, propostas e contratos não integram a base.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9636EC9-C90F-4C00-B993-71EA2D4C4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7BFD23-EC68-42E7-A762-F874F9D82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76375"/>
            <a:ext cx="70008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3D30339-2BAA-4B51-957F-2D172C07D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504950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Grupo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630737-8417-440A-938B-A8C240FB5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PL mono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603600-E6A4-48C4-9165-AC424B4D8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504950"/>
            <a:ext cx="4095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Fundos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B8CEF86-198E-4C9D-8122-BF8A969CC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504950"/>
            <a:ext cx="1981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Maior fundo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FA4D81A-7480-4F08-932A-05EE2B999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D01301-5830-44DF-9029-C21885F8B9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504950"/>
            <a:ext cx="647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Top 3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CC586-C116-4192-838A-8A047ABE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504950"/>
            <a:ext cx="742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HHI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AE8972-9F01-43A2-98C7-DBEFA259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8002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5CDCD24-4629-474C-BD50-BCE142876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9E54119-CFE3-423A-8307-E9FB08CF7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288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BTG Pactual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5DAC0E-D74B-4D38-ABA9-4E5A9285A8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81,0 bi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AE3A86-A369-4926-BC40-636DE043D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18288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77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C8B55B5-D2FA-41F8-B102-97A09EBC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18288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PAN Auto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A47BBE6-0486-43C6-B9B2-FEDC4B45F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22,2%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502C2D6-D85E-4B83-90B7-A384D41E9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18288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43,7%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0DA133C-85C8-4EBB-97A2-0333E41A83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18288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923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4BD46FA-23CA-48B3-A578-E17F05B45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288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95A4EB-7B2A-45C4-B48B-58AA2ABE62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480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B7998DD-9643-49EB-8119-30B70786F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574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508ED4-CDA5-4791-8C5D-0FFE718834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76,7 bi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E1E383-2939-4FCD-981F-8472D3086C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24574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A73684-7E7C-4028-8B06-E6185AFCB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24574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TAPSO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4A7D688-AE86-4A45-99F9-3F888CFAA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54,1%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0482E16-7901-48BB-BCAF-F2221B843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24574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62,9%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C318027-324D-4408-8104-BF00AB490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24574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3.056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5B39BCC-156B-4E79-BBDE-48DCB1A14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0575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D748530-DC50-4555-ADDE-1F4D7EECA2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766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4770CB4-78F7-4720-9A1D-F168D8E5E8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0861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8311ACB-5C86-4617-B118-8ED6112AC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4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61,3 bi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1DC1C3F-4411-4F95-94CE-A8AF74F6B4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0861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D4AB384-6F62-4AC7-9471-0717108F13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0861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146BA88-A664-4AA7-87B2-A6D114714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3EA8135-1AF5-4DE0-BB7A-408E209B7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0861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100,0%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6DF02057-079E-4325-9C95-8C290DA61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0861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10.000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4936B2F-0A03-4493-8D7A-C3EE61813B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861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DBFD9FE-9114-4787-80A8-42BBCC470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9E5B0FC-8E8B-448E-A243-62ACD7A702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7147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Bradesco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A69B67CB-6851-4E49-BE88-9688A87F6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39,3 bi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B156FD40-B7C7-48B0-9ECC-9F163BD0F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37147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00ACA324-996E-442D-9354-8E277292C2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37147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Bela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F5C994B9-8B83-48F8-9D62-2AF077B0C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25,4%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267A3490-3E8C-476C-8EFE-C8CDB8F59A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37147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51,3%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5A1C402-EFF9-427A-A788-79D11B31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37147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1.196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47885B5E-A0F8-431B-9179-0329E5EA9B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1482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9C564AF-4DEB-4EE3-ADB1-DE0E5328D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3395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69CE443C-7F88-41E5-BB0B-ECECAF590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34340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Genial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EF2F3FF2-63A3-4EC8-8B45-9807F97215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26,9 bi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1C2CE952-4011-4FD7-8F4D-B612C43577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34340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C23EA4D2-E89F-4BE3-B3B6-3DF2FF1AC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34340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 I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47FC1983-641C-44CD-B1CC-7768B4ADF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23,2%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D390EEE-0E50-49EB-9EBC-E762A6FAE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34340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50,1%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0A11E22C-0265-411A-AE3C-30626EB3BC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34340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1.111</a:t>
            </a:r>
          </a:p>
        </p:txBody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1952B7A8-3BE5-4411-82C5-163A79145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43475"/>
            <a:ext cx="7000875" cy="6286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DFC7248-05D5-4262-A13C-24DD357DDC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562600"/>
            <a:ext cx="70008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5384E445-80CB-470E-BBB2-EB9B7AC80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972050"/>
            <a:ext cx="1028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</a:t>
            </a:r>
          </a:p>
        </p:txBody>
      </p:sp>
      <p:sp>
        <p:nvSpPr>
          <p:cNvPr id="63" name="">
            <a:extLst xmlns:a="http://schemas.openxmlformats.org/drawingml/2006/main">
              <a:ext uri="{FF2B5EF4-FFF2-40B4-BE49-F238E27FC236}">
                <a16:creationId xmlns:a16="http://schemas.microsoft.com/office/drawing/2014/main" id="{601D7B5B-163C-4BE5-BABA-AAF21593DF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18,9 bi</a:t>
            </a:r>
          </a:p>
        </p:txBody>
      </p:sp>
      <p:sp>
        <p:nvSpPr>
          <p:cNvPr id="64" name="">
            <a:extLst xmlns:a="http://schemas.openxmlformats.org/drawingml/2006/main">
              <a:ext uri="{FF2B5EF4-FFF2-40B4-BE49-F238E27FC236}">
                <a16:creationId xmlns:a16="http://schemas.microsoft.com/office/drawing/2014/main" id="{13836088-4BE2-4C89-94EE-BB1D33AD3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28900" y="4972050"/>
            <a:ext cx="4095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65" name="">
            <a:extLst xmlns:a="http://schemas.openxmlformats.org/drawingml/2006/main">
              <a:ext uri="{FF2B5EF4-FFF2-40B4-BE49-F238E27FC236}">
                <a16:creationId xmlns:a16="http://schemas.microsoft.com/office/drawing/2014/main" id="{AC776CBC-A694-4CFE-8EF5-3F9ED2DF2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52775" y="4972050"/>
            <a:ext cx="19812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Itaú Crédito Privado</a:t>
            </a:r>
          </a:p>
        </p:txBody>
      </p:sp>
      <p:sp>
        <p:nvSpPr>
          <p:cNvPr id="66" name="">
            <a:extLst xmlns:a="http://schemas.openxmlformats.org/drawingml/2006/main">
              <a:ext uri="{FF2B5EF4-FFF2-40B4-BE49-F238E27FC236}">
                <a16:creationId xmlns:a16="http://schemas.microsoft.com/office/drawing/2014/main" id="{00CA9DD5-056C-4FEC-A76B-AF89E8CD2C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48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46,0%</a:t>
            </a:r>
          </a:p>
        </p:txBody>
      </p:sp>
      <p:sp>
        <p:nvSpPr>
          <p:cNvPr id="67" name="">
            <a:extLst xmlns:a="http://schemas.openxmlformats.org/drawingml/2006/main">
              <a:ext uri="{FF2B5EF4-FFF2-40B4-BE49-F238E27FC236}">
                <a16:creationId xmlns:a16="http://schemas.microsoft.com/office/drawing/2014/main" id="{1AB01C73-88B0-491C-80EC-38261521E1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0275" y="4972050"/>
            <a:ext cx="6477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57,6%</a:t>
            </a:r>
          </a:p>
        </p:txBody>
      </p:sp>
      <p:sp>
        <p:nvSpPr>
          <p:cNvPr id="68" name="">
            <a:extLst xmlns:a="http://schemas.openxmlformats.org/drawingml/2006/main">
              <a:ext uri="{FF2B5EF4-FFF2-40B4-BE49-F238E27FC236}">
                <a16:creationId xmlns:a16="http://schemas.microsoft.com/office/drawing/2014/main" id="{AF4F4128-AFB1-424E-82AA-4C0FB969DA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2275" y="4972050"/>
            <a:ext cx="74295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84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4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2.290</a:t>
            </a:r>
          </a:p>
        </p:txBody>
      </p:sp>
      <p:sp>
        <p:nvSpPr>
          <p:cNvPr id="69" name="">
            <a:extLst xmlns:a="http://schemas.openxmlformats.org/drawingml/2006/main">
              <a:ext uri="{FF2B5EF4-FFF2-40B4-BE49-F238E27FC236}">
                <a16:creationId xmlns:a16="http://schemas.microsoft.com/office/drawing/2014/main" id="{46C62A3E-44BF-4FE9-98E7-C452B4E6B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657850"/>
            <a:ext cx="7000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HHI em pontos de 0 a 10.000; 10.000 corresponde a um único fundo.</a:t>
            </a:r>
          </a:p>
        </p:txBody>
      </p:sp>
      <p:sp>
        <p:nvSpPr>
          <p:cNvPr id="70" name="">
            <a:extLst xmlns:a="http://schemas.openxmlformats.org/drawingml/2006/main">
              <a:ext uri="{FF2B5EF4-FFF2-40B4-BE49-F238E27FC236}">
                <a16:creationId xmlns:a16="http://schemas.microsoft.com/office/drawing/2014/main" id="{9E7CE6C3-F395-498D-8FC6-50B822CCC2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476375"/>
            <a:ext cx="3571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DOIS CASOS</a:t>
            </a:r>
          </a:p>
        </p:txBody>
      </p:sp>
      <p:sp>
        <p:nvSpPr>
          <p:cNvPr id="71" name="">
            <a:extLst xmlns:a="http://schemas.openxmlformats.org/drawingml/2006/main">
              <a:ext uri="{FF2B5EF4-FFF2-40B4-BE49-F238E27FC236}">
                <a16:creationId xmlns:a16="http://schemas.microsoft.com/office/drawing/2014/main" id="{3DF0B67C-D541-46BC-AC1A-CAADC52F9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1743075"/>
            <a:ext cx="35718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2" name="">
            <a:extLst xmlns:a="http://schemas.openxmlformats.org/drawingml/2006/main">
              <a:ext uri="{FF2B5EF4-FFF2-40B4-BE49-F238E27FC236}">
                <a16:creationId xmlns:a16="http://schemas.microsoft.com/office/drawing/2014/main" id="{C91D7DEB-3FE2-4503-AA81-5BE767CDC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0002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BANCO DO BRASIL</a:t>
            </a:r>
          </a:p>
        </p:txBody>
      </p:sp>
      <p:sp>
        <p:nvSpPr>
          <p:cNvPr id="73" name="">
            <a:extLst xmlns:a="http://schemas.openxmlformats.org/drawingml/2006/main">
              <a:ext uri="{FF2B5EF4-FFF2-40B4-BE49-F238E27FC236}">
                <a16:creationId xmlns:a16="http://schemas.microsoft.com/office/drawing/2014/main" id="{7CB84B76-8A15-49D8-A011-BD260E4E4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2860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FIDC Sistema Petrobras</a:t>
            </a:r>
          </a:p>
        </p:txBody>
      </p:sp>
      <p:sp>
        <p:nvSpPr>
          <p:cNvPr id="74" name="">
            <a:extLst xmlns:a="http://schemas.openxmlformats.org/drawingml/2006/main">
              <a:ext uri="{FF2B5EF4-FFF2-40B4-BE49-F238E27FC236}">
                <a16:creationId xmlns:a16="http://schemas.microsoft.com/office/drawing/2014/main" id="{89FBC83C-2C75-4718-AA3C-21D97C27A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26670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R$ 61,3 bi</a:t>
            </a:r>
          </a:p>
        </p:txBody>
      </p:sp>
      <p:sp>
        <p:nvSpPr>
          <p:cNvPr id="75" name="">
            <a:extLst xmlns:a="http://schemas.openxmlformats.org/drawingml/2006/main">
              <a:ext uri="{FF2B5EF4-FFF2-40B4-BE49-F238E27FC236}">
                <a16:creationId xmlns:a16="http://schemas.microsoft.com/office/drawing/2014/main" id="{115707B4-5A30-4273-A7CA-A42057E15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0861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1 fundo; maior ticket = 100% do PL mono.</a:t>
            </a:r>
          </a:p>
        </p:txBody>
      </p:sp>
      <p:sp>
        <p:nvSpPr>
          <p:cNvPr id="76" name="">
            <a:extLst xmlns:a="http://schemas.openxmlformats.org/drawingml/2006/main">
              <a:ext uri="{FF2B5EF4-FFF2-40B4-BE49-F238E27FC236}">
                <a16:creationId xmlns:a16="http://schemas.microsoft.com/office/drawing/2014/main" id="{4E7A53EA-80DC-456B-A92F-0B0B091DF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3714750"/>
            <a:ext cx="357187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825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OLIVEIRA TRUST</a:t>
            </a:r>
          </a:p>
        </p:txBody>
      </p:sp>
      <p:sp>
        <p:nvSpPr>
          <p:cNvPr id="77" name="">
            <a:extLst xmlns:a="http://schemas.openxmlformats.org/drawingml/2006/main">
              <a:ext uri="{FF2B5EF4-FFF2-40B4-BE49-F238E27FC236}">
                <a16:creationId xmlns:a16="http://schemas.microsoft.com/office/drawing/2014/main" id="{1485B082-6DF1-4C93-999F-2BEBAC3D0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000500"/>
            <a:ext cx="35718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TAPSO FIDC</a:t>
            </a:r>
          </a:p>
        </p:txBody>
      </p:sp>
      <p:sp>
        <p:nvSpPr>
          <p:cNvPr id="78" name="">
            <a:extLst xmlns:a="http://schemas.openxmlformats.org/drawingml/2006/main">
              <a:ext uri="{FF2B5EF4-FFF2-40B4-BE49-F238E27FC236}">
                <a16:creationId xmlns:a16="http://schemas.microsoft.com/office/drawing/2014/main" id="{6D99A5AE-150A-4EC8-A8B6-D0C9C02B66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381500"/>
            <a:ext cx="3571875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025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R$ 41,5 bi</a:t>
            </a:r>
          </a:p>
        </p:txBody>
      </p:sp>
      <p:sp>
        <p:nvSpPr>
          <p:cNvPr id="79" name="">
            <a:extLst xmlns:a="http://schemas.openxmlformats.org/drawingml/2006/main">
              <a:ext uri="{FF2B5EF4-FFF2-40B4-BE49-F238E27FC236}">
                <a16:creationId xmlns:a16="http://schemas.microsoft.com/office/drawing/2014/main" id="{285D1F82-EAF3-4436-993F-CC5AD110F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8625" y="4800600"/>
            <a:ext cx="3571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47 fundos; TAPSO = 54,1% do PL mono.</a:t>
            </a:r>
          </a:p>
        </p:txBody>
      </p:sp>
    </p:spTree>
    <p:extLst>
      <p:ext uri="{BB962C8B-B14F-4D97-AF65-F5344CB8AC3E}">
        <p14:creationId xmlns:p14="http://schemas.microsoft.com/office/powerpoint/2010/main" val="1961566009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3CB4992-C884-4A7A-874D-14E6269FA0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VOLUME E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14EFBA-DD16-4CB9-8174-70A9BEE1F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Jan–jun/26 somou R$ 65,5 bi em 771 ofertas, alta de 14,6% sobre 2025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E088C17-128F-4476-80F1-ED51BFC845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C5CC084-B8EB-416F-9B89-5AB982E39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2582C2-8654-4964-81A8-5588FF76E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Cotas de FIDC; ofertas primárias encerradas, todos os ritos, volume registrado &gt; 0.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786CA3-520E-4A71-B768-9EA21ECA26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69676BD-CC0C-4B25-867A-921F6FE1D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E TICKET · FY / YTD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BDE2C78-3463-4A1D-912E-3C3357D08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571500" y="1714500"/>
          <a:ext xmlns:a="http://schemas.openxmlformats.org/drawingml/2006/main" cx="5238750" cy="23336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cfc9b13005041a5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BBB552F-0DA5-4906-BB49-B7064C6A85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3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ACUMULADO · JAN–DEZ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BB33ED5-DDD8-4767-A3F0-69254A62B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47825"/>
            <a:ext cx="523875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6381750" y="1714500"/>
          <a:ext xmlns:a="http://schemas.openxmlformats.org/drawingml/2006/main" cx="5238750" cy="21621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3d02ff8384b4223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AC650AB-A058-4B01-AEE1-F52335AE83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Jan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E67F0C-4406-40A6-9D01-23C3D40170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38159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C3DE67F-B8AD-4D20-B520-183074152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65968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Mai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2950C3-7616-4AC0-952E-02746CF2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9873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Jun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72D44B-4D38-41C6-8479-089EE80A24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7682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Ago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D5704F4-B967-4DE4-AACD-2EC7FCE0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35491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Out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7AABA3E-6D6C-4785-971C-BBAEA5A0FA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63300" y="3867150"/>
            <a:ext cx="5334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60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Dez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2283FB1-7DF9-4F9B-8CAC-87F40257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9AD236E-54F5-449D-B00D-66F4617C1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6347E4F-3138-4AC4-A345-B7536489A1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1700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94EBA6E-75B2-496A-A70C-B0E87E2BE9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6940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C6F947C-D2E1-4951-8DE9-B92059AB7B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18750" y="4048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1B679E9-F246-4E78-8CD7-8EC2D7889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1150" y="4000500"/>
            <a:ext cx="111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57997F-7319-45BA-AEDB-337E92DC2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52387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2026 encerra em jun/26; as curvas de 2024 e 2025 seguem até dezembro.</a:t>
            </a:r>
          </a:p>
        </p:txBody>
      </p:sp>
      <p:graphicFrame>
        <p:nvGraphicFramePr>
          <p:cNvPr id="55" name=""/>
          <p:cNvGraphicFramePr/>
          <p:nvPr/>
        </p:nvGraphicFramePr>
        <p:xfrm>
          <a:off xmlns:a="http://schemas.openxmlformats.org/drawingml/2006/main" x="571500" y="4438650"/>
          <a:ext xmlns:a="http://schemas.openxmlformats.org/drawingml/2006/main" cx="11049000" cy="142875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952500"/>
                <a:gridCol w="1476375"/>
                <a:gridCol w="1714500"/>
                <a:gridCol w="1476375"/>
                <a:gridCol w="1476375"/>
                <a:gridCol w="1952625"/>
                <a:gridCol w="20002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Ofertas encerradas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Volume registrado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médio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Ticket mediano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PF no volume colocado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38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 profissional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2023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R$ 26,5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R$ 75,6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R$ 23,3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98,0%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2024 FY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1.009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R$ 95,4 bi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R$ 94,6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R$ 30,0 mi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4,6%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94,4%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2025 FY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1.473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R$ 116,9 bi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R$ 79,4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R$ 25,0 mi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6,6%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93,3%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2026 jan–jun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771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R$ 65,5 bi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R$ 84,9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R$ 22,5 mi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4,0%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660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93,8%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</a:tbl>
          </a:graphicData>
        </a:graphic>
      </p:graphicFrame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97A6E9F-87CC-48D2-9267-4B1E6A471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626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6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6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PF representa 4,0% do proxy de volume colocado; a cobertura por quantidade colocada equivale a 97,3% do valor registrado.</a:t>
            </a:r>
          </a:p>
        </p:txBody>
      </p:sp>
    </p:spTree>
    <p:extLst>
      <p:ext uri="{BB962C8B-B14F-4D97-AF65-F5344CB8AC3E}">
        <p14:creationId xmlns:p14="http://schemas.microsoft.com/office/powerpoint/2010/main" val="203795291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E9A0DDA-5704-4E47-ADA3-E68A961C7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ENCERRADAS · DISTRIBUIÇÃO DO TICKET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1AFBDED-B6F2-40D4-9C22-B6A029490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22 ofertas ≥ R$ 500 mi concentram 42,2%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11B427-6A85-4F90-93D3-AE4F17D6BD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AEC733-6B46-4DF0-8744-3F8B3F5D30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FC0F588-C95C-4F44-B163-76B663CDE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CVM; mesma coorte do slide anterior. 2024/2025 = ano completo; 2026 = jan–jun.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11DF9F1-282E-42A8-AB12-74B5B10FF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FDDC6E-3BC4-4A6B-9822-EFB49ED0B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DAS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582019-70B7-4E32-BA6C-AB4FE624C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8" name="Chart"/>
          <p:cNvGraphicFramePr/>
          <p:nvPr/>
        </p:nvGraphicFramePr>
        <p:xfrm>
          <a:off xmlns:a="http://schemas.openxmlformats.org/drawingml/2006/main" x="57150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3104112a39e42b3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36E194-4DBD-4BBE-AC4C-845924E2C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381125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% DO VOLUME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4B2297-3F6A-487B-9288-2C03144D0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647825"/>
            <a:ext cx="342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1" name="Chart"/>
          <p:cNvGraphicFramePr/>
          <p:nvPr/>
        </p:nvGraphicFramePr>
        <p:xfrm>
          <a:off xmlns:a="http://schemas.openxmlformats.org/drawingml/2006/main" x="4286250" y="1743075"/>
          <a:ext xmlns:a="http://schemas.openxmlformats.org/drawingml/2006/main" cx="34290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b5e72356e314147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596E789-E492-4E60-B098-7EE71F5DA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381125"/>
            <a:ext cx="3619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· R$ BI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573C887-84AE-4414-AC35-921E17CD3F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647825"/>
            <a:ext cx="3619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8001000" y="1743075"/>
          <a:ext xmlns:a="http://schemas.openxmlformats.org/drawingml/2006/main" cx="3619500" cy="37147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568f0c161ef44e2"/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845B0F-0B2E-46AB-A858-E328E2F54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481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D730EA7-5624-4A3D-8435-E94C87DE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005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0089BB7-11FE-4DD1-B24C-C6CE3DC2A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1337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8554ECA9-B0A9-4A05-B062-367DC8AA3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6577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5276366-9924-4D0B-BE71-41F92BE8D9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78625" y="5572125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2B693D6-6B13-4957-B6EE-D8ACAC68DF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1025" y="5524500"/>
            <a:ext cx="1174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AE15674-C41C-4873-B07D-90E3C9D91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2024FY · &gt; R$ 100 mi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1411004-6FBB-498B-B75F-7CC99708AF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R$ 72,0 bi · 75,5% do volume · 181 ofertas (17,9%)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F6680EBA-7BAD-4D08-B3DF-835BAD2D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4337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0CC49C2-6885-432B-AFE4-9B4943A69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&gt; R$ 100 mi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6AEE321-C147-4CF8-8D46-CD3998649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R$ 81,8 bi · 69,9% do volume · 227 ofertas (15,4%)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BDAD6551-6B6C-4186-8558-7F5F1176D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58125" y="5810250"/>
            <a:ext cx="952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22726D5-3B96-4201-A9C0-CB88DB7FD5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810250"/>
            <a:ext cx="3429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6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66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2026 YTD · &gt; R$ 100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CD4AE6-293B-42BA-A1B1-9FFE2B955A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991225"/>
            <a:ext cx="342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65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5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R$ 47,7 bi · 72,9% do volume · 120 ofertas (15,6%)</a:t>
            </a:r>
          </a:p>
        </p:txBody>
      </p:sp>
    </p:spTree>
    <p:extLst>
      <p:ext uri="{BB962C8B-B14F-4D97-AF65-F5344CB8AC3E}">
        <p14:creationId xmlns:p14="http://schemas.microsoft.com/office/powerpoint/2010/main" val="22616960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AC74E64-4846-4384-934A-63270B33DB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OFERTAS · VOLUME E REGIME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A27AFF-AEC9-494C-91D9-DFB10864C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Melhores esforços concentram 96% das ofertas e 69% do volume em jan–jun/26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BD296DB-647B-41D2-B750-DB888CD57B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C759D60-8A86-4574-A9F0-AE5401E60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363F93-9163-44B0-A33B-24BD6531A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 — Ofertas Públicas de Distribuição (consulta 24/jul/26). Regime conforme informado; ritos sem abertura = Não informado.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0314CFF-7C8D-40E5-8FA4-3E78818C08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54D364-BA48-42A1-88EE-5B7DDDA8F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NÚMERO DE OFERTAS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F30BE3-1A9C-464F-AB86-447E4B20F4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4" name="Chart"/>
          <p:cNvGraphicFramePr/>
          <p:nvPr/>
        </p:nvGraphicFramePr>
        <p:xfrm>
          <a:off xmlns:a="http://schemas.openxmlformats.org/drawingml/2006/main" x="571500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a9e4720b1232403b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20F5E4D-EC68-42BD-A1DE-441ECA0528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3049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VOLUME REGISTRADO · R$ BI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893A0E-18A0-4EA2-8DB9-824FCAF5A1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5716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37" name="Chart"/>
          <p:cNvGraphicFramePr/>
          <p:nvPr/>
        </p:nvGraphicFramePr>
        <p:xfrm>
          <a:off xmlns:a="http://schemas.openxmlformats.org/drawingml/2006/main" x="6334125" y="1628775"/>
          <a:ext xmlns:a="http://schemas.openxmlformats.org/drawingml/2006/main" cx="5286375" cy="18859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2d32a939b314751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EC4C996-407F-4FF6-BA45-C8205299C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8D939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20F013-BCEC-4B30-BC4E-D6154BE42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62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2024FY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8B3471-27F6-41BF-B61E-53A4AD221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0862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035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6B44E89-FE3D-4C06-9E60-61FBD6819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102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2025FY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8870283-E73F-4484-8724-3EDE6916FD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3375" y="3600450"/>
            <a:ext cx="95250" cy="95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C70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7F7105A-11EF-4EB6-8DB4-39EF8B365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5775" y="3552825"/>
            <a:ext cx="984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2026 jan–jun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8E94CF3-BE99-4721-9172-F945348A7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24275"/>
            <a:ext cx="5286375" cy="133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54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4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% do período (Melhores esforços / Garantia firme / Misto) · 2024FY: 94 / 4 / 3%   ·   2025FY: 95 / 3 / 1%   ·   2026 jan–jun: 96 / 3 / 2%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76A803-FCD5-4E5C-A801-15A9CAAF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NÚMERO DE OFERTAS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0D2F6BC-BDB0-44C9-9BC5-A1A9E9923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47" name="Chart"/>
          <p:cNvGraphicFramePr/>
          <p:nvPr/>
        </p:nvGraphicFramePr>
        <p:xfrm>
          <a:off xmlns:a="http://schemas.openxmlformats.org/drawingml/2006/main" x="571500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e0e349f473b1465c"/>
          </a:graphicData>
        </a:graphic>
      </p:graphicFrame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D6628F-6764-432E-A5BD-029F5AAADA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86715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REGIME DE COLOCAÇÃO · VOLUME · R$ BI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AC7E12-7DB9-419B-AF56-125DB32A2C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13385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50" name="Chart"/>
          <p:cNvGraphicFramePr/>
          <p:nvPr/>
        </p:nvGraphicFramePr>
        <p:xfrm>
          <a:off xmlns:a="http://schemas.openxmlformats.org/drawingml/2006/main" x="6334125" y="4171950"/>
          <a:ext xmlns:a="http://schemas.openxmlformats.org/drawingml/2006/main" cx="5286375" cy="18573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ea2c18ccc554003"/>
          </a:graphicData>
        </a:graphic>
      </p:graphicFrame>
    </p:spTree>
    <p:extLst>
      <p:ext uri="{BB962C8B-B14F-4D97-AF65-F5344CB8AC3E}">
        <p14:creationId xmlns:p14="http://schemas.microsoft.com/office/powerpoint/2010/main" val="500908755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57C2A72-12E8-41A7-A6D6-FFA6901B20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TOP 15 · OFERTAS ENCERRADAS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EE7498F-981C-4BB3-AA9B-56B22F379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IBBA participou de 8 das 15 maiores em jan–jun/26; liderou 5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780E202-972E-4C30-8541-A7961BE34C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D410346-D8EB-4850-8FBB-769FD6E95B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BDA032B-87A4-41AB-9BAB-D37402D5C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CVM, SRE; ofertas primárias encerradas, todos os ritos. Coordenação e distribuição conforme requerimento e informe de encerramento.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3D98CC-6555-492B-A232-528812EF5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36BF8D-D9EE-4434-8C36-407430C03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JAN–JUN/26 · TOP 15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EF8059-855F-4359-B400-42659F4F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4" name=""/>
          <p:cNvGraphicFramePr/>
          <p:nvPr/>
        </p:nvGraphicFramePr>
        <p:xfrm>
          <a:off xmlns:a="http://schemas.openxmlformats.org/drawingml/2006/main" x="571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333500"/>
                <a:gridCol w="781050"/>
                <a:gridCol w="419100"/>
                <a:gridCol w="781050"/>
                <a:gridCol w="323850"/>
                <a:gridCol w="266700"/>
                <a:gridCol w="666750"/>
                <a:gridCol w="5524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 Coord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 Bela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VTK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2,85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DRIVER BRASIL SIX BANCO VOLKSWAGEN FINANCIAMENTO VEÍCULOS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 3 MEIOS PAGAMENTO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INVESTIMENTOS PICPAY FGTS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PicPay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ABC BRASIL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 INSS II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ICred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JIVEMAUÁ BOSSANOVA CRÉDITO SECURITIZADO II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5.017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COMERCIAIS MEDICI I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Fornecedores de BRF 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BRADESCO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PagSeguro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IS GREEN SOLFACIL VII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Solfácil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0,77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DAYCOVAL D413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 FORNECEDORES DO AGRONEGÓCIO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Lavoro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0,73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OLIVEIRA TRUST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CLASSE ÚNICA AGRO CITI-BAYER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Bayer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0,70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VORTX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51BABD9-718F-4B07-AE8E-634840CB7A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314450"/>
            <a:ext cx="5334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2025FY · TOP 15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E56A84-F925-46D9-A6E5-EA3720958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581150"/>
            <a:ext cx="5334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graphicFrame>
        <p:nvGraphicFramePr>
          <p:cNvPr id="27" name=""/>
          <p:cNvGraphicFramePr/>
          <p:nvPr/>
        </p:nvGraphicFramePr>
        <p:xfrm>
          <a:off xmlns:a="http://schemas.openxmlformats.org/drawingml/2006/main" x="6286500" y="1657350"/>
          <a:ext xmlns:a="http://schemas.openxmlformats.org/drawingml/2006/main" cx="5334000" cy="4191000"/>
        </p:xfrm>
        <a:graphic xmlns:a="http://schemas.openxmlformats.org/drawingml/2006/main">
          <a:graphicData uri="http://schemas.openxmlformats.org/drawingml/2006/table">
            <a:tbl>
              <a:tblPr firstRow="0" firstCol="0" lastRow="0" lastCol="0" bandRow="0" bandCol="0"/>
              <a:tblGrid>
                <a:gridCol w="209550"/>
                <a:gridCol w="1333500"/>
                <a:gridCol w="781050"/>
                <a:gridCol w="419100"/>
                <a:gridCol w="781050"/>
                <a:gridCol w="323850"/>
                <a:gridCol w="266700"/>
                <a:gridCol w="666750"/>
                <a:gridCol w="552450"/>
              </a:tblGrid>
              <a:tr h="20955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#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FIDC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Originador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R$ bi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Coord. líder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IBBA Coord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GF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Público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6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Inv.</a:t>
                      </a:r>
                    </a:p>
                  </a:txBody>
                  <a:tcPr marL="47625" marR="47625" marT="19050" marB="19050" anchor="ctr">
                    <a:solidFill>
                      <a:srgbClr val="151515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3,40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CW PI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CloudWalk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SANTANDER AUTO LOANS I FINANCEIRO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Agibank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ER - ENERGIA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1,90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ASA LP II COTAS LIM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aplicável ·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SINGULARE S.A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Qualif.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164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AGRO FLEX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Carteira agro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SANTANDER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9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Sellers 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Mercado Pago / Mercado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UBS BB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BV AUTO II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BV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1,50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54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11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II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1,25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XP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133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12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VOLKSWAGEN TERA RECEBIVEIS COMERCIAIS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Volkswagen /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ITAU BBA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Sim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FF1E6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13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BYX MOZART - CRÉDITO CONSIGNADO 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 ·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31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14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PINE INSS FINANCEIRO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Banco Pine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VERT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2</a:t>
                      </a:r>
                    </a:p>
                  </a:txBody>
                  <a:tcPr marL="47625" marR="47625" marT="14288" marB="14288" anchor="ctr">
                    <a:solidFill>
                      <a:srgbClr val="F5F6F7"/>
                    </a:solidFill>
                  </a:tcPr>
                </a:tc>
              </a:tr>
              <a:tr h="265430"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15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RED REAL LP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 identificado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1,00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FINAXIS S.A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ct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Não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l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Prof.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anchor="ctr">
                      <a:normAutofit/>
                    </a:bodyPr>
                    <a:lstStyle/>
                    <a:p>
                      <a:pPr algn="r"/>
                      <a:r>
                        <a:rPr sz="488">
                          <a:solidFill>
                            <a:srgbClr val="30353A"/>
                          </a:solidFill>
                          <a:latin typeface="Arial"/>
                          <a:ea typeface="Arial"/>
                          <a:cs typeface="Arial"/>
                        </a:rPr>
                        <a:t>108</a:t>
                      </a:r>
                    </a:p>
                  </a:txBody>
                  <a:tcPr marL="47625" marR="47625" marT="14288" marB="14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6FCC7D-F3CD-4289-9820-4AB2FA5919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R$ 23,82 bi · 36,4% do período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C9674E7-5135-47CB-8503-4BC97BDD6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905500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0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690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Subtotal: R$ 26,23 bi · 22,4% do período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54CFFFB-6C32-42DA-B78A-0B7C9274E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105525"/>
            <a:ext cx="11049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59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59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Coord. líder = coordenador líder informado no requerimento. IBBA Coord = entidade do conglomerado Itaú entre as instituições intermediárias. GF = garantia firme. Público = público-alvo. Inv. = soma das categorias de investidores no encerramento.</a:t>
            </a:r>
          </a:p>
        </p:txBody>
      </p:sp>
    </p:spTree>
    <p:extLst>
      <p:ext uri="{BB962C8B-B14F-4D97-AF65-F5344CB8AC3E}">
        <p14:creationId xmlns:p14="http://schemas.microsoft.com/office/powerpoint/2010/main" val="1179849133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21A9AC3-5C83-43E6-9D1D-26A45B68C4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PRINCIPAIS CONCLUSÕES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4CC0144-FDD4-4EF6-9787-9CB061A5DA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Distribuição, prestadores, migração e ofertas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29378D-018D-4D37-BCF1-857951F74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41227CE-467F-4288-A3F6-8EC8701F24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BBE7A38-09A9-45BA-AAFB-4F13547953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7697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ANBIMA e BCB; coorte bancária curada a partir dos conglomerados prudenciais. PF: proxy com 97,3% de cobertura; contas não equivalem a investidores únicos. Verticalização inclui FIC-FIDC; Top 10 ex-Petrobras/TAPSO. BTG: 30/32 raízes observadas; ofertas até 30/jun/26.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642E9-9ABE-4486-A595-0321E63092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4D807C-D75F-458A-A3E4-23C2C7A7E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01 · DISTRIBUIÇÃO APÓS A RCVM 175 SEGUE INSTITUCIONAL E CONCENTRADA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AD5539-C6EE-4CE2-A7F7-42E08A014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mediana foi de R$ 22,5 mi, apenas 26% do ticket médio de R$ 84,9 mi; 22 ofertas de R$ 500 mi ou mais — 2,9% do total — concentraram 42,2% do volume.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Pessoas físicas responderam por apenas 4,0% do volume colocado estimado; entre os fundos com PL ≥ R$ 200 mi, 58,4% têm até dez contas.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4AA659-29A9-49AB-9B52-D80BC69E4A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B145C6B-94E6-41F5-8C62-0C5732CCF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2573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02 · VERTICALIZAÇÃO DEFINE O MODELO OPERACIONAL DA INDÚSTRIA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FE2C2D1-5CE5-4F7F-9CDD-1331D4B960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14954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estão no mesmo conglomerado em 90,3% do PL: nove em cada dez reais da indústria.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Monoestruturas, com as três funções no mesmo grupo, já concentram 35,7% do PL.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4DEB36-41E4-4BFA-ADC4-ACCFB8F42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3717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EC6143D-8D94-4266-A985-20A815A1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03 · ESCALA INDEPENDENTE ESTÁ CONCENTRADA EM POUCAS PLATAFORMAS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EC8B99D-676F-451E-9868-ED1CE1524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QI Tech lidera administração e está em empate técnico com o BTG em custódia; 96% de sua base administrativa em dez/24 veio do legado Singulare.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Oliveira Trust é a terceira maior gestora, com R$ 35,0 bi; na coorte CBSF/Reag, 35,0% do PL continuante já havia migrado de administrador até jun/26.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A11B1A0-0826-442D-BFB4-F927391F9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8B947EA-49A1-4DBD-8D8B-78EBCC581C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4765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04 · MOVIMENTAÇÃO DE ADMINISTRADORES FOI BAIXA E CONCENTRADA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817F96-43E0-4A16-912A-E27267115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27146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Apenas 7,2% do PL comparável trocou de administrador entre dez/24 e dez/25: R$ 33,0 bi em 257 fundos.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Os dois FIDCs Cielo responderam sozinhos por 27% do volume migrado, com R$ 8,9 bi transferidos de Oliveira Trust para Bradesco.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4F454D0-1004-4769-AAB0-65498D993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5909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39C01EB-6BF7-4137-A5F1-900BF93EFD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05 · GESTÃO É A FUNÇÃO MAIS PULVERIZADA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701EEC-513A-4C60-9C9F-630DB839D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dez maiores gestoras reúnem apenas 36,4% do PL ex-FIC; a líder, BTG, tem 10,2%.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Administração e custódia têm, respectivamente, 71,8% e 72,8% do PL nos dez maiores grupos, praticamente o dobro da concentração em gestão.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530F88E-A65C-4E22-AC65-C0FEA2ED2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BFD9587-C8CB-4F82-A65B-E4B1470BF8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6957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06 · COORTE BANCÁRIA EXPLICA DOIS TERÇOS DO COMBO COMPLETO DO BTG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DFE28A9-ED0C-4DBC-B914-82125A5DD2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338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Dos 30 FIDCs observados na coorte BTG, 22 concentram as três funções no grupo e representam 98% do PL da coorte — R$ 51,3 bi.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Essa carteira responde por 66% de todo o PL atendido pelo BTG no combo completo, indicando forte ancoragem nos veículos da coorte bancária.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041A74-FF80-4A8F-B181-7A62CF2C9D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48101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1DD6447-E989-42A4-9418-9C43B5431B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914900"/>
            <a:ext cx="5143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07 · EMISSÕES ACELERARAM; A MAIOR OFERTA EXPLICA DOIS TERÇOS DO AVANÇO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5BA8AA-27F9-47CC-AC75-6FA3B7C53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153025"/>
            <a:ext cx="51435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As 771 ofertas encerradas em jan–jun/26 somaram R$ 65,5 bi, avanço de 15% sobre 2025 e 60% sobre 2024.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5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5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• A oferta CloudWalk Bela, de R$ 5,5 bi, representou 8,4% do volume e 66,0% do crescimento sobre 2025; na sensibilidade sem essa oferta, o mercado teria avançado 5,0%.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2462D31-A259-46E3-AE67-C9F391B429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29325"/>
            <a:ext cx="5143500" cy="666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</p:spTree>
    <p:extLst>
      <p:ext uri="{BB962C8B-B14F-4D97-AF65-F5344CB8AC3E}">
        <p14:creationId xmlns:p14="http://schemas.microsoft.com/office/powerpoint/2010/main" val="1567949837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B231D662-6EA4-413C-866D-22A21299C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ESCOPO E FONTES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CFBF68-B0ED-47DC-B412-743996542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Escopo, fontes e limitações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67466-2135-419E-B0C6-E942985A02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C086456-E805-4274-A6F1-67CB02526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9E40D8E-553E-44AF-80B0-CBC748AC7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• CVM, ANBIMA Data e FundosNet.  Ofertas consultadas em 24/jul/26.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FA4975-1D7E-4540-9516-E317E7B1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5EC0B9-65CB-469B-90A8-62C9731F9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381125"/>
            <a:ext cx="11049000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E515211-3BFD-40BA-A0A2-3F5C8CFA0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409700"/>
            <a:ext cx="1695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Tema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8437D8F-805E-42E8-ACD0-152C0EBAF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409700"/>
            <a:ext cx="3124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Universo / data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F7F7716-DC1E-44DA-81D8-017A9101F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409700"/>
            <a:ext cx="5886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Definição e limitação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CA50A49-8EE5-4631-AAB9-99D186B14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7049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2AC4EAA-60D5-4E41-B7ED-FD40EDC275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098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BE3AF26-86C3-4F26-86B6-097F5DFE26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335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e base investidora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111DAC7-690A-4992-B1A4-58E71281D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17335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4.247 fundos; 30 de junho de 2026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47F7434-C763-4532-A647-0E1A67ADC0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17335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 bruto, ex-FIC e FIC-FIDC reconciliados. Contas se repetem por classe/série e não equivalem a investidores únicos.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2E5F01-D7BE-44E0-9AC6-0D27643516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4193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E0289F5-494A-417F-BA32-CE97C19EAF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242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5BAB528-505D-47E0-A2F8-E86EA7790C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4479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 e Foco ANBIMA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203C821-7637-460A-851D-8D8AF3C52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24479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89,85% oficial; 1,07% evidência; 7,89% proxy; 1,19% N/D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85E1A6B-2113-4DDD-8F1B-D785E14C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24479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Tipo, Foco, origem e data permanecem separados. Gestor e custodiante históricos usam o cadastro vigente; a base não observa a troca ao longo do tempo.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44B6DDC-F84E-4C49-9614-1AC0C526B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13372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CA872A5-C711-4CDF-9C88-283B6316F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3857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082ED44-FF28-47E4-86A1-037C6106F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16230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3FFBF6B-F537-401B-8AD1-07188D9EA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16230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4.252 veículos; jun/26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3BFC2B2-C5FE-4773-B1A8-4A46FB3A6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16230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Cap por veículo; vazio = ausência de reporte. Aging reconciliado à Tabela I completa; ex-360 ajustada = 4,9%.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99B68C3-5B72-4ACA-B6CC-7AFEA88A6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84810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1D1664-735D-47E7-BD68-D1D482F88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5295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45F73F-8D15-4FFF-8CD0-1B3670A4E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7667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Market share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B211BA6-C872-48CA-A2AC-BCAB25E68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387667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14 focos; 3 funções; jun/26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5ABB1A0-6764-47B0-92EB-867BBA14D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387667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Denominador = PL do subtipo. Top 10 fixo por função; Outros identificados e prestador não informado separados. PL negativo consta no QA.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C96CB89-6828-4679-BEE6-72979D86C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62475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2E2EC8F7-9300-41C8-917C-D6F5D8AF7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A0AFE33-F530-465A-8299-FF437FDD9D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4591050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Monoestrutura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7F0AFFC-5467-4A25-8426-A4653F7E20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591050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4.247 fundos; jun/26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4B7815A-D0F1-42E5-9B8B-B9923FD946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4591050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Mesma entidade econômica normalizada nas três funções. Preço, propostas e contratos não integram a base.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7ED9239-90CE-421C-9555-A262CF1090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76850"/>
            <a:ext cx="11049000" cy="714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28FC9949-3430-49A2-8DB4-18B76B81F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81700"/>
            <a:ext cx="11049000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39E8699-E191-4C4D-A51B-A78194082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05425"/>
            <a:ext cx="1695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Ofertas encerradas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45B0E4E-D69B-4459-A81D-CE84D8CC5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5305425"/>
            <a:ext cx="312420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2023–2025 FY; 2026 até 30/jun/26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55FD3AB8-CBE6-4472-ACDB-809ABA50B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76900" y="5305425"/>
            <a:ext cx="5886450" cy="657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990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90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de FIDC, ofertas públicas primárias encerradas e valor registrado positivo. Automático: Número do Requerimento; ordinário/legado: registro + emissor + data + instrumento.</a:t>
            </a:r>
          </a:p>
        </p:txBody>
      </p:sp>
    </p:spTree>
    <p:extLst>
      <p:ext uri="{BB962C8B-B14F-4D97-AF65-F5344CB8AC3E}">
        <p14:creationId xmlns:p14="http://schemas.microsoft.com/office/powerpoint/2010/main" val="11880940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2D26CC7-D0FB-4B58-9FC3-B84CEC5FF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EF17259-1EC8-439F-9E2E-2E5F1ABDF8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 FIDC Sistema Petrobras — R$ 61,3 bi e 7,0%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AA2F9B-FAA2-4AE3-AC25-C2C6EF5C89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D95D030-5A61-461A-B60B-54C214333F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A0B34A-C8E0-4E28-AF6B-15ACA2CEBE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B2E2926-9C4A-474B-9438-5DE11755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1DE8F2-48B2-46ED-89F5-E930A1C2AE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09.195.235/0001-50 · FIDC DO SISTEMA PETROBRAS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4B4337-8EF9-42B6-A9A8-C399BBAE39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458ECA-281C-431B-B0E0-E64F3D7E9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9C89C39-44A3-4127-99A5-C8E8BB67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9F9D1F-6966-44BA-AC9F-A1D939685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Empresas integrantes do Sistema Petrobras que cedam direitos ao fundo; o regulamento não traz lista fechada de cedentes.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AD8B23A-E322-4A3B-B1F7-52B35DB51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D7AA007-F964-41DB-AA22-0B0EB446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às quais as cedentes prestam serviços ou alienam bens.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0B6B6B-85F9-4470-865C-1447F6AB74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A9B52EA-EEDF-4C90-9C7E-F28CAAE5D2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originados em operações industriais, comerciais e de prestação de serviços das empresas do Sistema Petrobras.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BB7BEF1-CE47-463C-BB73-60B2E620F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717C73E-5205-45A4-9985-F129B1350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As empresas do Sistema Petrobras cedem os recebíveis ao fundo. O pagamento dos devedores passa por conta escrow no Banco do Brasil; as cedentes podem atuar na cobrança dos créditos inadimplidos.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4E7F128-D46E-4696-9A05-B7B3A7F14D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422549-5E4B-4518-8768-59A4B10AAF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EAD31D4-3DE3-4EEB-876A-43F8D8EFB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C29BBC-9333-44D1-B60C-B0FFE1FFE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A400ADD-7157-4CE0-974E-C14A501136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9ABE748-458E-48FF-B50B-116D25F59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Subclasses sênior e subordinada. Enquanto houver cota sênior em circulação, deve existir ao menos uma cota subordinada; o regulamento não fixa razão percentual adicional. Garantias: Garantia específica dos recebíveis não identificada no regulamento consultado; o investimento não conta com garantia geral do administrador, gestor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BB027BB-3343-45CB-B1ED-020E65812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D88AC3BE-B3FB-4652-86D3-1B46B9470D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BB GESTAO DE RECURSOS DTVM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DO BRASIL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7A2F570-0F92-403C-9673-B49E5696A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61D9DD9-03F0-47AB-9D5C-DED864EAB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65210FF-9BBD-49C2-8E9D-E373F64F04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707AA67-AC67-40C0-B081-038A3265FF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https://fnet.bmfbovespa.com.br/fnet/publico/abrirGerenciadorDocumentosCVM?cnpjFundo=09195235000150. Evidência: A leitura documental é compatível com o Tipo/Foco oficial ANBIMA.</a:t>
            </a:r>
          </a:p>
        </p:txBody>
      </p:sp>
    </p:spTree>
    <p:extLst>
      <p:ext uri="{BB962C8B-B14F-4D97-AF65-F5344CB8AC3E}">
        <p14:creationId xmlns:p14="http://schemas.microsoft.com/office/powerpoint/2010/main" val="558397174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7421220-5D87-4CD7-BD16-4648B8A9F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26B5579-150F-4199-8946-4DBCA6133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 TAPSO — R$ 41,5 bi e 4,7%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7818C4C-978E-447B-A72F-0C888CC4D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708ADF-B644-4F08-80A4-5770EAAF8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576387B-A066-4CC1-B11B-0402CC27E2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EBECA8D-E3CA-41C0-9370-CE33DCA22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8953F96-581F-417F-BA03-9ED25E7EC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26.287.464/0001-14 · TAPSO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4419E91-39D9-4D0F-8071-2A521C62A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F09848-390D-45A1-AD85-44BD38354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CB727F0-C609-4686-AD39-4F84D199A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8180D9-FC82-42ED-ADDF-912613ABE8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credenciados, representados por Stone/Pagar.me ou adquirente autorizada, e instituições financeiras parceiras; o regulamento cita a Stone Sociedade de Crédito Direto no fluxo de sub-rogação.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EFF51DE-D6BE-4F16-BD04-7A8C645EB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55E83AF-CA47-4F53-BCCF-EC7E2AF04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Stone, Pagar.me e demais adquirentes/subadquirentes autorizadas nos contratos da operação.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338AF08-03BC-4431-AF5D-2D385CFE12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07C8901-FAF1-470B-9812-EF6B76075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e créditos sub-rogados de instituições financeiras parceiras.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DBB4BB-41CF-42EE-84B8-A5925AF83D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39230E3-74E5-4F7F-86B2-21A35628C7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recebíveis dos estabelecimentos e direitos sub-rogados de parceiros financeiros, com revolvência e pagamento pelos participantes do arranjo de pagamento.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EEFD62-88F3-4370-8256-EB14C1F70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B515EF5-DAF4-4B7B-90FD-BB33F99B86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88F4E98-0259-4A39-82E8-05E4B6CA9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BB8300-ECC3-4FC7-A34E-394460510C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6B5276E-726E-45CC-9AB2-C5B337B63A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FBFC21-3D8C-4052-80A1-A12FDCF468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A, mezanino B e subordinada; razão total mínima de subordinação de 20% do PL da classe. Garantias: O regulamento admite cessão fiduciária para assegurar promessa de cessão; não há garantia geral de prestadores ou 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C7701CA-A7C8-4015-B64C-83E1B10BFB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CA781B2-B29A-4B5D-8CCE-4B87E77B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OLIVEIRA TRUST DTVM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OLIVEIRA TRUST SERVICER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328604A-2BA4-4E0C-9E00-44A110EE4E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F2951DC-02CC-4E1C-AD48-B1ABEA341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00FD1D-7C16-49F1-AF1A-51B217744C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D94DC15-6941-4EE7-81A5-424A748AB1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https://fnet.bmfbovespa.com.br/fnet/publico/abrirGerenciadorDocumentosCVM?cnpjFundo=26287464000114. Evidência: O cadastro ANBIMA traz Financeiro/Crédito Pessoal; o regulamento consultado descreve predominantemente recebíveis de meios de pagamento. Manter as duas leituras separadas.</a:t>
            </a:r>
          </a:p>
        </p:txBody>
      </p:sp>
    </p:spTree>
    <p:extLst>
      <p:ext uri="{BB962C8B-B14F-4D97-AF65-F5344CB8AC3E}">
        <p14:creationId xmlns:p14="http://schemas.microsoft.com/office/powerpoint/2010/main" val="132047406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88C4D8E4-4F78-4765-912B-621A3793D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B017042-2062-410C-90E4-C383D8235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#3 PAN Auto — R$ 18,0 bi e 2,0%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EE6236-9B71-4CCF-AFBB-2C9501094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90AD9F-1E62-4F20-8C45-5F6DACD3E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360854-72F8-44D8-B8F5-DDE9A43BE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2BF7AB-6915-47DB-9B17-2F6728D617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E8D16A-2B30-4C54-95F1-1AA6524A4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65.473.848/0001-83 · PAN AUTO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4299EBA-4B83-47DD-9303-C03DB5C8C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BBB6E8C-C7EB-4799-B4F9-E4425C2A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4B630B3-C948-4B71-85A7-67318E09A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2C8EAB6-FE48-45CE-85B1-7463F8C56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50AEEE0-95BA-42A3-B563-E5AAD55DB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5FBB8D7-83D3-4EC0-8DC7-09B7BBA2D9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responsáveis pelos precatórios federais adquiridos no 1T26; nomes não identificados.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4CD644-715C-4822-9E43-42DDAE8DB4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5E8C4F4-6493-4E9B-B729-C1D256E7A1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relatório trimestral confirma que a exposição incluiu precatórios federais no 1T26. O documento não demonstra que toda a carteira era de precatórios e não há evidência primária suficiente para classificá-la como financiamento de veículos.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E1AB92-4F95-4A93-998F-EF3B7A0AD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B3919C-A409-413B-9B40-FEADBE98C8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recebeu parcela cindida da Classe Única do BTG Empresas em março de 2026. No 1T26 houve novas cessões definitivas, alterações de garantias, pré-pagamentos e alienação parcial de direitos.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A61FBE6-7999-4017-AD22-78688D758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7F2F2F4-63E8-4EFD-9729-9064471CA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3D4B41F-5C06-4F4B-8DCE-A4CF711F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E481542-A494-48E2-A389-307C6DB745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2026-03-18 | incorporação de parcela cindida da Classe Única do BTG Empresas | montante não identificado | doc. 1142758; Evento societário/patrimonial; não é oferta pública.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6FD9F09-4EF9-49F6-82BF-561CC20ED2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ED26E3A-E9FD-4FF4-8F39-F1143CB1F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Garantias: O relatório confirma alteração de garantias no trimestre, mas não descreve seu conteúdo.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A289E3F-DF2E-436E-A88C-D87A657DE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68D9566-249E-4488-A4C5-0E489B6FF0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GESTORA DE INVESTIMENTOS ALTERNATIVOS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217E93F-D42B-4449-B9B0-0AAE81E377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650C09-7553-4FDF-9F16-A15732900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Proxy CVM; validar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BC9734B-7B20-41F7-A4C7-CC03A2874F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D59956-137C-401D-A803-1ECD8C162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https://fnet.bmfbovespa.com.br/fnet/publico/abrirGerenciadorDocumentosCVM?cnpjFundo=65473848000183. Evidência: O nome PAN AUTO não é evidência de crédito automotivo. O classificador local baseado no nome deve ser descartado; a única evidência econômica primária localizada foi a aquisição de precatórios federais no 1T26.</a:t>
            </a:r>
          </a:p>
        </p:txBody>
      </p:sp>
    </p:spTree>
    <p:extLst>
      <p:ext uri="{BB962C8B-B14F-4D97-AF65-F5344CB8AC3E}">
        <p14:creationId xmlns:p14="http://schemas.microsoft.com/office/powerpoint/2010/main" val="2127541025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40C7B26D-32C4-4A5C-8405-A9BAF60475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16F0EF-3DAE-4CB4-8888-EE5E89A90C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#4 CloudWalk Bela — R$ 10,0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8E1BB8-87F1-40EB-A764-935D38766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021ADAB-0AA9-4BF3-A800-6A269485B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0AAE00-F9D4-4FC5-B001-8CDECA55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56A3ED-615B-426E-BDE2-6511F95C1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8E1506-767E-4D56-B803-A71ADBBCC5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62.393.679/0001-83 · CLOUDWALK BELA FUNDO DE INVESTIMENTO EM DIREITOS CREDITÓRIOS SEGMENTO MEIOS DE PAGAMENTO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D1B122-06DB-4D1E-9A24-1364C31F29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AEE1B1-AC37-4F45-8109-2400668938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7D8FD-51F9-420E-86EF-52663ADF4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103124F-4653-412D-B148-962065B959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CloudWalk Instituição de Pagamento.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078351-649F-4AF9-9CD0-67080DB74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020E97A-16A6-4F12-B40B-938D963C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e instituições de pagamento responsáveis pela liquidação das transações capturadas no sistema CloudWalk.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F96EE8-117B-4277-850E-75611276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ED3CE8-2C2F-4811-902A-C541EEF78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devidos pelos emissores à CloudWalk, como credenciadora, decorrentes de transações de cartão realizadas por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3B5EC64-05B5-4A4B-B1DA-FB0449585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08D7236-FD61-4575-88CE-99E5149C24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CloudWalk cede à classe recebíveis de liquidação de transações de pagamento; os fluxos dos emissores alimentam o pagamento das cotas.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BC31A2B-7DB0-465B-840A-BA63AE7DE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47AA114-A000-4224-8992-7B72C5E83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E17BBC-01C9-4E2C-90D6-01AD1973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D68111-1B60-4A79-874F-27465ECBD2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2026-04-20 | encerramento de oferta primária da 2ª série | R$ 5.500 bi | doc. 1166893 || 2025-09-16 | encerramento de oferta secundária da 1ª série | R$ 4.200 bi | doc. 993253; Oferta secundária; não representa captação nova da classe.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16E6AF-C14A-4169-AEA2-E8F5E8324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B678FD5-1124-4DF5-8E00-E05658F7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Sênior, mezanino A, mezanino B e júnior. O regulamento contém índices de subordinação por fase e marcos ligados à oferta da 2ª série; a fase aplicável em mai/26 não foi reconciliada e não deve ser resumida como percentual único. Garantias: Subordinação por subclasses; garantia específica adicional não identificada nos documentos selecionados.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934FC0B-2FCF-4F4B-9D91-3F01A07ADF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2B54B96-AF34-457D-84C6-B77B24AC32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564926-145D-45A5-8F1D-946F99CD2D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4694D71-3CBD-4068-A1FF-47E7D393C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6A598E1-F4CF-4FA7-9392-2153BBC45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417BF55-F954-448E-BB77-A3E694A263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https://fnet.bmfbovespa.com.br/fnet/publico/abrirGerenciadorDocumentosCVM?cnpjFundo=62393679000183.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892815370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6F9B46-76F1-4EA7-8C45-F50C093B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F6C2BA-B0E2-4A1F-BA81-8825F4379A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#5 MT Global · Consignado Privado — R$ 9,4 bi e 1,1%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8FB2823-3FE1-4336-90BE-1A2B13943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81B236-CD4C-409D-9A39-CBEE927FF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163A2F7-3C5F-4300-A2E0-00726971CA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7C177B6-DCFD-4799-B211-A6969D6637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C967FA6-5BFD-4E06-99E8-7515E22D4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63.953.619/0001-30 · CLASSE CONSIGNADO PRIVADO DO MT GLOBAL FUNDO DE INVESTIMENTO EM DIREITOS CREDITÓRIOS RESP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EFA259A-0EC6-4BD6-9F0B-092B2B493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F8E0175-33C8-4C2F-8B2D-26231BE03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766FEEB-0C21-4BFE-A882-D942B5D0F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52A78CB-BFBE-4AAA-8495-E8379D932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Parati Crédito, Financiamento e Investimento S.A., como originadora e endossante das CCBs.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C88A0C8-8ACA-4B86-A398-58819EDE77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172C29A-B02D-469C-9D84-648F51FB08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empregadas por empresas privadas, devedoras dos empréstimos consignados.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EAA488-6C2C-4E24-94AC-A04F999E8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1B84C-A472-422F-89EB-46BC46DAE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de CCBs de empréstimo consignado privado, processadas na infraestrutura Dataprev e Caixa prevista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4652DD3-BFBA-493F-AEEB-045D2DAFA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694AD9-8027-4366-B8A9-F4E1BC8D7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Parati origina e endossa as CCBs à classe; o desconto em folha direciona o pagamento das parcelas.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E7EDFF2-07FD-427E-A41E-81FC2DFE01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EA0F41-3598-4E3A-9C7C-D76C32B369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B86A335-899E-4360-9734-E103610E23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AAECC7E-3B5F-4761-A18D-D5DAF1E5EA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08/01/2026, aprovação de colocação privada de cotas sênior em vasos comunicantes, com limite agregado de R$ 15 bi, e R$ 7 mi de cotas subordinadas; aprovação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FD132C1-624F-4DB8-9385-8CBD7DAE2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41EB7CE-C55E-4C35-A9AF-4A5A0544A0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subordinada; índice mínimo de subordinação de 1% do PL e índice-alvo de 10%. Garantias: Desconto consignado em folha; cessão ou endosso definitivo, sem coobrigação geral da Parati.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22BA71-22B2-432C-A71E-1FE1C5A56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6746EAB-073A-4755-9B4D-1B226E68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BTG PACTUAL ASSET MANAGEMENT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D4DDE59-E353-48C7-A10F-EE60FB2723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B510D9-2565-4FD4-9953-E29A0558EA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Consignado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Evidência documental primária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7210D27-BC58-4082-ABD3-8EE06FD71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DEA72074-596B-4743-8676-EC06375B0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1222855 de 02/06/2026, páginas 3 e 15; deliberação id 1087883 de 08/01/2026.. Evidência: O regulamento declara Tipo Financeiro e Foco Créditos Consignados para a Classe Consignado Privado.</a:t>
            </a:r>
          </a:p>
        </p:txBody>
      </p:sp>
    </p:spTree>
    <p:extLst>
      <p:ext uri="{BB962C8B-B14F-4D97-AF65-F5344CB8AC3E}">
        <p14:creationId xmlns:p14="http://schemas.microsoft.com/office/powerpoint/2010/main" val="96268444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51154BA-435F-429E-AED7-36CB92B3B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6AC00AB-29FC-461B-B5DE-34FBE858D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#6 Itaú Crédito Privado — R$ 8,7 bi e 1,0%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15F762A-B452-42DC-BF2B-B36C1F3AB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B659FD-5F44-4911-93F4-B2BCE3AA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73A673D-1D51-441D-98B2-BBA700C8B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E90B68C-27BD-430D-B178-D3C4A1664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EAC6DC-D82C-4C13-9ABF-E475470D1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53.286.499/0001-01 · ITAÚ CRÉDITO PRIVADO FUNDO DE INVESTIMENTO EM DIREITOS CREDITÓRIOS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85F14B-B497-4A9C-84F1-C6B737B9C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C0E9958-468D-489F-B70D-F99AA2C21D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E87057-9C7B-41F5-97EE-77034143BC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03780A3-610A-4D2F-9993-28EF993D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documentos não apontam uma entidade cedente única; os instrumentos podem ser adquiridos de emissores ou no mercado, conforme seleção do gestor.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3C58E78-8176-4304-9C5E-58F39CC98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8832D24-307E-4A1C-8020-D67F5BA0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Emissores, devedores, coobrigados ou garantidores dos instrumentos de crédito da carteira.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D8F0706-C22E-4B5B-87B6-362DA0D3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A1F7103-2793-431D-BEA9-8A2529146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Debêntures, CRI, CRA, notas comerciais, letras financeiras, LCI, LCA, CDB, CCB, CDCA, cotas de FIDC e outros direitos de crédito previstos no regulamento.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163BECF-FF6F-4646-B82F-E801FE124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DFEA2B1-3770-43CA-AA16-9FDDCD35A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discricionária de crédito privado, sem um único cedente ou fluxo operacional padronizado identificado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5C20F7A-7A3B-43F3-91B6-2ADEF2EF3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3617B78-FD8D-44A1-87FB-25D3E250CC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6E422265-4BB0-431B-8126-BA98166B6E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A4408F-40B1-4C91-9CD2-57E895D949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9D14A86-1FBB-499F-9CAE-349729F83D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10ADE1-65B9-47E8-B18F-32031FE9FE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e subclasse únicas, sem cotas subordinadas no regulamento consultado. Garantias: Variam por instrumento; não há pacote único de garantias descrito para toda 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F4931A5-B7DB-4299-B724-7BDC3A25B8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79D6E49-5707-4B8F-800A-0A77013D89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ITAU UNIBANCO ASSET MANAGEMENT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ITAU UNIBANCO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D5C0F2D-01C0-4207-A653-90CAE9A85B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D2CC826-5E75-4B3B-AECE-C02C9B5DC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B12CA65-EC85-494A-BCD2-BF30B8CA1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0F68D8F-E3C3-4759-84F2-1D0F0FB25E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https://fnet.bmfbovespa.com.br/fnet/publico/abrirGerenciadorDocumentosCVM?cnpjFundo=53286499000101. Evidência: A leitura documental é compatível com Outros/Multicarteira Outros.</a:t>
            </a:r>
          </a:p>
        </p:txBody>
      </p:sp>
    </p:spTree>
    <p:extLst>
      <p:ext uri="{BB962C8B-B14F-4D97-AF65-F5344CB8AC3E}">
        <p14:creationId xmlns:p14="http://schemas.microsoft.com/office/powerpoint/2010/main" val="1254322931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556FCEE-4CA1-450F-A056-0685B92B6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E4E4D6A-8D16-44E4-ADAB-76717523A7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#7 BTG Consignados II — R$ 8,0 bi e 0,9%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782C44E-5C82-4C43-82DC-98C4DCC2F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70926C-E291-4252-8E61-6D13A66B3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F5A458B-A49D-4AB5-BBEA-BFBA8553D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488FE03-D75D-4F77-9563-700170B48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922EC13-99D7-43E3-A836-A1ACAC90B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52.242.420/0001-88 · BTG PACTUAL CONSIGNADOS II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AABAEB0-F3A5-4B4A-ACCF-1A47A6088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87D0C-2DAD-4BB2-82D4-DDC4CD061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2666D8-554C-4630-84DF-8CFCF760E8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C3CF5A-F16C-4533-B58E-5F84E4047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CCBs; nomes individuais não identificados no regulamento selecionado.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48EE9A7-D2B0-405C-8206-2EAC551E92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CEEC22-A803-4C96-B0FB-F6BA8AB4F4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INSS/Auxílio Brasil e trabalhadores com saldo de FGTS, conforme a modalidade da CCB.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5FE89FF-DFF6-42F0-BB9B-62AD9D16CD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1D842A3-79F4-4133-96FB-E8E6B865E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cessão fiduciária do saque-aniversário FGTS ou consignação operacionalizada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7A140B5-33A7-4CDE-A3AA-C12DD55A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95A8CC0-F3DD-4B9D-8F27-AD81AB94D5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ou recebe por endosso parcelas de CCB; o pagamento ocorre pelo fluxo do FGTS/CEF ou por consignação processada pela Dataprev.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D08B6EA-0DDD-4014-890A-DFC68EEC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B6A721-BD2A-475D-9ED5-FCE0550B3C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0847700-0BFA-4274-8341-C6AD91E90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89BDFB0-62DB-4168-AE1C-3C3478EAE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2023-09-19 | aprovação de primeira emissão privada | R$ 2.500 bi | doc. 523931;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D299B14-12CC-4DF0-97E4-A3B9CE21B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61613E-F587-4E04-B577-FE2EBDEC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 única com cotas pari passu no regulamento atual; não há índice de subordinação. Garantias: Cessão fiduciária do saque-aniversário nas CCB de FGTS; nas demais modalidades, consignação conforme convênio aplicável.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0980125-FBDA-4BEC-BC72-1F7254362F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E88A570-4E85-42B4-92D8-4BDD159641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26571B9-FAA7-4BFD-922A-4FCF07E84E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F78270-BBA9-459E-91EA-83966459F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A1A4E4D-E7BB-49B9-B3F8-6001CD192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C46B73-400A-4936-9FAF-A0B66387E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https://fnet.bmfbovespa.com.br/fnet/publico/abrirGerenciadorDocumentosCVM?cnpjFundo=52242420000188. Evidência: A leitura documental é compatível com Financeiro/Crédito Pessoal do snapshot, embora o foco contratual seja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474384038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DB98012-AC50-4F89-ADBE-8531219B68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AEECAE1-41E3-4403-ACB5-618112FE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#8 Aetos Energia — R$ 7,4 bi e 0,8%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17CDBC8-AB5D-4132-B6F2-B64DDD14BD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D4CA4C7-EDE2-415A-B3E0-E88F065FEB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5636B76-BF39-4B27-8C86-B524C4F60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BA7B0A4-948B-4958-BEE2-E157CB27A9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532885-6DE8-4A9C-AE9C-8CEA536B6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52.610.624/0001-24 · AETOS ENERGIA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9D06723-40C9-419E-9253-E081B0242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675D2E7-3EFA-482B-A705-00A7B5EFA6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E648EE3-D529-4822-9F31-F2E2121BB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6A141C-4149-40DE-B406-6555AB8E0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XP Comercializadora de Energia S.A. — CNPJ 34.475.373/0001-30.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FD0E7E-5233-4F70-B70F-A47051431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5E3EAA4-37B1-493F-AA58-172F77278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Contrapartes compradoras nos contratos de compra e venda de energia elétrica.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23F92E-FAA1-4DF2-9194-B1464960E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E39E301-8E86-4CF0-93D2-D9FA134377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Fluxos presentes e futuros decorrentes de contratos de comercialização de energia elétrica.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47C3408-6733-4533-AB8A-D43BC1C0E4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26F1FA-917F-4412-9C97-3339973E51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XP Comercializadora cede os recebíveis de contratos de energia; os pagamentos dos devedores transitam por conta escrow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0D01FD0-D4F1-4AA4-9264-8BEDF7AAF7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54286AE-9284-45BF-98A0-DB537F4808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6B7440-24F0-41F9-B39B-296DC6C5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7AFCB31-7CDD-4303-876E-ECEB072B2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C7EC80B-136E-4F54-9DCB-5352DE1B5F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5E4AE51-9386-4094-962C-91391EC46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subordinada. O regulamento vigente em 21/11/2024 fixa índice mínimo de 10% do PL; o instrumento de constituição de 19/10/2023 trazia 15%, indicando alteração contratual entre as versões. Garantias: O regulamento admite acessórios e garantias dos contratos, sem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8A231FE-4733-4B77-85C2-E14D376DB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85C6A12-598E-4FEF-B995-147E80E5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XP INVESTIMENTOS CCTVM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OLIVEIRA TRUST DTVM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83BB732-534D-4928-AA69-985F9B8EE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0F0321A-3EEC-4CD5-ACF6-A8CEF0C1DE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Agro, Indústria e Comércio · Recebíveis Comerciais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FDF1E3F-4140-419D-831F-0879B72578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30B2593-1277-4AA5-A515-AAEE3B7DCF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https://fnet.bmfbovespa.com.br/fnet/publico/abrirGerenciadorDocumentosCVM?cnpjFundo=52610624000124. Evidência: A leitura documental é compatível com Agro, Indústria e Comércio/Recebíveis Comerciais.</a:t>
            </a:r>
          </a:p>
        </p:txBody>
      </p:sp>
    </p:spTree>
    <p:extLst>
      <p:ext uri="{BB962C8B-B14F-4D97-AF65-F5344CB8AC3E}">
        <p14:creationId xmlns:p14="http://schemas.microsoft.com/office/powerpoint/2010/main" val="1984871232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A7F685-EE98-4C33-AF12-8EA9F440E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59C3BC-9DCF-49D0-AB4C-5E557A78A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#9 Cielo — R$ 6,5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AB0B8C-39AD-41C9-9FB1-43C4618C3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99A34E-5109-447A-804A-69E58FA1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F5E9A30-5E66-48C7-99F9-811252421D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67C5260-8BD7-46B0-858B-A605705051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CEF200F-F4BA-4AB3-B967-676B479249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26.286.939/0001-58 · CIELO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FD81D1-714B-4645-96D7-65D193540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1E4633-1BDC-4F71-B127-C97D96139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F0372DA-C7AA-4C07-A8CC-753F691F2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BCF976-AB89-4E49-B250-FB9ABAE505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à Cielo.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BF5C51-E2BF-40EE-9406-BEC1BA0D6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329E4A8-3F73-44C1-AC6E-79154B4B5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Cielo, como adquirente e devedora dos recebíveis cedidos pelos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8DCD33-28C7-4F4B-B83D-C0DF06E7C0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35301F-39DD-4236-AB1B-35A7BF57B6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liquidação de transações de pagamento/unidades de recebíveis processadas no Sistema Cielo.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C0FE04-FE20-4245-A314-9E86BC730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E6C229A-D5BF-4222-BD07-371314A271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recebíveis contra a Cielo; a Cielo liquida os créditos para a classe conforme os registros da operação.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40134D1-5BC7-44C0-B706-C0463F2821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A34DD1-47B9-48FB-A19F-36CF34B430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7120451-18D7-43A5-B663-94C945F7B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27E7C8-0BC4-4F30-88E0-4859056294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2025-11-03 | encerramento da oferta da 4ª série sênior | R$ 1.000 bi | doc. 1026980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151E29C-39B1-4001-84B5-5A5C09146C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60FA845-ED49-4DEE-AAF5-3C6A7C470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mezanino mais subordinada devem somar ao menos 20%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E28412-3D65-4930-861B-16D0A2917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5A6BD16-4BD9-4BCA-A23F-186E2B503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ACD25F08-7E7E-47AE-A398-21B4F3903F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B06033F-9C6D-4DD1-A8F9-3B7DDADCB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6427F69-D093-407D-816B-7C4340489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6666C28-F34E-4063-9217-112A3F4FF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https://fnet.bmfbovespa.com.br/fnet/publico/abrirGerenciadorDocumentosCVM?cnpjFundo=26286939000158.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971480382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ECCF9C7-1BC8-4646-9EB2-DADAB4ECAD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C60B40-DA2F-43D2-B973-4800CD4726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#10 Rio Vermelho NP — R$ 6,4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B5C6E11-8AC8-4F70-BEF4-0C464CC9A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FB15FDB-A73B-4E92-AC19-3FF1BA633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C79448C-3380-420C-A557-BCA7E4175F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0B90D1D-0599-4386-9A0B-E84B9DB313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00A94B5-D82B-4A27-8A7B-45C8F234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53.216.449/0001-58 · RIO VERMELHO FUNDO DE INVESTIMENTO EM DIREITOS CREDITÓRIOS NÃO PADRONIZADO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39A4DF-B1CF-4248-BA51-9A2EF3C67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0AA0529-E898-473E-9EE1-3A63F094A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C25DBA-ABC1-4464-BF4F-B2EA72F98A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A7610B-6881-41D5-8635-C81867687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048FE9B-47CF-44F5-964C-07F1DE2FA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119D203-538B-4114-B955-7B4099466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Entes públicos e demais pessoas físicas/jurídicas devedoras dos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4512D36-5EF4-4EF2-B501-4CCEDFEC2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8B9B992-2A3F-474C-A936-417F11A0E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Precatórios e créditos públicos; créditos vencidos; direitos litigiosos, penhorados, futuros e outros não padronizados permitidos.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5C92DB-C58E-49B7-8152-971BFAE4C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5537896-9532-49DA-8E67-944A3FD7A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carteiras de NPL/direitos judiciais com ou sem coobrigação, segundo seleção do gestor.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24BB440-5199-451F-8FFA-8EBD58DF6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2D815FE-D966-4564-9014-A46245E992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7D0BBB7-CA13-4B69-945A-DA167F1033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3D4C6F8-4159-4F3C-81DA-6DA7DAD58E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2CEB2A7-742A-4EFC-86BF-4BA34FEE52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0150421-7E0A-4794-AC37-6B9C48B2F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em séries pari passu; o regulamento consultado declara ausência de preferência, prioridade ou subordinação entre titulares. Garantias: Variam conforme cada direito; não há garantia uniforme de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7809F36-6A21-4C3C-B2B4-8BB8E38F50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51F663B-0E88-4EA1-8782-84907E4732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CBSF DISTRIBUIDORA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CBSF TRUST ADMINISTRADORA DE RECURSOS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REAG TRUST DISTRIBUIDORA DE TITULOS E VALORES MOBILIARIOS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D378922-4664-48C8-91F9-FBC1BCD9D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0FB95B2-18FF-48C9-838A-DFA9735B3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22DDE4-CFB4-411E-8E2F-06D36610F8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1102FFC-D53A-4A34-A321-BA03FE532D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https://fnet.bmfbovespa.com.br/fnet/publico/abrirGerenciadorDocumentosCVM?cnpjFundo=53216449000158. Evidência: O cadastro ANBIMA traz Outros/Multicarteira Outros; a política documental permite NPL e precatórios.</a:t>
            </a:r>
          </a:p>
        </p:txBody>
      </p:sp>
    </p:spTree>
    <p:extLst>
      <p:ext uri="{BB962C8B-B14F-4D97-AF65-F5344CB8AC3E}">
        <p14:creationId xmlns:p14="http://schemas.microsoft.com/office/powerpoint/2010/main" val="1216641942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6EC50A1-913C-4C57-88BD-4092E47AA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53D4441-399E-410B-85DF-15E964695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#11 PagSeguro I — R$ 6,2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255257F-9A3F-44D1-838A-C84433BEF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29C782-A4C9-4D57-9026-19D3A6CDD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BD459E-82F2-4B9C-A4BC-FBF5BD18EF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80F95C-F5A3-4128-938E-C6BD01039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40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4600A8C-91D6-4FFB-B67A-7EB59B3C6B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28.169.275/0001-72 · FUNDO DE INVESTIMENTO EM DIREITOS CREDITÓRIOS PAGSEGURO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F664A2C-955B-44A5-9202-070A3FCAB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7352DAD-5D73-439F-9D69-92FBF4390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4BA7E55-4869-48B1-8AF9-489292E4C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52EDCD-CD98-46D8-8915-E26D54FB4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Estabelecimentos credenciados ao sistema PagSeguro.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966280-B8B3-46FC-BEC0-3929C5BE3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F35F6B6-DCBF-4F7C-AB4B-AA3ABB341A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PagSeguro, como devedor dos valores de liquidação devidos aos estabelecimentos.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4CC7B92-A96A-441F-88F7-A501E03649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A004C10-7F36-4CDC-9298-C2F508671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Unidades/recebíveis de transações de pagamento a débito e crédito, à vista ou parceladas, capturadas e liquidadas pelo sistema PagSeguro.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C811E6-8E3C-4F88-96CE-AA670CB00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5C62489-AF2D-47EB-B42B-572F88D20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Os estabelecimentos cedem à classe seus recebíveis contra PagSeguro; a liquidação das transações alimenta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F1DD69-1BDD-43B4-BA44-92BDF43E4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51494E-E730-4BB5-AF80-DB4359FDCD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8026333-9D2B-4593-B14E-48C0FFA7E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C7F0ABA-9E9A-4E5F-8635-62B8305C7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2026-03-30 | início de oferta da 4ª série sênior | R$ 1.000 bi | doc. 1148251; Valor ofertado; o anúncio de início não comprova colocação. || 2024-11-06 | encerramento da oferta da 3ª série sênior | R$ 1.000 bi | doc. 773514; Documento informa 1.000.000 de cotas subscritas e integralizadas.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1C3E986-0BB8-485E-8906-909B353B1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49E6C23-0647-4187-B00E-1BB691EE9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subordinada; razão mínima de cotas subordinadas de 50% do PL da classe. Garantias: Reforço estrutural pela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16E98C7-C39C-4A65-BBB1-77AEE52258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9089A80-1484-4878-9E37-B37D6BFE9B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D75E89C-348B-4E30-998F-79123A8A6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F27C1B5-B889-45E6-96B8-501007B6F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45D1B18A-3805-496B-84B7-75B61A4C1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DD9564-93FF-44F5-B2A0-C72A7EA4E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https://fnet.bmfbovespa.com.br/fnet/publico/abrirGerenciadorDocumentosCVM?cnpjFundo=28169275000172. Evidência: O cadastro ANBIMA traz Outros/Multicarteira Outros; a estrutura econômica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706207920"/>
      </p:ext>
    </p:extLst>
  </p:cSld>
</p:sld>
</file>

<file path=ppt/slides/slide4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3C9CAC7-6016-4627-A2A2-AFB3997B4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52E78CE-D58F-443B-8BE5-ED2801FE3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#12 BTG Consignados — R$ 6,0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773A5BB-FB2C-4A02-B740-8A682BCFB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2F5141E-EC19-4722-93F9-8B0A90D2C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1FA519A-2766-4F64-87C5-0F2DA8E372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89F492-5EEC-47FC-829C-BD8B1F9FB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EF5CA47-0AB5-4CF8-881D-461FA3A8F4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50.906.397/0001-53 · BTG PACTUAL CONSIGNADOS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89D29D-9FC1-477F-A780-95550359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4CF9228-779B-44C1-9453-74E4AF0E53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D3DB951-7140-4166-BD9B-22C9365245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74B233-8554-4C05-A934-98D279E634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Instituições financeiras que concedam as CCB; nomes individuais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7CDE93-D7EC-402F-990C-AE57C9CFAE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736684-3336-416F-AE11-92CCF7191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incluindo beneficiários de INSS e trabalhadores com saldo de FGTS.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99019CD-779D-4E16-9025-5577D6943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BE573C-783E-4718-B8DC-7261A9F99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Parcelas vincendas de CCB de empréstimo pessoal com garantia do saque-aniversário FGTS ou consignação processada pela Dataprev.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EC092A8-2264-4F6F-BCA0-1352A692F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61DA566-0F49-49AA-A62A-B92873CDF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classe adquire CCB/parcelas por cessão ou endosso; CEF/FGTS e Dataprev processam os fluxos conforme a modalidade.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9AB1D9F-0056-408A-9FC6-F4E05DFF2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9A94D11-64C7-4285-B298-A0AAF0336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EE3BD0-72BC-47BE-93DA-4311778CC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362E8F3-90C0-40D6-95BD-20B44774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2023-06-01 | aprovação de primeira emissão privada | R$ 11.000 bi | doc. 483282; Valor máximo aprovado; o documento não comprova colocação integral.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C5C3566-E02C-4CD2-92EC-4A04D941A6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994B3C7-AE5C-4B0C-99C0-C59B5581C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Subclasse única de cotas no regulamento consolidado; não há índice de subordinação entre subclasses. Garantias: Cessão fiduciária do saque-aniversário nas operações FGTS; consignação nas demais modalidades.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8E4D1E-39EF-45F4-9AEF-620C0A97E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E032496-2714-475A-B9A6-CDD3A7871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EA7BE4-CEEB-427D-9CAF-321593A769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2EFECAC-C62F-48C0-A721-EB031C450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D62909C-39A4-4CAF-8C9C-077C8936E0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D4C3B2B-9743-4E1B-AF7B-1191A5399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https://fnet.bmfbovespa.com.br/fnet/publico/abrirGerenciadorDocumentosCVM?cnpjFundo=50906397000153. Evidência: A leitura documental é compatível com Financeiro/Crédito Pessoal, com foco contratual mais específico.</a:t>
            </a:r>
          </a:p>
        </p:txBody>
      </p:sp>
    </p:spTree>
    <p:extLst>
      <p:ext uri="{BB962C8B-B14F-4D97-AF65-F5344CB8AC3E}">
        <p14:creationId xmlns:p14="http://schemas.microsoft.com/office/powerpoint/2010/main" val="660583700"/>
      </p:ext>
    </p:extLst>
  </p:cSld>
</p:sld>
</file>

<file path=ppt/slides/slide4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B02110F-B567-449C-B0B4-A476659459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4630759-18B6-481B-AB12-D4676CFF73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#13 Alternative Assets III — R$ 5,9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1474276-1152-480B-8CDB-7B1D1793C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0F62DAB-8A58-4B58-807E-168514DD0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6FFF7E-E6AB-4A10-8C1F-B7D7E03AE5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62B586-4F68-4DC4-92E7-8141B536AE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2BAC6E-F7A4-4E69-B225-8D2155BE2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29.225.241/0001-10 · FUNDO DE INVESTIMENTO EM DIREITOS CREDITÓRIOS ALTERNATIVE ASSETS III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3C037D-340A-47F6-9935-521905D7AE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F7AA34-322B-48FF-B805-74EC4B7C23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E0E657-363A-4939-A753-78ECAAEB3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F5612B0-6E2C-4A2D-B6F3-E6413563FD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jurídicas ou fundos que transfiram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EF39AEB-B688-409C-8ACE-AAE86FCB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7CDB0A-09C8-4738-BEFF-E42A09B06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jurídicas, privadas ou públicas, obrigadas nos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3218E92-78C6-4E1D-88A3-6F3EDC63C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A0D0FD-13F4-44C6-B534-3219CC2554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Créditos em litígio, precatórios e direitos vencidos/inadimplidos já performados.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F335DE-B6E9-4762-9E70-FAEAB896B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FB0CE60-BD32-403F-A395-C78F3FED4F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comprar direitos judiciais/NPL integral ou parcialmente; o regulamento não comprova que esses ativos compunham a carteira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806B1A-CFAB-4454-BF32-F441A6A1D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77AB1C3-8BCC-4024-BE8D-F16BC8C847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B2C88FF-0EF0-4F2E-8ECB-00BAEBEF12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7E74D01-F24A-4275-BC9E-251591B82F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BD7A0E9-26B9-4E3C-9650-72C4DB59B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1FA5194-6E0A-4E1C-9825-67B54232C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Única subclasse de cotas pari passu; sem preferência, prioridade ou subordinação entre titulares. Garantias: Variam por direito; não há garantia uniforme da carteira nem garantia geral de prestadores/FGC.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BEBE23-4323-4757-9B85-E7E471336E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9C7341A-20A2-4B3D-83BC-945276A97D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BTG PACTUAL SERVIÇOS FINANCEIROS S/A DTVM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BTG PACTUAL S/A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BTG PACTUAL S/A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99E326-BC17-49EB-BFED-6188CCE81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8F5F4B3-CF7A-4F7A-9489-8381C72A4E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644E83A-B485-45A3-86C7-446EBC4FF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68DED0B7-D770-4E1D-8B26-886788237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https://fnet.bmfbovespa.com.br/fnet/publico/abrirGerenciadorDocumentosCVM?cnpjFundo=29225241000110. Evidência: O cadastro ANBIMA traz Outros/Multicarteira Outros; a política documental é de NPL/direitos judiciais.</a:t>
            </a:r>
          </a:p>
        </p:txBody>
      </p:sp>
    </p:spTree>
    <p:extLst>
      <p:ext uri="{BB962C8B-B14F-4D97-AF65-F5344CB8AC3E}">
        <p14:creationId xmlns:p14="http://schemas.microsoft.com/office/powerpoint/2010/main" val="1019979003"/>
      </p:ext>
    </p:extLst>
  </p:cSld>
</p:sld>
</file>

<file path=ppt/slides/slide4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B814FEF2-26B8-457A-B214-4D5E96619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CC70B3-579D-48D8-936D-7F15A93B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#14 Monee I — R$ 5,8 bi e 0,7%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6B57BEB-019E-4A72-9F40-943C833FC1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693301D-1557-44AF-9456-29D2F6D73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D77B7D3-FC37-4EEC-B1D8-179124291E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728083-F480-417D-8357-9EB370D081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42A4C7-3188-413D-A40D-1580E64AD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42.922.136/0001-07 · FUNDO DE INVESTIMENTO EM DIREITOS CREDITÓRIOS MONEE I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467A1B-A0A8-4641-9A3B-4A50DFAEB7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D892F9A-716F-4728-8FFC-D60DDD1200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F3EF156-7C2C-45B8-8D6E-2C638F26D4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A1B431A-C347-4E15-9EB9-F635839D3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2749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SHPP Brasil Instituição de Pagamento e Serviços de Pagamentos Ltda. — CNPJ 38.372.267/0001-82 — atua como originadora/correspondente; CCB são endossadas por instituições financeiras parceiras e recebíveis de pagamento são cedidos por estabelecimentos.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B170F9-50EF-470B-9946-C85DF771E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A7FC09-56F7-413F-B3AB-1F064E0B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tomadoras dos empréstimos e participantes das operações de pagamento, conforme o ativo.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D2D2943-45A6-44FE-9572-2E022D12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7C5D35E-5F7E-40CA-A6D7-C284757DA6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CCB de empréstimos e unidades de recebíveis de transações de cartão realizadas em estabelecimentos.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87C4142-D1E9-49B6-8F75-1B9A981032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83358D-677E-4E4A-B3E5-2DFFFA3028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SHPP capta e analisa clientes como correspondente dos endossantes; a classe adquire CCB por endosso e recebíveis de pagamento por cessão.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112943-055B-4AD3-980E-5A79AE1A1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E59D889-0065-4944-AFB8-FA7D6E9EBB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E57122-7E96-4067-AD42-AEC988FF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E36293-F180-417B-B744-2C7AA52A7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ADA9246-A89E-4A0D-B900-D0FBFC597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547339E-F240-41C7-B2FE-B47055F07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pari passu; o regulamento consultado declara ausência de preferência, prioridade ou subordinação. Garantias: Não há garantia uniforme identificada; a transferência é sem coobrigação geral nos contratos descritos.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7DB4503-E2BF-424F-99F8-74FB560CF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13BDF1-6896-4DCB-8D38-B34B9AD4B5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QI CORRETORA DE TÍTULOS 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VALORA RENDA FIXA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QI CORRETORA DE TÍTULOS E VALORES MOBILIÁRIOS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4328384-B129-49C2-A8B6-13D7B3FA0D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3CF58D6-E276-40F4-96C3-53C5E26E2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0487368-91D7-4005-BA67-ABABD89019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F1957F8-3177-40EC-ABB1-C66089C0F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https://fnet.bmfbovespa.com.br/fnet/publico/abrirGerenciadorDocumentosCVM?cnpjFundo=42922136000107. Evidência: O cadastro ANBIMA traz Outros/Multicarteira Outros; a política documental combina crédito pessoal 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026116429"/>
      </p:ext>
    </p:extLst>
  </p:cSld>
</p:sld>
</file>

<file path=ppt/slides/slide4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8B15D42-4FF9-43EF-AE02-CF91A74CFE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86C3F7-56CB-4C57-A35E-A857B64643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#15 PicPay I — R$ 4,8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A33D8E-749B-4036-A3D9-ACD01C0F9D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B046FE7-CD0C-4BFC-AE58-4DCEB903A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669D6D5-7607-4FAA-AB76-74F51B3EA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D4E764B-600B-46E8-BD70-04FFECF334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44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01926CD-87B6-47A9-AAE7-16788033B9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32.527.650/0001-86 · FUNDO DE INVESTIMENTO EM DIREITOS CREDITÓRIOS PICPAY I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64C14C2-A5BD-4283-9E71-044894B540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B90D902-B764-4ABD-BFA9-7E62706308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96AC712-8CFE-4DB6-95B7-06C914FF2B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C781A29-2DA3-416C-84D9-F3E09872D6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finais do PicPay que transferem seus recebíveis à classe por mandato previsto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80D199-4E36-4391-B056-C5990D9B2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414AB1-E7B6-484E-B838-4D1EFC45CA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PicPay, responsável pelos pagamentos devidos aos cedentes nas transações abrangidas.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7E2B9BE-92C5-44E0-9904-5BEC7001DE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E371C6-A83B-406F-9354-5AF3B4672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Valores de transações de pagamento, cash-in e moeda eletrônica processados no sistema PicPay.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3705840-C9BE-4A75-A183-D71C39FB1A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24F92A-8A3E-410B-82FC-0E7B984BF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Usuários cedem à classe os direitos contra o PicPay; o PicPay efetua os pagamentos que alimentam o caixa da classe.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09D358-1465-4238-A2DE-AE297F242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46170C-6816-4378-BB2A-EA46F73C2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77642D-4CAC-45E9-815D-9DE107BFA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1079C68-3224-416B-9D2A-91A44327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DF60A4E-50F3-47BA-882C-E11ADCCF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BB3CAB7-85ED-4A0F-9AEA-596FDA737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 júnior; razão mínima de subordinação júnior de 10% do PL. Garantias: Reforço estrutural por subordinação; garantia adicional uniforme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469C56-A06B-437B-BB53-3FE6E991C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157F093C-ACF3-45B4-8D20-A0A2450A14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GENIAL INVESTIMENTOS CORRETORA DE VALORES MOBILIÁRIOS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GENIAL GESTÃO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GENIAL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6F298B27-73DD-4E19-B51A-C5C6D67643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CD6C5C1-94F7-45F5-99E3-44BBE11741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286796-84D4-4993-9B40-41E1E2E298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6BB2AC6-033A-4195-A2D8-9DD1FB5D0B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https://fnet.bmfbovespa.com.br/fnet/publico/abrirGerenciadorDocumentosCVM?cnpjFundo=32527650000186. Evidência: O cadastro ANBIMA traz Financeiro/Multicarteira Financeiro; a estrutura documental é de meios de pagamento.</a:t>
            </a:r>
          </a:p>
        </p:txBody>
      </p:sp>
    </p:spTree>
    <p:extLst>
      <p:ext uri="{BB962C8B-B14F-4D97-AF65-F5344CB8AC3E}">
        <p14:creationId xmlns:p14="http://schemas.microsoft.com/office/powerpoint/2010/main" val="1355700385"/>
      </p:ext>
    </p:extLst>
  </p:cSld>
</p:sld>
</file>

<file path=ppt/slides/slide4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A605EC-B317-4103-ABD2-11D70C46D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686D03F-2F63-4070-BCDF-73C93F966C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#16 Artesanal Master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2340460-42B8-44AD-A28F-05B5FC6A41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9FF62F-C359-420C-8B53-15D9B82ADE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B48BB04-FCF4-44A8-9882-AF581D0BA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0F520C-1B48-4161-8ED3-F4EE544B5D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45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76E6AD6-78ED-44A9-8D4C-0EF7EAB99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30.576.260/0001-70 · ARTESANAL MASTER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2367D7-D868-41EC-820F-E15A4C119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991796-3AAC-4552-870D-7B30D8DABD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34562FC-15E5-4DEB-938E-FF9ADD222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AE0EBAE-B26E-49EA-B357-197A6BC83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titulares dos instrumentos elegíveis; nenhuma entidade única foi identificada.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CA8E0EF-D19C-4BCC-83CE-D1A8FFE9C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74243F8-F032-4665-B24D-0F4C74EFD4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Emissores/devedores dos instrumentos adquiridos; nomes não identificados no regulamento.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A8D61C3-703F-4F00-BC2F-3E3A708CD8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1BBD410-6A2C-4FF6-BCF8-59AB103AA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e títulos de crédito, valores mobiliários de crédito, instrumentos de securitização e cotas de FIDC previstos na política ampla.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0759D7-F6B2-4688-BA8A-FDEACD201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5B91687-FA4B-4F7E-960F-4C69D83F8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veículo era FIC-FIDC e foi transformado em FIDC direto com vigência em 23/07/2024; desde então a política permite aquisição direta de instrumentos de crédito.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B784423-7F5D-43FD-8A2D-B6F42435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33CFB4-0EC7-43D4-8317-0FDAD59A29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A71BADF-1A27-4093-A114-3B223ABFC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8196D89-CB82-48EF-B266-71097C40B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C9B5DE6-9787-46D4-BE41-517130CA83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C50CBD9-6A15-4231-B80D-B1F0C0B80B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sem preferência, prioridade ou subordinação entre os titulares. Garantias: Variam por instrumento; não há pacote uniforme de garantias.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5F75DC6-6AA1-4803-9377-048D97C240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1043AF-EDC1-4F43-8D03-6D0116A5A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GENIAL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ARTESANAL INVESTIMENTOS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B3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09698AD-6D55-41E0-A9C3-C2BE8BCBD5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322B4F-7763-4E22-8590-77F5A492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Crédito Pessoal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671D4A-CC7D-4FD9-9860-973A43407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049A895-C2CF-42FC-A94B-818C15913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https://fnet.bmfbovespa.com.br/fnet/publico/abrirGerenciadorDocumentosCVM?cnpjFundo=30576260000170. Evidência: O cadastro ANBIMA traz Financeiro/Crédito Pessoal; a política documental atual é ampla. A quebra histórica FIC→FIDC em julho de 2024 deve ser tratada explicitamente.</a:t>
            </a:r>
          </a:p>
        </p:txBody>
      </p:sp>
    </p:spTree>
    <p:extLst>
      <p:ext uri="{BB962C8B-B14F-4D97-AF65-F5344CB8AC3E}">
        <p14:creationId xmlns:p14="http://schemas.microsoft.com/office/powerpoint/2010/main" val="891088049"/>
      </p:ext>
    </p:extLst>
  </p:cSld>
</p:sld>
</file>

<file path=ppt/slides/slide4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FA6D5BE-2941-40B9-983A-93B1567F3B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D6057A4-1512-474B-90FB-928B7D2460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#17 Marobá — R$ 4,5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DA3A6B-F19C-47B5-8DB3-0C4E9D7FDF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C1B92C-8635-44E1-98D4-09E8A543B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CFC25D-0876-458E-B223-A196CF593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C9CB90-E220-4EA9-933B-61C496E41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46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F1453D-8EF4-4E41-B344-AEEB2571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61.285.603/0001-71 · MAROBÁ FUNDO DE INVESTMENTO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DEDB9-ED66-4BBA-B9CC-79E89A422C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B1B7BC3-DA84-4E1D-8D97-F75099BBEE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C6588F-14C3-4C74-8C88-FB2CA2654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9826EBA-B648-4B58-A596-F67E0E4D3A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Cedente/originador não localizado nas fontes consultadas.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852EAE5-26C6-4899-8950-7D619766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E79809-A2A2-4760-AF9F-5BD33EC580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Sacado ou perfil de devedores não localizado nas fontes consultadas.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07EF0E3-37AE-44CA-9DB7-C84F00C86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6DFCDF6-34DD-46A0-BD74-7EF86E6475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Natureza dos recebíveis não localizada nas fontes consultadas.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B135CE6-C506-4481-A195-A81DB22AF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E740D48-606C-450F-8964-F56E43F4BE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 não localizada nas fontes consultadas.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A12A15-1B66-45EF-8CD8-FA3A86BF1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8926C92-3757-49E9-8439-17C33FF60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8BE14D3-5995-453B-ABAB-B7D9A4E5E8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97E5642-8059-40DC-8802-8ABE4058D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DA2AC8-E714-4D31-8AA1-77065E187A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98A323B-89F9-4864-B262-E58BE9491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Classes e subordinação não localizadas nas fontes consultadas. Garantias: Garantias não localizadas nas fontes consultadas.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3CB60C7-88FD-4CCA-9C8B-FD0472CEA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A7F88FEA-ABAA-4999-9BD8-0FDCF2C3E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INTRAG DTVM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KANASTRA ADMINISTRAÇÃO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LIMINE TRUST DISTRIBUIDORA DE TITULOS E VALORES MOBILIARIOS LTDA.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286C60A-CA0B-4D38-A59D-5D28825F1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96171B66-7FD9-4140-B8B9-26F12D4028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C7F14F2-2BA3-484A-95B1-A23572A869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770553E-A8D5-46D6-95D9-C59F96771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0/6 campos documentais preenchidos; cadastro e prestadores disponíveis. Fonte: FundosNet e CVM SRE consultados em 24/07/2026; regulamento, suplemento e informe de encerramento não foram localizados no corpus acessível.. Evidência: Classificação cadastral ANBIMA disponível; documentação primária da operação não localizada.</a:t>
            </a:r>
          </a:p>
        </p:txBody>
      </p:sp>
    </p:spTree>
    <p:extLst>
      <p:ext uri="{BB962C8B-B14F-4D97-AF65-F5344CB8AC3E}">
        <p14:creationId xmlns:p14="http://schemas.microsoft.com/office/powerpoint/2010/main" val="173807839"/>
      </p:ext>
    </p:extLst>
  </p:cSld>
</p:sld>
</file>

<file path=ppt/slides/slide4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5E078D7-9474-4E38-AF13-8F73D4278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236F6E-DC62-4AA6-8103-2F3DC6C6DA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#18 Venda de Veículos — R$ 4,2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9C9FA15-2BBE-43E9-B801-C8B1AC49BD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712BB2B-5465-4C26-B1E4-BD97302B7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EC9D44F-F8CF-4EF6-9956-CB98BFB49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8094BBA-FBBA-4730-B02F-71A038B59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47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C72159-2F89-4558-B45D-3DD7B2A6B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21.126.275/0001-46 · VENDA DE VEÍCULOS FUNDO DE INVESTIMENTO EM DIREITOS CREDITÓRIOS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D6587D5-9005-4E74-9F9F-CBDCBF9B46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9FADFE2-241A-4660-89A7-64B298B42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7C51E54-E0C5-408D-ADB9-727F2C349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495E354-6EB6-4AFE-943C-83542FBC9E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do Brasil Automóveis Ltda. e Renault do Brasil Ltda.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0C5CD82-2D59-45F4-9049-25A752DC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A13E90C-6571-4EE5-85DE-D58106880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Locadoras de veículos e concessionárias que compram veículos novos com pagamento diferido.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0C2F19-8A93-4F6A-92A4-D7AF9FA92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846ECB-6F93-4543-9A87-4B990B7DE2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decorrentes da venda direta e da venda a prazo de veículos novos.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24D9F2-8B6B-429F-9A8B-906A901DED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0549B98-891A-4AD0-B287-095B08A85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Nissan e Renault cedem ao fundo créditos contra locadoras e concessionárias; a liquidação segue as condições comerciais e garantias previstas no regulamento.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D14918-0E26-42F3-A52F-8B9E09D297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666B150-5E03-49BC-A2FB-3B864514C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441E7F-DCE2-4F41-A04D-D2825381BC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9E726E-799D-4960-A269-A99C727CB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Oferta ou informe de encerramento não localizado no corpus consultado.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80AB8B-44B8-4683-A90C-159EE6956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DCD3AB-BF27-455B-86EB-B5A4A443D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o regulamento disciplina índices de subordinação e eventos de avaliação. Garantias: Seguro de crédito, penhor de estoque, cessão fiduciária de recebíveis e garantias bancárias ou fidejussórias, conforme a operação.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854168C5-7737-4652-8979-9F8260DE7A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1908981-0110-414B-9BF5-422DCE190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755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S3 CACEIS BRASIL DISTRIBUIDORA DE TITULOS E VALORES MOBILIARIOS S.A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INTEGRAL INVESTIMENTOS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S3 CACEIS BRASIL DISTRIBUIDORA DE TITULOS E VALORES MOBILIARIOS S.A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FA7DAD5F-94D4-4162-8553-88622C211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E5A70A9-B48F-4857-9E16-B424140F4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Financiamento de Veículos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1129BA-54AB-49AE-8162-E82091F78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32E7652C-EDFE-413D-854C-C135CA8226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preenchidos; emissão não localizada. Fonte: FundosNet, Regulamento id 1230588, 26/06/2026.. Evidência: O regulamento identifica cedentes, devedores, natureza econômica e garantias da carteira.</a:t>
            </a:r>
          </a:p>
        </p:txBody>
      </p:sp>
    </p:spTree>
    <p:extLst>
      <p:ext uri="{BB962C8B-B14F-4D97-AF65-F5344CB8AC3E}">
        <p14:creationId xmlns:p14="http://schemas.microsoft.com/office/powerpoint/2010/main" val="492670020"/>
      </p:ext>
    </p:extLst>
  </p:cSld>
</p:sld>
</file>

<file path=ppt/slides/slide4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8E0F08-ADA2-4398-8B88-DBE3FCB0F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6364CCA-7AC0-470C-9354-EECD80CEC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#19 Day Maxx 2 — R$ 4,0 bi e 0,5%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C8D2C1E-DF3B-4122-94CA-F19AAD54A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995959-0169-45EF-8440-EAF3114EF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6764B9-BC98-43CC-A372-9101A5E18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2026-07-16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4B933E1-ABE4-47E5-B112-1DCD2FF25F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48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6D4908F-7C99-4C9D-8BB4-0C86D2B20C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34.197.588/0001-37 · DAY MAXX 2 FUNDO DE INVESTIMENTO EM DIREITOS CREDITÓRIOS DE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7ACD9DF-460C-4A6F-81E6-1BDFF2A669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6AA4E4C-2938-446C-9BCB-48223699A4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6030010-3DAB-4C3F-8969-B7DBE65F9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4DEAC6-3787-4097-9BC5-524B48686B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 ou jurídicas que cedam os direitos; nomes não identificados no regulamento.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1FAD2F7-B9AD-40CE-9A66-CEDE38952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8BB5E2B-14A7-427B-86F6-DC906A4DF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Pessoas físicas, jurídicas e entes públicos, conforme os direitos adquiridos.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ECD7753-0BCB-482C-9A3F-5AED67F8F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AB1F578-C414-468F-8D73-D46BD1F4F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9640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títulos de crédito; recebíveis mercantis, de transporte, industriais e de serviços; contratos futuros; precatórios federais; direitos não padronizados; créditos de cedentes em recuperação judicial; e até 100% do PL em cotas de outros FIDC, inclusive mezanino/júnior.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AF56CC-1C93-4FEE-A5F8-F95319153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554DD38-F3D3-4881-AB97-80015E9FC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política permite exposição direta a recebíveis/NPL e indireta via cotas de FIDC; o regulamento não comprova a composição efetiva em mai/26.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3B87E2A-06B6-4153-95FD-6BBEC1C79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58E0E24-4414-46B6-B3A7-11C49A49E7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9F7DC3-56C8-43C2-A80C-FEE69E8261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B7385D-D093-482E-AA74-FCD8263633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Emissões relevantes não localizadas nas fontes consultadas.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B6363EA-8281-47C5-B3D1-7609A24002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79D122EE-1C46-41B5-9181-B74398276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sênior, mezanino e júnior; índice mínimo de cotas subordinadas de 25% do PL. A amortização antecipada exige subordinação mínima de 30%. Garantias: Variam por direito; não há garantia uniforme da carteira.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A959710-FACC-4BE7-A40A-5D726C8A8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9A3FA41-84E2-4F3A-9AE3-AE330996E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BANCO DAYCOVAL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DAYCOVAL ASSET MANAGEMENT ADMINISTRACAO DE RECURSOS LTDA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DAYCOVAL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5BA153A-6139-45ED-8FD5-44D18A1A4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611C7E1-6689-4F2A-A238-1CA7A9806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Outros · Multicarteira Outros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2162A91-A641-4F87-938F-1C9544CEE1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DB9B03B-9F73-41DD-903A-679C7DB67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5/6 campos documentais preenchidos. Fonte: https://fnet.bmfbovespa.com.br/fnet/publico/abrirGerenciadorDocumentosCVM?cnpjFundo=34197588000137. Evidência: O cadastro ANBIMA traz Outros/Multicarteira Outros; a política documental é ampla e inclui NPL/precatórios.</a:t>
            </a:r>
          </a:p>
        </p:txBody>
      </p:sp>
    </p:spTree>
    <p:extLst>
      <p:ext uri="{BB962C8B-B14F-4D97-AF65-F5344CB8AC3E}">
        <p14:creationId xmlns:p14="http://schemas.microsoft.com/office/powerpoint/2010/main" val="448589851"/>
      </p:ext>
    </p:extLst>
  </p:cSld>
</p:sld>
</file>

<file path=ppt/slides/slide4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B015AE8-2C35-4B06-9CD4-065E96547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CURADORIA TOP 20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CB8A54-D9B5-4A44-9CAF-E6190138F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#20 ACR BEM — R$ 3,7 bi e 0,4% do PL ex-FIC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DAEE43-19DA-4165-8B3E-486DBBD5D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D9CABC-FA40-4269-A929-C792E9E241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EB3693-70D5-4305-8A43-FAED71D8B2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FundosNet, regulamento e documentos da oferta · consulta 2026-07-24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27F4EA0-EF31-4803-9D14-0ABF14D780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49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C528A41-59E4-4C49-99B2-0632DB7B2F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54.979.779/0001-68 · FIDC ACR BEM BANCOS EMISSORES DE CARTÃO DE CRÉDITO -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85D22EC-89D5-4BEE-857D-9E5353B55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DO FUNDO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448B32E-965A-4ACC-9BC4-5D5B59D35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A6CAE7-32CB-4EB9-B645-82749AAA0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CEDENTE / ORIGINADOR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D15CFC-8E9B-42BB-B59F-A476EA200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2669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Stone Instituição de Pagamento S.A., como originadora e cedente dos recebíveis.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25E37F6-CA9D-4ADB-B8E8-9679E60FC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781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SACADO / PERFIL DE DEVEDORES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5FD98E5-EB66-4868-BF29-80B26DE23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990850"/>
            <a:ext cx="5286375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Emissores de cartões e demais instituições financeiras responsáveis pela liquidação das transações.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03B542-4113-4B65-8E59-FA6FE5E9D0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5052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NATUREZA DOS RECEBÍVEIS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A240760-6130-42ED-B95A-46FB0B5B1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3714750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Direitos creditórios oriundos de transações de pagamento processadas no sistema Stone.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36EA0D4-CE23-4140-89A7-C1277BF06D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3053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FUNCIONAMENTO ECONÔMICO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3EC8925-C4AD-4C7F-8402-3ED6888DE8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4514850"/>
            <a:ext cx="5286375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1013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013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 Stone cede ao fundo recebíveis de liquidação de transações de pagamento; os devedores são os bancos emissores dos cartões.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DFEEC0F-B33A-4B22-AC6B-51D89F8B1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CAPITAL, EMISSÕES E GOVERNANÇA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D43192-F0AC-4023-BED3-27E025657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D272EBE-A616-43B0-AB05-8733230CD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574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EMISSÕES / EVENTOS RELEVANTES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570A647-412F-449D-8296-782EF6046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266950"/>
            <a:ext cx="5286375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 2024, duas ofertas encerradas: R$ 3,5 bi em garantia firme e R$ 108,25 mi em melhores esforços; coordenador líder Bradesco BBI.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FBB5149-7B38-4DC7-8AE6-816B252D3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48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CLASSES, SUBORDINAÇÃO E GARANTIAS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B991AD-8B2D-4CE4-94F2-D2EF7BD10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2575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Cotas sênior e subordinadas; regras de subordinação e eventos constam do regulamento. Garantias: Mecanismos de elegibilidade, concentração e subordinação previstos no regulamento; garantia uniforme adicional não identificada.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85FFB82-2B51-4A20-8B4D-9CB031643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0005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PRESTADORES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EA60CC0-A6C4-4ED9-B1DD-F15D3BC25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210050"/>
            <a:ext cx="5286375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Administrador: BEM - DISTRIBUIDORA DE TITULOS E VALORES MOBILIARIOS LTDA.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Gestor: BANCO BRADESCO S.A.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Custodiante: BANCO BRADESCO S.A.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3098585-5B9B-468D-941A-23858B29A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TIPO / FOCO ANBIMA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55606DE9-524A-43F8-80AE-BEC892B4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162550"/>
            <a:ext cx="5286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Financeiro · Multicarteira Financeiro</a:t>
            </a:r>
          </a:p>
          <a:p xmlns:a="http://schemas.openxmlformats.org/drawingml/2006/main">
            <a:pPr algn="l">
              <a:lnSpc>
                <a:spcPct val="101000"/>
              </a:lnSpc>
              <a:buNone/>
              <a:defRPr sz="97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7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Origem: Classificação oficial ANBIMA por CNPJ da classe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7599F5FB-0EA4-4D5B-B4A7-24D0A2931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7721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464E42D4-9B3C-464D-90D8-5CD910AA56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848350"/>
            <a:ext cx="1104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66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6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Cobertura documental: 6/6 campos documentais preenchidos. Fonte: FundosNet, Regulamento id 656484 de 09/05/2024 e Informe de Encerramento id 664301 de 15/05/2024.. Evidência: A documentação identifica a cadeia de pagamentos, os emissores de cartão como devedores e as ofertas encerradas.</a:t>
            </a:r>
          </a:p>
        </p:txBody>
      </p:sp>
    </p:spTree>
    <p:extLst>
      <p:ext uri="{BB962C8B-B14F-4D97-AF65-F5344CB8AC3E}">
        <p14:creationId xmlns:p14="http://schemas.microsoft.com/office/powerpoint/2010/main" val="1058677617"/>
      </p:ext>
    </p:extLst>
  </p:cSld>
</p:sld>
</file>

<file path=ppt/slides/slide5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BCBC797-22BC-4BA1-A00E-7AF4B36BBE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E27996D-7719-48CD-936B-00BE8F697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Administração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38A0D90-C889-45EF-9EE4-935C34AD28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7F3B93D-F736-4373-8D79-DF66019A22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710510E-1CEF-4B9E-893D-C7D6A9434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B5CEE9-4C20-4934-BD0F-9D62CEA49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50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c6f2ebcf1394d15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B90F1C-D488-43AB-8E3B-8FD64F07C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BCB82-BE94-407D-AC32-1D0EF3B5E5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666972557"/>
      </p:ext>
    </p:extLst>
  </p:cSld>
</p:sld>
</file>

<file path=ppt/slides/slide5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D7DC2C-78E1-4DB7-8FAA-C9A5040324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BB5246B-9DC8-4F52-8CF8-2D5A0E2C9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Gestão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DC6EB6-94AE-48A1-98EF-22ADB3378C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2C9408C-B5D6-4B9B-81D3-C74AAC9B4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E9FCB7D-79BE-407B-BA7D-2F861A241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D0166BC-657A-460C-89A5-B14067076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51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fdc628df7fa4d5e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8D60DA5-2AC9-491A-80EC-ED8291B981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D30EC76-6AD1-4258-9D19-DBE6F5847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931468381"/>
      </p:ext>
    </p:extLst>
  </p:cSld>
</p:sld>
</file>

<file path=ppt/slides/slide5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CA29C73-D0C1-43DC-88BC-7BBE5FA9EC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MARKET SHARE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46479CC-82A5-4B64-8D68-E86BC6146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Custódia por subtipo: universo completo dos 14 focos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4079F5-25A0-4D03-A2E4-79C1642F72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5D85AC-0FBA-49BE-AE4D-28605246C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0B0A49B-B55A-44D8-9D42-3F30ED57E2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Fonte: CVM/ANBIMA, jun/26. Subtipo = Tipo+Foco ANBIMA (cadastro dez/25, evidência e proxy determinístico da Tabela II). PL ex-FIC sem Sistema Petrobras/TAPSO; cobertura 98,6%, fora 1,4%.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3FA3F9-D61F-42D2-8AA9-419F75B9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52</a:t>
            </a:r>
          </a:p>
        </p:txBody>
      </p:sp>
      <p:graphicFrame>
        <p:nvGraphicFramePr>
          <p:cNvPr id="16" name="Chart"/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53750" cy="433387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7e2007d453214049"/>
          </a:graphicData>
        </a:graphic>
      </p:graphicFrame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96A9BFF-EF77-4742-B7A6-5D38A1F55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81675"/>
            <a:ext cx="1076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69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69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Proxy CVM quando ANBIMA e documentos não classificam: maior campo da Tabela II. Regras e cobertura no workbook.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85CECAE-7204-4496-B592-684D366E82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04837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13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Crédito Corporativo mantém 61 fundos; Coral FIDC (-R$ 20,9 mi; gestor/custodiante N/D) fica no QA e fora da normalização. No universo da função: 27 PLs negativos (R$ 64,5 mi).</a:t>
            </a:r>
          </a:p>
        </p:txBody>
      </p:sp>
    </p:spTree>
    <p:extLst>
      <p:ext uri="{BB962C8B-B14F-4D97-AF65-F5344CB8AC3E}">
        <p14:creationId xmlns:p14="http://schemas.microsoft.com/office/powerpoint/2010/main" val="1629904866"/>
      </p:ext>
    </p:extLst>
  </p:cSld>
</p:sld>
</file>

<file path=ppt/slides/slide5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3712BE74-EB12-429A-8780-D376FBE5C8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57175"/>
            <a:ext cx="1104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00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APÊNDICE · CASO ATLÂNTICO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9A36AAC-1356-4C8E-A536-5506E81A1B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4825"/>
            <a:ext cx="11049000" cy="4667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00" b="1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51515"/>
                </a:solidFill>
                <a:latin typeface="Arial"/>
                <a:ea typeface="Arial"/>
                <a:cs typeface="Arial"/>
              </a:rPr>
              <a:t>Atlântico compra créditos já inadimplidos; jul/24 muda a base de reporte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0DD598-DA65-418A-8E84-C2356DAFF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04775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F7C5D6A-E269-4811-B632-0A49ECDD0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353175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6CB555-CFEC-4FED-B482-EEA02A65FC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419850"/>
            <a:ext cx="1000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47625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Fontes: CVM, regulamento de 12/11/24, AGE de 08/07/24 e DFs auditadas de 2024/25. Links completos no workbook.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7338D2-7592-4A87-BE9C-22CAE70847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10325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53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6DAFE4-5830-41C1-9176-A2ABD74509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200150"/>
            <a:ext cx="1104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15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09.194.841/0001-51 · ATLÂNTICO FUNDO DE INVESTIMENTO EM DIREITOS CREDITÓRIOS RESPONSABILIDADE LIMITADA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777A45-ECD3-44B9-A028-C31F3D859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O QUE É E COMO FUNCIONA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564F85-FA95-42D1-BC12-53AD161200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61FBDE6-B4D7-468B-AA23-49754B098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2019300"/>
            <a:ext cx="5286375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ESTRATÉGIA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Veículo fechado de recuperação. O regulamento descreve as carteiras, em regra, como NP, 100% inadimplidas e já baixadas pelos cedentes.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MECÂNICA ECONÔMICA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Compra definitiva em BIDs, com alto deságio e sem originação pelo Fundo. O retorno depende da recuperação agregada; o saldo contábil é valor esperado descontado, não valor de face.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CEDENTES E DEVEDORES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Mai/26 nomina Ativos S.A. (19%) e Carrefour Promotora, carteira legada (11%); 70% não são nominados. Devedores são sobretudo PF pulverizadas, com PJ pontuais.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ATIVOS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8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88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Empréstimos, consignado, cheque especial, cartão, CDC, varejo e serviços. Garantias podem existir caso a caso, mas a carteira massificada normalmente não tem garantia real.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3F0AA84-C42C-488B-941E-0EB0470BB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000625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PRESTADORES ATUAIS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EF9300-71A0-47BD-B313-9405C49F5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267325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0DE3AD6-B386-42F6-A04F-E530F92382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305425"/>
            <a:ext cx="5286375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Administrador e custodiante: ID S.A · Gestor: HYPERION ASSET MANAGEMENT</a:t>
            </a:r>
          </a:p>
          <a:p xmlns:a="http://schemas.openxmlformats.org/drawingml/2006/main">
            <a:pPr algn="l">
              <a:lnSpc>
                <a:spcPct val="102000"/>
              </a:lnSpc>
              <a:buNone/>
              <a:defRPr sz="863" b="0">
                <a:solidFill>
                  <a:srgbClr val="73787D"/>
                </a:solidFill>
                <a:latin typeface="Arial"/>
                <a:ea typeface="Arial"/>
                <a:cs typeface="Arial"/>
              </a:defRPr>
            </a:pPr>
            <a:r>
              <a:rPr sz="863" b="0">
                <a:solidFill>
                  <a:srgbClr val="73787D"/>
                </a:solidFill>
                <a:latin typeface="Arial"/>
                <a:ea typeface="Arial"/>
                <a:cs typeface="Arial"/>
              </a:rPr>
              <a:t>Consultoria: MGC Capital · Cobrança: Crediativos · Auditor: BDO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42DD63D-804E-4868-920B-6D8519B784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6764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POR QUE A INADIMPLÊNCIA É ALTA · JUN/26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7781DE7-1FA0-4496-AB72-EA0DDF553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19431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44C02C0-AD6C-4374-B66E-6362C758D5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076450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548AACB-FC3E-442C-9D2C-FA41DA0E36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076450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R$ 143,6 mi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D52A73D-34D7-404B-8E67-51A8B7FDA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376488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38BE6D3-551A-4A1A-80D0-B58175734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433638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DAA2D58-C799-43A5-9449-47D5BF8421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433638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R$ 155,6 mi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41AFC2-1F41-4F13-981B-4725A471BC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336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A7BDA68-E1AF-40D1-9D43-F30C52039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2790825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E8CFEDF-2150-46A6-8BA7-C51595EA11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2790825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98,8%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DF70DD7-4D2F-48B7-9698-3A32CA4FD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090863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58F6A74-88BE-4E19-BF48-DCA6B0F92E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148013"/>
            <a:ext cx="2801779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38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&gt; 1.080 dias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9C10203-C050-4F0F-BEB1-0AA696519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94495" y="3148013"/>
            <a:ext cx="2326005" cy="242888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938" b="0">
                <a:solidFill>
                  <a:srgbClr val="151515"/>
                </a:solidFill>
                <a:latin typeface="Arial"/>
                <a:ea typeface="Arial"/>
                <a:cs typeface="Arial"/>
              </a:defRPr>
            </a:pPr>
            <a:r>
              <a:rPr sz="938" b="0">
                <a:solidFill>
                  <a:srgbClr val="151515"/>
                </a:solidFill>
                <a:latin typeface="Arial"/>
                <a:ea typeface="Arial"/>
                <a:cs typeface="Arial"/>
              </a:rPr>
              <a:t>R$ 153,8 mi · 100,00% da inad.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AE7ABEC9-4969-4EE3-B734-E24B684DA9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3562350"/>
            <a:ext cx="52863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3000"/>
              </a:lnSpc>
              <a:buNone/>
              <a:defRPr sz="915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915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O 99% é coerente com a estratégia NPL: o fundo compra créditos já vencidos. Aging mede o estado jurídico do crédito; não representa perda adicional de 100% sobre o valor contábil.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41B66EA-6055-40DF-A076-58F29FFE6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05300"/>
            <a:ext cx="52863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30353A"/>
                </a:solidFill>
                <a:latin typeface="Arial"/>
                <a:ea typeface="Arial"/>
                <a:cs typeface="Arial"/>
              </a:rPr>
              <a:t>QUEBRA JUN→JUL/24 · R$ MI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C9C2619-500F-4D50-BA2D-9D559D972F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72000"/>
            <a:ext cx="5286375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6517536-4326-422B-8021-6B2866B35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629150"/>
            <a:ext cx="5286375" cy="323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5151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31B2182-21F4-4E65-B003-27C739A19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657725"/>
            <a:ext cx="18859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Métrica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FA290BA6-3980-4D70-8D64-2BA0D873E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657725"/>
            <a:ext cx="10287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Jun/24 · Sefer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FF40A38-8687-4EA1-8A93-FC5FA0A71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657725"/>
            <a:ext cx="9334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Jul/24 · ID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FA3F33D-B693-4F85-AEC4-ABB9CF538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657725"/>
            <a:ext cx="98107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63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863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Δ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3C0D7645-919C-4DFF-9F17-3E7E6C3028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9530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1E6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BCB9BF0-A34D-4BF1-AAE0-47599F67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01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9643E2B-ED7E-44F8-A734-5B9587AC2F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49815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Inadimplência bruta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5783FA1C-6CE9-429F-9B99-CD0A03602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49815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1">
                <a:solidFill>
                  <a:srgbClr val="EC7000"/>
                </a:solidFill>
                <a:latin typeface="Arial"/>
                <a:ea typeface="Arial"/>
                <a:cs typeface="Arial"/>
              </a:defRPr>
            </a:pPr>
            <a:r>
              <a:rPr sz="788" b="1">
                <a:solidFill>
                  <a:srgbClr val="EC7000"/>
                </a:solidFill>
                <a:latin typeface="Arial"/>
                <a:ea typeface="Arial"/>
                <a:cs typeface="Arial"/>
              </a:rPr>
              <a:t>16.722,8 mi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ED47FE6C-76E5-405E-8A18-C109843C6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49815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103,4 mi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BEB87C4A-87F7-41C0-B538-E3ED7A004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49815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-16.619,4 mi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7C5B2C6B-FDBD-4BF8-A699-A81E7F7529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2197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5F6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4CEC1A28-E04E-4489-8692-505E3B35E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768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24E370F-0185-428A-AC9F-F37B031DD1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2482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Carteira DC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ABB3EAD-858E-472B-94AD-3DDC9D2E81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2482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34,2 mi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0DF48865-001D-45E9-814E-0AFCFA93D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2482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114,2 mi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FB2F54B5-5632-41C1-B908-8D6523DFDC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2482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80,0 mi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EC1CE6D0-6A6A-4134-8ABE-63941776F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486400"/>
            <a:ext cx="5286375" cy="266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7F2153C4-0BF0-4D30-892E-B07448697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5743575"/>
            <a:ext cx="5286375" cy="7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EF57F60A-1938-41D8-AD66-155D38BB53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91275" y="5514975"/>
            <a:ext cx="18859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PL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7E9098C0-0D2B-4875-8731-8281B3B3F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91525" y="5514975"/>
            <a:ext cx="1028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111,8 mi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C46325A5-39ED-458A-AB17-53E85A815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34525" y="5514975"/>
            <a:ext cx="933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125,6 mi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8DE93366-C362-4047-BF17-4D73020E3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82275" y="5514975"/>
            <a:ext cx="9810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95000"/>
              </a:lnSpc>
              <a:buNone/>
              <a:defRPr sz="788" b="0">
                <a:solidFill>
                  <a:srgbClr val="30353A"/>
                </a:solidFill>
                <a:latin typeface="Arial"/>
                <a:ea typeface="Arial"/>
                <a:cs typeface="Arial"/>
              </a:defRPr>
            </a:pPr>
            <a:r>
              <a:rPr sz="788" b="0">
                <a:solidFill>
                  <a:srgbClr val="30353A"/>
                </a:solidFill>
                <a:latin typeface="Arial"/>
                <a:ea typeface="Arial"/>
                <a:cs typeface="Arial"/>
              </a:rPr>
              <a:t>13,8 mi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6D3C317-38BD-4550-BA27-2BA817503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5905500"/>
            <a:ext cx="110490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7DAD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33E4F0E2-6480-4080-AE70-4FBADC538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000750"/>
            <a:ext cx="1104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780" b="0">
                <a:solidFill>
                  <a:srgbClr val="8D9399"/>
                </a:solidFill>
                <a:latin typeface="Arial"/>
                <a:ea typeface="Arial"/>
                <a:cs typeface="Arial"/>
              </a:defRPr>
            </a:pPr>
            <a:r>
              <a:rPr sz="780" b="0">
                <a:solidFill>
                  <a:srgbClr val="8D9399"/>
                </a:solidFill>
                <a:latin typeface="Arial"/>
                <a:ea typeface="Arial"/>
                <a:cs typeface="Arial"/>
              </a:rPr>
              <a:t>A quebra no bruto coincide com a troca de administrador, sem evidência de recuperação em caixa. As DFs têm opinião modificada para 01/01–19/07/24 por inconsistências de lastro e posição; a série usa bases de reporte distintas.</a:t>
            </a:r>
          </a:p>
        </p:txBody>
      </p:sp>
    </p:spTree>
    <p:extLst>
      <p:ext uri="{BB962C8B-B14F-4D97-AF65-F5344CB8AC3E}">
        <p14:creationId xmlns:p14="http://schemas.microsoft.com/office/powerpoint/2010/main" val="1680332779"/>
      </p:ext>
    </p:extLst>
  </p:cSld>
</p:sld>
</file>

<file path=ppt/theme/theme1.xml><?xml version="1.0" encoding="utf-8"?>
<a:theme xmlns:a="http://schemas.openxmlformats.org/drawingml/2006/main" name="ChatGPT">
  <a:themeElements>
    <a:clrScheme name="Itau BBA FIDC Editorial">
      <a:dk1>
        <a:srgbClr val="151515"/>
      </a:dk1>
      <a:lt1>
        <a:srgbClr val="FFFFFF"/>
      </a:lt1>
      <a:dk2>
        <a:srgbClr val="30353A"/>
      </a:dk2>
      <a:lt2>
        <a:srgbClr val="E7E9EB"/>
      </a:lt2>
      <a:accent1>
        <a:srgbClr val="EC7000"/>
      </a:accent1>
      <a:accent2>
        <a:srgbClr val="151515"/>
      </a:accent2>
      <a:accent3>
        <a:srgbClr val="30353A"/>
      </a:accent3>
      <a:accent4>
        <a:srgbClr val="73787D"/>
      </a:accent4>
      <a:accent5>
        <a:srgbClr val="8D9399"/>
      </a:accent5>
      <a:accent6>
        <a:srgbClr val="D7DADD"/>
      </a:accent6>
      <a:hlink>
        <a:srgbClr val="EC7000"/>
      </a:hlink>
      <a:folHlink>
        <a:srgbClr val="7378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Itau BBA FIDC Editorial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2026-07-25T03:43:13.0540000Z</dcterms:created>
  <dcterms:modified xsi:type="dcterms:W3CDTF">2026-07-25T03:43:13.0540000Z</dcterms:modified>
</coreProperties>
</file>