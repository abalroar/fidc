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a58755c9a648aa" /><Relationship Type="http://schemas.openxmlformats.org/officeDocument/2006/relationships/extended-properties" Target="/docProps/app.xml" Id="R26ae334c3c08401a" /><Relationship Type="http://schemas.openxmlformats.org/officeDocument/2006/relationships/officeDocument" Target="/ppt/presentation.xml" Id="Ra5d1aa22fc60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935124f1734c89"/>
  </p:sldMasterIdLst>
  <p:notesMasterIdLst>
    <p:notesMasterId xmlns:r="http://schemas.openxmlformats.org/officeDocument/2006/relationships" r:id="R55797e2bd1124519"/>
  </p:notesMasterIdLst>
  <p:sldIdLst>
    <p:sldId xmlns:r="http://schemas.openxmlformats.org/officeDocument/2006/relationships" id="256" r:id="R9e67a04cb5eb4a7f"/>
    <p:sldId xmlns:r="http://schemas.openxmlformats.org/officeDocument/2006/relationships" id="257" r:id="R0227e9142e224aa6"/>
    <p:sldId xmlns:r="http://schemas.openxmlformats.org/officeDocument/2006/relationships" id="258" r:id="Rd88275e384e64181"/>
    <p:sldId xmlns:r="http://schemas.openxmlformats.org/officeDocument/2006/relationships" id="259" r:id="R24ed9d5d654a4c71"/>
    <p:sldId xmlns:r="http://schemas.openxmlformats.org/officeDocument/2006/relationships" id="260" r:id="R5f4e9b8f8e7d4f55"/>
    <p:sldId xmlns:r="http://schemas.openxmlformats.org/officeDocument/2006/relationships" id="261" r:id="Ra62af334ff03499d"/>
    <p:sldId xmlns:r="http://schemas.openxmlformats.org/officeDocument/2006/relationships" id="262" r:id="Rbf1855ebd8874999"/>
    <p:sldId xmlns:r="http://schemas.openxmlformats.org/officeDocument/2006/relationships" id="263" r:id="R710086995abc4aaa"/>
    <p:sldId xmlns:r="http://schemas.openxmlformats.org/officeDocument/2006/relationships" id="264" r:id="R4ed9b98148574f7e"/>
    <p:sldId xmlns:r="http://schemas.openxmlformats.org/officeDocument/2006/relationships" id="265" r:id="R96f9378dd5d24832"/>
    <p:sldId xmlns:r="http://schemas.openxmlformats.org/officeDocument/2006/relationships" id="266" r:id="Rc46aa4764d964b5e"/>
    <p:sldId xmlns:r="http://schemas.openxmlformats.org/officeDocument/2006/relationships" id="267" r:id="R834e0f2047e144ed"/>
    <p:sldId xmlns:r="http://schemas.openxmlformats.org/officeDocument/2006/relationships" id="268" r:id="R84d286cde60f46be"/>
    <p:sldId xmlns:r="http://schemas.openxmlformats.org/officeDocument/2006/relationships" id="269" r:id="Rbb2e8ac0f4dd4a80"/>
    <p:sldId xmlns:r="http://schemas.openxmlformats.org/officeDocument/2006/relationships" id="270" r:id="Rf3dfcdd5ebc74d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0e44a358484c32" /><Relationship Type="http://schemas.openxmlformats.org/officeDocument/2006/relationships/slideMaster" Target="/ppt/slideMasters/slideMaster1.xml" Id="R06935124f1734c89" /><Relationship Type="http://schemas.openxmlformats.org/officeDocument/2006/relationships/notesMaster" Target="/ppt/notesMasters/notesMaster1.xml" Id="R55797e2bd1124519" /><Relationship Type="http://schemas.openxmlformats.org/officeDocument/2006/relationships/presProps" Target="/ppt/presProps.xml" Id="Re180be0763fa45bb" /><Relationship Type="http://schemas.openxmlformats.org/officeDocument/2006/relationships/tableStyles" Target="/ppt/tableStyles.xml" Id="R02d132e1370c4728" /><Relationship Type="http://schemas.openxmlformats.org/officeDocument/2006/relationships/slide" Target="/ppt/slides/slide1.xml" Id="R9e67a04cb5eb4a7f" /><Relationship Type="http://schemas.openxmlformats.org/officeDocument/2006/relationships/slide" Target="/ppt/slides/slide2.xml" Id="R0227e9142e224aa6" /><Relationship Type="http://schemas.openxmlformats.org/officeDocument/2006/relationships/slide" Target="/ppt/slides/slide3.xml" Id="Rd88275e384e64181" /><Relationship Type="http://schemas.openxmlformats.org/officeDocument/2006/relationships/slide" Target="/ppt/slides/slide4.xml" Id="R24ed9d5d654a4c71" /><Relationship Type="http://schemas.openxmlformats.org/officeDocument/2006/relationships/slide" Target="/ppt/slides/slide5.xml" Id="R5f4e9b8f8e7d4f55" /><Relationship Type="http://schemas.openxmlformats.org/officeDocument/2006/relationships/slide" Target="/ppt/slides/slide6.xml" Id="Ra62af334ff03499d" /><Relationship Type="http://schemas.openxmlformats.org/officeDocument/2006/relationships/slide" Target="/ppt/slides/slide7.xml" Id="Rbf1855ebd8874999" /><Relationship Type="http://schemas.openxmlformats.org/officeDocument/2006/relationships/slide" Target="/ppt/slides/slide8.xml" Id="R710086995abc4aaa" /><Relationship Type="http://schemas.openxmlformats.org/officeDocument/2006/relationships/slide" Target="/ppt/slides/slide9.xml" Id="R4ed9b98148574f7e" /><Relationship Type="http://schemas.openxmlformats.org/officeDocument/2006/relationships/slide" Target="/ppt/slides/slide10.xml" Id="R96f9378dd5d24832" /><Relationship Type="http://schemas.openxmlformats.org/officeDocument/2006/relationships/slide" Target="/ppt/slides/slide11.xml" Id="Rc46aa4764d964b5e" /><Relationship Type="http://schemas.openxmlformats.org/officeDocument/2006/relationships/slide" Target="/ppt/slides/slide12.xml" Id="R834e0f2047e144ed" /><Relationship Type="http://schemas.openxmlformats.org/officeDocument/2006/relationships/slide" Target="/ppt/slides/slide13.xml" Id="R84d286cde60f46be" /><Relationship Type="http://schemas.openxmlformats.org/officeDocument/2006/relationships/slide" Target="/ppt/slides/slide14.xml" Id="Rbb2e8ac0f4dd4a80" /><Relationship Type="http://schemas.openxmlformats.org/officeDocument/2006/relationships/slide" Target="/ppt/slides/slide15.xml" Id="Rf3dfcdd5ebc7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197c2d6cb40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40688161a4fa6" /><Relationship Type="http://schemas.openxmlformats.org/officeDocument/2006/relationships/notesMaster" Target="/ppt/notesMasters/notesMaster1.xml" Id="R73639286c649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08ab1ea8ec45d2" /><Relationship Type="http://schemas.openxmlformats.org/officeDocument/2006/relationships/notesMaster" Target="/ppt/notesMasters/notesMaster1.xml" Id="Rd313f6efd7de43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403168ee4b4911" /><Relationship Type="http://schemas.openxmlformats.org/officeDocument/2006/relationships/notesMaster" Target="/ppt/notesMasters/notesMaster1.xml" Id="R17aba609a3664f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e13bbff18484b" /><Relationship Type="http://schemas.openxmlformats.org/officeDocument/2006/relationships/notesMaster" Target="/ppt/notesMasters/notesMaster1.xml" Id="R1631c74bea1d49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d62ec65f4437b" /><Relationship Type="http://schemas.openxmlformats.org/officeDocument/2006/relationships/notesMaster" Target="/ppt/notesMasters/notesMaster1.xml" Id="R41077f6c125f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a2053dd4a446ed" /><Relationship Type="http://schemas.openxmlformats.org/officeDocument/2006/relationships/notesMaster" Target="/ppt/notesMasters/notesMaster1.xml" Id="Ra762c431438c45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9de379dfcd490d" /><Relationship Type="http://schemas.openxmlformats.org/officeDocument/2006/relationships/notesMaster" Target="/ppt/notesMasters/notesMaster1.xml" Id="R50cabfcc7918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dc202fa834ec1" /><Relationship Type="http://schemas.openxmlformats.org/officeDocument/2006/relationships/notesMaster" Target="/ppt/notesMasters/notesMaster1.xml" Id="R2c7f4412d31c45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e18dcb8ba4d58" /><Relationship Type="http://schemas.openxmlformats.org/officeDocument/2006/relationships/notesMaster" Target="/ppt/notesMasters/notesMaster1.xml" Id="R70ac0881f31546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77a1adf7f84870" /><Relationship Type="http://schemas.openxmlformats.org/officeDocument/2006/relationships/notesMaster" Target="/ppt/notesMasters/notesMaster1.xml" Id="R14992c4a2d6748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18f890f8d943a5" /><Relationship Type="http://schemas.openxmlformats.org/officeDocument/2006/relationships/notesMaster" Target="/ppt/notesMasters/notesMaster1.xml" Id="R651a388ee13547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b3713cf7234857" /><Relationship Type="http://schemas.openxmlformats.org/officeDocument/2006/relationships/notesMaster" Target="/ppt/notesMasters/notesMaster1.xml" Id="R756be20f581243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1abfbb91d8426d" /><Relationship Type="http://schemas.openxmlformats.org/officeDocument/2006/relationships/notesMaster" Target="/ppt/notesMasters/notesMaster1.xml" Id="R836dc448e95d4e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be84c5f3624648" /><Relationship Type="http://schemas.openxmlformats.org/officeDocument/2006/relationships/notesMaster" Target="/ppt/notesMasters/notesMaster1.xml" Id="Rc1470faaef134e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dcdee165334513" /><Relationship Type="http://schemas.openxmlformats.org/officeDocument/2006/relationships/notesMaster" Target="/ppt/notesMasters/notesMaster1.xml" Id="R2c34c43d4b8d4f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31/ago/26: https://data.anbima.com.br/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{"id":"cover","latest_complete":"2026-08","offers_as_of":"2026-08-31","executive_conclusions":5,"source_signature":"bb4e976173eaad01107647a7305e770e2018fa6a22fbbb5ae19b05948b59652a"}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Fontes: CVM, Informe Mensal de FIDC (ago/26); BCB, SGS 28183–28192 (último mês comum: ago/26).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{"id":"industry_scale","latest_complete":"2026-08","offers_as_of":"2026-08-31","executive_conclusions":5,"source_signature":"bb4e976173eaad01107647a7305e770e2018fa6a22fbbb5ae19b05948b59652a"}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CVM/SRE: R$ 91,9 bi registrado primário; ANBIMA: R$ 74,3 bi encerrado. Perímetros distintos; jan–ago/26, snapshot ago/26.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Data — Boletim de Mercado de Capitais, snapshot ago/26, 02-02-Vlr, D91:D98: https://data-strapi.prd.anbima.com.br/uploads/Boletim_MK_Anexo_652e5f2862.xlsx</a:t>
            </a:r>
          </a:p>
          <a:p xmlns:a="http://schemas.openxmlformats.org/drawingml/2006/main">
            <a:r>
              <a:t>- Perímetros: CVM/SRE mede valor registrado de ofertas primárias encerradas (R$ 91,9 bi em FIDCs); ANBIMA mede valor encerrado (R$ 74,3 bi). CVM cobre jan–ago/26; ANBIMA cobre jan–ago/26. A reconciliação por instrumento recorta a CVM à janela da ANBIMA.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{"id":"annual_issuance","latest_complete":"2026-08","offers_as_of":"2026-08-31","executive_conclusions":5,"source_signature":"bb4e976173eaad01107647a7305e770e2018fa6a22fbbb5ae19b05948b59652a"}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Fontes: CVM/SRE, ofertas encerradas até 2026-08-31, snapshot 10/out/26; ANBIMA para 2023. Volume registrado, tipos ANBIMA e reconciliação no XLSX.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Emissões: quatro tipos ANBIMA reconciliados com FIC-FIDC e total emitido; ausência permanece N/D e não vira zero.</a:t>
            </a:r>
          </a:p>
          <a:p xmlns:a="http://schemas.openxmlformats.org/drawingml/2006/main">
            <a:r>
              <a:t>- Rótulos dos segmentos menores que 8% da escala do eixo ficam ocultos; os valores e as séries são preservados no gráfico nativo e no XLSX.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{"id":"issuance_taxonomy_summary","latest_complete":"2026-08","offers_as_of":"2026-08-31","executive_conclusions":5,"source_signature":"bb4e976173eaad01107647a7305e770e2018fa6a22fbbb5ae19b05948b59652a"}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ANBIMA Data (Tipo/Foco, dez/25), Informe Mensal CVM (ago/26) e ledger documental aprovado; classificação oficial preservada no workbook.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Rótulos de exibição: Poder Público → Precatórios e/ou Ações Judiciais; Multicarteira Outros e Multicedente/Multissacado → Multicedente/Multisacado; Recuperação → Recuperação / FIDCs NP. A taxonomia oficial e os valores integrais ficam preservados no XLSX.</a:t>
            </a:r>
          </a:p>
          <a:p xmlns:a="http://schemas.openxmlformats.org/drawingml/2006/main">
            <a:r>
              <a:t>- Rótulos dos segmentos menores que 8% da escala do eixo ficam ocultos; os valores são preservados no gráfico nativo.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{"id":"analytical_taxonomy","latest_complete":"2026-08","offers_as_of":"2026-08-31","executive_conclusions":5,"source_signature":"bb4e976173eaad01107647a7305e770e2018fa6a22fbbb5ae19b05948b59652a"}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CVM, Informe Mensal e regulamentos no FundosNet. Curadoria em 21/jul/26; a categoria CVM original permanece preservada.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{"id":"acquiring","latest_complete":"2026-08","offers_as_of":"2026-08-31","executive_conclusions":5,"source_signature":"bb4e976173eaad01107647a7305e770e2018fa6a22fbbb5ae19b05948b59652a"}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CVM, Informe Mensal, Tabela II; dez/23 e ago/26. Percentuais sobre a soma dos segmentos reportados; contribuição = Δ Financeiro / Δ total líquido.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{"id":"receivables","latest_complete":"2026-08","offers_as_of":"2026-08-31","executive_conclusions":5,"source_signature":"bb4e976173eaad01107647a7305e770e2018fa6a22fbbb5ae19b05948b59652a"}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CVM/SRE, dois arquivos de ofertas, snapshot 10/out/26. Primárias encerradas, todos os ritos; volume registrado.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jan–ago/26.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{"id":"offers_volume_ticket","latest_complete":"2026-08","offers_as_of":"2026-08-31","executive_conclusions":5,"source_signature":"bb4e976173eaad01107647a7305e770e2018fa6a22fbbb5ae19b05948b59652a"}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CVM/SRE, dois arquivos de ofertas; mesma coorte primária encerrada do slide anterior. 2026 = jan–ago/26.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jan–ago/26.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{"id":"offers_ticket_distribution","latest_complete":"2026-08","offers_as_of":"2026-08-31","executive_conclusions":5,"source_signature":"bb4e976173eaad01107647a7305e770e2018fa6a22fbbb5ae19b05948b59652a"}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CVM/SRE, dois arquivos de ofertas, snapshot 10/out/26. jan–ago/26; regime declarado; campo ausente = Não informado.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jan–ago/26.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R$ 13,4 bi em jan–ago/25 e R$ 18,3 bi em jan–ago/26; variação 36,8%. Melhores esforços representam 70,5%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{"id":"offers_placement_regime","latest_complete":"2026-08","offers_as_of":"2026-08-31","executive_conclusions":5,"source_signature":"bb4e976173eaad01107647a7305e770e2018fa6a22fbbb5ae19b05948b59652a"}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Fontes: CVM, Informe Mensal e ofertas públicas. PL ex-FIC. Perímetros e documentação no XLSX.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CVM, Informe Mensal de FIDC: https://dados.cvm.gov.br/dataset/fidc-doc-inf_mensal</a:t>
            </a:r>
          </a:p>
          <a:p xmlns:a="http://schemas.openxmlformats.org/drawingml/2006/main">
            <a:r>
              <a:t>- CVM/SRE, ofertas públicas: https://dados.cvm.gov.br/dataset/oferta-distrib</a:t>
            </a:r>
          </a:p>
          <a:p xmlns:a="http://schemas.openxmlformats.org/drawingml/2006/main">
            <a:r>
              <a:t>- Estoque: CVM, Informe Mensal FIDC de ago/26. Valores monetários arredondados a R$ 10 bi e percentuais a 5 pontos percentuais.</a:t>
            </a:r>
          </a:p>
          <a:p xmlns:a="http://schemas.openxmlformats.org/drawingml/2006/main">
            <a:r>
              <a:t>- PL ex-FIC: exclui os fundos de cotas identificados na base. Valores exatos e critérios disponíveis no Excel.</a:t>
            </a:r>
          </a:p>
          <a:p xmlns:a="http://schemas.openxmlformats.org/drawingml/2006/main">
            <a:r>
              <a:t>- Recebíveis: participação sobre a soma dos segmentos reportados na Tabela II. Essa soma pode divergir da carteira da Tabela I.</a:t>
            </a:r>
          </a:p>
          <a:p xmlns:a="http://schemas.openxmlformats.org/drawingml/2006/main">
            <a:r>
              <a:t>- Contas: fundos de maior porte têm PL a partir de R$ 200 mi. Contas reportadas são agregadas ao CNPJ legal e admitem mais de uma conta por investidor.</a:t>
            </a:r>
          </a:p>
          <a:p xmlns:a="http://schemas.openxmlformats.org/drawingml/2006/main">
            <a:r>
              <a:t>- Prestadores: PL ex-FIC elegível e grupos econômicos normalizados. Gestor e custodiante seguem a fotografia cadastral identificada nas fontes.</a:t>
            </a:r>
          </a:p>
          <a:p xmlns:a="http://schemas.openxmlformats.org/drawingml/2006/main">
            <a:r>
              <a:t>- Ofertas: recorte jan–ago/26, cotas primárias encerradas, uma oferta por Numero_Requerimento. Grandes ofertas têm Valor_Total_Registrado a partir de R$ 500 mi.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{"id":"conclusions","latest_complete":"2026-08","offers_as_of":"2026-08-31","executive_conclusions":5,"source_signature":"bb4e976173eaad01107647a7305e770e2018fa6a22fbbb5ae19b05948b59652a"}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CVM, Informe Mensal e cadastro de prestadores, ago/26. Exclui Sistema Petrobras e TAPSO. Gestão/custódia históricas reconstruídas com cadastro vigente.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{"id":"provider_history","latest_complete":"2026-08","offers_as_of":"2026-08-31","executive_conclusions":5,"source_signature":"bb4e976173eaad01107647a7305e770e2018fa6a22fbbb5ae19b05948b59652a"}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CVM, dez/25 e ago/26. PL ex-FIC; Sistema Petrobras e TAPSO excluídos do numerador e denominador. Administração observada; gestão/custódia históricas reconstruídas com cadastro vigente.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{"id":"provider_ranking","latest_complete":"2026-08","offers_as_of":"2026-08-31","executive_conclusions":5,"source_signature":"bb4e976173eaad01107647a7305e770e2018fa6a22fbbb5ae19b05948b59652a"}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CVM/SRE, snapshot 10/out/26. Primárias encerradas, volume registrado. Público-alvo mede elegibilidade. Contas podem repetir investidores.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jan–ago/26.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[Industry contract] {"id":"investor_base","latest_complete":"2026-08","offers_as_of":"2026-08-31","executive_conclusions":5,"source_signature":"bb4e976173eaad01107647a7305e770e2018fa6a22fbbb5ae19b05948b59652a"}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[Footer source]</a:t>
            </a:r>
          </a:p>
          <a:p xmlns:a="http://schemas.openxmlformats.org/drawingml/2006/main">
            <a:r>
              <a:t>Fonte: CVM, dez/23 e ago/26. Ex-FIC com PL ≥ R$ 200 mi: 397 → 736 fundos; contas por classe/série, não investidores únicos.</a:t>
            </a:r>
          </a:p>
          <a:p xmlns:a="http://schemas.openxmlformats.org/drawingml/2006/main">
            <a:r>
              <a:t>[/Footer source]</a:t>
            </a:r>
          </a:p>
          <a:p xmlns:a="http://schemas.openxmlformats.org/drawingml/2006/main">
            <a:r>
              <a:t>[Industry contract] {"id":"holder_distribution","latest_complete":"2026-08","offers_as_of":"2026-08-31","executive_conclusions":5,"source_signature":"bb4e976173eaad01107647a7305e770e2018fa6a22fbbb5ae19b05948b59652a"}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366314fd844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b46c16413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05211968441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4bb9821944c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73ff0b4a84f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97c0b33ed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8002AA-49B5-40AA-9375-FB4D8EA9B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35AE56-9D26-4AC7-81D6-57FCC02A93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6CEE74-317B-46B6-859B-28AE66E86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BA1DCC-8BA7-4BD4-B0FB-33736BDD6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6869E3-256A-4405-86AA-314C2F616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B37EA9-D83C-4957-A94E-9F690A687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11DB23-69F2-4FB2-B44C-4FF17DD857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E6DF20-AD85-4100-A3F2-4E28B4FECD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366D6E-F3DC-476C-8362-0B924ED8A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EE275B-6212-4460-9A2F-DE91F95BF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7ad16f6174577" /><Relationship Type="http://schemas.openxmlformats.org/officeDocument/2006/relationships/slideLayout" Target="/ppt/slideLayouts/slideLayout1.xml" Id="R0c24dad0500e469a" /><Relationship Type="http://schemas.openxmlformats.org/officeDocument/2006/relationships/slideLayout" Target="/ppt/slideLayouts/slideLayout2.xml" Id="R970d072217804e91" /><Relationship Type="http://schemas.openxmlformats.org/officeDocument/2006/relationships/slideLayout" Target="/ppt/slideLayouts/slideLayout3.xml" Id="R5b1dcfd35cb140d6" /><Relationship Type="http://schemas.openxmlformats.org/officeDocument/2006/relationships/slideLayout" Target="/ppt/slideLayouts/slideLayout4.xml" Id="Ref48627848714224" /><Relationship Type="http://schemas.openxmlformats.org/officeDocument/2006/relationships/slideLayout" Target="/ppt/slideLayouts/slideLayout5.xml" Id="Rcd4caee3f4f849c5" /><Relationship Type="http://schemas.openxmlformats.org/officeDocument/2006/relationships/slideLayout" Target="/ppt/slideLayouts/slideLayout6.xml" Id="Rca66fda45c75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4dad0500e469a"/>
    <p:sldLayoutId xmlns:r="http://schemas.openxmlformats.org/officeDocument/2006/relationships" id="2147483650" r:id="R970d072217804e91"/>
    <p:sldLayoutId xmlns:r="http://schemas.openxmlformats.org/officeDocument/2006/relationships" id="2147483651" r:id="R5b1dcfd35cb140d6"/>
    <p:sldLayoutId xmlns:r="http://schemas.openxmlformats.org/officeDocument/2006/relationships" id="2147483652" r:id="Ref48627848714224"/>
    <p:sldLayoutId xmlns:r="http://schemas.openxmlformats.org/officeDocument/2006/relationships" id="2147483653" r:id="Rcd4caee3f4f849c5"/>
    <p:sldLayoutId xmlns:r="http://schemas.openxmlformats.org/officeDocument/2006/relationships" id="2147483654" r:id="Rca66fda45c75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be5557124647dd" /><Relationship Type="http://schemas.openxmlformats.org/officeDocument/2006/relationships/notesSlide" Target="/ppt/notesSlides/notesSlide1.xml" Id="R350252750737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cee02e4bc4f76" /><Relationship Type="http://schemas.openxmlformats.org/officeDocument/2006/relationships/chart" Target="/ppt/slides/charts/chart1.xml" Id="Rbe72fb3964d349d0" /><Relationship Type="http://schemas.openxmlformats.org/officeDocument/2006/relationships/chart" Target="/ppt/slides/charts/chart2.xml" Id="Rf9be76dcb5d14afb" /><Relationship Type="http://schemas.openxmlformats.org/officeDocument/2006/relationships/notesSlide" Target="/ppt/notesSlides/notesSlide2.xml" Id="Rdca97f96873045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3f5552cfe4a59" /><Relationship Type="http://schemas.openxmlformats.org/officeDocument/2006/relationships/chart" Target="/ppt/slides/charts/chart3.xml" Id="R0b6e91791a3d47e4" /><Relationship Type="http://schemas.openxmlformats.org/officeDocument/2006/relationships/chart" Target="/ppt/slides/charts/chart4.xml" Id="R7c1e9f1efe8e44e9" /><Relationship Type="http://schemas.openxmlformats.org/officeDocument/2006/relationships/notesSlide" Target="/ppt/notesSlides/notesSlide3.xml" Id="Rf3f4afdedc8742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4d60ac54940f3" /><Relationship Type="http://schemas.openxmlformats.org/officeDocument/2006/relationships/chart" Target="/ppt/slides/charts/chart5.xml" Id="Rc83bb282478b4c3e" /><Relationship Type="http://schemas.openxmlformats.org/officeDocument/2006/relationships/chart" Target="/ppt/slides/charts/chart6.xml" Id="Re49074663fdf478a" /><Relationship Type="http://schemas.openxmlformats.org/officeDocument/2006/relationships/notesSlide" Target="/ppt/notesSlides/notesSlide4.xml" Id="R2f92b9d82c034c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658761d7b4f7c" /><Relationship Type="http://schemas.openxmlformats.org/officeDocument/2006/relationships/chart" Target="/ppt/slides/charts/chart7.xml" Id="Rb3ba798ef4434513" /><Relationship Type="http://schemas.openxmlformats.org/officeDocument/2006/relationships/chart" Target="/ppt/slides/charts/chart8.xml" Id="R40494fea2c244141" /><Relationship Type="http://schemas.openxmlformats.org/officeDocument/2006/relationships/notesSlide" Target="/ppt/notesSlides/notesSlide5.xml" Id="R09eb10f702e6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0740ac00b402d" /><Relationship Type="http://schemas.openxmlformats.org/officeDocument/2006/relationships/chart" Target="/ppt/slides/charts/chart9.xml" Id="R53343c745c91416f" /><Relationship Type="http://schemas.openxmlformats.org/officeDocument/2006/relationships/chart" Target="/ppt/slides/charts/chart10.xml" Id="R240942d0f0d24ee6" /><Relationship Type="http://schemas.openxmlformats.org/officeDocument/2006/relationships/notesSlide" Target="/ppt/notesSlides/notesSlide6.xml" Id="Rac74391d5ad24a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fd04c2ceb46de" /><Relationship Type="http://schemas.openxmlformats.org/officeDocument/2006/relationships/chart" Target="/ppt/slides/charts/chart11.xml" Id="Rc7409d8a400f44e6" /><Relationship Type="http://schemas.openxmlformats.org/officeDocument/2006/relationships/chart" Target="/ppt/slides/charts/chart12.xml" Id="R8daf4a8955c04a93" /><Relationship Type="http://schemas.openxmlformats.org/officeDocument/2006/relationships/notesSlide" Target="/ppt/notesSlides/notesSlide7.xml" Id="Rc78b1575b34d49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b7492dae84f22" /><Relationship Type="http://schemas.openxmlformats.org/officeDocument/2006/relationships/chart" Target="/ppt/slides/charts/chart13.xml" Id="R6148424bd3ae48fe" /><Relationship Type="http://schemas.openxmlformats.org/officeDocument/2006/relationships/chart" Target="/ppt/slides/charts/chart14.xml" Id="R7a73e7b9a4ca4492" /><Relationship Type="http://schemas.openxmlformats.org/officeDocument/2006/relationships/notesSlide" Target="/ppt/notesSlides/notesSlide8.xml" Id="R225366292c9145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99f20c4be4241" /><Relationship Type="http://schemas.openxmlformats.org/officeDocument/2006/relationships/chart" Target="/ppt/slides/charts/chart15.xml" Id="Rb5ee1e44aee341b0" /><Relationship Type="http://schemas.openxmlformats.org/officeDocument/2006/relationships/chart" Target="/ppt/slides/charts/chart16.xml" Id="Ra3651446f72949f0" /><Relationship Type="http://schemas.openxmlformats.org/officeDocument/2006/relationships/chart" Target="/ppt/slides/charts/chart17.xml" Id="R33750771483b47f3" /><Relationship Type="http://schemas.openxmlformats.org/officeDocument/2006/relationships/notesSlide" Target="/ppt/notesSlides/notesSlide9.xml" Id="R5feab33f1109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13237462c40d9" /><Relationship Type="http://schemas.openxmlformats.org/officeDocument/2006/relationships/chart" Target="/ppt/slides/charts/chart18.xml" Id="R017c3b75544340d3" /><Relationship Type="http://schemas.openxmlformats.org/officeDocument/2006/relationships/notesSlide" Target="/ppt/notesSlides/notesSlide10.xml" Id="R0532de88c2d146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3acafff4b4e4f" /><Relationship Type="http://schemas.openxmlformats.org/officeDocument/2006/relationships/notesSlide" Target="/ppt/notesSlides/notesSlide11.xml" Id="R0083a2d68bc146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6b372c1224600" /><Relationship Type="http://schemas.openxmlformats.org/officeDocument/2006/relationships/chart" Target="/ppt/slides/charts/chart19.xml" Id="Re7b128bb73f34430" /><Relationship Type="http://schemas.openxmlformats.org/officeDocument/2006/relationships/chart" Target="/ppt/slides/charts/chart20.xml" Id="R55747a77b0ec49be" /><Relationship Type="http://schemas.openxmlformats.org/officeDocument/2006/relationships/chart" Target="/ppt/slides/charts/chart21.xml" Id="R8c359582b1ce4dcb" /><Relationship Type="http://schemas.openxmlformats.org/officeDocument/2006/relationships/chart" Target="/ppt/slides/charts/chart22.xml" Id="Rf79bce7281f44b8f" /><Relationship Type="http://schemas.openxmlformats.org/officeDocument/2006/relationships/chart" Target="/ppt/slides/charts/chart23.xml" Id="R8573d50654e64b6e" /><Relationship Type="http://schemas.openxmlformats.org/officeDocument/2006/relationships/chart" Target="/ppt/slides/charts/chart24.xml" Id="R0054274b2a0d4c35" /><Relationship Type="http://schemas.openxmlformats.org/officeDocument/2006/relationships/notesSlide" Target="/ppt/notesSlides/notesSlide12.xml" Id="R9e61669a3f2341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2e284cfc54216" /><Relationship Type="http://schemas.openxmlformats.org/officeDocument/2006/relationships/chart" Target="/ppt/slides/charts/chart25.xml" Id="R7a2654455d0f4767" /><Relationship Type="http://schemas.openxmlformats.org/officeDocument/2006/relationships/chart" Target="/ppt/slides/charts/chart26.xml" Id="R292b1b1c3eb84f53" /><Relationship Type="http://schemas.openxmlformats.org/officeDocument/2006/relationships/notesSlide" Target="/ppt/notesSlides/notesSlide13.xml" Id="R738c90462d9242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ac2d880a64645" /><Relationship Type="http://schemas.openxmlformats.org/officeDocument/2006/relationships/chart" Target="/ppt/slides/charts/chart27.xml" Id="Rc598b04d4da64514" /><Relationship Type="http://schemas.openxmlformats.org/officeDocument/2006/relationships/chart" Target="/ppt/slides/charts/chart28.xml" Id="Ra8aa9b4b79cd430c" /><Relationship Type="http://schemas.openxmlformats.org/officeDocument/2006/relationships/chart" Target="/ppt/slides/charts/chart29.xml" Id="R6f39bb6db2f34fb7" /><Relationship Type="http://schemas.openxmlformats.org/officeDocument/2006/relationships/notesSlide" Target="/ppt/notesSlides/notesSlide14.xml" Id="R51852299fc02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960f764914096" /><Relationship Type="http://schemas.openxmlformats.org/officeDocument/2006/relationships/chart" Target="/ppt/slides/charts/chart30.xml" Id="R3a5b1e910d6743f3" /><Relationship Type="http://schemas.openxmlformats.org/officeDocument/2006/relationships/chart" Target="/ppt/slides/charts/chart31.xml" Id="Rdd54c746a7f349aa" /><Relationship Type="http://schemas.openxmlformats.org/officeDocument/2006/relationships/chart" Target="/ppt/slides/charts/chart32.xml" Id="R7025f88795784574" /><Relationship Type="http://schemas.openxmlformats.org/officeDocument/2006/relationships/chart" Target="/ppt/slides/charts/chart33.xml" Id="R252c8006f48f4a32" /><Relationship Type="http://schemas.openxmlformats.org/officeDocument/2006/relationships/notesSlide" Target="/ppt/notesSlides/notesSlide15.xml" Id="Rdab5d8f4d45c46b5" /></Relationships>
</file>

<file path=ppt/slides/charts/chart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ago/26</c:v>
              </c:pt>
            </c:strLit>
          </c:cat>
          <c:val>
            <c:numLit>
              <c:formatCode>0.0</c:formatCode>
              <c:ptCount val="12"/>
              <c:pt idx="0">
                <c:v>82.63155676417998</c:v>
              </c:pt>
              <c:pt idx="1">
                <c:v>91.42660161545</c:v>
              </c:pt>
              <c:pt idx="2">
                <c:v>111.00114440981</c:v>
              </c:pt>
              <c:pt idx="3">
                <c:v>134.38066146695</c:v>
              </c:pt>
              <c:pt idx="4">
                <c:v>228.12883197556</c:v>
              </c:pt>
              <c:pt idx="5">
                <c:v>207.50230456466997</c:v>
              </c:pt>
              <c:pt idx="6">
                <c:v>296.30685152310997</c:v>
              </c:pt>
              <c:pt idx="7">
                <c:v>361.9357137532</c:v>
              </c:pt>
              <c:pt idx="8">
                <c:v>454.64868686874</c:v>
              </c:pt>
              <c:pt idx="9">
                <c:v>654.4195968116601</c:v>
              </c:pt>
              <c:pt idx="10">
                <c:v>789.36577017306</c:v>
              </c:pt>
              <c:pt idx="11">
                <c:v>844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7455.305</c:v>
              </c:pt>
              <c:pt idx="11">
                <c:v>7732.16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>
              <a:srgbClr val="8D9399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1526.812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[&gt;=1000]#\.##0;0</c:formatCode>
              <c:ptCount val="12"/>
              <c:pt idx="0">
                <c:v>70.79198172925</c:v>
              </c:pt>
              <c:pt idx="1">
                <c:v>82.06674826173</c:v>
              </c:pt>
              <c:pt idx="2">
                <c:v>95.71646747935</c:v>
              </c:pt>
              <c:pt idx="3">
                <c:v>106.07816527275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387.79181786037</c:v>
              </c:pt>
              <c:pt idx="9">
                <c:v>549.9194136491999</c:v>
              </c:pt>
              <c:pt idx="10">
                <c:v>641.46819037186</c:v>
              </c:pt>
              <c:pt idx="11">
                <c:v>702.02744843628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[&gt;=1000]#\.##0;0</c:formatCode>
              <c:ptCount val="12"/>
              <c:pt idx="0">
                <c:v>72.71101827075</c:v>
              </c:pt>
              <c:pt idx="1">
                <c:v>91.65025173827</c:v>
              </c:pt>
              <c:pt idx="2">
                <c:v>112.94653252065</c:v>
              </c:pt>
              <c:pt idx="3">
                <c:v>121.57083472725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334.01618213963</c:v>
              </c:pt>
              <c:pt idx="9">
                <c:v>444.7155863508001</c:v>
              </c:pt>
              <c:pt idx="10">
                <c:v>451.90980962814</c:v>
              </c:pt>
              <c:pt idx="11">
                <c:v>517.55455156372</c:v>
              </c:pt>
            </c:numLit>
          </c:val>
        </c:ser>
        <c:ser>
          <c:idx val="4"/>
          <c:order val="4"/>
          <c:tx>
            <c:v>Dívida externa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3419.51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>
              <a:noFill/>
            </a:ln>
          </c:spPr>
          <c:marker>
            <c:symbol val="none"/>
            <c:size val="2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t"/>
            <c:numFmt formatCode="[&gt;=1000]#\.##0;0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txPr>
              <a:bodyPr/>
              <a:lstStyle/>
              <a:p>
                <a:pPr>
                  <a:defRPr sz="1200" b="0" lang="pt-BR"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08/26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13368.258</c:v>
              </c:pt>
              <c:pt idx="11">
                <c:v>13898.064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116.94131905477</c:v>
              </c:pt>
              <c:pt idx="3">
                <c:v>91.91777863226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656.33667063427</c:v>
              </c:pt>
              <c:pt idx="3">
                <c:v>315.70277845794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>
              <a:srgbClr val="151515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493.2750731080017</c:v>
              </c:pt>
              <c:pt idx="3">
                <c:v>229.7424619536112</c:v>
              </c:pt>
            </c:numLit>
          </c:val>
        </c:ser>
        <c:ser>
          <c:idx val="1"/>
          <c:order val="1"/>
          <c:tx>
            <c:v>FIDCs</c:v>
          </c:tx>
          <c:spPr>
            <a:solidFill>
              <a:srgbClr val="EC7000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74.26224557847324</c:v>
              </c:pt>
            </c:numLit>
          </c:val>
        </c:ser>
        <c:ser>
          <c:idx val="2"/>
          <c:order val="2"/>
          <c:tx>
            <c:v>CRI</c:v>
          </c:tx>
          <c:spPr>
            <a:solidFill>
              <a:srgbClr val="73787D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</c:formatCode>
              <c:ptCount val="4"/>
              <c:pt idx="0">
                <c:v>47.64495032449912</c:v>
              </c:pt>
              <c:pt idx="1">
                <c:v>61.35438150259682</c:v>
              </c:pt>
              <c:pt idx="2">
                <c:v>49.37089080745136</c:v>
              </c:pt>
              <c:pt idx="3">
                <c:v>24.438827825440583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>
              <a:srgbClr val="8D9399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33.683449893</c:v>
              </c:pt>
            </c:numLit>
          </c:val>
        </c:ser>
        <c:ser>
          <c:idx val="4"/>
          <c:order val="4"/>
          <c:tx>
            <c:v>CRA</c:v>
          </c:tx>
          <c:spPr>
            <a:solidFill>
              <a:srgbClr val="D7DADD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10.108581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5.53843491194</c:v>
              </c:pt>
              <c:pt idx="4">
                <c:v>7.5066689231099994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19.7735035084</c:v>
              </c:pt>
              <c:pt idx="2">
                <c:v>28.71965699961</c:v>
              </c:pt>
              <c:pt idx="3">
                <c:v>20.718512685009998</c:v>
              </c:pt>
              <c:pt idx="4">
                <c:v>14.90623897177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52.34243792368</c:v>
              </c:pt>
              <c:pt idx="3">
                <c:v>28.69109895684</c:v>
              </c:pt>
              <c:pt idx="4">
                <c:v>55.916809684620006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</c:formatCode>
              <c:ptCount val="5"/>
              <c:pt idx="0">
                <c:v>8.665270348109308</c:v>
              </c:pt>
              <c:pt idx="1">
                <c:v>12.10586395418</c:v>
              </c:pt>
              <c:pt idx="2">
                <c:v>17.029451789299998</c:v>
              </c:pt>
              <c:pt idx="3">
                <c:v>10.01550119843</c:v>
              </c:pt>
              <c:pt idx="4">
                <c:v>9.248481503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0.0%</c:formatCode>
              <c:ptCount val="5"/>
              <c:pt idx="0">
                <c:v>0.1060214980571875</c:v>
              </c:pt>
              <c:pt idx="1">
                <c:v>0.10976123933728438</c:v>
              </c:pt>
              <c:pt idx="2">
                <c:v>0.08433780605242078</c:v>
              </c:pt>
              <c:pt idx="3">
                <c:v>0.08525450200263632</c:v>
              </c:pt>
              <c:pt idx="4">
                <c:v>0.08571389914102484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0.0%</c:formatCode>
              <c:ptCount val="5"/>
              <c:pt idx="0">
                <c:v>0.21240708879058579</c:v>
              </c:pt>
              <c:pt idx="1">
                <c:v>0.22340013096246855</c:v>
              </c:pt>
              <c:pt idx="2">
                <c:v>0.2680914413016343</c:v>
              </c:pt>
              <c:pt idx="3">
                <c:v>0.3189252034700027</c:v>
              </c:pt>
              <c:pt idx="4">
                <c:v>0.17020490405069982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0.0%</c:formatCode>
              <c:ptCount val="5"/>
              <c:pt idx="0">
                <c:v>0.470634179844277</c:v>
              </c:pt>
              <c:pt idx="1">
                <c:v>0.530067136897833</c:v>
              </c:pt>
              <c:pt idx="2">
                <c:v>0.4886047080712437</c:v>
              </c:pt>
              <c:pt idx="3">
                <c:v>0.44164920096839294</c:v>
              </c:pt>
              <c:pt idx="4">
                <c:v>0.6384786427492705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jan–ago/25</c:v>
              </c:pt>
              <c:pt idx="4">
                <c:v>jan–ago/26</c:v>
              </c:pt>
            </c:strLit>
          </c:cat>
          <c:val>
            <c:numLit>
              <c:formatCode>0.0%</c:formatCode>
              <c:ptCount val="5"/>
              <c:pt idx="0">
                <c:v>0.21093723330794978</c:v>
              </c:pt>
              <c:pt idx="1">
                <c:v>0.13677149280241402</c:v>
              </c:pt>
              <c:pt idx="2">
                <c:v>0.15896604457470118</c:v>
              </c:pt>
              <c:pt idx="3">
                <c:v>0.1541710935589681</c:v>
              </c:pt>
              <c:pt idx="4">
                <c:v>0.1056025540590049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7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67.01959486204</c:v>
              </c:pt>
              <c:pt idx="2">
                <c:v>84.24207384086</c:v>
              </c:pt>
              <c:pt idx="3">
                <c:v>88.15667028778999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125.55640366619001</c:v>
              </c:pt>
              <c:pt idx="1">
                <c:v>202.41346003143</c:v>
              </c:pt>
              <c:pt idx="2">
                <c:v>196.58030103999</c:v>
              </c:pt>
              <c:pt idx="3">
                <c:v>215.39038080041001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154.80414908435998</c:v>
              </c:pt>
              <c:pt idx="1">
                <c:v>213.09916363506</c:v>
              </c:pt>
              <c:pt idx="2">
                <c:v>273.75106386191</c:v>
              </c:pt>
              <c:pt idx="3">
                <c:v>327.25363108997004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56.46220370918</c:v>
              </c:pt>
              <c:pt idx="1">
                <c:v>73.90003974282</c:v>
              </c:pt>
              <c:pt idx="2">
                <c:v>92.53182619136</c:v>
              </c:pt>
              <c:pt idx="3">
                <c:v>83.43211407329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42.82151457432</c:v>
              </c:pt>
              <c:pt idx="1">
                <c:v>63.92391056737</c:v>
              </c:pt>
              <c:pt idx="2">
                <c:v>107.99310821489</c:v>
              </c:pt>
              <c:pt idx="3">
                <c:v>91.76959446947001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21.275962572810002</c:v>
              </c:pt>
              <c:pt idx="1">
                <c:v>33.66266718072</c:v>
              </c:pt>
              <c:pt idx="2">
                <c:v>33.97906413178</c:v>
              </c:pt>
              <c:pt idx="3">
                <c:v>34.994465756669996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</c:formatCode>
              <c:ptCount val="4"/>
              <c:pt idx="0">
                <c:v>0.68858651543</c:v>
              </c:pt>
              <c:pt idx="1">
                <c:v>0.40076079222</c:v>
              </c:pt>
              <c:pt idx="2">
                <c:v>0.28833289227</c:v>
              </c:pt>
              <c:pt idx="3">
                <c:v>3.41060476786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0.11666121178474435</c:v>
              </c:pt>
              <c:pt idx="1">
                <c:v>0.10241073951415919</c:v>
              </c:pt>
              <c:pt idx="2">
                <c:v>0.10672121470682827</c:v>
              </c:pt>
              <c:pt idx="3">
                <c:v>0.10440062923859433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0.2761613687502829</c:v>
              </c:pt>
              <c:pt idx="1">
                <c:v>0.30930225961690444</c:v>
              </c:pt>
              <c:pt idx="2">
                <c:v>0.24903575562554714</c:v>
              </c:pt>
              <c:pt idx="3">
                <c:v>0.25507872761180916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0.3404917985148672</c:v>
              </c:pt>
              <c:pt idx="1">
                <c:v>0.32563077981356553</c:v>
              </c:pt>
              <c:pt idx="2">
                <c:v>0.3467987518661887</c:v>
              </c:pt>
              <c:pt idx="3">
                <c:v>0.3875541679928867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0.12418864353935988</c:v>
              </c:pt>
              <c:pt idx="1">
                <c:v>0.1129245519279402</c:v>
              </c:pt>
              <c:pt idx="2">
                <c:v>0.1172230031852957</c:v>
              </c:pt>
              <c:pt idx="3">
                <c:v>0.09880551499418501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0.09418594138969294</c:v>
              </c:pt>
              <c:pt idx="1">
                <c:v>0.09768031226266458</c:v>
              </c:pt>
              <c:pt idx="2">
                <c:v>0.13680997111290205</c:v>
              </c:pt>
              <c:pt idx="3">
                <c:v>0.10867927947263079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0.04679648965741434</c:v>
              </c:pt>
              <c:pt idx="1">
                <c:v>0.051438965680008525</c:v>
              </c:pt>
              <c:pt idx="2">
                <c:v>0.043046031910315107</c:v>
              </c:pt>
              <c:pt idx="3">
                <c:v>0.04144262972884544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ago/26</c:v>
              </c:pt>
            </c:strLit>
          </c:cat>
          <c:val>
            <c:numLit>
              <c:formatCode>0.0%</c:formatCode>
              <c:ptCount val="4"/>
              <c:pt idx="0">
                <c:v>0.001514546363638348</c:v>
              </c:pt>
              <c:pt idx="1">
                <c:v>0.0006123911847574726</c:v>
              </c:pt>
              <c:pt idx="2">
                <c:v>0.0003652715929229945</c:v>
              </c:pt>
              <c:pt idx="3">
                <c:v>0.004039050961048501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Cartão</c:v>
              </c:pt>
              <c:pt idx="9">
                <c:v>Agronegócio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112.84223906272</c:v>
              </c:pt>
              <c:pt idx="1">
                <c:v>103.38959267897</c:v>
              </c:pt>
              <c:pt idx="2">
                <c:v>51.72285589365</c:v>
              </c:pt>
              <c:pt idx="3">
                <c:v>48.49859638028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12.21774252025</c:v>
              </c:pt>
              <c:pt idx="8">
                <c:v>30.455624762630002</c:v>
              </c:pt>
              <c:pt idx="9">
                <c:v>17.30426139734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Cartão</c:v>
              </c:pt>
              <c:pt idx="9">
                <c:v>Agronegócio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344.92603977681</c:v>
              </c:pt>
              <c:pt idx="1">
                <c:v>144.43601850436002</c:v>
              </c:pt>
              <c:pt idx="2">
                <c:v>90.55212175287</c:v>
              </c:pt>
              <c:pt idx="3">
                <c:v>84.23829787557001</c:v>
              </c:pt>
              <c:pt idx="4">
                <c:v>57.21448843553</c:v>
              </c:pt>
              <c:pt idx="5">
                <c:v>39.64713624611</c:v>
              </c:pt>
              <c:pt idx="6">
                <c:v>28.030075386630003</c:v>
              </c:pt>
              <c:pt idx="7">
                <c:v>23.718631493580002</c:v>
              </c:pt>
              <c:pt idx="8">
                <c:v>16.2004902444</c:v>
              </c:pt>
              <c:pt idx="9">
                <c:v>11.070608548520001</c:v>
              </c:pt>
              <c:pt idx="10">
                <c:v>4.24984038337</c:v>
              </c:pt>
              <c:pt idx="11">
                <c:v>0.12371259771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Cartão</c:v>
              </c:pt>
              <c:pt idx="9">
                <c:v>Agronegócio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0.2481965577419522</c:v>
              </c:pt>
              <c:pt idx="1">
                <c:v>0.2274054575875619</c:v>
              </c:pt>
              <c:pt idx="2">
                <c:v>0.1137644457963269</c:v>
              </c:pt>
              <c:pt idx="3">
                <c:v>0.1066726854844779</c:v>
              </c:pt>
              <c:pt idx="4">
                <c:v>0.05314817563405</c:v>
              </c:pt>
              <c:pt idx="5">
                <c:v>0.0553273731713697</c:v>
              </c:pt>
              <c:pt idx="6">
                <c:v>0.0600935331942086</c:v>
              </c:pt>
              <c:pt idx="7">
                <c:v>0.0268729304034641</c:v>
              </c:pt>
              <c:pt idx="8">
                <c:v>0.0669871609492248</c:v>
              </c:pt>
              <c:pt idx="9">
                <c:v>0.0380607310592229</c:v>
              </c:pt>
              <c:pt idx="10">
                <c:v>0.0030017842506251</c:v>
              </c:pt>
              <c:pt idx="11">
                <c:v>0.0004691647275153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Cartão</c:v>
              </c:pt>
              <c:pt idx="9">
                <c:v>Agronegócio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0.4084829369793356</c:v>
              </c:pt>
              <c:pt idx="1">
                <c:v>0.1710501447859353</c:v>
              </c:pt>
              <c:pt idx="2">
                <c:v>0.1072374723208982</c:v>
              </c:pt>
              <c:pt idx="3">
                <c:v>0.099760248152382</c:v>
              </c:pt>
              <c:pt idx="4">
                <c:v>0.0677569669400379</c:v>
              </c:pt>
              <c:pt idx="5">
                <c:v>0.0469526124125341</c:v>
              </c:pt>
              <c:pt idx="6">
                <c:v>0.0331949641293872</c:v>
              </c:pt>
              <c:pt idx="7">
                <c:v>0.028089083271003</c:v>
              </c:pt>
              <c:pt idx="8">
                <c:v>0.0191856313307618</c:v>
              </c:pt>
              <c:pt idx="9">
                <c:v>0.0131105053621759</c:v>
              </c:pt>
              <c:pt idx="10">
                <c:v>0.005032926138646</c:v>
              </c:pt>
              <c:pt idx="11">
                <c:v>0.0001465081769025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118.05331292622</c:v>
              </c:pt>
              <c:pt idx="1">
                <c:v>115.8808738307</c:v>
              </c:pt>
              <c:pt idx="2">
                <c:v>77.90442532195</c:v>
              </c:pt>
              <c:pt idx="3">
                <c:v>39.75107760756</c:v>
              </c:pt>
              <c:pt idx="4">
                <c:v>26.37716938582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332.65925821093</c:v>
              </c:pt>
              <c:pt idx="1">
                <c:v>144.16812922201</c:v>
              </c:pt>
              <c:pt idx="2">
                <c:v>82.83315724176</c:v>
              </c:pt>
              <c:pt idx="3">
                <c:v>78.10700725635</c:v>
              </c:pt>
              <c:pt idx="4">
                <c:v>57.659952725500005</c:v>
              </c:pt>
              <c:pt idx="5">
                <c:v>30.446461592120002</c:v>
              </c:pt>
              <c:pt idx="6">
                <c:v>28.56465528831</c:v>
              </c:pt>
              <c:pt idx="7">
                <c:v>9.2676754882</c:v>
              </c:pt>
              <c:pt idx="8">
                <c:v>3.27430774881</c:v>
              </c:pt>
              <c:pt idx="9">
                <c:v>0.13230815233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0.26861199336743047</c:v>
              </c:pt>
              <c:pt idx="1">
                <c:v>0.2636689453372437</c:v>
              </c:pt>
              <c:pt idx="2">
                <c:v>0.17725943016060305</c:v>
              </c:pt>
              <c:pt idx="3">
                <c:v>0.09044740829377088</c:v>
              </c:pt>
              <c:pt idx="4">
                <c:v>0.060017155575663825</c:v>
              </c:pt>
              <c:pt idx="5">
                <c:v>0.043846624384564235</c:v>
              </c:pt>
              <c:pt idx="6">
                <c:v>0.05985783891185994</c:v>
              </c:pt>
              <c:pt idx="7">
                <c:v>0.03240833534065246</c:v>
              </c:pt>
              <c:pt idx="8">
                <c:v>0.0035045543451760293</c:v>
              </c:pt>
              <c:pt idx="9">
                <c:v>0.00037771428303544146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0.4336509692450991</c:v>
              </c:pt>
              <c:pt idx="1">
                <c:v>0.1879359958523565</c:v>
              </c:pt>
              <c:pt idx="2">
                <c:v>0.107980397469487</c:v>
              </c:pt>
              <c:pt idx="3">
                <c:v>0.10181944005921337</c:v>
              </c:pt>
              <c:pt idx="4">
                <c:v>0.0751648834922404</c:v>
              </c:pt>
              <c:pt idx="5">
                <c:v>0.03968967420451223</c:v>
              </c:pt>
              <c:pt idx="6">
                <c:v>0.03723657209646475</c:v>
              </c:pt>
              <c:pt idx="7">
                <c:v>0.012081240365054506</c:v>
              </c:pt>
              <c:pt idx="8">
                <c:v>0.004268351755831403</c:v>
              </c:pt>
              <c:pt idx="9">
                <c:v>0.00017247545974070702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30353A"/>
              </a:solidFill>
            </c:spPr>
          </c:dPt>
          <c:dPt>
            <c:idx val="1"/>
            <c:invertIfNegative val="0"/>
            <c:spPr>
              <a:solidFill>
                <a:srgbClr val="30353A"/>
              </a:solidFill>
            </c:spPr>
          </c:dPt>
          <c:dPt>
            <c:idx val="2"/>
            <c:invertIfNegative val="0"/>
            <c:spPr>
              <a:solidFill>
                <a:srgbClr val="EC7000"/>
              </a:solidFill>
            </c:spPr>
          </c:dPt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116.94131905477</c:v>
              </c:pt>
              <c:pt idx="2">
                <c:v>91.91777863226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4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44.935587783260004</c:v>
              </c:pt>
              <c:pt idx="5">
                <c:v>57.178706968360004</c:v>
              </c:pt>
              <c:pt idx="6">
                <c:v>64.16446989868</c:v>
              </c:pt>
              <c:pt idx="7">
                <c:v>70.54665275716</c:v>
              </c:pt>
              <c:pt idx="8">
                <c:v>78.55187842665</c:v>
              </c:pt>
              <c:pt idx="9">
                <c:v>90.06350947167002</c:v>
              </c:pt>
              <c:pt idx="10">
                <c:v>100.7805255332</c:v>
              </c:pt>
              <c:pt idx="11">
                <c:v>116.94131905477002</c:v>
              </c:pt>
            </c:numLit>
          </c:val>
        </c:ser>
        <c:ser>
          <c:idx val="2"/>
          <c:order val="2"/>
          <c:tx>
            <c:v>2026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8.415778112109999</c:v>
              </c:pt>
              <c:pt idx="1">
                <c:v>15.828976040429998</c:v>
              </c:pt>
              <c:pt idx="2">
                <c:v>27.622315847659998</c:v>
              </c:pt>
              <c:pt idx="3">
                <c:v>44.667140465989995</c:v>
              </c:pt>
              <c:pt idx="4">
                <c:v>51.68311515708999</c:v>
              </c:pt>
              <c:pt idx="5">
                <c:v>65.69611898356</c:v>
              </c:pt>
              <c:pt idx="6">
                <c:v>73.99679376974</c:v>
              </c:pt>
              <c:pt idx="7">
                <c:v>91.91777863226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  <c:dispBlanksAs val="gap"/>
  </c:chart>
  <c:spPr>
    <a:noFill/>
    <a:ln w="0">
      <a:noFill/>
      <a:prstDash val="solid"/>
    </a:ln>
  </c:spPr>
</c:chartSpace>
</file>

<file path=ppt/slides/charts/chart1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0.2384823848238482</c:v>
              </c:pt>
              <c:pt idx="1">
                <c:v>0.2547425474254742</c:v>
              </c:pt>
              <c:pt idx="2">
                <c:v>0.1626016260162601</c:v>
              </c:pt>
              <c:pt idx="3">
                <c:v>0.1571815718157181</c:v>
              </c:pt>
              <c:pt idx="4">
                <c:v>0.0948509485094851</c:v>
              </c:pt>
              <c:pt idx="5">
                <c:v>0.067750677506775</c:v>
              </c:pt>
              <c:pt idx="6">
                <c:v>0.024390243902439</c:v>
              </c:pt>
            </c:numLit>
          </c:val>
        </c:ser>
        <c:ser>
          <c:idx val="2"/>
          <c:order val="2"/>
          <c:tx>
            <c:v>jan–ago/26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0.2282398452611218</c:v>
              </c:pt>
              <c:pt idx="1">
                <c:v>0.2746615087040619</c:v>
              </c:pt>
              <c:pt idx="2">
                <c:v>0.1537717601547388</c:v>
              </c:pt>
              <c:pt idx="3">
                <c:v>0.1566731141199226</c:v>
              </c:pt>
              <c:pt idx="4">
                <c:v>0.0938104448742746</c:v>
              </c:pt>
              <c:pt idx="5">
                <c:v>0.0589941972920696</c:v>
              </c:pt>
              <c:pt idx="6">
                <c:v>0.0338491295938104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0.0117802528509601</c:v>
              </c:pt>
              <c:pt idx="1">
                <c:v>0.0475375774821418</c:v>
              </c:pt>
              <c:pt idx="2">
                <c:v>0.0704595367332134</c:v>
              </c:pt>
              <c:pt idx="3">
                <c:v>0.129089661273957</c:v>
              </c:pt>
              <c:pt idx="4">
                <c:v>0.1527272071321954</c:v>
              </c:pt>
              <c:pt idx="5">
                <c:v>0.2413380053828699</c:v>
              </c:pt>
              <c:pt idx="6">
                <c:v>0.3470677591446621</c:v>
              </c:pt>
            </c:numLit>
          </c:val>
        </c:ser>
        <c:ser>
          <c:idx val="2"/>
          <c:order val="2"/>
          <c:tx>
            <c:v>jan–ago/26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0.0108909674340047</c:v>
              </c:pt>
              <c:pt idx="1">
                <c:v>0.0459534320600687</c:v>
              </c:pt>
              <c:pt idx="2">
                <c:v>0.0577656009633644</c:v>
              </c:pt>
              <c:pt idx="3">
                <c:v>0.1165052921225789</c:v>
              </c:pt>
              <c:pt idx="4">
                <c:v>0.1359592600253935</c:v>
              </c:pt>
              <c:pt idx="5">
                <c:v>0.1876651135723369</c:v>
              </c:pt>
              <c:pt idx="6">
                <c:v>0.4452603338222525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7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1377598307.19</c:v>
              </c:pt>
              <c:pt idx="1">
                <c:v>5559107015.43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jan–ago/26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anchorCtr="1"/>
              <a:lstStyle/>
              <a:p>
                <a:pPr>
                  <a:defRPr sz="1200" b="1" lang="pt-BR">
                    <a:solidFill>
                      <a:srgbClr val="151515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1001073533.69</c:v>
              </c:pt>
              <c:pt idx="1">
                <c:v>4223937395.49</c:v>
              </c:pt>
              <c:pt idx="2">
                <c:v>5309685721.91</c:v>
              </c:pt>
              <c:pt idx="3">
                <c:v>10708907650.81</c:v>
              </c:pt>
              <c:pt idx="4">
                <c:v>12497073166.020002</c:v>
              </c:pt>
              <c:pt idx="5">
                <c:v>17249760366.34</c:v>
              </c:pt>
              <c:pt idx="6">
                <c:v>40927340798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2026 jan–ago</c:v>
          </c:tx>
          <c:spPr>
            <a:solidFill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0.0959199638110664</c:v>
              </c:pt>
              <c:pt idx="2">
                <c:v>0.1992397474406819</c:v>
              </c:pt>
              <c:pt idx="3">
                <c:v>0.7048402887482513</c:v>
              </c:pt>
            </c:numLit>
          </c:val>
        </c:ser>
        <c:ser>
          <c:idx val="1"/>
          <c:order val="1"/>
          <c:tx>
            <c:v>2025FY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0.0048998934220301</c:v>
              </c:pt>
              <c:pt idx="1">
                <c:v>0.0864944635032096</c:v>
              </c:pt>
              <c:pt idx="2">
                <c:v>0.156044867640354</c:v>
              </c:pt>
              <c:pt idx="3">
                <c:v>0.7525607754344061</c:v>
              </c:pt>
            </c:numLit>
          </c:val>
        </c:ser>
        <c:ser>
          <c:idx val="2"/>
          <c:order val="2"/>
          <c:tx>
            <c:v>2024FY</c:v>
          </c:tx>
          <c:spPr>
            <a:solidFill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anchorCtr="1"/>
            <a:lstStyle/>
            <a:p>
              <a:pPr>
                <a:defRPr sz="1200" b="0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w="571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BEC2C5"/>
              </a:solidFill>
            </c:spPr>
          </c:dPt>
          <c:dPt>
            <c:idx val="2"/>
            <c:invertIfNegative val="0"/>
            <c:spPr>
              <a:solidFill>
                <a:srgbClr val="7A1F3D"/>
              </a:solidFill>
            </c:spPr>
          </c:dPt>
          <c:dPt>
            <c:idx val="3"/>
            <c:invertIfNegative val="0"/>
            <c:spPr>
              <a:solidFill>
                <a:srgbClr val="2456D6"/>
              </a:solidFill>
            </c:spPr>
          </c:dPt>
          <c:dPt>
            <c:idx val="4"/>
            <c:invertIfNegative val="0"/>
            <c:spPr>
              <a:solidFill>
                <a:srgbClr val="1D4080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Daycoval</c:v>
              </c:pt>
              <c:pt idx="2">
                <c:v>Oliveira Trust</c:v>
              </c:pt>
              <c:pt idx="3">
                <c:v>QI Tech</c:v>
              </c:pt>
              <c:pt idx="4">
                <c:v>BTG Pactual</c:v>
              </c:pt>
            </c:strLit>
          </c:cat>
          <c:val>
            <c:numLit>
              <c:formatCode>0.0</c:formatCode>
              <c:ptCount val="5"/>
              <c:pt idx="0">
                <c:v>28.68803190114</c:v>
              </c:pt>
              <c:pt idx="1">
                <c:v>56.23657788257001</c:v>
              </c:pt>
              <c:pt idx="2">
                <c:v>63.849729013200005</c:v>
              </c:pt>
              <c:pt idx="3">
                <c:v>118.02444367447002</c:v>
              </c:pt>
              <c:pt idx="4">
                <c:v>120.12383432733999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73C6A1"/>
              </a:solidFill>
            </c:spPr>
          </c:dPt>
          <c:dPt>
            <c:idx val="1"/>
            <c:invertIfNegative val="0"/>
            <c:spPr>
              <a:solidFill>
                <a:srgbClr val="30353A"/>
              </a:solidFill>
            </c:spPr>
          </c:dPt>
          <c:dPt>
            <c:idx val="2"/>
            <c:invertIfNegative val="0"/>
            <c:spPr>
              <a:solidFill>
                <a:srgbClr val="5B6065"/>
              </a:solidFill>
            </c:spPr>
          </c:dPt>
          <c:dPt>
            <c:idx val="3"/>
            <c:invertIfNegative val="0"/>
            <c:spPr>
              <a:solidFill>
                <a:srgbClr val="7A1F3D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Hemera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14.703818202799999</c:v>
              </c:pt>
              <c:pt idx="1">
                <c:v>21.51329132993</c:v>
              </c:pt>
              <c:pt idx="2">
                <c:v>22.828669994509998</c:v>
              </c:pt>
              <c:pt idx="3">
                <c:v>63.849729013200005</c:v>
              </c:pt>
              <c:pt idx="4">
                <c:v>118.02444367447002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6EC5E9"/>
              </a:solidFill>
            </c:spPr>
          </c:dPt>
          <c:dPt>
            <c:idx val="2"/>
            <c:invertIfNegative val="0"/>
            <c:spPr>
              <a:solidFill>
                <a:srgbClr val="73787D"/>
              </a:solidFill>
            </c:spPr>
          </c:dPt>
          <c:dPt>
            <c:idx val="3"/>
            <c:invertIfNegative val="0"/>
            <c:spPr>
              <a:solidFill>
                <a:srgbClr val="7A1F3D"/>
              </a:solidFill>
            </c:spPr>
          </c:dPt>
          <c:dPt>
            <c:idx val="4"/>
            <c:invertIfNegative val="0"/>
            <c:spPr>
              <a:solidFill>
                <a:srgbClr val="1D4080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Genial</c:v>
              </c:pt>
              <c:pt idx="2">
                <c:v>Bradesco</c:v>
              </c:pt>
              <c:pt idx="3">
                <c:v>Oliveira Trust</c:v>
              </c:pt>
              <c:pt idx="4">
                <c:v>BTG Pactual</c:v>
              </c:pt>
            </c:strLit>
          </c:cat>
          <c:val>
            <c:numLit>
              <c:formatCode>0.0</c:formatCode>
              <c:ptCount val="5"/>
              <c:pt idx="0">
                <c:v>19.78984260333</c:v>
              </c:pt>
              <c:pt idx="1">
                <c:v>26.36946240533</c:v>
              </c:pt>
              <c:pt idx="2">
                <c:v>42.07634182946</c:v>
              </c:pt>
              <c:pt idx="3">
                <c:v>42.49518240193</c:v>
              </c:pt>
              <c:pt idx="4">
                <c:v>87.16012705544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2456D6"/>
              </a:solidFill>
            </c:spPr>
          </c:dPt>
          <c:dPt>
            <c:idx val="1"/>
            <c:invertIfNegative val="0"/>
            <c:spPr>
              <a:solidFill>
                <a:srgbClr val="A7ACB0"/>
              </a:solidFill>
            </c:spPr>
          </c:dPt>
          <c:dPt>
            <c:idx val="2"/>
            <c:invertIfNegative val="0"/>
            <c:spPr>
              <a:solidFill>
                <a:srgbClr val="BEC2C5"/>
              </a:solidFill>
            </c:spPr>
          </c:dPt>
          <c:dPt>
            <c:idx val="3"/>
            <c:invertIfNegative val="0"/>
            <c:spPr>
              <a:solidFill>
                <a:srgbClr val="8D9399"/>
              </a:solidFill>
            </c:spPr>
          </c:dPt>
          <c:dPt>
            <c:idx val="4"/>
            <c:invertIfNegative val="0"/>
            <c:spPr>
              <a:solidFill>
                <a:srgbClr val="7A1F3D"/>
              </a:solidFill>
            </c:spPr>
          </c:dPt>
          <c:cat>
            <c:strLit>
              <c:ptCount val="5"/>
              <c:pt idx="0">
                <c:v>QI Tech</c:v>
              </c:pt>
              <c:pt idx="1">
                <c:v>Integral Investimentos</c:v>
              </c:pt>
              <c:pt idx="2">
                <c:v>Solis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5.075019126889999</c:v>
              </c:pt>
              <c:pt idx="1">
                <c:v>13.888233018860001</c:v>
              </c:pt>
              <c:pt idx="2">
                <c:v>14.59126724553</c:v>
              </c:pt>
              <c:pt idx="3">
                <c:v>18.22254439571</c:v>
              </c:pt>
              <c:pt idx="4">
                <c:v>42.49518240193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BEC2C5"/>
              </a:solidFill>
            </c:spPr>
          </c:dPt>
          <c:dPt>
            <c:idx val="2"/>
            <c:invertIfNegative val="0"/>
            <c:spPr>
              <a:solidFill>
                <a:srgbClr val="7A1F3D"/>
              </a:solidFill>
            </c:spPr>
          </c:dPt>
          <c:dPt>
            <c:idx val="3"/>
            <c:invertIfNegative val="0"/>
            <c:spPr>
              <a:solidFill>
                <a:srgbClr val="2456D6"/>
              </a:solidFill>
            </c:spPr>
          </c:dPt>
          <c:dPt>
            <c:idx val="4"/>
            <c:invertIfNegative val="0"/>
            <c:spPr>
              <a:solidFill>
                <a:srgbClr val="1D4080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Daycoval</c:v>
              </c:pt>
              <c:pt idx="2">
                <c:v>Oliveira Trust</c:v>
              </c:pt>
              <c:pt idx="3">
                <c:v>QI Tech</c:v>
              </c:pt>
              <c:pt idx="4">
                <c:v>BTG Pactual</c:v>
              </c:pt>
            </c:strLit>
          </c:cat>
          <c:val>
            <c:numLit>
              <c:formatCode>0.0</c:formatCode>
              <c:ptCount val="5"/>
              <c:pt idx="0">
                <c:v>21.81407703156</c:v>
              </c:pt>
              <c:pt idx="1">
                <c:v>62.60247080508</c:v>
              </c:pt>
              <c:pt idx="2">
                <c:v>81.37491463410998</c:v>
              </c:pt>
              <c:pt idx="3">
                <c:v>116.72967363255</c:v>
              </c:pt>
              <c:pt idx="4">
                <c:v>120.37499667349002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ago/26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30353A"/>
              </a:solidFill>
            </c:spPr>
          </c:dPt>
          <c:dPt>
            <c:idx val="1"/>
            <c:invertIfNegative val="0"/>
            <c:spPr>
              <a:solidFill>
                <a:srgbClr val="73C6A1"/>
              </a:solidFill>
            </c:spPr>
          </c:dPt>
          <c:dPt>
            <c:idx val="2"/>
            <c:invertIfNegative val="0"/>
            <c:spPr>
              <a:solidFill>
                <a:srgbClr val="5B6065"/>
              </a:solidFill>
            </c:spPr>
          </c:dPt>
          <c:dPt>
            <c:idx val="3"/>
            <c:invertIfNegative val="0"/>
            <c:spPr>
              <a:solidFill>
                <a:srgbClr val="7A1F3D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CBSF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21.40896437398</c:v>
              </c:pt>
              <c:pt idx="1">
                <c:v>22.34973465327</c:v>
              </c:pt>
              <c:pt idx="2">
                <c:v>23.31074141513</c:v>
              </c:pt>
              <c:pt idx="3">
                <c:v>81.37491463410998</c:v>
              </c:pt>
              <c:pt idx="4">
                <c:v>116.72967363255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0.7239147912315363</c:v>
              </c:pt>
              <c:pt idx="1">
                <c:v>0.3665235868793718</c:v>
              </c:pt>
              <c:pt idx="2">
                <c:v>0.7182930658741934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0.7263749478567149</c:v>
              </c:pt>
              <c:pt idx="1">
                <c:v>0.3960695239426612</c:v>
              </c:pt>
              <c:pt idx="2">
                <c:v>0.7447614958345239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0.5096779964890795</c:v>
              </c:pt>
              <c:pt idx="1">
                <c:v>0.2517632823317417</c:v>
              </c:pt>
              <c:pt idx="2">
                <c:v>0.529420790748221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0.5456630208923268</c:v>
              </c:pt>
              <c:pt idx="1">
                <c:v>0.28969584220491573</c:v>
              </c:pt>
              <c:pt idx="2">
                <c:v>0.5745468510174347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7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Ago/26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17.689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48.606</c:v>
              </c:pt>
              <c:pt idx="8">
                <c:v>61.546</c:v>
              </c:pt>
              <c:pt idx="9">
                <c:v>148.605</c:v>
              </c:pt>
              <c:pt idx="10">
                <c:v>390.128</c:v>
              </c:pt>
              <c:pt idx="11">
                <c:v>501.394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>
              <a:srgbClr val="EC7000"/>
            </a:solidFill>
          </c:spPr>
          <c:dLbls>
            <c:txPr>
              <a:bodyPr anchorCtr="1"/>
              <a:lstStyle/>
              <a:p>
                <a:pPr>
                  <a:defRPr sz="1200" b="1" lang="pt-BR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0.9282786710329323</c:v>
              </c:pt>
              <c:pt idx="3">
                <c:v>0.9417890652505161</c:v>
              </c:pt>
            </c:numLit>
          </c:val>
        </c:ser>
        <c:ser>
          <c:idx val="1"/>
          <c:order val="1"/>
          <c:tx>
            <c:v>Qualificado</c:v>
          </c:tx>
          <c:spPr>
            <a:solidFill>
              <a:srgbClr val="30353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0.06682143554503768</c:v>
              </c:pt>
              <c:pt idx="3">
                <c:v>0.05458456338847054</c:v>
              </c:pt>
            </c:numLit>
          </c:val>
        </c:ser>
        <c:ser>
          <c:idx val="2"/>
          <c:order val="2"/>
          <c:tx>
            <c:v>Geral</c:v>
          </c:tx>
          <c:spPr>
            <a:solidFill>
              <a:srgbClr val="73787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0.003626371361013431</c:v>
              </c:pt>
            </c:numLit>
          </c:val>
        </c:ser>
        <c:ser>
          <c:idx val="3"/>
          <c:order val="3"/>
          <c:tx>
            <c:v>N/D</c:v>
          </c:tx>
          <c:spPr>
            <a:solidFill>
              <a:srgbClr val="E7E9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jan–ago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0.00489989342203018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2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EC7000"/>
              </a:solidFill>
            </c:spPr>
          </c:dPt>
          <c:dPt>
            <c:idx val="1"/>
            <c:invertIfNegative val="0"/>
            <c:spPr>
              <a:solidFill>
                <a:srgbClr val="30353A"/>
              </a:solidFill>
            </c:spPr>
          </c:dPt>
          <c:dPt>
            <c:idx val="2"/>
            <c:invertIfNegative val="0"/>
            <c:spPr>
              <a:solidFill>
                <a:srgbClr val="30353A"/>
              </a:solidFill>
            </c:spPr>
          </c:dPt>
          <c:dPt>
            <c:idx val="3"/>
            <c:invertIfNegative val="0"/>
            <c:spPr>
              <a:solidFill>
                <a:srgbClr val="30353A"/>
              </a:solidFill>
            </c:spPr>
          </c:dPt>
          <c:dPt>
            <c:idx val="4"/>
            <c:invertIfNegative val="0"/>
            <c:spPr>
              <a:solidFill>
                <a:srgbClr val="30353A"/>
              </a:solidFill>
            </c:spPr>
          </c:dPt>
          <c:dPt>
            <c:idx val="5"/>
            <c:invertIfNegative val="0"/>
            <c:spPr>
              <a:solidFill>
                <a:srgbClr val="30353A"/>
              </a:solidFill>
            </c:spPr>
          </c:dPt>
          <c:cat>
            <c:strLit>
              <c:ptCount val="6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  <c:pt idx="5">
                <c:v>Não classificado</c:v>
              </c:pt>
            </c:strLit>
          </c:cat>
          <c:val>
            <c:numLit>
              <c:formatCode>0.0%</c:formatCode>
              <c:ptCount val="6"/>
              <c:pt idx="0">
                <c:v>0.44216524330167495</c:v>
              </c:pt>
              <c:pt idx="1">
                <c:v>0.2674702928236078</c:v>
              </c:pt>
              <c:pt idx="2">
                <c:v>0.20962755836727204</c:v>
              </c:pt>
              <c:pt idx="3">
                <c:v>0.08005680163703595</c:v>
              </c:pt>
              <c:pt idx="4">
                <c:v>0.0006581650358799667</c:v>
              </c:pt>
              <c:pt idx="5">
                <c:v>2.193883452933222E-05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102</c:v>
              </c:pt>
              <c:pt idx="2">
                <c:v>103</c:v>
              </c:pt>
              <c:pt idx="3">
                <c:v>67</c:v>
              </c:pt>
              <c:pt idx="4">
                <c:v>50</c:v>
              </c:pt>
              <c:pt idx="5">
                <c:v>73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1</c:v>
              </c:pt>
              <c:pt idx="1">
                <c:v>156</c:v>
              </c:pt>
              <c:pt idx="2">
                <c:v>127</c:v>
              </c:pt>
              <c:pt idx="3">
                <c:v>139</c:v>
              </c:pt>
              <c:pt idx="4">
                <c:v>124</c:v>
              </c:pt>
              <c:pt idx="5">
                <c:v>189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3.85046664218</c:v>
              </c:pt>
              <c:pt idx="1">
                <c:v>105.79027545369</c:v>
              </c:pt>
              <c:pt idx="2">
                <c:v>67.2919030688</c:v>
              </c:pt>
              <c:pt idx="3">
                <c:v>83.4806111088</c:v>
              </c:pt>
              <c:pt idx="4">
                <c:v>27.89580794356</c:v>
              </c:pt>
              <c:pt idx="5">
                <c:v>84.21676150369001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0.54025053743</c:v>
              </c:pt>
              <c:pt idx="1">
                <c:v>171.44814385220002</c:v>
              </c:pt>
              <c:pt idx="2">
                <c:v>95.74805697863</c:v>
              </c:pt>
              <c:pt idx="3">
                <c:v>163.53390143437</c:v>
              </c:pt>
              <c:pt idx="4">
                <c:v>67.48216744858</c:v>
              </c:pt>
              <c:pt idx="5">
                <c:v>208.71267665304998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0.005037783375314861</c:v>
              </c:pt>
              <c:pt idx="1">
                <c:v>0.25692695214105793</c:v>
              </c:pt>
              <c:pt idx="2">
                <c:v>0.2594458438287154</c:v>
              </c:pt>
              <c:pt idx="3">
                <c:v>0.16876574307304787</c:v>
              </c:pt>
              <c:pt idx="4">
                <c:v>0.12594458438287154</c:v>
              </c:pt>
              <c:pt idx="5">
                <c:v>0.18387909319899245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0.001358695652173913</c:v>
              </c:pt>
              <c:pt idx="1">
                <c:v>0.21195652173913043</c:v>
              </c:pt>
              <c:pt idx="2">
                <c:v>0.17255434782608695</c:v>
              </c:pt>
              <c:pt idx="3">
                <c:v>0.18885869565217392</c:v>
              </c:pt>
              <c:pt idx="4">
                <c:v>0.16847826086956522</c:v>
              </c:pt>
              <c:pt idx="5">
                <c:v>0.25679347826086957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0.010336106590007717</c:v>
              </c:pt>
              <c:pt idx="1">
                <c:v>0.2839810508412918</c:v>
              </c:pt>
              <c:pt idx="2">
                <c:v>0.1806368805132138</c:v>
              </c:pt>
              <c:pt idx="3">
                <c:v>0.22409348653154812</c:v>
              </c:pt>
              <c:pt idx="4">
                <c:v>0.07488288332651948</c:v>
              </c:pt>
              <c:pt idx="5">
                <c:v>0.22606959219741915</c:v>
              </c:pt>
            </c:numLit>
          </c:val>
        </c:ser>
        <c:ser>
          <c:idx val="1"/>
          <c:order val="1"/>
          <c:tx>
            <c:v>Ago/26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0.0007636425647424619</c:v>
              </c:pt>
              <c:pt idx="1">
                <c:v>0.24234145312366762</c:v>
              </c:pt>
              <c:pt idx="2">
                <c:v>0.13533960030487185</c:v>
              </c:pt>
              <c:pt idx="3">
                <c:v>0.23115469446407375</c:v>
              </c:pt>
              <c:pt idx="4">
                <c:v>0.09538584759203673</c:v>
              </c:pt>
              <c:pt idx="5">
                <c:v>0.2950147619506076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151515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805DF0D5-B2D4-42B8-8EA3-61C059010E28}"/>
              </a:ext>
            </a:extLst>
          </ns0:cNvPr>
          <ns0:cNvSpPr>
            <a:spLocks noGrp="1"/>
          </ns0:cNvSpPr>
          <ns0:nvPr/>
        </ns0:nvSpPr>
        <ns0:spPr>
          <a:xfrm>
            <a:off x="571500" y="1000125"/>
            <a:ext cx="838200" cy="47625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D78D37C5-5CBD-4467-AACF-1F14BB9A1C1A}"/>
              </a:ext>
            </a:extLst>
          </ns0:cNvPr>
          <ns0:cNvSpPr>
            <a:spLocks noGrp="1"/>
          </ns0:cNvSpPr>
          <ns0:nvPr/>
        </ns0:nvSpPr>
        <ns0:spPr>
          <a:xfrm>
            <a:off x="571500" y="14097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3600" b="1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3600" b="1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pt-BR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88E07E0-A598-4FF9-A778-02E5FEDFAB14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0"/>
            <a:ext cx="11049000" cy="9525"/>
          </a:xfrm>
          <a:prstGeom prst="rect">
            <a:avLst/>
          </a:prstGeom>
          <a:solidFill>
            <a:srgbClr val="4B4F53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E3AC1A26-8A38-4EC9-898E-4B1D95579F2C}"/>
              </a:ext>
            </a:extLst>
          </ns0:cNvPr>
          <ns0:cNvSpPr>
            <a:spLocks noGrp="1"/>
          </ns0:cNvSpPr>
          <ns0:nvPr/>
        </ns0:nvSpPr>
        <ns0:spPr>
          <a:xfrm>
            <a:off x="571500" y="528637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200" b="0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lang="pt-BR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ago/26 · fechamento em 31 de agosto de 2026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6E3C67B-0C5D-408E-8F6C-7011F95F1A5D}"/>
              </a:ext>
            </a:extLst>
          </ns0:cNvPr>
          <ns0:cNvSpPr>
            <a:spLocks noGrp="1"/>
          </ns0:cNvSpPr>
          <ns0:nvPr/>
        </ns0:nvSpPr>
        <ns0:spPr>
          <a:xfrm>
            <a:off x="571500" y="561022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200" b="0" lang="pt-BR">
                <a:solidFill>
                  <a:srgbClr val="E7E9E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pt-BR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 lang="pt-BR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CVM: jan–ago/26; ANBIMA: jan–ago/26. Extração CVM: 10/out/26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4AE7380F-C582-4244-B650-74BFEA242BB0}"/>
              </a:ext>
            </a:extLst>
          </ns0:cNvPr>
          <ns0:cNvSpPr>
            <a:spLocks noGrp="1"/>
          </ns0:cNvSpPr>
          <ns0:nvPr/>
        </ns0:nvSpPr>
        <ns0:spPr>
          <a:xfrm>
            <a:off x="571500" y="62579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</a:t>
            </a:r>
          </a:p>
        </ns0:txBody>
      </ns0:sp>
    </ns0:spTree>
    <ns0:extLst>
      <ns0:ext uri="{BB962C8B-B14F-4D97-AF65-F5344CB8AC3E}">
        <ns3:creationId val="2017095849"/>
      </ns0:ext>
    </ns0:extLst>
  </ns0:cSld>
</ns0:sld>
</file>

<file path=ppt/slides/slide2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7" name="">
            <a:extLst>
              <a:ext uri="{FF2B5EF4-FFF2-40B4-BE49-F238E27FC236}">
                <ns2:creationId id="{16B0D8D7-DB7B-43D4-8AFD-930E4B54DB3F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Escala da indústria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154BC4A6-3D17-41F5-97D9-E1FC8DA32E36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PL ex-FIC e carteira de crédito privada ampliada, até 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4AA6236-9AC9-43BD-91FF-C4A2A61485AF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14FA0459-CEAA-4BEF-83B6-6518031D27E4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EA413DF6-7CBB-45D9-AE04-26768D0A62F4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 e BCB, ago/26. PL ex-FIC; crédito privado ampliado. Séries e perímetros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12BE477-8794-4333-B47F-38B1DD105153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2945C52-177D-4515-8FD2-3A121A5FABF0}"/>
              </a:ext>
            </a:extLst>
          </ns0:cNvPr>
          <ns0:cNvSpPr>
            <a:spLocks noGrp="1"/>
          </ns0:cNvSpPr>
          <ns0:nvPr/>
        </ns0:nvSpPr>
        <ns0:spPr>
          <a:xfrm>
            <a:off x="571500" y="1266825"/>
            <a:ext cx="519112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E2D2800-FC28-4C84-AB8A-0B2ECA975B04}"/>
              </a:ext>
            </a:extLst>
          </ns0:cNvPr>
          <ns0:cNvSpPr>
            <a:spLocks noGrp="1"/>
          </ns0:cNvSpPr>
          <ns0:nvPr/>
        </ns0:nvSpPr>
        <ns0:spPr>
          <a:xfrm>
            <a:off x="571500" y="1533525"/>
            <a:ext cx="51911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E0CA19DE-866B-413A-B1BC-8BD561ECBE73}"/>
              </a:ext>
            </a:extLst>
          </ns0:cNvPr>
          <ns0:cNvGraphicFramePr/>
          <ns0:nvPr/>
        </ns0:nvGraphicFramePr>
        <ns0:xfrm>
          <a:off x="523875" y="1571625"/>
          <a:ext cx="5286375" cy="3143250"/>
        </ns0:xfrm>
        <a:graphic>
          <a:graphicData uri="http://schemas.openxmlformats.org/drawingml/2006/chart">
            <c:chart ns4:id="Rbe72fb3964d349d0"/>
          </a:graphicData>
        </a:graphic>
      </ns0:graphicFrame>
      <ns0:sp>
        <ns0:nvSpPr>
          <ns0:cNvPr id="10" name="">
            <a:extLst>
              <a:ext uri="{FF2B5EF4-FFF2-40B4-BE49-F238E27FC236}">
                <ns2:creationId id="{BB1D62AC-2E8A-4436-8AE0-227216A9097B}"/>
              </a:ext>
            </a:extLst>
          </ns0:cNvPr>
          <ns0:cNvSpPr>
            <a:spLocks noGrp="1"/>
          </ns0:cNvSpPr>
          <ns0:nvPr/>
        </ns0:nvSpPr>
        <ns0:spPr>
          <a:xfrm>
            <a:off x="571500" y="50673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93750"/>
          </a:bodyPr>
          <a:lstStyle>
            <a:defPPr algn="ctr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+17,6%   ·   2020/19 -9,0%   ·   2022/21 +22,1%   ·   2023/22 +25,6%   ·   2024/23 +43,9%   ·   2025/24 +20,6%   ·   2026 YTD +7,0%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78B457F5-53C4-488C-9540-2BE7110C79C3}"/>
              </a:ext>
            </a:extLst>
          </ns0:cNvPr>
          <ns0:cNvSpPr>
            <a:spLocks noGrp="1"/>
          </ns0:cNvSpPr>
          <ns0:nvPr/>
        </ns0:nvSpPr>
        <ns0:spPr>
          <a:xfrm>
            <a:off x="6143625" y="1266825"/>
            <a:ext cx="54768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D3D63D1-B569-43D0-96CF-CCE17D645CEB}"/>
              </a:ext>
            </a:extLst>
          </ns0:cNvPr>
          <ns0:cNvSpPr>
            <a:spLocks noGrp="1"/>
          </ns0:cNvSpPr>
          <ns0:nvPr/>
        </ns0:nvSpPr>
        <ns0:spPr>
          <a:xfrm>
            <a:off x="6143625" y="1533525"/>
            <a:ext cx="54768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3" name="Chart">
            <a:extLst>
              <a:ext uri="{FF2B5EF4-FFF2-40B4-BE49-F238E27FC236}">
                <ns2:creationId id="{0EECA0D9-C58F-448F-BF64-F66A1F598E42}"/>
              </a:ext>
            </a:extLst>
          </ns0:cNvPr>
          <ns0:cNvGraphicFramePr/>
          <ns0:nvPr/>
        </ns0:nvGraphicFramePr>
        <ns0:xfrm>
          <a:off x="6048375" y="1571625"/>
          <a:ext cx="5572125" cy="3381375"/>
        </ns0:xfrm>
        <a:graphic>
          <a:graphicData uri="http://schemas.openxmlformats.org/drawingml/2006/chart">
            <c:chart ns4:id="Rf9be76dcb5d14afb"/>
          </a:graphicData>
        </a:graphic>
      </ns0:graphicFrame>
      <ns0:sp>
        <ns0:nvSpPr>
          <ns0:cNvPr id="14" name="">
            <a:extLst>
              <a:ext uri="{FF2B5EF4-FFF2-40B4-BE49-F238E27FC236}">
                <ns2:creationId id="{C9ED6B45-6A22-4DB2-B084-99F8186F4EE3}"/>
              </a:ext>
            </a:extLst>
          </ns0:cNvPr>
          <ns0:cNvSpPr>
            <a:spLocks noGrp="1"/>
          </ns0:cNvSpPr>
          <ns0:nvPr/>
        </ns0:nvSpPr>
        <ns0:spPr>
          <a:xfrm>
            <a:off x="6096000" y="4924425"/>
            <a:ext cx="76200" cy="76200"/>
          </a:xfrm>
          <a:prstGeom prst="rect">
            <a:avLst/>
          </a:prstGeom>
          <a:solidFill>
            <a:srgbClr val="30353A"/>
          </a:solidFill>
          <a:ln w="0">
            <a:noFill/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ADA73CF0-3B77-4AF8-BF8D-466D3A7683D5}"/>
              </a:ext>
            </a:extLst>
          </ns0:cNvPr>
          <ns0:cNvSpPr>
            <a:spLocks noGrp="1"/>
          </ns0:cNvSpPr>
          <ns0:nvPr/>
        </ns0:nvSpPr>
        <ns0:spPr>
          <a:xfrm>
            <a:off x="6219825" y="4914900"/>
            <a:ext cx="1689100" cy="952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625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Empréstimos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9E3D7FEA-9680-43D0-8B5D-643E1B00763F}"/>
              </a:ext>
            </a:extLst>
          </ns0:cNvPr>
          <ns0:cNvSpPr>
            <a:spLocks noGrp="1"/>
          </ns0:cNvSpPr>
          <ns0:nvPr/>
        </ns0:nvSpPr>
        <ns0:spPr>
          <a:xfrm>
            <a:off x="7937500" y="4924425"/>
            <a:ext cx="76200" cy="76200"/>
          </a:xfrm>
          <a:prstGeom prst="rect">
            <a:avLst/>
          </a:prstGeom>
          <a:solidFill>
            <a:srgbClr val="8D9399"/>
          </a:solidFill>
          <a:ln w="0">
            <a:noFill/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E87EED36-EDAF-459B-BF14-2252394D66BF}"/>
              </a:ext>
            </a:extLst>
          </ns0:cNvPr>
          <ns0:cNvSpPr>
            <a:spLocks noGrp="1"/>
          </ns0:cNvSpPr>
          <ns0:nvPr/>
        </ns0:nvSpPr>
        <ns0:spPr>
          <a:xfrm>
            <a:off x="8061325" y="4914900"/>
            <a:ext cx="1689100" cy="952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625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Tít. privados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9BB9779-1428-4ED0-8E03-5C9BFC2EB39A}"/>
              </a:ext>
            </a:extLst>
          </ns0:cNvPr>
          <ns0:cNvSpPr>
            <a:spLocks noGrp="1"/>
          </ns0:cNvSpPr>
          <ns0:nvPr/>
        </ns0:nvSpPr>
        <ns0:spPr>
          <a:xfrm>
            <a:off x="9779000" y="492442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229DC3DF-4F95-4D0C-914E-93C69026DB5E}"/>
              </a:ext>
            </a:extLst>
          </ns0:cNvPr>
          <ns0:cNvSpPr>
            <a:spLocks noGrp="1"/>
          </ns0:cNvSpPr>
          <ns0:nvPr/>
        </ns0:nvSpPr>
        <ns0:spPr>
          <a:xfrm>
            <a:off x="9902825" y="4914900"/>
            <a:ext cx="1689100" cy="952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625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FIDCs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A4EE2259-8B47-4FC3-A7E3-8E8ADB13AA29}"/>
              </a:ext>
            </a:extLst>
          </ns0:cNvPr>
          <ns0:cNvSpPr>
            <a:spLocks noGrp="1"/>
          </ns0:cNvSpPr>
          <ns0:nvPr/>
        </ns0:nvSpPr>
        <ns0:spPr>
          <a:xfrm>
            <a:off x="6096000" y="5019675"/>
            <a:ext cx="76200" cy="76200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1DCA437F-4B35-4D68-BE08-FBA443F393F2}"/>
              </a:ext>
            </a:extLst>
          </ns0:cNvPr>
          <ns0:cNvSpPr>
            <a:spLocks noGrp="1"/>
          </ns0:cNvSpPr>
          <ns0:nvPr/>
        </ns0:nvSpPr>
        <ns0:spPr>
          <a:xfrm>
            <a:off x="6219825" y="5010150"/>
            <a:ext cx="1689100" cy="952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625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Outras securit.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27901D2F-CF1E-4F48-B358-D6DD03EC83E7}"/>
              </a:ext>
            </a:extLst>
          </ns0:cNvPr>
          <ns0:cNvSpPr>
            <a:spLocks noGrp="1"/>
          </ns0:cNvSpPr>
          <ns0:nvPr/>
        </ns0:nvSpPr>
        <ns0:spPr>
          <a:xfrm>
            <a:off x="7937500" y="5019675"/>
            <a:ext cx="76200" cy="76200"/>
          </a:xfrm>
          <a:prstGeom prst="rect">
            <a:avLst/>
          </a:prstGeom>
          <a:solidFill>
            <a:srgbClr val="E7E9EB"/>
          </a:solidFill>
          <a:ln w="0">
            <a:noFill/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667C7C6F-0DD7-46BF-B369-1576799F470E}"/>
              </a:ext>
            </a:extLst>
          </ns0:cNvPr>
          <ns0:cNvSpPr>
            <a:spLocks noGrp="1"/>
          </ns0:cNvSpPr>
          <ns0:nvPr/>
        </ns0:nvSpPr>
        <ns0:spPr>
          <a:xfrm>
            <a:off x="8061325" y="5010150"/>
            <a:ext cx="1689100" cy="952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625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Dív. externa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9E730F30-B9B3-4688-AB24-C139D67CE579}"/>
              </a:ext>
            </a:extLst>
          </ns0:cNvPr>
          <ns0:cNvSpPr>
            <a:spLocks noGrp="1"/>
          </ns0:cNvSpPr>
          <ns0:nvPr/>
        </ns0:nvSpPr>
        <ns0:spPr>
          <a:xfrm>
            <a:off x="6096000" y="515302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ctr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+4,0%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AC360CE-0942-4DC6-92A5-378A33FB705B}"/>
              </a:ext>
            </a:extLst>
          </ns0:cNvPr>
          <ns0:cNvSpPr>
            <a:spLocks noGrp="1"/>
          </ns0:cNvSpPr>
          <ns0:nvPr/>
        </ns0:nvSpPr>
        <ns0:spPr>
          <a:xfrm>
            <a:off x="6096000" y="554355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99439"/>
          </a:bodyPr>
          <a:lstStyle>
            <a:defPPr algn="ct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Ago/26: total privado R$ 13,898 tri; securitização R$ 1.220 bi; carteira FIDC R$ 702 bi. O total BCB de R$ 21,996 tri inclui R$ 8.098 bi de títulos públicos e permanece no export para reconciliação.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2A42547D-A310-470B-8072-26AD669319C5}"/>
              </a:ext>
            </a:extLst>
          </ns0:cNvPr>
          <ns0:cNvSpPr>
            <a:spLocks noGrp="1"/>
          </ns0:cNvSpPr>
          <ns0:nvPr/>
        </ns0:nvSpPr>
        <ns0:spPr>
          <a:xfrm>
            <a:off x="571500" y="60198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83276"/>
          </a:bodyPr>
          <a:lstStyle>
            <a:defPPr algn="ct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ns0:txBody>
      </ns0:sp>
    </ns0:spTree>
    <ns0:extLst>
      <ns0:ext uri="{BB962C8B-B14F-4D97-AF65-F5344CB8AC3E}">
        <ns5:creationId val="986213283"/>
      </ns0:ext>
    </ns0:extLst>
  </ns0:cSld>
</ns0:sld>
</file>

<file path=ppt/slides/slide3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6" name="">
            <a:extLst>
              <a:ext uri="{FF2B5EF4-FFF2-40B4-BE49-F238E27FC236}">
                <ns2:creationId id="{99ED8EBB-9BA0-4272-AD5B-CDAE5430B9E2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de FIDCs e outros instrumentos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C21DD23A-C83C-4C01-A4B2-7F82148CD3DC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CVM e ANBIMA, perímetros comparados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009848E7-F1CE-4114-81CA-935B11C4542C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CE1C91E0-6586-4A2A-94A4-A27B080A5B0A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212BF934-860F-444A-80B5-2F803ED21C14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CVM/SRE (10/out/26), jan–ago/26; ANBIMA, jan–ago/26. Perímetros e método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6B86E20D-099E-4331-9F62-6311843BFC79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72588C1-E702-4BCC-AC3F-211C8AB740C5}"/>
              </a:ext>
            </a:extLst>
          </ns0:cNvPr>
          <ns0:cNvSpPr>
            <a:spLocks noGrp="1"/>
          </ns0:cNvSpPr>
          <ns0:nvPr/>
        </ns0:nvSpPr>
        <ns0:spPr>
          <a:xfrm>
            <a:off x="57150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CCFE667-DDBC-4582-B39B-CC1CAB1ED0EF}"/>
              </a:ext>
            </a:extLst>
          </ns0:cNvPr>
          <ns0:cNvSpPr>
            <a:spLocks noGrp="1"/>
          </ns0:cNvSpPr>
          <ns0:nvPr/>
        </ns0:nvSpPr>
        <ns0:spPr>
          <a:xfrm>
            <a:off x="57150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0AEC75E4-6EBD-4029-B5A7-CC01B0C76E29}"/>
              </a:ext>
            </a:extLst>
          </ns0:cNvPr>
          <ns0:cNvGraphicFramePr/>
          <ns0:nvPr/>
        </ns0:nvGraphicFramePr>
        <ns0:xfrm>
          <a:off x="571500" y="1524000"/>
          <a:ext cx="5238750" cy="2333625"/>
        </ns0:xfrm>
        <a:graphic>
          <a:graphicData uri="http://schemas.openxmlformats.org/drawingml/2006/chart">
            <c:chart ns4:id="R0b6e91791a3d47e4"/>
          </a:graphicData>
        </a:graphic>
      </ns0:graphicFrame>
      <ns0:sp>
        <ns0:nvSpPr>
          <ns0:cNvPr id="10" name="">
            <a:extLst>
              <a:ext uri="{FF2B5EF4-FFF2-40B4-BE49-F238E27FC236}">
                <ns2:creationId id="{0AE587FC-03A3-45DE-98BB-4DBB14B51564}"/>
              </a:ext>
            </a:extLst>
          </ns0:cNvPr>
          <ns0:cNvSpPr>
            <a:spLocks noGrp="1"/>
          </ns0:cNvSpPr>
          <ns0:nvPr/>
        </ns0:nvSpPr>
        <ns0:spPr>
          <a:xfrm>
            <a:off x="638175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62F09490-6ABE-4944-BAC9-B659B61BA3FD}"/>
              </a:ext>
            </a:extLst>
          </ns0:cNvPr>
          <ns0:cNvSpPr>
            <a:spLocks noGrp="1"/>
          </ns0:cNvSpPr>
          <ns0:nvPr/>
        </ns0:nvSpPr>
        <ns0:spPr>
          <a:xfrm>
            <a:off x="638175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CEB8A3A2-5E06-47BE-BC7B-CA4A51CD10CA}"/>
              </a:ext>
            </a:extLst>
          </ns0:cNvPr>
          <ns0:cNvGraphicFramePr/>
          <ns0:nvPr/>
        </ns0:nvGraphicFramePr>
        <ns0:xfrm>
          <a:off x="6381750" y="1524000"/>
          <a:ext cx="5238750" cy="2333625"/>
        </ns0:xfrm>
        <a:graphic>
          <a:graphicData uri="http://schemas.openxmlformats.org/drawingml/2006/chart">
            <c:chart ns4:id="R7c1e9f1efe8e44e9"/>
          </a:graphicData>
        </a:graphic>
      </ns0:graphicFrame>
      <ns0:sp>
        <ns0:nvSpPr>
          <ns0:cNvPr id="13" name="">
            <a:extLst>
              <a:ext uri="{FF2B5EF4-FFF2-40B4-BE49-F238E27FC236}">
                <ns2:creationId id="{729F54D7-9AB3-404F-8109-AD2B17D4B6F6}"/>
              </a:ext>
            </a:extLst>
          </ns0:cNvPr>
          <ns0:cNvSpPr>
            <a:spLocks noGrp="1"/>
          </ns0:cNvSpPr>
          <ns0:nvPr/>
        </ns0:nvSpPr>
        <ns0:spPr>
          <a:xfrm>
            <a:off x="2857500" y="4048125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F3FD6A1-60F7-4D76-AD25-74979EF3696C}"/>
              </a:ext>
            </a:extLst>
          </ns0:cNvPr>
          <ns0:cNvSpPr>
            <a:spLocks noGrp="1"/>
          </ns0:cNvSpPr>
          <ns0:nvPr/>
        </ns0:nvSpPr>
        <ns0:spPr>
          <a:xfrm>
            <a:off x="2857500" y="4276725"/>
            <a:ext cx="6477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5" name="">
            <a:extLst>
              <a:ext uri="{FF2B5EF4-FFF2-40B4-BE49-F238E27FC236}">
                <ns2:creationId id="{D17B9090-A99D-4E3E-9D5B-948040090B02}"/>
              </a:ext>
            </a:extLst>
          </ns0:cNvPr>
          <ns0:cNvGraphicFramePr/>
          <ns0:nvPr/>
        </ns0:nvGraphicFramePr>
        <ns0:xfrm>
          <a:off x="2857500" y="4286250"/>
          <a:ext cx="6477000" cy="1743075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jan–ago/26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+30,3%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-14,5%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-27,3%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-6,7%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-52,0%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5:creationId val="951836660"/>
      </ns0:ext>
    </ns0:extLst>
  </ns0:cSld>
</ns0:sld>
</file>

<file path=ppt/slides/slide4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1" name="">
            <a:extLst>
              <a:ext uri="{FF2B5EF4-FFF2-40B4-BE49-F238E27FC236}">
                <ns2:creationId id="{19C66082-757E-4E0E-A073-E2BBE8948FD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B88DF006-619E-4022-B4A8-3173BACF782B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Ofertas primárias encerradas, jan–ago/26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D9A8C500-CB93-4F01-B65C-741650CB6902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0A6A9381-7320-4E4E-A185-6AC4968CDCBE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0C5749B3-ABC0-4602-BD60-EC66B7FE91C5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CVM/SRE, jan–ago/26, e ANBIMA (2023). Volume registrado; reconciliação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83773D98-959D-465B-B206-3137283DD7EF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D2CA8DA-EFDA-4423-84A3-86ED2823CD92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emitido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3EF3903-76E6-4024-8DB9-0D56882B8898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86210207-CACF-408A-8DA6-E8918A5D1C0D}"/>
              </a:ext>
            </a:extLst>
          </ns0:cNvPr>
          <ns0:cNvGraphicFramePr/>
          <ns0:nvPr/>
        </ns0:nvGraphicFramePr>
        <ns0:xfrm>
          <a:off x="571500" y="1762125"/>
          <a:ext cx="5238750" cy="3381375"/>
        </ns0:xfrm>
        <a:graphic>
          <a:graphicData uri="http://schemas.openxmlformats.org/drawingml/2006/chart">
            <c:chart ns4:id="Rc83bb282478b4c3e"/>
          </a:graphicData>
        </a:graphic>
      </ns0:graphicFrame>
      <ns0:sp>
        <ns0:nvSpPr>
          <ns0:cNvPr id="10" name="">
            <a:extLst>
              <a:ext uri="{FF2B5EF4-FFF2-40B4-BE49-F238E27FC236}">
                <ns2:creationId id="{FD511724-845C-4091-A10A-60F71B60620D}"/>
              </a:ext>
            </a:extLst>
          </ns0:cNvPr>
          <ns0:cNvSpPr>
            <a:spLocks noGrp="1"/>
          </ns0:cNvSpPr>
          <ns0:nvPr/>
        </ns0:nvSpPr>
        <ns0:spPr>
          <a:xfrm>
            <a:off x="638175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volume emitido · %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EF8DC64-6224-4E4D-BDCB-0B604FCBB23B}"/>
              </a:ext>
            </a:extLst>
          </ns0:cNvPr>
          <ns0:cNvSpPr>
            <a:spLocks noGrp="1"/>
          </ns0:cNvSpPr>
          <ns0:nvPr/>
        </ns0:nvSpPr>
        <ns0:spPr>
          <a:xfrm>
            <a:off x="638175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9E21373E-3F43-4101-B459-DC818B67D596}"/>
              </a:ext>
            </a:extLst>
          </ns0:cNvPr>
          <ns0:cNvGraphicFramePr/>
          <ns0:nvPr/>
        </ns0:nvGraphicFramePr>
        <ns0:xfrm>
          <a:off x="6381750" y="1762125"/>
          <a:ext cx="5238750" cy="3381375"/>
        </ns0:xfrm>
        <a:graphic>
          <a:graphicData uri="http://schemas.openxmlformats.org/drawingml/2006/chart">
            <c:chart ns4:id="Re49074663fdf478a"/>
          </a:graphicData>
        </a:graphic>
      </ns0:graphicFrame>
      <ns0:sp>
        <ns0:nvSpPr>
          <ns0:cNvPr id="13" name="">
            <a:extLst>
              <a:ext uri="{FF2B5EF4-FFF2-40B4-BE49-F238E27FC236}">
                <ns2:creationId id="{D0BCE0EC-EFF2-4DA1-B2DC-8DBCD3383ADE}"/>
              </a:ext>
            </a:extLst>
          </ns0:cNvPr>
          <ns0:cNvSpPr>
            <a:spLocks noGrp="1"/>
          </ns0:cNvSpPr>
          <ns0:nvPr/>
        </ns0:nvSpPr>
        <ns0:spPr>
          <a:xfrm>
            <a:off x="857250" y="5391150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778A4415-9599-488B-8F18-A8390441E592}"/>
              </a:ext>
            </a:extLst>
          </ns0:cNvPr>
          <ns0:cNvSpPr>
            <a:spLocks noGrp="1"/>
          </ns0:cNvSpPr>
          <ns0:nvPr/>
        </ns0:nvSpPr>
        <ns0:spPr>
          <a:xfrm>
            <a:off x="981075" y="528637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B319E8A0-4FC0-4C47-9525-352F83D07780}"/>
              </a:ext>
            </a:extLst>
          </ns0:cNvPr>
          <ns0:cNvSpPr>
            <a:spLocks noGrp="1"/>
          </ns0:cNvSpPr>
          <ns0:nvPr/>
        </ns0:nvSpPr>
        <ns0:spPr>
          <a:xfrm>
            <a:off x="3476625" y="5391150"/>
            <a:ext cx="76200" cy="76200"/>
          </a:xfrm>
          <a:prstGeom prst="rect">
            <a:avLst/>
          </a:prstGeom>
          <a:solidFill>
            <a:srgbClr val="0A3B00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D04AF188-7D1D-41AB-A38A-2314AF98F0A1}"/>
              </a:ext>
            </a:extLst>
          </ns0:cNvPr>
          <ns0:cNvSpPr>
            <a:spLocks noGrp="1"/>
          </ns0:cNvSpPr>
          <ns0:nvPr/>
        </ns0:nvSpPr>
        <ns0:spPr>
          <a:xfrm>
            <a:off x="3600450" y="528637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F9C3463B-0296-4C4F-ADAC-D48643851EFC}"/>
              </a:ext>
            </a:extLst>
          </ns0:cNvPr>
          <ns0:cNvSpPr>
            <a:spLocks noGrp="1"/>
          </ns0:cNvSpPr>
          <ns0:nvPr/>
        </ns0:nvSpPr>
        <ns0:spPr>
          <a:xfrm>
            <a:off x="6096000" y="5391150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AF0CDEE2-DE84-4F06-8D25-38EBC561E97C}"/>
              </a:ext>
            </a:extLst>
          </ns0:cNvPr>
          <ns0:cNvSpPr>
            <a:spLocks noGrp="1"/>
          </ns0:cNvSpPr>
          <ns0:nvPr/>
        </ns0:nvSpPr>
        <ns0:spPr>
          <a:xfrm>
            <a:off x="6219825" y="528637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F0B320E7-920F-4821-98EF-0454FF7E6C2E}"/>
              </a:ext>
            </a:extLst>
          </ns0:cNvPr>
          <ns0:cNvSpPr>
            <a:spLocks noGrp="1"/>
          </ns0:cNvSpPr>
          <ns0:nvPr/>
        </ns0:nvSpPr>
        <ns0:spPr>
          <a:xfrm>
            <a:off x="8715375" y="5391150"/>
            <a:ext cx="76200" cy="76200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9825AB4B-0A0D-4692-8630-E7ED29ED4643}"/>
              </a:ext>
            </a:extLst>
          </ns0:cNvPr>
          <ns0:cNvSpPr>
            <a:spLocks noGrp="1"/>
          </ns0:cNvSpPr>
          <ns0:nvPr/>
        </ns0:nvSpPr>
        <ns0:spPr>
          <a:xfrm>
            <a:off x="8839200" y="528637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Outros</a:t>
            </a:r>
          </a:p>
        </ns0:txBody>
      </ns0:sp>
    </ns0:spTree>
    <ns0:extLst>
      <ns0:ext uri="{BB962C8B-B14F-4D97-AF65-F5344CB8AC3E}">
        <ns5:creationId val="445547825"/>
      </ns0:ext>
    </ns0:extLst>
  </ns0:cSld>
</ns0:sld>
</file>

<file path=ppt/slides/slide5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8" name="">
            <a:extLst>
              <a:ext uri="{FF2B5EF4-FFF2-40B4-BE49-F238E27FC236}">
                <ns2:creationId id="{7159E4DE-95E5-4F82-9C32-C53F1132B7F3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Composição da indústria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4ACCB5E9-73B2-4052-B3B9-6F9C42DDC8FF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PL ex-FIC até ago/26, classificação analítica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9571D124-7D8D-4D5A-ADB8-BC0D66ED568B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BA09D3DA-B4E2-4D39-807C-32A1C5AD4190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808E70D6-0747-4FAF-935C-90BBD7D2207C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ANBIMA (dez/25), CVM (ago/26) e ledger documental. PL ex-FIC; taxonomia oficial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B7253D29-3A59-4A33-91E1-540E8821AC57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C609979-47FB-4046-B1C8-AE98012142B2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3E60C1C-44CC-42E1-B6D1-9E2823B250AD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F21F8FB1-CB35-450B-8BBA-69FD08DCC526}"/>
              </a:ext>
            </a:extLst>
          </ns0:cNvPr>
          <ns0:cNvGraphicFramePr/>
          <ns0:nvPr/>
        </ns0:nvGraphicFramePr>
        <ns0:xfrm>
          <a:off x="571500" y="1762125"/>
          <a:ext cx="5238750" cy="3381375"/>
        </ns0:xfrm>
        <a:graphic>
          <a:graphicData uri="http://schemas.openxmlformats.org/drawingml/2006/chart">
            <c:chart ns4:id="Rb3ba798ef4434513"/>
          </a:graphicData>
        </a:graphic>
      </ns0:graphicFrame>
      <ns0:sp>
        <ns0:nvSpPr>
          <ns0:cNvPr id="10" name="">
            <a:extLst>
              <a:ext uri="{FF2B5EF4-FFF2-40B4-BE49-F238E27FC236}">
                <ns2:creationId id="{EC93F50E-CAB0-4ED5-9C7E-156EC8C37832}"/>
              </a:ext>
            </a:extLst>
          </ns0:cNvPr>
          <ns0:cNvSpPr>
            <a:spLocks noGrp="1"/>
          </ns0:cNvSpPr>
          <ns0:nvPr/>
        </ns0:nvSpPr>
        <ns0:spPr>
          <a:xfrm>
            <a:off x="638175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93BCFF1-A7CD-4E6F-8D9B-703F6CC50D71}"/>
              </a:ext>
            </a:extLst>
          </ns0:cNvPr>
          <ns0:cNvSpPr>
            <a:spLocks noGrp="1"/>
          </ns0:cNvSpPr>
          <ns0:nvPr/>
        </ns0:nvSpPr>
        <ns0:spPr>
          <a:xfrm>
            <a:off x="638175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B5D0D2EF-6ACD-45D7-8BD8-ADA0B168D4AB}"/>
              </a:ext>
            </a:extLst>
          </ns0:cNvPr>
          <ns0:cNvGraphicFramePr/>
          <ns0:nvPr/>
        </ns0:nvGraphicFramePr>
        <ns0:xfrm>
          <a:off x="6381750" y="1762125"/>
          <a:ext cx="5238750" cy="3381375"/>
        </ns0:xfrm>
        <a:graphic>
          <a:graphicData uri="http://schemas.openxmlformats.org/drawingml/2006/chart">
            <c:chart ns4:id="R40494fea2c244141"/>
          </a:graphicData>
        </a:graphic>
      </ns0:graphicFrame>
      <ns0:sp>
        <ns0:nvSpPr>
          <ns0:cNvPr id="13" name="">
            <a:extLst>
              <a:ext uri="{FF2B5EF4-FFF2-40B4-BE49-F238E27FC236}">
                <ns2:creationId id="{E28B5D04-CC3C-4AB8-A1F9-DF42413D7741}"/>
              </a:ext>
            </a:extLst>
          </ns0:cNvPr>
          <ns0:cNvSpPr>
            <a:spLocks noGrp="1"/>
          </ns0:cNvSpPr>
          <ns0:nvPr/>
        </ns0:nvSpPr>
        <ns0:spPr>
          <a:xfrm>
            <a:off x="857250" y="5288756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56D9D213-8DB1-4A10-8844-00B20BFCA710}"/>
              </a:ext>
            </a:extLst>
          </ns0:cNvPr>
          <ns0:cNvSpPr>
            <a:spLocks noGrp="1"/>
          </ns0:cNvSpPr>
          <ns0:nvPr/>
        </ns0:nvSpPr>
        <ns0:spPr>
          <a:xfrm>
            <a:off x="981075" y="5219700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79E5529D-442A-4BEE-BEFB-E56631BF9098}"/>
              </a:ext>
            </a:extLst>
          </ns0:cNvPr>
          <ns0:cNvSpPr>
            <a:spLocks noGrp="1"/>
          </ns0:cNvSpPr>
          <ns0:nvPr/>
        </ns0:nvSpPr>
        <ns0:spPr>
          <a:xfrm>
            <a:off x="3476625" y="5288756"/>
            <a:ext cx="76200" cy="76200"/>
          </a:xfrm>
          <a:prstGeom prst="rect">
            <a:avLst/>
          </a:prstGeom>
          <a:solidFill>
            <a:srgbClr val="0A3B00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BC600600-2B87-4348-A398-F04E745C8907}"/>
              </a:ext>
            </a:extLst>
          </ns0:cNvPr>
          <ns0:cNvSpPr>
            <a:spLocks noGrp="1"/>
          </ns0:cNvSpPr>
          <ns0:nvPr/>
        </ns0:nvSpPr>
        <ns0:spPr>
          <a:xfrm>
            <a:off x="3600450" y="5219700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3ACB2F79-6ABC-4478-81D9-CB7E71885FE7}"/>
              </a:ext>
            </a:extLst>
          </ns0:cNvPr>
          <ns0:cNvSpPr>
            <a:spLocks noGrp="1"/>
          </ns0:cNvSpPr>
          <ns0:nvPr/>
        </ns0:nvSpPr>
        <ns0:spPr>
          <a:xfrm>
            <a:off x="6096000" y="5288756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43802F47-DF2D-4D8B-BAB1-C9E9936DFD9D}"/>
              </a:ext>
            </a:extLst>
          </ns0:cNvPr>
          <ns0:cNvSpPr>
            <a:spLocks noGrp="1"/>
          </ns0:cNvSpPr>
          <ns0:nvPr/>
        </ns0:nvSpPr>
        <ns0:spPr>
          <a:xfrm>
            <a:off x="6219825" y="5219700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40AD2383-01FB-40BC-9649-229DEFBB2E72}"/>
              </a:ext>
            </a:extLst>
          </ns0:cNvPr>
          <ns0:cNvSpPr>
            <a:spLocks noGrp="1"/>
          </ns0:cNvSpPr>
          <ns0:nvPr/>
        </ns0:nvSpPr>
        <ns0:spPr>
          <a:xfrm>
            <a:off x="8715375" y="5288756"/>
            <a:ext cx="76200" cy="76200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7E0A4F0D-7593-46B1-8462-2E38E0ED3256}"/>
              </a:ext>
            </a:extLst>
          </ns0:cNvPr>
          <ns0:cNvSpPr>
            <a:spLocks noGrp="1"/>
          </ns0:cNvSpPr>
          <ns0:nvPr/>
        </ns0:nvSpPr>
        <ns0:spPr>
          <a:xfrm>
            <a:off x="8839200" y="5219700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e/ou Ações Judiciais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3FCE68CF-5222-49B7-99A2-6C05F6D88156}"/>
              </a:ext>
            </a:extLst>
          </ns0:cNvPr>
          <ns0:cNvSpPr>
            <a:spLocks noGrp="1"/>
          </ns0:cNvSpPr>
          <ns0:nvPr/>
        </ns0:nvSpPr>
        <ns0:spPr>
          <a:xfrm>
            <a:off x="857250" y="5503069"/>
            <a:ext cx="76200" cy="76200"/>
          </a:xfrm>
          <a:prstGeom prst="rect">
            <a:avLst/>
          </a:prstGeom>
          <a:solidFill>
            <a:srgbClr val="7030A0"/>
          </a:solidFill>
          <a:ln w="0">
            <a:noFill/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81D21297-F661-4EE9-8BD6-D9CCC60E7559}"/>
              </a:ext>
            </a:extLst>
          </ns0:cNvPr>
          <ns0:cNvSpPr>
            <a:spLocks noGrp="1"/>
          </ns0:cNvSpPr>
          <ns0:nvPr/>
        </ns0:nvSpPr>
        <ns0:spPr>
          <a:xfrm>
            <a:off x="981075" y="5434013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Multicedente/Multisacado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1F30F462-12EE-4EE5-BD86-AF4BFD29ED7F}"/>
              </a:ext>
            </a:extLst>
          </ns0:cNvPr>
          <ns0:cNvSpPr>
            <a:spLocks noGrp="1"/>
          </ns0:cNvSpPr>
          <ns0:nvPr/>
        </ns0:nvSpPr>
        <ns0:spPr>
          <a:xfrm>
            <a:off x="3476625" y="5503069"/>
            <a:ext cx="76200" cy="76200"/>
          </a:xfrm>
          <a:prstGeom prst="rect">
            <a:avLst/>
          </a:prstGeom>
          <a:solidFill>
            <a:srgbClr val="E7E9EB"/>
          </a:solidFill>
          <a:ln w="0">
            <a:noFill/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1723094A-64FA-450D-8B2B-38E6E9BE6273}"/>
              </a:ext>
            </a:extLst>
          </ns0:cNvPr>
          <ns0:cNvSpPr>
            <a:spLocks noGrp="1"/>
          </ns0:cNvSpPr>
          <ns0:nvPr/>
        </ns0:nvSpPr>
        <ns0:spPr>
          <a:xfrm>
            <a:off x="3600450" y="5434013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FIDCs NP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1F094109-B9D7-4FCB-87F3-0CDA740FF01C}"/>
              </a:ext>
            </a:extLst>
          </ns0:cNvPr>
          <ns0:cNvSpPr>
            <a:spLocks noGrp="1"/>
          </ns0:cNvSpPr>
          <ns0:nvPr/>
        </ns0:nvSpPr>
        <ns0:spPr>
          <a:xfrm>
            <a:off x="6096000" y="5503069"/>
            <a:ext cx="76200" cy="76200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CFD9CA3F-22A9-45C3-80E4-8C11822CEF74}"/>
              </a:ext>
            </a:extLst>
          </ns0:cNvPr>
          <ns0:cNvSpPr>
            <a:spLocks noGrp="1"/>
          </ns0:cNvSpPr>
          <ns0:nvPr/>
        </ns0:nvSpPr>
        <ns0:spPr>
          <a:xfrm>
            <a:off x="6219825" y="5434013"/>
            <a:ext cx="2466975" cy="214313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N/D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1899E6C-853F-4509-A035-8EF66F230797}"/>
              </a:ext>
            </a:extLst>
          </ns0:cNvPr>
          <ns0:cNvSpPr>
            <a:spLocks noGrp="1"/>
          </ns0:cNvSpPr>
          <ns0:nvPr/>
        </ns0:nvSpPr>
        <ns0:spPr>
          <a:xfrm>
            <a:off x="1143000" y="5676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ctr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Os sete blocos somam R$ 844,4 bi e fecham 100% do PL ex-FIC de ago/26.</a:t>
            </a:r>
          </a:p>
        </ns0:txBody>
      </ns0:sp>
    </ns0:spTree>
    <ns0:extLst>
      <ns0:ext uri="{BB962C8B-B14F-4D97-AF65-F5344CB8AC3E}">
        <ns5:creationId val="1573984511"/>
      </ns0:ext>
    </ns0:extLst>
  </ns0:cSld>
</ns0:sld>
</file>

<file path=ppt/slides/slide6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8" name="">
            <a:extLst>
              <a:ext uri="{FF2B5EF4-FFF2-40B4-BE49-F238E27FC236}">
                <ns2:creationId id="{AB0AA5AB-B1E9-4952-9052-A8C8D421EC34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na indústria de FIDCs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38B44457-1CD8-41B1-933E-A784E7560AB0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Curadoria documental, estoque em 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3A393EF-B6E4-4C3F-897B-EF57EAAE175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30A7EA1F-8B68-4CC8-B737-4C38F24BCF5F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FC4E8AE1-AA64-4582-915E-A3141BCDB5DB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 (ago/26) e FundosNet. Curadoria de 21/jul/26; categoria oficial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80844FA-62EB-49DD-A61C-31F3F18321E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D682D8FE-5154-41DC-A35D-9D09C006719A}"/>
              </a:ext>
            </a:extLst>
          </ns0:cNvPr>
          <ns0:cNvSpPr>
            <a:spLocks noGrp="1"/>
          </ns0:cNvSpPr>
          <ns0:nvPr/>
        </ns0:nvSpPr>
        <ns0:spPr>
          <a:xfrm>
            <a:off x="57150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ago/26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BBCFF97-75E5-4ACB-8DB3-FFCBA7792005}"/>
              </a:ext>
            </a:extLst>
          </ns0:cNvPr>
          <ns0:cNvSpPr>
            <a:spLocks noGrp="1"/>
          </ns0:cNvSpPr>
          <ns0:nvPr/>
        </ns0:nvSpPr>
        <ns0:spPr>
          <a:xfrm>
            <a:off x="57150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575FEFCB-B5AC-43A0-A6DA-20DEFA3636A3}"/>
              </a:ext>
            </a:extLst>
          </ns0:cNvPr>
          <ns0:cNvGraphicFramePr/>
          <ns0:nvPr/>
        </ns0:nvGraphicFramePr>
        <ns0:xfrm>
          <a:off x="571500" y="1762125"/>
          <a:ext cx="5238750" cy="3810000"/>
        </ns0:xfrm>
        <a:graphic>
          <a:graphicData uri="http://schemas.openxmlformats.org/drawingml/2006/chart">
            <c:chart ns4:id="R53343c745c91416f"/>
          </a:graphicData>
        </a:graphic>
      </ns0:graphicFrame>
      <ns0:sp>
        <ns0:nvSpPr>
          <ns0:cNvPr id="10" name="">
            <a:extLst>
              <a:ext uri="{FF2B5EF4-FFF2-40B4-BE49-F238E27FC236}">
                <ns2:creationId id="{3209B62B-17C4-46B4-A239-F30514850F61}"/>
              </a:ext>
            </a:extLst>
          </ns0:cNvPr>
          <ns0:cNvSpPr>
            <a:spLocks noGrp="1"/>
          </ns0:cNvSpPr>
          <ns0:nvPr/>
        </ns0:nvSpPr>
        <ns0:spPr>
          <a:xfrm>
            <a:off x="638175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ago/26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FFDECA0-93D1-4290-A9F5-4238FA45315B}"/>
              </a:ext>
            </a:extLst>
          </ns0:cNvPr>
          <ns0:cNvSpPr>
            <a:spLocks noGrp="1"/>
          </ns0:cNvSpPr>
          <ns0:nvPr/>
        </ns0:nvSpPr>
        <ns0:spPr>
          <a:xfrm>
            <a:off x="638175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E2CE5126-8656-4E1C-B695-922311C92481}"/>
              </a:ext>
            </a:extLst>
          </ns0:cNvPr>
          <ns0:cNvGraphicFramePr/>
          <ns0:nvPr/>
        </ns0:nvGraphicFramePr>
        <ns0:xfrm>
          <a:off x="6381750" y="1762125"/>
          <a:ext cx="5238750" cy="3810000"/>
        </ns0:xfrm>
        <a:graphic>
          <a:graphicData uri="http://schemas.openxmlformats.org/drawingml/2006/chart">
            <c:chart ns4:id="R240942d0f0d24ee6"/>
          </a:graphicData>
        </a:graphic>
      </ns0:graphicFrame>
      <ns0:sp>
        <ns0:nvSpPr>
          <ns0:cNvPr id="13" name="">
            <a:extLst>
              <a:ext uri="{FF2B5EF4-FFF2-40B4-BE49-F238E27FC236}">
                <ns2:creationId id="{5846B82C-FF72-4564-82B9-5B592188D62C}"/>
              </a:ext>
            </a:extLst>
          </ns0:cNvPr>
          <ns0:cNvSpPr>
            <a:spLocks noGrp="1"/>
          </ns0:cNvSpPr>
          <ns0:nvPr/>
        </ns0:nvSpPr>
        <ns0:spPr>
          <a:xfrm>
            <a:off x="8858250" y="1266825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4ACC07F0-6242-427B-B74E-9B474DF1F5E6}"/>
              </a:ext>
            </a:extLst>
          </ns0:cNvPr>
          <ns0:cNvSpPr>
            <a:spLocks noGrp="1"/>
          </ns0:cNvSpPr>
          <ns0:nvPr/>
        </ns0:nvSpPr>
        <ns0:spPr>
          <a:xfrm>
            <a:off x="8982075" y="1200150"/>
            <a:ext cx="12287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Dez/23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F373C33E-7D36-486E-AC73-13103F54CCE5}"/>
              </a:ext>
            </a:extLst>
          </ns0:cNvPr>
          <ns0:cNvSpPr>
            <a:spLocks noGrp="1"/>
          </ns0:cNvSpPr>
          <ns0:nvPr/>
        </ns0:nvSpPr>
        <ns0:spPr>
          <a:xfrm>
            <a:off x="10239375" y="126682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B63395B0-592F-4548-B985-EE0E60169438}"/>
              </a:ext>
            </a:extLst>
          </ns0:cNvPr>
          <ns0:cNvSpPr>
            <a:spLocks noGrp="1"/>
          </ns0:cNvSpPr>
          <ns0:nvPr/>
        </ns0:nvSpPr>
        <ns0:spPr>
          <a:xfrm>
            <a:off x="10363200" y="1200150"/>
            <a:ext cx="12287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Ago/26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5D5DB103-0C18-437D-9423-B6FE1E0624DF}"/>
              </a:ext>
            </a:extLst>
          </ns0:cNvPr>
          <ns0:cNvSpPr>
            <a:spLocks noGrp="1"/>
          </ns0:cNvSpPr>
          <ns0:nvPr/>
        </ns0:nvSpPr>
        <ns0:spPr>
          <a:xfrm>
            <a:off x="571500" y="5953125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22 incluídos, 17 fora e 5 pendentes. Em ago/26, 31 dos 33 CNPJs selecionados têm reporte ativo; 2 não reportam.</a:t>
            </a:r>
          </a:p>
        </ns0:txBody>
      </ns0:sp>
    </ns0:spTree>
    <ns0:extLst>
      <ns0:ext uri="{BB962C8B-B14F-4D97-AF65-F5344CB8AC3E}">
        <ns5:creationId val="416965566"/>
      </ns0:ext>
    </ns0:extLst>
  </ns0:cSld>
</ns0:sld>
</file>

<file path=ppt/slides/slide7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9" name="">
            <a:extLst>
              <a:ext uri="{FF2B5EF4-FFF2-40B4-BE49-F238E27FC236}">
                <ns2:creationId id="{6CE2D4F0-F24D-494D-9319-22C5A17FDA9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Evolução dos recebíveis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DD598683-825D-4371-AA6D-F3BFB06D21CF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Dez/23 a ago/26, abertura da Tabela II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7383ABBD-A7F9-42D2-A715-57F182A16488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E6EF692B-F7EA-42E4-8FC9-C977EE87F0EC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4724DB25-431B-4956-B07E-10EB0745827B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Tabela II, dez/23 e ago/26. Percentuais sobre o total dos segmentos reportados.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92E2780-8911-4F7C-9F45-E06BEA3A13D8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EC0B0EFF-0301-4654-B1BD-081EDDE3EBEE}"/>
              </a:ext>
            </a:extLst>
          </ns0:cNvPr>
          <ns0:cNvSpPr>
            <a:spLocks noGrp="1"/>
          </ns0:cNvSpPr>
          <ns0:nvPr/>
        </ns0:nvSpPr>
        <ns0:spPr>
          <a:xfrm>
            <a:off x="57150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809DEB11-19A7-424C-9068-F1F8BB32A318}"/>
              </a:ext>
            </a:extLst>
          </ns0:cNvPr>
          <ns0:cNvSpPr>
            <a:spLocks noGrp="1"/>
          </ns0:cNvSpPr>
          <ns0:nvPr/>
        </ns0:nvSpPr>
        <ns0:spPr>
          <a:xfrm>
            <a:off x="57150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5CB8A07F-2079-413F-94EF-FB7964ED9628}"/>
              </a:ext>
            </a:extLst>
          </ns0:cNvPr>
          <ns0:cNvGraphicFramePr/>
          <ns0:nvPr/>
        </ns0:nvGraphicFramePr>
        <ns0:xfrm>
          <a:off x="571500" y="1743075"/>
          <a:ext cx="5238750" cy="4238625"/>
        </ns0:xfrm>
        <a:graphic>
          <a:graphicData uri="http://schemas.openxmlformats.org/drawingml/2006/chart">
            <c:chart ns4:id="Rc7409d8a400f44e6"/>
          </a:graphicData>
        </a:graphic>
      </ns0:graphicFrame>
      <ns0:sp>
        <ns0:nvSpPr>
          <ns0:cNvPr id="10" name="">
            <a:extLst>
              <a:ext uri="{FF2B5EF4-FFF2-40B4-BE49-F238E27FC236}">
                <ns2:creationId id="{ED4CFAB9-766A-4530-A982-B599D6D2876E}"/>
              </a:ext>
            </a:extLst>
          </ns0:cNvPr>
          <ns0:cNvSpPr>
            <a:spLocks noGrp="1"/>
          </ns0:cNvSpPr>
          <ns0:nvPr/>
        </ns0:nvSpPr>
        <ns0:spPr>
          <a:xfrm>
            <a:off x="638175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C31D224-12F9-4D49-8470-CDDEB5835964}"/>
              </a:ext>
            </a:extLst>
          </ns0:cNvPr>
          <ns0:cNvSpPr>
            <a:spLocks noGrp="1"/>
          </ns0:cNvSpPr>
          <ns0:nvPr/>
        </ns0:nvSpPr>
        <ns0:spPr>
          <a:xfrm>
            <a:off x="638175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86D0437E-3BC8-464B-85F1-98B1DB8DCCCD}"/>
              </a:ext>
            </a:extLst>
          </ns0:cNvPr>
          <ns0:cNvGraphicFramePr/>
          <ns0:nvPr/>
        </ns0:nvGraphicFramePr>
        <ns0:xfrm>
          <a:off x="6381750" y="1743075"/>
          <a:ext cx="5238750" cy="4238625"/>
        </ns0:xfrm>
        <a:graphic>
          <a:graphicData uri="http://schemas.openxmlformats.org/drawingml/2006/chart">
            <c:chart ns4:id="R8daf4a8955c04a93"/>
          </a:graphicData>
        </a:graphic>
      </ns0:graphicFrame>
      <ns0:sp>
        <ns0:nvSpPr>
          <ns0:cNvPr id="13" name="">
            <a:extLst>
              <a:ext uri="{FF2B5EF4-FFF2-40B4-BE49-F238E27FC236}">
                <ns2:creationId id="{DB3AD0D4-4421-402C-9C7A-FE0542FC3D65}"/>
              </a:ext>
            </a:extLst>
          </ns0:cNvPr>
          <ns0:cNvSpPr>
            <a:spLocks noGrp="1"/>
          </ns0:cNvSpPr>
          <ns0:nvPr/>
        </ns0:nvSpPr>
        <ns0:spPr>
          <a:xfrm>
            <a:off x="7239000" y="5715000"/>
            <a:ext cx="438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78A86EB7-4052-4061-B663-0F34122616CA}"/>
              </a:ext>
            </a:extLst>
          </ns0:cNvPr>
          <ns0:cNvSpPr>
            <a:spLocks noGrp="1"/>
          </ns0:cNvSpPr>
          <ns0:nvPr/>
        </ns0:nvSpPr>
        <ns0:spPr>
          <a:xfrm>
            <a:off x="571500" y="6048375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R$ 65,1 bi em ago/26. Em ago/26, 0 fundos sem abertura (R$ 0,0 bi de PL); Top 20 explicam 40,0% do gap positivo.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EBDC0E6-573B-45AD-BF15-9412C9FA28C3}"/>
              </a:ext>
            </a:extLst>
          </ns0:cNvPr>
          <ns0:cNvSpPr>
            <a:spLocks noGrp="1"/>
          </ns0:cNvSpPr>
          <ns0:nvPr/>
        </ns0:nvSpPr>
        <ns0:spPr>
          <a:xfrm>
            <a:off x="9239250" y="1285875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F99D5312-ECAF-4073-BCF7-489EC46523E8}"/>
              </a:ext>
            </a:extLst>
          </ns0:cNvPr>
          <ns0:cNvSpPr>
            <a:spLocks noGrp="1"/>
          </ns0:cNvSpPr>
          <ns0:nvPr/>
        </ns0:nvSpPr>
        <ns0:spPr>
          <a:xfrm>
            <a:off x="9363075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Dez/23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00D61D0F-93AD-4A70-B6CD-3A48769877B9}"/>
              </a:ext>
            </a:extLst>
          </ns0:cNvPr>
          <ns0:cNvSpPr>
            <a:spLocks noGrp="1"/>
          </ns0:cNvSpPr>
          <ns0:nvPr/>
        </ns0:nvSpPr>
        <ns0:spPr>
          <a:xfrm>
            <a:off x="10429875" y="12858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07C199BA-6977-4B79-BB12-1FB71B22AE4D}"/>
              </a:ext>
            </a:extLst>
          </ns0:cNvPr>
          <ns0:cNvSpPr>
            <a:spLocks noGrp="1"/>
          </ns0:cNvSpPr>
          <ns0:nvPr/>
        </ns0:nvSpPr>
        <ns0:spPr>
          <a:xfrm>
            <a:off x="10553700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Ago/26</a:t>
            </a:r>
          </a:p>
        </ns0:txBody>
      </ns0:sp>
    </ns0:spTree>
    <ns0:extLst>
      <ns0:ext uri="{BB962C8B-B14F-4D97-AF65-F5344CB8AC3E}">
        <ns5:creationId val="65104781"/>
      </ns0:ext>
    </ns0:extLst>
  </ns0:cSld>
</ns0:sld>
</file>

<file path=ppt/slides/slide8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1" name="">
            <a:extLst>
              <a:ext uri="{FF2B5EF4-FFF2-40B4-BE49-F238E27FC236}">
                <ns2:creationId id="{97194FD0-E227-4CCD-907E-7E6ECA2AE4A7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e ticket das ofertas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9AC4C68D-88D3-4A48-AF45-3F9D5BBB093C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Ofertas primárias encerradas, jan–ago/26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8C65867E-4237-4C18-9A5A-20CB4E4C1B9C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749FD81C-C151-47DA-A793-66A339235B71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08348A7F-6D6B-4DD9-83A3-04C1B9E41884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snapshot 10/out/26. Primárias encerradas, jan–ago/26;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4CCB026-AB4F-4A6D-99FA-289EFEF1E8BE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3F6EDFD-93A7-40D4-B588-DD257500F082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E602004-BE70-4524-B10F-17104EA45DDB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AB274CBC-F65B-4ED8-9B2E-9FF00B8F06EF}"/>
              </a:ext>
            </a:extLst>
          </ns0:cNvPr>
          <ns0:cNvGraphicFramePr/>
          <ns0:nvPr/>
        </ns0:nvGraphicFramePr>
        <ns0:xfrm>
          <a:off x="571500" y="1714500"/>
          <a:ext cx="5238750" cy="2333625"/>
        </ns0:xfrm>
        <a:graphic>
          <a:graphicData uri="http://schemas.openxmlformats.org/drawingml/2006/chart">
            <c:chart ns4:id="R6148424bd3ae48fe"/>
          </a:graphicData>
        </a:graphic>
      </ns0:graphicFrame>
      <ns0:sp>
        <ns0:nvSpPr>
          <ns0:cNvPr id="10" name="">
            <a:extLst>
              <a:ext uri="{FF2B5EF4-FFF2-40B4-BE49-F238E27FC236}">
                <ns2:creationId id="{1F41B73C-A863-450C-B6C4-96083496732F}"/>
              </a:ext>
            </a:extLst>
          </ns0:cNvPr>
          <ns0:cNvSpPr>
            <a:spLocks noGrp="1"/>
          </ns0:cNvSpPr>
          <ns0:nvPr/>
        </ns0:nvSpPr>
        <ns0:spPr>
          <a:xfrm>
            <a:off x="638175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635D1CA-4A15-465B-9651-9B8BB3DA88F8}"/>
              </a:ext>
            </a:extLst>
          </ns0:cNvPr>
          <ns0:cNvSpPr>
            <a:spLocks noGrp="1"/>
          </ns0:cNvSpPr>
          <ns0:nvPr/>
        </ns0:nvSpPr>
        <ns0:spPr>
          <a:xfrm>
            <a:off x="638175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C4F0C20F-FFE0-4F15-8A1E-47513CB5892F}"/>
              </a:ext>
            </a:extLst>
          </ns0:cNvPr>
          <ns0:cNvGraphicFramePr/>
          <ns0:nvPr/>
        </ns0:nvGraphicFramePr>
        <ns0:xfrm>
          <a:off x="6381750" y="1714500"/>
          <a:ext cx="5238750" cy="2333625"/>
        </ns0:xfrm>
        <a:graphic>
          <a:graphicData uri="http://schemas.openxmlformats.org/drawingml/2006/chart">
            <c:chart ns4:id="R7a73e7b9a4ca4492"/>
          </a:graphicData>
        </a:graphic>
      </ns0:graphicFrame>
      <ns0:sp>
        <ns0:nvSpPr>
          <ns0:cNvPr id="13" name="">
            <a:extLst>
              <a:ext uri="{FF2B5EF4-FFF2-40B4-BE49-F238E27FC236}">
                <ns2:creationId id="{F05ED0E3-E878-4283-A001-031B2E9D6947}"/>
              </a:ext>
            </a:extLst>
          </ns0:cNvPr>
          <ns0:cNvSpPr>
            <a:spLocks noGrp="1"/>
          </ns0:cNvSpPr>
          <ns0:nvPr/>
        </ns0:nvSpPr>
        <ns0:spPr>
          <a:xfrm>
            <a:off x="7715250" y="4067175"/>
            <a:ext cx="76200" cy="76200"/>
          </a:xfrm>
          <a:prstGeom prst="rect">
            <a:avLst/>
          </a:prstGeom>
          <a:solidFill>
            <a:srgbClr val="8D9399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8D35E9BC-5003-4144-8F95-8183DD09E0D0}"/>
              </a:ext>
            </a:extLst>
          </ns0:cNvPr>
          <ns0:cNvSpPr>
            <a:spLocks noGrp="1"/>
          </ns0:cNvSpPr>
          <ns0:nvPr/>
        </ns0:nvSpPr>
        <ns0:spPr>
          <a:xfrm>
            <a:off x="7839075" y="4000500"/>
            <a:ext cx="1149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131A626-7069-479B-A515-C6CEA68AC5CF}"/>
              </a:ext>
            </a:extLst>
          </ns0:cNvPr>
          <ns0:cNvSpPr>
            <a:spLocks noGrp="1"/>
          </ns0:cNvSpPr>
          <ns0:nvPr/>
        </ns0:nvSpPr>
        <ns0:spPr>
          <a:xfrm>
            <a:off x="9017000" y="4067175"/>
            <a:ext cx="76200" cy="76200"/>
          </a:xfrm>
          <a:prstGeom prst="rect">
            <a:avLst/>
          </a:prstGeom>
          <a:solidFill>
            <a:srgbClr val="30353A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0294EAD9-12C8-4746-B2A1-C9263C9C46DE}"/>
              </a:ext>
            </a:extLst>
          </ns0:cNvPr>
          <ns0:cNvSpPr>
            <a:spLocks noGrp="1"/>
          </ns0:cNvSpPr>
          <ns0:nvPr/>
        </ns0:nvSpPr>
        <ns0:spPr>
          <a:xfrm>
            <a:off x="9140825" y="4000500"/>
            <a:ext cx="1149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EA407789-C7BF-4292-A363-8FDD21478A6E}"/>
              </a:ext>
            </a:extLst>
          </ns0:cNvPr>
          <ns0:cNvSpPr>
            <a:spLocks noGrp="1"/>
          </ns0:cNvSpPr>
          <ns0:nvPr/>
        </ns0:nvSpPr>
        <ns0:spPr>
          <a:xfrm>
            <a:off x="10318750" y="40671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50374AD0-0766-4B59-A0AF-2BA4CB94BCC5}"/>
              </a:ext>
            </a:extLst>
          </ns0:cNvPr>
          <ns0:cNvSpPr>
            <a:spLocks noGrp="1"/>
          </ns0:cNvSpPr>
          <ns0:nvPr/>
        </ns0:nvSpPr>
        <ns0:spPr>
          <a:xfrm>
            <a:off x="10442575" y="4000500"/>
            <a:ext cx="1149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</a:t>
            </a:r>
          </a:p>
        </ns0:txBody>
      </ns0:sp>
      <ns0:graphicFrame>
        <ns0:nvGraphicFramePr>
          <ns0:cNvPr id="19" name="">
            <a:extLst>
              <a:ext uri="{FF2B5EF4-FFF2-40B4-BE49-F238E27FC236}">
                <ns2:creationId id="{EAC96018-890B-49B3-AFC8-0F043CDDADD9}"/>
              </a:ext>
            </a:extLst>
          </ns0:cNvPr>
          <ns0:cNvGraphicFramePr/>
          <ns0:nvPr/>
        </ns0:nvGraphicFramePr>
        <ns0:xfrm>
          <a:off x="571500" y="4286250"/>
          <a:ext cx="11049000" cy="16192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R$ 79,2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1.034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R$ 91,9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R$ 88,9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94,2%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ns0:graphicFrame>
      <ns0:sp>
        <ns0:nvSpPr>
          <ns0:cNvPr id="20" name="">
            <a:extLst>
              <a:ext uri="{FF2B5EF4-FFF2-40B4-BE49-F238E27FC236}">
                <ns2:creationId id="{D6DA4DE6-8814-4FC6-A5A0-2EB7869BE901}"/>
              </a:ext>
            </a:extLst>
          </ns0:cNvPr>
          <ns0:cNvSpPr>
            <a:spLocks noGrp="1"/>
          </ns0:cNvSpPr>
          <ns0:nvPr/>
        </ns0:nvSpPr>
        <ns0:spPr>
          <a:xfrm>
            <a:off x="571500" y="59626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3,8% do proxy colocado; cobertura 96,0%. Público profissional usa o volume registrado total como denominador, incluindo N/D; 2022 = N/D por ausência de reporte.</a:t>
            </a:r>
          </a:p>
        </ns0:txBody>
      </ns0:sp>
    </ns0:spTree>
    <ns0:extLst>
      <ns0:ext uri="{BB962C8B-B14F-4D97-AF65-F5344CB8AC3E}">
        <ns5:creationId val="1125199023"/>
      </ns0:ext>
    </ns0:extLst>
  </ns0:cSld>
</ns0:sld>
</file>

<file path=ppt/slides/slide9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1" name="">
            <a:extLst>
              <a:ext uri="{FF2B5EF4-FFF2-40B4-BE49-F238E27FC236}">
                <ns2:creationId id="{5EF9692D-6F4E-4A38-A203-1B882021C6B6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Concentração das ofertas por ticket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75CD0703-4911-4A0A-B708-3FB1418D73FF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 do volume, jan–ago/26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67F15791-4F1A-4FBA-B089-64CCDF87F3C3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E9BA5BA5-F0D6-4648-8196-66FE5D7E5176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741507AD-BE41-4EC8-B879-62DD29D536F8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snapshot 10/out/26. Primárias encerradas, jan–ago/26;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6DF81132-D55B-4DC3-B0D6-119D9F4680D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9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24B9589-556E-4CFC-A73C-016CB894C970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4BFA260E-4D56-4E32-BB0C-51A123234381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342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7099FA28-EE7B-4D50-AE4F-FD2D2D543B9E}"/>
              </a:ext>
            </a:extLst>
          </ns0:cNvPr>
          <ns0:cNvGraphicFramePr/>
          <ns0:nvPr/>
        </ns0:nvGraphicFramePr>
        <ns0:xfrm>
          <a:off x="571500" y="1743075"/>
          <a:ext cx="3429000" cy="3714750"/>
        </ns0:xfrm>
        <a:graphic>
          <a:graphicData uri="http://schemas.openxmlformats.org/drawingml/2006/chart">
            <c:chart ns4:id="Rb5ee1e44aee341b0"/>
          </a:graphicData>
        </a:graphic>
      </ns0:graphicFrame>
      <ns0:sp>
        <ns0:nvSpPr>
          <ns0:cNvPr id="10" name="">
            <a:extLst>
              <a:ext uri="{FF2B5EF4-FFF2-40B4-BE49-F238E27FC236}">
                <ns2:creationId id="{F972FD5E-DF7A-452F-8176-060DCD71E486}"/>
              </a:ext>
            </a:extLst>
          </ns0:cNvPr>
          <ns0:cNvSpPr>
            <a:spLocks noGrp="1"/>
          </ns0:cNvSpPr>
          <ns0:nvPr/>
        </ns0:nvSpPr>
        <ns0:spPr>
          <a:xfrm>
            <a:off x="4286250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1E27E855-A31E-4270-BAE5-42F7347A674E}"/>
              </a:ext>
            </a:extLst>
          </ns0:cNvPr>
          <ns0:cNvSpPr>
            <a:spLocks noGrp="1"/>
          </ns0:cNvSpPr>
          <ns0:nvPr/>
        </ns0:nvSpPr>
        <ns0:spPr>
          <a:xfrm>
            <a:off x="4286250" y="1647825"/>
            <a:ext cx="342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787D3E0D-5072-4FE4-BF65-F5D4C61D9CB2}"/>
              </a:ext>
            </a:extLst>
          </ns0:cNvPr>
          <ns0:cNvGraphicFramePr/>
          <ns0:nvPr/>
        </ns0:nvGraphicFramePr>
        <ns0:xfrm>
          <a:off x="4286250" y="1743075"/>
          <a:ext cx="3429000" cy="3714750"/>
        </ns0:xfrm>
        <a:graphic>
          <a:graphicData uri="http://schemas.openxmlformats.org/drawingml/2006/chart">
            <c:chart ns4:id="Ra3651446f72949f0"/>
          </a:graphicData>
        </a:graphic>
      </ns0:graphicFrame>
      <ns0:sp>
        <ns0:nvSpPr>
          <ns0:cNvPr id="13" name="">
            <a:extLst>
              <a:ext uri="{FF2B5EF4-FFF2-40B4-BE49-F238E27FC236}">
                <ns2:creationId id="{BD2E23A8-91AF-4C88-BD19-DA9E3ADD5C6F}"/>
              </a:ext>
            </a:extLst>
          </ns0:cNvPr>
          <ns0:cNvSpPr>
            <a:spLocks noGrp="1"/>
          </ns0:cNvSpPr>
          <ns0:nvPr/>
        </ns0:nvSpPr>
        <ns0:spPr>
          <a:xfrm>
            <a:off x="8001000" y="1381125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F68E048-4EB8-402E-ADB9-FBA62DBF4574}"/>
              </a:ext>
            </a:extLst>
          </ns0:cNvPr>
          <ns0:cNvSpPr>
            <a:spLocks noGrp="1"/>
          </ns0:cNvSpPr>
          <ns0:nvPr/>
        </ns0:nvSpPr>
        <ns0:spPr>
          <a:xfrm>
            <a:off x="8001000" y="1647825"/>
            <a:ext cx="3619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5" name="Chart">
            <a:extLst>
              <a:ext uri="{FF2B5EF4-FFF2-40B4-BE49-F238E27FC236}">
                <ns2:creationId id="{906A2E0F-C19C-4AF0-B84C-F288281DAFA7}"/>
              </a:ext>
            </a:extLst>
          </ns0:cNvPr>
          <ns0:cNvGraphicFramePr/>
          <ns0:nvPr/>
        </ns0:nvGraphicFramePr>
        <ns0:xfrm>
          <a:off x="8001000" y="1743075"/>
          <a:ext cx="3619500" cy="3714750"/>
        </ns0:xfrm>
        <a:graphic>
          <a:graphicData uri="http://schemas.openxmlformats.org/drawingml/2006/chart">
            <c:chart ns4:id="R33750771483b47f3"/>
          </a:graphicData>
        </a:graphic>
      </ns0:graphicFrame>
      <ns0:sp>
        <ns0:nvSpPr>
          <ns0:cNvPr id="16" name="">
            <a:extLst>
              <a:ext uri="{FF2B5EF4-FFF2-40B4-BE49-F238E27FC236}">
                <ns2:creationId id="{32C053C5-867F-4BC1-93D0-0B523A1BAA8C}"/>
              </a:ext>
            </a:extLst>
          </ns0:cNvPr>
          <ns0:cNvSpPr>
            <a:spLocks noGrp="1"/>
          </ns0:cNvSpPr>
          <ns0:nvPr/>
        </ns0:nvSpPr>
        <ns0:spPr>
          <a:xfrm>
            <a:off x="4048125" y="5553075"/>
            <a:ext cx="76200" cy="76200"/>
          </a:xfrm>
          <a:prstGeom prst="rect">
            <a:avLst/>
          </a:prstGeom>
          <a:solidFill>
            <a:srgbClr val="8D9399"/>
          </a:solidFill>
          <a:ln w="0">
            <a:noFill/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0BC5DB2F-FEA4-4BD9-90F7-CC88FB804C50}"/>
              </a:ext>
            </a:extLst>
          </ns0:cNvPr>
          <ns0:cNvSpPr>
            <a:spLocks noGrp="1"/>
          </ns0:cNvSpPr>
          <ns0:nvPr/>
        </ns0:nvSpPr>
        <ns0:spPr>
          <a:xfrm>
            <a:off x="4171950" y="5486400"/>
            <a:ext cx="12128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639274AA-F883-4827-931B-E09F549B4E9F}"/>
              </a:ext>
            </a:extLst>
          </ns0:cNvPr>
          <ns0:cNvSpPr>
            <a:spLocks noGrp="1"/>
          </ns0:cNvSpPr>
          <ns0:nvPr/>
        </ns0:nvSpPr>
        <ns0:spPr>
          <a:xfrm>
            <a:off x="5413375" y="5553075"/>
            <a:ext cx="76200" cy="76200"/>
          </a:xfrm>
          <a:prstGeom prst="rect">
            <a:avLst/>
          </a:prstGeom>
          <a:solidFill>
            <a:srgbClr val="30353A"/>
          </a:solidFill>
          <a:ln w="0">
            <a:noFill/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37255634-6DC8-4D3D-A02B-0631B73ABFE9}"/>
              </a:ext>
            </a:extLst>
          </ns0:cNvPr>
          <ns0:cNvSpPr>
            <a:spLocks noGrp="1"/>
          </ns0:cNvSpPr>
          <ns0:nvPr/>
        </ns0:nvSpPr>
        <ns0:spPr>
          <a:xfrm>
            <a:off x="5537200" y="5486400"/>
            <a:ext cx="12128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4E9E09A0-259E-42C9-918A-81A54B06CCEF}"/>
              </a:ext>
            </a:extLst>
          </ns0:cNvPr>
          <ns0:cNvSpPr>
            <a:spLocks noGrp="1"/>
          </ns0:cNvSpPr>
          <ns0:nvPr/>
        </ns0:nvSpPr>
        <ns0:spPr>
          <a:xfrm>
            <a:off x="6778625" y="55530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5B085228-C75F-4815-BBC6-F1C11D1D0CDC}"/>
              </a:ext>
            </a:extLst>
          </ns0:cNvPr>
          <ns0:cNvSpPr>
            <a:spLocks noGrp="1"/>
          </ns0:cNvSpPr>
          <ns0:nvPr/>
        </ns0:nvSpPr>
        <ns0:spPr>
          <a:xfrm>
            <a:off x="6902450" y="5486400"/>
            <a:ext cx="12128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jan–ago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C7988CB3-C4B5-4B86-B43E-C9A90A4DCED2}"/>
              </a:ext>
            </a:extLst>
          </ns0:cNvPr>
          <ns0:cNvSpPr>
            <a:spLocks noGrp="1"/>
          </ns0:cNvSpPr>
          <ns0:nvPr/>
        </ns0:nvSpPr>
        <ns0:spPr>
          <a:xfrm>
            <a:off x="571500" y="5705475"/>
            <a:ext cx="11049000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>
            <a:defPPr algn="ct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A3F154A2-B3BC-440A-A218-32FCF9AED72E}"/>
              </a:ext>
            </a:extLst>
          </ns0:cNvPr>
          <ns0:cNvSpPr>
            <a:spLocks noGrp="1"/>
          </ns0:cNvSpPr>
          <ns0:nvPr/>
        </ns0:nvSpPr>
        <ns0:spPr>
          <a:xfrm>
            <a:off x="57150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8023484D-1F99-420F-8066-6B781E75004E}"/>
              </a:ext>
            </a:extLst>
          </ns0:cNvPr>
          <ns0:cNvSpPr>
            <a:spLocks noGrp="1"/>
          </ns0:cNvSpPr>
          <ns0:nvPr/>
        </ns0:nvSpPr>
        <ns0:spPr>
          <a:xfrm>
            <a:off x="57150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1037761-0D6F-4F97-BDDD-8E39165AF2C9}"/>
              </a:ext>
            </a:extLst>
          </ns0:cNvPr>
          <ns0:cNvSpPr>
            <a:spLocks noGrp="1"/>
          </ns0:cNvSpPr>
          <ns0:nvPr/>
        </ns0:nvSpPr>
        <ns0:spPr>
          <a:xfrm>
            <a:off x="4143375" y="5867400"/>
            <a:ext cx="95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C2C2F19E-5D26-4DBD-871E-1E9FDC1B2FF5}"/>
              </a:ext>
            </a:extLst>
          </ns0:cNvPr>
          <ns0:cNvSpPr>
            <a:spLocks noGrp="1"/>
          </ns0:cNvSpPr>
          <ns0:nvPr/>
        </ns0:nvSpPr>
        <ns0:spPr>
          <a:xfrm>
            <a:off x="428625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16D90A22-BFD2-486E-8CEA-26EE62399C0E}"/>
              </a:ext>
            </a:extLst>
          </ns0:cNvPr>
          <ns0:cNvSpPr>
            <a:spLocks noGrp="1"/>
          </ns0:cNvSpPr>
          <ns0:nvPr/>
        </ns0:nvSpPr>
        <ns0:spPr>
          <a:xfrm>
            <a:off x="428625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F9F174E3-772B-45ED-8474-155C7828DEFC}"/>
              </a:ext>
            </a:extLst>
          </ns0:cNvPr>
          <ns0:cNvSpPr>
            <a:spLocks noGrp="1"/>
          </ns0:cNvSpPr>
          <ns0:nvPr/>
        </ns0:nvSpPr>
        <ns0:spPr>
          <a:xfrm>
            <a:off x="7858125" y="5867400"/>
            <a:ext cx="95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71B50436-6FC6-42F1-B8C2-E222F761B26D}"/>
              </a:ext>
            </a:extLst>
          </ns0:cNvPr>
          <ns0:cNvSpPr>
            <a:spLocks noGrp="1"/>
          </ns0:cNvSpPr>
          <ns0:nvPr/>
        </ns0:nvSpPr>
        <ns0:spPr>
          <a:xfrm>
            <a:off x="800100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5DAF9D7F-B251-452E-BC8F-3012280D38E7}"/>
              </a:ext>
            </a:extLst>
          </ns0:cNvPr>
          <ns0:cNvSpPr>
            <a:spLocks noGrp="1"/>
          </ns0:cNvSpPr>
          <ns0:nvPr/>
        </ns0:nvSpPr>
        <ns0:spPr>
          <a:xfrm>
            <a:off x="800100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R$ 68,0 bi · 74,0% do volume · 166 ofertas (16,1%)</a:t>
            </a:r>
          </a:p>
        </ns0:txBody>
      </ns0:sp>
    </ns0:spTree>
    <ns0:extLst>
      <ns0:ext uri="{BB962C8B-B14F-4D97-AF65-F5344CB8AC3E}">
        <ns5:creationId val="654978255"/>
      </ns0:ext>
    </ns0:extLst>
  </ns0:cSld>
</ns0:sld>
</file>

<file path=ppt/slides/slide10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7" name="">
            <a:extLst>
              <a:ext uri="{FF2B5EF4-FFF2-40B4-BE49-F238E27FC236}">
                <ns2:creationId id="{9CB4D93B-44CC-48F2-951E-0ED63AB3AF4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Regime de colocação das ofertas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1A7E10B1-FAE5-459B-AB41-B4CD848C1B16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Garantia firme e melhores esforços, jan–ago/26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72A24C9F-D26C-477F-B6BA-85D14D2B886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B54CE960-CFFF-45A7-9690-D2CF97FBD51B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03ED582F-F091-42E5-A31B-5AB1E837B316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snapshot 10/out/26. jan–ago/26; regime declarado. Campo ausente = Não informado.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4A9A058-8F2D-4EC7-8718-221A182AF648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10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34C8560-D837-4C08-839D-F15607D1D6C7}"/>
              </a:ext>
            </a:extLst>
          </ns0:cNvPr>
          <ns0:cNvSpPr>
            <a:spLocks noGrp="1"/>
          </ns0:cNvSpPr>
          <ns0:nvPr/>
        </ns0:nvSpPr>
        <ns0:spPr>
          <a:xfrm>
            <a:off x="571500" y="107632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70,5% do volume em 2026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507889A-8452-436D-955B-DA480FE9C522}"/>
              </a:ext>
            </a:extLst>
          </ns0:cNvPr>
          <ns0:cNvSpPr>
            <a:spLocks noGrp="1"/>
          </ns0:cNvSpPr>
          <ns0:nvPr/>
        </ns0:nvSpPr>
        <ns0:spPr>
          <a:xfrm>
            <a:off x="4333875" y="1724025"/>
            <a:ext cx="76200" cy="76200"/>
          </a:xfrm>
          <a:prstGeom prst="rect">
            <a:avLst/>
          </a:prstGeom>
          <a:solidFill>
            <a:srgbClr val="8D9399"/>
          </a:solidFill>
          <a:ln w="0">
            <a:noFill/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CABF4330-B917-40B4-80A4-A629E50270A9}"/>
              </a:ext>
            </a:extLst>
          </ns0:cNvPr>
          <ns0:cNvSpPr>
            <a:spLocks noGrp="1"/>
          </ns0:cNvSpPr>
          <ns0:nvPr/>
        </ns0:nvSpPr>
        <ns0:spPr>
          <a:xfrm>
            <a:off x="445770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9F396C5-F487-4A6D-B6D6-1D2B521D6B64}"/>
              </a:ext>
            </a:extLst>
          </ns0:cNvPr>
          <ns0:cNvSpPr>
            <a:spLocks noGrp="1"/>
          </ns0:cNvSpPr>
          <ns0:nvPr/>
        </ns0:nvSpPr>
        <ns0:spPr>
          <a:xfrm>
            <a:off x="5508625" y="1724025"/>
            <a:ext cx="76200" cy="76200"/>
          </a:xfrm>
          <a:prstGeom prst="rect">
            <a:avLst/>
          </a:prstGeom>
          <a:solidFill>
            <a:srgbClr val="30353A"/>
          </a:solidFill>
          <a:ln w="0">
            <a:noFill/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C5E0BBF0-8129-4340-A497-1D5144FA0149}"/>
              </a:ext>
            </a:extLst>
          </ns0:cNvPr>
          <ns0:cNvSpPr>
            <a:spLocks noGrp="1"/>
          </ns0:cNvSpPr>
          <ns0:nvPr/>
        </ns0:nvSpPr>
        <ns0:spPr>
          <a:xfrm>
            <a:off x="563245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55A4A28-6355-44F1-A0DA-E8DF75331A76}"/>
              </a:ext>
            </a:extLst>
          </ns0:cNvPr>
          <ns0:cNvSpPr>
            <a:spLocks noGrp="1"/>
          </ns0:cNvSpPr>
          <ns0:nvPr/>
        </ns0:nvSpPr>
        <ns0:spPr>
          <a:xfrm>
            <a:off x="6683375" y="172402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C69E22C5-7E5A-4202-A1B5-D8E2392986F5}"/>
              </a:ext>
            </a:extLst>
          </ns0:cNvPr>
          <ns0:cNvSpPr>
            <a:spLocks noGrp="1"/>
          </ns0:cNvSpPr>
          <ns0:nvPr/>
        </ns0:nvSpPr>
        <ns0:spPr>
          <a:xfrm>
            <a:off x="680720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jan–ago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92D18FE-DD77-43DA-AD08-079707B8F204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FB59AF3-B8F2-43B5-BE6D-23984AF0D4A2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6" name="Chart">
            <a:extLst>
              <a:ext uri="{FF2B5EF4-FFF2-40B4-BE49-F238E27FC236}">
                <ns2:creationId id="{01361F74-CBE3-4479-8E20-D9A2EFD09547}"/>
              </a:ext>
            </a:extLst>
          </ns0:cNvPr>
          <ns0:cNvGraphicFramePr/>
          <ns0:nvPr/>
        </ns0:nvGraphicFramePr>
        <ns0:xfrm>
          <a:off x="571500" y="1952625"/>
          <a:ext cx="11049000" cy="4048125"/>
        </ns0:xfrm>
        <a:graphic>
          <a:graphicData uri="http://schemas.openxmlformats.org/drawingml/2006/chart">
            <c:chart ns4:id="R017c3b75544340d3"/>
          </a:graphicData>
        </a:graphic>
      </ns0:graphicFrame>
    </ns0:spTree>
    <ns0:extLst>
      <ns0:ext uri="{BB962C8B-B14F-4D97-AF65-F5344CB8AC3E}">
        <ns5:creationId val="684624793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6" name="">
            <a:extLst>
              <a:ext uri="{FF2B5EF4-FFF2-40B4-BE49-F238E27FC236}">
                <ns2:creationId id="{2618B0BD-A20E-4428-9F4C-BB6EB657B3E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Principais conclusões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81B4AA6F-B526-4D5A-8AD3-8022D647C889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Estoque em ago/26, ofertas em jan–ago/26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ED6591C0-59F3-4B46-B20A-EADEF9EE75D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9FDBA7CD-C3AF-43DC-A802-1FBFE7B68BA4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CE41D775-03B4-40C8-8AA9-91A0318041E9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e ofertas públicas. PL ex-FIC. Perímetros e documentação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1D48F45A-648F-44DD-9D02-A2E1AA09B3FF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11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B3E19DC-8835-457A-9BCA-FA578E5521C9}"/>
              </a:ext>
            </a:extLst>
          </ns0:cNvPr>
          <ns0:cNvSpPr>
            <a:spLocks noGrp="1"/>
          </ns0:cNvSpPr>
          <ns0:nvPr/>
        </ns0:nvSpPr>
        <ns0:spPr>
          <a:xfrm>
            <a:off x="571500" y="13525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0E765DE-E993-40E4-9CAD-825C2B7F267A}"/>
              </a:ext>
            </a:extLst>
          </ns0:cNvPr>
          <ns0:cNvSpPr>
            <a:spLocks noGrp="1"/>
          </ns0:cNvSpPr>
          <ns0:nvPr/>
        </ns0:nvSpPr>
        <ns0:spPr>
          <a:xfrm>
            <a:off x="1285875" y="1352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Escala da indústria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87DD7A16-9371-42DC-97CA-037C0EBC47DA}"/>
              </a:ext>
            </a:extLst>
          </ns0:cNvPr>
          <ns0:cNvSpPr>
            <a:spLocks noGrp="1"/>
          </ns0:cNvSpPr>
          <ns0:nvPr/>
        </ns0:nvSpPr>
        <ns0:spPr>
          <a:xfrm>
            <a:off x="1285875" y="1685925"/>
            <a:ext cx="10334625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2000"/>
              </a:lnSpc>
              <a:buNone/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O PL ex-FIC está em cerca de R$ 840 bi em ago/26.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A4A90CE-9CE1-4A0B-91C8-FD41F98D8F24}"/>
              </a:ext>
            </a:extLst>
          </ns0:cNvPr>
          <ns0:cNvSpPr>
            <a:spLocks noGrp="1"/>
          </ns0:cNvSpPr>
          <ns0:nvPr/>
        </ns0:nvSpPr>
        <ns0:spPr>
          <a:xfrm>
            <a:off x="1285875" y="2190750"/>
            <a:ext cx="10334625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22043E08-F8EF-4C15-A6DC-01AA918511AD}"/>
              </a:ext>
            </a:extLst>
          </ns0:cNvPr>
          <ns0:cNvSpPr>
            <a:spLocks noGrp="1"/>
          </ns0:cNvSpPr>
          <ns0:nvPr/>
        </ns0:nvSpPr>
        <ns0:spPr>
          <a:xfrm>
            <a:off x="571500" y="2286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02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2143CB4D-33E9-4860-84E6-A516165DC333}"/>
              </a:ext>
            </a:extLst>
          </ns0:cNvPr>
          <ns0:cNvSpPr>
            <a:spLocks noGrp="1"/>
          </ns0:cNvSpPr>
          <ns0:nvPr/>
        </ns0:nvSpPr>
        <ns0:spPr>
          <a:xfrm>
            <a:off x="1285875" y="228600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Composição dos recebíveis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71CAF922-3978-4AFE-B7FA-D1D8DEF0E93E}"/>
              </a:ext>
            </a:extLst>
          </ns0:cNvPr>
          <ns0:cNvSpPr>
            <a:spLocks noGrp="1"/>
          </ns0:cNvSpPr>
          <ns0:nvPr/>
        </ns0:nvSpPr>
        <ns0:spPr>
          <a:xfrm>
            <a:off x="1285875" y="2619375"/>
            <a:ext cx="10334625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2000"/>
              </a:lnSpc>
              <a:buNone/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Financeiro responde por cerca de 45% da composição reportada na Tabela II em ago/26.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E0C2DCB-7960-48A6-B004-FAF5E55FC9D9}"/>
              </a:ext>
            </a:extLst>
          </ns0:cNvPr>
          <ns0:cNvSpPr>
            <a:spLocks noGrp="1"/>
          </ns0:cNvSpPr>
          <ns0:nvPr/>
        </ns0:nvSpPr>
        <ns0:spPr>
          <a:xfrm>
            <a:off x="1285875" y="3124200"/>
            <a:ext cx="10334625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1EFFA033-84C1-4D27-9A1D-C8F6D75E5B78}"/>
              </a:ext>
            </a:extLst>
          </ns0:cNvPr>
          <ns0:cNvSpPr>
            <a:spLocks noGrp="1"/>
          </ns0:cNvSpPr>
          <ns0:nvPr/>
        </ns0:nvSpPr>
        <ns0:spPr>
          <a:xfrm>
            <a:off x="571500" y="32194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03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6CD6088B-5582-4786-846B-48817BE23DD8}"/>
              </a:ext>
            </a:extLst>
          </ns0:cNvPr>
          <ns0:cNvSpPr>
            <a:spLocks noGrp="1"/>
          </ns0:cNvSpPr>
          <ns0:nvPr/>
        </ns0:nvSpPr>
        <ns0:spPr>
          <a:xfrm>
            <a:off x="1285875" y="32194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Base de cotistas concentrada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EC612FA-C23C-4FE5-B8CB-CA3343C6F576}"/>
              </a:ext>
            </a:extLst>
          </ns0:cNvPr>
          <ns0:cNvSpPr>
            <a:spLocks noGrp="1"/>
          </ns0:cNvSpPr>
          <ns0:nvPr/>
        </ns0:nvSpPr>
        <ns0:spPr>
          <a:xfrm>
            <a:off x="1285875" y="3552825"/>
            <a:ext cx="10334625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2000"/>
              </a:lnSpc>
              <a:buNone/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Mais da metade dos fundos de maior porte reporta até dez contas em ago/26.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CDC4D4C2-6A18-4929-8DAF-D6B6EF1D0112}"/>
              </a:ext>
            </a:extLst>
          </ns0:cNvPr>
          <ns0:cNvSpPr>
            <a:spLocks noGrp="1"/>
          </ns0:cNvSpPr>
          <ns0:nvPr/>
        </ns0:nvSpPr>
        <ns0:spPr>
          <a:xfrm>
            <a:off x="1285875" y="4057650"/>
            <a:ext cx="10334625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1C1A1EB4-528E-47F5-B1C1-F7B017317830}"/>
              </a:ext>
            </a:extLst>
          </ns0:cNvPr>
          <ns0:cNvSpPr>
            <a:spLocks noGrp="1"/>
          </ns0:cNvSpPr>
          <ns0:nvPr/>
        </ns0:nvSpPr>
        <ns0:spPr>
          <a:xfrm>
            <a:off x="571500" y="41529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04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305D89E1-9CD5-44CF-BD34-47CB7A6D2491}"/>
              </a:ext>
            </a:extLst>
          </ns0:cNvPr>
          <ns0:cNvSpPr>
            <a:spLocks noGrp="1"/>
          </ns0:cNvSpPr>
          <ns0:nvPr/>
        </ns0:nvSpPr>
        <ns0:spPr>
          <a:xfrm>
            <a:off x="1285875" y="415290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Administração e custódia no mesmo grupo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D0932169-29B7-4807-86E0-4FC1576F7721}"/>
              </a:ext>
            </a:extLst>
          </ns0:cNvPr>
          <ns0:cNvSpPr>
            <a:spLocks noGrp="1"/>
          </ns0:cNvSpPr>
          <ns0:nvPr/>
        </ns0:nvSpPr>
        <ns0:spPr>
          <a:xfrm>
            <a:off x="1285875" y="4486275"/>
            <a:ext cx="10334625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2000"/>
              </a:lnSpc>
              <a:buNone/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Administração e custódia pertencem ao mesmo grupo em cerca de 90% do PL ex-FIC em ago/26.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4E5F3CE6-5496-4331-8133-0616B27015C1}"/>
              </a:ext>
            </a:extLst>
          </ns0:cNvPr>
          <ns0:cNvSpPr>
            <a:spLocks noGrp="1"/>
          </ns0:cNvSpPr>
          <ns0:nvPr/>
        </ns0:nvSpPr>
        <ns0:spPr>
          <a:xfrm>
            <a:off x="1285875" y="4991100"/>
            <a:ext cx="10334625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2B3BE063-13DB-471D-95A2-CCC4C618A64C}"/>
              </a:ext>
            </a:extLst>
          </ns0:cNvPr>
          <ns0:cNvSpPr>
            <a:spLocks noGrp="1"/>
          </ns0:cNvSpPr>
          <ns0:nvPr/>
        </ns0:nvSpPr>
        <ns0:spPr>
          <a:xfrm>
            <a:off x="571500" y="50863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05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29720927-D9A2-4FBE-80A9-71C265AD6CD8}"/>
              </a:ext>
            </a:extLst>
          </ns0:cNvPr>
          <ns0:cNvSpPr>
            <a:spLocks noGrp="1"/>
          </ns0:cNvSpPr>
          <ns0:nvPr/>
        </ns0:nvSpPr>
        <ns0:spPr>
          <a:xfrm>
            <a:off x="1285875" y="50863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Concentração nas ofertas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C2FDE2A0-DE8A-415B-B3B4-DF7F5496AAAB}"/>
              </a:ext>
            </a:extLst>
          </ns0:cNvPr>
          <ns0:cNvSpPr>
            <a:spLocks noGrp="1"/>
          </ns0:cNvSpPr>
          <ns0:nvPr/>
        </ns0:nvSpPr>
        <ns0:spPr>
          <a:xfrm>
            <a:off x="1285875" y="5419725"/>
            <a:ext cx="10334625" cy="4572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2000"/>
              </a:lnSpc>
              <a:buNone/>
              <a:def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425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As grandes ofertas concentram cerca de 45% do volume registrado das ofertas encerradas em jan–ago/26.</a:t>
            </a:r>
          </a:p>
        </ns0:txBody>
      </ns0:sp>
    </ns0:spTree>
    <ns0:extLst>
      <ns0:ext uri="{BB962C8B-B14F-4D97-AF65-F5344CB8AC3E}">
        <ns3:creationId val="313166906"/>
      </ns0:ext>
    </ns0:extLst>
  </ns0:cSld>
</ns0:sld>
</file>

<file path=ppt/slides/slide12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5" name="">
            <a:extLst>
              <a:ext uri="{FF2B5EF4-FFF2-40B4-BE49-F238E27FC236}">
                <ns2:creationId id="{57BA82DB-AD4C-498A-ADC2-9E4F2E629CA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Ranking de prestadores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ADB1108F-48AB-4B7B-83E1-354EC71C9D7D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PL ex-FIC (R$ bi), ago/26: ranking geral e independentes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3F645517-ED52-4647-9571-D29D72AB1DF1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1D97F4D3-02D3-4935-A7EA-923C63D29C81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8B50FB96-ACA1-47A5-88BC-7FCB1DB396A7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ago/26. Exclui Petrobras/TAPSO. Gestão/custódia reconstruídas; método no XLSX.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0944018D-1D70-4578-8E8D-CDAC3F71006A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12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EB5D0824-2618-458B-BB26-B1AFBB9C3B43}"/>
              </a:ext>
            </a:extLst>
          </ns0:cNvPr>
          <ns0:cNvSpPr>
            <a:spLocks noGrp="1"/>
          </ns0:cNvSpPr>
          <ns0:nvPr/>
        </ns0:nvSpPr>
        <ns0:spPr>
          <a:xfrm>
            <a:off x="1524000" y="1200150"/>
            <a:ext cx="76200" cy="76200"/>
          </a:xfrm>
          <a:prstGeom prst="rect">
            <a:avLst/>
          </a:prstGeom>
          <a:solidFill>
            <a:srgbClr val="2456D6"/>
          </a:solidFill>
          <a:ln w="0">
            <a:noFill/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98A295D2-F379-4F6D-ABEE-E36F662F9C0C}"/>
              </a:ext>
            </a:extLst>
          </ns0:cNvPr>
          <ns0:cNvSpPr>
            <a:spLocks noGrp="1"/>
          </ns0:cNvSpPr>
          <ns0:nvPr/>
        </ns0:nvSpPr>
        <ns0:spPr>
          <a:xfrm>
            <a:off x="1647825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QI Tech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1BB7088F-3F78-47D0-A0A2-C75120C03D60}"/>
              </a:ext>
            </a:extLst>
          </ns0:cNvPr>
          <ns0:cNvSpPr>
            <a:spLocks noGrp="1"/>
          </ns0:cNvSpPr>
          <ns0:nvPr/>
        </ns0:nvSpPr>
        <ns0:spPr>
          <a:xfrm>
            <a:off x="2830286" y="1200150"/>
            <a:ext cx="76200" cy="76200"/>
          </a:xfrm>
          <a:prstGeom prst="rect">
            <a:avLst/>
          </a:prstGeom>
          <a:solidFill>
            <a:srgbClr val="1D4080"/>
          </a:solidFill>
          <a:ln w="0">
            <a:noFill/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747DAD91-9DF5-4867-87D0-CE3B6812BDE1}"/>
              </a:ext>
            </a:extLst>
          </ns0:cNvPr>
          <ns0:cNvSpPr>
            <a:spLocks noGrp="1"/>
          </ns0:cNvSpPr>
          <ns0:nvPr/>
        </ns0:nvSpPr>
        <ns0:spPr>
          <a:xfrm>
            <a:off x="2954111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BTG Pactual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74C57483-3A65-4335-BC92-7EC86829A7A6}"/>
              </a:ext>
            </a:extLst>
          </ns0:cNvPr>
          <ns0:cNvSpPr>
            <a:spLocks noGrp="1"/>
          </ns0:cNvSpPr>
          <ns0:nvPr/>
        </ns0:nvSpPr>
        <ns0:spPr>
          <a:xfrm>
            <a:off x="4136571" y="1200150"/>
            <a:ext cx="76200" cy="76200"/>
          </a:xfrm>
          <a:prstGeom prst="rect">
            <a:avLst/>
          </a:prstGeom>
          <a:solidFill>
            <a:srgbClr val="7A1F3D"/>
          </a:solidFill>
          <a:ln w="0">
            <a:noFill/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E73A7123-E1D3-470E-A987-C2B3FA894E49}"/>
              </a:ext>
            </a:extLst>
          </ns0:cNvPr>
          <ns0:cNvSpPr>
            <a:spLocks noGrp="1"/>
          </ns0:cNvSpPr>
          <ns0:nvPr/>
        </ns0:nvSpPr>
        <ns0:spPr>
          <a:xfrm>
            <a:off x="4260396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Oliveira Trust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521CF2AE-A3D7-4288-92D4-A1A6CF6A6781}"/>
              </a:ext>
            </a:extLst>
          </ns0:cNvPr>
          <ns0:cNvSpPr>
            <a:spLocks noGrp="1"/>
          </ns0:cNvSpPr>
          <ns0:nvPr/>
        </ns0:nvSpPr>
        <ns0:spPr>
          <a:xfrm>
            <a:off x="5442857" y="1200150"/>
            <a:ext cx="76200" cy="76200"/>
          </a:xfrm>
          <a:prstGeom prst="rect">
            <a:avLst/>
          </a:prstGeom>
          <a:solidFill>
            <a:srgbClr val="FF5500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2686B20C-673B-4864-91BC-773B5522D105}"/>
              </a:ext>
            </a:extLst>
          </ns0:cNvPr>
          <ns0:cNvSpPr>
            <a:spLocks noGrp="1"/>
          </ns0:cNvSpPr>
          <ns0:nvPr/>
        </ns0:nvSpPr>
        <ns0:spPr>
          <a:xfrm>
            <a:off x="5566682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Itaú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94A661A6-CAD9-4115-B9A7-BE446093A822}"/>
              </a:ext>
            </a:extLst>
          </ns0:cNvPr>
          <ns0:cNvSpPr>
            <a:spLocks noGrp="1"/>
          </ns0:cNvSpPr>
          <ns0:nvPr/>
        </ns0:nvSpPr>
        <ns0:spPr>
          <a:xfrm>
            <a:off x="6749143" y="1200150"/>
            <a:ext cx="76200" cy="76200"/>
          </a:xfrm>
          <a:prstGeom prst="rect">
            <a:avLst/>
          </a:prstGeom>
          <a:solidFill>
            <a:srgbClr val="6EC5E9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335ADE6C-F091-4B30-ACBE-1988882431A8}"/>
              </a:ext>
            </a:extLst>
          </ns0:cNvPr>
          <ns0:cNvSpPr>
            <a:spLocks noGrp="1"/>
          </ns0:cNvSpPr>
          <ns0:nvPr/>
        </ns0:nvSpPr>
        <ns0:spPr>
          <a:xfrm>
            <a:off x="6872968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Genial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B9EE6D0F-87C9-4398-A7E4-A7250F3FAEBB}"/>
              </a:ext>
            </a:extLst>
          </ns0:cNvPr>
          <ns0:cNvSpPr>
            <a:spLocks noGrp="1"/>
          </ns0:cNvSpPr>
          <ns0:nvPr/>
        </ns0:nvSpPr>
        <ns0:spPr>
          <a:xfrm>
            <a:off x="8055429" y="1200150"/>
            <a:ext cx="76200" cy="76200"/>
          </a:xfrm>
          <a:prstGeom prst="rect">
            <a:avLst/>
          </a:prstGeom>
          <a:solidFill>
            <a:srgbClr val="73C6A1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BC238BF9-D980-4879-83B2-C08CB75D7EB4}"/>
              </a:ext>
            </a:extLst>
          </ns0:cNvPr>
          <ns0:cNvSpPr>
            <a:spLocks noGrp="1"/>
          </ns0:cNvSpPr>
          <ns0:nvPr/>
        </ns0:nvSpPr>
        <ns0:spPr>
          <a:xfrm>
            <a:off x="8179254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CBSF / REAG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93AEAF5-0F0E-476C-8EFA-74C8C791817F}"/>
              </a:ext>
            </a:extLst>
          </ns0:cNvPr>
          <ns0:cNvSpPr>
            <a:spLocks noGrp="1"/>
          </ns0:cNvSpPr>
          <ns0:nvPr/>
        </ns0:nvSpPr>
        <ns0:spPr>
          <a:xfrm>
            <a:off x="9361714" y="1200150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3BAE8021-46BF-4787-A65D-D729565F57A3}"/>
              </a:ext>
            </a:extLst>
          </ns0:cNvPr>
          <ns0:cNvSpPr>
            <a:spLocks noGrp="1"/>
          </ns0:cNvSpPr>
          <ns0:nvPr/>
        </ns0:nvSpPr>
        <ns0:spPr>
          <a:xfrm>
            <a:off x="9485539" y="1133475"/>
            <a:ext cx="1153886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Demais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C089F5D7-4280-4BF3-B18F-A681D4ADBE00}"/>
              </a:ext>
            </a:extLst>
          </ns0:cNvPr>
          <ns0:cNvSpPr>
            <a:spLocks noGrp="1"/>
          </ns0:cNvSpPr>
          <ns0:nvPr/>
        </ns0:nvSpPr>
        <ns0:spPr>
          <a:xfrm>
            <a:off x="571500" y="1362075"/>
            <a:ext cx="528637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ctr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Todos os prestadores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C09020E2-855C-46FD-9514-07AD9A840180}"/>
              </a:ext>
            </a:extLst>
          </ns0:cNvPr>
          <ns0:cNvSpPr>
            <a:spLocks noGrp="1"/>
          </ns0:cNvSpPr>
          <ns0:nvPr/>
        </ns0:nvSpPr>
        <ns0:spPr>
          <a:xfrm>
            <a:off x="6334125" y="1362075"/>
            <a:ext cx="528637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ctr"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91F5907E-B4AA-4C1C-B987-AA173CCFEF18}"/>
              </a:ext>
            </a:extLst>
          </ns0:cNvPr>
          <ns0:cNvSpPr>
            <a:spLocks noGrp="1"/>
          </ns0:cNvSpPr>
          <ns0:nvPr/>
        </ns0:nvSpPr>
        <ns0:spPr>
          <a:xfrm>
            <a:off x="571500" y="158115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ns0:txBody>
      </ns0:sp>
      <ns0:graphicFrame>
        <ns0:nvGraphicFramePr>
          <ns0:cNvPr id="24" name="Chart">
            <a:extLst>
              <a:ext uri="{FF2B5EF4-FFF2-40B4-BE49-F238E27FC236}">
                <ns2:creationId id="{CCF30D01-BC9D-4F8B-9766-0E9583D94AC0}"/>
              </a:ext>
            </a:extLst>
          </ns0:cNvPr>
          <ns0:cNvGraphicFramePr/>
          <ns0:nvPr/>
        </ns0:nvGraphicFramePr>
        <ns0:xfrm>
          <a:off x="571500" y="1752600"/>
          <a:ext cx="5286375" cy="1333500"/>
        </ns0:xfrm>
        <a:graphic>
          <a:graphicData uri="http://schemas.openxmlformats.org/drawingml/2006/chart">
            <c:chart ns4:id="Re7b128bb73f34430"/>
          </a:graphicData>
        </a:graphic>
      </ns0:graphicFrame>
      <ns0:sp>
        <ns0:nvSpPr>
          <ns0:cNvPr id="25" name="">
            <a:extLst>
              <a:ext uri="{FF2B5EF4-FFF2-40B4-BE49-F238E27FC236}">
                <ns2:creationId id="{4072165C-B9EE-4EC1-81BC-57B5680D48F6}"/>
              </a:ext>
            </a:extLst>
          </ns0:cNvPr>
          <ns0:cNvSpPr>
            <a:spLocks noGrp="1"/>
          </ns0:cNvSpPr>
          <ns0:nvPr/>
        </ns0:nvSpPr>
        <ns0:spPr>
          <a:xfrm>
            <a:off x="6334125" y="158115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ns0:txBody>
      </ns0:sp>
      <ns0:graphicFrame>
        <ns0:nvGraphicFramePr>
          <ns0:cNvPr id="26" name="Chart">
            <a:extLst>
              <a:ext uri="{FF2B5EF4-FFF2-40B4-BE49-F238E27FC236}">
                <ns2:creationId id="{3BFEE45D-6C21-4761-9577-659EB2C2E525}"/>
              </a:ext>
            </a:extLst>
          </ns0:cNvPr>
          <ns0:cNvGraphicFramePr/>
          <ns0:nvPr/>
        </ns0:nvGraphicFramePr>
        <ns0:xfrm>
          <a:off x="6334125" y="1752600"/>
          <a:ext cx="5286375" cy="1333500"/>
        </ns0:xfrm>
        <a:graphic>
          <a:graphicData uri="http://schemas.openxmlformats.org/drawingml/2006/chart">
            <c:chart ns4:id="R55747a77b0ec49be"/>
          </a:graphicData>
        </a:graphic>
      </ns0:graphicFrame>
      <ns0:sp>
        <ns0:nvSpPr>
          <ns0:cNvPr id="27" name="">
            <a:extLst>
              <a:ext uri="{FF2B5EF4-FFF2-40B4-BE49-F238E27FC236}">
                <ns2:creationId id="{5B654B6C-D138-47D3-B8FB-A11B2DE5160E}"/>
              </a:ext>
            </a:extLst>
          </ns0:cNvPr>
          <ns0:cNvSpPr>
            <a:spLocks noGrp="1"/>
          </ns0:cNvSpPr>
          <ns0:nvPr/>
        </ns0:nvSpPr>
        <ns0:spPr>
          <a:xfrm>
            <a:off x="571500" y="3114675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ns0:txBody>
      </ns0:sp>
      <ns0:graphicFrame>
        <ns0:nvGraphicFramePr>
          <ns0:cNvPr id="28" name="Chart">
            <a:extLst>
              <a:ext uri="{FF2B5EF4-FFF2-40B4-BE49-F238E27FC236}">
                <ns2:creationId id="{830AAD14-3883-4927-B67A-E2EEF805100E}"/>
              </a:ext>
            </a:extLst>
          </ns0:cNvPr>
          <ns0:cNvGraphicFramePr/>
          <ns0:nvPr/>
        </ns0:nvGraphicFramePr>
        <ns0:xfrm>
          <a:off x="571500" y="3286125"/>
          <a:ext cx="5286375" cy="1333500"/>
        </ns0:xfrm>
        <a:graphic>
          <a:graphicData uri="http://schemas.openxmlformats.org/drawingml/2006/chart">
            <c:chart ns4:id="R8c359582b1ce4dcb"/>
          </a:graphicData>
        </a:graphic>
      </ns0:graphicFrame>
      <ns0:sp>
        <ns0:nvSpPr>
          <ns0:cNvPr id="29" name="">
            <a:extLst>
              <a:ext uri="{FF2B5EF4-FFF2-40B4-BE49-F238E27FC236}">
                <ns2:creationId id="{4781C3E5-C966-4037-8177-8EDBDAC3C57A}"/>
              </a:ext>
            </a:extLst>
          </ns0:cNvPr>
          <ns0:cNvSpPr>
            <a:spLocks noGrp="1"/>
          </ns0:cNvSpPr>
          <ns0:nvPr/>
        </ns0:nvSpPr>
        <ns0:spPr>
          <a:xfrm>
            <a:off x="6334125" y="3114675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ns0:txBody>
      </ns0:sp>
      <ns0:graphicFrame>
        <ns0:nvGraphicFramePr>
          <ns0:cNvPr id="30" name="Chart">
            <a:extLst>
              <a:ext uri="{FF2B5EF4-FFF2-40B4-BE49-F238E27FC236}">
                <ns2:creationId id="{59D42D3C-621C-483C-8A91-BB3FDE1F75E8}"/>
              </a:ext>
            </a:extLst>
          </ns0:cNvPr>
          <ns0:cNvGraphicFramePr/>
          <ns0:nvPr/>
        </ns0:nvGraphicFramePr>
        <ns0:xfrm>
          <a:off x="6334125" y="3286125"/>
          <a:ext cx="5286375" cy="1333500"/>
        </ns0:xfrm>
        <a:graphic>
          <a:graphicData uri="http://schemas.openxmlformats.org/drawingml/2006/chart">
            <c:chart ns4:id="Rf79bce7281f44b8f"/>
          </a:graphicData>
        </a:graphic>
      </ns0:graphicFrame>
      <ns0:sp>
        <ns0:nvSpPr>
          <ns0:cNvPr id="31" name="">
            <a:extLst>
              <a:ext uri="{FF2B5EF4-FFF2-40B4-BE49-F238E27FC236}">
                <ns2:creationId id="{E79E0CFA-8988-4DE4-96D8-17026D9A6F3D}"/>
              </a:ext>
            </a:extLst>
          </ns0:cNvPr>
          <ns0:cNvSpPr>
            <a:spLocks noGrp="1"/>
          </ns0:cNvSpPr>
          <ns0:nvPr/>
        </ns0:nvSpPr>
        <ns0:spPr>
          <a:xfrm>
            <a:off x="571500" y="464820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ns0:txBody>
      </ns0:sp>
      <ns0:graphicFrame>
        <ns0:nvGraphicFramePr>
          <ns0:cNvPr id="32" name="Chart">
            <a:extLst>
              <a:ext uri="{FF2B5EF4-FFF2-40B4-BE49-F238E27FC236}">
                <ns2:creationId id="{37D1C81F-EEFE-42C5-AB1B-8424F4001265}"/>
              </a:ext>
            </a:extLst>
          </ns0:cNvPr>
          <ns0:cNvGraphicFramePr/>
          <ns0:nvPr/>
        </ns0:nvGraphicFramePr>
        <ns0:xfrm>
          <a:off x="571500" y="4819650"/>
          <a:ext cx="5286375" cy="1333500"/>
        </ns0:xfrm>
        <a:graphic>
          <a:graphicData uri="http://schemas.openxmlformats.org/drawingml/2006/chart">
            <c:chart ns4:id="R8573d50654e64b6e"/>
          </a:graphicData>
        </a:graphic>
      </ns0:graphicFrame>
      <ns0:sp>
        <ns0:nvSpPr>
          <ns0:cNvPr id="33" name="">
            <a:extLst>
              <a:ext uri="{FF2B5EF4-FFF2-40B4-BE49-F238E27FC236}">
                <ns2:creationId id="{62C5FBF7-4A84-4EB5-A90E-872E373D7435}"/>
              </a:ext>
            </a:extLst>
          </ns0:cNvPr>
          <ns0:cNvSpPr>
            <a:spLocks noGrp="1"/>
          </ns0:cNvSpPr>
          <ns0:nvPr/>
        </ns0:nvSpPr>
        <ns0:spPr>
          <a:xfrm>
            <a:off x="6334125" y="464820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ns0:txBody>
      </ns0:sp>
      <ns0:graphicFrame>
        <ns0:nvGraphicFramePr>
          <ns0:cNvPr id="34" name="Chart">
            <a:extLst>
              <a:ext uri="{FF2B5EF4-FFF2-40B4-BE49-F238E27FC236}">
                <ns2:creationId id="{A60D395A-FD8A-4850-A032-A10996D560F4}"/>
              </a:ext>
            </a:extLst>
          </ns0:cNvPr>
          <ns0:cNvGraphicFramePr/>
          <ns0:nvPr/>
        </ns0:nvGraphicFramePr>
        <ns0:xfrm>
          <a:off x="6334125" y="4819650"/>
          <a:ext cx="5286375" cy="1333500"/>
        </ns0:xfrm>
        <a:graphic>
          <a:graphicData uri="http://schemas.openxmlformats.org/drawingml/2006/chart">
            <c:chart ns4:id="R0054274b2a0d4c35"/>
          </a:graphicData>
        </a:graphic>
      </ns0:graphicFrame>
    </ns0:spTree>
    <ns0:extLst>
      <ns0:ext uri="{BB962C8B-B14F-4D97-AF65-F5344CB8AC3E}">
        <ns5:creationId val="979499775"/>
      </ns0:ext>
    </ns0:extLst>
  </ns0:cSld>
</ns0:sld>
</file>

<file path=ppt/slides/slide13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1" name="">
            <a:extLst>
              <a:ext uri="{FF2B5EF4-FFF2-40B4-BE49-F238E27FC236}">
                <ns2:creationId id="{8FB1E5B2-72CF-418E-8A9A-7EA501230E3B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>
            <a:defPPr algn="l"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D01EC24C-B222-4318-AF80-253577AE008D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Concentração de prestadores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DBBC3920-8EFD-4962-8BDA-569045D15E6F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4763F622-70ED-43F1-9987-BD2B0C3BFE80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3259B2FE-D553-4D87-8AB0-572BA0DD845A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ago/26. PL ex-FIC, sem Petrobras/TAPSO. Gestão/custódia reconstruídas.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D44F6B3B-B1EF-4A3B-A5A4-9F6B7D4CD9BC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13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747B034-6AAD-4D32-A19D-406ABCA06B11}"/>
              </a:ext>
            </a:extLst>
          </ns0:cNvPr>
          <ns0:cNvSpPr>
            <a:spLocks noGrp="1"/>
          </ns0:cNvSpPr>
          <ns0:nvPr/>
        </ns0:nvSpPr>
        <ns0:spPr>
          <a:xfrm>
            <a:off x="571500" y="147637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3434497D-EA17-4524-AE7E-BFEED38CFDE1}"/>
              </a:ext>
            </a:extLst>
          </ns0:cNvPr>
          <ns0:cNvSpPr>
            <a:spLocks noGrp="1"/>
          </ns0:cNvSpPr>
          <ns0:nvPr/>
        </ns0:nvSpPr>
        <ns0:spPr>
          <a:xfrm>
            <a:off x="571500" y="1743075"/>
            <a:ext cx="5143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D5696EEA-4B55-46F3-9BEE-ADC8CCAA11DB}"/>
              </a:ext>
            </a:extLst>
          </ns0:cNvPr>
          <ns0:cNvGraphicFramePr/>
          <ns0:nvPr/>
        </ns0:nvGraphicFramePr>
        <ns0:xfrm>
          <a:off x="571500" y="1857375"/>
          <a:ext cx="5143500" cy="3000375"/>
        </ns0:xfrm>
        <a:graphic>
          <a:graphicData uri="http://schemas.openxmlformats.org/drawingml/2006/chart">
            <c:chart ns4:id="R7a2654455d0f4767"/>
          </a:graphicData>
        </a:graphic>
      </ns0:graphicFrame>
      <ns0:sp>
        <ns0:nvSpPr>
          <ns0:cNvPr id="10" name="">
            <a:extLst>
              <a:ext uri="{FF2B5EF4-FFF2-40B4-BE49-F238E27FC236}">
                <ns2:creationId id="{3FE021AE-5748-401C-B1F2-AA4A974C37EA}"/>
              </a:ext>
            </a:extLst>
          </ns0:cNvPr>
          <ns0:cNvSpPr>
            <a:spLocks noGrp="1"/>
          </ns0:cNvSpPr>
          <ns0:nvPr/>
        </ns0:nvSpPr>
        <ns0:spPr>
          <a:xfrm>
            <a:off x="571500" y="4629150"/>
            <a:ext cx="5143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0751C47C-CB48-47A4-9FA7-2596243ACCBF}"/>
              </a:ext>
            </a:extLst>
          </ns0:cNvPr>
          <ns0:cNvSpPr>
            <a:spLocks noGrp="1"/>
          </ns0:cNvSpPr>
          <ns0:nvPr/>
        </ns0:nvSpPr>
        <ns0:spPr>
          <a:xfrm>
            <a:off x="6477000" y="147637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50AD071-0C6D-4DAF-ACDB-41967D44ECFC}"/>
              </a:ext>
            </a:extLst>
          </ns0:cNvPr>
          <ns0:cNvSpPr>
            <a:spLocks noGrp="1"/>
          </ns0:cNvSpPr>
          <ns0:nvPr/>
        </ns0:nvSpPr>
        <ns0:spPr>
          <a:xfrm>
            <a:off x="6477000" y="1743075"/>
            <a:ext cx="5143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3" name="Chart">
            <a:extLst>
              <a:ext uri="{FF2B5EF4-FFF2-40B4-BE49-F238E27FC236}">
                <ns2:creationId id="{E3AF6BFC-2183-409F-98A7-65F1D62BC279}"/>
              </a:ext>
            </a:extLst>
          </ns0:cNvPr>
          <ns0:cNvGraphicFramePr/>
          <ns0:nvPr/>
        </ns0:nvGraphicFramePr>
        <ns0:xfrm>
          <a:off x="6477000" y="1857375"/>
          <a:ext cx="5143500" cy="3000375"/>
        </ns0:xfrm>
        <a:graphic>
          <a:graphicData uri="http://schemas.openxmlformats.org/drawingml/2006/chart">
            <c:chart ns4:id="R292b1b1c3eb84f53"/>
          </a:graphicData>
        </a:graphic>
      </ns0:graphicFrame>
      <ns0:sp>
        <ns0:nvSpPr>
          <ns0:cNvPr id="14" name="">
            <a:extLst>
              <a:ext uri="{FF2B5EF4-FFF2-40B4-BE49-F238E27FC236}">
                <ns2:creationId id="{9D245FB5-1ACF-465E-BCDF-6E1A8F9B07B2}"/>
              </a:ext>
            </a:extLst>
          </ns0:cNvPr>
          <ns0:cNvSpPr>
            <a:spLocks noGrp="1"/>
          </ns0:cNvSpPr>
          <ns0:nvPr/>
        </ns0:nvSpPr>
        <ns0:spPr>
          <a:xfrm>
            <a:off x="6477000" y="4629150"/>
            <a:ext cx="5143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83267AAB-C982-4CDE-A343-B71F97078D47}"/>
              </a:ext>
            </a:extLst>
          </ns0:cNvPr>
          <ns0:cNvSpPr>
            <a:spLocks noGrp="1"/>
          </ns0:cNvSpPr>
          <ns0:nvPr/>
        </ns0:nvSpPr>
        <ns0:spPr>
          <a:xfrm>
            <a:off x="571500" y="519112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400BF4DE-8BF1-4BDA-9B8B-BCA9AE6B792C}"/>
              </a:ext>
            </a:extLst>
          </ns0:cNvPr>
          <ns0:cNvSpPr>
            <a:spLocks noGrp="1"/>
          </ns0:cNvSpPr>
          <ns0:nvPr/>
        </ns0:nvSpPr>
        <ns0:spPr>
          <a:xfrm>
            <a:off x="571500" y="542925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ctr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Ago/26: administração 100,0% → 100,0%; gestão 98,0% → 100,0%; custódia 97,0% → 99,3%.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03DA6FF-1344-4AA2-9B47-780F9F9F9D65}"/>
              </a:ext>
            </a:extLst>
          </ns0:cNvPr>
          <ns0:cNvSpPr>
            <a:spLocks noGrp="1"/>
          </ns0:cNvSpPr>
          <ns0:nvPr/>
        </ns0:nvSpPr>
        <ns0:spPr>
          <a:xfrm>
            <a:off x="9239250" y="1285875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A76E3E82-9DDE-4034-A6E0-4A563BE69C19}"/>
              </a:ext>
            </a:extLst>
          </ns0:cNvPr>
          <ns0:cNvSpPr>
            <a:spLocks noGrp="1"/>
          </ns0:cNvSpPr>
          <ns0:nvPr/>
        </ns0:nvSpPr>
        <ns0:spPr>
          <a:xfrm>
            <a:off x="9363075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94DB3A3-8847-473C-9067-CC36B9754C54}"/>
              </a:ext>
            </a:extLst>
          </ns0:cNvPr>
          <ns0:cNvSpPr>
            <a:spLocks noGrp="1"/>
          </ns0:cNvSpPr>
          <ns0:nvPr/>
        </ns0:nvSpPr>
        <ns0:spPr>
          <a:xfrm>
            <a:off x="10429875" y="12858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75BA11F0-9E25-48FE-BDA0-A834AF79C096}"/>
              </a:ext>
            </a:extLst>
          </ns0:cNvPr>
          <ns0:cNvSpPr>
            <a:spLocks noGrp="1"/>
          </ns0:cNvSpPr>
          <ns0:nvPr/>
        </ns0:nvSpPr>
        <ns0:spPr>
          <a:xfrm>
            <a:off x="10553700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Ago/26</a:t>
            </a:r>
          </a:p>
        </ns0:txBody>
      </ns0:sp>
    </ns0:spTree>
    <ns0:extLst>
      <ns0:ext uri="{BB962C8B-B14F-4D97-AF65-F5344CB8AC3E}">
        <ns5:creationId val="123782495"/>
      </ns0:ext>
    </ns0:extLst>
  </ns0:cSld>
</ns0:sld>
</file>

<file path=ppt/slides/slide14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7" name="">
            <a:extLst>
              <a:ext uri="{FF2B5EF4-FFF2-40B4-BE49-F238E27FC236}">
                <ns2:creationId id="{9AEB4670-A3D9-4FDE-A620-332C8455AC5C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Público-alvo e base investidora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D337AABD-0C15-4BDA-843E-35C9D6C8B5A4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Ofertas até ago/26; contas em 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3D677608-3BFB-4FEC-8A2B-3EDD9B78CD6A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C3EDDB40-5C01-48ED-8089-D08BAA1DD0AD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FE3F0DBC-9FA6-48D4-8C19-83636DB75C45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CVM/SRE, jan–ago/26; CVM, ago/26. Público-alvo = elegibilidade; contas podem se repetir.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147702A-241B-4448-9F89-C0ECD548D9D1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14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6DFDE0B9-AD23-4054-82E9-CCE4FF09247A}"/>
              </a:ext>
            </a:extLst>
          </ns0:cNvPr>
          <ns0:cNvSpPr>
            <a:spLocks noGrp="1"/>
          </ns0:cNvSpPr>
          <ns0:nvPr/>
        </ns0:nvSpPr>
        <ns0:spPr>
          <a:xfrm>
            <a:off x="571500" y="133350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F00B5F8-A882-4A17-8FAD-A46C5EB9542C}"/>
              </a:ext>
            </a:extLst>
          </ns0:cNvPr>
          <ns0:cNvSpPr>
            <a:spLocks noGrp="1"/>
          </ns0:cNvSpPr>
          <ns0:nvPr/>
        </ns0:nvSpPr>
        <ns0:spPr>
          <a:xfrm>
            <a:off x="571500" y="1600200"/>
            <a:ext cx="65722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9" name="Chart">
            <a:extLst>
              <a:ext uri="{FF2B5EF4-FFF2-40B4-BE49-F238E27FC236}">
                <ns2:creationId id="{D85D249B-ECCD-4016-87F2-37579971747C}"/>
              </a:ext>
            </a:extLst>
          </ns0:cNvPr>
          <ns0:cNvGraphicFramePr/>
          <ns0:nvPr/>
        </ns0:nvGraphicFramePr>
        <ns0:xfrm>
          <a:off x="571500" y="1666875"/>
          <a:ext cx="6572250" cy="1809750"/>
        </ns0:xfrm>
        <a:graphic>
          <a:graphicData uri="http://schemas.openxmlformats.org/drawingml/2006/chart">
            <c:chart ns4:id="Rc598b04d4da64514"/>
          </a:graphicData>
        </a:graphic>
      </ns0:graphicFrame>
      <ns0:sp>
        <ns0:nvSpPr>
          <ns0:cNvPr id="10" name="">
            <a:extLst>
              <a:ext uri="{FF2B5EF4-FFF2-40B4-BE49-F238E27FC236}">
                <ns2:creationId id="{12FE8E38-D28E-4F4F-8337-28B55FA6C197}"/>
              </a:ext>
            </a:extLst>
          </ns0:cNvPr>
          <ns0:cNvSpPr>
            <a:spLocks noGrp="1"/>
          </ns0:cNvSpPr>
          <ns0:nvPr/>
        </ns0:nvSpPr>
        <ns0:spPr>
          <a:xfrm>
            <a:off x="571500" y="363855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1FE1894-1737-48C5-9C9C-711E1EDEA6BF}"/>
              </a:ext>
            </a:extLst>
          </ns0:cNvPr>
          <ns0:cNvSpPr>
            <a:spLocks noGrp="1"/>
          </ns0:cNvSpPr>
          <ns0:nvPr/>
        </ns0:nvSpPr>
        <ns0:spPr>
          <a:xfrm>
            <a:off x="571500" y="3905250"/>
            <a:ext cx="65722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2" name="Chart">
            <a:extLst>
              <a:ext uri="{FF2B5EF4-FFF2-40B4-BE49-F238E27FC236}">
                <ns2:creationId id="{23263725-FF8C-4A06-B3A1-E9DDB2F9F8D2}"/>
              </a:ext>
            </a:extLst>
          </ns0:cNvPr>
          <ns0:cNvGraphicFramePr/>
          <ns0:nvPr/>
        </ns0:nvGraphicFramePr>
        <ns0:xfrm>
          <a:off x="571500" y="3971925"/>
          <a:ext cx="6572250" cy="1809750"/>
        </ns0:xfrm>
        <a:graphic>
          <a:graphicData uri="http://schemas.openxmlformats.org/drawingml/2006/chart">
            <c:chart ns4:id="Ra8aa9b4b79cd430c"/>
          </a:graphicData>
        </a:graphic>
      </ns0:graphicFrame>
      <ns0:sp>
        <ns0:nvSpPr>
          <ns0:cNvPr id="13" name="">
            <a:extLst>
              <a:ext uri="{FF2B5EF4-FFF2-40B4-BE49-F238E27FC236}">
                <ns2:creationId id="{3F49FDC0-504F-4036-902C-25FAB1E3D9FE}"/>
              </a:ext>
            </a:extLst>
          </ns0:cNvPr>
          <ns0:cNvSpPr>
            <a:spLocks noGrp="1"/>
          </ns0:cNvSpPr>
          <ns0:nvPr/>
        </ns0:nvSpPr>
        <ns0:spPr>
          <a:xfrm>
            <a:off x="7572375" y="1333500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ago/26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93EF77BF-5F26-4311-AE06-B475D340EDFD}"/>
              </a:ext>
            </a:extLst>
          </ns0:cNvPr>
          <ns0:cNvSpPr>
            <a:spLocks noGrp="1"/>
          </ns0:cNvSpPr>
          <ns0:nvPr/>
        </ns0:nvSpPr>
        <ns0:spPr>
          <a:xfrm>
            <a:off x="7572375" y="1600200"/>
            <a:ext cx="40481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5" name="Chart">
            <a:extLst>
              <a:ext uri="{FF2B5EF4-FFF2-40B4-BE49-F238E27FC236}">
                <ns2:creationId id="{06517584-48B6-4B9D-9409-D354468F6504}"/>
              </a:ext>
            </a:extLst>
          </ns0:cNvPr>
          <ns0:cNvGraphicFramePr/>
          <ns0:nvPr/>
        </ns0:nvGraphicFramePr>
        <ns0:xfrm>
          <a:off x="7524750" y="1714500"/>
          <a:ext cx="4095750" cy="3190875"/>
        </ns0:xfrm>
        <a:graphic>
          <a:graphicData uri="http://schemas.openxmlformats.org/drawingml/2006/chart">
            <c:chart ns4:id="R6f39bb6db2f34fb7"/>
          </a:graphicData>
        </a:graphic>
      </ns0:graphicFrame>
      <ns0:sp>
        <ns0:nvSpPr>
          <ns0:cNvPr id="16" name="">
            <a:extLst>
              <a:ext uri="{FF2B5EF4-FFF2-40B4-BE49-F238E27FC236}">
                <ns2:creationId id="{381F5F3D-913B-427F-976F-3A92A88E3C5C}"/>
              </a:ext>
            </a:extLst>
          </ns0:cNvPr>
          <ns0:cNvSpPr>
            <a:spLocks noGrp="1"/>
          </ns0:cNvSpPr>
          <ns0:nvPr/>
        </ns0:nvSpPr>
        <ns0:spPr>
          <a:xfrm>
            <a:off x="7572375" y="5095875"/>
            <a:ext cx="4048125" cy="666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 maioria do volume emitido admite investidores profissionais. Público-alvo mede elegibilidade; contas podem repetir investidores.</a:t>
            </a:r>
          </a:p>
        </ns0:txBody>
      </ns0:sp>
    </ns0:spTree>
    <ns0:extLst>
      <ns0:ext uri="{BB962C8B-B14F-4D97-AF65-F5344CB8AC3E}">
        <ns5:creationId val="148703339"/>
      </ns0:ext>
    </ns0:extLst>
  </ns0:cSld>
</ns0:sld>
</file>

<file path=ppt/slides/slide15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6" name="">
            <a:extLst>
              <a:ext uri="{FF2B5EF4-FFF2-40B4-BE49-F238E27FC236}">
                <ns2:creationId id="{A5DD1060-4EA6-4234-BC71-528693D7AC9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59BA6BB-FDD5-4C08-BF95-F8D80924FFA9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>
            <a:defPPr algn="l"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Fundos com PL a partir de R$ 200 mi, dez/23 a ago/26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E52AF65-7539-4821-B1E6-32B1CB159A7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67E0D998-CA65-43DE-97E9-66ADFDE5B1DB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B6360606-A973-4684-99BE-5A65BAC946C2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ago/26. PL ex-FIC ≥ R$ 200 mi; contas por classe/série.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FA97C08-018B-4ECB-8771-45DE3BBCE30D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15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BBB55F2-9C4F-4BD4-9D22-9D0870BC732F}"/>
              </a:ext>
            </a:extLst>
          </ns0:cNvPr>
          <ns0:cNvSpPr>
            <a:spLocks noGrp="1"/>
          </ns0:cNvSpPr>
          <ns0:nvPr/>
        </ns0:nvSpPr>
        <ns0:spPr>
          <a:xfrm>
            <a:off x="9239250" y="1285875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79410E09-BC3E-4603-8BBA-4E85407F9B54}"/>
              </a:ext>
            </a:extLst>
          </ns0:cNvPr>
          <ns0:cNvSpPr>
            <a:spLocks noGrp="1"/>
          </ns0:cNvSpPr>
          <ns0:nvPr/>
        </ns0:nvSpPr>
        <ns0:spPr>
          <a:xfrm>
            <a:off x="9363075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Dez/23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16360A2A-3D11-4336-943B-E9054BA946F2}"/>
              </a:ext>
            </a:extLst>
          </ns0:cNvPr>
          <ns0:cNvSpPr>
            <a:spLocks noGrp="1"/>
          </ns0:cNvSpPr>
          <ns0:nvPr/>
        </ns0:nvSpPr>
        <ns0:spPr>
          <a:xfrm>
            <a:off x="10429875" y="12858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CA80E8F9-BE28-42CB-9262-4CB212C6C93A}"/>
              </a:ext>
            </a:extLst>
          </ns0:cNvPr>
          <ns0:cNvSpPr>
            <a:spLocks noGrp="1"/>
          </ns0:cNvSpPr>
          <ns0:nvPr/>
        </ns0:nvSpPr>
        <ns0:spPr>
          <a:xfrm>
            <a:off x="10553700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Ago/26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F771EAA-4973-4177-8AA9-94A7BEC6749B}"/>
              </a:ext>
            </a:extLst>
          </ns0:cNvPr>
          <ns0:cNvSpPr>
            <a:spLocks noGrp="1"/>
          </ns0:cNvSpPr>
          <ns0:nvPr/>
        </ns0:nvSpPr>
        <ns0:spPr>
          <a:xfrm>
            <a:off x="571500" y="1323975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1FE9430B-C110-4A02-9336-F8BB58D28235}"/>
              </a:ext>
            </a:extLst>
          </ns0:cNvPr>
          <ns0:cNvSpPr>
            <a:spLocks noGrp="1"/>
          </ns0:cNvSpPr>
          <ns0:nvPr/>
        </ns0:nvSpPr>
        <ns0:spPr>
          <a:xfrm>
            <a:off x="571500" y="1590675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3" name="Chart">
            <a:extLst>
              <a:ext uri="{FF2B5EF4-FFF2-40B4-BE49-F238E27FC236}">
                <ns2:creationId id="{A44E673B-C2F3-4C89-B1AB-AF020A3131B0}"/>
              </a:ext>
            </a:extLst>
          </ns0:cNvPr>
          <ns0:cNvGraphicFramePr/>
          <ns0:nvPr/>
        </ns0:nvGraphicFramePr>
        <ns0:xfrm>
          <a:off x="571500" y="1724025"/>
          <a:ext cx="5286375" cy="1809750"/>
        </ns0:xfrm>
        <a:graphic>
          <a:graphicData uri="http://schemas.openxmlformats.org/drawingml/2006/chart">
            <c:chart ns4:id="R3a5b1e910d6743f3"/>
          </a:graphicData>
        </a:graphic>
      </ns0:graphicFrame>
      <ns0:sp>
        <ns0:nvSpPr>
          <ns0:cNvPr id="14" name="">
            <a:extLst>
              <a:ext uri="{FF2B5EF4-FFF2-40B4-BE49-F238E27FC236}">
                <ns2:creationId id="{14AFB9BB-9ECF-4AB6-A5A0-BC0DA296E218}"/>
              </a:ext>
            </a:extLst>
          </ns0:cNvPr>
          <ns0:cNvSpPr>
            <a:spLocks noGrp="1"/>
          </ns0:cNvSpPr>
          <ns0:nvPr/>
        </ns0:nvSpPr>
        <ns0:spPr>
          <a:xfrm>
            <a:off x="6334125" y="1323975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81BEB84-9905-4581-B3B2-272341628C62}"/>
              </a:ext>
            </a:extLst>
          </ns0:cNvPr>
          <ns0:cNvSpPr>
            <a:spLocks noGrp="1"/>
          </ns0:cNvSpPr>
          <ns0:nvPr/>
        </ns0:nvSpPr>
        <ns0:spPr>
          <a:xfrm>
            <a:off x="6334125" y="1590675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6" name="Chart">
            <a:extLst>
              <a:ext uri="{FF2B5EF4-FFF2-40B4-BE49-F238E27FC236}">
                <ns2:creationId id="{DED894E7-A87E-4073-B62A-B2B8B4E7D952}"/>
              </a:ext>
            </a:extLst>
          </ns0:cNvPr>
          <ns0:cNvGraphicFramePr/>
          <ns0:nvPr/>
        </ns0:nvGraphicFramePr>
        <ns0:xfrm>
          <a:off x="6334125" y="1724025"/>
          <a:ext cx="5286375" cy="1809750"/>
        </ns0:xfrm>
        <a:graphic>
          <a:graphicData uri="http://schemas.openxmlformats.org/drawingml/2006/chart">
            <c:chart ns4:id="Rdd54c746a7f349aa"/>
          </a:graphicData>
        </a:graphic>
      </ns0:graphicFrame>
      <ns0:sp>
        <ns0:nvSpPr>
          <ns0:cNvPr id="17" name="">
            <a:extLst>
              <a:ext uri="{FF2B5EF4-FFF2-40B4-BE49-F238E27FC236}">
                <ns2:creationId id="{AC0A64FE-272D-421A-A470-6BB9E43370F9}"/>
              </a:ext>
            </a:extLst>
          </ns0:cNvPr>
          <ns0:cNvSpPr>
            <a:spLocks noGrp="1"/>
          </ns0:cNvSpPr>
          <ns0:nvPr/>
        </ns0:nvSpPr>
        <ns0:spPr>
          <a:xfrm>
            <a:off x="571500" y="3733800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3F4898F-59B0-4F09-B210-DA6461C96FE4}"/>
              </a:ext>
            </a:extLst>
          </ns0:cNvPr>
          <ns0:cNvSpPr>
            <a:spLocks noGrp="1"/>
          </ns0:cNvSpPr>
          <ns0:nvPr/>
        </ns0:nvSpPr>
        <ns0:spPr>
          <a:xfrm>
            <a:off x="571500" y="4000500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Chart">
            <a:extLst>
              <a:ext uri="{FF2B5EF4-FFF2-40B4-BE49-F238E27FC236}">
                <ns2:creationId id="{3BBF6140-7F26-491A-82C5-04B9204DB173}"/>
              </a:ext>
            </a:extLst>
          </ns0:cNvPr>
          <ns0:cNvGraphicFramePr/>
          <ns0:nvPr/>
        </ns0:nvGraphicFramePr>
        <ns0:xfrm>
          <a:off x="571500" y="4076700"/>
          <a:ext cx="5286375" cy="1809750"/>
        </ns0:xfrm>
        <a:graphic>
          <a:graphicData uri="http://schemas.openxmlformats.org/drawingml/2006/chart">
            <c:chart ns4:id="R7025f88795784574"/>
          </a:graphicData>
        </a:graphic>
      </ns0:graphicFrame>
      <ns0:sp>
        <ns0:nvSpPr>
          <ns0:cNvPr id="20" name="">
            <a:extLst>
              <a:ext uri="{FF2B5EF4-FFF2-40B4-BE49-F238E27FC236}">
                <ns2:creationId id="{CD934F44-C82E-4D91-846A-346037482C77}"/>
              </a:ext>
            </a:extLst>
          </ns0:cNvPr>
          <ns0:cNvSpPr>
            <a:spLocks noGrp="1"/>
          </ns0:cNvSpPr>
          <ns0:nvPr/>
        </ns0:nvSpPr>
        <ns0:spPr>
          <a:xfrm>
            <a:off x="3905250" y="37528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0AC6836-894B-4FC4-9D0B-6F5FFECBAD12}"/>
              </a:ext>
            </a:extLst>
          </ns0:cNvPr>
          <ns0:cNvSpPr>
            <a:spLocks noGrp="1"/>
          </ns0:cNvSpPr>
          <ns0:nvPr/>
        </ns0:nvSpPr>
        <ns0:spPr>
          <a:xfrm>
            <a:off x="6334125" y="3733800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l"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851D35B1-AB3E-4496-B449-AAFC689B164B}"/>
              </a:ext>
            </a:extLst>
          </ns0:cNvPr>
          <ns0:cNvSpPr>
            <a:spLocks noGrp="1"/>
          </ns0:cNvSpPr>
          <ns0:nvPr/>
        </ns0:nvSpPr>
        <ns0:spPr>
          <a:xfrm>
            <a:off x="6334125" y="4000500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3" name="Chart">
            <a:extLst>
              <a:ext uri="{FF2B5EF4-FFF2-40B4-BE49-F238E27FC236}">
                <ns2:creationId id="{78324CB2-4AC3-4CE2-B86C-889138F3D7BE}"/>
              </a:ext>
            </a:extLst>
          </ns0:cNvPr>
          <ns0:cNvGraphicFramePr/>
          <ns0:nvPr/>
        </ns0:nvGraphicFramePr>
        <ns0:xfrm>
          <a:off x="6334125" y="4076700"/>
          <a:ext cx="5286375" cy="1809750"/>
        </ns0:xfrm>
        <a:graphic>
          <a:graphicData uri="http://schemas.openxmlformats.org/drawingml/2006/chart">
            <c:chart ns4:id="R252c8006f48f4a32"/>
          </a:graphicData>
        </a:graphic>
      </ns0:graphicFrame>
      <ns0:sp>
        <ns0:nvSpPr>
          <ns0:cNvPr id="24" name="">
            <a:extLst>
              <a:ext uri="{FF2B5EF4-FFF2-40B4-BE49-F238E27FC236}">
                <ns2:creationId id="{C0CB92B9-3052-49FA-8872-CCEF98BDBBE6}"/>
              </a:ext>
            </a:extLst>
          </ns0:cNvPr>
          <ns0:cNvSpPr>
            <a:spLocks noGrp="1"/>
          </ns0:cNvSpPr>
          <ns0:nvPr/>
        </ns0:nvSpPr>
        <ns0:spPr>
          <a:xfrm>
            <a:off x="9667875" y="37528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B581C57-8DAC-43AE-AE2D-32B62E0374B7}"/>
              </a:ext>
            </a:extLst>
          </ns0:cNvPr>
          <ns0:cNvSpPr>
            <a:spLocks noGrp="1"/>
          </ns0:cNvSpPr>
          <ns0:nvPr/>
        </ns0:nvSpPr>
        <ns0:spPr>
          <a:xfrm>
            <a:off x="571500" y="6096000"/>
            <a:ext cx="1104900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>
            <a:defPPr algn="r"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ns0:txBody>
      </ns0:sp>
    </ns0:spTree>
    <ns0:extLst>
      <ns0:ext uri="{BB962C8B-B14F-4D97-AF65-F5344CB8AC3E}">
        <ns5:creationId val="658472784"/>
      </ns0:ext>
    </ns0:extLst>
  </ns0:cSld>
</ns0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2026-10-11T00:13:17.9010000Z</dcterms:created>
  <dcterms:modified xsi:type="dcterms:W3CDTF">2026-10-11T00:13:17.9010000Z</dcterms:modified>
</coreProperties>
</file>