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4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4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slides/charts/chart4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slides/charts/chart47.xml" ContentType="application/vnd.openxmlformats-officedocument.drawingml.chart+xml"/>
  <Override PartName="/ppt/slides/charts/chart48.xml" ContentType="application/vnd.openxmlformats-officedocument.drawingml.chart+xml"/>
  <Override PartName="/ppt/slides/charts/chart49.xml" ContentType="application/vnd.openxmlformats-officedocument.drawingml.chart+xml"/>
  <Override PartName="/ppt/slides/charts/chart50.xml" ContentType="application/vnd.openxmlformats-officedocument.drawingml.chart+xml"/>
  <Override PartName="/ppt/slides/charts/chart51.xml" ContentType="application/vnd.openxmlformats-officedocument.drawingml.chart+xml"/>
  <Override PartName="/ppt/slides/charts/chart52.xml" ContentType="application/vnd.openxmlformats-officedocument.drawingml.chart+xml"/>
  <Override PartName="/ppt/slides/charts/chart53.xml" ContentType="application/vnd.openxmlformats-officedocument.drawingml.chart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slides/charts/chart54.xml" ContentType="application/vnd.openxmlformats-officedocument.drawingml.chart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slides/charts/chart55.xml" ContentType="application/vnd.openxmlformats-officedocument.drawingml.chart+xml"/>
  <Override PartName="/ppt/slides/charts/chart56.xml" ContentType="application/vnd.openxmlformats-officedocument.drawingml.chart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slides/charts/chart57.xml" ContentType="application/vnd.openxmlformats-officedocument.drawingml.chart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slides/charts/chart58.xml" ContentType="application/vnd.openxmlformats-officedocument.drawingml.chart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slides/charts/chart59.xml" ContentType="application/vnd.openxmlformats-officedocument.drawingml.chart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slides/charts/chart60.xml" ContentType="application/vnd.openxmlformats-officedocument.drawingml.chart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slides/charts/chart61.xml" ContentType="application/vnd.openxmlformats-officedocument.drawingml.chart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slides/charts/chart62.xml" ContentType="application/vnd.openxmlformats-officedocument.drawingml.chart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83181baf364078" /><Relationship Type="http://schemas.openxmlformats.org/officeDocument/2006/relationships/extended-properties" Target="/docProps/app.xml" Id="Rd51cc6284ab74ee8" /><Relationship Type="http://schemas.openxmlformats.org/officeDocument/2006/relationships/officeDocument" Target="/ppt/presentation.xml" Id="Rd797d275650941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23a3cf8fca04190"/>
  </p:sldMasterIdLst>
  <p:notesMasterIdLst>
    <p:notesMasterId xmlns:r="http://schemas.openxmlformats.org/officeDocument/2006/relationships" r:id="R272668d415204995"/>
  </p:notesMasterIdLst>
  <p:sldIdLst>
    <p:sldId xmlns:r="http://schemas.openxmlformats.org/officeDocument/2006/relationships" id="256" r:id="R0a62a6b920a94914"/>
    <p:sldId xmlns:r="http://schemas.openxmlformats.org/officeDocument/2006/relationships" id="257" r:id="R3712a983447f43c6"/>
    <p:sldId xmlns:r="http://schemas.openxmlformats.org/officeDocument/2006/relationships" id="258" r:id="R31caac5dbcbf4305"/>
    <p:sldId xmlns:r="http://schemas.openxmlformats.org/officeDocument/2006/relationships" id="259" r:id="R3a87198e2f4f4d72"/>
    <p:sldId xmlns:r="http://schemas.openxmlformats.org/officeDocument/2006/relationships" id="260" r:id="R6b4f17c8fb804108"/>
    <p:sldId xmlns:r="http://schemas.openxmlformats.org/officeDocument/2006/relationships" id="261" r:id="R4e445aaf96934bdf"/>
    <p:sldId xmlns:r="http://schemas.openxmlformats.org/officeDocument/2006/relationships" id="262" r:id="R2a3544edbdea4e95"/>
    <p:sldId xmlns:r="http://schemas.openxmlformats.org/officeDocument/2006/relationships" id="263" r:id="R6a80e9b34a764941"/>
    <p:sldId xmlns:r="http://schemas.openxmlformats.org/officeDocument/2006/relationships" id="264" r:id="R7557cedf72a34aae"/>
    <p:sldId xmlns:r="http://schemas.openxmlformats.org/officeDocument/2006/relationships" id="265" r:id="R0747c80e74614bf5"/>
    <p:sldId xmlns:r="http://schemas.openxmlformats.org/officeDocument/2006/relationships" id="266" r:id="R1082fc642aef45e6"/>
    <p:sldId xmlns:r="http://schemas.openxmlformats.org/officeDocument/2006/relationships" id="267" r:id="R493627aff2014d02"/>
    <p:sldId xmlns:r="http://schemas.openxmlformats.org/officeDocument/2006/relationships" id="268" r:id="Rd49771ceadb74aac"/>
    <p:sldId xmlns:r="http://schemas.openxmlformats.org/officeDocument/2006/relationships" id="269" r:id="R11c0cb767de64f61"/>
    <p:sldId xmlns:r="http://schemas.openxmlformats.org/officeDocument/2006/relationships" id="270" r:id="R915e9c0cf69e40ec"/>
    <p:sldId xmlns:r="http://schemas.openxmlformats.org/officeDocument/2006/relationships" id="271" r:id="R9a6aedefd7ef4f2c"/>
    <p:sldId xmlns:r="http://schemas.openxmlformats.org/officeDocument/2006/relationships" id="272" r:id="R59ec5b089c55493c"/>
    <p:sldId xmlns:r="http://schemas.openxmlformats.org/officeDocument/2006/relationships" id="273" r:id="R29abeaa3b3e74f2b"/>
    <p:sldId xmlns:r="http://schemas.openxmlformats.org/officeDocument/2006/relationships" id="274" r:id="Rfea9b0e4c9604cf1"/>
    <p:sldId xmlns:r="http://schemas.openxmlformats.org/officeDocument/2006/relationships" id="275" r:id="R883f34d3702e419d"/>
    <p:sldId xmlns:r="http://schemas.openxmlformats.org/officeDocument/2006/relationships" id="276" r:id="R377ce719ea2e43ea"/>
    <p:sldId xmlns:r="http://schemas.openxmlformats.org/officeDocument/2006/relationships" id="277" r:id="Rbe1d9a9d1da0474e"/>
    <p:sldId xmlns:r="http://schemas.openxmlformats.org/officeDocument/2006/relationships" id="278" r:id="Rf9b021bcadbc494e"/>
    <p:sldId xmlns:r="http://schemas.openxmlformats.org/officeDocument/2006/relationships" id="279" r:id="Ra721ffa76ad04ae3"/>
    <p:sldId xmlns:r="http://schemas.openxmlformats.org/officeDocument/2006/relationships" id="280" r:id="R1618da4d61dd44c7"/>
    <p:sldId xmlns:r="http://schemas.openxmlformats.org/officeDocument/2006/relationships" id="281" r:id="Rd0206f0982d84a1d"/>
    <p:sldId xmlns:r="http://schemas.openxmlformats.org/officeDocument/2006/relationships" id="282" r:id="Rb01c74fb657042e7"/>
    <p:sldId xmlns:r="http://schemas.openxmlformats.org/officeDocument/2006/relationships" id="283" r:id="R930c79db0a354753"/>
    <p:sldId xmlns:r="http://schemas.openxmlformats.org/officeDocument/2006/relationships" id="284" r:id="R9b5a0387f6e5406f"/>
    <p:sldId xmlns:r="http://schemas.openxmlformats.org/officeDocument/2006/relationships" id="285" r:id="R98b4aa933e694fbe"/>
    <p:sldId xmlns:r="http://schemas.openxmlformats.org/officeDocument/2006/relationships" id="286" r:id="R79214aee10554907"/>
    <p:sldId xmlns:r="http://schemas.openxmlformats.org/officeDocument/2006/relationships" id="287" r:id="R3a4839e614884b5c"/>
    <p:sldId xmlns:r="http://schemas.openxmlformats.org/officeDocument/2006/relationships" id="288" r:id="R19d27ee2a7bd47c4"/>
    <p:sldId xmlns:r="http://schemas.openxmlformats.org/officeDocument/2006/relationships" id="289" r:id="Rf559b758ce454243"/>
    <p:sldId xmlns:r="http://schemas.openxmlformats.org/officeDocument/2006/relationships" id="290" r:id="Rb67c9126aa5a4cdb"/>
    <p:sldId xmlns:r="http://schemas.openxmlformats.org/officeDocument/2006/relationships" id="291" r:id="R83d025a6d95744f8"/>
    <p:sldId xmlns:r="http://schemas.openxmlformats.org/officeDocument/2006/relationships" id="292" r:id="Rab4946b9cad64898"/>
    <p:sldId xmlns:r="http://schemas.openxmlformats.org/officeDocument/2006/relationships" id="293" r:id="R5c2925dcf7d04fc5"/>
    <p:sldId xmlns:r="http://schemas.openxmlformats.org/officeDocument/2006/relationships" id="294" r:id="R554bd02fe60d431a"/>
    <p:sldId xmlns:r="http://schemas.openxmlformats.org/officeDocument/2006/relationships" id="295" r:id="R464b6e703019429b"/>
    <p:sldId xmlns:r="http://schemas.openxmlformats.org/officeDocument/2006/relationships" id="296" r:id="Rfdf0f23ed28d4e18"/>
    <p:sldId xmlns:r="http://schemas.openxmlformats.org/officeDocument/2006/relationships" id="297" r:id="Rfdac289fcbe64e26"/>
    <p:sldId xmlns:r="http://schemas.openxmlformats.org/officeDocument/2006/relationships" id="298" r:id="Rdb4b4be6b4f44b10"/>
    <p:sldId xmlns:r="http://schemas.openxmlformats.org/officeDocument/2006/relationships" id="299" r:id="Rb6a7605203aa466b"/>
    <p:sldId xmlns:r="http://schemas.openxmlformats.org/officeDocument/2006/relationships" id="300" r:id="R4073fb35037c46ba"/>
    <p:sldId xmlns:r="http://schemas.openxmlformats.org/officeDocument/2006/relationships" id="301" r:id="R29e5c4ef67994c77"/>
    <p:sldId xmlns:r="http://schemas.openxmlformats.org/officeDocument/2006/relationships" id="302" r:id="R29d8ab5a11644969"/>
    <p:sldId xmlns:r="http://schemas.openxmlformats.org/officeDocument/2006/relationships" id="303" r:id="R64972e9056a04835"/>
    <p:sldId xmlns:r="http://schemas.openxmlformats.org/officeDocument/2006/relationships" id="304" r:id="R34a1040e4073479d"/>
    <p:sldId xmlns:r="http://schemas.openxmlformats.org/officeDocument/2006/relationships" id="305" r:id="R53e17857cfca4ef7"/>
    <p:sldId xmlns:r="http://schemas.openxmlformats.org/officeDocument/2006/relationships" id="306" r:id="Rde738f5b5fc7457b"/>
    <p:sldId xmlns:r="http://schemas.openxmlformats.org/officeDocument/2006/relationships" id="307" r:id="R71225193c6f54466"/>
    <p:sldId xmlns:r="http://schemas.openxmlformats.org/officeDocument/2006/relationships" id="308" r:id="Ra812ca04fe724a26"/>
    <p:sldId xmlns:r="http://schemas.openxmlformats.org/officeDocument/2006/relationships" id="309" r:id="R955d28c0172549ac"/>
    <p:sldId xmlns:r="http://schemas.openxmlformats.org/officeDocument/2006/relationships" id="310" r:id="Re7baee9b54de423c"/>
    <p:sldId xmlns:r="http://schemas.openxmlformats.org/officeDocument/2006/relationships" id="311" r:id="R64fab6edae804def"/>
    <p:sldId xmlns:r="http://schemas.openxmlformats.org/officeDocument/2006/relationships" id="312" r:id="R70ef13d381f8446a"/>
    <p:sldId xmlns:r="http://schemas.openxmlformats.org/officeDocument/2006/relationships" id="313" r:id="R933c0c14a2b24e39"/>
    <p:sldId xmlns:r="http://schemas.openxmlformats.org/officeDocument/2006/relationships" id="314" r:id="R6c717bd8c7864c00"/>
    <p:sldId xmlns:r="http://schemas.openxmlformats.org/officeDocument/2006/relationships" id="315" r:id="Rf8602b9913c24be0"/>
    <p:sldId xmlns:r="http://schemas.openxmlformats.org/officeDocument/2006/relationships" id="316" r:id="Rce26ff6716394d77"/>
    <p:sldId xmlns:r="http://schemas.openxmlformats.org/officeDocument/2006/relationships" id="317" r:id="R030eb4909cf54b77"/>
    <p:sldId xmlns:r="http://schemas.openxmlformats.org/officeDocument/2006/relationships" id="318" r:id="R0870a0c32bbc4117"/>
    <p:sldId xmlns:r="http://schemas.openxmlformats.org/officeDocument/2006/relationships" id="319" r:id="R422f45a82c3b47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507b0a2bba40f4" /><Relationship Type="http://schemas.openxmlformats.org/officeDocument/2006/relationships/slideMaster" Target="/ppt/slideMasters/slideMaster1.xml" Id="R423a3cf8fca04190" /><Relationship Type="http://schemas.openxmlformats.org/officeDocument/2006/relationships/notesMaster" Target="/ppt/notesMasters/notesMaster1.xml" Id="R272668d415204995" /><Relationship Type="http://schemas.openxmlformats.org/officeDocument/2006/relationships/presProps" Target="/ppt/presProps.xml" Id="R8f8e716cef0a41a2" /><Relationship Type="http://schemas.openxmlformats.org/officeDocument/2006/relationships/tableStyles" Target="/ppt/tableStyles.xml" Id="R7b5e70ae177d46c1" /><Relationship Type="http://schemas.openxmlformats.org/officeDocument/2006/relationships/slide" Target="/ppt/slides/slide1.xml" Id="R0a62a6b920a94914" /><Relationship Type="http://schemas.openxmlformats.org/officeDocument/2006/relationships/slide" Target="/ppt/slides/slide2.xml" Id="R3712a983447f43c6" /><Relationship Type="http://schemas.openxmlformats.org/officeDocument/2006/relationships/slide" Target="/ppt/slides/slide3.xml" Id="R31caac5dbcbf4305" /><Relationship Type="http://schemas.openxmlformats.org/officeDocument/2006/relationships/slide" Target="/ppt/slides/slide4.xml" Id="R3a87198e2f4f4d72" /><Relationship Type="http://schemas.openxmlformats.org/officeDocument/2006/relationships/slide" Target="/ppt/slides/slide5.xml" Id="R6b4f17c8fb804108" /><Relationship Type="http://schemas.openxmlformats.org/officeDocument/2006/relationships/slide" Target="/ppt/slides/slide6.xml" Id="R4e445aaf96934bdf" /><Relationship Type="http://schemas.openxmlformats.org/officeDocument/2006/relationships/slide" Target="/ppt/slides/slide7.xml" Id="R2a3544edbdea4e95" /><Relationship Type="http://schemas.openxmlformats.org/officeDocument/2006/relationships/slide" Target="/ppt/slides/slide8.xml" Id="R6a80e9b34a764941" /><Relationship Type="http://schemas.openxmlformats.org/officeDocument/2006/relationships/slide" Target="/ppt/slides/slide9.xml" Id="R7557cedf72a34aae" /><Relationship Type="http://schemas.openxmlformats.org/officeDocument/2006/relationships/slide" Target="/ppt/slides/slide10.xml" Id="R0747c80e74614bf5" /><Relationship Type="http://schemas.openxmlformats.org/officeDocument/2006/relationships/slide" Target="/ppt/slides/slide11.xml" Id="R1082fc642aef45e6" /><Relationship Type="http://schemas.openxmlformats.org/officeDocument/2006/relationships/slide" Target="/ppt/slides/slide12.xml" Id="R493627aff2014d02" /><Relationship Type="http://schemas.openxmlformats.org/officeDocument/2006/relationships/slide" Target="/ppt/slides/slide13.xml" Id="Rd49771ceadb74aac" /><Relationship Type="http://schemas.openxmlformats.org/officeDocument/2006/relationships/slide" Target="/ppt/slides/slide14.xml" Id="R11c0cb767de64f61" /><Relationship Type="http://schemas.openxmlformats.org/officeDocument/2006/relationships/slide" Target="/ppt/slides/slide15.xml" Id="R915e9c0cf69e40ec" /><Relationship Type="http://schemas.openxmlformats.org/officeDocument/2006/relationships/slide" Target="/ppt/slides/slide16.xml" Id="R9a6aedefd7ef4f2c" /><Relationship Type="http://schemas.openxmlformats.org/officeDocument/2006/relationships/slide" Target="/ppt/slides/slide17.xml" Id="R59ec5b089c55493c" /><Relationship Type="http://schemas.openxmlformats.org/officeDocument/2006/relationships/slide" Target="/ppt/slides/slide18.xml" Id="R29abeaa3b3e74f2b" /><Relationship Type="http://schemas.openxmlformats.org/officeDocument/2006/relationships/slide" Target="/ppt/slides/slide19.xml" Id="Rfea9b0e4c9604cf1" /><Relationship Type="http://schemas.openxmlformats.org/officeDocument/2006/relationships/slide" Target="/ppt/slides/slide20.xml" Id="R883f34d3702e419d" /><Relationship Type="http://schemas.openxmlformats.org/officeDocument/2006/relationships/slide" Target="/ppt/slides/slide21.xml" Id="R377ce719ea2e43ea" /><Relationship Type="http://schemas.openxmlformats.org/officeDocument/2006/relationships/slide" Target="/ppt/slides/slide22.xml" Id="Rbe1d9a9d1da0474e" /><Relationship Type="http://schemas.openxmlformats.org/officeDocument/2006/relationships/slide" Target="/ppt/slides/slide23.xml" Id="Rf9b021bcadbc494e" /><Relationship Type="http://schemas.openxmlformats.org/officeDocument/2006/relationships/slide" Target="/ppt/slides/slide24.xml" Id="Ra721ffa76ad04ae3" /><Relationship Type="http://schemas.openxmlformats.org/officeDocument/2006/relationships/slide" Target="/ppt/slides/slide25.xml" Id="R1618da4d61dd44c7" /><Relationship Type="http://schemas.openxmlformats.org/officeDocument/2006/relationships/slide" Target="/ppt/slides/slide26.xml" Id="Rd0206f0982d84a1d" /><Relationship Type="http://schemas.openxmlformats.org/officeDocument/2006/relationships/slide" Target="/ppt/slides/slide27.xml" Id="Rb01c74fb657042e7" /><Relationship Type="http://schemas.openxmlformats.org/officeDocument/2006/relationships/slide" Target="/ppt/slides/slide28.xml" Id="R930c79db0a354753" /><Relationship Type="http://schemas.openxmlformats.org/officeDocument/2006/relationships/slide" Target="/ppt/slides/slide29.xml" Id="R9b5a0387f6e5406f" /><Relationship Type="http://schemas.openxmlformats.org/officeDocument/2006/relationships/slide" Target="/ppt/slides/slide30.xml" Id="R98b4aa933e694fbe" /><Relationship Type="http://schemas.openxmlformats.org/officeDocument/2006/relationships/slide" Target="/ppt/slides/slide31.xml" Id="R79214aee10554907" /><Relationship Type="http://schemas.openxmlformats.org/officeDocument/2006/relationships/slide" Target="/ppt/slides/slide32.xml" Id="R3a4839e614884b5c" /><Relationship Type="http://schemas.openxmlformats.org/officeDocument/2006/relationships/slide" Target="/ppt/slides/slide33.xml" Id="R19d27ee2a7bd47c4" /><Relationship Type="http://schemas.openxmlformats.org/officeDocument/2006/relationships/slide" Target="/ppt/slides/slide34.xml" Id="Rf559b758ce454243" /><Relationship Type="http://schemas.openxmlformats.org/officeDocument/2006/relationships/slide" Target="/ppt/slides/slide35.xml" Id="Rb67c9126aa5a4cdb" /><Relationship Type="http://schemas.openxmlformats.org/officeDocument/2006/relationships/slide" Target="/ppt/slides/slide36.xml" Id="R83d025a6d95744f8" /><Relationship Type="http://schemas.openxmlformats.org/officeDocument/2006/relationships/slide" Target="/ppt/slides/slide37.xml" Id="Rab4946b9cad64898" /><Relationship Type="http://schemas.openxmlformats.org/officeDocument/2006/relationships/slide" Target="/ppt/slides/slide38.xml" Id="R5c2925dcf7d04fc5" /><Relationship Type="http://schemas.openxmlformats.org/officeDocument/2006/relationships/slide" Target="/ppt/slides/slide39.xml" Id="R554bd02fe60d431a" /><Relationship Type="http://schemas.openxmlformats.org/officeDocument/2006/relationships/slide" Target="/ppt/slides/slide40.xml" Id="R464b6e703019429b" /><Relationship Type="http://schemas.openxmlformats.org/officeDocument/2006/relationships/slide" Target="/ppt/slides/slide41.xml" Id="Rfdf0f23ed28d4e18" /><Relationship Type="http://schemas.openxmlformats.org/officeDocument/2006/relationships/slide" Target="/ppt/slides/slide42.xml" Id="Rfdac289fcbe64e26" /><Relationship Type="http://schemas.openxmlformats.org/officeDocument/2006/relationships/slide" Target="/ppt/slides/slide43.xml" Id="Rdb4b4be6b4f44b10" /><Relationship Type="http://schemas.openxmlformats.org/officeDocument/2006/relationships/slide" Target="/ppt/slides/slide44.xml" Id="Rb6a7605203aa466b" /><Relationship Type="http://schemas.openxmlformats.org/officeDocument/2006/relationships/slide" Target="/ppt/slides/slide45.xml" Id="R4073fb35037c46ba" /><Relationship Type="http://schemas.openxmlformats.org/officeDocument/2006/relationships/slide" Target="/ppt/slides/slide46.xml" Id="R29e5c4ef67994c77" /><Relationship Type="http://schemas.openxmlformats.org/officeDocument/2006/relationships/slide" Target="/ppt/slides/slide47.xml" Id="R29d8ab5a11644969" /><Relationship Type="http://schemas.openxmlformats.org/officeDocument/2006/relationships/slide" Target="/ppt/slides/slide48.xml" Id="R64972e9056a04835" /><Relationship Type="http://schemas.openxmlformats.org/officeDocument/2006/relationships/slide" Target="/ppt/slides/slide49.xml" Id="R34a1040e4073479d" /><Relationship Type="http://schemas.openxmlformats.org/officeDocument/2006/relationships/slide" Target="/ppt/slides/slide50.xml" Id="R53e17857cfca4ef7" /><Relationship Type="http://schemas.openxmlformats.org/officeDocument/2006/relationships/slide" Target="/ppt/slides/slide51.xml" Id="Rde738f5b5fc7457b" /><Relationship Type="http://schemas.openxmlformats.org/officeDocument/2006/relationships/slide" Target="/ppt/slides/slide52.xml" Id="R71225193c6f54466" /><Relationship Type="http://schemas.openxmlformats.org/officeDocument/2006/relationships/slide" Target="/ppt/slides/slide53.xml" Id="Ra812ca04fe724a26" /><Relationship Type="http://schemas.openxmlformats.org/officeDocument/2006/relationships/slide" Target="/ppt/slides/slide54.xml" Id="R955d28c0172549ac" /><Relationship Type="http://schemas.openxmlformats.org/officeDocument/2006/relationships/slide" Target="/ppt/slides/slide55.xml" Id="Re7baee9b54de423c" /><Relationship Type="http://schemas.openxmlformats.org/officeDocument/2006/relationships/slide" Target="/ppt/slides/slide56.xml" Id="R64fab6edae804def" /><Relationship Type="http://schemas.openxmlformats.org/officeDocument/2006/relationships/slide" Target="/ppt/slides/slide57.xml" Id="R70ef13d381f8446a" /><Relationship Type="http://schemas.openxmlformats.org/officeDocument/2006/relationships/slide" Target="/ppt/slides/slide58.xml" Id="R933c0c14a2b24e39" /><Relationship Type="http://schemas.openxmlformats.org/officeDocument/2006/relationships/slide" Target="/ppt/slides/slide59.xml" Id="R6c717bd8c7864c00" /><Relationship Type="http://schemas.openxmlformats.org/officeDocument/2006/relationships/slide" Target="/ppt/slides/slide60.xml" Id="Rf8602b9913c24be0" /><Relationship Type="http://schemas.openxmlformats.org/officeDocument/2006/relationships/slide" Target="/ppt/slides/slide61.xml" Id="Rce26ff6716394d77" /><Relationship Type="http://schemas.openxmlformats.org/officeDocument/2006/relationships/slide" Target="/ppt/slides/slide62.xml" Id="R030eb4909cf54b77" /><Relationship Type="http://schemas.openxmlformats.org/officeDocument/2006/relationships/slide" Target="/ppt/slides/slide63.xml" Id="R0870a0c32bbc4117" /><Relationship Type="http://schemas.openxmlformats.org/officeDocument/2006/relationships/slide" Target="/ppt/slides/slide64.xml" Id="R422f45a82c3b47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2a4023c3be43e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63fa4b789044f0d" /><Relationship Type="http://schemas.openxmlformats.org/officeDocument/2006/relationships/notesMaster" Target="/ppt/notesMasters/notesMaster1.xml" Id="Raf3d2bdb5af24d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67c040f7bea45bf" /><Relationship Type="http://schemas.openxmlformats.org/officeDocument/2006/relationships/notesMaster" Target="/ppt/notesMasters/notesMaster1.xml" Id="R2298da9490b24b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199c25d3f914b9e" /><Relationship Type="http://schemas.openxmlformats.org/officeDocument/2006/relationships/notesMaster" Target="/ppt/notesMasters/notesMaster1.xml" Id="R01acad11e46841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2550b1313e4c5c" /><Relationship Type="http://schemas.openxmlformats.org/officeDocument/2006/relationships/notesMaster" Target="/ppt/notesMasters/notesMaster1.xml" Id="Re0e9356a157140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0a88dcac0f6434b" /><Relationship Type="http://schemas.openxmlformats.org/officeDocument/2006/relationships/notesMaster" Target="/ppt/notesMasters/notesMaster1.xml" Id="R759b5c1cc73148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4927cc6f87041d8" /><Relationship Type="http://schemas.openxmlformats.org/officeDocument/2006/relationships/notesMaster" Target="/ppt/notesMasters/notesMaster1.xml" Id="Ra1a28c00cd774e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45c67564f64cac" /><Relationship Type="http://schemas.openxmlformats.org/officeDocument/2006/relationships/notesMaster" Target="/ppt/notesMasters/notesMaster1.xml" Id="R133f8ffc23374d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a08661c52d4fdd" /><Relationship Type="http://schemas.openxmlformats.org/officeDocument/2006/relationships/notesMaster" Target="/ppt/notesMasters/notesMaster1.xml" Id="Ra818865145d3470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3ce818bbbb4179" /><Relationship Type="http://schemas.openxmlformats.org/officeDocument/2006/relationships/notesMaster" Target="/ppt/notesMasters/notesMaster1.xml" Id="R160922ef97a0456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a465834aa054590" /><Relationship Type="http://schemas.openxmlformats.org/officeDocument/2006/relationships/notesMaster" Target="/ppt/notesMasters/notesMaster1.xml" Id="R56061c74bea04c2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2e33b19b6d44da5" /><Relationship Type="http://schemas.openxmlformats.org/officeDocument/2006/relationships/notesMaster" Target="/ppt/notesMasters/notesMaster1.xml" Id="R6278eb62671c41f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20a82e85da4e81" /><Relationship Type="http://schemas.openxmlformats.org/officeDocument/2006/relationships/notesMaster" Target="/ppt/notesMasters/notesMaster1.xml" Id="Ra4bde61f44af4bf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2f58da6f5244cba" /><Relationship Type="http://schemas.openxmlformats.org/officeDocument/2006/relationships/notesMaster" Target="/ppt/notesMasters/notesMaster1.xml" Id="R8893370cb31d425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6ee098a510a4d6e" /><Relationship Type="http://schemas.openxmlformats.org/officeDocument/2006/relationships/notesMaster" Target="/ppt/notesMasters/notesMaster1.xml" Id="R1fd6e81d3eaf40c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cc0bbbc39584501" /><Relationship Type="http://schemas.openxmlformats.org/officeDocument/2006/relationships/notesMaster" Target="/ppt/notesMasters/notesMaster1.xml" Id="R987b83cd64bc484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a7dda95555c44c0" /><Relationship Type="http://schemas.openxmlformats.org/officeDocument/2006/relationships/notesMaster" Target="/ppt/notesMasters/notesMaster1.xml" Id="Rff41eb1e9e544d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3b0af1e0044478f" /><Relationship Type="http://schemas.openxmlformats.org/officeDocument/2006/relationships/notesMaster" Target="/ppt/notesMasters/notesMaster1.xml" Id="Rfc674793daec4b0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272fd3b4324007" /><Relationship Type="http://schemas.openxmlformats.org/officeDocument/2006/relationships/notesMaster" Target="/ppt/notesMasters/notesMaster1.xml" Id="Rcb8bc1d8b3bc487e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85a64e6a5fc48f4" /><Relationship Type="http://schemas.openxmlformats.org/officeDocument/2006/relationships/notesMaster" Target="/ppt/notesMasters/notesMaster1.xml" Id="Rb3640ce810b649f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12e0697dd774483" /><Relationship Type="http://schemas.openxmlformats.org/officeDocument/2006/relationships/notesMaster" Target="/ppt/notesMasters/notesMaster1.xml" Id="R6aed07f53b4c4ab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8dfe883b2d24f76" /><Relationship Type="http://schemas.openxmlformats.org/officeDocument/2006/relationships/notesMaster" Target="/ppt/notesMasters/notesMaster1.xml" Id="R972cdb372980486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097ca63d96d64ee8" /><Relationship Type="http://schemas.openxmlformats.org/officeDocument/2006/relationships/notesMaster" Target="/ppt/notesMasters/notesMaster1.xml" Id="R084046f5e17d40a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3c8fd2e6cc54430" /><Relationship Type="http://schemas.openxmlformats.org/officeDocument/2006/relationships/notesMaster" Target="/ppt/notesMasters/notesMaster1.xml" Id="R95f56ad85d39470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a8af52cf0e74ce6" /><Relationship Type="http://schemas.openxmlformats.org/officeDocument/2006/relationships/notesMaster" Target="/ppt/notesMasters/notesMaster1.xml" Id="Rf9456a6f03e1477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8c1c50475b645c1" /><Relationship Type="http://schemas.openxmlformats.org/officeDocument/2006/relationships/notesMaster" Target="/ppt/notesMasters/notesMaster1.xml" Id="R2c75b0c8b85b4d7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21f2d9847b714a9f" /><Relationship Type="http://schemas.openxmlformats.org/officeDocument/2006/relationships/notesMaster" Target="/ppt/notesMasters/notesMaster1.xml" Id="R5e68fa9914a0484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64e455a78e547f3" /><Relationship Type="http://schemas.openxmlformats.org/officeDocument/2006/relationships/notesMaster" Target="/ppt/notesMasters/notesMaster1.xml" Id="R8e7d63b6b39143b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665e00bd367740dc" /><Relationship Type="http://schemas.openxmlformats.org/officeDocument/2006/relationships/notesMaster" Target="/ppt/notesMasters/notesMaster1.xml" Id="Re6733b5040f442e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dab9ae3ce554db1" /><Relationship Type="http://schemas.openxmlformats.org/officeDocument/2006/relationships/notesMaster" Target="/ppt/notesMasters/notesMaster1.xml" Id="R9f63b9d1bf5a43f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4a83fbc270046f3" /><Relationship Type="http://schemas.openxmlformats.org/officeDocument/2006/relationships/notesMaster" Target="/ppt/notesMasters/notesMaster1.xml" Id="R61889fc05317477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5fb1d05cfb0548eb" /><Relationship Type="http://schemas.openxmlformats.org/officeDocument/2006/relationships/notesMaster" Target="/ppt/notesMasters/notesMaster1.xml" Id="R90714b0aa9b74281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67c9c2a4a904563" /><Relationship Type="http://schemas.openxmlformats.org/officeDocument/2006/relationships/notesMaster" Target="/ppt/notesMasters/notesMaster1.xml" Id="R4e0d343da63642fa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7a7946839824a0d" /><Relationship Type="http://schemas.openxmlformats.org/officeDocument/2006/relationships/notesMaster" Target="/ppt/notesMasters/notesMaster1.xml" Id="R33fe118d92b04741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a41338c5ff354768" /><Relationship Type="http://schemas.openxmlformats.org/officeDocument/2006/relationships/notesMaster" Target="/ppt/notesMasters/notesMaster1.xml" Id="Rb3f80c128ed3420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f03e2cfc65b4ea3" /><Relationship Type="http://schemas.openxmlformats.org/officeDocument/2006/relationships/notesMaster" Target="/ppt/notesMasters/notesMaster1.xml" Id="R4b95c3b5aca146f5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782845134ec4020" /><Relationship Type="http://schemas.openxmlformats.org/officeDocument/2006/relationships/notesMaster" Target="/ppt/notesMasters/notesMaster1.xml" Id="Rbddab066da41494d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bf1c274cb14748b1" /><Relationship Type="http://schemas.openxmlformats.org/officeDocument/2006/relationships/notesMaster" Target="/ppt/notesMasters/notesMaster1.xml" Id="R427b042c3bdf405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cef032aac504014" /><Relationship Type="http://schemas.openxmlformats.org/officeDocument/2006/relationships/notesMaster" Target="/ppt/notesMasters/notesMaster1.xml" Id="R506e0229c47a4f1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129b78a792b469f" /><Relationship Type="http://schemas.openxmlformats.org/officeDocument/2006/relationships/notesMaster" Target="/ppt/notesMasters/notesMaster1.xml" Id="R2a9f77434f4041e0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454cda84609b4803" /><Relationship Type="http://schemas.openxmlformats.org/officeDocument/2006/relationships/notesMaster" Target="/ppt/notesMasters/notesMaster1.xml" Id="Rcfa610b353eb4fdf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be3d1acd96c64899" /><Relationship Type="http://schemas.openxmlformats.org/officeDocument/2006/relationships/notesMaster" Target="/ppt/notesMasters/notesMaster1.xml" Id="Redb0204ca93f4379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dcb9422765c64584" /><Relationship Type="http://schemas.openxmlformats.org/officeDocument/2006/relationships/notesMaster" Target="/ppt/notesMasters/notesMaster1.xml" Id="R8039e11da54d489a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762208b87474e11" /><Relationship Type="http://schemas.openxmlformats.org/officeDocument/2006/relationships/notesMaster" Target="/ppt/notesMasters/notesMaster1.xml" Id="Rd899a7d8cb2c49f8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43392eaaaa1149f5" /><Relationship Type="http://schemas.openxmlformats.org/officeDocument/2006/relationships/notesMaster" Target="/ppt/notesMasters/notesMaster1.xml" Id="R521bf5c8e088473f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b1b92473e5e4f2a" /><Relationship Type="http://schemas.openxmlformats.org/officeDocument/2006/relationships/notesMaster" Target="/ppt/notesMasters/notesMaster1.xml" Id="Ra5f04cd7aeb744f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ee34a2148224bbd" /><Relationship Type="http://schemas.openxmlformats.org/officeDocument/2006/relationships/notesMaster" Target="/ppt/notesMasters/notesMaster1.xml" Id="Rfc65b2180ed9468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3b18b90e23174381" /><Relationship Type="http://schemas.openxmlformats.org/officeDocument/2006/relationships/notesMaster" Target="/ppt/notesMasters/notesMaster1.xml" Id="R37855ce3da5d4437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56cfe38003b043a1" /><Relationship Type="http://schemas.openxmlformats.org/officeDocument/2006/relationships/notesMaster" Target="/ppt/notesMasters/notesMaster1.xml" Id="R6761096fb32144d7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bad2890424a94201" /><Relationship Type="http://schemas.openxmlformats.org/officeDocument/2006/relationships/notesMaster" Target="/ppt/notesMasters/notesMaster1.xml" Id="Rfac75fe59c934bc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32a87bf0ff2c4859" /><Relationship Type="http://schemas.openxmlformats.org/officeDocument/2006/relationships/notesMaster" Target="/ppt/notesMasters/notesMaster1.xml" Id="R82d8b7e1e47740d4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6137a5675c7447cc" /><Relationship Type="http://schemas.openxmlformats.org/officeDocument/2006/relationships/notesMaster" Target="/ppt/notesMasters/notesMaster1.xml" Id="R850ab4ffbcec4e61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29613f04489b48d2" /><Relationship Type="http://schemas.openxmlformats.org/officeDocument/2006/relationships/notesMaster" Target="/ppt/notesMasters/notesMaster1.xml" Id="Rfc7835dc083e46dc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7d10fe9b16940e0" /><Relationship Type="http://schemas.openxmlformats.org/officeDocument/2006/relationships/notesMaster" Target="/ppt/notesMasters/notesMaster1.xml" Id="R6e2dafcfd86e4d9e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3141445f9e14c63" /><Relationship Type="http://schemas.openxmlformats.org/officeDocument/2006/relationships/notesMaster" Target="/ppt/notesMasters/notesMaster1.xml" Id="Rb41c7544924c47af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4b2f862ac2e405e" /><Relationship Type="http://schemas.openxmlformats.org/officeDocument/2006/relationships/notesMaster" Target="/ppt/notesMasters/notesMaster1.xml" Id="R77b8c7d1ed624032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38aec16bdce74dde" /><Relationship Type="http://schemas.openxmlformats.org/officeDocument/2006/relationships/notesMaster" Target="/ppt/notesMasters/notesMaster1.xml" Id="R5dc4a31ef7c04cfd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59c7b5519d00428d" /><Relationship Type="http://schemas.openxmlformats.org/officeDocument/2006/relationships/notesMaster" Target="/ppt/notesMasters/notesMaster1.xml" Id="R407512e4a91b45de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0a09e2ce018349dc" /><Relationship Type="http://schemas.openxmlformats.org/officeDocument/2006/relationships/notesMaster" Target="/ppt/notesMasters/notesMaster1.xml" Id="Rb8ea13c9f4a0496e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ab7f634f5d74abb" /><Relationship Type="http://schemas.openxmlformats.org/officeDocument/2006/relationships/notesMaster" Target="/ppt/notesMasters/notesMaster1.xml" Id="Rbd6862368b664dec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347cc30dd42241aa" /><Relationship Type="http://schemas.openxmlformats.org/officeDocument/2006/relationships/notesMaster" Target="/ppt/notesMasters/notesMaster1.xml" Id="R03c6e48aeb964cfa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ca737a7c8e2b43a6" /><Relationship Type="http://schemas.openxmlformats.org/officeDocument/2006/relationships/notesMaster" Target="/ppt/notesMasters/notesMaster1.xml" Id="Rc4a9ed29a1194547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1b544b2825b24308" /><Relationship Type="http://schemas.openxmlformats.org/officeDocument/2006/relationships/notesMaster" Target="/ppt/notesMasters/notesMaster1.xml" Id="Rde8c98533fc740f1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9bb4a9aff2f741b0" /><Relationship Type="http://schemas.openxmlformats.org/officeDocument/2006/relationships/notesMaster" Target="/ppt/notesMasters/notesMaster1.xml" Id="Rb3e34386c7dc4f2a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c6870700007249f8" /><Relationship Type="http://schemas.openxmlformats.org/officeDocument/2006/relationships/notesMaster" Target="/ppt/notesMasters/notesMaster1.xml" Id="R94071dc74e1446b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fundos para PL, cotistas e prestadores.</a:t>
            </a:r>
          </a:p>
          <a:p xmlns:a="http://schemas.openxmlformats.org/drawingml/2006/main">
            <a:r>
              <a:t>- CVM/SRE — ofertas granulares até jun/26: https://dados.cvm.gov.br/dataset/oferta-distrib</a:t>
            </a:r>
          </a:p>
          <a:p xmlns:a="http://schemas.openxmlformats.org/drawingml/2006/main">
            <a:r>
              <a:t>- ANBIMA Data — comparativo de mercado por valor encerrado até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documentos públicos usados nas análises documentais.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Metodologia: ofertas públicas primárias, status Oferta Encerrada, data de encerramento no período e Valor_Total_Registrado positivo; snapshot 24/jul/26.</a:t>
            </a:r>
          </a:p>
          <a:p xmlns:a="http://schemas.openxmlformats.org/drawingml/2006/main">
            <a:r>
              <a:t>- Limitação: volume registrado pode diferir do valor efetivamente encerrado; taxonomia CVM declarada preservada.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Anexo oficial XLSX, aba 02-02-Vlr e Anexo - Doméstico: https://data-strapi.prd.anbima.com.br/uploads/Boletim_MK_Anexo_8_33b8963678.xlsx</a:t>
            </a:r>
          </a:p>
          <a:p xmlns:a="http://schemas.openxmlformats.org/drawingml/2006/main">
            <a:r>
              <a:t>- Métrica: Valor Encerrado por data de encerramento das ofertas públicas; 2026 considera jan–mai. Debêntures incluem debêntures de securitização.</a:t>
            </a:r>
          </a:p>
          <a:p xmlns:a="http://schemas.openxmlformats.org/drawingml/2006/main">
            <a:r>
              <a:t>- Limitação: o anexo não segrega sistematicamente ofertas primárias e secundárias para renda fixa e fundos e está sujeito a retificações.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CVM, Informe Mensal FIDC, Tabelas I, II e IV, 2026-06</a:t>
            </a:r>
          </a:p>
          <a:p xmlns:a="http://schemas.openxmlformats.org/drawingml/2006/main">
            <a:r>
              <a:t>- coorte atual ex-FIC, PL positivo e um único tipo Tabela II; concentração calculada somente entre fundos com inadimplência ajustada positiva</a:t>
            </a:r>
          </a:p>
          <a:p xmlns:a="http://schemas.openxmlformats.org/drawingml/2006/main">
            <a:r>
              <a:t>- fundos com zero, ausência de reporte, atraso de reporte ou inconsistência carteira/inadimplência ficam fora da dispersão; HHI e Gini medem concentração do valor reportado e não causalidade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4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17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PL jun/26 possui cobertura integral de 20/20 neste grupo; mai/26 também cobre os mesmos fundos. Unidade: CNPJ do fundo, com classes agregadas.</a:t>
            </a:r>
          </a:p>
          <a:p xmlns:a="http://schemas.openxmlformats.org/drawingml/2006/main">
            <a:r>
              <a:t>- Prestadores: administrador do Informe Mensal jun/26; gestor e custodiante da fotografia cadastral carregada em 21/jul/26.</a:t>
            </a:r>
          </a:p>
          <a:p xmlns:a="http://schemas.openxmlformats.org/drawingml/2006/main">
            <a:r>
              <a:t>- Cedente/originador: 20 de 20 com leitura curada concluída; lacunas permanecem N/D. Fonte, data, evidência e limitações constam no workbook.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regime de colocação conforme declarado na oferta; campo ausente nos arquivos consultados = Não informado.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oferta_distribuicao.csv: https://dados.cvm.gov.br/dataset/oferta-distrib</a:t>
            </a:r>
          </a:p>
          <a:p xmlns:a="http://schemas.openxmlformats.org/drawingml/2006/main">
            <a:r>
              <a:t>- FundosNet/B3 — documento público de rating mais recente conciliado com a oferta, emissão, série ou subclasse.</a:t>
            </a:r>
          </a:p>
          <a:p xmlns:a="http://schemas.openxmlformats.org/drawingml/2006/main">
            <a:r>
              <a:t>- Limitação: a base pública recuperada contém sete ofertas legadas encerradas em 2022; o período é parcial e não sustenta Top 15 anual completo.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Data — comparativo de mercado por valor encerrado, snapshot mai/26; 2026 = jan–mai: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Data — Boletim de Mercado de Capitais, snapshot mai/26: https://data.anbima.com.br/publicacoes/boletim-de-mercado-de-capitais/mercado-de-capitais-segue-resiliente-com-283-bi-em-ofertas-acumuladas-no-ano</a:t>
            </a:r>
          </a:p>
          <a:p xmlns:a="http://schemas.openxmlformats.org/drawingml/2006/main">
            <a:r>
              <a:t>- ANBIMA — anexo oficial XLSX: https://data-strapi.prd.anbima.com.br/uploads/Boletim_MK_Anexo_8_33b8963678.xlsx</a:t>
            </a:r>
          </a:p>
          <a:p xmlns:a="http://schemas.openxmlformats.org/drawingml/2006/main">
            <a:r>
              <a:t>- FundosNet/B3 — documentos públicos usados na conciliação de ratings.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 — Informe Mensal de FIDC e cadastro de prestadores por competência.</a:t>
            </a:r>
          </a:p>
          <a:p xmlns:a="http://schemas.openxmlformats.org/drawingml/2006/main">
            <a:r>
              <a:t>- PL comparável da indústria = menor PL entre dez/24 e dez/25 para cada CNPJ elegível.</a:t>
            </a:r>
          </a:p>
          <a:p xmlns:a="http://schemas.openxmlformats.org/drawingml/2006/main">
            <a:r>
              <a:t>- Coorte CBSF/Reag: administrador de origem CNPJ 34.829.992/0001-86 em dez/25; destino em jun/26.</a:t>
            </a:r>
          </a:p>
          <a:p xmlns:a="http://schemas.openxmlformats.org/drawingml/2006/main">
            <a:r>
              <a:t>- Limitação: ausência de reporte no destino não comprova liquidação do fundo; gestor e custodiante históricos não são observáveis na mesma base.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89edba6ca14a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8be43c021c44f1" /><Relationship Type="http://schemas.openxmlformats.org/officeDocument/2006/relationships/slideLayout" Target="/ppt/slideLayouts/slideLayout1.xml" Id="Rae0e6479b4c24b4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0e6479b4c24b4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eeb66e41b3437d" /><Relationship Type="http://schemas.openxmlformats.org/officeDocument/2006/relationships/notesSlide" Target="/ppt/notesSlides/notesSlide1.xml" Id="R8a259f1c26244a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0a1e646c71422f" /><Relationship Type="http://schemas.openxmlformats.org/officeDocument/2006/relationships/notesSlide" Target="/ppt/notesSlides/notesSlide2.xml" Id="Rbc81cb64eeb147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919301bdc44916" /><Relationship Type="http://schemas.openxmlformats.org/officeDocument/2006/relationships/chart" Target="/ppt/slides/charts/chart1.xml" Id="Rdd2cc0a1aa8b44a6" /><Relationship Type="http://schemas.openxmlformats.org/officeDocument/2006/relationships/chart" Target="/ppt/slides/charts/chart2.xml" Id="Rcb1e7996d952477c" /><Relationship Type="http://schemas.openxmlformats.org/officeDocument/2006/relationships/chart" Target="/ppt/slides/charts/chart3.xml" Id="R98cc100bf9c84a30" /><Relationship Type="http://schemas.openxmlformats.org/officeDocument/2006/relationships/notesSlide" Target="/ppt/notesSlides/notesSlide3.xml" Id="R8e59ff7f5ee14a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d25b1fe057424a" /><Relationship Type="http://schemas.openxmlformats.org/officeDocument/2006/relationships/chart" Target="/ppt/slides/charts/chart4.xml" Id="R9087b7f6b4a54716" /><Relationship Type="http://schemas.openxmlformats.org/officeDocument/2006/relationships/chart" Target="/ppt/slides/charts/chart5.xml" Id="Rbc40ce8191534ff6" /><Relationship Type="http://schemas.openxmlformats.org/officeDocument/2006/relationships/notesSlide" Target="/ppt/notesSlides/notesSlide4.xml" Id="R1ef170aff2ac4c2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8c1990c5684a40" /><Relationship Type="http://schemas.openxmlformats.org/officeDocument/2006/relationships/chart" Target="/ppt/slides/charts/chart6.xml" Id="R1fdedefcc9014586" /><Relationship Type="http://schemas.openxmlformats.org/officeDocument/2006/relationships/notesSlide" Target="/ppt/notesSlides/notesSlide5.xml" Id="Rfda6840e0cd841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f073836784c50" /><Relationship Type="http://schemas.openxmlformats.org/officeDocument/2006/relationships/chart" Target="/ppt/slides/charts/chart7.xml" Id="R86972776e4ca4af6" /><Relationship Type="http://schemas.openxmlformats.org/officeDocument/2006/relationships/chart" Target="/ppt/slides/charts/chart8.xml" Id="Re0d5410a70a940b5" /><Relationship Type="http://schemas.openxmlformats.org/officeDocument/2006/relationships/chart" Target="/ppt/slides/charts/chart9.xml" Id="R2f49a8f9e7fb406f" /><Relationship Type="http://schemas.openxmlformats.org/officeDocument/2006/relationships/notesSlide" Target="/ppt/notesSlides/notesSlide6.xml" Id="R05a1f533b0cf44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3f9bacb9eb4011" /><Relationship Type="http://schemas.openxmlformats.org/officeDocument/2006/relationships/chart" Target="/ppt/slides/charts/chart10.xml" Id="R94fc4c64538147ad" /><Relationship Type="http://schemas.openxmlformats.org/officeDocument/2006/relationships/chart" Target="/ppt/slides/charts/chart11.xml" Id="R40d5eb95ab0a4258" /><Relationship Type="http://schemas.openxmlformats.org/officeDocument/2006/relationships/chart" Target="/ppt/slides/charts/chart12.xml" Id="R89ad25df7cd74d3f" /><Relationship Type="http://schemas.openxmlformats.org/officeDocument/2006/relationships/chart" Target="/ppt/slides/charts/chart13.xml" Id="R082d966296824b60" /><Relationship Type="http://schemas.openxmlformats.org/officeDocument/2006/relationships/chart" Target="/ppt/slides/charts/chart14.xml" Id="R1c60c0464cde49ec" /><Relationship Type="http://schemas.openxmlformats.org/officeDocument/2006/relationships/notesSlide" Target="/ppt/notesSlides/notesSlide7.xml" Id="Ree0634d8a3ed4f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4a7c3d74cc4a21" /><Relationship Type="http://schemas.openxmlformats.org/officeDocument/2006/relationships/chart" Target="/ppt/slides/charts/chart15.xml" Id="Rd3f7a78d764e4ee6" /><Relationship Type="http://schemas.openxmlformats.org/officeDocument/2006/relationships/chart" Target="/ppt/slides/charts/chart16.xml" Id="R7f06ce7cce344ac3" /><Relationship Type="http://schemas.openxmlformats.org/officeDocument/2006/relationships/chart" Target="/ppt/slides/charts/chart17.xml" Id="Rf0e23df47b544fef" /><Relationship Type="http://schemas.openxmlformats.org/officeDocument/2006/relationships/notesSlide" Target="/ppt/notesSlides/notesSlide8.xml" Id="Rd098056f6ae946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74ea1be174328" /><Relationship Type="http://schemas.openxmlformats.org/officeDocument/2006/relationships/chart" Target="/ppt/slides/charts/chart18.xml" Id="R71b7968e3ec14545" /><Relationship Type="http://schemas.openxmlformats.org/officeDocument/2006/relationships/chart" Target="/ppt/slides/charts/chart19.xml" Id="R1c2f0b41ce3b4820" /><Relationship Type="http://schemas.openxmlformats.org/officeDocument/2006/relationships/chart" Target="/ppt/slides/charts/chart20.xml" Id="R3213a19b04394f19" /><Relationship Type="http://schemas.openxmlformats.org/officeDocument/2006/relationships/notesSlide" Target="/ppt/notesSlides/notesSlide9.xml" Id="R6d665c9ec98949e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475c8a23b34c2c" /><Relationship Type="http://schemas.openxmlformats.org/officeDocument/2006/relationships/chart" Target="/ppt/slides/charts/chart21.xml" Id="Rd56e6c88fe724f4c" /><Relationship Type="http://schemas.openxmlformats.org/officeDocument/2006/relationships/chart" Target="/ppt/slides/charts/chart22.xml" Id="R85f54de4959648df" /><Relationship Type="http://schemas.openxmlformats.org/officeDocument/2006/relationships/chart" Target="/ppt/slides/charts/chart23.xml" Id="R78964ceae6784613" /><Relationship Type="http://schemas.openxmlformats.org/officeDocument/2006/relationships/notesSlide" Target="/ppt/notesSlides/notesSlide10.xml" Id="R68c71f00713e4a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85c5801a164452" /><Relationship Type="http://schemas.openxmlformats.org/officeDocument/2006/relationships/chart" Target="/ppt/slides/charts/chart24.xml" Id="Rcc9a4939ff1d4d01" /><Relationship Type="http://schemas.openxmlformats.org/officeDocument/2006/relationships/notesSlide" Target="/ppt/notesSlides/notesSlide11.xml" Id="R8632d2054bbc479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ba81ae90344856" /><Relationship Type="http://schemas.openxmlformats.org/officeDocument/2006/relationships/chart" Target="/ppt/slides/charts/chart25.xml" Id="R2b4dfaf6c1774e52" /><Relationship Type="http://schemas.openxmlformats.org/officeDocument/2006/relationships/chart" Target="/ppt/slides/charts/chart26.xml" Id="R5f4feeeab440457a" /><Relationship Type="http://schemas.openxmlformats.org/officeDocument/2006/relationships/notesSlide" Target="/ppt/notesSlides/notesSlide12.xml" Id="R446e8fab2b4346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0172ef8c064977" /><Relationship Type="http://schemas.openxmlformats.org/officeDocument/2006/relationships/chart" Target="/ppt/slides/charts/chart27.xml" Id="Redfb03b70f77430a" /><Relationship Type="http://schemas.openxmlformats.org/officeDocument/2006/relationships/chart" Target="/ppt/slides/charts/chart28.xml" Id="R010cd83cc0e845c7" /><Relationship Type="http://schemas.openxmlformats.org/officeDocument/2006/relationships/notesSlide" Target="/ppt/notesSlides/notesSlide13.xml" Id="R04d89c0d4f8946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c0a9e322124448" /><Relationship Type="http://schemas.openxmlformats.org/officeDocument/2006/relationships/chart" Target="/ppt/slides/charts/chart29.xml" Id="R4926f29743b74cee" /><Relationship Type="http://schemas.openxmlformats.org/officeDocument/2006/relationships/chart" Target="/ppt/slides/charts/chart30.xml" Id="R5fdb1b237e82403f" /><Relationship Type="http://schemas.openxmlformats.org/officeDocument/2006/relationships/notesSlide" Target="/ppt/notesSlides/notesSlide14.xml" Id="Rc3ed427190dd4f3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3559d091d4022" /><Relationship Type="http://schemas.openxmlformats.org/officeDocument/2006/relationships/notesSlide" Target="/ppt/notesSlides/notesSlide15.xml" Id="Rb9c41a2c61644f8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de9ab4002a4641" /><Relationship Type="http://schemas.openxmlformats.org/officeDocument/2006/relationships/notesSlide" Target="/ppt/notesSlides/notesSlide16.xml" Id="Refff4407cb57489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02e3978d24043" /><Relationship Type="http://schemas.openxmlformats.org/officeDocument/2006/relationships/chart" Target="/ppt/slides/charts/chart31.xml" Id="R29ab3ed3d8674bdb" /><Relationship Type="http://schemas.openxmlformats.org/officeDocument/2006/relationships/chart" Target="/ppt/slides/charts/chart32.xml" Id="R9f1c7d18a5df40c2" /><Relationship Type="http://schemas.openxmlformats.org/officeDocument/2006/relationships/chart" Target="/ppt/slides/charts/chart33.xml" Id="Ra8a938f1cd5d4b82" /><Relationship Type="http://schemas.openxmlformats.org/officeDocument/2006/relationships/notesSlide" Target="/ppt/notesSlides/notesSlide17.xml" Id="R660765b1de8b45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97424eedf40b9" /><Relationship Type="http://schemas.openxmlformats.org/officeDocument/2006/relationships/notesSlide" Target="/ppt/notesSlides/notesSlide18.xml" Id="R1dd84697a44846f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40069993c04181" /><Relationship Type="http://schemas.openxmlformats.org/officeDocument/2006/relationships/notesSlide" Target="/ppt/notesSlides/notesSlide19.xml" Id="Re06e26811fbb4d8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31082ad72486d" /><Relationship Type="http://schemas.openxmlformats.org/officeDocument/2006/relationships/notesSlide" Target="/ppt/notesSlides/notesSlide20.xml" Id="R8561ffbe73d246d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cac88c91d1434a" /><Relationship Type="http://schemas.openxmlformats.org/officeDocument/2006/relationships/notesSlide" Target="/ppt/notesSlides/notesSlide21.xml" Id="Rf61350a8d477459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6da3d070c6421a" /><Relationship Type="http://schemas.openxmlformats.org/officeDocument/2006/relationships/notesSlide" Target="/ppt/notesSlides/notesSlide22.xml" Id="R268f03ace3ae41f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ab23eabe194634" /><Relationship Type="http://schemas.openxmlformats.org/officeDocument/2006/relationships/notesSlide" Target="/ppt/notesSlides/notesSlide23.xml" Id="Refae180321b345a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d1486842b0461e" /><Relationship Type="http://schemas.openxmlformats.org/officeDocument/2006/relationships/chart" Target="/ppt/slides/charts/chart34.xml" Id="R3a86561bcae34485" /><Relationship Type="http://schemas.openxmlformats.org/officeDocument/2006/relationships/notesSlide" Target="/ppt/notesSlides/notesSlide24.xml" Id="R1f2235d3b7d043d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4a4daeb8644c1" /><Relationship Type="http://schemas.openxmlformats.org/officeDocument/2006/relationships/notesSlide" Target="/ppt/notesSlides/notesSlide25.xml" Id="R84e004d4c9d5472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337c187fb424d" /><Relationship Type="http://schemas.openxmlformats.org/officeDocument/2006/relationships/chart" Target="/ppt/slides/charts/chart35.xml" Id="R6ec5967470f444cf" /><Relationship Type="http://schemas.openxmlformats.org/officeDocument/2006/relationships/chart" Target="/ppt/slides/charts/chart36.xml" Id="Ref0041a583d5439a" /><Relationship Type="http://schemas.openxmlformats.org/officeDocument/2006/relationships/chart" Target="/ppt/slides/charts/chart37.xml" Id="R7af1b37d34db4f12" /><Relationship Type="http://schemas.openxmlformats.org/officeDocument/2006/relationships/notesSlide" Target="/ppt/notesSlides/notesSlide26.xml" Id="R343edc4e7bc7426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72090882743bd" /><Relationship Type="http://schemas.openxmlformats.org/officeDocument/2006/relationships/chart" Target="/ppt/slides/charts/chart38.xml" Id="R2750331eb86140d7" /><Relationship Type="http://schemas.openxmlformats.org/officeDocument/2006/relationships/chart" Target="/ppt/slides/charts/chart39.xml" Id="R02896811daee42ab" /><Relationship Type="http://schemas.openxmlformats.org/officeDocument/2006/relationships/chart" Target="/ppt/slides/charts/chart40.xml" Id="R033ffea6b5f540dd" /><Relationship Type="http://schemas.openxmlformats.org/officeDocument/2006/relationships/chart" Target="/ppt/slides/charts/chart41.xml" Id="R5b7775fd7b124fc4" /><Relationship Type="http://schemas.openxmlformats.org/officeDocument/2006/relationships/notesSlide" Target="/ppt/notesSlides/notesSlide27.xml" Id="R556817d01a5b43b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0c8a402994bb3" /><Relationship Type="http://schemas.openxmlformats.org/officeDocument/2006/relationships/chart" Target="/ppt/slides/charts/chart42.xml" Id="R25981c0e188442e1" /><Relationship Type="http://schemas.openxmlformats.org/officeDocument/2006/relationships/chart" Target="/ppt/slides/charts/chart43.xml" Id="Rc22b0d75e3c744e4" /><Relationship Type="http://schemas.openxmlformats.org/officeDocument/2006/relationships/chart" Target="/ppt/slides/charts/chart44.xml" Id="Rfaf639b2a1774f06" /><Relationship Type="http://schemas.openxmlformats.org/officeDocument/2006/relationships/chart" Target="/ppt/slides/charts/chart45.xml" Id="Rcc498bdf3c0545e7" /><Relationship Type="http://schemas.openxmlformats.org/officeDocument/2006/relationships/chart" Target="/ppt/slides/charts/chart46.xml" Id="Rb5afd7c7319b4a09" /><Relationship Type="http://schemas.openxmlformats.org/officeDocument/2006/relationships/notesSlide" Target="/ppt/notesSlides/notesSlide28.xml" Id="R5cb635d57064457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83bdff94c4ab6" /><Relationship Type="http://schemas.openxmlformats.org/officeDocument/2006/relationships/notesSlide" Target="/ppt/notesSlides/notesSlide29.xml" Id="R5a8cf21724354af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3f7643a3f4a51" /><Relationship Type="http://schemas.openxmlformats.org/officeDocument/2006/relationships/notesSlide" Target="/ppt/notesSlides/notesSlide30.xml" Id="R359a33bb4e82454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2fa7d897a4c57" /><Relationship Type="http://schemas.openxmlformats.org/officeDocument/2006/relationships/notesSlide" Target="/ppt/notesSlides/notesSlide31.xml" Id="R17aefbb5eb24458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123621ebad475e" /><Relationship Type="http://schemas.openxmlformats.org/officeDocument/2006/relationships/notesSlide" Target="/ppt/notesSlides/notesSlide32.xml" Id="R67c414ec40f044f0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7122a6eef4d91" /><Relationship Type="http://schemas.openxmlformats.org/officeDocument/2006/relationships/notesSlide" Target="/ppt/notesSlides/notesSlide33.xml" Id="R2c64f20b71634200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6cd10740394b49" /><Relationship Type="http://schemas.openxmlformats.org/officeDocument/2006/relationships/notesSlide" Target="/ppt/notesSlides/notesSlide34.xml" Id="Ra83c8631173447cb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f9e0393d144223" /><Relationship Type="http://schemas.openxmlformats.org/officeDocument/2006/relationships/notesSlide" Target="/ppt/notesSlides/notesSlide35.xml" Id="R8ef0fbaad52c4e8d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5632eb8cf42c1" /><Relationship Type="http://schemas.openxmlformats.org/officeDocument/2006/relationships/notesSlide" Target="/ppt/notesSlides/notesSlide36.xml" Id="R6884553459e3430a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b62b0b21094a7b" /><Relationship Type="http://schemas.openxmlformats.org/officeDocument/2006/relationships/notesSlide" Target="/ppt/notesSlides/notesSlide37.xml" Id="Rb1939b58eeb2484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75180fdc304ab6" /><Relationship Type="http://schemas.openxmlformats.org/officeDocument/2006/relationships/notesSlide" Target="/ppt/notesSlides/notesSlide38.xml" Id="Rd70bd868464c45f5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7fc33d31964b93" /><Relationship Type="http://schemas.openxmlformats.org/officeDocument/2006/relationships/notesSlide" Target="/ppt/notesSlides/notesSlide39.xml" Id="Rb9872a839dc34dbe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d31d4f64144851" /><Relationship Type="http://schemas.openxmlformats.org/officeDocument/2006/relationships/notesSlide" Target="/ppt/notesSlides/notesSlide40.xml" Id="R6173bc73804c4a2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d67c68b05748f8" /><Relationship Type="http://schemas.openxmlformats.org/officeDocument/2006/relationships/notesSlide" Target="/ppt/notesSlides/notesSlide41.xml" Id="Ra49d6373040f4b7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8560630b54677" /><Relationship Type="http://schemas.openxmlformats.org/officeDocument/2006/relationships/notesSlide" Target="/ppt/notesSlides/notesSlide42.xml" Id="R64616a1d28c940f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8a9902829a4ab0" /><Relationship Type="http://schemas.openxmlformats.org/officeDocument/2006/relationships/notesSlide" Target="/ppt/notesSlides/notesSlide43.xml" Id="R1a87a8c57e834ba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292f1ff59841bd" /><Relationship Type="http://schemas.openxmlformats.org/officeDocument/2006/relationships/notesSlide" Target="/ppt/notesSlides/notesSlide44.xml" Id="R74d7a60ec7094aee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61ee533184361" /><Relationship Type="http://schemas.openxmlformats.org/officeDocument/2006/relationships/notesSlide" Target="/ppt/notesSlides/notesSlide45.xml" Id="R808f467977e04c97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8d31d35cd413d" /><Relationship Type="http://schemas.openxmlformats.org/officeDocument/2006/relationships/notesSlide" Target="/ppt/notesSlides/notesSlide46.xml" Id="Rc5d8ef50e4c84f8a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93c9aff0ee42b1" /><Relationship Type="http://schemas.openxmlformats.org/officeDocument/2006/relationships/notesSlide" Target="/ppt/notesSlides/notesSlide47.xml" Id="Rf2f3b84839df419d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701a9ee12a45f1" /><Relationship Type="http://schemas.openxmlformats.org/officeDocument/2006/relationships/notesSlide" Target="/ppt/notesSlides/notesSlide48.xml" Id="R3a132c11f2df435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1ca6faddf416b" /><Relationship Type="http://schemas.openxmlformats.org/officeDocument/2006/relationships/notesSlide" Target="/ppt/notesSlides/notesSlide49.xml" Id="R48744caa7bae4b7a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771cec4b94566" /><Relationship Type="http://schemas.openxmlformats.org/officeDocument/2006/relationships/notesSlide" Target="/ppt/notesSlides/notesSlide50.xml" Id="Rf7b3055e249c44cd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4d8f1a7d7436c" /><Relationship Type="http://schemas.openxmlformats.org/officeDocument/2006/relationships/notesSlide" Target="/ppt/notesSlides/notesSlide51.xml" Id="R3a036bd8dbe647e3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f5b240657e41d1" /><Relationship Type="http://schemas.openxmlformats.org/officeDocument/2006/relationships/notesSlide" Target="/ppt/notesSlides/notesSlide52.xml" Id="R52777165ae5d4ca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9e7bc4144f444f" /><Relationship Type="http://schemas.openxmlformats.org/officeDocument/2006/relationships/notesSlide" Target="/ppt/notesSlides/notesSlide53.xml" Id="Rf022ac50da074264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6cc4fe127a4288" /><Relationship Type="http://schemas.openxmlformats.org/officeDocument/2006/relationships/chart" Target="/ppt/slides/charts/chart47.xml" Id="R7604d203742e419a" /><Relationship Type="http://schemas.openxmlformats.org/officeDocument/2006/relationships/chart" Target="/ppt/slides/charts/chart48.xml" Id="R4dae332333b34399" /><Relationship Type="http://schemas.openxmlformats.org/officeDocument/2006/relationships/chart" Target="/ppt/slides/charts/chart49.xml" Id="Rf0dc1fe3c85a4760" /><Relationship Type="http://schemas.openxmlformats.org/officeDocument/2006/relationships/chart" Target="/ppt/slides/charts/chart50.xml" Id="Rcdb91df643364bcb" /><Relationship Type="http://schemas.openxmlformats.org/officeDocument/2006/relationships/chart" Target="/ppt/slides/charts/chart51.xml" Id="R91538b9171164529" /><Relationship Type="http://schemas.openxmlformats.org/officeDocument/2006/relationships/chart" Target="/ppt/slides/charts/chart52.xml" Id="Rd8d268129fb4493e" /><Relationship Type="http://schemas.openxmlformats.org/officeDocument/2006/relationships/chart" Target="/ppt/slides/charts/chart53.xml" Id="R5c4025830dae4b0a" /><Relationship Type="http://schemas.openxmlformats.org/officeDocument/2006/relationships/notesSlide" Target="/ppt/notesSlides/notesSlide54.xml" Id="R130892d690634059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19ee699d744299" /><Relationship Type="http://schemas.openxmlformats.org/officeDocument/2006/relationships/chart" Target="/ppt/slides/charts/chart54.xml" Id="Rd6ada79b5af242f4" /><Relationship Type="http://schemas.openxmlformats.org/officeDocument/2006/relationships/notesSlide" Target="/ppt/notesSlides/notesSlide55.xml" Id="R68429348bc05473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962ffbd26459e" /><Relationship Type="http://schemas.openxmlformats.org/officeDocument/2006/relationships/chart" Target="/ppt/slides/charts/chart55.xml" Id="R836d208df383489d" /><Relationship Type="http://schemas.openxmlformats.org/officeDocument/2006/relationships/chart" Target="/ppt/slides/charts/chart56.xml" Id="Rbe02a9f5b4fb4a30" /><Relationship Type="http://schemas.openxmlformats.org/officeDocument/2006/relationships/notesSlide" Target="/ppt/notesSlides/notesSlide56.xml" Id="Rf2eda3e0c157408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4cac997ba745d0" /><Relationship Type="http://schemas.openxmlformats.org/officeDocument/2006/relationships/chart" Target="/ppt/slides/charts/chart57.xml" Id="Rfc6771c274f04cf1" /><Relationship Type="http://schemas.openxmlformats.org/officeDocument/2006/relationships/notesSlide" Target="/ppt/notesSlides/notesSlide57.xml" Id="R8da4cf248c584af3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1440ccb637446c" /><Relationship Type="http://schemas.openxmlformats.org/officeDocument/2006/relationships/chart" Target="/ppt/slides/charts/chart58.xml" Id="R833cc4bea8e5470a" /><Relationship Type="http://schemas.openxmlformats.org/officeDocument/2006/relationships/notesSlide" Target="/ppt/notesSlides/notesSlide58.xml" Id="R28e0dc26211b40f6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2177733384c03" /><Relationship Type="http://schemas.openxmlformats.org/officeDocument/2006/relationships/chart" Target="/ppt/slides/charts/chart59.xml" Id="Rabdc3fa8cb0b4038" /><Relationship Type="http://schemas.openxmlformats.org/officeDocument/2006/relationships/notesSlide" Target="/ppt/notesSlides/notesSlide59.xml" Id="Ra4ad97327ce74bad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70259e03b24b47" /><Relationship Type="http://schemas.openxmlformats.org/officeDocument/2006/relationships/notesSlide" Target="/ppt/notesSlides/notesSlide60.xml" Id="R5cb8f9adb0e64a2a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ead58ad8f74327" /><Relationship Type="http://schemas.openxmlformats.org/officeDocument/2006/relationships/chart" Target="/ppt/slides/charts/chart60.xml" Id="R0b409109d41247cf" /><Relationship Type="http://schemas.openxmlformats.org/officeDocument/2006/relationships/notesSlide" Target="/ppt/notesSlides/notesSlide61.xml" Id="R2545e35ad05c4e9b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d5b00040d4e77" /><Relationship Type="http://schemas.openxmlformats.org/officeDocument/2006/relationships/chart" Target="/ppt/slides/charts/chart61.xml" Id="R327575786cd94a21" /><Relationship Type="http://schemas.openxmlformats.org/officeDocument/2006/relationships/notesSlide" Target="/ppt/notesSlides/notesSlide62.xml" Id="Rf904128813994974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21557813a4895" /><Relationship Type="http://schemas.openxmlformats.org/officeDocument/2006/relationships/chart" Target="/ppt/slides/charts/chart62.xml" Id="R719d60b5855042de" /><Relationship Type="http://schemas.openxmlformats.org/officeDocument/2006/relationships/notesSlide" Target="/ppt/notesSlides/notesSlide63.xml" Id="R94c9f2cef0f84f9f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fada957084653" /><Relationship Type="http://schemas.openxmlformats.org/officeDocument/2006/relationships/notesSlide" Target="/ppt/notesSlides/notesSlide64.xml" Id="R74122c9801a04bae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[&gt;=1000]#\.##0;0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gapWidth val="52"/>
        <c:axId val="48650112"/>
        <c:axId val="48672768"/>
      </c:barChart>
      <c:lineChart>
        <c:grouping val="standard"/>
        <c:varyColors val="0"/>
        <c:ser>
          <c:idx val="1"/>
          <c:order val="1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82.4739462266</c:v>
              </c:pt>
              <c:pt idx="1">
                <c:v>91.0666397607</c:v>
              </c:pt>
              <c:pt idx="2">
                <c:v>110.233954078</c:v>
              </c:pt>
              <c:pt idx="3">
                <c:v>131.218751566</c:v>
              </c:pt>
              <c:pt idx="4">
                <c:v>229.983749328</c:v>
              </c:pt>
              <c:pt idx="5">
                <c:v>209.089226549</c:v>
              </c:pt>
              <c:pt idx="6">
                <c:v>298.496438228</c:v>
              </c:pt>
              <c:pt idx="7">
                <c:v>365.94088088</c:v>
              </c:pt>
              <c:pt idx="8">
                <c:v>461.756303294</c:v>
              </c:pt>
              <c:pt idx="9">
                <c:v>682.897033647</c:v>
              </c:pt>
              <c:pt idx="10">
                <c:v>833.217321565</c:v>
              </c:pt>
              <c:pt idx="11">
                <c:v>880.375346502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anchorCtr="1"/>
            <a:lstStyle/>
            <a:p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strLit>
              <c:ptCount val="1"/>
              <c:pt idx="0">
                <c:v>Total</c:v>
              </c:pt>
            </c:strLit>
          </c:tx>
          <c:spPr>
            <a:ln>
              <a:noFill/>
            </a:ln>
          </c:spPr>
          <c:marker>
            <c:symbol val="none"/>
            <c:size val="2"/>
          </c:marke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13672.125</c:v>
              </c:pt>
            </c:numLit>
          </c:val>
          <c:dLbls>
            <c:dLblPos val="inEnd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850" b="1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securitizações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Dívida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146.3144924010112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41.64812990194184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15.66562156942634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17.089791033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jan–mai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5.36268</c:v>
              </c:pt>
            </c:numLit>
          </c:val>
        </c:ser>
        <c:dLbls>
          <c:txPr>
            <a:bodyPr anchorCtr="1"/>
            <a:lstStyle/>
            <a:p>
              <a:pPr>
                <a:defRPr sz="54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9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/>
              </c:pt>
              <c:pt idx="2">
                <c:v/>
              </c:pt>
              <c:pt idx="3">
                <c:v>2018</c:v>
              </c:pt>
              <c:pt idx="4">
                <c:v/>
              </c:pt>
              <c:pt idx="5">
                <c:v/>
              </c:pt>
              <c:pt idx="6">
                <c:v>2021</c:v>
              </c:pt>
              <c:pt idx="7">
                <c:v/>
              </c:pt>
              <c:pt idx="8">
                <c:v/>
              </c:pt>
              <c:pt idx="9">
                <c:v>2024</c:v>
              </c:pt>
              <c:pt idx="10">
                <c:v/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dLbls>
          <c:txPr>
            <a:bodyPr anchorCtr="1"/>
            <a:lstStyle/>
            <a:p>
              <a:pPr>
                <a:defRPr sz="563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Outros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anchorCtr="1"/>
            <a:lstStyle/>
            <a:p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EC7000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anchorCtr="1"/>
            <a:lstStyle/>
            <a:p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Original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5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>06/24</c:v>
              </c:pt>
              <c:pt idx="6">
                <c:v>07/24</c:v>
              </c:pt>
              <c:pt idx="7">
                <c:v/>
              </c:pt>
              <c:pt idx="8">
                <c:v>12/24</c:v>
              </c:pt>
              <c:pt idx="9">
                <c:v/>
              </c:pt>
              <c:pt idx="10">
                <c:v/>
              </c:pt>
              <c:pt idx="11">
                <c:v>09/25</c:v>
              </c:pt>
              <c:pt idx="12">
                <c:v/>
              </c:pt>
              <c:pt idx="13">
                <c:v/>
              </c:pt>
              <c:pt idx="14">
                <c:v>06/26</c:v>
              </c:pt>
            </c:strLit>
          </c:cat>
          <c:val>
            <c:numLit>
              <c:formatCode>0.0%</c:formatCode>
              <c:ptCount val="15"/>
              <c:pt idx="0">
                <c:v>0.0699308402198136</c:v>
              </c:pt>
              <c:pt idx="1">
                <c:v>0.0413858663474672</c:v>
              </c:pt>
              <c:pt idx="2">
                <c:v>0.054182184519671</c:v>
              </c:pt>
              <c:pt idx="3">
                <c:v>0.0505714352102012</c:v>
              </c:pt>
              <c:pt idx="4">
                <c:v>0.042351603441698</c:v>
              </c:pt>
              <c:pt idx="5">
                <c:v>0.0526925150205596</c:v>
              </c:pt>
              <c:pt idx="6">
                <c:v>0.044853704491093</c:v>
              </c:pt>
              <c:pt idx="7">
                <c:v>0.0450892919500813</c:v>
              </c:pt>
              <c:pt idx="8">
                <c:v>0.0426046633548847</c:v>
              </c:pt>
              <c:pt idx="9">
                <c:v>0.0429438146622243</c:v>
              </c:pt>
              <c:pt idx="10">
                <c:v>0.0434223533702834</c:v>
              </c:pt>
              <c:pt idx="11">
                <c:v>0.045821513745815</c:v>
              </c:pt>
              <c:pt idx="12">
                <c:v>0.0344698393971271</c:v>
              </c:pt>
              <c:pt idx="13">
                <c:v>0.0371508338701136</c:v>
              </c:pt>
              <c:pt idx="14">
                <c:v>0.0443052791285222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3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Original · inclui zeros no denominador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Ex-zeros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4"/>
              <c:pt idx="0">
                <c:v>03/23</c:v>
              </c:pt>
              <c:pt idx="1">
                <c:v/>
              </c:pt>
              <c:pt idx="2">
                <c:v/>
              </c:pt>
              <c:pt idx="3">
                <c:v>12/23</c:v>
              </c:pt>
              <c:pt idx="4">
                <c:v/>
              </c:pt>
              <c:pt idx="5">
                <c:v/>
              </c:pt>
              <c:pt idx="6">
                <c:v/>
              </c:pt>
              <c:pt idx="7">
                <c:v>12/24</c:v>
              </c:pt>
              <c:pt idx="8">
                <c:v/>
              </c:pt>
              <c:pt idx="9">
                <c:v/>
              </c:pt>
              <c:pt idx="10">
                <c:v/>
              </c:pt>
              <c:pt idx="11">
                <c:v>12/25</c:v>
              </c:pt>
              <c:pt idx="12">
                <c:v/>
              </c:pt>
              <c:pt idx="13">
                <c:v>06/26</c:v>
              </c:pt>
            </c:strLit>
          </c:cat>
          <c:val>
            <c:numLit>
              <c:formatCode>0.0%</c:formatCode>
              <c:ptCount val="14"/>
              <c:pt idx="0">
                <c:v>0.2783291289680555</c:v>
              </c:pt>
              <c:pt idx="1">
                <c:v>0.2077700326589613</c:v>
              </c:pt>
              <c:pt idx="2">
                <c:v>0.2428538731040054</c:v>
              </c:pt>
              <c:pt idx="3">
                <c:v>0.2255418250857552</c:v>
              </c:pt>
              <c:pt idx="4">
                <c:v>0.1869990785556627</c:v>
              </c:pt>
              <c:pt idx="5">
                <c:v>0.2064251881930608</c:v>
              </c:pt>
              <c:pt idx="6">
                <c:v>0.2003357975731442</c:v>
              </c:pt>
              <c:pt idx="7">
                <c:v>0.192391885697197</c:v>
              </c:pt>
              <c:pt idx="8">
                <c:v>0.1699260324814649</c:v>
              </c:pt>
              <c:pt idx="9">
                <c:v>0.1635302800243923</c:v>
              </c:pt>
              <c:pt idx="10">
                <c:v>0.1564418768603019</c:v>
              </c:pt>
              <c:pt idx="11">
                <c:v>0.1177679199516296</c:v>
              </c:pt>
              <c:pt idx="12">
                <c:v>0.1158555107970783</c:v>
              </c:pt>
              <c:pt idx="13">
                <c:v>0.1352132567320641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Ex-zeros · denominador restrito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Financeiro</c:v>
          </c:tx>
          <c:spPr>
            <a:ln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val>
        </c:ser>
        <c:ser>
          <c:idx val="1"/>
          <c:order val="1"/>
          <c:tx>
            <c:v>Cartão de crédito</c:v>
          </c:tx>
          <c:spPr>
            <a:ln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val>
        </c:ser>
        <c:ser>
          <c:idx val="2"/>
          <c:order val="2"/>
          <c:tx>
            <c:v>Comercial</c:v>
          </c:tx>
          <c:spPr>
            <a:ln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val>
        </c:ser>
        <c:ser>
          <c:idx val="3"/>
          <c:order val="3"/>
          <c:tx>
            <c:v>Industrial</c:v>
          </c:tx>
          <c:spPr>
            <a:ln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val>
        </c:ser>
        <c:ser>
          <c:idx val="4"/>
          <c:order val="4"/>
          <c:tx>
            <c:v>Serviços</c:v>
          </c:tx>
          <c:spPr>
            <a:ln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val>
        </c:ser>
        <c:ser>
          <c:idx val="5"/>
          <c:order val="5"/>
          <c:tx>
            <c:v>Setor público</c:v>
          </c:tx>
          <c:spPr>
            <a:ln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val>
        </c:ser>
        <c:ser>
          <c:idx val="6"/>
          <c:order val="6"/>
          <c:tx>
            <c:v>Ações judiciais</c:v>
          </c:tx>
          <c:spPr>
            <a:ln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val>
        </c:ser>
        <c:ser>
          <c:idx val="7"/>
          <c:order val="7"/>
          <c:tx>
            <c:v>Agronegócio</c:v>
          </c:tx>
          <c:spPr>
            <a:ln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val>
        </c:ser>
        <c:ser>
          <c:idx val="8"/>
          <c:order val="8"/>
          <c:tx>
            <c:v>Imobiliário</c:v>
          </c:tx>
          <c:spPr>
            <a:ln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val>
        </c:ser>
        <c:ser>
          <c:idx val="9"/>
          <c:order val="9"/>
          <c:tx>
            <c:v>Factoring</c:v>
          </c:tx>
          <c:spPr>
            <a:ln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31"/>
              <c:pt idx="0">
                <c:v>12/23</c:v>
              </c:pt>
              <c:pt idx="1">
                <c:v/>
              </c:pt>
              <c:pt idx="2">
                <c:v/>
              </c:pt>
              <c:pt idx="3">
                <c:v/>
              </c:pt>
              <c:pt idx="4">
                <c:v>04/24</c:v>
              </c:pt>
              <c:pt idx="5">
                <c:v/>
              </c:pt>
              <c:pt idx="6">
                <c:v/>
              </c:pt>
              <c:pt idx="7">
                <c:v/>
              </c:pt>
              <c:pt idx="8">
                <c:v>08/24</c:v>
              </c:pt>
              <c:pt idx="9">
                <c:v/>
              </c:pt>
              <c:pt idx="10">
                <c:v/>
              </c:pt>
              <c:pt idx="11">
                <c:v/>
              </c:pt>
              <c:pt idx="12">
                <c:v>12/24</c:v>
              </c:pt>
              <c:pt idx="13">
                <c:v/>
              </c:pt>
              <c:pt idx="14">
                <c:v/>
              </c:pt>
              <c:pt idx="15">
                <c:v/>
              </c:pt>
              <c:pt idx="16">
                <c:v>04/25</c:v>
              </c:pt>
              <c:pt idx="17">
                <c:v/>
              </c:pt>
              <c:pt idx="18">
                <c:v/>
              </c:pt>
              <c:pt idx="19">
                <c:v/>
              </c:pt>
              <c:pt idx="20">
                <c:v>08/25</c:v>
              </c:pt>
              <c:pt idx="21">
                <c:v/>
              </c:pt>
              <c:pt idx="22">
                <c:v/>
              </c:pt>
              <c:pt idx="23">
                <c:v/>
              </c:pt>
              <c:pt idx="24">
                <c:v>12/25</c:v>
              </c:pt>
              <c:pt idx="25">
                <c:v/>
              </c:pt>
              <c:pt idx="26">
                <c:v/>
              </c:pt>
              <c:pt idx="27">
                <c:v/>
              </c:pt>
              <c:pt idx="28">
                <c:v>04/26</c:v>
              </c:pt>
              <c:pt idx="29">
                <c:v/>
              </c:pt>
              <c:pt idx="30">
                <c:v>06/26</c:v>
              </c:pt>
            </c:strLit>
          </c:cat>
          <c: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1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0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Financeiro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Cartão de crédito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Comercial</c:v>
          </c:tx>
          <c:spPr>
            <a:ln w="28575">
              <a:solidFill>
                <a:srgbClr val="454A4F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Industrial</c:v>
          </c:tx>
          <c:spPr>
            <a:ln w="28575">
              <a:solidFill>
                <a:srgbClr val="5B606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Serviços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Setor público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Ações judiciais</c:v>
          </c:tx>
          <c:spPr>
            <a:ln w="28575">
              <a:solidFill>
                <a:srgbClr val="A7ACB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7"/>
          <c:order val="7"/>
          <c:tx>
            <c:v>Agronegócio</c:v>
          </c:tx>
          <c:spPr>
            <a:ln w="28575">
              <a:solidFill>
                <a:srgbClr val="BEC2C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8"/>
          <c:order val="8"/>
          <c:tx>
            <c:v>Imobiliário</c:v>
          </c:tx>
          <c:spPr>
            <a:ln w="28575">
              <a:solidFill>
                <a:srgbClr val="676C7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9"/>
          <c:order val="9"/>
          <c:tx>
            <c:v>Factoring</c:v>
          </c:tx>
          <c:spPr>
            <a:ln w="28575">
              <a:solidFill>
                <a:srgbClr val="92979C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0"/>
          <c:order val="10"/>
          <c:tx>
            <c:v>Consolidado ajustado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Dez/25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anchorCtr="1"/>
            <a:lstStyle/>
            <a:p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/>
              </c:pt>
              <c:pt idx="2">
                <c:v>Mar</c:v>
              </c:pt>
              <c:pt idx="3">
                <c:v/>
              </c:pt>
              <c:pt idx="4">
                <c:v>Mai</c:v>
              </c:pt>
              <c:pt idx="5">
                <c:v>Jun</c:v>
              </c:pt>
              <c:pt idx="6">
                <c:v/>
              </c:pt>
              <c:pt idx="7">
                <c:v>Ago</c:v>
              </c:pt>
              <c:pt idx="8">
                <c:v/>
              </c:pt>
              <c:pt idx="9">
                <c:v>Out</c:v>
              </c:pt>
              <c:pt idx="10">
                <c:v/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6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anchorCtr="1"/>
            <a:lstStyle/>
            <a:p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8D9399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anchorCtr="1"/>
            <a:lstStyle/>
            <a:p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anchorCtr="1"/>
            <a:lstStyle/>
            <a:p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w="953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8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A1F3D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A7ACB0"/>
              </a:solidFill>
            </c:spPr>
          </c:dPt>
          <c:dPt>
            <c:idx val="2"/>
            <c:invertIfNegative val="0"/>
            <c:spPr>
              <a:solidFill>
                <a:srgbClr val="BEC2C5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2456D6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>
              <a:srgbClr val="2456D6"/>
            </a:solidFill>
          </c:spPr>
          <c:dPt>
            <c:idx val="0"/>
            <c:invertIfNegative val="0"/>
            <c:spPr>
              <a:solidFill>
                <a:srgbClr val="2456D6"/>
              </a:solidFill>
            </c:spPr>
          </c:dPt>
          <c:dPt>
            <c:idx val="1"/>
            <c:invertIfNegative val="0"/>
            <c:spPr>
              <a:solidFill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>
              <a:srgbClr val="1D4080"/>
            </a:solidFill>
          </c:spPr>
          <c:dPt>
            <c:idx val="0"/>
            <c:invertIfNegative val="0"/>
            <c:spPr>
              <a:solidFill>
                <a:srgbClr val="1D408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5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879D36-7368-4B16-9469-9227FA731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18A34-8C33-45C8-855B-3253D58C7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F86886-8813-4808-8566-9CD4D0DD3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46629-4F79-4090-80A6-B8B3DCB44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43A55-FAF6-48A6-B087-6FE7BAC1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F5519-F494-49F1-8F68-724D5094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685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até 30 de junho de 2026; comparativo ANBIMA até 31 de maio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E3154C-8D55-46AE-8D88-977D7280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4838322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EB75B6-925B-4A07-8FA8-711B9F71D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81D24-1308-48A2-A735-BF618345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71811-47CC-4B56-A05C-0D90DB70D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19F7DE-FA99-456C-8E6D-1DE62562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AA1CFA-60AD-4983-A933-B5FE9E245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jun/26. Ofertas CVM até jun/26; ANBIMA até 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F4A8AA-1334-4D4E-B58C-7EC81D94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012DB-9CBE-499D-8890-92FFA5282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F27630-8182-4377-A730-1366D48A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2432C-240F-40FF-88FE-392C990DA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AEC208-C1F1-4794-8359-2656DB462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4882C7-8CCE-490D-B67D-E5FA2E8C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58,4%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60907-A7F3-4228-B2FB-09A9A2A2C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com PL ≥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82126-32BE-4907-B0D8-9667B5D4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59,5% do PL no recorte de R$ 733,1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28BA33-712B-45A4-B10F-F7C2D420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971336-F8D5-4878-A819-E6BF9A22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8A8D75-7DA2-4055-93E0-F21DFBE97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BF696-9FCE-488E-88AF-27428CDB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8D7572-190A-41ED-A93F-04ACB2E9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878E8B-ACB1-4EA0-A4E1-56B5D830D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986437-B4DD-4357-AED0-3F4C10841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F59CEF-FC75-4BD4-AF81-82F0C701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R$ 342,9 bi de R$ 961,5 bi de PL bruto; inclui FIC-FIDC.</a:t>
            </a:r>
          </a:p>
        </p:txBody>
      </p:sp>
    </p:spTree>
    <p:extLst>
      <p:ext uri="{BB962C8B-B14F-4D97-AF65-F5344CB8AC3E}">
        <p14:creationId xmlns:p14="http://schemas.microsoft.com/office/powerpoint/2010/main" val="12156222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D6953A-033C-472E-9DB1-1BD7A7DF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064A7-835D-45FF-BB7F-316A567A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E1572B-BF4F-4CFB-82F3-C2B4F52A0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AE9E59-9BEC-498D-B0D5-99E33A2FA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DAC87-3911-422E-BC7D-8210B94F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0D62AA-BD38-4874-AAC0-55DDC9EC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3895A-4CC1-434F-BA43-724ED64A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25AADC-49B6-4D6E-93C3-848E0EB3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d2cc0a1aa8b44a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056EE1-C861-4697-959D-44ADF48BD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EC3A8-E727-403B-9B1B-D1BA413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AB5AAA-29BD-4993-8FCA-D706F4A5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1e7996d952477c"/>
          </a:graphicData>
        </a:graphic>
      </p:graphicFrame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096000" y="4914900"/>
          <a:ext xmlns:a="http://schemas.openxmlformats.org/drawingml/2006/main" cx="5524500" cy="19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8cc100bf9c84a30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CE59A6-2144-47CF-A3C5-8E88EE429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+2,3%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535DE-3161-42B0-B2D0-6540FA73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total privado R$ 13.672 bi; securitização R$ 1.157 bi; carteira FIDC R$ 670 bi. O total BCB de R$ 21.513 bi inclui R$ 7.841 bi de títulos públicos e permanece no export para reconciliação.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F111C-192F-46CD-84AA-C38EC46E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ex-FIC e carteira privada têm perímetros contábeis distintos.</a:t>
            </a:r>
          </a:p>
        </p:txBody>
      </p:sp>
    </p:spTree>
    <p:extLst>
      <p:ext uri="{BB962C8B-B14F-4D97-AF65-F5344CB8AC3E}">
        <p14:creationId xmlns:p14="http://schemas.microsoft.com/office/powerpoint/2010/main" val="172707633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1351DC-5F62-46BA-86FC-2E0FB3F5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CVM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BD218-FDA2-47B4-9EDE-BB4615E50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série CVM preserva o volume registrado e a granularidade por oferta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44BD00-F816-4A60-95C1-E98AD7E8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406F30-A584-4D86-B856-AD8C0892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6A1E88-86E2-431D-A92E-DDD57672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bases do rito automático e de distribuição, snapshot 24/jul/26.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BCEDF-911D-47EF-B12D-28E88CBB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EF2293-2087-437C-9B19-3278FB07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9C499D-46AB-4F20-AB0E-D211643FB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87b7f6b4a5471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9D3254-E34E-41B6-AEA6-E272967D8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600192-C421-4DE1-9A87-9159E7423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c40ce8191534ff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8DFF16-CBEC-42CA-9C4E-9E620C3C3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FAF4E3-AAAD-4EBF-9BA6-68593D97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C6090B-EC21-453C-A321-7056978B3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total registrado, informado à CVM.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95E387-D9BF-419E-AAB2-231D01F6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2D47D4D-B58E-4D6E-9492-0834DB7C8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EFD545-968C-4F3A-BDC8-4764D058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6BEC76-7C8C-469A-BCF3-DE594A7C8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públicas primárias encerradas; rito automático da RCVM 160, ordinário e regimes legados disponíveis.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8735D7-A2C2-4553-B0F7-6353CA18F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48200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9A5CCB-D6C8-4D4F-A06E-70888289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476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CORTE E LIMITAÇÃO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BD6BB-359A-4A6E-A5A8-63C8E561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895850"/>
            <a:ext cx="3476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CCBFD1-7DDD-4822-BB23-EB64BD53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62525"/>
            <a:ext cx="34766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Data de encerramento no período; volume positivo. O valor registrado pode diferir do valor encerrado e a taxonomia declarada mantém Outros títulos de securitização separado.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908EF4-5664-4AE4-BFAF-C94659DDD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Perímetro aplicado aos slides granulares de emissões, inclusive público-alvo, tickets, regime de colocação e Top 15.</a:t>
            </a:r>
          </a:p>
        </p:txBody>
      </p:sp>
    </p:spTree>
    <p:extLst>
      <p:ext uri="{BB962C8B-B14F-4D97-AF65-F5344CB8AC3E}">
        <p14:creationId xmlns:p14="http://schemas.microsoft.com/office/powerpoint/2010/main" val="10748684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57D5A0-BE66-42D9-BB57-4F956BB45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SÉRIE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9B935-DFFA-412F-91C5-D670F7B9F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valor encerrado oferece a referência comparável do mercado por instrumento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0F3F34-DC48-4FBD-8513-6BF9B683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5A5E92-2726-43AD-A9CC-BC36FA1A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A936E-E5C4-4F7F-860E-74E02F48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Data, Boletim de Mercado de Capitais, snapshot mai/26. Valor encerrado; 2026 = jan–mai.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BA3ECF-E106-46EC-8D2C-0FF70F69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04BB32-013F-4DB4-B03A-3F59535C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95400"/>
            <a:ext cx="600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FC033-3C76-4FB9-BA13-1B42D136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62100"/>
            <a:ext cx="600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600075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fdedefcc901458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E87144-A871-4F77-8BAF-86446A66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29540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DEBÊNTURES · PONTE TAXONÔMICA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C23AD3-324E-4BCD-9436-F839AEA6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53352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2025: CVM R$ 453,7 bi + R$ 38,8 bi em Outros títulos de securitização = R$ 492,4 bi, ante R$ 493,4 bi na ANBIMA. Jan–mai/26: R$ 148,4 bi ante R$ 146,3 bi.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CDAF51-0670-46BE-9713-21FF8133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4315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30A3D-5813-4C67-997E-0B298B242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46697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· MÉTRICA E COBERTURA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4324CE-4B9A-4772-A5CB-969AAAE9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0510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2025, a CVM registra R$ 116,9 bi e a ANBIMA encerra R$ 91,0 bi. A diferença combina valor registrado versus encerrado, cobertura e presença de ofertas secundárias na ANBIMA; a causa individual exige reconciliação por oferta.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E5A745-2B17-4A25-8C72-19AD5A75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14725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42D03C-EB6E-492E-8C1F-2C9899A67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38550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CRI E NOTAS COMERCIAIS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B48D31-9282-4550-BE0B-2146092D1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76675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CRI: CVM 10,0% em 2025 e 9,8% em jan–mai/26 versus ANBIMA. Notas comerciais: 10,2% em jan–mai/26. O residual pode refletir métrica, rito, retificações e data do snapshot.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4BD5F-BDD1-4AB8-B145-C5C69C6A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86300"/>
            <a:ext cx="4667250" cy="76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C2C067-2851-4DC1-B6E2-B725ED6B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810125"/>
            <a:ext cx="4667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CRA · PONTO PENDENTE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D89D8A-F557-45C4-8C1C-CC060F451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48250"/>
            <a:ext cx="4667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69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CVM ficou 18,1% acima da ANBIMA em 2023. De 2024 a jan–mai/26, o desvio ficou em até 2,7%. A causa de 2023 permanece sem comprovação oferta a oferta.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58713B-5D25-4AAC-847E-0D19D15C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4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4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* Debêntures incluem debêntures de securitização. O anexo não segrega sistematicamente ofertas primárias e secundárias para renda fixa e fundos. Série sujeita a retificações.</a:t>
            </a:r>
          </a:p>
        </p:txBody>
      </p:sp>
    </p:spTree>
    <p:extLst>
      <p:ext uri="{BB962C8B-B14F-4D97-AF65-F5344CB8AC3E}">
        <p14:creationId xmlns:p14="http://schemas.microsoft.com/office/powerpoint/2010/main" val="1508439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6C16F6-7237-4DB7-8E4F-DFA50EF0E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4A3D4-4B69-49BD-9882-36BE2FE3C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786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Entre 92,8% e 96,8% do volume anual foi destinado ao público profissional; a classificação mede elegibilidade, não alocação final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241252-B773-4D48-8C3A-0A64479E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E7C3F5-1BF0-4077-BBAD-3C803804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F9633D-4F4C-44CF-ABD8-953B60880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C55CE7-E078-46DD-B1E4-06BA488B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15F3F-EFED-49DC-9E7E-0E1EFB2B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2A3770-2341-45C5-BF5D-D444545E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972776e4ca4af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FD60E2-8E66-4094-88FC-FF47D688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3C48D9-2D1C-405B-BC9D-76025C92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d5410a70a940b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82827C-822F-489D-ABDD-2A2D6738B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EC989F-44F4-485A-BBC1-0EDCC45E0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49a8f9e7fb406f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085E16-FA34-48FC-BAD3-A6FC7D80A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p:txBody>
      </p:sp>
    </p:spTree>
    <p:extLst>
      <p:ext uri="{BB962C8B-B14F-4D97-AF65-F5344CB8AC3E}">
        <p14:creationId xmlns:p14="http://schemas.microsoft.com/office/powerpoint/2010/main" val="13077522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D47F49-21B5-4F90-B744-917D97D5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CA5245-1D4A-430A-AD4B-B81188C0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FC1017-44A0-46AE-983B-57A3BF1C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685F3-5B2C-4CC0-9229-6C1CBFEC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4C804F-29AE-4DCF-BD92-8FC4F36B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F05E54-F6C2-484A-B521-1D0422D5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fc4c64538147a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A0D409-5A1D-4569-90F9-3DC6134B9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686E5-FE1C-4FEB-B0C4-E979BC76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0d5eb95ab0a4258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8A21E4-450E-47F0-B72A-C831E122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288C2A-53B5-4111-A9A6-7A54C4132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ad25df7cd74d3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387CE6-56F4-4044-A830-E20A13CF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9439FF-03CE-4241-BA60-7BEC0067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2d966296824b60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C83911-DB2C-4E00-A0F0-2440322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F0C925-E52D-4D88-A83F-B67454B42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B63509-9F65-4512-9EC5-DBB770C3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60c0464cde49ec"/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10764A-1633-43ED-B13E-DC3B452D5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F88E6C-2063-4FDD-B249-00A705AE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87951268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87D8C-22EB-42E6-B254-A59986114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4FB150-B879-4376-81A0-F314A0D3A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E77E3E-728A-4982-955D-D7A376C7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F171F-B415-425E-8757-101AF07A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AA6F00-2F58-4D01-9A8D-5B5EC4FF0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125689-7D31-440E-93C8-B46848CF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82C1FA-4E7D-4FCA-A188-C5E67259E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C44F9-CA2E-4A17-84DF-2D86861D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3f7a78d764e4ee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B45164-30A6-4B78-96BB-A1899C99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C0A07-CC26-45BE-88A1-B0C318E29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06ce7cce344ac3"/>
          </a:graphicData>
        </a:graphic>
      </p:graphicFrame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2095500" y="5295900"/>
          <a:ext xmlns:a="http://schemas.openxmlformats.org/drawingml/2006/main" cx="8001000" cy="266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e23df47b544fe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C67D81-A97B-4818-B87C-1367F98C0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4C67D4-57BA-4D67-BEA0-BED2DB97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 Cinco propostas documentais, somando R$ 35,5 bi, permanecem em validação; o gráfico reproduz a classificação oficial.</a:t>
            </a:r>
          </a:p>
        </p:txBody>
      </p:sp>
    </p:spTree>
    <p:extLst>
      <p:ext uri="{BB962C8B-B14F-4D97-AF65-F5344CB8AC3E}">
        <p14:creationId xmlns:p14="http://schemas.microsoft.com/office/powerpoint/2010/main" val="18407824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1827EC-50DE-42EF-AD62-8A9DF906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9F104-7F49-4C8C-BDB7-F6F4702E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D2AD63-22C3-48A9-9D48-E78AC9E9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84A3E-E8B2-4E1B-8E7C-A3B2ED56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E07E47-402B-4869-BDEA-92237E10F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2D710A-F5B0-44F0-96C8-DDB03497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B0E139-3DE1-4D8C-9143-303068E9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D7FEB-BF7A-467D-A038-EAEF68C9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b7968e3ec1454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73643F-801D-495C-9D05-9A095997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A54B7D-F550-4E9F-8195-3BAE75A4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2f0b41ce3b4820"/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8858250" y="1200150"/>
          <a:ext xmlns:a="http://schemas.openxmlformats.org/drawingml/2006/main" cx="2762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13a19b04394f19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D30BF9-6424-481A-8CAB-FECCAFB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5294194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B718DE-36FC-4CED-AEEC-060CE96D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917467-2BBA-4DE5-BAB1-E20FB3A2D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70,1% do aumento líquido do valor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7C5923-B343-4EF8-BEBD-28A4BBC19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5C90FA-568B-47C8-B55B-F9B1BA84D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F9E8F3-CA2C-4E64-B8E6-F8F1E9FE9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18FD82-6354-40E5-831D-AFEA50C64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B435C9-22BA-499B-BBBC-0468340B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0DA6EC-1A61-475F-B91D-D95476E6C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6e6c88fe724f4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26DFC2-51A4-477A-B79C-49B05E96E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44ACBA-509D-4196-A91B-666EAE618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5f54de4959648df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A0F103-064A-4E07-8D6E-5CDAF8A3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C64A72-DD5D-4EE4-B2E1-816DC385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964ceae6784613"/>
          </a:graphicData>
        </a:graphic>
      </p:graphicFrame>
    </p:spTree>
    <p:extLst>
      <p:ext uri="{BB962C8B-B14F-4D97-AF65-F5344CB8AC3E}">
        <p14:creationId xmlns:p14="http://schemas.microsoft.com/office/powerpoint/2010/main" val="126851455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44326D-FCAF-43DD-89B8-B9CE7407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7077B3-034C-4ABA-A82B-B23837B3C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EC6E8-304E-4359-B3A9-5C3714631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6134C-6D8D-4238-B3F9-F0CA68F4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DE5245-B767-4FC9-B053-37A6BE92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5E261-4909-4346-A8B7-6446DFB36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B31EC4-E195-43A3-8BB3-9BC3DD5B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0CDB02-90DB-4BFC-8623-E1AD6F1E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9a4939ff1d4d0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98CEA0-651A-489F-92B0-223825F01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0865C2-110E-463E-A0A5-942AF1761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96B80D-BDAE-46CE-940B-465386BBF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39080-8E68-47BA-B54B-26E8890C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4D162A-64FB-4E46-9E75-1660CB93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3D3D2-FE74-4A5B-8FBF-8524B6BAE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FC214F-3008-4EC4-B3E1-BF4756D77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083E78-560F-4A74-A8FE-CD905B14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CB56B-C565-4270-BC41-8C90E667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4E78C5-B25A-4B01-B36D-C3FC9E41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626875-5987-442D-A7FB-309949CB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C642F9-11BA-402B-B54C-25906BE60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07E5D0-7A27-4DAF-8121-ACAB0AC6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115432-ED01-4C9A-8AF0-83DCAECD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815896-DF98-4BB3-B811-2E5630E9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2FB05E3-D8D5-4B81-8F34-545CFC81E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0C8866-C7C4-4CBF-AA75-FC136ADF9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F6ABBE-A723-4F78-BA70-6BBA2782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C61B20-507B-4E14-8D7F-3915F7950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C26434-1B9E-41A2-AB9F-CC325107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2BD9C5-1635-48A5-A930-FE36E69D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91174598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67C518-24B7-4350-9221-427E086EF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BASE ORIGINAL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4347D3-9F8E-49D1-8EDD-0098C80F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0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Coorte atual monotipo: 4,4% da carteira em jun/26; fundos com zero permanecem no denominador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E3929-ECE2-41BC-9642-C5A4D79A0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CBEA8-2F5F-4DE3-B5A5-EF74B152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2C81FE-DC5B-4044-A491-2BD97C97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IV. Coorte e subtipo congelados em jun/26; ex-FIC, PL positivo, campos reportados e inadimplência ≤ carteira.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41882E-8E2F-4722-A6F1-D26EB048B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C6FC0F-4D57-41FC-A2A0-317C4D1C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3C5F3-87C5-41AE-A910-6A922024D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b4dfaf6c1774e52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095375" y="4848225"/>
          <a:ext xmlns:a="http://schemas.openxmlformats.org/drawingml/2006/main" cx="49530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4feeeab440457a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0F914C-A7E4-45EC-9658-95D5AC58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F98A9-9649-4079-BB78-48F350E68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232,6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76,4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EB854-39AE-41D6-80BE-1797CCC5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1FD902-EAB6-4F31-A07C-B6678729B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450747-5459-4316-A017-D6F141747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Base original: fundos elegíveis com inadimplência reportada igual a zero permanecem no denominador. A linha histórica usa a coorte atual e, portanto, está sujeita a viés de sobrevivência.</a:t>
            </a:r>
          </a:p>
        </p:txBody>
      </p:sp>
    </p:spTree>
    <p:extLst>
      <p:ext uri="{BB962C8B-B14F-4D97-AF65-F5344CB8AC3E}">
        <p14:creationId xmlns:p14="http://schemas.microsoft.com/office/powerpoint/2010/main" val="148265107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B83AD-40D7-404B-9DD4-D1450523D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EX-ZEROS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BB97E0-AEFD-4F30-8CD6-1269AA92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exclusão dos zeros eleva a métrica para 13,5% em jun/26, variação de 9,1 p.p.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C1916C-B0D4-4F82-A80A-EF7E1D3C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B347E-FC89-45EC-B1AF-F6D260CB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AA368D-3A95-4C1C-B1A8-1843CD01F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Tabelas I, II e IV; mesma coorte da base original. Método completo no export.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12527-915E-4EA8-B56B-BD67AABF1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D80A3-5C1C-4598-A7EC-4DA74C55C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EX-ZEROS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8E0B85-5F1F-4ED9-8A7F-BD81D4077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fb03b70f77430a"/>
          </a:graphicData>
        </a:graphic>
      </p:graphicFrame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1762125" y="4848225"/>
          <a:ext xmlns:a="http://schemas.openxmlformats.org/drawingml/2006/main" cx="3619500" cy="2286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10cd83cc0e845c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8FBF62-0549-42AF-8B4D-C6113B96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MONOTIPO · SENSIBILIDADE POR CLASSIFICAÇÃO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E68D6-B8BD-4EB7-94C4-098CE68D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666875"/>
                <a:gridCol w="571500"/>
                <a:gridCol w="904875"/>
                <a:gridCol w="90487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Carteira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9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Δ p.p.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AA6A3-84FE-493E-A3BF-0BD80F22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2B147-4BF1-42DC-A544-DBDA4C5E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jun/26, 956 de 2.066 fundos da coorte histórica permanecem na sensibilidade; a carteira do denominador cai de R$ 524,8 bi para R$ 171,9 bi.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F41E6-A78D-4125-A18C-1E9A4D4F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direção é necessariamente de alta ou estabilidade, pois o numerador removido é zero e o denominador diminui. A magnitude por classificação está na última coluna.</a:t>
            </a:r>
          </a:p>
        </p:txBody>
      </p:sp>
    </p:spTree>
    <p:extLst>
      <p:ext uri="{BB962C8B-B14F-4D97-AF65-F5344CB8AC3E}">
        <p14:creationId xmlns:p14="http://schemas.microsoft.com/office/powerpoint/2010/main" val="114566089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CEE172-5E12-499C-8ED8-D46FB4BD1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71BE65-3E30-4392-8A7C-446D07D55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2C99E6-E87E-4824-87AD-5889486F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F1EA19-0F7D-4F89-8F84-FE566456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1503B-9D58-41E8-9424-DE43140A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1C5A38-6726-4A23-B8C7-21AD49FA4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827362-03D1-45AC-BAA1-BBCDB821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7B37F-A5D7-4DC6-BAEC-06613F1C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926f29743b74ce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6D59E-E481-4F91-8B8D-FDCA66AC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7A2CA-2A5B-43DE-B508-3827AB25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5429250"/>
          <a:ext xmlns:a="http://schemas.openxmlformats.org/drawingml/2006/main" cx="11049000" cy="495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db1b237e82403f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07C91F-F66A-4DD5-8770-4ACC356E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27697999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35645-55CE-4C89-AAD6-2AAE0D19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DISPERSÃO ENTRE REPORTANTES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9A3511-2A64-45CA-9482-78EA6ACE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Concentração do valor reportado por subcategoria da Tabela II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3DCBE-080E-4738-8DDB-C5A639D61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AF2A98-9AB8-421A-B94F-D4BB4625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D0332E-6AB9-4584-828C-86644259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Somente fundos da coorte tipo único com inadimplência ajustada positiva.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C3C54-ECDA-4C0B-B359-5A9B35A2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7625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952625"/>
                <a:gridCol w="571500"/>
                <a:gridCol w="1000125"/>
                <a:gridCol w="1285875"/>
                <a:gridCol w="1285875"/>
                <a:gridCol w="1285875"/>
                <a:gridCol w="666750"/>
                <a:gridCol w="666750"/>
                <a:gridCol w="2333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1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3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HHI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Gini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07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1,41 bi · 8,5%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3,61 bi · 21,6%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5,46 bi · 32,7%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1,38 bi · 49,2%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1,94 bi · 69,1%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2,10 bi · 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0,34 bi · 37,6%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0,69 bi · 76,9%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0,84 bi · 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 bi · 75,9%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0,57 bi · 85,7%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0,59 bi · 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31,9%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 · 70,6%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0,53 bi · 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0,22 bi · 39,6%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 bi · 80,7%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 · 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 bi · 25,2%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 bi · 42,3%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0,25 bi · 51,6%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Concentração intermediária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0,13 bi · 27,8%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 bi · 57,7%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 bi · 77,8%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0,02 bi · 42,2%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0,04 bi · 79,6%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0,05 bi · 93,7%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0,274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0,01 bi · 100,0%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13A59A-199F-4E69-A959-0023714BC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53150"/>
            <a:ext cx="1104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Regra analítica: concentrada se HHI ≥ 0,25 ou Top 5 ≥ 70%; dispersa se HHI &lt; 0,10 e Top 5 &lt; 40%; demais casos intermediários. HHI e Gini medem concentração do valor reportado.</a:t>
            </a:r>
          </a:p>
        </p:txBody>
      </p:sp>
    </p:spTree>
    <p:extLst>
      <p:ext uri="{BB962C8B-B14F-4D97-AF65-F5344CB8AC3E}">
        <p14:creationId xmlns:p14="http://schemas.microsoft.com/office/powerpoint/2010/main" val="21241846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5DE90-61E5-4F9E-869F-F07B0202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SÍNTESE EXECUTIVA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36ADA-B13F-445A-94C5-D4C2E36AA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956 fundos com inadimplência positiva representam 22,0% do PL ex-FIC positivo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6C6A15-2A30-4FF4-B86C-0F9AFA08B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F1A0D4-236B-4D66-BF4B-A982F7B3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418C0-956A-4C8E-808D-D8A008B0A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 FIDC, Tabelas I, II e IV, 2026-06. Universo: 3.626 fundos e R$ 880,4 bi; amostra positiva: R$ 193,4 bi.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CC085-C5FE-4060-B3B3-7248E22C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3E2FD7-0866-41AB-895E-EB3BB3180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5255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SUBCATEGORIAS PRIORITÁRIAS POR VALOR REPORTADO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E23A30-2561-4FD8-A1E5-2EC86A93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11049000" cy="30956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666750"/>
                <a:gridCol w="1952625"/>
                <a:gridCol w="1190625"/>
                <a:gridCol w="666750"/>
                <a:gridCol w="809625"/>
                <a:gridCol w="2095500"/>
                <a:gridCol w="3667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Prioridade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Inadimplência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Top 5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Leitura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Interpretação cautelar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R$ 16,67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Dispersa entre reportantes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distribuído no subsetor reportante; não comprova risco sistêmico.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74,8%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R$ 0,90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89,0%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7721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R$ 0,65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Concentrada em poucos fundos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Sinal compatível com casos específicos; requer validação fundo a fundo.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66E8C5-AC26-473B-AE83-964B42532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FFFB0C-252E-4FF7-BCD5-5FCCAAC6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970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Cobertura: 2.066 fundos na coorte tipo único (R$ 608,7 bi); 956 reportam valor positivo. A comparação com o universo de R$ 880,4 bi delimita a amostra.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B4B6F6-C311-4B20-B525-1533F583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340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Limitações: zeros e ausências de reporte ficam fora da dispersão; atrasos e inconsistências podem reduzir a cobertura. Concentração sugere prioridade de validação e não identifica causalidade nem risco sistêmico por si só.</a:t>
            </a:r>
          </a:p>
        </p:txBody>
      </p:sp>
    </p:spTree>
    <p:extLst>
      <p:ext uri="{BB962C8B-B14F-4D97-AF65-F5344CB8AC3E}">
        <p14:creationId xmlns:p14="http://schemas.microsoft.com/office/powerpoint/2010/main" val="174806527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89CF0E-EE30-46AC-A1F7-C681C07E0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C237A-C479-432D-86B1-C6942856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EBA1AA-FF82-4608-A40C-783C785A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C4E35-3B45-4E58-A7AD-603D4FC91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A1C1B8-65BF-489F-BFEB-6BAB6873E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10164C-1E74-42A7-BC9B-BED1D84C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AA1AE-9401-44F3-A7C3-E6B5D7BF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D48B5-AB10-4837-A4B0-E4FC7D257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ab3ed3d8674bd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35CC9-3615-429E-AA29-A823D586C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C3CE60-B6FA-409C-93F3-E3B3CE095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8B6FF9-EA23-4F56-B5D9-32274272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f1c7d18a5df40c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9042CF-217E-456A-8C51-DAC75995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FB45B-E236-4EA9-BDBC-C417F984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C6C2A3-A380-44DD-988A-BAF8899B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9239250" y="1219200"/>
          <a:ext xmlns:a="http://schemas.openxmlformats.org/drawingml/2006/main" cx="2381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8a938f1cd5d4b82"/>
          </a:graphicData>
        </a:graphic>
      </p:graphicFrame>
    </p:spTree>
    <p:extLst>
      <p:ext uri="{BB962C8B-B14F-4D97-AF65-F5344CB8AC3E}">
        <p14:creationId xmlns:p14="http://schemas.microsoft.com/office/powerpoint/2010/main" val="139651115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77CDC-A9C8-413C-B574-2D43D293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7CA966-A551-4582-8EA4-D76520B1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3865C9-B702-4EC4-9D12-9DDFAFA0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0A624-08E2-45E4-9B8A-FDE4E2D1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3B1C5C-175E-4069-9FEC-BDD44A53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98A0AF-2760-4745-98E3-562C69C8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Recebíveis Comerciais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666875"/>
                <a:gridCol w="552450"/>
                <a:gridCol w="523875"/>
                <a:gridCol w="1238250"/>
                <a:gridCol w="11620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/ Foco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Crédito Pessoal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Três prestadores distintos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Financiamento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Administração + Custódia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Multicarteira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0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Monoestrutura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426416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E2A20-2D43-4FD5-9F68-BB773254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63BCB4-5EAC-4FFE-9962-CE62E457A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16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 candidatos somam R$ 34,4 bi · 10,0% do Tipo literal Outros; 9,7% do bucket do slide 8, que inclui N/D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3E9759-CCAD-42AF-A6A3-F3C05ACC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B4125E-3A86-45CC-BC6F-8F718EA6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08F35C-7326-4AEC-8C0F-5FD72B7A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FundosNet; ranking em jun/26. Regulamento público vigente mais recente, leitura automatizada por pypdf; links e limitações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F80D7-2D24-4CAA-945A-52CDC076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Candidato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"/>
          <p:cNvGraphicFramePr/>
          <p:nvPr/>
        </p:nvGraphicFramePr>
        <p:xfrm>
          <a:off xmlns:a="http://schemas.openxmlformats.org/drawingml/2006/main" x="6191250" y="1428750"/>
          <a:ext xmlns:a="http://schemas.openxmlformats.org/drawingml/2006/main" cx="5429250" cy="4667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"/>
                <a:gridCol w="1352550"/>
                <a:gridCol w="523875"/>
                <a:gridCol w="904875"/>
                <a:gridCol w="1000125"/>
                <a:gridCol w="13811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 proposta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Status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 ILIMITADA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Validação manual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 —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2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Manter em 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9851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A126CA-617D-4856-89EC-9E2FB1138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4D7243-E02C-4BF0-ADAA-F6DCAC3AD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 · R$ 32,3 bi · 37,3%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AC8D2-5A62-4092-A329-06399AFF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6B1BBB-FDE6-4E4A-8BBA-EB16FF0B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9076B-64D9-4D07-BDE0-C74284CF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81067-94B6-4532-B63D-96F969C7F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GESTÃO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múltiplos cedentes não conhecidos previamente.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SMART AGRO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SEFER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EUROVEST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 PLUS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credores originais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 MULTISSETORIAL BS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TERCON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INVISTA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EMERALD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J.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 MULTISSEGMENTOS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ORRAM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OURO PRETO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FOR-TE FIDC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VERMILLION I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GV ATACAMA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SB CRÉDITO MULTISSETORIAL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 no conteúdo acessível.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ROYAL 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SEVEN POUNDS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080195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226E9-25ED-44B2-9504-B9593B62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61B28-431E-4D07-993F-40BF8B2F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 · R$ 121,0 bi · 64,0%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5BF17-2677-4152-9BE0-34CAD4E3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090D41-1A63-47B7-9B86-5A79D576B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A69C5-17A8-40FC-83C3-ABA5E9FAF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FBA40B-98EF-4708-A14B-449B9835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DO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 GESTAO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integrantes do Sistema Petrobras que cedam direitos ao fundo; o regulamento não traz lista fechada de cedentes.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nos documentos selecionados.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Comercializadora de Energia S.A. — CNPJ 34.475.373/0001-30.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 - 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 MULTISSEGMENTOS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 GESTORA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ÂMBAR ENERGIA S.A. — CNPJ 01.645.009/0003-84.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ECO GESTÃO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ENDURANCE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PagueVeloz Instituição de Pagamento Ltda. — CNPJ 03.816.413/0001-37 | Serasa S.A. — CNPJ 62.173.620/0133-20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cedentes e endossantes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comerciais e Mercado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COBUCCIO DE RESPONS LIMITADA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1,76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CARMEL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 DO SEGMENTO 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TIVIO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- MULTISETORIAL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HEMERA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ANGICO FIDC SEGMENTO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empresas de projetos aparecem genericamente como Devedores.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IFOOD I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LF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Listo Instituição de Pagamento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84026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DFACD-0174-4DD0-86CB-C22F26E5C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0AB403-4939-4DB6-BD0C-29E374D9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· R$ 120,8 bi · 48,6%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2F0B51-1864-4AEE-93A0-D8E0153D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DDE28C-9B77-43DF-8D7D-6E1C5682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C7C104-8F72-461E-970C-75D2E7AF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9870A4-0716-4314-828B-BBDCE31E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 e instituições financeiras parceiras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CONSIGNADO PRIVADO DO MT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Crédito, Financiamento e Investimento S.A., como originadora e endossante das CCBs.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Instituições financeiras que concedam as CCBs; nomes individuais não identificados no regulamento selecionado.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 da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Instituições financeiras que concedam as CCB; nomes individuais não identificados no regulamento.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Usuários finais, clientes e estabelecimentos subcredenciados do PicPay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MASTER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GENIAL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 titulares dos instrumentos elegíveis; nenhuma entidade única foi identificada.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S3 CACEIS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Nissan do Brasil Automóveis Ltda. e Renault do Brasil Ltda.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ACR BEM BANCOS EMISSORES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Instituição de Pagamento S.A.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FIDC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 Sociedade de Crédito, Financiamento e Investimento S.A. — CNPJ 37.679.449/0001-38 | Estabelecimentos Comerciais não individualizados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 SEGMENTO MEIOS DE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 — CNPJ 18.189.547/0001-42.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 FINANCEIRA S.A. CRÉDITO FINANCIAMENTO E INVESTIMENTO — CNPJ 15.581.638/0001-30.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 PRIVADO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Parati Crédito Financiamento e Investimento S.A. — CNPJ 03.311.443/0001-91.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POLÍGONO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entidade nominal; instituições financeiras parceiras e vendedores usuários da plataforma são definidos genericamente.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SEGMENTO MEIOS DE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METEORO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 BANCOS EMISSORES DE CARTÃO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Instituição de Pagamento S.A.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CLUBCARD VAREJO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PHRONESIS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no documento público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SOMA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 SCD, Stone e afiliadas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552832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EBC963-0952-4F7D-A769-4110B5A1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POR TIPO ANBIMA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30DFC9-BF03-4206-873B-6CA808B72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 · R$ 89,8 bi · 25,2% do bucket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B4A502-EAB1-4751-BA2A-35D4B374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9D35F-A6A5-4259-AC7C-7C1B3E87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3E747D-1FB3-4C33-8F2D-564209D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PL: CVM, Informe Mensal, jun/26. Tipo/Foco: fotografia ANBIMA de 29/dez/25; níveis documental e proxy permanecem identificados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04D63C-9F57-4175-815D-CE8FC467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71500" y="1352550"/>
          <a:ext xmlns:a="http://schemas.openxmlformats.org/drawingml/2006/main" cx="11049000" cy="4857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23850"/>
                <a:gridCol w="2343150"/>
                <a:gridCol w="666750"/>
                <a:gridCol w="914400"/>
                <a:gridCol w="914400"/>
                <a:gridCol w="876300"/>
                <a:gridCol w="50101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Gestor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Administrador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Custodiante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 expresso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 SEGMENTO MEIOS DE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Instituição de Pagamento e Serviços Ltda.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cedente ou originador único expressamente identificado.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NÃO PADRONIZADO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 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Estabelecimentos credenciados, representados pelo PagSeguro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VALORA RENDA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SHPP Brasil Instituição de Pagamento e Serviços de Pagamentos Ltda. (originadora); estabelecimentos (cedentes de recebíveis de pagamento); instituições financeiras parceiras (endossantes).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 FUNDO DE INVESTMENTO 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KANASTRA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INTRAG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LIMINE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 ou cedente nominal no regulamento consultado.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 que cedam direitos;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SEGMENTO ECONÔMICO,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PETRA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S.A. (cedente) e BMP Sociedade de Crédito Direto S.A. ou outra instituição autorizada (cedente de CCB).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 -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SECURITY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RJI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EXPERT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Regulamento não localizado no FundosNet para o CNPJ consultado.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 CORPORATIVO 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NOVA OCCAM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BNY MELLON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Ausência de originador ou cedente nominal no documento selecionado.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REDASSET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Múltiplos cedentes;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ASSET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QI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 MULTICARTEIRA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BANK OF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Entidades distintas;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CBSF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REAG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Empresas em recuperação judicial ou não;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físicas, pessoas jurídicas ou fundos de investimento;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Aquele que realiza a cessão; nome individual não informado.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 NPL IPANEMA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BRL TRUST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324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ARTESANAL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GENIAL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Pessoas físicas ou jurídicas; nomes individuais não informados.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3645559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5D2477-5A93-4A29-AFEC-9107E3C5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141859-461D-4F32-9AEC-420E51F6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113DC-E4C9-4BBD-9296-A6DA00FA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84237-294D-4A63-ABFA-39C46D3C4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E80966-EAF0-441B-ADFC-7C7F7CC06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PL bruto, inclui FIC-FIDC. Definição mono: mesmo conglomerado normalizado nas três funções.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FF2FF3-D10C-4D9F-8E21-6E923DA2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a86561bcae3448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AAA319-BA66-4323-B9AF-373335DD2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C61EB-1284-4B5F-B3F4-097A9667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3D5027-CB06-4AEA-977F-19F08A86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0B364B-141D-493B-B2EB-7CDF34FA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D68C5-0C49-4EE4-A228-E50D1908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D99D3D-0BD1-4151-81CA-DA2FABA4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A826FB-A245-41D5-A4FC-D309EE0F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F19A8D-C00F-4F15-A73C-93CA747D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DEEE0B-FEBB-41F2-B3FB-785F13E2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8B2341-229E-4630-B883-EC9FB7FBF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DF2B9E-7FFC-4320-84F4-23DC7642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B6A51A-9C63-4AB6-9D3A-20E4EFB24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EC0198-3B53-48AB-9A01-836F19E2D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32AE1D-E5F4-4477-85F7-78A1CFE64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E4E3CF-447B-4D0D-A45B-37DD58D66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F59E50-0488-4655-83C5-15E52308D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C35988-C72B-4559-A806-6F90C63F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58598A-4F96-4E00-8D8B-60583CE2A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68FDFC-14DB-40F2-B8E6-9A3B27CF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9C9F1E-255F-45C7-8733-B99985A2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253020-7C2B-414C-A4BF-5BBDABBF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24550"/>
            <a:ext cx="11049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Conglomerado econômico normalizado: Kanastra permanece separada do Itaú e CBSF da REAG. A afiliação Kanastra→Itaú é exclusiva do ranking de independentes.</a:t>
            </a:r>
          </a:p>
        </p:txBody>
      </p:sp>
    </p:spTree>
    <p:extLst>
      <p:ext uri="{BB962C8B-B14F-4D97-AF65-F5344CB8AC3E}">
        <p14:creationId xmlns:p14="http://schemas.microsoft.com/office/powerpoint/2010/main" val="49055086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626B8D4-BAC3-45D0-A51E-D4587AC6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EB6CFE-EBE2-4FB6-BA0C-D70A5A31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9F81B9-F7BC-4496-BA3C-5F41994A6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6D03DE-5C91-43BE-A6C3-6FED50611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2F88B-0346-452B-B5AA-693F4A7A1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CA62F-9FEB-42C1-BD3B-193AD8A8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17EA6-9C45-4A06-AD21-25904EBD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9D9AA-6D62-43EF-BCB8-B3AF0EDED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C4BAFB-993C-41D7-B3ED-20D94F263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0A3F2-BBF8-4EE2-9846-68FBAC887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E8E71B-690C-4377-901B-92F9951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44FC4F-C504-40E3-B6F9-15C6DA3DC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871C4-415F-4298-AB8C-83576061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251D90-F7EE-4917-9499-7C4FE755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C069A7-32B2-4F9E-BA8D-92E6CFE3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70933D-8442-4C5D-95C6-328C2C8D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8DE644-685E-4C73-B131-AE2B1681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8AAFA9-D604-4456-B306-5669F37A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27118F-C146-4B92-9D37-C1FB81298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CFD756-B5AB-4D3B-BE21-0B0704AC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3C1FAB-A1E9-49CC-8BE1-A2AC4DD3F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E92ADA-75F8-4FC7-A035-4B68CECB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884BC5-5977-4198-A67E-ECA1A632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5EAD11-D3F5-4E19-A6BB-6CB8597C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F52DA3-37EF-4E82-AAB6-C25DD654E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A112B5-D638-4455-B2E7-BB10777B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9695D2-25B7-4D23-A142-1855D0B8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999706-4467-47D1-981B-71BF0F47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E4117D-36E9-48D2-8ED2-3B0F109A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E764DF-162F-41AB-B6F8-D7B0F2E9E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594B94-651F-4B7A-ACB2-C0841FC4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0A48D6-5AEC-4B65-A2B1-F54F86F5E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10994C-90D7-46FB-875A-AB0100C49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9E252E8-56D0-4A7F-8073-4E352581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52FBAA8-125F-43C5-A1B3-C8990266C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729BF6-7B5D-47BF-B2C4-AAF967A9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67820A3-8B46-4D6A-AD53-86FC3EF7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A335D66-3D75-426B-8818-209539D7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06297B5-F9EE-4C43-A201-199EB3821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99E095-8A76-4E27-B7A6-21E59FE9C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DE54CB-ECC6-4988-ABBD-615306B57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D6829D8-D14F-4476-99A8-18DBB42C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D2941C-4FBE-4EA1-810C-C62E3E88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575B0C-5BEB-4321-BE95-93B6C55EF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4182BEE-74F3-4469-9B78-55FDD37C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59945C-6017-4FC8-8BF5-819E7870E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49BE22C-1200-483A-9EC0-009EB6CB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94DB8C7-E346-4DAD-BF95-2250B792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3B16917-A11B-4610-B53E-7E4174559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1DE8AF0-CBDC-44BD-9449-635DB7E0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F495577-35FC-45C7-AA9E-19B52EF60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A81FC59-C67E-42BC-8B08-65F94419E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DB5330-15FF-40A1-82F0-5D61D6F4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F32F385-859B-4F0A-B684-21AB8E5F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ED81DCB-3471-4459-B2B9-0F2560E4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93AFCA2-76D4-48A3-8BD6-78258DD61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FE4F7A-3389-45CE-9CFD-C8C89B1A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6068BBA-1CD9-43DE-B977-B091548D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A48CBA0-6F77-42AA-8AAC-37701EC9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F5229FA-F05D-40CA-8949-ACA3BEB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4676A32-28FF-415D-A5AE-31218FBB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9CF3DA-7D99-4698-8246-8C07D3AE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61EC95F-C44D-40A4-B1ED-94085E19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19EB768-F06F-4852-8253-208D901FC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C19AC23-F2B8-43C2-8C3E-FF203DEC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2A89A76-B377-4EB5-B42F-1514CAFF8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64F1E64-071D-4D23-A634-5A542CD3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AF991A8-001D-47A8-A39F-FF809510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934BDB6-C349-41CD-8F2B-8400FD58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6B1AB93-1DF9-45D5-8A6F-42BC81D9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C396803-1B13-466F-8658-3B69E6BD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BD1CBB8-40BC-4C66-BA01-B9FBDB6D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C53AC68-B564-4F37-9B14-7CE702B13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D3B8E66-F96F-4F2B-9862-2B23E996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DE28563-B03F-450B-913E-61073543F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5E16E7B-2A3A-467B-8606-E72BD99E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5FCED3C-76D0-48E9-BD5C-7E1F9C41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0E5B145E-8221-44CE-84B5-0E8CC85A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92831B6-3A4C-4481-8A54-D5F88A387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40906068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7919BE-FD57-4F95-BF65-F0F74975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10501-084F-45CE-8E89-3F6BC0B8B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jan–jun/25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C50D1-F7CA-4277-A6D8-D14D82D0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6D2E77-0343-413E-885C-32BF7FFB0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93760D-2A06-4419-BC16-B2A417E6C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556CF1-866E-41A0-8D0E-2D93C237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43FE2-10F2-4BE2-B9D7-1F3813358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E82535-8F3E-47A1-A715-D8E8F240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ec5967470f444c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04D82-77FA-4132-B300-B4BE85CD8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CB6732-B54C-435A-8014-ECB7E83E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f0041a583d5439a"/>
          </a:graphicData>
        </a:graphic>
      </p:graphicFrame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715250" y="4000500"/>
          <a:ext xmlns:a="http://schemas.openxmlformats.org/drawingml/2006/main" cx="3905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f1b37d34db4f1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FD3FA0-8757-48C4-BBCF-1E3D3D74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438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A64056-2B5A-4317-ACAD-E0DF6A67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p:txBody>
      </p:sp>
    </p:spTree>
    <p:extLst>
      <p:ext uri="{BB962C8B-B14F-4D97-AF65-F5344CB8AC3E}">
        <p14:creationId xmlns:p14="http://schemas.microsoft.com/office/powerpoint/2010/main" val="30797996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EBFB27-7008-4F39-B96E-D1B7E4D3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6D52DD-7422-4547-AC49-4F91F753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942061-6FD1-4AD7-ABC7-7D903EB0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9A967F-656C-45CE-8B49-8486ED95E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1427C2-6AF3-48F8-88CA-E13DE5EAD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4A6BD-6EA4-4FF6-BD62-BFF2DF79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3E0729-F29E-4902-976F-2E888868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E3548-3B09-4996-8C94-0D2F62A5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50331eb86140d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D86DBB-1F7E-47BC-8D0E-69E865910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09E6EE-0127-4753-B155-7C6736CD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896811daee42a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2316A3-46CB-48DA-AA3F-501D81415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5B527-1AE4-4792-95E6-7D9593EB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3ffea6b5f540dd"/>
          </a:graphicData>
        </a:graphic>
      </p:graphicFrame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048125" y="5486400"/>
          <a:ext xmlns:a="http://schemas.openxmlformats.org/drawingml/2006/main" cx="40957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b7775fd7b124fc4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11A9BF-2437-4F52-BC23-897BEE2B0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05475"/>
            <a:ext cx="11049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fecham no limite inferior; “&gt; R$ 100 mi” é estrito e exclui ofertas exatamente iguais a R$ 100 mi.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5D6A3-EF6E-43A9-8955-26907DDF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37B3DE-5702-4FFA-BB12-1B8217AAD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5F2DB4-BE91-43F2-913D-ADC06DAC3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160B1-71AB-4892-80D8-1AD89194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647B9B-695D-4E31-9651-31F22AAAB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2C061C-3347-4AD9-9E7A-D341BF24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6740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F0A798E-0AC5-43F6-95DC-043D28D4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6740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F7E2BD-68F8-4CC5-8757-41250674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04837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84068861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0DB384-397F-4C25-B314-DBD8000B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5AEDFB-DD11-4A35-A653-BE2AAA7B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40EEC4-07CD-418D-98E3-AE97EF63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196C6F-304E-48E6-82BC-3208EC3B7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86E2A0-9A3E-403C-B036-BE72E02B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8F0B3-2448-43EC-813A-35AE130F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CC906-D817-46FE-97F2-45A6D55C2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D4DA83-8E27-4694-B06B-90AB566AB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981c0e188442e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7F740-AF2D-401D-97CA-EE594BA73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97874-D3AE-4AB4-854A-95FD0F8A5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22b0d75e3c744e4"/>
          </a:graphicData>
        </a:graphic>
      </p:graphicFrame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4333875" y="3552825"/>
          <a:ext xmlns:a="http://schemas.openxmlformats.org/drawingml/2006/main" cx="352425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af639b2a1774f06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E3245A-3346-4D7E-8B8D-8F349BB1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6AC66B-3C77-4D37-9863-C8457CFB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DC25C-3868-4B6F-B33F-6C30954A5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c498bdf3c0545e7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1EFF58-1D40-4C85-8628-46CF2E22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20AE87-E52C-48BD-8E52-080F7DB35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afd7c7319b4a09"/>
          </a:graphicData>
        </a:graphic>
      </p:graphicFrame>
    </p:spTree>
    <p:extLst>
      <p:ext uri="{BB962C8B-B14F-4D97-AF65-F5344CB8AC3E}">
        <p14:creationId xmlns:p14="http://schemas.microsoft.com/office/powerpoint/2010/main" val="210541970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DBE50-5C9E-45DA-8C26-4DE05951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FEDBAE-8EA3-4D9B-BA0B-B49067793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EDD898-FD5A-447C-8691-7121F13A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A19A5E-C15B-4667-90A5-04F43C845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7DA048-81C4-4A58-9286-0CF10CC9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75444-DF96-4EE9-8E5E-BE5E6073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0F534-6443-4D95-8FF9-30DF685E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E7EEC1-F298-4B5A-BEAF-B8D8B0C96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AA+.br(sf)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BBB.br(sf)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(P) AAA.br(sf)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br_Aa (AA)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AAA(EXP)sf(bra)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AA+(EXP)sf(bra)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BE4FAA-B3D7-4766-BCD5-9B802A8E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120B4C-5B02-41CE-AED6-5EE6FFF5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000125"/>
                <a:gridCol w="571500"/>
                <a:gridCol w="400050"/>
                <a:gridCol w="571500"/>
                <a:gridCol w="285750"/>
                <a:gridCol w="247650"/>
                <a:gridCol w="428625"/>
                <a:gridCol w="704850"/>
                <a:gridCol w="9144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3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 Corretora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AAA(br)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CE889-1BEC-4D93-BED2-B9CA3C34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3FD5F-0374-4616-AC47-BF5147E59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F25BDE-E7B3-4AC5-95A3-06E4CC45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GF = garantia firme. Agência e Rating referem-se à emissão/série/subclasse conciliada; N/D indica ausência de documento aplicável. O workbook contém todos os períodos e a trilha documental.</a:t>
            </a:r>
          </a:p>
        </p:txBody>
      </p:sp>
    </p:spTree>
    <p:extLst>
      <p:ext uri="{BB962C8B-B14F-4D97-AF65-F5344CB8AC3E}">
        <p14:creationId xmlns:p14="http://schemas.microsoft.com/office/powerpoint/2010/main" val="134844498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D52E9-FA67-40E1-A85D-3B429129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ACAEF2-4A96-4B7B-8621-4A5EBE21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2024FY e 2023FY com agência e rating em colunas separadas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FC70D-9B1F-43AA-9B15-BCC821F3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C3C14A-4B13-4B2B-B364-DBB095A7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A4A79-A830-4BEB-A6E8-C761562DE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e FundosNet. Primárias encerradas, todos os ritos; volume registrado.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0AEBB5-13AD-4A11-8657-C3ACFB4C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4571F-66CD-491C-9C5B-F0C325A64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A55B2B-13D8-435A-A76B-78389C88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 AUTO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INDIGO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ABC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 PAGAMENTO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INTEGRAL ACCESS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MODAL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5DFCC-81EF-4C4F-B6D4-20824342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R$ 28,93 bi · 30,3% do período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0D8576-7FB2-4C5E-8469-4280D561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2023FY · TOP 15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F91A49-C240-4CB3-862D-565FB5FF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190625"/>
                <a:gridCol w="704850"/>
                <a:gridCol w="447675"/>
                <a:gridCol w="647700"/>
                <a:gridCol w="304800"/>
                <a:gridCol w="457200"/>
                <a:gridCol w="590550"/>
                <a:gridCol w="762000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4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CAIXA ECONOMICA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 CRÉDITO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Votorantim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brA(sf)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brBBB-(sf)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 BBI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BBBsf(bra)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 INDÚSTRIA PETROQUÍMICA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BBA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 NÃO-PADRONIZADOS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5781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 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TRUSTEE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5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D6B53-CDED-45D0-AE5B-4A3DD9B7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R$ 9,65 bi · 36,5%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30533-13D4-4437-89D3-2CE533081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07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07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GF = garantia firme. Agência e rating são publicados somente quando há documento público verificável conciliado com a emissão; ausência de documento ou vínculo exato = N/D.</a:t>
            </a:r>
          </a:p>
        </p:txBody>
      </p:sp>
    </p:spTree>
    <p:extLst>
      <p:ext uri="{BB962C8B-B14F-4D97-AF65-F5344CB8AC3E}">
        <p14:creationId xmlns:p14="http://schemas.microsoft.com/office/powerpoint/2010/main" val="12356514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F5DFDB-5DB1-4C52-835E-865F85049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2022 PARCIAL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F1C8EF-4FFC-4DDE-823C-95AC08623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85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pública recuperada contém 7 ofertas legadas; o período não forma um Top 15 completo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8312BF-46C9-4162-9821-9AE4970B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FEC40-AC6F-4FF1-8978-EA9545D9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5087B5-642D-4E6B-BE43-56B9182C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base de distribuição dos ritos ordinário e legado, e FundosNet. Registros encerrados em 2022; cobertura parcial.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1D51E-519F-444C-AD1B-4513DC1A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11049000" cy="3333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28625"/>
                <a:gridCol w="2476500"/>
                <a:gridCol w="1524000"/>
                <a:gridCol w="857250"/>
                <a:gridCol w="1619250"/>
                <a:gridCol w="619125"/>
                <a:gridCol w="904875"/>
                <a:gridCol w="1143000"/>
                <a:gridCol w="1476375"/>
              </a:tblGrid>
              <a:tr h="3238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Coordenador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1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PACTUAL CRÉDITO AGRÍCOLA COTAS FIAGRO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BTG PACTUAL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2998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CREDITAS AUTO VIII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 INVESTIMENTOS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41D225-72D4-4F8D-84B4-83727B72E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 observado: R$ 2,75 bi. Limitação: sete linhas legadas não sustentam comparação anual nem inferência sobre o ranking integral de 2022.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82D58F-305C-465B-845D-2DE3121B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9750"/>
            <a:ext cx="1104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Agência e rating são mantidos como N/D quando não há documento público aplicável conciliado com a oferta, emissão, série ou subclasse.</a:t>
            </a:r>
          </a:p>
        </p:txBody>
      </p:sp>
    </p:spTree>
    <p:extLst>
      <p:ext uri="{BB962C8B-B14F-4D97-AF65-F5344CB8AC3E}">
        <p14:creationId xmlns:p14="http://schemas.microsoft.com/office/powerpoint/2010/main" val="1856728690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A0CDB0-8F29-4EBF-84FC-F3A9C50F8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1AC409-2C67-4012-BF19-9E893B27D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73D56-20CF-4641-A1E6-70413C04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564418-000E-4FD2-A6E1-5A1938D7B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6835F0-F5F0-4D6B-989B-0501D003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698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CVM até 30/jun/26 e ANBIMA até 31/mai/26.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CB9DA6-FDE8-41E1-A15F-C2E81729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86F674-B9BB-455F-9132-95E45479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E6FC3C-B427-4373-B685-4634257FE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DB949-D173-4A2D-B462-D2A92F0E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EA30E2-399E-465B-A770-20043A657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F7D07B-C38B-458F-AE6A-8F32B36E3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0F0757-1F2E-4B0A-A780-9AA62A80F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02EB432-7C87-4611-BBB2-14CAC3533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964BE6-63AB-4417-B130-FB89F3BC5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3047DC-1AC3-423A-AD5C-B5ED6FDF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B414FA-CDD6-4C01-BFDD-E8A1422D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6AF471-F1E9-4C8A-84D4-5758D9A15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8AD82C-6604-432B-903C-5DB1A51ED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948893-F230-4DBA-B583-1651AA90E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04AFA2-61E0-4472-A635-3CF786A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A702CE-029D-49C8-9DC3-83A9D819D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C4FD2-E571-4F0A-835B-E55BC5B72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DE020E2-D35F-4690-8B86-603DBD628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65,7% dos R$ 78,1 bi de PL ex-FIC atendidos pelo BTG nas três funções.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EF7BF6-C5FF-476E-B01E-DBEFC3C06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7C511D-5AEC-4F7F-8EFF-EDD083236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A49895-2BD1-4690-AEDA-CAAE9543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8CAE78-EEE8-42EF-9C67-4EDE6088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6254310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383ACEA-82A6-44CD-8229-F2130F76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004505-83A2-465E-BBA3-A4A081A7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70C4EE-25F0-49B2-97B5-6FA3C302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D02D2B-C1C0-4F8F-B48A-A94E6882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97A1A5-5690-467D-8638-AB737424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27B7D-8D4B-41FD-B73A-CB695E77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4D8C9A-8CA4-4F2C-BB81-F718DA90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08CDCF-468F-4E03-BA75-00648FC2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7982CF-E920-404B-8D82-E05BBB62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B1EEC-58C1-4117-9C35-C7E17BBA9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5F00C-E5AA-4981-8B59-D3C33D5F8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9AAB60-4854-4C40-A2C1-06583F26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05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3DF752-8637-4670-8D23-DA0224B7B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214991-7A47-4598-B24A-509A3ACE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632E0F-B9B2-48C1-B47F-0ECB2EBB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C75002-0A1E-45F4-B424-1395AEBD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14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33B53A-15F5-4EFF-BC15-6A78AB38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14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ECDDA1-6352-4B6A-9FA2-5A561F7BE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676EFF-327B-4D88-8C0B-13E594D1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43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E60CE3-EDE2-468F-8D2E-444F740E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343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28CEBB-3C0F-4D91-B8BE-00BF687C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41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BC4888-77F6-484F-BDAF-48E550C19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3EFE0F-E5A3-4E00-A9B4-B44CBBDF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527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8F0880-B35C-49B3-872C-2356EDCC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527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5AC545-F5A2-426E-B679-2407C700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9527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49AD79-A982-42DF-A1AA-A33C0F4A0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337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6AAE45-979E-4321-B8DC-46E16DFEB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0BBC4C-6236-4E55-9C5B-A0D8B507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623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7953247-AF83-4BC3-B0AD-8D81C46B6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5623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0BC023-2E0F-4134-ABA2-3471A20A1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623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subtipo; cobertura de classificação Tipo+Foco por PL é reportada em cada slide. Top 10 fixo por função; Outros identificados e prestador não informado separados.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42671B-636E-4BDB-A2C2-E34222EE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433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02CE02-E587-4116-B73A-CFFB8D37E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F57AA4-01A5-435B-B16B-E06F5C239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719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0072672-C6BE-4F24-9F4D-70622419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1719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D82EB0A-DCAC-4D24-A4F4-82DE2864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719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inclui FIC-FIDC. Mesmo conglomerado nas três funções; Kanastra permanece separada do Itaú e CBSF da REAG. Afiliação Kanastra→Itaú só no ranking de independentes.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7C85B3D-4984-40E5-9A09-06D8874C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529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8674B7-488C-4562-B98D-FA7584A87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530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CD75D0C-EF13-465B-8C02-F66CBD055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815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Comparativo por instrumento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AB1C1B-3080-4911-98BB-30BEE9FC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7815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jan–mai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713F13-FCBD-42FD-A9D4-B6D9D7A53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815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ANBIMA Data, Valor Encerrado por data de encerramento das ofertas públicas. Debêntures incluem debêntures de securitização. O anexo não segrega sistematicamente primárias e secundárias.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12FFD00-72FE-4FC9-82A7-F1BD7ECE6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62575"/>
            <a:ext cx="11049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307594-837C-4C3E-A993-7675F81D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31A25-0F2B-4C39-9C6C-20B0E89E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1695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Análises granulares de ofertas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7C8C7EA-349E-41EF-8FC5-94E68AE66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911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2022 parcial; 2023–2025 FY; 2026 jan–jun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04A3D84-2735-4FCA-9A7A-7AF5E5D5B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91150"/>
            <a:ext cx="5886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2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2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CVM/SRE, Cotas de FIDC, ofertas públicas primárias encerradas, todos os ritos disponíveis e valor registrado positivo. Automático: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54347717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A0924E-CAD7-419A-A78C-F67C0ECA6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B3843C-9112-4704-9C0D-E882FB9B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D991C-98B7-4C27-95A9-4EDEF63A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D573B2-B8AA-49E1-9CE6-273CE62E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B1061-12EC-4884-9107-AA07BF9B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F5417E-D823-4E39-BB33-904AC882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63B3F-31B4-43E0-839C-C2AFA7F4D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6025FE-E131-4140-8D84-97BF8478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9B458-16B0-4C22-889E-43E556AD6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833D5E-7A01-464E-AEAD-3D50874F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2D628C-8963-4013-8723-C2314509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F0BA5B-8EF1-4C52-96AE-7C1F1E5FF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812087-9DE1-497D-B919-ED29C2A26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DA110-DDCE-4B48-B712-50E19D21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4458CC-355C-49F2-98B8-EED45E6AF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92A45E-20E3-4019-8240-7FFEEB9FB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6B837A-6162-44BF-87E9-3EC0A937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88194E-1187-4F99-B123-AE4A8134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8DE633-A512-472A-B2BA-64699D66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29CE85-64BD-4DBE-B154-A6F9E521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05BA70-FE75-4288-B19A-CF8B35451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5E6DA-5B7B-44FF-89CC-38ABCB55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8944A1-8F3B-43FA-8C4D-21FCA866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DC43E-2421-402A-9CF8-8B1BAE421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8F4613-CC86-403A-80B7-60E83265B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B40511-641D-4759-8940-A50E3B2D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C3857F-26E0-4C74-B3E8-26B9EB86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3208AE-4D65-4FCF-A592-24A5D3608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B5827F-5003-452E-9490-221227E1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721607475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68A436-486E-4E33-943F-88AA1B07E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02E7C-106A-44A3-B518-A7D737B0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4B31E3-9858-453B-90F4-7A5589D2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386913-51CC-4D8A-A4D2-B029987DF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238B02-31FC-464B-910A-6BE18611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B3A79A-28B3-4E99-91C4-6C05A6C0C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F4705-8081-4354-8465-6E3C635AA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0D67E8-FF0A-41F0-A3B5-7D20FBE8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821A39-A6C9-4B6B-970F-8E82F03E6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BF7EC0-FCB8-435B-9135-DD7674B6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5788CB-0F41-4DC2-A345-B2175F2C0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FCAB2-2BD3-43FC-8C37-9E8730203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8109A4-7DEE-441C-BEFB-E17350B20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523176-A1A9-4066-9D72-9DCDD4A5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B37D69-D57C-4D59-8ECF-672FF004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B9B5A7-7308-443B-988A-AB2611A8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97D773-1545-4B77-A255-02D9B348D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BA30F5-A327-4C0B-B943-1DC91C77B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E69071-F4C3-41C1-9371-4300B160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20B5C3-3088-4D69-BFB0-D3089C023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B0DA85-9EC7-40AE-8D38-CF5EDB8A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55970D-8482-46EE-BC3C-635AA2DE7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3859FC-6263-4A53-8C12-853CB63EF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633DE2-317E-47F6-B3B6-05682E7F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EBF139-F611-4F6D-BE75-21BE70221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54C2B3-02ED-4DE8-A756-C67F25EF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CC9704-408E-48F4-8BE2-F8AC05127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86162D0-F2AE-4BE0-8AEF-3251D9D9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FEA42F-471D-4FD6-94A5-26608CF7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710508468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B90F0C-198B-4CC3-BC2E-3DE22ACF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5D25B-B535-443F-AB0B-C6A39CFED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BA5CF1-0233-44B3-8979-96E689D8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B2C554-2A05-48FA-8D2A-2B509A52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66D0BF-D480-4718-AF8B-16AF3C8C7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50435-F8D7-4D1E-92EA-7469ECD1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1703FD-E2A9-4E75-8619-FC6EF289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9A4D34-21FE-48C4-ADEB-7C6B4142C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22886B-8123-457D-AAA0-10A75337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3246A-AD13-47FF-9911-93A47F57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50F548-7FA1-444C-9439-F7E9673F5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9C30EC-7330-4488-9953-1B757454B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8D82B-5EDB-4307-B3FD-E0D6DB30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B5BB45-30B1-4B3C-A1BD-BD578C2A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F44DC5-FEA5-4768-9712-649C0A53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108655-0757-48E6-B2B6-2B406910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58C1A6-5FF7-43CB-BC8E-A66DF7891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54A8F5-45BE-40DA-8932-B3C881C8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214758-BB62-4F2A-B5AC-D4C1ED039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A5CA836-787F-46F9-899A-39EA78B7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95512D8-5672-4757-AF5C-FE146188C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00A1E-8114-40B2-82CD-30866E1D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63E3AF-B9FB-493E-87A1-4D423B40A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390594-3C39-40FC-B047-BD45F926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9822BA-0772-401F-ADC3-3D09AE31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58E0D-0EC5-496D-8867-BA81361B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30FDBEA-7111-491E-80D3-E67B57AE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D93133-10CE-4837-B308-AAC930FB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DE1B82-095D-400D-9136-44802BF5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1422822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7CAAC4-C913-4C4F-9B67-442A386C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9E4E34-FED7-4A71-8475-A9FD5F5E2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DF8E1B-D449-4683-95C4-37A237A9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E3889E-41CF-483E-B7C6-03993C1EC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F4C8A-B127-4123-B2D1-BB5117B4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855B7A-593C-4CA4-A53A-BDA9D1FD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6E24FC-A536-47B3-8F8D-C6664BE3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5CA59-FA42-4222-B23E-A31AF9861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F8005C-7802-4985-8878-899308EA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2CBAF4-CDE8-47E0-B772-0DDAA2877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69BDA2-FB2D-4999-9C90-8CAFBF12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C4F5C7-C0BE-4EEE-8573-F084C9CB9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5FA0A6-4C6F-4AC2-B1F6-9E06E409E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78A16A-2C99-4750-A044-10D8A1D4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157A9-1752-4834-912A-7DAC9C76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F43139-F819-4BBB-8225-17752D0B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A8C317-F708-48D6-B49B-9BF74EAB1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4DB1C4-9484-4AA5-BA54-D8AD3D89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461CCD-E426-49B6-9524-4A6CEF53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F49C5C-0C9F-4EDE-8E35-54933A43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B5963-5071-44AC-904C-85146C641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R$ 5,5 bi | doc. 1166893 || 2025-09-16 | encerramento de oferta secundária da 1ª série | R$ 4,2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16017E-CB9E-4777-A77D-1A97B0F80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CF1B2-6EA5-4D27-861F-2A8F739FF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7D960B-6880-4934-9CC5-C6AD3F40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DA9BF8-E352-4347-9201-1BA3ED32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885495-495F-412F-8F12-E79ADC878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22127-8BD9-49D7-87E3-39DCA132B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C71B49-67F3-4E54-8272-50B717DC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027CE75-EB73-47A0-BD1A-C88C0C8C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497826670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38AE5A-7834-41A5-AF5A-BBC915A1C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9CABF-6D92-4801-BD88-4D7EB5F8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56E6F7-B703-4BBF-9A69-7C07F46E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E7A326-3356-4117-B8FE-3CAC4364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40C946-0B50-46CB-A7DC-1F5D8B0A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3ED654-4F6D-4D30-AC8A-C386B3A34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C28BD1-1540-47A1-BE8F-3E040E54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CC9208-1323-4ED9-8B1B-F4C85C3E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A9FEF2-E629-45FF-9F93-692083EC4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10DDBA-5E64-4CB3-B040-75242704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D5F4EF-1DBC-465C-8492-3EA4152B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F0F266-9625-4682-8FC4-9EB9016A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A93801-85D1-4262-A293-69202A3E7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F92910-51B9-4991-A537-4805F833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E8845D-1B24-4383-9DD9-CE7968EA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8CC485-56C1-485C-9977-A797FEB1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94350C-91DE-42F3-87D2-C56E3DED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43FE9A-D212-45F8-995D-65186ADA7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50EB0AF-D601-4480-A2E4-13E60AF9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1A020-348A-4346-AFA9-D8FBE297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2B46DB-D408-434D-80BF-098330228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EE8136-DFD2-409D-A382-DC37C4338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1B631E-CAA6-4717-A024-E19404CF1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FB0EDB-C555-4FD7-AD4E-4C62B7E8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87D591-A8D4-4A73-9BD0-C8A4EE099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E99AF8-FE20-436F-A15F-B3D6EF45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8E469E-0134-4ABA-8813-D6C69210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6C2EC8-3B19-484C-B18D-7A341DECA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24D04AE-3FF4-4379-AFA1-7DB1B1CF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176941103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C5F64E-567D-4D88-B0DE-000834C7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A592A8-FCC1-499E-B829-3DB094ADE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01F66E-D7CB-4250-B726-E46695AF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35A23-32DF-4E91-9FF1-2B8FFB867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8FC34E-3323-478D-A169-E795F122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8604BB-5487-42CB-83FD-02CD0AC2F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B6C50-8D4F-4271-B1C3-0884AFB6E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ECA55-34F9-4B5D-8824-1415BEB9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FCC17-46E0-4D28-B1FB-5E0AABE8F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30F055-FB13-41E7-905D-287DAC41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2AA8F7-65C8-42A6-A6C7-559F28F3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108400-692D-4CD0-B77F-6C65A2572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C78558-BACB-4356-A232-936808015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B24D1C-80DC-4F44-9CBA-A1307733C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9BBCE-964A-4032-9743-57B3DF52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81E1DE-B2A1-489B-BB18-BCF9E3C14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51E16-2905-4470-AA0E-9178D83C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ABA388-0B53-4709-9447-88239D7BF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5DE4BC-E1E4-479C-8458-31B9BCF2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D2726E-EEF2-4DC3-B40C-C9E4C64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91D90B-7238-42DC-AEB2-8A80ECF9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65F351-41F3-4E54-AF4B-D64403E6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9355DC-9833-41E8-AC80-1D73482E3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42C6966-205E-49E2-BFBC-9D5FDE4A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1AA887D-2705-427A-B3BF-C8784673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19FFA6-9572-43E8-8956-C19EF2B1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C0D0ED-7BDE-4C86-B271-C9C4EA48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39368A-BBC8-4C35-84B6-6824AB06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05F013-DE31-4CB1-B66E-D66F52BC9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40084775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5B6766-BA26-4683-87F3-1E07193E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E9D62-4C33-4780-AB8E-0981BAAD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D175F-4DD7-4E52-A002-8FAEFB7F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44A713-DE1E-442F-A3ED-3933D3B1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68AC4C-D6E0-4C64-A5F3-182D7830B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574A7-1DFB-4BCF-9689-0FFD1F99E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80E38-03B7-4E9B-AD97-5408F9E00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C36562-7437-4E80-94C6-B24E62BF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F4C318-BD62-4780-94FD-E4738201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5D63FF-87A1-4FDA-91E6-E21CE8649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2CD791-6E49-45D6-AB39-D1CE07C02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455F4B-5D56-4B20-875D-97CD884DA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31B7BF-B410-4B12-AC4F-CF6EFEB8B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32731F-107A-4FCA-95D9-0B53DE87F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A25BE9-583D-4FA1-88C4-FFBA0716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29156B-BFF3-4FAF-AE03-4AD491B44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9E94F7-7395-4A41-AD51-C3210514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5FFF41-DFC7-493D-AA82-CE3F6C031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264E1-DBE9-4843-8840-B83D6CCE7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30CB3C-3138-49D7-BF30-91F83D1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6ADDC5-7FA7-4133-91B0-ED034CCD1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R$ 2,5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311274-C222-4ADC-AB14-892960EE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441F0F-FA08-42E1-B377-D9E382F40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2126AE-66FF-458B-BEF0-CFD16AE3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4005D5-C704-4A1B-BA72-1E8790D1C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E3491E-4790-4080-813C-BC0563FE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558084-588C-40DB-AC25-1FAEF3B04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2AF0526-C892-47BA-A467-784D60DD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412DBF-1D2F-4C4F-AA4B-74022F3D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27394179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9AD309-7A50-4C82-AD31-0A34A875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4116C9-82CE-4EDA-926D-8472ADEFB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914E3D-D075-4A40-A9D2-EA1CD203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B3B4F-7EDA-463B-87CD-1C9EF416D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2828E-E622-47C0-A1D8-03BE8C573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6086D-B4A2-4620-AFA4-57244114B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BF3ED2-E467-4943-A364-4F5EF645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86138D-7D66-4837-BB65-75FAFD13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041432-83B5-4632-8AC2-EEA93D2B7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0EEC91-8056-4861-A9CD-D00238A5F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239457-BBBA-40FC-A23F-915BD776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0FDD8E-71AD-49C6-8D48-D3F2F6596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DD1AD9-B28A-4FDC-976D-CF1D89F18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E8919-AF6F-43C5-B2D1-D2F00F6A9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229C84-EF8F-4AC4-8CAD-79E1A34AE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CB160A-1F58-4480-9E39-CB78C851A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BE0B28-9351-4142-9843-21DD2C45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631077-DB76-47F6-8D1F-119881E29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C902DC-C5E1-4298-85A7-383E29372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3F809F-F941-40BA-BFBB-D21AA4A70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AA231-0C75-422C-84EF-7455D41B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B66661-D1B8-457E-BA6C-A4725C00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8963EA-7CB9-42C3-B9F7-B822CABC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97532F-BBC2-4B4C-A19D-EC89AAF42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DE6E04-4B68-4D1F-8345-984D0ADB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2CCEB1-C817-4FF1-895D-502CAAF0E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A6A77E-DD94-4A60-B89F-AE81CE13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F850E6D-34E0-4DB3-B22E-6E3D671DC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0BEC11-A1FD-4DF9-B22A-4D43F858C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535068551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5B5BAD-1B3A-47D8-94C4-B032CABE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EBFF5-3F1A-4F37-BB6C-C6306E4E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33A30-27D7-4248-8F2F-94DEB5C8F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3473A9-67D2-4891-BAA5-8AA1B9C9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DF895C-2732-4399-93FF-698CE620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6B9C8A-EBC9-4C61-95D2-E296CCE02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949B4B-DA25-4889-B117-C3E57A59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C2C8C9-14CB-4230-BB8C-2BEC7138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BD0E23-302C-413C-B044-95EFF0A8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8024A5-0B2A-4E4A-94D4-56BAFCD1D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6A53DF-93F3-402D-B50B-0C5DA704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32C583-E8DA-4141-895D-0A727A2F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1D5FD-4E70-4F24-946A-233792FA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6D16E-15F4-4B4D-B6D6-55F641011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06753-D783-40D5-82C1-37F6110E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586126-8396-4E3E-A040-B9D52E665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63F3C-61BE-4DCA-9F36-05266FFDF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8C28A1-B26B-4013-9111-C0215A0F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F7BED6-9439-4E14-AE26-3123745C2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B1334E-9B00-4360-84B8-5BDDDEAD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836253-D928-4817-A05A-859D18C9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R$ 1,0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4202D4-E39A-48E4-8EC3-659536FF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D5114A-4959-45F6-9044-DFB123246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BEC978-84AD-4D4A-9D53-6A04125E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AAF95C-D1A0-48D4-934E-A04B8A85C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1A668B-8998-497A-BF29-690FF0D1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6746FE-EBF1-4CB5-BEF2-3F2705260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97100D-5EC1-4F1B-B2E2-F98211D6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274350-B8EE-4E17-A802-C0750DFA9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180891565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445DBC-1B79-4278-99A5-6E0C3088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B50FD-5D25-4DE4-889A-88E4EFBC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2E9DB-C224-40AA-A7ED-114EEC41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1F11B8-3542-44FD-95FB-788D23452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E5E819-3407-43AE-AED2-6B3190DD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39C115-C11A-47E3-AE79-50FA2A44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B41B3A-362F-46E1-B04C-6A558B76D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BD44B-043E-4EE2-BF97-C6E28C7FA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FB2E7-B01F-4BB4-9D4A-9B215F6A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E6F006-224D-4BA6-8B92-A4847201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0A1C81-65E2-40B6-A86A-16403FBDF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1CB06-B545-46F4-BD98-0DA5FAB9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AE0D8-EBB2-4C8F-8BB4-1D54A7E3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441E1-C0B9-4045-8AAB-73DF80E7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D5E7AB-504A-4FC8-AFAA-1AFE9E83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8053E3-2D21-4B67-875B-01500448D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971103-41F7-4898-BC84-00256109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C12897-7086-4F19-8EF5-8ED0A1112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BE4204-F8B4-47F0-AE02-F007170C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A4DB95-2C21-453F-B782-6A726259B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D6C2B9-38B0-48EB-AA15-E12A4DD00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F85DB-577E-40A2-9F28-5242F186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42262D-C4A7-4ADD-B60F-3E003520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DE4C6B-2358-4AC1-954A-9C43EC48E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FD9DF3-ABCE-4CFD-9E29-2367DA28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55E8FE-A97E-45DA-8EED-B8289E9B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4DFB46-8220-43BB-A7C6-25F1A0D83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E8004A7-7E27-46E0-9BBE-A72319474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BD038C-6F83-4D6A-A35F-AEDF823D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64972466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377BB8-5A5A-4411-A586-BFB8165FB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A0ACDD-3420-421A-B1BB-4953DAB9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E5FCDB-3CD0-426D-B9FA-8156A2377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D271B5-75C9-44CB-B547-4CEF5095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CAC7F1-2C0D-482A-B30C-15CD6C45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B0C342-D7EB-4C8E-82BC-DF769CB6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A261B-DDD9-4869-8FC5-58F9EA376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70FC8-9F56-4181-884B-BD341F491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D195C6-1831-47DF-A47D-1B85A9927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CA63E5-926C-4C10-98A8-27369F7C7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D285BB-C397-47CC-8830-B3348EA7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5563FA-C3F6-4ACB-9DB0-54AA6800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774B35-AC1F-49BA-9B2A-61F64852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E5D1DE-87C3-448A-8269-A213C094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3D8659-EFD1-4952-9E0D-6BA9146C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4A5EE-618B-40B5-83C1-58B606D4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90F27D-4C46-4350-A71A-AA254F19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A79640-AEA5-444A-898F-C0C9F528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A48EB7-18DE-474C-B5CC-B29381BD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956F20-9599-442A-A6C1-0D118073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D44153-3896-43E1-90E6-BB5D086A7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R$ 1,0 bi | doc. 1148251; Valor ofertado; o anúncio de início não comprova colocação. || 2024-11-06 | encerramento da oferta da 3ª série sênior | R$ 1,0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6A4FB3-E285-45E0-82FC-ECB06861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40F14E-4D98-4C1C-B62A-DE03C4A7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14A967-EEDF-4E1B-8662-32F9029F0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431F09-C47A-4D81-84A1-B02F649F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5E490D-1427-474B-8498-2C09C970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66174C-3275-470D-AB3E-E252A53C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DA7B6E-C104-4CE5-B249-5F7428DE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F4DAD2-682B-4B1B-B80D-34187E884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4273840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78C940-99FC-45C6-8D30-C048B1650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5DF023-2B37-42CA-816D-F6874893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8A778-A375-4C30-BF48-A824022A8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3E87B8-F106-4ED7-BFD0-355517BA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6F1648-87D3-4706-ACB9-0EB03E05B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5285F9-8EBA-4C79-8BB3-3F7D90A1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20071E-9697-4845-8F3D-EC73DEC48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7F8E39-CB9C-4A0B-B425-1733CED1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3945E-324B-4D90-A6CC-EBDD043D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FEFB3E-BAAD-4928-BE73-6B20CBD3D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D744AA-F613-4A16-B778-4379EC98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03BD87-B2C1-4AB8-B853-0496B077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8AC43F-03DB-453D-A755-EB4BEDC4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36B008-C7FA-40D5-B654-483E95B2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3EF924-AED4-4682-BA6D-666F24807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96515E-EE55-4C01-A1AA-A8E68E28B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49644C-8B37-47A0-BA5F-15FA53EFF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EB8EF3-5B87-40DA-8C39-BC5D1C663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1485E8-305D-49B9-8CF1-4F6F21413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035A0B-99FB-4489-89A3-60824AB17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63DBBA-1D3E-40F2-85BA-59F9B538D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R$ 11,0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3F1F9C-6B42-4675-9C5F-85B84F2B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1E9B7E-1EC6-4472-9458-3DB4F865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5DF592-2AA6-4A70-A910-80E9CDD1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EB3F74-9A93-4E2E-8694-57DB7E7B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39BD4C-8702-4100-8300-CFBF75E6E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8ADF8F-44C0-4A83-BBE5-41C89C666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61E82A-DB0F-4C27-BFE9-8595A942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A30571-8193-4C90-8393-20ABADFA6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99165646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F092F4-B6C9-42D4-80C9-B00C42D8B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1A579-BFA8-4520-BFC4-636F0EBB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D4A7EF-72F2-4527-AA87-47E18801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9567D-A715-4CFF-A3DA-EB92C108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EB85CC-47AC-4A42-B117-CF670C87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CE4AC8-A927-476F-B4A5-EE27915EF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953B34-4D61-443C-B839-AB0B7D1B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040541-4A76-4F16-8351-939FE2EA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B2DC3C-77F4-4020-8B5D-A8D54EDB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52332C-159A-45DD-B96F-79804E288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61F153-8704-4FC9-A5AB-050E0E1DB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B578C-9133-4DFD-B580-F2855987B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E943A1-1715-401B-BB39-9A92F94C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64DEB6-DAD1-42F6-8C83-983EDA32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5D41F1-3451-434C-BF4D-EA3D0D7B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F0BE33-440E-4B7F-8506-09BF6663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F9C0C7-ECAC-45AF-AC6B-1A6DBB9D4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1E9CAB-8516-4437-B62F-C660E7EF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3AD73A-FF89-4DB0-A403-A7C1DF7A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A06F96-D847-4B65-91E8-466B124E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5CC176-2B6B-47D1-9ED3-FFEC757A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987E41-EFB8-4D02-A7A9-56BAA539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9C12DC-AB10-4F6D-AAE9-A238F496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653AB6-0C43-4314-954D-48E614E5C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36E2D9-7078-4FBE-BF35-99DBBF79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434DFE-638B-4ABD-BD77-A7E2813E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9F5002-65E5-413E-BB89-80C8E8F0E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C5B36A9-D9A3-4165-A48B-4F5D54DD1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48A27CE-2777-4B23-8BA4-BF95B8FE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21911777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D63EFE-2748-4DF5-9288-4D240320F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69A0F6-A1E9-4F38-BF2C-D1E7010B8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4B415-503F-4992-ADF8-FD6471D02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363FFC-44B2-4A87-B645-9051E473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BA9DEA-629E-4A64-A961-C27698834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DF987-2D87-4DE1-ABC5-3C791A8B5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747675-C9AE-47CC-83A1-A574FDE2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809BE4-24E4-4311-987E-F7CDAB5CE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89A64D-2FBC-4C5E-B90E-8128A8803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930463-6E45-4D7F-8749-38F34A9C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6D9FFF-9363-4CD2-AEAE-AFAF5925C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2D8A50-56B5-44C1-A229-06C357C0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28A08D-9A86-426D-94F9-872D03B9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896D12-B87F-4742-8058-BC070702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BC644F-FADA-49D0-8201-F349C763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9FAC27-C524-4E6C-BFA8-EDC7A5443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3AD4DF-C9CC-4871-9453-2D1B0CF4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3A4F8D-351D-4716-950A-E45F039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2E2881-DD72-4C11-8D4E-74405F06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967E8-D9EB-49B3-BB89-9DDEF31AC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4222C7-2F81-4EDC-9489-13D58049F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B49F37-4AA2-4610-9A7E-09BA9FBE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6F5C9D-05FC-4CC6-B2F7-6D24AF0B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8FA41B-DB8B-43A6-A9CC-7AA3078AF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5E14C7-3359-4ECA-9A8D-323E5E6F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01807B-9F16-40FF-ADD6-456148D2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720B69-71A5-4B7F-AD3B-81E3BDBD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94F3F3-2071-4D30-B7B8-906189FBD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D32078-7EFD-4637-BFDD-1733AEAE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7800697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4C60FB-531D-4A72-9B5A-907D789BD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BFF0D3-3123-4FB7-A1A5-3C397DB2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21932C-7669-4917-9881-972E8CD65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A13568-ADE1-4299-8176-9C9E28BC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A41F2-F0EC-4146-95BA-91DC0831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D07C6-7409-4EDB-90D8-3C504D4D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2C4FB-148A-4C61-A1C7-01118265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6D18A-DAE9-4C69-897F-CFF05314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431CB-D24F-4D37-B56A-20D016CB1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A34EB7-312F-4C13-A65D-BBE43F20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ED2FE-3263-4270-96C2-F9A916D1F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642F54-5AFA-4E2A-853F-2AB8E8C3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5DDBA9-6E9F-4819-9DBF-949A1938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D67EFC-AD69-4B48-B376-7FEB8BB2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7AE59E-7BD3-4433-AD20-9F2FF467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4B4A88-B404-4564-A7E4-CF7A0125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5F5752-9AF1-4D16-8F3F-03F898D3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B34FF7-FD43-456D-8706-1B32A69B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67B84A-7FE5-4B83-BE1E-F8940807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37608A-C6B8-4B5D-9404-B3ED666B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7D9363-FC96-4D5D-BF31-3CC7C6DB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5EE28F-D183-4647-A0E0-9CDBC5CB1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9B8905-8869-4052-89DB-854AE143F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1DBA5-3716-4083-8742-EF6B6C3E5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2A4371-4141-4602-946D-333E5815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86CCE5-EF56-4291-968D-4AE2B87D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C97C92-A659-498D-836C-174ED6503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24CE0B-092D-4AE5-AC83-DD79C32E7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9D25EF-08C0-4D12-AF31-86ECD736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57882994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6C34E9-F120-4E03-8402-5ED234D6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D88FB2-7EC7-40E8-BF4F-C64C53FC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D8C8A0-751D-41D4-A0E1-3937AD83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9731E4-9586-4BC5-A238-B6187E4C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B43F1E-578D-4770-B4B9-811E8281A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26D673-8B5D-460D-A633-FA8B0074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8F6656-B60D-433D-A384-6A5C393C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F24E9F-2122-448C-88F4-AEFB6719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1E4E40-C633-46E0-9624-8C77562CF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527D45-233E-4096-813D-B35371A6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1E0452-842C-4ED9-B704-DF4874CB3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64B807-437A-40C5-B236-F52C33E7F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1DA6B0-46C7-4569-A9EC-3B08A5068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14CF60-7364-47EB-8625-F052AB31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FAC6AE-9B0A-4873-A6EA-C81BADA4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5AF461-6A81-451F-A21F-C252F0575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C0C814-6056-48A0-A821-76533EF1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D5849E-030A-4808-8A4E-D598F1D3C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5BA9A8-AC7B-4919-A3B5-1E115252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3CFB3F8-960F-435B-A157-4C479279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801883-EEB5-4B4A-8E40-A1E39C0B5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80E48D-B4CD-4586-A2B8-6BC2827E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648AE0-D77E-4C67-AFED-1A32CAA5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B31BF2-2904-4C04-95BA-4CF3C8A66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17E61B-8A25-4623-8986-E9978C79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A0C208-012C-49EE-BF8F-007B494DB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7249A6-986E-4B74-B18E-0FCC1FE80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D8118F-2CE6-45C3-B8EC-A1FDFBAAC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D5D544-24C6-4A38-ADE8-0691D239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5166525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709984-ABB7-43BA-87F0-8F0BA9F5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00FB4D-ADA3-4F52-98AA-F58C3319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E1B0CB-3958-4729-A187-A95ADB9C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A3F511-C64E-45FE-BF3F-34CB55A5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09305-630B-4A3B-BC58-572646D3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429B4-A2DD-4B4A-8BEE-336C99A5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767EC6-0DED-4E80-92E0-5AA9384DD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34CEC8-30B0-4A8F-9401-F5CB7CDD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D5BB7F-6894-4D28-B1AD-72077F181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D9C15A-4E84-4CA7-A47E-DBD165A0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8EDFB-6961-4A12-A66E-2AED8B31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69EC40-B04D-4FA9-BF95-C5C4B2E96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F6ABFB-36B1-430E-B5D4-1FC821D60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43656-5C04-40F9-B379-69BFC77B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49F76B-398B-413F-872A-75E7FC6BB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DECC55-44A5-4DA8-8A44-304009B5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3F8FF-B6BA-405D-A76A-C9AF9883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68B804-1E7F-432E-AF34-5ECF637E6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26CB43-9E54-4478-8F3F-48139AB1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8043B5-E975-40B9-923B-099364E3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622D25-83B9-47D4-832C-F9309052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1888C6-EFE2-4512-8FBE-68FB32FC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9CAD34-D50F-4067-9510-BD2241AD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AE1795-C7FE-4BD3-B2D9-3E323494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08F307-C01B-4F05-8E16-BEE1010A8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2631D-DD9F-4FB8-B292-29882E768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46BA07-F1ED-498F-B89A-D90FE87C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25C6F6-E7EA-4E36-A7B9-CAB8C1869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F86E8AA-6B6B-4DCC-864C-1BA77B7C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212529824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7949EC-CB38-455D-B1E4-27EEFEBD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CB2726-A272-4E60-8CC3-9518434FC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9120C-E49A-4458-881F-1AF1A5CE7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533762-79CB-448B-9981-CEC33055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0B4840-7733-4FF5-95EF-3C0C67A9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7905FF-DDFC-467C-8618-9BD1B92AE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436ADD-8761-4B1E-A5A7-59E694F9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0A80FB-526D-4F35-8195-BFB35A17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006762-09EC-4641-B66A-B463DF6FD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774DD-D781-41BC-B372-4B4826B35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5CB5B9-40CE-4C91-AB42-B33E85624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33B8A-316D-4F6D-AE3A-F197E1F4E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BE8494-620A-4184-9C74-ADEAA003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7CCAE-F45C-49B3-AC54-6B57D2D5D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CF980A-0802-4F7C-9574-8618D1B5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24632F-C5C9-46B6-BA8C-298AE8AF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BDEEAF-2722-4F24-8AF3-CB8CF33D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93F32A-4CEC-481C-8E79-00029E9A6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3CBE86-2A72-4324-AB22-20A1364D1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D2160F-2044-4DB9-B404-432594CF9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FF617E-FABE-4A12-9D0D-0CF2FF0A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810895-2ACB-47E4-AF89-0051F807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F715CC-649C-4F99-88C7-A6382C24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D25195-0E5D-4507-AB51-11BA9E787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8D9525-EA68-44C6-8CBD-9C88A4F8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2AF463-3B21-499E-9225-625D5708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898081-2E8A-48F4-8579-5F2D6ACF1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B207BEC-D74B-4D9D-9327-AFE06ADA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3D3A08-BC9E-479F-B579-7EB4C585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137736943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474597E-D64D-4D82-99ED-AD17A68B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9DCFC2-2865-49AC-A2E8-AE5B5AD6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685B5-4354-4D09-B593-4A0EA98B5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68614C-96B4-44F6-9B23-B8303437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170CF8-A539-46D5-A082-9F28FF16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47061-07B2-4DD9-908B-4904BD8C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60A9F-8042-4CAC-9037-DDEE9E60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5C1D79-B2B6-4096-A8D7-7DD11CF8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43958A-9506-4E2D-A6A3-EC80F3F1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EF029-02F9-4743-9F84-710F4CE21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462F2-01DC-4CE4-BD66-CA165953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7BB1E1-B69E-49DC-A9BA-8268219D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D7E043-B90C-4973-A64D-EF53995C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69DF1-F33A-44D3-A567-4641E115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38984F-91A5-4406-8155-1CC2D61B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A61314-8810-44A1-8479-C5D51C07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B8F4A1-394B-4155-925A-962763BF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7CC194-BF29-49DC-AAB5-9A4CD477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432167-ED5B-4B90-8B6C-BB0FC5BF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9848B9-FAE7-424C-913A-3A3B34BCD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A58884-A9E4-452B-B8C7-726F8438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DB83BD-FBD1-4906-A7CB-38597270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ED0897-BEB3-4E70-82F3-8F264E44D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F729A2-7832-486C-B5CE-104B9D6C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DAAEE8-72ED-45C4-B2BC-CDCC2F55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786DE15-7AC5-479A-82DA-46528D551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4E45EC-0D9E-4369-B9EB-956920DE5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1F690E-1FD9-4709-BA1D-9C2B3F4C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B4B9A6-8ACA-4EBF-A046-C5FC781B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741277184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08577E-3B56-49EF-9391-E9B527751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C37B61-56D6-407A-A225-467AE810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F0D7AD-4C4F-4849-83A0-B29CF28DA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71FB9B-5463-410D-BFE1-976D374C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B5F86F-6519-460A-AF03-CB68EA053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95E953-B4FC-4B5E-AE00-DD4BC286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9DBB83-78AB-4972-AF01-678FC2A2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A26C4F-0B9C-4340-A67F-528D9413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9F22CE-B156-4741-B5AC-C02D0965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692601-AACD-4C79-B56A-BF496F89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653C52-7908-4F1C-881F-8577846A4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B494EE3-A75D-442D-A9D5-E6963C17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120999-09CF-402A-9705-F1DB1AE4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2302E5-EFF5-4A53-9B39-D18053F7E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7B146F-CF0B-4C09-9AB0-57EBD455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5C04AF-B284-422A-94FC-6259F5C9F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B4080F-1B97-4868-A222-BE99B6858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9DF967-F848-4B82-9F1A-BCA52CED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463D6-8DAE-44CF-A057-E51C628A4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0FF6C8-775C-4BE7-9EFC-2430CF33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3F4712-1560-4BBE-A065-75C61A294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8CC89AA-BE92-4C0A-87F3-FB713C507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9FA7F0-756A-477C-AE26-8111DADB8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D8DF4D-8BAA-410D-A1A7-0B1AF442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294B8E-50BC-4720-ADD2-0A7E71A8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9CEF7-A218-4A04-B566-13DA4B30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5408A8-10C9-429F-B711-E2BAF87D5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BB5D51-4609-4372-9C0D-8D7186C4B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72B924-E927-4450-BE7F-46225A2C0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32022259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9A3873-8070-4A90-9A8A-3192D6AB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42DB79-D88A-4CE0-94F5-3ECE3D93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BB0E87-5381-4AA2-907E-105EB414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F8D01-0312-4F4F-8C1C-598FDDAC7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CE2BF8-433B-4C1B-9D8E-5F6978A6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CF4A24-3E67-4CE3-AB64-106CAD2E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graphicFrame>
        <p:nvGraphicFramePr>
          <p:cNvPr id="28" name="Chart"/>
          <p:cNvGraphicFramePr/>
          <p:nvPr/>
        </p:nvGraphicFramePr>
        <p:xfrm>
          <a:off xmlns:a="http://schemas.openxmlformats.org/drawingml/2006/main" x="1524000" y="1133475"/>
          <a:ext xmlns:a="http://schemas.openxmlformats.org/drawingml/2006/main" cx="9144000" cy="209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604d203742e419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D0F51A-3CA2-41DD-AFF9-A9E55AEE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72C34E-5B38-4177-A697-CDD3641F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26934-DAB5-4E74-8BAB-01E5696A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32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ae332333b34399"/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325DB3-1927-4F80-BF9C-73E582D4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dc1fe3c85a4760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ECF31-4A92-41D3-B90D-5CDDEAB4A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db91df643364bcb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EBE56-9EA4-4671-9E19-D9A51BE78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1538b9171164529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9D7230-5493-4D05-BEE4-7F0D42C8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8d268129fb4493e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62F8D1-F9D3-487E-8427-15B26B04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4025830dae4b0a"/>
          </a:graphicData>
        </a:graphic>
      </p:graphicFrame>
    </p:spTree>
    <p:extLst>
      <p:ext uri="{BB962C8B-B14F-4D97-AF65-F5344CB8AC3E}">
        <p14:creationId xmlns:p14="http://schemas.microsoft.com/office/powerpoint/2010/main" val="1333777864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5552D1-FD6E-4CAB-9B52-B227F03C3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05A67-D882-48D5-BE94-7F55B611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0BF0F9-C102-4B2C-8C14-7DCD4C85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34D5B-DFC8-4B04-AC5A-F9EBC15C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439FE-40F4-434D-A112-60B10FE9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1E4F1A-035F-4E66-873F-E02A69E7D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68273F-88F8-46CC-AC9F-34E22BBF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7DAABC-ED6B-47B2-8E15-34DCD09D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ada79b5af242f4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518005-587F-4FA4-B609-6A9B84DE1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48C5F1-E6FA-4581-A2AC-DF263E2D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5545A3-A054-4BE7-996B-83100F73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019A50-25D2-482E-B6A4-B7CEFC4E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77122989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D0D1BF-2167-4404-93B7-3F8F7CA2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3AC256-ACC4-4231-B4C9-054915E6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7E5DA3-046A-4CA4-90DF-BCB21B07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66A202-490B-4B96-AB62-A66F3E21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75767F-5273-431F-8323-D2B35E55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443D0-D667-4816-A70E-6A68A29F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04833C-EDFF-4523-B152-BA837855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6482A8-B68C-4A59-8EA2-56860CA7D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6d208df383489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827BD3-39B8-4B33-8E13-85077ED7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5AEFBA-4844-45A8-AEF6-A1F71C66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650943-C293-4E52-B129-8D758FCB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ADD077-DF03-4ED3-8E95-7ED9D514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e02a9f5b4fb4a30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D32AF-1500-4357-ABBA-CDCBDF5F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4E02D-F47D-4BEE-8B90-6A5EC956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2E2074-AB6D-40BE-8874-FE3968C70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396065002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BCD78-6939-4649-AC22-0F029F8F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00AA2-A9EC-4328-BC66-0D459A19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E12890-7193-4449-80A4-864FEDCF5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B15F80-E075-49C5-BC72-31B8FA72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C819A9-D200-4B7F-BA15-E77633E48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F55C15-B32A-421C-B180-62A1F0E0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c6771c274f04cf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D63E0A-E5C6-4805-8E51-891BC3E4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75284202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9C98A1-C676-47E2-818C-D58B964D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C253F-3840-4094-94F6-DAB010DE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72DB0-C44A-4A37-AC2C-15E29206A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7A9EA8-F992-408F-B451-DE4809168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871-54EA-4CA3-9B17-344512D8A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14225-F619-4CF4-B6ED-7C6DC9DB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33cc4bea8e5470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013A3-2297-44DB-A40B-C8276167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56329006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0632C4-212D-4302-810F-B49E3BB7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01B89A-2913-487C-A043-08132BC1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93FDE5-0E50-4EAD-8AE2-33DBA9A28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F1BED2-27B1-4B2F-9349-04EB4C329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750E72-9376-4F44-B8EF-CCE1A0A7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540FEC-5442-45A5-A19F-6059875F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dc3fa8cb0b4038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01B64-1312-4247-98AE-CE5BDDCC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362541376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A94AA1-21BC-4793-BCEA-1158AE87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EVIDÊNCIAS DE MIGRAÇÃO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19FA0-79CF-4161-A20E-0E8C54A6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83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7,2% do PL comparável mudou em 2025; 35,0% do PL continuante da coorte CBSF/Reag migrou até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334705-EFD1-4859-A544-9B9985C9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7AFDA-EFB1-4F59-AF4F-6B5E9EA0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7E7F5-4E1F-432A-9064-B8B0A041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Métricas por CNPJ legal, ex-FIC-FIDC e sem Sistema Petrobras/TAPSO; PL positivo e administrador informado nos períodos comparáveis.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73074-B27D-46A4-8A01-9E5998C3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A06DED-7CF4-4A9A-A88D-D87565156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 · DEZ/24 → DEZ/25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175132-4B39-4E90-BAC2-10733766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857500"/>
                <a:gridCol w="2428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comparáveis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2.477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comparável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R$ 455,9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que mudaram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R$ 33,0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que mudou / comparável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4572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· 2 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84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R$ 8,9 bi · 27,0% do PL migrado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6FBCE7-DFFD-44FB-BA57-671B462A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COORTE CBSF/REAG · DEZ/25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03EB16-FF2D-47C7-8E1D-1F4AEDD1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334125" y="1714500"/>
          <a:ext xmlns:a="http://schemas.openxmlformats.org/drawingml/2006/main" cx="5286375" cy="2952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667000"/>
                <a:gridCol w="26193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Métrica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Resultado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na origem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R$ 66,3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continuantes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continuante atual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R$ 28,6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Fundos migrados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 migrado / continuante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R$ 10,0 bi · 35,0%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Master + Planner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 fundos · R$ 9,9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29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Saída / sem reporte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795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 fundos · R$ 37,6 bi na origem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F161A0-4268-4D77-8C16-238A0FE0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349FE3-193A-44CF-9A86-46DBF11D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Indústria: CNPJs legais com PL positivo em dez/24 e dez/25; ex-FIC-FIDC e sem FIDC Sistema Petrobras/TAPSO; administrador informado em cada competência; PL comparável = menor PL entre as duas datas.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470EA1-0CAC-4D0D-917D-94A8A63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067300"/>
            <a:ext cx="52863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757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57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CBSF/Reag: coorte administrada pelo CNPJ 34.829.992/0001-86 em dez/25; continuante exige PL positivo em jun/26. Gestor e custodiante são fotografias atuais e não comprovam transição histórica.</a:t>
            </a:r>
          </a:p>
        </p:txBody>
      </p:sp>
    </p:spTree>
    <p:extLst>
      <p:ext uri="{BB962C8B-B14F-4D97-AF65-F5344CB8AC3E}">
        <p14:creationId xmlns:p14="http://schemas.microsoft.com/office/powerpoint/2010/main" val="328409150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042DB-37F7-4454-8EFE-C22E2890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C6322C-E502-4591-A5CA-3B9A89FC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6CA279-8674-4D9D-A035-B269CF086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8E5410-79EB-4478-B120-B1B4252FB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6042D0-A2D5-4A06-ACAE-9D7DB48F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AB6072-BC34-4EC2-8C07-EB7F05E2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409109d41247c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47877-9BCB-4852-B883-5EE07A19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B8CECA-F63F-465F-9400-E54D50094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871268322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CFE5AB-AC62-4BFA-B271-FF8FEF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62E6E-A5D8-47D6-A6C0-E95B54AA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86D90D-B0D8-4ED9-8E04-921650BF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EB42B-A61D-4127-A07A-9C6CA68B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F992B-FB22-46AE-A7D5-60BC5AA6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BF4E9-7CE8-4FC8-9F72-86425FBCA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7575786cd94a2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883A1D-8529-4DCA-A3F0-B8758D7A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77967-A1A7-4B1B-A09C-3F2A24BD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645595268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CE8CD7-C29A-4B81-B1A0-2AC7D7769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87B8E9-591A-4099-9B2B-2DDDDECA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DAAF86-23C4-48C9-93F1-7EA04026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B98B7-FFBB-4297-9EC1-39D8FB7A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F1C5F-2808-4325-844A-B685ED4B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9554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de classificação por Tipo+Foco (PL): 98,6%; fora: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87CDA-8F8E-4E33-A2C1-A84EB9905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19d60b5855042d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5085F1-86CE-47B9-BFF0-6BF47C05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5F3B27-CFDD-4277-A9E3-3FCCB77C5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515204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0D8FB6B-FE52-4414-80BE-DBDA0739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956AE8-A55A-4056-B8BF-D93D561DD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2CF96B-C190-42DF-BFA6-96E195FA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B0EA1-ACC3-4B04-A0B7-8F7CCE4D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5F5E5-2744-4AAE-B5F2-9D5CF66BB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FC78D2-85AA-4412-BBE9-90D896FEB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74F5E-1B2E-4A18-95A0-8F61370D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E1EEE-3B2B-4018-8BB1-806312359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2E2DFF-9A99-4BAD-93BE-C58908E71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6036FC-1CE3-4EDC-A21B-54E24A13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9D5671-98D3-4BCC-8ACC-1CAF547A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A28473-524D-4219-A900-8BC1907B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98659-8221-424C-A084-D293775F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FC9922-78C4-48ED-8EF5-AC93D5876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E5E1A7-E79A-4E62-8DC0-230EE2FB7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F930AB-E7AB-42E2-A3BA-0387346C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7F52F4-59CF-44C4-9CF5-235A0631F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4512CB-720F-47EB-A179-7501A4AE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7C50FE-09CC-431D-9C70-CE821EFC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03D98B-1BBB-462B-B863-A0021506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0B0A72-C6AC-4456-BE62-B07CF005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AE780-B496-49F8-93C5-0F23F750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153D78-A546-4B8C-AA64-5248E7810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ECD7D0B-3A6D-4E51-8CA7-1F752A5B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24FB8E-69BB-463F-9CA3-CBD5E3F5C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9C1A7C-F72F-4EF0-A2B2-06A28C9DA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57E22BD-2839-4920-ABEE-A32E63F20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E6DEBC-143C-4F7E-83F1-D1DFBF555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EEB0AC5-CE94-49E7-B7AD-336B53A9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A0AD19-90C9-4424-83FE-86CD4F79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6A6D52-C294-4C31-A861-6EB3454E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0F0BDEE-467E-43B6-B826-13733A42F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1EF09C-8877-461A-B70C-88DEBD82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976677-5581-41FA-B8A8-9B810F58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332D5A-0317-44C8-B0B7-375B69D2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CB96B-874C-464C-93AF-6116D077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D95999E-2CC0-4F5A-97BC-FB9CDC8F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1B93B3-9DB0-431D-9DE0-18C40481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39FBEDB-429F-4B90-B265-2301CA469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0CAEE75-D323-4E1E-8AC6-D0A25FEC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CB3F86F-BCF5-46FF-8456-16CAD82F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24827FC-0A93-46AF-B731-D38ED5F4A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A30119F-FD43-471E-860E-D87DCE2A2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AC59CF5-F48E-4BC4-AC3B-4E388332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B0ED78B-AD7B-4FA4-94FF-82C3E6FA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866E4F6-30A6-4B1D-B623-471B26431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1AE2A6-84D0-4E6D-AC0B-837BB2B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B168DF-5CFB-431A-99D0-B020CAF1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7A0C49C-8219-4086-B86C-ECA18291F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D3B2383-B014-43E8-AB47-E45D2C0A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C4A80C0-0FA5-4E69-8D70-CC47976A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7DD227C-2071-471D-B998-1967AB0E9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5095568-1B05-42ED-8F0B-14FC880A3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A7EE8C9-9144-4F84-A602-859EF5BA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628162323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2026-07-28T05:02:31.2570000Z</dcterms:created>
  <dcterms:modified xsi:type="dcterms:W3CDTF">2026-07-28T05:02:31.2570000Z</dcterms:modified>
</coreProperties>
</file>