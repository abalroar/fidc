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4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7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8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9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0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21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22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charts/chart23.xml" ContentType="application/vnd.openxmlformats-officedocument.drawingml.chart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24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124d89ecd74f5a" /><Relationship Type="http://schemas.openxmlformats.org/officeDocument/2006/relationships/extended-properties" Target="/docProps/app.xml" Id="Re4a4e3c136424a67" /><Relationship Type="http://schemas.openxmlformats.org/officeDocument/2006/relationships/officeDocument" Target="/ppt/presentation.xml" Id="Rf9b524b8fe754b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62a57f32ca4892"/>
  </p:sldMasterIdLst>
  <p:notesMasterIdLst>
    <p:notesMasterId xmlns:r="http://schemas.openxmlformats.org/officeDocument/2006/relationships" r:id="R92aad688751a4f8e"/>
  </p:notesMasterIdLst>
  <p:sldIdLst>
    <p:sldId xmlns:r="http://schemas.openxmlformats.org/officeDocument/2006/relationships" id="256" r:id="Rd2f985b1fb714c2d"/>
    <p:sldId xmlns:r="http://schemas.openxmlformats.org/officeDocument/2006/relationships" id="257" r:id="R0827382f591044ee"/>
    <p:sldId xmlns:r="http://schemas.openxmlformats.org/officeDocument/2006/relationships" id="258" r:id="R6d53faac195b4a4b"/>
    <p:sldId xmlns:r="http://schemas.openxmlformats.org/officeDocument/2006/relationships" id="259" r:id="Rb52ef9e2f7f44167"/>
    <p:sldId xmlns:r="http://schemas.openxmlformats.org/officeDocument/2006/relationships" id="260" r:id="R7aa4761d6e9e4b9a"/>
    <p:sldId xmlns:r="http://schemas.openxmlformats.org/officeDocument/2006/relationships" id="261" r:id="Re66d293872324144"/>
    <p:sldId xmlns:r="http://schemas.openxmlformats.org/officeDocument/2006/relationships" id="262" r:id="R8aea7de3ce474212"/>
    <p:sldId xmlns:r="http://schemas.openxmlformats.org/officeDocument/2006/relationships" id="263" r:id="Rb58456aae7e5479b"/>
    <p:sldId xmlns:r="http://schemas.openxmlformats.org/officeDocument/2006/relationships" id="264" r:id="Rbb49f1107608454c"/>
    <p:sldId xmlns:r="http://schemas.openxmlformats.org/officeDocument/2006/relationships" id="265" r:id="R590a5f12d3004bb9"/>
    <p:sldId xmlns:r="http://schemas.openxmlformats.org/officeDocument/2006/relationships" id="266" r:id="R85a9e9f21e2b4c63"/>
    <p:sldId xmlns:r="http://schemas.openxmlformats.org/officeDocument/2006/relationships" id="267" r:id="Rdf41aa37fe4b43c8"/>
    <p:sldId xmlns:r="http://schemas.openxmlformats.org/officeDocument/2006/relationships" id="268" r:id="R6e114a2da4264b48"/>
    <p:sldId xmlns:r="http://schemas.openxmlformats.org/officeDocument/2006/relationships" id="269" r:id="Rd4498e7e50164513"/>
    <p:sldId xmlns:r="http://schemas.openxmlformats.org/officeDocument/2006/relationships" id="270" r:id="R0bc95f0ad4a74e32"/>
    <p:sldId xmlns:r="http://schemas.openxmlformats.org/officeDocument/2006/relationships" id="271" r:id="R7e5c269ba3784d3b"/>
    <p:sldId xmlns:r="http://schemas.openxmlformats.org/officeDocument/2006/relationships" id="272" r:id="R0e811206f9ca47b7"/>
    <p:sldId xmlns:r="http://schemas.openxmlformats.org/officeDocument/2006/relationships" id="273" r:id="R6be67edf687e4501"/>
    <p:sldId xmlns:r="http://schemas.openxmlformats.org/officeDocument/2006/relationships" id="274" r:id="R5a1c6b3280264608"/>
    <p:sldId xmlns:r="http://schemas.openxmlformats.org/officeDocument/2006/relationships" id="275" r:id="R43466fe2dad04729"/>
    <p:sldId xmlns:r="http://schemas.openxmlformats.org/officeDocument/2006/relationships" id="276" r:id="R8d87832c42384e83"/>
    <p:sldId xmlns:r="http://schemas.openxmlformats.org/officeDocument/2006/relationships" id="277" r:id="R8b11a7342f6e4a1a"/>
    <p:sldId xmlns:r="http://schemas.openxmlformats.org/officeDocument/2006/relationships" id="278" r:id="R450ae9f2453f4910"/>
    <p:sldId xmlns:r="http://schemas.openxmlformats.org/officeDocument/2006/relationships" id="279" r:id="R1df0aa05e2674e3e"/>
    <p:sldId xmlns:r="http://schemas.openxmlformats.org/officeDocument/2006/relationships" id="280" r:id="R4bf5f6c1cb914912"/>
    <p:sldId xmlns:r="http://schemas.openxmlformats.org/officeDocument/2006/relationships" id="281" r:id="Rf2ea4be40eec466c"/>
    <p:sldId xmlns:r="http://schemas.openxmlformats.org/officeDocument/2006/relationships" id="282" r:id="R7ac5a7b295fb45e1"/>
    <p:sldId xmlns:r="http://schemas.openxmlformats.org/officeDocument/2006/relationships" id="283" r:id="Re87703790fc7467b"/>
    <p:sldId xmlns:r="http://schemas.openxmlformats.org/officeDocument/2006/relationships" id="284" r:id="Re1e64d0ed2d84a90"/>
    <p:sldId xmlns:r="http://schemas.openxmlformats.org/officeDocument/2006/relationships" id="285" r:id="Rf667820c53324f37"/>
    <p:sldId xmlns:r="http://schemas.openxmlformats.org/officeDocument/2006/relationships" id="286" r:id="R0718e39671ca4583"/>
    <p:sldId xmlns:r="http://schemas.openxmlformats.org/officeDocument/2006/relationships" id="287" r:id="R73fd2bd74f474ce5"/>
    <p:sldId xmlns:r="http://schemas.openxmlformats.org/officeDocument/2006/relationships" id="288" r:id="Ra615e33f22e74267"/>
    <p:sldId xmlns:r="http://schemas.openxmlformats.org/officeDocument/2006/relationships" id="289" r:id="R32528ccc4e074e13"/>
    <p:sldId xmlns:r="http://schemas.openxmlformats.org/officeDocument/2006/relationships" id="290" r:id="Rb49b47005df64bfc"/>
    <p:sldId xmlns:r="http://schemas.openxmlformats.org/officeDocument/2006/relationships" id="291" r:id="Racd0992a00574de1"/>
    <p:sldId xmlns:r="http://schemas.openxmlformats.org/officeDocument/2006/relationships" id="292" r:id="R92cc200a01e242ff"/>
    <p:sldId xmlns:r="http://schemas.openxmlformats.org/officeDocument/2006/relationships" id="293" r:id="Rdc9074c96a1c45f7"/>
    <p:sldId xmlns:r="http://schemas.openxmlformats.org/officeDocument/2006/relationships" id="294" r:id="R33a47ede461d4915"/>
    <p:sldId xmlns:r="http://schemas.openxmlformats.org/officeDocument/2006/relationships" id="295" r:id="R823feafee052469a"/>
    <p:sldId xmlns:r="http://schemas.openxmlformats.org/officeDocument/2006/relationships" id="296" r:id="R13e6699b957247c4"/>
    <p:sldId xmlns:r="http://schemas.openxmlformats.org/officeDocument/2006/relationships" id="297" r:id="R10bad33e7f3d4bcc"/>
    <p:sldId xmlns:r="http://schemas.openxmlformats.org/officeDocument/2006/relationships" id="298" r:id="R8b29e3cb523843c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9279809cb845a3" /><Relationship Type="http://schemas.openxmlformats.org/officeDocument/2006/relationships/slideMaster" Target="/ppt/slideMasters/slideMaster1.xml" Id="Rf562a57f32ca4892" /><Relationship Type="http://schemas.openxmlformats.org/officeDocument/2006/relationships/notesMaster" Target="/ppt/notesMasters/notesMaster1.xml" Id="R92aad688751a4f8e" /><Relationship Type="http://schemas.openxmlformats.org/officeDocument/2006/relationships/presProps" Target="/ppt/presProps.xml" Id="R47f408ab005840c0" /><Relationship Type="http://schemas.openxmlformats.org/officeDocument/2006/relationships/tableStyles" Target="/ppt/tableStyles.xml" Id="Rdfc88290d3304db2" /><Relationship Type="http://schemas.openxmlformats.org/officeDocument/2006/relationships/slide" Target="/ppt/slides/slide1.xml" Id="Rd2f985b1fb714c2d" /><Relationship Type="http://schemas.openxmlformats.org/officeDocument/2006/relationships/slide" Target="/ppt/slides/slide2.xml" Id="R0827382f591044ee" /><Relationship Type="http://schemas.openxmlformats.org/officeDocument/2006/relationships/slide" Target="/ppt/slides/slide3.xml" Id="R6d53faac195b4a4b" /><Relationship Type="http://schemas.openxmlformats.org/officeDocument/2006/relationships/slide" Target="/ppt/slides/slide4.xml" Id="Rb52ef9e2f7f44167" /><Relationship Type="http://schemas.openxmlformats.org/officeDocument/2006/relationships/slide" Target="/ppt/slides/slide5.xml" Id="R7aa4761d6e9e4b9a" /><Relationship Type="http://schemas.openxmlformats.org/officeDocument/2006/relationships/slide" Target="/ppt/slides/slide6.xml" Id="Re66d293872324144" /><Relationship Type="http://schemas.openxmlformats.org/officeDocument/2006/relationships/slide" Target="/ppt/slides/slide7.xml" Id="R8aea7de3ce474212" /><Relationship Type="http://schemas.openxmlformats.org/officeDocument/2006/relationships/slide" Target="/ppt/slides/slide8.xml" Id="Rb58456aae7e5479b" /><Relationship Type="http://schemas.openxmlformats.org/officeDocument/2006/relationships/slide" Target="/ppt/slides/slide9.xml" Id="Rbb49f1107608454c" /><Relationship Type="http://schemas.openxmlformats.org/officeDocument/2006/relationships/slide" Target="/ppt/slides/slide10.xml" Id="R590a5f12d3004bb9" /><Relationship Type="http://schemas.openxmlformats.org/officeDocument/2006/relationships/slide" Target="/ppt/slides/slide11.xml" Id="R85a9e9f21e2b4c63" /><Relationship Type="http://schemas.openxmlformats.org/officeDocument/2006/relationships/slide" Target="/ppt/slides/slide12.xml" Id="Rdf41aa37fe4b43c8" /><Relationship Type="http://schemas.openxmlformats.org/officeDocument/2006/relationships/slide" Target="/ppt/slides/slide13.xml" Id="R6e114a2da4264b48" /><Relationship Type="http://schemas.openxmlformats.org/officeDocument/2006/relationships/slide" Target="/ppt/slides/slide14.xml" Id="Rd4498e7e50164513" /><Relationship Type="http://schemas.openxmlformats.org/officeDocument/2006/relationships/slide" Target="/ppt/slides/slide15.xml" Id="R0bc95f0ad4a74e32" /><Relationship Type="http://schemas.openxmlformats.org/officeDocument/2006/relationships/slide" Target="/ppt/slides/slide16.xml" Id="R7e5c269ba3784d3b" /><Relationship Type="http://schemas.openxmlformats.org/officeDocument/2006/relationships/slide" Target="/ppt/slides/slide17.xml" Id="R0e811206f9ca47b7" /><Relationship Type="http://schemas.openxmlformats.org/officeDocument/2006/relationships/slide" Target="/ppt/slides/slide18.xml" Id="R6be67edf687e4501" /><Relationship Type="http://schemas.openxmlformats.org/officeDocument/2006/relationships/slide" Target="/ppt/slides/slide19.xml" Id="R5a1c6b3280264608" /><Relationship Type="http://schemas.openxmlformats.org/officeDocument/2006/relationships/slide" Target="/ppt/slides/slide20.xml" Id="R43466fe2dad04729" /><Relationship Type="http://schemas.openxmlformats.org/officeDocument/2006/relationships/slide" Target="/ppt/slides/slide21.xml" Id="R8d87832c42384e83" /><Relationship Type="http://schemas.openxmlformats.org/officeDocument/2006/relationships/slide" Target="/ppt/slides/slide22.xml" Id="R8b11a7342f6e4a1a" /><Relationship Type="http://schemas.openxmlformats.org/officeDocument/2006/relationships/slide" Target="/ppt/slides/slide23.xml" Id="R450ae9f2453f4910" /><Relationship Type="http://schemas.openxmlformats.org/officeDocument/2006/relationships/slide" Target="/ppt/slides/slide24.xml" Id="R1df0aa05e2674e3e" /><Relationship Type="http://schemas.openxmlformats.org/officeDocument/2006/relationships/slide" Target="/ppt/slides/slide25.xml" Id="R4bf5f6c1cb914912" /><Relationship Type="http://schemas.openxmlformats.org/officeDocument/2006/relationships/slide" Target="/ppt/slides/slide26.xml" Id="Rf2ea4be40eec466c" /><Relationship Type="http://schemas.openxmlformats.org/officeDocument/2006/relationships/slide" Target="/ppt/slides/slide27.xml" Id="R7ac5a7b295fb45e1" /><Relationship Type="http://schemas.openxmlformats.org/officeDocument/2006/relationships/slide" Target="/ppt/slides/slide28.xml" Id="Re87703790fc7467b" /><Relationship Type="http://schemas.openxmlformats.org/officeDocument/2006/relationships/slide" Target="/ppt/slides/slide29.xml" Id="Re1e64d0ed2d84a90" /><Relationship Type="http://schemas.openxmlformats.org/officeDocument/2006/relationships/slide" Target="/ppt/slides/slide30.xml" Id="Rf667820c53324f37" /><Relationship Type="http://schemas.openxmlformats.org/officeDocument/2006/relationships/slide" Target="/ppt/slides/slide31.xml" Id="R0718e39671ca4583" /><Relationship Type="http://schemas.openxmlformats.org/officeDocument/2006/relationships/slide" Target="/ppt/slides/slide32.xml" Id="R73fd2bd74f474ce5" /><Relationship Type="http://schemas.openxmlformats.org/officeDocument/2006/relationships/slide" Target="/ppt/slides/slide33.xml" Id="Ra615e33f22e74267" /><Relationship Type="http://schemas.openxmlformats.org/officeDocument/2006/relationships/slide" Target="/ppt/slides/slide34.xml" Id="R32528ccc4e074e13" /><Relationship Type="http://schemas.openxmlformats.org/officeDocument/2006/relationships/slide" Target="/ppt/slides/slide35.xml" Id="Rb49b47005df64bfc" /><Relationship Type="http://schemas.openxmlformats.org/officeDocument/2006/relationships/slide" Target="/ppt/slides/slide36.xml" Id="Racd0992a00574de1" /><Relationship Type="http://schemas.openxmlformats.org/officeDocument/2006/relationships/slide" Target="/ppt/slides/slide37.xml" Id="R92cc200a01e242ff" /><Relationship Type="http://schemas.openxmlformats.org/officeDocument/2006/relationships/slide" Target="/ppt/slides/slide38.xml" Id="Rdc9074c96a1c45f7" /><Relationship Type="http://schemas.openxmlformats.org/officeDocument/2006/relationships/slide" Target="/ppt/slides/slide39.xml" Id="R33a47ede461d4915" /><Relationship Type="http://schemas.openxmlformats.org/officeDocument/2006/relationships/slide" Target="/ppt/slides/slide40.xml" Id="R823feafee052469a" /><Relationship Type="http://schemas.openxmlformats.org/officeDocument/2006/relationships/slide" Target="/ppt/slides/slide41.xml" Id="R13e6699b957247c4" /><Relationship Type="http://schemas.openxmlformats.org/officeDocument/2006/relationships/slide" Target="/ppt/slides/slide42.xml" Id="R10bad33e7f3d4bcc" /><Relationship Type="http://schemas.openxmlformats.org/officeDocument/2006/relationships/slide" Target="/ppt/slides/slide43.xml" Id="R8b29e3cb523843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f1e3024860a4f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90f350c2a34753" /><Relationship Type="http://schemas.openxmlformats.org/officeDocument/2006/relationships/notesMaster" Target="/ppt/notesMasters/notesMaster1.xml" Id="R8ef0062f4a4d4f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d30aa11c8144c09" /><Relationship Type="http://schemas.openxmlformats.org/officeDocument/2006/relationships/notesMaster" Target="/ppt/notesMasters/notesMaster1.xml" Id="R28c938a1a3bb4f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28ccd0dd30844b1" /><Relationship Type="http://schemas.openxmlformats.org/officeDocument/2006/relationships/notesMaster" Target="/ppt/notesMasters/notesMaster1.xml" Id="R50b54a4b9a064d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d75c2fad5546bf" /><Relationship Type="http://schemas.openxmlformats.org/officeDocument/2006/relationships/notesMaster" Target="/ppt/notesMasters/notesMaster1.xml" Id="R3c2d595dd5b746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ca03db5d184559" /><Relationship Type="http://schemas.openxmlformats.org/officeDocument/2006/relationships/notesMaster" Target="/ppt/notesMasters/notesMaster1.xml" Id="R5dad16bd8fcc492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cbe35e2cec4456" /><Relationship Type="http://schemas.openxmlformats.org/officeDocument/2006/relationships/notesMaster" Target="/ppt/notesMasters/notesMaster1.xml" Id="R30f8fd69ac7746f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f08d8065e5e4e65" /><Relationship Type="http://schemas.openxmlformats.org/officeDocument/2006/relationships/notesMaster" Target="/ppt/notesMasters/notesMaster1.xml" Id="Rd38a174b280942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25879b4b6cf44b1" /><Relationship Type="http://schemas.openxmlformats.org/officeDocument/2006/relationships/notesMaster" Target="/ppt/notesMasters/notesMaster1.xml" Id="R65908304df0841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94da8d32a3c4660" /><Relationship Type="http://schemas.openxmlformats.org/officeDocument/2006/relationships/notesMaster" Target="/ppt/notesMasters/notesMaster1.xml" Id="Rd29aac402251422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35ff2b6dec9453d" /><Relationship Type="http://schemas.openxmlformats.org/officeDocument/2006/relationships/notesMaster" Target="/ppt/notesMasters/notesMaster1.xml" Id="Rb0638533fde34a5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09e966a2ec741c1" /><Relationship Type="http://schemas.openxmlformats.org/officeDocument/2006/relationships/notesMaster" Target="/ppt/notesMasters/notesMaster1.xml" Id="R5ca38c456d954c4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8a9cfb4d60448d4" /><Relationship Type="http://schemas.openxmlformats.org/officeDocument/2006/relationships/notesMaster" Target="/ppt/notesMasters/notesMaster1.xml" Id="Rb26ff9a4088a40c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79f18f9fddb475f" /><Relationship Type="http://schemas.openxmlformats.org/officeDocument/2006/relationships/notesMaster" Target="/ppt/notesMasters/notesMaster1.xml" Id="R6703b88362f1484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cb064e0db6c4fa0" /><Relationship Type="http://schemas.openxmlformats.org/officeDocument/2006/relationships/notesMaster" Target="/ppt/notesMasters/notesMaster1.xml" Id="R50a3b8cb0a2b42a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8b4c16e58f24575" /><Relationship Type="http://schemas.openxmlformats.org/officeDocument/2006/relationships/notesMaster" Target="/ppt/notesMasters/notesMaster1.xml" Id="R0e918ba619c54a5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e7160020ddd4336" /><Relationship Type="http://schemas.openxmlformats.org/officeDocument/2006/relationships/notesMaster" Target="/ppt/notesMasters/notesMaster1.xml" Id="Rdc3c5ab3d35d475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5202331a9d54569" /><Relationship Type="http://schemas.openxmlformats.org/officeDocument/2006/relationships/notesMaster" Target="/ppt/notesMasters/notesMaster1.xml" Id="Rce0b897482ee4ff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a0428fe3b164776" /><Relationship Type="http://schemas.openxmlformats.org/officeDocument/2006/relationships/notesMaster" Target="/ppt/notesMasters/notesMaster1.xml" Id="Rafdece6e7f574ef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69f73c162414fdd" /><Relationship Type="http://schemas.openxmlformats.org/officeDocument/2006/relationships/notesMaster" Target="/ppt/notesMasters/notesMaster1.xml" Id="R7a588863b26843a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5b50acaf9e14fcd" /><Relationship Type="http://schemas.openxmlformats.org/officeDocument/2006/relationships/notesMaster" Target="/ppt/notesMasters/notesMaster1.xml" Id="R19035c143cfa4a7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7396a3e7850490e" /><Relationship Type="http://schemas.openxmlformats.org/officeDocument/2006/relationships/notesMaster" Target="/ppt/notesMasters/notesMaster1.xml" Id="Rd43c567e2e684f8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0585241a59544ff" /><Relationship Type="http://schemas.openxmlformats.org/officeDocument/2006/relationships/notesMaster" Target="/ppt/notesMasters/notesMaster1.xml" Id="Rc85bc8a2b9414a9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8e02679b44d49bf" /><Relationship Type="http://schemas.openxmlformats.org/officeDocument/2006/relationships/notesMaster" Target="/ppt/notesMasters/notesMaster1.xml" Id="R960b0521d0624f9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0c6a740a8ea46e8" /><Relationship Type="http://schemas.openxmlformats.org/officeDocument/2006/relationships/notesMaster" Target="/ppt/notesMasters/notesMaster1.xml" Id="Rb6bceb28897c4a0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c3022d64fea4eee" /><Relationship Type="http://schemas.openxmlformats.org/officeDocument/2006/relationships/notesMaster" Target="/ppt/notesMasters/notesMaster1.xml" Id="R508f84b6913b48c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d598d34f4514223" /><Relationship Type="http://schemas.openxmlformats.org/officeDocument/2006/relationships/notesMaster" Target="/ppt/notesMasters/notesMaster1.xml" Id="Re42c0f5ae543450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de2a5c957024bad" /><Relationship Type="http://schemas.openxmlformats.org/officeDocument/2006/relationships/notesMaster" Target="/ppt/notesMasters/notesMaster1.xml" Id="R09b0d9cc31bd401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f291c700c1f4a49" /><Relationship Type="http://schemas.openxmlformats.org/officeDocument/2006/relationships/notesMaster" Target="/ppt/notesMasters/notesMaster1.xml" Id="Rb68e2b02b6694a9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f8f7c3c2c40485a" /><Relationship Type="http://schemas.openxmlformats.org/officeDocument/2006/relationships/notesMaster" Target="/ppt/notesMasters/notesMaster1.xml" Id="Rbf459541237f4f4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d83da9874a44069" /><Relationship Type="http://schemas.openxmlformats.org/officeDocument/2006/relationships/notesMaster" Target="/ppt/notesMasters/notesMaster1.xml" Id="Re98dd3eedd7b456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3233f4c0b74430a" /><Relationship Type="http://schemas.openxmlformats.org/officeDocument/2006/relationships/notesMaster" Target="/ppt/notesMasters/notesMaster1.xml" Id="Rc6a63b83a79042b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fe880aba6934e00" /><Relationship Type="http://schemas.openxmlformats.org/officeDocument/2006/relationships/notesMaster" Target="/ppt/notesMasters/notesMaster1.xml" Id="R3dd95174118142b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5e08d8909234262" /><Relationship Type="http://schemas.openxmlformats.org/officeDocument/2006/relationships/notesMaster" Target="/ppt/notesMasters/notesMaster1.xml" Id="R745397a1e41e427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56cf1b0d6ca4462" /><Relationship Type="http://schemas.openxmlformats.org/officeDocument/2006/relationships/notesMaster" Target="/ppt/notesMasters/notesMaster1.xml" Id="Rf509b320247d475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63238063bc242c0" /><Relationship Type="http://schemas.openxmlformats.org/officeDocument/2006/relationships/notesMaster" Target="/ppt/notesMasters/notesMaster1.xml" Id="Ra1e1efc4f2584a30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64fd7e2f1ccb41d4" /><Relationship Type="http://schemas.openxmlformats.org/officeDocument/2006/relationships/notesMaster" Target="/ppt/notesMasters/notesMaster1.xml" Id="Ra2410616840247b6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c840f7ebc0184901" /><Relationship Type="http://schemas.openxmlformats.org/officeDocument/2006/relationships/notesMaster" Target="/ppt/notesMasters/notesMaster1.xml" Id="R314d478bd7104e6b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c28b6b78e644100" /><Relationship Type="http://schemas.openxmlformats.org/officeDocument/2006/relationships/notesMaster" Target="/ppt/notesMasters/notesMaster1.xml" Id="R7df27e1e573140c5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00a48418dcf745af" /><Relationship Type="http://schemas.openxmlformats.org/officeDocument/2006/relationships/notesMaster" Target="/ppt/notesMasters/notesMaster1.xml" Id="R4cff25eeaefc470e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e0af05a5e25b4156" /><Relationship Type="http://schemas.openxmlformats.org/officeDocument/2006/relationships/notesMaster" Target="/ppt/notesMasters/notesMaster1.xml" Id="Rac863cfdf8ff4eea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9e9502e61db84aa9" /><Relationship Type="http://schemas.openxmlformats.org/officeDocument/2006/relationships/notesMaster" Target="/ppt/notesMasters/notesMaster1.xml" Id="R26b514e580964aaf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1918b6bf16de4582" /><Relationship Type="http://schemas.openxmlformats.org/officeDocument/2006/relationships/notesMaster" Target="/ppt/notesMasters/notesMaster1.xml" Id="Rdb28be4b012d4fd8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f527db635e0a41c4" /><Relationship Type="http://schemas.openxmlformats.org/officeDocument/2006/relationships/notesMaster" Target="/ppt/notesMasters/notesMaster1.xml" Id="Rf13c8caa689240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6ecd881409443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720743fcb6403b" /><Relationship Type="http://schemas.openxmlformats.org/officeDocument/2006/relationships/slideLayout" Target="/ppt/slideLayouts/slideLayout1.xml" Id="R0b02a4e778b64d6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02a4e778b64d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3d1a88dbba4371" /><Relationship Type="http://schemas.openxmlformats.org/officeDocument/2006/relationships/notesSlide" Target="/ppt/notesSlides/notesSlide1.xml" Id="Rdbbe8c6d8c854a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6b4059d8d14127" /><Relationship Type="http://schemas.openxmlformats.org/officeDocument/2006/relationships/notesSlide" Target="/ppt/notesSlides/notesSlide2.xml" Id="R9ad4260131984e1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ad43ae985048de" /><Relationship Type="http://schemas.openxmlformats.org/officeDocument/2006/relationships/chart" Target="/ppt/slides/charts/chart1.xml" Id="R58163faf7f3c4c5b" /><Relationship Type="http://schemas.openxmlformats.org/officeDocument/2006/relationships/notesSlide" Target="/ppt/notesSlides/notesSlide3.xml" Id="R450738f42c6a49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47044d73d94757" /><Relationship Type="http://schemas.openxmlformats.org/officeDocument/2006/relationships/chart" Target="/ppt/slides/charts/chart2.xml" Id="Rf1dbadfa41b54c60" /><Relationship Type="http://schemas.openxmlformats.org/officeDocument/2006/relationships/chart" Target="/ppt/slides/charts/chart3.xml" Id="R3d5de4eb6b5a4257" /><Relationship Type="http://schemas.openxmlformats.org/officeDocument/2006/relationships/chart" Target="/ppt/slides/charts/chart4.xml" Id="Rca2ccfb2d4fb4af6" /><Relationship Type="http://schemas.openxmlformats.org/officeDocument/2006/relationships/notesSlide" Target="/ppt/notesSlides/notesSlide4.xml" Id="Rd8cb44ba2f09476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0ac830017a4956" /><Relationship Type="http://schemas.openxmlformats.org/officeDocument/2006/relationships/chart" Target="/ppt/slides/charts/chart5.xml" Id="R4e16cc0f730140f9" /><Relationship Type="http://schemas.openxmlformats.org/officeDocument/2006/relationships/chart" Target="/ppt/slides/charts/chart6.xml" Id="R65ec1fa5288448fc" /><Relationship Type="http://schemas.openxmlformats.org/officeDocument/2006/relationships/chart" Target="/ppt/slides/charts/chart7.xml" Id="R6eb2d15063cd4d0d" /><Relationship Type="http://schemas.openxmlformats.org/officeDocument/2006/relationships/chart" Target="/ppt/slides/charts/chart8.xml" Id="Rf1eedfad35004b99" /><Relationship Type="http://schemas.openxmlformats.org/officeDocument/2006/relationships/notesSlide" Target="/ppt/notesSlides/notesSlide5.xml" Id="R7736635ebe754a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f4cffd14ea4178" /><Relationship Type="http://schemas.openxmlformats.org/officeDocument/2006/relationships/chart" Target="/ppt/slides/charts/chart9.xml" Id="R86953791c8414008" /><Relationship Type="http://schemas.openxmlformats.org/officeDocument/2006/relationships/chart" Target="/ppt/slides/charts/chart10.xml" Id="R78a8caaa2eb34fa2" /><Relationship Type="http://schemas.openxmlformats.org/officeDocument/2006/relationships/notesSlide" Target="/ppt/notesSlides/notesSlide6.xml" Id="R5cdc5380bd2340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d63119cbc94326" /><Relationship Type="http://schemas.openxmlformats.org/officeDocument/2006/relationships/chart" Target="/ppt/slides/charts/chart11.xml" Id="R2c52e947175448fb" /><Relationship Type="http://schemas.openxmlformats.org/officeDocument/2006/relationships/chart" Target="/ppt/slides/charts/chart12.xml" Id="Re153d43249384724" /><Relationship Type="http://schemas.openxmlformats.org/officeDocument/2006/relationships/notesSlide" Target="/ppt/notesSlides/notesSlide7.xml" Id="Reeef4fa021654d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6a4afc6a864e61" /><Relationship Type="http://schemas.openxmlformats.org/officeDocument/2006/relationships/chart" Target="/ppt/slides/charts/chart13.xml" Id="R1d807ca1e5794621" /><Relationship Type="http://schemas.openxmlformats.org/officeDocument/2006/relationships/notesSlide" Target="/ppt/notesSlides/notesSlide8.xml" Id="R16c9871a0dec418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c6ef82b86d4b02" /><Relationship Type="http://schemas.openxmlformats.org/officeDocument/2006/relationships/chart" Target="/ppt/slides/charts/chart14.xml" Id="R9093c64a51054af5" /><Relationship Type="http://schemas.openxmlformats.org/officeDocument/2006/relationships/notesSlide" Target="/ppt/notesSlides/notesSlide9.xml" Id="Ra43a84fb05204d5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d4ec6d8c9c46fa" /><Relationship Type="http://schemas.openxmlformats.org/officeDocument/2006/relationships/chart" Target="/ppt/slides/charts/chart15.xml" Id="Rf6f821a0edec41d5" /><Relationship Type="http://schemas.openxmlformats.org/officeDocument/2006/relationships/chart" Target="/ppt/slides/charts/chart16.xml" Id="Reca4f68d04774bab" /><Relationship Type="http://schemas.openxmlformats.org/officeDocument/2006/relationships/notesSlide" Target="/ppt/notesSlides/notesSlide10.xml" Id="Rf256f2fb5462463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196e80a5184691" /><Relationship Type="http://schemas.openxmlformats.org/officeDocument/2006/relationships/chart" Target="/ppt/slides/charts/chart17.xml" Id="R3dcc166e2eb74a3f" /><Relationship Type="http://schemas.openxmlformats.org/officeDocument/2006/relationships/notesSlide" Target="/ppt/notesSlides/notesSlide11.xml" Id="R8aac1782269d471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6b942507b9439c" /><Relationship Type="http://schemas.openxmlformats.org/officeDocument/2006/relationships/chart" Target="/ppt/slides/charts/chart18.xml" Id="Re3ca3f8c81614929" /><Relationship Type="http://schemas.openxmlformats.org/officeDocument/2006/relationships/notesSlide" Target="/ppt/notesSlides/notesSlide12.xml" Id="R803b04c8a7a1453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c35b227b1b4618" /><Relationship Type="http://schemas.openxmlformats.org/officeDocument/2006/relationships/chart" Target="/ppt/slides/charts/chart19.xml" Id="R02478db01f9b4253" /><Relationship Type="http://schemas.openxmlformats.org/officeDocument/2006/relationships/notesSlide" Target="/ppt/notesSlides/notesSlide13.xml" Id="Ra45ac4fd6a1a486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26ada2675a4b03" /><Relationship Type="http://schemas.openxmlformats.org/officeDocument/2006/relationships/notesSlide" Target="/ppt/notesSlides/notesSlide14.xml" Id="Rd738f488de8e418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4520956473459a" /><Relationship Type="http://schemas.openxmlformats.org/officeDocument/2006/relationships/notesSlide" Target="/ppt/notesSlides/notesSlide15.xml" Id="R86836e56997f40f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cc1305496b466e" /><Relationship Type="http://schemas.openxmlformats.org/officeDocument/2006/relationships/chart" Target="/ppt/slides/charts/chart20.xml" Id="Rcdcac93c13d14fb6" /><Relationship Type="http://schemas.openxmlformats.org/officeDocument/2006/relationships/notesSlide" Target="/ppt/notesSlides/notesSlide16.xml" Id="Ra15533a7a9864a8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5428c30c4f4ffa" /><Relationship Type="http://schemas.openxmlformats.org/officeDocument/2006/relationships/notesSlide" Target="/ppt/notesSlides/notesSlide17.xml" Id="Rf2d1a7e3d3ad48b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aa3f2633b645c4" /><Relationship Type="http://schemas.openxmlformats.org/officeDocument/2006/relationships/chart" Target="/ppt/slides/charts/chart21.xml" Id="R86e8e2a0ca094cc2" /><Relationship Type="http://schemas.openxmlformats.org/officeDocument/2006/relationships/notesSlide" Target="/ppt/notesSlides/notesSlide18.xml" Id="R9450ec020bd04b3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30065e7feb4f92" /><Relationship Type="http://schemas.openxmlformats.org/officeDocument/2006/relationships/notesSlide" Target="/ppt/notesSlides/notesSlide19.xml" Id="Rb87c1b91301d484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fc0aff8e244c4c" /><Relationship Type="http://schemas.openxmlformats.org/officeDocument/2006/relationships/chart" Target="/ppt/slides/charts/chart22.xml" Id="Rcb8e8d918b144d68" /><Relationship Type="http://schemas.openxmlformats.org/officeDocument/2006/relationships/notesSlide" Target="/ppt/notesSlides/notesSlide20.xml" Id="R2153fdd3fc3c4be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2836fb3cc4761" /><Relationship Type="http://schemas.openxmlformats.org/officeDocument/2006/relationships/chart" Target="/ppt/slides/charts/chart23.xml" Id="Rd83d0345347a47a9" /><Relationship Type="http://schemas.openxmlformats.org/officeDocument/2006/relationships/notesSlide" Target="/ppt/notesSlides/notesSlide21.xml" Id="R56e6cbfbfe4a412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f06d304d904d56" /><Relationship Type="http://schemas.openxmlformats.org/officeDocument/2006/relationships/chart" Target="/ppt/slides/charts/chart24.xml" Id="Re757a4af57cd4a5f" /><Relationship Type="http://schemas.openxmlformats.org/officeDocument/2006/relationships/notesSlide" Target="/ppt/notesSlides/notesSlide22.xml" Id="R9af7a7da6a654ad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04aa006156422d" /><Relationship Type="http://schemas.openxmlformats.org/officeDocument/2006/relationships/notesSlide" Target="/ppt/notesSlides/notesSlide23.xml" Id="R2856caaec71c404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4ad2aaba2e47ac" /><Relationship Type="http://schemas.openxmlformats.org/officeDocument/2006/relationships/notesSlide" Target="/ppt/notesSlides/notesSlide24.xml" Id="R816d6e8039aa4fe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2902ae98d14ba7" /><Relationship Type="http://schemas.openxmlformats.org/officeDocument/2006/relationships/notesSlide" Target="/ppt/notesSlides/notesSlide25.xml" Id="R0bca12703125457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b54f0927984017" /><Relationship Type="http://schemas.openxmlformats.org/officeDocument/2006/relationships/notesSlide" Target="/ppt/notesSlides/notesSlide26.xml" Id="Rc61a4e3d164c4e1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986be8f2634c7a" /><Relationship Type="http://schemas.openxmlformats.org/officeDocument/2006/relationships/notesSlide" Target="/ppt/notesSlides/notesSlide27.xml" Id="R3b3b1ed1e425424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62dadcae02440e" /><Relationship Type="http://schemas.openxmlformats.org/officeDocument/2006/relationships/notesSlide" Target="/ppt/notesSlides/notesSlide28.xml" Id="R5caf54087f9a496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36b44fac524611" /><Relationship Type="http://schemas.openxmlformats.org/officeDocument/2006/relationships/notesSlide" Target="/ppt/notesSlides/notesSlide29.xml" Id="Rdf9f0e39e07d431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47463a976547b7" /><Relationship Type="http://schemas.openxmlformats.org/officeDocument/2006/relationships/notesSlide" Target="/ppt/notesSlides/notesSlide30.xml" Id="Rec0b3eea2ce049e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0fcf2a61cf481a" /><Relationship Type="http://schemas.openxmlformats.org/officeDocument/2006/relationships/notesSlide" Target="/ppt/notesSlides/notesSlide31.xml" Id="R9fe61702699743e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bc4ba15e4418d" /><Relationship Type="http://schemas.openxmlformats.org/officeDocument/2006/relationships/notesSlide" Target="/ppt/notesSlides/notesSlide32.xml" Id="Rb788f30d9f0c4ae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da992f335040ff" /><Relationship Type="http://schemas.openxmlformats.org/officeDocument/2006/relationships/notesSlide" Target="/ppt/notesSlides/notesSlide33.xml" Id="R6dd8c78cb5374b5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f1e533234e4b87" /><Relationship Type="http://schemas.openxmlformats.org/officeDocument/2006/relationships/notesSlide" Target="/ppt/notesSlides/notesSlide34.xml" Id="Re2a10d952dc14845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1ccc78b2a0444e" /><Relationship Type="http://schemas.openxmlformats.org/officeDocument/2006/relationships/notesSlide" Target="/ppt/notesSlides/notesSlide35.xml" Id="Rf3ea3a77efa8455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625bd488894a28" /><Relationship Type="http://schemas.openxmlformats.org/officeDocument/2006/relationships/notesSlide" Target="/ppt/notesSlides/notesSlide36.xml" Id="R1e47eae8050b42cf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2f84d6bac4dbd" /><Relationship Type="http://schemas.openxmlformats.org/officeDocument/2006/relationships/notesSlide" Target="/ppt/notesSlides/notesSlide37.xml" Id="R3ab4ceef4f384a4b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7cc191c9754739" /><Relationship Type="http://schemas.openxmlformats.org/officeDocument/2006/relationships/notesSlide" Target="/ppt/notesSlides/notesSlide38.xml" Id="Rff69e7f1294f4eab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a1ba3c00524c1d" /><Relationship Type="http://schemas.openxmlformats.org/officeDocument/2006/relationships/notesSlide" Target="/ppt/notesSlides/notesSlide39.xml" Id="R7bbb3abfbae443cc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579449c40243bd" /><Relationship Type="http://schemas.openxmlformats.org/officeDocument/2006/relationships/notesSlide" Target="/ppt/notesSlides/notesSlide40.xml" Id="Rc3bc402eedde4d30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8469a975a4528" /><Relationship Type="http://schemas.openxmlformats.org/officeDocument/2006/relationships/notesSlide" Target="/ppt/notesSlides/notesSlide41.xml" Id="R98748a7560d244c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fb3517d60847d8" /><Relationship Type="http://schemas.openxmlformats.org/officeDocument/2006/relationships/notesSlide" Target="/ppt/notesSlides/notesSlide42.xml" Id="Rfa2e1b7926da4345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6129d537f4f41" /><Relationship Type="http://schemas.openxmlformats.org/officeDocument/2006/relationships/notesSlide" Target="/ppt/notesSlides/notesSlide43.xml" Id="R9f3022ae98804694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880.0902938555801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78.61281392618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445.677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4227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6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  <c:pt idx="5">
                <c:v>Não classificado</c:v>
              </c:pt>
            </c:strLit>
          </c:cat>
          <c:val>
            <c:numLit>
              <c:formatCode>0.0%</c:formatCode>
              <c:ptCount val="6"/>
              <c:pt idx="0">
                <c:v>0.44344895518503313</c:v>
              </c:pt>
              <c:pt idx="1">
                <c:v>0.253151946364744</c:v>
              </c:pt>
              <c:pt idx="2">
                <c:v>0.21658061780168147</c:v>
              </c:pt>
              <c:pt idx="3">
                <c:v>0.08595013877763492</c:v>
              </c:pt>
              <c:pt idx="4">
                <c:v>0.0007965409926920169</c:v>
              </c:pt>
              <c:pt idx="5">
                <c:v>7.180087821449166E-05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1</c:v>
              </c:pt>
              <c:pt idx="1">
                <c:v>186</c:v>
              </c:pt>
              <c:pt idx="2">
                <c:v>124</c:v>
              </c:pt>
              <c:pt idx="3">
                <c:v>148</c:v>
              </c:pt>
              <c:pt idx="4">
                <c:v>126</c:v>
              </c:pt>
              <c:pt idx="5">
                <c:v>193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0.5495960022699999</c:v>
              </c:pt>
              <c:pt idx="1">
                <c:v>184.81479596079998</c:v>
              </c:pt>
              <c:pt idx="2">
                <c:v>88.72399138631</c:v>
              </c:pt>
              <c:pt idx="3">
                <c:v>171.16402364894</c:v>
              </c:pt>
              <c:pt idx="4">
                <c:v>77.21175767653</c:v>
              </c:pt>
              <c:pt idx="5">
                <c:v>211.4223398025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0.0012853470437017994</c:v>
              </c:pt>
              <c:pt idx="1">
                <c:v>0.2390745501285347</c:v>
              </c:pt>
              <c:pt idx="2">
                <c:v>0.15938303341902313</c:v>
              </c:pt>
              <c:pt idx="3">
                <c:v>0.19023136246786632</c:v>
              </c:pt>
              <c:pt idx="4">
                <c:v>0.16195372750642673</c:v>
              </c:pt>
              <c:pt idx="5">
                <c:v>0.2480719794344473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0.0007488841924697938</c:v>
              </c:pt>
              <c:pt idx="1">
                <c:v>0.2518302146629867</c:v>
              </c:pt>
              <c:pt idx="2">
                <c:v>0.12089606614240213</c:v>
              </c:pt>
              <c:pt idx="3">
                <c:v>0.23322955607534634</c:v>
              </c:pt>
              <c:pt idx="4">
                <c:v>0.1052093984634827</c:v>
              </c:pt>
              <c:pt idx="5">
                <c:v>0.28808588046331235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167.28018582326</c:v>
              </c:pt>
              <c:pt idx="1">
                <c:v>120.08809595328</c:v>
              </c:pt>
              <c:pt idx="2">
                <c:v>118.90601280922</c:v>
              </c:pt>
              <c:pt idx="3">
                <c:v>50.88905009467</c:v>
              </c:pt>
              <c:pt idx="4">
                <c:v>4.5929586136900005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367.43677886158</c:v>
              </c:pt>
              <c:pt idx="1">
                <c:v>234.07845143214</c:v>
              </c:pt>
              <c:pt idx="2">
                <c:v>173.49802700684</c:v>
              </c:pt>
              <c:pt idx="3">
                <c:v>88.01637854215</c:v>
              </c:pt>
              <c:pt idx="4">
                <c:v>17.06065801287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0.3622694149054406</c:v>
              </c:pt>
              <c:pt idx="1">
                <c:v>0.26006812488878744</c:v>
              </c:pt>
              <c:pt idx="2">
                <c:v>0.2575081530256485</c:v>
              </c:pt>
              <c:pt idx="3">
                <c:v>0.11020759160542687</c:v>
              </c:pt>
              <c:pt idx="4">
                <c:v>0.00994671557469671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0.4174989559899353</c:v>
              </c:pt>
              <c:pt idx="1">
                <c:v>0.2659709498745495</c:v>
              </c:pt>
              <c:pt idx="2">
                <c:v>0.19713662134229887</c:v>
              </c:pt>
              <c:pt idx="3">
                <c:v>0.10000835045749659</c:v>
              </c:pt>
              <c:pt idx="4">
                <c:v>0.019385122335719793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312.05045657159997</c:v>
              </c:pt>
              <c:pt idx="1">
                <c:v>116.43114710328999</c:v>
              </c:pt>
              <c:pt idx="2">
                <c:v>77.84961525946001</c:v>
              </c:pt>
              <c:pt idx="3">
                <c:v>74.12660807569</c:v>
              </c:pt>
              <c:pt idx="4">
                <c:v>70.06538925120002</c:v>
              </c:pt>
              <c:pt idx="5">
                <c:v>38.784257866059995</c:v>
              </c:pt>
              <c:pt idx="6">
                <c:v>27.315528831659996</c:v>
              </c:pt>
              <c:pt idx="7">
                <c:v>9.08208747866</c:v>
              </c:pt>
              <c:pt idx="8">
                <c:v>3.1408293285699997</c:v>
              </c:pt>
              <c:pt idx="9">
                <c:v>0.08783373547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0.4280916545194519</c:v>
              </c:pt>
              <c:pt idx="1">
                <c:v>0.15972802266869487</c:v>
              </c:pt>
              <c:pt idx="2">
                <c:v>0.106799300876774</c:v>
              </c:pt>
              <c:pt idx="3">
                <c:v>0.10169183100604105</c:v>
              </c:pt>
              <c:pt idx="4">
                <c:v>0.09612037982137488</c:v>
              </c:pt>
              <c:pt idx="5">
                <c:v>0.05320683488691222</c:v>
              </c:pt>
              <c:pt idx="6">
                <c:v>0.03747326653545861</c:v>
              </c:pt>
              <c:pt idx="7">
                <c:v>0.012459414089457879</c:v>
              </c:pt>
              <c:pt idx="8">
                <c:v>0.004308799412130456</c:v>
              </c:pt>
              <c:pt idx="9">
                <c:v>0.0001204961837040243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0.0802740222867937</c:v>
              </c:pt>
              <c:pt idx="1">
                <c:v>0.0585303345939064</c:v>
              </c:pt>
              <c:pt idx="2">
                <c:v>0.0581799790131143</c:v>
              </c:pt>
              <c:pt idx="3">
                <c:v>0.048395735178671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0.0802740222867937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0.0585303345939064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0.7328393055377529</c:v>
              </c:pt>
              <c:pt idx="1">
                <c:v>0.36474657829092816</c:v>
              </c:pt>
              <c:pt idx="2">
                <c:v>0.7367329469086348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0.7126127734453225</c:v>
              </c:pt>
              <c:pt idx="1">
                <c:v>0.36050169639881446</c:v>
              </c:pt>
              <c:pt idx="2">
                <c:v>0.744086412788827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0.5232536276766763</c:v>
              </c:pt>
              <c:pt idx="1">
                <c:v>0.25246948967468746</c:v>
              </c:pt>
              <c:pt idx="2">
                <c:v>0.5361533877585409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0.5235470871845853</c:v>
              </c:pt>
              <c:pt idx="1">
                <c:v>0.2426226940340846</c:v>
              </c:pt>
              <c:pt idx="2">
                <c:v>0.5465818121476415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0.09903585787610279</c:v>
              </c:pt>
              <c:pt idx="1">
                <c:v>0.027616163909249546</c:v>
              </c:pt>
              <c:pt idx="2">
                <c:v>0.034637637777836565</c:v>
              </c:pt>
              <c:pt idx="3">
                <c:v>0.6611874223633714</c:v>
              </c:pt>
              <c:pt idx="4">
                <c:v>0.0414481143203419</c:v>
              </c:pt>
              <c:pt idx="5">
                <c:v>0.21362035435332932</c:v>
              </c:pt>
            </c:numLit>
          </c:val>
        </c:ser>
        <c:ser>
          <c:idx val="1"/>
          <c:order val="1"/>
          <c:tx>
            <c:v>BTG Pactual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0.12822788655998077</c:v>
              </c:pt>
              <c:pt idx="1">
                <c:v>0.08479001632892023</c:v>
              </c:pt>
              <c:pt idx="2">
                <c:v>0.18229075168007017</c:v>
              </c:pt>
              <c:pt idx="3">
                <c:v>0.0096806427799193</c:v>
              </c:pt>
              <c:pt idx="4">
                <c:v>0.11374888451281695</c:v>
              </c:pt>
              <c:pt idx="5">
                <c:v>0.241155891421021</c:v>
              </c:pt>
            </c:numLit>
          </c:val>
        </c:ser>
        <c:ser>
          <c:idx val="2"/>
          <c:order val="2"/>
          <c:tx>
            <c:v>Oliveira Trust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0.01401328129880209</c:v>
              </c:pt>
              <c:pt idx="1">
                <c:v>0.03288365112448517</c:v>
              </c:pt>
              <c:pt idx="2">
                <c:v>0.5353956121353679</c:v>
              </c:pt>
              <c:pt idx="3">
                <c:v>0.009452795711907486</c:v>
              </c:pt>
              <c:pt idx="4">
                <c:v>0.09751327000606472</c:v>
              </c:pt>
              <c:pt idx="5">
                <c:v>0.05280157206042264</c:v>
              </c:pt>
            </c:numLit>
          </c:val>
        </c:ser>
        <c:ser>
          <c:idx val="3"/>
          <c:order val="3"/>
          <c:tx>
            <c:v>Banco do Brasil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0.470446115533561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4"/>
          <c:order val="4"/>
          <c:tx>
            <c:v>Daycoval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0.07551457229714482</c:v>
              </c:pt>
              <c:pt idx="1">
                <c:v>0.007820652776934972</c:v>
              </c:pt>
              <c:pt idx="2">
                <c:v>0.06447467407303031</c:v>
              </c:pt>
              <c:pt idx="3">
                <c:v>0.005650217492933909</c:v>
              </c:pt>
              <c:pt idx="4">
                <c:v>0.11105195367930412</c:v>
              </c:pt>
              <c:pt idx="5">
                <c:v>0.07432392233412591</c:v>
              </c:pt>
            </c:numLit>
          </c:val>
        </c:ser>
        <c:ser>
          <c:idx val="5"/>
          <c:order val="5"/>
          <c:tx>
            <c:v>Bradesco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0.055544305759603875</c:v>
              </c:pt>
              <c:pt idx="1">
                <c:v>0.08871546689439254</c:v>
              </c:pt>
              <c:pt idx="2">
                <c:v>0</c:v>
              </c:pt>
              <c:pt idx="3">
                <c:v>0.02186244476852497</c:v>
              </c:pt>
              <c:pt idx="4">
                <c:v>0.14414037627349577</c:v>
              </c:pt>
              <c:pt idx="5">
                <c:v>0.009145909849505437</c:v>
              </c:pt>
            </c:numLit>
          </c:val>
        </c:ser>
        <c:ser>
          <c:idx val="6"/>
          <c:order val="6"/>
          <c:tx>
            <c:v>Genial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0.04316403467836799</c:v>
              </c:pt>
              <c:pt idx="1">
                <c:v>0.05953134676287288</c:v>
              </c:pt>
              <c:pt idx="2">
                <c:v>0.1354222794660779</c:v>
              </c:pt>
              <c:pt idx="3">
                <c:v>0.0014143984780017323</c:v>
              </c:pt>
              <c:pt idx="4">
                <c:v>0.12829342578813055</c:v>
              </c:pt>
              <c:pt idx="5">
                <c:v>0.01006878803870165</c:v>
              </c:pt>
            </c:numLit>
          </c:val>
        </c:ser>
        <c:ser>
          <c:idx val="7"/>
          <c:order val="7"/>
          <c:tx>
            <c:v>CBSF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0.12229945521599841</c:v>
              </c:pt>
              <c:pt idx="1">
                <c:v>7.168820062739688E-06</c:v>
              </c:pt>
              <c:pt idx="2">
                <c:v>0</c:v>
              </c:pt>
              <c:pt idx="3">
                <c:v>0.02158187974606139</c:v>
              </c:pt>
              <c:pt idx="4">
                <c:v>0.001265118761995852</c:v>
              </c:pt>
              <c:pt idx="5">
                <c:v>0.03284180927126185</c:v>
              </c:pt>
            </c:numLit>
          </c:val>
        </c:ser>
        <c:ser>
          <c:idx val="8"/>
          <c:order val="8"/>
          <c:tx>
            <c:v>Itaú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0.07037581852307735</c:v>
              </c:pt>
              <c:pt idx="1">
                <c:v>0.02695925531968936</c:v>
              </c:pt>
              <c:pt idx="2">
                <c:v>0</c:v>
              </c:pt>
              <c:pt idx="3">
                <c:v>0.00912263627634282</c:v>
              </c:pt>
              <c:pt idx="4">
                <c:v>0.0006705493289052445</c:v>
              </c:pt>
              <c:pt idx="5">
                <c:v>0.01967534759580247</c:v>
              </c:pt>
            </c:numLit>
          </c:val>
        </c:ser>
        <c:ser>
          <c:idx val="9"/>
          <c:order val="9"/>
          <c:tx>
            <c:v>Finaxis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0.03615636784299774</c:v>
              </c:pt>
              <c:pt idx="1">
                <c:v>0.023954817730900604</c:v>
              </c:pt>
              <c:pt idx="2">
                <c:v>0.0020072880960920487</c:v>
              </c:pt>
              <c:pt idx="3">
                <c:v>0.02993010860618225</c:v>
              </c:pt>
              <c:pt idx="4">
                <c:v>0.0003817965185774057</c:v>
              </c:pt>
              <c:pt idx="5">
                <c:v>0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0.3556684199479241</c:v>
              </c:pt>
              <c:pt idx="1">
                <c:v>0.177275344798931</c:v>
              </c:pt>
              <c:pt idx="2">
                <c:v>0.045771756771525146</c:v>
              </c:pt>
              <c:pt idx="3">
                <c:v>0.23011745377675477</c:v>
              </c:pt>
              <c:pt idx="4">
                <c:v>0.3614865108103675</c:v>
              </c:pt>
              <c:pt idx="5">
                <c:v>0.34636640507582966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Oliveira Trust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0.002242562112152404</c:v>
              </c:pt>
              <c:pt idx="1">
                <c:v>0.018364626656861456</c:v>
              </c:pt>
              <c:pt idx="2">
                <c:v>0.498315166897194</c:v>
              </c:pt>
              <c:pt idx="3">
                <c:v>0.0006138463216740936</c:v>
              </c:pt>
              <c:pt idx="4">
                <c:v>0.0749544808439373</c:v>
              </c:pt>
              <c:pt idx="5">
                <c:v>0.03154326193132497</c:v>
              </c:pt>
            </c:numLit>
          </c:val>
        </c:ser>
        <c:ser>
          <c:idx val="1"/>
          <c:order val="1"/>
          <c:tx>
            <c:v>BTG Pactual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0.04581440346818252</c:v>
              </c:pt>
              <c:pt idx="1">
                <c:v>0.08539967217022329</c:v>
              </c:pt>
              <c:pt idx="2">
                <c:v>0.1757092047057602</c:v>
              </c:pt>
              <c:pt idx="3">
                <c:v>0.0010431439626170636</c:v>
              </c:pt>
              <c:pt idx="4">
                <c:v>0.04769791911064288</c:v>
              </c:pt>
              <c:pt idx="5">
                <c:v>0.04452221594370676</c:v>
              </c:pt>
            </c:numLit>
          </c:val>
        </c:ser>
        <c:ser>
          <c:idx val="2"/>
          <c:order val="2"/>
          <c:tx>
            <c:v>Banco do Brasil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0.47044611553356097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0.04358394025590201</c:v>
              </c:pt>
              <c:pt idx="1">
                <c:v>0.05234064889393871</c:v>
              </c:pt>
              <c:pt idx="2">
                <c:v>0</c:v>
              </c:pt>
              <c:pt idx="3">
                <c:v>0.02186244476852497</c:v>
              </c:pt>
              <c:pt idx="4">
                <c:v>0.14163445791151857</c:v>
              </c:pt>
              <c:pt idx="5">
                <c:v>0.009145909849505437</c:v>
              </c:pt>
            </c:numLit>
          </c:val>
        </c:ser>
        <c:ser>
          <c:idx val="4"/>
          <c:order val="4"/>
          <c:tx>
            <c:v>Genial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0.022093044160997583</c:v>
              </c:pt>
              <c:pt idx="1">
                <c:v>0.04361472819751594</c:v>
              </c:pt>
              <c:pt idx="2">
                <c:v>0.05690901582562128</c:v>
              </c:pt>
              <c:pt idx="3">
                <c:v>0</c:v>
              </c:pt>
              <c:pt idx="4">
                <c:v>0.10921999509731997</c:v>
              </c:pt>
              <c:pt idx="5">
                <c:v>0.0014288577438735935</c:v>
              </c:pt>
            </c:numLit>
          </c:val>
        </c:ser>
        <c:ser>
          <c:idx val="5"/>
          <c:order val="5"/>
          <c:tx>
            <c:v>Tercon Investimentos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0.005542310561087736</c:v>
              </c:pt>
              <c:pt idx="1">
                <c:v>0.0025739291328569992</c:v>
              </c:pt>
              <c:pt idx="2">
                <c:v>0</c:v>
              </c:pt>
              <c:pt idx="3">
                <c:v>0.22125837215796879</c:v>
              </c:pt>
              <c:pt idx="4">
                <c:v>0.002182052599926365</c:v>
              </c:pt>
              <c:pt idx="5">
                <c:v>0</c:v>
              </c:pt>
            </c:numLit>
          </c:val>
        </c:ser>
        <c:ser>
          <c:idx val="6"/>
          <c:order val="6"/>
          <c:tx>
            <c:v>CBSF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0.05868225680250354</c:v>
              </c:pt>
              <c:pt idx="1">
                <c:v>0</c:v>
              </c:pt>
              <c:pt idx="2">
                <c:v>0</c:v>
              </c:pt>
              <c:pt idx="3">
                <c:v>0.02158187974606139</c:v>
              </c:pt>
              <c:pt idx="4">
                <c:v>0.00018173256305436804</c:v>
              </c:pt>
              <c:pt idx="5">
                <c:v>0</c:v>
              </c:pt>
            </c:numLit>
          </c:val>
        </c:ser>
        <c:ser>
          <c:idx val="7"/>
          <c:order val="7"/>
          <c:tx>
            <c:v>REAG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0.054467807244361385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0.0006791993569090867</c:v>
              </c:pt>
              <c:pt idx="5">
                <c:v>0.03284180927126185</c:v>
              </c:pt>
            </c:numLit>
          </c:val>
        </c:ser>
        <c:ser>
          <c:idx val="8"/>
          <c:order val="8"/>
          <c:tx>
            <c:v>Itaú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0.04125339079361007</c:v>
              </c:pt>
              <c:pt idx="1">
                <c:v>0.01041573167893111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0.025973774276490218</c:v>
              </c:pt>
            </c:numLit>
          </c:val>
        </c:ser>
        <c:ser>
          <c:idx val="9"/>
          <c:order val="9"/>
          <c:tx>
            <c:v>Solis Investimentos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0.019346025162812742</c:v>
              </c:pt>
              <c:pt idx="1">
                <c:v>0.006169055247023951</c:v>
              </c:pt>
              <c:pt idx="2">
                <c:v>0.013372059792210478</c:v>
              </c:pt>
              <c:pt idx="3">
                <c:v>0.034493689827595056</c:v>
              </c:pt>
              <c:pt idx="4">
                <c:v>0.01410591271130141</c:v>
              </c:pt>
              <c:pt idx="5">
                <c:v>0.0007285216184997913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0.7068138110118435</c:v>
              </c:pt>
              <c:pt idx="1">
                <c:v>0.3072387437273598</c:v>
              </c:pt>
              <c:pt idx="2">
                <c:v>0.25569455277921393</c:v>
              </c:pt>
              <c:pt idx="3">
                <c:v>0.698380362355187</c:v>
              </c:pt>
              <c:pt idx="4">
                <c:v>0.6093334003170607</c:v>
              </c:pt>
              <c:pt idx="5">
                <c:v>0.8538156493653374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0.00016044842654654585</c:v>
              </c:pt>
              <c:pt idx="1">
                <c:v>0.003436748761727782</c:v>
              </c:pt>
              <c:pt idx="2">
                <c:v>0</c:v>
              </c:pt>
              <c:pt idx="3">
                <c:v>0.0007662608603716966</c:v>
              </c:pt>
              <c:pt idx="4">
                <c:v>1.0849488329413318E-05</c:v>
              </c:pt>
              <c:pt idx="5">
                <c:v>0</c:v>
              </c:pt>
            </c:numLit>
          </c:val>
        </c:ser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0.09871038786152628</c:v>
              </c:pt>
              <c:pt idx="1">
                <c:v>0.027474689922011502</c:v>
              </c:pt>
              <c:pt idx="2">
                <c:v>0.03117383637009289</c:v>
              </c:pt>
              <c:pt idx="3">
                <c:v>0.656000888816908</c:v>
              </c:pt>
              <c:pt idx="4">
                <c:v>0.041426253610816026</c:v>
              </c:pt>
              <c:pt idx="5">
                <c:v>0.209321755829712</c:v>
              </c:pt>
            </c:numLit>
          </c:val>
        </c:ser>
        <c:ser>
          <c:idx val="1"/>
          <c:order val="1"/>
          <c:tx>
            <c:v>Oliveira Trust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0.032777305192846364</c:v>
              </c:pt>
              <c:pt idx="1">
                <c:v>0.09623885075338706</c:v>
              </c:pt>
              <c:pt idx="2">
                <c:v>0.5359280855252573</c:v>
              </c:pt>
              <c:pt idx="3">
                <c:v>0.027051696768214718</c:v>
              </c:pt>
              <c:pt idx="4">
                <c:v>0.10098918581145755</c:v>
              </c:pt>
              <c:pt idx="5">
                <c:v>0.02810813865026815</c:v>
              </c:pt>
            </c:numLit>
          </c:val>
        </c:ser>
        <c:ser>
          <c:idx val="2"/>
          <c:order val="2"/>
          <c:tx>
            <c:v>BTG Pactual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0.12777031470705189</c:v>
              </c:pt>
              <c:pt idx="1">
                <c:v>0.08712579737615378</c:v>
              </c:pt>
              <c:pt idx="2">
                <c:v>0.18229075168007014</c:v>
              </c:pt>
              <c:pt idx="3">
                <c:v>0.0025226472154451962</c:v>
              </c:pt>
              <c:pt idx="4">
                <c:v>0.11374888451281695</c:v>
              </c:pt>
              <c:pt idx="5">
                <c:v>0.2411558914210211</c:v>
              </c:pt>
            </c:numLit>
          </c:val>
        </c:ser>
        <c:ser>
          <c:idx val="3"/>
          <c:order val="3"/>
          <c:tx>
            <c:v>Banco do Brasil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0.4704461155335609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4"/>
          <c:order val="4"/>
          <c:tx>
            <c:v>Daycoval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0.0809584817747009</c:v>
              </c:pt>
              <c:pt idx="1">
                <c:v>0.02141398019715528</c:v>
              </c:pt>
              <c:pt idx="2">
                <c:v>0.0644746740730303</c:v>
              </c:pt>
              <c:pt idx="3">
                <c:v>0.005650217492933909</c:v>
              </c:pt>
              <c:pt idx="4">
                <c:v>0.11945702938613052</c:v>
              </c:pt>
              <c:pt idx="5">
                <c:v>0.07432392233412591</c:v>
              </c:pt>
            </c:numLit>
          </c:val>
        </c:ser>
        <c:ser>
          <c:idx val="5"/>
          <c:order val="5"/>
          <c:tx>
            <c:v>REAG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0.14039639207761814</c:v>
              </c:pt>
              <c:pt idx="1">
                <c:v>7.168820062739686E-06</c:v>
              </c:pt>
              <c:pt idx="2">
                <c:v>0</c:v>
              </c:pt>
              <c:pt idx="3">
                <c:v>0.02158187974606139</c:v>
              </c:pt>
              <c:pt idx="4">
                <c:v>0.001265118761995852</c:v>
              </c:pt>
              <c:pt idx="5">
                <c:v>0.04848829360672972</c:v>
              </c:pt>
            </c:numLit>
          </c:val>
        </c:ser>
        <c:ser>
          <c:idx val="6"/>
          <c:order val="6"/>
          <c:tx>
            <c:v>Bradesco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0.05554430575960388</c:v>
              </c:pt>
              <c:pt idx="1">
                <c:v>0.06540428119237003</c:v>
              </c:pt>
              <c:pt idx="2">
                <c:v>0</c:v>
              </c:pt>
              <c:pt idx="3">
                <c:v>0.01822059623461933</c:v>
              </c:pt>
              <c:pt idx="4">
                <c:v>0.14376767708183888</c:v>
              </c:pt>
              <c:pt idx="5">
                <c:v>0.033839343259659926</c:v>
              </c:pt>
            </c:numLit>
          </c:val>
        </c:ser>
        <c:ser>
          <c:idx val="7"/>
          <c:order val="7"/>
          <c:tx>
            <c:v>Genial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0.0329560029844489</c:v>
              </c:pt>
              <c:pt idx="1">
                <c:v>0.056321661963584714</c:v>
              </c:pt>
              <c:pt idx="2">
                <c:v>0.08209276508477789</c:v>
              </c:pt>
              <c:pt idx="3">
                <c:v>0.0014143984780017323</c:v>
              </c:pt>
              <c:pt idx="4">
                <c:v>0.12829342578813055</c:v>
              </c:pt>
              <c:pt idx="5">
                <c:v>0.01006878803870165</c:v>
              </c:pt>
            </c:numLit>
          </c:val>
        </c:ser>
        <c:ser>
          <c:idx val="8"/>
          <c:order val="8"/>
          <c:tx>
            <c:v>Finaxis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0.03615636784299775</c:v>
              </c:pt>
              <c:pt idx="1">
                <c:v>0.023954817730900597</c:v>
              </c:pt>
              <c:pt idx="2">
                <c:v>0.0020072880960920487</c:v>
              </c:pt>
              <c:pt idx="3">
                <c:v>0.02938771658878437</c:v>
              </c:pt>
              <c:pt idx="4">
                <c:v>0.0003817965185774057</c:v>
              </c:pt>
              <c:pt idx="5">
                <c:v>0</c:v>
              </c:pt>
            </c:numLit>
          </c:val>
        </c:ser>
        <c:ser>
          <c:idx val="9"/>
          <c:order val="9"/>
          <c:tx>
            <c:v>Limine Trust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0.03723037703995639</c:v>
              </c:pt>
              <c:pt idx="1">
                <c:v>0.031165673360826523</c:v>
              </c:pt>
              <c:pt idx="2">
                <c:v>0.022088841798878028</c:v>
              </c:pt>
              <c:pt idx="3">
                <c:v>0.025884475168990163</c:v>
              </c:pt>
              <c:pt idx="4">
                <c:v>0.006208941893645588</c:v>
              </c:pt>
              <c:pt idx="5">
                <c:v>0.00018856231051638396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0.34790662809489536</c:v>
              </c:pt>
              <c:pt idx="1">
                <c:v>0.07612522958781971</c:v>
              </c:pt>
              <c:pt idx="2">
                <c:v>0.07991574384591492</c:v>
              </c:pt>
              <c:pt idx="3">
                <c:v>0.19940752085450217</c:v>
              </c:pt>
              <c:pt idx="4">
                <c:v>0.3428596328805304</c:v>
              </c:pt>
              <c:pt idx="5">
                <c:v>0.3539405580978503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0.009593436664354341</c:v>
              </c:pt>
              <c:pt idx="1">
                <c:v>0.04432173356216704</c:v>
              </c:pt>
              <c:pt idx="2">
                <c:v>2.801352588640792E-05</c:v>
              </c:pt>
              <c:pt idx="3">
                <c:v>0.012877962635538961</c:v>
              </c:pt>
              <c:pt idx="4">
                <c:v>0.0016020537540602194</c:v>
              </c:pt>
              <c:pt idx="5">
                <c:v>0.0005647464514148762</c:v>
              </c:pt>
            </c:numLit>
          </c:val>
        </c:ser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0.0783988630980578</c:v>
              </c:pt>
              <c:pt idx="1">
                <c:v>0.00994789199431549</c:v>
              </c:pt>
              <c:pt idx="2">
                <c:v>0.7984367598294647</c:v>
              </c:pt>
              <c:pt idx="3">
                <c:v>0.010421601136901942</c:v>
              </c:pt>
              <c:pt idx="4">
                <c:v>0.08408337280909521</c:v>
              </c:pt>
              <c:pt idx="5">
                <c:v>0.018711511132164852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0.3401555639274464</c:v>
              </c:pt>
              <c:pt idx="1">
                <c:v>0.03632358129979824</c:v>
              </c:pt>
              <c:pt idx="2">
                <c:v>0.533550356635145</c:v>
              </c:pt>
              <c:pt idx="3">
                <c:v>0.019980720583593427</c:v>
              </c:pt>
              <c:pt idx="4">
                <c:v>0.058027674260146406</c:v>
              </c:pt>
              <c:pt idx="5">
                <c:v>0.011962103293870421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EC7000"/>
              </a:solidFill>
            </c:spPr>
          </c:dPt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51.51551577195</c:v>
              </c:pt>
              <c:pt idx="1">
                <c:v>68.9158113135</c:v>
              </c:pt>
              <c:pt idx="2">
                <c:v>75.14765624728999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0.6611874223633714</c:v>
              </c:pt>
              <c:pt idx="1">
                <c:v>0.3065550509629137</c:v>
              </c:pt>
              <c:pt idx="2">
                <c:v>0.13849018082595674</c:v>
              </c:pt>
              <c:pt idx="3">
                <c:v>0.034637637777836565</c:v>
              </c:pt>
              <c:pt idx="4">
                <c:v>0.07483979968200132</c:v>
              </c:pt>
              <c:pt idx="5">
                <c:v>0.0414481143203419</c:v>
              </c:pt>
              <c:pt idx="6">
                <c:v>0</c:v>
              </c:pt>
              <c:pt idx="7">
                <c:v>0.027616163909249546</c:v>
              </c:pt>
              <c:pt idx="8">
                <c:v>0</c:v>
              </c:pt>
              <c:pt idx="9">
                <c:v>0.26072989426098264</c:v>
              </c:pt>
              <c:pt idx="10">
                <c:v>0.09519798891176616</c:v>
              </c:pt>
              <c:pt idx="11">
                <c:v>0.0515490070093137</c:v>
              </c:pt>
              <c:pt idx="12">
                <c:v>0.21362035435332932</c:v>
              </c:pt>
              <c:pt idx="13">
                <c:v>0.09903585787610279</c:v>
              </c:pt>
            </c:numLit>
          </c:val>
        </c:ser>
        <c:ser>
          <c:idx val="1"/>
          <c:order val="1"/>
          <c:tx>
            <c:v>BTG Pactual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0.0096806427799193</c:v>
              </c:pt>
              <c:pt idx="1">
                <c:v>0</c:v>
              </c:pt>
              <c:pt idx="2">
                <c:v>0.17236559225460651</c:v>
              </c:pt>
              <c:pt idx="3">
                <c:v>0.18229075168007017</c:v>
              </c:pt>
              <c:pt idx="4">
                <c:v>0.02167823883113039</c:v>
              </c:pt>
              <c:pt idx="5">
                <c:v>0.11374888451281695</c:v>
              </c:pt>
              <c:pt idx="6">
                <c:v>0.010283546215548054</c:v>
              </c:pt>
              <c:pt idx="7">
                <c:v>0.08479001632892023</c:v>
              </c:pt>
              <c:pt idx="8">
                <c:v>0.008891099378144043</c:v>
              </c:pt>
              <c:pt idx="9">
                <c:v>0.06509344726707784</c:v>
              </c:pt>
              <c:pt idx="10">
                <c:v>0.03486778726515402</c:v>
              </c:pt>
              <c:pt idx="11">
                <c:v>0.03867683398465943</c:v>
              </c:pt>
              <c:pt idx="12">
                <c:v>0.241155891421021</c:v>
              </c:pt>
              <c:pt idx="13">
                <c:v>0.12822788655998077</c:v>
              </c:pt>
            </c:numLit>
          </c:val>
        </c:ser>
        <c:ser>
          <c:idx val="2"/>
          <c:order val="2"/>
          <c:tx>
            <c:v>Oliveira Trust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0.009452795711907486</c:v>
              </c:pt>
              <c:pt idx="1">
                <c:v>0.23403575568651946</c:v>
              </c:pt>
              <c:pt idx="2">
                <c:v>0.383564590335937</c:v>
              </c:pt>
              <c:pt idx="3">
                <c:v>0.5353956121353679</c:v>
              </c:pt>
              <c:pt idx="4">
                <c:v>0</c:v>
              </c:pt>
              <c:pt idx="5">
                <c:v>0.09751327000606472</c:v>
              </c:pt>
              <c:pt idx="6">
                <c:v>0.20562513771661284</c:v>
              </c:pt>
              <c:pt idx="7">
                <c:v>0.03288365112448517</c:v>
              </c:pt>
              <c:pt idx="8">
                <c:v>0.42924807244322455</c:v>
              </c:pt>
              <c:pt idx="9">
                <c:v>0.030005707236196156</c:v>
              </c:pt>
              <c:pt idx="10">
                <c:v>0.09687131495911563</c:v>
              </c:pt>
              <c:pt idx="11">
                <c:v>0</c:v>
              </c:pt>
              <c:pt idx="12">
                <c:v>0.05280157206042264</c:v>
              </c:pt>
              <c:pt idx="13">
                <c:v>0.01401328129880209</c:v>
              </c:pt>
            </c:numLit>
          </c:val>
        </c:ser>
        <c:ser>
          <c:idx val="3"/>
          <c:order val="3"/>
          <c:tx>
            <c:v>Banco do Brasil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0.000941688182142641</c:v>
              </c:pt>
              <c:pt idx="7">
                <c:v>0.470446115533561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ser>
          <c:idx val="4"/>
          <c:order val="4"/>
          <c:tx>
            <c:v>Daycoval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0.005650217492933909</c:v>
              </c:pt>
              <c:pt idx="1">
                <c:v>0.03394956956679466</c:v>
              </c:pt>
              <c:pt idx="2">
                <c:v>0.059977118417396995</c:v>
              </c:pt>
              <c:pt idx="3">
                <c:v>0.06447467407303031</c:v>
              </c:pt>
              <c:pt idx="4">
                <c:v>0.05540491499139333</c:v>
              </c:pt>
              <c:pt idx="5">
                <c:v>0.11105195367930412</c:v>
              </c:pt>
              <c:pt idx="6">
                <c:v>0.05888272824897803</c:v>
              </c:pt>
              <c:pt idx="7">
                <c:v>0.007820652776934972</c:v>
              </c:pt>
              <c:pt idx="8">
                <c:v>0.12052646213582008</c:v>
              </c:pt>
              <c:pt idx="9">
                <c:v>0.21769813460950752</c:v>
              </c:pt>
              <c:pt idx="10">
                <c:v>0.08509408390333681</c:v>
              </c:pt>
              <c:pt idx="11">
                <c:v>0.0733124835554939</c:v>
              </c:pt>
              <c:pt idx="12">
                <c:v>0.07432392233412591</c:v>
              </c:pt>
              <c:pt idx="13">
                <c:v>0.07551457229714482</c:v>
              </c:pt>
            </c:numLit>
          </c:val>
        </c:ser>
        <c:ser>
          <c:idx val="5"/>
          <c:order val="5"/>
          <c:tx>
            <c:v>Bradesco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0.02186244476852497</c:v>
              </c:pt>
              <c:pt idx="1">
                <c:v>0</c:v>
              </c:pt>
              <c:pt idx="2">
                <c:v>6.281624788476697E-05</c:v>
              </c:pt>
              <c:pt idx="3">
                <c:v>0</c:v>
              </c:pt>
              <c:pt idx="4">
                <c:v>0.5171854935971929</c:v>
              </c:pt>
              <c:pt idx="5">
                <c:v>0.14414037627349577</c:v>
              </c:pt>
              <c:pt idx="6">
                <c:v>0</c:v>
              </c:pt>
              <c:pt idx="7">
                <c:v>0.08871546689439254</c:v>
              </c:pt>
              <c:pt idx="8">
                <c:v>0</c:v>
              </c:pt>
              <c:pt idx="9">
                <c:v>0</c:v>
              </c:pt>
              <c:pt idx="10">
                <c:v>0.029399905971277233</c:v>
              </c:pt>
              <c:pt idx="11">
                <c:v>0.0012245530453966088</c:v>
              </c:pt>
              <c:pt idx="12">
                <c:v>0.009145909849505437</c:v>
              </c:pt>
              <c:pt idx="13">
                <c:v>0.055544305759603875</c:v>
              </c:pt>
            </c:numLit>
          </c:val>
        </c:ser>
        <c:ser>
          <c:idx val="6"/>
          <c:order val="6"/>
          <c:tx>
            <c:v>Genial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0.0014143984780017323</c:v>
              </c:pt>
              <c:pt idx="1">
                <c:v>0.10503507651441571</c:v>
              </c:pt>
              <c:pt idx="2">
                <c:v>0.011837148359587123</c:v>
              </c:pt>
              <c:pt idx="3">
                <c:v>0.1354222794660779</c:v>
              </c:pt>
              <c:pt idx="4">
                <c:v>0</c:v>
              </c:pt>
              <c:pt idx="5">
                <c:v>0.12829342578813055</c:v>
              </c:pt>
              <c:pt idx="6">
                <c:v>0.08209682369375762</c:v>
              </c:pt>
              <c:pt idx="7">
                <c:v>0.05953134676287288</c:v>
              </c:pt>
              <c:pt idx="8">
                <c:v>0.027576299240600646</c:v>
              </c:pt>
              <c:pt idx="9">
                <c:v>0.06537503346084945</c:v>
              </c:pt>
              <c:pt idx="10">
                <c:v>0.051943217169193555</c:v>
              </c:pt>
              <c:pt idx="11">
                <c:v>0.016187640050605127</c:v>
              </c:pt>
              <c:pt idx="12">
                <c:v>0.01006878803870165</c:v>
              </c:pt>
              <c:pt idx="13">
                <c:v>0.04316403467836799</c:v>
              </c:pt>
            </c:numLit>
          </c:val>
        </c:ser>
        <c:ser>
          <c:idx val="7"/>
          <c:order val="7"/>
          <c:tx>
            <c:v>CBSF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0.02158187974606139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0.001265118761995852</c:v>
              </c:pt>
              <c:pt idx="6">
                <c:v>0</c:v>
              </c:pt>
              <c:pt idx="7">
                <c:v>7.168820062739688E-06</c:v>
              </c:pt>
              <c:pt idx="8">
                <c:v>0.0037238932129679274</c:v>
              </c:pt>
              <c:pt idx="9">
                <c:v>0</c:v>
              </c:pt>
              <c:pt idx="10">
                <c:v>0</c:v>
              </c:pt>
              <c:pt idx="11">
                <c:v>0.044655997198937</c:v>
              </c:pt>
              <c:pt idx="12">
                <c:v>0.03284180927126185</c:v>
              </c:pt>
              <c:pt idx="13">
                <c:v>0.12229945521599841</c:v>
              </c:pt>
            </c:numLit>
          </c:val>
        </c:ser>
        <c:ser>
          <c:idx val="8"/>
          <c:order val="8"/>
          <c:tx>
            <c:v>Itaú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0.00912263627634282</c:v>
              </c:pt>
              <c:pt idx="1">
                <c:v>0.06225686387763095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0.0006705493289052445</c:v>
              </c:pt>
              <c:pt idx="6">
                <c:v>0.08150480181936648</c:v>
              </c:pt>
              <c:pt idx="7">
                <c:v>0.02695925531968936</c:v>
              </c:pt>
              <c:pt idx="8">
                <c:v>0.006387577929861786</c:v>
              </c:pt>
              <c:pt idx="9">
                <c:v>0.10609819986970585</c:v>
              </c:pt>
              <c:pt idx="10">
                <c:v>0</c:v>
              </c:pt>
              <c:pt idx="11">
                <c:v>0</c:v>
              </c:pt>
              <c:pt idx="12">
                <c:v>0.01967534759580247</c:v>
              </c:pt>
              <c:pt idx="13">
                <c:v>0.07037581852307735</c:v>
              </c:pt>
            </c:numLit>
          </c:val>
        </c:ser>
        <c:ser>
          <c:idx val="9"/>
          <c:order val="9"/>
          <c:tx>
            <c:v>Finaxis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0.02993010860618225</c:v>
              </c:pt>
              <c:pt idx="1">
                <c:v>0.0012950121619806155</c:v>
              </c:pt>
              <c:pt idx="2">
                <c:v>0</c:v>
              </c:pt>
              <c:pt idx="3">
                <c:v>0.0020072880960920487</c:v>
              </c:pt>
              <c:pt idx="4">
                <c:v>0</c:v>
              </c:pt>
              <c:pt idx="5">
                <c:v>0.0003817965185774057</c:v>
              </c:pt>
              <c:pt idx="6">
                <c:v>0</c:v>
              </c:pt>
              <c:pt idx="7">
                <c:v>0.023954817730900604</c:v>
              </c:pt>
              <c:pt idx="8">
                <c:v>0</c:v>
              </c:pt>
              <c:pt idx="9">
                <c:v>0.11858839678778403</c:v>
              </c:pt>
              <c:pt idx="10">
                <c:v>0.16962551422285804</c:v>
              </c:pt>
              <c:pt idx="11">
                <c:v>0</c:v>
              </c:pt>
              <c:pt idx="12">
                <c:v>0</c:v>
              </c:pt>
              <c:pt idx="13">
                <c:v>0.03615636784299774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0.23011745377675477</c:v>
              </c:pt>
              <c:pt idx="1">
                <c:v>0.2568726712297449</c:v>
              </c:pt>
              <c:pt idx="2">
                <c:v>0.23370255355863087</c:v>
              </c:pt>
              <c:pt idx="3">
                <c:v>0.045771756771525146</c:v>
              </c:pt>
              <c:pt idx="4">
                <c:v>0.33089155289828215</c:v>
              </c:pt>
              <c:pt idx="5">
                <c:v>0.3614865108103675</c:v>
              </c:pt>
              <c:pt idx="6">
                <c:v>0.5606652741235945</c:v>
              </c:pt>
              <c:pt idx="7">
                <c:v>0.177275344798931</c:v>
              </c:pt>
              <c:pt idx="8">
                <c:v>0.4036465956593809</c:v>
              </c:pt>
              <c:pt idx="9">
                <c:v>0.13641118650789652</c:v>
              </c:pt>
              <c:pt idx="10">
                <c:v>0.4370001875972985</c:v>
              </c:pt>
              <c:pt idx="11">
                <c:v>0.7743934851555943</c:v>
              </c:pt>
              <c:pt idx="12">
                <c:v>0.34636640507582966</c:v>
              </c:pt>
              <c:pt idx="13">
                <c:v>0.3556684199479241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Oliveira Trust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0.0006138463216740936</c:v>
              </c:pt>
              <c:pt idx="1">
                <c:v>0.044212645469864253</c:v>
              </c:pt>
              <c:pt idx="2">
                <c:v>0.28119731553939475</c:v>
              </c:pt>
              <c:pt idx="3">
                <c:v>0.498315166897194</c:v>
              </c:pt>
              <c:pt idx="4">
                <c:v>0</c:v>
              </c:pt>
              <c:pt idx="5">
                <c:v>0.0749544808439373</c:v>
              </c:pt>
              <c:pt idx="6">
                <c:v>0.1256325612690353</c:v>
              </c:pt>
              <c:pt idx="7">
                <c:v>0.018364626656861456</c:v>
              </c:pt>
              <c:pt idx="8">
                <c:v>0</c:v>
              </c:pt>
              <c:pt idx="9">
                <c:v>0.0029421159690079094</c:v>
              </c:pt>
              <c:pt idx="10">
                <c:v>0.008978795000970525</c:v>
              </c:pt>
              <c:pt idx="11">
                <c:v>0</c:v>
              </c:pt>
              <c:pt idx="12">
                <c:v>0.03154326193132497</c:v>
              </c:pt>
              <c:pt idx="13">
                <c:v>0.002242562112152404</c:v>
              </c:pt>
            </c:numLit>
          </c:val>
        </c:ser>
        <c:ser>
          <c:idx val="1"/>
          <c:order val="1"/>
          <c:tx>
            <c:v>BTG Pactual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0.0010431439626170636</c:v>
              </c:pt>
              <c:pt idx="1">
                <c:v>0</c:v>
              </c:pt>
              <c:pt idx="2">
                <c:v>0.16208366494303886</c:v>
              </c:pt>
              <c:pt idx="3">
                <c:v>0.1757092047057602</c:v>
              </c:pt>
              <c:pt idx="4">
                <c:v>0</c:v>
              </c:pt>
              <c:pt idx="5">
                <c:v>0.04769791911064288</c:v>
              </c:pt>
              <c:pt idx="6">
                <c:v>0</c:v>
              </c:pt>
              <c:pt idx="7">
                <c:v>0.08539967217022329</c:v>
              </c:pt>
              <c:pt idx="8">
                <c:v>0</c:v>
              </c:pt>
              <c:pt idx="9">
                <c:v>0.010835431270787257</c:v>
              </c:pt>
              <c:pt idx="10">
                <c:v>0.03112585600039729</c:v>
              </c:pt>
              <c:pt idx="11">
                <c:v>0.004884909298100636</c:v>
              </c:pt>
              <c:pt idx="12">
                <c:v>0.04452221594370676</c:v>
              </c:pt>
              <c:pt idx="13">
                <c:v>0.04581440346818252</c:v>
              </c:pt>
            </c:numLit>
          </c:val>
        </c:ser>
        <c:ser>
          <c:idx val="2"/>
          <c:order val="2"/>
          <c:tx>
            <c:v>Banco do Brasil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0.47044611553356097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0.02186244476852497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0.4427778819644693</c:v>
              </c:pt>
              <c:pt idx="5">
                <c:v>0.14163445791151857</c:v>
              </c:pt>
              <c:pt idx="6">
                <c:v>0</c:v>
              </c:pt>
              <c:pt idx="7">
                <c:v>0.05234064889393871</c:v>
              </c:pt>
              <c:pt idx="8">
                <c:v>0</c:v>
              </c:pt>
              <c:pt idx="9">
                <c:v>0</c:v>
              </c:pt>
              <c:pt idx="10">
                <c:v>0.029399905971277233</c:v>
              </c:pt>
              <c:pt idx="11">
                <c:v>0</c:v>
              </c:pt>
              <c:pt idx="12">
                <c:v>0.009145909849505437</c:v>
              </c:pt>
              <c:pt idx="13">
                <c:v>0.04358394025590201</c:v>
              </c:pt>
            </c:numLit>
          </c:val>
        </c:ser>
        <c:ser>
          <c:idx val="4"/>
          <c:order val="4"/>
          <c:tx>
            <c:v>Genial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0.01192825781904415</c:v>
              </c:pt>
              <c:pt idx="2">
                <c:v>0</c:v>
              </c:pt>
              <c:pt idx="3">
                <c:v>0.05690901582562128</c:v>
              </c:pt>
              <c:pt idx="4">
                <c:v>0</c:v>
              </c:pt>
              <c:pt idx="5">
                <c:v>0.10921999509731997</c:v>
              </c:pt>
              <c:pt idx="6">
                <c:v>0</c:v>
              </c:pt>
              <c:pt idx="7">
                <c:v>0.04361472819751594</c:v>
              </c:pt>
              <c:pt idx="8">
                <c:v>0</c:v>
              </c:pt>
              <c:pt idx="9">
                <c:v>0.005254031846368565</c:v>
              </c:pt>
              <c:pt idx="10">
                <c:v>0</c:v>
              </c:pt>
              <c:pt idx="11">
                <c:v>0</c:v>
              </c:pt>
              <c:pt idx="12">
                <c:v>0.0014288577438735935</c:v>
              </c:pt>
              <c:pt idx="13">
                <c:v>0.022093044160997583</c:v>
              </c:pt>
            </c:numLit>
          </c:val>
        </c:ser>
        <c:ser>
          <c:idx val="5"/>
          <c:order val="5"/>
          <c:tx>
            <c:v>Tercon Investimentos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0.22125837215796879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0.002182052599926365</c:v>
              </c:pt>
              <c:pt idx="6">
                <c:v>0</c:v>
              </c:pt>
              <c:pt idx="7">
                <c:v>0.0025739291328569992</c:v>
              </c:pt>
              <c:pt idx="8">
                <c:v>0</c:v>
              </c:pt>
              <c:pt idx="9">
                <c:v>0</c:v>
              </c:pt>
              <c:pt idx="10">
                <c:v>0.011512024996009442</c:v>
              </c:pt>
              <c:pt idx="11">
                <c:v>0</c:v>
              </c:pt>
              <c:pt idx="12">
                <c:v>0</c:v>
              </c:pt>
              <c:pt idx="13">
                <c:v>0.005542310561087736</c:v>
              </c:pt>
            </c:numLit>
          </c:val>
        </c:ser>
        <c:ser>
          <c:idx val="6"/>
          <c:order val="6"/>
          <c:tx>
            <c:v>CBSF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0.02158187974606139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0.00018173256305436804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0.041064963366157364</c:v>
              </c:pt>
              <c:pt idx="12">
                <c:v>0</c:v>
              </c:pt>
              <c:pt idx="13">
                <c:v>0.05868225680250354</c:v>
              </c:pt>
            </c:numLit>
          </c:val>
        </c:ser>
        <c:ser>
          <c:idx val="7"/>
          <c:order val="7"/>
          <c:tx>
            <c:v>REAG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0.0006791993569090867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0.003591033832779635</c:v>
              </c:pt>
              <c:pt idx="12">
                <c:v>0.03284180927126185</c:v>
              </c:pt>
              <c:pt idx="13">
                <c:v>0.054467807244361385</c:v>
              </c:pt>
            </c:numLit>
          </c:val>
        </c:ser>
        <c:ser>
          <c:idx val="8"/>
          <c:order val="8"/>
          <c:tx>
            <c:v>Itaú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0.05471978740561447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0.08150480181936648</c:v>
              </c:pt>
              <c:pt idx="7">
                <c:v>0.01041573167893111</c:v>
              </c:pt>
              <c:pt idx="8">
                <c:v>0</c:v>
              </c:pt>
              <c:pt idx="9">
                <c:v>0.09998764453570486</c:v>
              </c:pt>
              <c:pt idx="10">
                <c:v>0</c:v>
              </c:pt>
              <c:pt idx="11">
                <c:v>0</c:v>
              </c:pt>
              <c:pt idx="12">
                <c:v>0.025973774276490218</c:v>
              </c:pt>
              <c:pt idx="13">
                <c:v>0.04125339079361007</c:v>
              </c:pt>
            </c:numLit>
          </c:val>
        </c:ser>
        <c:ser>
          <c:idx val="9"/>
          <c:order val="9"/>
          <c:tx>
            <c:v>Solis Investimentos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0.034493689827595056</c:v>
              </c:pt>
              <c:pt idx="1">
                <c:v>0</c:v>
              </c:pt>
              <c:pt idx="2">
                <c:v>0.0707785674055675</c:v>
              </c:pt>
              <c:pt idx="3">
                <c:v>0.013372059792210478</c:v>
              </c:pt>
              <c:pt idx="4">
                <c:v>0</c:v>
              </c:pt>
              <c:pt idx="5">
                <c:v>0.01410591271130141</c:v>
              </c:pt>
              <c:pt idx="6">
                <c:v>0</c:v>
              </c:pt>
              <c:pt idx="7">
                <c:v>0.006169055247023951</c:v>
              </c:pt>
              <c:pt idx="8">
                <c:v>0</c:v>
              </c:pt>
              <c:pt idx="9">
                <c:v>0</c:v>
              </c:pt>
              <c:pt idx="10">
                <c:v>0.004700587309837359</c:v>
              </c:pt>
              <c:pt idx="11">
                <c:v>0.00027139686215441733</c:v>
              </c:pt>
              <c:pt idx="12">
                <c:v>0.0007285216184997913</c:v>
              </c:pt>
              <c:pt idx="13">
                <c:v>0.019346025162812742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0.698380362355187</c:v>
              </c:pt>
              <c:pt idx="1">
                <c:v>0.8891393093054771</c:v>
              </c:pt>
              <c:pt idx="2">
                <c:v>0.4858776358641141</c:v>
              </c:pt>
              <c:pt idx="3">
                <c:v>0.25569455277921393</c:v>
              </c:pt>
              <c:pt idx="4">
                <c:v>0.5572221180355307</c:v>
              </c:pt>
              <c:pt idx="5">
                <c:v>0.6093334003170607</c:v>
              </c:pt>
              <c:pt idx="6">
                <c:v>0.7928626369115982</c:v>
              </c:pt>
              <c:pt idx="7">
                <c:v>0.3072387437273598</c:v>
              </c:pt>
              <c:pt idx="8">
                <c:v>0</c:v>
              </c:pt>
              <c:pt idx="9">
                <c:v>0.8041536857064218</c:v>
              </c:pt>
              <c:pt idx="10">
                <c:v>0.9142828307215082</c:v>
              </c:pt>
              <c:pt idx="11">
                <c:v>0.9501876966408079</c:v>
              </c:pt>
              <c:pt idx="12">
                <c:v>0.8538156493653374</c:v>
              </c:pt>
              <c:pt idx="13">
                <c:v>0.7068138110118435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0.0007662608603716966</c:v>
              </c:pt>
              <c:pt idx="1">
                <c:v>0</c:v>
              </c:pt>
              <c:pt idx="2">
                <c:v>6.281624788476696E-05</c:v>
              </c:pt>
              <c:pt idx="3">
                <c:v>0</c:v>
              </c:pt>
              <c:pt idx="4">
                <c:v>0</c:v>
              </c:pt>
              <c:pt idx="5">
                <c:v>1.0849488329413318E-05</c:v>
              </c:pt>
              <c:pt idx="6">
                <c:v>0</c:v>
              </c:pt>
              <c:pt idx="7">
                <c:v>0.003436748761727782</c:v>
              </c:pt>
              <c:pt idx="8">
                <c:v>0</c:v>
              </c:pt>
              <c:pt idx="9">
                <c:v>0.07682709067170966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0.00016044842654654585</c:v>
              </c:pt>
            </c:numLit>
          </c:val>
        </c:ser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0.656000888816908</c:v>
              </c:pt>
              <c:pt idx="1">
                <c:v>0.30655505096291374</c:v>
              </c:pt>
              <c:pt idx="2">
                <c:v>0.144340456312791</c:v>
              </c:pt>
              <c:pt idx="3">
                <c:v>0.03117383637009289</c:v>
              </c:pt>
              <c:pt idx="4">
                <c:v>0.07483979968200132</c:v>
              </c:pt>
              <c:pt idx="5">
                <c:v>0.041426253610816026</c:v>
              </c:pt>
              <c:pt idx="6">
                <c:v>0</c:v>
              </c:pt>
              <c:pt idx="7">
                <c:v>0.027474689922011502</c:v>
              </c:pt>
              <c:pt idx="8">
                <c:v>0</c:v>
              </c:pt>
              <c:pt idx="9">
                <c:v>0.18541263828290985</c:v>
              </c:pt>
              <c:pt idx="10">
                <c:v>0.09519798891176616</c:v>
              </c:pt>
              <c:pt idx="11">
                <c:v>0.0515490070093137</c:v>
              </c:pt>
              <c:pt idx="12">
                <c:v>0.209321755829712</c:v>
              </c:pt>
              <c:pt idx="13">
                <c:v>0.09871038786152628</c:v>
              </c:pt>
            </c:numLit>
          </c:val>
        </c:ser>
        <c:ser>
          <c:idx val="1"/>
          <c:order val="1"/>
          <c:tx>
            <c:v>Oliveira Trust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0.027051696768214718</c:v>
              </c:pt>
              <c:pt idx="1">
                <c:v>0.2717322646373472</c:v>
              </c:pt>
              <c:pt idx="2">
                <c:v>0.38434362130666005</c:v>
              </c:pt>
              <c:pt idx="3">
                <c:v>0.5359280855252573</c:v>
              </c:pt>
              <c:pt idx="4">
                <c:v>0.01369933570980149</c:v>
              </c:pt>
              <c:pt idx="5">
                <c:v>0.10098918581145755</c:v>
              </c:pt>
              <c:pt idx="6">
                <c:v>0.23378075394850414</c:v>
              </c:pt>
              <c:pt idx="7">
                <c:v>0.09623885075338706</c:v>
              </c:pt>
              <c:pt idx="8">
                <c:v>0</c:v>
              </c:pt>
              <c:pt idx="9">
                <c:v>0.03000570723619616</c:v>
              </c:pt>
              <c:pt idx="10">
                <c:v>0.09687131495911563</c:v>
              </c:pt>
              <c:pt idx="11">
                <c:v>0</c:v>
              </c:pt>
              <c:pt idx="12">
                <c:v>0.02810813865026815</c:v>
              </c:pt>
              <c:pt idx="13">
                <c:v>0.032777305192846364</c:v>
              </c:pt>
            </c:numLit>
          </c:val>
        </c:ser>
        <c:ser>
          <c:idx val="2"/>
          <c:order val="2"/>
          <c:tx>
            <c:v>BTG Pactual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0.0025226472154451962</c:v>
              </c:pt>
              <c:pt idx="1">
                <c:v>0</c:v>
              </c:pt>
              <c:pt idx="2">
                <c:v>0.1723655922546065</c:v>
              </c:pt>
              <c:pt idx="3">
                <c:v>0.18229075168007014</c:v>
              </c:pt>
              <c:pt idx="4">
                <c:v>0.02167823883113039</c:v>
              </c:pt>
              <c:pt idx="5">
                <c:v>0.11374888451281695</c:v>
              </c:pt>
              <c:pt idx="6">
                <c:v>0.010283546215548051</c:v>
              </c:pt>
              <c:pt idx="7">
                <c:v>0.08712579737615378</c:v>
              </c:pt>
              <c:pt idx="8">
                <c:v>0</c:v>
              </c:pt>
              <c:pt idx="9">
                <c:v>0.06509344726707786</c:v>
              </c:pt>
              <c:pt idx="10">
                <c:v>0.03486778726515402</c:v>
              </c:pt>
              <c:pt idx="11">
                <c:v>0.03867683398465943</c:v>
              </c:pt>
              <c:pt idx="12">
                <c:v>0.2411558914210211</c:v>
              </c:pt>
              <c:pt idx="13">
                <c:v>0.12777031470705189</c:v>
              </c:pt>
            </c:numLit>
          </c:val>
        </c:ser>
        <c:ser>
          <c:idx val="3"/>
          <c:order val="3"/>
          <c:tx>
            <c:v>Banco do Brasil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0.4704461155335609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ser>
          <c:idx val="4"/>
          <c:order val="4"/>
          <c:tx>
            <c:v>Daycoval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0.005650217492933909</c:v>
              </c:pt>
              <c:pt idx="1">
                <c:v>0.03394956956679466</c:v>
              </c:pt>
              <c:pt idx="2">
                <c:v>0.05997711841739698</c:v>
              </c:pt>
              <c:pt idx="3">
                <c:v>0.0644746740730303</c:v>
              </c:pt>
              <c:pt idx="4">
                <c:v>0.05540491499139333</c:v>
              </c:pt>
              <c:pt idx="5">
                <c:v>0.11945702938613052</c:v>
              </c:pt>
              <c:pt idx="6">
                <c:v>0.058882728248978014</c:v>
              </c:pt>
              <c:pt idx="7">
                <c:v>0.02141398019715528</c:v>
              </c:pt>
              <c:pt idx="8">
                <c:v>0</c:v>
              </c:pt>
              <c:pt idx="9">
                <c:v>0.21769813460950754</c:v>
              </c:pt>
              <c:pt idx="10">
                <c:v>0.18869243152960105</c:v>
              </c:pt>
              <c:pt idx="11">
                <c:v>0.0733124835554939</c:v>
              </c:pt>
              <c:pt idx="12">
                <c:v>0.07432392233412591</c:v>
              </c:pt>
              <c:pt idx="13">
                <c:v>0.0809584817747009</c:v>
              </c:pt>
            </c:numLit>
          </c:val>
        </c:ser>
        <c:ser>
          <c:idx val="5"/>
          <c:order val="5"/>
          <c:tx>
            <c:v>REAG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0.02158187974606139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0.001265118761995852</c:v>
              </c:pt>
              <c:pt idx="6">
                <c:v>0</c:v>
              </c:pt>
              <c:pt idx="7">
                <c:v>7.168820062739686E-06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0.044655997198937</c:v>
              </c:pt>
              <c:pt idx="12">
                <c:v>0.04848829360672972</c:v>
              </c:pt>
              <c:pt idx="13">
                <c:v>0.14039639207761814</c:v>
              </c:pt>
            </c:numLit>
          </c:val>
        </c:ser>
        <c:ser>
          <c:idx val="6"/>
          <c:order val="6"/>
          <c:tx>
            <c:v>Bradesco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0.01822059623461933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0.5171854935971929</c:v>
              </c:pt>
              <c:pt idx="5">
                <c:v>0.14376767708183888</c:v>
              </c:pt>
              <c:pt idx="6">
                <c:v>0.13022827872380854</c:v>
              </c:pt>
              <c:pt idx="7">
                <c:v>0.06540428119237003</c:v>
              </c:pt>
              <c:pt idx="8">
                <c:v>0</c:v>
              </c:pt>
              <c:pt idx="9">
                <c:v>0</c:v>
              </c:pt>
              <c:pt idx="10">
                <c:v>0.029399905971277233</c:v>
              </c:pt>
              <c:pt idx="11">
                <c:v>0.0012245530453966088</c:v>
              </c:pt>
              <c:pt idx="12">
                <c:v>0.033839343259659926</c:v>
              </c:pt>
              <c:pt idx="13">
                <c:v>0.05554430575960388</c:v>
              </c:pt>
            </c:numLit>
          </c:val>
        </c:ser>
        <c:ser>
          <c:idx val="7"/>
          <c:order val="7"/>
          <c:tx>
            <c:v>Genial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0.0014143984780017323</c:v>
              </c:pt>
              <c:pt idx="1">
                <c:v>0.10503507651441574</c:v>
              </c:pt>
              <c:pt idx="2">
                <c:v>0.011837148359587121</c:v>
              </c:pt>
              <c:pt idx="3">
                <c:v>0.08209276508477789</c:v>
              </c:pt>
              <c:pt idx="4">
                <c:v>0</c:v>
              </c:pt>
              <c:pt idx="5">
                <c:v>0.12829342578813055</c:v>
              </c:pt>
              <c:pt idx="6">
                <c:v>0.0820968236937576</c:v>
              </c:pt>
              <c:pt idx="7">
                <c:v>0.056321661963584714</c:v>
              </c:pt>
              <c:pt idx="8">
                <c:v>0</c:v>
              </c:pt>
              <c:pt idx="9">
                <c:v>0.06386519876721265</c:v>
              </c:pt>
              <c:pt idx="10">
                <c:v>0.051943217169193555</c:v>
              </c:pt>
              <c:pt idx="11">
                <c:v>0.016187640050605127</c:v>
              </c:pt>
              <c:pt idx="12">
                <c:v>0.01006878803870165</c:v>
              </c:pt>
              <c:pt idx="13">
                <c:v>0.0329560029844489</c:v>
              </c:pt>
            </c:numLit>
          </c:val>
        </c:ser>
        <c:ser>
          <c:idx val="8"/>
          <c:order val="8"/>
          <c:tx>
            <c:v>Finaxis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0.02938771658878437</c:v>
              </c:pt>
              <c:pt idx="1">
                <c:v>0.0012950121619806157</c:v>
              </c:pt>
              <c:pt idx="2">
                <c:v>0</c:v>
              </c:pt>
              <c:pt idx="3">
                <c:v>0.0020072880960920487</c:v>
              </c:pt>
              <c:pt idx="4">
                <c:v>0</c:v>
              </c:pt>
              <c:pt idx="5">
                <c:v>0.0003817965185774057</c:v>
              </c:pt>
              <c:pt idx="6">
                <c:v>0</c:v>
              </c:pt>
              <c:pt idx="7">
                <c:v>0.023954817730900597</c:v>
              </c:pt>
              <c:pt idx="8">
                <c:v>0</c:v>
              </c:pt>
              <c:pt idx="9">
                <c:v>0.11858839678778405</c:v>
              </c:pt>
              <c:pt idx="10">
                <c:v>0.16962551422285804</c:v>
              </c:pt>
              <c:pt idx="11">
                <c:v>0</c:v>
              </c:pt>
              <c:pt idx="12">
                <c:v>0</c:v>
              </c:pt>
              <c:pt idx="13">
                <c:v>0.03615636784299775</c:v>
              </c:pt>
            </c:numLit>
          </c:val>
        </c:ser>
        <c:ser>
          <c:idx val="9"/>
          <c:order val="9"/>
          <c:tx>
            <c:v>Limine Trust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0.025884475168990163</c:v>
              </c:pt>
              <c:pt idx="1">
                <c:v>0.02598764795504468</c:v>
              </c:pt>
              <c:pt idx="2">
                <c:v>0.003851385744994227</c:v>
              </c:pt>
              <c:pt idx="3">
                <c:v>0.022088841798878028</c:v>
              </c:pt>
              <c:pt idx="4">
                <c:v>0.02288484386594737</c:v>
              </c:pt>
              <c:pt idx="5">
                <c:v>0.006208941893645588</c:v>
              </c:pt>
              <c:pt idx="6">
                <c:v>0</c:v>
              </c:pt>
              <c:pt idx="7">
                <c:v>0.031165673360826523</c:v>
              </c:pt>
              <c:pt idx="8">
                <c:v>0</c:v>
              </c:pt>
              <c:pt idx="9">
                <c:v>0.012837643057223302</c:v>
              </c:pt>
              <c:pt idx="10">
                <c:v>0.0067169555656875525</c:v>
              </c:pt>
              <c:pt idx="11">
                <c:v>0</c:v>
              </c:pt>
              <c:pt idx="12">
                <c:v>0.00018856231051638396</c:v>
              </c:pt>
              <c:pt idx="13">
                <c:v>0.03723037703995639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0.19940752085450217</c:v>
              </c:pt>
              <c:pt idx="1">
                <c:v>0.25544537820150354</c:v>
              </c:pt>
              <c:pt idx="2">
                <c:v>0.2232218613560792</c:v>
              </c:pt>
              <c:pt idx="3">
                <c:v>0.07991574384591492</c:v>
              </c:pt>
              <c:pt idx="4">
                <c:v>0.29430737332253326</c:v>
              </c:pt>
              <c:pt idx="5">
                <c:v>0.3428596328805304</c:v>
              </c:pt>
              <c:pt idx="6">
                <c:v>0.48378618098726084</c:v>
              </c:pt>
              <c:pt idx="7">
                <c:v>0.07612522958781971</c:v>
              </c:pt>
              <c:pt idx="8">
                <c:v>0</c:v>
              </c:pt>
              <c:pt idx="9">
                <c:v>0.2296717433203791</c:v>
              </c:pt>
              <c:pt idx="10">
                <c:v>0.3244582354834001</c:v>
              </c:pt>
              <c:pt idx="11">
                <c:v>0.7743934851555943</c:v>
              </c:pt>
              <c:pt idx="12">
                <c:v>0.3539405580978503</c:v>
              </c:pt>
              <c:pt idx="13">
                <c:v>0.34790662809489536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0.012877962635538961</c:v>
              </c:pt>
              <c:pt idx="1">
                <c:v>0</c:v>
              </c:pt>
              <c:pt idx="2">
                <c:v>6.281624788476696E-05</c:v>
              </c:pt>
              <c:pt idx="3">
                <c:v>2.801352588640792E-05</c:v>
              </c:pt>
              <c:pt idx="4">
                <c:v>0</c:v>
              </c:pt>
              <c:pt idx="5">
                <c:v>0.0016020537540602194</c:v>
              </c:pt>
              <c:pt idx="6">
                <c:v>0.0009416881821426408</c:v>
              </c:pt>
              <c:pt idx="7">
                <c:v>0.04432173356216704</c:v>
              </c:pt>
              <c:pt idx="8">
                <c:v>0</c:v>
              </c:pt>
              <c:pt idx="9">
                <c:v>0.07682709067170967</c:v>
              </c:pt>
              <c:pt idx="10">
                <c:v>0.0022266489219465906</c:v>
              </c:pt>
              <c:pt idx="11">
                <c:v>0</c:v>
              </c:pt>
              <c:pt idx="12">
                <c:v>0.0005647464514148762</c:v>
              </c:pt>
              <c:pt idx="13">
                <c:v>0.009593436664354341</c:v>
              </c:pt>
            </c:numLit>
          </c:val>
        </c:ser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D8E1F9-8DE4-4E99-80EC-222663E4A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17FDB7-C921-41F0-BBE6-6CA4B1C9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CA4FB6-8E49-4F09-B6A8-3DC917F9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EBFE89-AB15-462D-B290-B80E872F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032663-0262-4DCF-BF20-76381B5F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31 de maio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9D3013-0A21-4F2F-8471-7539C603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Ofertas: registros até 16 de julho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6DE0BB-4AD2-4076-9C3D-83EB7E67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Julho de 2026</a:t>
            </a:r>
          </a:p>
        </p:txBody>
      </p:sp>
    </p:spTree>
    <p:extLst>
      <p:ext uri="{BB962C8B-B14F-4D97-AF65-F5344CB8AC3E}">
        <p14:creationId xmlns:p14="http://schemas.microsoft.com/office/powerpoint/2010/main" val="16406859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EA1181-742B-4A1C-88E9-95CCFD5A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08C2A7-04C7-4DF7-92E6-B1F40999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6A5C82-615F-4F04-B84F-71ED2314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B1ACD0-2353-430A-82F5-D81411D66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D193D8-4A56-4C2E-9915-D7AF9901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mai/26, salvo ofertas até 16/jul/26.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3E1590-6D67-4906-AAB7-674D8A35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FF1A85-140C-4366-A8F1-86AD8A02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0D90A4-2BB2-4DA8-8096-2DB0FF93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A00C58-6090-49C9-B316-A8FC4FF3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 vezes o nível de 2015; FIC-FIDC adiciona R$ 78,6 bi ao PL bruto.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CCC18D-EA9E-46E7-97F0-83F74A4A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8C9E4A-7819-44CE-BF61-087B7C56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470D0-D46B-49C8-B684-1776B4C3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A134EE-BB2B-4088-BA6C-0E79A5F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Esse recorte concentra 60,7% do PL do universo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81C967-28E5-4AD8-B663-6A93B559B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787826-5CA6-471C-A307-73F2148D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197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CFFBCD-8419-4FDB-A201-A38C7FE3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CBA5B7-A8A5-4343-B80B-3383A760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 cap remove R$ 14,6 bi; os 10 maiores casos explicam 52,6%.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B5745E-8322-4A7D-B063-94D67619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E60E13-72D6-4169-BA63-D47DC82AF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34,0%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FEA9AE-B2F8-4071-AA6D-175F7F4B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FA2CDF-E796-49BE-BD2C-9CEAD245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Trust.</a:t>
            </a:r>
          </a:p>
        </p:txBody>
      </p:sp>
    </p:spTree>
    <p:extLst>
      <p:ext uri="{BB962C8B-B14F-4D97-AF65-F5344CB8AC3E}">
        <p14:creationId xmlns:p14="http://schemas.microsoft.com/office/powerpoint/2010/main" val="16796866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0DCEB3-7B1E-4327-B355-A7BF3BC1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73CAF5-B342-47D4-88AF-011946CE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R$ 79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6844EE-E6EC-4F94-8AC5-877A3171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D79FF6-8436-4E60-AC2A-04859C24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8E6650-C772-4F03-8988-999C130D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0C081D-649B-4262-9554-4EC08A7F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8163faf7f3c4c5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B5D9A2-C421-4724-9B09-37DDF280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581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9C4EDD-315E-48A1-A851-49CAF875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2390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37673C-7F21-4F3A-9FDE-6A1066E6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4321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E404F8-BCAB-4CA9-8FB0-921989644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4418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DA71DE-5842-410A-A074-C84B6350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18347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316BD8-3D1A-43BE-85F6-8CE6819B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25751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CFA042-57AD-47FE-A05E-4940A7AF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391445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68AE91-778E-42F5-88FE-B1049864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65126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B7332-65BA-4E16-BDEE-2B426A08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25072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3515BD-6FDA-4B1A-A77B-625B1226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32337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336CCB-8FC1-4203-BAA8-516A1977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61875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D9FFA9-F2F0-4182-8A8B-92BBFCAE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4859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F3E15C-895E-4832-BD23-C0F99917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326F43-5E2D-48C0-A9D3-79902DF99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A5641F-B3D7-4970-8D28-5160E94AB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0D26BE-5BD7-4311-8344-E6C7BE9E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3A76FC-7A34-4DF3-A50E-C24F1C921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CA7EA0-BD16-43E7-9AAB-9A0D8903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A2B599-A10B-41C1-8331-D85CC764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4F8198-7216-47BB-935E-B27214A8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R$ 79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F19B0D-EB81-43CD-B5DF-EB19DC5B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0A331-C28B-4944-BA61-33FAA0B9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6197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O total no topo da coluna é o PL bruto.</a:t>
            </a:r>
          </a:p>
        </p:txBody>
      </p:sp>
    </p:spTree>
    <p:extLst>
      <p:ext uri="{BB962C8B-B14F-4D97-AF65-F5344CB8AC3E}">
        <p14:creationId xmlns:p14="http://schemas.microsoft.com/office/powerpoint/2010/main" val="17939555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08BA50-6F80-4CF5-9E75-E6280D232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177D86-FAD4-491B-96CB-1A175400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445,7 mil contas em 4.227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797542-8AAC-4DBB-B27C-BD15B15A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0E8B47-1566-4DBF-B18E-2445CF07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3F0042-4D02-4870-9354-9667AFA3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mai/26.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1C3CCD-951B-4827-B792-EB5AF3A98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E434EB-5592-4CE5-9B80-3C5C75A6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453EB9-9427-4D26-AB42-6475E5D9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1dbadfa41b54c6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FA2F20-8326-47AB-A4DE-BB159D11A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ED3B06-2F3D-4BEF-8D3A-D9C68559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80692E-080D-4172-B065-F7FC9C4E3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FE7FD7-C9B1-4AAF-8A2C-8BD2E77E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602922-B400-47AD-8976-CF1643692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1DD3AE-F2CA-402F-AF9C-9E6A42C3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6A6A74-EBA6-4100-AA2A-B3310D90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5de4eb6b5a4257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48DA7B-464D-4838-A9F0-A8A85E6A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3C210D-C486-4782-A61C-79D65AAA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A647C8-04D7-416F-8342-6D10553B9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5FBFAD-45BA-4B34-A62E-B669B64A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FABEE7-CBE7-4091-82D0-129C218F5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7E2443-DF28-44E4-9744-DB683145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MAI/26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13407F-30A8-44C3-8D0F-74485890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2ccfb2d4fb4af6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820350-678E-4576-81A4-060614B1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445.677 contas; 32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6591214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74AD93-3BF4-4EDD-A3C1-AA347AD66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ABEB19-EE3D-4A9D-8D04-20EB44520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10,4 p.p. do universo e 9,4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5A85C2-CE75-4691-93D4-44B99C99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7D52D7-0D5F-44EC-B04F-C8EFE17E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8760A8-866D-495E-ABC4-6EADBB444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mai/26. Ex-FIC com PL ≥ R$ 200 mi: 409 → 778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124751-87B4-498E-8CF0-346EEB1A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760CBC-8089-435D-9EE9-7FB1CEED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5F1F80-FB43-43E0-9BB1-8C8CFD0E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6797A1-44D7-4CFB-9826-89108EE9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89B1D3-B10A-4841-A07D-58710824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53DA69-AE08-40AE-9E67-8C5A4D80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527BE1-3615-425D-9310-71B2443B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e16cc0f730140f9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D161D7-A427-473D-89D1-D3E067B4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C6A247-790C-4D08-B2B2-E6047221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5ec1fa5288448fc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505CA0-D381-44B3-8F97-CFBB27595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5514FB-5591-4738-B627-E23743C33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eb2d15063cd4d0d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F283A8-039D-487D-9C07-B0C6CC03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10643-0C8D-4D9B-ACCC-E4B68AE5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CB9184-2773-4AD3-9A1C-1D4EF010C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1eedfad35004b99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45EEB3-FE10-46CD-B139-83922843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356E9E-D54B-4915-A7EC-4F304A10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3530268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116F01-45F2-454C-B0F6-567EA5FEC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4413B0-9114-4FDB-BA2D-EEA10C08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Na taxonomia vigente, Outros ganhou 5,5 p.p. do PL ex-FIC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507585-F9D7-45D9-BA02-D3CDB685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558D70-5481-43FE-A252-D0234DE20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F53D90-1071-4947-AEFE-2067E7A4D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classificação ANBIMA vigente; dez/23 e mai/26. A fotografia cadastral de dez/25 foi aplicada ao histórico; não é uma série cadastral like-for-like.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001544-3395-4297-9794-27734849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9DF966-2039-48B1-A1FF-31F73BDA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3F32C2-3E13-453B-BB4D-2B22E8F0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6953791c841400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F6866B-25CB-41CA-AC13-0AD71F258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85553A-9F69-4BE4-BECD-735791C5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a8caaa2eb34fa2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224AB8-F54C-4239-932D-71EA9693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638800"/>
            <a:ext cx="1952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Cada período fecha em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59D3A4-4171-4D4E-9AB2-C7405B03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62575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559548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710E42-22E6-49DB-9E6F-6C0D9772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3C3E42-6CB1-40BE-92A6-33797180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15,9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31DDA1-88D5-4A53-A635-CFB59C97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14E2E1-23EB-4DFE-8048-3EEE808C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D8D423-DD05-48DD-AC64-7F91F69F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Tabela II, dez/23 e mai/26. Soma segmentada supera a Tabela I em 13,3% e 8,7%; percentuais fecham sobre a Tabela II.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5F7584-1D99-4927-9772-B8087214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1CC871-9CCE-435D-84EC-3C1B118F9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C1CD20-50CC-4251-A15B-403D5EEC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52e947175448f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09F21C-64F8-4523-8E02-BF772EE8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09FA11-BBC5-475C-9791-65AD2BE2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53d43249384724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A64252-7C16-4A9B-85C1-485265FE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A520A1-04DC-4BBD-95B2-DEA75D70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981700"/>
            <a:ext cx="1952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Cada período fecha em 100%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6FF987-066A-4817-865E-FF515314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3B093A-CEA3-49BF-A1E0-57A3DFD4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A2DE45-33FF-4F09-BE85-74BB8AD3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89686B-83D2-48CE-AF04-A39D4CE7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64CE84-B291-42A5-AD71-0BF06A29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A5AD97-9223-4AB0-BFCA-758EA314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7CB445-E631-4DDC-B7EA-5519625C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818046-01DB-437C-9428-129CCB61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12288819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A21217-927A-4733-980A-931C707F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9B0A21-E47F-4567-AF13-6C07A78A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197 veículos; 10 casos explicam 52,6%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63EEC3-C7D7-4488-9107-5E8E60815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D9C49C-C10D-4BE8-9688-00A76425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89AE25-DD81-42C7-B3B3-B6D24C90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FBC074-220E-4CA6-B996-B0F2D067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592DDC-732B-44FE-9ECC-FE8CC51A8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EF6102-6C89-46FC-9363-060865600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d807ca1e579462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09F9BD-539F-4FD2-A25D-45E8DFA8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41D2F5-F50F-4B94-9B0F-3DF78DAFD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FED978-2073-489F-B9BB-DF1EF94D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EB1F85-BE0C-4984-B624-8DEF4451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4EC985-CCA1-46CA-A44A-8F435C99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 / 4.222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4E7807-880B-4E93-911A-1F64D7990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FEC384-5DCB-4236-BDE2-5B2E680F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34C730-02D3-4732-BE22-F69A0223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3.119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160693-EDD6-4345-A99E-6FFB87FE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E3C0A4-EA9E-4654-84B5-6BFE80C7C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305C89-C3D2-4769-8A28-323694A6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6C3BA2-D70C-4CFF-BFF0-F2CB42719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A07E41-8698-4D44-BA23-EBCAACA59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2D3586-CFE1-473C-8BC0-37A95759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DD4237-AB16-40AB-8A4A-60D47C76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29E084-47BA-421C-9D59-177C11B9F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8EAAFE-4B8C-4D56-938D-FF9C3643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197 · 1,02%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1EE8CC-6AFC-4825-BA0B-2959C4C9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472F08-7617-4064-AFFA-F37DCB3C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9AD357-C2C7-4134-8785-D5558268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9,8% / 37,1% / 52,6%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17D4F5-5695-487A-B9D4-D1E9C885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Visão ex-360 bloqueada: o aging soma 112,1% da Tabela I e não reconcilia; gap de R$ 6,52 bi no workbook.</a:t>
            </a:r>
          </a:p>
        </p:txBody>
      </p:sp>
    </p:spTree>
    <p:extLst>
      <p:ext uri="{BB962C8B-B14F-4D97-AF65-F5344CB8AC3E}">
        <p14:creationId xmlns:p14="http://schemas.microsoft.com/office/powerpoint/2010/main" val="5429513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0FCFF4D-D267-4F8B-9B2A-5BF2D127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644571-F340-405E-8A49-50AC6AE1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responde por R$ 16,7 bi da quebra de reporte entre jun e jul/24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8FFA40-39C5-420C-8C22-EB0BC246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C212FD-52E6-41C5-ABAE-95131B93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6D5BAC-DF44-415B-96D7-4D48DE5CD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painel CVM, regulamento, AGE e DFs. A troca Sefer→ID coincide com mudança de apresentação; a série não é like-for-like.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DF8663-6DE1-4B70-A4EA-8F349680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28289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093c64a51054af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C6CE44-CCC8-45D9-B7B4-62795428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8456C0-3226-4ED6-9974-4DB269FE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786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26A2D5-F597-46DD-A046-089905BB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7A844E-5FB9-4CB3-A511-26DC1248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471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221EC6-C254-41DF-8731-DF8E7D74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1929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E2A93C-6D01-491F-AB68-62C7BAFA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614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144735-99E0-4DCE-9B3F-FFDD03690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05/26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663F85-E8F9-429E-A82B-C218B2C8E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62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F5666A-422A-45B7-83A7-D714AB47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514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A35A05-151E-4C7B-A1FA-6AAC0DD7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62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3FA628-C8B7-4C36-BCD5-9C946F64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14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6B1DCE-2F1B-4FDF-91F9-B345C043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533900"/>
            <a:ext cx="319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EC7000"/>
                </a:solidFill>
                <a:latin typeface="Arial"/>
                <a:ea typeface="Arial"/>
                <a:cs typeface="Arial"/>
              </a:rPr>
              <a:t>Caso Atlântico detalhado no apêndice · slide 43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8DA639-040E-462F-A6FA-EC0082FA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AB78A4-0F35-4C4C-B477-BE233B3A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33950"/>
            <a:ext cx="3695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Bridge jun→jul/24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9CEED9-7E43-4DF2-8E15-F3E88BF4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339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Veículos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C62005-1168-4FC0-B2FB-242FA7A57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inad. bruta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628C07-DBCE-42F2-B619-291C70A3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ajustada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8121BC-21A9-4E62-B393-64E44260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3395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excesso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90C58C-846A-4911-974E-824F420F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922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C63363-7B19-4E97-81BA-B0A5180B5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927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40CE88-9489-44C8-A3C7-34B07EB84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780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Atlântico FIDC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3B503E-5205-40FE-8317-30B6C80E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5780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C22CB7-8D3F-4432-A3B5-EF3636B6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2578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-16,6 bi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DB982B-0004-4E9A-ADEB-B53712B8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578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R$ 0,1 bi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7DB5529-A0DA-4270-97D5-4089C990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25780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-16,7 bi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1E8264-E5A4-43EE-8388-D0545C2B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0227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1D358F-3653-494E-963B-7536C98B6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658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CEA892-D87C-40B7-B458-D0BDBAE0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3085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continuantes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77E6AB-E265-4F3B-9F69-A639C14C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53085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2.656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301642E-DCD1-4DDF-BAE0-AC31FABB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53085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-4,3 bi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F57182-A023-4BD2-8AE6-329228FA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53085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-1,9 bi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655B3C2-E0A0-431A-B52D-9D3A245B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53085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-2,4 bi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1E68B8D-DA63-408C-BA7D-D7A4E1A1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532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12DAD1-3881-4C4E-8BD2-59912F85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38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05258C2-B0F6-42EE-BFCC-48986317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0390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Entradas / saídas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EB8433F-D0B3-482B-9939-32A7BDC2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80390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87 / 25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031F9D0-3806-48F6-A5D2-7D1C6A36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8039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7195915-BD8F-4B97-A588-CB425F36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8039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3A7ABF1-228E-4790-8E1F-5D744821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80390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</p:spTree>
    <p:extLst>
      <p:ext uri="{BB962C8B-B14F-4D97-AF65-F5344CB8AC3E}">
        <p14:creationId xmlns:p14="http://schemas.microsoft.com/office/powerpoint/2010/main" val="4502394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0F6B5B-C0E9-4800-BF42-B2AE0BBA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9F8E2E-5422-4574-82CC-A472A890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recuou 2,0 p.p. em administração, ficou estável em gestão e subiu 0,7 p.p. em custódia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726183-5603-404C-8C9A-C4B9853B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FBA5EF-D447-4CD8-AE42-47CD013A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B2DCD5-EFEF-44B8-83B2-CAFCC5BD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mai/26. Shares sobre PL bruto total, incluindo prestador não informado; gestão e custódia de dez/25 usam o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ECF41D-AA8D-481F-865A-28EA3DE7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509C86-FC84-4532-B5FC-D359A830D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BRUTO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73A44F-A34E-4F4F-B349-18F2B5EE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6f821a0edec41d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3EA21F-2CAD-4D96-80E9-5CA7DD889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F9C508-516C-403B-8FF3-7F7EB21E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BRUTO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FEA70D-87EF-448E-972D-A9BA4D8C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a4f68d04774bab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2D65C1-29E5-44A4-9C19-74266DD8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AAD188-DBFC-4B48-BD42-08EFAEDA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4CD8BE-8C66-4A1C-8836-D7EFD765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81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Administração: cobertura 100,0% → 100,0%; N/D R$ 0,0 bi → R$ 0,0 bi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Gestão: cobertura 99,2% → 99,8%; N/D R$ 7,3 bi → R$ 1,7 bi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Custódia: cobertura 98,1% → 98,8%; N/D R$ 17,0 bi → R$ 11,4 bi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45F56A-D302-4037-8986-E5CC4C75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é observada mensalmente; gestão e custódia de dez/25 são reconstruções com o cadastro CVM vigente.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786B40-C303-47ED-A051-34D9BF15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D8C4DC-0AAD-4B86-BD7F-119B49CD2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01950D-9F28-4B4F-8D5D-0A3A1534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6839E3-565F-4182-9E48-FA4304FD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185614429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C7D7C1-18AA-4DE5-919C-D4D2C1B8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4D21DF-B4FB-4FE3-B891-5DDB5C55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BB tem 47% de Recebíveis Comerciais; QI tem 66% em Fomento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D87BE4-E522-4729-B7FF-76FDAEBE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0B893B-CE9D-4F56-8568-19AFB519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25EA68-1758-4B80-9B32-E5AE4B4C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Top 10 fixo da função; Outros identificados e prestador não informado separados.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198B5F-4C27-4949-9AD5-333F12652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cc166e2eb74a3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BC9F9B-437B-4A37-B512-3C5CB65B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9C42F1-431A-4629-88B3-451BF91D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482D03-0CE0-4119-9CC9-87E9011B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B1A60-1FE7-41A7-AFA6-BCFA2022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E7EC84-E66A-40EF-93B9-A36E5E86F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94DCBA-6B30-4D01-9E45-AFA0CC11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49EE8B-E5AB-44D2-A2D1-C656B506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0B8CFF-B7DC-483B-B993-54604B38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875643-1F6B-4CD7-B70F-E9D9897A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889324-04C1-45C1-AD72-CE1D8053A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60DE28-0CA4-4438-8F27-901B6CDB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75AE82-DF99-4774-8AB6-342972EE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E79B7F-F649-46F9-8E4A-86DC2ACE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17BFF9-9DA0-498C-853F-EE761087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4A3F35-B1EC-4ECF-AE97-FC477DC74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357601-E11A-4C2F-8F90-ACEF006E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B8D2D2-23D5-4369-910A-57385D96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1048DB-3B27-4F14-A40B-B1D9143E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A77C64-2253-467F-B776-9DC0219E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28F567-68B3-4ACD-9AD7-393EB584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431E75-28D3-43BB-A251-1252210D7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33C954-BABF-44F1-AAB5-A8ED3AD8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400BEA-A9BF-4664-BEB1-E86F40990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E8B384-0636-470B-93D7-125809BB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0410B6-DE17-4AE0-B090-D18658F1E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87,3%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79842603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077349-42E4-4AC7-87E4-607569EBD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356CA5-BE71-48D1-8255-5486C990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Top 10 cobre 15% de Poder Público e 30% de Fomento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36A22A-6E5B-49DA-B168-BA001B66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29254-EED9-4A09-872C-0256FACD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CFD223-B7E0-4213-A69F-EE02D797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Top 10 fixo da função; Outros identificados e prestador não informado separados.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D9460B-DE12-484E-8077-168E49F6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ca3f8c8161492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6BFD1E-9E19-4425-92A4-E5EE84F0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B8BFE8-364E-4EB6-8307-6DBBABF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03C76D-8582-45C3-8847-7A6E1ACB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AC4500-D1EE-4C4C-B00C-AFE1D644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1BCC64-4C3D-4FA5-B58C-F0A3680A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FABFDF-939A-454C-8563-0C42232CF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142260-183C-4555-AD0F-FA70CFEA2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BBE46C-992F-4EDB-B479-886F876E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AC6A27-8717-4418-ABE2-51A970636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6ED79A-9C18-4248-A231-D14313AA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814C4D-7C16-44B1-BBD1-5E43C9F3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E8CF9B-5F65-47FF-BD10-ACC05CB5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Tercon Investimentos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425B81-FC89-4FCA-B8D9-E062E113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E3CABF-5C7D-40AC-B6B1-2B0E0449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F30315-5270-4968-8392-8E7237F6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BFE1EB-0F25-4710-B915-21B107404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REAG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2BEA06-F88D-4B7C-B920-F6E4363B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CEA95A-55CE-4FC9-8AB1-53C64295A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D7F727-3438-4928-833F-20619461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A0AAB3-BCB6-4C60-A3ED-A62A63EF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Solis Investimentos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E3A322-676E-461A-910A-0272FDEC2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7352C1-DD3C-4198-9AC7-696F89D0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FC4B96-39FF-477C-A3AA-F131E1B1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8A6D3B-994E-4190-80D0-C92ABFCE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62B50C-592F-4F24-B3D7-BF3942FE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87,3%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141282512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CA65CC-304D-4416-817B-123B4FE0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BA1799-E3FB-4DB5-A7F1-040B3B53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Oliveira Trust tem 54% de Crédito Pessoal; QI tem 66% em Fomento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0C977C-B2D7-4D11-ABCD-20433493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8A1006-EF86-4A64-A69C-E9DB045D6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2FBB9E-6A44-4E23-8BCF-2C8253B0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Top 10 fixo da função; Outros identificados e prestador não informado separados.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2767F9-B2F9-4272-BFB5-C9AF72F5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478db01f9b425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D045BC-9D5A-46AE-A159-BD6C9F24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B1327C-5D04-4996-8B85-97052257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5169BA-747F-4788-BB36-4D1FCE1D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626B1D-AA2B-484D-B7A8-96E9F81A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A71906-1938-4C3C-903B-03A98073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758328-5CED-4DE2-B8B6-048333BC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B8EC0F-0F26-4336-BD51-2BE37E2E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74DDB6-2959-4E3F-92CA-28A19807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1167B0-A841-4509-80D3-1A06D022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2002B2-17D7-4756-B80A-17173E98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D2261C-3D94-47F5-9AA9-0400043C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8EF082-A152-4DA1-87FD-EBED218A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REAG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D85A22-14E8-4541-988A-2B8626BF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BDB55E-9E41-4FB6-AA2A-E26363BC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5C4E7B-62E7-4326-923D-87F97A92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B2ADED-820B-4307-870E-6F74255A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A22AF8-46EB-419A-ACA8-B866E505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E98AC5-0870-48D9-A325-9F1BFB48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F0B3E8-69F1-4BEA-A339-6E4CBAD9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31DEB6-718D-4F01-B477-84B1356E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Limine Trust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6A79FC-034C-4E11-8BFC-6DC8F9BA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AFE36F-6276-4B80-8939-306BC81D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30C76C-C12D-4B36-BA7A-69974BDE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0B26237-F374-4622-8D90-298E4477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B651E4-6F68-4A6F-AE22-CDA5B616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87,3%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163877918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6E70D972-67C1-4D5F-BF27-6BA4BF56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6BC379-DE75-4E17-B48B-805EEA92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24,8% do PL ex-FIC; Petrobras e TAPSO são 46,5%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A17688-F112-4DD9-A022-A104D1226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F51FE3-5B49-4025-9E27-C9FB8700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EC0B99-F3DA-4367-B71D-48CB8995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mai/26.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75FBB-5348-4159-B436-F735B00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968FF6-4C8B-45CD-A7B0-69DE3475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223566-7752-4CD6-ACD2-5B3D9720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FEFDC0-A6ED-4213-AE9C-C1ACC8DA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559411-05EA-4963-95F1-6583E8D19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5025C9-708F-4BEE-BBD1-050EBED3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04E769-1D0E-4D31-ADC1-708B1FA0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66B4BA-C727-4C7D-9A6C-5A1FA14E9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6A4CC-F8F4-48EF-85C5-0D0E6C03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933BFE-6D48-413E-BFCB-31FE6F03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A0FD35-C9E9-4A80-8C9D-B7F5E27F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7B335C-948D-47B6-B5A8-0C23945E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2F22CF-E2EB-4F98-B975-C2B8C394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2EE736-0437-431A-8C11-F33CABF4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6,9%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D8DD06-9303-4A05-A0D7-FBC81B0A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4A79D7-83A6-4013-9310-16B77208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DCDC8B-63EE-4549-989D-70DBC532A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2383F4-2289-490D-81BE-47FC0F57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3C95E7-9D8B-42C2-B8DF-E2400CEC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7AA68E-8E58-4179-9EE3-73F8C6D9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5B2ACD-D302-4E5E-9EF2-36DFA4C1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40,7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8CA612-6835-444E-BD50-93EC4FD1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4E3706-68F3-4C92-BA64-E1034087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DE7E77-D76B-4CBA-A141-C2BE235F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25DEB6-59ED-4BC1-98B4-2F4110CB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F53A58-D5B2-458B-A0BB-BFA34519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9C2B70-E4CB-47E2-AFFD-749F9EB85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7686CB-6238-4618-9A8C-4AE4A834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B50A8E-7E55-4C4D-A4AA-1D31EB79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D5A9B7-9F44-4D5D-98E1-E90191738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9EF22F-B379-47FC-A5DB-29FAC8FC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F4DDF0C-F9A2-4538-A68D-0D541A719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6509894-E1AC-4B9F-B5C8-7DF8A9144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8E70135-FE9D-447D-9577-2A263CD94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F733EC-B84E-4DF3-A31E-26B260C1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6D32C8-1A23-4C00-A399-CD4D6351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8940A9-A209-4B57-B2A8-7E92B80F5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5F65E33-404A-41C9-9508-B2CF576D7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1096629-B5F6-47B4-959B-B8808ACF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8D14F83-6FE6-45E1-9900-4A62A1F78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BA4A765-5640-49EF-88AE-5B3B7BC3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CFBB901-D625-4FD7-BCDD-757C9DF96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5368545-1368-48CF-941D-0A5BD67B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5270EDF-57EE-4262-A601-73663672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80BB2E7-1608-4626-B6A8-9C78A5E67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B8D69E7-2FE0-4DB3-9CE5-A377AA3D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1DF4836-D2FE-4527-A0E0-A6C7F218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EFADDDB-9880-4BC7-8E40-2BFBB005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A8DE532-7300-4C60-8F78-3D5853F59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1BD8487-9CCA-4A0E-B172-88985F8B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24675D9-51F8-4DA3-B214-C15633ACC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D152DB7-29C0-487B-8790-3941D9692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AF1C8CE-2778-42C4-98C4-7C279D82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7,9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295EE45-5EC7-43B4-A8DD-450B7DEE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93AE162-EBBD-4387-BEF3-F149FA2D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01770CE-A562-4797-93F4-BB0A254E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D460040-6F59-41E6-820A-2B36AE76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C7A4ABB-8105-4381-9BFB-C1B3ED9F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6F70B0B-50AC-4824-90B2-6C7E0CB3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A887245-A1AC-465B-90CB-F85D2176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36C863C-C61B-4CCB-9A7D-CD4BD4B0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7,8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BE0C441-3EFC-4823-BCD9-978A8F77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0972628-ACBB-4AC9-B93E-B1D21EB5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7382A59-23AC-4434-8E06-BD499D61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A904998-CDF6-4B8A-8C63-BBFB9ADEA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764E965-839A-477D-A501-664949BE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0AD9272-0633-4CCC-A042-1C6564CA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ED3B77B-F6B2-4F01-9CC9-5FD3D856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A2A0EB1-D7A8-4E36-BFE8-B34940B2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7,7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C4B339B-CE25-4F78-BD5D-1434A9EC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7377699-10C6-4608-BE09-125CE18F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919189E-38D2-4648-A2D7-9E9F7193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812D250-CBA9-4CF0-928F-5A2EA5C8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CBC19AE-4B51-48A7-AF97-6C2A83ED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6421BD4-71EF-4D3B-8C77-07E83C226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1528A98-3406-427C-96A9-05BFA7EE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B970656-D0FC-4D92-81C9-810496D5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CBA71C2-1EA2-4E8B-BD8E-2BF0F336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A7717F5-BD53-473B-AB26-6A9910E7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5F46DBB-8155-4EA1-8375-F7B873B1D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C0EFB0C-FACA-4BEA-9048-B7DD62A2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63D2AA3-D64F-403B-A878-F9A8664A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B209E91-BD2C-4A81-A9BD-11AD01AD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9CEDD1C-D1C4-4248-B937-74FE2541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CBFADE3-8FA4-420D-B621-7783FE90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AB08C89-487A-4BD3-BF44-D52BEE1A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D6FE797-2917-4115-88E4-1CA04EFC0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87DF7E7-EEE1-4B2B-A692-58CD1B9B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418A993-D9A9-42FE-A75A-BD463189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AF1D405-3FA3-4D2D-AAE7-DC15F820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147BBB0-2BA0-4268-A1B0-EC37E24F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F12B496-DD86-48E9-BED5-4B9C47C0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55715E5-A5D6-4C0D-B126-062344AEE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6282A72-065D-43B4-A2B3-F19E3B4A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CCB32AE-B1CD-4E78-A5C9-E5D7A771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901118D4-F7BE-4473-B9CF-15266959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64E9F81-FC41-441A-9717-620B072D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9AC172B-ACF9-4BC1-8749-E2220D8E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1A02465-08C0-48D1-A778-9812AA5E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6F4CAED7-ED41-4E31-9B24-8A976ABC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EAA23F1B-BB58-4E30-A2B2-9C8D2C65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62AF79E-E63A-4FA2-AC80-173C948F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579D849B-6E0C-4547-9EA1-AF699B6E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F0365EA6-4F60-4352-925F-A1E79B8A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8A0CDF92-733D-4E88-9479-452A0038A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2CAA662-BD24-42EE-9720-B3B37E78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1328C6F-E7AC-4F30-AFF6-BB54CF42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7CACFC84-74D0-422B-952F-660114F85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5BDF3CB-625D-462D-8956-74301A51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7499608-0B8C-41F9-A758-CDE1DDE1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5CD7832-DA72-4BA1-B968-55D3CCA9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178ED08F-5C7D-4576-8502-0AAB5CA1D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46435065-B924-4456-BC5E-136CF596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002B767C-A253-457F-AC98-122F39E5B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4C8E9D97-0ADB-40DF-8A65-D7B525CB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688CAC5-3CCA-4EBA-A1A5-F4BA8D8C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61CAC42-CEF5-488C-9700-D15D4176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B62BCC7F-5C65-4A78-AD13-75363DAFC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B1C67138-75DC-43BB-986D-75C7E7F2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18B2C145-F3AC-46A1-9DC4-5A856964A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64BE24EE-2C57-465D-85C3-DFB0A7DC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156E5612-4D49-4F0F-926C-F26BF21B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D09453FC-ED61-4981-BC35-C931D161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A89CBF24-14CF-438C-A80D-5F0C997C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B243BC6-1785-43F4-9D46-0159ED41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DF547302-AC27-408E-B210-08F29733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49657F79-EF21-41BA-AD53-AA903981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F12432C2-52FA-4460-A257-E886792F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62679190-928E-48D2-A6F5-434B7B60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806B6709-E3E6-43F6-B588-296A6A12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19E43823-6A5F-4AF4-90E4-6DED3344B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1F839736-2FCF-4C24-A76E-9459C254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2B028187-F909-4998-B766-34D75B7A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789B76C4-5BD1-4D83-B5C6-099585C6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F89D4FE1-D85B-4E2E-A865-1218CEC0C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7C258528-0D7B-4051-BCBA-6C1E70F4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8F9C57C8-DD73-4C70-AAAC-53A1FF91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04E7F2DE-257E-4E03-A34B-2568F56D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8C8A1C6D-D233-4C42-9DF4-807FF53F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8C512D12-5BFA-4527-A705-761FD1D8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DCE7B841-5F72-4356-BBFC-85D5AF51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3DF3634D-094E-4893-99BA-97F51EF2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01F50B30-C65D-44C1-B4AE-B83AFC53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F527FF54-90FD-42FD-B34F-36D91F90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C433A9FF-1C42-4641-8F16-A950C3DE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8023374D-205F-4E22-B4C7-23796C4F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33CBCAB9-A5C2-4B79-AF2A-DDEE10968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C26D91E-63DC-4549-AFAF-12C6614A5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A5DA578A-2D67-4744-9277-2C36BC4F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93469A6A-47AA-4B8F-BD75-EA9ADF91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B54636BB-8D37-4DB0-875B-6BAA40F0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0FCE57B-D3FF-4923-8E5D-A6EC920B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04804973-B4B6-4FE4-AD02-1C1CFCD35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D1C1E68E-EF47-497F-8226-BAFF9CE9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CE3C18F4-1132-4F68-91EE-A4133D50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B8D5426C-6EC5-4930-ACC0-C9F7C07F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4,3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0F3BE81A-7BF2-4388-A26A-AB1BF1D1C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513928D5-6D80-48FE-8E96-B5F6EE7B4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4889D443-4013-48F3-9A8E-CC4EFBA8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5B5A3518-C61C-4EAA-9962-4EBA3FC74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0DA9122C-8098-499A-AE26-41FE0FD6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CF168F31-BAEB-4ACF-BA0F-234C2F6F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4FD42C4F-CCD7-4BED-A55F-140B23A4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B9DC7273-FA1A-4699-8613-E5DCBE0D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E942CEF7-1FF8-4971-8D12-5959EEDC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E335183B-54EA-4612-B93C-DB2973EF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E04C00CF-9AA4-47F4-B801-C8680F42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1396BBE5-A12D-4FE8-9EF7-1D9D3C90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B43E7A94-0053-4272-9452-82356A2B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5C8EF93D-A3F7-40B1-9B01-F5368F5D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5C8982EB-8DC2-436F-B53D-F4CCEE2F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91C771CC-87BB-46ED-91BD-25739F66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5D54C962-D89D-46EF-A1FC-F03C7D1C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49FC558E-A27A-4180-8064-2290FD98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E8A30902-562B-4FE7-B22E-5D7A61A0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14242569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56E360B0-3DBA-4419-9FCC-E141990B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EA645B-3A43-43E0-9C46-7F4ED946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26,5%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C6C41D-A70B-4CAE-BA0B-E352628E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2F2D8-D95D-4BF9-A5CB-34D9E66C2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09C600-1A9F-4443-A894-ADC55772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locais, mai/26.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CDAB4C-EF6C-4496-9501-87509DEE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8F3201-2155-44A2-B66C-5F4816725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2A8305-1BC7-43BF-9B89-127D1E33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369CFF-0F3F-4DD5-B24A-6C88E802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18A94F-AB44-479C-AB17-0A047B7F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66635D-1712-4B68-9F8F-18D447F3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B75025-17B1-4F37-9EB8-333673E9B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8BF559-42E8-4378-A8EF-C7FD38D2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CAB8E2-C63B-4692-82E9-155BA67B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E56DAA-33BE-4678-92FF-C69D8613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59EA83-278D-42F0-A478-B8D86C8F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6482BF-0D99-4468-8CFA-EE64B0B73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6FB6C1-E847-4422-961D-5AA1363F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C3CB96-15A6-4B4A-8217-C01FE274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DBA359-C5EA-4EAD-81E8-7C9B7A83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45D720-1353-4CC1-ABC6-576A2D6A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E2C068-D5F3-4CAF-BABE-E7D61CE6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7AA7AB-74B6-4579-AA70-9BFFB32E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58E1F4-C6E7-415F-BACC-15255354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30BF91-9A10-4DBF-9CB5-2EFDB04E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73A488-0498-4D00-9FAB-C361A5C4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FC315F-EF8E-4398-A620-6FCBBC76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B4877A-1007-4328-9DE2-D4055EF3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9ADA8E-3375-4719-8F7E-F187E88B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0A2811-157B-4D49-B4D8-7FFC4BE7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A2715B-D26C-4E9A-9775-AA921B83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54E240-E815-4F10-95B4-799B6B34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411BA6-BE06-40FB-A3F9-E2437933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3F15BE2-1BA2-4B1D-B5E7-EE69FD51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BD86AA-2571-4671-841D-8A797137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D78906-19E2-48F6-A4F3-9B03659C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B5B6F1E-DFDD-49F5-A1E2-72613C30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CB2A7F6-E469-4687-83A7-05037136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6A5E390-1DA6-4193-8CF3-A27D10FE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79044D8-EE64-413A-80B3-03BB5EC8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9B5CAE2-3B65-4CA4-8178-517BBD16D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8CB0048-A5B3-4A66-A324-DA9B83B4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B471F5-6CB3-48BE-A76A-ECE814B0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C83CE9-BB8C-4A2E-BA90-028B60E3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5E8E311-3E17-4905-AFE2-3C28EFABE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A10AA9D-BD9C-4A99-B957-ACB43F49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6B18E74-3AAE-4CA0-9EE2-2A7B9E29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3FB03ED-9A4C-498F-B88A-74D42C09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6442D1C-183E-48AA-8E9A-40E30AF19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1E90AD4-CBCC-410C-931B-F4050FCD9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277DEC5-66D3-4119-97CB-7BC3E107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483237F-96BA-4A8F-B559-4483B596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D017C04-33A9-436A-A2DD-762A624D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8D943DF-FF8A-4747-B8B2-D21D471B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C47C9F8-E8D6-43A8-8DC9-A1C7732EC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0AFA574-9E1C-4B3D-821A-62ED52FF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0EBF89E-F51F-4F26-969F-50AA6738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E8646B1-CBBA-46C0-A845-6D87BFC2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E8BB65A-E9A1-4A58-8050-62B8056A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A684BD0-5210-4F81-B245-D1F3C739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A896BF8-27D6-42EC-8B26-19D02731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3992704-A40B-4980-87F2-46B334FE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DD4FFD8-26A3-4D11-9804-99520E15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AC4AEDD-9EF9-4097-8AE3-4748E3BE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670AB72-EB18-4ABC-8859-E2BEF3F99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F7CEDE8-4AF2-4D80-9E29-7EEC1A9C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D280B1A-567D-45A0-A172-9FD9AC78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2FE2E6C-F874-474B-AD63-97C2649D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Multissetorial / Outros —…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C62C71C-DBB9-47B5-B45A-73A84079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UNDO E CLASSIFICADO COMO UM FUNDO DE…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1B258BB-F59E-4EBD-A666-444D7E56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D846BB5-85FF-4D8B-A594-5E405AE67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4F1985F-CE55-4EB8-B6C8-661E4D9C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BB6275A-28AA-4E99-96FA-AD5F620A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7BC67E8-4C25-4A20-B76F-5EB89435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2EED1DA-D5C3-4577-8B46-96C247E0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058AADE-915D-4030-82A3-3F77F56F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357ED61-D579-4ECE-99C5-8F3DAF77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3DD508F-A9DA-46D9-8352-66127F82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975624C-B14F-4A42-99A4-26A91392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CC677D0-4ACD-4574-8CB5-F43F0EA7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ACB2964-51AD-434B-AB53-E69FB253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208A38D-104D-4D96-8B14-1102A01E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29A20D9-0BDD-42DE-85DF-13971BD2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21839D4-0441-43C2-8CA0-EF9BCC67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77B8AD7-3D2F-436C-A368-438AFEC8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F470FC2-0285-4C78-BDD4-AD21C9199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B458A51-3910-4163-A79F-89ECC11E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D227949-51D4-4A8D-BE83-D160952B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5CAB0E7-2C04-40C6-8DFB-94DD6E11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6BD315D-1E86-4463-87BF-3A2FF040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DCE73CF-B1FF-48D3-A0D8-F2A2DA34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6CFC35B-9DB5-4B68-8ED1-D805BC1B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A745C74-5F0B-4979-B4D9-4E691B56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F684C4C-B16E-43FE-8A9F-7C6E15CC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25D795C-7D5D-4EE1-80D7-6E93870A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41554AA-C972-45E0-82EF-AB1167FA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16EFDF1-5B64-47DB-83B1-DADC28E6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25FEC3E-29FB-426D-9733-14618A86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03C4B75-6C7C-474A-B631-27D24E1D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41C183F-5E32-4147-A6D3-4F4E9731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531C081-1CC1-4FCD-B5FA-D4DB30D0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811B87A-F75F-4776-B21C-45AECAF1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C1FC0C9-BD07-45C4-9C6F-35950B30D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67888FB-6FD8-4E88-8CF6-40B2670F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84B0C3CE-3498-4ECA-88F4-E3FDA5AE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6B604F5F-8D8A-4FD2-8157-A7C7786B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CE173B3-1089-4339-BF98-C5F88BB7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01E6926-4CAE-4443-8EB0-62999322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B795AB52-7F1F-413C-93E5-51AA15A3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527E5A17-7FFE-4D8F-9F12-6FB08A0D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D46AB186-5BF7-4668-9D54-E645D8C6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445578B-EE99-4155-9BED-93981F934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92DD5E74-4000-43E9-BBE5-7F8259A1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0A021D6-E413-4B4E-966C-56F9AFA9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5A3C3EF-97D9-42D3-8604-E4AE1C1B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C985BC05-FC3B-4DB2-9B9D-0A173818E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121BF1F-DCD6-4665-BD13-53DBC0D4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64C7AE1-4C91-4266-B4BB-5C1BE5D5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AF09502A-4198-4321-8BFC-2462573C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27B00CD-4B68-4671-8014-C0D0029A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A4D1D66E-F462-4220-9CAC-BC0956BE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A881739A-20CB-4369-8C8C-1FBE96EB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261176-EDCA-42C5-A4EB-585700BB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98CE8462-4E86-426C-988E-9E399E3C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B9A143E-98A2-4DAD-9740-9DF32DB5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28384FF-59F9-4AF9-967D-A0836D46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6779032D-53AE-4322-9540-65363313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B0437620-520D-4606-AB50-9F43E6E5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9B6BE258-7C2F-467A-9E8A-11CDAB18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CBD0F26D-3CAA-45F1-9F16-202ABEAA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B636C01A-0C18-4667-B381-A2E59917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1F786777-7BDC-4290-A3F6-28FD71CA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55883A63-7E30-43E5-81FD-95844D55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1C234149-3BF4-495E-AE91-25B20CCD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F3D0AFFA-9755-4873-B6E0-7C49CF71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113CF6EC-EFF6-4B6B-808A-3B775902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51A6E75B-E937-4CFC-8C80-2E039C0DF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3,3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875E4D32-3D79-4144-B2D5-2F1EC203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8F7C9224-AA23-4D10-845B-06791CCA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8A465C40-AD6B-4FA6-89B3-744AD6524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C176C55A-A9E2-4B3A-9DF5-3C14499F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C3D8C1FD-5221-4CC6-9D68-02BAF8D6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DF4C44C2-C07B-451B-B731-DC806A69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FF0F4A07-C6E7-448E-AA90-DAD2C26D6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7849B721-81EC-465A-B099-9DC28906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3,2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8FFE53A7-D7FE-40CF-A273-B58081CE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FF06F5B2-CEDF-41FE-A7A3-7D847EBF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B82F0860-02E1-4BA4-BE75-33AF0964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E5DD535D-81F5-4C47-BED5-54EA4138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AA8A960E-2FF8-4434-82FB-2EE6AB16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FF09FDF0-1919-4DE7-A408-4142349AD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BC16048D-5764-481C-8396-C9A5B8B6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32EEC35C-EF40-4A54-9CA4-017954B3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E2681485-5D78-4A9A-A7F4-136D74AB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6C16C44-A31F-4E96-A1A9-F8969AB5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50AFE32-F036-455D-A09F-8A5070CA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AC28F7E9-3C41-4E41-9874-9C104DF8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794F9F9E-40FA-412D-B5AE-C8E031B0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B19D4867-0017-4350-9772-0EC17EEA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EDBC6920-6A33-4B24-B1BB-9C30F013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2998EC58-B3EC-404B-9B6C-7DD6EC4B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779A0D76-1864-4135-8E4D-AFF54A2E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9C617CB-8F98-42EE-9B85-33AFEE56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996AC274-8539-4D75-9798-CC0B1B6E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EB85F53F-D4DE-45A6-8468-6E36786C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778C3628-9857-4181-8257-BDB13FA1B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6501E44B-49BD-4EB4-96FE-E378E0EA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1348BF50-F0CD-4D48-999A-31EEFCA3B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444A6F25-0BE1-47D4-8AA6-C20B3EB73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E9133D80-682D-459C-AB29-4EAE6351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88A2CFA0-7DDE-4775-A44E-0F1EB59D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740061FE-09AF-47C5-9FE5-E07F8CE32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BFFAEFA0-BD03-42EE-BDB0-654355E9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C013011A-B372-44E0-BFF8-3DB048B5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C7268D7D-666A-48BE-86EF-A11E5C9B0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AE7B3909-B8D4-4AFB-B7FD-A9813F5C8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83326686-A888-47CF-A051-BFD99B5A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5825193B-3027-41F8-A86C-8048EA078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48DA581F-1E4A-4F25-96A5-3E1899461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4DA73504-036D-4EA2-894F-97ED2C22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94419637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BC8A65-6BA0-4F26-A414-B25D88AC6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AACCBB-9C4B-4CB5-A1D6-1905B1C9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7,8% dos fundos e 34,0%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0A553-0ED4-4EA6-B8E6-FBC44C0C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DEE353-3A77-44B4-B4FB-5E7699A9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E6E378-7DD0-48D5-B2E3-F1C0477B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mai/26.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DD114B-801D-43D8-8DBD-A8D2C719D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dcac93c13d14fb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F7ED9C-BF76-4997-8EF2-4E0DFFC2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3CB27E-577D-480F-9BEA-D054D1041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4D4AB9-4A19-48C9-8F86-E3988662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F671EE-BE11-4E13-B9D0-50929974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B3442F-5BCD-4E0A-9862-32952F1A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331 · R$ 326,1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598130-8CD5-4F94-A80B-06D9ECC24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3431A3-EA46-4295-8B72-33CCAA94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F8700A-EA8C-4BD3-8A2D-9597A0EFA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42 · R$ 34,8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3DAA44-CD02-491B-BBF7-847E8BE3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F20C23-36E4-4A19-9846-83EB221D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721B9B-AEF9-463D-BE29-FD7098B7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3.371 · R$ 511,5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BA8DCD-CBF7-49F0-AF52-6C6C828D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F7490A-5059-4F4F-B26C-347558E70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D42F50-A89F-4D86-9749-95245204C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44 · R$ 19,2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B8229E-6801-46D1-B7C0-EC8C561E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A6479D-61C6-48B1-8EDD-E38518A4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897B03-560E-4640-9D1E-169396F6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355 · R$ 55,6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C1FE45-AE22-4C2B-89EF-127E2E85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723506-321C-49F4-8C93-83A6B721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BF6746-A5F5-48CB-99A9-62524CDA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79 · R$ 11,5 bi</a:t>
            </a:r>
          </a:p>
        </p:txBody>
      </p:sp>
    </p:spTree>
    <p:extLst>
      <p:ext uri="{BB962C8B-B14F-4D97-AF65-F5344CB8AC3E}">
        <p14:creationId xmlns:p14="http://schemas.microsoft.com/office/powerpoint/2010/main" val="11207296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C9F150A-7634-4F22-BA90-53F1DE01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819207-D92F-437E-ABDF-54715D12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3268DE-2360-4D6D-951B-17BB3BA6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DFE938-E54D-4E80-99E7-21AEEE0B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50F157-7787-4160-A473-05676879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AB9AE5-6420-413A-8318-6F29810B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4AD6A1-E6F1-4ACB-A85B-7E659CA77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83FFA0-ED7A-4F84-9DFD-4B2452B9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590374-F0CA-44C8-A7A7-110D7B43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1A4A8C-4488-4CEB-B4F5-A09E48DA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3FC571-C210-4D52-B6E8-1DDB80B7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AD36F6-A8CC-4802-B007-0F4B9E83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311453-1E0C-443B-9747-66650155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7D11F9-7031-408D-9E4C-A90EB4DB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40B350-B238-477C-9BB7-C4BFD400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389FC6-0A99-45D5-AF6E-77ADF7ECB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9E1DD7-1DC2-4026-872D-CEC90D28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D38628-5766-4F2D-BA5F-D4BA474DF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74,8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4F2A6C-C115-4D62-8580-CF88879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9762FA-7C11-40FB-96BE-843C912D0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613378-91D7-496A-864A-5FB731D6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54,4%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BB51D2-73F0-4690-B3ED-34D33B45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63,3%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2F9A4C-09C1-42FA-B3F7-9AD10DD9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72B08E-FA90-4D44-B73B-83515ED97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113254-F12D-479B-BE24-3AE9E7E6B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EAE3F1-083A-4D34-A0D3-DA7779FFA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1753E8-09CA-479B-ADBD-6D0C5790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67,7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48A6F4-CFE5-454A-907F-DEDC094E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847B6B-C7F7-466F-AE2D-2C5971513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CONSIGNADOS II…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F79A98-99AB-478B-A37B-0F164F7F4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11,7%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F99AB5-4D62-435F-BF0E-BD34315D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34,6%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15DC3A-CA05-4BAB-9DD3-01089ADF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3D85EA-369F-4AE6-8C3B-98548D95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5BB49F6-5F14-4B3F-BBC4-9D75C438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F7B4ED-FFDE-4B82-90A9-062F9E6D2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070A4A2-E185-438D-B803-C20D27870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4823BAB-1726-4F3D-A246-037A5DDC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C5B135-4EF0-4813-9B2C-63661B91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C5F0DFD-3040-4862-BA6E-69F051A18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E8308DD-6ABF-4BFA-A226-FC307F8E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4045654-4526-4229-99F2-3E7B1CCB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5192F5C-2C93-47A4-9C81-F15E940F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7899A1-CBDC-47CF-A387-60337F1A9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6FBD13A-2A25-4AA4-9B48-5DEFDCF4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B3D7414-4768-4C14-AC7D-9F9BC315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39,4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6C00C84-686E-4C8A-83A5-216AB511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C20EE3C-A94D-4D37-A8AD-D1407309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D114400-0BA0-445C-9CD6-EEED3D70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836E24E-3602-430A-8B8C-DC38406A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51,0%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48C62F5-7E3B-4763-A96D-4604ECC0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CCF9DAA-F067-450C-B2B1-328CE76B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893BC9-D315-4703-850F-04108926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A8E05A2-2627-43FD-A82C-42918DFF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A10003C-F469-4653-BB48-810854B8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26,7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F752B61-061E-4C56-BE22-31BE3992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BA024F8-65A9-458F-A822-8C2703FB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A5BE1F8-C72F-487A-A2F9-787275FFB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7DF632A-155C-43F8-A696-D0C54DE0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97BCF10-A272-4D74-9E28-3E67F2F7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6548047-150C-4875-A50E-46F3FE58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37D7B91-4620-4B71-84EC-EEB221E2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90ACF34-3CEC-467C-8BC4-3E454052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0E67C55-1C9A-420D-9E15-B050AEAC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18,4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E09C653-0655-4702-A480-209C42D4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C0EF1C7-3FAC-4B6E-84F5-AEA00F8B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AD65F6F-5B5D-4736-842F-90CCA190F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46,8%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8C82D17-6C63-4210-8E8A-BB7AA95B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58,7%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0B5ABF5-44E4-490C-8D66-118A90AF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DD3AD91-3DEC-4A23-A428-76DDA967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CA9F478-44CB-42D3-B974-181C7A8D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10E5AD9-1D4B-4AE8-B6DF-2BBD4B5F1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FFFFEC8-485C-4122-AAA3-276346A0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99ECB18-0D51-44E0-9B0E-6EAD8CE4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R$ 60,8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E5575D0-D2ED-4DB3-B7C0-1A425B62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D55E9F7-6C17-45FC-8EFA-5D7C3C8A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CAEB6EC-7B3B-415D-B018-7A43696F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1E51081-B79B-4D80-A09C-513717FD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R$ 40,7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05A9E07-0EB3-400B-BE6B-FCA2EFD7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48 fundos; TAPSO = 54,4% do PL mono.</a:t>
            </a:r>
          </a:p>
        </p:txBody>
      </p:sp>
    </p:spTree>
    <p:extLst>
      <p:ext uri="{BB962C8B-B14F-4D97-AF65-F5344CB8AC3E}">
        <p14:creationId xmlns:p14="http://schemas.microsoft.com/office/powerpoint/2010/main" val="152785266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CDF5A4-FBAF-4A3A-9F7E-CCF307C2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OFERTAS, CAPTAÇÃO E ORIGINAÇÃO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FD37BE-85CA-4078-80ED-2979ADC2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Ofertas somam R$ 75,1 bi até 16/jul/26, 9,0% acima de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9BCA16-46A3-4E8A-898C-CA83AFF3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B1FDCA-CF9F-43FC-AE4C-9A0C6CB4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6BF27E-3F7A-423B-83B8-AF620C248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Públicas. Comparação YTD até 16/jul/26 em 2024–2026; PL do restante do deck em 31 de maio de 2026.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85B8F5-0402-4733-8F5D-57217B7F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F51E79-CD0C-452B-9CAF-7E00280B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NO MESMO PERÍODO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88D09E-70AC-483C-AD96-6117FC3F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6858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6e8e2a0ca094cc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BCB2ED-4950-44E6-B255-5C55774AC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593 ofertas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528CB2-6FC7-4709-A850-BC340C3C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862 ofertas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1BAFB0-244C-4DC7-B76C-84380B6A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868 ofertas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B1B6EA-1D7C-4F61-8E03-1E615C81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28750"/>
            <a:ext cx="3667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ORIGINADORES NOMINÁVEIS ·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EDE204-F729-4405-A13F-D452FEE85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95450"/>
            <a:ext cx="366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8A31DB-6E0F-459F-89AE-A25882C8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6215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1F4ABF-332E-4A82-9EF9-F04014E6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196215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R$ 5,50 bi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C8C8CA-A9DC-46D6-9588-AFA1D39E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447925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4EB938-5F78-441B-B565-ED9190C6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05075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BD290D-74F2-4445-A93E-D0A73F6A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2505075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R$ 3,35 bi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556503-7AE2-4F79-9D85-783F8F3BE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990850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BBB9DB-24D0-4EC2-A6CE-BBBDAC13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04800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FA3D54-92E1-4687-ADB0-FA261CD6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304800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R$ 2,50 bi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8ECE58-5B7E-4D24-8D20-FA3C66E8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33775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C26E71-5889-4EEB-872E-D120010B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90925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A77496-B7B3-41B0-BFD1-D106BABA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3590925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R$ 2,00 bi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A6BE1A-D36E-48B4-BA0D-A73D3050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076700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812973-3D0D-4CC8-9EBB-9526C1A5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13385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AD9211-1A96-4F74-92B3-62C4A0EF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413385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R$ 1,51 bi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5E03F9-BAAE-4C3F-A482-BFFA9415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953000"/>
            <a:ext cx="3667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32,7%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43BD8A-C9FC-4063-83AD-88823FF1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72100"/>
            <a:ext cx="36671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volume tem originador nominal identificado; não há base para chamar a originação de pulverizada.</a:t>
            </a:r>
          </a:p>
        </p:txBody>
      </p:sp>
    </p:spTree>
    <p:extLst>
      <p:ext uri="{BB962C8B-B14F-4D97-AF65-F5344CB8AC3E}">
        <p14:creationId xmlns:p14="http://schemas.microsoft.com/office/powerpoint/2010/main" val="48025089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F75D69-4E62-4566-BFD1-F4AE081F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EF445C-3E9E-4606-A468-C5052B4C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F6A033-12B0-4F81-9619-72EA688A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7AC135-0DFE-43DA-9476-62B77672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A2DBD0-7854-437D-B300-02763343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Fontes primárias: CVM, ANBIMA Data e FundosNet. Dados consultados até 16/jul/26.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9C72F6-CD32-4BFB-8423-18D81FF4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4C86C4-D994-407A-B122-1824A6275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52DB6B-E006-4A80-9EC8-D3C5E3CB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DF1135-15B3-4074-BF0F-B14CAF33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2D7550-A2FF-4360-A3D2-5049F71F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16E152-30B7-4A8C-B7FC-06931EDE0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AC04D4-3E5C-4447-B48E-4123EDFE8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CC3FD7-09A2-4F4A-9A10-3C7BECA5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54603A-DAE1-4A19-9E9C-95607873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4.222 fundos; 31 de maio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7E77E5-4FF1-475B-BBC3-38F3A242D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723F66-B873-40A6-9CB5-972ACE2E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C0F98A-91D2-46E4-ABB6-818700F3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4CFFF3-83F3-4E0C-9145-CEB34442C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1F1FB0-A7D0-40FF-A06C-3B02D776C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91,55% oficial; 0,64% evidência; 5,87% proxy; 1,94%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464D4C-D795-4F30-A320-ECA9AC14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0AB22A-AB41-4A7D-9BE8-F90003BB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F9ED52-FED5-469D-B172-6548FAA1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3A9BA9-6360-48AF-BBD9-E4F0D1C3A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74685B-5B3B-4034-9F2A-CC9C7FE7D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61A36E-AA97-4437-AE4B-BB51191D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não é zero. Aging &gt;360 existe na norma, mas não reconcilia com a Tabela I; visão ex-360 bloqueada.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DF7A9A-5F01-4001-826D-CE85CCE2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36F1FE-E14F-4D07-ACBD-48D490F3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0BFC40-B790-433E-BBCC-0FA8F01A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3AAD36-1A25-4722-A14C-844F95BE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mai/26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037618-35F1-488B-A807-CA2079BCB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8F0B59-AA1C-4EB5-9FB9-2C00CEA6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D986D7-4B81-40E7-A06B-F2744E67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D21AE9-54F3-4CAD-8C60-EBC81D48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0FE591-8162-4015-8078-1C5E4A2E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4.222 fundos; mai/26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F9E4D23-B769-4EC1-9595-DF77B114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A371DD-9427-4C99-86C3-DEA911C8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002FC8A-F7C8-4EEB-8475-E1A2BACC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E9255C-699D-48DC-8905-4DB6C73C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BE0EA80-5DF2-4383-B90C-AB33CC4EE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Registros até 16/jul/26 em 2024–2026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33989D0-B510-4A04-873D-7A830D01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Comparação YTD contra mesmo período. Anúncio ou aprovação não equivale a volume integralizado.</a:t>
            </a:r>
          </a:p>
        </p:txBody>
      </p:sp>
    </p:spTree>
    <p:extLst>
      <p:ext uri="{BB962C8B-B14F-4D97-AF65-F5344CB8AC3E}">
        <p14:creationId xmlns:p14="http://schemas.microsoft.com/office/powerpoint/2010/main" val="111926452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D1357D-1AAE-4BEA-BEDC-BA6A105E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6D2BB3-E046-451A-B0A6-B21C64F1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352E92-FAF0-48CE-B532-05BD93EB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B4D6B6-9AE3-46C2-B1DA-65BB955BE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DFD786-9966-410F-B1DA-316EF5A5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14 focos; colunas normalizadas sobre PL não negativo. * combinação bloqueada.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710DBC-E66A-4445-884E-1B94DB89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b8e8d918b144d6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28A95D-5A37-4CF8-983D-01A4621B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0AB786-9EB5-4085-989C-3BFA6501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0F9A37-7D3B-492F-A287-F4B268C2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538734-65D7-4B9B-801A-2C9FE3D0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EB4996-E6E3-4E80-B145-3CC13C7A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91C29D-3484-487D-8B89-D9227AF5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AA88A6-05E5-4CD7-85C3-BBDA268F8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A55D28-8D7B-4086-999D-CF8A60CB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07DD36-C4DF-458E-B76D-7B0D1AB3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9BED24-21B0-40F5-B85D-ABEDD7F8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047B7E-F83D-4CC0-BAFA-782E791E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3CD774-C8DD-442A-B1E8-A0B3AD4A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2ABF18-E338-4801-B0DD-4E58C20A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902603-880F-4BBA-BF56-9A228455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72F61D-C9B0-4CC6-973F-63C82A9F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FA6BAC-E4F3-4CE7-9CEB-E3037342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61C89E-82B8-4CCD-81D9-43B03752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CB5D59-466A-4349-8C31-6831DA8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A2A60C-0A18-4069-AD46-C2B74DCC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B19C6B-34F8-4043-B169-C104830F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7DDE40-A72F-47E0-9284-D1E32A30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6E1597-1AEC-4362-9E4F-859D0BA8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8CAAAC-99E8-4DF1-B7DC-59BD4F14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2F6B98-06D0-41C4-B36C-D3262C84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8A74026-F3F7-4F92-A746-D60A6C0A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76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 registros com PL negativo (R$ 69,3 mi) foram excluídos da normalização positiva e permanecem no QA.</a:t>
            </a:r>
          </a:p>
        </p:txBody>
      </p:sp>
    </p:spTree>
    <p:extLst>
      <p:ext uri="{BB962C8B-B14F-4D97-AF65-F5344CB8AC3E}">
        <p14:creationId xmlns:p14="http://schemas.microsoft.com/office/powerpoint/2010/main" val="150725505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B33FD5-7D51-47D2-AD3C-E68E0F4D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8E182F-6D1F-4C69-AEFB-77E9A2D8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9659B-46EC-4AE5-9C6E-E4E093A16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BEF2BB-31FC-4EC5-896A-E3F5F11F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27C972-7DAA-4CFE-B625-3BD6F0C1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14 focos; colunas normalizadas sobre PL não negativo. * combinação bloqueada.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61C4BE-BBB3-4F88-A659-DD44D645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3d0345347a47a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38744D-9345-44C8-981D-6A204165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C11EB1-9B16-4E60-8136-E6123293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D9F21E-E48A-4892-A591-44CD5BAF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61C489-348D-4853-8562-543680CF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72D460-41C1-4F11-B96B-D7472067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8725B7-C145-46CE-8F21-3BC3AE6C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1677FF-3BD2-4B2B-A16E-DB911853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DB2D3F-1107-4D0B-872F-DEC6AD3BE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9DA44D-EFEB-4A9B-BDCD-53B4AEC5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CDD63A-884E-4DF0-8706-270E64B3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44E41D-1FC8-4DA8-9B4B-F92E8A59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F48071-6E03-463E-BE41-BCCD49F3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Tercon Investimentos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035673-637C-4737-A0E1-DC62C11D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086CDC-831C-4DB0-B63E-AE592400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932389-F491-4570-8EEB-DC1145F9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F39E57-2898-48BB-BF26-5E559F54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REAG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920045-FF1A-4A13-B200-CEDCEA9B0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6A0041-DEF2-4885-8007-46C01A2A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9F7142-67E0-4737-B9C2-DCA2B5197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76C189-3C6F-4BFB-BB49-1FB5D538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Solis Investimentos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B5F230-786C-4476-B95E-39B1CC386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6BFF03-477A-4FE7-B918-47255E40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ADD0FD-AE89-46AC-A7E1-A529DDAC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8B3B98-F1E3-4692-8E1A-95FA5438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77A9743-3602-4C6C-A782-B8DDE667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76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 combinação(ões) bloqueada(s) por bucket agregado negativo; R$ 69,3 mi de PL negativo permanecem no QA.</a:t>
            </a:r>
          </a:p>
        </p:txBody>
      </p:sp>
    </p:spTree>
    <p:extLst>
      <p:ext uri="{BB962C8B-B14F-4D97-AF65-F5344CB8AC3E}">
        <p14:creationId xmlns:p14="http://schemas.microsoft.com/office/powerpoint/2010/main" val="152000217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B19370-BAD0-4EAD-BF3E-6199291A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206BE4-6C11-475F-8FC8-2B072A6D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997883-1142-4893-9284-5AE5E287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FC9366-1C31-4EBC-84F7-9EE5AA68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9A2578-373C-4B9B-8B78-4672A3A9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14 focos; colunas normalizadas sobre PL não negativo. * combinação bloqueada.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1D7EE0-85C9-4F04-AA26-B5E5BAE6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757a4af57cd4a5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49C522-355B-48F2-A208-37C238254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576677-83BF-474F-AF02-324F150AB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A24F77-5F6E-4D06-AE2B-FCD0A206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BF024-7F81-4DC4-B34E-9D93A2042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B9E193-7448-49D2-9138-3E69F4C40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30418A-EF81-4659-BB72-2FD2B5F12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679CA-148E-401D-9629-E87F86D8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AFBC9F-D953-493C-8015-B8D9F5EA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9B82B9-F5AA-4FD9-A52F-31E8A888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5C2595-D348-493E-AFD5-FCD849BF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0C5626-E4C9-4849-BA24-8623D3B62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1DA206-254D-410E-BAB7-E696CC48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REAG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37876D-B2F8-4F8F-BED7-317125D7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825F90-D37A-4FBA-A7BD-2DDF75E0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BE1B4C-9B52-44CA-A0F2-82C98492B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E7965A-3F3B-46E0-815C-C5E5A1DA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841D59-1630-4BCF-B717-CCA3E79B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B926BA-D4B2-49E0-ACE4-A038AE8C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336301-7530-4017-9612-F336C76A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B48EAD-55F1-4AB8-94CB-0593AD02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Limine Trust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AFF27E-4BB7-4888-872D-467120E9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D4040B-7C24-4896-9A07-2E32AC66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A47631-2040-44F9-8621-722955CB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564FDF-8F39-49F0-8ACB-8EF4B4CA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E40471-3BF3-4CF5-BC3E-B87C9FBC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76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 combinação(ões) bloqueada(s) por bucket agregado negativo; R$ 69,3 mi de PL negativo permanecem no QA.</a:t>
            </a:r>
          </a:p>
        </p:txBody>
      </p:sp>
    </p:spTree>
    <p:extLst>
      <p:ext uri="{BB962C8B-B14F-4D97-AF65-F5344CB8AC3E}">
        <p14:creationId xmlns:p14="http://schemas.microsoft.com/office/powerpoint/2010/main" val="183465161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952B91-D421-4EDF-AE5E-AABB8469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8FE2F1-403E-4AD7-9DD7-45BBA403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R$ 60,8 bi e 6,9%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08E990-833F-4923-B25C-4A1921036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E11147-C9D9-43DB-BA51-E5613E94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31CD37-396B-4726-A5EC-EEC17ACE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00FDF1-BB14-441D-BCBF-E52BEA0F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4B60C8-5AFF-4102-A723-9FBD12AC3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79B8F9-8F8B-419D-8B19-5E1DCE792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95634D-3EA7-40B3-8EFD-DC7CBC725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3B44E3-A4B6-4D26-8C32-CB30EBB7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6899D3-1FBD-4BA4-9D92-37436DB4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CBC22A-0D1C-434F-BC90-AA790BDF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A0FC49-E1F8-4936-A6ED-809B17F4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6A29F7-7DDF-4D9D-A5C2-6B8DAD02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DA52CD-EC26-4D4D-B9AB-AA1063CD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E9C304-B6AC-48B9-A964-BB7B018A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FA4C72-3E46-4E71-9C40-30D42031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F9F1A9-D54C-4E5D-8593-F8F1374F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87AFB4-ACBA-4294-83CA-88B12EA7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14388A-5A65-419A-BDD8-95FDB01B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DE25C7-C591-4902-A0E0-D518C8DFB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257F1B-579D-401F-BCA9-06C163D3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C96EAF-E7F2-4AEB-AEE3-703265E0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7BA2BA-B9F3-42DB-B1B1-12CA1497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D9D6BC-D70B-42A6-81D6-1DEEEB13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6A4124-E8F2-4624-B015-4BADDF6C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961273-50D7-43EA-A187-8C0E51925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889F5E-4154-44A0-B5A6-7C17BBA7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B0DB2A-0B7E-48B8-8316-5D8E5565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45789459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C2B580-D5F9-49CA-A087-50A64610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8E0746-895E-4DB8-A262-F2BB95F71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R$ 40,7 bi e 4,6%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C840D9-07AB-4E0B-B390-8DAE4FF8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E7AB06-5F7F-4EF8-9651-0B69ED86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296B86-292F-46E9-935B-4433AE57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2655E1-BFB8-4C60-BF77-5E6D0C59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748-604E-4C46-B6F7-72FCE1DB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FA6404-0592-4E38-9C15-AC022E8A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F301B3-D49F-4871-BF77-AB75A645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064911-B8C2-405F-A3EF-5412FC6F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C85C16-6267-401A-B351-97093378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BA027B-5E01-4236-A219-EB36EA45D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A409CA-4ED5-4DD3-9F63-88B5D4740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57A84B-3FB1-4BA9-8BF0-0011F827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755092-1DAB-4ADC-A3C7-CB569D9B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B7FF3E-5C82-4F46-A8E3-1AD4463E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CAE11F-D69E-49CD-9D7B-93B740CF5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AAC841-55E6-4EA0-B1B1-CC92FC8A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46762-F806-4A76-BDEF-D8F5D7AD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D69433-3966-4FFB-A8A6-1D7A456D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1CA9CC-F18D-4B55-B229-221D5FD8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54BE8C-CC78-4976-B29E-0154AB150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BCBC58-D267-4C61-9F69-3C9DE3660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E7E0DC-B969-40A7-92D5-82713F95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364340-6F16-464E-A938-C0BC14A2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E18CEE-1725-436B-945E-56B037A8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F34ABF-CF6E-485A-A416-39497A6D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EFDDBB-8DC8-4887-B448-7BF4B8A1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8FFA06-8DA6-40BB-8950-AC56300A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46262652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3630FA-F067-401D-AABE-81D1002D6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CEA648-A7B7-4820-A70E-2948C47D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12CE80-A546-420C-9E69-D8898733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373E9-9512-4552-8E58-08E3321C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1E3584-0C1B-43B8-A4DC-3BA6739A8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477157-EE04-4095-8063-8355ACC9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6F9C2B-83A7-4359-9CD9-3CB03CDA7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B50CEF-6AF2-44EC-BD9F-C4AA1651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E814E1-821C-4095-9AF2-0B45EE0E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447E55-E680-4995-B0C4-6E705F56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BFA0EF-5FF9-496D-B496-E0C66EB3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12713C-AFE3-4AB9-B8D6-33645EA9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09ACEE-8691-407C-913A-6B92C22D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B6875C-836C-4B8F-A221-A1B1B401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F9B7C4-11F7-4B62-9A8F-C5F468C6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17289E-3E3C-4A50-8045-B28913D01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31CD28-C8F4-4D35-AD0A-3BAFC394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EBF6D-A46B-4E5A-B746-A94235F4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209440-9EF7-421B-A447-740BD65E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5CE6CF-0334-4F1F-9534-23F18060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6CE8C2-B2D7-4FCB-8D6D-F3182B8D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DAC0FE-64A0-4D65-8FE9-257B9851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A989CA-D557-4755-84ED-071DB97F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AF82E1-1C05-4EF2-BA42-E0AC9C44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7B9F8F-AA07-40EA-B603-0047070B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6F251F-0C38-4958-98ED-A1A2ACC9C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DF1E8B-1B14-4E52-98AD-B11B34CB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F5AA71-64DB-450E-AB27-62780F2A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2E6636-50F9-444F-8B02-BD2568AB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49852037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7C23A6-61DF-4CB1-9A49-47DF14F1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C83349-C0EB-47EF-9DC7-CDB77C97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Itaú Crédito Privado — R$ 8,6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AA1356-9B25-4BD9-A95D-4151C657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01B71-65B6-4E02-BAFD-6044340B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DE81CB-3FFC-44BB-955D-67C971E4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1BBDB1-A6D1-45D6-BE3C-AD3B9AE3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4BABC2-6356-43BA-93C1-88A27DE3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73A735-B5AA-4772-BD72-CC26B2B0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8D80E-2200-4882-913B-FE4EC9DC5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B5F6F9-1791-43F1-ABD9-B02E0546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08219C-6C1A-48CF-9C71-9B4F6D6F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FBCB27-734F-4D4A-BBDF-D77A8C9D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0B66D2-1118-4975-AEE7-216195514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3A08A2-BCB9-436B-A259-3E912F34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8F9CEF-2C17-4403-B020-ECE05578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64826E-4BD1-4499-80AE-2C3C3967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15F40D-AB65-41E2-89B8-9D276ECC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AE1114-AFD1-4B9B-92E6-DD764F8B0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6F13A0-7DDE-47DF-A97C-B03C294A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B7B4C3-70A7-4F4D-BD17-01642205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9CD133-17EE-489B-8313-1B447EB0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992F3F-9E13-4455-8B61-9D90A509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C025C9-D495-4A22-A753-AB2EB717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CF7808-A5E4-4CB8-8C5E-0A0C23B0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C91E6D-20BC-46C2-80D1-F8857367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1D40AD-52F0-4148-87A3-E32135F0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FA10EF-36B9-4A4B-A6DC-0F96EA2D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6D0ACF-DC5C-419C-A4FE-E8C4D748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0991E4-E379-4CF9-8C72-FD1C00A8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7403510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CBC10E-14A8-4BBC-AFD3-ADFDDE4BB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B452CA-7892-4769-8374-34336703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Esperanza — R$ 8,4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FA2154-F4EA-4682-8AA5-5D3AC00E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D86442-05DA-4690-B8A1-F0942EAD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D4D7BE-3439-49B1-8FB7-C6906381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https://fnet.bmfbovespa.com.br/fnet/publico/abrirGerenciadorDocumentosCVM?cnpjFundo=53263761000100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D93A63-2B64-48DF-8A22-CDD48D3B2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130302-8B3A-4479-9CF2-E80A3517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53.263.761/0001-00 · ESPERANZA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C250C1-E26D-4497-86B1-053ADAA5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E927F3-2E66-4B81-A0BF-6913B0E4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2C3028-EA72-4117-9597-772352FD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0A785-ABD5-48CC-B14F-45BAD352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BC661A-931D-4327-8EFB-B5315BB1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71343B-F1AC-43FD-AAA8-64D050E7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União, estados, municípios, autarquias, fundações e demais devedores de créditos vencidos ou litigiosos, conforme o direito adquirido.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A8D271-81BD-48D7-A0B0-2F0F7475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D564B5-1E43-412C-9DBF-474AE1B24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em litígio, penhorados ou dados em garantia; direitos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91500D-49E9-4AE8-BF49-CAD016BF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EE6591-F72B-472F-B47C-67D514AB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gestor seleciona direitos judiciais/NPL e outros créditos não padronizados. O regulamento permite aquisição com ou sem coobrigação do cedente.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F96C56-BF08-474C-B80B-3592B117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942AF2-32F8-442E-AAD1-2B017A6C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BC5FC0-07DB-484D-96F7-7D3A0F6B8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6B8D40-C076-480C-8587-31ADC6992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EFAE71-6AFB-490A-BFA2-C9919BF4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492F4F-6662-44F1-A970-01A2ECF0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prevê subclasses e apêndice de cotas subordinadas; eventual índice deve constar do apêndice/suplemento e não foi identificado com segurança. Garantias: Podem existir no direito adquirido; não há garantia uniforme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AE122A-97B8-4C8F-A742-62727411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D31D4E-9EC4-4AF6-B79A-99948644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REAG JUS GESTÃO DE ATIVOS JUDICIAIS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3AAECA-6DA1-4DC0-98FA-8BA1F529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AB5643-E2C3-4ACF-80DD-D88621AA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AE656B-D5B3-4E03-9F97-84EFC0030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FD2EED-9B7B-4661-B8F2-6F467D19A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permite carteira judicial/NPL ampla.</a:t>
            </a:r>
          </a:p>
        </p:txBody>
      </p:sp>
    </p:spTree>
    <p:extLst>
      <p:ext uri="{BB962C8B-B14F-4D97-AF65-F5344CB8AC3E}">
        <p14:creationId xmlns:p14="http://schemas.microsoft.com/office/powerpoint/2010/main" val="108929323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9E6862-4ECC-41BA-A841-FBD8A851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143F13-9C52-43A0-B646-206A985E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BTG Consignados II — R$ 7,9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1BD520-EE35-4CA2-9A62-A16C7503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62F26-8421-4739-B4C4-279AEC3C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BE8C38-3886-4DE5-B1A5-0BAEDAEF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1BA673-FD6D-4B2C-A88D-1B1BFF9E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CC7C11-3782-460D-A91C-A4D1FB6E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775FAD-364A-49EE-892F-6E2EA515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74D63D-61C1-4C20-82E6-DB6635B9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23E8E1-2849-4778-9FC6-A9D59BBC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EBFDB3-AC86-45D4-978B-0260A511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D5E6C7-62A5-42A0-8FEF-A0C385E2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30FC5A-7260-41ED-8923-27E56E4D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E75F59-11B8-46FC-AC66-1D120B3E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B8594F-D056-4B65-809B-B1A91DF46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E04268-F873-4F52-8604-A7668146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022DAA-684C-4A2F-B2C4-969D8335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1E94DB-B277-4356-94DD-E2FFC954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D24C58-A030-4E8B-A302-BE00145A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EA28E6-2FF5-49FD-814F-F79E6139B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9E0803-E429-40CB-AFFA-F468662F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F72F73-4D96-4756-8605-0DB97ADB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0EC704-76FD-4ADD-A731-94AB076D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F54029-AFEB-41CA-AC54-AB80BF63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23839A-9752-4C64-82F6-12D60E78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E5ED09-5B09-466A-B57F-5C3FD608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277E9A-7490-474F-B0B4-CA28C6C5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D5BE01-6409-4C4E-93A9-820691CC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9A6C47-2880-4F27-ACDD-0F02D85B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50133265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FCA0C5-5DD6-4427-84CB-EC9CF972A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62D3AC-47DD-4A23-A8C2-D3566742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MT Global · Consignado Privado — R$ 7,8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E4086B-65C0-420B-9DAC-45340D15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C42C53-ADE6-4042-B26E-A117B108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8CAAAF-C58E-4B57-957C-E927ECB9A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858DB-55AB-4A0C-9D4B-DCFDD0F7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754AD2-EEB8-42BE-86B5-FA083DB6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D90B47-F67C-4026-B1E0-8ABBC11A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685ACF-CE45-4549-849E-18DF23505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F2364D-FF8B-45DB-B6E4-9B480EEC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F9451A-8C65-4454-9B52-8705C1A4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D8FC6E-6137-47D9-BB03-63A9B0A7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FE6CA3-9131-4696-B5D0-7B67965F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E7C19A-3D1A-4285-B0D1-F1F745D29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67B062-F2F4-467E-ACBE-2053E8F8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B3D348-78C2-4305-8010-3C04BE0B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584450-4211-4829-8E1E-EFE83691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D630BE-B8EE-4A70-95CF-5CC320E6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70337D-6938-4337-8C6D-467E2C4D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69E450-A75F-4C07-A92E-C01B49ADB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0D989D-16BC-4862-BB82-FEFCD2D66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52DF11-3CFA-452A-8DA2-E1AF8BF2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4A25F6-DD26-4C44-A530-388D1E4F7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68341C-93C7-465B-82E2-0F71AA65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EF65CD-4D64-428A-82DF-7D1F3E06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860BCC-5595-4120-A106-19EDC7FE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011F26-B9C2-4FF6-A73E-CBA52B26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01D378-FC72-49AA-A0E7-328CF17E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E2D7A6-236B-4B99-A1F4-CBED6649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44866292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3A545B-4C14-48F7-96E5-85A98A1A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890185-DD2F-4E92-8B7F-41F6AA8E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PAN Auto — R$ 7,7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3169C6-1035-4459-A6AA-99788995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AA3E98-D7FB-4E69-BCDA-B6BF86AC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7E3FF3-49FC-4062-B76C-F1D131A8C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7AC845-52B7-4083-AD13-C86FD6BA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BC9C65-9D8E-458A-9086-293CB258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A733A2-3CC1-4DB5-886E-E2136C3A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23C64D-C95A-424C-917D-A576A93E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5D52F1-29A7-43F9-95FD-A05D5AF6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A35FE8-A663-4156-A959-579AC69F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1B9015-D2F5-4E21-8FF9-FCFA3005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ECE1EA-2997-41D9-A952-DF603B89E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E37A6A-D5D5-4840-ACED-4D36299E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835B20-E322-4C0C-89E2-10435B933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4C7651-1AE1-4B7A-938B-A6B1E69A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386F2C-4669-49B2-AB67-C302CBA7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CF7BFA-CD6E-45B8-83EA-2F5FC5E0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C9A7AB-284A-4BAB-B101-D267F668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1D73C9-22D2-438B-908F-3FA68EBC1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9A5BDA-4EA3-4330-A57B-509B215F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C79CC0-9834-4F18-815B-B71C864A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624C44-255E-441B-BF56-108B5018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06C63D-6C6E-4A9F-91C0-10A465DB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9DE4A7-C06A-44D8-B194-0115FB9F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572BE2-DC13-4221-83B2-9F184552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AB0868-C470-4EF7-897A-06D4937D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3061C7-77BB-4DAF-8277-9BB8BBC8E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F3E704-B2C5-4C0C-9731-90628F54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85294817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E18F81-4A91-4598-810F-E6F4E8C44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D15C9A-79FD-4B85-A352-9C61B0E2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9706CD-407A-4E74-ACEA-E94B8AA0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83EC60-39E1-4B43-8EB7-F00BA1CC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9F3EDB-031E-4E76-A3DA-F4434914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D698C7-8398-4CC8-AF8F-DD03F64D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3D5332-26C9-4BCF-A0AA-4A4CB426F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88118A-1A3E-4864-91BD-028336362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34417-C46C-4237-B88A-26C76A55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0C8188-E602-48B3-9128-F0704E45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232A38-AA6A-4272-9F4E-AA651030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6D5455-F4F3-4F15-A96F-418E610C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9A12F5-0A0E-47F6-8230-A372A8035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87A9E9-DCF8-4043-B62C-D0441489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D8B0AC-1028-4646-8281-C26FA5CD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5AB24D-26DC-45D4-928A-40C5567D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172F5F-7822-40C2-BADF-16F4FB9AF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8501CC-1A3A-4F81-8D52-69E51DAA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79578B-3BD0-452A-A024-4977C91B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91E2E2-0B81-49BA-984F-CCFC2050B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CB26EA-B6AE-415C-87C3-A7BB1BF7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09D48E-D302-4881-8C65-1535DB8F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6E9D74-3EAE-4B9F-952B-F6BFA4EF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6AF431-5233-412E-90C0-46E263A3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6474BA-2E8B-43B2-B6DE-27E6F3A6A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05255D-36C8-4C77-82EC-7DB3A82F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3EEE94-6EBC-4E2A-B396-5C90FD79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3AF439-23B0-44C4-98BF-B7195FA5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C3971C-DF3F-47DA-BF3C-12ADB2D4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2294141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34CF60-7125-4C07-ADB4-65C9500C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948A36-32C8-4D57-A2E5-9DAD3B199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PagSeguro I — R$ 6,7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2924AA-DC39-499A-BC73-B9D9FAB3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72BA60-BC1B-4449-BA79-4E39FA7C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49E691-6358-477E-B302-574A214E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61674A-7D47-4EDA-97A5-D75DA8853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C1A570-420D-45A0-AC5E-1F584536E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A829EE-DB32-44AE-A60C-513D158F3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59492C-A0FF-4BFA-AB09-28E2AD85D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F7456A-F5A2-4561-B21A-9BAA029D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7757A5-8B11-4A23-985E-E8149D38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C86779-68C1-414C-9A53-DC4C1439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7CCF3B-B44A-443F-9456-F92FA8D8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FA26A0-4EAA-450C-8A2E-7077DA9B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1906DC-6FB2-4078-9674-C565A7E3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1BE9A5-8081-4164-959B-690E7BCE5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C4390C-AEE1-4E58-A524-3E94A10D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F61951-630D-46FE-8636-4CCDD8DF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F0EF1C-0894-44F1-BE42-4EBE0D7C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C6203A-C823-4107-8E81-7C999719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A5478B-6868-4A15-BCA6-28EDDF02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1B1CCA-6D81-41A8-B11D-660F56F0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0CD0DD-24A2-4A0A-B476-4D3C4880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D48F2B-90BE-43DD-88DB-71435768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14082C-0B25-450B-9593-9E982EC8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739800-2386-45D5-9843-2D16EFCE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78B4B8-0ED7-42AE-BA9D-1ED85FA2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59AC4C-1A92-47F6-AFE3-EB6A1684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FBC54E-B49B-4D8A-87DB-3C3DB20A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30675514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ECEF77-E5DB-4BB9-9106-806C8284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F87D54-C4EA-418C-8A6C-A1AF55870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5CD020-6B8C-4C64-8BF1-B5E4E98C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A6C6EB-7A6B-46D9-88D1-1CC6CFCE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D79DA4-8780-457D-A47D-E022C1AE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85E205-2F2E-47C0-A350-7E60FF09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2D8C72-CE9D-40B8-865F-C82ED7050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33EECF-45D5-4F76-9A9D-642116335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D45A09-11CC-4E05-96FD-83AD392C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77A965-FF57-4A5B-A913-C47DCA3C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7AEB2-3AA1-4FD9-9979-439CE0B5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34F1FF-4DD8-4E29-8990-A99E4236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45423B-02D6-492E-B16E-038FB27B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FFCF49-2CB9-4695-8AB2-101CB1C8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8854CC-468E-4D47-A964-217BDF91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0F886D-B1D3-418B-8356-24D6A3D2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B4ABA5-F52A-4580-81A4-0DF8077BD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889B97-4EE6-4806-99B4-1117EB20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7D290C-D964-4253-AB19-C0F46C6E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FA5E53-15DB-4EC9-B491-186E6AA8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4E0F34-66AC-45A8-92A1-9049D358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FC437F-B719-4CD2-BA12-F38559E5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E6BE37-4446-4EEE-BC32-3F20B48E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6F119D-A846-4197-B12D-016A967D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2DE745-86CE-4A3E-BA33-5DE83F75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3DD0D0-CE7D-4CBA-9CD5-A8FDFDB8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134F05-4596-450F-9501-FD1C9EFA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2FA05A-F2B6-4088-BC8C-4F504E49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543DB0-80EA-4AD7-A03C-796CE212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25863527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E33414-25B2-4E1A-BC33-87AF9786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2E5082-70D1-4D16-8D9B-ACE179F8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ECBC06-EE5F-4BAF-B46C-DD6324ED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48C355-0893-4A51-96FE-942A7D20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370307-CAB0-41F2-B622-2A763B2D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FC0BF4-2153-429E-A42B-99B81D66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3EFB5A-7258-42F1-A5CD-570B0A28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F76471-BB7E-467A-931C-3B327FF7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2ECA4C-62DE-45E4-8C57-1E26DC63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B5AF16-4FDE-4F69-AB8D-ADB41DFC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B91E11-C2D9-4818-BF0F-7C78B8BC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153326-0440-4CA1-948C-21587CF7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7C2F03-C898-4A0E-A753-5B7B56054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0AE52B-9FC3-42B5-9C05-5A8FF3E2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A5E0B1-8411-4F97-A041-104D5459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D3A998-FB6B-4183-B96C-0F1AA60D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BDB738-78CA-403B-B6F1-670B7E6F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D74487-F0B5-400C-828D-8236DE79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F590FD-2B65-4948-B75D-1A0F0D5A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E36922-73ED-4D1C-8D58-2D2DEF0A0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5A4EF8-2427-4752-8B02-A9B7F0D9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832373-2165-49E8-B3DE-CBC6D863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30836F-7F80-4C10-8614-8242EEA9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63D1A5-440E-407B-ABBB-35EA0F78A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2661CB-E135-4CD2-83E4-503E1735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6B25C0-F3C6-4105-9511-747A4FF6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37A301-AF1A-4282-94C8-0DCC7DD6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AA8AC0-FB82-4285-8CAD-8A4DD5AB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D8A2D6-3850-4664-B9DB-0345A8ED7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203192294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6C0227-EF13-4979-BA26-A55EFB4E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F99560-4559-4EE5-8D7F-91F72408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BTG Consignados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6D2F1B-12AB-4F4D-8D81-BF573CCF7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A46EDE-C4A3-4430-B756-F8E9C8E3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6C1348-6D6F-4380-BFC1-56A47B19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270BD4-CAB3-42B6-B5C6-7D62D4FD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2AD00B-6E11-43F1-A525-7E89DB6F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2E3CBD-7D93-4828-A85C-1C56939F9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0793D9-3FAE-48BF-9965-E9E38E80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22C2E2-22B4-4189-830B-02952187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A3E4CC-B774-4444-A81E-BC2A00A2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396DEA-8C1D-4D77-BB1C-0E39E6D8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524B7C-2735-4E4B-BE28-77A8DA71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027E60-4FBB-4840-9232-54D7945A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FB1390-3FB8-48B9-8CE2-4BE92D349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D8ED98-425F-47CB-9B81-369B3AB6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FFCE72-C8B1-4717-A3E8-43E1B75B9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927290-14E5-4441-94BD-5E17F25F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7A13FF-9A15-4A5A-9C45-B6EA3917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D6C294-C717-4AC7-938A-53ED2C47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9FFB95-B00B-4FBB-A5BE-EC6E0BAE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1B7FCE-8E8A-4F5C-8F12-7C842434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A9188D-40F0-462D-A87A-F2AC9B9A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D5DB25-3A64-4E66-B05E-B9E71BB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B319F7-BBF6-4C40-8C22-F11AD5BD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842C6F-0533-4B95-991F-A26F083C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12DF7E-C245-4C5C-9AFB-2F5C4F1AE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EE129F-5B14-45DD-AAB4-FD6DAFC24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10E447-4904-4361-9712-94C081278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200786727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B4C553-2DF1-46E4-B21E-BC81E895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7FD3BB-3EBE-498C-95B0-FC084A9C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Alternative Assets III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96593E-800F-4B59-99E6-F289D7FA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DE01A6-640F-499E-BC7E-07E82BD4A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ED1FB1-E6DB-4C37-BC8C-14421CE37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5EA156-DEF0-4C22-BF75-A61CECB9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8A29E7-D18D-42C4-B043-B55C8AE9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FCF652-3637-4F53-BD8F-20717488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9C702-D1DF-424E-9AB9-8A956EFC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2E0813-4451-43B2-BF09-FEAE25E9C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674E4-450E-4285-8709-2097887A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AA795E-8A49-4DD2-B3CA-40230385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1F2F17-D892-41FF-A860-B0E48C52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0EAAEB-406D-4971-99E9-1C1746B0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5A27EB-A8E9-4098-A9DC-F5C1995B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5FA61C-4107-4E49-BABF-503204E4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B1B5DE-3102-43B0-AFDF-0E80365A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308346-BFE7-4413-8FC6-67EB2BDF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B71448-FB37-4ED9-81E2-EDAFBF25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772E31-4718-4A13-8E64-C0BD3CE2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FD5D0C-AF64-433B-A19A-14147209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DF1D9E-F387-4F99-8729-CE8F6170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69C10C-2B33-40FB-B475-FD598DFF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C4B803-6C4C-4046-B79C-FC2412FF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EADCAF-F4AA-4EF1-BD8A-1D473D80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3FDD4E-F65E-4D07-A6A1-6928390B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E7600E-0CA6-4E37-8E3C-A5FA93C27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E4195F-DC92-4C4A-A442-01DB2750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41000E-03E1-4641-A0B3-E4BCAAB4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22710989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921D82-0158-470D-9DE0-A82B0BE6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D75E61-2C04-49FB-A749-124D951C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NC 2025 I — R$ 5,7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1070A4-61EF-4728-A103-94440ED6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6F5957-8461-4958-83C7-74BBC74E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7D31BD-240A-40B3-B4B3-2DDD9FEB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https://fnet.bmfbovespa.com.br/fnet/publico/abrirGerenciadorDocumentosCVM?cnpjFundo=63700113000110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4877AB-CE04-45FD-B4D9-6F2490913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69DFAF-DA6D-454D-AAAF-30AB89B37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63.700.113/0001-10 · NC 2025 I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FDF842-08CF-4420-9D7F-48E2C170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83186B-055C-4838-854E-958C09D6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ABDB5F-382F-4AFF-82BC-8CB265B8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6B481F-9D41-4E40-AA3A-7E26F70F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há cedente único nomeado; o gestor pode adquirir direitos nos mercados primário e secundário.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2C7131-E41C-47A6-A483-0304DAD4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6A1407-EB9A-459D-9C99-ADBE82EC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Devedores/emissores dos instrumentos selecionados;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E45873-A2A1-4265-B21C-183D4C2E8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1224FB-DB12-477C-BD7C-A4A3465B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permitidos pelo art. 2º, XII, do Anexo II da RCVM 175, em qualquer setor; o regulamento exclui os direitos não padronizados do inciso XIII.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95C24D-107C-4704-AFBC-3C4D9FA6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20AAF2-B39B-4016-95AD-AF2091A3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concentração setorial contratual e com possibilidade de concentração em um mesmo devedor dentro das condições do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E0FA7D-0AD0-49A6-A267-D63585594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F44328-D4C8-4692-8003-427BBE3B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3CC339-CB7F-4E76-AC9D-3014AF82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973C88-B93F-455E-8A70-5D4514950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2025-12-09 | incorporação decorrente de cisão parcial do NC 2025 | R$ 5.300 bi | doc. 1057972; Foram incorporadas 4.953.498,00000167 cotas; não foi captação em dinheiro.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F0830F-E164-43F8-B151-33BE9C47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20CE7A-B9FC-402A-A644-5D01FEED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única; o regulamento declara que não observa índice de subordinação.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2C8E87-EFFC-459E-B483-BEC14CF9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350DBB-BBD1-4B0E-9ED4-749806AD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48E957-71A6-42E5-BCB7-B60D36922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0EF05E-28E0-4F8B-9D1A-506CB911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Multicarteiras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evidencia_documental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DB5E91-025E-481A-9E5A-7340673E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514416-457D-4669-AEEB-2B2565FAA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Não está no snapshot ANBIMA; o regulamento declara Tipo Outros/Foco Multicarteiras Outros. Tratar como evidência documental, não cadastro oficial da fotografia.</a:t>
            </a:r>
          </a:p>
        </p:txBody>
      </p:sp>
    </p:spTree>
    <p:extLst>
      <p:ext uri="{BB962C8B-B14F-4D97-AF65-F5344CB8AC3E}">
        <p14:creationId xmlns:p14="http://schemas.microsoft.com/office/powerpoint/2010/main" val="148515795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0AE9C4-95B3-47AD-A565-43597060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444071-DF33-4820-991C-41DF5945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Monee I — R$ 5,0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2EF91E-4CDB-4471-B076-E40F76F71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9BD0A4-9DA8-42A4-B65B-E3D9761C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C0C624-082F-472D-95B7-9EA7C215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CB880E-1905-47CD-B7D9-ECB162C5E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E46268-E0C6-4207-9FA5-FFE32F719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F0CB32-2E88-4752-81AB-B0DDE946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2888BC-05EE-4EC5-A3A4-62E75BD5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DD43DD-6B85-42D6-B446-14D1EA4F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423DFC-66CA-47D5-A7F9-BBE9B4AB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573606-D598-4257-801D-D854AE3D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AE35DC-8799-4C0F-BA83-D4CC215E8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89A073-F279-41A7-AD52-C36E14D80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22E775-829B-4D7C-A56D-0189FD0F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78086E-7188-4ED2-B921-FDE23CE14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7B8617-D218-4F2A-8E02-60959519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3AE813-09AC-41AE-B22C-0F4A8C58A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36B935-7989-47A7-BD8C-B83A0D45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68C5D4-1AB0-47C6-9D4C-68497DDD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0D0BF5-E351-4371-B814-29A0B0B8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39F0C2-9E19-45CC-BA39-5A3E739D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FE434F-E011-408D-89E4-C5C9D852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6892D5-0B28-4555-B7C8-29CE38A9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7AE836-6829-4582-8176-FBDB60E4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43B380-F4E7-4E03-BA8B-899F57764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67184B-6D7E-49EC-B609-7FF78F32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AE118E-7FF8-416C-B1A1-3B38606E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BCA78F-C77D-4C3A-A893-1B68BDB1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122299951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E3C54F-70D6-462D-81B8-E2A4BAB4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F75A5D-093A-4E13-BEE8-6AD2FF5E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PicPay I — R$ 4,6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759CA5-89E7-4C1C-BA68-D33DB926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BBD178-2FC9-4CC2-BD8A-69EDE6A6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267AA4-C3AD-4C9B-9836-0FD1873E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3FB5A9-76A8-45D2-8393-D8492A05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E080D6-D370-45DE-8090-E4949BF6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D388CD-BA62-45F4-8397-0E82DDF73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87A636-216A-4341-80B2-3FB524AAB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BC5554-C8AF-4348-99DC-C1F09240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66B280-1D73-4DEB-B2FD-2B8E26D3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FD317-48C8-416C-B67E-0291B47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E45628-FD93-41DA-BB72-A2B0F0C01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199206-E968-403B-91A8-851E8BB77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0C485C-6F74-437B-88AA-EAED9464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251B08-5E99-4177-9352-68063B67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477575-47AE-4BCA-948E-9DC2F45C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4052B1-0061-445F-8B7F-4D294B0A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1057D-99CE-44AE-B0E1-9539F244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C03D4E-C594-4D84-B91E-722C95A8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2BD250-18A7-4B6D-82E4-18D3F428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33A1BB-127F-439F-93A7-3A97FA1F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D8C54E-4681-4385-8E8B-BF8F35EE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5060AA-0853-4C90-830F-E3BEAD14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034174-E2BD-417E-ABA6-ACD29B5D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7D960E-8C20-4D1C-A2FE-B3F49811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86A815-FECB-4148-A929-F438499E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309D4E-575D-4872-8F02-80D72607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D4C744-DF2B-47BC-9D5B-A5DF76E0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128887752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18C7BF-130C-4135-BB22-3591B67E1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C8F5A9-5C00-4EB6-8186-92C0F39D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Artesanal Master — R$ 4,3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987989-5185-4F59-85CD-6F362A53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391F80-54C8-42F3-AF6A-E976BC462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7CC66D-EE34-41EF-BC00-3E60FB87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979A4C-4CC2-4201-97E0-4F6670D0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BD85D4-8591-4BCC-AD19-16D0E976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2BB78F-06F1-42CD-9A76-37D7F5E8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0994A7-2374-4A87-9742-38FAAE32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36AB23-17F8-4AF4-9001-D526911E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167742-3166-4F73-8BD0-E0531278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B12C1A-84D7-4F61-8DB0-96BB01B7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EEECA7-F0F0-425E-B665-FEAE0D6B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936BC7-B409-4244-BF15-27D125EA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859992-B6D0-4ABC-ADAF-52BDFB79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4FEF19-9036-4D2C-8BE3-69DA3D90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C194CB-1C34-4CCB-B0A2-565E0B4A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866A58-0DC7-4ADB-84E0-A138D64C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739289-4A49-4C69-A5D4-8639DF0C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C2C7CB-0A45-481C-BC93-872DE0D8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D5B48B-7F7E-4A5A-8B7E-56F7C5B6A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6C22D8-A9BF-4685-9CD8-27886B0D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AD027D-2746-49C6-B208-625DDE99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EE9835-BE08-445D-8ED1-E4FC27BC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B35FC0-3A4C-4EB1-BC3B-D1AF5C6F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6ACCF4-713B-4581-82D6-6BD5D5B5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BA70FE-16EC-4278-BCAA-A0FBFC950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A13056-AA27-4481-9B2D-FC68E181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FCAC38-F327-4F9B-BFAE-98386776A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58572703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29E35F-A0AC-4042-907F-95D529FB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51435F-E292-4C9B-BD16-C07DB9F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High Tower NP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A57F66-D4DD-414A-B73B-09D7E773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131A6-7F0A-49DA-9756-57484E4D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5B80B0-6218-45D9-91A0-A50F4E27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https://fnet.bmfbovespa.com.br/fnet/publico/abrirGerenciadorDocumentosCVM?cnpjFundo=51152102000163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F012E7-69B1-4FDF-8570-703EEC0A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E56488-4393-4FE8-B953-31CCEA92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51.152.102/0001-63 · HIGH TOWER FUNDO DE INVESTIMENTO EM DIREITOS CREDITÓRIOS NÃO-PADRONIZADOS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C3A216-3A9F-4CAD-8839-384E7ECCF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166318-8D8A-44D3-AB1E-3012DAA8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640AC1-9BF0-45C0-A761-2F10EEAD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de diferentes setores, em recuperação judicial ou não;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Clientes/sacados das cedentes e demais devedores dos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Política ampla de direitos financeiros, comerciais, industriais, imobiliários, de serviços, leasing e contratos de performance futura, inclusive não padronizados. Warrants não foram listados por haver conflito interno entre itens do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compra carteiras de cedentes distintos e setores diversos, sob critérios de elegibilidade e cobrança próprios.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7B961A-01BD-408D-B1AF-E2F15EF7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525F80-C80C-44CB-BEB4-F725F18A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9BAF4E-7B89-4877-87AA-BC71E184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2023-06-22 | lançamento da primeira oferta | R$ 0.100 bi | doc. 487085; Valor máximo; distribuição parcial permitida e colocação integral não comprovada.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subordinação mínima de 5% do PL após emissão de cotas sênior. Garantias: Variam por direito; não há garantia uniforme identificada.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8614D9-586D-406D-98BE-FA303CFD0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542A67-36B3-4694-BF62-57D280FC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Outros, com direitos não padronizados amplos. Ata de 06/05/2026 identifica cotista único e administradora em liquidação extrajudicial; reconciliar a denominação dos prestadores com o cadastro CVM.</a:t>
            </a:r>
          </a:p>
        </p:txBody>
      </p:sp>
    </p:spTree>
    <p:extLst>
      <p:ext uri="{BB962C8B-B14F-4D97-AF65-F5344CB8AC3E}">
        <p14:creationId xmlns:p14="http://schemas.microsoft.com/office/powerpoint/2010/main" val="46495476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7FC379-D192-450A-84ED-D6C498FD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2879B9-0293-409F-A0C2-0091CEDED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Day Maxx 2 — R$ 3,9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D879B9-E749-4DF3-8935-F12CA3E5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4A73A2-7DD7-4958-890C-162C38AB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C6F576-1077-487D-8019-83A24B92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4435B8-A823-43D9-8250-500CF3AE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12625B-77EC-46E7-B0D5-8972F837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C166F1-E3A0-4FA4-BB30-7CBA510B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B0B8A3-490C-4F79-B81B-618035B9C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1D8211-84EC-4B2E-BB49-7AD9A147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5A1DEF-C55E-4450-BE6B-374C2E88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64F4E0-5911-4005-B82A-DCDF0915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169693-0863-4C7D-998D-B58CF161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5B0ACB-A906-404D-B562-FADCF9978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6893CA-FEC7-4CD0-A30F-253C3D6D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0C53A-1105-4E4F-88F9-F51799FD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79BC84-3EFB-460C-B200-1FECC8666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FEE9BE-76DB-46FB-BC05-7A7839C3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9912A4-0F4B-4B83-B8A0-BD365B36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570327-6BFE-43BD-BF62-CF5B6E43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1B1EEC-B0BC-4D96-B857-06591EEF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0E205A-BD31-47A9-879A-FFEBD7C73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61C184-26AE-427D-A2FD-AC08D18C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7518A0-E9D1-4577-92DE-4A3C3D408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76F8F2-0C19-488E-B6E0-9DAE30A64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12131E-004B-4C8E-AAAB-D9E88C58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60A999-9F26-4A87-82B8-83285D662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F8CEEF-65A8-47DA-B2BC-22DB34EF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86530E-0D2B-4188-A6B8-2A5C0B4C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10295934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E2F7479-C375-4C76-B27E-6CF8A479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1EC751-A75A-4004-B0DD-D62F7F85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856EA4-2B69-48E9-AE03-A1B2A5B5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B0A974-B7BE-4A8B-96F8-AF07FAFFB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84258D-381F-4DF3-97ED-BC73F5B7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C3705-23C8-479A-B2B4-601811E8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BC91F5-3922-47C8-8676-B7F0C782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C0509C-4B1C-41F3-A4E5-369060739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89350A-BAFA-41B2-907A-12D19ACB6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96D337-168F-4421-BBDA-3E79B0355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88ACAB-EC69-4498-A9D8-41F05005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7E88D7-B0FE-4247-9887-93F1E567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BE8A0C-95DB-4CE2-9C93-117C7BAE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DA7742-BD03-403B-AFD8-57CFF8BD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0EAF32-DA7A-431D-9787-4BBFAFE5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AF1859-3471-4461-A5D4-106D3AD9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B62C67-E0A1-41A0-B0C7-16FC6650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R$ 142,2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A0A496-182D-48ED-8472-CF86D1A7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2D260E-76AB-4757-85EC-8DAC5EBD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08DE07-5463-4E4A-82EC-BC888A0B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R$ 155,0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12DACE-11E3-4005-8B03-61DD501B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CC61A8-B47B-4C37-9BD0-6F0D245F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A3C4ED-296D-4E56-9861-AB495EB8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99,3%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BAB1A8-F8D8-4711-BA7E-A2E3847F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682BF7-2897-453E-9398-3983EC4C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C3335E-C398-4864-853A-CAC75856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99,95%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FE216C-C612-4C55-8A95-C325C986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FBAB3A-E244-44B6-B5AF-690E07AE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0EB768-57EF-4F76-B8B4-6D353FAB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45D0C2-44CA-44E5-8EE5-D306FC64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3A2A30-D32E-4DD7-AABE-203ABE6BD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E7F2E9-CBAF-4045-A9A1-78BA39D9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4CF536-E8A8-4A4D-AE13-4A04A04B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5232A3-1939-4A6F-B12D-2F6E83E5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596B9F-62D2-4449-96FA-F16F6FD4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A0E0F5-3F01-4448-890A-A5F79E480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1EB3E8E-F6FE-495A-9C7D-5613BABB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B2C739-3235-47F9-B348-10135B5E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190DCF-7248-423D-A8D9-10D7A350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38C519-2BEB-412F-927D-2118AA0A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0483F1-C6EE-42A8-9F55-E87F99D2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B68DB27-4753-464C-9C92-AF4A4245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18663E6-8EFF-4B7E-9CA6-54CAFF2F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6E18ACB-7091-4E91-BF9C-8829279D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409C32F-D853-4BF4-8643-C4AACB6C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9DC88C3-71CE-4A64-969E-09B162D7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93ADE8F-0EC8-44BD-95C0-013B2DA9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A058AE0-5C8B-4D7C-AC5A-1A593ECF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57544FC-DAB7-40FB-BE6F-A67A0150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D081CFF-B14E-4A57-A4A5-63F4BC00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6C52E2C-C98C-4144-804F-9D4868D6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733657C-0051-4934-9173-E173CC51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DA9DE7B-C495-4870-AFA1-3AF7217B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A6CE5B6-5241-45E4-9097-3157CD79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queda de R$ 16,6 bi no bruto não foi recuperação em caixa: coincide com troca de administrador e mudança de apresentação/mensuração. As DFs registram opinião modificada para 01/01–19/07/24 por inconsistências de lastro e posição. A série não é like-for-like; a subclasse atual também diverge entre DFs e informe mensal.</a:t>
            </a:r>
          </a:p>
        </p:txBody>
      </p:sp>
    </p:spTree>
    <p:extLst>
      <p:ext uri="{BB962C8B-B14F-4D97-AF65-F5344CB8AC3E}">
        <p14:creationId xmlns:p14="http://schemas.microsoft.com/office/powerpoint/2010/main" val="1635157366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2026-07-17T15:18:42.8900000Z</dcterms:created>
  <dcterms:modified xsi:type="dcterms:W3CDTF">2026-07-17T15:18:42.8900000Z</dcterms:modified>
</coreProperties>
</file>