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6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4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34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slides/charts/chart50.xml" ContentType="application/vnd.openxmlformats-officedocument.drawingml.chart+xml"/>
  <Override PartName="/ppt/slides/charts/chart51.xml" ContentType="application/vnd.openxmlformats-officedocument.drawingml.chart+xml"/>
  <Override PartName="/ppt/slides/charts/chart52.xml" ContentType="application/vnd.openxmlformats-officedocument.drawingml.chart+xml"/>
  <Override PartName="/ppt/slides/charts/chart53.xml" ContentType="application/vnd.openxmlformats-officedocument.drawingml.chart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slides/charts/chart54.xml" ContentType="application/vnd.openxmlformats-officedocument.drawingml.chart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slides/charts/chart55.xml" ContentType="application/vnd.openxmlformats-officedocument.drawingml.chart+xml"/>
  <Override PartName="/ppt/slides/charts/chart56.xml" ContentType="application/vnd.openxmlformats-officedocument.drawingml.chart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slides/charts/chart57.xml" ContentType="application/vnd.openxmlformats-officedocument.drawingml.chart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slides/charts/chart58.xml" ContentType="application/vnd.openxmlformats-officedocument.drawingml.chart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slides/charts/chart59.xml" ContentType="application/vnd.openxmlformats-officedocument.drawingml.chart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slides/charts/chart60.xml" ContentType="application/vnd.openxmlformats-officedocument.drawingml.chart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slides/charts/chart61.xml" ContentType="application/vnd.openxmlformats-officedocument.drawingml.chart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slides/charts/chart62.xml" ContentType="application/vnd.openxmlformats-officedocument.drawingml.chart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b676b6c558f4504" /><Relationship Type="http://schemas.openxmlformats.org/officeDocument/2006/relationships/extended-properties" Target="/docProps/app.xml" Id="R7f500e10c28646a0" /><Relationship Type="http://schemas.openxmlformats.org/officeDocument/2006/relationships/officeDocument" Target="/ppt/presentation.xml" Id="R93195cebf4fc46a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b6c1fb0945d4880"/>
  </p:sldMasterIdLst>
  <p:notesMasterIdLst>
    <p:notesMasterId xmlns:r="http://schemas.openxmlformats.org/officeDocument/2006/relationships" r:id="Re980b5f1379b4d32"/>
  </p:notesMasterIdLst>
  <p:sldIdLst>
    <p:sldId xmlns:r="http://schemas.openxmlformats.org/officeDocument/2006/relationships" id="256" r:id="Rfb898df6e4944607"/>
    <p:sldId xmlns:r="http://schemas.openxmlformats.org/officeDocument/2006/relationships" id="257" r:id="R7415f1dbc5e64157"/>
    <p:sldId xmlns:r="http://schemas.openxmlformats.org/officeDocument/2006/relationships" id="258" r:id="Re5e3451f82ea4173"/>
    <p:sldId xmlns:r="http://schemas.openxmlformats.org/officeDocument/2006/relationships" id="259" r:id="R3f8acde585604090"/>
    <p:sldId xmlns:r="http://schemas.openxmlformats.org/officeDocument/2006/relationships" id="260" r:id="Rf14c3b3dd6d84b9b"/>
    <p:sldId xmlns:r="http://schemas.openxmlformats.org/officeDocument/2006/relationships" id="261" r:id="R32cdc440659f469f"/>
    <p:sldId xmlns:r="http://schemas.openxmlformats.org/officeDocument/2006/relationships" id="262" r:id="R824cf32e2e554100"/>
    <p:sldId xmlns:r="http://schemas.openxmlformats.org/officeDocument/2006/relationships" id="263" r:id="R1ae9252c9dd846ef"/>
    <p:sldId xmlns:r="http://schemas.openxmlformats.org/officeDocument/2006/relationships" id="264" r:id="Rc0c81ccbf5f14c15"/>
    <p:sldId xmlns:r="http://schemas.openxmlformats.org/officeDocument/2006/relationships" id="265" r:id="R785801f70ac7435d"/>
    <p:sldId xmlns:r="http://schemas.openxmlformats.org/officeDocument/2006/relationships" id="266" r:id="Re612aee75f8e48e0"/>
    <p:sldId xmlns:r="http://schemas.openxmlformats.org/officeDocument/2006/relationships" id="267" r:id="R51072e4ffe684db3"/>
    <p:sldId xmlns:r="http://schemas.openxmlformats.org/officeDocument/2006/relationships" id="268" r:id="R137bc9f7e9d442d7"/>
    <p:sldId xmlns:r="http://schemas.openxmlformats.org/officeDocument/2006/relationships" id="269" r:id="R622f8bbc7862479c"/>
    <p:sldId xmlns:r="http://schemas.openxmlformats.org/officeDocument/2006/relationships" id="270" r:id="Ra3419e48921a48db"/>
    <p:sldId xmlns:r="http://schemas.openxmlformats.org/officeDocument/2006/relationships" id="271" r:id="R22e2bd69487f4a96"/>
    <p:sldId xmlns:r="http://schemas.openxmlformats.org/officeDocument/2006/relationships" id="272" r:id="R2770d9a752eb4728"/>
    <p:sldId xmlns:r="http://schemas.openxmlformats.org/officeDocument/2006/relationships" id="273" r:id="R99cb141b7e814008"/>
    <p:sldId xmlns:r="http://schemas.openxmlformats.org/officeDocument/2006/relationships" id="274" r:id="R8de0762112574815"/>
    <p:sldId xmlns:r="http://schemas.openxmlformats.org/officeDocument/2006/relationships" id="275" r:id="R61de1ca8e9b041b3"/>
    <p:sldId xmlns:r="http://schemas.openxmlformats.org/officeDocument/2006/relationships" id="276" r:id="R1c40f90cffb04c3a"/>
    <p:sldId xmlns:r="http://schemas.openxmlformats.org/officeDocument/2006/relationships" id="277" r:id="R761b9b9a757d44d3"/>
    <p:sldId xmlns:r="http://schemas.openxmlformats.org/officeDocument/2006/relationships" id="278" r:id="R75854754773e4774"/>
    <p:sldId xmlns:r="http://schemas.openxmlformats.org/officeDocument/2006/relationships" id="279" r:id="Ree4c6af6f9c34ed7"/>
    <p:sldId xmlns:r="http://schemas.openxmlformats.org/officeDocument/2006/relationships" id="280" r:id="Ra12f782e1c2647d8"/>
    <p:sldId xmlns:r="http://schemas.openxmlformats.org/officeDocument/2006/relationships" id="281" r:id="Ra15d349d49144c3b"/>
    <p:sldId xmlns:r="http://schemas.openxmlformats.org/officeDocument/2006/relationships" id="282" r:id="Rcd6f3c70837344ba"/>
    <p:sldId xmlns:r="http://schemas.openxmlformats.org/officeDocument/2006/relationships" id="283" r:id="R640851e281954ce0"/>
    <p:sldId xmlns:r="http://schemas.openxmlformats.org/officeDocument/2006/relationships" id="284" r:id="Rdbb7083b393d4954"/>
    <p:sldId xmlns:r="http://schemas.openxmlformats.org/officeDocument/2006/relationships" id="285" r:id="R053b5be939994b38"/>
    <p:sldId xmlns:r="http://schemas.openxmlformats.org/officeDocument/2006/relationships" id="286" r:id="R2c5201a3b5364f86"/>
    <p:sldId xmlns:r="http://schemas.openxmlformats.org/officeDocument/2006/relationships" id="287" r:id="R9a24c2389b7e420a"/>
    <p:sldId xmlns:r="http://schemas.openxmlformats.org/officeDocument/2006/relationships" id="288" r:id="Rb8cbb50b17714d0f"/>
    <p:sldId xmlns:r="http://schemas.openxmlformats.org/officeDocument/2006/relationships" id="289" r:id="Ra7ada72855344fdd"/>
    <p:sldId xmlns:r="http://schemas.openxmlformats.org/officeDocument/2006/relationships" id="290" r:id="Rc9295cd099a244eb"/>
    <p:sldId xmlns:r="http://schemas.openxmlformats.org/officeDocument/2006/relationships" id="291" r:id="R0da506254fca4dda"/>
    <p:sldId xmlns:r="http://schemas.openxmlformats.org/officeDocument/2006/relationships" id="292" r:id="R44ba370fe0ed462e"/>
    <p:sldId xmlns:r="http://schemas.openxmlformats.org/officeDocument/2006/relationships" id="293" r:id="R563aa54502dc4d14"/>
    <p:sldId xmlns:r="http://schemas.openxmlformats.org/officeDocument/2006/relationships" id="294" r:id="R3982bd622c5c4a6a"/>
    <p:sldId xmlns:r="http://schemas.openxmlformats.org/officeDocument/2006/relationships" id="295" r:id="Rbae154a78b534a7b"/>
    <p:sldId xmlns:r="http://schemas.openxmlformats.org/officeDocument/2006/relationships" id="296" r:id="R3c35d5541d9c45b8"/>
    <p:sldId xmlns:r="http://schemas.openxmlformats.org/officeDocument/2006/relationships" id="297" r:id="R27d1621c4b8b4c07"/>
    <p:sldId xmlns:r="http://schemas.openxmlformats.org/officeDocument/2006/relationships" id="298" r:id="R39a4ede1930e4470"/>
    <p:sldId xmlns:r="http://schemas.openxmlformats.org/officeDocument/2006/relationships" id="299" r:id="Rad7a748e311f4770"/>
    <p:sldId xmlns:r="http://schemas.openxmlformats.org/officeDocument/2006/relationships" id="300" r:id="Ra59de6beaac0448b"/>
    <p:sldId xmlns:r="http://schemas.openxmlformats.org/officeDocument/2006/relationships" id="301" r:id="R50165685d8b84cbd"/>
    <p:sldId xmlns:r="http://schemas.openxmlformats.org/officeDocument/2006/relationships" id="302" r:id="R0c3d0bb8e302484e"/>
    <p:sldId xmlns:r="http://schemas.openxmlformats.org/officeDocument/2006/relationships" id="303" r:id="Rfecb2ee3c0cc4a52"/>
    <p:sldId xmlns:r="http://schemas.openxmlformats.org/officeDocument/2006/relationships" id="304" r:id="R37e09a379a174a6e"/>
    <p:sldId xmlns:r="http://schemas.openxmlformats.org/officeDocument/2006/relationships" id="305" r:id="R3f1322e63b01421b"/>
    <p:sldId xmlns:r="http://schemas.openxmlformats.org/officeDocument/2006/relationships" id="306" r:id="R2fb33e6032ac476c"/>
    <p:sldId xmlns:r="http://schemas.openxmlformats.org/officeDocument/2006/relationships" id="307" r:id="R4547ae79afa343e1"/>
    <p:sldId xmlns:r="http://schemas.openxmlformats.org/officeDocument/2006/relationships" id="308" r:id="R050d5c6c4cbd404f"/>
    <p:sldId xmlns:r="http://schemas.openxmlformats.org/officeDocument/2006/relationships" id="309" r:id="R2febca0abf264fe8"/>
    <p:sldId xmlns:r="http://schemas.openxmlformats.org/officeDocument/2006/relationships" id="310" r:id="R7cf7fd9a09054bfb"/>
    <p:sldId xmlns:r="http://schemas.openxmlformats.org/officeDocument/2006/relationships" id="311" r:id="R31a36cb9f8c24232"/>
    <p:sldId xmlns:r="http://schemas.openxmlformats.org/officeDocument/2006/relationships" id="312" r:id="R68b9a98864e7443d"/>
    <p:sldId xmlns:r="http://schemas.openxmlformats.org/officeDocument/2006/relationships" id="313" r:id="R3d40320561b948f2"/>
    <p:sldId xmlns:r="http://schemas.openxmlformats.org/officeDocument/2006/relationships" id="314" r:id="R510c5d4549734be2"/>
    <p:sldId xmlns:r="http://schemas.openxmlformats.org/officeDocument/2006/relationships" id="315" r:id="R2275f748097541c6"/>
    <p:sldId xmlns:r="http://schemas.openxmlformats.org/officeDocument/2006/relationships" id="316" r:id="Ra63ba4c5f0944a5b"/>
    <p:sldId xmlns:r="http://schemas.openxmlformats.org/officeDocument/2006/relationships" id="317" r:id="Rc370a43fe98a4589"/>
    <p:sldId xmlns:r="http://schemas.openxmlformats.org/officeDocument/2006/relationships" id="318" r:id="R3b2d1f68514b4d6c"/>
    <p:sldId xmlns:r="http://schemas.openxmlformats.org/officeDocument/2006/relationships" id="319" r:id="Rc20d937c35ec4bf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35ef4c46c094592" /><Relationship Type="http://schemas.openxmlformats.org/officeDocument/2006/relationships/slideMaster" Target="/ppt/slideMasters/slideMaster1.xml" Id="Rdb6c1fb0945d4880" /><Relationship Type="http://schemas.openxmlformats.org/officeDocument/2006/relationships/notesMaster" Target="/ppt/notesMasters/notesMaster1.xml" Id="Re980b5f1379b4d32" /><Relationship Type="http://schemas.openxmlformats.org/officeDocument/2006/relationships/presProps" Target="/ppt/presProps.xml" Id="R14723214bf7c4fa8" /><Relationship Type="http://schemas.openxmlformats.org/officeDocument/2006/relationships/tableStyles" Target="/ppt/tableStyles.xml" Id="R57e3ab8ab54e445f" /><Relationship Type="http://schemas.openxmlformats.org/officeDocument/2006/relationships/slide" Target="/ppt/slides/slide1.xml" Id="Rfb898df6e4944607" /><Relationship Type="http://schemas.openxmlformats.org/officeDocument/2006/relationships/slide" Target="/ppt/slides/slide2.xml" Id="R7415f1dbc5e64157" /><Relationship Type="http://schemas.openxmlformats.org/officeDocument/2006/relationships/slide" Target="/ppt/slides/slide3.xml" Id="Re5e3451f82ea4173" /><Relationship Type="http://schemas.openxmlformats.org/officeDocument/2006/relationships/slide" Target="/ppt/slides/slide4.xml" Id="R3f8acde585604090" /><Relationship Type="http://schemas.openxmlformats.org/officeDocument/2006/relationships/slide" Target="/ppt/slides/slide5.xml" Id="Rf14c3b3dd6d84b9b" /><Relationship Type="http://schemas.openxmlformats.org/officeDocument/2006/relationships/slide" Target="/ppt/slides/slide6.xml" Id="R32cdc440659f469f" /><Relationship Type="http://schemas.openxmlformats.org/officeDocument/2006/relationships/slide" Target="/ppt/slides/slide7.xml" Id="R824cf32e2e554100" /><Relationship Type="http://schemas.openxmlformats.org/officeDocument/2006/relationships/slide" Target="/ppt/slides/slide8.xml" Id="R1ae9252c9dd846ef" /><Relationship Type="http://schemas.openxmlformats.org/officeDocument/2006/relationships/slide" Target="/ppt/slides/slide9.xml" Id="Rc0c81ccbf5f14c15" /><Relationship Type="http://schemas.openxmlformats.org/officeDocument/2006/relationships/slide" Target="/ppt/slides/slide10.xml" Id="R785801f70ac7435d" /><Relationship Type="http://schemas.openxmlformats.org/officeDocument/2006/relationships/slide" Target="/ppt/slides/slide11.xml" Id="Re612aee75f8e48e0" /><Relationship Type="http://schemas.openxmlformats.org/officeDocument/2006/relationships/slide" Target="/ppt/slides/slide12.xml" Id="R51072e4ffe684db3" /><Relationship Type="http://schemas.openxmlformats.org/officeDocument/2006/relationships/slide" Target="/ppt/slides/slide13.xml" Id="R137bc9f7e9d442d7" /><Relationship Type="http://schemas.openxmlformats.org/officeDocument/2006/relationships/slide" Target="/ppt/slides/slide14.xml" Id="R622f8bbc7862479c" /><Relationship Type="http://schemas.openxmlformats.org/officeDocument/2006/relationships/slide" Target="/ppt/slides/slide15.xml" Id="Ra3419e48921a48db" /><Relationship Type="http://schemas.openxmlformats.org/officeDocument/2006/relationships/slide" Target="/ppt/slides/slide16.xml" Id="R22e2bd69487f4a96" /><Relationship Type="http://schemas.openxmlformats.org/officeDocument/2006/relationships/slide" Target="/ppt/slides/slide17.xml" Id="R2770d9a752eb4728" /><Relationship Type="http://schemas.openxmlformats.org/officeDocument/2006/relationships/slide" Target="/ppt/slides/slide18.xml" Id="R99cb141b7e814008" /><Relationship Type="http://schemas.openxmlformats.org/officeDocument/2006/relationships/slide" Target="/ppt/slides/slide19.xml" Id="R8de0762112574815" /><Relationship Type="http://schemas.openxmlformats.org/officeDocument/2006/relationships/slide" Target="/ppt/slides/slide20.xml" Id="R61de1ca8e9b041b3" /><Relationship Type="http://schemas.openxmlformats.org/officeDocument/2006/relationships/slide" Target="/ppt/slides/slide21.xml" Id="R1c40f90cffb04c3a" /><Relationship Type="http://schemas.openxmlformats.org/officeDocument/2006/relationships/slide" Target="/ppt/slides/slide22.xml" Id="R761b9b9a757d44d3" /><Relationship Type="http://schemas.openxmlformats.org/officeDocument/2006/relationships/slide" Target="/ppt/slides/slide23.xml" Id="R75854754773e4774" /><Relationship Type="http://schemas.openxmlformats.org/officeDocument/2006/relationships/slide" Target="/ppt/slides/slide24.xml" Id="Ree4c6af6f9c34ed7" /><Relationship Type="http://schemas.openxmlformats.org/officeDocument/2006/relationships/slide" Target="/ppt/slides/slide25.xml" Id="Ra12f782e1c2647d8" /><Relationship Type="http://schemas.openxmlformats.org/officeDocument/2006/relationships/slide" Target="/ppt/slides/slide26.xml" Id="Ra15d349d49144c3b" /><Relationship Type="http://schemas.openxmlformats.org/officeDocument/2006/relationships/slide" Target="/ppt/slides/slide27.xml" Id="Rcd6f3c70837344ba" /><Relationship Type="http://schemas.openxmlformats.org/officeDocument/2006/relationships/slide" Target="/ppt/slides/slide28.xml" Id="R640851e281954ce0" /><Relationship Type="http://schemas.openxmlformats.org/officeDocument/2006/relationships/slide" Target="/ppt/slides/slide29.xml" Id="Rdbb7083b393d4954" /><Relationship Type="http://schemas.openxmlformats.org/officeDocument/2006/relationships/slide" Target="/ppt/slides/slide30.xml" Id="R053b5be939994b38" /><Relationship Type="http://schemas.openxmlformats.org/officeDocument/2006/relationships/slide" Target="/ppt/slides/slide31.xml" Id="R2c5201a3b5364f86" /><Relationship Type="http://schemas.openxmlformats.org/officeDocument/2006/relationships/slide" Target="/ppt/slides/slide32.xml" Id="R9a24c2389b7e420a" /><Relationship Type="http://schemas.openxmlformats.org/officeDocument/2006/relationships/slide" Target="/ppt/slides/slide33.xml" Id="Rb8cbb50b17714d0f" /><Relationship Type="http://schemas.openxmlformats.org/officeDocument/2006/relationships/slide" Target="/ppt/slides/slide34.xml" Id="Ra7ada72855344fdd" /><Relationship Type="http://schemas.openxmlformats.org/officeDocument/2006/relationships/slide" Target="/ppt/slides/slide35.xml" Id="Rc9295cd099a244eb" /><Relationship Type="http://schemas.openxmlformats.org/officeDocument/2006/relationships/slide" Target="/ppt/slides/slide36.xml" Id="R0da506254fca4dda" /><Relationship Type="http://schemas.openxmlformats.org/officeDocument/2006/relationships/slide" Target="/ppt/slides/slide37.xml" Id="R44ba370fe0ed462e" /><Relationship Type="http://schemas.openxmlformats.org/officeDocument/2006/relationships/slide" Target="/ppt/slides/slide38.xml" Id="R563aa54502dc4d14" /><Relationship Type="http://schemas.openxmlformats.org/officeDocument/2006/relationships/slide" Target="/ppt/slides/slide39.xml" Id="R3982bd622c5c4a6a" /><Relationship Type="http://schemas.openxmlformats.org/officeDocument/2006/relationships/slide" Target="/ppt/slides/slide40.xml" Id="Rbae154a78b534a7b" /><Relationship Type="http://schemas.openxmlformats.org/officeDocument/2006/relationships/slide" Target="/ppt/slides/slide41.xml" Id="R3c35d5541d9c45b8" /><Relationship Type="http://schemas.openxmlformats.org/officeDocument/2006/relationships/slide" Target="/ppt/slides/slide42.xml" Id="R27d1621c4b8b4c07" /><Relationship Type="http://schemas.openxmlformats.org/officeDocument/2006/relationships/slide" Target="/ppt/slides/slide43.xml" Id="R39a4ede1930e4470" /><Relationship Type="http://schemas.openxmlformats.org/officeDocument/2006/relationships/slide" Target="/ppt/slides/slide44.xml" Id="Rad7a748e311f4770" /><Relationship Type="http://schemas.openxmlformats.org/officeDocument/2006/relationships/slide" Target="/ppt/slides/slide45.xml" Id="Ra59de6beaac0448b" /><Relationship Type="http://schemas.openxmlformats.org/officeDocument/2006/relationships/slide" Target="/ppt/slides/slide46.xml" Id="R50165685d8b84cbd" /><Relationship Type="http://schemas.openxmlformats.org/officeDocument/2006/relationships/slide" Target="/ppt/slides/slide47.xml" Id="R0c3d0bb8e302484e" /><Relationship Type="http://schemas.openxmlformats.org/officeDocument/2006/relationships/slide" Target="/ppt/slides/slide48.xml" Id="Rfecb2ee3c0cc4a52" /><Relationship Type="http://schemas.openxmlformats.org/officeDocument/2006/relationships/slide" Target="/ppt/slides/slide49.xml" Id="R37e09a379a174a6e" /><Relationship Type="http://schemas.openxmlformats.org/officeDocument/2006/relationships/slide" Target="/ppt/slides/slide50.xml" Id="R3f1322e63b01421b" /><Relationship Type="http://schemas.openxmlformats.org/officeDocument/2006/relationships/slide" Target="/ppt/slides/slide51.xml" Id="R2fb33e6032ac476c" /><Relationship Type="http://schemas.openxmlformats.org/officeDocument/2006/relationships/slide" Target="/ppt/slides/slide52.xml" Id="R4547ae79afa343e1" /><Relationship Type="http://schemas.openxmlformats.org/officeDocument/2006/relationships/slide" Target="/ppt/slides/slide53.xml" Id="R050d5c6c4cbd404f" /><Relationship Type="http://schemas.openxmlformats.org/officeDocument/2006/relationships/slide" Target="/ppt/slides/slide54.xml" Id="R2febca0abf264fe8" /><Relationship Type="http://schemas.openxmlformats.org/officeDocument/2006/relationships/slide" Target="/ppt/slides/slide55.xml" Id="R7cf7fd9a09054bfb" /><Relationship Type="http://schemas.openxmlformats.org/officeDocument/2006/relationships/slide" Target="/ppt/slides/slide56.xml" Id="R31a36cb9f8c24232" /><Relationship Type="http://schemas.openxmlformats.org/officeDocument/2006/relationships/slide" Target="/ppt/slides/slide57.xml" Id="R68b9a98864e7443d" /><Relationship Type="http://schemas.openxmlformats.org/officeDocument/2006/relationships/slide" Target="/ppt/slides/slide58.xml" Id="R3d40320561b948f2" /><Relationship Type="http://schemas.openxmlformats.org/officeDocument/2006/relationships/slide" Target="/ppt/slides/slide59.xml" Id="R510c5d4549734be2" /><Relationship Type="http://schemas.openxmlformats.org/officeDocument/2006/relationships/slide" Target="/ppt/slides/slide60.xml" Id="R2275f748097541c6" /><Relationship Type="http://schemas.openxmlformats.org/officeDocument/2006/relationships/slide" Target="/ppt/slides/slide61.xml" Id="Ra63ba4c5f0944a5b" /><Relationship Type="http://schemas.openxmlformats.org/officeDocument/2006/relationships/slide" Target="/ppt/slides/slide62.xml" Id="Rc370a43fe98a4589" /><Relationship Type="http://schemas.openxmlformats.org/officeDocument/2006/relationships/slide" Target="/ppt/slides/slide63.xml" Id="R3b2d1f68514b4d6c" /><Relationship Type="http://schemas.openxmlformats.org/officeDocument/2006/relationships/slide" Target="/ppt/slides/slide64.xml" Id="Rc20d937c35ec4bf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c42815eb0a743f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b625fc37264e6f" /><Relationship Type="http://schemas.openxmlformats.org/officeDocument/2006/relationships/notesMaster" Target="/ppt/notesMasters/notesMaster1.xml" Id="Rc3cc2fce39a044b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7015deb7b7f408f" /><Relationship Type="http://schemas.openxmlformats.org/officeDocument/2006/relationships/notesMaster" Target="/ppt/notesMasters/notesMaster1.xml" Id="R92b41449aff14a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fffdea58eec492b" /><Relationship Type="http://schemas.openxmlformats.org/officeDocument/2006/relationships/notesMaster" Target="/ppt/notesMasters/notesMaster1.xml" Id="R63c78fea3d634d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44c4106f5f40f8" /><Relationship Type="http://schemas.openxmlformats.org/officeDocument/2006/relationships/notesMaster" Target="/ppt/notesMasters/notesMaster1.xml" Id="R7fc510ed646d458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595d799bc744a11" /><Relationship Type="http://schemas.openxmlformats.org/officeDocument/2006/relationships/notesMaster" Target="/ppt/notesMasters/notesMaster1.xml" Id="R96c13b17ae2440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b80b12abc164c64" /><Relationship Type="http://schemas.openxmlformats.org/officeDocument/2006/relationships/notesMaster" Target="/ppt/notesMasters/notesMaster1.xml" Id="Re035031ada17497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9efa1d25c9a4471" /><Relationship Type="http://schemas.openxmlformats.org/officeDocument/2006/relationships/notesMaster" Target="/ppt/notesMasters/notesMaster1.xml" Id="Ra0bfdf21c15f4fe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2792060b0204af8" /><Relationship Type="http://schemas.openxmlformats.org/officeDocument/2006/relationships/notesMaster" Target="/ppt/notesMasters/notesMaster1.xml" Id="Rfe801643704c456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ba59609458443bb" /><Relationship Type="http://schemas.openxmlformats.org/officeDocument/2006/relationships/notesMaster" Target="/ppt/notesMasters/notesMaster1.xml" Id="Re09b995e6d7445b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357143648004093" /><Relationship Type="http://schemas.openxmlformats.org/officeDocument/2006/relationships/notesMaster" Target="/ppt/notesMasters/notesMaster1.xml" Id="R8893efde8806453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a0bc40d604b4c6f" /><Relationship Type="http://schemas.openxmlformats.org/officeDocument/2006/relationships/notesMaster" Target="/ppt/notesMasters/notesMaster1.xml" Id="R0cdcb051c22049f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18b7b64322c4329" /><Relationship Type="http://schemas.openxmlformats.org/officeDocument/2006/relationships/notesMaster" Target="/ppt/notesMasters/notesMaster1.xml" Id="R55cc30520196484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7cb01e58d574500" /><Relationship Type="http://schemas.openxmlformats.org/officeDocument/2006/relationships/notesMaster" Target="/ppt/notesMasters/notesMaster1.xml" Id="Rab478afcfb244a9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226dfb0cddf465d" /><Relationship Type="http://schemas.openxmlformats.org/officeDocument/2006/relationships/notesMaster" Target="/ppt/notesMasters/notesMaster1.xml" Id="R35b8a47c4b1d413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4647d3f9c624329" /><Relationship Type="http://schemas.openxmlformats.org/officeDocument/2006/relationships/notesMaster" Target="/ppt/notesMasters/notesMaster1.xml" Id="R4295b5cd2ad24da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28cfd8901394b62" /><Relationship Type="http://schemas.openxmlformats.org/officeDocument/2006/relationships/notesMaster" Target="/ppt/notesMasters/notesMaster1.xml" Id="R2ce4cb7e439943b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5f65020037f4595" /><Relationship Type="http://schemas.openxmlformats.org/officeDocument/2006/relationships/notesMaster" Target="/ppt/notesMasters/notesMaster1.xml" Id="Raad64f49074e4b3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54793971f524d87" /><Relationship Type="http://schemas.openxmlformats.org/officeDocument/2006/relationships/notesMaster" Target="/ppt/notesMasters/notesMaster1.xml" Id="Rdf94acb489eb4d9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c0f58879d5b4ac8" /><Relationship Type="http://schemas.openxmlformats.org/officeDocument/2006/relationships/notesMaster" Target="/ppt/notesMasters/notesMaster1.xml" Id="Rb032bc76a739463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1ec6d43c5864712" /><Relationship Type="http://schemas.openxmlformats.org/officeDocument/2006/relationships/notesMaster" Target="/ppt/notesMasters/notesMaster1.xml" Id="R9cb62a0ac8a64ee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b66700d2c744979" /><Relationship Type="http://schemas.openxmlformats.org/officeDocument/2006/relationships/notesMaster" Target="/ppt/notesMasters/notesMaster1.xml" Id="Ra5f2d4727d40499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2fee02a7c294d53" /><Relationship Type="http://schemas.openxmlformats.org/officeDocument/2006/relationships/notesMaster" Target="/ppt/notesMasters/notesMaster1.xml" Id="R5f2658a439e14ad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7a53a0df2f94ba2" /><Relationship Type="http://schemas.openxmlformats.org/officeDocument/2006/relationships/notesMaster" Target="/ppt/notesMasters/notesMaster1.xml" Id="Ra6a47b76c58d406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2425a9f619b4097" /><Relationship Type="http://schemas.openxmlformats.org/officeDocument/2006/relationships/notesMaster" Target="/ppt/notesMasters/notesMaster1.xml" Id="R2ac86ccd2d2d49f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39d9656ea614aec" /><Relationship Type="http://schemas.openxmlformats.org/officeDocument/2006/relationships/notesMaster" Target="/ppt/notesMasters/notesMaster1.xml" Id="Rc57125f7af0e406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b0bb7a50e364ef4" /><Relationship Type="http://schemas.openxmlformats.org/officeDocument/2006/relationships/notesMaster" Target="/ppt/notesMasters/notesMaster1.xml" Id="R5a519138d4504dc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ef152acb5834e7f" /><Relationship Type="http://schemas.openxmlformats.org/officeDocument/2006/relationships/notesMaster" Target="/ppt/notesMasters/notesMaster1.xml" Id="Raa0b97cd9c534e7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9e7c6c33bec4568" /><Relationship Type="http://schemas.openxmlformats.org/officeDocument/2006/relationships/notesMaster" Target="/ppt/notesMasters/notesMaster1.xml" Id="R0aeca3a03e9e4e9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e0199804259247b9" /><Relationship Type="http://schemas.openxmlformats.org/officeDocument/2006/relationships/notesMaster" Target="/ppt/notesMasters/notesMaster1.xml" Id="R708b8e635295469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75c3686a75b1402e" /><Relationship Type="http://schemas.openxmlformats.org/officeDocument/2006/relationships/notesMaster" Target="/ppt/notesMasters/notesMaster1.xml" Id="R3774cc9e7f32402e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22e51b49c214c80" /><Relationship Type="http://schemas.openxmlformats.org/officeDocument/2006/relationships/notesMaster" Target="/ppt/notesMasters/notesMaster1.xml" Id="R4cce58f97de1476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761946a41234178" /><Relationship Type="http://schemas.openxmlformats.org/officeDocument/2006/relationships/notesMaster" Target="/ppt/notesMasters/notesMaster1.xml" Id="R811c234e635f4e1e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2c8aa42aa69c4a20" /><Relationship Type="http://schemas.openxmlformats.org/officeDocument/2006/relationships/notesMaster" Target="/ppt/notesMasters/notesMaster1.xml" Id="R2fb752bc4325457a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e61619563c4d46c4" /><Relationship Type="http://schemas.openxmlformats.org/officeDocument/2006/relationships/notesMaster" Target="/ppt/notesMasters/notesMaster1.xml" Id="R323d9dcebab34148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9e81f3d8399843c3" /><Relationship Type="http://schemas.openxmlformats.org/officeDocument/2006/relationships/notesMaster" Target="/ppt/notesMasters/notesMaster1.xml" Id="Re15fedb4d0b641c5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f56e3a39f6e647e4" /><Relationship Type="http://schemas.openxmlformats.org/officeDocument/2006/relationships/notesMaster" Target="/ppt/notesMasters/notesMaster1.xml" Id="R3a454b3a572d454e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2f3a67582a3845dd" /><Relationship Type="http://schemas.openxmlformats.org/officeDocument/2006/relationships/notesMaster" Target="/ppt/notesMasters/notesMaster1.xml" Id="R9e44f79ef02943af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c159a08ae79c4089" /><Relationship Type="http://schemas.openxmlformats.org/officeDocument/2006/relationships/notesMaster" Target="/ppt/notesMasters/notesMaster1.xml" Id="Rb8687fe4449346ac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5e1db44ff9fd4d1b" /><Relationship Type="http://schemas.openxmlformats.org/officeDocument/2006/relationships/notesMaster" Target="/ppt/notesMasters/notesMaster1.xml" Id="Re04c8622b82a4aae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3c36986f526345ac" /><Relationship Type="http://schemas.openxmlformats.org/officeDocument/2006/relationships/notesMaster" Target="/ppt/notesMasters/notesMaster1.xml" Id="Ra724b767243b424f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893dde04f3c84745" /><Relationship Type="http://schemas.openxmlformats.org/officeDocument/2006/relationships/notesMaster" Target="/ppt/notesMasters/notesMaster1.xml" Id="R4cac22c38b3d4bed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c11d50d8db054e99" /><Relationship Type="http://schemas.openxmlformats.org/officeDocument/2006/relationships/notesMaster" Target="/ppt/notesMasters/notesMaster1.xml" Id="R6bbd77838a854c1d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1bc2df3861814d27" /><Relationship Type="http://schemas.openxmlformats.org/officeDocument/2006/relationships/notesMaster" Target="/ppt/notesMasters/notesMaster1.xml" Id="Rfbd9bf15c80f446c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44b350ec5aea49f2" /><Relationship Type="http://schemas.openxmlformats.org/officeDocument/2006/relationships/notesMaster" Target="/ppt/notesMasters/notesMaster1.xml" Id="R23b3c0006aa04327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69765d9b0dac4f15" /><Relationship Type="http://schemas.openxmlformats.org/officeDocument/2006/relationships/notesMaster" Target="/ppt/notesMasters/notesMaster1.xml" Id="R8c1c4dccfff14d03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d43b531956264918" /><Relationship Type="http://schemas.openxmlformats.org/officeDocument/2006/relationships/notesMaster" Target="/ppt/notesMasters/notesMaster1.xml" Id="R5d8d7cfca9ea450f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49373ce3fb2f4465" /><Relationship Type="http://schemas.openxmlformats.org/officeDocument/2006/relationships/notesMaster" Target="/ppt/notesMasters/notesMaster1.xml" Id="R34f44148098b48d8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b4139b3539f441c9" /><Relationship Type="http://schemas.openxmlformats.org/officeDocument/2006/relationships/notesMaster" Target="/ppt/notesMasters/notesMaster1.xml" Id="R4ea4262d3eb64741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6436ba08078f4b0b" /><Relationship Type="http://schemas.openxmlformats.org/officeDocument/2006/relationships/notesMaster" Target="/ppt/notesMasters/notesMaster1.xml" Id="R6a4f1f7664484e22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b5791ec61b9a4cd0" /><Relationship Type="http://schemas.openxmlformats.org/officeDocument/2006/relationships/notesMaster" Target="/ppt/notesMasters/notesMaster1.xml" Id="R614ea7d1d0a94009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24102e0242bc4810" /><Relationship Type="http://schemas.openxmlformats.org/officeDocument/2006/relationships/notesMaster" Target="/ppt/notesMasters/notesMaster1.xml" Id="R5a0cf01c7248484b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f3d103b1e766415d" /><Relationship Type="http://schemas.openxmlformats.org/officeDocument/2006/relationships/notesMaster" Target="/ppt/notesMasters/notesMaster1.xml" Id="Rd95c0cbbec26476e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4d510919562c489e" /><Relationship Type="http://schemas.openxmlformats.org/officeDocument/2006/relationships/notesMaster" Target="/ppt/notesMasters/notesMaster1.xml" Id="Rfd56ce28c1f047a8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e2875c0562da450d" /><Relationship Type="http://schemas.openxmlformats.org/officeDocument/2006/relationships/notesMaster" Target="/ppt/notesMasters/notesMaster1.xml" Id="R7b689df79bcb46ee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7ac1ad2ad4b24962" /><Relationship Type="http://schemas.openxmlformats.org/officeDocument/2006/relationships/notesMaster" Target="/ppt/notesMasters/notesMaster1.xml" Id="Rfb96a4d428d14607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3b27307fdd9b436d" /><Relationship Type="http://schemas.openxmlformats.org/officeDocument/2006/relationships/notesMaster" Target="/ppt/notesMasters/notesMaster1.xml" Id="R7e2bd77542ad4ef4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45e637f03c7d4c21" /><Relationship Type="http://schemas.openxmlformats.org/officeDocument/2006/relationships/notesMaster" Target="/ppt/notesMasters/notesMaster1.xml" Id="R381274dcca1e4167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9cdf8aab94764c35" /><Relationship Type="http://schemas.openxmlformats.org/officeDocument/2006/relationships/notesMaster" Target="/ppt/notesMasters/notesMaster1.xml" Id="R29fc6c85bc0c45e3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6da639ff37e64af3" /><Relationship Type="http://schemas.openxmlformats.org/officeDocument/2006/relationships/notesMaster" Target="/ppt/notesMasters/notesMaster1.xml" Id="R1fdec10ba230455c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cd3eb6fb4aec427f" /><Relationship Type="http://schemas.openxmlformats.org/officeDocument/2006/relationships/notesMaster" Target="/ppt/notesMasters/notesMaster1.xml" Id="R26beacf410e8428a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91d849f7034d4f6f" /><Relationship Type="http://schemas.openxmlformats.org/officeDocument/2006/relationships/notesMaster" Target="/ppt/notesMasters/notesMaster1.xml" Id="R8b5efe3c260a4eaa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5ac071cb67ee4907" /><Relationship Type="http://schemas.openxmlformats.org/officeDocument/2006/relationships/notesMaster" Target="/ppt/notesMasters/notesMaster1.xml" Id="R8de22c68d6ee4100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2e88ca87b7ad4978" /><Relationship Type="http://schemas.openxmlformats.org/officeDocument/2006/relationships/notesMaster" Target="/ppt/notesMasters/notesMaster1.xml" Id="Rb952f23db84440a7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9e0c69b4889645d2" /><Relationship Type="http://schemas.openxmlformats.org/officeDocument/2006/relationships/notesMaster" Target="/ppt/notesMasters/notesMaster1.xml" Id="R9c086fa2f050412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fundos para PL, cotistas e prestadores.</a:t>
            </a:r>
          </a:p>
          <a:p xmlns:a="http://schemas.openxmlformats.org/drawingml/2006/main">
            <a:r>
              <a:t>- CVM/SRE — ofertas granulares até jun/26: https://dados.cvm.gov.br/dataset/oferta-distrib</a:t>
            </a:r>
          </a:p>
          <a:p xmlns:a="http://schemas.openxmlformats.org/drawingml/2006/main">
            <a:r>
              <a:t>- ANBIMA Data — comparativo de mercado por valor encerrado até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documentos públicos usados nas análises documentais.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Metodologia: ofertas públicas primárias, status Oferta Encerrada, data de encerramento no período e Valor_Total_Registrado positivo; snapshot 24/jul/26.</a:t>
            </a:r>
          </a:p>
          <a:p xmlns:a="http://schemas.openxmlformats.org/drawingml/2006/main">
            <a:r>
              <a:t>- Limitação: volume registrado pode diferir do valor efetivamente encerrado; taxonomia CVM declarada preservada.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Anexo oficial XLSX, aba 02-02-Vlr e Anexo - Doméstico: https://data-strapi.prd.anbima.com.br/uploads/Boletim_MK_Anexo_8_33b8963678.xlsx</a:t>
            </a:r>
          </a:p>
          <a:p xmlns:a="http://schemas.openxmlformats.org/drawingml/2006/main">
            <a:r>
              <a:t>- Métrica: Valor Encerrado por data de encerramento das ofertas públicas; 2026 considera jan–mai. Debêntures incluem debêntures de securitização.</a:t>
            </a:r>
          </a:p>
          <a:p xmlns:a="http://schemas.openxmlformats.org/drawingml/2006/main">
            <a:r>
              <a:t>- Limitação: o anexo não segrega sistematicamente ofertas primárias e secundárias para renda fixa e fundos e está sujeito a retificações.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4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10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17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20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Limitação: a base pública recuperada contém sete ofertas legadas encerradas em 2022; o período é parcial e não sustenta Top 15 anual completo.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Data — comparativo de mercado por valor encerrado, snapshot mai/26; 2026 = jan–mai: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ANBIMA — anexo oficial XLSX: https://data-strapi.prd.anbima.com.br/uploads/Boletim_MK_Anexo_8_33b8963678.xlsx</a:t>
            </a:r>
          </a:p>
          <a:p xmlns:a="http://schemas.openxmlformats.org/drawingml/2006/main">
            <a:r>
              <a:t>- FundosNet/B3 — documentos públicos usados na conciliação de ratings.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prestadores por competência.</a:t>
            </a:r>
          </a:p>
          <a:p xmlns:a="http://schemas.openxmlformats.org/drawingml/2006/main">
            <a:r>
              <a:t>- PL comparável da indústria = menor PL entre dez/24 e dez/25 para cada CNPJ elegível.</a:t>
            </a:r>
          </a:p>
          <a:p xmlns:a="http://schemas.openxmlformats.org/drawingml/2006/main">
            <a:r>
              <a:t>- Coorte CBSF/Reag: administrador de origem CNPJ 34.829.992/0001-86 em dez/25; destino em jun/26.</a:t>
            </a:r>
          </a:p>
          <a:p xmlns:a="http://schemas.openxmlformats.org/drawingml/2006/main">
            <a:r>
              <a:t>- Limitação: ausência de reporte no destino não comprova liquidação do fundo; gestor e custodiante históricos não são observáveis na mesma base.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78be370cf943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4b9edce6d974307" /><Relationship Type="http://schemas.openxmlformats.org/officeDocument/2006/relationships/slideLayout" Target="/ppt/slideLayouts/slideLayout1.xml" Id="R89e2d30fdab3449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e2d30fdab3449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d5fe786f07487f" /><Relationship Type="http://schemas.openxmlformats.org/officeDocument/2006/relationships/notesSlide" Target="/ppt/notesSlides/notesSlide1.xml" Id="R81cb95118eeb44c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3ac3b73acc40d6" /><Relationship Type="http://schemas.openxmlformats.org/officeDocument/2006/relationships/notesSlide" Target="/ppt/notesSlides/notesSlide2.xml" Id="Rabb5e0740d2c464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5cd8864aee4195" /><Relationship Type="http://schemas.openxmlformats.org/officeDocument/2006/relationships/chart" Target="/ppt/slides/charts/chart1.xml" Id="R5a9b215413c84cd3" /><Relationship Type="http://schemas.openxmlformats.org/officeDocument/2006/relationships/chart" Target="/ppt/slides/charts/chart2.xml" Id="Rda171dd246004f50" /><Relationship Type="http://schemas.openxmlformats.org/officeDocument/2006/relationships/chart" Target="/ppt/slides/charts/chart3.xml" Id="R21366d8a98154986" /><Relationship Type="http://schemas.openxmlformats.org/officeDocument/2006/relationships/notesSlide" Target="/ppt/notesSlides/notesSlide3.xml" Id="R8e9b37fe35764c4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65387415274504" /><Relationship Type="http://schemas.openxmlformats.org/officeDocument/2006/relationships/chart" Target="/ppt/slides/charts/chart4.xml" Id="R799cb0cc828a4e63" /><Relationship Type="http://schemas.openxmlformats.org/officeDocument/2006/relationships/chart" Target="/ppt/slides/charts/chart5.xml" Id="R2e6ff6789d4b4d02" /><Relationship Type="http://schemas.openxmlformats.org/officeDocument/2006/relationships/notesSlide" Target="/ppt/notesSlides/notesSlide4.xml" Id="Refb540eb180a452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86b8739d8946c6" /><Relationship Type="http://schemas.openxmlformats.org/officeDocument/2006/relationships/chart" Target="/ppt/slides/charts/chart6.xml" Id="R6f05f83271c24c07" /><Relationship Type="http://schemas.openxmlformats.org/officeDocument/2006/relationships/notesSlide" Target="/ppt/notesSlides/notesSlide5.xml" Id="Rb1e442b6836a404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bb26a37f304afd" /><Relationship Type="http://schemas.openxmlformats.org/officeDocument/2006/relationships/chart" Target="/ppt/slides/charts/chart7.xml" Id="R3008677e8c1d4132" /><Relationship Type="http://schemas.openxmlformats.org/officeDocument/2006/relationships/chart" Target="/ppt/slides/charts/chart8.xml" Id="R65e152e83f074994" /><Relationship Type="http://schemas.openxmlformats.org/officeDocument/2006/relationships/chart" Target="/ppt/slides/charts/chart9.xml" Id="Rcf558fb0f4cb4ffe" /><Relationship Type="http://schemas.openxmlformats.org/officeDocument/2006/relationships/notesSlide" Target="/ppt/notesSlides/notesSlide6.xml" Id="Rc7ced10bb75f4c1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a5ab5c25f54349" /><Relationship Type="http://schemas.openxmlformats.org/officeDocument/2006/relationships/chart" Target="/ppt/slides/charts/chart10.xml" Id="R6b73cd08783e4e6f" /><Relationship Type="http://schemas.openxmlformats.org/officeDocument/2006/relationships/chart" Target="/ppt/slides/charts/chart11.xml" Id="R1955b497ee604a81" /><Relationship Type="http://schemas.openxmlformats.org/officeDocument/2006/relationships/chart" Target="/ppt/slides/charts/chart12.xml" Id="R36214d0d4ef54f41" /><Relationship Type="http://schemas.openxmlformats.org/officeDocument/2006/relationships/chart" Target="/ppt/slides/charts/chart13.xml" Id="Rf6ce86ffbc2a4312" /><Relationship Type="http://schemas.openxmlformats.org/officeDocument/2006/relationships/chart" Target="/ppt/slides/charts/chart14.xml" Id="R5f6f624db7fd4753" /><Relationship Type="http://schemas.openxmlformats.org/officeDocument/2006/relationships/notesSlide" Target="/ppt/notesSlides/notesSlide7.xml" Id="R29c65f5203b64f4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1b62bfe4f742b7" /><Relationship Type="http://schemas.openxmlformats.org/officeDocument/2006/relationships/chart" Target="/ppt/slides/charts/chart15.xml" Id="R284abb77d1a444df" /><Relationship Type="http://schemas.openxmlformats.org/officeDocument/2006/relationships/chart" Target="/ppt/slides/charts/chart16.xml" Id="Ra3d782e9d779439f" /><Relationship Type="http://schemas.openxmlformats.org/officeDocument/2006/relationships/chart" Target="/ppt/slides/charts/chart17.xml" Id="Rca1aabead28a49ee" /><Relationship Type="http://schemas.openxmlformats.org/officeDocument/2006/relationships/notesSlide" Target="/ppt/notesSlides/notesSlide8.xml" Id="R7286fb9191e84ee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c85699d9a944f0" /><Relationship Type="http://schemas.openxmlformats.org/officeDocument/2006/relationships/chart" Target="/ppt/slides/charts/chart18.xml" Id="R7e7588c1b5904487" /><Relationship Type="http://schemas.openxmlformats.org/officeDocument/2006/relationships/chart" Target="/ppt/slides/charts/chart19.xml" Id="Rd907c33e83a5460c" /><Relationship Type="http://schemas.openxmlformats.org/officeDocument/2006/relationships/chart" Target="/ppt/slides/charts/chart20.xml" Id="Rb010b7c47ba2498f" /><Relationship Type="http://schemas.openxmlformats.org/officeDocument/2006/relationships/notesSlide" Target="/ppt/notesSlides/notesSlide9.xml" Id="R3c77b9c2529f436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084b31989f4e46" /><Relationship Type="http://schemas.openxmlformats.org/officeDocument/2006/relationships/chart" Target="/ppt/slides/charts/chart21.xml" Id="Ra637b451147c4dd4" /><Relationship Type="http://schemas.openxmlformats.org/officeDocument/2006/relationships/chart" Target="/ppt/slides/charts/chart22.xml" Id="R667ecf7b5e874749" /><Relationship Type="http://schemas.openxmlformats.org/officeDocument/2006/relationships/chart" Target="/ppt/slides/charts/chart23.xml" Id="R5154aac6c04044bc" /><Relationship Type="http://schemas.openxmlformats.org/officeDocument/2006/relationships/notesSlide" Target="/ppt/notesSlides/notesSlide10.xml" Id="R7de73590def84f2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d4c3f7f54543f8" /><Relationship Type="http://schemas.openxmlformats.org/officeDocument/2006/relationships/chart" Target="/ppt/slides/charts/chart24.xml" Id="Rda52f3d942194d52" /><Relationship Type="http://schemas.openxmlformats.org/officeDocument/2006/relationships/notesSlide" Target="/ppt/notesSlides/notesSlide11.xml" Id="R53fa130f76e8442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5c65f56ffe43f4" /><Relationship Type="http://schemas.openxmlformats.org/officeDocument/2006/relationships/chart" Target="/ppt/slides/charts/chart25.xml" Id="R27772813b01845fc" /><Relationship Type="http://schemas.openxmlformats.org/officeDocument/2006/relationships/chart" Target="/ppt/slides/charts/chart26.xml" Id="R578d2548d3054abf" /><Relationship Type="http://schemas.openxmlformats.org/officeDocument/2006/relationships/notesSlide" Target="/ppt/notesSlides/notesSlide12.xml" Id="Rd148d63c1b4a44c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b292110e4244f8" /><Relationship Type="http://schemas.openxmlformats.org/officeDocument/2006/relationships/chart" Target="/ppt/slides/charts/chart27.xml" Id="R79f19d15c19047da" /><Relationship Type="http://schemas.openxmlformats.org/officeDocument/2006/relationships/chart" Target="/ppt/slides/charts/chart28.xml" Id="R46cbd854a6cb45cf" /><Relationship Type="http://schemas.openxmlformats.org/officeDocument/2006/relationships/notesSlide" Target="/ppt/notesSlides/notesSlide13.xml" Id="Re14c587fab434ee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564a2f564947e2" /><Relationship Type="http://schemas.openxmlformats.org/officeDocument/2006/relationships/chart" Target="/ppt/slides/charts/chart29.xml" Id="R2f43795ca4814dc4" /><Relationship Type="http://schemas.openxmlformats.org/officeDocument/2006/relationships/chart" Target="/ppt/slides/charts/chart30.xml" Id="R3b598754078a4030" /><Relationship Type="http://schemas.openxmlformats.org/officeDocument/2006/relationships/notesSlide" Target="/ppt/notesSlides/notesSlide14.xml" Id="Rb161efc9a17a411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319d8363e54060" /><Relationship Type="http://schemas.openxmlformats.org/officeDocument/2006/relationships/notesSlide" Target="/ppt/notesSlides/notesSlide15.xml" Id="R0888720033f44f9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edb90a24c542f1" /><Relationship Type="http://schemas.openxmlformats.org/officeDocument/2006/relationships/notesSlide" Target="/ppt/notesSlides/notesSlide16.xml" Id="R632114359d7b44b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609c6fd82842d5" /><Relationship Type="http://schemas.openxmlformats.org/officeDocument/2006/relationships/chart" Target="/ppt/slides/charts/chart31.xml" Id="R42fb90cc5dba40fe" /><Relationship Type="http://schemas.openxmlformats.org/officeDocument/2006/relationships/chart" Target="/ppt/slides/charts/chart32.xml" Id="R0a90d137d198484c" /><Relationship Type="http://schemas.openxmlformats.org/officeDocument/2006/relationships/chart" Target="/ppt/slides/charts/chart33.xml" Id="R67e3707d74694adc" /><Relationship Type="http://schemas.openxmlformats.org/officeDocument/2006/relationships/notesSlide" Target="/ppt/notesSlides/notesSlide17.xml" Id="R2a9483a4fddf4ad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e45f13eb714ab0" /><Relationship Type="http://schemas.openxmlformats.org/officeDocument/2006/relationships/notesSlide" Target="/ppt/notesSlides/notesSlide18.xml" Id="Redcd3c93bae248a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e5c876979d43ac" /><Relationship Type="http://schemas.openxmlformats.org/officeDocument/2006/relationships/notesSlide" Target="/ppt/notesSlides/notesSlide19.xml" Id="Rce4039417458481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72f1b5935a493e" /><Relationship Type="http://schemas.openxmlformats.org/officeDocument/2006/relationships/notesSlide" Target="/ppt/notesSlides/notesSlide20.xml" Id="Ra3f8cf0cf4a8484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1b8d803b07454f" /><Relationship Type="http://schemas.openxmlformats.org/officeDocument/2006/relationships/notesSlide" Target="/ppt/notesSlides/notesSlide21.xml" Id="R04110b2ed34a42b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30df08d9654e80" /><Relationship Type="http://schemas.openxmlformats.org/officeDocument/2006/relationships/notesSlide" Target="/ppt/notesSlides/notesSlide22.xml" Id="R93692aac5d6c4c4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fc330b33d42e6" /><Relationship Type="http://schemas.openxmlformats.org/officeDocument/2006/relationships/notesSlide" Target="/ppt/notesSlides/notesSlide23.xml" Id="R7e016856fe684e8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064c96a9ca44a2" /><Relationship Type="http://schemas.openxmlformats.org/officeDocument/2006/relationships/chart" Target="/ppt/slides/charts/chart34.xml" Id="Re695c14ab5ef4581" /><Relationship Type="http://schemas.openxmlformats.org/officeDocument/2006/relationships/notesSlide" Target="/ppt/notesSlides/notesSlide24.xml" Id="Ra4472df126b44b1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61c84cb8dc4702" /><Relationship Type="http://schemas.openxmlformats.org/officeDocument/2006/relationships/notesSlide" Target="/ppt/notesSlides/notesSlide25.xml" Id="Ra628f2a9c3bd435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5f727de2f84500" /><Relationship Type="http://schemas.openxmlformats.org/officeDocument/2006/relationships/chart" Target="/ppt/slides/charts/chart35.xml" Id="R323f4e4117464c7a" /><Relationship Type="http://schemas.openxmlformats.org/officeDocument/2006/relationships/chart" Target="/ppt/slides/charts/chart36.xml" Id="Rf8a22384e28240d0" /><Relationship Type="http://schemas.openxmlformats.org/officeDocument/2006/relationships/chart" Target="/ppt/slides/charts/chart37.xml" Id="R3136fc66c8864e34" /><Relationship Type="http://schemas.openxmlformats.org/officeDocument/2006/relationships/notesSlide" Target="/ppt/notesSlides/notesSlide26.xml" Id="R73b547a939ee498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c9b252ad3f426d" /><Relationship Type="http://schemas.openxmlformats.org/officeDocument/2006/relationships/chart" Target="/ppt/slides/charts/chart38.xml" Id="R0e9a42c9d9ef4edb" /><Relationship Type="http://schemas.openxmlformats.org/officeDocument/2006/relationships/chart" Target="/ppt/slides/charts/chart39.xml" Id="R88e21eda05b34807" /><Relationship Type="http://schemas.openxmlformats.org/officeDocument/2006/relationships/chart" Target="/ppt/slides/charts/chart40.xml" Id="R469f1361548241df" /><Relationship Type="http://schemas.openxmlformats.org/officeDocument/2006/relationships/chart" Target="/ppt/slides/charts/chart41.xml" Id="R537694124aa84e9b" /><Relationship Type="http://schemas.openxmlformats.org/officeDocument/2006/relationships/notesSlide" Target="/ppt/notesSlides/notesSlide27.xml" Id="Re2aab4ffe4ee417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7f797d3cd14a7a" /><Relationship Type="http://schemas.openxmlformats.org/officeDocument/2006/relationships/chart" Target="/ppt/slides/charts/chart42.xml" Id="R5f29313860924839" /><Relationship Type="http://schemas.openxmlformats.org/officeDocument/2006/relationships/chart" Target="/ppt/slides/charts/chart43.xml" Id="Ra50386829daf4300" /><Relationship Type="http://schemas.openxmlformats.org/officeDocument/2006/relationships/chart" Target="/ppt/slides/charts/chart44.xml" Id="R21d61933667a4a0f" /><Relationship Type="http://schemas.openxmlformats.org/officeDocument/2006/relationships/chart" Target="/ppt/slides/charts/chart45.xml" Id="R33b30e6a00b349d6" /><Relationship Type="http://schemas.openxmlformats.org/officeDocument/2006/relationships/chart" Target="/ppt/slides/charts/chart46.xml" Id="R85bc046c5d9b4be0" /><Relationship Type="http://schemas.openxmlformats.org/officeDocument/2006/relationships/notesSlide" Target="/ppt/notesSlides/notesSlide28.xml" Id="R2ee9c0372400425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fffd68a3e54fa5" /><Relationship Type="http://schemas.openxmlformats.org/officeDocument/2006/relationships/notesSlide" Target="/ppt/notesSlides/notesSlide29.xml" Id="Rb26cec7b2fad430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0ef8e8cdc9481f" /><Relationship Type="http://schemas.openxmlformats.org/officeDocument/2006/relationships/notesSlide" Target="/ppt/notesSlides/notesSlide30.xml" Id="R6bb0108b9f804e7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60bc60300f4843" /><Relationship Type="http://schemas.openxmlformats.org/officeDocument/2006/relationships/notesSlide" Target="/ppt/notesSlides/notesSlide31.xml" Id="R33ecfc0e9de54866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8cfa05da634a64" /><Relationship Type="http://schemas.openxmlformats.org/officeDocument/2006/relationships/notesSlide" Target="/ppt/notesSlides/notesSlide32.xml" Id="R5548e9e1840640a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d7aa9538b94c67" /><Relationship Type="http://schemas.openxmlformats.org/officeDocument/2006/relationships/notesSlide" Target="/ppt/notesSlides/notesSlide33.xml" Id="Re6da4e19100c4d8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307bb734114079" /><Relationship Type="http://schemas.openxmlformats.org/officeDocument/2006/relationships/notesSlide" Target="/ppt/notesSlides/notesSlide34.xml" Id="R96f03a8d32de4bb6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459ee91e9240c8" /><Relationship Type="http://schemas.openxmlformats.org/officeDocument/2006/relationships/notesSlide" Target="/ppt/notesSlides/notesSlide35.xml" Id="Rb4d3d737895f4ff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86cfe893524cde" /><Relationship Type="http://schemas.openxmlformats.org/officeDocument/2006/relationships/notesSlide" Target="/ppt/notesSlides/notesSlide36.xml" Id="R141880d8891140a8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269032e031423f" /><Relationship Type="http://schemas.openxmlformats.org/officeDocument/2006/relationships/notesSlide" Target="/ppt/notesSlides/notesSlide37.xml" Id="R1527f74d58c24c91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1e7eed3f074934" /><Relationship Type="http://schemas.openxmlformats.org/officeDocument/2006/relationships/notesSlide" Target="/ppt/notesSlides/notesSlide38.xml" Id="Rcd4475f8e3ab4483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4c40c00d9b42aa" /><Relationship Type="http://schemas.openxmlformats.org/officeDocument/2006/relationships/notesSlide" Target="/ppt/notesSlides/notesSlide39.xml" Id="R22d1d32301424e53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9174c6e0724ecd" /><Relationship Type="http://schemas.openxmlformats.org/officeDocument/2006/relationships/notesSlide" Target="/ppt/notesSlides/notesSlide40.xml" Id="R44a674a61ae24aed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027a54907d40d0" /><Relationship Type="http://schemas.openxmlformats.org/officeDocument/2006/relationships/notesSlide" Target="/ppt/notesSlides/notesSlide41.xml" Id="Raca1c582a3fa4c13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bb5aefd8f24592" /><Relationship Type="http://schemas.openxmlformats.org/officeDocument/2006/relationships/notesSlide" Target="/ppt/notesSlides/notesSlide42.xml" Id="R9a9d4cfbc56f4a0e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06f3fac1984b8c" /><Relationship Type="http://schemas.openxmlformats.org/officeDocument/2006/relationships/notesSlide" Target="/ppt/notesSlides/notesSlide43.xml" Id="R69c35ffa10a44256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f0496ae86c4de1" /><Relationship Type="http://schemas.openxmlformats.org/officeDocument/2006/relationships/notesSlide" Target="/ppt/notesSlides/notesSlide44.xml" Id="R6292eb4ce055416b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35cdd8ce5f4895" /><Relationship Type="http://schemas.openxmlformats.org/officeDocument/2006/relationships/notesSlide" Target="/ppt/notesSlides/notesSlide45.xml" Id="R68ba993b57904892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d5f30c076345f5" /><Relationship Type="http://schemas.openxmlformats.org/officeDocument/2006/relationships/notesSlide" Target="/ppt/notesSlides/notesSlide46.xml" Id="R143c330e66f84ea4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3610555ed14c2a" /><Relationship Type="http://schemas.openxmlformats.org/officeDocument/2006/relationships/notesSlide" Target="/ppt/notesSlides/notesSlide47.xml" Id="R71cc4441d0f34dac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4b0c74f0294ce6" /><Relationship Type="http://schemas.openxmlformats.org/officeDocument/2006/relationships/notesSlide" Target="/ppt/notesSlides/notesSlide48.xml" Id="R98616b67eb634068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b7b1fbc8e64e0d" /><Relationship Type="http://schemas.openxmlformats.org/officeDocument/2006/relationships/notesSlide" Target="/ppt/notesSlides/notesSlide49.xml" Id="Rd84094f00e264157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8c146a2b9243c4" /><Relationship Type="http://schemas.openxmlformats.org/officeDocument/2006/relationships/notesSlide" Target="/ppt/notesSlides/notesSlide50.xml" Id="R13a59ddc88e34730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39d4dafa674284" /><Relationship Type="http://schemas.openxmlformats.org/officeDocument/2006/relationships/notesSlide" Target="/ppt/notesSlides/notesSlide51.xml" Id="R4c28058bacdc4f87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5a5a5292424bf3" /><Relationship Type="http://schemas.openxmlformats.org/officeDocument/2006/relationships/notesSlide" Target="/ppt/notesSlides/notesSlide52.xml" Id="Rffd44eb8b8654cf1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4bdfc912284d98" /><Relationship Type="http://schemas.openxmlformats.org/officeDocument/2006/relationships/notesSlide" Target="/ppt/notesSlides/notesSlide53.xml" Id="Rede773cb702b4678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bb8547cfa342ab" /><Relationship Type="http://schemas.openxmlformats.org/officeDocument/2006/relationships/chart" Target="/ppt/slides/charts/chart47.xml" Id="Rd34641db7aa84f61" /><Relationship Type="http://schemas.openxmlformats.org/officeDocument/2006/relationships/chart" Target="/ppt/slides/charts/chart48.xml" Id="R69c9813069504a7e" /><Relationship Type="http://schemas.openxmlformats.org/officeDocument/2006/relationships/chart" Target="/ppt/slides/charts/chart49.xml" Id="Rc2b8fa820bb14c8b" /><Relationship Type="http://schemas.openxmlformats.org/officeDocument/2006/relationships/chart" Target="/ppt/slides/charts/chart50.xml" Id="Rf90b71e1bbf14c04" /><Relationship Type="http://schemas.openxmlformats.org/officeDocument/2006/relationships/chart" Target="/ppt/slides/charts/chart51.xml" Id="Re4a2cd39174f4717" /><Relationship Type="http://schemas.openxmlformats.org/officeDocument/2006/relationships/chart" Target="/ppt/slides/charts/chart52.xml" Id="R04d316c69fc144f8" /><Relationship Type="http://schemas.openxmlformats.org/officeDocument/2006/relationships/chart" Target="/ppt/slides/charts/chart53.xml" Id="R179963ac5ced4f3d" /><Relationship Type="http://schemas.openxmlformats.org/officeDocument/2006/relationships/notesSlide" Target="/ppt/notesSlides/notesSlide54.xml" Id="Rc2901970ec364746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76b43edd814077" /><Relationship Type="http://schemas.openxmlformats.org/officeDocument/2006/relationships/chart" Target="/ppt/slides/charts/chart54.xml" Id="Rbad4e2a895844fe6" /><Relationship Type="http://schemas.openxmlformats.org/officeDocument/2006/relationships/notesSlide" Target="/ppt/notesSlides/notesSlide55.xml" Id="R05473a54c3e2484c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6b62eee0f54145" /><Relationship Type="http://schemas.openxmlformats.org/officeDocument/2006/relationships/chart" Target="/ppt/slides/charts/chart55.xml" Id="Rda0ac4f9ea024c42" /><Relationship Type="http://schemas.openxmlformats.org/officeDocument/2006/relationships/chart" Target="/ppt/slides/charts/chart56.xml" Id="R4892d9c726914c93" /><Relationship Type="http://schemas.openxmlformats.org/officeDocument/2006/relationships/notesSlide" Target="/ppt/notesSlides/notesSlide56.xml" Id="Rcf45d2dd9e7f436e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246a591ea444a0" /><Relationship Type="http://schemas.openxmlformats.org/officeDocument/2006/relationships/chart" Target="/ppt/slides/charts/chart57.xml" Id="R103b64e56bf14390" /><Relationship Type="http://schemas.openxmlformats.org/officeDocument/2006/relationships/notesSlide" Target="/ppt/notesSlides/notesSlide57.xml" Id="Rc4192fe1720042ba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04f875d4634b26" /><Relationship Type="http://schemas.openxmlformats.org/officeDocument/2006/relationships/chart" Target="/ppt/slides/charts/chart58.xml" Id="Ra8624b526a6c4458" /><Relationship Type="http://schemas.openxmlformats.org/officeDocument/2006/relationships/notesSlide" Target="/ppt/notesSlides/notesSlide58.xml" Id="Rb826dd0b0f3c4110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c0314f02064be5" /><Relationship Type="http://schemas.openxmlformats.org/officeDocument/2006/relationships/chart" Target="/ppt/slides/charts/chart59.xml" Id="R37861365870b4329" /><Relationship Type="http://schemas.openxmlformats.org/officeDocument/2006/relationships/notesSlide" Target="/ppt/notesSlides/notesSlide59.xml" Id="Re1fc986a01124453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373cd0bc634dd1" /><Relationship Type="http://schemas.openxmlformats.org/officeDocument/2006/relationships/notesSlide" Target="/ppt/notesSlides/notesSlide60.xml" Id="R0769ecd5e73b4b54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23b2f9925e4914" /><Relationship Type="http://schemas.openxmlformats.org/officeDocument/2006/relationships/chart" Target="/ppt/slides/charts/chart60.xml" Id="Ref0b06833f0f4509" /><Relationship Type="http://schemas.openxmlformats.org/officeDocument/2006/relationships/notesSlide" Target="/ppt/notesSlides/notesSlide61.xml" Id="Re5ed0fe40e49476b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c91fdcaf3145a2" /><Relationship Type="http://schemas.openxmlformats.org/officeDocument/2006/relationships/chart" Target="/ppt/slides/charts/chart61.xml" Id="Rd714cadd75bb43b8" /><Relationship Type="http://schemas.openxmlformats.org/officeDocument/2006/relationships/notesSlide" Target="/ppt/notesSlides/notesSlide62.xml" Id="Reffdde7eedaf4016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c55da35f044121" /><Relationship Type="http://schemas.openxmlformats.org/officeDocument/2006/relationships/chart" Target="/ppt/slides/charts/chart62.xml" Id="Rbeba11bd5e4f45c9" /><Relationship Type="http://schemas.openxmlformats.org/officeDocument/2006/relationships/notesSlide" Target="/ppt/notesSlides/notesSlide63.xml" Id="Re49e240dff9d455b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a24b81e4dd43ef" /><Relationship Type="http://schemas.openxmlformats.org/officeDocument/2006/relationships/notesSlide" Target="/ppt/notesSlides/notesSlide64.xml" Id="R6e5aa98fecbd4b87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PL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[&gt;=1000]#\.##0;0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880.3753465023101</c:v>
              </c:pt>
            </c:numLit>
          </c:val>
        </c:ser>
        <c:gapWidth val="52"/>
        <c:axId val="48650112"/>
        <c:axId val="48672768"/>
      </c:barChart>
      <c:lineChart>
        <c:grouping val="standard"/>
        <c:varyColors val="0"/>
        <c:ser>
          <c:idx val="1"/>
          <c:order val="1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82.4739462266</c:v>
              </c:pt>
              <c:pt idx="1">
                <c:v>91.0666397607</c:v>
              </c:pt>
              <c:pt idx="2">
                <c:v>110.233954078</c:v>
              </c:pt>
              <c:pt idx="3">
                <c:v>131.218751566</c:v>
              </c:pt>
              <c:pt idx="4">
                <c:v>229.983749328</c:v>
              </c:pt>
              <c:pt idx="5">
                <c:v>209.089226549</c:v>
              </c:pt>
              <c:pt idx="6">
                <c:v>298.496438228</c:v>
              </c:pt>
              <c:pt idx="7">
                <c:v>365.94088088</c:v>
              </c:pt>
              <c:pt idx="8">
                <c:v>461.756303294</c:v>
              </c:pt>
              <c:pt idx="9">
                <c:v>682.897033647</c:v>
              </c:pt>
              <c:pt idx="10">
                <c:v>833.217321565</c:v>
              </c:pt>
              <c:pt idx="11">
                <c:v>880.375346502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7617.175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1533.136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70.86095119410001</c:v>
              </c:pt>
              <c:pt idx="1">
                <c:v>82.19072984</c:v>
              </c:pt>
              <c:pt idx="2">
                <c:v>95.75352406850999</c:v>
              </c:pt>
              <c:pt idx="3">
                <c:v>106.12068752539999</c:v>
              </c:pt>
              <c:pt idx="4">
                <c:v>182.22866537173002</c:v>
              </c:pt>
              <c:pt idx="5">
                <c:v>160.17258675028998</c:v>
              </c:pt>
              <c:pt idx="6">
                <c:v>250.02515732651</c:v>
              </c:pt>
              <c:pt idx="7">
                <c:v>304.88729907795</c:v>
              </c:pt>
              <c:pt idx="8">
                <c:v>387.7969193108501</c:v>
              </c:pt>
              <c:pt idx="9">
                <c:v>549.9166688619099</c:v>
              </c:pt>
              <c:pt idx="10">
                <c:v>641.37597886001</c:v>
              </c:pt>
              <c:pt idx="11">
                <c:v>670.4811522614399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72.64204880589999</c:v>
              </c:pt>
              <c:pt idx="1">
                <c:v>91.52627016</c:v>
              </c:pt>
              <c:pt idx="2">
                <c:v>112.90947593149001</c:v>
              </c:pt>
              <c:pt idx="3">
                <c:v>121.5283124746</c:v>
              </c:pt>
              <c:pt idx="4">
                <c:v>128.34033462827</c:v>
              </c:pt>
              <c:pt idx="5">
                <c:v>127.67341324971002</c:v>
              </c:pt>
              <c:pt idx="6">
                <c:v>183.94284267349</c:v>
              </c:pt>
              <c:pt idx="7">
                <c:v>261.46670092205</c:v>
              </c:pt>
              <c:pt idx="8">
                <c:v>334.0110806891499</c:v>
              </c:pt>
              <c:pt idx="9">
                <c:v>444.7183311380901</c:v>
              </c:pt>
              <c:pt idx="10">
                <c:v>452.00202113999</c:v>
              </c:pt>
              <c:pt idx="11">
                <c:v>486.4528477385601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3364.88</c:v>
              </c:pt>
            </c:numLit>
          </c:val>
        </c:ser>
        <c:dLbls>
          <c:txPr>
            <a:bodyPr anchorCtr="1"/>
            <a:lstStyle/>
            <a:p>
              <a:pPr>
                <a:defRPr sz="435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13672.125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securitizações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Dívida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229.291431673</c:v>
              </c:pt>
              <c:pt idx="1">
                <c:v>472.8632475001801</c:v>
              </c:pt>
              <c:pt idx="2">
                <c:v>453.66557470805</c:v>
              </c:pt>
              <c:pt idx="3">
                <c:v>148.028583447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47.3460402706</c:v>
              </c:pt>
              <c:pt idx="1">
                <c:v>57.687766747050006</c:v>
              </c:pt>
              <c:pt idx="2">
                <c:v>54.329561267269995</c:v>
              </c:pt>
              <c:pt idx="3">
                <c:v>22.11693260334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25.407368005</c:v>
              </c:pt>
              <c:pt idx="1">
                <c:v>45.7676395</c:v>
              </c:pt>
              <c:pt idx="2">
                <c:v>53.583946853</c:v>
              </c:pt>
              <c:pt idx="3">
                <c:v>28.60619646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51.149282621699996</c:v>
              </c:pt>
              <c:pt idx="1">
                <c:v>41.832471</c:v>
              </c:pt>
              <c:pt idx="2">
                <c:v>47.202138266949994</c:v>
              </c:pt>
              <c:pt idx="3">
                <c:v>7.291704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146.3144924010112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41.64812990194184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15.66562156942634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17.089791033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5.36268</c:v>
              </c:pt>
            </c:numLit>
          </c:val>
        </c:ser>
        <c:dLbls>
          <c:txPr>
            <a:bodyPr anchorCtr="1"/>
            <a:lstStyle/>
            <a:p>
              <a:pPr>
                <a:defRPr sz="54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9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/>
              </c:pt>
              <c:pt idx="2">
                <c:v/>
              </c:pt>
              <c:pt idx="3">
                <c:v>2018</c:v>
              </c:pt>
              <c:pt idx="4">
                <c:v/>
              </c:pt>
              <c:pt idx="5">
                <c:v/>
              </c:pt>
              <c:pt idx="6">
                <c:v>2021</c:v>
              </c:pt>
              <c:pt idx="7">
                <c:v/>
              </c:pt>
              <c:pt idx="8">
                <c:v/>
              </c:pt>
              <c:pt idx="9">
                <c:v>2024</c:v>
              </c:pt>
              <c:pt idx="10">
                <c:v/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563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50.88905009467</c:v>
              </c:pt>
              <c:pt idx="1">
                <c:v>65.33776656658</c:v>
              </c:pt>
              <c:pt idx="2">
                <c:v>81.70753862344999</c:v>
              </c:pt>
              <c:pt idx="3">
                <c:v>86.65656370392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119.06650336766</c:v>
              </c:pt>
              <c:pt idx="1">
                <c:v>187.83835901057998</c:v>
              </c:pt>
              <c:pt idx="2">
                <c:v>166.6673864538</c:v>
              </c:pt>
              <c:pt idx="3">
                <c:v>189.2379048169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119.92760539484</c:v>
              </c:pt>
              <c:pt idx="1">
                <c:v>168.15979170238</c:v>
              </c:pt>
              <c:pt idx="2">
                <c:v>213.62236975357</c:v>
              </c:pt>
              <c:pt idx="3">
                <c:v>248.7758374328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171.87314443695</c:v>
              </c:pt>
              <c:pt idx="1">
                <c:v>261.56111636791</c:v>
              </c:pt>
              <c:pt idx="2">
                <c:v>371.220026734</c:v>
              </c:pt>
              <c:pt idx="3">
                <c:v>355.70504054869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0.11020759160542684</c:v>
              </c:pt>
              <c:pt idx="1">
                <c:v>0.09567733252200807</c:v>
              </c:pt>
              <c:pt idx="2">
                <c:v>0.09806269806057262</c:v>
              </c:pt>
              <c:pt idx="3">
                <c:v>0.09843138389574681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0.25785571852133327</c:v>
              </c:pt>
              <c:pt idx="1">
                <c:v>0.2750610264146392</c:v>
              </c:pt>
              <c:pt idx="2">
                <c:v>0.2000287105659194</c:v>
              </c:pt>
              <c:pt idx="3">
                <c:v>0.21495139041402433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0.25972055939310257</c:v>
              </c:pt>
              <c:pt idx="1">
                <c:v>0.2462447241924814</c:v>
              </c:pt>
              <c:pt idx="2">
                <c:v>0.25638253577395326</c:v>
              </c:pt>
              <c:pt idx="3">
                <c:v>0.2825792866885411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0.37221613048013724</c:v>
              </c:pt>
              <c:pt idx="1">
                <c:v>0.3830169168708714</c:v>
              </c:pt>
              <c:pt idx="2">
                <c:v>0.4455260555995546</c:v>
              </c:pt>
              <c:pt idx="3">
                <c:v>0.40403793900168766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Outros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19.32368071792</c:v>
              </c:pt>
              <c:pt idx="5">
                <c:v>24.163748261490003</c:v>
              </c:pt>
              <c:pt idx="6">
                <c:v>25.154517560259997</c:v>
              </c:pt>
              <c:pt idx="7">
                <c:v>27.32144595605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336.84039317390994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84.83552289799</c:v>
              </c:pt>
              <c:pt idx="5">
                <c:v>57.4323241591</c:v>
              </c:pt>
              <c:pt idx="6">
                <c:v>43.107876023699994</c:v>
              </c:pt>
              <c:pt idx="7">
                <c:v>27.72682732234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0.1120133185506395</c:v>
              </c:pt>
              <c:pt idx="3">
                <c:v>0.1050330610627478</c:v>
              </c:pt>
              <c:pt idx="4">
                <c:v>0.0418482229263941</c:v>
              </c:pt>
              <c:pt idx="5">
                <c:v>0.052330088596752</c:v>
              </c:pt>
              <c:pt idx="6">
                <c:v>0.054475742682472</c:v>
              </c:pt>
              <c:pt idx="7">
                <c:v>0.0591685392514227</c:v>
              </c:pt>
              <c:pt idx="8">
                <c:v>0.0374748785753291</c:v>
              </c:pt>
              <c:pt idx="9">
                <c:v>0.0659560563556205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0.3826099793822727</c:v>
              </c:pt>
              <c:pt idx="1">
                <c:v>0.1342859349537224</c:v>
              </c:pt>
              <c:pt idx="2">
                <c:v>0.1127320768832201</c:v>
              </c:pt>
              <c:pt idx="3">
                <c:v>0.097307191075273</c:v>
              </c:pt>
              <c:pt idx="4">
                <c:v>0.0963629016135419</c:v>
              </c:pt>
              <c:pt idx="5">
                <c:v>0.0652361795310102</c:v>
              </c:pt>
              <c:pt idx="6">
                <c:v>0.0489653375630809</c:v>
              </c:pt>
              <c:pt idx="7">
                <c:v>0.0314943250427188</c:v>
              </c:pt>
              <c:pt idx="8">
                <c:v>0.0137189178295649</c:v>
              </c:pt>
              <c:pt idx="9">
                <c:v>0.0125019897184627</c:v>
              </c:pt>
              <c:pt idx="10">
                <c:v>0.0046674430987479</c:v>
              </c:pt>
              <c:pt idx="11">
                <c:v>0.000117723308384</c:v>
              </c:pt>
            </c:numLit>
          </c:val>
        </c:ser>
        <c:dLbls>
          <c:txPr>
            <a:bodyPr anchorCtr="1"/>
            <a:lstStyle/>
            <a:p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EC7000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anchorCtr="1"/>
            <a:lstStyle/>
            <a:p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Original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5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>06/24</c:v>
              </c:pt>
              <c:pt idx="6">
                <c:v>07/24</c:v>
              </c:pt>
              <c:pt idx="7">
                <c:v/>
              </c:pt>
              <c:pt idx="8">
                <c:v>12/24</c:v>
              </c:pt>
              <c:pt idx="9">
                <c:v/>
              </c:pt>
              <c:pt idx="10">
                <c:v/>
              </c:pt>
              <c:pt idx="11">
                <c:v>09/25</c:v>
              </c:pt>
              <c:pt idx="12">
                <c:v/>
              </c:pt>
              <c:pt idx="13">
                <c:v/>
              </c:pt>
              <c:pt idx="14">
                <c:v>06/26</c:v>
              </c:pt>
            </c:strLit>
          </c:cat>
          <c:val>
            <c:numLit>
              <c:formatCode>0.0%</c:formatCode>
              <c:ptCount val="15"/>
              <c:pt idx="0">
                <c:v>0.0699308402198136</c:v>
              </c:pt>
              <c:pt idx="1">
                <c:v>0.0413858663474672</c:v>
              </c:pt>
              <c:pt idx="2">
                <c:v>0.054182184519671</c:v>
              </c:pt>
              <c:pt idx="3">
                <c:v>0.0505714352102012</c:v>
              </c:pt>
              <c:pt idx="4">
                <c:v>0.042351603441698</c:v>
              </c:pt>
              <c:pt idx="5">
                <c:v>0.0526925150205596</c:v>
              </c:pt>
              <c:pt idx="6">
                <c:v>0.044853704491093</c:v>
              </c:pt>
              <c:pt idx="7">
                <c:v>0.0450892919500813</c:v>
              </c:pt>
              <c:pt idx="8">
                <c:v>0.0426046633548847</c:v>
              </c:pt>
              <c:pt idx="9">
                <c:v>0.0429438146622243</c:v>
              </c:pt>
              <c:pt idx="10">
                <c:v>0.0434223533702834</c:v>
              </c:pt>
              <c:pt idx="11">
                <c:v>0.045821513745815</c:v>
              </c:pt>
              <c:pt idx="12">
                <c:v>0.0344698393971271</c:v>
              </c:pt>
              <c:pt idx="13">
                <c:v>0.0371508338701136</c:v>
              </c:pt>
              <c:pt idx="14">
                <c:v>0.0443052791285222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3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Original · inclui zeros no denominador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Ex-zeros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4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/>
              </c:pt>
              <c:pt idx="6">
                <c:v/>
              </c:pt>
              <c:pt idx="7">
                <c:v>12/24</c:v>
              </c:pt>
              <c:pt idx="8">
                <c:v/>
              </c:pt>
              <c:pt idx="9">
                <c:v/>
              </c:pt>
              <c:pt idx="10">
                <c:v/>
              </c:pt>
              <c:pt idx="11">
                <c:v>12/25</c:v>
              </c:pt>
              <c:pt idx="12">
                <c:v/>
              </c:pt>
              <c:pt idx="13">
                <c:v>06/26</c:v>
              </c:pt>
            </c:strLit>
          </c:cat>
          <c:val>
            <c:numLit>
              <c:formatCode>0.0%</c:formatCode>
              <c:ptCount val="14"/>
              <c:pt idx="0">
                <c:v>0.2783291289680555</c:v>
              </c:pt>
              <c:pt idx="1">
                <c:v>0.2077700326589613</c:v>
              </c:pt>
              <c:pt idx="2">
                <c:v>0.2428538731040054</c:v>
              </c:pt>
              <c:pt idx="3">
                <c:v>0.2255418250857552</c:v>
              </c:pt>
              <c:pt idx="4">
                <c:v>0.1869990785556627</c:v>
              </c:pt>
              <c:pt idx="5">
                <c:v>0.2064251881930608</c:v>
              </c:pt>
              <c:pt idx="6">
                <c:v>0.2003357975731442</c:v>
              </c:pt>
              <c:pt idx="7">
                <c:v>0.192391885697197</c:v>
              </c:pt>
              <c:pt idx="8">
                <c:v>0.1699260324814649</c:v>
              </c:pt>
              <c:pt idx="9">
                <c:v>0.1635302800243923</c:v>
              </c:pt>
              <c:pt idx="10">
                <c:v>0.1564418768603019</c:v>
              </c:pt>
              <c:pt idx="11">
                <c:v>0.1177679199516296</c:v>
              </c:pt>
              <c:pt idx="12">
                <c:v>0.1158555107970783</c:v>
              </c:pt>
              <c:pt idx="13">
                <c:v>0.1352132567320641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Ex-zeros · denominador restrito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Financeiro</c:v>
          </c:tx>
          <c:spPr>
            <a:ln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val>
        </c:ser>
        <c:ser>
          <c:idx val="1"/>
          <c:order val="1"/>
          <c:tx>
            <c:v>Cartão de crédito</c:v>
          </c:tx>
          <c:spPr>
            <a:ln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val>
        </c:ser>
        <c:ser>
          <c:idx val="2"/>
          <c:order val="2"/>
          <c:tx>
            <c:v>Comercial</c:v>
          </c:tx>
          <c:spPr>
            <a:ln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val>
        </c:ser>
        <c:ser>
          <c:idx val="3"/>
          <c:order val="3"/>
          <c:tx>
            <c:v>Industrial</c:v>
          </c:tx>
          <c:spPr>
            <a:ln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val>
        </c:ser>
        <c:ser>
          <c:idx val="4"/>
          <c:order val="4"/>
          <c:tx>
            <c:v>Serviços</c:v>
          </c:tx>
          <c:spPr>
            <a:ln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val>
        </c:ser>
        <c:ser>
          <c:idx val="5"/>
          <c:order val="5"/>
          <c:tx>
            <c:v>Setor público</c:v>
          </c:tx>
          <c:spPr>
            <a:ln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val>
        </c:ser>
        <c:ser>
          <c:idx val="6"/>
          <c:order val="6"/>
          <c:tx>
            <c:v>Ações judiciais</c:v>
          </c:tx>
          <c:spPr>
            <a:ln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val>
        </c:ser>
        <c:ser>
          <c:idx val="7"/>
          <c:order val="7"/>
          <c:tx>
            <c:v>Agronegócio</c:v>
          </c:tx>
          <c:spPr>
            <a:ln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val>
        </c:ser>
        <c:ser>
          <c:idx val="8"/>
          <c:order val="8"/>
          <c:tx>
            <c:v>Imobiliário</c:v>
          </c:tx>
          <c:spPr>
            <a:ln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val>
        </c:ser>
        <c:ser>
          <c:idx val="9"/>
          <c:order val="9"/>
          <c:tx>
            <c:v>Factoring</c:v>
          </c:tx>
          <c:spPr>
            <a:ln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1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Financeiro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Cartão de crédito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Comercial</c:v>
          </c:tx>
          <c:spPr>
            <a:ln w="28575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Industrial</c:v>
          </c:tx>
          <c:spPr>
            <a:ln w="28575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Serviços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Setor público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Ações judiciais</c:v>
          </c:tx>
          <c:spPr>
            <a:ln w="28575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7"/>
          <c:order val="7"/>
          <c:tx>
            <c:v>Agronegócio</c:v>
          </c:tx>
          <c:spPr>
            <a:ln w="28575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8"/>
          <c:order val="8"/>
          <c:tx>
            <c:v>Imobiliário</c:v>
          </c:tx>
          <c:spPr>
            <a:ln w="28575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9"/>
          <c:order val="9"/>
          <c:tx>
            <c:v>Factoring</c:v>
          </c:tx>
          <c:spPr>
            <a:ln w="28575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0.7177319262894483</c:v>
              </c:pt>
              <c:pt idx="1">
                <c:v>0.3640830858142464</c:v>
              </c:pt>
              <c:pt idx="2">
                <c:v>0.7281455649767723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0.5320851575861103</c:v>
              </c:pt>
              <c:pt idx="1">
                <c:v>0.2617042615232217</c:v>
              </c:pt>
              <c:pt idx="2">
                <c:v>0.5578650737236776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Dez/25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0.08029197080291971</c:v>
              </c:pt>
              <c:pt idx="1">
                <c:v>0.007770190722863198</c:v>
              </c:pt>
              <c:pt idx="2">
                <c:v>0.8102189781021898</c:v>
              </c:pt>
              <c:pt idx="3">
                <c:v>0.009182952672474688</c:v>
              </c:pt>
              <c:pt idx="4">
                <c:v>0.07558276430421473</c:v>
              </c:pt>
              <c:pt idx="5">
                <c:v>0.016953143395337884</c:v>
              </c:pt>
            </c:numLit>
          </c:val>
        </c:ser>
        <c:ser>
          <c:idx val="1"/>
          <c:order val="1"/>
          <c:tx>
            <c:v>% PL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0.3566815952743106</c:v>
              </c:pt>
              <c:pt idx="1">
                <c:v>0.025023574308591645</c:v>
              </c:pt>
              <c:pt idx="2">
                <c:v>0.5461799583736618</c:v>
              </c:pt>
              <c:pt idx="3">
                <c:v>0.008546199474819226</c:v>
              </c:pt>
              <c:pt idx="4">
                <c:v>0.051578174945170883</c:v>
              </c:pt>
              <c:pt idx="5">
                <c:v>0.011990497623445616</c:v>
              </c:pt>
            </c:numLit>
          </c:val>
        </c:ser>
        <c:dLbls>
          <c:txPr>
            <a:bodyPr anchorCtr="1"/>
            <a:lstStyle/>
            <a:p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6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A1F3D"/>
              </a:solidFill>
            </c:spPr>
          </c:dPt>
          <c:dPt>
            <c:idx val="2"/>
            <c:invertIfNegative val="0"/>
            <c:spPr>
              <a:solidFill>
                <a:srgbClr val="BEC2C5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Oliveira Trust</c:v>
              </c:pt>
              <c:pt idx="2">
                <c:v>Daycoval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28.577477955880003</c:v>
              </c:pt>
              <c:pt idx="1">
                <c:v>57.205822956949994</c:v>
              </c:pt>
              <c:pt idx="2">
                <c:v>58.07994111931001</c:v>
              </c:pt>
              <c:pt idx="3">
                <c:v>123.34891855075</c:v>
              </c:pt>
              <c:pt idx="4">
                <c:v>124.12592647323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21.117364064860002</c:v>
              </c:pt>
              <c:pt idx="1">
                <c:v>21.71761716544</c:v>
              </c:pt>
              <c:pt idx="2">
                <c:v>22.40761845837</c:v>
              </c:pt>
              <c:pt idx="3">
                <c:v>57.205822956949994</c:v>
              </c:pt>
              <c:pt idx="4">
                <c:v>124.12592647323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18.875169440439997</c:v>
              </c:pt>
              <c:pt idx="1">
                <c:v>26.891086880550002</c:v>
              </c:pt>
              <c:pt idx="2">
                <c:v>35.02222544035998</c:v>
              </c:pt>
              <c:pt idx="3">
                <c:v>40.32919650402</c:v>
              </c:pt>
              <c:pt idx="4">
                <c:v>79.11922838494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A7ACB0"/>
              </a:solidFill>
            </c:spPr>
          </c:dPt>
          <c:dPt>
            <c:idx val="2"/>
            <c:invertIfNegative val="0"/>
            <c:spPr>
              <a:solidFill>
                <a:srgbClr val="BEC2C5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Integral Investimentos</c:v>
              </c:pt>
              <c:pt idx="2">
                <c:v>Solis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14.95203415536</c:v>
              </c:pt>
              <c:pt idx="2">
                <c:v>16.12591261212</c:v>
              </c:pt>
              <c:pt idx="3">
                <c:v>22.14586346137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2456D6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QI Tech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21.926715321429995</c:v>
              </c:pt>
              <c:pt idx="1">
                <c:v>64.38995086032001</c:v>
              </c:pt>
              <c:pt idx="2">
                <c:v>74.73806249444</c:v>
              </c:pt>
              <c:pt idx="3">
                <c:v>122.32123834260001</c:v>
              </c:pt>
              <c:pt idx="4">
                <c:v>122.70207078867999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21.72075588213</c:v>
              </c:pt>
              <c:pt idx="1">
                <c:v>22.40761845837</c:v>
              </c:pt>
              <c:pt idx="2">
                <c:v>25.148795168550002</c:v>
              </c:pt>
              <c:pt idx="3">
                <c:v>74.73806249444</c:v>
              </c:pt>
              <c:pt idx="4">
                <c:v>122.32123834260001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>
              <a:srgbClr val="2456D6"/>
            </a:solidFill>
          </c:spPr>
          <c:dPt>
            <c:idx val="0"/>
            <c:invertIfNegative val="0"/>
            <c:spPr>
              <a:solidFill>
                <a:srgbClr val="2456D6"/>
              </a:solidFill>
            </c:spPr>
          </c:dPt>
          <c:dPt>
            <c:idx val="1"/>
            <c:invertIfNegative val="0"/>
            <c:spPr>
              <a:solidFill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>
              <a:srgbClr val="1D4080"/>
            </a:solidFill>
          </c:spPr>
          <c:dPt>
            <c:idx val="0"/>
            <c:invertIfNegative val="0"/>
            <c:spPr>
              <a:solidFill>
                <a:srgbClr val="1D408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79.11922838494</c:v>
              </c:pt>
              <c:pt idx="1">
                <c:v>40.32919650402</c:v>
              </c:pt>
              <c:pt idx="2">
                <c:v>27.842201097290015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0.1116763306350601</c:v>
              </c:pt>
              <c:pt idx="1">
                <c:v>0.6782283246807754</c:v>
              </c:pt>
              <c:pt idx="2">
                <c:v>0.0450938092637845</c:v>
              </c:pt>
              <c:pt idx="3">
                <c:v>0.0383225339956283</c:v>
              </c:pt>
              <c:pt idx="4">
                <c:v>0.0555263851137853</c:v>
              </c:pt>
              <c:pt idx="5">
                <c:v>0.1191594010470072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0.1390963456785791</c:v>
              </c:pt>
              <c:pt idx="1">
                <c:v>0.0085369657675623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0.0840999608667202</c:v>
              </c:pt>
              <c:pt idx="1">
                <c:v>0.0060998187147488</c:v>
              </c:pt>
              <c:pt idx="2">
                <c:v>0.0121996377120526</c:v>
              </c:pt>
              <c:pt idx="3">
                <c:v>0.1576375144502833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0.0146265486635242</c:v>
              </c:pt>
              <c:pt idx="1">
                <c:v>0.009628795711521</c:v>
              </c:pt>
              <c:pt idx="2">
                <c:v>0.0718716845273516</c:v>
              </c:pt>
              <c:pt idx="3">
                <c:v>0.0746723052215733</c:v>
              </c:pt>
              <c:pt idx="4">
                <c:v>0.253591336198019</c:v>
              </c:pt>
              <c:pt idx="5">
                <c:v>0.3084942496785164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0.0225383075558926</c:v>
              </c:pt>
              <c:pt idx="2">
                <c:v>0.1478667482986454</c:v>
              </c:pt>
              <c:pt idx="3">
                <c:v>0.1403255782349483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0.0452554036899924</c:v>
              </c:pt>
              <c:pt idx="1">
                <c:v>0.0014290426740686</c:v>
              </c:pt>
              <c:pt idx="2">
                <c:v>0.0938211651306432</c:v>
              </c:pt>
              <c:pt idx="3">
                <c:v>0.1266642208703755</c:v>
              </c:pt>
              <c:pt idx="4">
                <c:v>0.2292028070380465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0.0679529812812936</c:v>
              </c:pt>
              <c:pt idx="1">
                <c:v>0.0093365494192045</c:v>
              </c:pt>
              <c:pt idx="2">
                <c:v>0.0435322365450096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0.0265752299531593</c:v>
              </c:pt>
              <c:pt idx="1">
                <c:v>0.0407324745725011</c:v>
              </c:pt>
              <c:pt idx="2">
                <c:v>0.041430326101634</c:v>
              </c:pt>
              <c:pt idx="3">
                <c:v>0.0163428047472977</c:v>
              </c:pt>
              <c:pt idx="4">
                <c:v>0.006670926137507</c:v>
              </c:pt>
              <c:pt idx="5">
                <c:v>0.0543763088929269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0.3859616853035125</c:v>
              </c:pt>
              <c:pt idx="1">
                <c:v>0.188336941366163</c:v>
              </c:pt>
              <c:pt idx="2">
                <c:v>0.2466092951847047</c:v>
              </c:pt>
              <c:pt idx="3">
                <c:v>0.2518978769172617</c:v>
              </c:pt>
              <c:pt idx="4">
                <c:v>0.0646548691339009</c:v>
              </c:pt>
              <c:pt idx="5">
                <c:v>0.1217412105220637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0.0500957774921574</c:v>
              </c:pt>
              <c:pt idx="1">
                <c:v>0.0012525299906187</c:v>
              </c:pt>
              <c:pt idx="2">
                <c:v>0.2535264495160129</c:v>
              </c:pt>
              <c:pt idx="3">
                <c:v>0.0462427868594103</c:v>
              </c:pt>
              <c:pt idx="4">
                <c:v>0.2758716420451991</c:v>
              </c:pt>
              <c:pt idx="5">
                <c:v>0.3233036682243127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0.0469523725398685</c:v>
              </c:pt>
              <c:pt idx="1">
                <c:v>0.0225383075558926</c:v>
              </c:pt>
              <c:pt idx="2">
                <c:v>0.0909821352025632</c:v>
              </c:pt>
              <c:pt idx="3">
                <c:v>0.1379781899976271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0.0019669412013587</c:v>
              </c:pt>
              <c:pt idx="1">
                <c:v>0.0007064267423984</c:v>
              </c:pt>
              <c:pt idx="2">
                <c:v>0.0510761668947442</c:v>
              </c:pt>
              <c:pt idx="3">
                <c:v>0.0481316360628852</c:v>
              </c:pt>
              <c:pt idx="4">
                <c:v>0.1937323312865176</c:v>
              </c:pt>
              <c:pt idx="5">
                <c:v>0.2251967686157905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0.0220612214253641</c:v>
              </c:pt>
              <c:pt idx="1">
                <c:v>0</c:v>
              </c:pt>
              <c:pt idx="2">
                <c:v>0.0733873168779346</c:v>
              </c:pt>
              <c:pt idx="3">
                <c:v>0.1081333878129026</c:v>
              </c:pt>
              <c:pt idx="4">
                <c:v>0.0942677758415833</c:v>
              </c:pt>
              <c:pt idx="5">
                <c:v>0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0.006031214274127</c:v>
              </c:pt>
              <c:pt idx="1">
                <c:v>0.2254820036895443</c:v>
              </c:pt>
              <c:pt idx="2">
                <c:v>0.0044598510745928</c:v>
              </c:pt>
              <c:pt idx="3">
                <c:v>0.0024475116853231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0.0450847430474019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0.0205891110813994</c:v>
              </c:pt>
              <c:pt idx="1">
                <c:v>0.0353488694975699</c:v>
              </c:pt>
              <c:pt idx="2">
                <c:v>0.0103281819969092</c:v>
              </c:pt>
              <c:pt idx="3">
                <c:v>0.0170236300688781</c:v>
              </c:pt>
              <c:pt idx="4">
                <c:v>0.0213932153161958</c:v>
              </c:pt>
              <c:pt idx="5">
                <c:v>0.0588066657932295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0.0124160176066826</c:v>
              </c:pt>
              <c:pt idx="1">
                <c:v>0</c:v>
              </c:pt>
              <c:pt idx="2">
                <c:v>0.0921407401194705</c:v>
              </c:pt>
              <c:pt idx="3">
                <c:v>0.0070214132164745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0.0056678347405107</c:v>
              </c:pt>
              <c:pt idx="1">
                <c:v>0.0058311829957581</c:v>
              </c:pt>
              <c:pt idx="2">
                <c:v>0.072361729110744</c:v>
              </c:pt>
              <c:pt idx="3">
                <c:v>0.0067039718840054</c:v>
              </c:pt>
              <c:pt idx="4">
                <c:v>0.0020264986777547</c:v>
              </c:pt>
              <c:pt idx="5">
                <c:v>0.0059850887644436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0.0081687112550485</c:v>
              </c:pt>
              <c:pt idx="1">
                <c:v>0.0031211412936085</c:v>
              </c:pt>
              <c:pt idx="2">
                <c:v>0.0018544989739266</c:v>
              </c:pt>
              <c:pt idx="3">
                <c:v>0.0644142962449783</c:v>
              </c:pt>
              <c:pt idx="4">
                <c:v>0.0996900292425515</c:v>
              </c:pt>
              <c:pt idx="5">
                <c:v>0.0090591090265077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0.7803731753534665</c:v>
              </c:pt>
              <c:pt idx="1">
                <c:v>0.7049428932208924</c:v>
              </c:pt>
              <c:pt idx="2">
                <c:v>0.3287800173132373</c:v>
              </c:pt>
              <c:pt idx="3">
                <c:v>0.5619031761675151</c:v>
              </c:pt>
              <c:pt idx="4">
                <c:v>0.3130185075901977</c:v>
              </c:pt>
              <c:pt idx="5">
                <c:v>0.3775980887540289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0.0005928799826141</c:v>
              </c:pt>
              <c:pt idx="1">
                <c:v>0.0007766450137169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0.1385988512304118</c:v>
              </c:pt>
              <c:pt idx="1">
                <c:v>0.0027057827718041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0.1110650498414056</c:v>
              </c:pt>
              <c:pt idx="1">
                <c:v>0.6759912968773222</c:v>
              </c:pt>
              <c:pt idx="2">
                <c:v>0.0451499232981444</c:v>
              </c:pt>
              <c:pt idx="3">
                <c:v>0.0382941953359548</c:v>
              </c:pt>
              <c:pt idx="4">
                <c:v>0.0500143231646444</c:v>
              </c:pt>
              <c:pt idx="5">
                <c:v>0.1184983159999287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0.0367401725104139</c:v>
              </c:pt>
              <c:pt idx="1">
                <c:v>0.0271351448333965</c:v>
              </c:pt>
              <c:pt idx="2">
                <c:v>0.1734502780656785</c:v>
              </c:pt>
              <c:pt idx="3">
                <c:v>0.0746723052215733</c:v>
              </c:pt>
              <c:pt idx="4">
                <c:v>0.254399426087156</c:v>
              </c:pt>
              <c:pt idx="5">
                <c:v>0.3092763527579982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0.0901371033135809</c:v>
              </c:pt>
              <c:pt idx="1">
                <c:v>0.0060998187147488</c:v>
              </c:pt>
              <c:pt idx="2">
                <c:v>0.0338901250913308</c:v>
              </c:pt>
              <c:pt idx="3">
                <c:v>0.1662834134085645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0.0170780158717631</c:v>
              </c:pt>
              <c:pt idx="2">
                <c:v>0.1117385096852637</c:v>
              </c:pt>
              <c:pt idx="3">
                <c:v>0.1399668200066018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0.0341699412912885</c:v>
              </c:pt>
              <c:pt idx="1">
                <c:v>0.0014290426740686</c:v>
              </c:pt>
              <c:pt idx="2">
                <c:v>0.0924387555066889</c:v>
              </c:pt>
              <c:pt idx="3">
                <c:v>0.1266642208703755</c:v>
              </c:pt>
              <c:pt idx="4">
                <c:v>0.1377649003513394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506669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0.0766621333152516</c:v>
              </c:pt>
              <c:pt idx="1">
                <c:v>0.0001847303014918</c:v>
              </c:pt>
              <c:pt idx="2">
                <c:v>1.9023858238375103E-05</c:v>
              </c:pt>
              <c:pt idx="3">
                <c:v>0.0013441224672684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0.0529133378830142</c:v>
              </c:pt>
              <c:pt idx="1">
                <c:v>0.0093365494192045</c:v>
              </c:pt>
              <c:pt idx="2">
                <c:v>0.0171026340935401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0.3241701231603555</c:v>
              </c:pt>
              <c:pt idx="1">
                <c:v>0.2115480334239259</c:v>
              </c:pt>
              <c:pt idx="2">
                <c:v>0.160647830710761</c:v>
              </c:pt>
              <c:pt idx="3">
                <c:v>0.2568686718762569</c:v>
              </c:pt>
              <c:pt idx="4">
                <c:v>0.1673666661701728</c:v>
              </c:pt>
              <c:pt idx="5">
                <c:v>0.1759965013825875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4949607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0.0107877735261191</c:v>
              </c:pt>
              <c:pt idx="1">
                <c:v>0.0133588055747116</c:v>
              </c:pt>
              <c:pt idx="2">
                <c:v>0.0679878224541797</c:v>
              </c:pt>
              <c:pt idx="3">
                <c:v>0.0017690852507729</c:v>
              </c:pt>
              <c:pt idx="4">
                <c:v>0.0001010078479461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0.6782283246807754</c:v>
              </c:pt>
              <c:pt idx="1">
                <c:v>0.2831240514453489</c:v>
              </c:pt>
              <c:pt idx="2">
                <c:v>0.1191594010470072</c:v>
              </c:pt>
              <c:pt idx="3">
                <c:v>0.0555263851137853</c:v>
              </c:pt>
              <c:pt idx="4">
                <c:v>0.0691691486679832</c:v>
              </c:pt>
              <c:pt idx="5">
                <c:v>0.0383225339956283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0.2264353570509752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0.1116763306350601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0.0085369657675623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0.1390963456785791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0.1576375144502833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0.2191987728818734</c:v>
              </c:pt>
              <c:pt idx="10">
                <c:v>0.0851975999676302</c:v>
              </c:pt>
              <c:pt idx="11">
                <c:v>0.0775017988341624</c:v>
              </c:pt>
              <c:pt idx="12">
                <c:v>0.0561734532046676</c:v>
              </c:pt>
              <c:pt idx="13">
                <c:v>0.0840999608667202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0.009628795711521</c:v>
              </c:pt>
              <c:pt idx="1">
                <c:v>0.210187707644898</c:v>
              </c:pt>
              <c:pt idx="2">
                <c:v>0.3084942496785164</c:v>
              </c:pt>
              <c:pt idx="3">
                <c:v>0.253591336198019</c:v>
              </c:pt>
              <c:pt idx="4">
                <c:v>0</c:v>
              </c:pt>
              <c:pt idx="5">
                <c:v>0.0746723052215733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0.0533268146890519</c:v>
              </c:pt>
              <c:pt idx="13">
                <c:v>0.0146265486635242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0.4931230015075811</c:v>
              </c:pt>
              <c:pt idx="5">
                <c:v>0.1403255782349483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0.0089665861260677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0.2292028070380465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0.0947363671905799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0.0452554036899924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0.0679529812812936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0.0719893561435586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0.0407324745725011</c:v>
              </c:pt>
              <c:pt idx="1">
                <c:v>0.0052736633265841</c:v>
              </c:pt>
              <c:pt idx="2">
                <c:v>0.0543763088929269</c:v>
              </c:pt>
              <c:pt idx="3">
                <c:v>0.006670926137507</c:v>
              </c:pt>
              <c:pt idx="4">
                <c:v>0</c:v>
              </c:pt>
              <c:pt idx="5">
                <c:v>0.0163428047472977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0.088274982113552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0.0265752299531593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0.188336941366163</c:v>
              </c:pt>
              <c:pt idx="1">
                <c:v>0.1786693066876506</c:v>
              </c:pt>
              <c:pt idx="2">
                <c:v>0.1217412105220637</c:v>
              </c:pt>
              <c:pt idx="3">
                <c:v>0.0646548691339009</c:v>
              </c:pt>
              <c:pt idx="4">
                <c:v>0.3650060218993778</c:v>
              </c:pt>
              <c:pt idx="5">
                <c:v>0.2518978769172617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0.1411084314958586</c:v>
              </c:pt>
              <c:pt idx="10">
                <c:v>0.2848443838437823</c:v>
              </c:pt>
              <c:pt idx="11">
                <c:v>0.6847170379852451</c:v>
              </c:pt>
              <c:pt idx="12">
                <c:v>0.286555225457034</c:v>
              </c:pt>
              <c:pt idx="13">
                <c:v>0.3859616853035125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36085691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3400999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0.0012525299906187</c:v>
              </c:pt>
              <c:pt idx="1">
                <c:v>0</c:v>
              </c:pt>
              <c:pt idx="2">
                <c:v>0.3233036682243127</c:v>
              </c:pt>
              <c:pt idx="3">
                <c:v>0.2758716420451991</c:v>
              </c:pt>
              <c:pt idx="4">
                <c:v>0</c:v>
              </c:pt>
              <c:pt idx="5">
                <c:v>0.0462427868594103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0.0112782861788371</c:v>
              </c:pt>
              <c:pt idx="10">
                <c:v>0.0314890119720234</c:v>
              </c:pt>
              <c:pt idx="11">
                <c:v>0.0048931980001534</c:v>
              </c:pt>
              <c:pt idx="12">
                <c:v>0.0726718301479003</c:v>
              </c:pt>
              <c:pt idx="13">
                <c:v>0.0500957774921574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0.1379781899976271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0.0295771875973997</c:v>
              </c:pt>
              <c:pt idx="11">
                <c:v>0</c:v>
              </c:pt>
              <c:pt idx="12">
                <c:v>0.0089665861260677</c:v>
              </c:pt>
              <c:pt idx="13">
                <c:v>0.0469523725398685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2433569168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0.0007064267423984</c:v>
              </c:pt>
              <c:pt idx="1">
                <c:v>0.0399878754183617</c:v>
              </c:pt>
              <c:pt idx="2">
                <c:v>0.2251967686157905</c:v>
              </c:pt>
              <c:pt idx="3">
                <c:v>0.1937323312865176</c:v>
              </c:pt>
              <c:pt idx="4">
                <c:v>0</c:v>
              </c:pt>
              <c:pt idx="5">
                <c:v>0.0481316360628852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0.0029567138086895</c:v>
              </c:pt>
              <c:pt idx="10">
                <c:v>0.0090278528000783</c:v>
              </c:pt>
              <c:pt idx="11">
                <c:v>0</c:v>
              </c:pt>
              <c:pt idx="12">
                <c:v>0.0319409306110538</c:v>
              </c:pt>
              <c:pt idx="13">
                <c:v>0.0019669412013587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0398527386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0.0942677758415833</c:v>
              </c:pt>
              <c:pt idx="4">
                <c:v>0</c:v>
              </c:pt>
              <c:pt idx="5">
                <c:v>0.1081333878129026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0.005450294547657</c:v>
              </c:pt>
              <c:pt idx="10">
                <c:v>0</c:v>
              </c:pt>
              <c:pt idx="11">
                <c:v>0</c:v>
              </c:pt>
              <c:pt idx="12">
                <c:v>0.0014030424128084</c:v>
              </c:pt>
              <c:pt idx="13">
                <c:v>0.0220612214253641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0.2254820036895443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0.0024475116853231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0.0115869717776985</c:v>
              </c:pt>
              <c:pt idx="11">
                <c:v>0</c:v>
              </c:pt>
              <c:pt idx="12">
                <c:v>0</c:v>
              </c:pt>
              <c:pt idx="13">
                <c:v>0.006031214274127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0.1004163448849682</c:v>
              </c:pt>
              <c:pt idx="10">
                <c:v>0</c:v>
              </c:pt>
              <c:pt idx="11">
                <c:v>0</c:v>
              </c:pt>
              <c:pt idx="12">
                <c:v>0.0258977954276094</c:v>
              </c:pt>
              <c:pt idx="13">
                <c:v>0.0450847430474019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.01498145723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0.0353488694975699</c:v>
              </c:pt>
              <c:pt idx="1">
                <c:v>0</c:v>
              </c:pt>
              <c:pt idx="2">
                <c:v>0.0588066657932295</c:v>
              </c:pt>
              <c:pt idx="3">
                <c:v>0.0213932153161958</c:v>
              </c:pt>
              <c:pt idx="4">
                <c:v>0</c:v>
              </c:pt>
              <c:pt idx="5">
                <c:v>0.0170236300688781</c:v>
              </c:pt>
              <c:pt idx="6">
                <c:v>0</c:v>
              </c:pt>
              <c:pt idx="7">
                <c:v>0.0103281819969092</c:v>
              </c:pt>
              <c:pt idx="8">
                <c:v>0.0471192664026394</c:v>
              </c:pt>
              <c:pt idx="9">
                <c:v>0</c:v>
              </c:pt>
              <c:pt idx="10">
                <c:v>0.0047678128094529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0.0205891110813994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565772027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0.0070214132164745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0.0111310339707986</c:v>
              </c:pt>
              <c:pt idx="11">
                <c:v>0</c:v>
              </c:pt>
              <c:pt idx="12">
                <c:v>0.0642625485190267</c:v>
              </c:pt>
              <c:pt idx="13">
                <c:v>0.0124160176066826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0.0058311829957581</c:v>
              </c:pt>
              <c:pt idx="1">
                <c:v>0</c:v>
              </c:pt>
              <c:pt idx="2">
                <c:v>0.0059850887644436</c:v>
              </c:pt>
              <c:pt idx="3">
                <c:v>0.0020264986777547</c:v>
              </c:pt>
              <c:pt idx="4">
                <c:v>0.3970784801516897</c:v>
              </c:pt>
              <c:pt idx="5">
                <c:v>0.0067039718840054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0.0056678347405107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0.0031211412936085</c:v>
              </c:pt>
              <c:pt idx="1">
                <c:v>0</c:v>
              </c:pt>
              <c:pt idx="2">
                <c:v>0.0090591090265077</c:v>
              </c:pt>
              <c:pt idx="3">
                <c:v>0.0996900292425515</c:v>
              </c:pt>
              <c:pt idx="4">
                <c:v>0.0012378025558711</c:v>
              </c:pt>
              <c:pt idx="5">
                <c:v>0.0644142962449783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0.0081687112550485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0.7049428932208924</c:v>
              </c:pt>
              <c:pt idx="1">
                <c:v>0.7576131187514845</c:v>
              </c:pt>
              <c:pt idx="2">
                <c:v>0.3775980887540289</c:v>
              </c:pt>
              <c:pt idx="3">
                <c:v>0.3130185075901977</c:v>
              </c:pt>
              <c:pt idx="4">
                <c:v>0.190064041154758</c:v>
              </c:pt>
              <c:pt idx="5">
                <c:v>0.5619031761675151</c:v>
              </c:pt>
              <c:pt idx="6">
                <c:v>0.7921503174998235</c:v>
              </c:pt>
              <c:pt idx="7">
                <c:v>0.3287800173132373</c:v>
              </c:pt>
              <c:pt idx="8">
                <c:v>0.6875028892220143</c:v>
              </c:pt>
              <c:pt idx="9">
                <c:v>0.803030339883502</c:v>
              </c:pt>
              <c:pt idx="10">
                <c:v>0.9024201290725482</c:v>
              </c:pt>
              <c:pt idx="11">
                <c:v>0.9948561124641392</c:v>
              </c:pt>
              <c:pt idx="12">
                <c:v>0.7941948271502433</c:v>
              </c:pt>
              <c:pt idx="13">
                <c:v>0.7803731753534665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0.0007766450137169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0.076868020696346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0.0005928799826141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.01024538675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0.0027057827718041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0.1385988512304118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0.6759912968773222</c:v>
              </c:pt>
              <c:pt idx="1">
                <c:v>0.2831240514453489</c:v>
              </c:pt>
              <c:pt idx="2">
                <c:v>0.1184983159999287</c:v>
              </c:pt>
              <c:pt idx="3">
                <c:v>0.0500143231646444</c:v>
              </c:pt>
              <c:pt idx="4">
                <c:v>0.0691691486679832</c:v>
              </c:pt>
              <c:pt idx="5">
                <c:v>0.0382941953359548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0.1510800867413979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0.1110650498414056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0.0271351448333965</c:v>
              </c:pt>
              <c:pt idx="1">
                <c:v>0.2481574168942679</c:v>
              </c:pt>
              <c:pt idx="2">
                <c:v>0.3092763527579982</c:v>
              </c:pt>
              <c:pt idx="3">
                <c:v>0.254399426087156</c:v>
              </c:pt>
              <c:pt idx="4">
                <c:v>0.014041110348548</c:v>
              </c:pt>
              <c:pt idx="5">
                <c:v>0.0746723052215733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0.0285286777700744</c:v>
              </c:pt>
              <c:pt idx="13">
                <c:v>0.0367401725104139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0.1662834134085645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0.2191987728818734</c:v>
              </c:pt>
              <c:pt idx="10">
                <c:v>0.1894161385363026</c:v>
              </c:pt>
              <c:pt idx="11">
                <c:v>0.0775017988341624</c:v>
              </c:pt>
              <c:pt idx="12">
                <c:v>0.0561734532046676</c:v>
              </c:pt>
              <c:pt idx="13">
                <c:v>0.0901371033135809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0.0170780158717631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0.1399668200066018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0.0337647230450451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0.1377649003513394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0.0932236168038112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0.0341699412912885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506669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0.0001847303014918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0.0013441224672684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0.0446982964925705</c:v>
              </c:pt>
              <c:pt idx="12">
                <c:v>0.0475501029412941</c:v>
              </c:pt>
              <c:pt idx="13">
                <c:v>0.0766621333152516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0.0529133378830142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0.0724628706745208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0.2115480334239259</c:v>
              </c:pt>
              <c:pt idx="1">
                <c:v>0.1454997462339026</c:v>
              </c:pt>
              <c:pt idx="2">
                <c:v>0.1759965013825875</c:v>
              </c:pt>
              <c:pt idx="3">
                <c:v>0.1673666661701728</c:v>
              </c:pt>
              <c:pt idx="4">
                <c:v>0.3509649115508297</c:v>
              </c:pt>
              <c:pt idx="5">
                <c:v>0.2568686718762569</c:v>
              </c:pt>
              <c:pt idx="6">
                <c:v>0.3249582640332574</c:v>
              </c:pt>
              <c:pt idx="7">
                <c:v>0.160647830710761</c:v>
              </c:pt>
              <c:pt idx="8">
                <c:v>0.3273090934316863</c:v>
              </c:pt>
              <c:pt idx="9">
                <c:v>0.1411084314958586</c:v>
              </c:pt>
              <c:pt idx="10">
                <c:v>0.2666485455225821</c:v>
              </c:pt>
              <c:pt idx="11">
                <c:v>0.6402694310283819</c:v>
              </c:pt>
              <c:pt idx="12">
                <c:v>0.2391091484443289</c:v>
              </c:pt>
              <c:pt idx="13">
                <c:v>0.3241701231603555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4949607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738590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0.0133588055747116</c:v>
              </c:pt>
              <c:pt idx="1">
                <c:v>0</c:v>
              </c:pt>
              <c:pt idx="2">
                <c:v>5.061082168693914E-05</c:v>
              </c:pt>
              <c:pt idx="3">
                <c:v>0.0001010078479461</c:v>
              </c:pt>
              <c:pt idx="4">
                <c:v>0</c:v>
              </c:pt>
              <c:pt idx="5">
                <c:v>0.0017690852507729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0.076868020696346</c:v>
              </c:pt>
              <c:pt idx="10">
                <c:v>0.0022522818660797</c:v>
              </c:pt>
              <c:pt idx="11">
                <c:v>0</c:v>
              </c:pt>
              <c:pt idx="12">
                <c:v>0.0005584136767011</c:v>
              </c:pt>
              <c:pt idx="13">
                <c:v>0.0107877735261191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1BDFA9-8FF4-4D62-B439-F51DF811C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A031E9-9119-4BC3-9741-D35FF243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F4339A-AC0B-497E-8002-A8C83E50D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9B32D5-F071-4B8D-A704-FBFC2BE8B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3F9AE5-E886-4D57-B1BE-9C7B44C8B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F3F7CC-20A1-4358-840E-9C6C0D130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até 30 de junho de 2026; comparativo ANBIMA até 31 de maio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369198-6AD7-4C09-A287-B7A33EF8D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2541441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0610FE-6893-47CF-B4A1-EF8DC3E1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5B29E0-35C0-4AB0-A7BF-C25E7A19A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A5E535-0E30-4CDD-98DB-E752D158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BDF940-19F3-41D8-BB7B-87B815A3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B8709F-3627-4CAA-8C5C-775FBA54D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jun/26. Ofertas CVM até jun/26; ANBIMA até 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D9E61E-25CF-4648-91AE-33F13E9E3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0AFFB3-4A24-4E64-AA59-4E85B354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3924B8-235E-49A8-A559-F20AA0740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EF81CF-AA69-40A0-B9A6-08EA8D6C5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10,7× 2015; FIC-FIDC: R$ 81,1 bi.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DC9C78-04D9-41C6-B3F4-2194E2639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64DCA4-4059-48D7-83D4-F36A727B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58,4%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D12637-96EC-42ED-A6A2-1C629FE01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com PL ≥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2B96B8-34FD-4E7D-BFAD-A9B93210A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59,5% do PL no recorte de R$ 733,1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2FC62B-6C9D-400F-A07B-466FE9E1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9D3335-56A9-4C13-9A4D-7DE321F9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7E35C-5CC0-44B5-B117-44D846D3A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9286D7-1229-45EA-A1FE-BD537308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653A55-7F87-44E3-BFCA-8A6F5DA2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24013A-ABFF-49FE-B2D6-459F0179E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8A46FD-D30C-4AB1-A7C0-A6FB80BD2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A25682-7D9F-48B4-A898-AFEECC5ED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R$ 342,9 bi de R$ 961,5 bi de PL bruto; inclui FIC-FIDC.</a:t>
            </a:r>
          </a:p>
        </p:txBody>
      </p:sp>
    </p:spTree>
    <p:extLst>
      <p:ext uri="{BB962C8B-B14F-4D97-AF65-F5344CB8AC3E}">
        <p14:creationId xmlns:p14="http://schemas.microsoft.com/office/powerpoint/2010/main" val="12128484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02E99A-D38E-4E34-8DFA-782872CE2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AC8E2F-00BC-4320-AF1C-2DFECD477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somam R$ 880 bi de PL ex-FIC; a carteira representa parte relevante da securitização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B561B9-B479-49A3-86D8-1893A6368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BC87D8-1A48-45D9-BE26-FA678154F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6938E3-5A94-4A5D-8A48-105E0430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mai/26).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592336-A21D-432C-83E0-DC441A14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5B317D-4DFC-4402-9B09-1143CDA2A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66825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· EX-FIC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4F2DEC-9D0E-4C9E-AD58-38CC1406B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3525"/>
            <a:ext cx="519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23875" y="1571625"/>
          <a:ext xmlns:a="http://schemas.openxmlformats.org/drawingml/2006/main" cx="528637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a9b215413c84cd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44A8E8-A2FB-41D4-AF40-8FA067F5E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2020/19 -9,1%   ·   2022/21 +22,6%   ·   2023/22 +26,2%   ·   2024/23 +47,9%   ·   2025/24 +22,0%   ·   2026 YTD +5,7%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6E8F1D-EB3C-439F-B7E9-F9346F72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668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F9D3C8-040F-4DB1-8EB0-6FE40C60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533525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048375" y="1571625"/>
          <a:ext xmlns:a="http://schemas.openxmlformats.org/drawingml/2006/main" cx="55721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a171dd246004f50"/>
          </a:graphicData>
        </a:graphic>
      </p:graphicFrame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096000" y="4914900"/>
          <a:ext xmlns:a="http://schemas.openxmlformats.org/drawingml/2006/main" cx="5524500" cy="19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1366d8a98154986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F9C24A-DCA3-448C-9E84-7733C9145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53025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+2,3%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250D3B-293A-42F1-B538-180FEED25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435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Mai/26: total privado R$ 13.672 bi; securitização R$ 1.157 bi; carteira FIDC R$ 670 bi. O total BCB de R$ 21.513 bi inclui R$ 7.841 bi de títulos públicos e permanece no export para reconciliação.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11AD16-F83C-435E-8732-607A5BFC1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ex-FIC e carteira privada têm perímetros contábeis distintos.</a:t>
            </a:r>
          </a:p>
        </p:txBody>
      </p:sp>
    </p:spTree>
    <p:extLst>
      <p:ext uri="{BB962C8B-B14F-4D97-AF65-F5344CB8AC3E}">
        <p14:creationId xmlns:p14="http://schemas.microsoft.com/office/powerpoint/2010/main" val="838498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9BFED2-11EA-49E2-81CA-0A107A31B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CVM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4E1A9F-1300-49A2-8160-46C7A711B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série CVM preserva o volume registrado e a granularidade por oferta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1124A0-7638-4AA2-A200-8B19341D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11C8CC-F6E2-47AD-8339-39F8826A2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C4CB10-EE1F-4F84-A6BF-39072BAC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bases do rito automático e de distribuição, snapshot 24/jul/26.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EA4B4E-73F9-433C-9EC7-BC16892E8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39CC27-7CFB-4667-8959-9BB9435CD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AB8FCD-88ED-47F0-B520-7D9AF99B3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571500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99cb0cc828a4e6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8B99C1-8821-4015-AD34-E75F9B80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INSTRUMENTOS MAIS EMITIDOS EM 2025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5E63BF-8276-4248-8304-09585BE80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6334125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e6ff6789d4b4d02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3CEABB-3835-44BE-A91C-A45F02D3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5196C9-73B1-480C-A8E1-58068EC44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D834D2-102E-4CF0-8D47-6ED1847B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total registrado, informado à CVM.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D52767-778F-4906-B052-3C40DC373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99F1F1-25A6-45B9-8AE4-19D81C495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5A9D99-3A3F-4868-8677-16768E1D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8A7500-BAC8-46C3-8474-30CDCC769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públicas primárias encerradas; rito automático da RCVM 160, ordinário e regimes legados disponíveis.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12359C-F796-43DB-B0F7-539559D2C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A68CDB-3116-4DCE-BAF1-CA6880E45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CORTE E LIMITAÇÃO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F7EC62-F146-453C-9553-785149236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50415D-C431-4CD3-8EA3-69B6ECB81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Data de encerramento no período; volume positivo. O valor registrado pode diferir do valor encerrado e a taxonomia declarada mantém Outros títulos de securitização separado.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396E71-FF4B-4C37-A4CA-33D583B6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Perímetro aplicado aos slides granulares de emissões, inclusive público-alvo, tickets, regime de colocação e Top 15.</a:t>
            </a:r>
          </a:p>
        </p:txBody>
      </p:sp>
    </p:spTree>
    <p:extLst>
      <p:ext uri="{BB962C8B-B14F-4D97-AF65-F5344CB8AC3E}">
        <p14:creationId xmlns:p14="http://schemas.microsoft.com/office/powerpoint/2010/main" val="17845241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0E5092-C10F-4CFA-8AC1-2612286E3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1CB1EA-A354-4B24-9666-B31F1C9F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valor encerrado oferece a referência comparável do mercado por instrumento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D008C2-2C6C-4E30-8422-08274B636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8300E0-80A5-4DBC-AE14-D225C6D30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374C9A-3B08-4711-B8F5-E17928F8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Data, Boletim de Mercado de Capitais, snapshot mai/26. Valor encerrado; 2026 = jan–mai.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A34A81-C244-4AD3-BEFD-6A746E6B2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66F170-9C09-47F4-B3E1-D5355C61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95400"/>
            <a:ext cx="600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D766A1-6AE4-4A2D-9096-1E0F817D9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600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6000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f05f83271c24c0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B89546-5160-4D9E-A5B6-11563F75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29540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DEBÊNTURES · PONTE TAXONÔMICA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F39FAC-A8D9-43C3-B354-2F9E4B47E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53352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2025: CVM R$ 453,7 bi + R$ 38,8 bi em Outros títulos de securitização = R$ 492,4 bi, ante R$ 493,4 bi na ANBIMA. Jan–mai/26: R$ 148,4 bi ante R$ 146,3 bi.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E35D25-4421-4AE9-BE01-733A5AC4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DFE8A1-885E-46C7-9F5C-360E65CF0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46697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· MÉTRICA E COBERTURA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11920B-C77C-456E-899F-F0C9E4124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0510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2025, a CVM registra R$ 116,9 bi e a ANBIMA encerra R$ 91,0 bi. A diferença combina valor registrado versus encerrado, cobertura e presença de ofertas secundárias na ANBIMA; a causa individual exige reconciliação por oferta.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778121-6E24-4DCC-8A91-2E5D3202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14725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348B36-EAF4-48CA-8D0C-2537C2709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3855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CRI E NOTAS COMERCIAIS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2409BD-D7F6-413E-AC97-B57BE985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7667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CRI: CVM 10,0% em 2025 e 9,8% em jan–mai/26 versus ANBIMA. Notas comerciais: 10,2% em jan–mai/26. O residual pode refletir métrica, rito, retificações e data do snapshot.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73C72F-74AF-4C16-A4DF-26BE92FFC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8630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5275D0-D3AC-4791-B7B6-1B17E2E62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81012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CRA · PONTO PENDENTE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B4C0F3-1845-42A1-BE04-CBAF4CFC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04825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CVM ficou 18,1% acima da ANBIMA em 2023. De 2024 a jan–mai/26, o desvio ficou em até 2,7%. A causa de 2023 permanece sem comprovação oferta a oferta.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7E2DB5-B156-4739-9367-6CCB52C5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4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Debêntures incluem debêntures de securitização. O anexo não segrega sistematicamente ofertas primárias e secundárias para renda fixa e fundos. Série sujeita a retificações.</a:t>
            </a:r>
          </a:p>
        </p:txBody>
      </p:sp>
    </p:spTree>
    <p:extLst>
      <p:ext uri="{BB962C8B-B14F-4D97-AF65-F5344CB8AC3E}">
        <p14:creationId xmlns:p14="http://schemas.microsoft.com/office/powerpoint/2010/main" val="16614428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5D2274-AF92-476C-9101-5220DBAA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C56A1B-EAA1-4C11-A4B5-7D5A8DB9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786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Entre 92,8% e 96,8% do volume anual foi destinado ao público profissional; a classificação mede elegibilidade, não alocação final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C1997D-95DB-4536-A681-680616C0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840BE9-8B89-4D28-B039-2DC9203D5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231FB5-3A24-41FF-B841-C38158AF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F0491D-3025-4A19-8A30-F19701C6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B64A2C-4375-4CD9-99A7-3A5A2D3EF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C62CEA-B9B7-4930-8A70-0B22E71CA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008677e8c1d413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6CA252-413B-424A-8634-07BF20274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4C82EE-39DA-4A9E-90AD-103DFF080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5e152e83f074994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4E3132-167A-4AEF-891C-07BDC510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32E495-FECE-43B8-9893-19E990851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f558fb0f4cb4ffe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0ABA42-D37F-4648-87D3-050DF4CE7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p:txBody>
      </p:sp>
    </p:spTree>
    <p:extLst>
      <p:ext uri="{BB962C8B-B14F-4D97-AF65-F5344CB8AC3E}">
        <p14:creationId xmlns:p14="http://schemas.microsoft.com/office/powerpoint/2010/main" val="2157716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BF9112-2891-4E81-851C-09B313071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26A4AB-3951-4325-966A-4F42A13B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232693-73DE-4ED3-A695-DC8694AFE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7FE0D1-455D-482C-9790-80C451FCD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EA4BBD-7F9B-4083-A17B-FAFAB3D9B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B16D80-4D69-4018-8391-1C4CF9E93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b73cd08783e4e6f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249B8A-316A-4976-8C5D-39421474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9CB3B9-7049-4AFC-8630-5CBAAB899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955b497ee604a81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776D86-A697-491E-8A9B-80A7997B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6C5BC0-FEA3-426C-9FEB-F2B480791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6214d0d4ef54f41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BBF351-BC57-45BE-B642-25A24DC22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12A393-14ED-4E08-807D-FA0B53B7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6ce86ffbc2a4312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4EBDB8-F8FA-4C1A-BD24-D5B4A0347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2141AA-CD56-42D3-9601-DA2B29EEA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AE1544-F163-4FD8-BA83-88E1DB57E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6f624db7fd4753"/>
          </a:graphicData>
        </a:graphic>
      </p:graphicFrame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E4EA01-0555-42C7-B9EE-B8A899086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B8C471-5AE8-439B-9253-A74D9C167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153405834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8D1BD4-8DAA-40E4-A67B-ED8A0C902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VIGENTE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359271-925F-4A3F-A85C-39BCA056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+ Outros = 68,7% do PL ex-FIC ·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71A944-C087-4D5F-9260-FF9EC2D9B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448893-A0B4-49B8-9FF0-C3FD32C6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32C782-DEDC-4030-8832-3CA68AFB7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 + Informe Mensal CVM (jun/26).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DD19C2-EB54-41C9-BA5A-064A3D546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DFAE60-3C15-45BA-8587-8B9606B61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5CC7BC-0D27-4214-83F3-77D0B3EE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84abb77d1a444d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455C3F-FB7D-4F58-B241-B5823A4F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77D8A2-2AD9-4A73-9B97-9DFA28521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3d782e9d779439f"/>
          </a:graphicData>
        </a:graphic>
      </p:graphicFrame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2095500" y="5295900"/>
          <a:ext xmlns:a="http://schemas.openxmlformats.org/drawingml/2006/main" cx="8001000" cy="266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a1aabead28a49ee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73FD2C-3B42-40BB-A004-B17D5B62C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388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As quatro categorias somam R$ 880,4 bi, equivalentes a 100% do PL ex-FIC de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AFB4FC-119C-4D62-9393-922E26BA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7692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Fomento Mercantil: recebíveis comerciais de empresas. Agro/Indústria/Comércio: agro, cadeia produtiva, crédito corporativo e infraestrutura. Financeiro: pessoal, consignado, imobiliário e veículos. Outros: multicarteira, poder público, recuperação e N/D. Cinco propostas documentais, somando R$ 35,5 bi, permanecem em validação; o gráfico reproduz a classificação oficial.</a:t>
            </a:r>
          </a:p>
        </p:txBody>
      </p:sp>
    </p:spTree>
    <p:extLst>
      <p:ext uri="{BB962C8B-B14F-4D97-AF65-F5344CB8AC3E}">
        <p14:creationId xmlns:p14="http://schemas.microsoft.com/office/powerpoint/2010/main" val="17156954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128723-3FEB-4111-BCD5-030564E88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A70B84-FC99-4A1E-85D0-79FA7A91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11,3%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06C9D3-2DD0-4CAF-B532-9031BCE04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3F251B-CBBB-43D2-BA92-BD99C5E86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57561C-918A-4652-8154-C16209D1D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D5EAA5-12A4-456C-8001-0377D79EF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C22C67-01AF-47D3-85B2-96F73971F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ECF5FE-BCE3-4BD3-B328-B742C325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e7588c1b590448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CE63EF-C88E-490F-A4E1-45862538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F69CFE-37E2-4CF9-B89A-575E7C3A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907c33e83a5460c"/>
          </a:graphicData>
        </a:graphic>
      </p:graphicFrame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8858250" y="1200150"/>
          <a:ext xmlns:a="http://schemas.openxmlformats.org/drawingml/2006/main" cx="2762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010b7c47ba2498f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E11134-E4FE-4D1A-9CDE-24F979FBF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21451837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988413-7918-4DE8-9154-249F6954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D2FEE5-241E-467E-A0F1-7226843FE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70,1% do aumento líquido do valor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8B2F47-28AE-4B0F-BBD9-D6B327A10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000B93-2F57-4BDE-A0EB-AB698CB98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C1E9E0-546C-4C9D-9F11-7E4680C4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660FCB-1A9E-4707-BA14-98654A70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8A60CE-DA26-4F1C-9ED9-3AA699EE5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5FDC53-5863-4908-8249-D49A7EE7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637b451147c4dd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9D83B0-5BC8-4729-84CA-8306CF0F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2DDDE0-B73D-44A5-A1C6-72966BEA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67ecf7b5e874749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AE77C1-4ABD-4C48-8234-E534DC908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7156C7-F1E1-4F3D-919D-72DF8A8AD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154aac6c04044bc"/>
          </a:graphicData>
        </a:graphic>
      </p:graphicFrame>
    </p:spTree>
    <p:extLst>
      <p:ext uri="{BB962C8B-B14F-4D97-AF65-F5344CB8AC3E}">
        <p14:creationId xmlns:p14="http://schemas.microsoft.com/office/powerpoint/2010/main" val="96887542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223D24-7D5B-452A-9D28-1042D3684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18BA22-94B1-41E3-822F-E303E9D9D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DC49DC-B911-4F9F-A7C4-7E6D11CDC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E83333-53D1-4A97-AD88-12D1B1F6D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84354E-3C07-4F86-BEA4-17E5F5EE3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2B7F69-6A93-4092-8749-8DC96476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7BBD7C-BB0F-4C96-9116-09242767A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A2AD50-ABC0-4050-BBD8-008DE8A29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a52f3d942194d5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C80199-6871-434A-827F-4DADD8BAA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9A095A-4934-45EB-B96A-0BB4D569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04FB99-D1C6-496B-9098-8CE940BA8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2323AE-C851-4D9F-A692-F69342F82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95C7A2-358A-4D09-83CA-10D7C99D9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5AE8EF-69E2-4ACC-8417-3E516F0F7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B6258C-001B-4F46-A2A8-B2DE31A8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21D235-E886-45B2-859E-22700F71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B7AAC5-5B3A-4CF0-A94D-154672DDE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25219E-C267-43C4-A14F-F9172EEF5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268582-2F3A-4163-A287-F6CD5EFF5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E67258-467F-4899-8C56-C6B42443F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3262F2-0602-4AAD-B079-ACFAE16E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F4DD58-2C9D-4711-8449-18E9E4CB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E27011-082F-4B16-94A5-E782E94B2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D7BB7A-3236-430B-9350-77F367F2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23C965-AD21-434A-87EC-AB33FAA00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61E8AD-3EC0-4051-ACB9-38BD6A2E7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041B40-A000-43C5-82FD-0AE543E9B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3B475B-8CD9-4139-BFDB-7F68DBD15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F88F2D5-819E-4864-B39E-2DAD26786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publicável: 4,9% ajustada. O antigo excesso de R$ 6,89 bi era a parcela vincenda ligada a créditos inadimplentes, prevista na Tabela I e omitida do comparador; 555 veículos reportam o campo.</a:t>
            </a:r>
          </a:p>
        </p:txBody>
      </p:sp>
    </p:spTree>
    <p:extLst>
      <p:ext uri="{BB962C8B-B14F-4D97-AF65-F5344CB8AC3E}">
        <p14:creationId xmlns:p14="http://schemas.microsoft.com/office/powerpoint/2010/main" val="115816137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F867BD-F5C5-469F-8C8B-AD535FB34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BASE ORIGINAL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4BE824-4566-4A42-9CE8-6008DA42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0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Coorte atual monotipo: 4,4% da carteira em jun/26; fundos com zero permanecem no denominador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A6FEDA-D832-402B-89C1-13E8EB04A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8F81D4-C249-43D2-8CA5-BE2E6649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925BDD-EE5B-4C81-9581-CCFD66EF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IV. Coorte e subtipo congelados em jun/26; ex-FIC, PL positivo, campos reportados e inadimplência ≤ carteira.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189EA0-1533-4D35-811B-893AC9FA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51C395-063E-4262-BBB7-FF3A6C7ED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FEE807-E833-4B5B-AA49-3B0DCE6B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7772813b01845fc"/>
          </a:graphicData>
        </a:graphic>
      </p:graphicFrame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1095375" y="4848225"/>
          <a:ext xmlns:a="http://schemas.openxmlformats.org/drawingml/2006/main" cx="4953000" cy="22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78d2548d3054abf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E56EB8-386E-45CC-A9FF-FCBEA2800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53D77C-8B19-4950-9F54-0BD049DB5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76,4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479939-2206-4933-8962-FAACB964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CAEA83-A765-4981-8D6C-0504596F4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bi. Fora: 948 multitipo (R$ 190,2 bi), 126 acima da carteira (R$ 6,1 bi) e 486 sem tipo (R$ 75,4 bi).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9F0DAA-77C5-4C6C-96F2-CC7BFEB0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Base original: fundos elegíveis com inadimplência reportada igual a zero permanecem no denominador. A linha histórica usa a coorte atual e, portanto, está sujeita a viés de sobrevivência.</a:t>
            </a:r>
          </a:p>
        </p:txBody>
      </p:sp>
    </p:spTree>
    <p:extLst>
      <p:ext uri="{BB962C8B-B14F-4D97-AF65-F5344CB8AC3E}">
        <p14:creationId xmlns:p14="http://schemas.microsoft.com/office/powerpoint/2010/main" val="205079450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F010FE-D3DD-4BF5-9843-6748A7004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EX-ZEROS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2937A6-4CC5-416A-99DE-D1633D97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exclusão dos zeros eleva a métrica para 13,5% em jun/26, variação de 9,1 p.p.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2BC573-494F-4C44-AD9B-E27941558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87706A-4436-461E-A8EA-FCBAAE07F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87D198-A20B-42EE-A081-51866741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IV; mesma coorte da base original. Método completo no export.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1D163F-C530-4938-A008-76B13DAF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429B61-ECD2-4F99-8C9D-1FC8E200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EX-ZEROS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7AE977-59DB-4184-BCBD-FFEDB6E67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9f19d15c19047da"/>
          </a:graphicData>
        </a:graphic>
      </p:graphicFrame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1762125" y="4848225"/>
          <a:ext xmlns:a="http://schemas.openxmlformats.org/drawingml/2006/main" cx="3619500" cy="22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6cbd854a6cb45cf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738B50-2D1C-4BC1-9985-45216A391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MONOTIPO · SENSIBILIDADE POR CLASSIFICAÇÃO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2B7CCA-F268-43E5-9A81-A770A346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666875"/>
                <a:gridCol w="571500"/>
                <a:gridCol w="904875"/>
                <a:gridCol w="90487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Δ p.p.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73A4A6-5973-4C49-93A6-464C336A6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20D625-9684-4693-8F43-DE68F45E3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jun/26, 956 de 2.066 fundos da coorte histórica permanecem na sensibilidade; a carteira do denominador cai de R$ 524,8 bi para R$ 171,9 bi.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4383D4-0250-414D-BFF4-3B5C31675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direção é necessariamente de alta ou estabilidade, pois o numerador removido é zero e o denominador diminui. A magnitude por classificação está na última coluna.</a:t>
            </a:r>
          </a:p>
        </p:txBody>
      </p:sp>
    </p:spTree>
    <p:extLst>
      <p:ext uri="{BB962C8B-B14F-4D97-AF65-F5344CB8AC3E}">
        <p14:creationId xmlns:p14="http://schemas.microsoft.com/office/powerpoint/2010/main" val="65087800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23C403-FE61-4018-B872-12F4E58AB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CCAB60-2B86-4B2E-B26B-96B23284E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4D4FE0-6C9B-4B2E-8535-704606E56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D006A9-75A2-4E67-A3E2-81A485CB8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66E186-60DD-4D91-BEC5-322CE300C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3ADD15-92FE-42E1-8061-A5EB2FC1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B2D733-3209-4D07-A957-29EC44C9C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8B252E-8BFE-4BD0-8C18-D1EB0B9EA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f43795ca4814dc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A44626-DBF3-4019-A1EA-23AFD77FD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480F04-55D3-4F5A-8DE5-6F0944C8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5429250"/>
          <a:ext xmlns:a="http://schemas.openxmlformats.org/drawingml/2006/main" cx="11049000" cy="495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b598754078a4030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E8E3D0-EC3D-453A-8C3D-7C749CF5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p:txBody>
      </p:sp>
    </p:spTree>
    <p:extLst>
      <p:ext uri="{BB962C8B-B14F-4D97-AF65-F5344CB8AC3E}">
        <p14:creationId xmlns:p14="http://schemas.microsoft.com/office/powerpoint/2010/main" val="24288221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FE1D3-3EDD-4245-AAAC-2EA0AC30A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DISPERSÃO ENTRE REPORTANTES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9B1C95-5E53-4822-BD1F-1F3BA0D9E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Concentração do valor reportado por subcategoria da Tabela II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EF13A1-DBFB-41D0-9CFF-7D33A3F29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686935-D58D-481B-A883-0B556A81C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E5E4EC-583A-48CB-A582-17C74F4B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Somente fundos da coorte tipo único com inadimplência ajustada positiva.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3A20AD-F4DF-4E41-BBEB-09F965C13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7625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952625"/>
                <a:gridCol w="571500"/>
                <a:gridCol w="1000125"/>
                <a:gridCol w="1285875"/>
                <a:gridCol w="1285875"/>
                <a:gridCol w="1285875"/>
                <a:gridCol w="666750"/>
                <a:gridCol w="666750"/>
                <a:gridCol w="2333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1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3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HHI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Gini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1,41 bi · 8,5%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3,61 bi · 21,6%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5,46 bi · 32,7%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1,38 bi · 49,2%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1,94 bi · 69,1%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2,10 bi · 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0,34 bi · 37,6%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0,69 bi · 76,9%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0,84 bi · 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 bi · 75,9%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0,57 bi · 85,7%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0,59 bi · 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31,9%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 · 70,6%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0,53 bi · 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0,22 bi · 39,6%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 bi · 80,7%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 · 89,8%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0,12 bi · 25,2%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42,3%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 bi · 51,6%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0,093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Concentração intermediária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 bi · 27,8%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 bi · 57,7%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 bi · 77,8%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0,02 bi · 42,2%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0,04 bi · 79,6%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 · 93,7%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07C841-8C7C-499E-89B8-ED2F2B989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Regra analítica: concentrada se HHI ≥ 0,25 ou Top 5 ≥ 70%; dispersa se HHI &lt; 0,10 e Top 5 &lt; 40%; demais casos intermediários. HHI e Gini medem concentração do valor reportado.</a:t>
            </a:r>
          </a:p>
        </p:txBody>
      </p:sp>
    </p:spTree>
    <p:extLst>
      <p:ext uri="{BB962C8B-B14F-4D97-AF65-F5344CB8AC3E}">
        <p14:creationId xmlns:p14="http://schemas.microsoft.com/office/powerpoint/2010/main" val="125890042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253FAF-8515-4857-9997-3071C9272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E24EB3-664B-4AC4-821B-CAD4FB135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956 fundos com inadimplência positiva representam 22,0% do PL ex-FIC positivo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498569-82AB-4CAB-9CD4-9A79EFB7A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FEA502-F815-462E-94E7-A8E37F619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2B58A1-B929-42AD-9DEC-F67B68FB4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Universo: 3.626 fundos e R$ 880,4 bi; amostra positiva: R$ 193,4 bi.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70AACE-425C-45FE-8ABB-4548C1F1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77ED51-3394-47DC-87FE-C5806465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52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SUBCATEGORIAS PRIORITÁRIAS POR VALOR REPORTADO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F6D511-4B2B-45A7-8F9B-D32F2AA2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11049000" cy="30956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666750"/>
                <a:gridCol w="1952625"/>
                <a:gridCol w="1190625"/>
                <a:gridCol w="666750"/>
                <a:gridCol w="809625"/>
                <a:gridCol w="2095500"/>
                <a:gridCol w="3667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Prioridade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Inadimplência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Interpretação cautelar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R$ 16,67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distribuído no subsetor reportante; não comprova risco sistêmico.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788059-E257-461F-896D-D961922D9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E69A34-794F-45EC-8C16-16CE02FB3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970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Cobertura: 2.066 fundos na coorte tipo único (R$ 608,7 bi); 956 reportam valor positivo. A comparação com o universo de R$ 880,4 bi delimita a amostra.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93130A-5F0B-4CE3-AF3F-062CF7D6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340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Limitações: zeros e ausências de reporte ficam fora da dispersão; atrasos e inconsistências podem reduzir a cobertura. Concentração sugere prioridade de validação e não identifica causalidade nem risco sistêmico por si só.</a:t>
            </a:r>
          </a:p>
        </p:txBody>
      </p:sp>
    </p:spTree>
    <p:extLst>
      <p:ext uri="{BB962C8B-B14F-4D97-AF65-F5344CB8AC3E}">
        <p14:creationId xmlns:p14="http://schemas.microsoft.com/office/powerpoint/2010/main" val="128884206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BB6BAE-E927-4620-A873-4157E54CE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77C01B-4BB6-4A61-97B4-37C404A8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36,4%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EB3241-4323-4944-9D68-46D7A23F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4AE5B1-D1C7-42F0-BE61-2E24C967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67DF86-2DD6-4DDF-9D6C-0CC1DEA1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86EE09-22C4-4942-9539-5E4F80DA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C30370-678D-45FA-95FF-51F402C6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C0E571-E093-4677-B2AB-185EB5F1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2fb90cc5dba40f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B169C8-8152-40DA-809B-F87245DEA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B34853-AC21-4191-9B8D-B900FCF66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0B505-29DB-4F21-AC30-5B3ABCC2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a90d137d198484c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B3EA53-D5D2-4D7F-B355-BAB25598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AA44B1-6662-42E8-BDCA-504BC3AC4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006C80-C0B6-4E94-8674-778DD912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99,0% → 99,8%; custódia 97,7% → 98,6%.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7e3707d74694adc"/>
          </a:graphicData>
        </a:graphic>
      </p:graphicFrame>
    </p:spTree>
    <p:extLst>
      <p:ext uri="{BB962C8B-B14F-4D97-AF65-F5344CB8AC3E}">
        <p14:creationId xmlns:p14="http://schemas.microsoft.com/office/powerpoint/2010/main" val="9502416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F0F048-3D8F-4720-B742-130CFA504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40FC3B-42F7-4F06-B3F7-55698250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25,7% do PL ex-FIC; Petrobras e TAPSO são 45,3%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171E73-92B8-4146-9A7F-EF424F98C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504725-DAFD-4867-A67A-2ACFF565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D983C-A957-48C7-BCEE-4089E6F4C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1DD369-FD58-46C2-990D-FC9A87A7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Master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Três prestadores distintos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Três prestadores distintos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Financiamento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813664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2C7816-22D5-4F6E-BAD0-6407B3B3B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F8D5FA-329E-4BC1-9384-C3EDB1D5F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1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 candidatos somam R$ 34,4 bi · 10,0% do Tipo literal Outros; 9,7% do bucket do slide 8, que inclui N/D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8C88F4-1D15-4819-87BD-258F175DD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A58D3E-6708-4C92-976E-22D393B4C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562B5-CA18-4021-B647-0642B56F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FundosNet; ranking em jun/26. Regulamento público vigente mais recente, leitura automatizada por pypdf; links e limitações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C36DEB-A256-4321-962B-7F9E5D23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"/>
                <a:gridCol w="1352550"/>
                <a:gridCol w="523875"/>
                <a:gridCol w="904875"/>
                <a:gridCol w="1000125"/>
                <a:gridCol w="1381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 proposta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cedente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Estabelecimentos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jurídicas ou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originador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S.A. (cedente) 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Múltiplos cedentes;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"/>
                <a:gridCol w="1352550"/>
                <a:gridCol w="523875"/>
                <a:gridCol w="904875"/>
                <a:gridCol w="1000125"/>
                <a:gridCol w="1381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 proposta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EXPERT III ILIMITADA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Regulamento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 CORPORATIVO 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originador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Múltiplos cedentes;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Entidades distintas;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Empresas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Aquele que realiza 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MULTISEGMENTOS NPL IPANEMA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634175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1E0BA7-43DF-4897-A9FE-F04313FB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2E380-F9A1-474E-BE71-33C698CC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 · R$ 32,3 bi · 37,3%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26604E-42CC-4CAE-BEDF-F938CAEAE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E4F525-A32D-488B-A8E0-CAE3BE2BD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825ADF-69F1-466E-9842-64C05AC2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757A6D-0274-45AC-9A0E-1C910767B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GESTÃO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múltiplos cedentes não conhecidos previamente.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SMART AGRO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EUROVEST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 PLUS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credores originais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 MULTISSETORIAL BS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INVISTA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EMERALD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J.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ORRAM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ORRAM GESTÃO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OURO PRETO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 no conteúdo acessível.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FOR-TE FIDC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VERMILLION I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GV ATACAMA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SB CRÉDITO MULTISSETORIAL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CARMEL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 no conteúdo acessível.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ROYAL BANK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SEVEN POUNDS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774610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9F29F0-D8D2-48B6-B55A-2345911FA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C88472-6503-4796-A0D7-D243E6CAF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 · R$ 121,0 bi · 64,0%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C04D8C-CF93-49DB-9BF5-FBD0E77EC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D720E4-A5A5-45DB-B4AD-C2F4E384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74477F-4131-4C3E-9A1C-100B3A26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49CF73-8738-4C01-A1EA-3FF2B38F1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 GESTAO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 GESTAO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Empresas integrantes do Sistema Petrobras que cedam direitos ao fundo; o regulamento não traz lista fechada de cedentes.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nos documentos selecionados.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Comercializadora de Energia S.A. — CNPJ 34.475.373/0001-30.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 de Pagamento e Serviços Ltda. — CNPJ 18.189.547/0001-42.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 GESTORA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 S.A. — CNPJ 01.645.009/0003-84.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ECO GESTÃO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ENDURANCE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KANASTRA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PagueVeloz Instituição de Pagamento Ltda. — CNPJ 03.816.413/0001-37 | Serasa S.A. — CNPJ 62.173.620/0133-20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 ASSET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cedentes e endossantes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Estabelecimentos comerciais e Mercado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COBUCCIO DE RESPONS LIMITADA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1,76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CARMEL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 SEGMENTO 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TIVIO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REDASSET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ANGICO FIDC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empresas de projetos aparecem genericamente como Devedores.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IFOOD I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LF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Listo Instituição de Pagamento Ltda.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234005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5F0B04-2B15-4736-9341-6A3A0CF5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EC0B83-3752-4E30-815F-D3D6D07E1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· R$ 120,8 bi · 48,6%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9BC1F2-42AE-4F8A-8A15-BB097335A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00ABDD-F43F-4E11-83C7-4D7653718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8B276D-EFCB-4D5D-8DE7-0C5DB5863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CC5B3-D61C-4DD6-8607-EBB385E6A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Estabelecimentos credenciados e instituições financeiras parceiras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 PRIVADO DO MT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Crédito, Financiamento e Investimento S.A., como originadora e endossante das CCBs.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Instituições financeiras que concedam as CCBs; nomes individuais não identificados no regulamento selecionado.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Estabelecimentos credenciados da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Instituições financeiras que concedam as CCB; nomes individuais não identificados no regulamento.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Usuários finais, clientes e estabelecimentos subcredenciados do PicPay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MASTER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 jurídicas titulares dos instrumentos elegíveis; nenhuma entidade única foi identificada.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Nissan do Brasil Automóveis Ltda. e Renault do Brasil Ltda.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 EMISSORES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 Instituição de Pagamento S.A.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 Sociedade de Crédito, Financiamento e Investimento S.A. — CNPJ 37.679.449/0001-38 | Estabelecimentos Comerciais não individualizados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 de Pagamento e Serviços Ltda. — CNPJ 18.189.547/0001-42.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 FINANCEIRA S.A. CRÉDITO FINANCIAMENTO E INVESTIMENTO — CNPJ 15.581.638/0001-30.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 PRIVADO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 Financiamento e Investimento S.A. — CNPJ 03.311.443/0001-91.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POLÍGONO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instituições financeiras parceiras e vendedores usuários da plataforma são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METEORO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 BANCOS EMISSORES DE CARTÃO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 Instituição de Pagamento S.A.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CLUBCARD VAREJO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PHRONESIS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no documento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SOMA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 SCD, Stone e afiliadas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699847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05FA35-F1E0-4E0A-9170-38665A909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C34024-9147-4C5D-BE6C-ECAA89A4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 · R$ 89,8 bi · 25,2%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974879-4207-4ADD-87A8-0B2733F76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FA4C32-1DD6-4176-A99E-7F72F7989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8BB351-245F-47D9-A9C1-3CDA9EBCE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10A812-B22D-4CD1-AA08-29B99E1CD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SEGMENTO MEIOS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 de Pagamento e Serviços Ltda.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cedente ou originador único expressamente identificado.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 PADRONIZADO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TRUST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 pessoas jurídicas ou fundos de investimento;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Estabelecimentos credenciados, representados pelo PagSeguro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jurídicas ou fundos de investimento;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VALORA RENDA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SHPP Brasil Instituição de Pagamento e Serviços de Pagamentos Ltda. (originadora); estabelecimentos (cedentes de recebíveis de pagamento); instituições financeiras parceiras (endossantes).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 FUNDO DE INVESTMENTO 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KANASTRA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originador ou cedente nominal no regulamento consultado.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 jurídicas que cedam direitos;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 ECONÔMICO,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S.A. (cedente) e BMP Sociedade de Crédito Direto S.A. ou outra instituição autorizada (cedente de CCB).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SECURITY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RJI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RJI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Múltiplos cedentes;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EXPERT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Regulamento não localizado no FundosNet para o CNPJ consultado.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 CORPORATIVO 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NOVA OCCAM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BNY MELLON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BNY MELLON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originador ou cedente nominal no documento selecionado.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REDASSET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Múltiplos cedentes;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ASSET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 jurídicas;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 MULTICARTEIRA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BANK OF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Entidades distintas;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Empresas em recuperação judicial ou não;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 pessoas jurídicas ou fundos de investimento;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Aquele que realiza a cessão; nome individual não informado.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 NPL IPANEMA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 jurídicas;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 jurídicas;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130633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CECA6C-DC4F-4F0B-BF7E-4B8CE962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4974A3-6691-4798-9769-61E48BB7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8,0% dos fundos e 35,7%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B23382-D337-4937-BD7E-755F3369B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C45AF8-740A-429F-8E46-8A971E02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92F9E0-7D11-426C-B195-A88D19A95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PL bruto, inclui FIC-FIDC. Definição mono: mesmo conglomerado normalizado nas três funções.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434C16-E718-4C0D-8AE1-22CD403DF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695c14ab5ef458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866D16-A774-4912-B6FF-E911473A9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C9EAAD-989A-4B3A-A374-10364FEF2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21E60C-6A98-4DAA-8900-A6AF31E87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09BE39-0D3C-40C1-B7FF-0CE193887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08710E-4732-4BBC-8E14-AE82BDDA3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341 · R$ 342,9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6A4367-94DB-4F6D-AD34-169D133F2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4CF5C6-FBB5-4041-8E6B-A7F40F139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2D6F54-C2AE-4504-8BD6-43EC068D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 · 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08C0E7-78D9-4AAC-8EEF-3DEF4D889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84D108-7F39-4CF8-A5B4-105344951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E91CBC-9373-48E5-85FC-428DFC1B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3.441 · R$ 525,1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95C5F5-7E41-4E4B-9537-382B8617B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031CAE-1FB3-419A-8827-5496A2463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E4023F-128C-4837-A2DB-814546A9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39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D33311-4693-45ED-954A-41BFA41C3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35E1CF-E697-4154-96EC-F5BCF64CF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3BDB3B-798B-4728-921F-647AAC034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321 · R$ 49,6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FA7E8A-C244-4ECD-9D2B-858A3449D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180C24-F056-4F02-950A-587C2FBAF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A1B40E-E2BF-4F36-B2C9-B42315220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72 · R$ 11,5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A159D3-E213-4683-BCE0-385A35FC8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Conglomerado econômico normalizado: Kanastra permanece separada do Itaú e CBSF da REAG. A afiliação Kanastra→Itaú é exclusiva do ranking de independentes.</a:t>
            </a:r>
          </a:p>
        </p:txBody>
      </p:sp>
    </p:spTree>
    <p:extLst>
      <p:ext uri="{BB962C8B-B14F-4D97-AF65-F5344CB8AC3E}">
        <p14:creationId xmlns:p14="http://schemas.microsoft.com/office/powerpoint/2010/main" val="65639042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0BB0F08-3669-445E-AC01-E5030B865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F23510-8756-4524-A346-E4943374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9FEED3-3101-42F4-8F32-3491E60BD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5C25FC-61BB-4624-9967-1BFF79AD4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E76957-55B7-4E53-9DEA-0E697C9A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Preço, propostas e contratos não integram a base.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BCA369-3548-40B5-8DF4-2B2332C9A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28444F-E828-4BD2-836E-717ED82F3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AC71C2-DEDB-422B-8119-399EF7182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4909F2-E7DF-4A51-A803-CF990FE53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6527EF-5A25-4F80-9411-864CABE7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071610-50C1-4E76-AE72-9371D6468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A64470-57ED-4545-8546-762EF1E8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F0088F-7557-495B-A3B8-0F857FF05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166397-7C2E-43DB-B960-C5F18A091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8B94A0-74AE-4B1B-BEFC-53865585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2F877B-E6B9-43E8-ACC3-DDF739047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1223A8-0200-4281-815F-1928D2D78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9CEC5A-3D25-44AE-822C-22E5979C9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81,0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B4B512-5B9D-4662-B2B9-809A621A1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3777F8-62DC-4FBE-8410-318ABCB7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32F51C-D1A9-40D9-9132-B873DBC8E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583B4D-A328-4246-BF4F-50916C27D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43,7%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809839-8CBF-4BE4-ACF1-61C09F049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923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5827DB-B6E0-4879-9E13-2F320CDD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DE2BA3-C73E-4389-9FAB-304B70A4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C9485C-5EF0-4DB0-A622-652FCF25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C4F5C0-8172-4E1E-AA43-A07E8A0B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76,7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964677-CE85-417D-94CB-FE7D4267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95DF70-5905-4CBA-BFE1-1BAD40CB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251FFE-2B7C-41AC-A4F4-7D2712AF7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54,1%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FD1103-C539-4B58-B568-929E5CC8B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493B949-9016-4B10-B931-00C9DBD9C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3.056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7F3473-39DF-4E3C-B458-4FF6F2CDA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B86406B-76F5-4836-97E7-F0795ADA3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7729E8A-D54F-465D-A77A-631977BD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1667AAD-0B6C-4A80-A10A-366DF010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70EE267-D5E3-4616-9E2C-B5D19B41F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E2235BE-8543-4A7F-9C4B-6257133CA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7207AD2-0C3D-495C-9C1A-4BB4490E0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6ABECF6-07EB-4BE9-B7CC-32535D659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4DBA0E1-82C1-4264-9ADE-5D7600E1E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10.000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7445DE9-BE52-4893-AF42-0746CC52B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D695E59-880B-4272-B83B-169BF0B2B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D863A08-90C0-4D69-BFDC-7EC25E5CC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E36B7FC-A63B-4756-A73B-78949DC9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39,3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276D71A-444D-4E96-B8F0-863DED3D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0D8CDC6-8FA2-4F05-B96D-263333E9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6711C7C-7AD3-4507-956A-709B9FD5D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6A3E09D-E3D5-4947-94EA-843859FA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B65F32E-E654-428D-BC1F-D0F9CA800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1.196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1BD4628-7CE8-4A42-876E-4C406097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D81BF9E-26D4-4D29-A477-728205706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84ECC4C-99B2-46C9-8AE5-30B850E2B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3D54024-31F1-4D5E-A58E-7AD5CE1F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F6F00DE-15F8-48DD-BF9D-CEA7980CD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EC44476-E744-4E76-8645-211E79EAD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D52228F-9B13-4A3D-BED9-E2D7BD28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8CCB28C-6760-494E-BA9F-580BFEE72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99FFF05-4BA6-4A46-9C4A-8002C54D2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1.111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403F8AD-97EB-4F64-AFB4-0176A32A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C0EA3E2-8CB2-4818-BAB3-0A56BF365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E0BF708-C995-4FBD-B97D-66B54760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255BEF5-2D1E-478D-9623-D984BE274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18,9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40CDC97-D5C4-4F4D-B861-028DC3C55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33CFBAA-8793-47A8-BA75-45CEE7C72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8CA985C-D0EA-4EA4-B222-1266F15FB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46,0%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84668E4-999D-4516-B292-5F9680E9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57,6%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3ECF7E6-B3F5-4DDB-8709-E5AD2ABD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2.290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D8D291F-73E4-4767-BA04-0266CA51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7000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HHI em pontos de 0 a 10.000; 10.000 corresponde a um único fundo.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F03EBF8-080A-4449-A42E-0EAA26182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F52145A-E014-4DDB-91D1-43ADE53A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DB5617E-3180-4499-90A5-99AE0BF77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5858965-8C49-445A-BC5F-982C3F53A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407340B-4B91-4585-9AE1-08CD6CA3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64DF959-A983-4D75-94F5-2B726D84E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C93CD6A-91D3-4A51-A1E2-E33B0380A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AB74E02-D018-46A7-A40F-6E587D945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4984E19-1E50-4C29-9881-2EF484B3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EAFB08A-879D-4091-A202-75789B2B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47 fundos; TAPSO = 54,1% do PL mono.</a:t>
            </a:r>
          </a:p>
        </p:txBody>
      </p:sp>
    </p:spTree>
    <p:extLst>
      <p:ext uri="{BB962C8B-B14F-4D97-AF65-F5344CB8AC3E}">
        <p14:creationId xmlns:p14="http://schemas.microsoft.com/office/powerpoint/2010/main" val="45086057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B5420E-64A9-4CAC-A79F-512E37FCA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52C01B-376D-40D8-9E21-18B314D31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jan–jun/25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64B052-5CBC-4D4F-95CA-CD90D1AA9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14D59F-4A34-4A19-8513-D645C3852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53BCCB-2438-4371-88E6-BD67A2D1C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3EBB5B-063C-46EA-B4E5-13406D97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0C28F8-7668-49CA-B997-D448042B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3C2CE1-E7AB-4180-8216-A7CA57102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23f4e4117464c7a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ED80EE-04A4-4882-8862-CB49C9C18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811513-49E5-4558-8A71-423627CD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8a22384e28240d0"/>
          </a:graphicData>
        </a:graphic>
      </p:graphicFrame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7715250" y="4000500"/>
          <a:ext xmlns:a="http://schemas.openxmlformats.org/drawingml/2006/main" cx="3905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136fc66c8864e34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01EB5E-D210-4E19-8B09-B84FC4E68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9575"/>
            <a:ext cx="523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E81217-13D8-4705-9BE1-2BBA94987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p:txBody>
      </p:sp>
    </p:spTree>
    <p:extLst>
      <p:ext uri="{BB962C8B-B14F-4D97-AF65-F5344CB8AC3E}">
        <p14:creationId xmlns:p14="http://schemas.microsoft.com/office/powerpoint/2010/main" val="58481951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43B384-F635-46E8-9694-1B674277B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AD590E-F46A-4336-8F70-1E40280D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97F937-97F6-4C3D-9727-515584D20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788399-51DA-4086-A835-8C49325E6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AF826C-C8E0-4D16-B5AC-01600915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E3D6B9-1368-4DA0-AB6F-28D159626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CE094C-97BA-4F4A-8B8E-F9E6CC00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737374-8047-4F16-B4BD-B809E87E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9a42c9d9ef4ed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3E1C54-4E54-4805-8A30-2A080CE48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A03D7B-C51D-4603-A9D3-726AC6939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8e21eda05b34807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AC1E75-E82C-4908-8F67-7836F3FD4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B680C2-26F2-481E-930E-0BFCD5F04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69f1361548241df"/>
          </a:graphicData>
        </a:graphic>
      </p:graphicFrame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4048125" y="5486400"/>
          <a:ext xmlns:a="http://schemas.openxmlformats.org/drawingml/2006/main" cx="40957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37694124aa84e9b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BE3057-0912-4B90-8350-B9544B364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05475"/>
            <a:ext cx="11049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fecham no limite inferior; “&gt; R$ 100 mi” é estrito e exclui ofertas exatamente iguais a R$ 100 mi.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1D322D-A475-4276-BC2E-6B0558DF7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69E7E7-E75E-4C4C-9126-D1246CE43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E936F1-D93A-4917-B3E2-68433AC85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D74143-1F52-42A3-AF6D-AE137D85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EC3C34-37B7-48D2-9D0C-19BD3FB1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7D7FC3-28BD-4BEC-91CB-94F8E27A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4A06A0-22F6-4223-BAB7-B555FCE2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410501-5659-402F-94CD-0946BBFF6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p:txBody>
      </p:sp>
    </p:spTree>
    <p:extLst>
      <p:ext uri="{BB962C8B-B14F-4D97-AF65-F5344CB8AC3E}">
        <p14:creationId xmlns:p14="http://schemas.microsoft.com/office/powerpoint/2010/main" val="54413803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3F3E62-C0BB-496E-A515-D85988CF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B3DE06-C097-402F-8066-3AB00CBB1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C15634-0821-46DC-B832-D6CABB04E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D30934-8EFB-4626-B2AC-44A7F22C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AD0712-B4DE-4A09-8420-9D0BBCA8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5BB335-A6A6-47C8-AFAA-7CD40F694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254272-78DD-4E3B-A534-CF7E872E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AA4002-E4BA-41DC-BFB0-68B4F320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29313860924839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80EF30-6B9F-43B9-9CB5-6997E201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EDEA27-E02F-4DB6-9B2D-5AB31544B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6334125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50386829daf4300"/>
          </a:graphicData>
        </a:graphic>
      </p:graphicFrame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4333875" y="3552825"/>
          <a:ext xmlns:a="http://schemas.openxmlformats.org/drawingml/2006/main" cx="3524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1d61933667a4a0f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DD8ED4-90CD-4901-9D55-91F36259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528637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92CE8E-55DD-4A65-A00E-7DEED452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B1EC47-F5BD-4781-B3C7-ADEB428B3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571500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3b30e6a00b349d6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DDAEE1-220D-4CE9-BBF3-155DFCB6B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080DAF-F6F3-4134-92D4-90A50B58C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6334125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5bc046c5d9b4be0"/>
          </a:graphicData>
        </a:graphic>
      </p:graphicFrame>
    </p:spTree>
    <p:extLst>
      <p:ext uri="{BB962C8B-B14F-4D97-AF65-F5344CB8AC3E}">
        <p14:creationId xmlns:p14="http://schemas.microsoft.com/office/powerpoint/2010/main" val="199936074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2E8FBA-EA5B-417F-8F39-0051242EF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4998B5-F849-4439-A4E0-72ECF8A1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participou de 8 das 15 maiores em jan–jun/26; liderou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8A13DF-2F34-4963-B14F-ABB1BF8D5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01461D-5772-4E50-883F-F5B80D062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E10AFB-B2ED-4321-B1A6-9964ED11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52160C-6023-4380-BEEC-51BEC35AA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31F416-ABE9-460C-A0A8-4DE3A13A9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F06A41-9115-45F5-AFB7-EAF286148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AA+.br(sf)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BBB.br(sf)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 FGTS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ABC BRASIL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 CRÉDITO SECURITIZADO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 de BRF 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br_Aa (AA)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AAA(EXP)sf(bra)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AA+(EXP)sf(bra)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 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 CITI-BAYER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VORTX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F161C5-B27B-418B-AC33-5A031A0E9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9F926C-D2E4-4F7F-AEC4-C85FD334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 ·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SINGULARE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AAA(br)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VOLKSWAGEN TERA RECEBIVEIS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 CONSIGNADO 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CB4B25-964E-4044-B369-CF174688A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B288B7-5085-4EB8-86B7-FD94D42E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2D69D2-4B1C-4543-B00D-D18A4558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59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Coord. líder = coordenador líder informado no requerimento. GF = garantia firme. Agência e Rating referem-se à emissão/série/subclasse conciliada; N/D indica ausência de documento aplicável. O workbook contém todos os períodos e a trilha documental.</a:t>
            </a:r>
          </a:p>
        </p:txBody>
      </p:sp>
    </p:spTree>
    <p:extLst>
      <p:ext uri="{BB962C8B-B14F-4D97-AF65-F5344CB8AC3E}">
        <p14:creationId xmlns:p14="http://schemas.microsoft.com/office/powerpoint/2010/main" val="18309957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2DF885-EF3A-4790-A71D-973E3BB73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CC8CE2-45E3-4AF0-AADE-A3191B32C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2024FY e 2023FY com agência e rating em colunas separadas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9D361D-BB7F-4AD2-A96A-4E84E697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DD5AE6-BA95-4804-BBF4-85136CBA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78AD8C-F875-40B6-BB70-9E2BC160F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8F30C5-18FB-4ED3-805C-616504508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C6A038-280C-45EE-96BD-9ECF2F5E4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5E7942-C7EA-4416-ADBE-3672EECC6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 AUTO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INDIGO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ABC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 ACCESS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MODAL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3E8BEF-0664-4427-AE5C-AE40F902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R$ 28,93 bi · 30,3% do período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0A084E-A3BC-46EC-86D3-C2668549B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2023FY · TOP 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280285-3012-4789-8B51-572C9A93B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CAIXA ECONOMICA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 CRÉDITO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brBBB-(sf)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 INDÚSTRIA PETROQUÍMICA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56F6CF-1C76-4210-9A11-5293B203E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R$ 9,65 bi · 36,5%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5ACD6E-BAB1-4E6A-AEE8-0670D78E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7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GF = garantia firme. Agência e rating são publicados somente quando há documento público verificável conciliado com a emissão; ausência de documento ou vínculo exato = N/D.</a:t>
            </a:r>
          </a:p>
        </p:txBody>
      </p:sp>
    </p:spTree>
    <p:extLst>
      <p:ext uri="{BB962C8B-B14F-4D97-AF65-F5344CB8AC3E}">
        <p14:creationId xmlns:p14="http://schemas.microsoft.com/office/powerpoint/2010/main" val="162402028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A7B188-EBE6-4EF0-A98F-8B025EAAE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2022 PARCIAL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C982B9-39EC-48CA-8587-8AD00E9D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85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pública recuperada contém 7 ofertas legadas; o período não forma um Top 15 completo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345247-4048-48EA-8372-325516C2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98D75C-D95A-4998-A3AA-39CDF1E9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C5BA0D-4AB8-4093-B7ED-6C5301DBD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 de distribuição dos ritos ordinário e legado, e FundosNet. Registros encerrados em 2022; cobertura parcial.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21B649-F743-4E81-9A35-1DC934460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11049000" cy="3333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428625"/>
                <a:gridCol w="2476500"/>
                <a:gridCol w="1524000"/>
                <a:gridCol w="857250"/>
                <a:gridCol w="1619250"/>
                <a:gridCol w="619125"/>
                <a:gridCol w="904875"/>
                <a:gridCol w="1143000"/>
                <a:gridCol w="14763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Coordenador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CRÉDITO AGRÍCOLA COTAS FIAGRO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429BFF-7138-4B10-9538-378E4320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 observado: R$ 2,75 bi. Limitação: sete linhas legadas não sustentam comparação anual nem inferência sobre o ranking integral de 2022.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E427C6-265D-46A4-8956-2037E9CB2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9750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Agência e rating são mantidos como N/D quando não há documento público aplicável conciliado com a oferta, emissão, série ou subclasse.</a:t>
            </a:r>
          </a:p>
        </p:txBody>
      </p:sp>
    </p:spTree>
    <p:extLst>
      <p:ext uri="{BB962C8B-B14F-4D97-AF65-F5344CB8AC3E}">
        <p14:creationId xmlns:p14="http://schemas.microsoft.com/office/powerpoint/2010/main" val="76350759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9AEEFA-A13C-4871-9D7B-6421C0D31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623D21-7838-40AF-9BAA-D3D5D06F2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6A150F-28EE-4614-BA36-F36A4727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EEF383-6EB8-470C-8D0B-8FBD14E8F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969C8E-B303-4198-939B-9A16296F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698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inclui FIC-FIDC; Top 10 ex-Petrobras/TAPSO. BTG: 30/32 raízes observadas; ofertas CVM até 30/jun/26 e ANBIMA até 31/mai/26.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AEE53F-4176-46AB-9F87-09DD848C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8C32B0-E605-47DC-B408-388309396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CDA1D3-5B7C-4D33-B609-D35DBC13F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A37327-3689-49C1-8DA5-45CC462FC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939892-033C-4518-B077-68E61195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7B8B97-A64A-4F79-A679-0FDA11EE4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90,3%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35,7%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7438ED-B5A1-4438-94CC-29E17AD56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FC5F28-5129-4698-BAFD-80BE22C0C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7BB8F0-D6DF-4594-B5BB-4CE278CBC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35,0%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EB5A7C-89BE-449C-ADD3-2E1594C2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3D886C-2F38-4AE4-B6FE-611E9FE9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A6ADC8-3CE4-40E3-8055-FA0944C91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7,2% do PL comparável trocou de administrador entre dez/24 e dez/25: R$ 33,0 bi em 257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27%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33AFC2-F5B7-444E-B288-2A9F44B8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5459EA-822D-4B13-B403-CF88CE272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B57C51-D0F5-448A-877C-D0417A80B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36,4% do PL ex-FIC; a líder, BTG, tem 10,2%.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71,8% e 72,8%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F82965-E492-4CFC-9121-71FC0D91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724A80-7495-4E97-928C-31E7D6156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619F29-7B2E-4467-80C9-C21263DE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65,7% dos R$ 78,1 bi de PL ex-FIC atendidos pelo BTG nas três funções.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2E3690-B971-4B62-82CF-D06A3FDCC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028CD3-CD99-461E-BC2A-EF782950C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922025-DD3B-4FD8-895F-B531D4F7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EA5E83-59DC-4268-A98B-39A8C1A96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9826527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0739343-62D3-4343-9F23-AA1F245C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EB89FD-47FE-404F-97F8-E1EA44638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4ECF67-7E3C-4B8C-8BC2-797C38B3B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FA3F0A-5678-49E5-B2C1-D243812E2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01517D-1FB6-4783-BC4E-C729B8DA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24/jul/26.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09FC38-853D-4E1B-BA57-94FBCD874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7ED3E2-F8F1-4AA5-AA49-0FBD26F7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7EF161-1B4C-4944-9522-3B445266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24C728-AB6E-49E4-8D10-1517CA2BE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6AFC68-EFDD-43BF-A8CC-8022B562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98D5F0-6CBF-4DEE-8F46-140ABE78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642D4B-C204-4F7D-85C9-A3569EEB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050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A57E32-2CB7-4D35-8886-206C1A59F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EE7C70-9FCE-4B24-A075-6CA26FB51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8EDACA-09A1-4115-BDEE-DD30F8EAF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CC27D5-4FAF-4BB2-8D8E-F309A3244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145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95AF83-0C2F-4689-BECD-2C556692C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146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16375E-4104-4515-96A0-218A9DEA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431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FFD04C-0C81-4C67-9477-B253B162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3431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89,85% oficial; 1,07% evidência; 7,89% proxy; 1,19%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83B49F-ED45-4F46-A424-997CE946E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3431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Gestor e custodiante históricos usam o cadastro vigente; a base não observa a troca ao longo do tempo.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CA3337-0ADB-4DDF-863F-A0B9E60D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241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BA8749-B4C1-4498-B366-D2E4DA046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42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5D5640-A19D-45D0-955B-FAB38D63F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527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8D1B0D-8A22-4582-A39A-FCBA2F72F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9527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722847-BE6D-47C1-B795-504738DA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9527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Aging reconciliado à Tabela I completa; ex-360 ajustada = 4,9%.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F6A7B5-0219-44A1-A364-26A768360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337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C15A8A-279B-4739-B6DF-E34E12587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209884-441F-4985-ADCF-64820DF74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623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DD9DE1-9E41-4A24-AA1F-2CFFB2D6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5623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B9175C-BE30-468C-940F-9F9207237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5623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subtipo; cobertura de classificação Tipo+Foco por PL é reportada em cada slide. Top 10 fixo por função; Outros identificados e prestador não informado separados.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02CA7B-9AA3-4EC2-BDE0-793FAA10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433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B221991-7E2F-441B-81F0-D949E3AB4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434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0AE5AD2-7343-4664-A424-2B3E94A55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719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89C03D-77B2-4593-A2EF-3A68949C2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1719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4.247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BD7331C-0A18-4C32-9724-D6AEF8E1F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1719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inclui FIC-FIDC. Mesmo conglomerado nas três funções; Kanastra permanece separada do Itaú e CBSF da REAG. Afiliação Kanastra→Itaú só no ranking de independentes.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FF3BAC-BAE7-41D3-AEC1-B7E772599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529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ED651E8-0D00-40CE-83F4-513D36E2B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530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2093C91-1BEB-45FF-BBED-9B240BD83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815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Comparativo por instrumento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B060BBF-3214-4CBD-BFE8-1E8F308A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7815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jan–mai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D6FD12A-1492-467E-A1D0-50C7533A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7815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ANBIMA Data, Valor Encerrado por data de encerramento das ofertas públicas. Debêntures incluem debêntures de securitização. O anexo não segrega sistematicamente primárias e secundárias.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AA0682C-51F8-4C37-9C7D-2B5180552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625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27E6407-267E-49BB-A76F-F5B4D81B3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98CCE04-022D-4589-BD2B-200274D42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911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Análises granulares de ofertas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98427B6-A8FE-4AAF-BD23-8801125E8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911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2022 parcial; 2023–2025 FY; 2026 jan–jun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ED940C6-232F-4A54-B4D6-EDA9F884D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911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CVM/SRE, Cotas de FIDC, ofertas públicas primárias encerradas, todos os ritos disponíveis e valor registrado positivo. Automático: requerimento; ordinário/legado: registro + emissor + data + instrumento.</a:t>
            </a:r>
          </a:p>
        </p:txBody>
      </p:sp>
    </p:spTree>
    <p:extLst>
      <p:ext uri="{BB962C8B-B14F-4D97-AF65-F5344CB8AC3E}">
        <p14:creationId xmlns:p14="http://schemas.microsoft.com/office/powerpoint/2010/main" val="1476485063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979866-1C88-453B-9AE2-4BA8F976D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74B789-0FB6-4A94-B69F-4204E4DD1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504F1B-C5D5-40CC-818C-55FEFDD5F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0158F2-C3EE-4671-9A99-3BFCBC6FF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688494-6F7A-428D-9BC8-96CDB4E5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8A9795-DF2F-44F7-ADE5-E5B80DE2A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068F72-2118-4A08-87DD-49341FDDF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DC3F59-D810-46BC-9AFA-3D5472B5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CAE645-BBB8-40E3-BDA7-B516C47A7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EB164F-AFFF-45DB-8D09-A3F20CF4F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A651A3-86C9-4D57-8007-2C7AC5BD9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DC996D-C5E5-4500-BF83-4EBD1C06D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77139E-5064-4BB2-9530-3DCFE7B3B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2E18E7-C739-43E2-96A2-9FD428A0A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8F0C31-65BF-4795-B36A-A2E6D623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633CE8-4B2A-43C1-B894-2E615F03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FCBD2B-365C-4C35-8219-5DAB5157F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BEBDC5-6389-40E3-A84D-153E8AD81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D13C04-EEFF-4E39-A616-5CA16291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7F59AF-2A99-456A-BCC6-CE41F2B95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4C953A-66B6-4259-B805-A83F35D3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4E56E3-8BA8-415A-A5A2-D3EDF2ED0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C8D276-458F-4A32-8BC5-DE120621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B7C6BC-80E3-4692-A2BB-F40E94AF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3A1462-4C10-413A-A360-39E79605F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9927EC-23D2-4227-A385-6DEA9180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A3143E-DCFD-495F-8186-9DC49A849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DBA787-84CE-43BF-9A4C-BC4F7FDDA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6457C7-3B34-4B47-A9BC-4C6777E70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https://fnet.bmfbovespa.com.br/fnet/publico/abrirGerenciadorDocumentosCVM?cnpjFundo=09195235000150. 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156623901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EBFA0E-E94E-41C3-868E-027E46324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A42F95-7495-4A51-B27B-25A575331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4,7%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1E609E-C007-4C18-A023-059B0D928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7AAA7A-8195-4DFB-ADEE-8571FAC2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1A3A28-AD10-4301-9DB1-03C26EE1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C4678C-D62B-4174-BBE8-31474B1E5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3E16E8-797D-48C5-BBF3-4C95B7894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7FB111-A9E9-468F-A1AE-9E9A9E3B7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DD48E5-C997-4B02-81E7-F3EF76D4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C7A922-5C3D-4451-970F-9C529E47C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771211-8BF2-4B85-A513-B49547723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FA2698-75C5-4743-B8C9-FAAC3CF07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D43491-FC52-4DA4-9B16-7B43DA83C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012005-DE08-4974-804F-E1200DC32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A26BB8-FCBD-409F-BF85-E2E4CCC0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BBF58C-7407-44DA-AB6B-DF56CB450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10C8BF-5902-42D3-B13C-AA254727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665FC4-4234-4FA2-BCB2-8C01ADAC2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67E3FA-6F44-4FB9-BE8E-213B623C3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6A1D21-D198-445B-B93C-DA1F362DE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001410-17F7-487D-AEDC-A40BE0865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3FF353-756A-4F12-97F7-687EDD5F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CF162F-F658-4937-BF17-4E97B0340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C55ACA-4B4B-4604-9F21-E217A3DB2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CC90BA-28BF-48CF-90EB-025391A5C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CC4740-2B9A-4D04-AA7F-BC5D1F44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923FEE-BE13-4967-89FF-65621FEF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5D4649-78F3-45BC-90B2-A8099FF52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61DB4B-355D-49C7-9760-9B39B8B63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https://fnet.bmfbovespa.com.br/fnet/publico/abrirGerenciadorDocumentosCVM?cnpjFundo=26287464000114. 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173086304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7E6CA9-BF95-4B2C-B748-20E79DB7A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D279ED-91C2-4B5B-882D-397BED5CC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43F741-3684-4C07-B24C-81B6C8A74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BE341B-986B-49EA-A350-1A8D5481D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E1CDF1-9292-4420-A491-15A67179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73900D-E209-4D78-92EC-8E5ABADD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02AB58-B6EA-4204-8F47-CE16F95D7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271E3D-3DFE-401C-9567-AF56D006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F436EB-8ADB-41A7-BE94-6D146AE7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58B609-B2A5-4ADE-A869-FE9BA5FE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76F176-B6C0-4D94-B2A0-E141F5D18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21FE26-373D-4F45-8E65-A23A45B5C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701CD9-31B2-40D1-B98D-1DDF6FDAE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AF187C-A5F9-4D2E-ACAF-C8A3B8B0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C9E49C-57AF-41FC-8B51-4EA2C9D7F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A242D7-7416-4050-A418-D0826636C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4B64FF-AD61-4F08-BFF1-DAC1FE40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4962C7-F7E9-4692-89F7-75EF89C3F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92E6D6-118A-445A-8124-77EBBE0D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9ED6AF-1BF3-4889-B960-6B3225DE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6264F8-40ED-453D-9CE6-2790F4E4A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42797C-53E4-4E37-8D1E-29172B98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B9738B-0FB2-4223-945D-B78B501B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0C4F8B-A008-404B-A9FA-904F7E652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1D0ACE-273A-4BC0-B5C2-C96426ED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2627F9-314C-4D8C-A1CA-D881E38C9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567869-8B63-4541-AF5C-4173468BC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Proxy CVM; validar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EB1420-4E61-4D15-99F0-F76779503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D54C01-7461-43CF-AFDD-D4A21864B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https://fnet.bmfbovespa.com.br/fnet/publico/abrirGerenciadorDocumentosCVM?cnpjFundo=65473848000183. 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965234695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4E1201-5D21-428B-99A1-18AD19D74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785007-EF1B-4477-94AC-4A3F7412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C47D66-5002-4F45-876C-7A698AA9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E4CC45-2C63-4D18-8641-FE7C73DB2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E7BC9A-ED8C-4CEC-918E-519B80581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8EAE05-1887-4791-B953-32810507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D14ABC-F9C0-4F7A-868E-374D34427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5BF043-A181-4812-954A-504758CE3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E97A70-8129-4BF3-A798-27952E0B8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E6899B-33A1-4E44-8385-04DA0991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3AA01E-4BF1-4CFA-8E11-99FDC14FE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50011C-8673-4362-B062-3800790B0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9AED99-64CF-4E71-B630-00D4C933A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103283-8BC5-4042-9A43-3B44F68F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8395C2-5095-416B-AF97-3F7111742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A2EC0F-3073-4322-B18A-77D07A28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486A3F-DC3B-4EA2-B91A-24C9BA3EC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C07F71-6F3B-4258-B93D-8D79A7638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2D9EF6-2809-4215-AAAB-530F8D371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6D3C19-1453-4931-A7E1-7D9BD1042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FE0DDF-11C6-4471-AA9F-41AF50E6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R$ 5,5 bi | doc. 1166893 || 2025-09-16 | encerramento de oferta secundária da 1ª série | R$ 4,2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D62257-A1EE-40DC-BCF0-6E2F476FF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109CCB-5123-4204-B63A-2A9727D08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3F158D-ED75-4298-B654-192301428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249BFE-87CB-4767-9D43-97FFB2804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976EEB-F65C-4D4C-A65F-F34B2ED7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65A082-EDDA-454C-B6ED-91A8F8F1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6AAECB-5F21-4DA4-B3B6-74D59A89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5D54EB-3A76-4463-891C-AB02FB95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https://fnet.bmfbovespa.com.br/fnet/publico/abrirGerenciadorDocumentosCVM?cnpjFundo=62393679000183.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05428524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D1FA0D-D16C-48C5-9C86-1F090DB8D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8E74D7-0E90-4BA5-97B0-A068F435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A5F7D1-3212-4998-98D5-0B4446A5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26150A-49B0-4842-9168-5B9EB2043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B35F5D-83CD-4E29-A031-83B52172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209E46-4720-403A-B029-E05BC0AA0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10EFD9-3CA7-4FC3-A8BF-D23B46CF0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130241-A498-4814-8BF1-1FAE6365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50B648-4984-4AE6-BF64-356F1312E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4B7044-D6CD-436B-BB85-D0AA34C4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6F2A52-8CB0-4EA4-801D-C87D2366F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S.A., como originadora e endossante das CCBs.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082638-20A8-4C63-B6FD-C4CDF90BB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F416FC-DCCA-4767-9701-72463ECFB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por empresas privadas, devedoras dos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4112AC-C49F-43C2-9238-33FB47DB6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6311E2-3A60-4646-9ADC-614A5A44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CCBs de empréstimo consignado privado, processadas na infraestrutura Dataprev e Caixa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12DB0A-959D-4704-9B90-4E299A757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58EBC9-632E-4EFB-BB6D-C66B0A28E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as CCBs à classe;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49B68C-F240-4822-90D8-10A1B257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350DC5-4BB9-4E25-9004-5D5317120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643CE2-5270-467C-A088-638203881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6A3CA2-7AFD-4AEF-A5A8-5035900A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08/01/2026, aprovação de colocação privada de cotas sênior em vasos comunicantes, com limite agregado de R$ 15 bi, e R$ 7 mi de cotas subordinadas; aprovação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73C2B9-5619-4510-B5E1-72B753FC6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D0F9DC-4E85-4BC4-812F-59BD2D3A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índice mínimo de subordinação de 1% do PL e índice-alvo de 10%. Garantias: Desconto consignado em folha; cessão ou endosso definitivo, sem coobrigação geral da Parati.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6B2C03-0C70-4158-A17A-5E188581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B28CE3-B68F-4251-BA8A-1576111E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6FAC51-0AED-4F5B-BF49-6521F8717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40CEE0-CBEE-472E-ABCF-CF77A38D1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Consignado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Evidência documental primária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6FD54D-5905-455D-89EB-566E21EB3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5E0DF15-8D5E-4329-8143-5B5DB046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1222855 de 02/06/2026, páginas 3 e 15; deliberação id 1087883 de 08/01/2026. Evidência: O regulamento declara Tipo Financeiro e Foco Créditos Consignados para a Classe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1113977481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DC7A0B7-ABD3-406D-89E4-D5C1513C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5EC9C-1555-4AEE-951F-E0914E91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4CBABE-EE06-43C8-BBC9-5FDCFB4E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8FA1CF-B244-4061-820E-3ABC7623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DE0E66-7E16-4C19-AE24-0923A4572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91B4AF-5F5B-432B-B0AC-DF533825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4EF1A8-7D96-4EE2-AEF3-6213D092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4A96C9-03E5-4ECE-86B3-B0BD73E7C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817F55-DB4B-4DF3-929C-C45078272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FEC2EA-8E65-415F-B50F-0A6854FD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CD73DB-898E-4EAB-A666-29F9694A4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documentos não apontam uma entidade cedente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DF16FD-8718-409B-A076-74C128E45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2572D1-F8D4-4411-B01C-9B670040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AF8F69-E8D8-4BE7-8D42-B8F6883CD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A67842-320C-41F7-955D-79A60149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1EAF0A-BB02-4B38-AC0E-9BBAA4D81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AD5139-0F10-4C28-B7B4-CD68D9457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D86EF8-94D2-457B-A3CE-24F8FB975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627E43-9059-426C-AD57-A00ABA1FD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E1915E-BCEA-4196-A62D-28CE4165D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AF9FAF-8DCC-4AAB-B434-1CB09773B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3BD3B5-8002-4AD6-A37C-4E557A18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35A66A-70B4-429A-BF69-41E1C2E89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99DC14-317E-4599-A228-C487291E0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B6BD6C-A89A-45E9-BB1C-92F29EF5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00F463-CFBF-433C-A43B-E1DB0127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9F71AE-FF17-4917-B204-5DEFD602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AD6EBA-3B65-4C7A-848E-406EFBC25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73722A-C7A0-49B3-80F3-416E1152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https://fnet.bmfbovespa.com.br/fnet/publico/abrirGerenciadorDocumentosCVM?cnpjFundo=53286499000101. 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1619406391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C634B3-83C8-4C17-A6C1-EEEA03CBF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C2493A-DC5E-43B8-891F-85B341E2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15385E-61B5-4854-AC3D-C928A5344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FFD874-3DC3-420E-B814-84E9D355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19AF0A-2A39-4186-9B6C-5D200CF46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18EEDF-DC7E-4A93-9A87-5CCF1F08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CA2DA6-582A-4ADF-932E-3F2A219B3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DEE222-613A-4716-85D2-D6A54B6E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49A64A-ECE6-4C6E-BF14-924EBEB36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8AB01B-D3BF-4D9D-A56E-8E5BC201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27746B-4856-44B5-B2D5-33063708C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3F0AE6-2B0B-4884-9CE9-4B0D4AD6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6FE15D-BECF-492A-B310-88FB65325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ED52F5-9D09-4E2C-8DC7-0DF05A67B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53B84-E9E8-48F1-98F4-14BD265D7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BCD16C-F33E-4A57-BB95-DC17E8075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E589FB-9E61-40D8-93B0-3553E6915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A8636E-4013-49BB-A7AB-E3D10388C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BF0C12-7399-41EA-BB2E-9601ECEA3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BEAF53-FD39-48BE-A1CE-53A9DE1A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F7AFE2-A7DD-4A84-B600-9C8C12067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R$ 2,5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999A53-F55B-45A0-9967-62E323E7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38040D-271B-46E0-97D4-5A76E0CDB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52C8BD-E0E0-4322-862E-5A73BFC88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05ED9A-4F9B-4937-8BB3-9C328609F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F6CB00-78BB-4AE6-96FB-93F06001B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26E4AD-A08B-4A8E-917E-AABA7B5A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217BA5-E145-4E85-B931-7EF60F33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BE4709-CEE4-426F-80B6-2E05CBCF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https://fnet.bmfbovespa.com.br/fnet/publico/abrirGerenciadorDocumentosCVM?cnpjFundo=52242420000188. 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019845947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6C3376-0072-4E53-9A1A-4687E365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2BE01A-7BDB-4BF2-926A-09239D2EF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95009B-AA9B-4800-96C8-10B2BEB3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8F1AFA-F940-406C-9806-F8E078312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1237DC-EDB2-4CEB-9E9F-EEB64BB03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AB8D4C-1E25-4315-B663-8EDB19D21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048D94-900A-48D1-915D-691A907C9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8481DC-8FAC-42D6-9B26-8F95BC2E4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AA170E-D0C0-45DE-8AFC-2988510D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4C354A-C0A9-4474-8975-776FE909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CFD663-B1CA-450A-9B2C-B6CF7FAB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9C0E4F-0BD6-4F6D-A0A6-3973D634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8C2EEA-028F-4F99-8700-5A77AFFD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BB2D56-CF9C-4634-8FA3-EA0372FB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50EAD9-4D45-4185-AEC6-C281C4B2B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ABA1AF-BBC7-4F58-AFD1-36C31CAFD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F60E8D-8BBA-4560-A420-0D9485DC0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DC572F-8BAB-4A17-8D17-1849B90E1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9C9281-413C-495D-A15C-2B6B6E719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5B0907-08F7-45D0-81E8-FA2364ED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EC6305-BD67-4BAF-AA26-4CA25E0D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02F96D-3955-4889-A1B7-BAE778C1D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EDE4E3-BB20-42E1-A7ED-C43BB20CE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E3FFEB-328D-46E5-A3DB-0EE24120D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47319D-3084-4107-8D56-199B0CF8D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A2FDC6-16C1-497B-82A3-0A4686727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1D5ED1-1F50-444B-B265-EBCDDD906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B7FA67-C886-4B19-8D96-CD36B947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77118E-0E05-49FA-96F2-794F012BE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https://fnet.bmfbovespa.com.br/fnet/publico/abrirGerenciadorDocumentosCVM?cnpjFundo=52610624000124. 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1872456294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EF940D-7A49-4B7E-B3AC-DC11D29A9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7B3C08-C2AD-4194-8129-8235EB9D3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FAF47A-4398-4789-8D06-9BD68B39B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419486-DE08-46D1-9B67-BB615599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817D61-FF56-4ED9-9CA8-3E635C80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96674E-BD71-424C-86E4-207C48C36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7BCFF1-293E-4795-B0A6-30E4C6A11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1BDA02-0C05-4BBA-8FB8-9B902C4CE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1E4CD1-A98D-4E9C-A3FA-A0001AC95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2FC045-CE89-48F0-B5E6-FC2D73C5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A6F6BC-9B2B-4AB7-8623-D916FF3F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E8B5F1-93BF-4772-9AAA-818B3ED4E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B13056-677C-40E8-8599-4BB3B07D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BAF908-197F-4917-83DC-263E269B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5B2DE1-D321-495F-86EA-CB400251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4A08FA-78BF-4C7C-BBBC-6640B931D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B433B8-74E4-4941-8399-1410BBDB5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6017CC-6472-4031-BE0B-E0030B2D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F9F893-D822-4EDF-83B5-FBB4B30C5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A559C5-C2AA-43AE-AEFF-99CE93BE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729FBF-8113-4A72-9BB0-E6D4C62DB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R$ 1,0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02DB41-4E3F-431E-B691-D8A0DE97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A2F360-51E6-480D-9675-8779CC765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5999F0-BE44-42ED-8885-BB7E0646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1D4281-9861-49CA-AFE0-5BF1AB370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2B09F3-B03A-4A86-B037-A6610893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59552C-3F85-4224-90B7-DB6A7045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AFAF37-3D2D-4CCE-974D-F34919E51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848708-9371-406D-BD93-7F25FDC3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https://fnet.bmfbovespa.com.br/fnet/publico/abrirGerenciadorDocumentosCVM?cnpjFundo=26286939000158.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2038271571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F03950-B1A0-42B1-BA20-AF4EFA7C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FFEDFF-91E0-4F0F-BD46-81B01DBFA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66D9BB-3771-4DBD-8CC0-EFDC566E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70E87F-DA92-4EA9-8A96-1FBE13687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D7FCD-1089-457E-B142-FBE4E57DB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C36E48-0DB6-43B2-B83E-10359091F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EBA28B-59FC-4F31-BA5E-5213EE50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8E6202-CE1A-43B6-81FD-97F14E64B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AF5C10-83E4-40C4-AD35-57E74AA8E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37BDC2-13CE-42BF-8645-0010A8C10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7DBC45-E2C9-43CD-88E5-B00CA6660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A1D76D-D784-493E-A0DA-1CEACD7A7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A8D6C0-78EF-452A-8704-3007ADE1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A59B92-FE2E-4BA0-A699-05C99978F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CAEF77-116B-48A1-83EA-273F8618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8CE5AE-CB17-474F-A750-0D98E356A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6A8B85-0065-4567-8C1D-9A3FAA249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3C6DD6-60E7-4179-80CF-86D24F201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B7B0B0-A93B-4965-A8C9-792115D64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6CA3FE-B761-416F-A258-6271A039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8528EB-93ED-4A15-A50E-AB1531AC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83047F-7FAF-41FD-80CD-9BD60A2BC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CAC73A-5722-4F0C-AA33-44722B6F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7B318D-085C-42BF-8281-20F48995A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B1B59C-0E3E-492E-873E-45D0BD3ED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3B1BA9-D938-4E34-868F-AEACF0ED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0B9787-7B1A-4323-84B4-415A1AACF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EA85EC-78D7-4A7A-AEC2-45F59A052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369E3F-9799-409B-A8E3-370BB25FA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https://fnet.bmfbovespa.com.br/fnet/publico/abrirGerenciadorDocumentosCVM?cnpjFundo=53216449000158. 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2082320084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D36DE3-EA96-4E5D-A241-C1787A56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DAD943-C7F8-444E-9404-4B73276D8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9825F3-DC1F-4ADE-856E-5FB8249B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3826CD-4529-4B58-ADE7-730722D70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CE0831-9BAA-4414-92A1-EC1F67473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868250-5265-47BF-9F27-AD38FF08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68C7D-348A-4233-8667-C8340A21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193352-862A-4FB0-8C00-940FBCF7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D4832E-8CE9-4973-9126-5725CA3F1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CC57C8-409C-4ABC-850D-CD11DEB6D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8A0EF3-9A51-43FA-8B5A-7E5430DA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708443-63C1-44CA-A9DA-A11D60CF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CBCF4F-F904-4146-9361-FDDDD1AD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3F03E2-18C3-4D54-A8EB-B3ED71C51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E20360-734A-4E77-82BF-4DF07942D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7021A9-AC63-4420-8642-B3B17FFA0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3D21EE-DE8D-4AE9-A968-AC70FBB0F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FD310B-CBC9-43ED-9ABC-2050C7AD7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51BE2D-0E59-4800-820C-B8B848FB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638350-7672-4B22-AF80-C95791B2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1ACF06-3089-4145-B5D5-EB313D34A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R$ 1,0 bi | doc. 1148251; Valor ofertado; o anúncio de início não comprova colocação. || 2024-11-06 | encerramento da oferta da 3ª série sênior | R$ 1,0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E949C4-F57C-4954-AABC-128D5E2A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1B0E38-B692-4350-85C0-276C4BC1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55BC8F-D2D4-49C0-94FD-DFF00FE32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E1D527-B866-4394-837E-EB83D7B41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A210DD-4335-4D4E-BA8C-6FF8F6A67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709E87-A32E-40E8-9C4D-37DF5333E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A1BE0D-BE20-459C-A231-7ECB64422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A77815-B94E-45CE-90B2-B6A1EA5EE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https://fnet.bmfbovespa.com.br/fnet/publico/abrirGerenciadorDocumentosCVM?cnpjFundo=28169275000172.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866782573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249C2B-F31F-4153-AE16-4786132A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F149EE-9F55-4027-A0BF-D0ED0896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074D76-7A7F-47D6-9F7D-9F84F3A8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1AC589-FA89-4C31-AF5B-B01254432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BC407C-D8FB-499E-8292-026BC9FC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C5C96F-D365-4B51-BE03-9BF543B6E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25F3B8-5A51-44DD-934D-585672D23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9AA234-786A-494F-82E8-F50CFC8E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D31CD5-0977-4570-9EC7-25BEE2517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BF704C-E61D-4048-87F5-71DB0DA85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40085F-0EE1-4389-B500-CCCC73D5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C81532-E740-4618-A39B-84ACD0D00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B5DA36-F533-4FAC-90FF-DBB6533A9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5D6106-0BB1-4E82-A11B-9B9F292C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8C7B16-900B-4E8B-A19D-90BEA430D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DB1348-D1ED-4F30-8EF2-BC1C9340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BD3EE-8AD8-4377-B8C8-7C59FA6DD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8B2204-8DE5-4BDF-95B2-76140D63D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43B785-F320-4F2C-8CCA-22E1690DD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01F86D-F710-41DA-8ADF-0C9A33620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455130-3AE3-4AE5-8AB1-1BB6AA3A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R$ 11,0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37E830-AE09-4BA9-81F3-9D5EDFA2A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674738-FCFE-4E46-83B1-D96331D4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8CC363-4370-48FE-988E-769DF074B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8138D1-D641-4252-A5DB-B2081D53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B81B99-A8DB-40DA-A5EA-1E36C13B6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AD8D71-3F80-40DF-8982-797007B1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ABBF73-AFED-41E9-B950-6235F6DAB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EB2E69-40CA-4562-97DC-2953EBE2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https://fnet.bmfbovespa.com.br/fnet/publico/abrirGerenciadorDocumentosCVM?cnpjFundo=50906397000153. 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596070616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8E4BF0-EA5D-44CF-8AB1-1C30257E3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6EF8B6-095F-4434-8687-E504AE55A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A049B1-73F9-49CF-A61E-2D8D4E4D3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645FEB-E570-46C8-B19E-3CD0ABD72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9B349B-24FB-479F-9F1F-BE07BA79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9A8019-30ED-413C-9AEA-52B0D8D43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3FF7B8-6B2E-414F-B009-0FEE02B7A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0EC3D5-A7B2-42E6-A4A9-881E6D39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BEFE0A-4BD1-4897-85CE-19AE58929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490DA1-5E5C-4250-A47D-9B7DC8433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AB9A9E-3893-44A0-A031-64F6299F5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618A6E-BBC9-492C-8042-AAECBD922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793B6F-9AC7-41AA-A476-3CC5F172D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86E33E-F90E-489B-82EF-C31C3CDD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795E1B-ECD2-4074-B2B6-D6CE9EDFC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C83BE1-13E1-4840-977D-02F6DDE1B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BD19AC-65F4-42AC-BC87-B7049B616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FCCA09-043C-4734-B75B-4C0F4FD83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D7E11A-5AF1-4047-8DB2-6068C7C95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5B7806-F094-4561-9A8E-585497D1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758B10-F475-42C0-A93A-B52F0B3CC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AC5D94-BB88-4EEA-B1D1-DFBA9749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03780D-2187-46F9-9B4B-A7C84690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0A58A6-93BC-447B-A7DA-4D7C80F9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68A7AA-1607-4CE8-B0DD-551E74BD7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0FE99E-CBF5-42EA-A869-322972169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27D4F1-7429-4120-B569-1CF0671BC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B27774-0D96-4AA1-B093-959ACB3A0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63B07E-2AB1-4955-90C3-7470E1F5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https://fnet.bmfbovespa.com.br/fnet/publico/abrirGerenciadorDocumentosCVM?cnpjFundo=29225241000110. 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1168772778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171A93-EA3B-4125-B049-A76B239CE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33D737-4BE1-47F7-BDB2-877990E70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2E3AA6-8D3A-41F7-8FDF-7F381A8D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5BC86B-FD28-468E-A236-3FFF08895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A6202C-8469-4258-8F31-93B3745F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F730B2-0764-48B0-964D-58AC9047C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21659C-0460-43A7-B139-D9E30381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382499-D6B9-4097-BFE0-C3FE109CC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4F5EBF-7618-4EC0-8EE9-B87279797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8EB5E4-E578-4034-9BD3-A77F3DA1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914188-B0FE-48BD-812D-11DDCFE89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2D3872-E886-413B-9980-B8BE3570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38C50A-E7A3-49F6-8762-2623D173E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7AC3F2-CD2D-4265-8F44-C0EA1414D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2F0D67-A0B9-4F8C-B699-C28120040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ECB5EE-59A1-4DC6-B3A6-A769E4C11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A666B2-4D85-4DF3-9FB9-D8D43212C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B55DA7-1E3B-4A41-8699-0D931947B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D34ADB-BCEC-4212-A421-F5B0DA796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7EF202-6905-4599-9197-29842EC33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C2352C-0971-4A5C-A3D5-3E4C01A1B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4ED6AF-1B40-407B-99F0-BDDF484F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638352-E5FD-42CA-AC04-23BE1D53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4CBA50-A364-4FBF-B579-F93C7FCF0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B7A00A-7832-4F32-9F23-62EBD0012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319BC4-DB65-4855-9DE5-256056E90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7C2F5B-9E01-4F32-9FCE-6D476A676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244409-ECDB-4F2D-A006-B0B626013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A6FCE3B-129F-43F7-B0F7-07819F93A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https://fnet.bmfbovespa.com.br/fnet/publico/abrirGerenciadorDocumentosCVM?cnpjFundo=42922136000107. 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207074872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054EF3-C498-420C-BA6D-8F0656A6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9D836B-1658-41A2-9FCF-BFE63F3AE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3854B7-89C0-49E2-93BB-3014FA6A4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8ED279-A3CC-469A-903A-0344081C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791434-E9B7-4D52-AB32-0A141812B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6FA6A2-F6E7-4DD3-8E7E-3A1D429DD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25AB3D-4240-46C2-B108-07DD45A7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4EA0AB-2B54-48B5-9906-CC7855B16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2B163B-0FE2-46E2-9C9D-117199627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209279-EB0B-4D52-AE02-32A492CE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714EF9-1A35-4804-8B87-F56A17A9C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3E7690-21BA-461F-8712-836544DF1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6A26F2-E4EE-4CB6-9127-34384B190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9E7A09-F8C3-41BE-85B2-08595AA90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18EC1C-18E2-4333-828B-6CCEEA54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F8A9EE-69EC-43B8-B445-BEC8916E0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58D9A9-2BF9-4826-9A9C-10291E83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2BAAE8-DAFD-42A2-9DA2-6C19A5FAB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29732C-7054-49F7-9FCB-3A3D59CA4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7C4F84-2E00-4A7B-980E-54D38CAB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E4F7F4-17D8-4653-A027-63EEA6E1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655B18-5A94-4A9E-BD6C-D66D473BD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2DA6E0-805F-4586-8618-468024285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FD18CD-AC80-45ED-8BE2-13E0D006E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E2271D-EC65-4E17-BE6F-07197760C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15D900-AED2-43FB-B88A-5D5825E2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7ED066-455A-414B-8A4B-5541D8739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A43075-87E9-4FF7-B00B-B2C5FAB3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84246C-8F12-4C8C-B7C3-70C21D241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https://fnet.bmfbovespa.com.br/fnet/publico/abrirGerenciadorDocumentosCVM?cnpjFundo=32527650000186.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37090900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3E2327-5518-4C81-8C65-BACAF50B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DF8E29-E8F9-4CF5-AD57-48C45633F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Artesanal Master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D08AB7-1C6C-4349-A4FA-9D9C0720F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DA372E-35DE-45A1-9301-0057E4E27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16C2E8-58AA-4B79-BBAD-A0B296D6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132DA6-A52E-40B5-91ED-5288A9F60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1EEF0B-E74F-43C0-A4B5-FBFB4ED3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9A735C-BC93-4C37-B22A-A03E475E2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546D51-9C29-4376-B57E-0E9E01B82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C2C505-5EFF-422B-9CBC-429B43C8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7E69BA-2466-4F2D-8137-A068C365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4741DA-D404-459D-8277-9111E5D68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55C93C-0E3C-4A4A-927B-E154AD6AD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E3B3B4-5CF3-47B2-BD43-6D197B869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F259C4-B212-4596-8B39-056EC022B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1E85B5-FCEB-4FC8-B99D-30B974DBF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7C1E3A-8B05-4FEC-BD0D-A15CA520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C5D7E6-A2ED-49EF-9954-CDDB885AB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36B708-ED21-4A70-8326-5621785E2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144C0E-A9D7-499E-9565-4AB34FC8B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0AA97B-722F-48A2-84F5-8A82905E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928AFD-916E-4F31-95E2-C69EE8858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7BD36F-A590-4A6E-8B6B-0C216926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E63B2A-7512-4E60-9F01-23379518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9CD9DC-2994-447A-8086-EFEAE8F88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D4F4E3-172C-47AB-807E-91F0210E6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94859D-962A-4BC1-8A0D-F6973B51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A887D1-63DC-4985-9E24-5935C47C8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E2F86C-DBA6-4B28-A381-B6679D3E7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https://fnet.bmfbovespa.com.br/fnet/publico/abrirGerenciadorDocumentosCVM?cnpjFundo=30576260000170. 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93389278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C0EBEE-CBE0-47D5-BB6C-29FEE1D90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7DD9E9-F0FA-496B-8404-2B6A32A8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Marobá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84EB48-287E-4CE8-9C6F-001EA734A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B00728-7FB7-466A-9F9A-DF1E0D45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42C7D4-2A6D-479D-A736-B5F34932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07D8EA-2A4B-45F8-9855-AD5B9DAF9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19391F-A6C6-4BEF-8285-669406C5C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FFDF72-853F-4A1E-AAC4-935B48D6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D0B081-26A2-4DEA-8424-D88E60598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97E26C-1240-4973-80D6-E7FAFA1F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40AEC2-A2E2-4ABA-8949-E9DCDD5A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991F5B-8C53-401E-8556-6640D1B06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E80B73-7F9F-4042-B581-94F79BFF0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C81705-E044-4150-9017-E34A43F43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E7F053-DD4A-4C09-B01A-41CD60066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9F5BD0-D432-497C-BF4C-A3781CAB4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0750E8-34B0-4AFB-AD01-93DAC5253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1C60A0-6BD3-4929-908C-E3CF79A46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2A4DE9-800E-427F-B12B-03AFCACB8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345E6C-82FA-473A-9722-65694FB2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52C5B4-C3A9-48B3-B844-1E76593C3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134A9B-C2D5-4356-8C97-630285C82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19362F-5593-4803-8BF0-5C9882235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 e subordinação não localizadas nas fontes consultadas. Garantias: Garantias não localizadas nas fontes consultadas.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4785A3-DDFB-48EC-A970-1990CA4C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E863A8-5314-4AD3-A413-73E143D32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4F96F6-6E49-40D9-BCB1-85E2E203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6BF988-540D-4D61-9B7F-7A3CACD2D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F172DD-4E58-4C21-A634-5EA54ACA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25EA14-3CBA-4DB8-BBFC-C30354C08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preenchidos; cadastro e prestadores disponíveis. Fonte: FundosNet e CVM SRE consultados em 24/07/2026; regulamento, suplemento e informe de encerramento não foram localizados no corpus acessível. Evidência: Classificação cadastral ANBIMA disponível; documentação primária da operação não localizada.</a:t>
            </a:r>
          </a:p>
        </p:txBody>
      </p:sp>
    </p:spTree>
    <p:extLst>
      <p:ext uri="{BB962C8B-B14F-4D97-AF65-F5344CB8AC3E}">
        <p14:creationId xmlns:p14="http://schemas.microsoft.com/office/powerpoint/2010/main" val="1483597555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60D39D-6FF1-4271-81B4-95F25C0FF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562BAB-68CB-419D-A6D0-18D8949B9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Venda de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88F800-58C3-42F6-AD86-0C22EDCA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507944-C458-4E13-99AA-F0E9ED43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7AF4AB-DA7C-460A-B6A8-AD7A5C95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9231C0-23AA-45E7-AD71-7FDE298C3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8BE6CB-C603-4C6F-83B5-7530D2E4F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03269D-3FD3-4942-A4BA-B2A21C18A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97F5D9-113B-47CB-B297-F3792F3FA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889767-F5FB-4903-A102-368E14A0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FC5338-20C0-4007-8C05-879195797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do Brasil Automóveis Ltda. e Renault do Brasil Ltda.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956F30-0328-4517-A448-F4525617E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DA39F4-5B97-41CE-B2C2-A2A88A909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Locadoras de veículos e concessionárias que compram veículos novos com pagamento diferido.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F62FFB-4BA6-4608-AED5-E75E3936E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66060B-F0F8-434F-A63C-BB1CA3DC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decorrentes da venda direta e da venda a prazo de veículos novos.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F74F75-37DA-4339-A93D-B501551F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98F86F-5215-483C-9CD6-317C18F39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e Renault cedem ao fundo créditos contra locadoras e concessionárias; a liquidação segue as condições comerciais e garantias previstas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49D425-44A8-402B-A0DA-61EE7651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8D8F8E-3B0F-4002-B308-8E35FB659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19BC07-7BF4-4DA9-86C0-B1FF67563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0CE276-12FC-42BC-B614-F36E2F3C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 ou informe de encerramento não localizado no corpus consultado.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2A1F78-7E1A-4129-BADA-F23B3EA8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676E25-68A8-49E8-BE8E-023829DCF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o regulamento disciplina índices de subordinação e eventos de avaliação. Garantias: Seguro de crédito, penhor de estoque, cessão fiduciária de recebíveis e garantias bancárias ou fidejussórias, conforme a operação.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5FAA17-7B57-4D9F-B21D-3F2225ADF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5001D6-330B-429C-89A6-23810A616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20493A-9D31-4284-B2BC-6EA1D1847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E25393-CC41-4715-B1C7-BF122ABB6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9A6E76-058D-47DE-92C5-FE4B25918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2EC500-4F29-4C6A-8B2E-0315E1245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preenchidos; emissão não localizada. Fonte: FundosNet, Regulamento id 1230588, 26/06/2026. Evidência: O regulamento identifica cedentes, devedores, natureza econômica e garantias da carteira.</a:t>
            </a:r>
          </a:p>
        </p:txBody>
      </p:sp>
    </p:spTree>
    <p:extLst>
      <p:ext uri="{BB962C8B-B14F-4D97-AF65-F5344CB8AC3E}">
        <p14:creationId xmlns:p14="http://schemas.microsoft.com/office/powerpoint/2010/main" val="1996680496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6AA991-93B7-4229-8D01-1F9CC0AB4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C08CC7-833C-49F3-8B03-0C4898B7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A5C48C-177D-4B91-8AE5-1D77BA12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72DB8E-3440-4844-9666-C3C3D581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54FECF-6905-4FBD-B502-4A53B7A5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42EF5C-2907-411E-BA76-ED7655D9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C6007E-65A4-42C0-B744-85EF590CF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464E4A-4861-4ED5-A4CA-761C21462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43F96A-50B6-4F8C-B12F-899A1240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306D6D-C77C-4CFA-8B52-B6D33352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D8B8B5-CEE5-4D2C-8E73-76B23239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D8DC1F-1AFF-494F-9841-6872F649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1C53D0-49CD-48CC-9565-07A77FBBD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C7F865-2A3A-4A92-BE9C-D71CBD2A6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C2ABE7-B529-4084-8B30-E0C61DCB6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C01232-694A-48E3-A1B7-C47F664E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63307C-8B0A-4B30-9C13-9CB135BB6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CFBD4A-CE6F-484D-91D4-61AFC828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31D70F-D9FD-47BE-AA03-5CEB06CD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99ABE6-146E-4E1E-978B-D9DAAA843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DC2B29-173D-444C-B958-AB40FAEA5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C89B79-CAE9-495B-A332-E3A43000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13775D-C7DF-4375-8D83-D119F2786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2303E5-EEE4-42ED-85DA-C352E5015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F76331-6785-487E-BA53-9B0E63C28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92FF1B-1B16-4725-AF27-66AA0F084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92CBFA-F100-492A-8128-3E84B1576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55703A-FF16-4D6A-BDC9-83BBCA90E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028924-8ADB-4A91-9FE2-C225B2A13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https://fnet.bmfbovespa.com.br/fnet/publico/abrirGerenciadorDocumentosCVM?cnpjFundo=34197588000137. 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1740369552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1D3D4B-DFA1-455A-B7F0-087847A8A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D6BC55-4EEC-4676-B806-943725DC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ACR BEM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7CAF57-89FB-4E8A-B0F2-07430E73C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181467-4EE3-4338-A660-81AD812E6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86CF07-D9C6-4912-98E5-F2D27BCB6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083B70-1171-44F4-8194-3D377304C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E44E46-BFB2-437C-A033-130EAD7F4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96CC7B-4581-43FD-93DA-8990ECD2B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0B9EC8-9DCA-4334-AA52-8282B1D2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D6EBB1-62E2-416B-B756-0DA4099DA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47F9D3-F68D-402C-904F-0E9DFB30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 Instituição de Pagamento S.A., como originadora e cedente dos recebíveis.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725364-4757-4247-AFE4-3341C523A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455A6F-9324-41CB-B97B-95798F063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de cartões e demais instituições financeiras responsáveis pela liquidação das transações.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9E9167-7EF8-496E-9470-3F36DA378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E71DE7-11EC-437D-A10C-7B7BA6211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oriundos de transações de pagamento processadas no sistema Stone.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EE4EF3-891F-4C96-B2E2-6C8A6DD37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12675A-E126-4BDA-86C4-965DCD5A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Stone cede ao fundo recebíveis de liquidação de transações de pagamento; os devedores são os bancos emissores dos cartões.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C6C04F-4E15-40EF-8C44-9C7175205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55BFBF-9727-424A-BFA6-F56D9574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7408CE-3BFC-45BC-AFCA-E72CD4E2E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ED9DE0-A5BA-4390-9AAA-0BFB096E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2024, duas ofertas encerradas: R$ 3,5 bi em garantia firme e R$ 108,25 mi em melhores esforços; coordenador líder Bradesco BBI.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DC51C0-B104-40F2-A162-B2CD0F93C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59B61B-6FA9-406D-9A3E-DFBBB616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regras de subordinação e eventos constam do regulamento. Garantias: Mecanismos de elegibilidade, concentração e subordinação previstos no regulamento; garantia uniforme adicional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A8AC23-3F4E-40D1-B8C0-F6821CF57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62FDD5-2B8E-4AF2-A9DA-925B7BB06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14F3D9-0214-43EF-AA5A-2A835FED3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5450F7-A817-47B9-A227-041E529F9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6617E2-2DC8-493F-9DDD-13B377FB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006DA9F-0C51-484B-B883-51A1FB352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656484 de 09/05/2024 e Informe de Encerramento id 664301 de 15/05/2024. Evidência: A documentação identifica a cadeia de pagamentos, os emissores de cartão como devedores e as ofertas encerradas.</a:t>
            </a:r>
          </a:p>
        </p:txBody>
      </p:sp>
    </p:spTree>
    <p:extLst>
      <p:ext uri="{BB962C8B-B14F-4D97-AF65-F5344CB8AC3E}">
        <p14:creationId xmlns:p14="http://schemas.microsoft.com/office/powerpoint/2010/main" val="532919070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634AC0-05D1-41F2-AB74-300180B9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65E1AB-4892-46EA-BA00-9CFFBDBF8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8BDB4B-D426-4738-9549-24C141E7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8915D0-8DB6-432C-957B-E7029E705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31F563-41BC-4C11-8A48-6A24C297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F6C1E7-A196-4A58-90EC-2E49DBE79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1524000" y="1133475"/>
          <a:ext xmlns:a="http://schemas.openxmlformats.org/drawingml/2006/main" cx="914400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34641db7aa84f6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ED3691-EE07-47C9-BA8D-FDE04C2AC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4C2A10-B9D6-4FAA-BD76-AD427A54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154E48-331C-42A9-A853-B8B53B4EB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9c9813069504a7e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FD7617-A7C0-4D75-93D2-497A9E33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34125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2b8fa820bb14c8b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F1555C-E5E4-421D-8F93-65AF76F8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90b71e1bbf14c04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022ECD-9044-4185-AB02-75F3EF209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p:txBody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6334125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4a2cd39174f4717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E13529-591B-4DE4-A265-C0B134164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571500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4d316c69fc144f8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4CCD89-547D-48CC-BDFC-662560B8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79963ac5ced4f3d"/>
          </a:graphicData>
        </a:graphic>
      </p:graphicFrame>
    </p:spTree>
    <p:extLst>
      <p:ext uri="{BB962C8B-B14F-4D97-AF65-F5344CB8AC3E}">
        <p14:creationId xmlns:p14="http://schemas.microsoft.com/office/powerpoint/2010/main" val="24719601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AED010-83A8-48EB-8A58-A9180CD95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88EF06-5211-4334-A9E4-C1BC371A1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2FCB21-C5A5-4714-B7BB-EE99FC8C3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E14F7B-AF31-4318-BADB-44F5B1960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53C7CD-B2A1-4D04-B40E-E199A0F8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FundosNet e conglomerados prudenciais do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507A1B-94B3-48F6-80E6-B6810565F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722C45-C624-4328-A79F-DED9EA2A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A059C3-5634-4912-8140-4E87AA3D4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ad4e2a895844fe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6D568C-4467-44F0-9302-E5FAB002E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BCD351-BFB2-4D93-996D-D11021A50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CC75C2-4293-4D38-920E-782CAF13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DCB4C7-68D2-4480-BFA6-B23472E3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704925545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F2F35D-5F44-437E-B733-29402B0A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B4C034-16C1-4FC4-BB8D-6BD15729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5BA4A0-874E-4E79-AC29-72CEFC55F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BD8ED3-15D8-4E6C-BF4C-63D59DEDB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EE29DD-7B8A-44CE-A79B-E6EEF970B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6BF415-9E8E-4B9E-907D-CFCA3A100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517DBC-350D-4F47-BFA5-F6A2BDA34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B28F37-452F-4448-AAD0-A3E3FDB7B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a0ac4f9ea024c4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E60095-26F7-4F0F-9EBC-E316E0BF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0B17BE-75C6-49BF-9B42-A41A06809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DA801-721B-483C-A8D8-250A7B448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6EDDAF-A784-4DBB-8B09-049BFA2EA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892d9c726914c93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EC34FC-90E6-4DA8-B935-10063C140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0FFA39-615C-43BE-A164-AC38A9373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64,8%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951A07-2DDF-4203-A79C-DE4AB027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p:txBody>
      </p:sp>
    </p:spTree>
    <p:extLst>
      <p:ext uri="{BB962C8B-B14F-4D97-AF65-F5344CB8AC3E}">
        <p14:creationId xmlns:p14="http://schemas.microsoft.com/office/powerpoint/2010/main" val="1814903437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075FAF-27DA-48E4-9BD6-15DB5163F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1BAE7E-376B-4D7E-AD47-6B3227912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0F5F21-4591-4AAB-82CE-27FB561F2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333814-B5A5-44E1-99B8-86C8D14DB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B80057-F9C3-4B85-B9F8-C927CEC2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97E146-D19E-479A-80EC-A39E5E7D8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57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03b64e56bf1439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EE1797-3784-4D8C-BF03-2D3541E98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702724319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35C215-4C8D-481E-A4FF-D6978501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62C7EE-41AE-4843-A359-5085C16AC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C86B4C-11EA-4BFC-8F5B-60967CE74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B16FF1-4482-470D-BD4E-A9DBF4B4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986667-A7E1-4F8F-997D-E9AA06FAD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430628-09D7-493D-9612-B17E1AD7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58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8624b526a6c445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07E6B7-1477-4BCF-A71B-AD871F443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1317537301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F12ADB-480F-4F22-BABF-13AFF78A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9C5457-2BEE-46B9-A9FD-C93C72F92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061037-A01D-4073-9212-E9EB413A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829ED2-3A83-4FB7-A8D7-C3D32EA09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160CED-8910-4EF6-B5C9-429F602F0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F6052B-3797-4E74-B40A-0E5D87B14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59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7861365870b432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6B8509-0845-47CF-9E43-B2B26C5B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8756943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929F65-909E-4791-A0DB-172ACA1E4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EVIDÊNCIAS DE MIGRAÇÃO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35ED48-153C-4DC4-BE75-31F0FADC2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3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7,2% do PL comparável mudou em 2025; 35,0% do PL continuante da coorte CBSF/Reag migrou até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63FBE8-A2B5-406E-930E-E1E0FB35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2DABBF-1E6E-431A-BFB7-190FF772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3BE075-568E-4DB5-AD3C-958C4ABC5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Métricas por CNPJ legal, ex-FIC-FIDC e sem Sistema Petrobras/TAPSO; PL positivo e administrador informado nos períodos comparáveis.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C53FFB-7D5F-4E2F-9E83-BC9008AFC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0E5D18-D099-4523-A3E5-CCD2A8E3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INDÚSTRIA · DEZ/24 → DEZ/25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A677E8-6DBC-4FE6-84D7-E7183CD5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86375" cy="2952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2428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comparáveis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2.477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comparável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R$ 455,9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que mudaram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que mudou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R$ 33,0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que mudou / comparável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· 2 FIDCs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R$ 8,9 bi · 27,0% do PL migrado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70D964-E2FE-4DD7-8762-F6037B4FB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COORTE CBSF/REAG · DEZ/25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4A01A5-EE03-455B-872D-FBEDF308E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334125" y="1714500"/>
          <a:ext xmlns:a="http://schemas.openxmlformats.org/drawingml/2006/main" cx="5286375" cy="2952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0"/>
                <a:gridCol w="26193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na origem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na origem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R$ 66,3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continuantes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continuante atual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R$ 28,6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migrados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migrado / continuante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R$ 10,0 bi · 35,0%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Master + Planner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 fundos · R$ 9,9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Saída / sem reporte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 fundos · R$ 37,6 bi na origem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7D5952-0D8C-416E-9282-E85B94A2C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D67F68-7029-4537-8994-9921F10F2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86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57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57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Indústria: CNPJs legais com PL positivo em dez/24 e dez/25; ex-FIC-FIDC e sem FIDC Sistema Petrobras/TAPSO; administrador informado em cada competência; PL comparável = menor PL entre as duas datas.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EAEBC2-0F06-44FC-ACCE-9287735D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67300"/>
            <a:ext cx="5286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57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57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CBSF/Reag: coorte administrada pelo CNPJ 34.829.992/0001-86 em dez/25; continuante exige PL positivo em jun/26. Gestor e custodiante são fotografias atuais e não comprovam transição histórica.</a:t>
            </a:r>
          </a:p>
        </p:txBody>
      </p:sp>
    </p:spTree>
    <p:extLst>
      <p:ext uri="{BB962C8B-B14F-4D97-AF65-F5344CB8AC3E}">
        <p14:creationId xmlns:p14="http://schemas.microsoft.com/office/powerpoint/2010/main" val="1036160743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BB60E0-6598-400A-A406-A7E949F1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AD495D-A828-4791-941B-E7DDD91F3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3EB65F-5149-4D3F-8525-9AAF09FF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5C24E5-363C-4E17-9E5A-030514CFC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846ED0-4A0E-41CA-80DB-61D80D227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5E0009-1BC0-43C8-8142-31C878121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f0b06833f0f450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EDFF50-D265-486B-9D80-E1906787B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96AD9C-17F5-466A-9419-2DCBEE1DE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268284653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94AE8A-05CA-4BC9-98BC-B335B4351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53D017-AF2B-43E9-BC7F-59B6CA57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A02C78-783F-4728-8F73-4F1F8AA7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D18389-3511-483B-B9EE-2E3EA8B0D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A3BE5A-6399-4123-A30F-49CC57671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6F28DA-DD37-4EA9-A9FE-1B12D7D27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714cadd75bb43b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FE5B08-08AA-4110-B6D7-B3946709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3011CD-47D5-4508-AF7C-F4F4F40B3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049372817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02CBD2-CE9A-4B36-895D-A505EB174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6AD7D2-E4E5-4DFC-8253-25B030E6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5F0285-96E7-4389-962C-E450F8D1B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0666C8-6A1A-4CA3-A060-E410458A0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A7335B-326A-4934-A95E-051DD899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C9E6DE-1DF0-497A-9449-38FF72692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eba11bd5e4f45c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F100ED-DCF9-4DC7-9B13-DC6C6ED16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1E5B07-0A96-4A13-86EA-4CA63693D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453614662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A7A7704-81DD-447F-8571-00B0A5B6C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8AA16E-46A0-42BD-BBB0-5CB79E4CB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5DB53D-2578-45DC-AED2-27358A72F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5E6ED7-0B3B-4CDE-BCA5-75DAFCB50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C3C50F-3C55-4162-8847-001FB41B1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B55B48-520C-4B44-8092-4D0B8BCB1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0636B8-BB3C-442B-821C-0C247457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6ECA2B-A864-46C1-B2F0-ABFE5D1A9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56CFE1-4C1F-4A02-A903-1A037CEBD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D3C29B-638E-4555-9FA9-06DCCF99A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1F7E50-1376-4ADA-AA2E-DAFE651C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F8E627-E609-4EEC-A365-76916DB4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1DB1C8-6CEC-4469-8DDB-74F549AAB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7D8F86-62A8-4127-9E27-6832C0900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2A1CF6-59FF-4C8A-9694-A2AB7A92B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9A4C8C-DD9C-4746-9A8B-E7672E29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5EA710-95D9-4881-A9EF-42D619454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277839-7E3F-42FA-BE8B-3F1F0D60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3DEA63-4489-46BC-ACE1-E33926A85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77F725-7A37-4B6D-A52E-70F298B33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6014E9-9923-4756-AFEA-2DD632D85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7E6280-8F3B-41E4-A99A-B4534BEBA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88B7BA-1F33-455A-B77D-B25F0F96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B3B224-45A3-44B0-9402-28B517AEA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E943D3-BC57-47E2-80D5-042EFB32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3A984D-415A-4B6D-832D-FC3D6244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FD2336-5A71-449A-838E-78D39A6FA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ED8809-36A2-430D-8B44-4946AC176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24AD42-9761-4AB7-99BF-E2A06F55E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B35133-FF83-4C9F-A47B-6086B93E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33AF459-954A-4D50-A859-9A6705734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1ABBF9-813F-4246-8489-E24CCB314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EA93155-9029-472D-AF7D-15F050050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F5C8773-92F7-45AF-B64B-2DBC083F9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09DD83-7F8D-4C37-9F1F-15EB4549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1599D0F-77BF-4DAC-91A9-841CDED6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AD7F184-D73E-4F5C-AD76-782B2447A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71DF81D-374C-49A9-95C5-CD68A3F9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7C97F9B-5699-4354-A990-39DDCA696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FE7C309-35C8-4794-83E2-E05A2B7A9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235C8B5-939A-48B7-A493-A471E2EBC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C57B5FB-6F74-44FA-BD20-0CC5766F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1807B66-C8C8-498D-A928-009FE869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F260941-3D93-4DDD-BF1E-7A0197BFB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A4658F2-DA31-4337-B3E5-6782DFE31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B85CBA6-3FBB-4776-BF23-87A1D8DC0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62EFEFA-1634-49A4-8DD7-B0F6BBF1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35C58A0-ACA6-4639-82F5-6913E0FB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F74B7D7-95E9-485E-849A-BF7CA8598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CB590FA-881A-427B-9616-A8C6A66B6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7E3D4C3-8FD5-41E4-ADD4-3627E8ACD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F5F068E-80E7-48DB-BA1A-844BFC9C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8CB2CD0-DBFB-401D-911B-BECBA09B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DE00D49-B12D-4E51-8687-8C0708FC0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administrador, sem evidência de recuperação em caixa. As DFs têm opinião modificada para 01/01–19/07/24 por inconsistências de lastro e posição; a série usa bases de reporte distintas.</a:t>
            </a:r>
          </a:p>
        </p:txBody>
      </p:sp>
    </p:spTree>
    <p:extLst>
      <p:ext uri="{BB962C8B-B14F-4D97-AF65-F5344CB8AC3E}">
        <p14:creationId xmlns:p14="http://schemas.microsoft.com/office/powerpoint/2010/main" val="28502739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2026-07-28T14:23:52.3340000Z</dcterms:created>
  <dcterms:modified xsi:type="dcterms:W3CDTF">2026-07-28T14:23:52.3340000Z</dcterms:modified>
</coreProperties>
</file>