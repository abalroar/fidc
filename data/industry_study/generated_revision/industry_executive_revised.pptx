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1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2.xml" ContentType="application/vnd.openxmlformats-officedocument.drawingml.chart+xml"/>
  <Override PartName="/ppt/slides/charts/chart3.xml" ContentType="application/vnd.openxmlformats-officedocument.drawingml.chart+xml"/>
  <Override PartName="/ppt/slides/charts/chart4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5.xml" ContentType="application/vnd.openxmlformats-officedocument.drawingml.chart+xml"/>
  <Override PartName="/ppt/slides/charts/chart6.xml" ContentType="application/vnd.openxmlformats-officedocument.drawingml.chart+xml"/>
  <Override PartName="/ppt/slides/charts/chart7.xml" ContentType="application/vnd.openxmlformats-officedocument.drawingml.chart+xml"/>
  <Override PartName="/ppt/slides/charts/chart8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9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10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11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12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13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14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slides/charts/chart15.xml" ContentType="application/vnd.openxmlformats-officedocument.drawingml.chart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slides/charts/chart16.xml" ContentType="application/vnd.openxmlformats-officedocument.drawingml.chart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slides/charts/chart17.xml" ContentType="application/vnd.openxmlformats-officedocument.drawingml.chart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slides/charts/chart18.xml" ContentType="application/vnd.openxmlformats-officedocument.drawingml.chart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slides/charts/chart19.xml" ContentType="application/vnd.openxmlformats-officedocument.drawingml.chart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slides/charts/chart20.xml" ContentType="application/vnd.openxmlformats-officedocument.drawingml.chart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slides/charts/chart21.xml" ContentType="application/vnd.openxmlformats-officedocument.drawingml.chart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2b81efd636e4770" /><Relationship Type="http://schemas.openxmlformats.org/officeDocument/2006/relationships/extended-properties" Target="/docProps/app.xml" Id="R9933cb43f1084db1" /><Relationship Type="http://schemas.openxmlformats.org/officeDocument/2006/relationships/officeDocument" Target="/ppt/presentation.xml" Id="R950e2166d706409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95c452ea901496e"/>
  </p:sldMasterIdLst>
  <p:notesMasterIdLst>
    <p:notesMasterId xmlns:r="http://schemas.openxmlformats.org/officeDocument/2006/relationships" r:id="R396752eeecd54f51"/>
  </p:notesMasterIdLst>
  <p:sldIdLst>
    <p:sldId xmlns:r="http://schemas.openxmlformats.org/officeDocument/2006/relationships" id="256" r:id="Rc603de3c96bb43c3"/>
    <p:sldId xmlns:r="http://schemas.openxmlformats.org/officeDocument/2006/relationships" id="257" r:id="Rf0127acfdc0b4c59"/>
    <p:sldId xmlns:r="http://schemas.openxmlformats.org/officeDocument/2006/relationships" id="258" r:id="R48260bc0746249b7"/>
    <p:sldId xmlns:r="http://schemas.openxmlformats.org/officeDocument/2006/relationships" id="259" r:id="R128959756c1b4e08"/>
    <p:sldId xmlns:r="http://schemas.openxmlformats.org/officeDocument/2006/relationships" id="260" r:id="R5ce23f336c1548f6"/>
    <p:sldId xmlns:r="http://schemas.openxmlformats.org/officeDocument/2006/relationships" id="261" r:id="R1ad3fcc5c9d24611"/>
    <p:sldId xmlns:r="http://schemas.openxmlformats.org/officeDocument/2006/relationships" id="262" r:id="R3de53396c59a4d34"/>
    <p:sldId xmlns:r="http://schemas.openxmlformats.org/officeDocument/2006/relationships" id="263" r:id="R1246e8fa9da84cc2"/>
    <p:sldId xmlns:r="http://schemas.openxmlformats.org/officeDocument/2006/relationships" id="264" r:id="R56d0a4d8eae84ece"/>
    <p:sldId xmlns:r="http://schemas.openxmlformats.org/officeDocument/2006/relationships" id="265" r:id="Rd4cae2a102774c26"/>
    <p:sldId xmlns:r="http://schemas.openxmlformats.org/officeDocument/2006/relationships" id="266" r:id="Rf33565f763d140c0"/>
    <p:sldId xmlns:r="http://schemas.openxmlformats.org/officeDocument/2006/relationships" id="267" r:id="R71aa4b457d4e40b6"/>
    <p:sldId xmlns:r="http://schemas.openxmlformats.org/officeDocument/2006/relationships" id="268" r:id="R32a739f1c688461b"/>
    <p:sldId xmlns:r="http://schemas.openxmlformats.org/officeDocument/2006/relationships" id="269" r:id="R6a8bbf5adbb64868"/>
    <p:sldId xmlns:r="http://schemas.openxmlformats.org/officeDocument/2006/relationships" id="270" r:id="Rfff3837b01fa4518"/>
    <p:sldId xmlns:r="http://schemas.openxmlformats.org/officeDocument/2006/relationships" id="271" r:id="R9bcdae34a0be436d"/>
    <p:sldId xmlns:r="http://schemas.openxmlformats.org/officeDocument/2006/relationships" id="272" r:id="R92ca3077919b4e3d"/>
    <p:sldId xmlns:r="http://schemas.openxmlformats.org/officeDocument/2006/relationships" id="273" r:id="R472ea18553244423"/>
    <p:sldId xmlns:r="http://schemas.openxmlformats.org/officeDocument/2006/relationships" id="274" r:id="R703cefffbb8f47ea"/>
    <p:sldId xmlns:r="http://schemas.openxmlformats.org/officeDocument/2006/relationships" id="275" r:id="R2b2e7659935d4f90"/>
    <p:sldId xmlns:r="http://schemas.openxmlformats.org/officeDocument/2006/relationships" id="276" r:id="Rad0e3ee9c45246ac"/>
    <p:sldId xmlns:r="http://schemas.openxmlformats.org/officeDocument/2006/relationships" id="277" r:id="R6af397b510654dbd"/>
    <p:sldId xmlns:r="http://schemas.openxmlformats.org/officeDocument/2006/relationships" id="278" r:id="R3d430772d7c442d2"/>
    <p:sldId xmlns:r="http://schemas.openxmlformats.org/officeDocument/2006/relationships" id="279" r:id="R3e8be2a6e2bb4b36"/>
    <p:sldId xmlns:r="http://schemas.openxmlformats.org/officeDocument/2006/relationships" id="280" r:id="Rd937cce87df24610"/>
    <p:sldId xmlns:r="http://schemas.openxmlformats.org/officeDocument/2006/relationships" id="281" r:id="Rb1f5b416a8524f2f"/>
    <p:sldId xmlns:r="http://schemas.openxmlformats.org/officeDocument/2006/relationships" id="282" r:id="R51c90add30dc4b06"/>
    <p:sldId xmlns:r="http://schemas.openxmlformats.org/officeDocument/2006/relationships" id="283" r:id="R9a9e66d70a2a47a9"/>
    <p:sldId xmlns:r="http://schemas.openxmlformats.org/officeDocument/2006/relationships" id="284" r:id="R95107cbe243d4cea"/>
    <p:sldId xmlns:r="http://schemas.openxmlformats.org/officeDocument/2006/relationships" id="285" r:id="R4b2040ce21554afc"/>
    <p:sldId xmlns:r="http://schemas.openxmlformats.org/officeDocument/2006/relationships" id="286" r:id="Re096fcd39b664406"/>
    <p:sldId xmlns:r="http://schemas.openxmlformats.org/officeDocument/2006/relationships" id="287" r:id="R5d9bdba2c1604cc8"/>
    <p:sldId xmlns:r="http://schemas.openxmlformats.org/officeDocument/2006/relationships" id="288" r:id="R65f4c60179564e89"/>
    <p:sldId xmlns:r="http://schemas.openxmlformats.org/officeDocument/2006/relationships" id="289" r:id="Rac97a732365043c5"/>
    <p:sldId xmlns:r="http://schemas.openxmlformats.org/officeDocument/2006/relationships" id="290" r:id="R15190600bb354c98"/>
    <p:sldId xmlns:r="http://schemas.openxmlformats.org/officeDocument/2006/relationships" id="291" r:id="R636255b092d24dfa"/>
    <p:sldId xmlns:r="http://schemas.openxmlformats.org/officeDocument/2006/relationships" id="292" r:id="Rd43d06e14a454981"/>
    <p:sldId xmlns:r="http://schemas.openxmlformats.org/officeDocument/2006/relationships" id="293" r:id="Rd3c6591b2a8c4774"/>
    <p:sldId xmlns:r="http://schemas.openxmlformats.org/officeDocument/2006/relationships" id="294" r:id="R532065c10c994e2d"/>
    <p:sldId xmlns:r="http://schemas.openxmlformats.org/officeDocument/2006/relationships" id="295" r:id="R85eb83712ade4a51"/>
    <p:sldId xmlns:r="http://schemas.openxmlformats.org/officeDocument/2006/relationships" id="296" r:id="R8b9f1070b7d940ea"/>
    <p:sldId xmlns:r="http://schemas.openxmlformats.org/officeDocument/2006/relationships" id="297" r:id="Rd30ad8525288495a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229e8e6e6c7429a" /><Relationship Type="http://schemas.openxmlformats.org/officeDocument/2006/relationships/slideMaster" Target="/ppt/slideMasters/slideMaster1.xml" Id="Ra95c452ea901496e" /><Relationship Type="http://schemas.openxmlformats.org/officeDocument/2006/relationships/notesMaster" Target="/ppt/notesMasters/notesMaster1.xml" Id="R396752eeecd54f51" /><Relationship Type="http://schemas.openxmlformats.org/officeDocument/2006/relationships/presProps" Target="/ppt/presProps.xml" Id="Rdac4fa0994de4469" /><Relationship Type="http://schemas.openxmlformats.org/officeDocument/2006/relationships/tableStyles" Target="/ppt/tableStyles.xml" Id="R65abb46efd2e45f3" /><Relationship Type="http://schemas.openxmlformats.org/officeDocument/2006/relationships/slide" Target="/ppt/slides/slide1.xml" Id="Rc603de3c96bb43c3" /><Relationship Type="http://schemas.openxmlformats.org/officeDocument/2006/relationships/slide" Target="/ppt/slides/slide2.xml" Id="Rf0127acfdc0b4c59" /><Relationship Type="http://schemas.openxmlformats.org/officeDocument/2006/relationships/slide" Target="/ppt/slides/slide3.xml" Id="R48260bc0746249b7" /><Relationship Type="http://schemas.openxmlformats.org/officeDocument/2006/relationships/slide" Target="/ppt/slides/slide4.xml" Id="R128959756c1b4e08" /><Relationship Type="http://schemas.openxmlformats.org/officeDocument/2006/relationships/slide" Target="/ppt/slides/slide5.xml" Id="R5ce23f336c1548f6" /><Relationship Type="http://schemas.openxmlformats.org/officeDocument/2006/relationships/slide" Target="/ppt/slides/slide6.xml" Id="R1ad3fcc5c9d24611" /><Relationship Type="http://schemas.openxmlformats.org/officeDocument/2006/relationships/slide" Target="/ppt/slides/slide7.xml" Id="R3de53396c59a4d34" /><Relationship Type="http://schemas.openxmlformats.org/officeDocument/2006/relationships/slide" Target="/ppt/slides/slide8.xml" Id="R1246e8fa9da84cc2" /><Relationship Type="http://schemas.openxmlformats.org/officeDocument/2006/relationships/slide" Target="/ppt/slides/slide9.xml" Id="R56d0a4d8eae84ece" /><Relationship Type="http://schemas.openxmlformats.org/officeDocument/2006/relationships/slide" Target="/ppt/slides/slide10.xml" Id="Rd4cae2a102774c26" /><Relationship Type="http://schemas.openxmlformats.org/officeDocument/2006/relationships/slide" Target="/ppt/slides/slide11.xml" Id="Rf33565f763d140c0" /><Relationship Type="http://schemas.openxmlformats.org/officeDocument/2006/relationships/slide" Target="/ppt/slides/slide12.xml" Id="R71aa4b457d4e40b6" /><Relationship Type="http://schemas.openxmlformats.org/officeDocument/2006/relationships/slide" Target="/ppt/slides/slide13.xml" Id="R32a739f1c688461b" /><Relationship Type="http://schemas.openxmlformats.org/officeDocument/2006/relationships/slide" Target="/ppt/slides/slide14.xml" Id="R6a8bbf5adbb64868" /><Relationship Type="http://schemas.openxmlformats.org/officeDocument/2006/relationships/slide" Target="/ppt/slides/slide15.xml" Id="Rfff3837b01fa4518" /><Relationship Type="http://schemas.openxmlformats.org/officeDocument/2006/relationships/slide" Target="/ppt/slides/slide16.xml" Id="R9bcdae34a0be436d" /><Relationship Type="http://schemas.openxmlformats.org/officeDocument/2006/relationships/slide" Target="/ppt/slides/slide17.xml" Id="R92ca3077919b4e3d" /><Relationship Type="http://schemas.openxmlformats.org/officeDocument/2006/relationships/slide" Target="/ppt/slides/slide18.xml" Id="R472ea18553244423" /><Relationship Type="http://schemas.openxmlformats.org/officeDocument/2006/relationships/slide" Target="/ppt/slides/slide19.xml" Id="R703cefffbb8f47ea" /><Relationship Type="http://schemas.openxmlformats.org/officeDocument/2006/relationships/slide" Target="/ppt/slides/slide20.xml" Id="R2b2e7659935d4f90" /><Relationship Type="http://schemas.openxmlformats.org/officeDocument/2006/relationships/slide" Target="/ppt/slides/slide21.xml" Id="Rad0e3ee9c45246ac" /><Relationship Type="http://schemas.openxmlformats.org/officeDocument/2006/relationships/slide" Target="/ppt/slides/slide22.xml" Id="R6af397b510654dbd" /><Relationship Type="http://schemas.openxmlformats.org/officeDocument/2006/relationships/slide" Target="/ppt/slides/slide23.xml" Id="R3d430772d7c442d2" /><Relationship Type="http://schemas.openxmlformats.org/officeDocument/2006/relationships/slide" Target="/ppt/slides/slide24.xml" Id="R3e8be2a6e2bb4b36" /><Relationship Type="http://schemas.openxmlformats.org/officeDocument/2006/relationships/slide" Target="/ppt/slides/slide25.xml" Id="Rd937cce87df24610" /><Relationship Type="http://schemas.openxmlformats.org/officeDocument/2006/relationships/slide" Target="/ppt/slides/slide26.xml" Id="Rb1f5b416a8524f2f" /><Relationship Type="http://schemas.openxmlformats.org/officeDocument/2006/relationships/slide" Target="/ppt/slides/slide27.xml" Id="R51c90add30dc4b06" /><Relationship Type="http://schemas.openxmlformats.org/officeDocument/2006/relationships/slide" Target="/ppt/slides/slide28.xml" Id="R9a9e66d70a2a47a9" /><Relationship Type="http://schemas.openxmlformats.org/officeDocument/2006/relationships/slide" Target="/ppt/slides/slide29.xml" Id="R95107cbe243d4cea" /><Relationship Type="http://schemas.openxmlformats.org/officeDocument/2006/relationships/slide" Target="/ppt/slides/slide30.xml" Id="R4b2040ce21554afc" /><Relationship Type="http://schemas.openxmlformats.org/officeDocument/2006/relationships/slide" Target="/ppt/slides/slide31.xml" Id="Re096fcd39b664406" /><Relationship Type="http://schemas.openxmlformats.org/officeDocument/2006/relationships/slide" Target="/ppt/slides/slide32.xml" Id="R5d9bdba2c1604cc8" /><Relationship Type="http://schemas.openxmlformats.org/officeDocument/2006/relationships/slide" Target="/ppt/slides/slide33.xml" Id="R65f4c60179564e89" /><Relationship Type="http://schemas.openxmlformats.org/officeDocument/2006/relationships/slide" Target="/ppt/slides/slide34.xml" Id="Rac97a732365043c5" /><Relationship Type="http://schemas.openxmlformats.org/officeDocument/2006/relationships/slide" Target="/ppt/slides/slide35.xml" Id="R15190600bb354c98" /><Relationship Type="http://schemas.openxmlformats.org/officeDocument/2006/relationships/slide" Target="/ppt/slides/slide36.xml" Id="R636255b092d24dfa" /><Relationship Type="http://schemas.openxmlformats.org/officeDocument/2006/relationships/slide" Target="/ppt/slides/slide37.xml" Id="Rd43d06e14a454981" /><Relationship Type="http://schemas.openxmlformats.org/officeDocument/2006/relationships/slide" Target="/ppt/slides/slide38.xml" Id="Rd3c6591b2a8c4774" /><Relationship Type="http://schemas.openxmlformats.org/officeDocument/2006/relationships/slide" Target="/ppt/slides/slide39.xml" Id="R532065c10c994e2d" /><Relationship Type="http://schemas.openxmlformats.org/officeDocument/2006/relationships/slide" Target="/ppt/slides/slide40.xml" Id="R85eb83712ade4a51" /><Relationship Type="http://schemas.openxmlformats.org/officeDocument/2006/relationships/slide" Target="/ppt/slides/slide41.xml" Id="R8b9f1070b7d940ea" /><Relationship Type="http://schemas.openxmlformats.org/officeDocument/2006/relationships/slide" Target="/ppt/slides/slide42.xml" Id="Rd30ad8525288495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58663af07524d1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48413a51dbf49e3" /><Relationship Type="http://schemas.openxmlformats.org/officeDocument/2006/relationships/notesMaster" Target="/ppt/notesMasters/notesMaster1.xml" Id="Rbc0ca4a0c999471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d15b490b7b14f7f" /><Relationship Type="http://schemas.openxmlformats.org/officeDocument/2006/relationships/notesMaster" Target="/ppt/notesMasters/notesMaster1.xml" Id="R125e008e8bd1496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15bd7cd1a714eb5" /><Relationship Type="http://schemas.openxmlformats.org/officeDocument/2006/relationships/notesMaster" Target="/ppt/notesMasters/notesMaster1.xml" Id="Rf16984f9df01452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cded592747d4d7a" /><Relationship Type="http://schemas.openxmlformats.org/officeDocument/2006/relationships/notesMaster" Target="/ppt/notesMasters/notesMaster1.xml" Id="R1866cde57d50461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1a589b279fc4c8d" /><Relationship Type="http://schemas.openxmlformats.org/officeDocument/2006/relationships/notesMaster" Target="/ppt/notesMasters/notesMaster1.xml" Id="R1c9f3696cf2d451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b34d1994b424d0b" /><Relationship Type="http://schemas.openxmlformats.org/officeDocument/2006/relationships/notesMaster" Target="/ppt/notesMasters/notesMaster1.xml" Id="R4e58dabd3f5f4e2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2fc4052eb744d78" /><Relationship Type="http://schemas.openxmlformats.org/officeDocument/2006/relationships/notesMaster" Target="/ppt/notesMasters/notesMaster1.xml" Id="R65e4e78807ae4f9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dc879e2a5844365" /><Relationship Type="http://schemas.openxmlformats.org/officeDocument/2006/relationships/notesMaster" Target="/ppt/notesMasters/notesMaster1.xml" Id="R941d833d1f02416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0ffa169c01743ac" /><Relationship Type="http://schemas.openxmlformats.org/officeDocument/2006/relationships/notesMaster" Target="/ppt/notesMasters/notesMaster1.xml" Id="R457efd2c7c5445a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9e327ccccb5403d" /><Relationship Type="http://schemas.openxmlformats.org/officeDocument/2006/relationships/notesMaster" Target="/ppt/notesMasters/notesMaster1.xml" Id="Rdd374033667e4f3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a1ab372c1644909" /><Relationship Type="http://schemas.openxmlformats.org/officeDocument/2006/relationships/notesMaster" Target="/ppt/notesMasters/notesMaster1.xml" Id="Rfecf64590a7d4f5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28e43d12b7d4573" /><Relationship Type="http://schemas.openxmlformats.org/officeDocument/2006/relationships/notesMaster" Target="/ppt/notesMasters/notesMaster1.xml" Id="R7e4bace50f884a3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4566a4e9fc14b21" /><Relationship Type="http://schemas.openxmlformats.org/officeDocument/2006/relationships/notesMaster" Target="/ppt/notesMasters/notesMaster1.xml" Id="Re5ad4d93ef11482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4d5312cb8114741" /><Relationship Type="http://schemas.openxmlformats.org/officeDocument/2006/relationships/notesMaster" Target="/ppt/notesMasters/notesMaster1.xml" Id="Re638a91511884d4f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54061cbff14741fa" /><Relationship Type="http://schemas.openxmlformats.org/officeDocument/2006/relationships/notesMaster" Target="/ppt/notesMasters/notesMaster1.xml" Id="Rb437868f67644531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106786cd10b84c58" /><Relationship Type="http://schemas.openxmlformats.org/officeDocument/2006/relationships/notesMaster" Target="/ppt/notesMasters/notesMaster1.xml" Id="Rc4a1d6e69d584d2d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64f907c6d0374ec8" /><Relationship Type="http://schemas.openxmlformats.org/officeDocument/2006/relationships/notesMaster" Target="/ppt/notesMasters/notesMaster1.xml" Id="Rc0bd74ffc43149ab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02ce3015fa41494c" /><Relationship Type="http://schemas.openxmlformats.org/officeDocument/2006/relationships/notesMaster" Target="/ppt/notesMasters/notesMaster1.xml" Id="R53dacd8dfd984f15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a088dcd868fa4b30" /><Relationship Type="http://schemas.openxmlformats.org/officeDocument/2006/relationships/notesMaster" Target="/ppt/notesMasters/notesMaster1.xml" Id="R251b42cb9dcb4a51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78bb71c9e1f6422c" /><Relationship Type="http://schemas.openxmlformats.org/officeDocument/2006/relationships/notesMaster" Target="/ppt/notesMasters/notesMaster1.xml" Id="R1695bb757dd14eb9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833a005ca29f429a" /><Relationship Type="http://schemas.openxmlformats.org/officeDocument/2006/relationships/notesMaster" Target="/ppt/notesMasters/notesMaster1.xml" Id="Re61464ac7a554ad0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a2b939908734428f" /><Relationship Type="http://schemas.openxmlformats.org/officeDocument/2006/relationships/notesMaster" Target="/ppt/notesMasters/notesMaster1.xml" Id="Ref4aa6b497244e56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48936fa9c8d4475e" /><Relationship Type="http://schemas.openxmlformats.org/officeDocument/2006/relationships/notesMaster" Target="/ppt/notesMasters/notesMaster1.xml" Id="R3afcfadf4dae4617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0d985c3b6f9b4e53" /><Relationship Type="http://schemas.openxmlformats.org/officeDocument/2006/relationships/notesMaster" Target="/ppt/notesMasters/notesMaster1.xml" Id="R7f6f56a8468e4e61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d6048366dcdb48b6" /><Relationship Type="http://schemas.openxmlformats.org/officeDocument/2006/relationships/notesMaster" Target="/ppt/notesMasters/notesMaster1.xml" Id="Rb904feaa78fa4719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484272ce77cf4188" /><Relationship Type="http://schemas.openxmlformats.org/officeDocument/2006/relationships/notesMaster" Target="/ppt/notesMasters/notesMaster1.xml" Id="R8adf827f83844d97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205b671635d54fa4" /><Relationship Type="http://schemas.openxmlformats.org/officeDocument/2006/relationships/notesMaster" Target="/ppt/notesMasters/notesMaster1.xml" Id="R715623e04fe24d58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9d5bd753459d4e62" /><Relationship Type="http://schemas.openxmlformats.org/officeDocument/2006/relationships/notesMaster" Target="/ppt/notesMasters/notesMaster1.xml" Id="Ra45001e74d1749ae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092fb2a913d74e02" /><Relationship Type="http://schemas.openxmlformats.org/officeDocument/2006/relationships/notesMaster" Target="/ppt/notesMasters/notesMaster1.xml" Id="Rebb13571b53743b9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a851205f86374a31" /><Relationship Type="http://schemas.openxmlformats.org/officeDocument/2006/relationships/notesMaster" Target="/ppt/notesMasters/notesMaster1.xml" Id="R17580fb229274737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9b77962ae18d437e" /><Relationship Type="http://schemas.openxmlformats.org/officeDocument/2006/relationships/notesMaster" Target="/ppt/notesMasters/notesMaster1.xml" Id="Rcb6b1caebf7d407a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6e4b132bc7cc40bc" /><Relationship Type="http://schemas.openxmlformats.org/officeDocument/2006/relationships/notesMaster" Target="/ppt/notesMasters/notesMaster1.xml" Id="Rabb278de746c4fd7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629111dc21df4a68" /><Relationship Type="http://schemas.openxmlformats.org/officeDocument/2006/relationships/notesMaster" Target="/ppt/notesMasters/notesMaster1.xml" Id="R1138a367de4943c1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52c1310949d84898" /><Relationship Type="http://schemas.openxmlformats.org/officeDocument/2006/relationships/notesMaster" Target="/ppt/notesMasters/notesMaster1.xml" Id="Rb7494989318b44c6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4bd08b6c9d184222" /><Relationship Type="http://schemas.openxmlformats.org/officeDocument/2006/relationships/notesMaster" Target="/ppt/notesMasters/notesMaster1.xml" Id="R21f282831de44b89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77ca71692f5549d8" /><Relationship Type="http://schemas.openxmlformats.org/officeDocument/2006/relationships/notesMaster" Target="/ppt/notesMasters/notesMaster1.xml" Id="Rf3ed429fa69a457d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98703296bed744ce" /><Relationship Type="http://schemas.openxmlformats.org/officeDocument/2006/relationships/notesMaster" Target="/ppt/notesMasters/notesMaster1.xml" Id="R63f0ec5b0022464f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fe31ae623d2f44c1" /><Relationship Type="http://schemas.openxmlformats.org/officeDocument/2006/relationships/notesMaster" Target="/ppt/notesMasters/notesMaster1.xml" Id="R61dae477d7234fe3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44af769e4ca748b3" /><Relationship Type="http://schemas.openxmlformats.org/officeDocument/2006/relationships/notesMaster" Target="/ppt/notesMasters/notesMaster1.xml" Id="R7cc76a0ef47047e7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68e3c2b57b404525" /><Relationship Type="http://schemas.openxmlformats.org/officeDocument/2006/relationships/notesMaster" Target="/ppt/notesMasters/notesMaster1.xml" Id="R298fbebf35bc4901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5d13d60661db4532" /><Relationship Type="http://schemas.openxmlformats.org/officeDocument/2006/relationships/notesMaster" Target="/ppt/notesMasters/notesMaster1.xml" Id="R59cfd27d2a7e4a00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c4a1404d6ac54b43" /><Relationship Type="http://schemas.openxmlformats.org/officeDocument/2006/relationships/notesMaster" Target="/ppt/notesMasters/notesMaster1.xml" Id="R7285cc2f17d2425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0e1afe6c589431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d61bb02868a4673" /><Relationship Type="http://schemas.openxmlformats.org/officeDocument/2006/relationships/slideLayout" Target="/ppt/slideLayouts/slideLayout1.xml" Id="R49c1ed22fe1d446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9c1ed22fe1d446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322712361c417c" /><Relationship Type="http://schemas.openxmlformats.org/officeDocument/2006/relationships/notesSlide" Target="/ppt/notesSlides/notesSlide1.xml" Id="R723a3723be2d43f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3bcf2a87734800" /><Relationship Type="http://schemas.openxmlformats.org/officeDocument/2006/relationships/notesSlide" Target="/ppt/notesSlides/notesSlide2.xml" Id="R80a45142d36f446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bfeda9df294147" /><Relationship Type="http://schemas.openxmlformats.org/officeDocument/2006/relationships/chart" Target="/ppt/slides/charts/chart1.xml" Id="R6236ac45aecb4a0b" /><Relationship Type="http://schemas.openxmlformats.org/officeDocument/2006/relationships/notesSlide" Target="/ppt/notesSlides/notesSlide3.xml" Id="R864335f23fe747f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7de3734a14482b" /><Relationship Type="http://schemas.openxmlformats.org/officeDocument/2006/relationships/chart" Target="/ppt/slides/charts/chart2.xml" Id="Rcdf162a9ec8c4b80" /><Relationship Type="http://schemas.openxmlformats.org/officeDocument/2006/relationships/chart" Target="/ppt/slides/charts/chart3.xml" Id="Ra5538fff936147c9" /><Relationship Type="http://schemas.openxmlformats.org/officeDocument/2006/relationships/chart" Target="/ppt/slides/charts/chart4.xml" Id="R240032f9724b42c8" /><Relationship Type="http://schemas.openxmlformats.org/officeDocument/2006/relationships/notesSlide" Target="/ppt/notesSlides/notesSlide4.xml" Id="Rb76975e8d52e48b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a90a403ac54d1c" /><Relationship Type="http://schemas.openxmlformats.org/officeDocument/2006/relationships/chart" Target="/ppt/slides/charts/chart5.xml" Id="Raa6ecbf9229f4f75" /><Relationship Type="http://schemas.openxmlformats.org/officeDocument/2006/relationships/chart" Target="/ppt/slides/charts/chart6.xml" Id="R7dd90d1d7c5745c6" /><Relationship Type="http://schemas.openxmlformats.org/officeDocument/2006/relationships/chart" Target="/ppt/slides/charts/chart7.xml" Id="R97fd1eab3e7a43db" /><Relationship Type="http://schemas.openxmlformats.org/officeDocument/2006/relationships/chart" Target="/ppt/slides/charts/chart8.xml" Id="R0b25f089f1944dfa" /><Relationship Type="http://schemas.openxmlformats.org/officeDocument/2006/relationships/notesSlide" Target="/ppt/notesSlides/notesSlide5.xml" Id="R3faa003f3ded437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d368ff70644792" /><Relationship Type="http://schemas.openxmlformats.org/officeDocument/2006/relationships/chart" Target="/ppt/slides/charts/chart9.xml" Id="Rd17ace6674354578" /><Relationship Type="http://schemas.openxmlformats.org/officeDocument/2006/relationships/notesSlide" Target="/ppt/notesSlides/notesSlide6.xml" Id="Rd9b5c4bca727424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fd7cad52f34aef" /><Relationship Type="http://schemas.openxmlformats.org/officeDocument/2006/relationships/chart" Target="/ppt/slides/charts/chart10.xml" Id="R12d078dad04a4a6b" /><Relationship Type="http://schemas.openxmlformats.org/officeDocument/2006/relationships/notesSlide" Target="/ppt/notesSlides/notesSlide7.xml" Id="R81f23b306ec4406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e8a841a0374796" /><Relationship Type="http://schemas.openxmlformats.org/officeDocument/2006/relationships/chart" Target="/ppt/slides/charts/chart11.xml" Id="R34b1729838af4c7e" /><Relationship Type="http://schemas.openxmlformats.org/officeDocument/2006/relationships/notesSlide" Target="/ppt/notesSlides/notesSlide8.xml" Id="R2764ac05cfc7419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54fa419bda40ae" /><Relationship Type="http://schemas.openxmlformats.org/officeDocument/2006/relationships/chart" Target="/ppt/slides/charts/chart12.xml" Id="R7cebf91007b34282" /><Relationship Type="http://schemas.openxmlformats.org/officeDocument/2006/relationships/notesSlide" Target="/ppt/notesSlides/notesSlide9.xml" Id="Ra8db8ae64f7f4bb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97f155c5cc43f1" /><Relationship Type="http://schemas.openxmlformats.org/officeDocument/2006/relationships/chart" Target="/ppt/slides/charts/chart13.xml" Id="Rc1b8bd5d0d1049c9" /><Relationship Type="http://schemas.openxmlformats.org/officeDocument/2006/relationships/notesSlide" Target="/ppt/notesSlides/notesSlide10.xml" Id="R3d67d0a9689742c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9c977a427a453d" /><Relationship Type="http://schemas.openxmlformats.org/officeDocument/2006/relationships/chart" Target="/ppt/slides/charts/chart14.xml" Id="R0addc6b27a814155" /><Relationship Type="http://schemas.openxmlformats.org/officeDocument/2006/relationships/notesSlide" Target="/ppt/notesSlides/notesSlide11.xml" Id="R84b58fdd8c124d1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4c4f484f3249eb" /><Relationship Type="http://schemas.openxmlformats.org/officeDocument/2006/relationships/chart" Target="/ppt/slides/charts/chart15.xml" Id="R756d865c2ce44d9c" /><Relationship Type="http://schemas.openxmlformats.org/officeDocument/2006/relationships/notesSlide" Target="/ppt/notesSlides/notesSlide12.xml" Id="Rbd165cd3b76a4bd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7e869094ff44bb" /><Relationship Type="http://schemas.openxmlformats.org/officeDocument/2006/relationships/chart" Target="/ppt/slides/charts/chart16.xml" Id="R8fcbf35e10a04417" /><Relationship Type="http://schemas.openxmlformats.org/officeDocument/2006/relationships/notesSlide" Target="/ppt/notesSlides/notesSlide13.xml" Id="Rfdd864ac7ea2426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578cdc4e834c14" /><Relationship Type="http://schemas.openxmlformats.org/officeDocument/2006/relationships/notesSlide" Target="/ppt/notesSlides/notesSlide14.xml" Id="Rfcc2e7843bc14890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f9ba588d114301" /><Relationship Type="http://schemas.openxmlformats.org/officeDocument/2006/relationships/notesSlide" Target="/ppt/notesSlides/notesSlide15.xml" Id="R1c89d117f6bc4302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3b13c15e16474a" /><Relationship Type="http://schemas.openxmlformats.org/officeDocument/2006/relationships/chart" Target="/ppt/slides/charts/chart17.xml" Id="Rf52d8e8462e041a8" /><Relationship Type="http://schemas.openxmlformats.org/officeDocument/2006/relationships/notesSlide" Target="/ppt/notesSlides/notesSlide16.xml" Id="R418ec1fd26ca4ab6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11f6740cbc44fe" /><Relationship Type="http://schemas.openxmlformats.org/officeDocument/2006/relationships/notesSlide" Target="/ppt/notesSlides/notesSlide17.xml" Id="R6244ab2cfe604f12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2b2e029c064e58" /><Relationship Type="http://schemas.openxmlformats.org/officeDocument/2006/relationships/chart" Target="/ppt/slides/charts/chart18.xml" Id="R1e1bfc45515d483f" /><Relationship Type="http://schemas.openxmlformats.org/officeDocument/2006/relationships/notesSlide" Target="/ppt/notesSlides/notesSlide18.xml" Id="Re9b95e097f774a6f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030bb747b2419b" /><Relationship Type="http://schemas.openxmlformats.org/officeDocument/2006/relationships/notesSlide" Target="/ppt/notesSlides/notesSlide19.xml" Id="Rea71d7353100475d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3beb8b33e843d5" /><Relationship Type="http://schemas.openxmlformats.org/officeDocument/2006/relationships/chart" Target="/ppt/slides/charts/chart19.xml" Id="R33a6817ca73a4bc3" /><Relationship Type="http://schemas.openxmlformats.org/officeDocument/2006/relationships/notesSlide" Target="/ppt/notesSlides/notesSlide20.xml" Id="R78699c0d8f8c4d2e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90eca4a63244ba" /><Relationship Type="http://schemas.openxmlformats.org/officeDocument/2006/relationships/chart" Target="/ppt/slides/charts/chart20.xml" Id="R43e36e003400437d" /><Relationship Type="http://schemas.openxmlformats.org/officeDocument/2006/relationships/notesSlide" Target="/ppt/notesSlides/notesSlide21.xml" Id="R0cff58403999450b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536674d9174f82" /><Relationship Type="http://schemas.openxmlformats.org/officeDocument/2006/relationships/chart" Target="/ppt/slides/charts/chart21.xml" Id="R216d2257da5849ea" /><Relationship Type="http://schemas.openxmlformats.org/officeDocument/2006/relationships/notesSlide" Target="/ppt/notesSlides/notesSlide22.xml" Id="R89a8f09c5aab4a0a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4148c8ff964d91" /><Relationship Type="http://schemas.openxmlformats.org/officeDocument/2006/relationships/notesSlide" Target="/ppt/notesSlides/notesSlide23.xml" Id="R82d9479375ff439b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3e6fcb75284609" /><Relationship Type="http://schemas.openxmlformats.org/officeDocument/2006/relationships/notesSlide" Target="/ppt/notesSlides/notesSlide24.xml" Id="R7ae7c95a2a734da2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0698ca82154db5" /><Relationship Type="http://schemas.openxmlformats.org/officeDocument/2006/relationships/notesSlide" Target="/ppt/notesSlides/notesSlide25.xml" Id="R56702526e04f4875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c9265f5504420b" /><Relationship Type="http://schemas.openxmlformats.org/officeDocument/2006/relationships/notesSlide" Target="/ppt/notesSlides/notesSlide26.xml" Id="R4c132840fa384025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a1a953663442fc" /><Relationship Type="http://schemas.openxmlformats.org/officeDocument/2006/relationships/notesSlide" Target="/ppt/notesSlides/notesSlide27.xml" Id="Rc6408a8418834567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ddcd7fe6854ca0" /><Relationship Type="http://schemas.openxmlformats.org/officeDocument/2006/relationships/notesSlide" Target="/ppt/notesSlides/notesSlide28.xml" Id="R39344b56a0d1498d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eb804c3d3e46fa" /><Relationship Type="http://schemas.openxmlformats.org/officeDocument/2006/relationships/notesSlide" Target="/ppt/notesSlides/notesSlide29.xml" Id="R886d0f9437ca4f63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aee37b2cc34810" /><Relationship Type="http://schemas.openxmlformats.org/officeDocument/2006/relationships/notesSlide" Target="/ppt/notesSlides/notesSlide30.xml" Id="R078c74d8162d48dc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c953102afd49de" /><Relationship Type="http://schemas.openxmlformats.org/officeDocument/2006/relationships/notesSlide" Target="/ppt/notesSlides/notesSlide31.xml" Id="R5c9439bf2c4a416b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83b324b67b4e93" /><Relationship Type="http://schemas.openxmlformats.org/officeDocument/2006/relationships/notesSlide" Target="/ppt/notesSlides/notesSlide32.xml" Id="R14b8bc6777224fee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b7f85426eb4294" /><Relationship Type="http://schemas.openxmlformats.org/officeDocument/2006/relationships/notesSlide" Target="/ppt/notesSlides/notesSlide33.xml" Id="R51c7e1de23bd4218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0984aa37e04089" /><Relationship Type="http://schemas.openxmlformats.org/officeDocument/2006/relationships/notesSlide" Target="/ppt/notesSlides/notesSlide34.xml" Id="R8150f7e735764d88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beef2bd1d54523" /><Relationship Type="http://schemas.openxmlformats.org/officeDocument/2006/relationships/notesSlide" Target="/ppt/notesSlides/notesSlide35.xml" Id="Rc95ab17b81c14724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838245e64e4378" /><Relationship Type="http://schemas.openxmlformats.org/officeDocument/2006/relationships/notesSlide" Target="/ppt/notesSlides/notesSlide36.xml" Id="R2d41c134500845ad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ffe8c2ab594179" /><Relationship Type="http://schemas.openxmlformats.org/officeDocument/2006/relationships/notesSlide" Target="/ppt/notesSlides/notesSlide37.xml" Id="R6b9e293d2c24410f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da257c925f4668" /><Relationship Type="http://schemas.openxmlformats.org/officeDocument/2006/relationships/notesSlide" Target="/ppt/notesSlides/notesSlide38.xml" Id="Rd9d3392607594d6e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b3c7f04ef449a8" /><Relationship Type="http://schemas.openxmlformats.org/officeDocument/2006/relationships/notesSlide" Target="/ppt/notesSlides/notesSlide39.xml" Id="R90ff4e0a777340b8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12a227bde24218" /><Relationship Type="http://schemas.openxmlformats.org/officeDocument/2006/relationships/notesSlide" Target="/ppt/notesSlides/notesSlide40.xml" Id="Rb1c3a3b541b84c76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4810c741744584" /><Relationship Type="http://schemas.openxmlformats.org/officeDocument/2006/relationships/notesSlide" Target="/ppt/notesSlides/notesSlide41.xml" Id="R7dc9a1f405b54b7d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20b42f178640d1" /><Relationship Type="http://schemas.openxmlformats.org/officeDocument/2006/relationships/notesSlide" Target="/ppt/notesSlides/notesSlide42.xml" Id="R3d160f1cab5b4024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grouping val="stacked"/>
        <c:varyColors val="0"/>
        <c:ser>
          <c:idx val="0"/>
          <c:order val="0"/>
          <c:tx>
            <c:v>PL ex-FIC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Mai/26</c:v>
              </c:pt>
            </c:strLit>
          </c:cat>
          <c:val>
            <c:numLit>
              <c:formatCode>R$ 0 "bi"</c:formatCode>
              <c:ptCount val="12"/>
              <c:pt idx="0">
                <c:v>82.47394622656002</c:v>
              </c:pt>
              <c:pt idx="1">
                <c:v>91.06663976073001</c:v>
              </c:pt>
              <c:pt idx="2">
                <c:v>110.23395407848999</c:v>
              </c:pt>
              <c:pt idx="3">
                <c:v>131.21875156630003</c:v>
              </c:pt>
              <c:pt idx="4">
                <c:v>229.98374932763</c:v>
              </c:pt>
              <c:pt idx="5">
                <c:v>209.08922654930998</c:v>
              </c:pt>
              <c:pt idx="6">
                <c:v>298.49643822765995</c:v>
              </c:pt>
              <c:pt idx="7">
                <c:v>365.94088087975</c:v>
              </c:pt>
              <c:pt idx="8">
                <c:v>461.75630329412</c:v>
              </c:pt>
              <c:pt idx="9">
                <c:v>682.8970336474498</c:v>
              </c:pt>
              <c:pt idx="10">
                <c:v>833.21732156482</c:v>
              </c:pt>
              <c:pt idx="11">
                <c:v>880.0902938555801</c:v>
              </c:pt>
            </c:numLit>
          </c:val>
        </c:ser>
        <c:ser>
          <c:idx val="1"/>
          <c:order val="1"/>
          <c:tx>
            <c:v>FIC-FIDC</c:v>
          </c:tx>
          <c:spPr>
            <a:solidFill xmlns:a="http://schemas.openxmlformats.org/drawingml/2006/main">
              <a:srgbClr val="D7DADD"/>
            </a:solidFill>
          </c:spPr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85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94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115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142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237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218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309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379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485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732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919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959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Mai/26</c:v>
              </c:pt>
            </c:strLit>
          </c:cat>
          <c:val>
            <c:numLit>
              <c:formatCode>R$ 0 "bi"</c:formatCode>
              <c:ptCount val="12"/>
              <c:pt idx="0">
                <c:v>2.21705534786</c:v>
              </c:pt>
              <c:pt idx="1">
                <c:v>2.73660182632</c:v>
              </c:pt>
              <c:pt idx="2">
                <c:v>5.014084339129999</c:v>
              </c:pt>
              <c:pt idx="3">
                <c:v>10.35147572571</c:v>
              </c:pt>
              <c:pt idx="4">
                <c:v>7.459670380239999</c:v>
              </c:pt>
              <c:pt idx="5">
                <c:v>8.676012592049998</c:v>
              </c:pt>
              <c:pt idx="6">
                <c:v>10.4495380832</c:v>
              </c:pt>
              <c:pt idx="7">
                <c:v>12.957632591489999</c:v>
              </c:pt>
              <c:pt idx="8">
                <c:v>23.60292220748</c:v>
              </c:pt>
              <c:pt idx="9">
                <c:v>48.94008080363</c:v>
              </c:pt>
              <c:pt idx="10">
                <c:v>85.90039630022</c:v>
              </c:pt>
              <c:pt idx="11">
                <c:v>78.61281392618</c:v>
              </c:pt>
            </c:numLit>
          </c:val>
        </c:ser>
        <c:gapWidth val="5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0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R$ 0 &quot;bi&quot;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200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Contas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2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</c:numLit>
          </c:xVal>
          <c:yVal>
            <c:numLit>
              <c:formatCode>0 "mil"</c:formatCode>
              <c:ptCount val="12"/>
              <c:pt idx="0">
                <c:v>12.508</c:v>
              </c:pt>
              <c:pt idx="1">
                <c:v>13.872</c:v>
              </c:pt>
              <c:pt idx="2">
                <c:v>16.049</c:v>
              </c:pt>
              <c:pt idx="3">
                <c:v>17.678</c:v>
              </c:pt>
              <c:pt idx="4">
                <c:v>25.781</c:v>
              </c:pt>
              <c:pt idx="5">
                <c:v>32.936</c:v>
              </c:pt>
              <c:pt idx="6">
                <c:v>31.626</c:v>
              </c:pt>
              <c:pt idx="7">
                <c:v>48.608</c:v>
              </c:pt>
              <c:pt idx="8">
                <c:v>61.735</c:v>
              </c:pt>
              <c:pt idx="9">
                <c:v>148.582</c:v>
              </c:pt>
              <c:pt idx="10">
                <c:v>387.159</c:v>
              </c:pt>
              <c:pt idx="11">
                <c:v>445.677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 &quot;mil&quot;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</c:valAx>
      <c:valAx>
        <c:axId val="48650112"/>
        <c:scaling>
          <c:orientation val="minMax"/>
          <c:max val="11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Veículos</c:v>
          </c:tx>
          <c:spPr>
            <a:ln xmlns:a="http://schemas.openxmlformats.org/drawingml/2006/main" w="23813">
              <a:solidFill>
                <a:srgbClr val="30353A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2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</c:numLit>
          </c:xVal>
          <c:yVal>
            <c:numLit>
              <c:formatCode>0</c:formatCode>
              <c:ptCount val="12"/>
              <c:pt idx="0">
                <c:v>527</c:v>
              </c:pt>
              <c:pt idx="1">
                <c:v>575</c:v>
              </c:pt>
              <c:pt idx="2">
                <c:v>750</c:v>
              </c:pt>
              <c:pt idx="3">
                <c:v>890</c:v>
              </c:pt>
              <c:pt idx="4">
                <c:v>1042</c:v>
              </c:pt>
              <c:pt idx="5">
                <c:v>1230</c:v>
              </c:pt>
              <c:pt idx="6">
                <c:v>1547</c:v>
              </c:pt>
              <c:pt idx="7">
                <c:v>1912</c:v>
              </c:pt>
              <c:pt idx="8">
                <c:v>2404</c:v>
              </c:pt>
              <c:pt idx="9">
                <c:v>3140</c:v>
              </c:pt>
              <c:pt idx="10">
                <c:v>4007</c:v>
              </c:pt>
              <c:pt idx="11">
                <c:v>4227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</c:valAx>
      <c:valAx>
        <c:axId val="48650112"/>
        <c:scaling>
          <c:orientation val="minMax"/>
          <c:max val="11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Contas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EC7000"/>
              </a:solidFill>
            </c:spPr>
          </c:dPt>
          <c:dPt>
            <c:idx val="1"/>
            <c:spPr>
              <a:solidFill xmlns:a="http://schemas.openxmlformats.org/drawingml/2006/main">
                <a:srgbClr val="30353A"/>
              </a:solidFill>
            </c:spPr>
          </c:dPt>
          <c:dPt>
            <c:idx val="2"/>
            <c:spPr>
              <a:solidFill xmlns:a="http://schemas.openxmlformats.org/drawingml/2006/main">
                <a:srgbClr val="30353A"/>
              </a:solidFill>
            </c:spPr>
          </c:dPt>
          <c:dPt>
            <c:idx val="3"/>
            <c:spPr>
              <a:solidFill xmlns:a="http://schemas.openxmlformats.org/drawingml/2006/main">
                <a:srgbClr val="30353A"/>
              </a:solidFill>
            </c:spPr>
          </c:dPt>
          <c:dPt>
            <c:idx val="4"/>
            <c:spPr>
              <a:solidFill xmlns:a="http://schemas.openxmlformats.org/drawingml/2006/main">
                <a:srgbClr val="30353A"/>
              </a:solidFill>
            </c:spPr>
          </c:dPt>
          <c:dPt>
            <c:idx val="5"/>
            <c:spPr>
              <a:solidFill xmlns:a="http://schemas.openxmlformats.org/drawingml/2006/main">
                <a:srgbClr val="30353A"/>
              </a:solidFill>
            </c:spPr>
          </c:dPt>
          <c:cat>
            <c:strLit>
              <c:ptCount val="6"/>
              <c:pt idx="0">
                <c:v>Fundos</c:v>
              </c:pt>
              <c:pt idx="1">
                <c:v>Empresas e outros</c:v>
              </c:pt>
              <c:pt idx="2">
                <c:v>Pessoa física</c:v>
              </c:pt>
              <c:pt idx="3">
                <c:v>Instituições financeiras</c:v>
              </c:pt>
              <c:pt idx="4">
                <c:v>Previdência e seguros</c:v>
              </c:pt>
              <c:pt idx="5">
                <c:v>Não classificado</c:v>
              </c:pt>
            </c:strLit>
          </c:cat>
          <c:val>
            <c:numLit>
              <c:formatCode>0.0%</c:formatCode>
              <c:ptCount val="6"/>
              <c:pt idx="0">
                <c:v>0.44344895518503313</c:v>
              </c:pt>
              <c:pt idx="1">
                <c:v>0.253151946364744</c:v>
              </c:pt>
              <c:pt idx="2">
                <c:v>0.21658061780168147</c:v>
              </c:pt>
              <c:pt idx="3">
                <c:v>0.08595013877763492</c:v>
              </c:pt>
              <c:pt idx="4">
                <c:v>0.0007965409926920169</c:v>
              </c:pt>
              <c:pt idx="5">
                <c:v>7.180087821449166E-05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82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5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Fundos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1</c:v>
              </c:pt>
              <c:pt idx="1">
                <c:v>186</c:v>
              </c:pt>
              <c:pt idx="2">
                <c:v>124</c:v>
              </c:pt>
              <c:pt idx="3">
                <c:v>148</c:v>
              </c:pt>
              <c:pt idx="4">
                <c:v>126</c:v>
              </c:pt>
              <c:pt idx="5">
                <c:v>193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8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6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PL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0.5495960022699999</c:v>
              </c:pt>
              <c:pt idx="1">
                <c:v>184.81479596079998</c:v>
              </c:pt>
              <c:pt idx="2">
                <c:v>88.72399138631</c:v>
              </c:pt>
              <c:pt idx="3">
                <c:v>171.16402364894</c:v>
              </c:pt>
              <c:pt idx="4">
                <c:v>77.21175767653</c:v>
              </c:pt>
              <c:pt idx="5">
                <c:v>211.4223398025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8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7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% dos fundos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0.0012853470437017994</c:v>
              </c:pt>
              <c:pt idx="1">
                <c:v>0.2390745501285347</c:v>
              </c:pt>
              <c:pt idx="2">
                <c:v>0.15938303341902313</c:v>
              </c:pt>
              <c:pt idx="3">
                <c:v>0.19023136246786632</c:v>
              </c:pt>
              <c:pt idx="4">
                <c:v>0.16195372750642673</c:v>
              </c:pt>
              <c:pt idx="5">
                <c:v>0.2480719794344473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8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8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% do PL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0.0007488841924697938</c:v>
              </c:pt>
              <c:pt idx="1">
                <c:v>0.2518302146629867</c:v>
              </c:pt>
              <c:pt idx="2">
                <c:v>0.12089606614240213</c:v>
              </c:pt>
              <c:pt idx="3">
                <c:v>0.23322955607534634</c:v>
              </c:pt>
              <c:pt idx="4">
                <c:v>0.1052093984634827</c:v>
              </c:pt>
              <c:pt idx="5">
                <c:v>0.28808588046331235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8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9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ex-FIC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EC7000"/>
              </a:solidFill>
            </c:spPr>
          </c:dPt>
          <c:dPt>
            <c:idx val="1"/>
            <c:spPr>
              <a:solidFill xmlns:a="http://schemas.openxmlformats.org/drawingml/2006/main">
                <a:srgbClr val="30353A"/>
              </a:solidFill>
            </c:spPr>
          </c:dPt>
          <c:dPt>
            <c:idx val="2"/>
            <c:spPr>
              <a:solidFill xmlns:a="http://schemas.openxmlformats.org/drawingml/2006/main">
                <a:srgbClr val="30353A"/>
              </a:solidFill>
            </c:spPr>
          </c:dPt>
          <c:dPt>
            <c:idx val="3"/>
            <c:spPr>
              <a:solidFill xmlns:a="http://schemas.openxmlformats.org/drawingml/2006/main">
                <a:srgbClr val="30353A"/>
              </a:solidFill>
            </c:spPr>
          </c:dPt>
          <c:dPt>
            <c:idx val="4"/>
            <c:spPr>
              <a:solidFill xmlns:a="http://schemas.openxmlformats.org/drawingml/2006/main">
                <a:srgbClr val="30353A"/>
              </a:solidFill>
            </c:spPr>
          </c:dPt>
          <c:cat>
            <c:strLit>
              <c:ptCount val="5"/>
              <c:pt idx="0">
                <c:v>Outros</c:v>
              </c:pt>
              <c:pt idx="1">
                <c:v>Financeiro</c:v>
              </c:pt>
              <c:pt idx="2">
                <c:v>Agro, Indústria e Comércio</c:v>
              </c:pt>
              <c:pt idx="3">
                <c:v>Fomento Mercantil</c:v>
              </c:pt>
              <c:pt idx="4">
                <c:v>N/D</c:v>
              </c:pt>
            </c:strLit>
          </c:cat>
          <c:val>
            <c:numLit>
              <c:formatCode>General</c:formatCode>
              <c:ptCount val="5"/>
              <c:pt idx="0">
                <c:v>367.43677886158</c:v>
              </c:pt>
              <c:pt idx="1">
                <c:v>234.07845143214</c:v>
              </c:pt>
              <c:pt idx="2">
                <c:v>173.49802700684</c:v>
              </c:pt>
              <c:pt idx="3">
                <c:v>88.01637854215</c:v>
              </c:pt>
              <c:pt idx="4">
                <c:v>17.06065801287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86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R$ 0 &quot;bi&quot;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0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Valor reportado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EC7000"/>
              </a:solidFill>
            </c:spPr>
          </c:dPt>
          <c:dPt>
            <c:idx val="1"/>
            <c:spPr>
              <a:solidFill xmlns:a="http://schemas.openxmlformats.org/drawingml/2006/main">
                <a:srgbClr val="30353A"/>
              </a:solidFill>
            </c:spPr>
          </c:dPt>
          <c:dPt>
            <c:idx val="2"/>
            <c:spPr>
              <a:solidFill xmlns:a="http://schemas.openxmlformats.org/drawingml/2006/main">
                <a:srgbClr val="30353A"/>
              </a:solidFill>
            </c:spPr>
          </c:dPt>
          <c:dPt>
            <c:idx val="3"/>
            <c:spPr>
              <a:solidFill xmlns:a="http://schemas.openxmlformats.org/drawingml/2006/main">
                <a:srgbClr val="30353A"/>
              </a:solidFill>
            </c:spPr>
          </c:dPt>
          <c:dPt>
            <c:idx val="4"/>
            <c:spPr>
              <a:solidFill xmlns:a="http://schemas.openxmlformats.org/drawingml/2006/main">
                <a:srgbClr val="30353A"/>
              </a:solidFill>
            </c:spPr>
          </c:dPt>
          <c:dPt>
            <c:idx val="5"/>
            <c:spPr>
              <a:solidFill xmlns:a="http://schemas.openxmlformats.org/drawingml/2006/main">
                <a:srgbClr val="30353A"/>
              </a:solidFill>
            </c:spPr>
          </c:dPt>
          <c:dPt>
            <c:idx val="6"/>
            <c:spPr>
              <a:solidFill xmlns:a="http://schemas.openxmlformats.org/drawingml/2006/main">
                <a:srgbClr val="30353A"/>
              </a:solidFill>
            </c:spPr>
          </c:dPt>
          <c:dPt>
            <c:idx val="7"/>
            <c:spPr>
              <a:solidFill xmlns:a="http://schemas.openxmlformats.org/drawingml/2006/main">
                <a:srgbClr val="30353A"/>
              </a:solidFill>
            </c:spPr>
          </c:dPt>
          <c:dPt>
            <c:idx val="8"/>
            <c:spPr>
              <a:solidFill xmlns:a="http://schemas.openxmlformats.org/drawingml/2006/main">
                <a:srgbClr val="30353A"/>
              </a:solidFill>
            </c:spPr>
          </c:dPt>
          <c:cat>
            <c:strLit>
              <c:ptCount val="9"/>
              <c:pt idx="0">
                <c:v>Financeiro</c:v>
              </c:pt>
              <c:pt idx="1">
                <c:v>Comercial</c:v>
              </c:pt>
              <c:pt idx="2">
                <c:v>Cartao de credito</c:v>
              </c:pt>
              <c:pt idx="3">
                <c:v>Industrial</c:v>
              </c:pt>
              <c:pt idx="4">
                <c:v>Servicos</c:v>
              </c:pt>
              <c:pt idx="5">
                <c:v>Setor publico</c:v>
              </c:pt>
              <c:pt idx="6">
                <c:v>Acoes judiciais</c:v>
              </c:pt>
              <c:pt idx="7">
                <c:v>Agronegocio</c:v>
              </c:pt>
              <c:pt idx="8">
                <c:v>Imobiliario</c:v>
              </c:pt>
            </c:strLit>
          </c:cat>
          <c:val>
            <c:numLit>
              <c:formatCode>General</c:formatCode>
              <c:ptCount val="9"/>
              <c:pt idx="0">
                <c:v>312.05045657159997</c:v>
              </c:pt>
              <c:pt idx="1">
                <c:v>116.43114710328999</c:v>
              </c:pt>
              <c:pt idx="2">
                <c:v>77.84961525946001</c:v>
              </c:pt>
              <c:pt idx="3">
                <c:v>74.12660807569</c:v>
              </c:pt>
              <c:pt idx="4">
                <c:v>70.06538925120002</c:v>
              </c:pt>
              <c:pt idx="5">
                <c:v>38.784257866059995</c:v>
              </c:pt>
              <c:pt idx="6">
                <c:v>27.315528831659996</c:v>
              </c:pt>
              <c:pt idx="7">
                <c:v>9.08208747866</c:v>
              </c:pt>
              <c:pt idx="8">
                <c:v>3.1408293285699997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86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R$ 0 &quot;bi&quot;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1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Percentual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30353A"/>
              </a:solidFill>
            </c:spPr>
          </c:dPt>
          <c:dPt>
            <c:idx val="1"/>
            <c:spPr>
              <a:solidFill xmlns:a="http://schemas.openxmlformats.org/drawingml/2006/main">
                <a:srgbClr val="EC7000"/>
              </a:solidFill>
            </c:spPr>
          </c:dPt>
          <c:dPt>
            <c:idx val="2"/>
            <c:spPr>
              <a:solidFill xmlns:a="http://schemas.openxmlformats.org/drawingml/2006/main">
                <a:srgbClr val="30353A"/>
              </a:solidFill>
            </c:spPr>
          </c:dPt>
          <c:dPt>
            <c:idx val="3"/>
            <c:spPr>
              <a:solidFill xmlns:a="http://schemas.openxmlformats.org/drawingml/2006/main">
                <a:srgbClr val="30353A"/>
              </a:solidFill>
            </c:spPr>
          </c:dPt>
          <c:cat>
            <c:strLit>
              <c:ptCount val="4"/>
              <c:pt idx="0">
                <c:v>Inadimplência bruta</c:v>
              </c:pt>
              <c:pt idx="1">
                <c:v>Ajustada pelo cap</c:v>
              </c:pt>
              <c:pt idx="2">
                <c:v>Ajustada ex-NP</c:v>
              </c:pt>
              <c:pt idx="3">
                <c:v>Excluindo casos acima da carteira</c:v>
              </c:pt>
            </c:strLit>
          </c:cat>
          <c:val>
            <c:numLit>
              <c:formatCode>0.0%</c:formatCode>
              <c:ptCount val="4"/>
              <c:pt idx="0">
                <c:v>0.0802740222867937</c:v>
              </c:pt>
              <c:pt idx="1">
                <c:v>0.0585303345939064</c:v>
              </c:pt>
              <c:pt idx="2">
                <c:v>0.0581799790131143</c:v>
              </c:pt>
              <c:pt idx="3">
                <c:v>0.048395735178671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2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Bruta</c:v>
          </c:tx>
          <c:spPr>
            <a:ln xmlns:a="http://schemas.openxmlformats.org/drawingml/2006/main" w="23813">
              <a:solidFill>
                <a:srgbClr val="30353A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5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</c:numLit>
          </c:xVal>
          <c:yVal>
            <c:numLit>
              <c:formatCode>0.0%</c:formatCode>
              <c:ptCount val="15"/>
              <c:pt idx="0">
                <c:v>0.1953629837546001</c:v>
              </c:pt>
              <c:pt idx="1">
                <c:v>0.1809235440996488</c:v>
              </c:pt>
              <c:pt idx="2">
                <c:v>0.192154933474053</c:v>
              </c:pt>
              <c:pt idx="3">
                <c:v>0.1518453736285437</c:v>
              </c:pt>
              <c:pt idx="4">
                <c:v>0.1435849112425625</c:v>
              </c:pt>
              <c:pt idx="5">
                <c:v>0.1473663046832823</c:v>
              </c:pt>
              <c:pt idx="6">
                <c:v>0.0911001409180365</c:v>
              </c:pt>
              <c:pt idx="7">
                <c:v>0.0919394935790263</c:v>
              </c:pt>
              <c:pt idx="8">
                <c:v>0.0825084228403041</c:v>
              </c:pt>
              <c:pt idx="9">
                <c:v>0.078802626303978</c:v>
              </c:pt>
              <c:pt idx="10">
                <c:v>0.0820881119001283</c:v>
              </c:pt>
              <c:pt idx="11">
                <c:v>0.08378779452232</c:v>
              </c:pt>
              <c:pt idx="12">
                <c:v>0.0698478283500979</c:v>
              </c:pt>
              <c:pt idx="13">
                <c:v>0.0744516655492446</c:v>
              </c:pt>
              <c:pt idx="14">
                <c:v>0.0802740222867937</c:v>
              </c:pt>
            </c:numLit>
          </c:yVal>
        </c:ser>
        <c:ser>
          <c:idx val="1"/>
          <c:order val="1"/>
          <c:tx>
            <c:v>Ajustada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5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</c:numLit>
          </c:xVal>
          <c:yVal>
            <c:numLit>
              <c:formatCode>0.0%</c:formatCode>
              <c:ptCount val="15"/>
              <c:pt idx="0">
                <c:v>0.081130140165096</c:v>
              </c:pt>
              <c:pt idx="1">
                <c:v>0.0745232452683116</c:v>
              </c:pt>
              <c:pt idx="2">
                <c:v>0.0871059391884933</c:v>
              </c:pt>
              <c:pt idx="3">
                <c:v>0.0752028516325915</c:v>
              </c:pt>
              <c:pt idx="4">
                <c:v>0.0704152514172544</c:v>
              </c:pt>
              <c:pt idx="5">
                <c:v>0.0770053144630339</c:v>
              </c:pt>
              <c:pt idx="6">
                <c:v>0.0671417034451458</c:v>
              </c:pt>
              <c:pt idx="7">
                <c:v>0.0698999145821442</c:v>
              </c:pt>
              <c:pt idx="8">
                <c:v>0.0630090651293403</c:v>
              </c:pt>
              <c:pt idx="9">
                <c:v>0.0592500474459332</c:v>
              </c:pt>
              <c:pt idx="10">
                <c:v>0.0623234995475539</c:v>
              </c:pt>
              <c:pt idx="11">
                <c:v>0.0628881535366592</c:v>
              </c:pt>
              <c:pt idx="12">
                <c:v>0.0502587784704449</c:v>
              </c:pt>
              <c:pt idx="13">
                <c:v>0.0536913823719812</c:v>
              </c:pt>
              <c:pt idx="14">
                <c:v>0.0585303345939064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ax val="0.18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.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8D9399"/>
                </a:solidFill>
              </a:defRPr>
            </a:pPr>
          </a:p>
        </c:txPr>
        <c:crossAx val="48650112"/>
        <c:majorUnit val="0.03"/>
      </c:valAx>
      <c:valAx>
        <c:axId val="48650112"/>
        <c:scaling>
          <c:orientation val="minMax"/>
          <c:max val="14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3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Top 5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3"/>
              <c:pt idx="0">
                <c:v>Administração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0.523547087184585</c:v>
              </c:pt>
              <c:pt idx="1">
                <c:v>0.24303935417442177</c:v>
              </c:pt>
              <c:pt idx="2">
                <c:v>0.5531603906078207</c:v>
              </c:pt>
            </c:numLit>
          </c:val>
        </c:ser>
        <c:ser>
          <c:idx val="1"/>
          <c:order val="1"/>
          <c:tx>
            <c:v>Top 10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3"/>
              <c:pt idx="0">
                <c:v>Administração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0.7126127734453221</c:v>
              </c:pt>
              <c:pt idx="1">
                <c:v>0.36112079218460374</c:v>
              </c:pt>
              <c:pt idx="2">
                <c:v>0.7530532223036185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86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4.xml><?xml version="1.0" encoding="utf-8"?>
<c:chartSpace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0.09903585787610279</c:v>
              </c:pt>
              <c:pt idx="1">
                <c:v>0.027616163909249546</c:v>
              </c:pt>
              <c:pt idx="2">
                <c:v>0.034637637777836565</c:v>
              </c:pt>
              <c:pt idx="3">
                <c:v>0.6611874223633714</c:v>
              </c:pt>
              <c:pt idx="4">
                <c:v>0.0414481143203419</c:v>
              </c:pt>
              <c:pt idx="5">
                <c:v>0.21362035435332932</c:v>
              </c:pt>
            </c:numLit>
          </c:val>
        </c:ser>
        <c:ser>
          <c:idx val="1"/>
          <c:order val="1"/>
          <c:tx>
            <c:v>BTG Pactual</c:v>
          </c:tx>
          <c:spPr>
            <a:solidFill xmlns:a="http://schemas.openxmlformats.org/drawingml/2006/main">
              <a:srgbClr val="151515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0.12822788655998077</c:v>
              </c:pt>
              <c:pt idx="1">
                <c:v>0.08479001632892023</c:v>
              </c:pt>
              <c:pt idx="2">
                <c:v>0.18229075168007017</c:v>
              </c:pt>
              <c:pt idx="3">
                <c:v>0.0096806427799193</c:v>
              </c:pt>
              <c:pt idx="4">
                <c:v>0.11374888451281695</c:v>
              </c:pt>
              <c:pt idx="5">
                <c:v>0.241155891421021</c:v>
              </c:pt>
            </c:numLit>
          </c:val>
        </c:ser>
        <c:ser>
          <c:idx val="2"/>
          <c:order val="2"/>
          <c:tx>
            <c:v>Oliveira Trust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0.01401328129880209</c:v>
              </c:pt>
              <c:pt idx="1">
                <c:v>0.03288365112448517</c:v>
              </c:pt>
              <c:pt idx="2">
                <c:v>0.5353956121353679</c:v>
              </c:pt>
              <c:pt idx="3">
                <c:v>0.009452795711907486</c:v>
              </c:pt>
              <c:pt idx="4">
                <c:v>0.09751327000606472</c:v>
              </c:pt>
              <c:pt idx="5">
                <c:v>0.05280157206042264</c:v>
              </c:pt>
            </c:numLit>
          </c:val>
        </c:ser>
        <c:ser>
          <c:idx val="3"/>
          <c:order val="3"/>
          <c:tx>
            <c:v>Banco do Brasil</c:v>
          </c:tx>
          <c:spPr>
            <a:solidFill xmlns:a="http://schemas.openxmlformats.org/drawingml/2006/main">
              <a:srgbClr val="494E53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</c:v>
              </c:pt>
              <c:pt idx="1">
                <c:v>0.470446115533561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4"/>
          <c:order val="4"/>
          <c:tx>
            <c:v>Daycoval</c:v>
          </c:tx>
          <c:spPr>
            <a:solidFill xmlns:a="http://schemas.openxmlformats.org/drawingml/2006/main">
              <a:srgbClr val="61666B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0.07551457229714482</c:v>
              </c:pt>
              <c:pt idx="1">
                <c:v>0.007820652776934972</c:v>
              </c:pt>
              <c:pt idx="2">
                <c:v>0.06447467407303031</c:v>
              </c:pt>
              <c:pt idx="3">
                <c:v>0.005650217492933909</c:v>
              </c:pt>
              <c:pt idx="4">
                <c:v>0.11105195367930412</c:v>
              </c:pt>
              <c:pt idx="5">
                <c:v>0.07432392233412591</c:v>
              </c:pt>
            </c:numLit>
          </c:val>
        </c:ser>
        <c:ser>
          <c:idx val="5"/>
          <c:order val="5"/>
          <c:tx>
            <c:v>Bradesco</c:v>
          </c:tx>
          <c:spPr>
            <a:solidFill xmlns:a="http://schemas.openxmlformats.org/drawingml/2006/main">
              <a:srgbClr val="777C81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0.055544305759603875</c:v>
              </c:pt>
              <c:pt idx="1">
                <c:v>0.08871546689439254</c:v>
              </c:pt>
              <c:pt idx="2">
                <c:v>0</c:v>
              </c:pt>
              <c:pt idx="3">
                <c:v>0.02186244476852497</c:v>
              </c:pt>
              <c:pt idx="4">
                <c:v>0.14414037627349577</c:v>
              </c:pt>
              <c:pt idx="5">
                <c:v>0.009145909849505437</c:v>
              </c:pt>
            </c:numLit>
          </c:val>
        </c:ser>
        <c:ser>
          <c:idx val="6"/>
          <c:order val="6"/>
          <c:tx>
            <c:v>Genial</c:v>
          </c:tx>
          <c:spPr>
            <a:solidFill xmlns:a="http://schemas.openxmlformats.org/drawingml/2006/main">
              <a:srgbClr val="8D9297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0.04316403467836799</c:v>
              </c:pt>
              <c:pt idx="1">
                <c:v>0.05953134676287288</c:v>
              </c:pt>
              <c:pt idx="2">
                <c:v>0.1354222794660779</c:v>
              </c:pt>
              <c:pt idx="3">
                <c:v>0.0014143984780017323</c:v>
              </c:pt>
              <c:pt idx="4">
                <c:v>0.12829342578813055</c:v>
              </c:pt>
              <c:pt idx="5">
                <c:v>0.01006878803870165</c:v>
              </c:pt>
            </c:numLit>
          </c:val>
        </c:ser>
        <c:ser>
          <c:idx val="7"/>
          <c:order val="7"/>
          <c:tx>
            <c:v>CBSF</c:v>
          </c:tx>
          <c:spPr>
            <a:solidFill xmlns:a="http://schemas.openxmlformats.org/drawingml/2006/main">
              <a:srgbClr val="A3A7AB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0.12229945521599841</c:v>
              </c:pt>
              <c:pt idx="1">
                <c:v>7.168820062739688E-06</c:v>
              </c:pt>
              <c:pt idx="2">
                <c:v>0</c:v>
              </c:pt>
              <c:pt idx="3">
                <c:v>0.02158187974606139</c:v>
              </c:pt>
              <c:pt idx="4">
                <c:v>0.001265118761995852</c:v>
              </c:pt>
              <c:pt idx="5">
                <c:v>0.03284180927126185</c:v>
              </c:pt>
            </c:numLit>
          </c:val>
        </c:ser>
        <c:ser>
          <c:idx val="8"/>
          <c:order val="8"/>
          <c:tx>
            <c:v>Itaú</c:v>
          </c:tx>
          <c:spPr>
            <a:solidFill xmlns:a="http://schemas.openxmlformats.org/drawingml/2006/main">
              <a:srgbClr val="B7BBBE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0.07037581852307735</c:v>
              </c:pt>
              <c:pt idx="1">
                <c:v>0.02695925531968936</c:v>
              </c:pt>
              <c:pt idx="2">
                <c:v>0</c:v>
              </c:pt>
              <c:pt idx="3">
                <c:v>0.00912263627634282</c:v>
              </c:pt>
              <c:pt idx="4">
                <c:v>0.0006705493289052445</c:v>
              </c:pt>
              <c:pt idx="5">
                <c:v>0.01967534759580247</c:v>
              </c:pt>
            </c:numLit>
          </c:val>
        </c:ser>
        <c:ser>
          <c:idx val="9"/>
          <c:order val="9"/>
          <c:tx>
            <c:v>Finaxis</c:v>
          </c:tx>
          <c:spPr>
            <a:solidFill xmlns:a="http://schemas.openxmlformats.org/drawingml/2006/main">
              <a:srgbClr val="C8CBCE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0.03615636784299774</c:v>
              </c:pt>
              <c:pt idx="1">
                <c:v>0.023954817730900604</c:v>
              </c:pt>
              <c:pt idx="2">
                <c:v>0.0020072880960920487</c:v>
              </c:pt>
              <c:pt idx="3">
                <c:v>0.02993010860618225</c:v>
              </c:pt>
              <c:pt idx="4">
                <c:v>0.0003817965185774057</c:v>
              </c:pt>
              <c:pt idx="5">
                <c:v>0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0.3556684199479241</c:v>
              </c:pt>
              <c:pt idx="1">
                <c:v>0.177275344798931</c:v>
              </c:pt>
              <c:pt idx="2">
                <c:v>0.045771756771525146</c:v>
              </c:pt>
              <c:pt idx="3">
                <c:v>0.23011745377675477</c:v>
              </c:pt>
              <c:pt idx="4">
                <c:v>0.3614865108103675</c:v>
              </c:pt>
              <c:pt idx="5">
                <c:v>0.34636640507582966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 xmlns:a="http://schemas.openxmlformats.org/drawingml/2006/main">
              <a:srgbClr val="F5F6F7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</c:numLit>
          </c:val>
        </c:ser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5.xml><?xml version="1.0" encoding="utf-8"?>
<c:chartSpace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Oliveira Trust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0.002242562112152404</c:v>
              </c:pt>
              <c:pt idx="1">
                <c:v>0.018364626656861456</c:v>
              </c:pt>
              <c:pt idx="2">
                <c:v>0.498315166897194</c:v>
              </c:pt>
              <c:pt idx="3">
                <c:v>0.0006138463216740936</c:v>
              </c:pt>
              <c:pt idx="4">
                <c:v>0.0749544808439373</c:v>
              </c:pt>
              <c:pt idx="5">
                <c:v>0.03154326193132497</c:v>
              </c:pt>
            </c:numLit>
          </c:val>
        </c:ser>
        <c:ser>
          <c:idx val="1"/>
          <c:order val="1"/>
          <c:tx>
            <c:v>BTG Pactual</c:v>
          </c:tx>
          <c:spPr>
            <a:solidFill xmlns:a="http://schemas.openxmlformats.org/drawingml/2006/main">
              <a:srgbClr val="151515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0.04581440346818252</c:v>
              </c:pt>
              <c:pt idx="1">
                <c:v>0.08539967217022329</c:v>
              </c:pt>
              <c:pt idx="2">
                <c:v>0.1757092047057602</c:v>
              </c:pt>
              <c:pt idx="3">
                <c:v>0.0010431439626170636</c:v>
              </c:pt>
              <c:pt idx="4">
                <c:v>0.04769791911064288</c:v>
              </c:pt>
              <c:pt idx="5">
                <c:v>0.04452221594370676</c:v>
              </c:pt>
            </c:numLit>
          </c:val>
        </c:ser>
        <c:ser>
          <c:idx val="2"/>
          <c:order val="2"/>
          <c:tx>
            <c:v>Banco do Brasil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</c:v>
              </c:pt>
              <c:pt idx="1">
                <c:v>0.47044611553356097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3"/>
          <c:order val="3"/>
          <c:tx>
            <c:v>Bradesco</c:v>
          </c:tx>
          <c:spPr>
            <a:solidFill xmlns:a="http://schemas.openxmlformats.org/drawingml/2006/main">
              <a:srgbClr val="494E53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0.04358394025590201</c:v>
              </c:pt>
              <c:pt idx="1">
                <c:v>0.05234064889393871</c:v>
              </c:pt>
              <c:pt idx="2">
                <c:v>0</c:v>
              </c:pt>
              <c:pt idx="3">
                <c:v>0.02186244476852497</c:v>
              </c:pt>
              <c:pt idx="4">
                <c:v>0.14163445791151857</c:v>
              </c:pt>
              <c:pt idx="5">
                <c:v>0.009145909849505437</c:v>
              </c:pt>
            </c:numLit>
          </c:val>
        </c:ser>
        <c:ser>
          <c:idx val="4"/>
          <c:order val="4"/>
          <c:tx>
            <c:v>Genial</c:v>
          </c:tx>
          <c:spPr>
            <a:solidFill xmlns:a="http://schemas.openxmlformats.org/drawingml/2006/main">
              <a:srgbClr val="61666B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0.022093044160997583</c:v>
              </c:pt>
              <c:pt idx="1">
                <c:v>0.04361472819751594</c:v>
              </c:pt>
              <c:pt idx="2">
                <c:v>0.05690901582562128</c:v>
              </c:pt>
              <c:pt idx="3">
                <c:v>0</c:v>
              </c:pt>
              <c:pt idx="4">
                <c:v>0.10921999509731997</c:v>
              </c:pt>
              <c:pt idx="5">
                <c:v>0.0014288577438735935</c:v>
              </c:pt>
            </c:numLit>
          </c:val>
        </c:ser>
        <c:ser>
          <c:idx val="5"/>
          <c:order val="5"/>
          <c:tx>
            <c:v>Tercon Investimentos</c:v>
          </c:tx>
          <c:spPr>
            <a:solidFill xmlns:a="http://schemas.openxmlformats.org/drawingml/2006/main">
              <a:srgbClr val="777C81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0.005542310561087736</c:v>
              </c:pt>
              <c:pt idx="1">
                <c:v>0.0025739291328569992</c:v>
              </c:pt>
              <c:pt idx="2">
                <c:v>0</c:v>
              </c:pt>
              <c:pt idx="3">
                <c:v>0.22125837215796879</c:v>
              </c:pt>
              <c:pt idx="4">
                <c:v>0.002182052599926365</c:v>
              </c:pt>
              <c:pt idx="5">
                <c:v>0</c:v>
              </c:pt>
            </c:numLit>
          </c:val>
        </c:ser>
        <c:ser>
          <c:idx val="6"/>
          <c:order val="6"/>
          <c:tx>
            <c:v>CBSF</c:v>
          </c:tx>
          <c:spPr>
            <a:solidFill xmlns:a="http://schemas.openxmlformats.org/drawingml/2006/main">
              <a:srgbClr val="8D9297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0.05868225680250354</c:v>
              </c:pt>
              <c:pt idx="1">
                <c:v>0</c:v>
              </c:pt>
              <c:pt idx="2">
                <c:v>0</c:v>
              </c:pt>
              <c:pt idx="3">
                <c:v>0.02158187974606139</c:v>
              </c:pt>
              <c:pt idx="4">
                <c:v>0.00018173256305436804</c:v>
              </c:pt>
              <c:pt idx="5">
                <c:v>0</c:v>
              </c:pt>
            </c:numLit>
          </c:val>
        </c:ser>
        <c:ser>
          <c:idx val="7"/>
          <c:order val="7"/>
          <c:tx>
            <c:v>REAG</c:v>
          </c:tx>
          <c:spPr>
            <a:solidFill xmlns:a="http://schemas.openxmlformats.org/drawingml/2006/main">
              <a:srgbClr val="A3A7AB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0.054467807244361385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0.0006791993569090867</c:v>
              </c:pt>
              <c:pt idx="5">
                <c:v>0.03284180927126185</c:v>
              </c:pt>
            </c:numLit>
          </c:val>
        </c:ser>
        <c:ser>
          <c:idx val="8"/>
          <c:order val="8"/>
          <c:tx>
            <c:v>Itaú</c:v>
          </c:tx>
          <c:spPr>
            <a:solidFill xmlns:a="http://schemas.openxmlformats.org/drawingml/2006/main">
              <a:srgbClr val="B7BBBE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0.04125339079361007</c:v>
              </c:pt>
              <c:pt idx="1">
                <c:v>0.01041573167893111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0.025973774276490218</c:v>
              </c:pt>
            </c:numLit>
          </c:val>
        </c:ser>
        <c:ser>
          <c:idx val="9"/>
          <c:order val="9"/>
          <c:tx>
            <c:v>Solis Investimentos</c:v>
          </c:tx>
          <c:spPr>
            <a:solidFill xmlns:a="http://schemas.openxmlformats.org/drawingml/2006/main">
              <a:srgbClr val="C8CBCE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0.019346025162812742</c:v>
              </c:pt>
              <c:pt idx="1">
                <c:v>0.006169055247023951</c:v>
              </c:pt>
              <c:pt idx="2">
                <c:v>0.013372059792210478</c:v>
              </c:pt>
              <c:pt idx="3">
                <c:v>0.034493689827595056</c:v>
              </c:pt>
              <c:pt idx="4">
                <c:v>0.01410591271130141</c:v>
              </c:pt>
              <c:pt idx="5">
                <c:v>0.0007285216184997913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0.7068138110118435</c:v>
              </c:pt>
              <c:pt idx="1">
                <c:v>0.3072387437273598</c:v>
              </c:pt>
              <c:pt idx="2">
                <c:v>0.25569455277921393</c:v>
              </c:pt>
              <c:pt idx="3">
                <c:v>0.698380362355187</c:v>
              </c:pt>
              <c:pt idx="4">
                <c:v>0.6093334003170607</c:v>
              </c:pt>
              <c:pt idx="5">
                <c:v>0.8538156493653374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 xmlns:a="http://schemas.openxmlformats.org/drawingml/2006/main">
              <a:srgbClr val="F5F6F7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0.00016044842654654585</c:v>
              </c:pt>
              <c:pt idx="1">
                <c:v>0.003436748761727782</c:v>
              </c:pt>
              <c:pt idx="2">
                <c:v>0</c:v>
              </c:pt>
              <c:pt idx="3">
                <c:v>0.0007662608603716966</c:v>
              </c:pt>
              <c:pt idx="4">
                <c:v>1.0849488329413318E-05</c:v>
              </c:pt>
              <c:pt idx="5">
                <c:v>0</c:v>
              </c:pt>
            </c:numLit>
          </c:val>
        </c:ser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6.xml><?xml version="1.0" encoding="utf-8"?>
<c:chartSpace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0.09871038786152628</c:v>
              </c:pt>
              <c:pt idx="1">
                <c:v>0.027474689922011502</c:v>
              </c:pt>
              <c:pt idx="2">
                <c:v>0.03117383637009289</c:v>
              </c:pt>
              <c:pt idx="3">
                <c:v>0.656000888816908</c:v>
              </c:pt>
              <c:pt idx="4">
                <c:v>0.041426253610816026</c:v>
              </c:pt>
              <c:pt idx="5">
                <c:v>0.209321755829712</c:v>
              </c:pt>
            </c:numLit>
          </c:val>
        </c:ser>
        <c:ser>
          <c:idx val="1"/>
          <c:order val="1"/>
          <c:tx>
            <c:v>Oliveira Trust</c:v>
          </c:tx>
          <c:spPr>
            <a:solidFill xmlns:a="http://schemas.openxmlformats.org/drawingml/2006/main">
              <a:srgbClr val="151515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0.032777305192846364</c:v>
              </c:pt>
              <c:pt idx="1">
                <c:v>0.09623885075338706</c:v>
              </c:pt>
              <c:pt idx="2">
                <c:v>0.5359280855252573</c:v>
              </c:pt>
              <c:pt idx="3">
                <c:v>0.027051696768214718</c:v>
              </c:pt>
              <c:pt idx="4">
                <c:v>0.10098918581145755</c:v>
              </c:pt>
              <c:pt idx="5">
                <c:v>0.02810813865026815</c:v>
              </c:pt>
            </c:numLit>
          </c:val>
        </c:ser>
        <c:ser>
          <c:idx val="2"/>
          <c:order val="2"/>
          <c:tx>
            <c:v>BTG Pactual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0.12777031470705189</c:v>
              </c:pt>
              <c:pt idx="1">
                <c:v>0.08712579737615378</c:v>
              </c:pt>
              <c:pt idx="2">
                <c:v>0.18229075168007014</c:v>
              </c:pt>
              <c:pt idx="3">
                <c:v>0.0025226472154451962</c:v>
              </c:pt>
              <c:pt idx="4">
                <c:v>0.11374888451281695</c:v>
              </c:pt>
              <c:pt idx="5">
                <c:v>0.2411558914210211</c:v>
              </c:pt>
            </c:numLit>
          </c:val>
        </c:ser>
        <c:ser>
          <c:idx val="3"/>
          <c:order val="3"/>
          <c:tx>
            <c:v>Banco do Brasil</c:v>
          </c:tx>
          <c:spPr>
            <a:solidFill xmlns:a="http://schemas.openxmlformats.org/drawingml/2006/main">
              <a:srgbClr val="494E53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</c:v>
              </c:pt>
              <c:pt idx="1">
                <c:v>0.4704461155335609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4"/>
          <c:order val="4"/>
          <c:tx>
            <c:v>Daycoval</c:v>
          </c:tx>
          <c:spPr>
            <a:solidFill xmlns:a="http://schemas.openxmlformats.org/drawingml/2006/main">
              <a:srgbClr val="61666B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0.0809584817747009</c:v>
              </c:pt>
              <c:pt idx="1">
                <c:v>0.02141398019715528</c:v>
              </c:pt>
              <c:pt idx="2">
                <c:v>0.0644746740730303</c:v>
              </c:pt>
              <c:pt idx="3">
                <c:v>0.005650217492933909</c:v>
              </c:pt>
              <c:pt idx="4">
                <c:v>0.11945702938613052</c:v>
              </c:pt>
              <c:pt idx="5">
                <c:v>0.07432392233412591</c:v>
              </c:pt>
            </c:numLit>
          </c:val>
        </c:ser>
        <c:ser>
          <c:idx val="5"/>
          <c:order val="5"/>
          <c:tx>
            <c:v>REAG</c:v>
          </c:tx>
          <c:spPr>
            <a:solidFill xmlns:a="http://schemas.openxmlformats.org/drawingml/2006/main">
              <a:srgbClr val="777C81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0.14039639207761814</c:v>
              </c:pt>
              <c:pt idx="1">
                <c:v>7.168820062739686E-06</c:v>
              </c:pt>
              <c:pt idx="2">
                <c:v>0</c:v>
              </c:pt>
              <c:pt idx="3">
                <c:v>0.02158187974606139</c:v>
              </c:pt>
              <c:pt idx="4">
                <c:v>0.001265118761995852</c:v>
              </c:pt>
              <c:pt idx="5">
                <c:v>0.04848829360672972</c:v>
              </c:pt>
            </c:numLit>
          </c:val>
        </c:ser>
        <c:ser>
          <c:idx val="6"/>
          <c:order val="6"/>
          <c:tx>
            <c:v>Bradesco</c:v>
          </c:tx>
          <c:spPr>
            <a:solidFill xmlns:a="http://schemas.openxmlformats.org/drawingml/2006/main">
              <a:srgbClr val="8D9297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0.05554430575960388</c:v>
              </c:pt>
              <c:pt idx="1">
                <c:v>0.06540428119237003</c:v>
              </c:pt>
              <c:pt idx="2">
                <c:v>0</c:v>
              </c:pt>
              <c:pt idx="3">
                <c:v>0.01822059623461933</c:v>
              </c:pt>
              <c:pt idx="4">
                <c:v>0.14376767708183888</c:v>
              </c:pt>
              <c:pt idx="5">
                <c:v>0.033839343259659926</c:v>
              </c:pt>
            </c:numLit>
          </c:val>
        </c:ser>
        <c:ser>
          <c:idx val="7"/>
          <c:order val="7"/>
          <c:tx>
            <c:v>Genial</c:v>
          </c:tx>
          <c:spPr>
            <a:solidFill xmlns:a="http://schemas.openxmlformats.org/drawingml/2006/main">
              <a:srgbClr val="A3A7AB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0.0329560029844489</c:v>
              </c:pt>
              <c:pt idx="1">
                <c:v>0.056321661963584714</c:v>
              </c:pt>
              <c:pt idx="2">
                <c:v>0.08209276508477789</c:v>
              </c:pt>
              <c:pt idx="3">
                <c:v>0.0014143984780017323</c:v>
              </c:pt>
              <c:pt idx="4">
                <c:v>0.12829342578813055</c:v>
              </c:pt>
              <c:pt idx="5">
                <c:v>0.01006878803870165</c:v>
              </c:pt>
            </c:numLit>
          </c:val>
        </c:ser>
        <c:ser>
          <c:idx val="8"/>
          <c:order val="8"/>
          <c:tx>
            <c:v>Finaxis</c:v>
          </c:tx>
          <c:spPr>
            <a:solidFill xmlns:a="http://schemas.openxmlformats.org/drawingml/2006/main">
              <a:srgbClr val="B7BBBE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0.03615636784299775</c:v>
              </c:pt>
              <c:pt idx="1">
                <c:v>0.023954817730900597</c:v>
              </c:pt>
              <c:pt idx="2">
                <c:v>0.0020072880960920487</c:v>
              </c:pt>
              <c:pt idx="3">
                <c:v>0.02938771658878437</c:v>
              </c:pt>
              <c:pt idx="4">
                <c:v>0.0003817965185774057</c:v>
              </c:pt>
              <c:pt idx="5">
                <c:v>0</c:v>
              </c:pt>
            </c:numLit>
          </c:val>
        </c:ser>
        <c:ser>
          <c:idx val="9"/>
          <c:order val="9"/>
          <c:tx>
            <c:v>Limine Trust</c:v>
          </c:tx>
          <c:spPr>
            <a:solidFill xmlns:a="http://schemas.openxmlformats.org/drawingml/2006/main">
              <a:srgbClr val="C8CBCE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0.03723037703995639</c:v>
              </c:pt>
              <c:pt idx="1">
                <c:v>0.031165673360826523</c:v>
              </c:pt>
              <c:pt idx="2">
                <c:v>0.022088841798878028</c:v>
              </c:pt>
              <c:pt idx="3">
                <c:v>0.025884475168990163</c:v>
              </c:pt>
              <c:pt idx="4">
                <c:v>0.006208941893645588</c:v>
              </c:pt>
              <c:pt idx="5">
                <c:v>0.00018856231051638396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0.34790662809489536</c:v>
              </c:pt>
              <c:pt idx="1">
                <c:v>0.07612522958781971</c:v>
              </c:pt>
              <c:pt idx="2">
                <c:v>0.07991574384591492</c:v>
              </c:pt>
              <c:pt idx="3">
                <c:v>0.19940752085450217</c:v>
              </c:pt>
              <c:pt idx="4">
                <c:v>0.3428596328805304</c:v>
              </c:pt>
              <c:pt idx="5">
                <c:v>0.3539405580978503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 xmlns:a="http://schemas.openxmlformats.org/drawingml/2006/main">
              <a:srgbClr val="F5F6F7"/>
            </a:solidFill>
          </c:spPr>
          <c:cat>
            <c:strLit>
              <c:ptCount val="6"/>
              <c:pt idx="0">
                <c:v>Outros
Multicarteira</c:v>
              </c:pt>
              <c:pt idx="1">
                <c:v>Agro
Recebíveis comerciais</c:v>
              </c:pt>
              <c:pt idx="2">
                <c:v>Financeiro
Crédito pessoal</c:v>
              </c:pt>
              <c:pt idx="3">
                <c:v>Fomento
Fomento Mercantil</c:v>
              </c:pt>
              <c:pt idx="4">
                <c:v>Financeiro
Multicarteira</c:v>
              </c:pt>
              <c:pt idx="5">
                <c:v>Outros
Poder público</c:v>
              </c:pt>
            </c:strLit>
          </c:cat>
          <c:val>
            <c:numLit>
              <c:formatCode>0%</c:formatCode>
              <c:ptCount val="6"/>
              <c:pt idx="0">
                <c:v>0.009593436664354341</c:v>
              </c:pt>
              <c:pt idx="1">
                <c:v>0.04432173356216704</c:v>
              </c:pt>
              <c:pt idx="2">
                <c:v>2.801352588640792E-05</c:v>
              </c:pt>
              <c:pt idx="3">
                <c:v>0.012877962635538961</c:v>
              </c:pt>
              <c:pt idx="4">
                <c:v>0.0016020537540602194</c:v>
              </c:pt>
              <c:pt idx="5">
                <c:v>0.0005647464514148762</c:v>
              </c:pt>
            </c:numLit>
          </c:val>
        </c:ser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7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% fundos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6"/>
              <c:pt idx="0">
                <c:v>Monoestrutura</c:v>
              </c:pt>
              <c:pt idx="1">
                <c:v>Adm. + Gestão</c:v>
              </c:pt>
              <c:pt idx="2">
                <c:v>Adm. + Custódia</c:v>
              </c:pt>
              <c:pt idx="3">
                <c:v>Gestão + Custódia</c:v>
              </c:pt>
              <c:pt idx="4">
                <c:v>Três distintos</c:v>
              </c:pt>
              <c:pt idx="5">
                <c:v>Dados incompletos</c:v>
              </c:pt>
            </c:strLit>
          </c:cat>
          <c:val>
            <c:numLit>
              <c:formatCode>0.0%</c:formatCode>
              <c:ptCount val="6"/>
              <c:pt idx="0">
                <c:v>0.0783988630980578</c:v>
              </c:pt>
              <c:pt idx="1">
                <c:v>0.00994789199431549</c:v>
              </c:pt>
              <c:pt idx="2">
                <c:v>0.7984367598294647</c:v>
              </c:pt>
              <c:pt idx="3">
                <c:v>0.010421601136901942</c:v>
              </c:pt>
              <c:pt idx="4">
                <c:v>0.08408337280909521</c:v>
              </c:pt>
              <c:pt idx="5">
                <c:v>0.018711511132164852</c:v>
              </c:pt>
            </c:numLit>
          </c:val>
        </c:ser>
        <c:ser>
          <c:idx val="1"/>
          <c:order val="1"/>
          <c:tx>
            <c:v>% PL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Monoestrutura</c:v>
              </c:pt>
              <c:pt idx="1">
                <c:v>Adm. + Gestão</c:v>
              </c:pt>
              <c:pt idx="2">
                <c:v>Adm. + Custódia</c:v>
              </c:pt>
              <c:pt idx="3">
                <c:v>Gestão + Custódia</c:v>
              </c:pt>
              <c:pt idx="4">
                <c:v>Três distintos</c:v>
              </c:pt>
              <c:pt idx="5">
                <c:v>Dados incompletos</c:v>
              </c:pt>
            </c:strLit>
          </c:cat>
          <c:val>
            <c:numLit>
              <c:formatCode>0.0%</c:formatCode>
              <c:ptCount val="6"/>
              <c:pt idx="0">
                <c:v>0.3401555639274464</c:v>
              </c:pt>
              <c:pt idx="1">
                <c:v>0.03632358129979824</c:v>
              </c:pt>
              <c:pt idx="2">
                <c:v>0.533550356635145</c:v>
              </c:pt>
              <c:pt idx="3">
                <c:v>0.019980720583593427</c:v>
              </c:pt>
              <c:pt idx="4">
                <c:v>0.058027674260146406</c:v>
              </c:pt>
              <c:pt idx="5">
                <c:v>0.011962103293870421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8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8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Volume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30353A"/>
              </a:solidFill>
            </c:spPr>
          </c:dPt>
          <c:dPt>
            <c:idx val="1"/>
            <c:spPr>
              <a:solidFill xmlns:a="http://schemas.openxmlformats.org/drawingml/2006/main">
                <a:srgbClr val="30353A"/>
              </a:solidFill>
            </c:spPr>
          </c:dPt>
          <c:dPt>
            <c:idx val="2"/>
            <c:spPr>
              <a:solidFill xmlns:a="http://schemas.openxmlformats.org/drawingml/2006/main">
                <a:srgbClr val="EC7000"/>
              </a:solidFill>
            </c:spPr>
          </c:dPt>
          <c:cat>
            <c:numLit>
              <c:formatCode>General</c:formatCode>
              <c:ptCount val="3"/>
              <c:pt idx="0">
                <c:v>2024</c:v>
              </c:pt>
              <c:pt idx="1">
                <c:v>2025</c:v>
              </c:pt>
              <c:pt idx="2">
                <c:v>2026</c:v>
              </c:pt>
            </c:numLit>
          </c:cat>
          <c:val>
            <c:numLit>
              <c:formatCode>0.0</c:formatCode>
              <c:ptCount val="3"/>
              <c:pt idx="0">
                <c:v>51.51551577195</c:v>
              </c:pt>
              <c:pt idx="1">
                <c:v>68.9158113135</c:v>
              </c:pt>
              <c:pt idx="2">
                <c:v>75.14765624728999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R$ 0 &quot;bi&quot;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9.xml><?xml version="1.0" encoding="utf-8"?>
<c:chartSpace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0.6611874223633714</c:v>
              </c:pt>
              <c:pt idx="1">
                <c:v>0.3065550509629137</c:v>
              </c:pt>
              <c:pt idx="2">
                <c:v>0.13849018082595674</c:v>
              </c:pt>
              <c:pt idx="3">
                <c:v>0.034637637777836565</c:v>
              </c:pt>
              <c:pt idx="4">
                <c:v>0.07483979968200132</c:v>
              </c:pt>
              <c:pt idx="5">
                <c:v>0.0414481143203419</c:v>
              </c:pt>
              <c:pt idx="6">
                <c:v>0</c:v>
              </c:pt>
              <c:pt idx="7">
                <c:v>0.027616163909249546</c:v>
              </c:pt>
              <c:pt idx="8">
                <c:v>0</c:v>
              </c:pt>
              <c:pt idx="9">
                <c:v>0.26072989426098264</c:v>
              </c:pt>
              <c:pt idx="10">
                <c:v>0.09519798891176616</c:v>
              </c:pt>
              <c:pt idx="11">
                <c:v>0.0515490070093137</c:v>
              </c:pt>
              <c:pt idx="12">
                <c:v>0.21362035435332932</c:v>
              </c:pt>
              <c:pt idx="13">
                <c:v>0.09903585787610279</c:v>
              </c:pt>
            </c:numLit>
          </c:val>
        </c:ser>
        <c:ser>
          <c:idx val="1"/>
          <c:order val="1"/>
          <c:tx>
            <c:v>BTG Pactual</c:v>
          </c:tx>
          <c:spPr>
            <a:solidFill xmlns:a="http://schemas.openxmlformats.org/drawingml/2006/main">
              <a:srgbClr val="151515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0.0096806427799193</c:v>
              </c:pt>
              <c:pt idx="1">
                <c:v>0</c:v>
              </c:pt>
              <c:pt idx="2">
                <c:v>0.17236559225460651</c:v>
              </c:pt>
              <c:pt idx="3">
                <c:v>0.18229075168007017</c:v>
              </c:pt>
              <c:pt idx="4">
                <c:v>0.02167823883113039</c:v>
              </c:pt>
              <c:pt idx="5">
                <c:v>0.11374888451281695</c:v>
              </c:pt>
              <c:pt idx="6">
                <c:v>0.010283546215548054</c:v>
              </c:pt>
              <c:pt idx="7">
                <c:v>0.08479001632892023</c:v>
              </c:pt>
              <c:pt idx="8">
                <c:v>0.008891099378144043</c:v>
              </c:pt>
              <c:pt idx="9">
                <c:v>0.06509344726707784</c:v>
              </c:pt>
              <c:pt idx="10">
                <c:v>0.03486778726515402</c:v>
              </c:pt>
              <c:pt idx="11">
                <c:v>0.03867683398465943</c:v>
              </c:pt>
              <c:pt idx="12">
                <c:v>0.241155891421021</c:v>
              </c:pt>
              <c:pt idx="13">
                <c:v>0.12822788655998077</c:v>
              </c:pt>
            </c:numLit>
          </c:val>
        </c:ser>
        <c:ser>
          <c:idx val="2"/>
          <c:order val="2"/>
          <c:tx>
            <c:v>Oliveira Trust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0.009452795711907486</c:v>
              </c:pt>
              <c:pt idx="1">
                <c:v>0.23403575568651946</c:v>
              </c:pt>
              <c:pt idx="2">
                <c:v>0.383564590335937</c:v>
              </c:pt>
              <c:pt idx="3">
                <c:v>0.5353956121353679</c:v>
              </c:pt>
              <c:pt idx="4">
                <c:v>0</c:v>
              </c:pt>
              <c:pt idx="5">
                <c:v>0.09751327000606472</c:v>
              </c:pt>
              <c:pt idx="6">
                <c:v>0.20562513771661284</c:v>
              </c:pt>
              <c:pt idx="7">
                <c:v>0.03288365112448517</c:v>
              </c:pt>
              <c:pt idx="8">
                <c:v>0.42924807244322455</c:v>
              </c:pt>
              <c:pt idx="9">
                <c:v>0.030005707236196156</c:v>
              </c:pt>
              <c:pt idx="10">
                <c:v>0.09687131495911563</c:v>
              </c:pt>
              <c:pt idx="11">
                <c:v>0</c:v>
              </c:pt>
              <c:pt idx="12">
                <c:v>0.05280157206042264</c:v>
              </c:pt>
              <c:pt idx="13">
                <c:v>0.01401328129880209</c:v>
              </c:pt>
            </c:numLit>
          </c:val>
        </c:ser>
        <c:ser>
          <c:idx val="3"/>
          <c:order val="3"/>
          <c:tx>
            <c:v>Banco do Brasil</c:v>
          </c:tx>
          <c:spPr>
            <a:solidFill xmlns:a="http://schemas.openxmlformats.org/drawingml/2006/main">
              <a:srgbClr val="494E53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0.000941688182142641</c:v>
              </c:pt>
              <c:pt idx="7">
                <c:v>0.470446115533561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</c:v>
              </c:pt>
            </c:numLit>
          </c:val>
        </c:ser>
        <c:ser>
          <c:idx val="4"/>
          <c:order val="4"/>
          <c:tx>
            <c:v>Daycoval</c:v>
          </c:tx>
          <c:spPr>
            <a:solidFill xmlns:a="http://schemas.openxmlformats.org/drawingml/2006/main">
              <a:srgbClr val="61666B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0.005650217492933909</c:v>
              </c:pt>
              <c:pt idx="1">
                <c:v>0.03394956956679466</c:v>
              </c:pt>
              <c:pt idx="2">
                <c:v>0.059977118417396995</c:v>
              </c:pt>
              <c:pt idx="3">
                <c:v>0.06447467407303031</c:v>
              </c:pt>
              <c:pt idx="4">
                <c:v>0.05540491499139333</c:v>
              </c:pt>
              <c:pt idx="5">
                <c:v>0.11105195367930412</c:v>
              </c:pt>
              <c:pt idx="6">
                <c:v>0.05888272824897803</c:v>
              </c:pt>
              <c:pt idx="7">
                <c:v>0.007820652776934972</c:v>
              </c:pt>
              <c:pt idx="8">
                <c:v>0.12052646213582008</c:v>
              </c:pt>
              <c:pt idx="9">
                <c:v>0.21769813460950752</c:v>
              </c:pt>
              <c:pt idx="10">
                <c:v>0.08509408390333681</c:v>
              </c:pt>
              <c:pt idx="11">
                <c:v>0.0733124835554939</c:v>
              </c:pt>
              <c:pt idx="12">
                <c:v>0.07432392233412591</c:v>
              </c:pt>
              <c:pt idx="13">
                <c:v>0.07551457229714482</c:v>
              </c:pt>
            </c:numLit>
          </c:val>
        </c:ser>
        <c:ser>
          <c:idx val="5"/>
          <c:order val="5"/>
          <c:tx>
            <c:v>Bradesco</c:v>
          </c:tx>
          <c:spPr>
            <a:solidFill xmlns:a="http://schemas.openxmlformats.org/drawingml/2006/main">
              <a:srgbClr val="777C81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0.02186244476852497</c:v>
              </c:pt>
              <c:pt idx="1">
                <c:v>0</c:v>
              </c:pt>
              <c:pt idx="2">
                <c:v>6.281624788476697E-05</c:v>
              </c:pt>
              <c:pt idx="3">
                <c:v>0</c:v>
              </c:pt>
              <c:pt idx="4">
                <c:v>0.5171854935971929</c:v>
              </c:pt>
              <c:pt idx="5">
                <c:v>0.14414037627349577</c:v>
              </c:pt>
              <c:pt idx="6">
                <c:v>0</c:v>
              </c:pt>
              <c:pt idx="7">
                <c:v>0.08871546689439254</c:v>
              </c:pt>
              <c:pt idx="8">
                <c:v>0</c:v>
              </c:pt>
              <c:pt idx="9">
                <c:v>0</c:v>
              </c:pt>
              <c:pt idx="10">
                <c:v>0.029399905971277233</c:v>
              </c:pt>
              <c:pt idx="11">
                <c:v>0.0012245530453966088</c:v>
              </c:pt>
              <c:pt idx="12">
                <c:v>0.009145909849505437</c:v>
              </c:pt>
              <c:pt idx="13">
                <c:v>0.055544305759603875</c:v>
              </c:pt>
            </c:numLit>
          </c:val>
        </c:ser>
        <c:ser>
          <c:idx val="6"/>
          <c:order val="6"/>
          <c:tx>
            <c:v>Genial</c:v>
          </c:tx>
          <c:spPr>
            <a:solidFill xmlns:a="http://schemas.openxmlformats.org/drawingml/2006/main">
              <a:srgbClr val="8D9297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0.0014143984780017323</c:v>
              </c:pt>
              <c:pt idx="1">
                <c:v>0.10503507651441571</c:v>
              </c:pt>
              <c:pt idx="2">
                <c:v>0.011837148359587123</c:v>
              </c:pt>
              <c:pt idx="3">
                <c:v>0.1354222794660779</c:v>
              </c:pt>
              <c:pt idx="4">
                <c:v>0</c:v>
              </c:pt>
              <c:pt idx="5">
                <c:v>0.12829342578813055</c:v>
              </c:pt>
              <c:pt idx="6">
                <c:v>0.08209682369375762</c:v>
              </c:pt>
              <c:pt idx="7">
                <c:v>0.05953134676287288</c:v>
              </c:pt>
              <c:pt idx="8">
                <c:v>0.027576299240600646</c:v>
              </c:pt>
              <c:pt idx="9">
                <c:v>0.06537503346084945</c:v>
              </c:pt>
              <c:pt idx="10">
                <c:v>0.051943217169193555</c:v>
              </c:pt>
              <c:pt idx="11">
                <c:v>0.016187640050605127</c:v>
              </c:pt>
              <c:pt idx="12">
                <c:v>0.01006878803870165</c:v>
              </c:pt>
              <c:pt idx="13">
                <c:v>0.04316403467836799</c:v>
              </c:pt>
            </c:numLit>
          </c:val>
        </c:ser>
        <c:ser>
          <c:idx val="7"/>
          <c:order val="7"/>
          <c:tx>
            <c:v>CBSF</c:v>
          </c:tx>
          <c:spPr>
            <a:solidFill xmlns:a="http://schemas.openxmlformats.org/drawingml/2006/main">
              <a:srgbClr val="A3A7AB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0.02158187974606139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0.001265118761995852</c:v>
              </c:pt>
              <c:pt idx="6">
                <c:v>0</c:v>
              </c:pt>
              <c:pt idx="7">
                <c:v>7.168820062739688E-06</c:v>
              </c:pt>
              <c:pt idx="8">
                <c:v>0.0037238932129679274</c:v>
              </c:pt>
              <c:pt idx="9">
                <c:v>0</c:v>
              </c:pt>
              <c:pt idx="10">
                <c:v>0</c:v>
              </c:pt>
              <c:pt idx="11">
                <c:v>0.044655997198937</c:v>
              </c:pt>
              <c:pt idx="12">
                <c:v>0.03284180927126185</c:v>
              </c:pt>
              <c:pt idx="13">
                <c:v>0.12229945521599841</c:v>
              </c:pt>
            </c:numLit>
          </c:val>
        </c:ser>
        <c:ser>
          <c:idx val="8"/>
          <c:order val="8"/>
          <c:tx>
            <c:v>Itaú</c:v>
          </c:tx>
          <c:spPr>
            <a:solidFill xmlns:a="http://schemas.openxmlformats.org/drawingml/2006/main">
              <a:srgbClr val="B7BBBE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0.00912263627634282</c:v>
              </c:pt>
              <c:pt idx="1">
                <c:v>0.06225686387763095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0.0006705493289052445</c:v>
              </c:pt>
              <c:pt idx="6">
                <c:v>0.08150480181936648</c:v>
              </c:pt>
              <c:pt idx="7">
                <c:v>0.02695925531968936</c:v>
              </c:pt>
              <c:pt idx="8">
                <c:v>0.006387577929861786</c:v>
              </c:pt>
              <c:pt idx="9">
                <c:v>0.10609819986970585</c:v>
              </c:pt>
              <c:pt idx="10">
                <c:v>0</c:v>
              </c:pt>
              <c:pt idx="11">
                <c:v>0</c:v>
              </c:pt>
              <c:pt idx="12">
                <c:v>0.01967534759580247</c:v>
              </c:pt>
              <c:pt idx="13">
                <c:v>0.07037581852307735</c:v>
              </c:pt>
            </c:numLit>
          </c:val>
        </c:ser>
        <c:ser>
          <c:idx val="9"/>
          <c:order val="9"/>
          <c:tx>
            <c:v>Finaxis</c:v>
          </c:tx>
          <c:spPr>
            <a:solidFill xmlns:a="http://schemas.openxmlformats.org/drawingml/2006/main">
              <a:srgbClr val="C8CBCE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0.02993010860618225</c:v>
              </c:pt>
              <c:pt idx="1">
                <c:v>0.0012950121619806155</c:v>
              </c:pt>
              <c:pt idx="2">
                <c:v>0</c:v>
              </c:pt>
              <c:pt idx="3">
                <c:v>0.0020072880960920487</c:v>
              </c:pt>
              <c:pt idx="4">
                <c:v>0</c:v>
              </c:pt>
              <c:pt idx="5">
                <c:v>0.0003817965185774057</c:v>
              </c:pt>
              <c:pt idx="6">
                <c:v>0</c:v>
              </c:pt>
              <c:pt idx="7">
                <c:v>0.023954817730900604</c:v>
              </c:pt>
              <c:pt idx="8">
                <c:v>0</c:v>
              </c:pt>
              <c:pt idx="9">
                <c:v>0.11858839678778403</c:v>
              </c:pt>
              <c:pt idx="10">
                <c:v>0.16962551422285804</c:v>
              </c:pt>
              <c:pt idx="11">
                <c:v>0</c:v>
              </c:pt>
              <c:pt idx="12">
                <c:v>0</c:v>
              </c:pt>
              <c:pt idx="13">
                <c:v>0.03615636784299774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0.23011745377675477</c:v>
              </c:pt>
              <c:pt idx="1">
                <c:v>0.2568726712297449</c:v>
              </c:pt>
              <c:pt idx="2">
                <c:v>0.23370255355863087</c:v>
              </c:pt>
              <c:pt idx="3">
                <c:v>0.045771756771525146</c:v>
              </c:pt>
              <c:pt idx="4">
                <c:v>0.33089155289828215</c:v>
              </c:pt>
              <c:pt idx="5">
                <c:v>0.3614865108103675</c:v>
              </c:pt>
              <c:pt idx="6">
                <c:v>0.5606652741235945</c:v>
              </c:pt>
              <c:pt idx="7">
                <c:v>0.177275344798931</c:v>
              </c:pt>
              <c:pt idx="8">
                <c:v>0.4036465956593809</c:v>
              </c:pt>
              <c:pt idx="9">
                <c:v>0.13641118650789652</c:v>
              </c:pt>
              <c:pt idx="10">
                <c:v>0.4370001875972985</c:v>
              </c:pt>
              <c:pt idx="11">
                <c:v>0.7743934851555943</c:v>
              </c:pt>
              <c:pt idx="12">
                <c:v>0.34636640507582966</c:v>
              </c:pt>
              <c:pt idx="13">
                <c:v>0.3556684199479241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 xmlns:a="http://schemas.openxmlformats.org/drawingml/2006/main">
              <a:srgbClr val="F5F6F7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</c:v>
              </c:pt>
            </c:numLit>
          </c:val>
        </c:ser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0.xml><?xml version="1.0" encoding="utf-8"?>
<c:chartSpace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Oliveira Trust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0.0006138463216740936</c:v>
              </c:pt>
              <c:pt idx="1">
                <c:v>0.044212645469864253</c:v>
              </c:pt>
              <c:pt idx="2">
                <c:v>0.28119731553939475</c:v>
              </c:pt>
              <c:pt idx="3">
                <c:v>0.498315166897194</c:v>
              </c:pt>
              <c:pt idx="4">
                <c:v>0</c:v>
              </c:pt>
              <c:pt idx="5">
                <c:v>0.0749544808439373</c:v>
              </c:pt>
              <c:pt idx="6">
                <c:v>0.1256325612690353</c:v>
              </c:pt>
              <c:pt idx="7">
                <c:v>0.018364626656861456</c:v>
              </c:pt>
              <c:pt idx="8">
                <c:v>0</c:v>
              </c:pt>
              <c:pt idx="9">
                <c:v>0.0029421159690079094</c:v>
              </c:pt>
              <c:pt idx="10">
                <c:v>0.008978795000970525</c:v>
              </c:pt>
              <c:pt idx="11">
                <c:v>0</c:v>
              </c:pt>
              <c:pt idx="12">
                <c:v>0.03154326193132497</c:v>
              </c:pt>
              <c:pt idx="13">
                <c:v>0.002242562112152404</c:v>
              </c:pt>
            </c:numLit>
          </c:val>
        </c:ser>
        <c:ser>
          <c:idx val="1"/>
          <c:order val="1"/>
          <c:tx>
            <c:v>BTG Pactual</c:v>
          </c:tx>
          <c:spPr>
            <a:solidFill xmlns:a="http://schemas.openxmlformats.org/drawingml/2006/main">
              <a:srgbClr val="151515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0.0010431439626170636</c:v>
              </c:pt>
              <c:pt idx="1">
                <c:v>0</c:v>
              </c:pt>
              <c:pt idx="2">
                <c:v>0.16208366494303886</c:v>
              </c:pt>
              <c:pt idx="3">
                <c:v>0.1757092047057602</c:v>
              </c:pt>
              <c:pt idx="4">
                <c:v>0</c:v>
              </c:pt>
              <c:pt idx="5">
                <c:v>0.04769791911064288</c:v>
              </c:pt>
              <c:pt idx="6">
                <c:v>0</c:v>
              </c:pt>
              <c:pt idx="7">
                <c:v>0.08539967217022329</c:v>
              </c:pt>
              <c:pt idx="8">
                <c:v>0</c:v>
              </c:pt>
              <c:pt idx="9">
                <c:v>0.010835431270787257</c:v>
              </c:pt>
              <c:pt idx="10">
                <c:v>0.03112585600039729</c:v>
              </c:pt>
              <c:pt idx="11">
                <c:v>0.004884909298100636</c:v>
              </c:pt>
              <c:pt idx="12">
                <c:v>0.04452221594370676</c:v>
              </c:pt>
              <c:pt idx="13">
                <c:v>0.04581440346818252</c:v>
              </c:pt>
            </c:numLit>
          </c:val>
        </c:ser>
        <c:ser>
          <c:idx val="2"/>
          <c:order val="2"/>
          <c:tx>
            <c:v>Banco do Brasil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0.47044611553356097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</c:v>
              </c:pt>
            </c:numLit>
          </c:val>
        </c:ser>
        <c:ser>
          <c:idx val="3"/>
          <c:order val="3"/>
          <c:tx>
            <c:v>Bradesco</c:v>
          </c:tx>
          <c:spPr>
            <a:solidFill xmlns:a="http://schemas.openxmlformats.org/drawingml/2006/main">
              <a:srgbClr val="494E53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0.02186244476852497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0.4427778819644693</c:v>
              </c:pt>
              <c:pt idx="5">
                <c:v>0.14163445791151857</c:v>
              </c:pt>
              <c:pt idx="6">
                <c:v>0</c:v>
              </c:pt>
              <c:pt idx="7">
                <c:v>0.05234064889393871</c:v>
              </c:pt>
              <c:pt idx="8">
                <c:v>0</c:v>
              </c:pt>
              <c:pt idx="9">
                <c:v>0</c:v>
              </c:pt>
              <c:pt idx="10">
                <c:v>0.029399905971277233</c:v>
              </c:pt>
              <c:pt idx="11">
                <c:v>0</c:v>
              </c:pt>
              <c:pt idx="12">
                <c:v>0.009145909849505437</c:v>
              </c:pt>
              <c:pt idx="13">
                <c:v>0.04358394025590201</c:v>
              </c:pt>
            </c:numLit>
          </c:val>
        </c:ser>
        <c:ser>
          <c:idx val="4"/>
          <c:order val="4"/>
          <c:tx>
            <c:v>Genial</c:v>
          </c:tx>
          <c:spPr>
            <a:solidFill xmlns:a="http://schemas.openxmlformats.org/drawingml/2006/main">
              <a:srgbClr val="61666B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</c:v>
              </c:pt>
              <c:pt idx="1">
                <c:v>0.01192825781904415</c:v>
              </c:pt>
              <c:pt idx="2">
                <c:v>0</c:v>
              </c:pt>
              <c:pt idx="3">
                <c:v>0.05690901582562128</c:v>
              </c:pt>
              <c:pt idx="4">
                <c:v>0</c:v>
              </c:pt>
              <c:pt idx="5">
                <c:v>0.10921999509731997</c:v>
              </c:pt>
              <c:pt idx="6">
                <c:v>0</c:v>
              </c:pt>
              <c:pt idx="7">
                <c:v>0.04361472819751594</c:v>
              </c:pt>
              <c:pt idx="8">
                <c:v>0</c:v>
              </c:pt>
              <c:pt idx="9">
                <c:v>0.005254031846368565</c:v>
              </c:pt>
              <c:pt idx="10">
                <c:v>0</c:v>
              </c:pt>
              <c:pt idx="11">
                <c:v>0</c:v>
              </c:pt>
              <c:pt idx="12">
                <c:v>0.0014288577438735935</c:v>
              </c:pt>
              <c:pt idx="13">
                <c:v>0.022093044160997583</c:v>
              </c:pt>
            </c:numLit>
          </c:val>
        </c:ser>
        <c:ser>
          <c:idx val="5"/>
          <c:order val="5"/>
          <c:tx>
            <c:v>Tercon Investimentos</c:v>
          </c:tx>
          <c:spPr>
            <a:solidFill xmlns:a="http://schemas.openxmlformats.org/drawingml/2006/main">
              <a:srgbClr val="777C81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0.22125837215796879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0.002182052599926365</c:v>
              </c:pt>
              <c:pt idx="6">
                <c:v>0</c:v>
              </c:pt>
              <c:pt idx="7">
                <c:v>0.0025739291328569992</c:v>
              </c:pt>
              <c:pt idx="8">
                <c:v>0</c:v>
              </c:pt>
              <c:pt idx="9">
                <c:v>0</c:v>
              </c:pt>
              <c:pt idx="10">
                <c:v>0.011512024996009442</c:v>
              </c:pt>
              <c:pt idx="11">
                <c:v>0</c:v>
              </c:pt>
              <c:pt idx="12">
                <c:v>0</c:v>
              </c:pt>
              <c:pt idx="13">
                <c:v>0.005542310561087736</c:v>
              </c:pt>
            </c:numLit>
          </c:val>
        </c:ser>
        <c:ser>
          <c:idx val="6"/>
          <c:order val="6"/>
          <c:tx>
            <c:v>CBSF</c:v>
          </c:tx>
          <c:spPr>
            <a:solidFill xmlns:a="http://schemas.openxmlformats.org/drawingml/2006/main">
              <a:srgbClr val="8D9297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0.02158187974606139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0.00018173256305436804</c:v>
              </c:pt>
              <c:pt idx="6">
                <c:v>0</c:v>
              </c:pt>
              <c:pt idx="7">
                <c:v>0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0.041064963366157364</c:v>
              </c:pt>
              <c:pt idx="12">
                <c:v>0</c:v>
              </c:pt>
              <c:pt idx="13">
                <c:v>0.05868225680250354</c:v>
              </c:pt>
            </c:numLit>
          </c:val>
        </c:ser>
        <c:ser>
          <c:idx val="7"/>
          <c:order val="7"/>
          <c:tx>
            <c:v>REAG</c:v>
          </c:tx>
          <c:spPr>
            <a:solidFill xmlns:a="http://schemas.openxmlformats.org/drawingml/2006/main">
              <a:srgbClr val="A3A7AB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0.0006791993569090867</c:v>
              </c:pt>
              <c:pt idx="6">
                <c:v>0</c:v>
              </c:pt>
              <c:pt idx="7">
                <c:v>0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0.003591033832779635</c:v>
              </c:pt>
              <c:pt idx="12">
                <c:v>0.03284180927126185</c:v>
              </c:pt>
              <c:pt idx="13">
                <c:v>0.054467807244361385</c:v>
              </c:pt>
            </c:numLit>
          </c:val>
        </c:ser>
        <c:ser>
          <c:idx val="8"/>
          <c:order val="8"/>
          <c:tx>
            <c:v>Itaú</c:v>
          </c:tx>
          <c:spPr>
            <a:solidFill xmlns:a="http://schemas.openxmlformats.org/drawingml/2006/main">
              <a:srgbClr val="B7BBBE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</c:v>
              </c:pt>
              <c:pt idx="1">
                <c:v>0.05471978740561447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0.08150480181936648</c:v>
              </c:pt>
              <c:pt idx="7">
                <c:v>0.01041573167893111</c:v>
              </c:pt>
              <c:pt idx="8">
                <c:v>0</c:v>
              </c:pt>
              <c:pt idx="9">
                <c:v>0.09998764453570486</c:v>
              </c:pt>
              <c:pt idx="10">
                <c:v>0</c:v>
              </c:pt>
              <c:pt idx="11">
                <c:v>0</c:v>
              </c:pt>
              <c:pt idx="12">
                <c:v>0.025973774276490218</c:v>
              </c:pt>
              <c:pt idx="13">
                <c:v>0.04125339079361007</c:v>
              </c:pt>
            </c:numLit>
          </c:val>
        </c:ser>
        <c:ser>
          <c:idx val="9"/>
          <c:order val="9"/>
          <c:tx>
            <c:v>Solis Investimentos</c:v>
          </c:tx>
          <c:spPr>
            <a:solidFill xmlns:a="http://schemas.openxmlformats.org/drawingml/2006/main">
              <a:srgbClr val="C8CBCE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0.034493689827595056</c:v>
              </c:pt>
              <c:pt idx="1">
                <c:v>0</c:v>
              </c:pt>
              <c:pt idx="2">
                <c:v>0.0707785674055675</c:v>
              </c:pt>
              <c:pt idx="3">
                <c:v>0.013372059792210478</c:v>
              </c:pt>
              <c:pt idx="4">
                <c:v>0</c:v>
              </c:pt>
              <c:pt idx="5">
                <c:v>0.01410591271130141</c:v>
              </c:pt>
              <c:pt idx="6">
                <c:v>0</c:v>
              </c:pt>
              <c:pt idx="7">
                <c:v>0.006169055247023951</c:v>
              </c:pt>
              <c:pt idx="8">
                <c:v>0</c:v>
              </c:pt>
              <c:pt idx="9">
                <c:v>0</c:v>
              </c:pt>
              <c:pt idx="10">
                <c:v>0.004700587309837359</c:v>
              </c:pt>
              <c:pt idx="11">
                <c:v>0.00027139686215441733</c:v>
              </c:pt>
              <c:pt idx="12">
                <c:v>0.0007285216184997913</c:v>
              </c:pt>
              <c:pt idx="13">
                <c:v>0.019346025162812742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0.698380362355187</c:v>
              </c:pt>
              <c:pt idx="1">
                <c:v>0.8891393093054771</c:v>
              </c:pt>
              <c:pt idx="2">
                <c:v>0.4858776358641141</c:v>
              </c:pt>
              <c:pt idx="3">
                <c:v>0.25569455277921393</c:v>
              </c:pt>
              <c:pt idx="4">
                <c:v>0.5572221180355307</c:v>
              </c:pt>
              <c:pt idx="5">
                <c:v>0.6093334003170607</c:v>
              </c:pt>
              <c:pt idx="6">
                <c:v>0.7928626369115982</c:v>
              </c:pt>
              <c:pt idx="7">
                <c:v>0.3072387437273598</c:v>
              </c:pt>
              <c:pt idx="8">
                <c:v>0</c:v>
              </c:pt>
              <c:pt idx="9">
                <c:v>0.8041536857064218</c:v>
              </c:pt>
              <c:pt idx="10">
                <c:v>0.9142828307215082</c:v>
              </c:pt>
              <c:pt idx="11">
                <c:v>0.9501876966408079</c:v>
              </c:pt>
              <c:pt idx="12">
                <c:v>0.8538156493653374</c:v>
              </c:pt>
              <c:pt idx="13">
                <c:v>0.7068138110118435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 xmlns:a="http://schemas.openxmlformats.org/drawingml/2006/main">
              <a:srgbClr val="F5F6F7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0.0007662608603716966</c:v>
              </c:pt>
              <c:pt idx="1">
                <c:v>0</c:v>
              </c:pt>
              <c:pt idx="2">
                <c:v>6.281624788476696E-05</c:v>
              </c:pt>
              <c:pt idx="3">
                <c:v>0</c:v>
              </c:pt>
              <c:pt idx="4">
                <c:v>0</c:v>
              </c:pt>
              <c:pt idx="5">
                <c:v>1.0849488329413318E-05</c:v>
              </c:pt>
              <c:pt idx="6">
                <c:v>0</c:v>
              </c:pt>
              <c:pt idx="7">
                <c:v>0.003436748761727782</c:v>
              </c:pt>
              <c:pt idx="8">
                <c:v>0</c:v>
              </c:pt>
              <c:pt idx="9">
                <c:v>0.07682709067170966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0.00016044842654654585</c:v>
              </c:pt>
            </c:numLit>
          </c:val>
        </c:ser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1.xml><?xml version="1.0" encoding="utf-8"?>
<c:chartSpace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0.656000888816908</c:v>
              </c:pt>
              <c:pt idx="1">
                <c:v>0.30655505096291374</c:v>
              </c:pt>
              <c:pt idx="2">
                <c:v>0.144340456312791</c:v>
              </c:pt>
              <c:pt idx="3">
                <c:v>0.03117383637009289</c:v>
              </c:pt>
              <c:pt idx="4">
                <c:v>0.07483979968200132</c:v>
              </c:pt>
              <c:pt idx="5">
                <c:v>0.041426253610816026</c:v>
              </c:pt>
              <c:pt idx="6">
                <c:v>0</c:v>
              </c:pt>
              <c:pt idx="7">
                <c:v>0.027474689922011502</c:v>
              </c:pt>
              <c:pt idx="8">
                <c:v>0</c:v>
              </c:pt>
              <c:pt idx="9">
                <c:v>0.18541263828290985</c:v>
              </c:pt>
              <c:pt idx="10">
                <c:v>0.09519798891176616</c:v>
              </c:pt>
              <c:pt idx="11">
                <c:v>0.0515490070093137</c:v>
              </c:pt>
              <c:pt idx="12">
                <c:v>0.209321755829712</c:v>
              </c:pt>
              <c:pt idx="13">
                <c:v>0.09871038786152628</c:v>
              </c:pt>
            </c:numLit>
          </c:val>
        </c:ser>
        <c:ser>
          <c:idx val="1"/>
          <c:order val="1"/>
          <c:tx>
            <c:v>Oliveira Trust</c:v>
          </c:tx>
          <c:spPr>
            <a:solidFill xmlns:a="http://schemas.openxmlformats.org/drawingml/2006/main">
              <a:srgbClr val="151515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0.027051696768214718</c:v>
              </c:pt>
              <c:pt idx="1">
                <c:v>0.2717322646373472</c:v>
              </c:pt>
              <c:pt idx="2">
                <c:v>0.38434362130666005</c:v>
              </c:pt>
              <c:pt idx="3">
                <c:v>0.5359280855252573</c:v>
              </c:pt>
              <c:pt idx="4">
                <c:v>0.01369933570980149</c:v>
              </c:pt>
              <c:pt idx="5">
                <c:v>0.10098918581145755</c:v>
              </c:pt>
              <c:pt idx="6">
                <c:v>0.23378075394850414</c:v>
              </c:pt>
              <c:pt idx="7">
                <c:v>0.09623885075338706</c:v>
              </c:pt>
              <c:pt idx="8">
                <c:v>0</c:v>
              </c:pt>
              <c:pt idx="9">
                <c:v>0.03000570723619616</c:v>
              </c:pt>
              <c:pt idx="10">
                <c:v>0.09687131495911563</c:v>
              </c:pt>
              <c:pt idx="11">
                <c:v>0</c:v>
              </c:pt>
              <c:pt idx="12">
                <c:v>0.02810813865026815</c:v>
              </c:pt>
              <c:pt idx="13">
                <c:v>0.032777305192846364</c:v>
              </c:pt>
            </c:numLit>
          </c:val>
        </c:ser>
        <c:ser>
          <c:idx val="2"/>
          <c:order val="2"/>
          <c:tx>
            <c:v>BTG Pactual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0.0025226472154451962</c:v>
              </c:pt>
              <c:pt idx="1">
                <c:v>0</c:v>
              </c:pt>
              <c:pt idx="2">
                <c:v>0.1723655922546065</c:v>
              </c:pt>
              <c:pt idx="3">
                <c:v>0.18229075168007014</c:v>
              </c:pt>
              <c:pt idx="4">
                <c:v>0.02167823883113039</c:v>
              </c:pt>
              <c:pt idx="5">
                <c:v>0.11374888451281695</c:v>
              </c:pt>
              <c:pt idx="6">
                <c:v>0.010283546215548051</c:v>
              </c:pt>
              <c:pt idx="7">
                <c:v>0.08712579737615378</c:v>
              </c:pt>
              <c:pt idx="8">
                <c:v>0</c:v>
              </c:pt>
              <c:pt idx="9">
                <c:v>0.06509344726707786</c:v>
              </c:pt>
              <c:pt idx="10">
                <c:v>0.03486778726515402</c:v>
              </c:pt>
              <c:pt idx="11">
                <c:v>0.03867683398465943</c:v>
              </c:pt>
              <c:pt idx="12">
                <c:v>0.2411558914210211</c:v>
              </c:pt>
              <c:pt idx="13">
                <c:v>0.12777031470705189</c:v>
              </c:pt>
            </c:numLit>
          </c:val>
        </c:ser>
        <c:ser>
          <c:idx val="3"/>
          <c:order val="3"/>
          <c:tx>
            <c:v>Banco do Brasil</c:v>
          </c:tx>
          <c:spPr>
            <a:solidFill xmlns:a="http://schemas.openxmlformats.org/drawingml/2006/main">
              <a:srgbClr val="494E53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0.4704461155335609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</c:v>
              </c:pt>
            </c:numLit>
          </c:val>
        </c:ser>
        <c:ser>
          <c:idx val="4"/>
          <c:order val="4"/>
          <c:tx>
            <c:v>Daycoval</c:v>
          </c:tx>
          <c:spPr>
            <a:solidFill xmlns:a="http://schemas.openxmlformats.org/drawingml/2006/main">
              <a:srgbClr val="61666B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0.005650217492933909</c:v>
              </c:pt>
              <c:pt idx="1">
                <c:v>0.03394956956679466</c:v>
              </c:pt>
              <c:pt idx="2">
                <c:v>0.05997711841739698</c:v>
              </c:pt>
              <c:pt idx="3">
                <c:v>0.0644746740730303</c:v>
              </c:pt>
              <c:pt idx="4">
                <c:v>0.05540491499139333</c:v>
              </c:pt>
              <c:pt idx="5">
                <c:v>0.11945702938613052</c:v>
              </c:pt>
              <c:pt idx="6">
                <c:v>0.058882728248978014</c:v>
              </c:pt>
              <c:pt idx="7">
                <c:v>0.02141398019715528</c:v>
              </c:pt>
              <c:pt idx="8">
                <c:v>0</c:v>
              </c:pt>
              <c:pt idx="9">
                <c:v>0.21769813460950754</c:v>
              </c:pt>
              <c:pt idx="10">
                <c:v>0.18869243152960105</c:v>
              </c:pt>
              <c:pt idx="11">
                <c:v>0.0733124835554939</c:v>
              </c:pt>
              <c:pt idx="12">
                <c:v>0.07432392233412591</c:v>
              </c:pt>
              <c:pt idx="13">
                <c:v>0.0809584817747009</c:v>
              </c:pt>
            </c:numLit>
          </c:val>
        </c:ser>
        <c:ser>
          <c:idx val="5"/>
          <c:order val="5"/>
          <c:tx>
            <c:v>REAG</c:v>
          </c:tx>
          <c:spPr>
            <a:solidFill xmlns:a="http://schemas.openxmlformats.org/drawingml/2006/main">
              <a:srgbClr val="777C81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0.02158187974606139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0.001265118761995852</c:v>
              </c:pt>
              <c:pt idx="6">
                <c:v>0</c:v>
              </c:pt>
              <c:pt idx="7">
                <c:v>7.168820062739686E-06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0.044655997198937</c:v>
              </c:pt>
              <c:pt idx="12">
                <c:v>0.04848829360672972</c:v>
              </c:pt>
              <c:pt idx="13">
                <c:v>0.14039639207761814</c:v>
              </c:pt>
            </c:numLit>
          </c:val>
        </c:ser>
        <c:ser>
          <c:idx val="6"/>
          <c:order val="6"/>
          <c:tx>
            <c:v>Bradesco</c:v>
          </c:tx>
          <c:spPr>
            <a:solidFill xmlns:a="http://schemas.openxmlformats.org/drawingml/2006/main">
              <a:srgbClr val="8D9297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0.01822059623461933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0.5171854935971929</c:v>
              </c:pt>
              <c:pt idx="5">
                <c:v>0.14376767708183888</c:v>
              </c:pt>
              <c:pt idx="6">
                <c:v>0.13022827872380854</c:v>
              </c:pt>
              <c:pt idx="7">
                <c:v>0.06540428119237003</c:v>
              </c:pt>
              <c:pt idx="8">
                <c:v>0</c:v>
              </c:pt>
              <c:pt idx="9">
                <c:v>0</c:v>
              </c:pt>
              <c:pt idx="10">
                <c:v>0.029399905971277233</c:v>
              </c:pt>
              <c:pt idx="11">
                <c:v>0.0012245530453966088</c:v>
              </c:pt>
              <c:pt idx="12">
                <c:v>0.033839343259659926</c:v>
              </c:pt>
              <c:pt idx="13">
                <c:v>0.05554430575960388</c:v>
              </c:pt>
            </c:numLit>
          </c:val>
        </c:ser>
        <c:ser>
          <c:idx val="7"/>
          <c:order val="7"/>
          <c:tx>
            <c:v>Genial</c:v>
          </c:tx>
          <c:spPr>
            <a:solidFill xmlns:a="http://schemas.openxmlformats.org/drawingml/2006/main">
              <a:srgbClr val="A3A7AB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0.0014143984780017323</c:v>
              </c:pt>
              <c:pt idx="1">
                <c:v>0.10503507651441574</c:v>
              </c:pt>
              <c:pt idx="2">
                <c:v>0.011837148359587121</c:v>
              </c:pt>
              <c:pt idx="3">
                <c:v>0.08209276508477789</c:v>
              </c:pt>
              <c:pt idx="4">
                <c:v>0</c:v>
              </c:pt>
              <c:pt idx="5">
                <c:v>0.12829342578813055</c:v>
              </c:pt>
              <c:pt idx="6">
                <c:v>0.0820968236937576</c:v>
              </c:pt>
              <c:pt idx="7">
                <c:v>0.056321661963584714</c:v>
              </c:pt>
              <c:pt idx="8">
                <c:v>0</c:v>
              </c:pt>
              <c:pt idx="9">
                <c:v>0.06386519876721265</c:v>
              </c:pt>
              <c:pt idx="10">
                <c:v>0.051943217169193555</c:v>
              </c:pt>
              <c:pt idx="11">
                <c:v>0.016187640050605127</c:v>
              </c:pt>
              <c:pt idx="12">
                <c:v>0.01006878803870165</c:v>
              </c:pt>
              <c:pt idx="13">
                <c:v>0.0329560029844489</c:v>
              </c:pt>
            </c:numLit>
          </c:val>
        </c:ser>
        <c:ser>
          <c:idx val="8"/>
          <c:order val="8"/>
          <c:tx>
            <c:v>Finaxis</c:v>
          </c:tx>
          <c:spPr>
            <a:solidFill xmlns:a="http://schemas.openxmlformats.org/drawingml/2006/main">
              <a:srgbClr val="B7BBBE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0.02938771658878437</c:v>
              </c:pt>
              <c:pt idx="1">
                <c:v>0.0012950121619806157</c:v>
              </c:pt>
              <c:pt idx="2">
                <c:v>0</c:v>
              </c:pt>
              <c:pt idx="3">
                <c:v>0.0020072880960920487</c:v>
              </c:pt>
              <c:pt idx="4">
                <c:v>0</c:v>
              </c:pt>
              <c:pt idx="5">
                <c:v>0.0003817965185774057</c:v>
              </c:pt>
              <c:pt idx="6">
                <c:v>0</c:v>
              </c:pt>
              <c:pt idx="7">
                <c:v>0.023954817730900597</c:v>
              </c:pt>
              <c:pt idx="8">
                <c:v>0</c:v>
              </c:pt>
              <c:pt idx="9">
                <c:v>0.11858839678778405</c:v>
              </c:pt>
              <c:pt idx="10">
                <c:v>0.16962551422285804</c:v>
              </c:pt>
              <c:pt idx="11">
                <c:v>0</c:v>
              </c:pt>
              <c:pt idx="12">
                <c:v>0</c:v>
              </c:pt>
              <c:pt idx="13">
                <c:v>0.03615636784299775</c:v>
              </c:pt>
            </c:numLit>
          </c:val>
        </c:ser>
        <c:ser>
          <c:idx val="9"/>
          <c:order val="9"/>
          <c:tx>
            <c:v>Limine Trust</c:v>
          </c:tx>
          <c:spPr>
            <a:solidFill xmlns:a="http://schemas.openxmlformats.org/drawingml/2006/main">
              <a:srgbClr val="C8CBCE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0.025884475168990163</c:v>
              </c:pt>
              <c:pt idx="1">
                <c:v>0.02598764795504468</c:v>
              </c:pt>
              <c:pt idx="2">
                <c:v>0.003851385744994227</c:v>
              </c:pt>
              <c:pt idx="3">
                <c:v>0.022088841798878028</c:v>
              </c:pt>
              <c:pt idx="4">
                <c:v>0.02288484386594737</c:v>
              </c:pt>
              <c:pt idx="5">
                <c:v>0.006208941893645588</c:v>
              </c:pt>
              <c:pt idx="6">
                <c:v>0</c:v>
              </c:pt>
              <c:pt idx="7">
                <c:v>0.031165673360826523</c:v>
              </c:pt>
              <c:pt idx="8">
                <c:v>0</c:v>
              </c:pt>
              <c:pt idx="9">
                <c:v>0.012837643057223302</c:v>
              </c:pt>
              <c:pt idx="10">
                <c:v>0.0067169555656875525</c:v>
              </c:pt>
              <c:pt idx="11">
                <c:v>0</c:v>
              </c:pt>
              <c:pt idx="12">
                <c:v>0.00018856231051638396</c:v>
              </c:pt>
              <c:pt idx="13">
                <c:v>0.03723037703995639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0.19940752085450217</c:v>
              </c:pt>
              <c:pt idx="1">
                <c:v>0.25544537820150354</c:v>
              </c:pt>
              <c:pt idx="2">
                <c:v>0.2232218613560792</c:v>
              </c:pt>
              <c:pt idx="3">
                <c:v>0.07991574384591492</c:v>
              </c:pt>
              <c:pt idx="4">
                <c:v>0.29430737332253326</c:v>
              </c:pt>
              <c:pt idx="5">
                <c:v>0.3428596328805304</c:v>
              </c:pt>
              <c:pt idx="6">
                <c:v>0.48378618098726084</c:v>
              </c:pt>
              <c:pt idx="7">
                <c:v>0.07612522958781971</c:v>
              </c:pt>
              <c:pt idx="8">
                <c:v>0</c:v>
              </c:pt>
              <c:pt idx="9">
                <c:v>0.2296717433203791</c:v>
              </c:pt>
              <c:pt idx="10">
                <c:v>0.3244582354834001</c:v>
              </c:pt>
              <c:pt idx="11">
                <c:v>0.7743934851555943</c:v>
              </c:pt>
              <c:pt idx="12">
                <c:v>0.3539405580978503</c:v>
              </c:pt>
              <c:pt idx="13">
                <c:v>0.34790662809489536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 xmlns:a="http://schemas.openxmlformats.org/drawingml/2006/main">
              <a:srgbClr val="F5F6F7"/>
            </a:solidFill>
          </c:spPr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corporativo*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0%</c:formatCode>
              <c:ptCount val="14"/>
              <c:pt idx="0">
                <c:v>0.012877962635538961</c:v>
              </c:pt>
              <c:pt idx="1">
                <c:v>0</c:v>
              </c:pt>
              <c:pt idx="2">
                <c:v>6.281624788476696E-05</c:v>
              </c:pt>
              <c:pt idx="3">
                <c:v>2.801352588640792E-05</c:v>
              </c:pt>
              <c:pt idx="4">
                <c:v>0</c:v>
              </c:pt>
              <c:pt idx="5">
                <c:v>0.0016020537540602194</c:v>
              </c:pt>
              <c:pt idx="6">
                <c:v>0.0009416881821426408</c:v>
              </c:pt>
              <c:pt idx="7">
                <c:v>0.04432173356216704</c:v>
              </c:pt>
              <c:pt idx="8">
                <c:v>0</c:v>
              </c:pt>
              <c:pt idx="9">
                <c:v>0.07682709067170967</c:v>
              </c:pt>
              <c:pt idx="10">
                <c:v>0.0022266489219465906</c:v>
              </c:pt>
              <c:pt idx="11">
                <c:v>0</c:v>
              </c:pt>
              <c:pt idx="12">
                <c:v>0.0005647464514148762</c:v>
              </c:pt>
              <c:pt idx="13">
                <c:v>0.009593436664354341</c:v>
              </c:pt>
            </c:numLit>
          </c:val>
        </c:ser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515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06AEB9-0549-4079-8993-3B56FED10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00125"/>
            <a:ext cx="838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8E007B-A11F-4383-8C31-C88DC272B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09700"/>
            <a:ext cx="8572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INDÚSTRIA DE FIDCs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3D7B41-C0B0-4288-920A-36D39F46A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00300"/>
            <a:ext cx="962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7E9EB"/>
                </a:solidFill>
                <a:latin typeface="Arial"/>
                <a:ea typeface="Arial"/>
                <a:cs typeface="Arial"/>
              </a:rPr>
              <a:t>Escala, qualidade do dado, prestadores e fundos que explicam a concentração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7262C0-E13E-4FD7-8427-CD6C11797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4F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B1B684-E73D-40D6-B28F-A267BFD7B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86375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Dados de PL: 31 de maio de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0D40C8-C129-4D26-A2DB-75AAA7679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10225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E7E9EB"/>
                </a:solidFill>
                <a:latin typeface="Arial"/>
                <a:ea typeface="Arial"/>
                <a:cs typeface="Arial"/>
              </a:rPr>
              <a:t>Ofertas: registros até 16 de julho de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9C0048-8D0D-48F7-856B-F3DC1A12C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57925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Itaú BBA · Julho de 2026</a:t>
            </a:r>
          </a:p>
        </p:txBody>
      </p:sp>
    </p:spTree>
    <p:extLst>
      <p:ext uri="{BB962C8B-B14F-4D97-AF65-F5344CB8AC3E}">
        <p14:creationId xmlns:p14="http://schemas.microsoft.com/office/powerpoint/2010/main" val="201194626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FFAFEDD-C3D5-4EA4-8280-FFEBD9F0C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SÍNTESE EXECUTIVA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E16F62-E5E5-49FD-9BE2-92D294CF7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R$ 880 bi ex-FIC; a concentração aparece em fundos, prestadores e ajustes de qualidade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D3849B-C0DD-4E47-BA18-730086CC7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63047D-53D3-447D-AF34-AAB0AAE5D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B6A21F-805B-4D8F-B585-704E31420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ANBIMA e FundosNet; mai/26, salvo ofertas até 16/jul/26.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9EF9B6-7EE5-4588-9E86-E74945556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C4E4D2-AE92-4C8C-B376-624320176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38112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R$ 880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C13E72-4547-4CB6-878B-A5561B8AA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40017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em mai/26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CEE8E1-3F67-49DB-AF82-FC0BF6BED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78117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10,7 vezes o nível de 2015; FIC-FIDC adiciona R$ 78,6 bi ao PL bruto.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02D4AC-8E73-4E20-A92F-9025D6ACF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7172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C74109-F524-4C49-8927-CF174BAF0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4317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59%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5F04D56-9F8D-4EBD-94CE-588276226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56222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dos fundos acima de R$ 200 mi têm até 10 contas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9EBBB80-ABFD-44BF-BC10-D8D3C0108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94322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Esse recorte concentra 60,7% do PL do universo de R$ 733,9 bi.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AAA085-0CC6-46C5-A56B-93766BE7F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53377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4579E9-34C4-4352-A20F-D3382D38B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0522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197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CC66F93-F6A3-4517-8D6B-A8F9FC061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72427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com inadimplência acima da carteira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5614D2D-69B6-4D8E-B1F7-1A10B7748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10527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 cap remove R$ 14,6 bi; os 10 maiores casos explicam 52,6%.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CAA2D4B-7F9D-4604-AFCA-B5202E043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9582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36AD609-7342-4CDC-BDCE-CD39F91C4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6727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34,0%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414BADE-AC56-41FB-B9DB-785DFAFAB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88632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 PL em monoestruturas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7622471-400C-41C4-BB98-FA007BE20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26732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Sistema Petrobras é todo o PL mono do BB; TAPSO representa 54% do PL mono da Oliveira Trust.</a:t>
            </a:r>
          </a:p>
        </p:txBody>
      </p:sp>
    </p:spTree>
    <p:extLst>
      <p:ext uri="{BB962C8B-B14F-4D97-AF65-F5344CB8AC3E}">
        <p14:creationId xmlns:p14="http://schemas.microsoft.com/office/powerpoint/2010/main" val="79652882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21E9F80-33E2-4C7C-9D3C-8F5E0219E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ESCALA DA INDÚSTRIA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AC5334-EF66-4430-A342-4CF430BD2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 PL ex-FIC chegou a R$ 880 bi; FIC-FIDC adiciona R$ 79 bi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DBE9BB-6114-433C-8762-178960CF1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FFED79-92C3-4BDB-9494-DDA716CBA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0E5675-BD54-49C9-9486-76C234F3E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de FIDC. PL bruto = PL ex-FIC + PL de FIC-FIDC; mai/26.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2066C5-356B-41EF-AF77-0E3890C7B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graphicFrame>
        <p:nvGraphicFramePr>
          <p:cNvPr id="36" name="Chart"/>
          <p:cNvGraphicFramePr/>
          <p:nvPr/>
        </p:nvGraphicFramePr>
        <p:xfrm>
          <a:off xmlns:a="http://schemas.openxmlformats.org/drawingml/2006/main" x="571500" y="1428750"/>
          <a:ext xmlns:a="http://schemas.openxmlformats.org/drawingml/2006/main" cx="7905750" cy="4429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236ac45aecb4a0b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3B3E20-D6C9-43E3-B185-8DBAF5DB2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2513" y="4758186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85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F26502-AAA6-4A22-AF6C-B7228E5E6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2588" y="4723902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94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5A4C8A-75FF-49ED-A2B0-CEBA201EE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2663" y="4643219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115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D8F0E3-1F44-4465-8075-1D40E361B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2738" y="4544185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142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681C52-F4B3-4F26-BE0C-951F795E1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2813" y="4183474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237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84BD4C-4424-46CC-8768-027D8250A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2888" y="4257511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218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2DFEBA-5162-4BA2-BF03-281CA75A0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2963" y="3914454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309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BE75E73-5776-43C6-8DFB-2F9F08C11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3038" y="3651267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379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88130D8-806F-4BA8-B669-6215B9F9C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3113" y="3250722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485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8D72B15-619B-49E8-80B9-596E619E5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3188" y="2323379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732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4E77A5D-3B6F-432B-87E9-8ED67C95C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3263" y="1618759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919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A24882A-731F-4F7E-8FF6-C4853FB65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3338" y="1485900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959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95C6830-8BF5-4A69-9072-AFFBDBB9D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R$ bi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7EFD14B-BC51-486D-9930-893CA812B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428750"/>
            <a:ext cx="276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LEITURA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7CC8E4F-C06B-45AA-AC28-D8056CDE5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695450"/>
            <a:ext cx="276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EB8EB7C-0F94-4499-B620-343AB6B8D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952625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R$ 880 bi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7CE8C8A-FFF9-4F33-888B-8801EDFFB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371725"/>
            <a:ext cx="2762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PL ex-FIC em mai/26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105B00A-9646-438B-AB73-459CD0D2E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095625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10,7x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3DCA013-E171-4265-B9F7-C3E70E120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514725"/>
            <a:ext cx="2762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crescimento sobre 2015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928C8EC-9E38-4F41-A3C0-1FBABBBE7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238625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R$ 79 bi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295CDAE-B63E-4EE1-BDFA-CE8713DA5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657725"/>
            <a:ext cx="2762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PL de FIC-FIDC, sem dupla contagem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6E0FBC0-8CCC-413A-9C42-FAE2E67F0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619750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O total no topo da coluna é o PL bruto.</a:t>
            </a:r>
          </a:p>
        </p:txBody>
      </p:sp>
    </p:spTree>
    <p:extLst>
      <p:ext uri="{BB962C8B-B14F-4D97-AF65-F5344CB8AC3E}">
        <p14:creationId xmlns:p14="http://schemas.microsoft.com/office/powerpoint/2010/main" val="13330707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24512C4-0C04-4BCA-B44D-7AC763CE7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BASE INVESTIDORA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1775F5-2FD7-47AA-B85A-9AB660288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 base atingiu 445,7 mil contas em 4.227 veículos; contas não são investidores únicos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4B0BAC-4377-4C3A-9224-45AE7FA66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B29111-A21C-4F91-8CE7-C96186DCC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F0DAF0-BE14-4FEA-91F3-1172A2FCE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de FIDC, mai/26. Contas podem se repetir por classe ou série.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B36080-AE08-479C-A07B-018B1731B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65D44A-98DD-4BB1-874B-3A4376432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33500"/>
            <a:ext cx="657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CONTAS DE COTISTAS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E26570-7962-4651-9768-FC6804536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00200"/>
            <a:ext cx="657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5" name="Chart"/>
          <p:cNvGraphicFramePr/>
          <p:nvPr/>
        </p:nvGraphicFramePr>
        <p:xfrm>
          <a:off xmlns:a="http://schemas.openxmlformats.org/drawingml/2006/main" x="571500" y="1666875"/>
          <a:ext xmlns:a="http://schemas.openxmlformats.org/drawingml/2006/main" cx="6572250" cy="16383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df162a9ec8c4b80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5C25DF-F8A8-423A-B95E-E516975BB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0D5631-ECF5-4BD8-A0B8-DD7A09521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5495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2018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ECD0B2-E6FB-4D94-A916-938FD9D3E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891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6A0465-1CAA-48C7-88F1-92544B156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6286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D1D124-5851-4AC9-8823-525EE8209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Mai/26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9083774-4FE2-413A-AAB1-43D0C407A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38550"/>
            <a:ext cx="657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REPORTANTES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99CF92C-064B-4F32-AB88-1CA88B24F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05250"/>
            <a:ext cx="657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3" name="Chart"/>
          <p:cNvGraphicFramePr/>
          <p:nvPr/>
        </p:nvGraphicFramePr>
        <p:xfrm>
          <a:off xmlns:a="http://schemas.openxmlformats.org/drawingml/2006/main" x="571500" y="3971925"/>
          <a:ext xmlns:a="http://schemas.openxmlformats.org/drawingml/2006/main" cx="6572250" cy="16383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5538fff936147c9"/>
          </a:graphicData>
        </a:graphic>
      </p:graphicFrame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CB7E92-BED2-4D7D-A17A-5E652E2DE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29FB4DB-7592-4C60-AE9B-012ED1436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5495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B2AB6DB-92C0-4377-94A0-753AD55B1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891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727B5EE-3879-42BE-8259-C91031EB2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6286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A8D0396-D229-4AAF-AB85-00FEA1361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Mai/26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C01143D-4569-4ACA-91B7-DDEB00C9F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333500"/>
            <a:ext cx="4048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COMPOSIÇÃO DAS CONTAS · MAI/26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6D4D659-0B0F-4598-8ADC-553043805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600200"/>
            <a:ext cx="4048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51" name="Chart"/>
          <p:cNvGraphicFramePr/>
          <p:nvPr/>
        </p:nvGraphicFramePr>
        <p:xfrm>
          <a:off xmlns:a="http://schemas.openxmlformats.org/drawingml/2006/main" x="7524750" y="1714500"/>
          <a:ext xmlns:a="http://schemas.openxmlformats.org/drawingml/2006/main" cx="4095750" cy="3190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40032f9724b42c8"/>
          </a:graphicData>
        </a:graphic>
      </p:graphicFrame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A0BF7D8-21DE-469C-A8FC-2A3CA34E1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5095875"/>
            <a:ext cx="404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Composição reconciliada: 445.677 contas; 32 sem tipo identificado.</a:t>
            </a:r>
          </a:p>
        </p:txBody>
      </p:sp>
    </p:spTree>
    <p:extLst>
      <p:ext uri="{BB962C8B-B14F-4D97-AF65-F5344CB8AC3E}">
        <p14:creationId xmlns:p14="http://schemas.microsoft.com/office/powerpoint/2010/main" val="194759903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D8C627E-44DD-4240-BC88-B64E01ADA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DISTRIBUIÇÃO POR NÚMERO DE COTISTAS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A3991C-205D-43CB-83CD-A61DA3081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59% dos fundos acima de R$ 200 mi têm até 10 contas e concentram 61% do PL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7A37BA-2D18-4297-95AC-10B0E976C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358BD8-5C63-4559-97BC-AC11A27C0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E22B7B-5BBB-4A1A-80F9-5F812601C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mai/26. Universo: 778 fundos e R$ 733,9 bi de PL; contas por classe/série.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B797C7-C18B-4900-9B06-96CE5FCF4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47B181-73F2-4067-9B69-86331C33D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2397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ABSOLUTO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E2D604-1AF7-478E-A4E4-EBC282E55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9067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0" name="Chart"/>
          <p:cNvGraphicFramePr/>
          <p:nvPr/>
        </p:nvGraphicFramePr>
        <p:xfrm>
          <a:off xmlns:a="http://schemas.openxmlformats.org/drawingml/2006/main" x="571500" y="1657350"/>
          <a:ext xmlns:a="http://schemas.openxmlformats.org/drawingml/2006/main" cx="5286375" cy="18669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a6ecbf9229f4f75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109257-266C-4A67-BB00-793E7CE49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2397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R$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371267-253F-4C84-9974-042F33D2E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9067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3" name="Chart"/>
          <p:cNvGraphicFramePr/>
          <p:nvPr/>
        </p:nvGraphicFramePr>
        <p:xfrm>
          <a:off xmlns:a="http://schemas.openxmlformats.org/drawingml/2006/main" x="6334125" y="1657350"/>
          <a:ext xmlns:a="http://schemas.openxmlformats.org/drawingml/2006/main" cx="5286375" cy="18669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dd90d1d7c5745c6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F350D6-FBE0-4638-AEE9-0AFA6DFA2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338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% DO TOTAL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8003D99-C9B1-49C8-920F-E9E49527B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6" name="Chart"/>
          <p:cNvGraphicFramePr/>
          <p:nvPr/>
        </p:nvGraphicFramePr>
        <p:xfrm>
          <a:off xmlns:a="http://schemas.openxmlformats.org/drawingml/2006/main" x="571500" y="4067175"/>
          <a:ext xmlns:a="http://schemas.openxmlformats.org/drawingml/2006/main" cx="5286375" cy="18669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7fd1eab3e7a43db"/>
          </a:graphicData>
        </a:graphic>
      </p:graphicFrame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AD2497-5DCA-4E54-9800-043C7E872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752850"/>
            <a:ext cx="1952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743E9CA-2E50-452D-9C3E-3FD948A30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7338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% DO TOTAL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B74F8CD-F67B-433E-A74D-4AAC5705D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0" name="Chart"/>
          <p:cNvGraphicFramePr/>
          <p:nvPr/>
        </p:nvGraphicFramePr>
        <p:xfrm>
          <a:off xmlns:a="http://schemas.openxmlformats.org/drawingml/2006/main" x="6334125" y="4067175"/>
          <a:ext xmlns:a="http://schemas.openxmlformats.org/drawingml/2006/main" cx="5286375" cy="18669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b25f089f1944dfa"/>
          </a:graphicData>
        </a:graphic>
      </p:graphicFrame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A036A65-E901-4462-83E2-CCAB00683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752850"/>
            <a:ext cx="1952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6FA2521-19DC-4E0F-A262-499A0944D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96000"/>
            <a:ext cx="1104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As quatro visões usam as mesmas seis faixas e o mesmo universo; os gráficos inferiores normalizam quantidade e PL separadamente.</a:t>
            </a:r>
          </a:p>
        </p:txBody>
      </p:sp>
    </p:spTree>
    <p:extLst>
      <p:ext uri="{BB962C8B-B14F-4D97-AF65-F5344CB8AC3E}">
        <p14:creationId xmlns:p14="http://schemas.microsoft.com/office/powerpoint/2010/main" val="112560444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23BFD92-65B3-4461-8BF0-AFC4115C4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ANBIMA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1028EB-0F07-4AFA-8047-0EB768542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Outros reúne 41,7% do PL ex-FIC; 8,5% não vem da fotografia oficial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82475E-109C-4AB1-B019-8AD168EE3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0136A2-16A0-408D-BDDD-6052FC71A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002E75-3B34-4560-9452-08543F80E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ANBIMA Data, evidência documental e CVM; mai/26. Tipo e Foco são campos separados.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D6B77E-53EE-4F1F-A132-7966853B7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graphicFrame>
        <p:nvGraphicFramePr>
          <p:cNvPr id="28" name="Chart"/>
          <p:cNvGraphicFramePr/>
          <p:nvPr/>
        </p:nvGraphicFramePr>
        <p:xfrm>
          <a:off xmlns:a="http://schemas.openxmlformats.org/drawingml/2006/main" x="571500" y="1476375"/>
          <a:ext xmlns:a="http://schemas.openxmlformats.org/drawingml/2006/main" cx="6905625" cy="4286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17ace6674354578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CA424C-621C-4A31-BE74-E20DC12B7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476375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 DA CLASSIFICAÇÃO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0E996C-137A-493F-AD25-E388C6E7E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743075"/>
            <a:ext cx="361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36A739-9D2E-4348-B176-EC4E47433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009775"/>
            <a:ext cx="1918335" cy="4333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BF9742-16F9-4FDE-BA98-0415484DA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7920" y="2009775"/>
            <a:ext cx="1592580" cy="4333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0,64%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AC188C-1EDF-40BE-BF14-0906800F8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500313"/>
            <a:ext cx="36195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8D84B4-7FEA-4097-889E-22ED0B213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557463"/>
            <a:ext cx="1918335" cy="4333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9E33B6-7F1C-4E57-BBD4-A1723EEE3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7920" y="2557463"/>
            <a:ext cx="1592580" cy="4333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1,94%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B9C1C82-C564-4032-85A1-27E71F8A7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048000"/>
            <a:ext cx="36195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968381A-24D7-4A41-BB50-57DD77384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105150"/>
            <a:ext cx="1918335" cy="4333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Oficial ANBIMA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EDD4666-1564-4068-9BBD-06926F8CE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7920" y="3105150"/>
            <a:ext cx="1592580" cy="4333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91,55%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7D7AEB6-0950-452D-A0C3-BDB17F640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595688"/>
            <a:ext cx="36195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1ABF749-E7DA-4A79-9E31-62150A4CD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652838"/>
            <a:ext cx="1918335" cy="4333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Proxy CVM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4224776-AC80-47FF-A64F-816585C85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7920" y="3652838"/>
            <a:ext cx="1592580" cy="4333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5,87%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F0A6318-C59D-4A8B-8A0A-291548669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524375"/>
            <a:ext cx="3619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 classificação de mai/26 combina fotografia cadastral ANBIMA, evidência documental, proxy CVM e registros N/D. A origem permanece visível por fundo.</a:t>
            </a:r>
          </a:p>
        </p:txBody>
      </p:sp>
    </p:spTree>
    <p:extLst>
      <p:ext uri="{BB962C8B-B14F-4D97-AF65-F5344CB8AC3E}">
        <p14:creationId xmlns:p14="http://schemas.microsoft.com/office/powerpoint/2010/main" val="208848475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551868-1EEB-4B2B-A7A5-86942DEE6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CARTEIRA POR TIPO DE RECEBÍVEL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4E7D0B-D0F6-4239-A2DD-F8F33E26F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 abertura por recebível soma R$ 728,9 bi, R$ 58,5 bi acima da carteira da Tabela 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1DA81B-C30E-451C-9E7C-C4A891377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71A069-4778-4487-81B7-DD0D1690A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D9EFD9-E4E2-4B77-A690-C68213692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de FIDC, Tabelas I e II, mai/26. Categorias não foram forçadas a reconciliar.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AD1DD8-F969-481C-A402-BD8512A1D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graphicFrame>
        <p:nvGraphicFramePr>
          <p:cNvPr id="14" name="Chart"/>
          <p:cNvGraphicFramePr/>
          <p:nvPr/>
        </p:nvGraphicFramePr>
        <p:xfrm>
          <a:off xmlns:a="http://schemas.openxmlformats.org/drawingml/2006/main" x="714375" y="1428750"/>
          <a:ext xmlns:a="http://schemas.openxmlformats.org/drawingml/2006/main" cx="10620375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2d078dad04a4a6b"/>
          </a:graphicData>
        </a:graphic>
      </p:graphicFrame>
    </p:spTree>
    <p:extLst>
      <p:ext uri="{BB962C8B-B14F-4D97-AF65-F5344CB8AC3E}">
        <p14:creationId xmlns:p14="http://schemas.microsoft.com/office/powerpoint/2010/main" val="21624304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468407B-BB52-4551-A377-FFD2E27F1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OBSERVABILIDADE DA INADIMPLÊNCIA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6C57FA-E746-4C1E-8DF6-8D4385922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 cap retira R$ 14,6 bi de 197 veículos; 10 casos explicam 52,6%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54C53E-34AE-41CA-8E08-97EE3CED8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3C112C-4A33-4EC0-A325-14D00325A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8805F7-7E91-4B56-97CE-C648A1010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mai/26. Ajuste = mínimo entre inadimplência não negativa e carteira não negativa por veículo.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4BFC58-55EF-4163-894C-0A6CD322F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0CA658-3F1F-440F-AEC5-A8E0375A3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676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MÉTRICAS SOBRE A CARTEIRA COBERTA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9878D3-5E68-4D85-86B2-81C2F5849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676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9" name="Chart"/>
          <p:cNvGraphicFramePr/>
          <p:nvPr/>
        </p:nvGraphicFramePr>
        <p:xfrm>
          <a:off xmlns:a="http://schemas.openxmlformats.org/drawingml/2006/main" x="571500" y="1857375"/>
          <a:ext xmlns:a="http://schemas.openxmlformats.org/drawingml/2006/main" cx="6762750" cy="3667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4b1729838af4c7e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8AF4C9-321D-41AB-A75D-6D5349F77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219700"/>
            <a:ext cx="533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3AD7E4-FCCB-41A5-9710-145CA426E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428750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UNIVERSO E COBERTURA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F7F7DF-1C8E-4ADC-82FB-84A2C075E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95450"/>
            <a:ext cx="3762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92DD51-8C79-410D-8A76-6E7C6E6D2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962150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/ fundos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A301E5-9B8A-4427-9280-3C11F0E92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1962150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4.227 / 4.222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BC405E3-91B4-4474-8387-959155F6F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05063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7FD86F3-DACB-4A1D-AAA9-D8F0C45D2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62213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positiva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BB953A1-36BB-4FEC-96AE-1D00C0E9A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2462213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3.119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3BE2A7A-7998-4520-8989-9019F9CC9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905125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718AC2A-38A5-414A-880A-E8AF0A065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962275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Campos reportados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0842A17-2AB8-403B-AF73-931CE8C42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2962275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4.227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B07791B-48D0-41FB-AE00-5F09D40EC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405188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577EB91-7BF2-4614-9243-F54496133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462338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Cobertura por PL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4F56925-B2F0-4CCE-8AA0-D7104AD1B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3462338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EE7E09E-600E-4093-A940-CCF4DE8B4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905250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345D7AC-41B5-4BA2-8BAF-E08D21EC5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962400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Casos acima da carteira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E9AA76D-A6EF-44BD-BB8D-C3A0B21EA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3962400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197 · 1,02% do PL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1FDA7EB-F831-4BE6-B0AB-4D9C26C6F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405313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767CEEB-DD80-4CD8-9F17-5EAE0B871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462463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Excesso Top 1 / 5 / 10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98421A0-F8E4-4AE1-B488-3D494039D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4462463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9,8% / 37,1% / 52,6%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DFA6CB3-4975-4580-BC67-85DE136A0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5238750"/>
            <a:ext cx="3762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Visão ex-360 bloqueada: o aging soma 112,1% da Tabela I e não reconcilia; gap de R$ 6,52 bi no workbook.</a:t>
            </a:r>
          </a:p>
        </p:txBody>
      </p:sp>
    </p:spTree>
    <p:extLst>
      <p:ext uri="{BB962C8B-B14F-4D97-AF65-F5344CB8AC3E}">
        <p14:creationId xmlns:p14="http://schemas.microsoft.com/office/powerpoint/2010/main" val="83295424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C5AA307-7EB5-4C5A-94F4-E6A6C8A65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EVOLUÇÃO E QUEBRA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CFCE8D-451A-4EAB-915E-5AE5FA9E3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Atlântico explica R$ 16,7 bi da queda de excesso entre jun e jul/24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EC7E19-306F-433D-B3B3-B48177298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A43EB3-DD22-4909-9479-26F17E40D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760C92-DA13-4434-BC8F-8CBC09E75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painel CVM versionado. Jun/24 e jul/24 não preservam flags brutas de campo; mudança de reporte não é separável.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020BD7-1ACA-45D4-A0B2-FE610F432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graphicFrame>
        <p:nvGraphicFramePr>
          <p:cNvPr id="52" name="Chart"/>
          <p:cNvGraphicFramePr/>
          <p:nvPr/>
        </p:nvGraphicFramePr>
        <p:xfrm>
          <a:off xmlns:a="http://schemas.openxmlformats.org/drawingml/2006/main" x="571500" y="1428750"/>
          <a:ext xmlns:a="http://schemas.openxmlformats.org/drawingml/2006/main" cx="11049000" cy="28289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cebf91007b34282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285F09-C59A-43D3-80F0-87758FDDF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48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03/23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20FCE6-32DB-4496-AEB5-0197AC0DA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0786" y="4248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D65DF1-0957-407A-A0EA-8A69D65B8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1243" y="4248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06/24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E1D4B6-6EAE-403C-9C23-60DBD8627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1471" y="4248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07/24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06A4DD-102E-494F-9DEE-E7DDAF026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1929" y="4248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8883A1-D90F-49FB-BA8D-0EC4FDB95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614" y="4248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09/25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F3B7A98-905A-43DE-BD28-9E76F9FFB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4248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05/26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46CD3E-85EA-4D0F-8A13-6970A0447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5624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8AAAD4C-24A2-4574-8E36-D96F4BBDC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451485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Bruta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3FA44B6-B213-4CF1-8E80-42228580F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5624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5220A30-1F60-415D-B054-2650B1F33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51485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Ajustada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47DF7BB-9C43-4AB6-A388-C92FC04CA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05375"/>
            <a:ext cx="1104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67EC29-0EE0-4F6C-BB28-97367D4A7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33950"/>
            <a:ext cx="3695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Bridge jun→jul/24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0E2FD9A-5A74-475F-A6F7-92688CEC2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933950"/>
            <a:ext cx="1314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Veículos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A0848D4-4C83-424F-A543-13A781E49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4933950"/>
            <a:ext cx="179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Δ inad. bruta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403A328-3FB0-43B1-99B0-C626BBD25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933950"/>
            <a:ext cx="179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Δ ajustada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28F398F-330E-4035-93B7-C172B9DC8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4933950"/>
            <a:ext cx="1885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Δ excesso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F6A7DDC-6B41-4E20-8556-AEDE186A0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29225"/>
            <a:ext cx="11049000" cy="27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9DC2CC1-A849-4B6D-A582-1A6F001E2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927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BC99E97-B0C4-4ADE-8548-719E83659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57800"/>
            <a:ext cx="369570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Atlântico FIDC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8D1E5B5-C412-400E-B853-2DF8A7E8E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5257800"/>
            <a:ext cx="131445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485D3E8-6F41-456E-B6C8-412AF777F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5257800"/>
            <a:ext cx="179070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R$ -16,6 bi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3B1F856-932C-45EA-911D-B0AA6E746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5257800"/>
            <a:ext cx="179070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R$ 0,1 bi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FAF16BD-A27A-4F14-B226-1A045A6D9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5257800"/>
            <a:ext cx="188595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R$ -16,7 bi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8B5ED5E-721A-4383-A504-B49BF16AA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02275"/>
            <a:ext cx="11049000" cy="27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C0A88B5-40F2-4A04-93EE-1B30E5165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6580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CD2F858-673F-47E9-9BD4-7C281495F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530850"/>
            <a:ext cx="369570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continuantes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4197AA1-6FEB-4576-A017-0723395F7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5530850"/>
            <a:ext cx="131445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2.656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BE328EE-C911-4C8D-9891-6BCDC7637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5530850"/>
            <a:ext cx="179070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R$ -4,3 bi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0B7495C-5F3D-4D56-ACB9-C7D87FB7A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5530850"/>
            <a:ext cx="179070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R$ -1,9 bi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FC65A53-3610-4E4E-AF9D-9FA29A860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5530850"/>
            <a:ext cx="188595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R$ -2,4 bi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8EB304C-0D43-4A97-9B2C-93035A65E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5325"/>
            <a:ext cx="11049000" cy="27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A8BC7B7-0FE9-4259-BD1C-F71FDA72E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388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B39F9B1-7AD2-469E-8D6D-C4C35B623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03900"/>
            <a:ext cx="369570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Entradas / saídas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C90EFBF-2422-479C-808D-83CDEAB31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5803900"/>
            <a:ext cx="131445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87 / 25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B78771D-7537-49E3-B4A0-373A6CDF7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5803900"/>
            <a:ext cx="179070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R$ -0,0 bi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4C81D39-CFE1-40EF-AA98-EC4CDBDC4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5803900"/>
            <a:ext cx="179070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R$ -0,0 bi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0D2977F-2C1B-4245-BB14-0177E9A9D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5803900"/>
            <a:ext cx="188595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R$ -0,0 bi</a:t>
            </a:r>
          </a:p>
        </p:txBody>
      </p:sp>
    </p:spTree>
    <p:extLst>
      <p:ext uri="{BB962C8B-B14F-4D97-AF65-F5344CB8AC3E}">
        <p14:creationId xmlns:p14="http://schemas.microsoft.com/office/powerpoint/2010/main" val="64957419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EC6B4454-E2A0-4B63-A103-CFB62EEE7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RANKING E CONCENTRAÇÃO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A4AADB-020C-49CC-8F9C-AEE9540BD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10: 36% em gestão, 71% em administração e 75% em custódia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54FAA0-C268-4AF4-8846-66C2B634B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E51A72-2244-480B-9E6F-47E2037DA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3DB7FF-3FC4-46CD-9EAF-C289A6E83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mai/26. Shares sobre PL total; prestador não informado permanece no denominador.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B2988A-4E94-4B7F-8B12-3DEC06F99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graphicFrame>
        <p:nvGraphicFramePr>
          <p:cNvPr id="66" name="Chart"/>
          <p:cNvGraphicFramePr/>
          <p:nvPr/>
        </p:nvGraphicFramePr>
        <p:xfrm>
          <a:off xmlns:a="http://schemas.openxmlformats.org/drawingml/2006/main" x="571500" y="1476375"/>
          <a:ext xmlns:a="http://schemas.openxmlformats.org/drawingml/2006/main" cx="6096000" cy="4000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1b8bd5d0d1049c9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51D280-9366-411B-BAA6-188438D68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857750"/>
            <a:ext cx="5429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B6E2B6-560E-4EF9-AF69-FCC0A17B7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476375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TRÊS MAIORES POR FUNÇÃO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3AF9C6-842D-4E12-A02D-A5C9C23E4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743075"/>
            <a:ext cx="447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30B26B-1AFC-4BF1-BE79-F7FB62586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857375"/>
            <a:ext cx="4476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720842-FFAE-4BFA-A7A5-B53A2ABAE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885950"/>
            <a:ext cx="933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Função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BB634D4-2C15-453C-BB97-5F3C90742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885950"/>
            <a:ext cx="2457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Prestador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DEE885-A333-4FAA-B8BB-F20D78A61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18859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287A2D-50B8-4049-83C2-278BACE37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181225"/>
            <a:ext cx="4476750" cy="376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4AFAFEB-A208-4F43-AC35-66E74D5FC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547938"/>
            <a:ext cx="44767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E129D3-977C-48F6-BFA6-881C882C9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209800"/>
            <a:ext cx="9334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6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7C17CF2-FE8D-4208-AA16-1AD6E378A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209800"/>
            <a:ext cx="24574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6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BD40D7D-87A4-4322-AA92-DECDB91FE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209800"/>
            <a:ext cx="7429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6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15,3%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B1FECF2-AB52-4795-93C7-67C93DB52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557463"/>
            <a:ext cx="4476750" cy="376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FAB2068-5E16-4E79-BCB3-534240031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924175"/>
            <a:ext cx="44767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6A30808-F1C2-4187-808E-2B19A0869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586038"/>
            <a:ext cx="9334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66E49CC-A607-4303-ABAA-A1525C39D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586038"/>
            <a:ext cx="24574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6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QI S.A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9159234-EED2-404F-85F4-ABD81E5D5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586038"/>
            <a:ext cx="7429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6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14,5%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4F41B93-4D8F-4FF5-860F-DC1CE056B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933700"/>
            <a:ext cx="4476750" cy="376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6A1A002-43EB-479F-AE8E-C10D99C6E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300413"/>
            <a:ext cx="44767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268B1DE-597A-4C83-8529-3993EC968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962275"/>
            <a:ext cx="9334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4D0B8C9-CB52-44F5-B92B-2FD022CFD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962275"/>
            <a:ext cx="24574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6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OLIVEIRA TRUST S.A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67959DA-FC66-492D-BD41-8D8FD9D66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962275"/>
            <a:ext cx="7429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6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10,2%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4C4F064-C755-4706-8329-2BD642483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309938"/>
            <a:ext cx="4476750" cy="376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C4D6EBF-DDAB-4AB0-A6CE-4C5D55D2D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676650"/>
            <a:ext cx="44767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2A8F5A6-F621-47EE-BB7A-E87A505AB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338513"/>
            <a:ext cx="9334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6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GESTÃO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2A6C186-5FBD-42FC-B031-11332F108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338513"/>
            <a:ext cx="24574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6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OLIVEIRA TRUST SERVICER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9E70743-D476-48D5-98BD-46F56717D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3338513"/>
            <a:ext cx="7429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6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7,8%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8E62FA9-64FC-48AD-8A6B-BE075B282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686175"/>
            <a:ext cx="4476750" cy="376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C9262AB-766C-4E01-8568-2E7F1BF97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052888"/>
            <a:ext cx="44767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8AAC45D-FAE7-44AE-B1C7-F8A6FAAC2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714750"/>
            <a:ext cx="9334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1EFFB69-46A4-4670-A74B-FD4880491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714750"/>
            <a:ext cx="24574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6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BB GESTAO DE RECURSOS S.A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16CC0B2-C4F2-4EF3-9B9F-EFEC42324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3714750"/>
            <a:ext cx="7429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6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6,4%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CFD8365-B40D-4BD7-9EB6-1C196B0F3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062413"/>
            <a:ext cx="4476750" cy="376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E5EF217-40E4-455F-A7D6-2A7D821E3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429125"/>
            <a:ext cx="44767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8561EE0-C2A5-4E00-BE9C-EAFB85B26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090988"/>
            <a:ext cx="9334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4B988EF-7927-47E5-B8F7-266B7AA00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090988"/>
            <a:ext cx="24574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6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BRADESCO S.A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4D2037F-94B1-4725-BF05-1932C809A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090988"/>
            <a:ext cx="7429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6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4,2%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2D173B9-30DA-47D5-9A5C-C166CF6D2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438650"/>
            <a:ext cx="4476750" cy="376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7E774E5-3647-4631-87DA-BD3D29C7D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805363"/>
            <a:ext cx="44767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0026C4D-5FEB-40F2-9DF6-FE94AB2E1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467225"/>
            <a:ext cx="9334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6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CUSTÓDIA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EEC8DEB-CCF5-4B7F-BB16-E6824FE9F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467225"/>
            <a:ext cx="24574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6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BTG PACTUAL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5B05982-B902-4B81-912D-BF11AE30C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467225"/>
            <a:ext cx="7429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6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15,4%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EB975C1-D76B-4CEC-8E07-310BDD9EC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814888"/>
            <a:ext cx="4476750" cy="376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0A4225D-C1C0-44E5-B53B-3A9B922FF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5181600"/>
            <a:ext cx="44767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8833070-80B4-4877-9147-9098DD44D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843463"/>
            <a:ext cx="9334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2DB1331-FE0E-42BA-A8D2-EF81AF24F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843463"/>
            <a:ext cx="24574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6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QI S.A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6512B99D-B5B2-4C7F-9304-0E556219D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843463"/>
            <a:ext cx="7429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6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14,5%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6DDD1148-CC40-436B-92C2-D644CDB2C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5191125"/>
            <a:ext cx="4476750" cy="376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D6763758-04F6-474A-8996-AE12F783D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5557838"/>
            <a:ext cx="44767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56E94FD0-7F12-4B77-80A6-73E8D2B03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5219700"/>
            <a:ext cx="9334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BACE48B-F163-4137-AC59-C0457B88D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219700"/>
            <a:ext cx="24574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6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OLIVEIRA TRUST S.A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39A552C3-FAD9-461B-B26F-76B290479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5219700"/>
            <a:ext cx="742950" cy="31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6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12,3%</a:t>
            </a:r>
          </a:p>
        </p:txBody>
      </p:sp>
    </p:spTree>
    <p:extLst>
      <p:ext uri="{BB962C8B-B14F-4D97-AF65-F5344CB8AC3E}">
        <p14:creationId xmlns:p14="http://schemas.microsoft.com/office/powerpoint/2010/main" val="212817275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913ECF8-6455-4486-86AD-BF47D2BE6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ADMINISTRAÇÃO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F8F5E1-F977-4ADE-9BBF-9D8F4DBD0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BB tem 47% de Recebíveis Comerciais; QI tem 66% em Fomento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59FF1E-0AE3-46AA-B8B5-55D3F2CC2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F69E1A-19A5-4D2B-B376-4C5E3ACE0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8D7721-6A4F-420D-825D-125157D86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 e ANBIMA; mai/26. Top 10 fixo da função; Outros identificados e prestador não informado separados.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A6BA6D-01C6-4111-9D53-189561994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graphicFrame>
        <p:nvGraphicFramePr>
          <p:cNvPr id="39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3905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addc6b27a814155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3DC557-05AC-43F2-A761-0BC796F90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57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274C4D-3607-4158-939C-B0B7BFB70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4102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QI Tech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FF9518D-F031-4A23-A0D8-8F358544B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6613" y="5457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9D0C35-AC4B-4D4B-B086-63319B742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013" y="54102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BTG Pactual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B66B94-302E-431C-B3D8-797A85612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5457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0DD3A3-7064-4664-9F3D-C0E375DC8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54102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33A691-EA97-4F47-AF15-209E2F5F3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8238" y="5457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94E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9FCF979-F0F0-461A-AE02-786F4C232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0638" y="54102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5B0EB8-83D9-444D-ACDE-DBF5EDFEE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92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166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34C48DA-AF8C-40B2-ABDE-9D9757C12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4515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Daycoval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896C441-B450-426D-929B-C5779AA38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6613" y="5692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77C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EFC8B48-0DC5-4542-9048-07BF51AEC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013" y="564515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Bradesco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5A35FC6-6615-4046-92B1-1A03EF606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5692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29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AB69140-6344-481D-AA1F-58FE2C3CE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564515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Genial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8CF5F6E-7E7F-4632-ABAC-4E0A8124D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8238" y="5692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3A7A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47E6FFF-9EC3-4CB3-8F82-26B2DBB6E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0638" y="564515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CBSF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3C2E3A1-7398-4F40-AA8F-FD1A704A5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277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BB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9D04E99-204F-4339-B54D-46F23BD91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801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Itaú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C5A60CA-3D2D-4643-A911-4DBF47C43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6613" y="59277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B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A7BA968-184C-4444-9DEC-E43C867BB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013" y="58801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Finaxis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81C26F8-E3EB-4B72-A936-975CADA63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59277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FB6B579-71A1-4270-83A7-ED1E8B247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58801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Outros identificados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82EE9E5-A1DD-41D0-9E44-AE724BF87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8238" y="59277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D7DADD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451E892-B6D7-4C31-B95C-17729CFD1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0638" y="58801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Prestador não informado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AA14445-A3E6-413C-89A8-9B2A3486F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87,3% do PL classificado. Fora do gráfico: 8 focos e R$ 109,1 bi.</a:t>
            </a:r>
          </a:p>
        </p:txBody>
      </p:sp>
    </p:spTree>
    <p:extLst>
      <p:ext uri="{BB962C8B-B14F-4D97-AF65-F5344CB8AC3E}">
        <p14:creationId xmlns:p14="http://schemas.microsoft.com/office/powerpoint/2010/main" val="16863555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A4ECD0B-7166-40AC-AAB8-A2B788BBA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GESTÃO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7F0DA6-C4EA-4D51-A7EE-4BB58E5C4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 Top 10 cobre 15% de Poder Público e 30% de Fomento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BCE6EB-F72E-402F-8818-248A97974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0F5412-204C-4515-8EF7-202DE8098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B0883A-24FA-4C95-8005-AC7628FC1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 e ANBIMA; mai/26. Top 10 fixo da função; Outros identificados e prestador não informado separados.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E74B8F-D881-44CB-8F43-E5A4B5DBF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graphicFrame>
        <p:nvGraphicFramePr>
          <p:cNvPr id="39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3905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56d865c2ce44d9c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6AE875-B1E6-458C-A6DC-8E1565D44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57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29C566-2949-4F3F-8462-9B4A218EB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4102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D6E5C5-9141-4900-9E77-682D5ED07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6613" y="5457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866D79-B575-46F8-A0B8-B8681679F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013" y="54102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BTG Pactual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CD1E64-E0DB-4A0A-B2BB-6124BFEAD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5457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B60CA2-F6DB-4CF0-A299-9B609B9F3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54102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C90A2F-F128-4F1F-89F1-6B16EC490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8238" y="5457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94E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ABBAF23-C62B-4D64-B33A-87BBC9902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0638" y="54102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Bradesco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527FD0B-CA68-4D43-8049-E99EF883A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92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166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5598114-22BD-4E25-9BA5-A463F3A3B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4515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Genial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DABCB29-830A-442F-98DF-F17A592E0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6613" y="5692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77C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3740BE6-D8E2-42B5-A035-39F74E77F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013" y="564515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Tercon Investimentos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49E83A0-D14D-4AE9-9601-B34E4D2A5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5692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29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65FE76C-267A-4369-8D8B-1BA2E07E1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564515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CBSF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D02A5A5-5573-443A-A233-C64FDBA0C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8238" y="5692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3A7A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A17C39B-FC76-474C-A7BD-9126FCE73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0638" y="564515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REAG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DAE434C-77F1-45F7-8324-9D8FE24A1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277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BB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984CEEC-D9E8-4927-9936-70AC62C73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801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Itaú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D05752C-9EF0-428E-AB53-987286E7A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6613" y="59277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B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8ED05B1-C408-4B65-90BE-72AB75E5E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013" y="58801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Solis Investimentos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66BFDEF-514E-40E3-9DC3-C4FE3A546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59277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4ACFCA4-DF1D-4FD9-A13A-1731EFB2C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58801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Outros identificados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AE4B280-F4E2-4CBE-AA48-A99BF152A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8238" y="59277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D7DADD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B7638D4-67B8-4C97-941F-64470D39E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0638" y="58801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Prestador não informado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EB3CC22-44CE-4BBA-BD4A-44FB98301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87,3% do PL classificado. Fora do gráfico: 8 focos e R$ 109,1 bi.</a:t>
            </a:r>
          </a:p>
        </p:txBody>
      </p:sp>
    </p:spTree>
    <p:extLst>
      <p:ext uri="{BB962C8B-B14F-4D97-AF65-F5344CB8AC3E}">
        <p14:creationId xmlns:p14="http://schemas.microsoft.com/office/powerpoint/2010/main" val="13872101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FBE70F3-205B-4C9A-810B-C556D9965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CUSTÓDIA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B82B00-AFE0-4CBD-98B5-BF37DA291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Oliveira Trust tem 54% de Crédito Pessoal; QI tem 66% em Fomento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117C81-931F-45E1-807A-F741FC7CE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3B7DD4-1784-459A-AA92-78893BE87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951119-361C-4804-AB91-00C6444BE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 e ANBIMA; mai/26. Top 10 fixo da função; Outros identificados e prestador não informado separados.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C0713A-5DF1-4A1D-9B38-57A095BC4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graphicFrame>
        <p:nvGraphicFramePr>
          <p:cNvPr id="39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3905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fcbf35e10a04417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2E6CB4-2F1B-4D0C-B9C3-C0E1C678C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57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C673CF-8567-44BA-8096-12C18F6BE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4102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QI Tech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5459DC-F571-4F93-89D8-3D2F2D839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6613" y="5457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BB3D4C5-E02D-4AB6-A129-E0FE3739E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013" y="54102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D38179-F185-419C-B561-0D8E59DA1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5457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EE26B9-03AE-455B-A655-FD61D1808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54102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BTG Pactual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7EF43F5-C848-4EB1-BD71-6D5E98E4F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8238" y="5457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94E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32816D2-5CAC-4B4E-A422-E07378527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0638" y="54102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12E313E-0ECF-481D-A5EF-BA292E052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92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166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3391A1-7711-4FE4-8F65-139424203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4515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Daycoval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F3E43C1-33AE-43B9-928D-89430509D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6613" y="5692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77C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90C7AEC-047C-44B1-80C5-C557C9C43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013" y="564515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REAG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280FE06-B5C0-4CF7-B47E-A16AD23AF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5692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29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BF70777-B0A8-419C-BE5D-FAEC9B323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564515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Bradesco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A3F32EC-9A2C-4B5D-88ED-011A687DC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8238" y="5692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3A7A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B7A2B44-F649-42B5-BAC5-F2C798DCB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0638" y="564515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Genial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C8D3436-073C-490D-BECA-D8B6488B8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277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BB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A7B9148-7EF8-4F6A-9777-A903143A3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801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Finaxis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D129163-726C-4912-BADC-2BBC931D8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6613" y="59277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B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AE27EE0-B118-406D-8F75-746BC0787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013" y="58801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Limine Trust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7ADA2CA-16B5-4228-A96F-19981DCE3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59277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84A1A82-1F8D-4740-9D7B-0224D54BD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58801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Outros identificados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B0A3285-E550-4A17-8A95-36D1231AB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8238" y="59277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D7DADD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04E84AB-52BA-4692-B638-DE77DCF50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0638" y="5880100"/>
            <a:ext cx="2500313" cy="23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Prestador não informado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D35AC90-116C-4883-86E5-38BF62A57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87,3% do PL classificado. Fora do gráfico: 8 focos e R$ 109,1 bi.</a:t>
            </a:r>
          </a:p>
        </p:txBody>
      </p:sp>
    </p:spTree>
    <p:extLst>
      <p:ext uri="{BB962C8B-B14F-4D97-AF65-F5344CB8AC3E}">
        <p14:creationId xmlns:p14="http://schemas.microsoft.com/office/powerpoint/2010/main" val="188388272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E6603EF2-1D39-4F91-9DDB-8D5921736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FIDCS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F2EECA-29B5-4D4C-9FA7-698E8414F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20 somam 24,8% do PL ex-FIC; Petrobras e TAPSO são 46,5% do bloco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4F906A-BC57-49C8-9BF8-E3049639F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234BF4-4143-44EC-9C78-470CFDC67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D9D08B-E7C7-415B-83B7-3633BDE30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 e ANBIMA, mai/26. Ranking derivado do universo completo ex-FIC; denominação legal completa no apêndice.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0DE53A-3F50-4A2C-B460-9A4AE047C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F06DFB-CADF-4B97-9225-4D548037F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9EA261-C2B4-443A-80B4-5614B7FC6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57325"/>
            <a:ext cx="171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29B4D0-AB7B-4B12-85FE-C4C3960AF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57325"/>
            <a:ext cx="1552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43BB90-FDB1-401C-8BFA-AF3545684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14573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4D1107-AEFA-495E-950A-688070C8D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Share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F47262-8E77-4CA7-8DE6-01F2E71BD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457325"/>
            <a:ext cx="112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Tipo / Foco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034D5C2-BD60-480F-81E8-A17FC7691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1457325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Modelo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5F87954-CD0E-4E31-A838-10B3D37A8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432DE8D-D5EC-41A6-9253-3C0CDDF4E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287F7C2-5338-4941-9DCE-9686E740C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811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6A88563-2D0E-4A61-86FD-7BE3ABEF1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811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FIDC Sistema Petrobras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8E9B7AA-32C5-4D1C-A543-0FD89F217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17811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60,8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302150F-E9E5-407C-9C03-B52D98C4F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6,9%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E120D7A-49AA-4A0D-A651-7E9071841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7811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Recebíveis Comerciais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B1E0A62-2CD4-4698-87C5-9E0C8B6C8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17811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EF7E8A6-39EC-4F9C-857E-C16AF6C2E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CD390B2-2A0B-4E7B-AD3C-F4A106F10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C9C8E95-06E3-4495-8CE5-78EF95E7D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155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DE9574F-7CDE-4E40-A115-78176B75B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155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TAPSO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D8F4433-78A7-4375-873E-0995EEB16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22155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40,7 bi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3D1E34A-6179-48BC-9134-346D8C2D2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4,6%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1CEB536-DE8A-40EA-BA9A-1272A20A9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2155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9B4AE69-6A91-4254-B2C2-BBE8B17EC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2155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1071154-2997-4921-9E56-F522369A9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72F5A26-60D9-44F2-A82E-C49DB2A2E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654C46A-6FC2-420C-ABF5-22624C087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498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73F1E2A-7A21-4160-9CD9-72109EA93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498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Bela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3CE08C0-0911-4D43-95D0-3A4FF705C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26498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10,0 bi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4A513FD-89B0-40DD-A673-A37B92AAE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1,1%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B6A9BE6-DDC8-45D5-8136-8B9606E1A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6498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06222F3-F7E7-4AD4-BDDD-C25F7A4A0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6498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DE00DCF-AACC-4E1A-A87A-746B83E62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076C3AB-7F97-444A-AF1B-DF040C79E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3E105F3-A11B-4E2C-B62E-F71C2CD7D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41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6D1FC2A-6691-4997-A518-3A0A41828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841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Crédito Privado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3ABAED3-3C0F-4719-9322-EF0A5A97C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30841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8,6 bi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D9C3FF6-F4C5-4F25-A34B-4D8557568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1,0%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CEE3B1F-4AC2-411D-A752-1D4DB24F2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0841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8E3BC8F-96D6-465F-8492-D8546295A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0841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DB80C55-CA43-4631-A434-D9502E3ED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AC491AA-938C-48D5-A4B7-FB0A37721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A77D567-F59D-4C5B-BD74-9606C02DE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185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C60BBEE-A6D9-4CDB-8E6A-CF30A2E41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185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Esperanza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0DCBBBD-288C-4B07-8C9C-A423C7880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35185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8,4 bi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B4C430D-209C-4B99-8334-522D7F53F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1,0%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7EB0EBD-4C15-40C1-94CD-3D163056E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5185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75378F4-7C7F-4D8D-A427-E564E6130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5185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Gestão + Custódia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C7C9EAF2-D617-4256-BDE4-ACCBF048B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4AF6DA2B-0C6C-4117-8BB8-87DA1722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23BB05B5-9F17-449E-BC84-BE57B8DC7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528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1DEDAEA7-8182-493C-9C74-5C7CA0AA2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528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Consignados II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9AC9ACD6-8670-4740-AF55-3C937A143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39528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7,9 bi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F0BA89FB-11C9-4545-97CC-89D5B1C08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0,9%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4933652C-5F69-4DCE-A812-D6E818183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9528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341E5621-EA4A-41F0-B8F2-63EA401AC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9528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1EF81D91-044F-40D3-95CD-4613DFD74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975F1E0F-0C6E-4F36-A0CD-65743B28C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26335EEA-8D5D-4386-992D-226B9F0FA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872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087CFE59-8C1F-453F-9D6E-092DB377B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872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MT Global · Consignado Privado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9EF39ED6-025F-4A53-8341-3B2C77BAF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43872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7,8 bi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6A85F025-F7C8-4118-847E-C00B8FE22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0,9%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B641333D-E73D-4B6D-9515-D54B41C61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3872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5DE80448-A3DE-48FA-9FF5-FC6A75DB7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3872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223F107D-4B01-4287-BD45-9A3F880F1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0DDDF80D-8AF8-4BBA-A350-4469D4273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0DDCD156-E9E0-4C05-813C-1330A3778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215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ED81A38F-F051-41FC-A141-D94C43144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215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PAN Auto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FA037936-1A0C-4410-A0DD-E6805F71F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48215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7,7 bi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53CC29BB-AB7C-4BDC-AE9D-766A55B04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0,9%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FCAB40B0-850C-4EF1-8AA5-0A5230863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8215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Recebíveis Comerciais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7B2E2BE4-CDB0-4444-9991-C6214905D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8215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17590984-77C0-4718-BA5B-457869411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685E51E0-C34D-4CA1-84DA-8F270598B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E0F19B9D-DEB7-49F0-811B-111E13407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558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C79419DA-9E19-4AD6-B9CA-D6B5E1AE1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558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Aetos Energia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BADB7CC9-112C-46AA-A680-0CB12E157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52558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7,4 bi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484454EC-310B-422D-BCCB-61CC76DFC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0,8%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CD21E73E-8022-413F-8489-2B8225272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2558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Recebíveis Comerciais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50718E45-2392-4335-AED3-8E541108A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52558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F02ABF34-9601-486E-B22C-FF11FD580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FD2EEA2D-0454-4B38-9A13-D43223024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CC74CA81-D2F0-4B15-9C72-387931541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902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24259D74-F228-4832-B8C6-3E8013C3F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6902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 I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C192CEB1-A839-407D-BB38-B629CE59E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56902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6,7 bi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9B3E6878-563E-469F-8911-C62624BBB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0,8%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08045403-C587-4B6F-BC26-F5B12E5B6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6902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1B95DBD9-7FBF-4074-91EA-81DD20D88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56902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7BBE3361-36C3-43CC-AD67-3759BDF25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24B0A04D-C74E-4F23-BAFE-0A513D6AC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457325"/>
            <a:ext cx="171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B811F2A0-EB75-4826-9852-DFE47A5C7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457325"/>
            <a:ext cx="1552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1DEB28CF-28E6-407E-9D99-ADC6BA3D2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14573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D5C9F544-1918-4AED-BF5F-84502BDBF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Share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1C9CE1E5-5776-4EF4-AE86-BAB8BF51E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457325"/>
            <a:ext cx="112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Tipo / Foco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4CFAE144-D797-4D2E-B283-F70F3098C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1457325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Modelo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2091A7FC-7BD5-49F9-A2B5-41A2AB8D5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FD53E6DD-B56B-4258-BFA0-28E17B9C5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DF6ABF4D-48C3-4F47-8D50-428152CE9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7811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1B132B13-E31A-44EE-A4F8-F9C4FF608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7811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Cielo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B0291BD1-3C9E-4A9C-B0D6-EA74D3822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17811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6,5 bi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58DBA773-43F5-4C96-A838-3916B360E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E2502294-1582-4A41-8600-1590C6E99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7811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Financeiro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D32F9679-1E28-4E72-892F-8DA42EA06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17811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424A1F91-3C45-4485-95FB-E9DD02969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FD615448-B45D-4001-83EF-181C1B659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0A8E1504-3172-4DC0-BFC9-0422F6189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2155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848B0322-99FA-4116-85C4-79ABCF5F6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2155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Rio Vermelho NP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E8CD2D05-0B1E-4A66-BC7A-F821D342E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22155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6,4 bi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E25A2BBF-A6DF-4F2D-A40F-9DBCDC8EC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F086BF00-4735-4CC1-907E-2AC5DBB7E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2155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FCD3FA19-5B77-468B-90EB-89C584010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22155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72176558-BF02-47F2-B85D-44F6B1D3E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5D0BDA45-ED37-4612-ADA8-E061A8C61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9C3C049A-5A0F-4D85-8D54-C0D12E087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6498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20FE1AE8-9688-405B-80B4-5DA7C765B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6498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Consignados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27E4FF75-BAC6-41C0-91B2-1650CD876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26498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5,9 bi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F11BDA54-0A98-4E89-A361-98EA06DB6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D6646D6F-9880-4B7E-8C82-A072B74AB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6498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6493AC1C-0DA3-4534-9A00-330420B5E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26498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9A0B054E-0B68-4780-AA37-2EC65E666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C2673C95-1927-49E5-9D26-83B574169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10F77245-F824-49B9-B340-9885799A0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841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43D02B12-35E4-4901-A7F0-A0062FAA9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0841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Alternative Assets III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D31740EC-F150-40EA-8BF1-13A5D1F96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30841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5,8 bi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F37FC572-EFA8-4B21-9BB4-B7CAF976C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8C0317EC-B66E-44BB-833C-F70EBBDB2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0841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B0FBC10E-F5BF-4C0E-84D7-E60A3C71B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30841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505230E7-4547-43E5-B578-D6553AD8D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6FECBE9B-293A-4874-B560-83488F795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AE2751B5-100F-49CB-9288-B29DAB6CC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5185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0901AF3F-A888-40FF-97EE-10EF82B49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5185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NC 2025 I</a:t>
            </a:r>
          </a:p>
        </p:txBody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3A735F35-2216-4940-BB31-512B82385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35185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5,7 bi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24BFD743-A333-4402-9275-468D07ADB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0,6%</a:t>
            </a: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A951B615-51E2-4709-9EE8-DDE73FB48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5185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17474B20-F5B5-4D3A-ACBB-BB5DA4CDB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35185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Três prestadores distintos</a:t>
            </a:r>
          </a:p>
        </p:txBody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57EF3D16-F3B4-4C24-A74D-D61B0F7C8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2E49C55B-D7D1-4245-979F-203DE452E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E25908BA-1DC6-4A35-9F5E-163D43323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528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C514F44D-652C-4B9C-8DE9-8083C5F89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9528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Monee I</a:t>
            </a:r>
          </a:p>
        </p:txBody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9A3FC123-486E-464C-87ED-FC1B1526A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39528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5,0 bi</a:t>
            </a:r>
          </a:p>
        </p:txBody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1A560DF3-E848-4CC1-A993-1ED59B975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0,6%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13F9FFEF-E542-478E-8841-01B627DA3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9528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8BB354D7-6422-4926-9CC7-86DDCF855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39528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Custódia</a:t>
            </a:r>
          </a:p>
        </p:txBody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BCA0C5ED-0FFA-4699-88C7-7A541992B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101A05CC-8B1A-4578-ACAD-0555018C0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1222B07B-6E66-4A0D-8334-71CCC368A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3872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87DCB424-67B0-48C7-A772-B663A8DC9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3872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PicPay I</a:t>
            </a: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C32C16F1-42E7-4EDC-A924-0C878729F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43872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4,6 bi</a:t>
            </a: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E9203D82-365D-44EB-A0FF-8A8BAD9CF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CBD80FB4-148A-47F7-996D-26323D43E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3872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Financeiro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72EA9644-0509-4580-B7AC-2105AA4EF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43872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5354A621-DBAE-4B0A-9A50-7862AF222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4838E156-F579-4762-B3D3-55C06C9FC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482F0D4B-62FA-47C2-9D07-B80B9A061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215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EDE10BCA-AEBA-4D30-B471-FF921C062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8215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Artesanal Master</a:t>
            </a: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B584EB68-61E9-478D-98FF-35CE155AB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48215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4,3 bi</a:t>
            </a: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FD28313B-8B6A-41EB-AC29-E38788CEF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417CBC6C-8DD7-47FB-B124-489F38B03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8215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6443F2C5-3F06-4898-9545-119AD520C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48215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Três prestadores distintos</a:t>
            </a:r>
          </a:p>
        </p:txBody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40D3260F-2F56-455B-8985-CD90E8AAC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EFE2802F-AFA1-4392-B71E-DC18166B0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0002BBFD-0E23-42A7-9D96-724E705C1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2558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61797DBF-25B9-4FE4-ACF4-D4E0C569B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52558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High Tower NP</a:t>
            </a:r>
          </a:p>
        </p:txBody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6CC2744F-CEBE-4134-920B-E9BDC4373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52558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4,0 bi</a:t>
            </a:r>
          </a:p>
        </p:txBody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9AC8A75E-D73E-499F-8809-200956507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61E23232-5EB3-40BE-AC69-2E6B9A9DA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52558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E44727C8-FAEA-4985-86B1-9C25A3A22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52558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p:txBody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5B296AC3-7813-4A52-AF5F-36226D48C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3CB2BF1C-A6CE-44FF-8760-4CE519FB7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ECC66316-C00E-408B-8463-B46BAE152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6902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AD3325DE-2C6A-4B00-ACDF-E9A899814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56902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Day Maxx 2</a:t>
            </a:r>
          </a:p>
        </p:txBody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5253A3DD-38D2-468E-AC11-7DD0A909B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56902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3,9 bi</a:t>
            </a:r>
          </a:p>
        </p:txBody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C0EB524A-E84F-47FA-9708-ED20297B7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0,4%</a:t>
            </a:r>
          </a:p>
        </p:txBody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559B4BB7-0F49-4B41-BEC6-F57DB6DE8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56902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4466260E-9C60-4E42-8FB0-AFC262F33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56902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</p:spTree>
    <p:extLst>
      <p:ext uri="{BB962C8B-B14F-4D97-AF65-F5344CB8AC3E}">
        <p14:creationId xmlns:p14="http://schemas.microsoft.com/office/powerpoint/2010/main" val="207984179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F511E75E-236B-4F72-8F44-AB7EE03D7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OUTROS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B35004-76B3-4139-8EF9-71B796F58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20 representam 26,5% de Outros; oficial, hipótese e status ficam separados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6E2CBD-27A4-419B-AC3B-664A62924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B8C2E8-EEDC-4560-B507-727564382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7384BD-7F3D-49BA-8937-26D04A0C0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ANBIMA e documentos primários locais, mai/26. Evidência e links completos constam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72D07A-9C64-4AA7-89F3-060FCDF8F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DB9537-3CA7-4C80-AAD7-670DDDB16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29C67B5-E5EE-4001-8C92-927759E24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57325"/>
            <a:ext cx="152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638BB2-87F2-4FFB-AD69-9FE5337ED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457325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C336E2-5BB4-4748-9195-1150E0ED4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88C2CD-4046-4960-8FFD-507962F18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1457325"/>
            <a:ext cx="790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Oficial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504027-2F46-42EB-80E1-BC5DC58C0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457325"/>
            <a:ext cx="885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Hipótese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147C6C-3E81-4528-B6F5-9A5324EAD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1457325"/>
            <a:ext cx="1266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Evidência / status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651153-3479-4E5A-855D-30884F1DA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105CA4-46EF-43A3-9A2C-E15614025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2E91905-0019-43ED-B6E6-0371F8C1C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811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66C648-C71E-4D97-8B63-133C194E3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7811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Bela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4E4C09B-53C2-4217-85D6-07B38A531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10,0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BC8155C-126E-4706-8D08-8BA0D0D0D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17811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798783D-9A16-413E-A19D-4F57DABD4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7811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Meios de Pagamento e Cartões —…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E1EAFD3-D137-40CB-8EE9-0C882B0FA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17811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6454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TOS CREDITORIOS CEDIDOS SAO ORIUNDOS DO…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A619A3B-9A60-4D51-BD91-C68F3831A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77EAF34-670F-491F-B0DD-F587926A7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B85E20A-7DBB-4DFC-B9C6-F7E796B66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155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8AD9739-793F-42E2-A98C-9085A546A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155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Crédito Privado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84AECAC-6757-403E-923C-EE6039F49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8,6 bi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65391DA-ABAD-4C9B-82B6-A6665E6B4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22155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9950F48-763E-45A9-B8C2-0C3D95989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2155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PJ — Crédito privado/mercado…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AC0A4D2-FE9C-4A97-AAB7-3717F9C44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22155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466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ITAU CREDITO PRIVADO FUNDO DE INVESTIMENTO EM…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4F7DDB3-5570-4D66-B8ED-A9A33A2F6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9A7FB79-C83E-4E33-BEE0-65214C7E7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DC8FF8D-AADC-4ACB-8601-9525E7CF3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498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A117F85-415E-40A3-A1DE-84EDBF057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498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Esperanza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35FEAF7-C5C7-4270-9693-9AD6F9FFA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8,4 bi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69E95FD-192D-4F29-89DE-E3068E204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26498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2568961-BC1D-447A-BA42-6D77F2F0D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6498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Judicial/Precatórios/NPL —…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F6ADAB7-D044-488F-B31F-FCB65F232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26498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ESENTE ANEXO, A CLASSE PODERA ADQUIRIR DO S…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3411282-54CA-4BD0-B755-86E3ADEB4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E4889A1-D7BD-4B1C-82DD-6C40E6B4E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7DF0088-ED08-4212-8221-2A74936E3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41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254C611-D8FA-43A0-9583-650408FDE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841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 I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A1FC4A6-711B-40C5-B345-E0AB4D5EC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6,7 bi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790C9C7-7BEB-4A4D-A72F-22F6CB5CA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30841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7F8C37C-A2FD-4D67-81C8-36DF603B4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0841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Meios de Pagamento e Cartões —…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E89D4AA-A1DB-43A1-9996-13860AC3D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0841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6454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TOS CREDITORIOS CEDIDOS SAO ORIUNDOS DO…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77CF0BC-ECCD-4558-93C9-CF52EDF9B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4C665E2-6B3D-4D7C-9B82-C3BC46874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B5A0909-9C8A-4C79-9831-53661D5F8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185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AAFFE56-01CF-45E4-AC20-F539DEF5E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185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Rio Vermelho NP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82DE7B1-D115-4541-9E67-0542299C4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6,4 bi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D1079CF-3638-4A45-B3B3-B4DAB1181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35185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90D160F-6484-43D1-9DE6-EF17FB463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5185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Judicial/Precatórios/NPL —…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6569668-778C-475F-9E92-E0D70259F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5185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ESENTE ANEXO, A CLASSE PODERA ADQUIRIR DO S…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B6815AF8-BB62-4971-878D-D26D38D69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8FE8C8D-0AFB-47E5-B81C-7501E9397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2063CB7E-C39A-40FF-9297-DDF1094FD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528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5F016F3A-26D2-4B62-9567-F8D3CDACB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9528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Alternative Assets III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08C2A575-BFB6-462C-99FE-1101AF2CB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5,8 bi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DF687BEB-1C42-4F58-82A6-50C449EE1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39528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651D0115-E420-4A5D-B3C9-E1E0A8658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9528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Judicial/Precatórios/NPL —…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10003B80-5AC1-4B09-B204-D2A291539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9528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466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SERAO ADQUIRIDOS INTEGRAL OU PARCIALMENTE,…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FB8CDFF8-B39D-4EBF-A033-FF45D881F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43531869-22D0-478C-9850-C91F525A5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5061157E-EA4E-491A-982E-ACAF251A5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872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D9B7AC5B-1D3D-43BC-8F16-44D8CBBB3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3872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NC 2025 I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14B6FF8B-F21A-48A7-BCD1-149E149B0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5,7 bi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3F0E01F5-A77B-4E56-ABE9-349A12B82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43872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D70A7242-E89D-4D05-BC4F-2F0C28EC8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3872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Multissetorial / Outros —…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BDCED70F-BD5C-42BB-8F5E-959A7BE7A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43872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UNDO E CLASSIFICADO COMO UM FUNDO DE…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D774AEE7-6B3C-41FE-9410-801CB16E5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A4885BB6-67C9-44B1-8067-CA6DFC367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B4B524E1-D871-43DF-ABF2-4C4A883F5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215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DD288D0B-01D0-411F-9E49-E997D1A50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8215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Monee I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3FFCD6D6-5556-4D5D-B124-495D9BC5F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5,0 bi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DF64A48B-6EB8-4005-A834-E7D339FDF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48215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DC801638-4EC7-42D2-8897-BF7AC1760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8215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Meios de Pagamento e Cartões —…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4898A346-53F9-45C7-91BD-C5B331A2E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48215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387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FUNDO DE INVESTIMENTO EM DIREITOS CREDITORIOS…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1EF495B3-3776-4BF0-9A51-561E7920D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49994D04-BD0F-472B-A739-9907BB6CF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67664C02-2DD8-4423-83CB-6DA6A66EF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558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E1F74942-9551-471F-8FA3-392B7660E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2558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High Tower NP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550996D3-51F2-4987-A8CE-81E7AA09A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4,0 bi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4FFC7CD7-491A-4C33-AB33-712BD02F7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52558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247DA30B-C83F-42A7-A54F-76BAAE891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52558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407C0E1E-E220-441A-9049-AF62E5A5D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52558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0932B24C-445B-48B1-BE4B-0BF3703FC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A06FFC8E-9679-4AA3-826A-B7F923DE2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FA9D4C93-51B1-49C6-B48E-B28278B85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902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B774BDCE-4321-4B43-88EC-91657252C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6902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Day Maxx 2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29A0BF3B-A972-414A-8328-A536B46F6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3,9 bi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08D65F86-B9D7-4940-B7C9-689448451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56902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741CE537-D76D-4A73-A780-A72297CC1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56902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BF183A71-7BB4-4AAA-8E1A-B77CAE594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56902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28525522-B15A-40D1-88BF-593AAEC70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990894A8-7622-41BE-94EF-79B19FC41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457325"/>
            <a:ext cx="152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F3F91D24-451A-475A-90AF-0053E8E61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457325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F32F4E08-2199-4CFE-8F47-02BFD3AAE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EFE1AE60-4029-4BB4-B62B-7F617AD35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1457325"/>
            <a:ext cx="790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Oficial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FF7596E2-398C-46B4-B774-68E637E8C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457325"/>
            <a:ext cx="885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Hipótese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B66C7F69-DEB1-44CE-8023-6634CF8A4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1457325"/>
            <a:ext cx="1266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Evidência / status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87D52A02-4B2E-41B9-BBCF-78C7CD381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70091EC8-8245-4E6B-BB47-6D6D7C34B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48D8A788-3D4C-4F56-B691-7736A6766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7811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16143ABD-EC44-44C3-9EC0-824BAE621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7811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RSCRED MULTIESTRÉGIA - NÃO-PADRONIZADOS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A2670CF2-7987-4FCE-A812-0D00D3473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3,6 bi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0FD699A8-5C12-419A-8896-66117316E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17811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5A56A8A3-CB11-49C1-8E82-DA078AA5F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7811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94ED1D48-F1B7-4F27-B33C-9088CB230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17811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F0855C21-F4DE-4624-8B34-3F82CCAF9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BECC3807-A1C7-470C-BA18-07D36DB9A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6E3A7CCC-34A9-420D-8E5D-D6ABC7FC1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2155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1A768DE1-B3BA-4115-84EB-9F2CFFE76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2155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HAVAN ECONÔMICO, FINANCEIRO E COMERCIAL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EF0328E1-8923-4BEB-8F23-17C9AFF27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3,6 bi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870C4685-F2D1-4346-8190-F8CB1D469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2155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11BF6BEC-B3AB-4AAE-B0B5-48190784D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2155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F973E097-046A-4E87-9860-40397FEB1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22155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233AEE8C-4C2B-48C0-A731-1B468D226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40E24979-D1B8-48DA-9BDD-8F644B80E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6E5B6ADF-EAEC-43F2-823D-029AE0E4F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6498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2C78D63B-8F55-405C-966B-39CC3C76C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6498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EXPERT III ILIMITADA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1ADA8CD9-4C1A-4BFA-8BD1-198482CE3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3,5 bi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D8D5CA33-4F88-47B4-8745-43A370481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6498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9D7AC80F-9620-489D-9D6B-A5FB31AD1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6498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29996354-AF05-40F6-B8DB-2F07B3CF0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26498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315D6D5E-ED8A-4252-8740-558A90ACF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7F22A47E-B385-47B7-B606-8A1DBA32B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8BE95B8C-55E9-4A31-B45A-72913430B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841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B2C70F83-EF30-4347-8573-2219AE55B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0841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RED REAL LP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1273DEDC-BA1A-42A3-8445-D34C601AB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3,5 bi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7C96FC03-5400-4DE0-A318-ED59C7C72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30841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B4C8BF8B-EE9C-4B09-8EB0-59738DE63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0841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82E0B02C-73BA-4952-B876-A276281BA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30841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28B1BD07-9D45-44D9-ACCE-FFF495E3C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686BA30F-9A02-4ABE-8CB6-AC1CCA034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5A38FC3B-F1A5-42D4-94BA-FEBA2D3C1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5185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A8E4E7EA-20B1-488A-AEF3-44DDFCE09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185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OCCAM CRÉDITO CORPORATIVO 30</a:t>
            </a:r>
          </a:p>
        </p:txBody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11B4258C-FCB8-4C50-91F7-9CFC2CA7E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3,3 bi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86AF1F2B-7006-4011-85D6-996039DCE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35185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2AB86116-E912-4613-97B0-B73135380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5185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44B77A0F-A313-4066-99F8-1D1E36844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35185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F16E4510-54D5-4DAD-9B0B-5FB59DF60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FAFB5102-2884-407C-8957-C9825B73F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26BA6115-DB8F-48CD-8606-FC8BC62E4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528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6F50B83F-1F41-46C9-B783-5515B68CA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9528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ASA</a:t>
            </a:r>
          </a:p>
        </p:txBody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2F19AD2E-40CB-427E-B7B0-1C588E82B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3,2 bi</a:t>
            </a:r>
          </a:p>
        </p:txBody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516C724F-03B2-4E42-90A0-2DC83F772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39528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2716EFE9-A400-41EF-9B34-29C6E63B1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9528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54043D13-8F71-4EC9-9C53-D3AC4304A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39528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2040CE32-4547-4446-81D8-0FD1A5796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BEA2F646-E536-41C6-9C94-544CD8647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F3AAC1CE-00EC-4183-9E41-A9363315F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3872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109C16D5-0F1C-4353-9B24-429BFEC2C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3872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PCG - BRASIL MULTICARTEIRA</a:t>
            </a: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B33BEF78-7E56-454F-9F5C-5120711FA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3,1 bi</a:t>
            </a: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00D955B3-ABE6-439B-BFF1-6B8B8CE23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3872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A74FA75F-D71B-4A5D-9BEF-1137D1A97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3872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AA4AFFC4-55C0-469E-B23C-9C32BE8B0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43872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4916B1DB-254B-47E5-ADD8-9B54275FA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17F3DE9B-9D05-48ED-BBCB-B95AF1B6B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9353FCBF-7557-4100-85E7-EDBE2B183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215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A5087914-2211-44D7-8194-3A21F97AF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8215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CARNIVAL</a:t>
            </a: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E8BBEB99-B22F-4342-B99F-E25CB5C34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3,1 bi</a:t>
            </a: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131C14E2-73C4-4976-8864-A2B0C973D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8215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C1FB68C3-62DD-4049-BDB2-F40268DCA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8215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D347BBDD-6228-4F21-AB1C-DB970CF3E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48215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F077EAD6-AA17-4A16-A3A9-622A92849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A6D9EB40-EDFC-449A-BC8E-132963D76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C22C0404-4B08-44A6-BE4E-EAC7E5E85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2558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A66F166F-C6BD-454D-B932-D80721B65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52558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ALTERNATIVE ASSETS I</a:t>
            </a:r>
          </a:p>
        </p:txBody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D102166D-0103-4DD1-834D-F8973D32B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3,0 bi</a:t>
            </a:r>
          </a:p>
        </p:txBody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95B167D2-E197-4889-834A-EB26CB907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2558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2C85242A-CA69-4903-91DC-BC52BAABD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52558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5EB389D2-723D-4196-8B30-7265BD251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52558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99F7121F-28A9-4EE6-A09D-71F1399D4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0608E195-D3EB-4C64-B90C-B708C96C4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0808D8FD-B1AF-470F-868E-A155347BA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6902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E459E9FB-E7FE-4C28-8039-673FAB240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56902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GSR NÃO PADRONIZADOS</a:t>
            </a:r>
          </a:p>
        </p:txBody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F1D0EDA2-CF76-4D0B-A528-31636CBF0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3,0 bi</a:t>
            </a:r>
          </a:p>
        </p:txBody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4FCA98A6-BB8C-4E56-B204-B0F10A6EE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6902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93682278-86ED-4814-8C25-D559A1CAF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56902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C5767D86-7D77-465C-A4C8-D666E18FE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56902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</p:spTree>
    <p:extLst>
      <p:ext uri="{BB962C8B-B14F-4D97-AF65-F5344CB8AC3E}">
        <p14:creationId xmlns:p14="http://schemas.microsoft.com/office/powerpoint/2010/main" val="1972372475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0FE0E9C-D675-4030-861E-EA92E81DE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MODELO DE PRESTAÇÃO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766190-9D74-4DD3-9109-245418DA2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Monoestruturas são 7,8% dos fundos e 34,0% do PL; dados incompletos cobrem 1,2%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BAE7A2-BC4A-4B56-A8A3-5E61FA3EE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394544-7CEE-44D3-90D2-1CA2525D4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E2F37B-5E56-4CE0-9097-6C16AAA67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cadastro vigente em mai/26. Definição mono: mesmo conglomerado normalizado em administração, gestão e custódia.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3AB754-C708-49D5-9CE6-900725EAB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571500" y="1476375"/>
          <a:ext xmlns:a="http://schemas.openxmlformats.org/drawingml/2006/main" cx="7048500" cy="4191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52d8e8462e041a8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3436F0-EB92-48A3-BB23-4EF52A90C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057775"/>
            <a:ext cx="6000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219A76-BA9D-42A0-B647-7CD776C88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476375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E QUANTIDADE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55F1A4-7AC8-4349-90E6-B767933E3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743075"/>
            <a:ext cx="3524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D4FE32-0806-447A-9950-04893B43F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962150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F9AC12-3C5C-4129-9304-291A9F77D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1962150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331 · R$ 326,1 bi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388753-9D32-4779-B687-C13203445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468563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61AF984-3EEA-44B0-9ECE-7DFD2E3D7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525713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84CAB18-39FA-4B67-883A-67091C75A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2525713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42 · R$ 34,8 bi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B8DB5B-9A15-43D1-8994-1D9F2C88E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32125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C5C156-44F9-4E52-A130-0482A1ACD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89275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Custódia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E91C30B-EA24-4F0B-80E3-6D6E998F2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3089275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3.371 · R$ 511,5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F25F657-C7EB-46B5-8652-D815A7C2D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595688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E34719-A472-413E-A598-BF9593B76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652838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Gestão + Custódia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1230D0F-103A-41E2-B7CF-1DFC535D4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3652838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44 · R$ 19,2 bi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FA846ED-068F-44E1-8348-EB768B452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159250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41C3595-7FD0-43D1-8149-144ADF473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216400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Três prestadores distintos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469D0AB-A69C-45F9-8B57-B068221D0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4216400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355 · R$ 55,6 bi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4E58892-1F7C-4498-8D37-629FDAF21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722813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D52155D-B132-493F-A006-5E86851AA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779963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Dados incompletos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85223BA-18E2-4B58-A366-6FF505F79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4779963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79 · R$ 11,5 bi</a:t>
            </a:r>
          </a:p>
        </p:txBody>
      </p:sp>
    </p:spTree>
    <p:extLst>
      <p:ext uri="{BB962C8B-B14F-4D97-AF65-F5344CB8AC3E}">
        <p14:creationId xmlns:p14="http://schemas.microsoft.com/office/powerpoint/2010/main" val="1156655377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BC647A3F-7D95-45AD-B3DE-39A1E1195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CONCENTRAÇÃO DAS MONOESTRUTURAS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67D886-177E-4FEA-9847-E33E1E9A9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597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Sistema Petrobras é todo o PL mono do BB; TAPSO representa 54% do PL mono da Oliveira Trust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CC8CE7-D461-4BE4-9AA0-4DD14709D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2F38AB-CD1D-4501-9344-2232E7AEA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810C84-F58B-4F8F-B446-AB1F52648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mai/26. A evidência mostra concentração; não permite inferir preços, propostas ou contratos.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7E4213-17E1-4820-89DE-4A3A70648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AD78F2-9611-4DC0-8F49-ABC9758E3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70008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12455E-D24A-4813-9DAF-75D6052B5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04950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Grupo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521D7A-AEE5-49F1-A0BE-303BD257D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5049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mono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E212D4-F0C9-4B31-BD0B-88DC8B749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504950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9D86F04-2140-47B2-B946-1A9A65774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1504950"/>
            <a:ext cx="1981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Maior fundo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47A978-A135-42DD-B04D-6B175A3EB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1504950"/>
            <a:ext cx="64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Top 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55BF59-7A71-44BC-8D5E-73552C645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504950"/>
            <a:ext cx="64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Top 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626925E-6A67-4079-B8FE-1A2554F70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15049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HHI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C93F54D-2E55-499D-A989-5286007A8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02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63C8180-9663-48F9-AC9D-5F0B8FC18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193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240ED6B-4A8C-49A3-AACF-298CB63D8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288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CAC5187-2327-4E91-8336-83F57F1DB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8288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74,8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95783A1-86D7-4908-AF1C-6F910B03B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8288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471CDB4-7EB0-4A9A-8E32-20C1513A2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18288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TAPSO FUNDO DE INVESTIMENTO EM…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5CDF9CF-AF26-4ADD-AD9A-5C97EEA0A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18288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54,4%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EC2AE0B-D2BF-4BE1-8182-2B2ACEBAE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8288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63,3%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F94329F-9C00-40C1-88F2-9EC2FC398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18288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D31D33D-2FE5-4473-A4F9-CFDEAEFFD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288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5ADF7A5-1CFE-4C61-84AA-4FE1EA4B8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80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A88392E-7F9E-40AD-9F14-CD547180E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574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B222076-3B6C-4C5C-A280-E86353191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4574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67,7 bi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D66B7AB-C9EB-4AF5-837E-13A7CBB6C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4574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73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524E88E-98CF-4E0F-9956-E04DD8393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24574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 CONSIGNADOS II…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48D3C06-B8BC-40E9-AEC0-878D80C6A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24574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11,7%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0DDC81A-5D1E-4AF0-99E9-FE28603BB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24574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34,6%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A3173F6-0B48-4D1D-98F1-BB4EE509F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24574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6AC5E2F-A0D5-47C2-B0D8-58D82DD17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575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7AC8F56-105A-4005-87A8-6D60E769C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766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7CB36D3-C56D-45D1-998F-796D20C4C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61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37B715E-8875-4254-89F4-A3CCBC7A9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0861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60,8 bi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920819E-B6E4-4A22-86EB-6E3B165D0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0861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126669D-FB8C-4CB0-906E-A666E9668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0861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 DO SISTEMA PETROBRAS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ECB9362-75E1-4705-B719-70CEF9F82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0861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0EF7B45-3254-4878-B081-CCCBC07DB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0861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0803D26-974D-4B7D-AB84-0A1366F7A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30861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355CFA5-ED2D-493B-9F6D-EE185D23D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861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212C8D9-B817-46A9-B4E4-F1A3D18D6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05BF150-29B3-48E7-B30F-EC88BE071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147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Bradesco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32D5AD9-F5E4-45D3-B33B-1F5991965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7147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39,4 bi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3CED0EB-6577-4A7B-B708-BCC1BEC3B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7147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F451C00-7866-4C7E-9DF9-4F427B54E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7147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BELA FUNDO DE…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0707311-80D3-4A6E-894A-A57C0F35F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7147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25,4%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B6386EC-8AA4-4B04-947B-D37CBCBB9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7147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51,0%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53CC8F9-2C04-4384-9476-980593F2D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37147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D3DF7F8-0BBA-47FB-8E21-012AC35AC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148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3B44645-5AFB-49E8-9FD0-D68C60BA1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339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ACCD1CB4-88FE-4792-911C-681C5BD5A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434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Genial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28ED55B-5F1D-4414-9275-9CCC691AA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3434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26,7 bi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F1D105F4-0D77-4AE7-AADF-BDF23269B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3434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44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19FAA17-7D7D-4AFB-BFCF-6DC596A08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3434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FUNDO DE INVESTIMENTO EM…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73FFC93-31FD-4F52-A5DC-DDDBE8A2D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43434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25,1%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F18075D0-C950-40F2-BFCD-2BF09E96A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3434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51,3%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32C70DEE-6805-449A-B170-8E9E0CB5D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3434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810C269E-5FA9-40F9-A4D6-66AF84657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434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AADB5B89-3B8C-4845-80E5-8AEF60DE2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626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79925883-4919-4B3A-8879-867894A77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720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BF8ED9DD-19A6-4DE0-AA53-767538492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9720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18,4 bi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7FEE48EA-55DA-4E4D-8956-13A14D836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9720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02BF4A9C-C081-497D-9231-3E63C7C9C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9720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CRÉDITO PRIVADO FUNDO DE…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DD987EE4-71C2-45C2-9625-CD6E51CE3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49720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46,8%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850CDCFB-AA48-4B83-AB5B-D0403BEA1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9720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58,7%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A8DB2E18-3C19-4C9D-BC18-8451E59E7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9720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2A253782-E2FA-4721-9F78-B12A43475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476375"/>
            <a:ext cx="3571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DOIS CASOS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E2AE6796-1756-4C00-96F7-03A893CCC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743075"/>
            <a:ext cx="3571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84850685-8ABD-4C19-AF0D-32726BEE2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000250"/>
            <a:ext cx="3571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8E24E304-A416-45A8-A943-8198EC22C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286000"/>
            <a:ext cx="3571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 Sistema Petrobras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E9A5D2CF-A8D1-445A-AE48-3CE9E3225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667000"/>
            <a:ext cx="3571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R$ 60,8 bi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4C127F8D-E7D9-4787-8D41-16C9B074A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086100"/>
            <a:ext cx="3571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 fundo; maior ticket = 100% do PL mono.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084D3D1F-16E0-471D-8C80-789C6E884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714750"/>
            <a:ext cx="3571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6D8380E2-5110-40F1-A069-EECAE6D0E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000500"/>
            <a:ext cx="3571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TAPSO FIDC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B568813B-3446-44BA-A420-656967A82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381500"/>
            <a:ext cx="3571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R$ 40,7 bi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ACF42019-B418-4797-9A2E-16A9E9386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800600"/>
            <a:ext cx="3571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48 fundos; TAPSO = 54,4% do PL mono.</a:t>
            </a:r>
          </a:p>
        </p:txBody>
      </p:sp>
    </p:spTree>
    <p:extLst>
      <p:ext uri="{BB962C8B-B14F-4D97-AF65-F5344CB8AC3E}">
        <p14:creationId xmlns:p14="http://schemas.microsoft.com/office/powerpoint/2010/main" val="1137310014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3C1330C-4ADB-4B79-8ADC-63CC4F313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OFERTAS, CAPTAÇÃO E ORIGINAÇÃO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14FC68-C437-4D4F-8ECB-5925FF141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Ofertas somam R$ 75,1 bi até 16/jul/26, 9,0% acima de 2025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4D87F5-D628-4291-8804-895CCBC78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23554D-FC2B-4F38-9685-296B5A6BF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67AD61-0903-4B97-92A6-CB0703CBC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Ofertas Públicas. Comparação YTD até 16/jul/26 em 2024–2026; PL do restante do deck em 31 de maio de 2026.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2EA1BB-F533-49E9-BA89-A45E92CB9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A7D1D7-2B57-48A0-A4CF-F5364B3D7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NO MESMO PERÍODO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1BF136-53F8-461B-BCA6-82315EB6D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685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9" name="Chart"/>
          <p:cNvGraphicFramePr/>
          <p:nvPr/>
        </p:nvGraphicFramePr>
        <p:xfrm>
          <a:off xmlns:a="http://schemas.openxmlformats.org/drawingml/2006/main" x="571500" y="1809750"/>
          <a:ext xmlns:a="http://schemas.openxmlformats.org/drawingml/2006/main" cx="68580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e1bfc45515d483f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684A6B-E9DA-4478-A791-26F9BE644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5381625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86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593 ofertas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70191A-09C6-4BA9-8DC4-F1FE762DE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5381625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86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862 ofertas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120692-308B-48FD-ACD0-9F84095FE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5381625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86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868 ofertas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0095512-2DD9-4156-9AFA-71594CFEC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428750"/>
            <a:ext cx="3667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5 ORIGINADORES NOMINÁVEIS · 2026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4B6D38-04CB-4EC4-BF9C-9E7EB3093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695450"/>
            <a:ext cx="3667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1A06665-06B6-47C8-B43B-4CB2227F4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962150"/>
            <a:ext cx="1943576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CloudWalk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509508-43A0-4045-8DE9-EAA0C3FC0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6965" y="1962150"/>
            <a:ext cx="161353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R$ 5,50 bi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437F6F0-513C-4B3E-ADF0-A6F4A39D2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447925"/>
            <a:ext cx="366712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2EB63DF-C165-4AA6-B2EE-EF614A0E7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505075"/>
            <a:ext cx="1943576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BV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4CD11C1-241E-4F2B-84A3-F4076DDB7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6965" y="2505075"/>
            <a:ext cx="161353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R$ 3,35 bi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2B21235-4A13-4C31-9632-B704C6516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990850"/>
            <a:ext cx="366712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A6C8245-3750-4A36-82F5-CC3B0E4B4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048000"/>
            <a:ext cx="1943576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Agibank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E0F3595-1C3C-4333-BE7C-FC7B0AEB7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6965" y="3048000"/>
            <a:ext cx="161353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R$ 2,50 bi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31F3B4E-09F3-4620-BDFA-C958D08BB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533775"/>
            <a:ext cx="366712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36FE290-CC34-47D6-81FF-B5C146131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590925"/>
            <a:ext cx="1943576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Volkswagen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8E80CD1-D62B-4495-8EA2-7AD0C044B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6965" y="3590925"/>
            <a:ext cx="161353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R$ 2,00 bi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8247D83-128A-4BF5-9750-E17093640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4076700"/>
            <a:ext cx="366712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BEE5C71-6E2F-416D-9212-9FE77919D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4133850"/>
            <a:ext cx="1943576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Solfácil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690C0DD-E3F4-4A4B-8095-C6C38CCF5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6965" y="4133850"/>
            <a:ext cx="161353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R$ 1,51 bi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1633234-EEC1-431E-B726-CD9D6BF19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4953000"/>
            <a:ext cx="3667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32,7%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8FE2ECF-3829-4463-A485-F80D65C4D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5372100"/>
            <a:ext cx="3667125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do volume tem originador nominal identificado; não há base para chamar a originação de pulverizada.</a:t>
            </a:r>
          </a:p>
        </p:txBody>
      </p:sp>
    </p:spTree>
    <p:extLst>
      <p:ext uri="{BB962C8B-B14F-4D97-AF65-F5344CB8AC3E}">
        <p14:creationId xmlns:p14="http://schemas.microsoft.com/office/powerpoint/2010/main" val="1906298348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10B32DA-22BE-4F0A-AAC4-F6B27B805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ESCOPO E FONTES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3694C9-233B-4B74-850B-C14873631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Escopo, fontes e limitações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C1BA57-8361-41AA-80CC-986D6CC42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263E2F-CBFF-4F80-A1EC-6AE0ADDAD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E83ABA-5690-4DDD-BB51-84BDD86C7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• Fontes primárias: CVM, ANBIMA Data e FundosNet. Dados consultados até 16/jul/26.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4AC14C-39DC-4499-B045-CF8E0E6F4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B8E19E-B97E-4A30-AD7B-C2B737C91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1104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C66A25-6034-4C47-898F-824FEC8EE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09700"/>
            <a:ext cx="1695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Tema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7D20B2-591A-4399-9C07-AAF51C368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14097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Universo / data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B0197A-C4D9-49AB-8323-B34C503A1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1409700"/>
            <a:ext cx="5886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Definição e limitação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7A44D5-9371-4A7B-936C-01981466C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04975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EEBB4B-E2CD-4793-AF2F-C7C1D0094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09825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59EA266-8304-4BAF-8807-AA9A0C996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33550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 base investidora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C88214-591E-46C0-B55C-046D07328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1733550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4.227 veículos; 4.222 fundos; 31 de maio de 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3888D38-2627-4ED3-9C47-5E08797E3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1733550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 bruto, ex-FIC e FIC-FIDC reconciliados. Contas se repetem por classe/série e não equivalem a investidores únicos.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5FCE71E-DA47-4AAD-BA63-834DFD0B0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19350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BEC8B3-FDB1-41EC-9574-ED959EECE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2420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8776264-0816-425B-806A-7CAAB8600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47925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Tipo e Foco ANBIMA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AC37390-74ED-4E6E-8288-9C89CB784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2447925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91,55% oficial; 0,64% evidência; 5,87% proxy; 1,94% N/D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3856604-403D-43D2-8304-78B744F6C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447925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Tipo, Foco, origem e data permanecem separados. Séries históricas de gestor/custodiante usam cadastro vigente e não são like-for-like.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2363788-E166-46DA-A2FD-D38176772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33725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74716C9-52EF-4514-B560-5F358CFC3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38575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80A059F-2099-444F-972E-04FA53E78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162300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Inadimplência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1C5D4CD-9879-4830-BC77-14A8D83F0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162300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4.227 veículos; mai/26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9C1C05F-F688-4270-8D04-36E0929F2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162300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Cap por veículo; vazio não é zero. Aging &gt;360 existe na norma, mas não reconcilia com a Tabela I; visão ex-360 bloqueada.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5A1ADD4-0071-46AC-9979-7CCE563DE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48100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FF45C60-7298-4F00-B715-1B0D5949B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529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31FD384-0FB4-4D85-9907-1B831A2F8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876675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Market share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CEB76E6-3A32-4B6F-9D3C-56A50B2A2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876675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 focos; 3 funções; mai/26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8BFF51F-01E2-489C-A251-48E6D2924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876675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Denominador = PL do subtipo. Top 10 fixo por função; Outros identificados e prestador não informado separados. PL negativo consta no QA.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7AC46E3-50A4-497B-A892-A3EFA416B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62475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5C43CF8-9EDB-4437-9441-08F79C861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67325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92C660E-2123-4EE2-8483-DBFAEDD52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91050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D7341E1-0655-4CCD-B782-F94ED35D3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4591050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4.222 fundos; mai/26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204AB8C-D45D-4BAE-ACE2-BB687989B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591050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Mesma entidade econômica normalizada nas três funções. Concentração não prova poder de preço ou condições comerciais.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2096186-35B3-4E6A-8207-B6D1D8B04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76850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B357DEE-C002-4805-A211-B9121A4F7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8170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32BB4F5-2E19-4683-96C1-C0D8FA30E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305425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Ofertas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3D4414B-40FC-4461-A1E4-1AB98EFDE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305425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Registros até 16/jul/26 em 2024–2026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E896D1E-041C-490A-902D-C16596987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5305425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Comparação YTD contra mesmo período. Anúncio ou aprovação não equivale a volume integralizado.</a:t>
            </a:r>
          </a:p>
        </p:txBody>
      </p:sp>
    </p:spTree>
    <p:extLst>
      <p:ext uri="{BB962C8B-B14F-4D97-AF65-F5344CB8AC3E}">
        <p14:creationId xmlns:p14="http://schemas.microsoft.com/office/powerpoint/2010/main" val="1479310804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61A2267-7190-40E0-8747-56C64D4ED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7C0426-8B59-4D78-B5F3-E076CF72E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Administração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ADE33F-EB17-450A-A600-7AE8E33E3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6D5B80-4DA4-47D7-BFFD-7EE4CC989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080665-B4D1-4182-AC99-E8E330CBD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 e ANBIMA; mai/26. 14 focos; colunas normalizadas sobre PL não negativo. * combinação bloqueada.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3B0C8E-5CB7-45C7-97BF-CDF65FF60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graphicFrame>
        <p:nvGraphicFramePr>
          <p:cNvPr id="39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095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3a6817ca73a4bc3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067E1F-4C12-4624-A2C2-B66618491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97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088CC4-8C97-4181-A54B-DC0AFAFF8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5721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QI Tech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1097D7-6452-4E04-8B60-5CD54218F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6613" y="56197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A114D15-B42C-4A0B-9D9D-45216C753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013" y="55721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BTG Pactual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B5FAB7-C228-4D00-8865-4AA0C7C5A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56197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C36D01-F580-4B03-8630-6F02C070B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55721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881B4A-101B-48C8-A5C8-496FA435B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8238" y="56197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94E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2E226DD-4AF4-4D3D-A857-966281C9B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0638" y="55721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43617A2-C9BC-404B-A781-645349A8C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66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166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2B7E696-A0B3-4613-8298-6658C6445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6897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Daycoval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9977EE-660C-4C1A-A44D-F9878DB1C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6613" y="58166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77C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05920C1-8D05-47AF-9860-27CB54118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013" y="576897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Bradesco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C7135C7-2F2F-40FC-8254-D9A63843D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58166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29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09ADF38-7B55-4191-B8FE-1CF8AA2DE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576897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Genial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DA8DFEE-92A6-4C6F-A4BB-8058DD40C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8238" y="58166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3A7A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27D6BA7-5C2E-4AE4-9185-B0FBAEB81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0638" y="576897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CBSF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E4EE81D-41C2-4C1B-937F-F4856F7B5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13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BB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F100159-1370-4FC9-88EF-374908BB9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9658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Itaú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F495AB0-3BB7-45C2-98CA-628C00409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6613" y="6013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B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72DD797-6884-4FF5-A38B-13F8DFC91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013" y="59658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Finaxis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E3DE340-A6E1-4DF7-AF83-2DC968313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6013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D1C21D8-2E7C-4650-BA53-FEFD19762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59658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Outros identificados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AA09926-6E87-4C92-834E-21E2CED7D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8238" y="6013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D7DADD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1C41581-1F68-4E65-A094-6DDC08B5C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0638" y="59658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Prestador não informado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FD1F261-C8B6-45DC-A036-D95C210AE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53150"/>
            <a:ext cx="1076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29 registros com PL negativo (R$ 69,3 mi) foram excluídos da normalização positiva e permanecem no QA.</a:t>
            </a:r>
          </a:p>
        </p:txBody>
      </p:sp>
    </p:spTree>
    <p:extLst>
      <p:ext uri="{BB962C8B-B14F-4D97-AF65-F5344CB8AC3E}">
        <p14:creationId xmlns:p14="http://schemas.microsoft.com/office/powerpoint/2010/main" val="2093742249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07EE3E3-0693-4A46-A365-9A0F03255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578425-8C6D-402B-A0CE-6AD3607AF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Gestão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B92FB6-82C3-49EB-9AE2-5B9EBDD5C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45ED5A-C506-45F7-8C2E-E2E361D89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33B0FC-2C1F-47EB-BAB2-5BCCF5F2B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 e ANBIMA; mai/26. 14 focos; colunas normalizadas sobre PL não negativo. * combinação bloqueada.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04C509-B0C8-4236-8428-EFCA29F51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graphicFrame>
        <p:nvGraphicFramePr>
          <p:cNvPr id="39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095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3e36e003400437d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5B7DCE-D0BF-4315-8769-A7BE83DA1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97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DA2D91-F16F-4C24-9E52-7B223568C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5721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C4E6DE-EECA-486C-933C-E601FDE10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6613" y="56197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99D5C5-DD81-431D-ACF5-5615F1B78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013" y="55721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BTG Pactual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095D66-4AF8-4051-BD36-F13C3E1AA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56197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048D170-F1B0-4772-9BBC-BB904D489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55721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AFB60AF-DE02-459D-BCBC-6A6485489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8238" y="56197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94E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B92DD0-35AC-4250-BE02-5ED746C2C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0638" y="55721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Bradesco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ABE6DB6-959A-4964-B005-75AC5DAED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66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166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1B4D7A1-CC4C-4096-8236-552F9FAD9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6897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Genial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20137EF-6F29-40DD-875D-883DF9C31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6613" y="58166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77C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91A9EB0-955E-458C-AF6E-8686B63F4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013" y="576897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Tercon Investimentos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EB933CB-49CD-4993-A573-CC987EBCA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58166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29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56C8EFC-74A0-47CC-86AF-E467AF795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576897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CBSF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EC1E161-5B3D-4B81-81F8-CBDB1DA00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8238" y="58166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3A7A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88A8B2A-3DFF-4928-9174-5C6908223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0638" y="576897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REAG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90C3CFD-27FD-4CB3-B7EB-1547C3622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13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BB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2375C48-7629-4DC0-856F-0D790AD6C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9658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Itaú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A3C0275-8452-495F-9348-6D1E4DC8D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6613" y="6013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B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D3605C7-D6B9-433D-92BA-6B739629F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013" y="59658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Solis Investimentos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48F7060-C628-408C-A453-FF50755CD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6013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ED08299-1417-4ED2-BDA1-2E3CF7230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59658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Outros identificados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CCE872A-882B-45DB-B156-C5B5B78F9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8238" y="6013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D7DADD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9C26DF3-FE6B-49F3-8C71-6485BE38B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0638" y="59658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Prestador não informado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52862EE-F673-4BF0-9C05-E24AE3FBE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53150"/>
            <a:ext cx="1076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 combinação(ões) bloqueada(s) por bucket agregado negativo; R$ 69,3 mi de PL negativo permanecem no QA.</a:t>
            </a:r>
          </a:p>
        </p:txBody>
      </p:sp>
    </p:spTree>
    <p:extLst>
      <p:ext uri="{BB962C8B-B14F-4D97-AF65-F5344CB8AC3E}">
        <p14:creationId xmlns:p14="http://schemas.microsoft.com/office/powerpoint/2010/main" val="1321320659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C75C26B-75E8-4779-AAF7-04E8EC055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BFE5B2-EECB-43B5-91F9-A358C759E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Custódia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3DFA8D-6DF7-4578-BC4A-EC2DAFB2D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EFF799-BC70-48C7-B124-454F5D92E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6D49F4-81F8-4A3F-830E-1743B914F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 e ANBIMA; mai/26. 14 focos; colunas normalizadas sobre PL não negativo. * combinação bloqueada.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F71D1A-B149-4E34-A469-2FA22E4DE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graphicFrame>
        <p:nvGraphicFramePr>
          <p:cNvPr id="39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095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16d2257da5849ea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E719FF-0EA6-4B9D-A263-B201A9E59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97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593550-1C23-449C-8446-A812FDA0B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5721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QI Tech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D3C53F-E0A7-4AB9-8B70-CED8A9A59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6613" y="56197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BE2F92-E2C4-4096-B274-5BD50430D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013" y="55721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93D120-5202-4641-8D33-FFDF8DB28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56197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EA3C13B-EC05-4A06-9499-953B755B0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55721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BTG Pactual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3E202C5-22C7-4AD3-9D25-B71CC982F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8238" y="56197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94E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AC5F0B6-40E5-495F-9CCB-59868B8AD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0638" y="55721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6E813F8-911E-4342-AC01-5D39C5207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66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166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E71D0E8-8E17-4BA2-922E-CEEBDBD04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6897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Daycoval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E46666A-A451-4808-BEBD-52C70B11C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6613" y="58166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77C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B3B14DC-D53E-4B0A-B999-58C7E6AAA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013" y="576897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REAG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EDCD3AD-A52D-446D-AAE6-06506795E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58166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29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47A4337-2400-45E1-9188-D913CAF9A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576897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Bradesco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BD072EA-47F3-4E05-B7D0-88B23E10F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8238" y="58166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3A7A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71C7C52-3520-4F07-886C-02B8817DB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0638" y="576897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Genial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1F5E71D-CA8D-4721-8611-4BD335A1B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13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BB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7A7ED03-8331-4DA5-9375-3056F0CA6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9658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Finaxis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1D2CB5D-BB63-4FC4-97B4-2F14AD4F0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6613" y="6013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B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D1C8EBF-1A60-44C9-9932-08326FB0D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013" y="59658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Limine Trust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E111E91-50B7-4595-85D8-C3AEA484C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6013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D257CFD-635A-4B1B-BF6E-D38786964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59658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Outros identificados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B41E116-4280-4DA7-B176-967EEE37D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8238" y="6013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D7DADD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E14B6C9-FC43-4834-B54D-E8C576488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0638" y="5965825"/>
            <a:ext cx="2500313" cy="19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Prestador não informado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63FA238-4404-4F3E-AB96-81EA9681F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53150"/>
            <a:ext cx="1076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 combinação(ões) bloqueada(s) por bucket agregado negativo; R$ 69,3 mi de PL negativo permanecem no QA.</a:t>
            </a:r>
          </a:p>
        </p:txBody>
      </p:sp>
    </p:spTree>
    <p:extLst>
      <p:ext uri="{BB962C8B-B14F-4D97-AF65-F5344CB8AC3E}">
        <p14:creationId xmlns:p14="http://schemas.microsoft.com/office/powerpoint/2010/main" val="1170974958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907BC15-D643-4A24-947A-4BFEEB62E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36EE96-4C8B-49A1-B035-24AF1F7CB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 FIDC Sistema Petrobras — R$ 60,8 bi e 6,9%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14D3F4-5C07-495C-926E-1843E202C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448BB8-F981-4426-BCB4-BCACF95F5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985C98-45F9-495E-A53A-2CC3DE278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https://fnet.bmfbovespa.com.br/fnet/publico/abrirGerenciadorDocumentosCVM?cnpjFundo=09195235000150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512401-640A-41F2-89D4-CF9D63B22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9008F7-36F9-416F-BA12-815813274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09.195.235/0001-50 · FIDC DO SISTEMA PETROBRAS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A9DFBE-5DE7-4B97-8BEF-4CCBAB807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9A5665-AA8F-486E-9250-DD7DF607F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B38D1F-539A-416D-BA49-DA10FC3B6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F1EC8D-DF12-4294-A959-A1C319E90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Empresas integrantes do Sistema Petrobras que cedam direitos ao fundo; o regulamento não traz lista fechada de cedentes.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9E736A-F1D4-4B92-9D67-26D0F4F41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0360EE-8D66-452A-A75E-5A2CCDF65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jurídicas às quais as cedentes prestam serviços ou alienam bens.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99301A7-D15F-4456-B6A3-D5FE13AF0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6C56409-86B7-4F20-9BB4-6D603D2D3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originados em operações industriais, comerciais e de prestação de serviços das empresas do Sistema Petrobras.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71D6D2-D680-4A42-8F59-BFBDFA723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440EF70-9C64-494F-95C4-FED80277A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As empresas do Sistema Petrobras cedem os recebíveis ao fundo. O pagamento dos devedores passa por conta escrow no Banco do Brasil; as cedentes podem atuar na cobrança dos créditos inadimplidos.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D58DC4-5417-4052-A8FE-40016C86A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CD018EC-294A-4101-9559-0786C5531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B73412-0F10-4F1D-93ED-B892FA07B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16FB2D2-8A50-415E-9BB7-DC53002AF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F49AC6C-9CD8-43D3-96B9-961A21563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5A5CA88-591F-4260-B4E6-79FA88C5F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Subclasses sênior e subordinada. Enquanto houver cota sênior em circulação, deve existir ao menos uma cota subordinada; o regulamento não fixa razão percentual adicional. Garantias: Garantia específica dos recebíveis não identificada no regulamento consultado; o investimento não conta com garantia geral do administrador, gestor ou 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9709BBF-2D48-4261-8AF0-ED5C825A0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9838934-B6FE-4DE5-8CEE-3D2F84D87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BB GESTAO DE RECURSOS DTVM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BB GESTAO DE RECURSOS DTVM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DO BRASIL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DACF4C4-96CE-40F5-B09B-1EB86021C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0CA3C19-E661-4475-B14F-700F65B4A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· Recebíveis Comerciais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345F142-D354-4727-8585-C5F92F995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F4F9F92-8816-4BB8-8752-D0AA0CB0F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o Tipo/Foco oficial ANBIMA.</a:t>
            </a:r>
          </a:p>
        </p:txBody>
      </p:sp>
    </p:spTree>
    <p:extLst>
      <p:ext uri="{BB962C8B-B14F-4D97-AF65-F5344CB8AC3E}">
        <p14:creationId xmlns:p14="http://schemas.microsoft.com/office/powerpoint/2010/main" val="64007441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682B70F-580B-4A60-BCAE-123E34280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BF3501-CC91-4C2F-8DA9-1FD9B5D3E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#2 TAPSO — R$ 40,7 bi e 4,6%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7EB3FA-83CA-4E68-B066-77A4DFFEA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6E5BB5-9102-4BFF-A5EC-057E72A78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3D8D72-4297-4E82-91C0-D82AD9148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https://fnet.bmfbovespa.com.br/fnet/publico/abrirGerenciadorDocumentosCVM?cnpjFundo=26287464000114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8CA6D6-9F09-463C-87D0-A2D87AF3D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86B037-B88F-4F81-B3B2-23ABBDE77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26.287.464/0001-14 · TAPSO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A60658-D2B3-446E-82C1-BDE80CB51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E9A39D-5476-4F75-9027-56D881F57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8A116F-5F75-4CC3-ACE8-EB5621F45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526196-28E4-4D89-AE47-29BC6EC51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74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credenciados, representados por Stone/Pagar.me ou adquirente autorizada, e instituições financeiras parceiras; o regulamento cita a Stone Sociedade de Crédito Direto no fluxo de sub-rogação.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7BABCB-68E7-43B4-8A73-DA684AE50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BED975-B5E4-4242-9339-55F906C01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Stone, Pagar.me e demais adquirentes/subadquirentes autorizadas nos contratos da operação.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6262AC-8500-45B8-9FAF-27E23C6FE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590024E-81CC-434F-AB90-C53E3B014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Unidades/recebíveis de transações de pagamento e créditos sub-rogados de instituições financeiras parceiras.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146FD56-5AC2-42BC-AFF5-7F90AD5B7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8FF64D5-6E39-4A43-A325-3CF79091C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recebíveis dos estabelecimentos e direitos sub-rogados de parceiros financeiros, com revolvência e pagamento pelos participantes do arranjo de pagamento.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702B0D-A826-480A-BCB5-8B0F8B3EF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7D86A81-C81B-48B9-96D2-6BBF56F86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1736C57-9D15-4BCD-A721-85387179C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6D9AF29-8B72-4327-9CF6-6CB96DEE5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C14F921-1B54-4088-BC7C-F79970FFD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31B2B49-D037-47D0-BF08-EDD590DDF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A, mezanino B e subordinada; razão total mínima de subordinação de 20% do PL da classe. Garantias: O regulamento admite cessão fiduciária para assegurar promessa de cessão; não há garantia geral de prestadores ou 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44159F7-3978-4FB1-8A87-2B8C4CC3B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4C9737B-0861-45C7-B5C6-586620C5C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OLIVEIRA TRUST DTVM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OLIVEIRA TRUST SERVICER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OLIVEIRA TRUST DTVM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FE86DCE-4C75-4439-BCD7-17334937F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4243BE6-6FD3-4883-A6B8-0BABC19D9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B099BAA-11BF-4DA3-ABF6-4173000C4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9DCD500-F134-42CB-8D42-BA90B637D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Financeiro/Crédito Pessoal; o regulamento consultado descreve predominantemente recebíveis de meios de pagamento. Manter as duas leituras separadas.</a:t>
            </a:r>
          </a:p>
        </p:txBody>
      </p:sp>
    </p:spTree>
    <p:extLst>
      <p:ext uri="{BB962C8B-B14F-4D97-AF65-F5344CB8AC3E}">
        <p14:creationId xmlns:p14="http://schemas.microsoft.com/office/powerpoint/2010/main" val="406873788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5CC125E-D287-4CA2-A5FD-CAEC6D76D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2C04C0-E851-4772-A54E-A97E9D070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#3 CloudWalk Bela — R$ 10,0 bi e 1,1%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BA995D-CBD6-4F25-9602-434A54EF1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01D4D2-22FD-4865-BCFC-78053404C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F8E298-C276-4607-B217-FDA81A983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https://fnet.bmfbovespa.com.br/fnet/publico/abrirGerenciadorDocumentosCVM?cnpjFundo=62393679000183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8B70A1-C352-4935-989E-609001D5F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D14F6D-63C6-4B38-8128-B73C581FB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62.393.679/0001-83 · CLOUDWALK BELA FUNDO DE INVESTIMENTO EM DIREITOS CREDITÓRIOS SEGMENTO MEIOS DE PAGAMENTO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51054B-1197-4DAE-B47C-7DFE37591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55C3D5-CBFD-4625-9E44-0111B85B2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DD8733-105E-40EE-8AC9-1B9295CB1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BEE4BF-F7A1-4877-BA6C-0D11B9275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Instituição de Pagamento.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A5E4EF-D1E9-43C8-ACC1-58CFBF159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98ECE6-C9E8-4376-8790-04A5D4AD9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 e instituições de pagamento responsáveis pela liquidação das transações capturadas no sistema CloudWalk.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2A6E3A-2F57-422A-8FA9-7441F63D0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00176A-AF5C-44C7-9D0D-46E6BB61B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devidos pelos emissores à CloudWalk, como credenciadora, decorrentes de transações de cartão realizadas por estabelecimentos.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04C843-A28A-4DDF-B32F-3EC61C3F0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BD857FD-0348-43E7-A9A5-2460F04B7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CloudWalk cede à classe recebíveis de liquidação de transações de pagamento; os fluxos dos emissores alimentam o pagamento das cotas.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71EA402-01EE-4FDE-9A49-EAD7F5813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857F925-D36D-426E-BA17-2F76A7A3A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06FF440-EAD2-4E54-94A3-B4C4CC839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A533DE7-F319-4B00-9165-0537129CD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2026-04-20 | encerramento de oferta primária da 2ª série | R$ 5.500 bi | doc. 1166893 || 2025-09-16 | encerramento de oferta secundária da 1ª série | R$ 4.200 bi | doc. 993253; Oferta secundária; não representa captação nova da classe.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1966AC2-B4DB-4E8A-AF2F-553429424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6D56909-4F72-489A-8FB1-5603253B5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Sênior, mezanino A, mezanino B e júnior. O regulamento contém índices de subordinação por fase e marcos ligados à oferta da 2ª série; a fase aplicável em mai/26 não foi reconciliada e não deve ser resumida como percentual único. Garantias: Subordinação por subclasses; garantia específica adicional não identificada nos documentos selecionados.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ED4DBF3-7C5D-4D34-A6D7-14CEC8ED8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F915FDB-F995-4BB1-B856-3839A6C3F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71031CD-7477-436D-B27A-EB9B5F42C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4185309-22DC-4EA9-93EB-3F116EBFF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F60944E-3A35-4C0F-9389-48B45EFF0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CCCC87E-A01E-48AA-9BD9-4128D17FF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estrutura econômica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460286104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1CF92B0-F47C-4042-A42E-C345A081C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85DEB4-6BA0-4D98-AB12-07FD3F238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#4 Itaú Crédito Privado — R$ 8,6 bi e 1,0%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DE035C-32D3-4D8A-9745-28A455C42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54417C-1C37-47E6-93D8-87C4A72C3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326957-394B-4B15-BC17-15AED445E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https://fnet.bmfbovespa.com.br/fnet/publico/abrirGerenciadorDocumentosCVM?cnpjFundo=53286499000101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7DB635-CECC-4971-B855-E60EB343D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D475A7-A9DC-47C1-8154-CC0B2B101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53.286.499/0001-01 · ITAÚ CRÉDITO PRIVADO FUNDO DE INVESTIMENTO EM DIREITOS CREDITÓRIOS -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A38AEA-D236-416B-859F-3DE3188AD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421488-0800-4E3F-8358-4E16710C3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8E7A04-18A1-4655-93D9-1BDB4081D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5416F1-71E5-40DB-9DE1-F73E32892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como entidade única; os instrumentos podem ser adquiridos de emissores ou no mercado, conforme seleção do gestor.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F313A4-75C5-45F5-A0B9-56B5EA1E7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C21F79A-10EE-4360-9B62-7643AE6D5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Emissores, devedores, coobrigados ou garantidores dos instrumentos de crédito da carteira.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C37800-779C-4FBB-84EA-02AC10C7E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D7A680-1C28-43EE-96E2-70FE26DF7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Debêntures, CRI, CRA, notas comerciais, letras financeiras, LCI, LCA, CDB, CCB, CDCA, cotas de FIDC e outros direitos de crédito previstos no regulamento.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722855B-3406-4482-8AB7-D9B1D37B9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CDB0077-0C5B-44B0-A741-09EDD1F90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discricionária de crédito privado, sem um único cedente ou fluxo operacional padronizado identificado no regulamento.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0DD931F-4985-4A06-B797-C94EE0044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9FAC6CA-E28B-45EF-8EEA-E6D318E3B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A7951E1-BBCB-4659-B791-BE89004AF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9F076F8-2C8C-4BC3-9DE5-D8CC2170F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C4F0109-4411-4E12-8ED2-73A17334F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3A9AFD5-6F83-466C-8AA6-4AC32B0D1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 e subclasse únicas, sem cotas subordinadas no regulamento consultado. Garantias: Variam por instrumento; não há pacote único de garantias descrito para toda a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C731ABB-5F9E-4E1C-BB81-0B70567CB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2CCCEE4-33C5-4056-A222-6288A1C27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INTRAG DTVM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ITAU UNIBANCO ASSET MANAGEMENT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ITAU UNIBANCO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6AA9C46-B4FF-4869-9E10-E204A01E3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103587B-38DC-4D41-AD9B-E001D4269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AA47BFC-B1ED-487C-92E0-B212C938C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CE78269-F7A6-4075-B883-445349139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Outros/Multicarteira Outros.</a:t>
            </a:r>
          </a:p>
        </p:txBody>
      </p:sp>
    </p:spTree>
    <p:extLst>
      <p:ext uri="{BB962C8B-B14F-4D97-AF65-F5344CB8AC3E}">
        <p14:creationId xmlns:p14="http://schemas.microsoft.com/office/powerpoint/2010/main" val="1504805933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2058512-5A24-40F2-8688-15BED4D63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8B272C-50AB-4225-AE5B-CE054F0B9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#5 Esperanza — R$ 8,4 bi e 1,0%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DB705B-3E1A-4DF5-BEF0-367BC69F1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81EB2E-D3A6-498A-B8F6-84374D11B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E165D9-80F8-4990-8313-A8D3739E7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https://fnet.bmfbovespa.com.br/fnet/publico/abrirGerenciadorDocumentosCVM?cnpjFundo=53263761000100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66D637-9CB6-4C58-B5F7-4DDB14CE2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EA18F9-91DC-49F7-9146-04BA4171C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53.263.761/0001-00 · ESPERANZA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370FE7-0CC5-4C8E-80F6-026B505F9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0E4D0A-DCEE-4D14-9F6A-603D6CD60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59A782-6022-4F21-8E02-75D77F0C8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00B07F-7214-4D44-AEB6-70482E5C7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jurídicas ou fundos que transfiram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A43ADD-363A-4324-8BA6-401DC8F6E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923E1A-BB4B-427E-A8F7-819FBA345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União, estados, municípios, autarquias, fundações e demais devedores de créditos vencidos ou litigiosos, conforme o direito adquirido.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0E0B39D-01C3-4AAF-AA82-C325DE1AA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6EDEF31-733C-4AD4-AC0D-BCF97E533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Precatórios e créditos públicos; créditos vencidos; direitos em litígio, penhorados ou dados em garantia; direitos futuros e outros não padronizados permitidos.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4781D4A-635A-4513-9463-5528BB4EE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0EC36E1-4C6F-4BA1-A051-33E8668D6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gestor seleciona direitos judiciais/NPL e outros créditos não padronizados. O regulamento permite aquisição com ou sem coobrigação do cedente.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7B31244-3141-44F7-9061-FF97CE6E6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1BE2BCF-19AE-4EF9-9237-FE00B2CEA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710ACBA-04E2-4ECA-B6A3-57794A5FE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6726CF1-73A9-482F-884F-45A629BE1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37DD09B-CFDE-48D3-8C8E-B9B010E0A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76BF95A-1ABB-48C4-A8B5-CD7D557DB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regulamento prevê subclasses e apêndice de cotas subordinadas; eventual índice deve constar do apêndice/suplemento e não foi identificado com segurança. Garantias: Podem existir no direito adquirido; não há garantia uniforme para toda a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29BBF93-2CF1-4952-A6E9-DB6CE0644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80B1974-DA7E-4E8D-ACBC-136C38854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CBSF DISTRIBUIDORA DE TÍTULOS 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REAG JUS GESTÃO DE ATIVOS JUDICIAIS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REAG TRUST DISTRIBUIDORA DE TITULOS E VALORES MOBILIARIOS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E5E8D95-FE01-4951-8ACE-FA4F3BA90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B7233A1-10A7-4538-B375-C32B623D6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65054FB-E4F5-47E8-B67D-A252FF638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8136D17-226A-4E46-B05E-41D4296D2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política permite carteira judicial/NPL ampla.</a:t>
            </a:r>
          </a:p>
        </p:txBody>
      </p:sp>
    </p:spTree>
    <p:extLst>
      <p:ext uri="{BB962C8B-B14F-4D97-AF65-F5344CB8AC3E}">
        <p14:creationId xmlns:p14="http://schemas.microsoft.com/office/powerpoint/2010/main" val="2087296484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26036C7-1F0C-4093-9455-8BB215C2E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308D88-2F09-4A6F-9FDC-61F0C89D1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#6 BTG Consignados II — R$ 7,9 bi e 0,9%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1B0112-855F-432C-9C26-6DD30D309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4F9D7C-9FC0-49BC-92AB-71FC2123E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865167-EF09-4417-A181-A9C11ABAB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https://fnet.bmfbovespa.com.br/fnet/publico/abrirGerenciadorDocumentosCVM?cnpjFundo=52242420000188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4FC8EF-3D86-4958-A41C-2539E8812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6F187F-4537-4300-992D-2B5FD9592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52.242.420/0001-88 · BTG PACTUAL CONSIGNADOS II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5EE3EE-3F70-41E8-BAF7-0E0A67216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F93058-B2DE-4690-8C87-09E0C8C9B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0BE217-A95B-4814-8BE2-054E6F64A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C2E60D7-DD01-40FF-BFF8-EFCFFE3B3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Instituições financeiras que concedam as CCBs; nomes individuais não identificados no regulamento selecionado.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D8C3CD-32F7-488F-802E-133181FBD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4C7591-0049-4C26-B1CE-5782744BC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incluindo beneficiários de INSS/Auxílio Brasil e trabalhadores com saldo de FGTS, conforme a modalidade da CCB.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57E1E82-D5BE-4D3D-A1C0-25AD1B3BF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9BB5BEE-5FCD-4BE7-B9B1-B5814F3F2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vincendas de CCB de empréstimo pessoal com cessão fiduciária do saque-aniversário FGTS ou consignação operacionalizada pela Dataprev.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7E0B723-222E-4253-B25B-7D6A6F562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FAA564-3592-429E-9423-9E20D326F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ou recebe por endosso parcelas de CCB; o pagamento ocorre pelo fluxo do FGTS/CEF ou por consignação processada pela Dataprev.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0216B7D-E677-47EE-A93C-BEE05B12F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24B40F9-B736-4F4B-9BA9-88578CB59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7417D32-B9E2-492F-8F23-8C597717F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533B002-F1C1-4710-AB2B-BD387C695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2023-09-19 | aprovação de primeira emissão privada | R$ 2.500 bi | doc. 523931; Valor máximo aprovado; o documento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BE5673A-8A73-4642-88CB-44F7A7728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2B48FE4-4634-4C0E-9D3B-CD57EC9FD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 única com cotas pari passu no regulamento atual; não há índice de subordinação. Garantias: Cessão fiduciária do saque-aniversário nas CCB de FGTS; nas demais modalidades, consignação conforme convênio aplicável.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16E85A8-6A0C-4936-B4EF-494E410E1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6A02D0C-4455-481D-9BEE-A3E31A13B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A0D1AA5-D019-4F3E-A65E-51D1ADD43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3E82D03-578B-4FAB-8FE8-DD69C9FEC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8ECF8A6-7F7A-4844-9FD3-0ACC97681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A16EF75-252F-42FB-BF83-53E1771C3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Financeiro/Crédito Pessoal do snapshot, embora o foco contratual seja mais específico.</a:t>
            </a:r>
          </a:p>
        </p:txBody>
      </p:sp>
    </p:spTree>
    <p:extLst>
      <p:ext uri="{BB962C8B-B14F-4D97-AF65-F5344CB8AC3E}">
        <p14:creationId xmlns:p14="http://schemas.microsoft.com/office/powerpoint/2010/main" val="1585663477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FBB0854-896D-47E4-8126-EE05F8D0D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C6D19E-6F22-4C30-91FC-FF880D457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#7 MT Global · Consignado Privado — R$ 7,8 bi e 0,9%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BDC0DF-5FC5-44B3-A92D-5545A93A7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6648F7-E5B8-4A24-8947-7A647F0EB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680A38-D2A1-4D85-A164-37DDF0627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https://fnet.bmfbovespa.com.br/fnet/publico/abrirGerenciadorDocumentosCVM?cnpjFundo=63953620000165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624581-4F94-400C-BEE4-4A9D428C2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865581-AD64-4DE1-867C-6C43FDD2A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63.953.619/0001-30 · CLASSE CONSIGNADO PRIVADO DO MT GLOBAL FUNDO DE INVESTIMENTO EM DIREITOS CREDITÓRIOS RESP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7FBD96-5192-47AE-866E-8C0180BD2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0FD6C2-8FA6-439C-AEF8-564B99561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25E0BA-A516-418B-8061-95531329D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450BB7-E6B5-4C0E-905D-8070AD9C3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Parati Crédito, Financiamento e Investimento S.A. — CNPJ 03.311.443/0001-91, como endossante das CCB.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C00A63-7C6E-4C27-8A41-8EAFBC062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031ADF-E060-45E6-BB30-59F37365C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empregadas em empresas privadas, tomadoras de empréstimos consignados.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1FBF1D-2CB6-44DF-9212-970C1EC86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B3A64CD-E54D-4CA4-8CF3-F3828CC43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de CCB de empréstimo consignado privado, processadas pela infraestrutura Dataprev/CEF prevista no regulamento.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281269-0CC5-42F5-AD36-64C7BA5DB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7B5A592-0152-47F2-8BE9-26196E0A3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Parati origina e endossa eletronicamente as CCB à classe, sem coobrigação geral; o desconto em folha direciona o pagamento das parcelas.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6CD941D-9F9B-474C-9606-065D9645D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301D305-4A07-421C-83DD-048D3E600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BA2FF26-B862-46EE-91D5-A7B812090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3F6B438-F73D-43EA-BBA9-A16FE341B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93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2026-01-08 | aprovação de colocação privada de cotas sênior em vasos comunicantes | R$ 15.000 bi | doc. 1087883; Valor máximo aprovado entre classes; não comprova captação nem pertence integralmente a esta classe. || 2026-01-08 | aprovação de colocação privada de cotas subordinadas da classe Consignado Privado | R$ 0.007 bi | doc. 1087883; Valor máximo aprovado;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26AC000-CAF7-4203-BAE4-691A494DB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78B9185-869D-43F0-AE72-AF00D7A00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subordinada. Índice mínimo de 1% do PL e índice-alvo de 10%; os dois parâmetros não são equivalentes. Garantias: Desconto consignado em folha; cessão/endosso definitivo sem proteção geral contra inadimplência.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C601821-715A-4448-8C55-3D4AE4E1E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A1E2800-B36D-493F-A471-C4BBE85EB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BTG PACTUAL ASSET MANAGEMENT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AC7CB51-758E-44EF-9640-CD15FF859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2369BD6-B69D-4B76-9CEC-0343A2370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· não identificado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nao_identificado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8DC1F32-D958-4F54-802C-A236EDED3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1FE2E57-A57A-4A07-A927-CA4C3A4ED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Tipo/Foco não identificado no snapshot ANBIMA de 29/12/2025; o anexo documental descreve consignado privado.</a:t>
            </a:r>
          </a:p>
        </p:txBody>
      </p:sp>
    </p:spTree>
    <p:extLst>
      <p:ext uri="{BB962C8B-B14F-4D97-AF65-F5344CB8AC3E}">
        <p14:creationId xmlns:p14="http://schemas.microsoft.com/office/powerpoint/2010/main" val="346766956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BA03859-8FA4-44E5-844D-7969975C8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5FD52C-68D5-4D74-96DC-729963DC7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#8 PAN Auto — R$ 7,7 bi e 0,9%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2A9FFC-AFBC-4585-902C-6D780E71C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FC17EA-26CF-482C-BC39-7881B8645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7C176B-A29D-4BF3-927A-D15421DEA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https://fnet.bmfbovespa.com.br/fnet/publico/abrirGerenciadorDocumentosCVM?cnpjFundo=65473848000183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3FA0DE-ECA8-4909-BC5C-65A3DD6AB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1676C8-D20A-4389-A949-3D556FB30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65.473.848/0001-83 · PAN AUTO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662401-4833-4211-A9BF-89AC54F9C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3D16B1-39DF-4C07-B1E1-ADAD272E4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82F820-B2CB-471A-BD65-8B7547ECA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3E50B2-D631-497E-AD24-932796D35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nos documentos selecionados.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6FEA97-E8B3-4E8C-9B8C-5BF425D53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A82827-2E66-4DE1-8AD3-89DEE6D69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Entes públicos responsáveis pelos precatórios federais adquiridos no 1T26; nomes não identificados.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4795878-A4D6-40EE-8476-1C99328B1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943F0B-123C-4033-9D0E-B85837B63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relatório trimestral confirma que a exposição incluiu precatórios federais no 1T26. O documento não demonstra que toda a carteira era de precatórios e não há evidência primária suficiente para classificá-la como financiamento de veículos.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10B7750-C9CB-4887-98F4-1E727E7FF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0FE6D4B-581A-4FAA-942B-4C6B808DC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recebeu parcela cindida da Classe Única do BTG Empresas em março de 2026. No 1T26 houve novas cessões definitivas, alterações de garantias, pré-pagamentos e alienação parcial de direitos.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E00100-E79C-4B1D-B4F4-2038E9200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93D0C2E-43C0-4082-8297-E6DE4AC09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0787BF2-4FD5-4654-ABF0-D63C2F702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5764F8C-9631-4B80-9A1E-A7A481F1C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2026-03-18 | incorporação de parcela cindida da Classe Única do BTG Empresas | montante não identificado | doc. 1142758; Evento societário/patrimonial; não é oferta pública.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5B02AC1-3113-44D6-B9ED-B32B6B890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30E1A67-E45E-49DC-A947-14CBB6E13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nos documentos selecionados. Garantias: O relatório confirma alteração de garantias no trimestre, mas não descreve seu conteúdo.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C121CCF-B954-4042-9EE3-FD0902CEA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289F492-8698-4BBF-9636-1722DD2BF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BTG PACTUAL GESTORA DE INVESTIMENTOS ALTERNATIVOS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34536BD-BF7E-47C9-828A-C770343F9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9E6D1F6-6F33-49A5-B6F1-D8D759F75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· não identificado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nao_identificado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890E7C8-17D9-4625-9B38-DC9406749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F9BC344-326D-4540-A2E6-150D99333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nome PAN AUTO não é evidência de crédito automotivo. O classificador local baseado no nome deve ser descartado; a única evidência econômica primária localizada foi a aquisição de precatórios federais no 1T26.</a:t>
            </a:r>
          </a:p>
        </p:txBody>
      </p:sp>
    </p:spTree>
    <p:extLst>
      <p:ext uri="{BB962C8B-B14F-4D97-AF65-F5344CB8AC3E}">
        <p14:creationId xmlns:p14="http://schemas.microsoft.com/office/powerpoint/2010/main" val="1739647578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3D24F0D-7603-418D-B0A4-F7B06A7B9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7AC3AA-6BFD-40EC-81DB-CBBC5ABD9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#9 Aetos Energia — R$ 7,4 bi e 0,8%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085469-13D8-478D-A4CC-10E3B9AA5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ACB5BC-19BD-4457-B1F6-6264152C8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639152-F7A4-4CF0-9EC6-5C811D938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https://fnet.bmfbovespa.com.br/fnet/publico/abrirGerenciadorDocumentosCVM?cnpjFundo=52610624000124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032656-2B92-48DD-A174-1155755F4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0F7EAA-D8DA-4FA8-B95F-434BEA455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52.610.624/0001-24 · AETOS ENERGIA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C0E44B-94DA-4000-9470-C85AFC833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699F84-671A-49F4-B753-6B61D2963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B560E7-CB6D-4A37-A985-B8C96A1D3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E7FED2-0AF7-4B18-9327-6B5245639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XP Comercializadora de Energia S.A. — CNPJ 34.475.373/0001-30.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10E44E-0C36-4036-A07F-6BCF152B4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FD2EAF-1D5A-413D-B0E2-DAAA3BE76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Contrapartes compradoras nos contratos de compra e venda de energia elétrica.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8960C4-7318-40BE-B354-8A2A25E37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21A7553-6669-4C8D-B44D-93C148B46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Fluxos presentes e futuros decorrentes de contratos de comercialização de energia elétrica.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49F8CD-9A2A-452B-8695-35C9E3953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6A6D4B9-7477-453D-8685-EEDA85526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XP Comercializadora cede os recebíveis de contratos de energia; os pagamentos dos devedores transitam por conta escrow da operação.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D8CF785-853B-4AF7-A086-724DD3D34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615457A-686A-4011-B829-9D2E53219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77EECB8-5B1B-430B-913A-0E1999B19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2EEE76D-7638-42D8-B9B5-8395D297D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8E36C41-FDAA-4D04-B73C-5510A8DEA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30236D8-FF57-487E-A0FA-D55A4C507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subordinada. O regulamento vigente em 21/11/2024 fixa índice mínimo de 10% do PL; o instrumento de constituição de 19/10/2023 trazia 15%, indicando alteração contratual entre as versões. Garantias: O regulamento admite acessórios e garantias dos contratos, sem garantia geral de prestadores/FGC.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E9F3156-F104-42EF-A5AA-65ECFEF4B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724FC60-1891-4C13-8D68-9918304C5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XP INVESTIMENTOS CCTVM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XP INVESTIMENTOS CCTVM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OLIVEIRA TRUST DTVM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E34A743-255C-49BF-BBAD-9A68EBA78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348CD98-D677-4F16-A309-16A0B9C81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· Recebíveis Comerciais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4A40EA8-3836-4E66-B5A8-D660D1AB0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B1920E8-454A-4C6B-B303-3F3C5B51C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Agro, Indústria e Comércio/Recebíveis Comerciais.</a:t>
            </a:r>
          </a:p>
        </p:txBody>
      </p:sp>
    </p:spTree>
    <p:extLst>
      <p:ext uri="{BB962C8B-B14F-4D97-AF65-F5344CB8AC3E}">
        <p14:creationId xmlns:p14="http://schemas.microsoft.com/office/powerpoint/2010/main" val="349912015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751EF4C-6F43-47A3-B01D-9FA21AABC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FCDC0A-56D6-4CBC-90CB-92A2A15DD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#10 PagSeguro I — R$ 6,7 bi e 0,8%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5DB120-3AB9-4537-B305-2B938284B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0863EC-8BE4-467A-84D9-0867A1159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DC8E04-FBB8-4DF7-AF48-A991847A1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https://fnet.bmfbovespa.com.br/fnet/publico/abrirGerenciadorDocumentosCVM?cnpjFundo=28169275000172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04286B-757D-4CFB-B770-0DDEEAB59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085733-B1A5-49A2-8D57-ED4985609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28.169.275/0001-72 · FUNDO DE INVESTIMENTO EM DIREITOS CREDITÓRIOS PAGSEGURO 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5CE454-D8AE-4040-B2C2-27ADF488D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5B260C-8BC8-4916-BEDE-076271AC1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AA5153-013D-44C0-8748-D99859A0A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29D9BE-DD8C-4211-9F59-7EC404A40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 ao sistema PagSeguro.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BEB3367-1168-40E8-9729-B1B3CDD25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BAB7CF-66D5-4618-B045-24CF81717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PagSeguro, como devedor dos valores de liquidação devidos aos estabelecimentos.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DB773C5-9A6C-4862-A5AA-CC1FAEAE4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090072-7B73-427B-96B7-E77CD63D4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Unidades/recebíveis de transações de pagamento a débito e crédito, à vista ou parceladas, capturadas e liquidadas pelo sistema PagSeguro.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02A1E5A-838E-4082-967E-7B65CD8B8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EC3E465-115E-497F-9215-730C4DFFB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Os estabelecimentos cedem à classe seus recebíveis contra PagSeguro; a liquidação das transações alimenta o caixa da classe.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0A2FA09-02E9-4DA5-BA56-5B8A1D49A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8DFBE10-BCE5-4088-8C2A-EC7FC045B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63A20DC-7D5D-4EFD-9A8A-C6FFB6D78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5E9B2E5-B13F-45C6-95C8-D1F99F76C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2026-03-30 | início de oferta da 4ª série sênior | R$ 1.000 bi | doc. 1148251; Valor ofertado; o anúncio de início não comprova colocação. || 2024-11-06 | encerramento da oferta da 3ª série sênior | R$ 1.000 bi | doc. 773514; Documento informa 1.000.000 de cotas subscritas e integralizadas.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A60278F-C7AA-474E-A450-7993F0DAA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88761B1-806C-4995-A6AA-CD5C30CB4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subordinada; razão mínima de cotas subordinadas de 50% do PL da classe. Garantias: Reforço estrutural pela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99AFEA1-AD8E-4BE9-A474-3D3DAE2F5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87CD043-0BDA-4AFB-AAE2-D8658768E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GENIAL INVESTIMENTOS CORRETORA DE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GENIAL GESTÃO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GENIAL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46A2AD4-9700-4801-8D72-BCC6DD0C7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6179385-5C2F-49D5-BD34-7E10EBFAB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BDD8362-497B-4C15-8190-CC2251770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9DE9983-45D7-4A95-937F-DD67A82AC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estrutura econômica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234745085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CA02472-5B96-477F-85DF-7A8F795D3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E99CC2-4772-41DB-8338-602AF15E8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#11 Cielo — R$ 6,5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8530D8-DD65-4F88-93BA-A7A5C4C25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5BA694-05F8-4499-B653-99F75C996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09B8EA-A32D-46ED-8DDD-2556DC1DE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https://fnet.bmfbovespa.com.br/fnet/publico/abrirGerenciadorDocumentosCVM?cnpjFundo=26286939000158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91A96D-268E-4FC2-8949-A9AE565AA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6F6C37-358A-4AD1-9F4C-45E34FA71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26.286.939/0001-58 · CIELO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1E39CF-EFB6-4D39-940B-DF94F4FAE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74F8D7-6655-4C47-BF0A-94E9FA6BD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A87EA9-E43E-4665-A727-8474C0721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8490AC-C66B-4910-8DFB-9E1B8B7B0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 à Cielo.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6538DF-24FB-444C-BAC6-4D607430A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383B6C-E747-4E48-9931-BDD4EC847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Cielo, como adquirente e devedora dos recebíveis cedidos pelos estabelecimentos.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99A3EC-A9F7-459D-B7E7-70CE3A3BD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C64E089-9FCF-47F2-B254-B9E7821B9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 liquidação de transações de pagamento/unidades de recebíveis processadas no Sistema Cielo.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94A01B3-FE3A-45EA-95E4-93B490CB9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74FDFC1-7208-4ACE-819F-98B247230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Os estabelecimentos cedem recebíveis contra a Cielo; a Cielo liquida os créditos para a classe conforme os registros da operação.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3F7861-FC3B-4BEC-A634-D635199C2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428028E-C309-4737-A4FA-8D21C52FC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B3FB4D1-8814-4B6D-B19B-B218BA24E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1895529-C901-4963-A61A-72AF6DDD0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2025-11-03 | encerramento da oferta da 4ª série sênior | R$ 1.000 bi | doc. 1026980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0C4292F-9E67-4590-9DF5-1158F31EB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6A507C7-DADB-4811-9C07-CDE41B852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subordinada; mezanino mais subordinada devem somar ao menos 20% do PL. Garantias: Reforço estrutural por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7AABD8D-8A97-4DDA-A6C0-C596DD98E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36908BD-36AD-41C7-8325-DCB810836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FEC8D58-DAD0-4D6C-BEAC-9359062C1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AC780D4-62C3-4A91-953A-A72C17B78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9CB1317-A316-4270-8073-41CFEBED1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CBA4F1B-5D9F-477E-90B4-79D3C8F6A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Financeiro/Multicarteira Financeiro; a estrutura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83606311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96EFDAC-F247-4925-855D-477656193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B3750C-A64E-4148-A1F0-380A253B5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#12 Rio Vermelho NP — R$ 6,4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E6FE77-EFF7-4D48-81D2-92BDD2183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866433-E65B-44A4-80F9-E72552328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A62A8E-0C5F-458B-8476-D4C5CFB88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https://fnet.bmfbovespa.com.br/fnet/publico/abrirGerenciadorDocumentosCVM?cnpjFundo=53216449000158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EB5703-D1A9-4596-AC8A-BB329BF94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4BD712-8A6F-4A7B-BE7B-40BF7D906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53.216.449/0001-58 · RIO VERMELHO FUNDO DE INVESTIMENTO EM DIREITOS CREDITÓRIOS NÃO PADRONIZADO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C8727B-9FE1-48B0-9F22-325D52040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74311E-C0C5-4AF1-851F-E4F1FC3A1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D3E61F-45FE-40AB-8D95-86F6A29D2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51EB3C-2975-42A3-814C-EB679B823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jurídicas ou fundos que transfiram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FBFC5A-EABD-429F-9E3E-BD096F66A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3F851D-BFFE-41B6-9F90-DE4384BEE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Entes públicos e demais pessoas físicas/jurídicas devedoras dos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73B41BE-2E13-4B94-AA53-7255A1287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D4CBEB-CF82-4BAC-87C3-225B29EBF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Precatórios e créditos públicos; créditos vencidos; direitos litigiosos, penhorados, futuros e outros não padronizados permitidos.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3900937-F4BB-4472-A43F-1446E3767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A11F4E-F08B-40C3-BAA2-63D6C1A7A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carteiras de NPL/direitos judiciais com ou sem coobrigação, segundo seleção do gestor.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69C1AAA-CE7C-4712-B8B3-A08CFD1BB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5AAD945-F7FB-4A96-AB7D-ED29CE824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9F23E3A-FAF0-47EF-AED1-EAFA450E3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3056661-8A21-4A09-8B5E-5479F4B67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C971392-9A9A-451E-86C7-AFEBC3F46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4EB11E3-451D-433B-9C4B-2A4AB9153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em séries pari passu; o regulamento consultado declara ausência de preferência, prioridade ou subordinação entre titulares. Garantias: Variam conforme cada direito; não há garantia uniforme de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4C9AD53-629A-4CB9-A257-7A747F219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CB89C4B-48BE-4399-A161-FB79B8A6F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CBSF DISTRIBUIDORA DE TÍTULOS 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CBSF TRUST ADMINISTRADORA DE RECURSOS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REAG TRUST DISTRIBUIDORA DE TITULOS E VALORES MOBILIARIOS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3283239-36E6-4E62-AA85-CDCB754E7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C14A917-053D-4008-8CE7-368DAE108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485DB19-08DD-407F-ADFD-048A4C4B4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A388B7C-4069-4A84-9B3A-E46F7EE80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política documental permite NPL e precatórios.</a:t>
            </a:r>
          </a:p>
        </p:txBody>
      </p:sp>
    </p:spTree>
    <p:extLst>
      <p:ext uri="{BB962C8B-B14F-4D97-AF65-F5344CB8AC3E}">
        <p14:creationId xmlns:p14="http://schemas.microsoft.com/office/powerpoint/2010/main" val="79377415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2E43671-734D-48FC-A9EF-3C178BB33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98D21F-5035-489B-873F-BF4AF215F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#13 BTG Consignados — R$ 5,9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B65A55-F910-409A-A0C0-112F657A8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A34864-D4A7-42BB-997C-3E4789C78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4FA94D-AC6F-4C32-AD8E-B650BF4FD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https://fnet.bmfbovespa.com.br/fnet/publico/abrirGerenciadorDocumentosCVM?cnpjFundo=50906397000153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B03864-35DF-4ED7-B4BA-0F93D3BBF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C6BBF3-56EA-445E-9C1A-FD0D0AE05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50.906.397/0001-53 · BTG PACTUAL CONSIGNADOS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AFF950-6FF4-4307-A232-324C62D6A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C18C82-810D-4087-9658-494348EC5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4F5F00-B1BC-4639-AB97-97CEBA5EE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135DAA-A7CA-4A12-B09E-CEE343DB4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Instituições financeiras que concedam as CCB; nomes individuais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7FD121-93E5-471B-87F8-D06ADC613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00B62C-CEF2-41A5-AB61-81E498B97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incluindo beneficiários de INSS e trabalhadores com saldo de FGTS.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7A481EB-0DF7-447C-8E7F-52368B683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1A2B734-2185-4EE2-86AF-5ECCDDD0B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vincendas de CCB de empréstimo pessoal com garantia do saque-aniversário FGTS ou consignação processada pela Dataprev.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D986185-2E82-4D79-A128-78ABEB1AD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18416DB-7FC0-4DAE-9249-A36BC9A34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CCB/parcelas por cessão ou endosso; CEF/FGTS e Dataprev processam os fluxos conforme a modalidade.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288AAB7-5F10-406C-A3CD-0EAB88802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FF5DE83-4176-4403-81A2-B4A2FD064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F7B4946-DF90-40C0-8030-9B9E1E6CE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AF9018A-5560-411A-AC1F-692003D7B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2023-06-01 | aprovação de primeira emissão privada | R$ 11.000 bi | doc. 483282; Valor máximo aprovado; o documento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D72E8E0-016C-48E7-940B-132D29871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F9B04C5-51D6-4B69-8CC8-0061D5A42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Subclasse única de cotas no regulamento consolidado; não há índice de subordinação entre subclasses. Garantias: Cessão fiduciária do saque-aniversário nas operações FGTS; consignação nas demais modalidades.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A8DDEA9-2B9A-4D2D-90ED-7F81805EE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4DA8A4E-0006-4D32-85B8-D76E53528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873F95A-8928-418D-A909-D712D6CAC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E85CD40-1FA0-4033-8CD3-472C17488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49B79CD-3214-4E87-B87D-287C2FB40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C16D515-9A44-4C4C-9293-22E0AC9D0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Financeiro/Crédito Pessoal, com foco contratual mais específico.</a:t>
            </a:r>
          </a:p>
        </p:txBody>
      </p:sp>
    </p:spTree>
    <p:extLst>
      <p:ext uri="{BB962C8B-B14F-4D97-AF65-F5344CB8AC3E}">
        <p14:creationId xmlns:p14="http://schemas.microsoft.com/office/powerpoint/2010/main" val="896862326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235224E-54A0-4B00-9790-4E1B9F202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A344C8-DEE7-4908-9017-F80641B1C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#14 Alternative Assets III — R$ 5,8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7B5CC7-549B-45C0-A9A8-84BF61125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101D4F-9227-4CAC-B16F-2EA6E4C9A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67A072-3D36-4989-991D-3B280DCA7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https://fnet.bmfbovespa.com.br/fnet/publico/abrirGerenciadorDocumentosCVM?cnpjFundo=29225241000110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C2DE1C-797B-4E98-A2F0-CA5327285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CC6B0E-51F8-477F-BA6A-10EB0C2B4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29.225.241/0001-10 · FUNDO DE INVESTIMENTO EM DIREITOS CREDITÓRIOS ALTERNATIVE ASSETS III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E8F73F-DA38-45C7-9378-9AB91E844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C575E5-6CB6-4FE4-934B-699A8BAE9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0E8812-CC97-445F-9D2B-B88A024FD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EA84FD-DF29-4AD0-B2D0-601A5B52D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jurídicas ou fundos que transfiram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8EC47C-62E3-477E-969E-AEF2365F2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D1B7D3-9D20-46DE-B859-ADF20A94A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jurídicas, privadas ou públicas, obrigadas nos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A33D50F-52F3-4D5B-A7C8-1113C318C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E50202F-6C26-40BD-A422-58A9D2162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Créditos em litígio, precatórios e direitos vencidos/inadimplidos já performados.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04C1A7-EF5B-474D-AD24-359C5F527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EA8E6E3-2F5E-498D-8845-51E70F8D3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comprar direitos judiciais/NPL integral ou parcialmente; o regulamento não comprova que esses ativos compunham a carteira em mai/26.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06EAFB9-DD58-4128-BE85-536377208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13F780-3083-4308-A2B6-4B35D9E65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56A9F1D-FFDC-49E2-83B4-F5CE191D8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5ACE4CD-BB1D-49DB-8B8F-6B9C59B20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4F35E4E-6E70-42E8-BDBE-352DB42B8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F602266-ADE3-4F9A-A4C0-78EAAF08C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Única subclasse de cotas pari passu; sem preferência, prioridade ou subordinação entre titulares. Garantias: Variam por direito; não há garantia uniforme da carteira nem garantia geral de prestadores/FGC.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4CDC872-B1CB-4877-82AE-482F9CCC0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92B5AF5-B685-463A-BD4F-09A9BDBB3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3A4D6DA-5346-41F2-B4AF-DD99502B7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20AF4FD-23CF-42F8-B9D0-687AB379A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404F5B2-63B4-4546-8044-FBA942077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9A6AE5C-F033-4102-817A-BABD78D0B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política documental é de NPL/direitos judiciais.</a:t>
            </a:r>
          </a:p>
        </p:txBody>
      </p:sp>
    </p:spTree>
    <p:extLst>
      <p:ext uri="{BB962C8B-B14F-4D97-AF65-F5344CB8AC3E}">
        <p14:creationId xmlns:p14="http://schemas.microsoft.com/office/powerpoint/2010/main" val="84452201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35CA8E5-9EAD-49D6-BE74-258638C79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E8D997-6B32-486A-B2F2-613C161D5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#15 NC 2025 I — R$ 5,7 bi e 0,6%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F1F1C0-5618-4D30-931F-0AABDE73B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2FAFFA-59CF-41E5-B82A-F35E96F11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729BE3-6B17-4466-B13B-441F14FFE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https://fnet.bmfbovespa.com.br/fnet/publico/abrirGerenciadorDocumentosCVM?cnpjFundo=63700113000110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0D0199-86C1-408E-97DA-99083D269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285710-A2FE-4CBD-A95A-774A3212E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63.700.113/0001-10 · NC 2025 I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76184B-7B96-4B4E-980A-3A332C03A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5C3966-6B37-4244-B6FA-112A93C31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4CC54F-F535-45BE-B0E4-07F2E74B0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002DC6-3448-491E-BC97-D5444D5B5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há cedente único nomeado; o gestor pode adquirir direitos nos mercados primário e secundário.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5F17F7-ADAC-4E98-AA2D-101ADC19F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0B8623-ECD6-429C-81A2-B1137BB07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Devedores/emissores dos instrumentos selecionados; nomes não identificados no regulamento.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7E11C52-8C0C-4365-98C7-2FD8404C6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EB7967E-A344-4AF5-AB93-5BD37DDA8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creditórios permitidos pelo art. 2º, XII, do Anexo II da RCVM 175, em qualquer setor; o regulamento exclui os direitos não padronizados do inciso XIII.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D7515A-83E7-4A3F-BA6D-7E7E9D78D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E495B7C-32CE-4875-A2D4-C67E8C028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discricionária de crédito privado, sem concentração setorial contratual e com possibilidade de concentração em um mesmo devedor dentro das condições do regulamento.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F45B1D-9267-4E3D-A2A3-1FAFA45FC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55402AE-700A-44ED-B6BA-F246F36FC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220F4D5-C290-43A9-A483-B32D251CA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EA1709F-2D7E-409A-8B63-AC6FD7810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2025-12-09 | incorporação decorrente de cisão parcial do NC 2025 | R$ 5.300 bi | doc. 1057972; Foram incorporadas 4.953.498,00000167 cotas; não foi captação em dinheiro.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8829AD2-1B5F-455C-BD21-0C455A40C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52BB70D-A82C-4A88-9708-3599FFD27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Subclasse única; o regulamento declara que não observa índice de subordinação. Garantias: Variam por instrumento; não há pacote uniforme de garantias.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9CCB751-81C9-4D6C-8627-09A1270B7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4CD20E3-D2AF-467F-91D6-B5977D0B4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INTRAG DTVM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KANASTRA ADMINISTRAÇÃO DE RECURSOS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LIMINE TRUST DISTRIBUIDORA DE TITULOS E VALORES MOBILIARIOS LTDA.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21B661D-E13A-44C8-AD8E-0CA99A6B0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1FD29CA-0C8A-4FB7-8AE5-6467F044B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Multicarteiras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evidencia_documental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1CE91A3-4572-4BFD-8925-A7487AFD8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F942A83-65AA-4606-8232-A71FCF8AC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Não está no snapshot ANBIMA; o regulamento declara Tipo Outros/Foco Multicarteiras Outros. Tratar como evidência documental, não cadastro oficial da fotografia.</a:t>
            </a:r>
          </a:p>
        </p:txBody>
      </p:sp>
    </p:spTree>
    <p:extLst>
      <p:ext uri="{BB962C8B-B14F-4D97-AF65-F5344CB8AC3E}">
        <p14:creationId xmlns:p14="http://schemas.microsoft.com/office/powerpoint/2010/main" val="1541689302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0D65AAC-0930-47BF-BFD4-FC082BB11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97CFA4-A483-4E7C-9180-D63C18B3D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#16 Monee I — R$ 5,0 bi e 0,6%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823163-3B50-4E39-8FD2-08F63BF45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05D150-FC83-4EF8-A9CF-6561FD943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D260FD-328F-498E-94A1-A2C80BFAE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https://fnet.bmfbovespa.com.br/fnet/publico/abrirGerenciadorDocumentosCVM?cnpjFundo=42922136000107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406E2A-AF8D-465F-A22A-AB3D3D791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048F8D-5439-4CD9-8C77-5648D6016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42.922.136/0001-07 · FUNDO DE INVESTIMENTO EM DIREITOS CREDITÓRIOS MONEE I DE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9A3B31-CE96-42B5-872E-01C8C93EF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8DAF78-E9BD-4F13-B4D0-2E64FD054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C4E559-7B17-4184-893D-993F66F4F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E74E7C-9440-4B36-928D-10D1346BF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74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SHPP Brasil Instituição de Pagamento e Serviços de Pagamentos Ltda. — CNPJ 38.372.267/0001-82 — atua como originadora/correspondente; CCB são endossadas por instituições financeiras parceiras e recebíveis de pagamento são cedidos por estabelecimentos.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132CAA-1147-4D07-9E21-FD2936CF9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2585545-2452-4253-A3BC-05792220B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tomadoras dos empréstimos e participantes das operações de pagamento, conforme o ativo.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F519ED-1298-42BC-A601-948F04B53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B4A9848-087C-4FFF-97A0-7DA9F9D53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CCB de empréstimos e unidades de recebíveis de transações de cartão realizadas em estabelecimentos.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A2DB1A-D81F-4070-84F2-8DDCA8BFD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4C99FFD-04DA-4DB1-AE5D-B7114868B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SHPP capta e analisa clientes como correspondente dos endossantes; a classe adquire CCB por endosso e recebíveis de pagamento por cessão.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A1A0131-9A92-4B24-97B0-C99910415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DF6B2BF-A165-48E0-B8B0-929514366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3E445B1-B05B-4911-A04E-DBD978C8D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BC353B9-85F2-4C67-906B-D4D1D480A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CBB77EB-7F50-494B-BA3C-BF8512BA0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F9066BC-EB55-46FA-B2CE-9C123129D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pari passu; o regulamento consultado declara ausência de preferência, prioridade ou subordinação. Garantias: Não há garantia uniforme identificada; a transferência é sem coobrigação geral nos contratos descritos.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3BA40C8-11DB-4A57-B749-244FDCB25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1E04B1D-7799-4E98-8269-27C633499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QI CORRETORA DE TÍTULOS 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VALORA RENDA FIXA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QI CORRETORA DE TÍTULOS E VALORES MOBILIÁRIOS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95416E6-CB0F-4113-A2DF-8FAC04A6D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6343146-7C30-4452-8793-18877F0B2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6950C4F-06EA-4179-88A0-1CB5D76D3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3918CA3-8E5A-4601-91A4-FE1316E45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política documental combina crédito pessoal 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76768680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B24DEB6-2F5B-4BF4-A6B7-0F795AC59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E8116D-02C0-4855-BAF1-4EDA17D28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#17 PicPay I — R$ 4,6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DDF637-F195-40C5-82B6-F3F36CEE2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1B28D9-BDC0-451E-8855-1D5D9EEB2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7E8FBD-A59D-4989-92E7-A72AA087E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https://fnet.bmfbovespa.com.br/fnet/publico/abrirGerenciadorDocumentosCVM?cnpjFundo=32527650000186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FBB5AA-6B59-4152-81A1-D0EF4A9E1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42FA66-7050-48FB-9FE1-B244675A7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32.527.650/0001-86 · FUNDO DE INVESTIMENTO EM DIREITOS CREDITÓRIOS PICPAY 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1227C6-3620-4E50-BFF7-140FCF586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DE948D-7535-4ADA-B3BC-DFB361C44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66957C-3ADC-4C1E-8FDA-F43B1F645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2F6EDA-757E-47D8-846B-CB4B258E4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Usuários finais do PicPay que transferem seus recebíveis à classe por mandato previsto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992E6D-3972-47E9-A825-8C73F1980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571CB5-DE8E-4B65-A84A-4E3C9E766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PicPay, responsável pelos pagamentos devidos aos cedentes nas transações abrangidas.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DABAB0-8B18-4D50-AD25-38AA91300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479F625-1374-4D1D-9AF2-708CCDEFF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 transações de pagamento, cash-in e moeda eletrônica processados no sistema PicPay.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E6FBE22-B947-493E-8A21-CBA999048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1437002-BCAB-4CC5-B697-C2FD3E536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Usuários cedem à classe os direitos contra o PicPay; o PicPay efetua os pagamentos que alimentam o caixa da classe.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51AD68D-DCF3-45F5-8E95-E865AC73F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E4FD692-2BF9-4375-93A6-61AEC4129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2AC3E6F-FB00-4692-8A8F-310D2CA77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A01FD33-C35C-4EB9-957C-3CD58F26B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9AA070C-87EE-4E34-955F-B35F297FE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F21FAFA-6CF6-4199-9E36-2362A22B4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subordinadas júnior; razão mínima de subordinação júnior de 10% do PL. Garantias: Reforço estrutural por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76CB7F2-931A-4C5F-9411-4B84458E5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9A149DF-6C3B-4F7B-BE13-F98BE223C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GENIAL INVESTIMENTOS CORRETORA DE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GENIAL GESTÃO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GENIAL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D53DD35-6A5E-4D56-B182-DB1825D28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8663ABA-4F7F-436B-B0AE-4F84ED58C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7989CE4-758D-4928-BD73-7E7719853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C4DDBC3-7112-4E3B-A947-62668B768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Financeiro/Multicarteira Financeiro; a estrutura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737998957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C60F92F-A74F-4EB9-AA76-13A38780B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B188C9-D62B-402F-BEFA-97772EB03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#18 Artesanal Master — R$ 4,3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28C4CF-8005-42DD-AB90-6CDDE4E4B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C5DFBF-6E4C-4C3B-A5B9-3FEEC2A48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490DBE-808B-4B88-99F2-9697EA429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https://fnet.bmfbovespa.com.br/fnet/publico/abrirGerenciadorDocumentosCVM?cnpjFundo=30576260000170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7D93AA-486C-4BD0-9A44-585CE0C35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F8822B-1E58-4200-8FB1-E908DA434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30.576.260/0001-70 · ARTESANAL MASTER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57E186-552C-46DC-9044-5E4EC6BA9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82D3B2-69C1-40A4-89E2-583B2461E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EB5A29-FEAA-4C8F-B2D5-F5373673E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278281-45F7-41CD-A139-FD7C4DFDA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titulares dos instrumentos elegíveis; nenhuma entidade única foi identificada.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5C8082-C0AE-4013-AA68-E52469ED2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228895-134F-4F3A-A2E6-826CD6218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Emissores/devedores dos instrumentos adquiridos; nomes não identificados no regulamento.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7C689AC-AF83-425A-93B8-742CE707A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A413348-D05C-46BA-9423-995382381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e títulos de crédito, valores mobiliários de crédito, instrumentos de securitização e cotas de FIDC previstos na política ampla.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1C23894-7C6F-4E4B-8112-73B62ED82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11A810-3678-415A-B7FC-4FEE1ACB1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veículo era FIC-FIDC e foi transformado em FIDC direto com vigência em 23/07/2024; desde então a política permite aquisição direta de instrumentos de crédito.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ECB308A-3D88-4E01-A9E0-BC815C572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52CC5E1-878F-46DC-AE8E-67EBE39EB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7046E3A-D971-4AA2-9922-944304F0F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D95A804-73DD-4EB3-81C3-CE0830325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A22EE11-DB95-4624-8890-C037A6038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7B8DB73-0A69-4D1C-A719-B0EDA2E5A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sem preferência, prioridade ou subordinação entre os titulares. Garantias: Variam por instrumento; não há pacote uniforme de garantias.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25B40BD-1541-4F06-B809-443F18435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00C95D4-43A1-480A-B63F-E096B1203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BANCO GENIAL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ARTESANAL INVESTIMENTOS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B3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A4013B4-7F5C-4D11-8561-897E121D6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AD0489D-B165-41D8-838C-01E6C2116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674A93F-6EA7-407A-9C2E-F30021292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ADEA3C9-FB57-4D78-B4FD-5A793E90B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Financeiro/Crédito Pessoal; a política documental atual é ampla. A quebra histórica FIC→FIDC em julho de 2024 deve ser tratada explicitamente.</a:t>
            </a:r>
          </a:p>
        </p:txBody>
      </p:sp>
    </p:spTree>
    <p:extLst>
      <p:ext uri="{BB962C8B-B14F-4D97-AF65-F5344CB8AC3E}">
        <p14:creationId xmlns:p14="http://schemas.microsoft.com/office/powerpoint/2010/main" val="2049652781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54C4156-09CA-4987-AB99-19F6AD4BB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A196BC-B5F9-4AD9-9FE7-F510D7CEB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#19 High Tower NP — R$ 4,0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C6B207-EC20-4094-B017-748B15872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D25BE9-8FA6-47FB-A349-E7110DEE0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A58429-4A09-4216-90C5-35AB2C750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https://fnet.bmfbovespa.com.br/fnet/publico/abrirGerenciadorDocumentosCVM?cnpjFundo=51152102000163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43D839-5FE8-4E95-A18C-47A5AFD2C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EDCC1C-D5C2-421C-9203-88B01D694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51.152.102/0001-63 · HIGH TOWER FUNDO DE INVESTIMENTO EM DIREITOS CREDITÓRIOS NÃO-PADRONIZADOS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A48827-628B-4960-AE7F-BE371AF9D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267371-6E9E-4C35-8FA7-74C260C1E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99B380-FE85-44D5-8967-6CB639B7D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CEDENTE / ORIGINADOR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Empresas de diferentes setores, em recuperação judicial ou não; nomes não identificados no regulamento.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Clientes/sacados das cedentes e demais devedores dos direitos adquiridos.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NATUREZA DOS RECEBÍVEIS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Política ampla de direitos financeiros, comerciais, industriais, imobiliários, de serviços, leasing e contratos de performance futura, inclusive não padronizados. Warrants não foram listados por haver conflito interno entre itens do regulamento.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FUNCIONAMENTO ECONÔMICO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compra carteiras de cedentes distintos e setores diversos, sob critérios de elegibilidade e cobrança próprios.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D7CD0F-10BC-4714-B03A-13A2B4A98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013547-4437-4E07-A24F-1D71D09F7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32DD68-47D7-4653-AF2C-30F404195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2023-06-22 | lançamento da primeira oferta | R$ 0.100 bi | doc. 487085; Valor máximo; distribuição parcial permitida e colocação integral não comprovada.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subordinada; subordinação mínima de 5% do PL após emissão de cotas sênior. Garantias: Variam por direito; não há garantia uniforme identificada.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PRESTADORES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CBSF DISTRIBUIDORA DE TÍTULOS E VALORES MOBILIÁRIOS S.A.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CBSF TRUST ADMINISTRADORA DE RECURSOS LTDA.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REAG TRUST DISTRIBUIDORA DE TITULOS E VALORES MOBILIARIOS S.A.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TIPO / FOCO ANBIMA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496A3AF-4A7E-44A3-AEE5-4F592ACFA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E3046F7-0DD2-4CB4-82C9-B4B779179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Outros/Multicarteira Outros, com direitos não padronizados amplos. Ata de 06/05/2026 identifica cotista único e administradora em liquidação extrajudicial; reconciliar a denominação dos prestadores com o cadastro CVM.</a:t>
            </a:r>
          </a:p>
        </p:txBody>
      </p:sp>
    </p:spTree>
    <p:extLst>
      <p:ext uri="{BB962C8B-B14F-4D97-AF65-F5344CB8AC3E}">
        <p14:creationId xmlns:p14="http://schemas.microsoft.com/office/powerpoint/2010/main" val="1590540934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4FFA160-8150-4A5A-A417-37BCBC3AC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79C9C5-F85F-4E3E-88DD-34C829B2E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#20 Day Maxx 2 — R$ 3,9 bi e 0,4%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A6AFA3-DB1A-44FB-A239-BCA29A00B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ED8438-6EB5-4D84-9FA3-7C8CA7015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D450F5-54C5-4FB5-A3AB-824C076AD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https://fnet.bmfbovespa.com.br/fnet/publico/abrirGerenciadorDocumentosCVM?cnpjFundo=34197588000137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E8BB04-9E91-44BB-AC51-D526D51F1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B86E01-3B75-49B4-A1C8-3F32C2289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34.197.588/0001-37 · DAY MAXX 2 FUNDO DE INVESTIMENTO EM DIREITOS CREDITÓRIOS DE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7FA127-7765-4B1D-8757-CCA75E3A9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1249F6-5604-424F-A68A-CC9D11055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AC133D-13E6-4896-BC48-4A48AEB28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BB8FCA2-E833-4282-975B-1D6D64751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que cedam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564CEE0-691D-4369-884E-70AA8993F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B4CA0E-0787-471A-A6B6-FA86D6A2B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jurídicas e entes públicos, conforme 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5B22A3-B49F-4EE2-8CB0-2EDAC552C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E069028-5E9E-44F6-BA7E-C9C170CD7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40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títulos de crédito; recebíveis mercantis, de transporte, industriais e de serviços; contratos futuros; precatórios federais; direitos não padronizados; créditos de cedentes em recuperação judicial; e até 100% do PL em cotas de outros FIDC, inclusive mezanino/júnior.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3641526-DB9F-4047-9A89-BDA70B2C4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B7E7020-C6CE-44C3-B01D-5CF95C5DA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exposição direta a recebíveis/NPL e indireta via cotas de FIDC; o regulamento não comprova a composição efetiva em mai/26.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9219542-520E-45F6-B2AB-3BA031503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A0DF9DD-8DE0-4B29-AE57-7FD16093D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A475CA2-11EE-4203-B5D0-CAA33D7D7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FE2C64C-2942-4F53-9A1D-325C476B4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B6DA988-BC7E-4F2E-BD51-5466D1F20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FB1D0BB-58D8-498F-8BD8-87F485EAE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júnior; índice mínimo de cotas subordinadas de 25% do PL. A amortização antecipada exige subordinação mínima de 30%. Garantias: Variam por direito; não há garantia uniforme da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D1BE70A-CA65-4DBA-B5C5-A963F86EF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693A425-5395-4810-B486-1CF05E6D8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BANCO DAYCOVAL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DAYCOVAL ASSET MANAGEMENT ADMINISTRACAO DE RECURSOS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DAYCOVAL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C27AA16-C9BD-43CA-A4E0-F2C625535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997F016-D9AD-457D-8313-FB6561BA4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93C0840-23A4-4F86-ABCA-A4C2DA915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52A9B69-2FCD-4E80-A685-72C703CE8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política documental é ampla e inclui NPL/precatórios.</a:t>
            </a:r>
          </a:p>
        </p:txBody>
      </p:sp>
    </p:spTree>
    <p:extLst>
      <p:ext uri="{BB962C8B-B14F-4D97-AF65-F5344CB8AC3E}">
        <p14:creationId xmlns:p14="http://schemas.microsoft.com/office/powerpoint/2010/main" val="1490227447"/>
      </p:ext>
    </p:extLst>
  </p:cSld>
</p:sld>
</file>

<file path=ppt/theme/theme1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2026-07-17T14:00:42.4290000Z</dcterms:created>
  <dcterms:modified xsi:type="dcterms:W3CDTF">2026-07-17T14:00:42.4290000Z</dcterms:modified>
</coreProperties>
</file>