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7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37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47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slides/charts/chart50.xml" ContentType="application/vnd.openxmlformats-officedocument.drawingml.chart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slides/charts/chart51.xml" ContentType="application/vnd.openxmlformats-officedocument.drawingml.chart+xml"/>
  <Override PartName="/ppt/slides/charts/chart52.xml" ContentType="application/vnd.openxmlformats-officedocument.drawingml.chart+xml"/>
  <Override PartName="/ppt/slides/charts/chart53.xml" ContentType="application/vnd.openxmlformats-officedocument.drawingml.chart+xml"/>
  <Override PartName="/ppt/slides/charts/chart54.xml" ContentType="application/vnd.openxmlformats-officedocument.drawingml.chart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slides/charts/chart55.xml" ContentType="application/vnd.openxmlformats-officedocument.drawingml.chart+xml"/>
  <Override PartName="/ppt/slides/charts/chart56.xml" ContentType="application/vnd.openxmlformats-officedocument.drawingml.chart+xml"/>
  <Override PartName="/ppt/slides/charts/chart57.xml" ContentType="application/vnd.openxmlformats-officedocument.drawingml.chart+xml"/>
  <Override PartName="/ppt/slides/charts/chart58.xml" ContentType="application/vnd.openxmlformats-officedocument.drawingml.chart+xml"/>
  <Override PartName="/ppt/slides/charts/chart59.xml" ContentType="application/vnd.openxmlformats-officedocument.drawingml.chart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slides/charts/chart60.xml" ContentType="application/vnd.openxmlformats-officedocument.drawingml.chart+xml"/>
  <Override PartName="/ppt/slides/charts/chart61.xml" ContentType="application/vnd.openxmlformats-officedocument.drawingml.chart+xml"/>
  <Override PartName="/ppt/slides/charts/chart62.xml" ContentType="application/vnd.openxmlformats-officedocument.drawingml.chart+xml"/>
  <Override PartName="/ppt/slides/charts/chart63.xml" ContentType="application/vnd.openxmlformats-officedocument.drawingml.chart+xml"/>
  <Override PartName="/ppt/slides/charts/chart64.xml" ContentType="application/vnd.openxmlformats-officedocument.drawingml.chart+xml"/>
  <Override PartName="/ppt/slides/charts/chart65.xml" ContentType="application/vnd.openxmlformats-officedocument.drawingml.chart+xml"/>
  <Override PartName="/ppt/slides/charts/chart66.xml" ContentType="application/vnd.openxmlformats-officedocument.drawingml.chart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slides/charts/chart67.xml" ContentType="application/vnd.openxmlformats-officedocument.drawingml.chart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slides/charts/chart68.xml" ContentType="application/vnd.openxmlformats-officedocument.drawingml.chart+xml"/>
  <Override PartName="/ppt/slides/charts/chart69.xml" ContentType="application/vnd.openxmlformats-officedocument.drawingml.chart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slides/charts/chart70.xml" ContentType="application/vnd.openxmlformats-officedocument.drawingml.chart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slides/charts/chart71.xml" ContentType="application/vnd.openxmlformats-officedocument.drawingml.chart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slides/charts/chart72.xml" ContentType="application/vnd.openxmlformats-officedocument.drawingml.chart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slides/charts/chart73.xml" ContentType="application/vnd.openxmlformats-officedocument.drawingml.chart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slides/charts/chart74.xml" ContentType="application/vnd.openxmlformats-officedocument.drawingml.chart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slides/charts/chart75.xml" ContentType="application/vnd.openxmlformats-officedocument.drawingml.chart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3aee06007f4419" /><Relationship Type="http://schemas.openxmlformats.org/officeDocument/2006/relationships/extended-properties" Target="/docProps/app.xml" Id="R688fcc9704fd4ad8" /><Relationship Type="http://schemas.openxmlformats.org/officeDocument/2006/relationships/officeDocument" Target="/ppt/presentation.xml" Id="R346e5ed773b64c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4321815831a408e"/>
  </p:sldMasterIdLst>
  <p:notesMasterIdLst>
    <p:notesMasterId xmlns:r="http://schemas.openxmlformats.org/officeDocument/2006/relationships" r:id="R40c3e5b52fa84113"/>
  </p:notesMasterIdLst>
  <p:sldIdLst>
    <p:sldId xmlns:r="http://schemas.openxmlformats.org/officeDocument/2006/relationships" id="256" r:id="R5c898a8f64cb426b"/>
    <p:sldId xmlns:r="http://schemas.openxmlformats.org/officeDocument/2006/relationships" id="257" r:id="Ree9802c2b55e4589"/>
    <p:sldId xmlns:r="http://schemas.openxmlformats.org/officeDocument/2006/relationships" id="258" r:id="R5c81025faf4a4f33"/>
    <p:sldId xmlns:r="http://schemas.openxmlformats.org/officeDocument/2006/relationships" id="259" r:id="R466d13675d4b443d"/>
    <p:sldId xmlns:r="http://schemas.openxmlformats.org/officeDocument/2006/relationships" id="260" r:id="R32d684502aab4055"/>
    <p:sldId xmlns:r="http://schemas.openxmlformats.org/officeDocument/2006/relationships" id="261" r:id="Rf6f6f5b8a1334a9c"/>
    <p:sldId xmlns:r="http://schemas.openxmlformats.org/officeDocument/2006/relationships" id="262" r:id="R38564208d1c54f93"/>
    <p:sldId xmlns:r="http://schemas.openxmlformats.org/officeDocument/2006/relationships" id="263" r:id="R236976d72bcd4d29"/>
    <p:sldId xmlns:r="http://schemas.openxmlformats.org/officeDocument/2006/relationships" id="264" r:id="R3416aa9b0faa4359"/>
    <p:sldId xmlns:r="http://schemas.openxmlformats.org/officeDocument/2006/relationships" id="265" r:id="R23b557e422154f79"/>
    <p:sldId xmlns:r="http://schemas.openxmlformats.org/officeDocument/2006/relationships" id="266" r:id="R434ed551fec84ce7"/>
    <p:sldId xmlns:r="http://schemas.openxmlformats.org/officeDocument/2006/relationships" id="267" r:id="R39374268670a4234"/>
    <p:sldId xmlns:r="http://schemas.openxmlformats.org/officeDocument/2006/relationships" id="268" r:id="R96ced19a52444bdd"/>
    <p:sldId xmlns:r="http://schemas.openxmlformats.org/officeDocument/2006/relationships" id="269" r:id="Re2c2f4a7054c4d01"/>
    <p:sldId xmlns:r="http://schemas.openxmlformats.org/officeDocument/2006/relationships" id="270" r:id="R676cd98b272440fe"/>
    <p:sldId xmlns:r="http://schemas.openxmlformats.org/officeDocument/2006/relationships" id="271" r:id="R54b6451bcb204ebf"/>
    <p:sldId xmlns:r="http://schemas.openxmlformats.org/officeDocument/2006/relationships" id="272" r:id="Rfb6c357cbb7846a2"/>
    <p:sldId xmlns:r="http://schemas.openxmlformats.org/officeDocument/2006/relationships" id="273" r:id="Rb7d43b227e90411c"/>
    <p:sldId xmlns:r="http://schemas.openxmlformats.org/officeDocument/2006/relationships" id="274" r:id="R1906d3f6b4314be4"/>
    <p:sldId xmlns:r="http://schemas.openxmlformats.org/officeDocument/2006/relationships" id="275" r:id="Ra85b9e114eab41df"/>
    <p:sldId xmlns:r="http://schemas.openxmlformats.org/officeDocument/2006/relationships" id="276" r:id="Rc9a416c8427246e1"/>
    <p:sldId xmlns:r="http://schemas.openxmlformats.org/officeDocument/2006/relationships" id="277" r:id="Rdb9541076b5846a9"/>
    <p:sldId xmlns:r="http://schemas.openxmlformats.org/officeDocument/2006/relationships" id="278" r:id="Rdfda36e25b7543ad"/>
    <p:sldId xmlns:r="http://schemas.openxmlformats.org/officeDocument/2006/relationships" id="279" r:id="Ra025fcbc2ab44a68"/>
    <p:sldId xmlns:r="http://schemas.openxmlformats.org/officeDocument/2006/relationships" id="280" r:id="Rac85506aa9534ac2"/>
    <p:sldId xmlns:r="http://schemas.openxmlformats.org/officeDocument/2006/relationships" id="281" r:id="R3b696b9fec674399"/>
    <p:sldId xmlns:r="http://schemas.openxmlformats.org/officeDocument/2006/relationships" id="282" r:id="R07f1df6734da429f"/>
    <p:sldId xmlns:r="http://schemas.openxmlformats.org/officeDocument/2006/relationships" id="283" r:id="R5dbf05fb081247c5"/>
    <p:sldId xmlns:r="http://schemas.openxmlformats.org/officeDocument/2006/relationships" id="284" r:id="Rfb9befe1273e4c80"/>
    <p:sldId xmlns:r="http://schemas.openxmlformats.org/officeDocument/2006/relationships" id="285" r:id="Rcd17b47554894b73"/>
    <p:sldId xmlns:r="http://schemas.openxmlformats.org/officeDocument/2006/relationships" id="286" r:id="Re0eeaa46e98b4a1b"/>
    <p:sldId xmlns:r="http://schemas.openxmlformats.org/officeDocument/2006/relationships" id="287" r:id="R5f311602c2274d90"/>
    <p:sldId xmlns:r="http://schemas.openxmlformats.org/officeDocument/2006/relationships" id="288" r:id="Rc88b0598225f4c72"/>
    <p:sldId xmlns:r="http://schemas.openxmlformats.org/officeDocument/2006/relationships" id="289" r:id="R42b5ecdd10494225"/>
    <p:sldId xmlns:r="http://schemas.openxmlformats.org/officeDocument/2006/relationships" id="290" r:id="R7f5a92611a744a41"/>
    <p:sldId xmlns:r="http://schemas.openxmlformats.org/officeDocument/2006/relationships" id="291" r:id="R9f9d9a5d52a344e0"/>
    <p:sldId xmlns:r="http://schemas.openxmlformats.org/officeDocument/2006/relationships" id="292" r:id="Rce19ae46407a4ce1"/>
    <p:sldId xmlns:r="http://schemas.openxmlformats.org/officeDocument/2006/relationships" id="293" r:id="Rdc8e621e731b4ff3"/>
    <p:sldId xmlns:r="http://schemas.openxmlformats.org/officeDocument/2006/relationships" id="294" r:id="R09065e8a674d4c60"/>
    <p:sldId xmlns:r="http://schemas.openxmlformats.org/officeDocument/2006/relationships" id="295" r:id="Rbaf02023a2404ff8"/>
    <p:sldId xmlns:r="http://schemas.openxmlformats.org/officeDocument/2006/relationships" id="296" r:id="R2e72530e4f0f48a8"/>
    <p:sldId xmlns:r="http://schemas.openxmlformats.org/officeDocument/2006/relationships" id="297" r:id="R3634f0754a8846b5"/>
    <p:sldId xmlns:r="http://schemas.openxmlformats.org/officeDocument/2006/relationships" id="298" r:id="Rbf58c5de3b434d97"/>
    <p:sldId xmlns:r="http://schemas.openxmlformats.org/officeDocument/2006/relationships" id="299" r:id="R5016292b051842b9"/>
    <p:sldId xmlns:r="http://schemas.openxmlformats.org/officeDocument/2006/relationships" id="300" r:id="Racf7d51918124b52"/>
    <p:sldId xmlns:r="http://schemas.openxmlformats.org/officeDocument/2006/relationships" id="301" r:id="R15ef1916df0d4608"/>
    <p:sldId xmlns:r="http://schemas.openxmlformats.org/officeDocument/2006/relationships" id="302" r:id="R79efcec9603e4fd3"/>
    <p:sldId xmlns:r="http://schemas.openxmlformats.org/officeDocument/2006/relationships" id="303" r:id="R43065d8619184e1f"/>
    <p:sldId xmlns:r="http://schemas.openxmlformats.org/officeDocument/2006/relationships" id="304" r:id="R1233074c28394898"/>
    <p:sldId xmlns:r="http://schemas.openxmlformats.org/officeDocument/2006/relationships" id="305" r:id="Rb334c7c4799b4191"/>
    <p:sldId xmlns:r="http://schemas.openxmlformats.org/officeDocument/2006/relationships" id="306" r:id="R1a630919d38d4ed9"/>
    <p:sldId xmlns:r="http://schemas.openxmlformats.org/officeDocument/2006/relationships" id="307" r:id="R9e72bd90d7ce48b7"/>
    <p:sldId xmlns:r="http://schemas.openxmlformats.org/officeDocument/2006/relationships" id="308" r:id="Rb6d3365c844d4075"/>
    <p:sldId xmlns:r="http://schemas.openxmlformats.org/officeDocument/2006/relationships" id="309" r:id="R3236fa67038c4e3a"/>
    <p:sldId xmlns:r="http://schemas.openxmlformats.org/officeDocument/2006/relationships" id="310" r:id="R48848abfb449429f"/>
    <p:sldId xmlns:r="http://schemas.openxmlformats.org/officeDocument/2006/relationships" id="311" r:id="Rbbed24cb9c0a4e08"/>
    <p:sldId xmlns:r="http://schemas.openxmlformats.org/officeDocument/2006/relationships" id="312" r:id="Rf9f7d1868e6f4c6d"/>
    <p:sldId xmlns:r="http://schemas.openxmlformats.org/officeDocument/2006/relationships" id="313" r:id="R4cf725e4c24b4b9d"/>
    <p:sldId xmlns:r="http://schemas.openxmlformats.org/officeDocument/2006/relationships" id="314" r:id="Rc4a23178689743e8"/>
    <p:sldId xmlns:r="http://schemas.openxmlformats.org/officeDocument/2006/relationships" id="315" r:id="R95d92a87b9d54bad"/>
    <p:sldId xmlns:r="http://schemas.openxmlformats.org/officeDocument/2006/relationships" id="316" r:id="R12a485002c2f4c9e"/>
    <p:sldId xmlns:r="http://schemas.openxmlformats.org/officeDocument/2006/relationships" id="317" r:id="R27602fb758444903"/>
    <p:sldId xmlns:r="http://schemas.openxmlformats.org/officeDocument/2006/relationships" id="318" r:id="R549730c3fbcd45a8"/>
    <p:sldId xmlns:r="http://schemas.openxmlformats.org/officeDocument/2006/relationships" id="319" r:id="R37d97db5707e42fb"/>
    <p:sldId xmlns:r="http://schemas.openxmlformats.org/officeDocument/2006/relationships" id="320" r:id="Ra6709df20b8845fd"/>
    <p:sldId xmlns:r="http://schemas.openxmlformats.org/officeDocument/2006/relationships" id="321" r:id="R1c4b259ae1e347fd"/>
    <p:sldId xmlns:r="http://schemas.openxmlformats.org/officeDocument/2006/relationships" id="322" r:id="R64fb66befb2f4776"/>
    <p:sldId xmlns:r="http://schemas.openxmlformats.org/officeDocument/2006/relationships" id="323" r:id="R0832307924d54c8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be9a89e52254f52" /><Relationship Type="http://schemas.openxmlformats.org/officeDocument/2006/relationships/slideMaster" Target="/ppt/slideMasters/slideMaster1.xml" Id="R74321815831a408e" /><Relationship Type="http://schemas.openxmlformats.org/officeDocument/2006/relationships/notesMaster" Target="/ppt/notesMasters/notesMaster1.xml" Id="R40c3e5b52fa84113" /><Relationship Type="http://schemas.openxmlformats.org/officeDocument/2006/relationships/presProps" Target="/ppt/presProps.xml" Id="Rb2883375a5d742c9" /><Relationship Type="http://schemas.openxmlformats.org/officeDocument/2006/relationships/tableStyles" Target="/ppt/tableStyles.xml" Id="R4e2b8f04d40d418b" /><Relationship Type="http://schemas.openxmlformats.org/officeDocument/2006/relationships/slide" Target="/ppt/slides/slide1.xml" Id="R5c898a8f64cb426b" /><Relationship Type="http://schemas.openxmlformats.org/officeDocument/2006/relationships/slide" Target="/ppt/slides/slide2.xml" Id="Ree9802c2b55e4589" /><Relationship Type="http://schemas.openxmlformats.org/officeDocument/2006/relationships/slide" Target="/ppt/slides/slide3.xml" Id="R5c81025faf4a4f33" /><Relationship Type="http://schemas.openxmlformats.org/officeDocument/2006/relationships/slide" Target="/ppt/slides/slide4.xml" Id="R466d13675d4b443d" /><Relationship Type="http://schemas.openxmlformats.org/officeDocument/2006/relationships/slide" Target="/ppt/slides/slide5.xml" Id="R32d684502aab4055" /><Relationship Type="http://schemas.openxmlformats.org/officeDocument/2006/relationships/slide" Target="/ppt/slides/slide6.xml" Id="Rf6f6f5b8a1334a9c" /><Relationship Type="http://schemas.openxmlformats.org/officeDocument/2006/relationships/slide" Target="/ppt/slides/slide7.xml" Id="R38564208d1c54f93" /><Relationship Type="http://schemas.openxmlformats.org/officeDocument/2006/relationships/slide" Target="/ppt/slides/slide8.xml" Id="R236976d72bcd4d29" /><Relationship Type="http://schemas.openxmlformats.org/officeDocument/2006/relationships/slide" Target="/ppt/slides/slide9.xml" Id="R3416aa9b0faa4359" /><Relationship Type="http://schemas.openxmlformats.org/officeDocument/2006/relationships/slide" Target="/ppt/slides/slide10.xml" Id="R23b557e422154f79" /><Relationship Type="http://schemas.openxmlformats.org/officeDocument/2006/relationships/slide" Target="/ppt/slides/slide11.xml" Id="R434ed551fec84ce7" /><Relationship Type="http://schemas.openxmlformats.org/officeDocument/2006/relationships/slide" Target="/ppt/slides/slide12.xml" Id="R39374268670a4234" /><Relationship Type="http://schemas.openxmlformats.org/officeDocument/2006/relationships/slide" Target="/ppt/slides/slide13.xml" Id="R96ced19a52444bdd" /><Relationship Type="http://schemas.openxmlformats.org/officeDocument/2006/relationships/slide" Target="/ppt/slides/slide14.xml" Id="Re2c2f4a7054c4d01" /><Relationship Type="http://schemas.openxmlformats.org/officeDocument/2006/relationships/slide" Target="/ppt/slides/slide15.xml" Id="R676cd98b272440fe" /><Relationship Type="http://schemas.openxmlformats.org/officeDocument/2006/relationships/slide" Target="/ppt/slides/slide16.xml" Id="R54b6451bcb204ebf" /><Relationship Type="http://schemas.openxmlformats.org/officeDocument/2006/relationships/slide" Target="/ppt/slides/slide17.xml" Id="Rfb6c357cbb7846a2" /><Relationship Type="http://schemas.openxmlformats.org/officeDocument/2006/relationships/slide" Target="/ppt/slides/slide18.xml" Id="Rb7d43b227e90411c" /><Relationship Type="http://schemas.openxmlformats.org/officeDocument/2006/relationships/slide" Target="/ppt/slides/slide19.xml" Id="R1906d3f6b4314be4" /><Relationship Type="http://schemas.openxmlformats.org/officeDocument/2006/relationships/slide" Target="/ppt/slides/slide20.xml" Id="Ra85b9e114eab41df" /><Relationship Type="http://schemas.openxmlformats.org/officeDocument/2006/relationships/slide" Target="/ppt/slides/slide21.xml" Id="Rc9a416c8427246e1" /><Relationship Type="http://schemas.openxmlformats.org/officeDocument/2006/relationships/slide" Target="/ppt/slides/slide22.xml" Id="Rdb9541076b5846a9" /><Relationship Type="http://schemas.openxmlformats.org/officeDocument/2006/relationships/slide" Target="/ppt/slides/slide23.xml" Id="Rdfda36e25b7543ad" /><Relationship Type="http://schemas.openxmlformats.org/officeDocument/2006/relationships/slide" Target="/ppt/slides/slide24.xml" Id="Ra025fcbc2ab44a68" /><Relationship Type="http://schemas.openxmlformats.org/officeDocument/2006/relationships/slide" Target="/ppt/slides/slide25.xml" Id="Rac85506aa9534ac2" /><Relationship Type="http://schemas.openxmlformats.org/officeDocument/2006/relationships/slide" Target="/ppt/slides/slide26.xml" Id="R3b696b9fec674399" /><Relationship Type="http://schemas.openxmlformats.org/officeDocument/2006/relationships/slide" Target="/ppt/slides/slide27.xml" Id="R07f1df6734da429f" /><Relationship Type="http://schemas.openxmlformats.org/officeDocument/2006/relationships/slide" Target="/ppt/slides/slide28.xml" Id="R5dbf05fb081247c5" /><Relationship Type="http://schemas.openxmlformats.org/officeDocument/2006/relationships/slide" Target="/ppt/slides/slide29.xml" Id="Rfb9befe1273e4c80" /><Relationship Type="http://schemas.openxmlformats.org/officeDocument/2006/relationships/slide" Target="/ppt/slides/slide30.xml" Id="Rcd17b47554894b73" /><Relationship Type="http://schemas.openxmlformats.org/officeDocument/2006/relationships/slide" Target="/ppt/slides/slide31.xml" Id="Re0eeaa46e98b4a1b" /><Relationship Type="http://schemas.openxmlformats.org/officeDocument/2006/relationships/slide" Target="/ppt/slides/slide32.xml" Id="R5f311602c2274d90" /><Relationship Type="http://schemas.openxmlformats.org/officeDocument/2006/relationships/slide" Target="/ppt/slides/slide33.xml" Id="Rc88b0598225f4c72" /><Relationship Type="http://schemas.openxmlformats.org/officeDocument/2006/relationships/slide" Target="/ppt/slides/slide34.xml" Id="R42b5ecdd10494225" /><Relationship Type="http://schemas.openxmlformats.org/officeDocument/2006/relationships/slide" Target="/ppt/slides/slide35.xml" Id="R7f5a92611a744a41" /><Relationship Type="http://schemas.openxmlformats.org/officeDocument/2006/relationships/slide" Target="/ppt/slides/slide36.xml" Id="R9f9d9a5d52a344e0" /><Relationship Type="http://schemas.openxmlformats.org/officeDocument/2006/relationships/slide" Target="/ppt/slides/slide37.xml" Id="Rce19ae46407a4ce1" /><Relationship Type="http://schemas.openxmlformats.org/officeDocument/2006/relationships/slide" Target="/ppt/slides/slide38.xml" Id="Rdc8e621e731b4ff3" /><Relationship Type="http://schemas.openxmlformats.org/officeDocument/2006/relationships/slide" Target="/ppt/slides/slide39.xml" Id="R09065e8a674d4c60" /><Relationship Type="http://schemas.openxmlformats.org/officeDocument/2006/relationships/slide" Target="/ppt/slides/slide40.xml" Id="Rbaf02023a2404ff8" /><Relationship Type="http://schemas.openxmlformats.org/officeDocument/2006/relationships/slide" Target="/ppt/slides/slide41.xml" Id="R2e72530e4f0f48a8" /><Relationship Type="http://schemas.openxmlformats.org/officeDocument/2006/relationships/slide" Target="/ppt/slides/slide42.xml" Id="R3634f0754a8846b5" /><Relationship Type="http://schemas.openxmlformats.org/officeDocument/2006/relationships/slide" Target="/ppt/slides/slide43.xml" Id="Rbf58c5de3b434d97" /><Relationship Type="http://schemas.openxmlformats.org/officeDocument/2006/relationships/slide" Target="/ppt/slides/slide44.xml" Id="R5016292b051842b9" /><Relationship Type="http://schemas.openxmlformats.org/officeDocument/2006/relationships/slide" Target="/ppt/slides/slide45.xml" Id="Racf7d51918124b52" /><Relationship Type="http://schemas.openxmlformats.org/officeDocument/2006/relationships/slide" Target="/ppt/slides/slide46.xml" Id="R15ef1916df0d4608" /><Relationship Type="http://schemas.openxmlformats.org/officeDocument/2006/relationships/slide" Target="/ppt/slides/slide47.xml" Id="R79efcec9603e4fd3" /><Relationship Type="http://schemas.openxmlformats.org/officeDocument/2006/relationships/slide" Target="/ppt/slides/slide48.xml" Id="R43065d8619184e1f" /><Relationship Type="http://schemas.openxmlformats.org/officeDocument/2006/relationships/slide" Target="/ppt/slides/slide49.xml" Id="R1233074c28394898" /><Relationship Type="http://schemas.openxmlformats.org/officeDocument/2006/relationships/slide" Target="/ppt/slides/slide50.xml" Id="Rb334c7c4799b4191" /><Relationship Type="http://schemas.openxmlformats.org/officeDocument/2006/relationships/slide" Target="/ppt/slides/slide51.xml" Id="R1a630919d38d4ed9" /><Relationship Type="http://schemas.openxmlformats.org/officeDocument/2006/relationships/slide" Target="/ppt/slides/slide52.xml" Id="R9e72bd90d7ce48b7" /><Relationship Type="http://schemas.openxmlformats.org/officeDocument/2006/relationships/slide" Target="/ppt/slides/slide53.xml" Id="Rb6d3365c844d4075" /><Relationship Type="http://schemas.openxmlformats.org/officeDocument/2006/relationships/slide" Target="/ppt/slides/slide54.xml" Id="R3236fa67038c4e3a" /><Relationship Type="http://schemas.openxmlformats.org/officeDocument/2006/relationships/slide" Target="/ppt/slides/slide55.xml" Id="R48848abfb449429f" /><Relationship Type="http://schemas.openxmlformats.org/officeDocument/2006/relationships/slide" Target="/ppt/slides/slide56.xml" Id="Rbbed24cb9c0a4e08" /><Relationship Type="http://schemas.openxmlformats.org/officeDocument/2006/relationships/slide" Target="/ppt/slides/slide57.xml" Id="Rf9f7d1868e6f4c6d" /><Relationship Type="http://schemas.openxmlformats.org/officeDocument/2006/relationships/slide" Target="/ppt/slides/slide58.xml" Id="R4cf725e4c24b4b9d" /><Relationship Type="http://schemas.openxmlformats.org/officeDocument/2006/relationships/slide" Target="/ppt/slides/slide59.xml" Id="Rc4a23178689743e8" /><Relationship Type="http://schemas.openxmlformats.org/officeDocument/2006/relationships/slide" Target="/ppt/slides/slide60.xml" Id="R95d92a87b9d54bad" /><Relationship Type="http://schemas.openxmlformats.org/officeDocument/2006/relationships/slide" Target="/ppt/slides/slide61.xml" Id="R12a485002c2f4c9e" /><Relationship Type="http://schemas.openxmlformats.org/officeDocument/2006/relationships/slide" Target="/ppt/slides/slide62.xml" Id="R27602fb758444903" /><Relationship Type="http://schemas.openxmlformats.org/officeDocument/2006/relationships/slide" Target="/ppt/slides/slide63.xml" Id="R549730c3fbcd45a8" /><Relationship Type="http://schemas.openxmlformats.org/officeDocument/2006/relationships/slide" Target="/ppt/slides/slide64.xml" Id="R37d97db5707e42fb" /><Relationship Type="http://schemas.openxmlformats.org/officeDocument/2006/relationships/slide" Target="/ppt/slides/slide65.xml" Id="Ra6709df20b8845fd" /><Relationship Type="http://schemas.openxmlformats.org/officeDocument/2006/relationships/slide" Target="/ppt/slides/slide66.xml" Id="R1c4b259ae1e347fd" /><Relationship Type="http://schemas.openxmlformats.org/officeDocument/2006/relationships/slide" Target="/ppt/slides/slide67.xml" Id="R64fb66befb2f4776" /><Relationship Type="http://schemas.openxmlformats.org/officeDocument/2006/relationships/slide" Target="/ppt/slides/slide68.xml" Id="R0832307924d54c8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0a9c00e8e00480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52caed3ce74384" /><Relationship Type="http://schemas.openxmlformats.org/officeDocument/2006/relationships/notesMaster" Target="/ppt/notesMasters/notesMaster1.xml" Id="Rb327e994a5f44c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01f72e99604390" /><Relationship Type="http://schemas.openxmlformats.org/officeDocument/2006/relationships/notesMaster" Target="/ppt/notesMasters/notesMaster1.xml" Id="Rdf6a2645c5d6468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d3634863aff4e73" /><Relationship Type="http://schemas.openxmlformats.org/officeDocument/2006/relationships/notesMaster" Target="/ppt/notesMasters/notesMaster1.xml" Id="R7810eb9dac5240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6220068a3ed4110" /><Relationship Type="http://schemas.openxmlformats.org/officeDocument/2006/relationships/notesMaster" Target="/ppt/notesMasters/notesMaster1.xml" Id="R629bfba1816c406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416b7f62034ca1" /><Relationship Type="http://schemas.openxmlformats.org/officeDocument/2006/relationships/notesMaster" Target="/ppt/notesMasters/notesMaster1.xml" Id="R13b45b0db7d045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b0bd4e4c6a140d4" /><Relationship Type="http://schemas.openxmlformats.org/officeDocument/2006/relationships/notesMaster" Target="/ppt/notesMasters/notesMaster1.xml" Id="Rd36005e2c437489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e578f8bb6364552" /><Relationship Type="http://schemas.openxmlformats.org/officeDocument/2006/relationships/notesMaster" Target="/ppt/notesMasters/notesMaster1.xml" Id="R74a79f2518ed464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c9986c1d8e94ab7" /><Relationship Type="http://schemas.openxmlformats.org/officeDocument/2006/relationships/notesMaster" Target="/ppt/notesMasters/notesMaster1.xml" Id="Ref135051b629440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6884f7b809c4280" /><Relationship Type="http://schemas.openxmlformats.org/officeDocument/2006/relationships/notesMaster" Target="/ppt/notesMasters/notesMaster1.xml" Id="R3f88bc7dff5347e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3d350ac0e4344a8" /><Relationship Type="http://schemas.openxmlformats.org/officeDocument/2006/relationships/notesMaster" Target="/ppt/notesMasters/notesMaster1.xml" Id="R2ecea1d53dcf4dc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c1fd1791eff4811" /><Relationship Type="http://schemas.openxmlformats.org/officeDocument/2006/relationships/notesMaster" Target="/ppt/notesMasters/notesMaster1.xml" Id="R1d4e5124fd32469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9357502f83743b9" /><Relationship Type="http://schemas.openxmlformats.org/officeDocument/2006/relationships/notesMaster" Target="/ppt/notesMasters/notesMaster1.xml" Id="R8bce62b035134b9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eb0627de9f74de2" /><Relationship Type="http://schemas.openxmlformats.org/officeDocument/2006/relationships/notesMaster" Target="/ppt/notesMasters/notesMaster1.xml" Id="R50ef373defd440c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758c698443443cb" /><Relationship Type="http://schemas.openxmlformats.org/officeDocument/2006/relationships/notesMaster" Target="/ppt/notesMasters/notesMaster1.xml" Id="R40ec3c5bf2a0469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6b7ec14d418418f" /><Relationship Type="http://schemas.openxmlformats.org/officeDocument/2006/relationships/notesMaster" Target="/ppt/notesMasters/notesMaster1.xml" Id="Rc0ec46b7fca746b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69dcb4036554c34" /><Relationship Type="http://schemas.openxmlformats.org/officeDocument/2006/relationships/notesMaster" Target="/ppt/notesMasters/notesMaster1.xml" Id="Rdb27c8be34674f5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9b23d88d2d346df" /><Relationship Type="http://schemas.openxmlformats.org/officeDocument/2006/relationships/notesMaster" Target="/ppt/notesMasters/notesMaster1.xml" Id="R79ae527303c647d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e2a4025958e4cda" /><Relationship Type="http://schemas.openxmlformats.org/officeDocument/2006/relationships/notesMaster" Target="/ppt/notesMasters/notesMaster1.xml" Id="Rff7bf8698c69403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51bc4586aee46ec" /><Relationship Type="http://schemas.openxmlformats.org/officeDocument/2006/relationships/notesMaster" Target="/ppt/notesMasters/notesMaster1.xml" Id="Re295f17c66a04f2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66aa358f43c4504" /><Relationship Type="http://schemas.openxmlformats.org/officeDocument/2006/relationships/notesMaster" Target="/ppt/notesMasters/notesMaster1.xml" Id="R0902592f7168435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e461954a1894e26" /><Relationship Type="http://schemas.openxmlformats.org/officeDocument/2006/relationships/notesMaster" Target="/ppt/notesMasters/notesMaster1.xml" Id="R6e2c298f769445e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ce6b9cffbf94a6f" /><Relationship Type="http://schemas.openxmlformats.org/officeDocument/2006/relationships/notesMaster" Target="/ppt/notesMasters/notesMaster1.xml" Id="R615daf8a828d49a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986af354d2d44ce" /><Relationship Type="http://schemas.openxmlformats.org/officeDocument/2006/relationships/notesMaster" Target="/ppt/notesMasters/notesMaster1.xml" Id="R6ceac5fdd81c4bd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27794438bd747cb" /><Relationship Type="http://schemas.openxmlformats.org/officeDocument/2006/relationships/notesMaster" Target="/ppt/notesMasters/notesMaster1.xml" Id="Rf5a6d3d4ac7e41b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5c4bb136f1b4de2" /><Relationship Type="http://schemas.openxmlformats.org/officeDocument/2006/relationships/notesMaster" Target="/ppt/notesMasters/notesMaster1.xml" Id="R98192db8439b429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6d089f4806f49fa" /><Relationship Type="http://schemas.openxmlformats.org/officeDocument/2006/relationships/notesMaster" Target="/ppt/notesMasters/notesMaster1.xml" Id="R16750acb75dd4bc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bf2a073e81641d0" /><Relationship Type="http://schemas.openxmlformats.org/officeDocument/2006/relationships/notesMaster" Target="/ppt/notesMasters/notesMaster1.xml" Id="R912c7fd5525e463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1e527e6d1ac4199" /><Relationship Type="http://schemas.openxmlformats.org/officeDocument/2006/relationships/notesMaster" Target="/ppt/notesMasters/notesMaster1.xml" Id="R4dc4c5ddd7cf4c1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634b06be64147bc" /><Relationship Type="http://schemas.openxmlformats.org/officeDocument/2006/relationships/notesMaster" Target="/ppt/notesMasters/notesMaster1.xml" Id="R9013bdb25849413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395f5a52b21468b" /><Relationship Type="http://schemas.openxmlformats.org/officeDocument/2006/relationships/notesMaster" Target="/ppt/notesMasters/notesMaster1.xml" Id="Rdef006041a994a2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0ec05c9acda41c2" /><Relationship Type="http://schemas.openxmlformats.org/officeDocument/2006/relationships/notesMaster" Target="/ppt/notesMasters/notesMaster1.xml" Id="Rc55f9031f13e4504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0d1ba65b05140ca" /><Relationship Type="http://schemas.openxmlformats.org/officeDocument/2006/relationships/notesMaster" Target="/ppt/notesMasters/notesMaster1.xml" Id="R3a147acde45b47b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f1f84f5240da4c32" /><Relationship Type="http://schemas.openxmlformats.org/officeDocument/2006/relationships/notesMaster" Target="/ppt/notesMasters/notesMaster1.xml" Id="R4bd159a6bbcb4f32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d1cc18574e0e4067" /><Relationship Type="http://schemas.openxmlformats.org/officeDocument/2006/relationships/notesMaster" Target="/ppt/notesMasters/notesMaster1.xml" Id="Rea8213c3481e428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5868b0107fe488b" /><Relationship Type="http://schemas.openxmlformats.org/officeDocument/2006/relationships/notesMaster" Target="/ppt/notesMasters/notesMaster1.xml" Id="R9bc88487c9874a86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d27b63f19fc84ab4" /><Relationship Type="http://schemas.openxmlformats.org/officeDocument/2006/relationships/notesMaster" Target="/ppt/notesMasters/notesMaster1.xml" Id="Rcd918813fa8c4e9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b8ff101a9c9c4be6" /><Relationship Type="http://schemas.openxmlformats.org/officeDocument/2006/relationships/notesMaster" Target="/ppt/notesMasters/notesMaster1.xml" Id="R10552f75d8ee41ff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b20950ea00a84ca6" /><Relationship Type="http://schemas.openxmlformats.org/officeDocument/2006/relationships/notesMaster" Target="/ppt/notesMasters/notesMaster1.xml" Id="R3db51af666854ed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5ba64d44dd343d0" /><Relationship Type="http://schemas.openxmlformats.org/officeDocument/2006/relationships/notesMaster" Target="/ppt/notesMasters/notesMaster1.xml" Id="R0cafef49eeac4620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92573656f1844aa" /><Relationship Type="http://schemas.openxmlformats.org/officeDocument/2006/relationships/notesMaster" Target="/ppt/notesMasters/notesMaster1.xml" Id="R4d0e37c2dd764cce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d8d7ec70885d477d" /><Relationship Type="http://schemas.openxmlformats.org/officeDocument/2006/relationships/notesMaster" Target="/ppt/notesMasters/notesMaster1.xml" Id="R20d8d657eed34604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77e951ddbbaf4e91" /><Relationship Type="http://schemas.openxmlformats.org/officeDocument/2006/relationships/notesMaster" Target="/ppt/notesMasters/notesMaster1.xml" Id="R49b3298c3d05495a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bc8d65ffc88647cf" /><Relationship Type="http://schemas.openxmlformats.org/officeDocument/2006/relationships/notesMaster" Target="/ppt/notesMasters/notesMaster1.xml" Id="Rec08843e05034c1f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3cb354d05a114074" /><Relationship Type="http://schemas.openxmlformats.org/officeDocument/2006/relationships/notesMaster" Target="/ppt/notesMasters/notesMaster1.xml" Id="R637c6e142a054a8d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10b7cf8ecec147a7" /><Relationship Type="http://schemas.openxmlformats.org/officeDocument/2006/relationships/notesMaster" Target="/ppt/notesMasters/notesMaster1.xml" Id="R6ad84b045af346f3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412361424c444a43" /><Relationship Type="http://schemas.openxmlformats.org/officeDocument/2006/relationships/notesMaster" Target="/ppt/notesMasters/notesMaster1.xml" Id="Rbc9f79a7736541a0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f4fdd20b75f749f6" /><Relationship Type="http://schemas.openxmlformats.org/officeDocument/2006/relationships/notesMaster" Target="/ppt/notesMasters/notesMaster1.xml" Id="Ref5a2e3ccbae459e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64b9387740814619" /><Relationship Type="http://schemas.openxmlformats.org/officeDocument/2006/relationships/notesMaster" Target="/ppt/notesMasters/notesMaster1.xml" Id="R78a3809b11644716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dec543791d7f49bb" /><Relationship Type="http://schemas.openxmlformats.org/officeDocument/2006/relationships/notesMaster" Target="/ppt/notesMasters/notesMaster1.xml" Id="R4dc97d4117b84ab2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d0802514d1a346f8" /><Relationship Type="http://schemas.openxmlformats.org/officeDocument/2006/relationships/notesMaster" Target="/ppt/notesMasters/notesMaster1.xml" Id="R60e5676139434784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5c92716924e348a6" /><Relationship Type="http://schemas.openxmlformats.org/officeDocument/2006/relationships/notesMaster" Target="/ppt/notesMasters/notesMaster1.xml" Id="R0978f0a382f84f2f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0885e691b8ef46ef" /><Relationship Type="http://schemas.openxmlformats.org/officeDocument/2006/relationships/notesMaster" Target="/ppt/notesMasters/notesMaster1.xml" Id="R5aee8e62399e4a70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3209bb6ea8374be1" /><Relationship Type="http://schemas.openxmlformats.org/officeDocument/2006/relationships/notesMaster" Target="/ppt/notesMasters/notesMaster1.xml" Id="R0b26e24f4c684f80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717e10d877654d81" /><Relationship Type="http://schemas.openxmlformats.org/officeDocument/2006/relationships/notesMaster" Target="/ppt/notesMasters/notesMaster1.xml" Id="Ra40dda57e679466a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6e7d935955694870" /><Relationship Type="http://schemas.openxmlformats.org/officeDocument/2006/relationships/notesMaster" Target="/ppt/notesMasters/notesMaster1.xml" Id="Rf1c5bffa9b7d4c7a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38b4d243f9fd466e" /><Relationship Type="http://schemas.openxmlformats.org/officeDocument/2006/relationships/notesMaster" Target="/ppt/notesMasters/notesMaster1.xml" Id="Rba1234375b8240c4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f94b039bd550430d" /><Relationship Type="http://schemas.openxmlformats.org/officeDocument/2006/relationships/notesMaster" Target="/ppt/notesMasters/notesMaster1.xml" Id="Rddac7f0b2cee42d9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e1d371444b12477d" /><Relationship Type="http://schemas.openxmlformats.org/officeDocument/2006/relationships/notesMaster" Target="/ppt/notesMasters/notesMaster1.xml" Id="Rcf82e4343990485b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e392d4f18d9842bd" /><Relationship Type="http://schemas.openxmlformats.org/officeDocument/2006/relationships/notesMaster" Target="/ppt/notesMasters/notesMaster1.xml" Id="R0ebdb365b78f4afd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50d449a4e96e4feb" /><Relationship Type="http://schemas.openxmlformats.org/officeDocument/2006/relationships/notesMaster" Target="/ppt/notesMasters/notesMaster1.xml" Id="Rd5a31661338b43b6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3688587a7de8446f" /><Relationship Type="http://schemas.openxmlformats.org/officeDocument/2006/relationships/notesMaster" Target="/ppt/notesMasters/notesMaster1.xml" Id="Rde723e7b40c84724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757d75ab983f44e4" /><Relationship Type="http://schemas.openxmlformats.org/officeDocument/2006/relationships/notesMaster" Target="/ppt/notesMasters/notesMaster1.xml" Id="Re1968073048148d3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380911caae4c42c3" /><Relationship Type="http://schemas.openxmlformats.org/officeDocument/2006/relationships/notesMaster" Target="/ppt/notesMasters/notesMaster1.xml" Id="R123da1f3abe8406d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4372e7af44d74102" /><Relationship Type="http://schemas.openxmlformats.org/officeDocument/2006/relationships/notesMaster" Target="/ppt/notesMasters/notesMaster1.xml" Id="R194995a7fd374e8a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794de3e2e05442a5" /><Relationship Type="http://schemas.openxmlformats.org/officeDocument/2006/relationships/notesMaster" Target="/ppt/notesMasters/notesMaster1.xml" Id="Rfbaa1f1c6ec04f94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626d4a7b93c54645" /><Relationship Type="http://schemas.openxmlformats.org/officeDocument/2006/relationships/notesMaster" Target="/ppt/notesMasters/notesMaster1.xml" Id="R5277de2ae8534b06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9612f7e72f334ce9" /><Relationship Type="http://schemas.openxmlformats.org/officeDocument/2006/relationships/notesMaster" Target="/ppt/notesMasters/notesMaster1.xml" Id="Rb1f3385fdd874378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a898f413ab4e43c0" /><Relationship Type="http://schemas.openxmlformats.org/officeDocument/2006/relationships/notesMaster" Target="/ppt/notesMasters/notesMaster1.xml" Id="R3c589e5e5cdf47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fundos para PL, cotistas e prestadores.</a:t>
            </a:r>
          </a:p>
          <a:p xmlns:a="http://schemas.openxmlformats.org/drawingml/2006/main">
            <a:r>
              <a:t>- CVM/SRE — ofertas granulares até jun/26: https://dados.cvm.gov.br/dataset/oferta-distrib</a:t>
            </a:r>
          </a:p>
          <a:p xmlns:a="http://schemas.openxmlformats.org/drawingml/2006/main">
            <a:r>
              <a:t>- ANBIMA Data — comparativo de mercado por valor encerrado até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documentos públicos usados nas análises documentais.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Metodologia: ofertas públicas primárias, status Oferta Encerrada, data de encerramento no período e Valor_Total_Registrado positivo; snapshot 24/jul/26.</a:t>
            </a:r>
          </a:p>
          <a:p xmlns:a="http://schemas.openxmlformats.org/drawingml/2006/main">
            <a:r>
              <a:t>- FIDCs 2023: valor encerrado ANBIMA (Boletim de Mercado de Capitais, snapshot mai/26, aba 02-02-Vlr); gap por instrumento em industry_market_offer_reconciliation.csv.</a:t>
            </a:r>
          </a:p>
          <a:p xmlns:a="http://schemas.openxmlformats.org/drawingml/2006/main">
            <a:r>
              <a:t>- Limitação: volume registrado pode diferir do valor efetivamente encerrado; taxonomia CVM declarada preservada.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Anexo oficial XLSX, aba 02-02-Vlr e Anexo - Doméstico: https://data-strapi.prd.anbima.com.br/uploads/Boletim_MK_Anexo_8_33b8963678.xlsx</a:t>
            </a:r>
          </a:p>
          <a:p xmlns:a="http://schemas.openxmlformats.org/drawingml/2006/main">
            <a:r>
              <a:t>- Métrica: Valor Encerrado por data de encerramento das ofertas públicas; 2026 considera jan–mai. Debêntures incluem debêntures de securitização.</a:t>
            </a:r>
          </a:p>
          <a:p xmlns:a="http://schemas.openxmlformats.org/drawingml/2006/main">
            <a:r>
              <a:t>- Limitação: o anexo não segrega sistematicamente ofertas primárias e secundárias para renda fixa e fundos e está sujeito a retificações.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19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19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12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Limitação: a base pública recuperada contém sete ofertas legadas encerradas em 2022; o período é parcial e não sustenta Top 15 anual completo.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ANBIMA — anexo oficial XLSX: https://data-strapi.prd.anbima.com.br/uploads/Boletim_MK_Anexo_8_33b8963678.xlsx</a:t>
            </a:r>
          </a:p>
          <a:p xmlns:a="http://schemas.openxmlformats.org/drawingml/2006/main">
            <a:r>
              <a:t>- FundosNet/B3 — documentos públicos usados na conciliação de ratings.</a:t>
            </a:r>
          </a:p>
          <a:p xmlns:a="http://schemas.openxmlformats.org/drawingml/2006/main">
            <a:r>
              <a:t>- Auditoria de perímetro e taxonomia — industry_fic_detection_audit.csv, industry_taxonomy_crosscheck.csv e taxonomy_review_actions.csv; competência 2026-06.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prestadores por competência.</a:t>
            </a:r>
          </a:p>
          <a:p xmlns:a="http://schemas.openxmlformats.org/drawingml/2006/main">
            <a:r>
              <a:t>- PL comparável da indústria = menor PL entre dez/24 e dez/25 para cada CNPJ elegível.</a:t>
            </a:r>
          </a:p>
          <a:p xmlns:a="http://schemas.openxmlformats.org/drawingml/2006/main">
            <a:r>
              <a:t>- Coorte CBSF/Reag: administrador de origem CNPJ 34.829.992/0001-86 em dez/25; destino em jun/26.</a:t>
            </a:r>
          </a:p>
          <a:p xmlns:a="http://schemas.openxmlformats.org/drawingml/2006/main">
            <a:r>
              <a:t>- Limitação: ausência de reporte no destino não comprova liquidação do fundo; gestor e custodiante históricos não são observáveis na mesma base.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5ce2d6da3c4b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afebd5e7c9c40cf" /><Relationship Type="http://schemas.openxmlformats.org/officeDocument/2006/relationships/slideLayout" Target="/ppt/slideLayouts/slideLayout1.xml" Id="R695066a4db43494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5066a4db43494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7a72b926254e04" /><Relationship Type="http://schemas.openxmlformats.org/officeDocument/2006/relationships/notesSlide" Target="/ppt/notesSlides/notesSlide1.xml" Id="Re036d2b3af3b46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30bf063170495f" /><Relationship Type="http://schemas.openxmlformats.org/officeDocument/2006/relationships/notesSlide" Target="/ppt/notesSlides/notesSlide2.xml" Id="R5eeacff7530d46e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0cf9b00fe34b26" /><Relationship Type="http://schemas.openxmlformats.org/officeDocument/2006/relationships/chart" Target="/ppt/slides/charts/chart1.xml" Id="Rdfe04b3114d4422c" /><Relationship Type="http://schemas.openxmlformats.org/officeDocument/2006/relationships/chart" Target="/ppt/slides/charts/chart2.xml" Id="R9b0e128cc26043b4" /><Relationship Type="http://schemas.openxmlformats.org/officeDocument/2006/relationships/chart" Target="/ppt/slides/charts/chart3.xml" Id="R07a76f42b70346c7" /><Relationship Type="http://schemas.openxmlformats.org/officeDocument/2006/relationships/chart" Target="/ppt/slides/charts/chart4.xml" Id="R2b17d95181b44c82" /><Relationship Type="http://schemas.openxmlformats.org/officeDocument/2006/relationships/notesSlide" Target="/ppt/notesSlides/notesSlide3.xml" Id="R449f00d86c824f5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76c4f1692a48da" /><Relationship Type="http://schemas.openxmlformats.org/officeDocument/2006/relationships/chart" Target="/ppt/slides/charts/chart5.xml" Id="R8707cf8028704432" /><Relationship Type="http://schemas.openxmlformats.org/officeDocument/2006/relationships/chart" Target="/ppt/slides/charts/chart6.xml" Id="R70c90f419e8f46f1" /><Relationship Type="http://schemas.openxmlformats.org/officeDocument/2006/relationships/notesSlide" Target="/ppt/notesSlides/notesSlide4.xml" Id="R32cec3482c2d4ba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3879137bd5497f" /><Relationship Type="http://schemas.openxmlformats.org/officeDocument/2006/relationships/chart" Target="/ppt/slides/charts/chart7.xml" Id="Ra5fc31d14b90465d" /><Relationship Type="http://schemas.openxmlformats.org/officeDocument/2006/relationships/notesSlide" Target="/ppt/notesSlides/notesSlide5.xml" Id="R064e912ec96b4f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eb2074c49e4889" /><Relationship Type="http://schemas.openxmlformats.org/officeDocument/2006/relationships/chart" Target="/ppt/slides/charts/chart8.xml" Id="Rbba58a08a5e44495" /><Relationship Type="http://schemas.openxmlformats.org/officeDocument/2006/relationships/chart" Target="/ppt/slides/charts/chart9.xml" Id="R7e703489c9ea4725" /><Relationship Type="http://schemas.openxmlformats.org/officeDocument/2006/relationships/chart" Target="/ppt/slides/charts/chart10.xml" Id="R500af6379bd64c50" /><Relationship Type="http://schemas.openxmlformats.org/officeDocument/2006/relationships/notesSlide" Target="/ppt/notesSlides/notesSlide6.xml" Id="R5733a5faa47b48b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32f643fcc746eb" /><Relationship Type="http://schemas.openxmlformats.org/officeDocument/2006/relationships/chart" Target="/ppt/slides/charts/chart11.xml" Id="R4fb28c343160437b" /><Relationship Type="http://schemas.openxmlformats.org/officeDocument/2006/relationships/chart" Target="/ppt/slides/charts/chart12.xml" Id="Rd884380a42e342ec" /><Relationship Type="http://schemas.openxmlformats.org/officeDocument/2006/relationships/chart" Target="/ppt/slides/charts/chart13.xml" Id="R4c706bd65ae84493" /><Relationship Type="http://schemas.openxmlformats.org/officeDocument/2006/relationships/chart" Target="/ppt/slides/charts/chart14.xml" Id="Rb144079d2f804092" /><Relationship Type="http://schemas.openxmlformats.org/officeDocument/2006/relationships/chart" Target="/ppt/slides/charts/chart15.xml" Id="R47df01e0964c450c" /><Relationship Type="http://schemas.openxmlformats.org/officeDocument/2006/relationships/notesSlide" Target="/ppt/notesSlides/notesSlide7.xml" Id="Raab809a8c282411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814127f1514b13" /><Relationship Type="http://schemas.openxmlformats.org/officeDocument/2006/relationships/chart" Target="/ppt/slides/charts/chart16.xml" Id="Rd7a2bc5f56504cc9" /><Relationship Type="http://schemas.openxmlformats.org/officeDocument/2006/relationships/chart" Target="/ppt/slides/charts/chart17.xml" Id="Rb8aba7792a0c4f64" /><Relationship Type="http://schemas.openxmlformats.org/officeDocument/2006/relationships/chart" Target="/ppt/slides/charts/chart18.xml" Id="Rb2bf3cb45f34437e" /><Relationship Type="http://schemas.openxmlformats.org/officeDocument/2006/relationships/notesSlide" Target="/ppt/notesSlides/notesSlide8.xml" Id="R167589ae9fb74de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611e68066c4fd5" /><Relationship Type="http://schemas.openxmlformats.org/officeDocument/2006/relationships/chart" Target="/ppt/slides/charts/chart19.xml" Id="Red9ff152b2db4b36" /><Relationship Type="http://schemas.openxmlformats.org/officeDocument/2006/relationships/chart" Target="/ppt/slides/charts/chart20.xml" Id="Rba800598ee6240b3" /><Relationship Type="http://schemas.openxmlformats.org/officeDocument/2006/relationships/chart" Target="/ppt/slides/charts/chart21.xml" Id="R0b0d8d8cadef4550" /><Relationship Type="http://schemas.openxmlformats.org/officeDocument/2006/relationships/notesSlide" Target="/ppt/notesSlides/notesSlide9.xml" Id="Re89370b7c020439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44dce999b64e75" /><Relationship Type="http://schemas.openxmlformats.org/officeDocument/2006/relationships/chart" Target="/ppt/slides/charts/chart22.xml" Id="R4d5d26bdf3de48c7" /><Relationship Type="http://schemas.openxmlformats.org/officeDocument/2006/relationships/chart" Target="/ppt/slides/charts/chart23.xml" Id="R485981bf95b047e1" /><Relationship Type="http://schemas.openxmlformats.org/officeDocument/2006/relationships/chart" Target="/ppt/slides/charts/chart24.xml" Id="R4105d21d2dd14692" /><Relationship Type="http://schemas.openxmlformats.org/officeDocument/2006/relationships/notesSlide" Target="/ppt/notesSlides/notesSlide10.xml" Id="Rd4b223bb90a841f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625bcbd57b403b" /><Relationship Type="http://schemas.openxmlformats.org/officeDocument/2006/relationships/chart" Target="/ppt/slides/charts/chart25.xml" Id="Rf6f40b159dcd4cd2" /><Relationship Type="http://schemas.openxmlformats.org/officeDocument/2006/relationships/chart" Target="/ppt/slides/charts/chart26.xml" Id="Re624cec1421b4c19" /><Relationship Type="http://schemas.openxmlformats.org/officeDocument/2006/relationships/chart" Target="/ppt/slides/charts/chart27.xml" Id="R3a3bf1394bc140fe" /><Relationship Type="http://schemas.openxmlformats.org/officeDocument/2006/relationships/notesSlide" Target="/ppt/notesSlides/notesSlide11.xml" Id="R9a47127ea4534b0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bb0a6e363e4629" /><Relationship Type="http://schemas.openxmlformats.org/officeDocument/2006/relationships/chart" Target="/ppt/slides/charts/chart28.xml" Id="Rae1f32f91b064da8" /><Relationship Type="http://schemas.openxmlformats.org/officeDocument/2006/relationships/chart" Target="/ppt/slides/charts/chart29.xml" Id="Ra1118e184bf749d0" /><Relationship Type="http://schemas.openxmlformats.org/officeDocument/2006/relationships/chart" Target="/ppt/slides/charts/chart30.xml" Id="R61ebf64bd4304315" /><Relationship Type="http://schemas.openxmlformats.org/officeDocument/2006/relationships/notesSlide" Target="/ppt/notesSlides/notesSlide12.xml" Id="R06633e1bd378447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8bdb208dbe4d6a" /><Relationship Type="http://schemas.openxmlformats.org/officeDocument/2006/relationships/chart" Target="/ppt/slides/charts/chart31.xml" Id="Rd8113533386e4ff0" /><Relationship Type="http://schemas.openxmlformats.org/officeDocument/2006/relationships/chart" Target="/ppt/slides/charts/chart32.xml" Id="Rb69761aaa2434193" /><Relationship Type="http://schemas.openxmlformats.org/officeDocument/2006/relationships/chart" Target="/ppt/slides/charts/chart33.xml" Id="R9f545a7cff054f99" /><Relationship Type="http://schemas.openxmlformats.org/officeDocument/2006/relationships/notesSlide" Target="/ppt/notesSlides/notesSlide13.xml" Id="Re7a150463f8c4f9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9a74a510f54a41" /><Relationship Type="http://schemas.openxmlformats.org/officeDocument/2006/relationships/chart" Target="/ppt/slides/charts/chart34.xml" Id="R22272c9a5fac4753" /><Relationship Type="http://schemas.openxmlformats.org/officeDocument/2006/relationships/chart" Target="/ppt/slides/charts/chart35.xml" Id="R26291fe8d16b43f7" /><Relationship Type="http://schemas.openxmlformats.org/officeDocument/2006/relationships/chart" Target="/ppt/slides/charts/chart36.xml" Id="Rcd1adfaa166c4541" /><Relationship Type="http://schemas.openxmlformats.org/officeDocument/2006/relationships/notesSlide" Target="/ppt/notesSlides/notesSlide14.xml" Id="R46d0e7597fc0475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e0dde06b7941f6" /><Relationship Type="http://schemas.openxmlformats.org/officeDocument/2006/relationships/chart" Target="/ppt/slides/charts/chart37.xml" Id="R3552fb1cae31442a" /><Relationship Type="http://schemas.openxmlformats.org/officeDocument/2006/relationships/notesSlide" Target="/ppt/notesSlides/notesSlide15.xml" Id="R7ef9d84b9e994d3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b2f0ed4c2c4f11" /><Relationship Type="http://schemas.openxmlformats.org/officeDocument/2006/relationships/chart" Target="/ppt/slides/charts/chart38.xml" Id="Ra016873cc3584c95" /><Relationship Type="http://schemas.openxmlformats.org/officeDocument/2006/relationships/chart" Target="/ppt/slides/charts/chart39.xml" Id="R5cdf55383f2749c0" /><Relationship Type="http://schemas.openxmlformats.org/officeDocument/2006/relationships/notesSlide" Target="/ppt/notesSlides/notesSlide16.xml" Id="R4b7d6d8d0a4f4b7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c438ced8a94254" /><Relationship Type="http://schemas.openxmlformats.org/officeDocument/2006/relationships/chart" Target="/ppt/slides/charts/chart40.xml" Id="R307d3c4e52694f33" /><Relationship Type="http://schemas.openxmlformats.org/officeDocument/2006/relationships/chart" Target="/ppt/slides/charts/chart41.xml" Id="R3f8ceef528ee42da" /><Relationship Type="http://schemas.openxmlformats.org/officeDocument/2006/relationships/notesSlide" Target="/ppt/notesSlides/notesSlide17.xml" Id="R88c143d7b6b04cf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f1b5bb235749af" /><Relationship Type="http://schemas.openxmlformats.org/officeDocument/2006/relationships/chart" Target="/ppt/slides/charts/chart42.xml" Id="R4485fa8c5db0481b" /><Relationship Type="http://schemas.openxmlformats.org/officeDocument/2006/relationships/chart" Target="/ppt/slides/charts/chart43.xml" Id="Rc7f8749a6f46478e" /><Relationship Type="http://schemas.openxmlformats.org/officeDocument/2006/relationships/notesSlide" Target="/ppt/notesSlides/notesSlide18.xml" Id="Rbc37f1d19c4c453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bcedacfa8c4eb6" /><Relationship Type="http://schemas.openxmlformats.org/officeDocument/2006/relationships/notesSlide" Target="/ppt/notesSlides/notesSlide19.xml" Id="Rf3f23184682741d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23aa11e08249bb" /><Relationship Type="http://schemas.openxmlformats.org/officeDocument/2006/relationships/notesSlide" Target="/ppt/notesSlides/notesSlide20.xml" Id="R2f01167cb8874cd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e4c88faabf4b15" /><Relationship Type="http://schemas.openxmlformats.org/officeDocument/2006/relationships/chart" Target="/ppt/slides/charts/chart44.xml" Id="Re49ac2efcef14cc1" /><Relationship Type="http://schemas.openxmlformats.org/officeDocument/2006/relationships/chart" Target="/ppt/slides/charts/chart45.xml" Id="Rfc89c078dac74321" /><Relationship Type="http://schemas.openxmlformats.org/officeDocument/2006/relationships/chart" Target="/ppt/slides/charts/chart46.xml" Id="Radfbd1b8ffc44ac6" /><Relationship Type="http://schemas.openxmlformats.org/officeDocument/2006/relationships/notesSlide" Target="/ppt/notesSlides/notesSlide21.xml" Id="R5c902542186447b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0504d9c307474f" /><Relationship Type="http://schemas.openxmlformats.org/officeDocument/2006/relationships/notesSlide" Target="/ppt/notesSlides/notesSlide22.xml" Id="R79a3ae38cd344e1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302100b7584b81" /><Relationship Type="http://schemas.openxmlformats.org/officeDocument/2006/relationships/notesSlide" Target="/ppt/notesSlides/notesSlide23.xml" Id="R8bc317d12dc84d7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774907ae74709" /><Relationship Type="http://schemas.openxmlformats.org/officeDocument/2006/relationships/notesSlide" Target="/ppt/notesSlides/notesSlide24.xml" Id="Rbb5e0cf23ef4495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a48ecf83cf4694" /><Relationship Type="http://schemas.openxmlformats.org/officeDocument/2006/relationships/notesSlide" Target="/ppt/notesSlides/notesSlide25.xml" Id="R1ecb020ca626447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c4eaba2c8e40d0" /><Relationship Type="http://schemas.openxmlformats.org/officeDocument/2006/relationships/notesSlide" Target="/ppt/notesSlides/notesSlide26.xml" Id="Rfda57f6eb8bf4b1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ca37899a1944e1" /><Relationship Type="http://schemas.openxmlformats.org/officeDocument/2006/relationships/notesSlide" Target="/ppt/notesSlides/notesSlide27.xml" Id="R1c55450e58684ee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2e94de2793466c" /><Relationship Type="http://schemas.openxmlformats.org/officeDocument/2006/relationships/chart" Target="/ppt/slides/charts/chart47.xml" Id="R17babc75da0d4cc6" /><Relationship Type="http://schemas.openxmlformats.org/officeDocument/2006/relationships/notesSlide" Target="/ppt/notesSlides/notesSlide28.xml" Id="Rf6759e16bdf24ce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87135ae2c34666" /><Relationship Type="http://schemas.openxmlformats.org/officeDocument/2006/relationships/notesSlide" Target="/ppt/notesSlides/notesSlide29.xml" Id="Re66a1001410f4ba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3d280c39514162" /><Relationship Type="http://schemas.openxmlformats.org/officeDocument/2006/relationships/chart" Target="/ppt/slides/charts/chart48.xml" Id="Rf92347e98fd949cc" /><Relationship Type="http://schemas.openxmlformats.org/officeDocument/2006/relationships/chart" Target="/ppt/slides/charts/chart49.xml" Id="R68abff46be6c4704" /><Relationship Type="http://schemas.openxmlformats.org/officeDocument/2006/relationships/chart" Target="/ppt/slides/charts/chart50.xml" Id="R7c95dbec99e14cca" /><Relationship Type="http://schemas.openxmlformats.org/officeDocument/2006/relationships/notesSlide" Target="/ppt/notesSlides/notesSlide30.xml" Id="Rc5ce37eae9da491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c67a7894104983" /><Relationship Type="http://schemas.openxmlformats.org/officeDocument/2006/relationships/chart" Target="/ppt/slides/charts/chart51.xml" Id="R5854c9681a574704" /><Relationship Type="http://schemas.openxmlformats.org/officeDocument/2006/relationships/chart" Target="/ppt/slides/charts/chart52.xml" Id="R25cac9102cf64e48" /><Relationship Type="http://schemas.openxmlformats.org/officeDocument/2006/relationships/chart" Target="/ppt/slides/charts/chart53.xml" Id="R113c1d38de424e99" /><Relationship Type="http://schemas.openxmlformats.org/officeDocument/2006/relationships/chart" Target="/ppt/slides/charts/chart54.xml" Id="R138df2d3bddf408c" /><Relationship Type="http://schemas.openxmlformats.org/officeDocument/2006/relationships/notesSlide" Target="/ppt/notesSlides/notesSlide31.xml" Id="Rcc6abce3b9d04da1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6b4c50f4054d88" /><Relationship Type="http://schemas.openxmlformats.org/officeDocument/2006/relationships/chart" Target="/ppt/slides/charts/chart55.xml" Id="R1a597fd5fbe4444a" /><Relationship Type="http://schemas.openxmlformats.org/officeDocument/2006/relationships/chart" Target="/ppt/slides/charts/chart56.xml" Id="R3cd29f86f6d74374" /><Relationship Type="http://schemas.openxmlformats.org/officeDocument/2006/relationships/chart" Target="/ppt/slides/charts/chart57.xml" Id="R43e8840f8fe24b84" /><Relationship Type="http://schemas.openxmlformats.org/officeDocument/2006/relationships/chart" Target="/ppt/slides/charts/chart58.xml" Id="R89c72d428efd474d" /><Relationship Type="http://schemas.openxmlformats.org/officeDocument/2006/relationships/chart" Target="/ppt/slides/charts/chart59.xml" Id="R2f8fd7bb83c5492c" /><Relationship Type="http://schemas.openxmlformats.org/officeDocument/2006/relationships/notesSlide" Target="/ppt/notesSlides/notesSlide32.xml" Id="Ra15cf73156ac4a2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3f64d0d9ad4e07" /><Relationship Type="http://schemas.openxmlformats.org/officeDocument/2006/relationships/notesSlide" Target="/ppt/notesSlides/notesSlide33.xml" Id="R07dad3e07bdf456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dbdba70daa40e2" /><Relationship Type="http://schemas.openxmlformats.org/officeDocument/2006/relationships/notesSlide" Target="/ppt/notesSlides/notesSlide34.xml" Id="R34bed2d5e359463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576d8970de41e5" /><Relationship Type="http://schemas.openxmlformats.org/officeDocument/2006/relationships/notesSlide" Target="/ppt/notesSlides/notesSlide35.xml" Id="R46c2c05618044ccd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0d8e427d9f4a95" /><Relationship Type="http://schemas.openxmlformats.org/officeDocument/2006/relationships/notesSlide" Target="/ppt/notesSlides/notesSlide36.xml" Id="R467fdb0d5b524248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7a3fc16933404f" /><Relationship Type="http://schemas.openxmlformats.org/officeDocument/2006/relationships/notesSlide" Target="/ppt/notesSlides/notesSlide37.xml" Id="Rc7d33fec25e14074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a532293f44474e" /><Relationship Type="http://schemas.openxmlformats.org/officeDocument/2006/relationships/notesSlide" Target="/ppt/notesSlides/notesSlide38.xml" Id="R607f59f731e34830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4d66a8b4b54d21" /><Relationship Type="http://schemas.openxmlformats.org/officeDocument/2006/relationships/notesSlide" Target="/ppt/notesSlides/notesSlide39.xml" Id="R24a2dca3e84e4fc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d83a39e6c94e0b" /><Relationship Type="http://schemas.openxmlformats.org/officeDocument/2006/relationships/notesSlide" Target="/ppt/notesSlides/notesSlide40.xml" Id="R54508373f2b44074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ea9f8f42824a48" /><Relationship Type="http://schemas.openxmlformats.org/officeDocument/2006/relationships/notesSlide" Target="/ppt/notesSlides/notesSlide41.xml" Id="R7d2a144ac69c4883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3951366df742c3" /><Relationship Type="http://schemas.openxmlformats.org/officeDocument/2006/relationships/notesSlide" Target="/ppt/notesSlides/notesSlide42.xml" Id="R4991fcfc1ffc4175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5438148a524e8c" /><Relationship Type="http://schemas.openxmlformats.org/officeDocument/2006/relationships/notesSlide" Target="/ppt/notesSlides/notesSlide43.xml" Id="Ra60954006673492e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57af223a0741bc" /><Relationship Type="http://schemas.openxmlformats.org/officeDocument/2006/relationships/notesSlide" Target="/ppt/notesSlides/notesSlide44.xml" Id="Rda3c8de76c6a4c5c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631cc70cc04060" /><Relationship Type="http://schemas.openxmlformats.org/officeDocument/2006/relationships/notesSlide" Target="/ppt/notesSlides/notesSlide45.xml" Id="R7efbc2def4c743de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777083d4d43be" /><Relationship Type="http://schemas.openxmlformats.org/officeDocument/2006/relationships/notesSlide" Target="/ppt/notesSlides/notesSlide46.xml" Id="Rbb122e6d47194e24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d4f53a5ed84154" /><Relationship Type="http://schemas.openxmlformats.org/officeDocument/2006/relationships/notesSlide" Target="/ppt/notesSlides/notesSlide47.xml" Id="Rc2702aca8eb442b8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6951c0bb424b37" /><Relationship Type="http://schemas.openxmlformats.org/officeDocument/2006/relationships/notesSlide" Target="/ppt/notesSlides/notesSlide48.xml" Id="R677e8b1162e44b87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137cfc9707426f" /><Relationship Type="http://schemas.openxmlformats.org/officeDocument/2006/relationships/notesSlide" Target="/ppt/notesSlides/notesSlide49.xml" Id="Rb2d2ec036a624b0a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da513d7c7e47f4" /><Relationship Type="http://schemas.openxmlformats.org/officeDocument/2006/relationships/notesSlide" Target="/ppt/notesSlides/notesSlide50.xml" Id="R3ca0911419764036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252b0dbecd4ae4" /><Relationship Type="http://schemas.openxmlformats.org/officeDocument/2006/relationships/notesSlide" Target="/ppt/notesSlides/notesSlide51.xml" Id="R769ef3e729644b17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408e989cc8442c" /><Relationship Type="http://schemas.openxmlformats.org/officeDocument/2006/relationships/notesSlide" Target="/ppt/notesSlides/notesSlide52.xml" Id="Ree0e692848a44aa7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9e5fe224454c61" /><Relationship Type="http://schemas.openxmlformats.org/officeDocument/2006/relationships/notesSlide" Target="/ppt/notesSlides/notesSlide53.xml" Id="Ra1c2c6bb9e724b18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c1994358634ad2" /><Relationship Type="http://schemas.openxmlformats.org/officeDocument/2006/relationships/notesSlide" Target="/ppt/notesSlides/notesSlide54.xml" Id="R94b704e973354184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98e062b87043e9" /><Relationship Type="http://schemas.openxmlformats.org/officeDocument/2006/relationships/notesSlide" Target="/ppt/notesSlides/notesSlide55.xml" Id="R8cb4d9ae00f44d21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f0080df6b44f2b" /><Relationship Type="http://schemas.openxmlformats.org/officeDocument/2006/relationships/notesSlide" Target="/ppt/notesSlides/notesSlide56.xml" Id="R3700d8434dd94ee5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cc10078a104803" /><Relationship Type="http://schemas.openxmlformats.org/officeDocument/2006/relationships/notesSlide" Target="/ppt/notesSlides/notesSlide57.xml" Id="R09a2caabfeef4f87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cbb168bacb4bbe" /><Relationship Type="http://schemas.openxmlformats.org/officeDocument/2006/relationships/chart" Target="/ppt/slides/charts/chart60.xml" Id="R236e9606548b43c9" /><Relationship Type="http://schemas.openxmlformats.org/officeDocument/2006/relationships/chart" Target="/ppt/slides/charts/chart61.xml" Id="Rf9d4cb2f85bd40f7" /><Relationship Type="http://schemas.openxmlformats.org/officeDocument/2006/relationships/chart" Target="/ppt/slides/charts/chart62.xml" Id="R60b62d094add4174" /><Relationship Type="http://schemas.openxmlformats.org/officeDocument/2006/relationships/chart" Target="/ppt/slides/charts/chart63.xml" Id="R8591a9f02d804d4d" /><Relationship Type="http://schemas.openxmlformats.org/officeDocument/2006/relationships/chart" Target="/ppt/slides/charts/chart64.xml" Id="R10d0e6d4d49e4ba6" /><Relationship Type="http://schemas.openxmlformats.org/officeDocument/2006/relationships/chart" Target="/ppt/slides/charts/chart65.xml" Id="R7f0b3449f05f485d" /><Relationship Type="http://schemas.openxmlformats.org/officeDocument/2006/relationships/chart" Target="/ppt/slides/charts/chart66.xml" Id="R6e543b8f513d4632" /><Relationship Type="http://schemas.openxmlformats.org/officeDocument/2006/relationships/notesSlide" Target="/ppt/notesSlides/notesSlide58.xml" Id="R050408e5bbaf4bf6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0ae5dc4a6241bc" /><Relationship Type="http://schemas.openxmlformats.org/officeDocument/2006/relationships/chart" Target="/ppt/slides/charts/chart67.xml" Id="R4aeb22007e8a4efc" /><Relationship Type="http://schemas.openxmlformats.org/officeDocument/2006/relationships/notesSlide" Target="/ppt/notesSlides/notesSlide59.xml" Id="R8d02d268b09d40cb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03bfffbec74a7d" /><Relationship Type="http://schemas.openxmlformats.org/officeDocument/2006/relationships/chart" Target="/ppt/slides/charts/chart68.xml" Id="R620527cb4dd74c27" /><Relationship Type="http://schemas.openxmlformats.org/officeDocument/2006/relationships/chart" Target="/ppt/slides/charts/chart69.xml" Id="Re89a59754e434632" /><Relationship Type="http://schemas.openxmlformats.org/officeDocument/2006/relationships/notesSlide" Target="/ppt/notesSlides/notesSlide60.xml" Id="Re52acec3d96c439d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4f5a2816884b60" /><Relationship Type="http://schemas.openxmlformats.org/officeDocument/2006/relationships/chart" Target="/ppt/slides/charts/chart70.xml" Id="R8097c8a5bb994551" /><Relationship Type="http://schemas.openxmlformats.org/officeDocument/2006/relationships/notesSlide" Target="/ppt/notesSlides/notesSlide61.xml" Id="R280534e004bd49a9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9e2b7105da4dab" /><Relationship Type="http://schemas.openxmlformats.org/officeDocument/2006/relationships/chart" Target="/ppt/slides/charts/chart71.xml" Id="R7d6865e314b8429b" /><Relationship Type="http://schemas.openxmlformats.org/officeDocument/2006/relationships/notesSlide" Target="/ppt/notesSlides/notesSlide62.xml" Id="R504852299f4f4671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f3765cb23f4780" /><Relationship Type="http://schemas.openxmlformats.org/officeDocument/2006/relationships/chart" Target="/ppt/slides/charts/chart72.xml" Id="R0bfdb15a17954217" /><Relationship Type="http://schemas.openxmlformats.org/officeDocument/2006/relationships/notesSlide" Target="/ppt/notesSlides/notesSlide63.xml" Id="Rb5c8f86256da417f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39627bc94e424b" /><Relationship Type="http://schemas.openxmlformats.org/officeDocument/2006/relationships/notesSlide" Target="/ppt/notesSlides/notesSlide64.xml" Id="Rc11ce47d3c7a4fd9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21ae1f1925407e" /><Relationship Type="http://schemas.openxmlformats.org/officeDocument/2006/relationships/chart" Target="/ppt/slides/charts/chart73.xml" Id="R7c15172029f94fd3" /><Relationship Type="http://schemas.openxmlformats.org/officeDocument/2006/relationships/notesSlide" Target="/ppt/notesSlides/notesSlide65.xml" Id="R8fe96548d894441a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19a67a3276489f" /><Relationship Type="http://schemas.openxmlformats.org/officeDocument/2006/relationships/chart" Target="/ppt/slides/charts/chart74.xml" Id="R85c79d5201d44117" /><Relationship Type="http://schemas.openxmlformats.org/officeDocument/2006/relationships/notesSlide" Target="/ppt/notesSlides/notesSlide66.xml" Id="Ra708d5a0cd9b4bd9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1fcb017d5d4fb1" /><Relationship Type="http://schemas.openxmlformats.org/officeDocument/2006/relationships/chart" Target="/ppt/slides/charts/chart75.xml" Id="R1030639a05c04691" /><Relationship Type="http://schemas.openxmlformats.org/officeDocument/2006/relationships/notesSlide" Target="/ppt/notesSlides/notesSlide67.xml" Id="Rdacd08e7b174452c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109f371eb14501" /><Relationship Type="http://schemas.openxmlformats.org/officeDocument/2006/relationships/notesSlide" Target="/ppt/notesSlides/notesSlide68.xml" Id="Rd9ed99fde9074a89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PL direto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[&gt;=1000]#\.##0;0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821.36155928445</c:v>
              </c:pt>
            </c:numLit>
          </c:val>
        </c:ser>
        <c:ser>
          <c:idx val="1"/>
          <c:order val="1"/>
          <c:tx>
            <c:v>Saldo FIC</c:v>
          </c:tx>
          <c:spPr>
            <a:solidFill>
              <a:srgbClr val="30353A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[&gt;=1000]#\.##0;0</c:formatCode>
              <c:ptCount val="12"/>
              <c:pt idx="0">
                <c:v>2.21705534786</c:v>
              </c:pt>
              <c:pt idx="1">
                <c:v>2.7366018263200003</c:v>
              </c:pt>
              <c:pt idx="2">
                <c:v>5.06886420441</c:v>
              </c:pt>
              <c:pt idx="3">
                <c:v>10.41087893892</c:v>
              </c:pt>
              <c:pt idx="4">
                <c:v>9.72982591741</c:v>
              </c:pt>
              <c:pt idx="5">
                <c:v>10.56319664694</c:v>
              </c:pt>
              <c:pt idx="6">
                <c:v>12.94352617417</c:v>
              </c:pt>
              <c:pt idx="7">
                <c:v>17.42384288774</c:v>
              </c:pt>
              <c:pt idx="8">
                <c:v>33.02418578098</c:v>
              </c:pt>
              <c:pt idx="9">
                <c:v>80.38437165218001</c:v>
              </c:pt>
              <c:pt idx="10">
                <c:v>147.00928566699</c:v>
              </c:pt>
              <c:pt idx="11">
                <c:v>140.12447860420002</c:v>
              </c:pt>
            </c:numLit>
          </c:val>
        </c:ser>
        <c:gapWidth val="52"/>
        <c:overlap val="100"/>
        <c:axId val="48650112"/>
        <c:axId val="48672768"/>
      </c:barChart>
      <c:lineChart>
        <c:grouping val="standard"/>
        <c:varyColors val="0"/>
        <c:ser>
          <c:idx val="2"/>
          <c:order val="2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84.6910015744</c:v>
              </c:pt>
              <c:pt idx="1">
                <c:v>93.803241587</c:v>
              </c:pt>
              <c:pt idx="2">
                <c:v>115.248038418</c:v>
              </c:pt>
              <c:pt idx="3">
                <c:v>141.570227292</c:v>
              </c:pt>
              <c:pt idx="4">
                <c:v>237.443419708</c:v>
              </c:pt>
              <c:pt idx="5">
                <c:v>217.765239141</c:v>
              </c:pt>
              <c:pt idx="6">
                <c:v>308.945976311</c:v>
              </c:pt>
              <c:pt idx="7">
                <c:v>378.898513471</c:v>
              </c:pt>
              <c:pt idx="8">
                <c:v>485.359225502</c:v>
              </c:pt>
              <c:pt idx="9">
                <c:v>731.837114451</c:v>
              </c:pt>
              <c:pt idx="10">
                <c:v>919.117717865</c:v>
              </c:pt>
              <c:pt idx="11">
                <c:v>961.486037889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1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PL direto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Saldo FIC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dLbls>
          <c:txPr>
            <a:bodyPr anchorCtr="1"/>
            <a:lstStyle/>
            <a:p>
              <a:pPr>
                <a:defRPr sz="435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229.291431673</c:v>
              </c:pt>
              <c:pt idx="1">
                <c:v>472.8632475001801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47.3460402706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51.149282621699996</c:v>
              </c:pt>
              <c:pt idx="1">
                <c:v>41.832471</c:v>
              </c:pt>
              <c:pt idx="2">
                <c:v>47.202138266949994</c:v>
              </c:pt>
              <c:pt idx="3">
                <c:v>7.291704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anchorCtr="1"/>
            <a:lstStyle/>
            <a:p>
              <a:pPr>
                <a:defRPr sz="54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9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/>
              </c:pt>
              <c:pt idx="2">
                <c:v/>
              </c:pt>
              <c:pt idx="3">
                <c:v>2018</c:v>
              </c:pt>
              <c:pt idx="4">
                <c:v/>
              </c:pt>
              <c:pt idx="5">
                <c:v/>
              </c:pt>
              <c:pt idx="6">
                <c:v>2021</c:v>
              </c:pt>
              <c:pt idx="7">
                <c:v/>
              </c:pt>
              <c:pt idx="8">
                <c:v/>
              </c:pt>
              <c:pt idx="9">
                <c:v>2024</c:v>
              </c:pt>
              <c:pt idx="10">
                <c:v/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563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57.30435846787</c:v>
              </c:pt>
              <c:pt idx="1">
                <c:v>79.32504223603</c:v>
              </c:pt>
              <c:pt idx="2">
                <c:v>104.64155235266</c:v>
              </c:pt>
              <c:pt idx="3">
                <c:v>111.34323277694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122.22089914057001</c:v>
              </c:pt>
              <c:pt idx="1">
                <c:v>197.62338785544</c:v>
              </c:pt>
              <c:pt idx="2">
                <c:v>190.81876503170002</c:v>
              </c:pt>
              <c:pt idx="3">
                <c:v>215.26457154539003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155.09125618770003</c:v>
              </c:pt>
              <c:pt idx="1">
                <c:v>212.37724592952</c:v>
              </c:pt>
              <c:pt idx="2">
                <c:v>270.20376639009</c:v>
              </c:pt>
              <c:pt idx="3">
                <c:v>319.55775489619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117.71852592447999</c:v>
              </c:pt>
              <c:pt idx="1">
                <c:v>162.12706677791002</c:v>
              </c:pt>
              <c:pt idx="2">
                <c:v>206.44434842360002</c:v>
              </c:pt>
              <c:pt idx="3">
                <c:v>175.19600006592998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0.12668564987418052</c:v>
              </c:pt>
              <c:pt idx="1">
                <c:v>0.12176638000665724</c:v>
              </c:pt>
              <c:pt idx="2">
                <c:v>0.1355270166584826</c:v>
              </c:pt>
              <c:pt idx="3">
                <c:v>0.13555934231197708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0.27019993679034565</c:v>
              </c:pt>
              <c:pt idx="1">
                <c:v>0.30335797959245875</c:v>
              </c:pt>
              <c:pt idx="2">
                <c:v>0.24713985377477912</c:v>
              </c:pt>
              <c:pt idx="3">
                <c:v>0.26208259823228547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0.3428681012275558</c:v>
              </c:pt>
              <c:pt idx="1">
                <c:v>0.32600560559015057</c:v>
              </c:pt>
              <c:pt idx="2">
                <c:v>0.3499557252870168</c:v>
              </c:pt>
              <c:pt idx="3">
                <c:v>0.3890585714463931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0.2602463121079181</c:v>
              </c:pt>
              <c:pt idx="1">
                <c:v>0.24887003481073341</c:v>
              </c:pt>
              <c:pt idx="2">
                <c:v>0.2673774042797216</c:v>
              </c:pt>
              <c:pt idx="3">
                <c:v>0.21329948800934445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Outros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Poder Público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60.250322488660004</c:v>
              </c:pt>
              <c:pt idx="1">
                <c:v>77.69178718646</c:v>
              </c:pt>
              <c:pt idx="2">
                <c:v>99.49780005619</c:v>
              </c:pt>
              <c:pt idx="3">
                <c:v>89.12992821119</c:v>
              </c:pt>
            </c:numLit>
          </c:val>
        </c:ser>
        <c:ser>
          <c:idx val="1"/>
          <c:order val="1"/>
          <c:tx>
            <c:v>Multicarteira Outros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43.06066586029</c:v>
              </c:pt>
              <c:pt idx="1">
                <c:v>62.02603059119</c:v>
              </c:pt>
              <c:pt idx="2">
                <c:v>84.95793395782</c:v>
              </c:pt>
              <c:pt idx="3">
                <c:v>61.35233705676</c:v>
              </c:pt>
            </c:numLit>
          </c:val>
        </c:ser>
        <c:ser>
          <c:idx val="2"/>
          <c:order val="2"/>
          <c:tx>
            <c:v>Recuperação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13.91501486645</c:v>
              </c:pt>
              <c:pt idx="1">
                <c:v>22.18727313388</c:v>
              </c:pt>
              <c:pt idx="2">
                <c:v>21.90540664313</c:v>
              </c:pt>
              <c:pt idx="3">
                <c:v>23.075044690040002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A5A9A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630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22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Poder Público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0.5118168276020753</c:v>
              </c:pt>
              <c:pt idx="1">
                <c:v>0.4792030641798153</c:v>
              </c:pt>
              <c:pt idx="2">
                <c:v>0.48195942788432256</c:v>
              </c:pt>
              <c:pt idx="3">
                <c:v>0.508744081929088</c:v>
              </c:pt>
            </c:numLit>
          </c:val>
        </c:ser>
        <c:ser>
          <c:idx val="1"/>
          <c:order val="1"/>
          <c:tx>
            <c:v>Multicarteira Outros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0.3657934511337215</c:v>
              </c:pt>
              <c:pt idx="1">
                <c:v>0.3825766531393333</c:v>
              </c:pt>
              <c:pt idx="2">
                <c:v>0.4115294732287663</c:v>
              </c:pt>
              <c:pt idx="3">
                <c:v>0.3501925673740942</c:v>
              </c:pt>
            </c:numLit>
          </c:val>
        </c:ser>
        <c:ser>
          <c:idx val="2"/>
          <c:order val="2"/>
          <c:tx>
            <c:v>Recuperação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0.11820581983312384</c:v>
              </c:pt>
              <c:pt idx="1">
                <c:v>0.13685113519183856</c:v>
              </c:pt>
              <c:pt idx="2">
                <c:v>0.10610804708580654</c:v>
              </c:pt>
              <c:pt idx="3">
                <c:v>0.13170988311009593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A5A9A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0.004183901431079491</c:v>
              </c:pt>
              <c:pt idx="1">
                <c:v>0.0013691474890128862</c:v>
              </c:pt>
              <c:pt idx="2">
                <c:v>0.0004030518011046117</c:v>
              </c:pt>
              <c:pt idx="3">
                <c:v>0.009353467586721877</c:v>
              </c:pt>
            </c:numLit>
          </c:val>
        </c:ser>
        <c:dLbls>
          <c:txPr>
            <a:bodyPr anchorCtr="1"/>
            <a:lstStyle/>
            <a:p>
              <a:pPr>
                <a:defRPr sz="630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Poder Público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Multicarteira Outros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Recuperação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N/D</c:v>
          </c:tx>
          <c:spPr>
            <a:ln w="28575">
              <a:solidFill>
                <a:srgbClr val="A5A9A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Ações judiciais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57.21444631942</c:v>
              </c:pt>
              <c:pt idx="1">
                <c:v>75.18091207082001</c:v>
              </c:pt>
              <c:pt idx="2">
                <c:v>96.27626485922</c:v>
              </c:pt>
              <c:pt idx="3">
                <c:v>87.12400586133</c:v>
              </c:pt>
            </c:numLit>
          </c:val>
        </c:ser>
        <c:ser>
          <c:idx val="1"/>
          <c:order val="1"/>
          <c:tx>
            <c:v>N/D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59.208975022480004</c:v>
              </c:pt>
              <c:pt idx="1">
                <c:v>85.28209831847</c:v>
              </c:pt>
              <c:pt idx="2">
                <c:v>107.69342065518</c:v>
              </c:pt>
              <c:pt idx="3">
                <c:v>78.90315216944</c:v>
              </c:pt>
            </c:numLit>
          </c:val>
        </c:ser>
        <c:ser>
          <c:idx val="2"/>
          <c:order val="2"/>
          <c:tx>
            <c:v>Setor público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1.2951045825799998</c:v>
              </c:pt>
              <c:pt idx="1">
                <c:v>1.66405638862</c:v>
              </c:pt>
              <c:pt idx="2">
                <c:v>2.4746629091999996</c:v>
              </c:pt>
              <c:pt idx="3">
                <c:v>2.99881849594</c:v>
              </c:pt>
            </c:numLit>
          </c:val>
        </c:ser>
        <c:ser>
          <c:idx val="3"/>
          <c:order val="3"/>
          <c:tx>
            <c:v>Industrial</c:v>
          </c:tx>
          <c:spPr>
            <a:solidFill>
              <a:srgbClr val="A5A9A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2.75489263514</c:v>
              </c:pt>
            </c:numLit>
          </c:val>
        </c:ser>
        <c:ser>
          <c:idx val="4"/>
          <c:order val="4"/>
          <c:tx>
            <c:v>Serviços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1.26626569089</c:v>
              </c:pt>
            </c:numLit>
          </c:val>
        </c:ser>
        <c:ser>
          <c:idx val="5"/>
          <c:order val="5"/>
          <c:tx>
            <c:v>Comercial</c:v>
          </c:tx>
          <c:spPr>
            <a:solidFill>
              <a:srgbClr val="B65A15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1.10431228262</c:v>
              </c:pt>
            </c:numLit>
          </c:val>
        </c:ser>
        <c:ser>
          <c:idx val="6"/>
          <c:order val="6"/>
          <c:tx>
            <c:v>Financeiro</c:v>
          </c:tx>
          <c:spPr>
            <a:solidFill>
              <a:srgbClr val="527A91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0.89255767389</c:v>
              </c:pt>
            </c:numLit>
          </c:val>
        </c:ser>
        <c:ser>
          <c:idx val="7"/>
          <c:order val="7"/>
          <c:tx>
            <c:v>Imobiliário</c:v>
          </c:tx>
          <c:spPr>
            <a:solidFill>
              <a:srgbClr val="8A6D5A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0.11521519870000001</c:v>
              </c:pt>
            </c:numLit>
          </c:val>
        </c:ser>
        <c:ser>
          <c:idx val="8"/>
          <c:order val="8"/>
          <c:tx>
            <c:v>Agronegócio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0.036780057979999996</c:v>
              </c:pt>
            </c:numLit>
          </c:val>
        </c:ser>
        <c:dLbls>
          <c:txPr>
            <a:bodyPr anchorCtr="1"/>
            <a:lstStyle/>
            <a:p>
              <a:pPr>
                <a:defRPr sz="630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22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Ações judiciais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0.4860275463874293</c:v>
              </c:pt>
              <c:pt idx="1">
                <c:v>0.46371598256204</c:v>
              </c:pt>
              <c:pt idx="2">
                <c:v>0.4663545676807398</c:v>
              </c:pt>
              <c:pt idx="3">
                <c:v>0.4972944920462989</c:v>
              </c:pt>
            </c:numLit>
          </c:val>
        </c:ser>
        <c:ser>
          <c:idx val="1"/>
          <c:order val="1"/>
          <c:tx>
            <c:v>N/D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0.5029707478707672</c:v>
              </c:pt>
              <c:pt idx="1">
                <c:v>0.5260201150452799</c:v>
              </c:pt>
              <c:pt idx="2">
                <c:v>0.5216583620599075</c:v>
              </c:pt>
              <c:pt idx="3">
                <c:v>0.45037073985563064</c:v>
              </c:pt>
            </c:numLit>
          </c:val>
        </c:ser>
        <c:ser>
          <c:idx val="2"/>
          <c:order val="2"/>
          <c:tx>
            <c:v>Setor público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0.011001705741803536</c:v>
              </c:pt>
              <c:pt idx="1">
                <c:v>0.01026390239268012</c:v>
              </c:pt>
              <c:pt idx="2">
                <c:v>0.011987070259352786</c:v>
              </c:pt>
              <c:pt idx="3">
                <c:v>0.01711693471775315</c:v>
              </c:pt>
            </c:numLit>
          </c:val>
        </c:ser>
        <c:ser>
          <c:idx val="3"/>
          <c:order val="3"/>
          <c:tx>
            <c:v>Industrial</c:v>
          </c:tx>
          <c:spPr>
            <a:solidFill>
              <a:srgbClr val="A5A9A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0.01572463203556745</c:v>
              </c:pt>
            </c:numLit>
          </c:val>
        </c:ser>
        <c:ser>
          <c:idx val="4"/>
          <c:order val="4"/>
          <c:tx>
            <c:v>Serviços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0.007227708911239282</c:v>
              </c:pt>
            </c:numLit>
          </c:val>
        </c:ser>
        <c:ser>
          <c:idx val="5"/>
          <c:order val="5"/>
          <c:tx>
            <c:v>Comercial</c:v>
          </c:tx>
          <c:spPr>
            <a:solidFill>
              <a:srgbClr val="B65A15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0.006303296206559647</c:v>
              </c:pt>
            </c:numLit>
          </c:val>
        </c:ser>
        <c:ser>
          <c:idx val="6"/>
          <c:order val="6"/>
          <c:tx>
            <c:v>Financeiro</c:v>
          </c:tx>
          <c:spPr>
            <a:solidFill>
              <a:srgbClr val="527A91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0.00509462358475143</c:v>
              </c:pt>
            </c:numLit>
          </c:val>
        </c:ser>
        <c:ser>
          <c:idx val="7"/>
          <c:order val="7"/>
          <c:tx>
            <c:v>Imobiliário</c:v>
          </c:tx>
          <c:spPr>
            <a:solidFill>
              <a:srgbClr val="8A6D5A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0.0006576360114194506</c:v>
              </c:pt>
            </c:numLit>
          </c:val>
        </c:ser>
        <c:ser>
          <c:idx val="8"/>
          <c:order val="8"/>
          <c:tx>
            <c:v>Agronegócio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0.0002099366307801484</c:v>
              </c:pt>
            </c:numLit>
          </c:val>
        </c:ser>
        <c:dLbls>
          <c:txPr>
            <a:bodyPr anchorCtr="1"/>
            <a:lstStyle/>
            <a:p>
              <a:pPr>
                <a:defRPr sz="630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Ações judiciais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N/D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Setor público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Industrial</c:v>
          </c:tx>
          <c:spPr>
            <a:ln w="28575">
              <a:solidFill>
                <a:srgbClr val="A5A9A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Serviços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Comercial</c:v>
          </c:tx>
          <c:spPr>
            <a:ln w="28575">
              <a:solidFill>
                <a:srgbClr val="B65A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Financeiro</c:v>
          </c:tx>
          <c:spPr>
            <a:ln w="28575">
              <a:solidFill>
                <a:srgbClr val="527A9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7"/>
          <c:order val="7"/>
          <c:tx>
            <c:v>Imobiliário</c:v>
          </c:tx>
          <c:spPr>
            <a:ln w="28575">
              <a:solidFill>
                <a:srgbClr val="8A6D5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8"/>
          <c:order val="8"/>
          <c:tx>
            <c:v>Agronegócio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Judicial/Precatórios/NPL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70.03211143063001</c:v>
              </c:pt>
              <c:pt idx="1">
                <c:v>95.06849774399001</c:v>
              </c:pt>
              <c:pt idx="2">
                <c:v>115.38433701639</c:v>
              </c:pt>
              <c:pt idx="3">
                <c:v>107.38546359499</c:v>
              </c:pt>
            </c:numLit>
          </c:val>
        </c:ser>
        <c:ser>
          <c:idx val="1"/>
          <c:order val="1"/>
          <c:tx>
            <c:v>Multissetorial / Outros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44.084263345029996</c:v>
              </c:pt>
              <c:pt idx="1">
                <c:v>61.511643874069996</c:v>
              </c:pt>
              <c:pt idx="2">
                <c:v>82.85800641869</c:v>
              </c:pt>
              <c:pt idx="3">
                <c:v>56.85203580389</c:v>
              </c:pt>
            </c:numLit>
          </c:val>
        </c:ser>
        <c:ser>
          <c:idx val="2"/>
          <c:order val="2"/>
          <c:tx>
            <c:v>N/D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3.60215114882</c:v>
              </c:pt>
              <c:pt idx="1">
                <c:v>5.546925159850001</c:v>
              </c:pt>
              <c:pt idx="2">
                <c:v>8.202004988519999</c:v>
              </c:pt>
              <c:pt idx="3">
                <c:v>10.95850066705</c:v>
              </c:pt>
            </c:numLit>
          </c:val>
        </c:ser>
        <c:dLbls>
          <c:txPr>
            <a:bodyPr anchorCtr="1"/>
            <a:lstStyle/>
            <a:p>
              <a:pPr>
                <a:defRPr sz="630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22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Judicial/Precatórios/NPL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0.5949115560243909</c:v>
              </c:pt>
              <c:pt idx="1">
                <c:v>0.5863826419201165</c:v>
              </c:pt>
              <c:pt idx="2">
                <c:v>0.5589125490596364</c:v>
              </c:pt>
              <c:pt idx="3">
                <c:v>0.6129447222229878</c:v>
              </c:pt>
            </c:numLit>
          </c:val>
        </c:ser>
        <c:ser>
          <c:idx val="1"/>
          <c:order val="1"/>
          <c:tx>
            <c:v>Multissetorial / Outros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0.37448874761914186</c:v>
              </c:pt>
              <c:pt idx="1">
                <c:v>0.3794039150682459</c:v>
              </c:pt>
              <c:pt idx="2">
                <c:v>0.40135759128980814</c:v>
              </c:pt>
              <c:pt idx="3">
                <c:v>0.3245053299304514</c:v>
              </c:pt>
            </c:numLit>
          </c:val>
        </c:ser>
        <c:ser>
          <c:idx val="2"/>
          <c:order val="2"/>
          <c:tx>
            <c:v>N/D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0.0305996963564672</c:v>
              </c:pt>
              <c:pt idx="1">
                <c:v>0.03421344301163768</c:v>
              </c:pt>
              <c:pt idx="2">
                <c:v>0.03972985965055546</c:v>
              </c:pt>
              <c:pt idx="3">
                <c:v>0.06254994784656089</c:v>
              </c:pt>
            </c:numLit>
          </c:val>
        </c:ser>
        <c:dLbls>
          <c:txPr>
            <a:bodyPr anchorCtr="1"/>
            <a:lstStyle/>
            <a:p>
              <a:pPr>
                <a:defRPr sz="630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Judicial/Precatórios/NPL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Multissetorial / Outros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N/D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Precatórios/direitos judiciais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57.21444631942</c:v>
              </c:pt>
              <c:pt idx="1">
                <c:v>75.18091207082001</c:v>
              </c:pt>
              <c:pt idx="2">
                <c:v>96.27626485922</c:v>
              </c:pt>
              <c:pt idx="3">
                <c:v>87.10801580486999</c:v>
              </c:pt>
            </c:numLit>
          </c:val>
        </c:ser>
        <c:ser>
          <c:idx val="1"/>
          <c:order val="1"/>
          <c:tx>
            <c:v>Multicarteira outros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44.084263345029996</c:v>
              </c:pt>
              <c:pt idx="1">
                <c:v>61.511643874069996</c:v>
              </c:pt>
              <c:pt idx="2">
                <c:v>82.85800641869</c:v>
              </c:pt>
              <c:pt idx="3">
                <c:v>56.85203580389</c:v>
              </c:pt>
            </c:numLit>
          </c:val>
        </c:ser>
        <c:ser>
          <c:idx val="2"/>
          <c:order val="2"/>
          <c:tx>
            <c:v>Não padronizado/NPL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12.81766511121</c:v>
              </c:pt>
              <c:pt idx="1">
                <c:v>19.887585673169998</c:v>
              </c:pt>
              <c:pt idx="2">
                <c:v>19.108072157170003</c:v>
              </c:pt>
              <c:pt idx="3">
                <c:v>20.27744779012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A5A9A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3.60215114882</c:v>
              </c:pt>
              <c:pt idx="1">
                <c:v>5.546925159850001</c:v>
              </c:pt>
              <c:pt idx="2">
                <c:v>8.202004988519999</c:v>
              </c:pt>
              <c:pt idx="3">
                <c:v>10.95850066705</c:v>
              </c:pt>
            </c:numLit>
          </c:val>
        </c:ser>
        <c:dLbls>
          <c:txPr>
            <a:bodyPr anchorCtr="1"/>
            <a:lstStyle/>
            <a:p>
              <a:pPr>
                <a:defRPr sz="630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22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Precatórios/direitos judiciais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0.4860275463874293</c:v>
              </c:pt>
              <c:pt idx="1">
                <c:v>0.46371598256204</c:v>
              </c:pt>
              <c:pt idx="2">
                <c:v>0.4663545676807398</c:v>
              </c:pt>
              <c:pt idx="3">
                <c:v>0.49720322251700605</c:v>
              </c:pt>
            </c:numLit>
          </c:val>
        </c:ser>
        <c:ser>
          <c:idx val="1"/>
          <c:order val="1"/>
          <c:tx>
            <c:v>Multicarteira outros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0.37448874761914186</c:v>
              </c:pt>
              <c:pt idx="1">
                <c:v>0.3794039150682459</c:v>
              </c:pt>
              <c:pt idx="2">
                <c:v>0.40135759128980814</c:v>
              </c:pt>
              <c:pt idx="3">
                <c:v>0.3245053299304514</c:v>
              </c:pt>
            </c:numLit>
          </c:val>
        </c:ser>
        <c:ser>
          <c:idx val="2"/>
          <c:order val="2"/>
          <c:tx>
            <c:v>Não padronizado/NPL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0.10888400963696164</c:v>
              </c:pt>
              <c:pt idx="1">
                <c:v>0.12266665935807644</c:v>
              </c:pt>
              <c:pt idx="2">
                <c:v>0.09255798137889655</c:v>
              </c:pt>
              <c:pt idx="3">
                <c:v>0.11574149970598166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A5A9A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0.0305996963564672</c:v>
              </c:pt>
              <c:pt idx="1">
                <c:v>0.03421344301163768</c:v>
              </c:pt>
              <c:pt idx="2">
                <c:v>0.03972985965055546</c:v>
              </c:pt>
              <c:pt idx="3">
                <c:v>0.06254994784656089</c:v>
              </c:pt>
            </c:numLit>
          </c:val>
        </c:ser>
        <c:dLbls>
          <c:txPr>
            <a:bodyPr anchorCtr="1"/>
            <a:lstStyle/>
            <a:p>
              <a:pPr>
                <a:defRPr sz="630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Precatórios/direitos judiciais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Multicarteira outros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Não padronizado/NPL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N/D</c:v>
          </c:tx>
          <c:spPr>
            <a:ln w="28575">
              <a:solidFill>
                <a:srgbClr val="A5A9A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EC7000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anchorCtr="1"/>
            <a:lstStyle/>
            <a:p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Original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5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>06/24</c:v>
              </c:pt>
              <c:pt idx="6">
                <c:v>07/24</c:v>
              </c:pt>
              <c:pt idx="7">
                <c:v/>
              </c:pt>
              <c:pt idx="8">
                <c:v>12/24</c:v>
              </c:pt>
              <c:pt idx="9">
                <c:v/>
              </c:pt>
              <c:pt idx="10">
                <c:v/>
              </c:pt>
              <c:pt idx="11">
                <c:v>09/25</c:v>
              </c:pt>
              <c:pt idx="12">
                <c:v/>
              </c:pt>
              <c:pt idx="13">
                <c:v/>
              </c:pt>
              <c:pt idx="14">
                <c:v>06/26</c:v>
              </c:pt>
            </c:strLit>
          </c:cat>
          <c:val>
            <c:numLit>
              <c:formatCode>0.0%</c:formatCode>
              <c:ptCount val="15"/>
              <c:pt idx="0">
                <c:v>0.0699308402198136</c:v>
              </c:pt>
              <c:pt idx="1">
                <c:v>0.0413858663474672</c:v>
              </c:pt>
              <c:pt idx="2">
                <c:v>0.054182184519671</c:v>
              </c:pt>
              <c:pt idx="3">
                <c:v>0.0505714352102012</c:v>
              </c:pt>
              <c:pt idx="4">
                <c:v>0.042351603441698</c:v>
              </c:pt>
              <c:pt idx="5">
                <c:v>0.0526925150205596</c:v>
              </c:pt>
              <c:pt idx="6">
                <c:v>0.044853704491093</c:v>
              </c:pt>
              <c:pt idx="7">
                <c:v>0.0450892919500813</c:v>
              </c:pt>
              <c:pt idx="8">
                <c:v>0.0426046633548847</c:v>
              </c:pt>
              <c:pt idx="9">
                <c:v>0.0429438146622243</c:v>
              </c:pt>
              <c:pt idx="10">
                <c:v>0.0434223533702834</c:v>
              </c:pt>
              <c:pt idx="11">
                <c:v>0.045821513745815</c:v>
              </c:pt>
              <c:pt idx="12">
                <c:v>0.0344698393971271</c:v>
              </c:pt>
              <c:pt idx="13">
                <c:v>0.0371508338701136</c:v>
              </c:pt>
              <c:pt idx="14">
                <c:v>0.0443052791285222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3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Original · inclui zeros no denominador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Ex-zeros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4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/>
              </c:pt>
              <c:pt idx="6">
                <c:v/>
              </c:pt>
              <c:pt idx="7">
                <c:v>12/24</c:v>
              </c:pt>
              <c:pt idx="8">
                <c:v/>
              </c:pt>
              <c:pt idx="9">
                <c:v/>
              </c:pt>
              <c:pt idx="10">
                <c:v/>
              </c:pt>
              <c:pt idx="11">
                <c:v>12/25</c:v>
              </c:pt>
              <c:pt idx="12">
                <c:v/>
              </c:pt>
              <c:pt idx="13">
                <c:v>06/26</c:v>
              </c:pt>
            </c:strLit>
          </c:cat>
          <c:val>
            <c:numLit>
              <c:formatCode>0.0%</c:formatCode>
              <c:ptCount val="14"/>
              <c:pt idx="0">
                <c:v>0.2783291289680555</c:v>
              </c:pt>
              <c:pt idx="1">
                <c:v>0.2077700326589613</c:v>
              </c:pt>
              <c:pt idx="2">
                <c:v>0.2428538731040054</c:v>
              </c:pt>
              <c:pt idx="3">
                <c:v>0.2255418250857552</c:v>
              </c:pt>
              <c:pt idx="4">
                <c:v>0.1869990785556627</c:v>
              </c:pt>
              <c:pt idx="5">
                <c:v>0.2064251881930608</c:v>
              </c:pt>
              <c:pt idx="6">
                <c:v>0.2003357975731442</c:v>
              </c:pt>
              <c:pt idx="7">
                <c:v>0.192391885697197</c:v>
              </c:pt>
              <c:pt idx="8">
                <c:v>0.1699260324814649</c:v>
              </c:pt>
              <c:pt idx="9">
                <c:v>0.1635302800243923</c:v>
              </c:pt>
              <c:pt idx="10">
                <c:v>0.1564418768603019</c:v>
              </c:pt>
              <c:pt idx="11">
                <c:v>0.1177679199516296</c:v>
              </c:pt>
              <c:pt idx="12">
                <c:v>0.1158555107970783</c:v>
              </c:pt>
              <c:pt idx="13">
                <c:v>0.1352132567320641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Ex-zeros · denominador restrito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Financeiro</c:v>
          </c:tx>
          <c:spPr>
            <a:ln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val>
        </c:ser>
        <c:ser>
          <c:idx val="1"/>
          <c:order val="1"/>
          <c:tx>
            <c:v>Cartão de crédito</c:v>
          </c:tx>
          <c:spPr>
            <a:ln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val>
        </c:ser>
        <c:ser>
          <c:idx val="2"/>
          <c:order val="2"/>
          <c:tx>
            <c:v>Comercial</c:v>
          </c:tx>
          <c:spPr>
            <a:ln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val>
        </c:ser>
        <c:ser>
          <c:idx val="3"/>
          <c:order val="3"/>
          <c:tx>
            <c:v>Industrial</c:v>
          </c:tx>
          <c:spPr>
            <a:ln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val>
        </c:ser>
        <c:ser>
          <c:idx val="4"/>
          <c:order val="4"/>
          <c:tx>
            <c:v>Serviços</c:v>
          </c:tx>
          <c:spPr>
            <a:ln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val>
        </c:ser>
        <c:ser>
          <c:idx val="5"/>
          <c:order val="5"/>
          <c:tx>
            <c:v>Setor público</c:v>
          </c:tx>
          <c:spPr>
            <a:ln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val>
        </c:ser>
        <c:ser>
          <c:idx val="6"/>
          <c:order val="6"/>
          <c:tx>
            <c:v>Ações judiciais</c:v>
          </c:tx>
          <c:spPr>
            <a:ln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val>
        </c:ser>
        <c:ser>
          <c:idx val="7"/>
          <c:order val="7"/>
          <c:tx>
            <c:v>Agronegócio</c:v>
          </c:tx>
          <c:spPr>
            <a:ln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val>
        </c:ser>
        <c:ser>
          <c:idx val="8"/>
          <c:order val="8"/>
          <c:tx>
            <c:v>Imobiliário</c:v>
          </c:tx>
          <c:spPr>
            <a:ln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val>
        </c:ser>
        <c:ser>
          <c:idx val="9"/>
          <c:order val="9"/>
          <c:tx>
            <c:v>Factoring</c:v>
          </c:tx>
          <c:spPr>
            <a:ln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1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Financeiro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Cartão de crédito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Comercial</c:v>
          </c:tx>
          <c:spPr>
            <a:ln w="28575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Industrial</c:v>
          </c:tx>
          <c:spPr>
            <a:ln w="28575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Serviços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Setor público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Ações judiciais</c:v>
          </c:tx>
          <c:spPr>
            <a:ln w="28575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7"/>
          <c:order val="7"/>
          <c:tx>
            <c:v>Agronegócio</c:v>
          </c:tx>
          <c:spPr>
            <a:ln w="28575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8"/>
          <c:order val="8"/>
          <c:tx>
            <c:v>Imobiliário</c:v>
          </c:tx>
          <c:spPr>
            <a:ln w="28575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9"/>
          <c:order val="9"/>
          <c:tx>
            <c:v>Factoring</c:v>
          </c:tx>
          <c:spPr>
            <a:ln w="28575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Dez/25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0.08750719631548647</c:v>
              </c:pt>
              <c:pt idx="1">
                <c:v>0.008347725964306276</c:v>
              </c:pt>
              <c:pt idx="2">
                <c:v>0.7979274611398963</c:v>
              </c:pt>
              <c:pt idx="3">
                <c:v>0.010938399539435808</c:v>
              </c:pt>
              <c:pt idx="4">
                <c:v>0.07800805987334485</c:v>
              </c:pt>
              <c:pt idx="5">
                <c:v>0.017271157167530225</c:v>
              </c:pt>
            </c:numLit>
          </c:val>
        </c:ser>
        <c:ser>
          <c:idx val="1"/>
          <c:order val="1"/>
          <c:tx>
            <c:v>% PL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0.4037434722952564</c:v>
              </c:pt>
              <c:pt idx="1">
                <c:v>0.028168082660790298</c:v>
              </c:pt>
              <c:pt idx="2">
                <c:v>0.5034898766811806</c:v>
              </c:pt>
              <c:pt idx="3">
                <c:v>0.009938672093068996</c:v>
              </c:pt>
              <c:pt idx="4">
                <c:v>0.04397605299923831</c:v>
              </c:pt>
              <c:pt idx="5">
                <c:v>0.01068384327046523</c:v>
              </c:pt>
            </c:numLit>
          </c:val>
        </c:ser>
        <c:dLbls>
          <c:txPr>
            <a:bodyPr anchorCtr="1"/>
            <a:lstStyle/>
            <a:p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60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5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6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6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6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6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6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6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6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>
              <a:srgbClr val="2456D6"/>
            </a:solidFill>
          </c:spPr>
          <c:dPt>
            <c:idx val="0"/>
            <c:invertIfNegative val="0"/>
            <c:spPr>
              <a:solidFill>
                <a:srgbClr val="2456D6"/>
              </a:solidFill>
            </c:spPr>
          </c:dPt>
          <c:dPt>
            <c:idx val="1"/>
            <c:invertIfNegative val="0"/>
            <c:spPr>
              <a:solidFill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78.54784980481001</c:v>
              </c:pt>
              <c:pt idx="1">
                <c:v>3.5498953478999997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6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>
              <a:srgbClr val="1D4080"/>
            </a:solidFill>
          </c:spPr>
          <c:dPt>
            <c:idx val="0"/>
            <c:invertIfNegative val="0"/>
            <c:spPr>
              <a:solidFill>
                <a:srgbClr val="1D408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78.74983410723001</c:v>
              </c:pt>
              <c:pt idx="1">
                <c:v>39.85656848075</c:v>
              </c:pt>
              <c:pt idx="2">
                <c:v>27.472806819580025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0.1066683132552709</c:v>
              </c:pt>
              <c:pt idx="1">
                <c:v>0.6780374078873521</c:v>
              </c:pt>
              <c:pt idx="2">
                <c:v>0.0450938092637845</c:v>
              </c:pt>
              <c:pt idx="3">
                <c:v>0.0386225339563617</c:v>
              </c:pt>
              <c:pt idx="4">
                <c:v>0.0601154535063119</c:v>
              </c:pt>
              <c:pt idx="5">
                <c:v>0.1195677142090943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0.1120532824108026</c:v>
              </c:pt>
              <c:pt idx="1">
                <c:v>0.0085503744360448</c:v>
              </c:pt>
              <c:pt idx="2">
                <c:v>0.2571654070720304</c:v>
              </c:pt>
              <c:pt idx="3">
                <c:v>0.1116173968258083</c:v>
              </c:pt>
              <c:pt idx="4">
                <c:v>0.3100537944263434</c:v>
              </c:pt>
              <c:pt idx="5">
                <c:v>0.329026483922805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0.0159546999209434</c:v>
              </c:pt>
              <c:pt idx="1">
                <c:v>0.0096439192733458</c:v>
              </c:pt>
              <c:pt idx="2">
                <c:v>0.0718716845273516</c:v>
              </c:pt>
              <c:pt idx="3">
                <c:v>0.0752568617813482</c:v>
              </c:pt>
              <c:pt idx="4">
                <c:v>0.2745498045582434</c:v>
              </c:pt>
              <c:pt idx="5">
                <c:v>0.3095513401091928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0.0664047909997442</c:v>
              </c:pt>
              <c:pt idx="1">
                <c:v>0.0225737075683095</c:v>
              </c:pt>
              <c:pt idx="2">
                <c:v>0.1478667482986454</c:v>
              </c:pt>
              <c:pt idx="3">
                <c:v>0.1405246717383737</c:v>
              </c:pt>
              <c:pt idx="4">
                <c:v>0</c:v>
              </c:pt>
              <c:pt idx="5">
                <c:v>5.078424539045932E-05</c:v>
              </c:pt>
            </c:numLit>
          </c:val>
        </c:ser>
        <c:ser>
          <c:idx val="4"/>
          <c:order val="4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0.0739161589232527</c:v>
              </c:pt>
              <c:pt idx="1">
                <c:v>0.0061093994544608</c:v>
              </c:pt>
              <c:pt idx="2">
                <c:v>0.0121996377120526</c:v>
              </c:pt>
              <c:pt idx="3">
                <c:v>0.154371594289211</c:v>
              </c:pt>
              <c:pt idx="4">
                <c:v>0.1086735006813176</c:v>
              </c:pt>
              <c:pt idx="5">
                <c:v>0.0468555856415116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077928973362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0.0361416823785129</c:v>
              </c:pt>
              <c:pt idx="1">
                <c:v>0.0014312872138718</c:v>
              </c:pt>
              <c:pt idx="2">
                <c:v>0.0938211651306432</c:v>
              </c:pt>
              <c:pt idx="3">
                <c:v>0.1276557852928057</c:v>
              </c:pt>
              <c:pt idx="4">
                <c:v>0.1654990195859853</c:v>
              </c:pt>
              <c:pt idx="5">
                <c:v>0.0097477034772395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114968525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0.0742536557052461</c:v>
              </c:pt>
              <c:pt idx="1">
                <c:v>0.009351213961542</c:v>
              </c:pt>
              <c:pt idx="2">
                <c:v>0.0435322365450096</c:v>
              </c:pt>
              <c:pt idx="3">
                <c:v>0.0006667200380263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0.0459901209011351</c:v>
              </c:pt>
              <c:pt idx="1">
                <c:v>0.0306241295648938</c:v>
              </c:pt>
              <c:pt idx="2">
                <c:v>0.0377896853506274</c:v>
              </c:pt>
              <c:pt idx="3">
                <c:v>0</c:v>
              </c:pt>
              <c:pt idx="4">
                <c:v>0.0033275886978607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0.0300252497873909</c:v>
              </c:pt>
              <c:pt idx="1">
                <c:v>0.0042810931955681</c:v>
              </c:pt>
              <c:pt idx="2">
                <c:v>0.0026200048135162</c:v>
              </c:pt>
              <c:pt idx="3">
                <c:v>0.083000928728361</c:v>
              </c:pt>
              <c:pt idx="4">
                <c:v>0.0005602069351544</c:v>
              </c:pt>
              <c:pt idx="5">
                <c:v>0.0084793823843462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0.0309844448386158</c:v>
              </c:pt>
              <c:pt idx="1">
                <c:v>0.0407964514306597</c:v>
              </c:pt>
              <c:pt idx="2">
                <c:v>0.041430326101634</c:v>
              </c:pt>
              <c:pt idx="3">
                <c:v>0.0164707409840565</c:v>
              </c:pt>
              <c:pt idx="4">
                <c:v>0.0072222556761359</c:v>
              </c:pt>
              <c:pt idx="5">
                <c:v>0.0545626354641551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0.4076076008790848</c:v>
              </c:pt>
              <c:pt idx="1">
                <c:v>0.1886010160139509</c:v>
              </c:pt>
              <c:pt idx="2">
                <c:v>0.2466092951847047</c:v>
              </c:pt>
              <c:pt idx="3">
                <c:v>0.2518127663656469</c:v>
              </c:pt>
              <c:pt idx="4">
                <c:v>0.0699983759326473</c:v>
              </c:pt>
              <c:pt idx="5">
                <c:v>0.1221583705462649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27513555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0.0590108225910906</c:v>
              </c:pt>
              <c:pt idx="1">
                <c:v>0.0012544972890554</c:v>
              </c:pt>
              <c:pt idx="2">
                <c:v>0.2535264495160129</c:v>
              </c:pt>
              <c:pt idx="3">
                <c:v>0.0466047888669917</c:v>
              </c:pt>
              <c:pt idx="4">
                <c:v>0.2986715025135104</c:v>
              </c:pt>
              <c:pt idx="5">
                <c:v>0.3244115048022671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586489267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0.0539103235200838</c:v>
              </c:pt>
              <c:pt idx="1">
                <c:v>0.0225737075683095</c:v>
              </c:pt>
              <c:pt idx="2">
                <c:v>0.0909821352025632</c:v>
              </c:pt>
              <c:pt idx="3">
                <c:v>0.1381589074620594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0.0023244938897661</c:v>
              </c:pt>
              <c:pt idx="1">
                <c:v>0.000707536298446</c:v>
              </c:pt>
              <c:pt idx="2">
                <c:v>0.0510761668947442</c:v>
              </c:pt>
              <c:pt idx="3">
                <c:v>0.0485084245323154</c:v>
              </c:pt>
              <c:pt idx="4">
                <c:v>0.2097436548454993</c:v>
              </c:pt>
              <c:pt idx="5">
                <c:v>0.225968430808428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0.0260715339983783</c:v>
              </c:pt>
              <c:pt idx="1">
                <c:v>0</c:v>
              </c:pt>
              <c:pt idx="2">
                <c:v>0.0733873168779346</c:v>
              </c:pt>
              <c:pt idx="3">
                <c:v>0.1089798874755172</c:v>
              </c:pt>
              <c:pt idx="4">
                <c:v>0.1020586894705166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0.0054539217325707</c:v>
              </c:pt>
              <c:pt idx="1">
                <c:v>0.225836159196146</c:v>
              </c:pt>
              <c:pt idx="2">
                <c:v>0.0044598510745928</c:v>
              </c:pt>
              <c:pt idx="3">
                <c:v>0.0024666715198365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0.0520806153849847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0.0143606055085528</c:v>
              </c:pt>
              <c:pt idx="1">
                <c:v>0</c:v>
              </c:pt>
              <c:pt idx="2">
                <c:v>0.0921407401194705</c:v>
              </c:pt>
              <c:pt idx="3">
                <c:v>0.0070763788847018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0.0066179364492227</c:v>
              </c:pt>
              <c:pt idx="1">
                <c:v>0.0058403418001601</c:v>
              </c:pt>
              <c:pt idx="2">
                <c:v>0.072361729110744</c:v>
              </c:pt>
              <c:pt idx="3">
                <c:v>0.0067564525290011</c:v>
              </c:pt>
              <c:pt idx="4">
                <c:v>0.0021939819563892</c:v>
              </c:pt>
              <c:pt idx="5">
                <c:v>0.0060055973478815</c:v>
              </c:pt>
            </c:numLit>
          </c:val>
        </c:ser>
        <c:ser>
          <c:idx val="8"/>
          <c:order val="8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0.0096536283781675</c:v>
              </c:pt>
              <c:pt idx="1">
                <c:v>0.0031260435445994</c:v>
              </c:pt>
              <c:pt idx="2">
                <c:v>0.0018544989739266</c:v>
              </c:pt>
              <c:pt idx="3">
                <c:v>0.0640015366622346</c:v>
              </c:pt>
              <c:pt idx="4">
                <c:v>0.1079290738212605</c:v>
              </c:pt>
              <c:pt idx="5">
                <c:v>0.00909015108798</c:v>
              </c:pt>
            </c:numLit>
          </c:val>
        </c:ser>
        <c:ser>
          <c:idx val="9"/>
          <c:order val="9"/>
          <c:tx>
            <c:v>Vert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5"/>
                  <c:y val="0.0077068761519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0.0076825125327544</c:v>
              </c:pt>
              <c:pt idx="1">
                <c:v>0</c:v>
              </c:pt>
              <c:pt idx="2">
                <c:v>0.0171315163168958</c:v>
              </c:pt>
              <c:pt idx="3">
                <c:v>0.0756829012842346</c:v>
              </c:pt>
              <c:pt idx="4">
                <c:v>0.0246123150927712</c:v>
              </c:pt>
              <c:pt idx="5">
                <c:v>0.0277084511123573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0.7623576496416468</c:v>
              </c:pt>
              <c:pt idx="1">
                <c:v>0.7398838494445065</c:v>
              </c:pt>
              <c:pt idx="2">
                <c:v>0.3219766829932506</c:v>
              </c:pt>
              <c:pt idx="3">
                <c:v>0.501764050783107</c:v>
              </c:pt>
              <c:pt idx="4">
                <c:v>0.2547907823000527</c:v>
              </c:pt>
              <c:pt idx="5">
                <c:v>0.4067650805956955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976202181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06757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0.0004759563727812</c:v>
              </c:pt>
              <c:pt idx="1">
                <c:v>0.0007778648587768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5.078424539045932E-05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0.1060816611755285</c:v>
              </c:pt>
              <c:pt idx="1">
                <c:v>0.6770530491958513</c:v>
              </c:pt>
              <c:pt idx="2">
                <c:v>0.0451499232981444</c:v>
              </c:pt>
              <c:pt idx="3">
                <c:v>0.0385939734534043</c:v>
              </c:pt>
              <c:pt idx="4">
                <c:v>0.0541478382338885</c:v>
              </c:pt>
              <c:pt idx="5">
                <c:v>0.1189043638793473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0.1114653528864435</c:v>
              </c:pt>
              <c:pt idx="1">
                <c:v>0.0027100326358847</c:v>
              </c:pt>
              <c:pt idx="2">
                <c:v>0.2571654070720304</c:v>
              </c:pt>
              <c:pt idx="3">
                <c:v>0.1116173968258083</c:v>
              </c:pt>
              <c:pt idx="4">
                <c:v>0.3100537944263434</c:v>
              </c:pt>
              <c:pt idx="5">
                <c:v>0.329026483922805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0.0367985434820997</c:v>
              </c:pt>
              <c:pt idx="1">
                <c:v>0.0271777649130833</c:v>
              </c:pt>
              <c:pt idx="2">
                <c:v>0.1734502780656785</c:v>
              </c:pt>
              <c:pt idx="3">
                <c:v>0.0752568617813482</c:v>
              </c:pt>
              <c:pt idx="4">
                <c:v>0.2754246803503517</c:v>
              </c:pt>
              <c:pt idx="5">
                <c:v>0.3103361231533156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0.0810507396212834</c:v>
              </c:pt>
              <c:pt idx="1">
                <c:v>0.0061093994544608</c:v>
              </c:pt>
              <c:pt idx="2">
                <c:v>0.0338901250913308</c:v>
              </c:pt>
              <c:pt idx="3">
                <c:v>0.1630851758633726</c:v>
              </c:pt>
              <c:pt idx="4">
                <c:v>0.1086735006813176</c:v>
              </c:pt>
              <c:pt idx="5">
                <c:v>0.0468555856415116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0.0664047909997442</c:v>
              </c:pt>
              <c:pt idx="1">
                <c:v>0.0171048396238314</c:v>
              </c:pt>
              <c:pt idx="2">
                <c:v>0.1117385096852637</c:v>
              </c:pt>
              <c:pt idx="3">
                <c:v>0.1401631050460977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0.0361416823785129</c:v>
              </c:pt>
              <c:pt idx="1">
                <c:v>0.0014312872138718</c:v>
              </c:pt>
              <c:pt idx="2">
                <c:v>0.0924387555066889</c:v>
              </c:pt>
              <c:pt idx="3">
                <c:v>0.1276557852928057</c:v>
              </c:pt>
              <c:pt idx="4">
                <c:v>0.1491507045686744</c:v>
              </c:pt>
              <c:pt idx="5">
                <c:v>0.0097477034772395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16663210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0.0903093022047325</c:v>
              </c:pt>
              <c:pt idx="1">
                <c:v>0.0001850204499402</c:v>
              </c:pt>
              <c:pt idx="2">
                <c:v>1.9023858238375103E-05</c:v>
              </c:pt>
              <c:pt idx="3">
                <c:v>0.0008686720725941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0.0459901209011351</c:v>
              </c:pt>
              <c:pt idx="1">
                <c:v>0.0306241295648938</c:v>
              </c:pt>
              <c:pt idx="2">
                <c:v>0.0377896853506274</c:v>
              </c:pt>
              <c:pt idx="3">
                <c:v>0</c:v>
              </c:pt>
              <c:pt idx="4">
                <c:v>0.0033275886978607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0.0300252497873909</c:v>
              </c:pt>
              <c:pt idx="1">
                <c:v>0.0042810931955681</c:v>
              </c:pt>
              <c:pt idx="2">
                <c:v>0.0026200048135162</c:v>
              </c:pt>
              <c:pt idx="3">
                <c:v>0.083000928728361</c:v>
              </c:pt>
              <c:pt idx="4">
                <c:v>0.0005602069351544</c:v>
              </c:pt>
              <c:pt idx="5">
                <c:v>0.0084793823843462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0.0309844448386158</c:v>
              </c:pt>
              <c:pt idx="1">
                <c:v>0.0407964514306597</c:v>
              </c:pt>
              <c:pt idx="2">
                <c:v>0.041430326101634</c:v>
              </c:pt>
              <c:pt idx="3">
                <c:v>0.0164707409840565</c:v>
              </c:pt>
              <c:pt idx="4">
                <c:v>0.0072222556761359</c:v>
              </c:pt>
              <c:pt idx="5">
                <c:v>0.0545626354641551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0.3617418572811671</c:v>
              </c:pt>
              <c:pt idx="1">
                <c:v>0.1791471446090743</c:v>
              </c:pt>
              <c:pt idx="2">
                <c:v>0.1363201387026671</c:v>
              </c:pt>
              <c:pt idx="3">
                <c:v>0.2415044257866422</c:v>
              </c:pt>
              <c:pt idx="4">
                <c:v>0.0913300746244787</c:v>
              </c:pt>
              <c:pt idx="5">
                <c:v>0.1220369378318891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8496872778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-0.01331010614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-0.019108532917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-0.019945322097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0.0030062544433458</c:v>
              </c:pt>
              <c:pt idx="1">
                <c:v>0.01337978771288</c:v>
              </c:pt>
              <c:pt idx="2">
                <c:v>0.0679878224541797</c:v>
              </c:pt>
              <c:pt idx="3">
                <c:v>0.0017829341655087</c:v>
              </c:pt>
              <c:pt idx="4">
                <c:v>0.0001093558057945</c:v>
              </c:pt>
              <c:pt idx="5">
                <c:v>5.078424539045932E-05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0.6780374078873521</c:v>
              </c:pt>
              <c:pt idx="1">
                <c:v>0.2831240514453489</c:v>
              </c:pt>
              <c:pt idx="2">
                <c:v>0.1195677142090943</c:v>
              </c:pt>
              <c:pt idx="3">
                <c:v>0.0601154535063119</c:v>
              </c:pt>
              <c:pt idx="4">
                <c:v>0.0691691486679832</c:v>
              </c:pt>
              <c:pt idx="5">
                <c:v>0.0386225339563617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0.2341766306085763</c:v>
              </c:pt>
              <c:pt idx="10">
                <c:v>0.0938343705874847</c:v>
              </c:pt>
              <c:pt idx="11">
                <c:v>0.047461700755008</c:v>
              </c:pt>
              <c:pt idx="12">
                <c:v>0.1921534469112786</c:v>
              </c:pt>
              <c:pt idx="13">
                <c:v>0.1066683132552709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0.0085503744360448</c:v>
              </c:pt>
              <c:pt idx="1">
                <c:v>0</c:v>
              </c:pt>
              <c:pt idx="2">
                <c:v>0.329026483922805</c:v>
              </c:pt>
              <c:pt idx="3">
                <c:v>0.3100537944263434</c:v>
              </c:pt>
              <c:pt idx="4">
                <c:v>0.0195092264928632</c:v>
              </c:pt>
              <c:pt idx="5">
                <c:v>0.1116173968258083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0.0475478553682616</c:v>
              </c:pt>
              <c:pt idx="10">
                <c:v>0.0359485122702214</c:v>
              </c:pt>
              <c:pt idx="11">
                <c:v>0.0391891853745964</c:v>
              </c:pt>
              <c:pt idx="12">
                <c:v>0.2677271171288394</c:v>
              </c:pt>
              <c:pt idx="13">
                <c:v>0.1120532824108026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0.0096439192733458</c:v>
              </c:pt>
              <c:pt idx="1">
                <c:v>0.210187707644898</c:v>
              </c:pt>
              <c:pt idx="2">
                <c:v>0.3095513401091928</c:v>
              </c:pt>
              <c:pt idx="3">
                <c:v>0.2745498045582434</c:v>
              </c:pt>
              <c:pt idx="4">
                <c:v>0</c:v>
              </c:pt>
              <c:pt idx="5">
                <c:v>0.0752568617813482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0.0277284100091508</c:v>
              </c:pt>
              <c:pt idx="10">
                <c:v>0.1048435351822844</c:v>
              </c:pt>
              <c:pt idx="11">
                <c:v>0</c:v>
              </c:pt>
              <c:pt idx="12">
                <c:v>0.0545875722164988</c:v>
              </c:pt>
              <c:pt idx="13">
                <c:v>0.0159546999209434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0.0225737075683095</c:v>
              </c:pt>
              <c:pt idx="1">
                <c:v>0</c:v>
              </c:pt>
              <c:pt idx="2">
                <c:v>5.078424539045932E-05</c:v>
              </c:pt>
              <c:pt idx="3">
                <c:v>0</c:v>
              </c:pt>
              <c:pt idx="4">
                <c:v>0.4931230015075811</c:v>
              </c:pt>
              <c:pt idx="5">
                <c:v>0.1405246717383737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0.030202748255815</c:v>
              </c:pt>
              <c:pt idx="11">
                <c:v>0.0012398372140533</c:v>
              </c:pt>
              <c:pt idx="12">
                <c:v>0.0091785749917042</c:v>
              </c:pt>
              <c:pt idx="13">
                <c:v>0.0664047909997442</c:v>
              </c:pt>
            </c:numLit>
          </c:val>
        </c:ser>
        <c:ser>
          <c:idx val="4"/>
          <c:order val="4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0.0061093994544608</c:v>
              </c:pt>
              <c:pt idx="1">
                <c:v>0.0314129103166631</c:v>
              </c:pt>
              <c:pt idx="2">
                <c:v>0.0468555856415116</c:v>
              </c:pt>
              <c:pt idx="3">
                <c:v>0.1086735006813176</c:v>
              </c:pt>
              <c:pt idx="4">
                <c:v>0.0518572977986845</c:v>
              </c:pt>
              <c:pt idx="5">
                <c:v>0.154371594289211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0.2266926452455743</c:v>
              </c:pt>
              <c:pt idx="10">
                <c:v>0.0869995382538734</c:v>
              </c:pt>
              <c:pt idx="11">
                <c:v>0.0776345555628621</c:v>
              </c:pt>
              <c:pt idx="12">
                <c:v>0.0575015112254482</c:v>
              </c:pt>
              <c:pt idx="13">
                <c:v>0.0739161589232527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.00077928973362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0.0014312872138718</c:v>
              </c:pt>
              <c:pt idx="1">
                <c:v>0.0954434490174933</c:v>
              </c:pt>
              <c:pt idx="2">
                <c:v>0.0097477034772395</c:v>
              </c:pt>
              <c:pt idx="3">
                <c:v>0.1654990195859853</c:v>
              </c:pt>
              <c:pt idx="4">
                <c:v>0</c:v>
              </c:pt>
              <c:pt idx="5">
                <c:v>0.1276557852928057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0.0820369155053609</c:v>
              </c:pt>
              <c:pt idx="10">
                <c:v>0.0528221057001042</c:v>
              </c:pt>
              <c:pt idx="11">
                <c:v>0.0163854917397486</c:v>
              </c:pt>
              <c:pt idx="12">
                <c:v>0.0152240169331472</c:v>
              </c:pt>
              <c:pt idx="13">
                <c:v>0.0361416823785129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114968525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0.009351213961542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0.0006667200380263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0.1048401292676651</c:v>
              </c:pt>
              <c:pt idx="10">
                <c:v>0</c:v>
              </c:pt>
              <c:pt idx="11">
                <c:v>0</c:v>
              </c:pt>
              <c:pt idx="12">
                <c:v>0.0200559671402099</c:v>
              </c:pt>
              <c:pt idx="13">
                <c:v>0.0742536557052461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0.0306241295648938</c:v>
              </c:pt>
              <c:pt idx="1">
                <c:v>0.0011602353362383</c:v>
              </c:pt>
              <c:pt idx="2">
                <c:v>0</c:v>
              </c:pt>
              <c:pt idx="3">
                <c:v>0.0033275886978607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0.1224133217160561</c:v>
              </c:pt>
              <c:pt idx="10">
                <c:v>0.1782645570212849</c:v>
              </c:pt>
              <c:pt idx="11">
                <c:v>0</c:v>
              </c:pt>
              <c:pt idx="12">
                <c:v>0</c:v>
              </c:pt>
              <c:pt idx="13">
                <c:v>0.0459901209011351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0.0042810931955681</c:v>
              </c:pt>
              <c:pt idx="1">
                <c:v>0.0719893561435586</c:v>
              </c:pt>
              <c:pt idx="2">
                <c:v>0.0084793823843462</c:v>
              </c:pt>
              <c:pt idx="3">
                <c:v>0.0005602069351544</c:v>
              </c:pt>
              <c:pt idx="4">
                <c:v>0.0013353036335097</c:v>
              </c:pt>
              <c:pt idx="5">
                <c:v>0.083000928728361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0.008631507065985</c:v>
              </c:pt>
              <c:pt idx="10">
                <c:v>0.036073752560953</c:v>
              </c:pt>
              <c:pt idx="11">
                <c:v>0.1336611364549201</c:v>
              </c:pt>
              <c:pt idx="12">
                <c:v>0.0895637015601722</c:v>
              </c:pt>
              <c:pt idx="13">
                <c:v>0.0300252497873909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0.0407964514306597</c:v>
              </c:pt>
              <c:pt idx="1">
                <c:v>0.0052736633265841</c:v>
              </c:pt>
              <c:pt idx="2">
                <c:v>0.0545626354641551</c:v>
              </c:pt>
              <c:pt idx="3">
                <c:v>0.0072222556761359</c:v>
              </c:pt>
              <c:pt idx="4">
                <c:v>0</c:v>
              </c:pt>
              <c:pt idx="5">
                <c:v>0.0164707409840565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0.0901420073589613</c:v>
              </c:pt>
              <c:pt idx="11">
                <c:v>0.00025111895442</c:v>
              </c:pt>
              <c:pt idx="12">
                <c:v>0.0006781010642338</c:v>
              </c:pt>
              <c:pt idx="13">
                <c:v>0.0309844448386158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0.1886010160139509</c:v>
              </c:pt>
              <c:pt idx="1">
                <c:v>0.1786693066876506</c:v>
              </c:pt>
              <c:pt idx="2">
                <c:v>0.1221583705462649</c:v>
              </c:pt>
              <c:pt idx="3">
                <c:v>0.0699983759326473</c:v>
              </c:pt>
              <c:pt idx="4">
                <c:v>0.3650060218993778</c:v>
              </c:pt>
              <c:pt idx="5">
                <c:v>0.2518127663656469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0.1459325852133698</c:v>
              </c:pt>
              <c:pt idx="10">
                <c:v>0.2908688728090172</c:v>
              </c:pt>
              <c:pt idx="11">
                <c:v>0.684176973944391</c:v>
              </c:pt>
              <c:pt idx="12">
                <c:v>0.2933299908284671</c:v>
              </c:pt>
              <c:pt idx="13">
                <c:v>0.4076076008790848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27513555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168068337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492100975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0.0012544972890554</c:v>
              </c:pt>
              <c:pt idx="1">
                <c:v>0</c:v>
              </c:pt>
              <c:pt idx="2">
                <c:v>0.3244115048022671</c:v>
              </c:pt>
              <c:pt idx="3">
                <c:v>0.2986715025135104</c:v>
              </c:pt>
              <c:pt idx="4">
                <c:v>0</c:v>
              </c:pt>
              <c:pt idx="5">
                <c:v>0.0466047888669917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0.0116638633241573</c:v>
              </c:pt>
              <c:pt idx="10">
                <c:v>0.0321550079189741</c:v>
              </c:pt>
              <c:pt idx="11">
                <c:v>0.0049015798050811</c:v>
              </c:pt>
              <c:pt idx="12">
                <c:v>0.0743899443354166</c:v>
              </c:pt>
              <c:pt idx="13">
                <c:v>0.0590108225910906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586489267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0.0225737075683095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0.1381589074620594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0.030202748255815</c:v>
              </c:pt>
              <c:pt idx="11">
                <c:v>0</c:v>
              </c:pt>
              <c:pt idx="12">
                <c:v>0.0091785749917042</c:v>
              </c:pt>
              <c:pt idx="13">
                <c:v>0.0539103235200838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68072383482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0.000707536298446</c:v>
              </c:pt>
              <c:pt idx="1">
                <c:v>0.0399878754183617</c:v>
              </c:pt>
              <c:pt idx="2">
                <c:v>0.225968430808428</c:v>
              </c:pt>
              <c:pt idx="3">
                <c:v>0.2097436548454993</c:v>
              </c:pt>
              <c:pt idx="4">
                <c:v>0</c:v>
              </c:pt>
              <c:pt idx="5">
                <c:v>0.0485084245323154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0.0030577966551261</c:v>
              </c:pt>
              <c:pt idx="10">
                <c:v>0.0092187928454459</c:v>
              </c:pt>
              <c:pt idx="11">
                <c:v>0</c:v>
              </c:pt>
              <c:pt idx="12">
                <c:v>0.032696081072156</c:v>
              </c:pt>
              <c:pt idx="13">
                <c:v>0.0023244938897661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2460026596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0.1020586894705166</c:v>
              </c:pt>
              <c:pt idx="4">
                <c:v>0</c:v>
              </c:pt>
              <c:pt idx="5">
                <c:v>0.1089798874755172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0.0056366268484621</c:v>
              </c:pt>
              <c:pt idx="10">
                <c:v>0</c:v>
              </c:pt>
              <c:pt idx="11">
                <c:v>0</c:v>
              </c:pt>
              <c:pt idx="12">
                <c:v>0.0014362132724142</c:v>
              </c:pt>
              <c:pt idx="13">
                <c:v>0.0260715339983783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0.225836159196146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0.0024666715198365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0.0118320374611894</c:v>
              </c:pt>
              <c:pt idx="11">
                <c:v>0</c:v>
              </c:pt>
              <c:pt idx="12">
                <c:v>0</c:v>
              </c:pt>
              <c:pt idx="13">
                <c:v>0.0054539217325707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0.1038493352338825</c:v>
              </c:pt>
              <c:pt idx="10">
                <c:v>0</c:v>
              </c:pt>
              <c:pt idx="11">
                <c:v>0</c:v>
              </c:pt>
              <c:pt idx="12">
                <c:v>0.0265100735229734</c:v>
              </c:pt>
              <c:pt idx="13">
                <c:v>0.0520806153849847</c:v>
              </c:pt>
            </c:numLit>
          </c:val>
        </c:ser>
        <c:ser>
          <c:idx val="6"/>
          <c:order val="6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0.0070763788847018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0.0113664565212586</c:v>
              </c:pt>
              <c:pt idx="11">
                <c:v>0</c:v>
              </c:pt>
              <c:pt idx="12">
                <c:v>0.065781849685817</c:v>
              </c:pt>
              <c:pt idx="13">
                <c:v>0.0143606055085528</c:v>
              </c:pt>
            </c:numLit>
          </c:val>
        </c:ser>
        <c:ser>
          <c:idx val="7"/>
          <c:order val="7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0.0058403418001601</c:v>
              </c:pt>
              <c:pt idx="1">
                <c:v>0</c:v>
              </c:pt>
              <c:pt idx="2">
                <c:v>0.0060055973478815</c:v>
              </c:pt>
              <c:pt idx="3">
                <c:v>0.0021939819563892</c:v>
              </c:pt>
              <c:pt idx="4">
                <c:v>0.3970784801516897</c:v>
              </c:pt>
              <c:pt idx="5">
                <c:v>0.0067564525290011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0.0066179364492227</c:v>
              </c:pt>
            </c:numLit>
          </c:val>
        </c:ser>
        <c:ser>
          <c:idx val="8"/>
          <c:order val="8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0.0031260435445994</c:v>
              </c:pt>
              <c:pt idx="1">
                <c:v>0</c:v>
              </c:pt>
              <c:pt idx="2">
                <c:v>0.00909015108798</c:v>
              </c:pt>
              <c:pt idx="3">
                <c:v>0.1079290738212605</c:v>
              </c:pt>
              <c:pt idx="4">
                <c:v>0.0012378025558711</c:v>
              </c:pt>
              <c:pt idx="5">
                <c:v>0.0640015366622346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0.0096536283781675</c:v>
              </c:pt>
            </c:numLit>
          </c:val>
        </c:ser>
        <c:ser>
          <c:idx val="9"/>
          <c:order val="9"/>
          <c:tx>
            <c:v>Vert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7152008197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.0077068761519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6.209833998237208E-06</c:v>
              </c:pt>
              <c:pt idx="2">
                <c:v>0.0277084511123573</c:v>
              </c:pt>
              <c:pt idx="3">
                <c:v>0.0246123150927712</c:v>
              </c:pt>
              <c:pt idx="4">
                <c:v>9.750107763857756E-05</c:v>
              </c:pt>
              <c:pt idx="5">
                <c:v>0.0756829012842346</c:v>
              </c:pt>
              <c:pt idx="6">
                <c:v>0.281882290947362</c:v>
              </c:pt>
              <c:pt idx="7">
                <c:v>0.0171315163168958</c:v>
              </c:pt>
              <c:pt idx="8">
                <c:v>0</c:v>
              </c:pt>
              <c:pt idx="9">
                <c:v>0.0121655703584055</c:v>
              </c:pt>
              <c:pt idx="10">
                <c:v>8.020279380883732E-05</c:v>
              </c:pt>
              <c:pt idx="11">
                <c:v>0</c:v>
              </c:pt>
              <c:pt idx="12">
                <c:v>0.0003733935014402</c:v>
              </c:pt>
              <c:pt idx="13">
                <c:v>0.0076825125327544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0.7398838494445065</c:v>
              </c:pt>
              <c:pt idx="1">
                <c:v>0.7576069089174863</c:v>
              </c:pt>
              <c:pt idx="2">
                <c:v>0.4067650805956955</c:v>
              </c:pt>
              <c:pt idx="3">
                <c:v>0.2547907823000527</c:v>
              </c:pt>
              <c:pt idx="4">
                <c:v>0.1899665400771194</c:v>
              </c:pt>
              <c:pt idx="5">
                <c:v>0.501764050783107</c:v>
              </c:pt>
              <c:pt idx="6">
                <c:v>0.5102680265524613</c:v>
              </c:pt>
              <c:pt idx="7">
                <c:v>0.3219766829932506</c:v>
              </c:pt>
              <c:pt idx="8">
                <c:v>0.7346221556246539</c:v>
              </c:pt>
              <c:pt idx="9">
                <c:v>0.7841308564058382</c:v>
              </c:pt>
              <c:pt idx="10">
                <c:v>0.905144754203508</c:v>
              </c:pt>
              <c:pt idx="11">
                <c:v>0.9950984201949188</c:v>
              </c:pt>
              <c:pt idx="12">
                <c:v>0.7896338696180781</c:v>
              </c:pt>
              <c:pt idx="13">
                <c:v>0.7623576496416468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06757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976202181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0.0007778648587768</c:v>
              </c:pt>
              <c:pt idx="1">
                <c:v>0</c:v>
              </c:pt>
              <c:pt idx="2">
                <c:v>5.078424539045932E-05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0.0794959511741282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0.0004759563727812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0.6770530491958513</c:v>
              </c:pt>
              <c:pt idx="1">
                <c:v>0.2831240514453489</c:v>
              </c:pt>
              <c:pt idx="2">
                <c:v>0.1189043638793473</c:v>
              </c:pt>
              <c:pt idx="3">
                <c:v>0.0541478382338885</c:v>
              </c:pt>
              <c:pt idx="4">
                <c:v>0.0691691486679832</c:v>
              </c:pt>
              <c:pt idx="5">
                <c:v>0.0385939734534043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0.1562451470738617</c:v>
              </c:pt>
              <c:pt idx="10">
                <c:v>0.0938343705874847</c:v>
              </c:pt>
              <c:pt idx="11">
                <c:v>0.047461700755008</c:v>
              </c:pt>
              <c:pt idx="12">
                <c:v>0.1921534469112786</c:v>
              </c:pt>
              <c:pt idx="13">
                <c:v>0.1060816611755285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0.0027100326358847</c:v>
              </c:pt>
              <c:pt idx="1">
                <c:v>0</c:v>
              </c:pt>
              <c:pt idx="2">
                <c:v>0.329026483922805</c:v>
              </c:pt>
              <c:pt idx="3">
                <c:v>0.3100537944263434</c:v>
              </c:pt>
              <c:pt idx="4">
                <c:v>0.0195092264928632</c:v>
              </c:pt>
              <c:pt idx="5">
                <c:v>0.1116173968258083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0.0475478553682616</c:v>
              </c:pt>
              <c:pt idx="10">
                <c:v>0.0359485122702214</c:v>
              </c:pt>
              <c:pt idx="11">
                <c:v>0.0391891853745964</c:v>
              </c:pt>
              <c:pt idx="12">
                <c:v>0.2677271171288394</c:v>
              </c:pt>
              <c:pt idx="13">
                <c:v>0.1114653528864435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0.0271777649130833</c:v>
              </c:pt>
              <c:pt idx="1">
                <c:v>0.2481574168942679</c:v>
              </c:pt>
              <c:pt idx="2">
                <c:v>0.3103361231533156</c:v>
              </c:pt>
              <c:pt idx="3">
                <c:v>0.2754246803503517</c:v>
              </c:pt>
              <c:pt idx="4">
                <c:v>0.014041110348548</c:v>
              </c:pt>
              <c:pt idx="5">
                <c:v>0.0752568617813482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0.0277284100091508</c:v>
              </c:pt>
              <c:pt idx="10">
                <c:v>0.1048435351822844</c:v>
              </c:pt>
              <c:pt idx="11">
                <c:v>0</c:v>
              </c:pt>
              <c:pt idx="12">
                <c:v>0.0292031554311997</c:v>
              </c:pt>
              <c:pt idx="13">
                <c:v>0.0367985434820997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0.0061093994544608</c:v>
              </c:pt>
              <c:pt idx="1">
                <c:v>0.0314129103166631</c:v>
              </c:pt>
              <c:pt idx="2">
                <c:v>0.0468555856415116</c:v>
              </c:pt>
              <c:pt idx="3">
                <c:v>0.1086735006813176</c:v>
              </c:pt>
              <c:pt idx="4">
                <c:v>0.0518572977986845</c:v>
              </c:pt>
              <c:pt idx="5">
                <c:v>0.1630851758633726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0.2266926452455743</c:v>
              </c:pt>
              <c:pt idx="10">
                <c:v>0.1934223099799888</c:v>
              </c:pt>
              <c:pt idx="11">
                <c:v>0.0776345555628621</c:v>
              </c:pt>
              <c:pt idx="12">
                <c:v>0.0575015112254482</c:v>
              </c:pt>
              <c:pt idx="13">
                <c:v>0.0810507396212834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0.0171048396238314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0.1401631050460977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0.030202748255815</c:v>
              </c:pt>
              <c:pt idx="11">
                <c:v>0.0012398372140533</c:v>
              </c:pt>
              <c:pt idx="12">
                <c:v>0.0345629917770034</c:v>
              </c:pt>
              <c:pt idx="13">
                <c:v>0.0664047909997442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0.0014312872138718</c:v>
              </c:pt>
              <c:pt idx="1">
                <c:v>0.0954434490174933</c:v>
              </c:pt>
              <c:pt idx="2">
                <c:v>0.0097477034772395</c:v>
              </c:pt>
              <c:pt idx="3">
                <c:v>0.1491507045686744</c:v>
              </c:pt>
              <c:pt idx="4">
                <c:v>0</c:v>
              </c:pt>
              <c:pt idx="5">
                <c:v>0.1276557852928057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0.0804724478659473</c:v>
              </c:pt>
              <c:pt idx="10">
                <c:v>0.0528221057001042</c:v>
              </c:pt>
              <c:pt idx="11">
                <c:v>0.0163854917397486</c:v>
              </c:pt>
              <c:pt idx="12">
                <c:v>0.0152240169331472</c:v>
              </c:pt>
              <c:pt idx="13">
                <c:v>0.0361416823785129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16663210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0.0001850204499402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0.0008686720725941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0.0447748624524588</c:v>
              </c:pt>
              <c:pt idx="12">
                <c:v>0.0486742869107226</c:v>
              </c:pt>
              <c:pt idx="13">
                <c:v>0.0903093022047325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0.0306241295648938</c:v>
              </c:pt>
              <c:pt idx="1">
                <c:v>0.0011602353362383</c:v>
              </c:pt>
              <c:pt idx="2">
                <c:v>0</c:v>
              </c:pt>
              <c:pt idx="3">
                <c:v>0.0033275886978607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0.1224133217160561</c:v>
              </c:pt>
              <c:pt idx="10">
                <c:v>0.1782645570212849</c:v>
              </c:pt>
              <c:pt idx="11">
                <c:v>0</c:v>
              </c:pt>
              <c:pt idx="12">
                <c:v>0</c:v>
              </c:pt>
              <c:pt idx="13">
                <c:v>0.0459901209011351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0.0042810931955681</c:v>
              </c:pt>
              <c:pt idx="1">
                <c:v>0.0724628706745208</c:v>
              </c:pt>
              <c:pt idx="2">
                <c:v>0.0084793823843462</c:v>
              </c:pt>
              <c:pt idx="3">
                <c:v>0.0005602069351544</c:v>
              </c:pt>
              <c:pt idx="4">
                <c:v>0.0013353036335097</c:v>
              </c:pt>
              <c:pt idx="5">
                <c:v>0.083000928728361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0.008631507065985</c:v>
              </c:pt>
              <c:pt idx="10">
                <c:v>0.036073752560953</c:v>
              </c:pt>
              <c:pt idx="11">
                <c:v>0.1336611364549201</c:v>
              </c:pt>
              <c:pt idx="12">
                <c:v>0.0895637015601722</c:v>
              </c:pt>
              <c:pt idx="13">
                <c:v>0.0300252497873909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0.0407964514306597</c:v>
              </c:pt>
              <c:pt idx="1">
                <c:v>0.0052736633265841</c:v>
              </c:pt>
              <c:pt idx="2">
                <c:v>0.0545626354641551</c:v>
              </c:pt>
              <c:pt idx="3">
                <c:v>0.0072222556761359</c:v>
              </c:pt>
              <c:pt idx="4">
                <c:v>0</c:v>
              </c:pt>
              <c:pt idx="5">
                <c:v>0.0164707409840565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0.0901420073589613</c:v>
              </c:pt>
              <c:pt idx="11">
                <c:v>0.00025111895442</c:v>
              </c:pt>
              <c:pt idx="12">
                <c:v>0.0006781010642338</c:v>
              </c:pt>
              <c:pt idx="13">
                <c:v>0.0309844448386158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0.1791471446090743</c:v>
              </c:pt>
              <c:pt idx="1">
                <c:v>0.262965402988883</c:v>
              </c:pt>
              <c:pt idx="2">
                <c:v>0.1220369378318891</c:v>
              </c:pt>
              <c:pt idx="3">
                <c:v>0.0913300746244787</c:v>
              </c:pt>
              <c:pt idx="4">
                <c:v>0.3509649115508297</c:v>
              </c:pt>
              <c:pt idx="5">
                <c:v>0.2415044257866422</c:v>
              </c:pt>
              <c:pt idx="6">
                <c:v>0.4034078440709433</c:v>
              </c:pt>
              <c:pt idx="7">
                <c:v>0.1363201387026671</c:v>
              </c:pt>
              <c:pt idx="8">
                <c:v>0.2626478425037037</c:v>
              </c:pt>
              <c:pt idx="9">
                <c:v>0.250772714481035</c:v>
              </c:pt>
              <c:pt idx="10">
                <c:v>0.18214618321619</c:v>
              </c:pt>
              <c:pt idx="11">
                <c:v>0.6394021114919322</c:v>
              </c:pt>
              <c:pt idx="12">
                <c:v>0.2641400553130175</c:v>
              </c:pt>
              <c:pt idx="13">
                <c:v>0.3617418572811671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18"/>
                  <c:y val="-0.01331010614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-0.019945322097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-0.019108532917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.018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50041066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141921275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8496872778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0.01337978771288</c:v>
              </c:pt>
              <c:pt idx="1">
                <c:v>0</c:v>
              </c:pt>
              <c:pt idx="2">
                <c:v>5.078424539045932E-05</c:v>
              </c:pt>
              <c:pt idx="3">
                <c:v>0.0001093558057945</c:v>
              </c:pt>
              <c:pt idx="4">
                <c:v>0</c:v>
              </c:pt>
              <c:pt idx="5">
                <c:v>0.0017829341655087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0.0794959511741282</c:v>
              </c:pt>
              <c:pt idx="10">
                <c:v>0.0022999178667117</c:v>
              </c:pt>
              <c:pt idx="11">
                <c:v>0</c:v>
              </c:pt>
              <c:pt idx="12">
                <c:v>0.000571615744937</c:v>
              </c:pt>
              <c:pt idx="13">
                <c:v>0.0030062544433458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45C055-5A05-4AF6-9597-865F6632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E7F332-1EFE-4998-B570-2CD46BA0E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9F49EA-6F85-492D-AEC8-04BCD0B1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D66309-652D-4269-BF81-5987435B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27348D-D7E0-40FB-ABAC-25878757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CB052E-E57F-499E-8E90-B701D4C9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até 30 de junho de 2026; comparativo ANBIMA até 31 de maio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3C1810-7658-4E35-B101-BD50F651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7199937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C3001F-0904-4BB1-AC2F-A7FDC0AB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C7E719-7C19-4565-9E25-F72C90979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R$ 821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E57EC7-C3E1-4564-971E-62736617B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9BB746-1EDC-4097-BA07-A1824F1D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E696F2-87F6-43AF-9F6B-F28AA945E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jun/26. Ofertas CVM até jun/26; ANBIMA até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3F2E0B-14F6-4D8B-B22C-C3B3AF419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D54BE2-1852-46DB-B34A-09E8B0995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R$ 821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FCBE20-E93E-4B16-9228-46304C16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C1E8CE-DB11-48C7-9CC7-F4E758F6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10,0× 2015; FIC-FIDC: R$ 140,1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C210CD-69C4-465C-A6EA-1A1584F1F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B29627-738C-47C1-8D88-B41DDB08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58,4%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61862C-C2BA-42D2-AA81-06F5F595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com PL ≥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530791-BE73-48B4-A2D2-1AEDB7D10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59,5% do PL no recorte de R$ 733,1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F37C80-8A0B-415C-804C-14E57E56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E3DF01-96F3-4E0F-ADAD-86DA7853A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BF5A37-132A-43FB-9A4E-DB29D12D9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16FFFB-36A7-425A-AD06-3B906C626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309129-E0F5-4200-8398-14B172B2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EE6FE2-BF1D-4605-A6B9-27E33EBE1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40,4%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07D2FD-8ECD-4EE7-B1CB-CFC8BF63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72937A-3935-4D98-865F-C43A3697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R$ 331,6 bi de R$ 821,4 bi de PL direto; FICs excluídos pelo portão único.</a:t>
            </a:r>
          </a:p>
        </p:txBody>
      </p:sp>
    </p:spTree>
    <p:extLst>
      <p:ext uri="{BB962C8B-B14F-4D97-AF65-F5344CB8AC3E}">
        <p14:creationId xmlns:p14="http://schemas.microsoft.com/office/powerpoint/2010/main" val="19068227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3B63C8-25BA-4A71-BC97-C9EC1C7A6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6B1154-A911-4751-8A14-BDA265BC6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somam R$ 821 bi de PL direto; o saldo FIC é R$ 140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278400-A50F-4690-A967-D7366E642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B0D86A-0B73-4669-8E21-93479E89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63FE38-7233-40C9-ABDD-5CA16CA1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3108F-85D4-4DB7-901C-7B507408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FAFF95-9A22-4817-B66E-EE7310268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DIRETO + SALDO 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86B5C8-C999-4743-8DCD-B932FFD1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fe04b3114d4422c"/>
          </a:graphicData>
        </a:graphic>
      </p:graphicFrame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809625" y="4762500"/>
          <a:ext xmlns:a="http://schemas.openxmlformats.org/drawingml/2006/main" cx="4762500" cy="19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b0e128cc26043b4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2573E1-7283-47ED-810A-DD489AA3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81575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Jun/26: R$ 821,4 bi de PL direto + R$ 140,12 bi de saldo FIC = R$ 961,5 bi.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A831BB-E09D-4EF7-B358-E90194E6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959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F9F32E-317E-4145-BC24-41426991F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2E4211-6940-4C45-A5B6-2C31883F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7a76f42b70346c7"/>
          </a:graphicData>
        </a:graphic>
      </p:graphicFrame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6096000" y="4914900"/>
          <a:ext xmlns:a="http://schemas.openxmlformats.org/drawingml/2006/main" cx="5524500" cy="19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17d95181b44c82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2B9EED-46B3-4180-A790-E11B6F736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F38A95-A006-4E16-9E30-588BCBAA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R$ 13.780 bi; securitização R$ 1.174 bi; carteira FIDC R$ 677 bi. O total BCB de R$ 21.681 bi inclui R$ 7.901 bi de títulos públicos e permanece no export para reconciliação.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157F2E-4785-41C7-BD20-FF3BF74BD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12071593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AA9DC7-F5C6-4CF6-812A-41FF48A0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CVM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8F8BA5-E423-4017-B250-6DC02CBE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série CVM preserva o volume registrado; o nível de FIDCs em 2023 vem da ANBIMA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BFE5AD-251B-46D0-91DD-833B57CF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A63A5-52B4-4F7F-A9F1-485FE3CE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783F8B-021C-477E-ADCA-4AAC07A85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bases do rito automático e de distribuição, snapshot 24/jul/26. 2026 = jan–jun. FIDCs 2023: valor encerrado ANBIMA.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5C7BF0-638F-4A1F-AA29-36D635C55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2E230B-1D75-4E2B-B670-1B260795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A58983-C03C-4E04-8DE0-FB29381E3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707cf802870443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D75D77-2F31-4495-9064-09C0BBE6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B73419-6D33-426B-993A-2128FE85D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0c90f419e8f46f1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3CA649-1B2A-4CF3-9371-130AF695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C8D876-4404-4E87-80B6-94685061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F9F61C-25E5-490F-864E-F2192943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total registrado, informado à CVM. FIDCs em 2023: valor encerrado do Boletim ANBIMA, porque a série CVM só captura o universo integralmente a partir de 2024; o YoY 2024 usa a base ANBIMA.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DAF451-C006-45F0-B9D6-CA800C1C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8CCA28-4A5A-426F-86DC-6C2A81C99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8CDD3C-A049-45D1-949E-D74A561C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925FC1-D0C6-4940-A71F-3ACD3D0AF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públicas primárias encerradas; rito automático da RCVM 160, ordinário e regimes legados disponíveis.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B9D76B-434E-436B-8183-1D8DCF67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89AEFC-B766-49E9-BBC0-390C89DB2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CORTE E LIMITAÇÃO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593675-C22A-46C8-954D-B525903D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4ED892-681E-494A-9EB3-758F2278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Data de encerramento no período; volume positivo. O valor registrado pode diferir do valor encerrado e a taxonomia declarada mantém Outros títulos de securitização separado.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249982-18BA-489C-9A1B-D1377C2B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Perímetro aplicado aos slides granulares de emissões, inclusive público-alvo, tickets, regime de colocação e Top 15.</a:t>
            </a:r>
          </a:p>
        </p:txBody>
      </p:sp>
    </p:spTree>
    <p:extLst>
      <p:ext uri="{BB962C8B-B14F-4D97-AF65-F5344CB8AC3E}">
        <p14:creationId xmlns:p14="http://schemas.microsoft.com/office/powerpoint/2010/main" val="296694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BC429F-9E7E-44DA-99A1-DAB85B90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FBAE31-71E1-4710-B409-F583A6D4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valor encerrado oferece a referência comparável do mercado por instrumento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8AB050-340C-4848-A43C-66A4A14BC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40F747-1550-4109-B34C-9F4343E1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1167C3-5237-4773-A753-564715B4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Data, Boletim de Mercado de Capitais, snapshot mai/26. Valor encerrado; 2026 = jan–mai.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AE11FC-7858-4FCD-8743-48DEC98E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8161F4-3BCB-4AEE-8F74-1202B4582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600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5F8C60-E05D-4B01-8B0A-F7053B54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600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6000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5fc31d14b90465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976075-215C-433B-8B8A-C8EBB2D6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2954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DEBÊNTURES · PONTE TAXONÔMICA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6E8E4D-E01B-482E-A9AB-F514BD93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3352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2025: CVM R$ 453,7 bi + R$ 38,8 bi em Outros títulos de securitização = R$ 492,4 bi, ante R$ 493,4 bi na ANBIMA. Jan–mai/26: R$ 148,4 bi ante R$ 146,3 bi.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C8D220-E002-442C-AF62-F11BF23A4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729840-5FDC-4EEE-B7EB-A73D9A25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46697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· MÉTRICA E COBERTURA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B79D6F-ECE6-43C8-B2C0-84FBF1344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0510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2025, a CVM registra R$ 116,9 bi e a ANBIMA encerra R$ 91,0 bi. A diferença combina valor registrado versus encerrado, cobertura e presença de ofertas secundárias na ANBIMA; a causa individual exige reconciliação por oferta.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BFC3A9-DC32-4473-B282-5DE81F9F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14725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2D5AE6-1084-4062-9766-2C414BCFF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385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CRI E NOTAS COMERCIAIS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297752-0A35-4587-BCB4-8D37DF639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7667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CRI: CVM 10,0% em 2025 e 9,8% em jan–mai/26 versus ANBIMA. Notas comerciais: 10,2% em jan–mai/26. O residual pode refletir métrica, rito, retificações e data do snapshot.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ADD216-0599-4AD7-AE4E-FEEA9CA81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8630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516EC5-5E21-4AF5-A2A4-0C4CF653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1012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CRA · PONTO PENDENTE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7D379D-D510-42C1-AC7E-2D0DFF193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4825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CVM ficou 18,1% acima da ANBIMA em 2023. De 2024 a jan–mai/26, o desvio ficou em até 2,7%. A causa de 2023 permanece sem comprovação oferta a oferta.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74B6CF-0694-4AD8-90CE-9FD9909A0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4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Debêntures incluem debêntures de securitização. O anexo não segrega sistematicamente ofertas primárias e secundárias para renda fixa e fundos. Série sujeita a retificações.</a:t>
            </a:r>
          </a:p>
        </p:txBody>
      </p:sp>
    </p:spTree>
    <p:extLst>
      <p:ext uri="{BB962C8B-B14F-4D97-AF65-F5344CB8AC3E}">
        <p14:creationId xmlns:p14="http://schemas.microsoft.com/office/powerpoint/2010/main" val="4247963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6119CB-6B25-40F3-A42D-A5500096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BCE0CC-4DF9-49C9-A0A1-58AB258ED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786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Entre 92,8% e 96,8% do volume anual foi destinado ao público profissional; a classificação mede elegibilidade, não alocação final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7CD8E6-6AFA-4989-9F68-78680BF2F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368BE1-300B-46AD-856D-7702AE82A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299349-CCD8-44C7-87E1-45ABA576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AF6D5A-910D-4695-8A5C-F1145180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68A021-363F-43AF-9902-9D651C9CF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F4E160-24D2-4FC6-9B9F-0FAB7CD3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ba58a08a5e4449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831D95-8B81-43DD-8CB8-1B9B11B30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D8179D-251A-4992-AAFE-8ACD34637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e703489c9ea4725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C85A57-4617-4DA8-BA3D-59BAE7B5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9C425A-941E-4B81-9B44-1249C3B8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00af6379bd64c50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839D26-E488-4F63-B489-B53E7DAB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p:txBody>
      </p:sp>
    </p:spTree>
    <p:extLst>
      <p:ext uri="{BB962C8B-B14F-4D97-AF65-F5344CB8AC3E}">
        <p14:creationId xmlns:p14="http://schemas.microsoft.com/office/powerpoint/2010/main" val="3705797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9B62DF-A069-47EC-96B3-FAD2582AA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A2F0BF-E42E-4E96-9F9C-469FFCFB0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1FC10-9403-4E66-9A23-63457A95C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C279-C6A0-4F44-AB00-01449BC9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A5AB91-3E01-4EB4-8F8E-F7D5F12E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FF0A3-EFCE-4962-A824-3C6D3060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fb28c343160437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9CDE03-FCBA-4CC3-B509-3B4B4292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5877E0-4D5E-4CD3-A26A-861DE701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884380a42e342ec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44C6D8-8802-4935-921D-D3235ADD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D8CB05-831A-4503-B6DC-E7BA78D7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706bd65ae84493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DAC26B-F067-4EE5-B88A-54638141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45B457-47DA-46B4-B849-1B0A47A54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144079d2f804092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1DE138-CE8F-439C-9F51-7D5A4E928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49FDE3-E2FA-4A6D-BD18-C76F996C7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5F2077-4C07-4809-9099-8F18C6BA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7df01e0964c450c"/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72AB15-258E-4CBA-9870-235F34628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ABCCF8-FAAF-49FA-A9BE-7919062F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4662682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639737-269A-4D9C-8857-B2F7B54B6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ANALÍTICA · DECISÕES APROVADAS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B2AE19-1EDA-496F-A087-E50CBD28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60,2% do PL ex-FIC ·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E1AB07-0C3E-4245-8B02-3C80189DD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DE910A-E995-4CBA-82DD-F6A3EAFC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CC8B46-C0F7-4CBA-B86C-6143D018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78FBD0-E997-4C0F-822B-FA150D16B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838234-CDF0-4174-AD7E-97739148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FC2D8E-6CFE-4F88-8D6B-0A82D9C25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7a2bc5f56504cc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EC4620-2532-4AC6-89D6-386DBD1E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B9177C-C243-4D95-83AF-AE33D3DD4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8aba7792a0c4f64"/>
          </a:graphicData>
        </a:graphic>
      </p:graphicFrame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2095500" y="5295900"/>
          <a:ext xmlns:a="http://schemas.openxmlformats.org/drawingml/2006/main" cx="8001000" cy="266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bf3cb45f34437e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0BB9AE-562E-4861-8097-3C7F68C7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R$ 821,4 bi, equivalentes a 100% do PL ex-FIC de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8970A8-5C53-4781-9BE7-58AFBB12E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Camada analítica: 612 decisões aprovadas retiram R$ 128,1 bi de Outros; residual R$ 175,2 bi. Tipo/Foco oficial, documento, página, evidência e responsável permanecem no workbook.</a:t>
            </a:r>
          </a:p>
        </p:txBody>
      </p:sp>
    </p:spTree>
    <p:extLst>
      <p:ext uri="{BB962C8B-B14F-4D97-AF65-F5344CB8AC3E}">
        <p14:creationId xmlns:p14="http://schemas.microsoft.com/office/powerpoint/2010/main" val="6778176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4344B3-A3DF-400A-B112-326E5E2D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OUTROS · FOCO ANALÍTICO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D1C02-D7B3-461C-929B-A006DEDE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Poder Público 50,9% · Multicarteira Outros 35,0% · Recuperação 13,2%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6FA437-E45E-4D06-B66D-2453BC106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D7293F-0128-4BCD-9C24-BE0A6BB2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50598-C7E4-4715-8D0C-2E9CEC225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e ledger documental aprovado. Tipo/Foco e Tabela II oficiais permanecem preservados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1120D9-3AAD-4E6A-B693-0E0843B7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DCCE49-3A5F-43E1-9637-855F7A0C5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 BUCKET OUTROS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E9B33C-BA68-4972-AD24-484710C3C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d9ff152b2db4b3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BEFD1F-7B28-48AD-8844-7769CACD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DO BUCKET OUTROS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949223-D31F-4D70-B033-EBB586116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a800598ee6240b3"/>
          </a:graphicData>
        </a:graphic>
      </p:graphicFrame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952500" y="5191125"/>
          <a:ext xmlns:a="http://schemas.openxmlformats.org/drawingml/2006/main" cx="10287000" cy="4000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b0d8d8cadef4550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F3DBEB-9B5A-46D7-BEB5-7256946CD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57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7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7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categorias somam R$ 175,2 bi, equivalentes a 100% do Tipo analítico Outros em jun/26. Ausência permanece N/D.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460FDA-EE0B-4296-8C98-2F3D38929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245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Foco analítico combina a fotografia ANBIMA com decisões aprovadas. A classificação ANBIMA oficial continua disponível para auditoria.</a:t>
            </a:r>
          </a:p>
        </p:txBody>
      </p:sp>
    </p:spTree>
    <p:extLst>
      <p:ext uri="{BB962C8B-B14F-4D97-AF65-F5344CB8AC3E}">
        <p14:creationId xmlns:p14="http://schemas.microsoft.com/office/powerpoint/2010/main" val="72558648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7AF6EE-AE07-4794-BB82-DC8397D2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OUTROS · TABELA II ANALÍTICA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F6E12-E2FA-4B1A-83A2-71E6807A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Ações judiciais 49,7% · N/D 45,0% · Setor público 1,7%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37E564-8963-4889-ACF1-36D5D0DA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88A268-B4C4-4457-A0A1-2A7A5344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9963FE-28D0-4839-B207-75D57C96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e ledger documental aprovado. Tipo/Foco e Tabela II oficiais permanecem preservados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D67D78-5269-47B4-8D0F-5847E031D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624BDE-5197-47B3-AA88-61F285834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 BUCKET OUTROS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76A92D-B8E2-45DE-BB6D-B166CA47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d5d26bdf3de48c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0DFA1B-A201-485E-9A36-3038798E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DO BUCKET OUTROS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C7E27B-5C42-45E1-B803-7FB05CBA4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85981bf95b047e1"/>
          </a:graphicData>
        </a:graphic>
      </p:graphicFrame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952500" y="5191125"/>
          <a:ext xmlns:a="http://schemas.openxmlformats.org/drawingml/2006/main" cx="10287000" cy="4000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105d21d2dd14692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379631-A813-4504-AFA2-8EB17786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57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7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7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categorias somam R$ 175,2 bi, equivalentes a 100% do Tipo analítico Outros em jun/26. Ausência permanece N/D.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C5F752-96C5-43BE-89DD-E0A7DBE5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245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Tabela II analítica mantém o reporte CVM como origem e aplica somente decisões aprovadas. Ações judiciais e Setor público permanecem identificáveis.</a:t>
            </a:r>
          </a:p>
        </p:txBody>
      </p:sp>
    </p:spTree>
    <p:extLst>
      <p:ext uri="{BB962C8B-B14F-4D97-AF65-F5344CB8AC3E}">
        <p14:creationId xmlns:p14="http://schemas.microsoft.com/office/powerpoint/2010/main" val="111472217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73479F-B4F3-442E-92C7-35C87F1F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OUTROS · TAXONOMIA FUNCIONAL N1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357558-3180-4FAC-8983-B15EA0DD6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Judicial/Precatórios/NPL 61,3% · Multissetorial / Outros 32,5% · N/D 6,3%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C0A16E-6AC3-438B-9CF1-F516208DA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6B7CCE-1ECB-4077-8E74-6904DD2D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18CE2F-C136-44E7-8A32-39D58975E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e ledger documental aprovado. Tipo/Foco e Tabela II oficiais permanecem preservados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E57360-C273-475F-A2CD-CF8D26ECB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52DF9A-4AE7-4FF4-A8FA-A38918FBF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 BUCKET OUTROS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7D5D64-9EDE-4F39-AA2E-7F9FA68C2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6f40b159dcd4cd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F6692C-CAAF-4062-A9D2-3A2A6B489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DO BUCKET OUTROS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ABD765-FE5E-4235-AF1F-6C841BFD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624cec1421b4c19"/>
          </a:graphicData>
        </a:graphic>
      </p:graphicFrame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952500" y="5191125"/>
          <a:ext xmlns:a="http://schemas.openxmlformats.org/drawingml/2006/main" cx="10287000" cy="4000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a3bf1394bc140fe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BB7BB7-AD40-47EC-90C9-B0BD60C51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57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7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7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categorias somam R$ 175,2 bi, equivalentes a 100% do Tipo analítico Outros em jun/26. Ausência permanece N/D.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33FF7F-1770-4056-B567-2027956E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245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Nível funcional 1 organiza a natureza econômica da carteira. Judicial/Precatórios/NPL aparece separadamente de Multissetorial/Outros.</a:t>
            </a:r>
          </a:p>
        </p:txBody>
      </p:sp>
    </p:spTree>
    <p:extLst>
      <p:ext uri="{BB962C8B-B14F-4D97-AF65-F5344CB8AC3E}">
        <p14:creationId xmlns:p14="http://schemas.microsoft.com/office/powerpoint/2010/main" val="174952601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C6281C-9F99-4527-ABD3-A767871D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OUTROS · TAXONOMIA FUNCIONAL N2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400FD-9AEC-48F1-AB86-58A445C9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Precatórios/direitos judiciais 49,7% · Multicarteira outros 32,5% · Não padronizado/NPL 11,6%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B05461-06BC-4EDA-B6EA-9ADDA33F3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16C1D3-4C2F-4C65-95EB-B44256D6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F38637-2163-4C02-AD51-305C99E2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e ledger documental aprovado. Tipo/Foco e Tabela II oficiais permanecem preservados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2C4662-D96D-4909-8A1A-77DCA533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B1A2CC-4355-47F5-9587-C54B78FF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 BUCKET OUTROS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FDB965-C413-4B90-BBA3-27336CD9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e1f32f91b064da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6F2D36-998E-420C-936F-0B832D04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DO BUCKET OUTROS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A81185-50E6-411D-A887-603D5CA4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1118e184bf749d0"/>
          </a:graphicData>
        </a:graphic>
      </p:graphicFrame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952500" y="5191125"/>
          <a:ext xmlns:a="http://schemas.openxmlformats.org/drawingml/2006/main" cx="10287000" cy="4000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1ebf64bd4304315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C54290-FCF3-454A-A5B9-95E12A367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57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7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7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categorias somam R$ 175,2 bi, equivalentes a 100% do Tipo analítico Outros em jun/26. Ausência permanece N/D.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5A1F17-EE8B-4CF9-BD16-2B0D25C9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245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Nível funcional 2 detalha NPL, precatórios/direitos judiciais e multicarteira. Casos sem decisão documental permanecem N/D.</a:t>
            </a:r>
          </a:p>
        </p:txBody>
      </p:sp>
    </p:spTree>
    <p:extLst>
      <p:ext uri="{BB962C8B-B14F-4D97-AF65-F5344CB8AC3E}">
        <p14:creationId xmlns:p14="http://schemas.microsoft.com/office/powerpoint/2010/main" val="558669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9E3718-BAE1-4A96-99C4-3343E548E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495608-AF76-4524-91FE-4BCEF044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12,1%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F9B2F2-9DFF-483A-A09B-BEECF7A5A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DE8C52-AD17-418F-A268-15AC5483E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7730B7-FA76-4F1A-8918-3EBB7891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F17FA2-2608-400F-9C7F-A4081378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6E6DD3-6158-48D5-828D-34B18632C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EEEA00-0CE7-4CC3-A2B2-BB3AA54CB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8113533386e4ff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0AA758-55D5-45BE-AF1D-46ECA5DE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5C6CF0-5AE2-4C43-ABD1-7CD6282E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69761aaa2434193"/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858250" y="1200150"/>
          <a:ext xmlns:a="http://schemas.openxmlformats.org/drawingml/2006/main" cx="2762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545a7cff054f99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10F32C-84EE-407D-91FD-A56974987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91399596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7B59A8-4F3A-4150-9B6B-C29C113DB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AE13A7-D732-494D-B626-4DCDABE0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70,1% do aumento líquido do valor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378BA3-8624-4DD3-8CCC-D465EC4A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F20FD4-6A0C-4AB1-8667-134D3709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ED5ECE-1220-40BB-83D5-6202891C6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7EDBD5-F3CB-4283-A3A9-FFB8FF1B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89A8FB-BACF-4728-AF56-B730CB2F7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421580-A627-4610-B3D4-913C7DC42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2272c9a5fac475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55408C-79CD-4265-8377-1A82F1B6B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CA2B0D-6FEA-4BC5-A68B-E5276EE20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6291fe8d16b43f7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399EF0-2750-474E-88AA-35EACC20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6B8782-D153-4D79-AB9D-DC2E5051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d1adfaa166c4541"/>
          </a:graphicData>
        </a:graphic>
      </p:graphicFrame>
    </p:spTree>
    <p:extLst>
      <p:ext uri="{BB962C8B-B14F-4D97-AF65-F5344CB8AC3E}">
        <p14:creationId xmlns:p14="http://schemas.microsoft.com/office/powerpoint/2010/main" val="26782526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477C26-6908-410B-8CBA-D0B5EF5D0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7FDF1C-EAA8-47D7-AE42-F28C7DF0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7D7E6E-6DB3-45FF-B2A2-BC198880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4EF51B-04C9-4D91-ABD3-41B6E95A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1771AE-2E7E-4C9F-B41B-8672227B4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C482B9-55BE-45AF-BF35-7D77D26DE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F2618F-88C2-4195-8D35-49B7A9940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E57B5F-E519-45C1-A57C-F858064F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552fb1cae31442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24D373-588E-4492-B4A4-BE54DDC82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BD436F-AF35-452F-9190-37F50E2A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C47DEC-B058-4084-9FEB-3A7B4E452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88E1C9-20BD-4A63-85F5-CDEB81C9E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4460A6-4EA4-4E61-9483-67D79482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B5D59F-E61A-4BE5-9C7F-40D4FC16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B7C0E1-F88A-4B14-B6A6-7615E1D6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45E054-7043-408F-AB7B-E75E0FCD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74FD7E-FEAD-4577-8EE5-2124F068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823F61-4919-4A45-990F-6034BF6B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1936FB-B37F-4E6F-9ECA-8DA78DE7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11EE32-9BA1-4A18-864F-27FC4C78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B627E1-001A-4BB6-972C-F4C8B84A3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60929E-D08F-4A1A-8C3D-7B3F70188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0140EB-EAF1-4924-A3E6-07737FB1E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37FE98-00BC-4D52-8230-4ABA9CEAE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311BFE-BD17-4735-BA9F-2DE04DA7F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AF1583-F121-489C-A948-6BC9DFDA7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DAFE09-6CE5-4450-BF62-B6DCC680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8D3FB0-5CF3-41A5-B8DC-CDDD68E8A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A3CF91-B179-4C94-B902-0AA6429D6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publicável: 4,9% ajustada. O antigo excesso de R$ 6,89 bi era a parcela vincenda ligada a créditos inadimplentes, prevista na Tabela I e omitida do comparador; 555 veículos reportam o campo.</a:t>
            </a:r>
          </a:p>
        </p:txBody>
      </p:sp>
    </p:spTree>
    <p:extLst>
      <p:ext uri="{BB962C8B-B14F-4D97-AF65-F5344CB8AC3E}">
        <p14:creationId xmlns:p14="http://schemas.microsoft.com/office/powerpoint/2010/main" val="146159049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E916FD-C701-4878-8C4B-E943E63B1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BASE ORIGINAL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81F918-54D0-4FC3-AE98-E5EC5644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0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Coorte atual monotipo: 4,4% da carteira em jun/26; fundos com zero permanecem no denominador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56697E-2D9A-4165-90D8-BDB9634C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05B778-4532-49D6-B249-3A63888D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20D0E2-7049-40CC-AB58-F05F71E1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IV. Coorte e subtipo congelados em jun/26; ex-FIC, PL positivo, campos reportados e inadimplência ≤ carteira.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333BD3-A523-45AD-8857-86D3A7790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797DEE-4B78-4006-BDB1-893D7892B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192A5C-9642-4571-A5FF-515EDA28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016873cc3584c95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095375" y="4848225"/>
          <a:ext xmlns:a="http://schemas.openxmlformats.org/drawingml/2006/main" cx="49530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cdf55383f2749c0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E9F845-FD9A-4116-9A5A-F866803F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47CD62-8A68-4C10-8ECF-0E9C95B7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76,4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E98594-C3CF-4C8C-AFE4-DCD7A24EB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BA2D51-B001-46A3-B518-F1B54A140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bi. Fora: 948 multitipo (R$ 190,2 bi), 125 acima da carteira (R$ 5,9 bi) e 169 sem tipo (R$ 16,6 bi).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931C01-6672-4171-A801-8F527455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Base original: fundos elegíveis com inadimplência reportada igual a zero permanecem no denominador. A linha histórica usa a coorte atual e, portanto, está sujeita a viés de sobrevivência.</a:t>
            </a:r>
          </a:p>
        </p:txBody>
      </p:sp>
    </p:spTree>
    <p:extLst>
      <p:ext uri="{BB962C8B-B14F-4D97-AF65-F5344CB8AC3E}">
        <p14:creationId xmlns:p14="http://schemas.microsoft.com/office/powerpoint/2010/main" val="155865044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C2C036-7D42-425C-AD46-D38467AC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EX-ZEROS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7D9243-BD97-450D-849A-294935220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exclusão dos zeros eleva a métrica para 13,5% em jun/26, variação de 9,1 p.p.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CC43CD-F915-4201-BD55-581F76A3E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23F13C-62C3-496A-9B68-C37460EFC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589EAA-2EF2-4D73-B9D9-789E51472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IV; mesma coorte da base original. Método completo no export.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1C1F5E-C551-4982-9F9C-9E8778A3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02951E-D588-4E34-A3E4-91598A9E6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EX-ZEROS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0A46E6-2029-4672-BF0D-895EA9BFE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07d3c4e52694f33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762125" y="4848225"/>
          <a:ext xmlns:a="http://schemas.openxmlformats.org/drawingml/2006/main" cx="36195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f8ceef528ee42da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60AF0C-B1C2-412B-A6DD-2D00D5E3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MONOTIPO · SENSIBILIDADE POR CLASSIFICAÇÃO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65A4F9-29F8-4C05-A259-7A7728A62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666875"/>
                <a:gridCol w="571500"/>
                <a:gridCol w="904875"/>
                <a:gridCol w="90487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p.p.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ABC458-3DB9-4FD5-ACD9-5BAA354B3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ED3131-E3FF-4569-A124-6D7DA2DBF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jun/26, 956 de 2.066 fundos da coorte histórica permanecem na sensibilidade; a carteira do denominador cai de R$ 524,8 bi para R$ 171,9 bi.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E8C0ED-CDE8-4510-9D37-757A0815D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direção é necessariamente de alta ou estabilidade, pois o numerador removido é zero e o denominador diminui. A magnitude por classificação está na última coluna.</a:t>
            </a:r>
          </a:p>
        </p:txBody>
      </p:sp>
    </p:spTree>
    <p:extLst>
      <p:ext uri="{BB962C8B-B14F-4D97-AF65-F5344CB8AC3E}">
        <p14:creationId xmlns:p14="http://schemas.microsoft.com/office/powerpoint/2010/main" val="19770182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3C2B95-8579-4E4F-8558-D5B1FECD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6477F8-3703-4AAD-9797-B94F9ECC5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E78D7F-2EF7-481C-BE79-BA95291A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51DC41-514C-4244-A03A-641536CD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79ABC2-3215-4838-BDD5-031A17ED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20AEDD-AF5E-4F69-B100-75DDDC82B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8A02A7-7636-41A3-832F-54A77C4C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CA3F7-8AF5-4575-8D62-E60C82A83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485fa8c5db0481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D889AB-F3AB-4322-93EA-7FF925DC0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5E77CA-BC60-4A68-BF41-77C1D9FC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5429250"/>
          <a:ext xmlns:a="http://schemas.openxmlformats.org/drawingml/2006/main" cx="11049000" cy="495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7f8749a6f46478e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1A8E8B-DDE0-456D-8528-1EFE6C2A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89311379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6285A7-5623-43B6-82D3-17FF3BE3F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DISPERSÃO ENTRE REPORTANTES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1B252D-868D-40B2-B3F9-F821D98E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Concentração do valor reportado por subcategoria da Tabela II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7EA0E6-3E64-411F-9D34-410B2A57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869AE4-B670-489D-88ED-418CC26C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F606AE-4CBC-4145-BDE5-2884C9363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Somente fundos da coorte tipo único com inadimplência ajustada positiva.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CB0F22-ADE5-4CBE-8235-2932A6EE9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7625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952625"/>
                <a:gridCol w="571500"/>
                <a:gridCol w="1000125"/>
                <a:gridCol w="1285875"/>
                <a:gridCol w="1285875"/>
                <a:gridCol w="1285875"/>
                <a:gridCol w="666750"/>
                <a:gridCol w="666750"/>
                <a:gridCol w="2333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1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3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HHI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Gini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1,41 bi · 8,5%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3,61 bi · 21,6%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5,46 bi · 32,7%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1,38 bi · 49,2%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1,94 bi · 69,1%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2,10 bi · 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0,34 bi · 37,6%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0,69 bi · 76,9%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0,84 bi · 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 bi · 75,9%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 bi · 85,7%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0,59 bi · 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31,9%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 · 70,6%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0,53 bi · 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0,22 bi · 39,6%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 bi · 80,7%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 · 89,8%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 bi · 25,2%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42,3%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 bi · 51,6%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Concentração intermediária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 bi · 27,8%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 bi · 57,7%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 bi · 77,8%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0,02 bi · 42,2%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0,04 bi · 79,6%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 · 93,7%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B05716-536D-4908-A9B9-4A6B041AB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Regra analítica: concentrada se HHI ≥ 0,25 ou Top 5 ≥ 70%; dispersa se HHI &lt; 0,10 e Top 5 &lt; 40%; demais casos intermediários. HHI e Gini medem concentração do valor reportado.</a:t>
            </a:r>
          </a:p>
        </p:txBody>
      </p:sp>
    </p:spTree>
    <p:extLst>
      <p:ext uri="{BB962C8B-B14F-4D97-AF65-F5344CB8AC3E}">
        <p14:creationId xmlns:p14="http://schemas.microsoft.com/office/powerpoint/2010/main" val="115093682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DE2531-242C-4E4D-8E83-A6B606BDF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FF5FCF-7DF2-410B-85F1-9170D627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956 fundos com inadimplência positiva representam 23,5% do PL ex-FIC positivo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577269-F476-4525-8D8D-5F0A134A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3F0D04-68CC-4064-BB93-449B4D0B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EC623-B051-4BD1-8CB4-6A6FDE7E2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Universo: 3.308 fundos e R$ 821,4 bi; amostra positiva: R$ 193,4 bi.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00C7A6-8AF9-4E44-AB75-906E0B51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E62295-751A-4809-9C9D-862B4AAB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SUBCATEGORIAS PRIORITÁRIAS POR VALOR REPORTADO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9CA6EB-D794-41EE-A085-D3DC8338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11049000" cy="30956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666750"/>
                <a:gridCol w="1952625"/>
                <a:gridCol w="1190625"/>
                <a:gridCol w="666750"/>
                <a:gridCol w="809625"/>
                <a:gridCol w="2095500"/>
                <a:gridCol w="3667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Prioridade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Inadimplência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Interpretação cautelar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R$ 16,67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distribuído no subsetor reportante; não comprova risco sistêmico.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3FB97F-7936-43EC-9107-3F786BB4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8E933A-D451-4A58-B189-F4509EDD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Cobertura: 2.066 fundos na coorte tipo único (R$ 608,7 bi); 956 reportam valor positivo. A comparação com o universo de R$ 821,4 bi delimita a amostra.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C1972D-9F0F-4479-AE08-8EAE0E74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Limitações: zeros e ausências de reporte ficam fora da dispersão; atrasos e inconsistências podem reduzir a cobertura. Concentração sugere prioridade de validação e não identifica causalidade nem risco sistêmico por si só.</a:t>
            </a:r>
          </a:p>
        </p:txBody>
      </p:sp>
    </p:spTree>
    <p:extLst>
      <p:ext uri="{BB962C8B-B14F-4D97-AF65-F5344CB8AC3E}">
        <p14:creationId xmlns:p14="http://schemas.microsoft.com/office/powerpoint/2010/main" val="136266732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F1F7C0-29C6-4439-BFD9-61CEBF96A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C0F654-ADEB-47C0-85B7-5F4E68D5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A74E27-5A53-4B9F-8ACF-25B1D6177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18DF1F-43A0-4572-8893-4265C9A0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E6D2DC-CB41-427D-96D1-71D0B7CE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E9B5A1-13B3-4604-9E16-327BBCE7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24C040-6376-474C-B8DC-2AC5E839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8ED2BC-845B-420F-B465-4BC31B97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49ac2efcef14cc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3D5CAB-C1A7-431A-8DDE-E88F17E9F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0259CD-D7E7-49B7-81C6-1BAC04466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901FA2-9B86-4337-8429-C4A8F97D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c89c078dac74321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447A7C-4FD7-4703-BEB7-F46DBB76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59AC81-B154-47B8-843E-34FCBAF4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FB0F2A-2A9A-4F6A-8FDC-DE1593A1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dfbd1b8ffc44ac6"/>
          </a:graphicData>
        </a:graphic>
      </p:graphicFrame>
    </p:spTree>
    <p:extLst>
      <p:ext uri="{BB962C8B-B14F-4D97-AF65-F5344CB8AC3E}">
        <p14:creationId xmlns:p14="http://schemas.microsoft.com/office/powerpoint/2010/main" val="154450830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62EBA9-DDC7-4150-AA9D-EEADE591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AC6212-1FA6-4492-B8ED-1B1356D81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0840CE-E8DB-45EC-8E79-6D26E9DF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4B5415-7EF5-433F-984D-A769361A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8134AE-CCBE-4EE3-9A34-9861DD63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ledger analítico aprovado,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FAA56F-7470-411A-BBB3-8902E324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Infraestrutura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Recuperação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Financiamento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580783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0CCD8A-D0D4-4AFB-AE37-B8718C3E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18AD64-9292-4CB9-814E-881D3EFA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R$ 52,3 bi · 29,9% do Tipo analítico Outros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A8B511-259F-43F1-B8DB-3505F55AE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480B5D-DC23-4CDF-B350-952F58E1D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04D249-9FA2-48F3-937F-8074B055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ledger analítico aprovado; ranking em jun/26. Tipo/Foco e Tabela II oficiais permanecem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9AEBD0-A252-4668-AD21-1C35468A0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1600200"/>
                <a:gridCol w="523875"/>
                <a:gridCol w="1000125"/>
                <a:gridCol w="952500"/>
                <a:gridCol w="10858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Foco analítico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Tabela II analítica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Funcional N1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 PADRONIZADO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Recuperação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Judicial/Precatórios/NPL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Judicial/Precatórios/NPL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Judicial/Precatórios/NPL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Recuperação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Judicial/Precatórios/NPL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Multissetorial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Multissetorial /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Multissetorial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 NPL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Recuperação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Judicial/Precatórios/NPL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Multissetorial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Judicial/Precatórios/NPL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1600200"/>
                <a:gridCol w="523875"/>
                <a:gridCol w="1000125"/>
                <a:gridCol w="952500"/>
                <a:gridCol w="10858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Foco analítico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Tabela II analítica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Funcional N1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Multissetorial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Multissetorial /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Multissetorial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MONTENEGRO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Judicial/Precatórios/NPL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VERDECARD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Recuperação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Judicial/Precatórios/NPL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 BOSSANOVA90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Judicial/Precatórios/NPL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4870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Judicial/Precatórios/NPL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BLC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Judicial/Precatórios/NPL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LASSIE EDUCATION CRÉDITOS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Judicial/Precatórios/NPL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LAGUZ I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Judicial/Precatórios/NPL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988777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E9E9BE-A521-4226-AC07-23BF4BED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ANALÍTICO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ED829F-E8BD-41E6-B662-2423EB81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 · R$ 48,4 bi · 43,5%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F5486C-D8FD-4608-AF69-0C6412A0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CD2356-48B5-4CC6-BA7C-B2F2934A8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151FC0-2764-42A3-BBCB-61C6434D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Agrupamento: Tipo analítico após decisões aprovadas; campos ANBIMA oficiais permanecem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95F81F-0F12-49E8-9CDB-E265CB41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3: CNPJ SOB O NO 62.232.889/0001 -90, SENDO TAL SERVICO PRESTADO PELA AREA ESPECIALIZADA DO BANCO, DISTINTA DA AREA DE ADMINISTRACAO FIDUC IARIA DO FUNDO. “BENCHMARK” E EQUIVALENTE A 100% (CEM POR CENTO) DO QUE EXCEDER O CDI. “CEDENTE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ASSET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GESTÃO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múltiplos cedentes não conhecidos previamente.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SMART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EUROVEST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27: CEDENTES DOS DIREITOS DE CREDITO DEVEM SER PESSOAS JURIDICAS COM INSCRICAO NO CNPJ/MF; (II) DEVEM SER REPRESENTADOS POR CEDULAS DE CREDITO BANCARIO, NOTAS PROMISS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 PLUS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credores originais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 MULTISSETORIAL BS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INVISTA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EMERALD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J.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3: CNPJ/ME SOB NO 60.746.948/0001-12; CAPITAL AUTORIZADO: E O CAPITAL AUTORIZADO PARA EMISSAO DE NOVAS COTAS DO FUNDO, SEM A NECESSIDADE DE APROVACAO EM ASSEMBLEIA.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BLUE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BANVOX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BANVOX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OURO PRETO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 no conteúdo acessível.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530590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AAF47D-47E0-4DA6-AC1C-AB9A36DC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ANALÍTICO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F1F56B-A798-4B8B-A444-663CDE7B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 · R$ 122,2 bi · 56,8%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79CCD9-F863-4246-B2AA-46AC5C5B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F2CFB1-A482-49A2-A823-58B9506C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495C1E-D063-4DB3-8FAC-AE438959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Agrupamento: Tipo analítico após decisões aprovadas; campos ANBIMA oficiais permanecem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62BE80-47F1-440E-A4D9-92F3BC97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43: CNPJ/MF CADASTRO NACIONAL DE PESSOA JURIDICA DO MINISTERIO DA FAZENDA. CONTRATO DE CESSAO CONTRATO A SER CELEBRADO ENTRE O FUNDO E CADA UM DOS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5: CNPJ SOB O NO 36.113.876/0001-91; “CVM”: COMISSAO DE VALORES MOBILIARIOS; “DATA DE AQUISICAO E PAGAMENTO”: E A DATA EM QUE E EFETUADO O PAGAMENTO DO PRECO DE CESSAO AO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NOVA OCCAM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14: CEDENTE GENERAL MOTORS DO BRASIL LTDA. CNPJ CADASTRO NACIONAL DA PESSOA JURIDICA.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CNPJ SOB O NO 11.760.553/0001-69. “CEDENTES” SIGNIFICA, EM CONJUNTO OU INDISTINTAMENTE, AS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12: CNPJ/MF SOB O NO 62.237.425/0001-76. “CEDENTE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 GESTORA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 S.A. — CNPJ 01.645.009/0003-84.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ECO GESTÃO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4: CEDENTES DE DIREITOS CREDITORIOS A CLASSE UNICA. “AGROMATIC” OU “AGENTE EXTRAORDINARIO” SIGNIFICA AGROMATIC SOLUCOES DE TECNOLOGIA DIGITAL LTDA., DEVIDAMENTE INSCRITA NO CNPJ/MF SOB O NO 37.178.510/0001-63, COM SEDE NA RUA GENERAL AUGUSTO SOARES DOS SANT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CAPITAL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cedente ou originador nominal; o regulamento define cedentes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CEDENTE” HYUNDAI MOTOR BRASIL MONTADORA DE AUTOMOVEIS LTDA. , SOCIEDADE LIMITADA, COM SEDE NA CIDADE DE PIRACICABA, ESTADO DE SAO PAULO, NA AVENIDA HYUNDAI, NO 777, INSCRITA NO CNPJ SOB O NO 10.394.422/0001 -42 E SUA FILI AL LOCALIZADA NA CIDADE DE ANAPOLIS, 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ENDURANCE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PagueVeloz Instituição de Pagamento Ltda. — CNPJ 03.816.413/0001-37 | Serasa S.A. — CNPJ 62.173.620/0133-20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 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cedentes e endossantes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14: CNPJ/MF SOB O NO 03.634.220/0001-65.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COBUCCIO DE RESPONS 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CARMEL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 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TIVIO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15: CNPJ: 33.502.360/0001-40.CBL (“CGM” E, EM CONJUNTO COM A CBL E A CBCL, “CEDENTE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61: “ORIGINADOR” SIGNIFICA A EMPRESA OU ENTIDADE QUE, NOS TERMOS DA REGULAMENTACAO APLICAVEL, ORIGINA OS DIREITOS CREDITORIOS. “PATRIMONIO LIQUIDO” SIGNIFICA O PATRIMONIO LIQUIDO DA CLASSE, CONFORME DEFINIDO NO ARTIGO 109 ACIMA. “PERIODICO DO FUNDO” SIGNIFICA O JORNAL BRASIL ECONOMICO, OBSERVADO QUE A COMUNICACAO COM OS COTISTAS PODERA SER REALIZADA POR MEIO DE CORREIO ELETRONICO. “RECOMPRA” E TERMOS DERIVADOS COMO “RECOMPRAR” E “RECOMPRADO” SIGNIFICA O ATO PELO QUAL O CREDOR ORIGINAL RECOMPRA, POR QUALQUER MOTIVO, O(S) TITULO(S) QUE CEDEU PARA A CLASSE. “REGULAMENTO” SIGNIFICA ESTE REGULAMENTO E SUAS ALTERACOES POSTERIORES. “RESERVA DE AMORTIZACAO” SIGNIFICA A RESERVA A SER CONSTITUIDA EM DISPONIBILIDADES PELA ADMINI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SAPPHIRE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PORTOFINO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ANGICO FIDC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empresas de projetos aparecem genericamente como Devedores.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IFOOD I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693453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E3F917-7204-467C-8077-AA7B5602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ANALÍTICO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9EFB70-6440-4EE8-840E-D03A7A142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· R$ 136,2 bi · 42,6%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0E5E15-112F-4FE1-81C1-2CFE4A97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7D2273-A365-4D37-B4AE-14C69762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2E3A0B-1F34-4F52-BF00-1FB662C3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Agrupamento: Tipo analítico após decisões aprovadas; campos ANBIMA oficiais permanecem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D643BC-78A9-457C-80A8-12E4D931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81: CEDENTE(S). CIP E A CAMARA INTERBANCARIA DE PAGAMENTOS. CMN E O CONSELHO MONETARIO NACIONAL. CLASSE E A CLASSE UNICA DE COTAS DE EMISSAO DO FUNDO. CNPJ E O CADASTRO NACIONAL DA PESSOA JURIDICA, DO MINISTERIO DA FAZENDA. CODIGO ANBI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 MEIOS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99: CEDENTE SERAO CORRETOS E SUFICIENTES, PODENDO, ASSIM, EXISTIR ERROS OPERACIONAIS NA REALIZACAO DESTAS CONCILIACOES EXTRAORDINARIAS. 20.1.30. GUARDA DOS DOCUMENTOS ADICIONAIS . OS DOCUMENTOS ADICIONAIS RELATIVOS AOS DIREITOS CREDITORIOS CEDIDOS PERMANECERAO SOB A GUARDA DA CEDENTE, E, MEDIANTE SOLICITACAO, A CLASSE A E/OU O CUSTODIANTE PODERAO TER ACESSO A TAIS DOCUMENTOS ADICIONAIS. E POSSIVEL QUE HAJA FALHA OU ATRASO NA DISPO NIBILIZACAO DE ACESSO AOS DOCUMENTOS ADICIONAIS, O QUE PODE DIFICULTAR A COBRANCA E ATE MESMO A IDENTIFICACAO DOS DIREITOS CREDITORIOS CEDIDOS, ASSIM GERANDO PERDAS A CLASSE A E AOS SEUS COTISTAS. RISCOS DE MENOR MATERIALIDADE 20.1.31. GUARDA DA DOCUMENTACAO. NOS TERMOS DESTE ANEXO,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 MT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19: CNPJ SOB NO 03.311.443/0001-91 (“ENDOSSANTE” OU “CEDENTE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20: CNPJ NO 52.242.420/0001 -88 15 FINANCEIRAS E SOCIEDADES DE ARRENDAMENTO MERCANTIL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5: CNPJ/MF SOB O NO 01.027.058/0001 -91, CONTRATADA PELO FUNDO COMO AGENTE PARA AUXILIAR NO (I) PAGAMENTO DO PRECO DE AQUISICAO DOS DIREITOS CREDITORIOS CEDIDOS, PELA CLASSE UNICA, AOS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16: CNPJ/MF OU CPF/MF DO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20: CNPJ NO 50.906.397/0001-53 BTG PACTUAL SAC: 0800 772 28 27 - OUVIDORIA: 0800 722 00 48 - BTGPACTUAL.COM 15 FINANCEIRAS E SOCIEDADES DE ARRENDAMENTO MERCANTIL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VALORA RENDA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30: ORIGINADORA: E A SHPP BRASIL INSTITUICAO DE PAGAMENTO E SERVICOS DE PAGAMENTOS LTDA, PESSOA JURIDICA DE DIREITO PRIVADO, INSCRITA NO CNPJ/MF SOB N° 38.372.267/0001-82, COM SEDE NA AV. BRIGADEIRO FARIA LIMA, NO 3732,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 INVESTMENTO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31: CEDENTE NISSAN E NISSAN DO BRASIL AUTOMOVEIS LTDA ., COM SEDE NA CIDADE DO RIO DE JANEIRO, ESTADO DO RIO DE JANEIRO, NA AVENIDA BARAO DO TEFE, NO 27, SALA 701, CEP 20220-460, INSCRITA NO CNPJ SOB O NO 04.104.117/0008-42. CEDENTE RENAULT E A RENAULT DO BRASIL LTDA., COM 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 EMISSORES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77: CEDENTE SERAO CORRETOS E SUFICIENTES, PODENDO, ASSIM, EXISTIR ERROS OPERACIONAIS NA REALIZACAO DESTAS CONCILIACOES EXTRAORDINARIAS. ADICIONALMENTE, EM HIPOTESES EXCEPCIONAIS INDICADAS NO CONTRATO DE CESSAO, NAS QUAIS A TRANSFERENC IA A TITULO DE PAGAMENTO DOS DIREITOS CREDITORIOS ELEGIVEIS A CLASSE NAO POSSA SER IDENTIFICADA PELO CUSTODIANTE, A CEDENTE AUXILIARA EXTRAORDINARIAMENTE O CUSTODIANTE NA CONCILIACAO DOS PAGAMENTOS DOS DIREITOS CREDITORIOS ELEGIVEIS CEDIDOS A CLASSE, CONFIRMANDO O RESPECTIVO DIREITO CREDITORIO ELEGIVEL E/OU RESPECTIVA PARCELA DO DIREITO CREDITORIO ELEGIVEL ASSOCIADA A TRANSFERENCIA REALIZADA A CONTA AUTORIZADA DA CLASSE. NESTE SENTIDO, A CLASSE E O CUSTODIANTE NAO GARANTEM AOS 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 ECONÔMICO,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6: CEDENTE” HAVAN S.A., SOCIEDADE, COM SEDE NA CIDADE DE BRUSQUE, ESTADO DE SANTA CATARINA, NA RODOVIA ANTONIO HEIL, NO. 191, INSCRITA NO CNPJ SOB O NO. 79.379.491/0001-83, BEM COMO AS SUAS RESPECTIVAS FILIAIS; “CEDENTE CC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 Sociedade de Crédito, Financiamento e Investimento S.A. — CNPJ 37.679.449/0001-38 | Estabelecimentos Comerciais não individualizados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 — CNPJ 18.189.547/0001-42.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 FINANCEIRA S.A. CRÉDITO FINANCIAMENTO E INVESTIMENTO — CNPJ 15.581.638/0001-30.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 Financiamento e Investimento S.A. — CNPJ 03.311.443/0001-91.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POLÍGONO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instituições financeiras parceiras e vendedores usuários da plataforma são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600863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299E8-EA41-410F-88CD-F9B5909AC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ANALÍTICO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D23A0A-4FEB-4C1D-845E-19105CA6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 · R$ 52,3 bi · 29,9%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21A5E9-51F0-40E7-847D-D4F6F5EC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5D409C-5A47-4C22-9E1A-4DEAB6739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853812-955C-4E5E-A6CB-E9D2E7123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Agrupamento: Tipo analítico após decisões aprovadas; campos ANBIMA oficiais permanecem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86FBE7-1970-4DAC-AAA1-2BDAA9A1F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 PADRONIZADO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26: CEDENTES: PESSOA JURIDICA E/OU FISICA, IDENTIFICADA PELO SEU NUMERO DE INSCRICAO NO CNPJ/MF OU CPF/MF OU FUNDOS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8: CNPJ NO 29.225.241/0001-10 BTG PACTUAL SAC: 0800 772 28 27 - OUVIDORIA: 0800 722 00 48 - BTGPACTUAL.COM 3 4.5.1 OS DIREITOS CREDITORIOS SERAO ADQUIRIDOS PEL A CLASSE POR MEIO: (I) DE CONTRATOS DE CESSAO FIRMADOS ENTRE A CLASSE E OS RESPECTIVOS CEDENTE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SECURITY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 MULTICARTEIRA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BANK OF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26: CEDENTES E OS DEVEDORES/SACADOS, DEVIDAMENTE IDENTIFICADOS PELO CPF OU CNPJ, REPRESENTADOS POR DOCUMENTOS COMPROBATORIOS, OBSERVADO O DISPOSTO EM CADA CONT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32: CNPJ NO 24.194.675/0001-87 BTG PACTUAL SAC: 0800 772 28 27 - OUVIDORIA: 0800 722 00 48 - BTGPACTUAL.COM 26 E OS RESULTADOS DOS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40: CEDENTES” SAO TODAS AS PESSOAS FISICAS OU JURIDICAS QUE CEDEM OS DIREITOS CREDITORIOS AO FUNDO, NOS TERMOS DOS RESPECTIVOS CONTRATOS DE CESSAO. “CMN” E O CONSELHO MONETARIO NACIONAL. “CNPJ” SIGNIFICA O CADASTRO NACIONAL DAS PESSOAS JURIDICAS, MANTIDO PELO MINISTERIO 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 — cedente/originador nominal não identificado no regulamento disponível.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SMART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MASTER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VERSAL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BANVOX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BANVOX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12: CNPJ/MF N O 13.321.819/0001-00 – VIGENTE EM 20.08.2025. 12 BANCO DEPOSITARIO – E O BANCO BRADESCO S.A., CONFORME ABAIXO QUALIFICADO, RESPONSAVEL POR ADMINISTRAR AS CONTAS VINCULADAS DAS CEDENTE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NEBRASKA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p. 29: CNPJ NO 49.306.883/0001-51 BTG PACTUAL SAC: 0800 772 28 27 - OUVIDORIA: 0800 722 00 48 - BTGPACTUAL.COM 23 (IV) RISCOS RELACIONADOS AOS SETORES DE ATUACAO DOS CEDENTE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MONTENEGRO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VERSAL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VERDECARD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Quero-Quero VerdeCard Instituição de Pagamento S.A. e instituições financeiras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 BOSSANOVA90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 HIGH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4870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JUS CAPITAL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BLC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JUS CAPITAL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LASSIE EDUCATION CRÉDITOS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LASS CAPITAL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LAGUZ I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VCM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PLANNER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PLANNER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455509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4EC35F-4449-4B06-B7B3-153F1D94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659C27-6D97-400B-B948-444CC741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8,8% dos fundos e 40,4% do PL; dados incompletos cobrem 1,1%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722A37-E821-47DC-A604-156DF0FA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EEACF2-D184-4D19-AE4B-79F7A0BAA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A1B5B8-238F-47BF-ABE8-AE3F3A6E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PL direto; FICs excluídos pelo portão único. Definição mono: mesmo conglomerado normalizado nas três funções.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16D09F-AB33-4037-9DB4-DB1DC77A9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7babc75da0d4cc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58D925-EF90-4F56-A302-CE6064C9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0CEEEB-0979-4A67-88E0-B139DDB88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2FB701-F071-487D-B8AC-BD41AADD5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DD0A19-F081-4072-A55C-5976877E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D3295C-E9F2-44E4-9F96-894C082F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304 · R$ 331,6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DC9FFA-ABAB-4B34-BF9C-D9FA63D07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004185-EF05-4742-9D5A-3D0297026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875284-B4D0-4C60-9497-8FACF05EB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29 · R$ 23,1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D1720F-1BDC-48A8-AF39-87ABC2DC9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5C5E00-A047-4D78-A492-433FD5B9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78BACD-594A-4814-A724-89BB28DC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2.772 · R$ 413,5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FCEE76-ECAB-4280-8BCB-1C76F3CE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D844D5-9195-4E13-8A29-C35EC87D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72A38B-64B7-49EC-ACC6-F0B3E89C7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38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A3161D-F0FA-4DD5-A3E4-E0A606D23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08C8EB-9042-415B-B22F-9E93C849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602666-DDBB-41D4-B411-885AA0D21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271 · R$ 36,1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5946E5-42C2-46BC-A2CA-66EBDFB6C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AD4183-DC5D-40DD-9EBB-C3445DE6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CE9953-36BB-4CB9-B2B1-8B69EA357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60 · R$ 8,8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BBB6D4-4A46-4585-A394-7644741F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Conglomerado econômico normalizado: Kanastra permanece separada do Itaú e CBSF da REAG. A afiliação Kanastra→Itaú é exclusiva do ranking de independentes.</a:t>
            </a:r>
          </a:p>
        </p:txBody>
      </p:sp>
    </p:spTree>
    <p:extLst>
      <p:ext uri="{BB962C8B-B14F-4D97-AF65-F5344CB8AC3E}">
        <p14:creationId xmlns:p14="http://schemas.microsoft.com/office/powerpoint/2010/main" val="61352996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68BA2E7-32CA-4ACD-B02A-D5F31ECF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0C5F36-7CB2-4110-94D6-2DD559A36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A93942-FDC4-4DEF-85B1-FB4EA0DA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F5C41C-5180-42C1-AC10-C21DF45C4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178F54-926D-4E69-B2A0-5E7DFD01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AF1D0-F992-47DC-BE9D-5440AA8EA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6D16F3-DC30-47EA-8E36-5425873A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295D19-5DC4-47E1-98DF-5B256F55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0C64AF-BAD0-4B0B-B855-785A8FA7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3768F3-FD27-4942-B793-2B946F95C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A8ECB8-9B27-4A4F-9B51-D56805376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C6C895-029C-4F66-9DC5-389E83B2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AF6736-A100-460F-AB70-54B194EDC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4D6D72-2892-4DBD-BA65-A6AA1D8B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D812CA-3DFC-4171-967C-935D064E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539D2B-11E6-4C80-B4A4-495AAD28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25011B-DA78-4FE2-9F82-6C0911A3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093656-9114-4CC7-985B-E1353457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77,7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0B1CED-17D3-47C8-B00A-0384BF03E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28A25B-F8C5-438C-B45C-484F27B1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630F75-1215-47AE-975C-E1E52763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23,1%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C2D40A-D991-4211-AC97-F9BD5CE38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45,6%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E88746-89EF-4466-BC50-DEAFE247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997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6DD907-2B0D-4042-86A6-D50CC231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518000-CCA1-4A02-AD65-BCB2B5DF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4102C7-FECF-44D7-BEA9-39CF0A121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88B6CE-7CEC-4CBD-B95D-4CBEEAA9E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75,5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9854E0-DF45-4952-AF95-6F111DF0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A1C6FD-60F3-4B03-A753-F53446474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BF9229-2055-4B21-982A-3B055867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55,0%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041452-4C36-46FA-B94F-5EFE5774D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63,9%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B56DD48-A4EC-4B6D-9360-97B9DC3FE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3.147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4DD732-9BFD-4446-BB28-782DA2076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344A61-857F-4F79-AC22-EF6C0AD4E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98E7BA5-1A6A-4247-8A73-DB799611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62F7281-9EDD-49F3-B9CD-C90FD23B6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79C265E-C3A5-48D0-A765-5D1616D46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ABD5A4-E017-40C9-9CA1-9C94258EA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4AE72FF-3896-458A-B25F-976CCE3B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7B072A-A1DC-4500-B54C-2914D3689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2436898-B250-4302-A6A1-068C54BF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B591633-5F5B-4F7A-95DA-7411B2279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C991F2C-6D85-4042-970A-6AF86289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A866790-2ADA-47AC-B810-CA056506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CA99CBB-BE76-41A7-AA45-596C8E47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38,9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F367E8C-33F3-403E-9488-EC40D597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9F9BCAD-A568-44BF-9B9F-0B62B639F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12DE8EE-C31C-4A20-983A-9D869298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25,8%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E697841-CD75-43F9-8ED3-BA23E2CE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51,9%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5E87643-3E9B-401C-89E7-36A65EB8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1.225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D3F1A3A-8A38-4034-8514-BD8F13B6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B290B9A-8C3E-4E71-9E0D-3741D830E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C3D77BA-56A0-4BD4-B783-36418EB8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095C7C3-7E77-4A92-892A-C2BE743F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DFC5CDF-082F-44D0-93E7-8063A0AC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DDDCC9A-F9CD-4CB3-9B27-6DFF661B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B0AD360-AC52-4F58-8FBD-A3642D3B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0D3ACD1-C327-45C0-B848-7D21DFA5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7E95EA0-3692-4C7D-8651-B42994976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1.113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05437FA-D80E-4CF3-88AF-75E3AB62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705EE92-7336-499E-891E-91B96B0C8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5EF4CCF-F327-45A9-B9AF-11E6C4E7B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282DC6F-4FE8-4C85-928B-32DBB461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17,5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F710E28-6618-40C6-81DA-68BB5019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E1AA2E3-6AB4-4C2F-9FCC-6EB21ABA2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4A2520A-B5AC-429D-A682-54395915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49,7%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41B6E27-102D-49F2-8958-14FE6C02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62,2%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309A3B3-E77F-4592-8F9A-A5FE8521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2.658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BA778A1-197C-43DE-8040-BBB4AB3C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700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33159BE-B8FA-470F-B3CC-C59E51FC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C5355AE-BEB8-4A47-8CBC-FC609196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A275455-BEBC-47B8-98BE-4A6980E12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0F7E8F6-7537-4D88-A738-73AB96AEF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FC14CF0-9FBA-4321-A5CE-94AC93AB0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29D7E22-07FE-417F-8C73-DDCCC5DA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E3A79B2-4D13-42DF-9054-62F69698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EE38D72-DEBE-438F-B56D-9C450C2E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EDC9346-D1D7-450E-8CBE-131EAB26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344D5E8-3FCD-44DF-BFCF-811B66AE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46 fundos; TAPSO = 55,0% do PL mono.</a:t>
            </a:r>
          </a:p>
        </p:txBody>
      </p:sp>
    </p:spTree>
    <p:extLst>
      <p:ext uri="{BB962C8B-B14F-4D97-AF65-F5344CB8AC3E}">
        <p14:creationId xmlns:p14="http://schemas.microsoft.com/office/powerpoint/2010/main" val="57858226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9763F6-9EE4-4528-AF77-2DA6AE63C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3F5222-8075-4E09-9907-935310DA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jan–jun/25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851689-2CF8-4486-B4BB-716629A4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A56C8C-1DF2-497C-AE7D-B1561BE3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443F91-F122-4B3D-ADB2-5E35E4FB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0F9EC5-6DB3-4CF8-8129-F063118C5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F2495C-DA42-4D71-9291-F96ED905E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8E5014-7CB7-4788-A9D1-8C46E0A05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92347e98fd949c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0E2A3F-9EFB-45C1-9A1C-FB31A8320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E6C053-E030-49AA-B7EC-C95CB3CD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8abff46be6c4704"/>
          </a:graphicData>
        </a:graphic>
      </p:graphicFrame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7715250" y="4000500"/>
          <a:ext xmlns:a="http://schemas.openxmlformats.org/drawingml/2006/main" cx="3905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c95dbec99e14cca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E6C15D-F759-4AC3-9905-E5FDB313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074147-D33E-48B3-A98A-B8266B2B9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p:txBody>
      </p:sp>
    </p:spTree>
    <p:extLst>
      <p:ext uri="{BB962C8B-B14F-4D97-AF65-F5344CB8AC3E}">
        <p14:creationId xmlns:p14="http://schemas.microsoft.com/office/powerpoint/2010/main" val="107679476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87153A-9A20-478C-9812-19ED13CD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2698CB-655F-4653-B140-9E4A77DD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E674F1-617E-4591-AD36-1991A9D0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E0B444-F1BD-4FF7-950D-854341E3C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C326EF-F4CD-44ED-9F61-A64319179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86CA90-690D-4C4C-AA58-8776E8B0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004D0B-D6BD-4265-95AC-CB29E3DC1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22DADD-FCAA-40F2-91B5-8CDDCC82C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854c9681a57470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60723F-3AC0-4999-9B09-0CB7E0A7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94D30E-DA5A-418D-BD99-63D769603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5cac9102cf64e48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3FCCF8-7D76-466E-8245-A44CBE8A9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F76994-90B0-4B32-AAE0-B97AEA25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13c1d38de424e99"/>
          </a:graphicData>
        </a:graphic>
      </p:graphicFrame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4048125" y="5486400"/>
          <a:ext xmlns:a="http://schemas.openxmlformats.org/drawingml/2006/main" cx="40957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38df2d3bddf408c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1B8A62-4B64-4457-B2A6-527723BBE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05475"/>
            <a:ext cx="11049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fecham no limite inferior; “&gt; R$ 100 mi” é estrito e exclui ofertas exatamente iguais a R$ 100 mi.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EEC2CA-C8B3-44F9-BCC8-F652F8F8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7CA053-B5A8-4127-9FD7-69A64E01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1D4C3B-95BE-463E-AAA2-E010B71D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46E567-9F10-4DD0-9AFC-28CF320F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506297-B3DC-426B-8186-151D470B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C218DD-2D56-4272-9805-1F1023DF1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06E196-79F3-4BEC-BF05-DE0574392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8545C5-2D4B-4EEA-83B3-2B96C1CF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22419094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891F6B-EC29-4274-8255-FE5D4396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5EBE61-A893-42C2-A704-23861EEC9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513C18-C041-4023-AB28-70D7F7C4E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81348B-5F3D-4673-8421-5CD1FF7F7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0DF5D-BA3B-42C2-98FA-440EAC10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0A8E28-0BAD-4DB8-B3A6-0B529CFE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905E3F-1918-44EB-9BB7-DE6584EF1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E099A9-D3C9-40AA-A25A-9F62E7644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a597fd5fbe4444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066DC9-71E4-4FE8-ADD0-FF3E9EBD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94A9C1-737E-4C0D-B039-C83B2BB6B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d29f86f6d74374"/>
          </a:graphicData>
        </a:graphic>
      </p:graphicFrame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4333875" y="3552825"/>
          <a:ext xmlns:a="http://schemas.openxmlformats.org/drawingml/2006/main" cx="3524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e8840f8fe24b84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0F214C-9987-434F-B145-376A7A54A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8637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DB1E48-BCF9-4921-8FD1-AF6B61FA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5A3716-4258-41FF-8C7D-90B3E576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9c72d428efd474d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D085A7-2E4C-45F4-994B-C010E7CE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676B97-5187-44C7-9E1E-A5897205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f8fd7bb83c5492c"/>
          </a:graphicData>
        </a:graphic>
      </p:graphicFrame>
    </p:spTree>
    <p:extLst>
      <p:ext uri="{BB962C8B-B14F-4D97-AF65-F5344CB8AC3E}">
        <p14:creationId xmlns:p14="http://schemas.microsoft.com/office/powerpoint/2010/main" val="163005192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0142CF-02D5-4CE8-9BFE-CBCDF7D2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5AA8AE-6AB2-4496-BA35-CFA2D9FDC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BE896D-9DC6-4B79-BE5D-D32E43E1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6A80A6-509D-495A-A44A-255BC90C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ADB582-7A41-456E-8C29-E9E10ECF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7645D5-D73F-4147-81FA-3A983DDB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AED0C1-B856-4601-A9BF-2921E6C3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2ED62E-B1E3-4E30-ABD8-5D0549825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AA+.br(sf)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BBB.br(sf)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ABC BRASIL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 de BRF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br_Aa (AA)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AAA(EXP)sf(bra)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AA+(EXP)sf(bra)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VORTX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B807BD-D36B-48EC-A0FF-25D9DD1A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053107-F866-4AAF-8ED7-5667612C9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 ·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SINGULARE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AAA(br)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A4420B-9456-4111-B145-505CF53E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FA6EC8-F634-4371-80D1-F02BFAA37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838964-B83C-436F-B136-C0309C41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59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GF = garantia firme. Agência e Rating referem-se à emissão/série/subclasse conciliada; N/D indica ausência de documento aplicável. O workbook contém todos os períodos e a trilha documental.</a:t>
            </a:r>
          </a:p>
        </p:txBody>
      </p:sp>
    </p:spTree>
    <p:extLst>
      <p:ext uri="{BB962C8B-B14F-4D97-AF65-F5344CB8AC3E}">
        <p14:creationId xmlns:p14="http://schemas.microsoft.com/office/powerpoint/2010/main" val="1347882103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A6A519-C1E9-46A9-9767-DA79E837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FEFFBE-37A5-454B-8EC8-BB01A141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agência e rating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A87EA5-7601-49DC-AB48-929F5BE0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965B69-84C0-4036-94E8-42965986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9FE729-A5E4-4C46-BAFE-72C0F761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1C7F71-B21E-4841-A396-0CFC0065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0FA98B-08D8-4254-B69A-964BB38A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7C8E82-A644-412D-9D6F-B5B0596B3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 AUTO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INDIGO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ABC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ACCESS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MODAL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932372-4E8E-4FBC-AD0D-71E60383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72E74E-ABC6-419A-86FC-55F0D03F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6D4952-29FE-4EAD-8F0C-2832D7D2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CAIXA ECONOMICA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 CRÉDITO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brBBB-(sf)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 INDÚSTRIA PETROQUÍMICA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C84056-9067-4406-8282-0F31B0BC8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F0904A-9639-4EED-94B0-E4B9348A5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7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GF = garantia firme. Agência e rating são publicados somente quando há documento público verificável conciliado com a emissão; ausência de documento ou vínculo exato = N/D.</a:t>
            </a:r>
          </a:p>
        </p:txBody>
      </p:sp>
    </p:spTree>
    <p:extLst>
      <p:ext uri="{BB962C8B-B14F-4D97-AF65-F5344CB8AC3E}">
        <p14:creationId xmlns:p14="http://schemas.microsoft.com/office/powerpoint/2010/main" val="164317609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7F49BC-F2A0-4EE4-9871-24C75643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2022 PARCIAL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D84C55-1193-41AC-A530-1E9640B92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5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pública recuperada contém 7 ofertas legadas; o período não forma um Top 15 completo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957D86-677F-4311-AB9A-74107B266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F8C5DD-9A12-458D-89D1-25630B0D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D08A9A-1D61-4E67-A3E3-7117E5C1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 de distribuição dos ritos ordinário e legado, e FundosNet. Registros encerrados em 2022; cobertura parcial.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2F218F-F7AB-4EA3-BD6D-29DC5C13A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11049000" cy="3333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428625"/>
                <a:gridCol w="2476500"/>
                <a:gridCol w="1524000"/>
                <a:gridCol w="857250"/>
                <a:gridCol w="1619250"/>
                <a:gridCol w="619125"/>
                <a:gridCol w="904875"/>
                <a:gridCol w="1143000"/>
                <a:gridCol w="14763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Coordenador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CRÉDITO AGRÍCOLA COTAS FIAGRO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7985AB-0412-4A90-A538-7CDB1C40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 observado: R$ 2,75 bi. Limitação: sete linhas legadas não sustentam comparação anual nem inferência sobre o ranking integral de 2022.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A589AB-F998-420F-B268-A01E894D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9750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Agência e rating são mantidos como N/D quando não há documento público aplicável conciliado com a oferta, emissão, série ou subclasse.</a:t>
            </a:r>
          </a:p>
        </p:txBody>
      </p:sp>
    </p:spTree>
    <p:extLst>
      <p:ext uri="{BB962C8B-B14F-4D97-AF65-F5344CB8AC3E}">
        <p14:creationId xmlns:p14="http://schemas.microsoft.com/office/powerpoint/2010/main" val="30687315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CA8449-1D2B-4BFB-8BE2-4A7034981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0C4C38-F13D-47A2-8B60-3C9835E5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BD5548-90DA-45FF-AAEB-7F359825C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FAC72E-0EF6-43A4-B487-4545F871A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744078-FB9D-4CFA-9FF7-377751CB4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687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até 30/jun/26 e ANBIMA até 31/mai/26.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052BE4-95E8-4A5F-A26F-85011C53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10221F-927D-4CF7-BED9-039B6885D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F9D1B5-2B03-4F8C-854B-F9780FD67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401D9A-B170-4723-AAF0-811A08E4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F9C7D8-2AF2-40D5-BB88-FB2CEAA68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5F778D-2581-42F1-BFE8-5B08CF8E5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BF7412-8B90-4C90-A299-301CC4DD0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9587DC-0AE4-4578-BE6C-4B3BB233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626316-0BCE-4126-AB73-D28D4EF8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5EC192-EA39-4E01-9DAF-8DC4466A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49D90C-1BF5-461E-965D-339722AC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B188E0-1E0C-41F2-9BB4-55D279F3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2F8D10-0478-4FC9-A036-0F19D887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2A318E-F56A-4626-A944-865F2237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AABED9-3BD8-4F2D-8E56-1F67E145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57F158-E9DD-48B2-B0E6-2F3A391C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7C6154-3778-48B6-B522-E442D98A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244091-851F-45BE-BDF1-5AB46203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8E8544-B9A4-4E31-AA77-4076A9A5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C60D26-1DFE-4243-82BF-3535283A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F3D314-2AB6-4077-A96E-5B892C11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694034-ECD5-4B65-AD32-BD9FBCD5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407909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ECC8E2F-179E-43CD-9891-FF44B512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18C6A6-8131-4CA0-BB93-CE8DA589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3215CC-0BD1-48E7-AABD-85C2A24DB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E46B5A-1DCA-4E06-BC76-A88239D9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ED13CC-529C-4229-829F-30DEBFDDD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487551-6D9E-44DC-8402-1873BCB6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2A7340-54CD-44A9-B385-81826327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6AD456-F473-44E9-8492-72CFA243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87DE1C-BE5F-4B35-9889-F3DDFC36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60813C-DBB1-4E42-894D-F9428A3C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C79C54-4DA8-4F57-B8EE-DC788769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5D38C4-BF91-4DE4-8C42-E575AE13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97A7CC-0653-4818-940B-208D890F7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DCA037-0FC8-49D7-8E30-EB90E22C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F89EE6-1F4A-49C8-92C9-BB128C729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7DF58C-1E4A-43B7-B048-4F5FAB4F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1932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ABA4AF-76A5-4B39-BB59-FBBB34D7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241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5573A4-D69D-4AC7-ACEF-BD0EAAD47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4790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DD83BF-1B88-4CBA-93D6-155F5EDD6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24790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89,82% oficial; 1,15% evidência; 8,45% proxy; 0,58%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7289F5-B23A-45E0-8759-770BEC41E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24790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Gestor e custodiante históricos usam o cadastro vigente; a base não observa a troca ao longo do tempo.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B5AFB4-0A24-422E-BF31-1CE801A18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3367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2BC5ED-383A-40CC-A9F5-477ABDDF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349F7E-CFC0-4B2F-8715-6F6D3200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6225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91C414-29AA-4FB9-9731-90A41EFE5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7622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7FACBA-9BC9-4702-B37E-440E58590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76225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Aging reconciliado à Tabela I completa; ex-360 ajustada = 4,9%.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81B598-3CD1-439C-90CF-067C5EC7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4802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7AB5EA8-17D3-4224-8F1F-5CB7FF97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52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9D54C7-8D7F-42CC-8D25-DCB88565D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7660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AF1147-6C1B-46C8-B492-6DCC2E804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27660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842C68-4092-4014-B2EE-172455799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27660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subtipo; cobertura de classificação Tipo+Foco por PL é reportada em cada slide. Top 10 fixo por função; Outros identificados e prestador não informado separados.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52DEF6-0BF1-42BF-8839-0BF9F75E2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6237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7DE05A-DDF2-4AFF-83DA-2DD6F84A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67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E1965A3-6687-4354-A6D5-26F20BDD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095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7CCD67-D0AD-457E-B075-750AEA0A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7909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3.474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39DB7C-BC79-47BE-B927-98FEDC2F5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79095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direto; FICs excluídos pelo portão único. Mesmo conglomerado nas três funções; Kanastra permanece separada do Itaú e CBSF da REAG. Afiliação Kanastra→Itaú só no ranking de independentes.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6B73F3-78FF-46AD-AB55-4945723A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7672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E5C0BDE-F15F-4456-8E09-E7AA5D91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15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7ED47BD-A04B-40DD-A1C5-7B3BACEC5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0530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Comparativo por instrumento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C7EBE68-ACD0-4EDB-9387-771863B7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30530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jan–mai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253F258-EDE1-4D62-9D10-B2CC5E94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30530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ANBIMA Data, Valor Encerrado por data de encerramento das ofertas públicas. Debêntures incluem debêntures de securitização. O anexo não segrega sistematicamente primárias e secundárias.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14F9C06-768E-41FC-A947-DE79E762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107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A5020ED-BC2B-4279-AADC-9C68D33A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959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3E8E184-EA15-4B05-93FA-572E79F6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1965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Análises granulares de ofertas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45BBE05-6B5E-4D5C-8CDF-D48059AA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8196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2022 parcial; 2023–2025 FY; 2026 jan–jun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548B67A-7F91-4B62-AC64-3633D573E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81965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CVM/SRE, Cotas de FIDC, ofertas públicas primárias encerradas, todos os ritos disponíveis e valor registrado positivo. Automático: requerimento; ordinário/legado: registro + emissor + data + instrumento.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71F1674-4265-4636-A213-8B8A9F9E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1104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E76213A-88EB-4E81-9564-26EA08BE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1B8CAE2-7926-46DA-8ACC-0333D24D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3400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Perímetro FIC e cross-check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C56916B-D1E5-497C-A18B-6AA32255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3400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30 nomes FIC mantidos; 319 inconsistências (R$ 139,03 bi)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13ADE9C-DD63-4F82-AABF-EB7951582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34000"/>
            <a:ext cx="588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portão FIC usa sinal nominal legado e revisão quantitativa; a auditoria separa a origem registrada de cada decisão. O cross-check registrou 243 multicarteira com classificação específica, 70 aprovações sem evidência suficiente, 5 emissor × credenciadora e 1 divergência aprovada × publicada, sem correção automática. EXPERT III (53.073.485/0001-00; R$ 3,52 bi) é o único caso em que a correção de perímetro sobrescreveu aprovação manual.</a:t>
            </a:r>
          </a:p>
        </p:txBody>
      </p:sp>
    </p:spTree>
    <p:extLst>
      <p:ext uri="{BB962C8B-B14F-4D97-AF65-F5344CB8AC3E}">
        <p14:creationId xmlns:p14="http://schemas.microsoft.com/office/powerpoint/2010/main" val="248486696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AC2A65-45F3-4153-A0FB-39E1E553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1EFBAE-27A3-4AE7-9401-6B89C888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C3068A-FA97-44DB-B30F-D1B773C3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35839B-65F9-4683-8AFD-2958892B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5ADFA4-B967-4D3C-9E75-CD83D7161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22139C-3348-45D2-B338-3263EC80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BEB56E-2A11-4E73-A024-B77CB2811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D79FA4-8698-4BCF-884D-E4AC403D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B30E5A-E9B1-4C9E-9535-3D8460358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3BC689-95AA-41ED-B2A2-F2CC25A41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2864E7-852A-4B96-A352-BF7CC9CCC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D2CCE7-1AEE-469F-8BC7-5E8FD36E4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7F631E-8097-4437-80D7-2D9096AA0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3AAACD-8D39-4D1D-A8CC-893CA91A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39FC8C-C9E3-4D33-9799-C6A5F73A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1C934A-F327-4E35-A911-CEC9E54F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76ECFF-C8CE-4C08-8B34-958A47E50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D02078-EF46-4944-8B1F-F89F8EA4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4227DB-8612-4817-9239-13A786773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E88216-9B05-40F5-A2D7-20980C4C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1C50F9-D6A9-429F-B2A9-5951085E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659D55-E755-4E45-B100-629D484F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FD7E4-A5F1-43B8-8371-EBE94F3B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BD7DD7-75C6-42F3-84E1-E4921A6F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F2FE75-5321-4878-B75F-08C84ACE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0FD6DF-CF96-4FE7-A118-156BFC3F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AC201F-B575-4757-991B-A94A493F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5CF4BF-0EAA-44F7-92D4-70FDBA40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E48A34-90DB-438B-8E67-8BFFC17E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https://fnet.bmfbovespa.com.br/fnet/publico/abrirGerenciadorDocumentosCVM?cnpjFundo=09195235000150. 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97195389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9C4AF6-A31D-4549-8189-4225DC8B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508F7C-C104-40D4-87B7-2445703C0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5,1%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FC7F97-3010-42A2-BC10-6C7F3C316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C4292F-0229-4856-A55A-76F60C827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B01985-B89B-4F30-AD7B-F27F445E7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38C881-91CC-4A11-921C-023B5B9E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960B47-48DA-44E8-A300-6FF2B6EB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252CCB-3E5F-4E7C-8A09-9EC3868D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6F7636-980A-4D2A-ADC7-8E3465C7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EBA83F-E919-4802-9735-730F3E7A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2617B6-DF4E-4D59-9ED4-CEB6EA6C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1174B1-CAD1-4428-8C2D-5B646DE9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9E1AD7-7B4A-400C-A24C-36A91E1A3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9F18EC-10BD-4436-8D87-1E342584D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D0C308-DB5A-4AF7-ADDD-7E09E1CE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4B60A6-1FFF-4131-B0C1-AB59C8EF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E40CB3-3146-4B07-82BB-F5C253E89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CDFA5F-EE15-4C44-AD21-81910780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9B9C58-F923-4CC7-876A-EDEDAEC3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24BF52-BFBC-4D77-BE3A-15A7FA741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29F179-FC98-4B09-91DC-1D998095C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35C5A6-FFB0-43D4-8B36-11C2CB7A1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B5016D-F5CC-4D98-A264-BA380EC9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A36AF9-363F-4611-B46C-2AE0BF9CB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BF9791-248C-4462-A2C8-75806B94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0FEEB7-78AF-490A-B07F-B7D07EEC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E6C0B0-895F-4FE6-A1B2-3FDED39D2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520D4D-500C-470D-BDF2-EB776E6DA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B66530-D440-464A-AC11-AB7F876D4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https://fnet.bmfbovespa.com.br/fnet/publico/abrirGerenciadorDocumentosCVM?cnpjFundo=26287464000114. 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0314743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4D29B3-EDC3-4DF9-B60E-45D657028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82309D-D39F-4A97-A517-BAE3FDB2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2,2%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AB997A-656E-4A04-B842-55DF3F9C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96E20A-2C14-4127-B495-19137D01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0A786-6BD9-4F3C-89AD-68FFD40BF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09B7FA-2DDC-43A6-AE86-C766C245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1B1F0C-0407-453F-8E95-BE40CEA0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BDDA5C-9B42-4F60-BAD7-9A94166A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92CA59-CE56-4C22-BFEC-44C95417D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1420A7-8234-4868-9FE0-4FD0EE32F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BC4814-8FE4-4FED-B63F-6CBF2745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F39FCF-3B69-4052-B869-653346A8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64A97F-D133-4B86-AAAC-42144879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FF8355-A29B-44DF-A5EF-1FC8EFB9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0917B1-4EE0-413B-B2AB-8B69C179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6053F3-EDE5-4A13-92AF-4E0F37B3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F004CC-CDAF-44F1-8349-9DF04C0C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E44669-C1D4-4511-994C-E89EA73D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ACC94D-F0ED-44B1-A6E4-06E2ADC99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8D3A7F-A879-4AB1-8248-98E3BA76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9D951D-7C23-4381-A625-63C81AA4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1B4B23-DCA1-48CD-9D20-0666ADBC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C4B90C-40F9-4746-8EB2-1B37CAD3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33C103-83C6-4DA4-8261-E555EF629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B0E34D-C823-49A5-8AEE-EBB56D08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2D4D02-91A8-4A52-B147-AF266BD3B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6ED4A9-EE97-49D0-88DA-404E8A0B2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Proxy CVM; validar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AA081B-DFF9-40A1-B49F-8BBBF0437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CC5503-10E3-4A03-96A3-5240069E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https://fnet.bmfbovespa.com.br/fnet/publico/abrirGerenciadorDocumentosCVM?cnpjFundo=65473848000183. 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10401254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63CF30-A65F-483A-92BB-D9FAD5EAA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ACE833-E57D-4551-9E13-4F9114C7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1,2%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3A6AD6-4AEB-4168-851C-42C1A69E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DC7553-E269-4267-9711-FDEDA977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1BAF72-FE1F-417E-982E-E1B346C3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7592F1-685A-4997-BA22-DA216FAC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563B92-3415-4DC7-8683-8ECEC4F7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2ABD76-007C-4853-9A94-B042D4B5A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7ACF9-940E-4606-9BD4-26C0E89D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0504DE-B524-43C2-8634-D2CB5E55D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632DF9-2C20-4589-A5C3-6C13EA5E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0864A7-D73D-4A79-8DA3-E900BC9F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1CFF67-9E9B-49CF-A940-3844D084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2A5331-6B19-4AC5-B854-C3B477D1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F8BC0A-89F6-40DC-8C60-AD9D7B4C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AEC31A-62D4-4E8A-A597-E15D6B312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6860E3-EAE8-43CE-9BC0-E5FF3C86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654F98-19D3-4B5A-9921-EE646656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5329B0-CC84-4089-9BA4-C8AE710D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47DDDD-BB5A-4EC6-870A-458E95E4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3CDA6B-D1A0-492E-AFED-E00AD521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R$ 5,5 bi | doc. 1166893 || 2025-09-16 | encerramento de oferta secundária da 1ª série | R$ 4,2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AF6974-4A7E-474E-B3A7-DB365212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CE81F2-88FB-4112-9E49-70E36456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68F244-FC54-48CB-8F60-B528185F7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B40CCF-C34E-48B6-8DF2-7A8F0DB4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FB6840-E058-49CF-AEBE-B3692075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6B81FD-24DF-4017-9104-6F8734D36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66DE6F-6729-411E-9B01-22BF177D9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23310A-2B55-4F6A-91BF-71213E26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https://fnet.bmfbovespa.com.br/fnet/publico/abrirGerenciadorDocumentosCVM?cnpjFundo=62393679000183.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57073952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8EAED9-82BF-46AC-B81A-93B4032D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8538BA-AB29-4C33-91B6-A60B796D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4E8CBB-2188-4C6A-A212-F3C346A6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1FCC79-C2A5-4FFA-A506-0C62D64C2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3BCC39-C994-4FC8-B7BF-5D7CB144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A4C944-E5CC-4F10-9D26-CD9260A9E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E70CFF-C465-49A0-A518-AC2798D5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92EA95-C82C-46A8-95D3-E1812FD6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13486C-3BD7-4550-B145-026ACC500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145954-5AE0-4189-91D9-F85FF47A2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E4B1A0-2C0D-4CD6-AEA8-44981927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S.A., como originadora e endossante das CCBs.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7B957A-D51E-4DF6-84C3-12D99FDF4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4990DB-DFB4-4919-ACF3-52A4F073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por empresas privadas, devedoras dos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6523C6-FB9F-4FFF-A05E-0D5DE378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02C728-BAC5-4B1B-8FA1-8045214E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CCBs de empréstimo consignado privado, processadas na infraestrutura Dataprev e Caixa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6449A9-C292-4611-9F39-2E9E6507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E388C4-149F-4005-9E66-88E178776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as CCBs à classe;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F7CE84-7180-476D-A95B-EA478B020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429362-CA39-415E-9E6F-84BB97AE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30397C-BD43-441A-8492-BE466BE2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4B1E6F-C2ED-4B97-950E-167923BA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08/01/2026, aprovação de colocação privada de cotas sênior em vasos comunicantes, com limite agregado de R$ 15 bi, e R$ 7 mi de cotas subordinadas; aprovação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8C90B9-AB88-413B-9673-F3FE5528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8066FA-61F2-415B-A4C1-4CDF230E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índice mínimo de subordinação de 1% do PL e índice-alvo de 10%. Garantias: Desconto consignado em folha; cessão ou endosso definitivo, sem coobrigação geral da Parati.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91C0EB-D2D3-470E-B245-6D925B70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7BCC51-38E5-400A-92ED-4CCA1CDF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455A2C-5855-4E9E-9FEB-AE8CCDCF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E4CD18-9FB1-44D3-A7B1-3292565EF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Consignado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Evidência documental primária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E47B06-A7EF-479D-84A3-55088FDB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D5DD27-B5A9-47BA-A649-B40F19A8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1222855 de 02/06/2026, páginas 3 e 15; deliberação id 1087883 de 08/01/2026. Evidência: O regulamento declara Tipo Financeiro e Foco Créditos Consignados para a Classe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1859401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01D2E3-EBC0-4F9B-8CE6-00CA2946F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82814A-AF6A-4CFD-81A8-06DC4005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DC3865-9696-4176-A6F7-690361C2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76B459-C90C-4247-AB24-C4EF69CD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0094C9-69B6-4FC4-95D0-E4601F26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04BB04-AF50-4C42-B95E-B4E6D72BD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9DC714-9B6A-41F1-A3F7-559587C9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D380A1-E663-4207-BADB-42DE9E30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FCC1F6-B6FC-4971-89F9-053E07D3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7B6D78-BC2E-4853-B72B-9DB9195D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D04E4B-0C8D-44A7-963D-0997D90B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documentos não apontam uma entidade cedente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36366F-0C37-46FE-8E13-964CD029E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96C667-EB82-4EFF-9903-02C42C318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2CAA03-D89D-448C-9E09-1C36295C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DE3882-B520-46CA-8E9D-17151BC91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86901C-84E7-418E-967D-FD6F0A59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B408CC-5D24-495B-A5D5-48DB67ED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6A41C8-C74D-449D-A015-30DF0F36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C2329F-7EA2-4285-8E63-0D97BE25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04D7BC-BF91-4659-A5B3-8CA56790A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703C9E-BEDF-4562-B9E0-39763899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67BBF0-3A51-4892-A006-71C844F1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75882E-C974-4729-BCD7-9559AED2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605DA2-6F71-42BE-B1CD-64F852A6B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33CF7B-87DF-4DB5-8934-58C374645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0F3589-0492-41D6-9449-DA1462DC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42E294-1B3F-47A9-87A9-B7E1AE2D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3D257B-9A2B-4F35-BB67-790653DD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40C46F-C400-4E8B-A1C0-6FC3E08B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https://fnet.bmfbovespa.com.br/fnet/publico/abrirGerenciadorDocumentosCVM?cnpjFundo=53286499000101. 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91791438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5345E9-EEC0-4145-B4C4-18055B5E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026AD-A1F5-4D42-9CD2-F1276D4F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0359BA-066B-4BEA-912A-505453ADB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C6DE04-EFE8-4A6F-8192-2F175361A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0E32FE-9051-4DD4-81BC-7769CE013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6AA541-4096-44FE-AA66-CBD4071D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ABA3B2-D8A0-4C3C-A820-CAAF505EB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ACB4C8-DB42-4695-8B3F-BBE9A437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F7AF2E-9968-43BD-8AC0-A2A36056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7BD3D3-20D4-44B6-A6A1-C0ADEC88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0C20BA-9A01-4071-B680-55D1216B7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17B296-5CB7-4EFE-9FAE-318F2FF4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E22BAE-B55B-4E7A-AD01-EB622EDE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CC88CE-5333-4189-AB2D-0AD25E4DC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CD2E25-FD0E-47F5-A99C-95B65FFB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E61B86-16D3-4AD0-8A63-D0C404616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50ED66-A4B3-4A82-BBF8-C4FCF835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69A55F-1013-4102-ABC7-0FFB0A3A5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9D32D5-3972-4E22-9AC5-362C20FC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1AE71B-FAAC-4A08-8157-B0D2A47C7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B2A676-69C0-43F4-8499-A3FA3327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R$ 2,5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A8F855-B752-4495-A646-42178241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6FE329-6141-4D80-9F4F-8F377F72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162383-2FC7-48C2-AE8A-CD87D277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3DF0D2-0D2B-4C09-A02F-E629E144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9C1B36-8971-4F4D-8044-27F015AE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E53EDD-6E0A-40B0-ADAD-3C9877ECF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F30620-FC2A-451C-A662-0FC9A813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D5FC4F-0703-4087-A1F3-8C436F80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https://fnet.bmfbovespa.com.br/fnet/publico/abrirGerenciadorDocumentosCVM?cnpjFundo=52242420000188. 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91373194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941E6D-B150-4D00-ABA6-0AA278D15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80063D-CC8B-4F68-A82E-411C19A8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F5E3F8-2FDA-49AA-8FC6-BD13DC281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14CE02-0C9F-46AC-A8C5-4893A676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A75A2F-A846-4DA6-8BFD-CC56D78B6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40E43A-47D3-4A40-8AD2-FF67A6C5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BEF3E1-ADAF-4C16-857D-BF0DD9DB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BD8A7E-CC25-4D13-8079-994F9FF4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D3F575-2D32-4A79-B61F-889E36834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B83F9B-E78A-4656-992C-08877534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1FB7D4-7A81-4B0A-802B-AF34211B3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B0269B-6B24-4FE9-8F8D-E2C23499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6BB611-AD1F-47A7-B382-ABD24573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CE9752-C329-4547-BC1D-FDC1D004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D3217E-8FF5-4DE7-949B-F4F3856D2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060CB6-8D8A-4B1A-8A9C-1BA8B8B00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355B47-A4B3-4914-8F6A-26F56B7F6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11C853-6F3A-4473-AFAA-1AC901CFE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82A9D4-F5FE-4760-A518-580C4F9D3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1728D5-8113-4A7F-8BA3-ACA7FB1B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52890F-E704-4B6F-8466-01692BC0F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429A59-3C4D-47F1-82A1-3CFDC33F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49048B-1E65-45F1-B529-D9C7F623A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6B7A77-A253-43E2-B5E6-EF32B6E7F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6777F0-FDE0-426B-8585-ECFEF008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33DB83-4441-445A-AA58-72F4F7F47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DF920F-AB5A-4E98-83BF-053BF200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978CFC-0081-4894-BE46-B37A9EB26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3EFA40-A411-4111-9726-37E951C7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https://fnet.bmfbovespa.com.br/fnet/publico/abrirGerenciadorDocumentosCVM?cnpjFundo=52610624000124. 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2136737687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D60D16-DDB0-4095-9777-145B4EA7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61B351-0AD1-4D34-8F8B-33E70EF12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B63B90-E551-4F82-8AC7-9A7927C3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212911-CD8C-4F26-B52E-66A75CDE0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C4FF5B-D920-45F1-92D2-E617DD28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75FFDA-8831-4FBC-8331-4386CBD1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FC7063-F0AF-44E5-9C8B-DE0FE0E4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22814A-D57E-4223-82CB-38D29ED5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7CB349-0A8D-4440-A761-F530CB9C7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9522BF-4239-48FA-AB50-12A23B38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3C3CF1-9EDF-494F-8C83-E86754CC2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C29A97-E164-486F-B163-1F7221EC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94A269-DA85-421F-8AD3-06B8F27B7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7118AC-C456-4F97-963E-6ED62973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B135FC-9F75-4A88-8ABE-14D846BF2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FCCCEA-9977-4433-A9E7-3890E259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CF6307-887A-41AF-A7B0-D81B043C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7CCE72-A606-4BB5-9D51-1725CA831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B391DE-B5F6-425F-8542-71A354AC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C07896-22C3-44AA-8988-35E9EB48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E86DDC-0849-40A4-9F75-CA6976DF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R$ 1,0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A32843-8783-43D3-82DF-DB145B65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5AFAEF-B176-4503-BD01-A2DEE63F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1FADCA-D723-4DC0-B1C2-6ED702B8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3C1272-85BB-4114-9F61-CCDC87F0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713636-FBA9-4B58-87A8-C1EA86E9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D65B7A-1EA2-4EAB-AF3C-A04CAA8F0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E14596-0016-414E-A007-A9C6B8A3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8F2E67-11E5-40C4-8320-9C02DF31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https://fnet.bmfbovespa.com.br/fnet/publico/abrirGerenciadorDocumentosCVM?cnpjFundo=26286939000158.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90385675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02ED9B-BB93-4CB3-8936-6CC618C6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25C0F6-6ABB-402C-9D5B-0A2876E14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4F0556-D1A6-49F3-832A-E0F6EBBFC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5EADF6-9433-4351-BCCA-B0ABE50C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3D3363-8E99-4E1B-AB46-0D2CF245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03191E-D206-49D9-8AF2-885B275DD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FA02EC-5E47-4A9B-9285-A1BA36AED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6D0E31-795E-4E2B-8BDD-2031BBF4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5FC29C-DF1F-4B89-94B9-DD17D7D8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E1A28B-5231-44EC-B97F-6A1D3976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91B72F-B0D5-4BE0-BAAE-F7A2E7C3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5C70C3-8C1A-4F95-ABE5-44BB06B0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F49A2F-612E-483A-98B3-CCD26260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DB10E3-13A5-41C3-899D-76B79D34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C46EB5-5F9F-48F6-9D78-4EA47D23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C974DF-3F35-400A-88B9-CF3270E6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52172A-A0C7-4EA8-82C2-263876A2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07BF31-6B0E-470D-A170-40EDD82C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50B18D-744C-4128-A53E-E27F0AA3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CFCA23-5FEF-41CB-8E4A-7860A903F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F9FA4D-4BCF-4F15-BFD8-29A973FD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4D38B9-A41C-4974-9ECD-8E034108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69AF6F-4D1D-4C58-AA84-788801C3A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672A0B-575D-4F5A-A096-493805DF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C416C2-A59D-4B71-B2E9-EE15D8B3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AA4408-E726-4E9E-9676-A960A33B4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77669F-73BC-454B-BF2C-CBB980975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BEC2E6-261E-494A-B62C-F0C33F174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C5F2FA-50EB-4765-8EDC-4E871AC2E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https://fnet.bmfbovespa.com.br/fnet/publico/abrirGerenciadorDocumentosCVM?cnpjFundo=53216449000158. 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17543463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EADB0B-AAC5-45F5-969D-FA92248C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729E8A-BE76-4382-9E82-5D1BDC33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B5D9B9-260B-4BC8-9879-6AF63EC7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F3D5E3-9226-4BED-AB91-05333849A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D00395-02D1-4591-B788-89AE4478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473B45-1945-444D-949A-B78B858A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98E467-B978-43BC-8DD3-3F2737F5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748B78-FA94-4A78-8220-EB358061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E7ECCD-AEB7-4ABD-A285-FB44E6057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04D049-1C22-490D-8D1C-B3E69C89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91222D-99E0-4C6D-AF56-84E3E4BD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DA52A3-2DE5-453D-B885-6FF4C719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56753B-A0FE-4756-B7A4-A356D430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8D7CD2-64B5-4F87-AE92-9C424C78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26C86C-EBA1-4FBE-BA79-24EF9B6C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C0B26F-66A0-4FD6-BE31-F143105B0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940676-B45F-4649-9DA7-87E35AEC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18CA1D-E044-4AC4-A44C-6FE5DFBB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153942-72FA-417C-BB7E-19F2A9C6C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B80419-5121-4DB2-AE66-282566D7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81AD91-A9E8-4D03-8BDC-B9181F75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R$ 1,0 bi | doc. 1148251; Valor ofertado; o anúncio de início não comprova colocação. || 2024-11-06 | encerramento da oferta da 3ª série sênior | R$ 1,0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F452DC-C80A-42AB-9618-CA625DDAC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E685E2-736F-43DD-918F-B7208311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D421E8-AEDB-43D0-B553-6E5154D6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39B285-4BDA-4F73-A5DA-BFDFAB98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2EA003-D1D0-4F36-B491-563F3F50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7DF2D6-A6F2-40B5-BC43-D6E99FB89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553DFF-A18A-4503-B380-EC111599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4C3F0E-0EB1-49E1-87F4-B1D06EB8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https://fnet.bmfbovespa.com.br/fnet/publico/abrirGerenciadorDocumentosCVM?cnpjFundo=28169275000172.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41729906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CB341A-A0D0-4A75-A5E7-1F98BEAC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5F0439-92E4-4D2B-94C6-EBD8F2F0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80622B-5F0A-4075-A634-5816866BF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10C95-788E-46B7-A7EB-020191D74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0AB9C5-E803-4A05-9D41-E41D4F812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5F922E-7150-4E67-BEA1-E60B90DA7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92DC27-E68A-4BC3-BAB7-90EDDB0D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1ADB19-2CEC-421F-B40D-BF0F3F5E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4C0EAB-E72B-467C-AB79-3A3CC3258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49EB8E-B6DC-45FD-AAC4-D4A4F581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725ED9-A7FF-46B1-949B-B5D78D17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327A6D-F76C-4948-B118-EAD94726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51EF67-DA2F-418D-BC53-4A2317996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73878C-C427-435B-B783-67FCCA479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DB6895-002F-4F4A-BFED-0EFC37D5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EFFB3C-7815-4658-8CE4-42025B759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6ADA3C-B68D-48C9-884D-DC2B0034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AD60B5-B687-491B-8152-1C6B3B21F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B3F1A5-37FF-4B76-933E-978710C67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7F32A7-BFF0-47DE-9A8C-CD7F8F55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4F137D-DAC5-4DE8-9DC7-B61A78999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R$ 11,0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6E133D-9E3B-413B-BF89-7874B0CF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5F4761-01D7-4705-A72B-AF4E1B0A3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57E9D7-43A9-4286-854B-866F3FBFF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02B5CA-6875-4C25-99C9-65BDD017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C23572-1BDB-4204-AE40-78339F250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F1BD83-0C59-4D03-94B7-C4ADE2E1B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2AA1A1-EDD6-4155-A0F8-990586F6A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3DD908-EA84-4084-8487-7403EBE43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https://fnet.bmfbovespa.com.br/fnet/publico/abrirGerenciadorDocumentosCVM?cnpjFundo=50906397000153. 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583140395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C1C140-3C2F-48CB-8B98-AD22B1C7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FB9F81-D096-411B-B76E-5E55EE8E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15AB0D-AAD3-4F17-863E-F407D592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C94E40-D0F0-41F8-A598-6BC36F84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596162-A792-4B16-B866-D24D7E3C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EAF231-4C2C-49A1-9394-B7F8733D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746224-3D1D-45DB-9A09-104CF2F94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D5D11C-D0E2-4245-A6EC-54D8E45D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C7CC2D-B632-4C1B-89EA-BDC7913E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BD46BB-4AD5-4095-978E-46A07044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C90479-C696-4D83-B511-C7521695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1EE868-B36A-459F-A11C-1CEADFFFC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D9D339-A15E-4EC2-9637-6F6ED1B4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B37408-916D-4334-8C9F-32909F00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1A2CA1-CE02-4A41-8542-5FB33B47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876C86-BA31-491B-985B-0C31BF198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086E02-4C65-47CB-B52B-18200A1C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162443-2B06-464C-9CC1-00152491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F55653-1225-437D-BE7D-EBEEE3E7B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6B3FD6-4EA1-4126-A23C-D4512B4C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D80B81-D093-402E-8C2B-C85D10D77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1C01E7-ACA8-4A37-98E1-3EC3CB113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D4109C-2E36-459B-AE67-2E0D1F29B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3869E3-0B14-4BC0-892A-4ECB41CB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F069D5-896D-4C3E-8D2B-32EE30943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404584-FBC9-4B58-9B00-97752049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450E05-5170-4F24-A26C-6B4AE4FD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E80402-3CA6-4A69-837A-35E30D11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7242FB-BDAE-4143-9C5E-9FFE2D2F3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https://fnet.bmfbovespa.com.br/fnet/publico/abrirGerenciadorDocumentosCVM?cnpjFundo=29225241000110. 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98588587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E4E22D-47D9-43E8-81FE-8196E6B55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843D38-BD74-420F-8E9B-2B605351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A46087-DD6C-4097-AEA8-8A584A522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25A7CD-51D4-4F02-B895-51BED4C1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A8DA93-B742-46CC-85FB-FFF6AED8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0C613B-18DA-4620-B38A-1D6C7B74A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4ECFA8-ADBF-4C80-86AD-B25113B5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D0E3A5-3A9E-4B15-B8DA-7693ECF4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DC58CD-120C-4575-9FE6-A3A1E8FF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59228-AB1C-4A47-BEBD-0C8B3F40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A23335-5A2C-4876-A961-B8D98B5C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EF037B-A5A1-4AB4-AA72-CF12F1DA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0D078A-03C4-47BD-B8BB-8F13A0C85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A4A8B5-2E70-48EE-B411-3312E40A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EEA83D-7284-41D3-9239-96AC1101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E7DF1D-B4EC-4CA0-A1F2-F670987ED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CA0F43-2E10-46A3-9D77-890FCBA1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EA882A-1664-4CA5-B320-E787B5E6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4CC07A-A955-4428-A11E-58C903BB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601D10-1AAD-4616-AAC5-24E5F125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FE96A3-3F97-4698-8621-0319CD70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AC8176-6889-44BC-9AA5-FF980AC6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B11B36-25D4-4908-B14D-058EBBEF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009AE0-F9FB-40C7-A134-FE04C4BC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0E7FD1-15CA-4338-A193-F3E055CC8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D3A884-BD58-499D-9E74-79047F1A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BEAD0E-B05D-4C85-A9AD-B9917F57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617B68-F430-464A-863E-A8251A6D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8D955F-B99D-4CEC-9547-D6E1C9EC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https://fnet.bmfbovespa.com.br/fnet/publico/abrirGerenciadorDocumentosCVM?cnpjFundo=42922136000107. 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300025492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4B55E7-8D71-464B-B516-5F831F88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C38F0C-0334-4D77-A06F-9C43FBD9A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F549C1-4247-40AF-BDBE-6D73B7BE1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4ABBB6-511A-402D-BD29-93B6F6676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67665B-50A0-42EE-9E01-B93C8D005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F74F90-2788-42CD-B0D0-A6B01869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83697C-DB81-4E73-8F7C-CBB9D9309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E181BB-B251-4A13-B742-DC560175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C3C6B5-2F84-454B-BEFE-78AE62B42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44E032-7D71-41B6-9C8E-E01918B3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B1AF56-4ADF-4ACB-BF2C-0EC838152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8D0CA7-A1CD-4F5C-88C3-B1081A08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E18372-97A7-4D32-8C3B-29D2F2C5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6D336C-55C7-4F1B-842F-590CAA40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E1674D-F32C-4774-9A17-46A40D23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363A65-869C-444D-AA63-983D0DD2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51F52C-460D-4ED5-9E9F-75D5436C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81A26F-03C5-44A3-AC32-ED391FFDD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06F40B-855E-49E5-BD60-E32FA2C7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54D8DE-5613-4E26-95A9-C0159276D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391820-80C2-4632-B4E0-1E4F2BE9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B7A67C-42CF-4FE5-ACF8-F3A22CF7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CCAF91-8B0F-4AC5-9A01-E37B4CE7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67A9A8-8A54-47F6-8578-54C43B4AF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9652B4-E91B-48F9-AA17-4F7DBEB11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56F8E8-9A47-4ED7-B4C0-D4D4F58F6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3D0A8C-D7E0-4544-B2E9-BA2091E50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45A714-3577-4A08-A419-8B4CECF29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862458-B2EA-4D7A-BD76-0FBAC3D2A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https://fnet.bmfbovespa.com.br/fnet/publico/abrirGerenciadorDocumentosCVM?cnpjFundo=32527650000186.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845862732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FBAF17-77E6-482E-96B5-6BD630AE4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9A8F9C-6D87-4C23-986E-AE0D8B19A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Marobá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0E8597-109B-487D-9506-27F550F9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9FFB9C-5D56-4034-A91A-BC8AED40E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B373F2-4309-45FF-A016-58306A1B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AEF785-82C2-447F-91E9-FE1DA921B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E351A3-DED1-431B-A778-50327C80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B5608F-7C75-4B9C-A9C3-3BB78A58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071541-4F3B-4B53-998A-F5EC91CE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69D9BF-4881-436C-826B-622919D3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EB077A-356B-427E-960F-7F4555C9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051BBE-D82E-4FFA-99BA-B06E12F4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CB18CD-CE73-47E0-998E-8B9FA7E57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A6C8EA-3967-4F2E-9372-A40CCEB13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3CDD11-C976-4817-BC2D-288707EFA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E0C852-E3E6-4350-89A6-AAFC38774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1EC705-ED34-4826-A1EC-A155C8C6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31187A-D4EC-4F27-B38B-67554DB3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AEEDDD-C3D4-4E20-A320-E9094A40C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574183-F902-4338-A974-B9ED59DB4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ECDF09-06D3-4F6B-8019-EBCC5ADAC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B97939-74F1-4B35-BAA0-BB05C7F4D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BB1AD4-B1EE-4831-BB0F-B6581DB99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 e subordinação não localizadas nas fontes consultadas. Garantias: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6E7ED3-A8AD-4D58-AC55-037DE7CD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97D45B-06DD-4F54-A708-6BFF3814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F2426F-80B6-426C-9158-00330162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7DF02D-2E54-48D0-BED6-832008CD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84DB1B-9270-4717-9F99-CADC963FD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FD360D-EEE0-4492-8F61-79C4D0D8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preenchidos; cadastro e prestadores disponíveis. Fonte: FundosNet e CVM SRE consultados em 24/07/2026; regulamento, suplemento e informe de encerramento não foram localizados no corpus acessível. Evidência: Classificação cadastral ANBIMA disponível; documentação primária da operação não localizada.</a:t>
            </a:r>
          </a:p>
        </p:txBody>
      </p:sp>
    </p:spTree>
    <p:extLst>
      <p:ext uri="{BB962C8B-B14F-4D97-AF65-F5344CB8AC3E}">
        <p14:creationId xmlns:p14="http://schemas.microsoft.com/office/powerpoint/2010/main" val="280911974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DFDB9E-CC93-4D51-B576-5A5B7BF3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9691D2-52FB-4102-A664-B1EBFC28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Venda de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C98987-A273-4084-9E96-2CFE1BE00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118568-A3FB-4C77-A19B-FF9DC6E04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62874A-A01D-4176-B882-AC241FE3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8F794D-3CC5-499C-868D-BA2CE1A8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5EA5B4-712D-43ED-AC6D-09AB5B49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A13509-1713-47F1-A0E6-BEF81DEA0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BD11A0-1178-4D09-A9DD-BE942E6D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0C7A8A-BFB5-4328-AB82-EE4637E0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7C2329-8A88-4363-A2B4-2E3B5852B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do Brasil Automóveis Ltda. e Renault do Brasil Ltda.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5FC91D-F94C-4906-B1EE-80FA7B11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D46059-1C91-447B-BC73-19AEBCD0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Locadoras de veículos e concessionárias que compram veículos novos com pagamento diferido.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EC82F4-BD45-4698-B5D5-A77CFCB2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F42B26-4381-4193-9C82-0189F0CE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decorrentes da venda direta e da venda a prazo de veículos novos.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E5D876-C5FF-4C60-864B-97010E0C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4DFCFC-AE84-42B9-B9E1-FE18F3B1A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e Renault cedem ao fundo créditos contra locadoras e concessionárias; a liquidação segue as condições comerciais e garantias previstas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5F465C-D2D4-470F-B7C1-21B8F618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12A737-9D10-42A1-9B06-DC6A0FBC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396D3B-A851-4528-82F7-6067A1E1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CD7D40-1C31-4EEF-AD48-FAC89899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 ou informe de encerramento não localizado no corpus consultado.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3FCB10-1A72-4FB7-9730-C29EBD10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0D0CCE-1046-409B-8CA9-013FDCE4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o regulamento disciplina índices de subordinação e eventos de avaliação. Garantias: Seguro de crédito, penhor de estoque, cessão fiduciária de recebíveis e garantias bancárias ou fidejussórias, conforme a operação.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E4D07-B98A-4CF3-83EF-C1323484B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79073F-50AF-4657-906B-BEBF3EAB6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092397-3C89-4ED7-B947-A4EA8F8D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63B625-AE06-4FDD-9851-E1C569A4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7A1B6C-E2BD-46F3-9513-F37C79888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00B99F-88A7-4D81-9D20-965821FA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preenchidos; emissão não localizada. Fonte: FundosNet, Regulamento id 1230588, 26/06/2026. Evidência: O regulamento identifica cedentes, devedores, natureza econômica e garantias da carteira.</a:t>
            </a:r>
          </a:p>
        </p:txBody>
      </p:sp>
    </p:spTree>
    <p:extLst>
      <p:ext uri="{BB962C8B-B14F-4D97-AF65-F5344CB8AC3E}">
        <p14:creationId xmlns:p14="http://schemas.microsoft.com/office/powerpoint/2010/main" val="519772024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14B4D2-F3AB-4353-A32A-21D779C3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B8C8BC-BAC7-40AF-9667-80C32F759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C460B3-FBC6-42AD-818E-E62DBD6E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E295D3-BD04-47F1-9EA9-5E0F4707F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858C97-65C7-4044-BEBF-34D17D7BF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9A4E75-0194-44C3-8CEF-C4DA893A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9050B5-EF27-46A9-8422-2B45F50C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07B3D2-6585-4804-AD3E-98C63705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11C6FF-BD49-4398-8AB6-403B4F279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73CBA9-B6DA-453A-8D1B-1028653B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826342-973B-491D-AC1B-070AB515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AA73FD-DBA5-45D0-B972-029143F32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34FD24-8986-438C-B95C-320400ED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3CCC30-D1D7-4BC7-B7E7-E4D8ED17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25E2DC-61CF-4C50-88AE-BAA1853AF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C8B0C7-6F0A-4433-8F6F-1282909CB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6271F7-ED14-4F65-A3FD-905EE5F8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2B9FAB-D46D-4F30-ABF3-682E214AA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0D0993-5F47-47A9-874A-2C7D2534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B549E5-11A7-4F26-8711-BF63BA58F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2E04DB-2B3E-4333-BD79-3C4C35BD7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CD79FD-03A4-43C9-924F-AB08BF3A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613BE0-036E-427D-8337-11EB6854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ED6B34-7A68-4ED3-B960-3806166C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BFEE82-6560-4568-BFE2-8D5DDB45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16C230-53C4-4E6A-A54B-E91A9F76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BF1730-B45A-4DEC-9214-D2405772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8962A0-94CA-41C1-8A81-159A29B43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0BB5A7-F3E1-45F7-8436-DC341467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https://fnet.bmfbovespa.com.br/fnet/publico/abrirGerenciadorDocumentosCVM?cnpjFundo=34197588000137. 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670543187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4412DF-FE97-4FB5-A441-F2BB64028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FF183B-05FC-4DAB-BE9B-9B4831A5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ACR BEM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9C4F3C-696E-4295-933A-C7249AF43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A730B6-65B8-407D-90FD-B9AB8CA0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8A354F-5B08-4AED-B93B-54FCFE167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D8D319-2348-4732-80D2-1977DF808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22EC00-7204-40FD-8D24-4E285A4D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F0A3D2-9A1B-4A70-8E73-99C5EA1C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4C950-B062-4904-B2CD-040648A31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C85023-F08F-4528-9E6B-CE0F80E0E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04533E-0971-4DE4-9B8F-C3EDBDA0A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 Instituição de Pagamento S.A., como originadora e cedente dos recebíveis.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0A9524-C4E6-4ADB-A90A-7992475C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EA5B7B-7D0A-4E83-BE10-9091A4B9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de cartões e demais instituições financeiras responsáveis pela liquidação das transações.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2097AD-57D9-4D97-A1F7-0829FDF2B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65D5B7-B843-4BC8-9639-878FF96E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oriundos de transações de pagamento processadas no sistema Stone.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3CC3D8-3425-4E06-B0D6-FCB590E9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9C539D-9A88-41B7-B19D-31CE6C48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Stone cede ao fundo recebíveis de liquidação de transações de pagamento; os devedores são os bancos emissores dos cartões.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681974-7244-446D-80C8-1507494A4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5A2F3D-F2FC-43F4-B426-F15BF9C99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50B4C7-253C-4663-8C48-57ABCA0A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F9CB83-0248-4470-A3BD-97F14C29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2024, duas ofertas encerradas: R$ 3,5 bi em garantia firme e R$ 108,25 mi em melhores esforços; coordenador líder Bradesco BBI.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77C843-0CC7-474A-992C-91B5397D2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6F7A86-E8AA-4CF6-861C-BF39D717D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regras de subordinação e eventos constam do regulamento. Garantias: Mecanismos de elegibilidade, concentração e subordinação previstos no regulamento; garantia uniforme adicional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AD0FBC-6953-407E-9CEC-414AC2E7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1BDCC-0BF2-4332-9C37-EEBE9372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DB4362-1815-401F-AB14-7B3C9798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0F4FD8-72FE-41DE-B756-0870CC6B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EBD930-668B-4FF3-9E20-30B96CF47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564634-3A42-4AF9-A230-EBE3C878B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656484 de 09/05/2024 e Informe de Encerramento id 664301 de 15/05/2024. Evidência: A documentação identifica a cadeia de pagamentos, os emissores de cartão como devedores e as ofertas encerradas.</a:t>
            </a:r>
          </a:p>
        </p:txBody>
      </p:sp>
    </p:spTree>
    <p:extLst>
      <p:ext uri="{BB962C8B-B14F-4D97-AF65-F5344CB8AC3E}">
        <p14:creationId xmlns:p14="http://schemas.microsoft.com/office/powerpoint/2010/main" val="110859903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4598FB-20C9-41C0-BE37-8A0CDC603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FD321C-CD45-45D2-BA69-248B4D25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HAVAN ECONÔMICO, FINANCEIRO E COMERCIAL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AA81D7-A2C1-4296-A6F9-B3F465DC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E9559D-DCF3-4BFA-8CCF-ECC31F19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476F6F-F56F-4518-BBAA-34526078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969E8B-5AB5-4693-921A-65F1A769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A26AF2-971C-4538-972E-D90F6E3BC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12.817.329/0001-29 · HAVAN FUNDO DE INVESTIMENTO EM DIREITOS CREDITÓRIOS SEGMENTO ECONÔMICO, FINANCEIRO E COMERCIAL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E87730-263B-42A3-BD56-CBA036C3E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788F06-C25A-4BA5-B270-6EC86C48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DF5F4B-B0B8-47BC-ADC0-8F0B67ED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AB9E6F-E226-4068-A25C-D1B86320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4D4C56-7C77-4C2B-93B9-0CC83C35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157BB3-C0CF-423A-ADFE-1012069C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DC10CA-9F24-4203-98C3-DAC327D63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ABAB05-4E11-4981-98AD-7CD2419C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856F5E-A377-4FDE-9874-63BC9924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3B076A-39CA-46F6-823F-E811A903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E5F135-8F7A-4FDE-92A0-B45B7230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25FAF1-3585-4BC4-8450-2CA5BA08B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4B031B-A737-47DB-BFFD-30A0C0FB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B29EC4-E565-4EB9-AD55-57730BD9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C79DFE-25AF-4737-8B35-276F37F5D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30633F-2591-4FBA-8733-A262A3CB1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A3D97D-69E8-4AEB-B7EC-5FDF513CB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DE6E06-9139-422D-A83B-8FAEB541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FINAXIS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PETRA CAPITAL GESTÃO DE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FINAXIS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C876B8-8AB3-4FF9-B4DA-2F6418BC1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53D223-26EB-4561-B332-58E0F1AF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F6D384-E69E-4003-B8DB-F9E42CE44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C847E6-EA5A-4D60-8148-ADF7B1A2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preenchidos. Fonte: FundosNet e CVM SRE consultados em 2026-07-24; documento primário não localizado. Evidência: Sem trecho citável no corpus consultado.</a:t>
            </a:r>
          </a:p>
        </p:txBody>
      </p:sp>
    </p:spTree>
    <p:extLst>
      <p:ext uri="{BB962C8B-B14F-4D97-AF65-F5344CB8AC3E}">
        <p14:creationId xmlns:p14="http://schemas.microsoft.com/office/powerpoint/2010/main" val="763982361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31A717-DDF4-4CF5-ABDD-2AA9D928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D6467A-9A20-4F93-B456-32349F7D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837A3B-93F0-420E-8497-2E18183C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928675-43E1-499B-9D05-B9BD4C5C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AD7B70-5601-4AF4-8326-E636FF37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A1C61C-6624-46FD-839C-F146EF12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1524000" y="1133475"/>
          <a:ext xmlns:a="http://schemas.openxmlformats.org/drawingml/2006/main" cx="914400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36e9606548b43c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961A89-51B4-4B14-907E-5F5D42D62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9097C0-23A7-4E25-82D2-BCED2B55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C3514C-9DBD-4C84-9EF2-C99D18843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9d4cb2f85bd40f7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BBAE6F-26BC-48F0-9A32-558786B3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0b62d094add4174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276B5D-1FF6-4421-9674-9FED6E4C5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591a9f02d804d4d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A85799-F84F-471D-A40A-EC61FF85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0d0e6d4d49e4ba6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D051EB-0A9E-4C27-8A30-13AC415B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0b3449f05f485d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DF42B4-D466-4287-841C-0F16A1B9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e543b8f513d4632"/>
          </a:graphicData>
        </a:graphic>
      </p:graphicFrame>
    </p:spTree>
    <p:extLst>
      <p:ext uri="{BB962C8B-B14F-4D97-AF65-F5344CB8AC3E}">
        <p14:creationId xmlns:p14="http://schemas.microsoft.com/office/powerpoint/2010/main" val="1274728385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2558C2-2895-46E5-BCFD-01A218B2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B09547-5202-456C-A4D6-07954A41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E6FF37-280B-42B0-A200-EACB22F7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17A2C2-BDED-4EB2-8A2D-8F0E80EC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F0F231-2AFD-47B2-ACDE-F6154256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6E319D-F0FE-48FB-A1BF-36D5B608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65AC39-C659-4B1A-A6BE-E05C2E826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540E39-42FE-4C1D-9674-28500234F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aeb22007e8a4ef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CEF288-B02D-439B-8DE4-837C5C9E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D394B5-96F7-4088-8AAC-18540C16A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4A4A80-FBC7-4618-8E21-E6FFE887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1BD89F-487B-48DE-A433-B39708E1A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1410436196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0B8396-0538-4B4F-824E-CE3E6D01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566165-BB96-42D2-9D3B-C53884BF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BCC1C4-A27F-413F-8C60-04A4FD25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A99332-E240-47CC-A67B-D265E7FC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196326-0D86-44EC-B1C6-41DD985C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E0A453-FC8E-4081-B839-0456866E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9E7215-128B-41DC-8207-5AA5C1E21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04C1FF-E43D-458B-9043-5071CAE91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0527cb4dd74c2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C19C2F-A021-46C5-A470-4BCF7780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27B058-E7D8-4737-A2CF-18E08E9D9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DE3784-53EE-41C4-8CC5-7170E3721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3023C3-2A9E-4C14-8C6B-FBD38878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89a59754e434632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8785B9-8A46-4BD1-927E-601AFCF2D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716BC3-346C-4FE9-A349-AF35BBCE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65,1%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3162A3-4654-4FB6-B4A9-10EB2975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p:txBody>
      </p:sp>
    </p:spTree>
    <p:extLst>
      <p:ext uri="{BB962C8B-B14F-4D97-AF65-F5344CB8AC3E}">
        <p14:creationId xmlns:p14="http://schemas.microsoft.com/office/powerpoint/2010/main" val="350195734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A8A436-069E-47D1-8047-C008470F0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3310AD-598C-4039-B14F-F23C090E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B89231-726C-4427-95FF-76761967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5F853B-F433-4CD9-AD3D-8AA2AA91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3814A3-ABB7-4F55-A888-35F932EB6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063930-ABE8-40FB-8360-42C2E7B80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097c8a5bb99455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2A23B1-7E87-405E-80BC-9D68E175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p:txBody>
      </p:sp>
    </p:spTree>
    <p:extLst>
      <p:ext uri="{BB962C8B-B14F-4D97-AF65-F5344CB8AC3E}">
        <p14:creationId xmlns:p14="http://schemas.microsoft.com/office/powerpoint/2010/main" val="998044918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D5A898-BCBD-4EF4-94E5-B4E75E00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67674B-F1F7-42E2-9EE8-9FB46EB2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157629-7D8E-4A78-9AF8-229B5D33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5F0796-64DA-4689-8DC0-2174E3534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2949D0-D33F-4FC3-A077-84C19A1A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9B46B0-620D-43DB-A74C-A1F102EB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d6865e314b8429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DCFDEE-90FA-4F7C-A1AE-4B336A23F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p:txBody>
      </p:sp>
    </p:spTree>
    <p:extLst>
      <p:ext uri="{BB962C8B-B14F-4D97-AF65-F5344CB8AC3E}">
        <p14:creationId xmlns:p14="http://schemas.microsoft.com/office/powerpoint/2010/main" val="1756247693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E6F0F3-3AC4-4CEB-BACC-5688A332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C1B0B0-E3CD-42D4-B8D7-B08C7C62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C3DB19-82F7-4156-8164-FBAF3EC0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455ADE-9CBD-47D1-9773-4E062098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97034A-3C3F-4067-89E1-FFE608A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3E69C1-966E-4170-9508-B33C99CC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bfdb15a1795421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43DAC0-7A6D-47DC-8F04-E6010D22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p:txBody>
      </p:sp>
    </p:spTree>
    <p:extLst>
      <p:ext uri="{BB962C8B-B14F-4D97-AF65-F5344CB8AC3E}">
        <p14:creationId xmlns:p14="http://schemas.microsoft.com/office/powerpoint/2010/main" val="297878148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F20AC9-8B47-466E-9DA8-0A468998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EVIDÊNCIAS DE MIGRAÇÃO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7DDDA3-3B59-42E7-9B76-23AAECD48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3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7,6% do PL comparável mudou em 2025; 35,1% do PL continuante da coorte CBSF/Reag migrou até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6358D6-859F-49BD-84B9-6698F26F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407115-5ED6-4770-B5C3-E2A6347A5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A07D6D-944B-4BBF-AA75-D67D74F8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Métricas por CNPJ legal, ex-FIC-FIDC e sem Sistema Petrobras/TAPSO; PL positivo e administrador informado nos períodos comparáveis.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E9A1D2-5CC3-4212-AE0B-DAAEE1542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4998A7-DCC3-49D2-9C51-760C1445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 · DEZ/24 → DEZ/25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AE2633-B3A9-492A-9E89-2F9F9C3E5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2428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comparáveis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2.323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comparável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R$ 426,9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que mudaram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R$ 32,4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 / comparável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· 2 FIDCs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R$ 8,9 bi · 27,5% do PL migrado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C607BB-BA25-4F97-A28A-CC30D50D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COORTE CBSF/REAG · DEZ/25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CAA5CD-FB49-47B0-A4AB-6108AD7C2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334125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0"/>
                <a:gridCol w="26193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na origem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R$ 66,2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continuantes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continuante atual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R$ 28,5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migrados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migrado / continuante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R$ 10,0 bi · 35,1%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Master + Planner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 fundos · R$ 9,9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Saída / sem reporte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 fundos · R$ 37,6 bi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1BA712-F1B9-4C8C-8506-C15BDC8BD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2BF7A3-B216-462D-8673-52C63FC9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Indústria: CNPJs legais com PL positivo em dez/24 e dez/25; ex-FIC-FIDC e sem FIDC Sistema Petrobras/TAPSO; administrador informado em cada competência; PL comparável = menor PL entre as duas datas.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CC77C7-B56E-4DE5-BA88-E6961432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CBSF/Reag: coorte administrada pelo CNPJ 34.829.992/0001-86 em dez/25; continuante exige PL positivo em jun/26. Gestor e custodiante são fotografias atuais e não comprovam transição histórica.</a:t>
            </a:r>
          </a:p>
        </p:txBody>
      </p:sp>
    </p:spTree>
    <p:extLst>
      <p:ext uri="{BB962C8B-B14F-4D97-AF65-F5344CB8AC3E}">
        <p14:creationId xmlns:p14="http://schemas.microsoft.com/office/powerpoint/2010/main" val="1876451884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65EAB8-DBF1-4E4C-B086-18C6FEF9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4DC193-3ADE-49F6-A3E6-5A52594D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A23D20-8446-49D6-AFB9-94DECB87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35D8D7-1FE8-44D4-AB5A-33D5074BC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8B982C-4752-4DFB-A094-8F66558F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9AB168-D58A-409F-947A-8D17FE466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c15172029f94fd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86E702-57F9-4110-ABAF-C775EEC2F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C0234-2113-4FFD-8459-E36280E6A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43613933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B769DE-1B6C-4B73-91B3-66B01F49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46A421-AF41-4399-84B6-7E14C612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4E274C-BC6C-4F56-B959-22894F3BC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04F169-E6D3-4BCA-A930-5B3074D04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A1D098-B9ED-4381-9954-0C52D667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AC1718-590B-495F-AA41-BE7185914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66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5c79d5201d4411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7F0C2D-8499-419D-BA17-8D179F4F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529916-7796-4A50-BB5A-30CED6AD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920857385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DDDB64-B758-4AB5-B9A6-6E41F4B5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72238B-7334-476C-A4FE-67DD72D3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A9B7C7-928F-47A2-8480-934739B8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188D0E-9FC0-4D3D-87ED-03C31F99B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B912C6-18A3-46BC-A932-8130FC08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E66CB0-5F1D-4608-AB45-C70711EB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67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030639a05c0469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3D16AA-CD42-49D3-850A-17037E7A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7794CC-F804-49CF-90F6-FFBB67C8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619559611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AD0CF3E-1E5B-49E6-B221-B68591DC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0F7D80-CF7F-4E6F-A3BA-B5ACCB47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53CE2F-1EA6-41C8-A841-89C9E6D6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22FC21-777A-42D8-80B6-6D15D5E0E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1F1A2-8A36-4D6C-9834-87BFE2CF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BD6F4A-824C-4CAA-A13E-F2081F97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07D5E3-4CEE-4257-A9D3-0A798731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70D44D-3708-487F-86A6-33BADE2D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AD798A-A0BE-4033-9180-BD5EB1C6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579622-D74F-4B96-A497-E71DBBAC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B998F7-00A8-44F9-B7EC-A4A5B0D31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C53853-1AC3-416D-8C8A-F54B1357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B9030B-F44C-42C1-BDB1-46CE9063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F90C38-080A-4C24-96E5-1F264AC3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E14EA5-9EB8-4157-AB46-EA85953BB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C1F794-3D3A-485F-AB6C-C587248B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FF61DE-C046-4D14-AA1A-02980B65D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9EF222-F9B0-404E-9C7A-63CB567B8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B1EA21-CF43-40D2-8CB7-CA69FB37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2E508D-BA4F-4BDF-BFF8-5498DF1D0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44AC3D-57F8-4350-BA96-E6756ABE3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396648-9F74-470B-9352-5CDD98AF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BA4AD0-3AB5-4BCA-AE97-240D6242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2654AA-C85F-41BA-B0CB-B14B4F27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267521-B31D-4FB4-AE99-D9EF3856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6AB846-987C-4428-9F80-B8F6A11B6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4D59AC-068C-49AE-AFBA-4AC9281C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2761BF-1D91-4EA4-93F0-86715162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450DB1-4474-44DB-BD3E-B2546953B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ED8D90-D7B9-4195-BC71-74DF1644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DEE246-F6B4-4FA2-B719-6E5A060F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A50938-EAD4-4C81-9044-25C8C1A9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DC3199-8183-4F1E-92D1-96C63C76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3296AFD-62DD-433B-8FF1-D6CFE383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A73696-454B-44AF-BAB7-4A21E1FA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B9DE802-20D2-4871-A125-D04F6A4C6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BDCBC07-24C0-432E-9988-0BEA7851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3011CF3-CBF0-456E-A99F-8A36461C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E0C2F3-1047-4605-AEF7-D532BAFE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ABBB1C0-DA81-4973-8684-11FABE6F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5DFAB2A-A2A5-4C67-8CDB-9D1B9CE66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A481286-7434-4E8E-BC09-A7DDF62CE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13CD496-B507-4859-9CC8-ED61E7162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718F1B2-4999-4EC0-950E-D9AB044A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4DFF4FE-BD53-4F24-AD30-FD8D319FC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CAC12E5-7745-48C1-AC7E-3F9108F1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FA67CBC-C581-455B-9E88-E1FF6653F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EA79B5D-670B-4BFB-9268-04BFC2D3F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A1316DF-2A9C-4ECA-8AE1-A8B08091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A0AFAB6-8BB9-4755-B5FA-27FFF0369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4028133-685D-4E5C-9913-49427FEAF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4AF5501-8652-4CD6-AFD9-19DBE1374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B3E78F3-AF05-42EE-996B-22602F719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66754ED-D1C5-4A6F-87EB-77F60D3C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administrador, sem evidência de recuperação em caixa. As DFs têm opinião modificada para 01/01–19/07/24 por inconsistências de lastro e posição; a série usa bases de reporte distintas.</a:t>
            </a:r>
          </a:p>
        </p:txBody>
      </p:sp>
    </p:spTree>
    <p:extLst>
      <p:ext uri="{BB962C8B-B14F-4D97-AF65-F5344CB8AC3E}">
        <p14:creationId xmlns:p14="http://schemas.microsoft.com/office/powerpoint/2010/main" val="1411895300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2026-07-31T04:32:38.0780000Z</dcterms:created>
  <dcterms:modified xsi:type="dcterms:W3CDTF">2026-07-31T04:32:38.0780000Z</dcterms:modified>
</coreProperties>
</file>