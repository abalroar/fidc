
<file path=[Content_Types].xml><?xml version="1.0" encoding="utf-8"?>
<Types xmlns="http://schemas.openxmlformats.org/package/2006/content-types">
  <Default Extension="xml" ContentType="application/vnd.openxmlformats-package.core-properties+xml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theme/theme1.xml" ContentType="application/vnd.openxmlformats-officedocument.theme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Layouts/slideLayout1.xml" ContentType="application/vnd.openxmlformats-officedocument.presentationml.slideLayout+xml"/>
  <Override PartName="/ppt/notesMasters/notesMaster1.xml" ContentType="application/vnd.openxmlformats-officedocument.presentationml.notesMaster+xml"/>
  <Override PartName="/ppt/notesMasters/theme/theme3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slides/charts/chart1.xml" ContentType="application/vnd.openxmlformats-officedocument.drawingml.chart+xml"/>
  <Override PartName="/ppt/slides/charts/chart2.xml" ContentType="application/vnd.openxmlformats-officedocument.drawingml.chart+xml"/>
  <Override PartName="/ppt/slides/charts/chart3.xml" ContentType="application/vnd.openxmlformats-officedocument.drawingml.chart+xml"/>
  <Override PartName="/ppt/notesSlides/notesSlide2.xml" ContentType="application/vnd.openxmlformats-officedocument.presentationml.notesSlide+xml"/>
  <Override PartName="/ppt/slides/slide3.xml" ContentType="application/vnd.openxmlformats-officedocument.presentationml.slide+xml"/>
  <Override PartName="/ppt/slides/charts/chart4.xml" ContentType="application/vnd.openxmlformats-officedocument.drawingml.chart+xml"/>
  <Override PartName="/ppt/slides/charts/chart5.xml" ContentType="application/vnd.openxmlformats-officedocument.drawingml.chart+xml"/>
  <Override PartName="/ppt/notesSlides/notesSlide3.xml" ContentType="application/vnd.openxmlformats-officedocument.presentationml.notesSlide+xml"/>
  <Override PartName="/ppt/slides/slide4.xml" ContentType="application/vnd.openxmlformats-officedocument.presentationml.slide+xml"/>
  <Override PartName="/ppt/slides/charts/chart6.xml" ContentType="application/vnd.openxmlformats-officedocument.drawingml.chart+xml"/>
  <Override PartName="/ppt/slides/charts/chart7.xml" ContentType="application/vnd.openxmlformats-officedocument.drawingml.chart+xml"/>
  <Override PartName="/ppt/slides/charts/chart8.xml" ContentType="application/vnd.openxmlformats-officedocument.drawingml.chart+xml"/>
  <Override PartName="/ppt/slides/charts/chart9.xml" ContentType="application/vnd.openxmlformats-officedocument.drawingml.chart+xml"/>
  <Override PartName="/ppt/notesSlides/notesSlide4.xml" ContentType="application/vnd.openxmlformats-officedocument.presentationml.notesSlide+xml"/>
  <Override PartName="/ppt/slides/slide5.xml" ContentType="application/vnd.openxmlformats-officedocument.presentationml.slide+xml"/>
  <Override PartName="/ppt/slides/charts/chart10.xml" ContentType="application/vnd.openxmlformats-officedocument.drawingml.chart+xml"/>
  <Override PartName="/ppt/slides/charts/chart11.xml" ContentType="application/vnd.openxmlformats-officedocument.drawingml.chart+xml"/>
  <Override PartName="/ppt/notesSlides/notesSlide5.xml" ContentType="application/vnd.openxmlformats-officedocument.presentationml.notesSlide+xml"/>
  <Override PartName="/ppt/slides/slide6.xml" ContentType="application/vnd.openxmlformats-officedocument.presentationml.slide+xml"/>
  <Override PartName="/ppt/slides/charts/chart12.xml" ContentType="application/vnd.openxmlformats-officedocument.drawingml.chart+xml"/>
  <Override PartName="/ppt/slides/charts/chart13.xml" ContentType="application/vnd.openxmlformats-officedocument.drawingml.chart+xml"/>
  <Override PartName="/ppt/slides/charts/chart14.xml" ContentType="application/vnd.openxmlformats-officedocument.drawingml.chart+xml"/>
  <Override PartName="/ppt/notesSlides/notesSlide6.xml" ContentType="application/vnd.openxmlformats-officedocument.presentationml.notesSlide+xml"/>
  <Override PartName="/ppt/slides/slide7.xml" ContentType="application/vnd.openxmlformats-officedocument.presentationml.slide+xml"/>
  <Override PartName="/ppt/slides/charts/chart15.xml" ContentType="application/vnd.openxmlformats-officedocument.drawingml.chart+xml"/>
  <Override PartName="/ppt/slides/charts/chart16.xml" ContentType="application/vnd.openxmlformats-officedocument.drawingml.chart+xml"/>
  <Override PartName="/ppt/slides/charts/chart17.xml" ContentType="application/vnd.openxmlformats-officedocument.drawingml.chart+xml"/>
  <Override PartName="/ppt/notesSlides/notesSlide7.xml" ContentType="application/vnd.openxmlformats-officedocument.presentationml.notesSlide+xml"/>
  <Override PartName="/ppt/slides/slide8.xml" ContentType="application/vnd.openxmlformats-officedocument.presentationml.slide+xml"/>
  <Override PartName="/ppt/slides/charts/chart18.xml" ContentType="application/vnd.openxmlformats-officedocument.drawingml.chart+xml"/>
  <Override PartName="/ppt/slides/charts/chart19.xml" ContentType="application/vnd.openxmlformats-officedocument.drawingml.chart+xml"/>
  <Override PartName="/ppt/slides/charts/chart20.xml" ContentType="application/vnd.openxmlformats-officedocument.drawingml.chart+xml"/>
  <Override PartName="/ppt/notesSlides/notesSlide8.xml" ContentType="application/vnd.openxmlformats-officedocument.presentationml.notesSlide+xml"/>
  <Override PartName="/ppt/slides/slide9.xml" ContentType="application/vnd.openxmlformats-officedocument.presentationml.slide+xml"/>
  <Override PartName="/ppt/notesSlides/notesSlide9.xml" ContentType="application/vnd.openxmlformats-officedocument.presentationml.notesSlide+xml"/>
  <Override PartName="/ppt/slides/slide10.xml" ContentType="application/vnd.openxmlformats-officedocument.presentationml.slide+xml"/>
  <Override PartName="/ppt/notesSlides/notesSlide10.xml" ContentType="application/vnd.openxmlformats-officedocument.presentationml.notesSlide+xml"/>
  <Override PartName="/ppt/slides/slide11.xml" ContentType="application/vnd.openxmlformats-officedocument.presentationml.slide+xml"/>
  <Override PartName="/ppt/notesSlides/notesSlide11.xml" ContentType="application/vnd.openxmlformats-officedocument.presentationml.notesSlide+xml"/>
  <Override PartName="/ppt/slides/slide12.xml" ContentType="application/vnd.openxmlformats-officedocument.presentationml.slide+xml"/>
  <Override PartName="/ppt/notesSlides/notesSlide12.xml" ContentType="application/vnd.openxmlformats-officedocument.presentationml.notesSlide+xml"/>
  <Override PartName="/ppt/slides/slide13.xml" ContentType="application/vnd.openxmlformats-officedocument.presentationml.slide+xml"/>
  <Override PartName="/ppt/notesSlides/notesSlide13.xml" ContentType="application/vnd.openxmlformats-officedocument.presentationml.notesSlide+xml"/>
  <Override PartName="/ppt/slides/slide14.xml" ContentType="application/vnd.openxmlformats-officedocument.presentationml.slide+xml"/>
  <Override PartName="/ppt/notesSlides/notesSlide14.xml" ContentType="application/vnd.openxmlformats-officedocument.presentationml.notesSlide+xml"/>
  <Override PartName="/ppt/slides/slide15.xml" ContentType="application/vnd.openxmlformats-officedocument.presentationml.slide+xml"/>
  <Override PartName="/ppt/notesSlides/notesSlide15.xml" ContentType="application/vnd.openxmlformats-officedocument.presentationml.notesSlide+xml"/>
  <Override PartName="/ppt/slides/slide16.xml" ContentType="application/vnd.openxmlformats-officedocument.presentationml.slide+xml"/>
  <Override PartName="/ppt/notesSlides/notesSlide16.xml" ContentType="application/vnd.openxmlformats-officedocument.presentationml.notesSlide+xml"/>
  <Override PartName="/ppt/slides/slide17.xml" ContentType="application/vnd.openxmlformats-officedocument.presentationml.slide+xml"/>
  <Override PartName="/ppt/notesSlides/notesSlide17.xml" ContentType="application/vnd.openxmlformats-officedocument.presentationml.notesSlide+xml"/>
  <Override PartName="/ppt/slides/slide18.xml" ContentType="application/vnd.openxmlformats-officedocument.presentationml.slide+xml"/>
  <Override PartName="/ppt/notesSlides/notesSlide18.xml" ContentType="application/vnd.openxmlformats-officedocument.presentationml.notesSlide+xml"/>
  <Override PartName="/ppt/slides/slide19.xml" ContentType="application/vnd.openxmlformats-officedocument.presentationml.slide+xml"/>
  <Override PartName="/ppt/notesSlides/notesSlide19.xml" ContentType="application/vnd.openxmlformats-officedocument.presentationml.notesSlide+xml"/>
  <Override PartName="/ppt/slides/slide20.xml" ContentType="application/vnd.openxmlformats-officedocument.presentationml.slide+xml"/>
  <Override PartName="/ppt/notesSlides/notesSlide20.xml" ContentType="application/vnd.openxmlformats-officedocument.presentationml.notesSlide+xml"/>
  <Override PartName="/ppt/slides/slide21.xml" ContentType="application/vnd.openxmlformats-officedocument.presentationml.slide+xml"/>
  <Override PartName="/ppt/notesSlides/notesSlide21.xml" ContentType="application/vnd.openxmlformats-officedocument.presentationml.notesSlide+xml"/>
  <Override PartName="/ppt/slides/slide22.xml" ContentType="application/vnd.openxmlformats-officedocument.presentationml.slide+xml"/>
  <Override PartName="/ppt/notesSlides/notesSlide22.xml" ContentType="application/vnd.openxmlformats-officedocument.presentationml.notesSlide+xml"/>
  <Override PartName="/ppt/slides/slide23.xml" ContentType="application/vnd.openxmlformats-officedocument.presentationml.slide+xml"/>
  <Override PartName="/ppt/notesSlides/notesSlide23.xml" ContentType="application/vnd.openxmlformats-officedocument.presentationml.notesSlide+xml"/>
  <Override PartName="/ppt/slides/slide24.xml" ContentType="application/vnd.openxmlformats-officedocument.presentationml.slide+xml"/>
  <Override PartName="/ppt/slides/charts/chart21.xml" ContentType="application/vnd.openxmlformats-officedocument.drawingml.chart+xml"/>
  <Override PartName="/ppt/slides/charts/chart22.xml" ContentType="application/vnd.openxmlformats-officedocument.drawingml.chart+xml"/>
  <Override PartName="/ppt/slides/charts/chart23.xml" ContentType="application/vnd.openxmlformats-officedocument.drawingml.chart+xml"/>
  <Override PartName="/ppt/notesSlides/notesSlide24.xml" ContentType="application/vnd.openxmlformats-officedocument.presentationml.notesSlide+xml"/>
  <Override PartName="/ppt/slides/slide25.xml" ContentType="application/vnd.openxmlformats-officedocument.presentationml.slide+xml"/>
  <Override PartName="/ppt/slides/charts/chart24.xml" ContentType="application/vnd.openxmlformats-officedocument.drawingml.chart+xml"/>
  <Override PartName="/ppt/slides/charts/chart25.xml" ContentType="application/vnd.openxmlformats-officedocument.drawingml.chart+xml"/>
  <Override PartName="/ppt/slides/charts/chart26.xml" ContentType="application/vnd.openxmlformats-officedocument.drawingml.chart+xml"/>
  <Override PartName="/ppt/slides/charts/chart27.xml" ContentType="application/vnd.openxmlformats-officedocument.drawingml.chart+xml"/>
  <Override PartName="/ppt/notesSlides/notesSlide25.xml" ContentType="application/vnd.openxmlformats-officedocument.presentationml.notesSlide+xml"/>
  <Override PartName="/ppt/slides/slide26.xml" ContentType="application/vnd.openxmlformats-officedocument.presentationml.slide+xml"/>
  <Override PartName="/ppt/slides/charts/chart28.xml" ContentType="application/vnd.openxmlformats-officedocument.drawingml.chart+xml"/>
  <Override PartName="/ppt/notesSlides/notesSlide26.xml" ContentType="application/vnd.openxmlformats-officedocument.presentationml.notesSlide+xml"/>
  <Override PartName="/ppt/slides/slide27.xml" ContentType="application/vnd.openxmlformats-officedocument.presentationml.slide+xml"/>
  <Override PartName="/ppt/notesSlides/notesSlide27.xml" ContentType="application/vnd.openxmlformats-officedocument.presentationml.notesSlide+xml"/>
  <Override PartName="/ppt/slides/slide28.xml" ContentType="application/vnd.openxmlformats-officedocument.presentationml.slide+xml"/>
  <Override PartName="/ppt/notesSlides/notesSlide28.xml" ContentType="application/vnd.openxmlformats-officedocument.presentationml.notesSlide+xml"/>
  <Override PartName="/ppt/slides/slide29.xml" ContentType="application/vnd.openxmlformats-officedocument.presentationml.slide+xml"/>
  <Override PartName="/ppt/notesSlides/notesSlide29.xml" ContentType="application/vnd.openxmlformats-officedocument.presentationml.notesSlide+xml"/>
  <Override PartName="/ppt/slides/slide30.xml" ContentType="application/vnd.openxmlformats-officedocument.presentationml.slide+xml"/>
  <Override PartName="/ppt/notesSlides/notesSlide30.xml" ContentType="application/vnd.openxmlformats-officedocument.presentationml.notesSlide+xml"/>
  <Override PartName="/ppt/slides/slide31.xml" ContentType="application/vnd.openxmlformats-officedocument.presentationml.slide+xml"/>
  <Override PartName="/ppt/notesSlides/notesSlide31.xml" ContentType="application/vnd.openxmlformats-officedocument.presentationml.notesSlide+xml"/>
  <Override PartName="/ppt/slides/slide32.xml" ContentType="application/vnd.openxmlformats-officedocument.presentationml.slide+xml"/>
  <Override PartName="/ppt/notesSlides/notesSlide32.xml" ContentType="application/vnd.openxmlformats-officedocument.presentationml.notesSlide+xml"/>
  <Override PartName="/ppt/slides/slide33.xml" ContentType="application/vnd.openxmlformats-officedocument.presentationml.slide+xml"/>
  <Override PartName="/ppt/notesSlides/notesSlide33.xml" ContentType="application/vnd.openxmlformats-officedocument.presentationml.notesSlide+xml"/>
  <Override PartName="/ppt/slides/slide34.xml" ContentType="application/vnd.openxmlformats-officedocument.presentationml.slide+xml"/>
  <Override PartName="/ppt/slides/charts/chart29.xml" ContentType="application/vnd.openxmlformats-officedocument.drawingml.chart+xml"/>
  <Override PartName="/ppt/slides/charts/chart30.xml" ContentType="application/vnd.openxmlformats-officedocument.drawingml.chart+xml"/>
  <Override PartName="/ppt/slides/charts/chart31.xml" ContentType="application/vnd.openxmlformats-officedocument.drawingml.chart+xml"/>
  <Override PartName="/ppt/slides/charts/chart32.xml" ContentType="application/vnd.openxmlformats-officedocument.drawingml.chart+xml"/>
  <Override PartName="/ppt/slides/charts/chart33.xml" ContentType="application/vnd.openxmlformats-officedocument.drawingml.chart+xml"/>
  <Override PartName="/ppt/slides/charts/chart34.xml" ContentType="application/vnd.openxmlformats-officedocument.drawingml.chart+xml"/>
  <Override PartName="/ppt/slides/charts/chart35.xml" ContentType="application/vnd.openxmlformats-officedocument.drawingml.chart+xml"/>
  <Override PartName="/ppt/notesSlides/notesSlide34.xml" ContentType="application/vnd.openxmlformats-officedocument.presentationml.notesSlide+xml"/>
  <Override PartName="/ppt/slides/slide35.xml" ContentType="application/vnd.openxmlformats-officedocument.presentationml.slide+xml"/>
  <Override PartName="/ppt/slides/charts/chart36.xml" ContentType="application/vnd.openxmlformats-officedocument.drawingml.chart+xml"/>
  <Override PartName="/ppt/slides/charts/chart37.xml" ContentType="application/vnd.openxmlformats-officedocument.drawingml.chart+xml"/>
  <Override PartName="/ppt/notesSlides/notesSlide35.xml" ContentType="application/vnd.openxmlformats-officedocument.presentationml.notesSlide+xml"/>
  <Override PartName="/ppt/slides/slide36.xml" ContentType="application/vnd.openxmlformats-officedocument.presentationml.slide+xml"/>
  <Override PartName="/ppt/slides/charts/chart38.xml" ContentType="application/vnd.openxmlformats-officedocument.drawingml.chart+xml"/>
  <Override PartName="/ppt/slides/charts/chart39.xml" ContentType="application/vnd.openxmlformats-officedocument.drawingml.chart+xml"/>
  <Override PartName="/ppt/slides/charts/chart40.xml" ContentType="application/vnd.openxmlformats-officedocument.drawingml.chart+xml"/>
  <Override PartName="/ppt/notesSlides/notesSlide36.xml" ContentType="application/vnd.openxmlformats-officedocument.presentationml.notesSlide+xml"/>
  <Override PartName="/ppt/slides/slide37.xml" ContentType="application/vnd.openxmlformats-officedocument.presentationml.slide+xml"/>
  <Override PartName="/ppt/slides/charts/chart41.xml" ContentType="application/vnd.openxmlformats-officedocument.drawingml.chart+xml"/>
  <Override PartName="/ppt/slides/charts/chart42.xml" ContentType="application/vnd.openxmlformats-officedocument.drawingml.chart+xml"/>
  <Override PartName="/ppt/slides/charts/chart43.xml" ContentType="application/vnd.openxmlformats-officedocument.drawingml.chart+xml"/>
  <Override PartName="/ppt/slides/charts/chart44.xml" ContentType="application/vnd.openxmlformats-officedocument.drawingml.chart+xml"/>
  <Override PartName="/ppt/slides/charts/chart45.xml" ContentType="application/vnd.openxmlformats-officedocument.drawingml.chart+xml"/>
  <Override PartName="/ppt/notesSlides/notesSlide37.xml" ContentType="application/vnd.openxmlformats-officedocument.presentationml.notesSlide+xml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8562c14d68314407" /><Relationship Type="http://schemas.openxmlformats.org/officeDocument/2006/relationships/extended-properties" Target="/docProps/app.xml" Id="R515923a372a64395" /><Relationship Type="http://schemas.openxmlformats.org/officeDocument/2006/relationships/officeDocument" Target="/ppt/presentation.xml" Id="R0e1e877b5f0a45d8" 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dacc18c634374c92"/>
  </p:sldMasterIdLst>
  <p:notesMasterIdLst>
    <p:notesMasterId xmlns:r="http://schemas.openxmlformats.org/officeDocument/2006/relationships" r:id="R25ec85f69a8e4955"/>
  </p:notesMasterIdLst>
  <p:sldIdLst>
    <p:sldId xmlns:r="http://schemas.openxmlformats.org/officeDocument/2006/relationships" id="256" r:id="Ra11b8778471d4f61"/>
    <p:sldId xmlns:r="http://schemas.openxmlformats.org/officeDocument/2006/relationships" id="257" r:id="R4903db8b57ae4e88"/>
    <p:sldId xmlns:r="http://schemas.openxmlformats.org/officeDocument/2006/relationships" id="258" r:id="R077dd59ea42e42c0"/>
    <p:sldId xmlns:r="http://schemas.openxmlformats.org/officeDocument/2006/relationships" id="259" r:id="R06e612c1c3044cc0"/>
    <p:sldId xmlns:r="http://schemas.openxmlformats.org/officeDocument/2006/relationships" id="260" r:id="Rc7efdd0c211e48e1"/>
    <p:sldId xmlns:r="http://schemas.openxmlformats.org/officeDocument/2006/relationships" id="261" r:id="Rd6a82abe8f0649cc"/>
    <p:sldId xmlns:r="http://schemas.openxmlformats.org/officeDocument/2006/relationships" id="262" r:id="R36c55c42fdca41be"/>
    <p:sldId xmlns:r="http://schemas.openxmlformats.org/officeDocument/2006/relationships" id="263" r:id="R192c3c5d9f524706"/>
    <p:sldId xmlns:r="http://schemas.openxmlformats.org/officeDocument/2006/relationships" id="264" r:id="R5fb0a44115d24624"/>
    <p:sldId xmlns:r="http://schemas.openxmlformats.org/officeDocument/2006/relationships" id="265" r:id="Ra1f2436fe3744f67"/>
    <p:sldId xmlns:r="http://schemas.openxmlformats.org/officeDocument/2006/relationships" id="266" r:id="R24a8e74834a04539"/>
    <p:sldId xmlns:r="http://schemas.openxmlformats.org/officeDocument/2006/relationships" id="267" r:id="R7a7afa70ac0d4341"/>
    <p:sldId xmlns:r="http://schemas.openxmlformats.org/officeDocument/2006/relationships" id="268" r:id="Rdcbb9a85eaa3480a"/>
    <p:sldId xmlns:r="http://schemas.openxmlformats.org/officeDocument/2006/relationships" id="269" r:id="R5aa7d0979f7b4044"/>
    <p:sldId xmlns:r="http://schemas.openxmlformats.org/officeDocument/2006/relationships" id="270" r:id="R4c8b795137214b47"/>
    <p:sldId xmlns:r="http://schemas.openxmlformats.org/officeDocument/2006/relationships" id="271" r:id="Rfaee3be04017466b"/>
    <p:sldId xmlns:r="http://schemas.openxmlformats.org/officeDocument/2006/relationships" id="272" r:id="R8e9505e9a57849e2"/>
    <p:sldId xmlns:r="http://schemas.openxmlformats.org/officeDocument/2006/relationships" id="273" r:id="R38524558136d4da2"/>
    <p:sldId xmlns:r="http://schemas.openxmlformats.org/officeDocument/2006/relationships" id="274" r:id="R8993760de19d49fd"/>
    <p:sldId xmlns:r="http://schemas.openxmlformats.org/officeDocument/2006/relationships" id="275" r:id="Rc96d9eb253ed42f9"/>
    <p:sldId xmlns:r="http://schemas.openxmlformats.org/officeDocument/2006/relationships" id="276" r:id="Rae76d31bd20c4bdb"/>
    <p:sldId xmlns:r="http://schemas.openxmlformats.org/officeDocument/2006/relationships" id="277" r:id="R4bc8ce2855c94cda"/>
    <p:sldId xmlns:r="http://schemas.openxmlformats.org/officeDocument/2006/relationships" id="278" r:id="Rfc15e2ff63334c0f"/>
    <p:sldId xmlns:r="http://schemas.openxmlformats.org/officeDocument/2006/relationships" id="279" r:id="R737830e5f82a4369"/>
    <p:sldId xmlns:r="http://schemas.openxmlformats.org/officeDocument/2006/relationships" id="280" r:id="Rb481cd08e8484cba"/>
    <p:sldId xmlns:r="http://schemas.openxmlformats.org/officeDocument/2006/relationships" id="281" r:id="R69d444bfa1b145b0"/>
    <p:sldId xmlns:r="http://schemas.openxmlformats.org/officeDocument/2006/relationships" id="282" r:id="Rb5a89272286147a0"/>
    <p:sldId xmlns:r="http://schemas.openxmlformats.org/officeDocument/2006/relationships" id="283" r:id="Rb48ec49904a447a2"/>
    <p:sldId xmlns:r="http://schemas.openxmlformats.org/officeDocument/2006/relationships" id="284" r:id="Rd22afb42e451415f"/>
    <p:sldId xmlns:r="http://schemas.openxmlformats.org/officeDocument/2006/relationships" id="285" r:id="R4097a106aaf64ad0"/>
    <p:sldId xmlns:r="http://schemas.openxmlformats.org/officeDocument/2006/relationships" id="286" r:id="R711337106bdd4080"/>
    <p:sldId xmlns:r="http://schemas.openxmlformats.org/officeDocument/2006/relationships" id="287" r:id="R4825bcdae142416e"/>
    <p:sldId xmlns:r="http://schemas.openxmlformats.org/officeDocument/2006/relationships" id="288" r:id="R114cf5d8a4484394"/>
    <p:sldId xmlns:r="http://schemas.openxmlformats.org/officeDocument/2006/relationships" id="289" r:id="Ra72d26139c5e4f3f"/>
    <p:sldId xmlns:r="http://schemas.openxmlformats.org/officeDocument/2006/relationships" id="290" r:id="Rdf7d9b46d44e472d"/>
    <p:sldId xmlns:r="http://schemas.openxmlformats.org/officeDocument/2006/relationships" id="291" r:id="R856bd92193384880"/>
    <p:sldId xmlns:r="http://schemas.openxmlformats.org/officeDocument/2006/relationships" id="292" r:id="Rd9507bca465642b9"/>
  </p:sldIdLst>
  <p:sldSz cx="12192000" cy="6858000"/>
  <p:notesSz cx="6858000" cy="9144000"/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_rels/presentation.xml.rels>&#65279;<?xml version="1.0" encoding="utf-8"?><Relationships xmlns="http://schemas.openxmlformats.org/package/2006/relationships"><Relationship Type="http://schemas.openxmlformats.org/officeDocument/2006/relationships/theme" Target="/ppt/theme/theme1.xml" Id="R14e5772a8ddf4946" /><Relationship Type="http://schemas.openxmlformats.org/officeDocument/2006/relationships/slideMaster" Target="/ppt/slideMasters/slideMaster1.xml" Id="Rdacc18c634374c92" /><Relationship Type="http://schemas.openxmlformats.org/officeDocument/2006/relationships/notesMaster" Target="/ppt/notesMasters/notesMaster1.xml" Id="R25ec85f69a8e4955" /><Relationship Type="http://schemas.openxmlformats.org/officeDocument/2006/relationships/presProps" Target="/ppt/presProps.xml" Id="Rfd7694c37d514055" /><Relationship Type="http://schemas.openxmlformats.org/officeDocument/2006/relationships/tableStyles" Target="/ppt/tableStyles.xml" Id="Rbb932ed9d9444e5b" /><Relationship Type="http://schemas.openxmlformats.org/officeDocument/2006/relationships/slide" Target="/ppt/slides/slide1.xml" Id="Ra11b8778471d4f61" /><Relationship Type="http://schemas.openxmlformats.org/officeDocument/2006/relationships/slide" Target="/ppt/slides/slide2.xml" Id="R4903db8b57ae4e88" /><Relationship Type="http://schemas.openxmlformats.org/officeDocument/2006/relationships/slide" Target="/ppt/slides/slide3.xml" Id="R077dd59ea42e42c0" /><Relationship Type="http://schemas.openxmlformats.org/officeDocument/2006/relationships/slide" Target="/ppt/slides/slide4.xml" Id="R06e612c1c3044cc0" /><Relationship Type="http://schemas.openxmlformats.org/officeDocument/2006/relationships/slide" Target="/ppt/slides/slide5.xml" Id="Rc7efdd0c211e48e1" /><Relationship Type="http://schemas.openxmlformats.org/officeDocument/2006/relationships/slide" Target="/ppt/slides/slide6.xml" Id="Rd6a82abe8f0649cc" /><Relationship Type="http://schemas.openxmlformats.org/officeDocument/2006/relationships/slide" Target="/ppt/slides/slide7.xml" Id="R36c55c42fdca41be" /><Relationship Type="http://schemas.openxmlformats.org/officeDocument/2006/relationships/slide" Target="/ppt/slides/slide8.xml" Id="R192c3c5d9f524706" /><Relationship Type="http://schemas.openxmlformats.org/officeDocument/2006/relationships/slide" Target="/ppt/slides/slide9.xml" Id="R5fb0a44115d24624" /><Relationship Type="http://schemas.openxmlformats.org/officeDocument/2006/relationships/slide" Target="/ppt/slides/slide10.xml" Id="Ra1f2436fe3744f67" /><Relationship Type="http://schemas.openxmlformats.org/officeDocument/2006/relationships/slide" Target="/ppt/slides/slide11.xml" Id="R24a8e74834a04539" /><Relationship Type="http://schemas.openxmlformats.org/officeDocument/2006/relationships/slide" Target="/ppt/slides/slide12.xml" Id="R7a7afa70ac0d4341" /><Relationship Type="http://schemas.openxmlformats.org/officeDocument/2006/relationships/slide" Target="/ppt/slides/slide13.xml" Id="Rdcbb9a85eaa3480a" /><Relationship Type="http://schemas.openxmlformats.org/officeDocument/2006/relationships/slide" Target="/ppt/slides/slide14.xml" Id="R5aa7d0979f7b4044" /><Relationship Type="http://schemas.openxmlformats.org/officeDocument/2006/relationships/slide" Target="/ppt/slides/slide15.xml" Id="R4c8b795137214b47" /><Relationship Type="http://schemas.openxmlformats.org/officeDocument/2006/relationships/slide" Target="/ppt/slides/slide16.xml" Id="Rfaee3be04017466b" /><Relationship Type="http://schemas.openxmlformats.org/officeDocument/2006/relationships/slide" Target="/ppt/slides/slide17.xml" Id="R8e9505e9a57849e2" /><Relationship Type="http://schemas.openxmlformats.org/officeDocument/2006/relationships/slide" Target="/ppt/slides/slide18.xml" Id="R38524558136d4da2" /><Relationship Type="http://schemas.openxmlformats.org/officeDocument/2006/relationships/slide" Target="/ppt/slides/slide19.xml" Id="R8993760de19d49fd" /><Relationship Type="http://schemas.openxmlformats.org/officeDocument/2006/relationships/slide" Target="/ppt/slides/slide20.xml" Id="Rc96d9eb253ed42f9" /><Relationship Type="http://schemas.openxmlformats.org/officeDocument/2006/relationships/slide" Target="/ppt/slides/slide21.xml" Id="Rae76d31bd20c4bdb" /><Relationship Type="http://schemas.openxmlformats.org/officeDocument/2006/relationships/slide" Target="/ppt/slides/slide22.xml" Id="R4bc8ce2855c94cda" /><Relationship Type="http://schemas.openxmlformats.org/officeDocument/2006/relationships/slide" Target="/ppt/slides/slide23.xml" Id="Rfc15e2ff63334c0f" /><Relationship Type="http://schemas.openxmlformats.org/officeDocument/2006/relationships/slide" Target="/ppt/slides/slide24.xml" Id="R737830e5f82a4369" /><Relationship Type="http://schemas.openxmlformats.org/officeDocument/2006/relationships/slide" Target="/ppt/slides/slide25.xml" Id="Rb481cd08e8484cba" /><Relationship Type="http://schemas.openxmlformats.org/officeDocument/2006/relationships/slide" Target="/ppt/slides/slide26.xml" Id="R69d444bfa1b145b0" /><Relationship Type="http://schemas.openxmlformats.org/officeDocument/2006/relationships/slide" Target="/ppt/slides/slide27.xml" Id="Rb5a89272286147a0" /><Relationship Type="http://schemas.openxmlformats.org/officeDocument/2006/relationships/slide" Target="/ppt/slides/slide28.xml" Id="Rb48ec49904a447a2" /><Relationship Type="http://schemas.openxmlformats.org/officeDocument/2006/relationships/slide" Target="/ppt/slides/slide29.xml" Id="Rd22afb42e451415f" /><Relationship Type="http://schemas.openxmlformats.org/officeDocument/2006/relationships/slide" Target="/ppt/slides/slide30.xml" Id="R4097a106aaf64ad0" /><Relationship Type="http://schemas.openxmlformats.org/officeDocument/2006/relationships/slide" Target="/ppt/slides/slide31.xml" Id="R711337106bdd4080" /><Relationship Type="http://schemas.openxmlformats.org/officeDocument/2006/relationships/slide" Target="/ppt/slides/slide32.xml" Id="R4825bcdae142416e" /><Relationship Type="http://schemas.openxmlformats.org/officeDocument/2006/relationships/slide" Target="/ppt/slides/slide33.xml" Id="R114cf5d8a4484394" /><Relationship Type="http://schemas.openxmlformats.org/officeDocument/2006/relationships/slide" Target="/ppt/slides/slide34.xml" Id="Ra72d26139c5e4f3f" /><Relationship Type="http://schemas.openxmlformats.org/officeDocument/2006/relationships/slide" Target="/ppt/slides/slide35.xml" Id="Rdf7d9b46d44e472d" /><Relationship Type="http://schemas.openxmlformats.org/officeDocument/2006/relationships/slide" Target="/ppt/slides/slide36.xml" Id="R856bd92193384880" /><Relationship Type="http://schemas.openxmlformats.org/officeDocument/2006/relationships/slide" Target="/ppt/slides/slide37.xml" Id="Rd9507bca465642b9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3.xml" Id="Rf9d229b9684346bf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3.xml><?xml version="1.0" encoding="utf-8"?>
<a:theme xmlns:a="http://schemas.openxmlformats.org/drawingml/2006/main" name="ChatGPT">
  <a:themeElements>
    <a:clrScheme name="Itau BBA FIDC Editorial">
      <a:dk1>
        <a:srgbClr val="151515"/>
      </a:dk1>
      <a:lt1>
        <a:srgbClr val="FFFFFF"/>
      </a:lt1>
      <a:dk2>
        <a:srgbClr val="30353A"/>
      </a:dk2>
      <a:lt2>
        <a:srgbClr val="E7E9EB"/>
      </a:lt2>
      <a:accent1>
        <a:srgbClr val="EC7000"/>
      </a:accent1>
      <a:accent2>
        <a:srgbClr val="151515"/>
      </a:accent2>
      <a:accent3>
        <a:srgbClr val="30353A"/>
      </a:accent3>
      <a:accent4>
        <a:srgbClr val="73787D"/>
      </a:accent4>
      <a:accent5>
        <a:srgbClr val="8D9399"/>
      </a:accent5>
      <a:accent6>
        <a:srgbClr val="D7DADD"/>
      </a:accent6>
      <a:hlink>
        <a:srgbClr val="EC7000"/>
      </a:hlink>
      <a:folHlink>
        <a:srgbClr val="7378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Itau BBA FIDC Editorial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7ddbd333aff14c53" /><Relationship Type="http://schemas.openxmlformats.org/officeDocument/2006/relationships/notesMaster" Target="/ppt/notesMasters/notesMaster1.xml" Id="R0c4fad049a5046be" /></Relationships>
</file>

<file path=ppt/notesSlides/_rels/notesSlide2.xml.rels>&#65279;<?xml version="1.0" encoding="utf-8"?><Relationships xmlns="http://schemas.openxmlformats.org/package/2006/relationships"><Relationship Type="http://schemas.openxmlformats.org/officeDocument/2006/relationships/slide" Target="/ppt/slides/slide2.xml" Id="R2432d22daaff425a" /><Relationship Type="http://schemas.openxmlformats.org/officeDocument/2006/relationships/notesMaster" Target="/ppt/notesMasters/notesMaster1.xml" Id="R6ee97e27cf604819" /></Relationships>
</file>

<file path=ppt/notesSlides/_rels/notesSlide3.xml.rels>&#65279;<?xml version="1.0" encoding="utf-8"?><Relationships xmlns="http://schemas.openxmlformats.org/package/2006/relationships"><Relationship Type="http://schemas.openxmlformats.org/officeDocument/2006/relationships/slide" Target="/ppt/slides/slide3.xml" Id="Ra687b3bbbd9644f4" /><Relationship Type="http://schemas.openxmlformats.org/officeDocument/2006/relationships/notesMaster" Target="/ppt/notesMasters/notesMaster1.xml" Id="Rc0f608ab6daf4073" /></Relationships>
</file>

<file path=ppt/notesSlides/_rels/notesSlide4.xml.rels>&#65279;<?xml version="1.0" encoding="utf-8"?><Relationships xmlns="http://schemas.openxmlformats.org/package/2006/relationships"><Relationship Type="http://schemas.openxmlformats.org/officeDocument/2006/relationships/slide" Target="/ppt/slides/slide4.xml" Id="Rf7c15ea12bff407c" /><Relationship Type="http://schemas.openxmlformats.org/officeDocument/2006/relationships/notesMaster" Target="/ppt/notesMasters/notesMaster1.xml" Id="R5622c498bf3b4754" /></Relationships>
</file>

<file path=ppt/notesSlides/_rels/notesSlide5.xml.rels>&#65279;<?xml version="1.0" encoding="utf-8"?><Relationships xmlns="http://schemas.openxmlformats.org/package/2006/relationships"><Relationship Type="http://schemas.openxmlformats.org/officeDocument/2006/relationships/slide" Target="/ppt/slides/slide5.xml" Id="R139678b8120f4558" /><Relationship Type="http://schemas.openxmlformats.org/officeDocument/2006/relationships/notesMaster" Target="/ppt/notesMasters/notesMaster1.xml" Id="Rdd76277c9c4540e8" /></Relationships>
</file>

<file path=ppt/notesSlides/_rels/notesSlide6.xml.rels>&#65279;<?xml version="1.0" encoding="utf-8"?><Relationships xmlns="http://schemas.openxmlformats.org/package/2006/relationships"><Relationship Type="http://schemas.openxmlformats.org/officeDocument/2006/relationships/slide" Target="/ppt/slides/slide6.xml" Id="Reb38ffde5bf44ab9" /><Relationship Type="http://schemas.openxmlformats.org/officeDocument/2006/relationships/notesMaster" Target="/ppt/notesMasters/notesMaster1.xml" Id="R2b135f57b65a4ccf" /></Relationships>
</file>

<file path=ppt/notesSlides/_rels/notesSlide7.xml.rels>&#65279;<?xml version="1.0" encoding="utf-8"?><Relationships xmlns="http://schemas.openxmlformats.org/package/2006/relationships"><Relationship Type="http://schemas.openxmlformats.org/officeDocument/2006/relationships/slide" Target="/ppt/slides/slide7.xml" Id="R8b349ab51b8d45da" /><Relationship Type="http://schemas.openxmlformats.org/officeDocument/2006/relationships/notesMaster" Target="/ppt/notesMasters/notesMaster1.xml" Id="R5ba0593524964b22" /></Relationships>
</file>

<file path=ppt/notesSlides/_rels/notesSlide8.xml.rels>&#65279;<?xml version="1.0" encoding="utf-8"?><Relationships xmlns="http://schemas.openxmlformats.org/package/2006/relationships"><Relationship Type="http://schemas.openxmlformats.org/officeDocument/2006/relationships/slide" Target="/ppt/slides/slide8.xml" Id="Reddc6ad4114d47ff" /><Relationship Type="http://schemas.openxmlformats.org/officeDocument/2006/relationships/notesMaster" Target="/ppt/notesMasters/notesMaster1.xml" Id="R4c8d17d64352471e" /></Relationships>
</file>

<file path=ppt/notesSlides/_rels/notesSlide9.xml.rels>&#65279;<?xml version="1.0" encoding="utf-8"?><Relationships xmlns="http://schemas.openxmlformats.org/package/2006/relationships"><Relationship Type="http://schemas.openxmlformats.org/officeDocument/2006/relationships/slide" Target="/ppt/slides/slide9.xml" Id="Rd768f03fdcb84a91" /><Relationship Type="http://schemas.openxmlformats.org/officeDocument/2006/relationships/notesMaster" Target="/ppt/notesMasters/notesMaster1.xml" Id="R289d855c72284fc2" /></Relationships>
</file>

<file path=ppt/notesSlides/_rels/notesSlide10.xml.rels>&#65279;<?xml version="1.0" encoding="utf-8"?><Relationships xmlns="http://schemas.openxmlformats.org/package/2006/relationships"><Relationship Type="http://schemas.openxmlformats.org/officeDocument/2006/relationships/slide" Target="/ppt/slides/slide10.xml" Id="R1b86ae61907d4d90" /><Relationship Type="http://schemas.openxmlformats.org/officeDocument/2006/relationships/notesMaster" Target="/ppt/notesMasters/notesMaster1.xml" Id="Rc8534c0f4d814cd1" /></Relationships>
</file>

<file path=ppt/notesSlides/_rels/notesSlide11.xml.rels>&#65279;<?xml version="1.0" encoding="utf-8"?><Relationships xmlns="http://schemas.openxmlformats.org/package/2006/relationships"><Relationship Type="http://schemas.openxmlformats.org/officeDocument/2006/relationships/slide" Target="/ppt/slides/slide11.xml" Id="R1de258ddcc954c5e" /><Relationship Type="http://schemas.openxmlformats.org/officeDocument/2006/relationships/notesMaster" Target="/ppt/notesMasters/notesMaster1.xml" Id="R18ecf55f63144cc0" /></Relationships>
</file>

<file path=ppt/notesSlides/_rels/notesSlide12.xml.rels>&#65279;<?xml version="1.0" encoding="utf-8"?><Relationships xmlns="http://schemas.openxmlformats.org/package/2006/relationships"><Relationship Type="http://schemas.openxmlformats.org/officeDocument/2006/relationships/slide" Target="/ppt/slides/slide12.xml" Id="R510984736b84450b" /><Relationship Type="http://schemas.openxmlformats.org/officeDocument/2006/relationships/notesMaster" Target="/ppt/notesMasters/notesMaster1.xml" Id="R0fa05fca21b0416e" /></Relationships>
</file>

<file path=ppt/notesSlides/_rels/notesSlide13.xml.rels>&#65279;<?xml version="1.0" encoding="utf-8"?><Relationships xmlns="http://schemas.openxmlformats.org/package/2006/relationships"><Relationship Type="http://schemas.openxmlformats.org/officeDocument/2006/relationships/slide" Target="/ppt/slides/slide13.xml" Id="R36d44952f5fe4b59" /><Relationship Type="http://schemas.openxmlformats.org/officeDocument/2006/relationships/notesMaster" Target="/ppt/notesMasters/notesMaster1.xml" Id="R2f3bc8ea187849b9" /></Relationships>
</file>

<file path=ppt/notesSlides/_rels/notesSlide14.xml.rels>&#65279;<?xml version="1.0" encoding="utf-8"?><Relationships xmlns="http://schemas.openxmlformats.org/package/2006/relationships"><Relationship Type="http://schemas.openxmlformats.org/officeDocument/2006/relationships/slide" Target="/ppt/slides/slide14.xml" Id="R7606eb569ea54245" /><Relationship Type="http://schemas.openxmlformats.org/officeDocument/2006/relationships/notesMaster" Target="/ppt/notesMasters/notesMaster1.xml" Id="Rd3ce143240d3485e" /></Relationships>
</file>

<file path=ppt/notesSlides/_rels/notesSlide15.xml.rels>&#65279;<?xml version="1.0" encoding="utf-8"?><Relationships xmlns="http://schemas.openxmlformats.org/package/2006/relationships"><Relationship Type="http://schemas.openxmlformats.org/officeDocument/2006/relationships/slide" Target="/ppt/slides/slide15.xml" Id="Raddef56d12a54d0d" /><Relationship Type="http://schemas.openxmlformats.org/officeDocument/2006/relationships/notesMaster" Target="/ppt/notesMasters/notesMaster1.xml" Id="Rcdf83077788546ae" /></Relationships>
</file>

<file path=ppt/notesSlides/_rels/notesSlide16.xml.rels>&#65279;<?xml version="1.0" encoding="utf-8"?><Relationships xmlns="http://schemas.openxmlformats.org/package/2006/relationships"><Relationship Type="http://schemas.openxmlformats.org/officeDocument/2006/relationships/slide" Target="/ppt/slides/slide16.xml" Id="Ra81356cf40b04386" /><Relationship Type="http://schemas.openxmlformats.org/officeDocument/2006/relationships/notesMaster" Target="/ppt/notesMasters/notesMaster1.xml" Id="R448f53e4e2754013" /></Relationships>
</file>

<file path=ppt/notesSlides/_rels/notesSlide17.xml.rels>&#65279;<?xml version="1.0" encoding="utf-8"?><Relationships xmlns="http://schemas.openxmlformats.org/package/2006/relationships"><Relationship Type="http://schemas.openxmlformats.org/officeDocument/2006/relationships/slide" Target="/ppt/slides/slide17.xml" Id="Re87c2cbd724b4cf2" /><Relationship Type="http://schemas.openxmlformats.org/officeDocument/2006/relationships/notesMaster" Target="/ppt/notesMasters/notesMaster1.xml" Id="Rb4deb4cbb0a74123" /></Relationships>
</file>

<file path=ppt/notesSlides/_rels/notesSlide18.xml.rels>&#65279;<?xml version="1.0" encoding="utf-8"?><Relationships xmlns="http://schemas.openxmlformats.org/package/2006/relationships"><Relationship Type="http://schemas.openxmlformats.org/officeDocument/2006/relationships/slide" Target="/ppt/slides/slide18.xml" Id="R6ca56e0857f44bc9" /><Relationship Type="http://schemas.openxmlformats.org/officeDocument/2006/relationships/notesMaster" Target="/ppt/notesMasters/notesMaster1.xml" Id="R4b041d7104f34547" /></Relationships>
</file>

<file path=ppt/notesSlides/_rels/notesSlide19.xml.rels>&#65279;<?xml version="1.0" encoding="utf-8"?><Relationships xmlns="http://schemas.openxmlformats.org/package/2006/relationships"><Relationship Type="http://schemas.openxmlformats.org/officeDocument/2006/relationships/slide" Target="/ppt/slides/slide19.xml" Id="R2c5f6b72a3324562" /><Relationship Type="http://schemas.openxmlformats.org/officeDocument/2006/relationships/notesMaster" Target="/ppt/notesMasters/notesMaster1.xml" Id="Re0a7f690fc724550" /></Relationships>
</file>

<file path=ppt/notesSlides/_rels/notesSlide20.xml.rels>&#65279;<?xml version="1.0" encoding="utf-8"?><Relationships xmlns="http://schemas.openxmlformats.org/package/2006/relationships"><Relationship Type="http://schemas.openxmlformats.org/officeDocument/2006/relationships/slide" Target="/ppt/slides/slide20.xml" Id="Rc5d0d2d5a93b4d60" /><Relationship Type="http://schemas.openxmlformats.org/officeDocument/2006/relationships/notesMaster" Target="/ppt/notesMasters/notesMaster1.xml" Id="R531343eabfb14d98" /></Relationships>
</file>

<file path=ppt/notesSlides/_rels/notesSlide21.xml.rels>&#65279;<?xml version="1.0" encoding="utf-8"?><Relationships xmlns="http://schemas.openxmlformats.org/package/2006/relationships"><Relationship Type="http://schemas.openxmlformats.org/officeDocument/2006/relationships/slide" Target="/ppt/slides/slide21.xml" Id="R967056e6b4db483b" /><Relationship Type="http://schemas.openxmlformats.org/officeDocument/2006/relationships/notesMaster" Target="/ppt/notesMasters/notesMaster1.xml" Id="R5779ec6691064e4d" /></Relationships>
</file>

<file path=ppt/notesSlides/_rels/notesSlide22.xml.rels>&#65279;<?xml version="1.0" encoding="utf-8"?><Relationships xmlns="http://schemas.openxmlformats.org/package/2006/relationships"><Relationship Type="http://schemas.openxmlformats.org/officeDocument/2006/relationships/slide" Target="/ppt/slides/slide22.xml" Id="Ra2b9cea9b21e4186" /><Relationship Type="http://schemas.openxmlformats.org/officeDocument/2006/relationships/notesMaster" Target="/ppt/notesMasters/notesMaster1.xml" Id="Rdf65c99033e245d1" /></Relationships>
</file>

<file path=ppt/notesSlides/_rels/notesSlide23.xml.rels>&#65279;<?xml version="1.0" encoding="utf-8"?><Relationships xmlns="http://schemas.openxmlformats.org/package/2006/relationships"><Relationship Type="http://schemas.openxmlformats.org/officeDocument/2006/relationships/slide" Target="/ppt/slides/slide23.xml" Id="Rebf3b4bc6a7b4b50" /><Relationship Type="http://schemas.openxmlformats.org/officeDocument/2006/relationships/notesMaster" Target="/ppt/notesMasters/notesMaster1.xml" Id="R09356f612480497e" /></Relationships>
</file>

<file path=ppt/notesSlides/_rels/notesSlide24.xml.rels>&#65279;<?xml version="1.0" encoding="utf-8"?><Relationships xmlns="http://schemas.openxmlformats.org/package/2006/relationships"><Relationship Type="http://schemas.openxmlformats.org/officeDocument/2006/relationships/slide" Target="/ppt/slides/slide24.xml" Id="R9f2d741ee5a0474d" /><Relationship Type="http://schemas.openxmlformats.org/officeDocument/2006/relationships/notesMaster" Target="/ppt/notesMasters/notesMaster1.xml" Id="R6e32d226c11f4870" /></Relationships>
</file>

<file path=ppt/notesSlides/_rels/notesSlide25.xml.rels>&#65279;<?xml version="1.0" encoding="utf-8"?><Relationships xmlns="http://schemas.openxmlformats.org/package/2006/relationships"><Relationship Type="http://schemas.openxmlformats.org/officeDocument/2006/relationships/slide" Target="/ppt/slides/slide25.xml" Id="R16ba1270b8164059" /><Relationship Type="http://schemas.openxmlformats.org/officeDocument/2006/relationships/notesMaster" Target="/ppt/notesMasters/notesMaster1.xml" Id="R26b95481888c4fe1" /></Relationships>
</file>

<file path=ppt/notesSlides/_rels/notesSlide26.xml.rels>&#65279;<?xml version="1.0" encoding="utf-8"?><Relationships xmlns="http://schemas.openxmlformats.org/package/2006/relationships"><Relationship Type="http://schemas.openxmlformats.org/officeDocument/2006/relationships/slide" Target="/ppt/slides/slide26.xml" Id="R4fcca307773b4138" /><Relationship Type="http://schemas.openxmlformats.org/officeDocument/2006/relationships/notesMaster" Target="/ppt/notesMasters/notesMaster1.xml" Id="Rdc40f4317860425d" /></Relationships>
</file>

<file path=ppt/notesSlides/_rels/notesSlide27.xml.rels>&#65279;<?xml version="1.0" encoding="utf-8"?><Relationships xmlns="http://schemas.openxmlformats.org/package/2006/relationships"><Relationship Type="http://schemas.openxmlformats.org/officeDocument/2006/relationships/slide" Target="/ppt/slides/slide27.xml" Id="R3d30815729cb4e3f" /><Relationship Type="http://schemas.openxmlformats.org/officeDocument/2006/relationships/notesMaster" Target="/ppt/notesMasters/notesMaster1.xml" Id="R87e389b3f82443cf" /></Relationships>
</file>

<file path=ppt/notesSlides/_rels/notesSlide28.xml.rels>&#65279;<?xml version="1.0" encoding="utf-8"?><Relationships xmlns="http://schemas.openxmlformats.org/package/2006/relationships"><Relationship Type="http://schemas.openxmlformats.org/officeDocument/2006/relationships/slide" Target="/ppt/slides/slide28.xml" Id="Rc553fa8b991c4e45" /><Relationship Type="http://schemas.openxmlformats.org/officeDocument/2006/relationships/notesMaster" Target="/ppt/notesMasters/notesMaster1.xml" Id="R36775e4d8d3d4e16" /></Relationships>
</file>

<file path=ppt/notesSlides/_rels/notesSlide29.xml.rels>&#65279;<?xml version="1.0" encoding="utf-8"?><Relationships xmlns="http://schemas.openxmlformats.org/package/2006/relationships"><Relationship Type="http://schemas.openxmlformats.org/officeDocument/2006/relationships/slide" Target="/ppt/slides/slide29.xml" Id="R41068032656c4d1e" /><Relationship Type="http://schemas.openxmlformats.org/officeDocument/2006/relationships/notesMaster" Target="/ppt/notesMasters/notesMaster1.xml" Id="Rda429f7fa75042d9" /></Relationships>
</file>

<file path=ppt/notesSlides/_rels/notesSlide30.xml.rels>&#65279;<?xml version="1.0" encoding="utf-8"?><Relationships xmlns="http://schemas.openxmlformats.org/package/2006/relationships"><Relationship Type="http://schemas.openxmlformats.org/officeDocument/2006/relationships/slide" Target="/ppt/slides/slide30.xml" Id="Rc512e29059734d53" /><Relationship Type="http://schemas.openxmlformats.org/officeDocument/2006/relationships/notesMaster" Target="/ppt/notesMasters/notesMaster1.xml" Id="Rb9addcf5e59a4501" /></Relationships>
</file>

<file path=ppt/notesSlides/_rels/notesSlide31.xml.rels>&#65279;<?xml version="1.0" encoding="utf-8"?><Relationships xmlns="http://schemas.openxmlformats.org/package/2006/relationships"><Relationship Type="http://schemas.openxmlformats.org/officeDocument/2006/relationships/slide" Target="/ppt/slides/slide31.xml" Id="Rb0c03422784f458a" /><Relationship Type="http://schemas.openxmlformats.org/officeDocument/2006/relationships/notesMaster" Target="/ppt/notesMasters/notesMaster1.xml" Id="R8b69e523a6964808" /></Relationships>
</file>

<file path=ppt/notesSlides/_rels/notesSlide32.xml.rels>&#65279;<?xml version="1.0" encoding="utf-8"?><Relationships xmlns="http://schemas.openxmlformats.org/package/2006/relationships"><Relationship Type="http://schemas.openxmlformats.org/officeDocument/2006/relationships/slide" Target="/ppt/slides/slide32.xml" Id="Rdfb9ef0480c84a69" /><Relationship Type="http://schemas.openxmlformats.org/officeDocument/2006/relationships/notesMaster" Target="/ppt/notesMasters/notesMaster1.xml" Id="R1029e7ba730f419d" /></Relationships>
</file>

<file path=ppt/notesSlides/_rels/notesSlide33.xml.rels>&#65279;<?xml version="1.0" encoding="utf-8"?><Relationships xmlns="http://schemas.openxmlformats.org/package/2006/relationships"><Relationship Type="http://schemas.openxmlformats.org/officeDocument/2006/relationships/slide" Target="/ppt/slides/slide33.xml" Id="R883e0fb01f794793" /><Relationship Type="http://schemas.openxmlformats.org/officeDocument/2006/relationships/notesMaster" Target="/ppt/notesMasters/notesMaster1.xml" Id="Rbff0557b5ab34a54" /></Relationships>
</file>

<file path=ppt/notesSlides/_rels/notesSlide34.xml.rels>&#65279;<?xml version="1.0" encoding="utf-8"?><Relationships xmlns="http://schemas.openxmlformats.org/package/2006/relationships"><Relationship Type="http://schemas.openxmlformats.org/officeDocument/2006/relationships/slide" Target="/ppt/slides/slide34.xml" Id="Rffc243a582014bc3" /><Relationship Type="http://schemas.openxmlformats.org/officeDocument/2006/relationships/notesMaster" Target="/ppt/notesMasters/notesMaster1.xml" Id="R3cfdf7534d894742" /></Relationships>
</file>

<file path=ppt/notesSlides/_rels/notesSlide35.xml.rels>&#65279;<?xml version="1.0" encoding="utf-8"?><Relationships xmlns="http://schemas.openxmlformats.org/package/2006/relationships"><Relationship Type="http://schemas.openxmlformats.org/officeDocument/2006/relationships/slide" Target="/ppt/slides/slide35.xml" Id="Rc7ae7708119e4a4f" /><Relationship Type="http://schemas.openxmlformats.org/officeDocument/2006/relationships/notesMaster" Target="/ppt/notesMasters/notesMaster1.xml" Id="R7fdbb22c70e148a3" /></Relationships>
</file>

<file path=ppt/notesSlides/_rels/notesSlide36.xml.rels>&#65279;<?xml version="1.0" encoding="utf-8"?><Relationships xmlns="http://schemas.openxmlformats.org/package/2006/relationships"><Relationship Type="http://schemas.openxmlformats.org/officeDocument/2006/relationships/slide" Target="/ppt/slides/slide36.xml" Id="R18f5c974123449ed" /><Relationship Type="http://schemas.openxmlformats.org/officeDocument/2006/relationships/notesMaster" Target="/ppt/notesMasters/notesMaster1.xml" Id="Re79940b4841446fe" /></Relationships>
</file>

<file path=ppt/notesSlides/_rels/notesSlide37.xml.rels>&#65279;<?xml version="1.0" encoding="utf-8"?><Relationships xmlns="http://schemas.openxmlformats.org/package/2006/relationships"><Relationship Type="http://schemas.openxmlformats.org/officeDocument/2006/relationships/slide" Target="/ppt/slides/slide37.xml" Id="R2bce745e06254444" /><Relationship Type="http://schemas.openxmlformats.org/officeDocument/2006/relationships/notesMaster" Target="/ppt/notesMasters/notesMaster1.xml" Id="Rf0529eb9e3164ef1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CVM/SRE — Ofertas Públicas de Distribuição: https://dados.cvm.gov.br/dataset/oferta-distrib</a:t>
            </a:r>
          </a:p>
          <a:p xmlns:a="http://schemas.openxmlformats.org/drawingml/2006/main">
            <a:r>
              <a:t>- ANBIMA Data — Boletim de Mercado de Capitais, corte em 30/jun/26: https://data.anbima.com.br/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CVM/SRE — oferta_resolucao_160.csv e oferta_distribuicao.csv: https://dados.cvm.gov.br/dataset/oferta-distrib</a:t>
            </a:r>
          </a:p>
          <a:p xmlns:a="http://schemas.openxmlformats.org/drawingml/2006/main">
            <a:r>
              <a:t>- ANBIMA — Coletiva de Mercado de Capitais 1S26, snapshot jun/26, Anexo · pág. 14, Tabela Jan a jun 25 × Jan a jun 26: https://www.anbima.com.br/data/files/8E/86/DB/07/325AF91098D078F9692BA2A8/Apresentacao%20_%20coletiva%20Mercado%20de%20Capitais%20_%201S26.pdf</a:t>
            </a:r>
          </a:p>
          <a:p xmlns:a="http://schemas.openxmlformats.org/drawingml/2006/main">
            <a:r>
              <a:t>- Perímetros: CVM/SRE mede valor registrado de ofertas primárias encerradas (R$ 65,5 bi em FIDCs); ANBIMA mede valor encerrado (R$ 53,1 bi). Ambos cobrem jan–jun/26.</a:t>
            </a:r>
          </a:p>
          <a:p xmlns:a="http://schemas.openxmlformats.org/drawingml/2006/main">
            <a:r>
              <a:t>- FIDCs 2023 no gráfico CVM: valor encerrado ANBIMA; a correção é idempotente e preserva bundles anteriores à republicação.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Saldo: classificação analítica por CNPJ; Outros é aberto em Precatórios/Ações, Multicedente/Multisacado, Recuperação/NP e N/D.</a:t>
            </a:r>
          </a:p>
          <a:p xmlns:a="http://schemas.openxmlformats.org/drawingml/2006/main">
            <a:r>
              <a:t>- Emissões: quatro tipos ANBIMA reconciliados com FIC-FIDC e total emitido; ausência permanece N/D e não vira zero.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CVM/SRE — oferta_resolucao_160.csv e oferta_distribuicao.csv: https://dados.cvm.gov.br/dataset/oferta-distrib</a:t>
            </a:r>
          </a:p>
          <a:p xmlns:a="http://schemas.openxmlformats.org/drawingml/2006/main">
            <a:r>
              <a:t>- FIDCs 2023: valor encerrado ANBIMA, preservado da série histórica; composição não observada escalada pela composição CVM. Snapshot vigente: jun/26.</a:t>
            </a:r>
          </a:p>
          <a:p xmlns:a="http://schemas.openxmlformats.org/drawingml/2006/main">
            <a:r>
              <a:t>- Destaque: variação relativa da participação versus o período comparável anterior; verde &gt; +2%, vinho &lt; −2%, sem destaque dentro de ±2%.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Unidade: CNPJ do fundo, com classes agregadas; página jun/26 · Top 15.</a:t>
            </a:r>
          </a:p>
          <a:p xmlns:a="http://schemas.openxmlformats.org/drawingml/2006/main">
            <a:r>
              <a:t>- Cedente: CVM, Informe Mensal, Tabela I, quando declarado; a informação identifica o cedente legal e não é tratada como originador econômico.</a:t>
            </a:r>
          </a:p>
          <a:p xmlns:a="http://schemas.openxmlformats.org/drawingml/2006/main">
            <a:r>
              <a:t>- Originador, sacado, subordinação mínima e remuneração-alvo: documentos identificados ou curadoria documental por CNPJ; fontes linha a linha na aba Auditoria emissões.</a:t>
            </a:r>
          </a:p>
          <a:p xmlns:a="http://schemas.openxmlformats.org/drawingml/2006/main">
            <a:r>
              <a:t>- Remuneração-alvo preserva o benchmark e o spread da cota/série (por exemplo, CDI + x% a.a.); VNU, quantidade, taxa da carteira e preço unitário ficam fora desta coluna.</a:t>
            </a:r>
          </a:p>
          <a:p xmlns:a="http://schemas.openxmlformats.org/drawingml/2006/main">
            <a:r>
              <a:t>- O Informe Mensal da CVM não identifica sacado/devedor nomeado. Campo ausente, fragmento sem papel explícito ou vínculo documental insuficiente permanece N/D.</a:t>
            </a:r>
          </a:p>
          <a:p xmlns:a="http://schemas.openxmlformats.org/drawingml/2006/main">
            <a:r>
              <a:t>- Prêmio Mz.–Sr.: menor spread CDI/DI+ documentado por nível no mesmo fundo e corte; N = fundo-corte. Movimento semestral: mesmo CNPJ e família de tranche nos dois rankings; N = fundo-classe.</a:t>
            </a:r>
          </a:p>
          <a:p xmlns:a="http://schemas.openxmlformats.org/drawingml/2006/main">
            <a:r>
              <a:t>- Amostras entre fundos só são comparáveis quando subordinação, prazo e lastro também coincidem. * = complemento manual; classes/séries e natureza do mínimo aparecem na própria célula e na auditoria.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Unidade: CNPJ do fundo, com classes agregadas; página dez/25 · Top 15.</a:t>
            </a:r>
          </a:p>
          <a:p xmlns:a="http://schemas.openxmlformats.org/drawingml/2006/main">
            <a:r>
              <a:t>- Cedente: CVM, Informe Mensal, Tabela I, quando declarado; a informação identifica o cedente legal e não é tratada como originador econômico.</a:t>
            </a:r>
          </a:p>
          <a:p xmlns:a="http://schemas.openxmlformats.org/drawingml/2006/main">
            <a:r>
              <a:t>- Originador, sacado, subordinação mínima e remuneração-alvo: documentos identificados ou curadoria documental por CNPJ; fontes linha a linha na aba Auditoria emissões.</a:t>
            </a:r>
          </a:p>
          <a:p xmlns:a="http://schemas.openxmlformats.org/drawingml/2006/main">
            <a:r>
              <a:t>- Remuneração-alvo preserva o benchmark e o spread da cota/série (por exemplo, CDI + x% a.a.); VNU, quantidade, taxa da carteira e preço unitário ficam fora desta coluna.</a:t>
            </a:r>
          </a:p>
          <a:p xmlns:a="http://schemas.openxmlformats.org/drawingml/2006/main">
            <a:r>
              <a:t>- O Informe Mensal da CVM não identifica sacado/devedor nomeado. Campo ausente, fragmento sem papel explícito ou vínculo documental insuficiente permanece N/D.</a:t>
            </a:r>
          </a:p>
          <a:p xmlns:a="http://schemas.openxmlformats.org/drawingml/2006/main">
            <a:r>
              <a:t>- Prêmio Mz.–Sr.: menor spread CDI/DI+ documentado por nível no mesmo fundo e corte; N = fundo-corte. Movimento semestral: mesmo CNPJ e família de tranche nos dois rankings; N = fundo-classe.</a:t>
            </a:r>
          </a:p>
          <a:p xmlns:a="http://schemas.openxmlformats.org/drawingml/2006/main">
            <a:r>
              <a:t>- Amostras entre fundos só são comparáveis quando subordinação, prazo e lastro também coincidem. * = complemento manual; classes/séries e natureza do mínimo aparecem na própria célula e na auditoria.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Unidade: CNPJ do fundo, com classes agregadas; página jun/26 · Top 15.</a:t>
            </a:r>
          </a:p>
          <a:p xmlns:a="http://schemas.openxmlformats.org/drawingml/2006/main">
            <a:r>
              <a:t>- Cedente: CVM, Informe Mensal, Tabela I, quando declarado; a informação identifica o cedente legal e não é tratada como originador econômico.</a:t>
            </a:r>
          </a:p>
          <a:p xmlns:a="http://schemas.openxmlformats.org/drawingml/2006/main">
            <a:r>
              <a:t>- Originador, sacado, subordinação mínima e remuneração-alvo: documentos identificados ou curadoria documental por CNPJ; fontes linha a linha na aba Auditoria emissões.</a:t>
            </a:r>
          </a:p>
          <a:p xmlns:a="http://schemas.openxmlformats.org/drawingml/2006/main">
            <a:r>
              <a:t>- Remuneração-alvo preserva o benchmark e o spread da cota/série (por exemplo, CDI + x% a.a.); VNU, quantidade, taxa da carteira e preço unitário ficam fora desta coluna.</a:t>
            </a:r>
          </a:p>
          <a:p xmlns:a="http://schemas.openxmlformats.org/drawingml/2006/main">
            <a:r>
              <a:t>- O Informe Mensal da CVM não identifica sacado/devedor nomeado. Campo ausente, fragmento sem papel explícito ou vínculo documental insuficiente permanece N/D.</a:t>
            </a:r>
          </a:p>
          <a:p xmlns:a="http://schemas.openxmlformats.org/drawingml/2006/main">
            <a:r>
              <a:t>- Prêmio Mz.–Sr.: menor spread CDI/DI+ documentado por nível no mesmo fundo e corte; N = fundo-corte. Movimento semestral: mesmo CNPJ e família de tranche nos dois rankings; N = fundo-classe.</a:t>
            </a:r>
          </a:p>
          <a:p xmlns:a="http://schemas.openxmlformats.org/drawingml/2006/main">
            <a:r>
              <a:t>- Amostras entre fundos só são comparáveis quando subordinação, prazo e lastro também coincidem. * = complemento manual; classes/séries e natureza do mínimo aparecem na própria célula e na auditoria.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Unidade: CNPJ do fundo, com classes agregadas; página dez/25 · Top 15.</a:t>
            </a:r>
          </a:p>
          <a:p xmlns:a="http://schemas.openxmlformats.org/drawingml/2006/main">
            <a:r>
              <a:t>- Cedente: CVM, Informe Mensal, Tabela I, quando declarado; a informação identifica o cedente legal e não é tratada como originador econômico.</a:t>
            </a:r>
          </a:p>
          <a:p xmlns:a="http://schemas.openxmlformats.org/drawingml/2006/main">
            <a:r>
              <a:t>- Originador, sacado, subordinação mínima e remuneração-alvo: documentos identificados ou curadoria documental por CNPJ; fontes linha a linha na aba Auditoria emissões.</a:t>
            </a:r>
          </a:p>
          <a:p xmlns:a="http://schemas.openxmlformats.org/drawingml/2006/main">
            <a:r>
              <a:t>- Remuneração-alvo preserva o benchmark e o spread da cota/série (por exemplo, CDI + x% a.a.); VNU, quantidade, taxa da carteira e preço unitário ficam fora desta coluna.</a:t>
            </a:r>
          </a:p>
          <a:p xmlns:a="http://schemas.openxmlformats.org/drawingml/2006/main">
            <a:r>
              <a:t>- O Informe Mensal da CVM não identifica sacado/devedor nomeado. Campo ausente, fragmento sem papel explícito ou vínculo documental insuficiente permanece N/D.</a:t>
            </a:r>
          </a:p>
          <a:p xmlns:a="http://schemas.openxmlformats.org/drawingml/2006/main">
            <a:r>
              <a:t>- Prêmio Mz.–Sr.: menor spread CDI/DI+ documentado por nível no mesmo fundo e corte; N = fundo-corte. Movimento semestral: mesmo CNPJ e família de tranche nos dois rankings; N = fundo-classe.</a:t>
            </a:r>
          </a:p>
          <a:p xmlns:a="http://schemas.openxmlformats.org/drawingml/2006/main">
            <a:r>
              <a:t>- Amostras entre fundos só são comparáveis quando subordinação, prazo e lastro também coincidem. * = complemento manual; classes/séries e natureza do mínimo aparecem na própria célula e na auditoria.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Unidade: CNPJ do fundo, com classes agregadas; página jun/26 · Top 15.</a:t>
            </a:r>
          </a:p>
          <a:p xmlns:a="http://schemas.openxmlformats.org/drawingml/2006/main">
            <a:r>
              <a:t>- Cedente: CVM, Informe Mensal, Tabela I, quando declarado; a informação identifica o cedente legal e não é tratada como originador econômico.</a:t>
            </a:r>
          </a:p>
          <a:p xmlns:a="http://schemas.openxmlformats.org/drawingml/2006/main">
            <a:r>
              <a:t>- Originador, sacado, subordinação mínima e remuneração-alvo: documentos identificados ou curadoria documental por CNPJ; fontes linha a linha na aba Auditoria emissões.</a:t>
            </a:r>
          </a:p>
          <a:p xmlns:a="http://schemas.openxmlformats.org/drawingml/2006/main">
            <a:r>
              <a:t>- Remuneração-alvo preserva o benchmark e o spread da cota/série (por exemplo, CDI + x% a.a.); VNU, quantidade, taxa da carteira e preço unitário ficam fora desta coluna.</a:t>
            </a:r>
          </a:p>
          <a:p xmlns:a="http://schemas.openxmlformats.org/drawingml/2006/main">
            <a:r>
              <a:t>- O Informe Mensal da CVM não identifica sacado/devedor nomeado. Campo ausente, fragmento sem papel explícito ou vínculo documental insuficiente permanece N/D.</a:t>
            </a:r>
          </a:p>
          <a:p xmlns:a="http://schemas.openxmlformats.org/drawingml/2006/main">
            <a:r>
              <a:t>- Prêmio Mz.–Sr.: menor spread CDI/DI+ documentado por nível no mesmo fundo e corte; N = fundo-corte. Movimento semestral: mesmo CNPJ e família de tranche nos dois rankings; N = fundo-classe.</a:t>
            </a:r>
          </a:p>
          <a:p xmlns:a="http://schemas.openxmlformats.org/drawingml/2006/main">
            <a:r>
              <a:t>- Amostras entre fundos só são comparáveis quando subordinação, prazo e lastro também coincidem. * = complemento manual; classes/séries e natureza do mínimo aparecem na própria célula e na auditoria.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Unidade: CNPJ do fundo, com classes agregadas; página dez/25 · Top 15.</a:t>
            </a:r>
          </a:p>
          <a:p xmlns:a="http://schemas.openxmlformats.org/drawingml/2006/main">
            <a:r>
              <a:t>- Cedente: CVM, Informe Mensal, Tabela I, quando declarado; a informação identifica o cedente legal e não é tratada como originador econômico.</a:t>
            </a:r>
          </a:p>
          <a:p xmlns:a="http://schemas.openxmlformats.org/drawingml/2006/main">
            <a:r>
              <a:t>- Originador, sacado, subordinação mínima e remuneração-alvo: documentos identificados ou curadoria documental por CNPJ; fontes linha a linha na aba Auditoria emissões.</a:t>
            </a:r>
          </a:p>
          <a:p xmlns:a="http://schemas.openxmlformats.org/drawingml/2006/main">
            <a:r>
              <a:t>- Remuneração-alvo preserva o benchmark e o spread da cota/série (por exemplo, CDI + x% a.a.); VNU, quantidade, taxa da carteira e preço unitário ficam fora desta coluna.</a:t>
            </a:r>
          </a:p>
          <a:p xmlns:a="http://schemas.openxmlformats.org/drawingml/2006/main">
            <a:r>
              <a:t>- O Informe Mensal da CVM não identifica sacado/devedor nomeado. Campo ausente, fragmento sem papel explícito ou vínculo documental insuficiente permanece N/D.</a:t>
            </a:r>
          </a:p>
          <a:p xmlns:a="http://schemas.openxmlformats.org/drawingml/2006/main">
            <a:r>
              <a:t>- Prêmio Mz.–Sr.: menor spread CDI/DI+ documentado por nível no mesmo fundo e corte; N = fundo-corte. Movimento semestral: mesmo CNPJ e família de tranche nos dois rankings; N = fundo-classe.</a:t>
            </a:r>
          </a:p>
          <a:p xmlns:a="http://schemas.openxmlformats.org/drawingml/2006/main">
            <a:r>
              <a:t>- Amostras entre fundos só são comparáveis quando subordinação, prazo e lastro também coincidem. * = complemento manual; classes/séries e natureza do mínimo aparecem na própria célula e na auditoria.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Unidade: CNPJ do fundo, com classes agregadas; página jun/26 · Top 15.</a:t>
            </a:r>
          </a:p>
          <a:p xmlns:a="http://schemas.openxmlformats.org/drawingml/2006/main">
            <a:r>
              <a:t>- Cedente: CVM, Informe Mensal, Tabela I, quando declarado; a informação identifica o cedente legal e não é tratada como originador econômico.</a:t>
            </a:r>
          </a:p>
          <a:p xmlns:a="http://schemas.openxmlformats.org/drawingml/2006/main">
            <a:r>
              <a:t>- Originador, sacado, subordinação mínima e remuneração-alvo: documentos identificados ou curadoria documental por CNPJ; fontes linha a linha na aba Auditoria emissões.</a:t>
            </a:r>
          </a:p>
          <a:p xmlns:a="http://schemas.openxmlformats.org/drawingml/2006/main">
            <a:r>
              <a:t>- Remuneração-alvo preserva o benchmark e o spread da cota/série (por exemplo, CDI + x% a.a.); VNU, quantidade, taxa da carteira e preço unitário ficam fora desta coluna.</a:t>
            </a:r>
          </a:p>
          <a:p xmlns:a="http://schemas.openxmlformats.org/drawingml/2006/main">
            <a:r>
              <a:t>- O Informe Mensal da CVM não identifica sacado/devedor nomeado. Campo ausente, fragmento sem papel explícito ou vínculo documental insuficiente permanece N/D.</a:t>
            </a:r>
          </a:p>
          <a:p xmlns:a="http://schemas.openxmlformats.org/drawingml/2006/main">
            <a:r>
              <a:t>- Prêmio Mz.–Sr.: menor spread CDI/DI+ documentado por nível no mesmo fundo e corte; N = fundo-corte. Movimento semestral: mesmo CNPJ e família de tranche nos dois rankings; N = fundo-classe.</a:t>
            </a:r>
          </a:p>
          <a:p xmlns:a="http://schemas.openxmlformats.org/drawingml/2006/main">
            <a:r>
              <a:t>- Amostras entre fundos só são comparáveis quando subordinação, prazo e lastro também coincidem. * = complemento manual; classes/séries e natureza do mínimo aparecem na própria célula e na auditoria.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Unidade: CNPJ do fundo, com classes agregadas; página dez/25 · Top 15.</a:t>
            </a:r>
          </a:p>
          <a:p xmlns:a="http://schemas.openxmlformats.org/drawingml/2006/main">
            <a:r>
              <a:t>- Cedente: CVM, Informe Mensal, Tabela I, quando declarado; a informação identifica o cedente legal e não é tratada como originador econômico.</a:t>
            </a:r>
          </a:p>
          <a:p xmlns:a="http://schemas.openxmlformats.org/drawingml/2006/main">
            <a:r>
              <a:t>- Originador, sacado, subordinação mínima e remuneração-alvo: documentos identificados ou curadoria documental por CNPJ; fontes linha a linha na aba Auditoria emissões.</a:t>
            </a:r>
          </a:p>
          <a:p xmlns:a="http://schemas.openxmlformats.org/drawingml/2006/main">
            <a:r>
              <a:t>- Remuneração-alvo preserva o benchmark e o spread da cota/série (por exemplo, CDI + x% a.a.); VNU, quantidade, taxa da carteira e preço unitário ficam fora desta coluna.</a:t>
            </a:r>
          </a:p>
          <a:p xmlns:a="http://schemas.openxmlformats.org/drawingml/2006/main">
            <a:r>
              <a:t>- O Informe Mensal da CVM não identifica sacado/devedor nomeado. Campo ausente, fragmento sem papel explícito ou vínculo documental insuficiente permanece N/D.</a:t>
            </a:r>
          </a:p>
          <a:p xmlns:a="http://schemas.openxmlformats.org/drawingml/2006/main">
            <a:r>
              <a:t>- Prêmio Mz.–Sr.: menor spread CDI/DI+ documentado por nível no mesmo fundo e corte; N = fundo-corte. Movimento semestral: mesmo CNPJ e família de tranche nos dois rankings; N = fundo-classe.</a:t>
            </a:r>
          </a:p>
          <a:p xmlns:a="http://schemas.openxmlformats.org/drawingml/2006/main">
            <a:r>
              <a:t>- Amostras entre fundos só são comparáveis quando subordinação, prazo e lastro também coincidem. * = complemento manual; classes/séries e natureza do mínimo aparecem na própria célula e na auditoria.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Unidade: um cartão por CNPJ elegível da Carteira I; cada cartão é uma única caixa de texto nomeada pelo CNPJ para reorganização manual.</a:t>
            </a:r>
          </a:p>
          <a:p xmlns:a="http://schemas.openxmlformats.org/drawingml/2006/main">
            <a:r>
              <a:t>- Elegibilidade do MVP: Sub/PL atual, piso documental e PL do veículo disponíveis. Casos excluídos permanecem integralmente no workbook e no explorador.</a:t>
            </a:r>
          </a:p>
          <a:p xmlns:a="http://schemas.openxmlformats.org/drawingml/2006/main">
            <a:r>
              <a:t>- O sinal vinho, âmbar ou azul compara Sub/PL atual ao mínimo estrutural somente quando numerador, denominador e tranche são equivalentes; cinza preserva o índice documental sem concluir folga.</a:t>
            </a:r>
          </a:p>
          <a:p xmlns:a="http://schemas.openxmlformats.org/drawingml/2006/main">
            <a:r>
              <a:t>- O asterisco marca categoria editorial, piso total, combinado, calculado, ajustado ou sem equivalência direta; natureza, fórmula, documento e cláusula permanecem por CNPJ no workbook.</a:t>
            </a:r>
          </a:p>
          <a:p xmlns:a="http://schemas.openxmlformats.org/drawingml/2006/main">
            <a:r>
              <a:t>- Benchmark: O grupo Financeiro reúne estruturas distintas; a leitura relativa é direcional.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Unidade: um cartão por CNPJ elegível da Carteira I; cada cartão é uma única caixa de texto nomeada pelo CNPJ para reorganização manual.</a:t>
            </a:r>
          </a:p>
          <a:p xmlns:a="http://schemas.openxmlformats.org/drawingml/2006/main">
            <a:r>
              <a:t>- Elegibilidade do MVP: Sub/PL atual, piso documental e PL do veículo disponíveis. Casos excluídos permanecem integralmente no workbook e no explorador.</a:t>
            </a:r>
          </a:p>
          <a:p xmlns:a="http://schemas.openxmlformats.org/drawingml/2006/main">
            <a:r>
              <a:t>- O sinal vinho, âmbar ou azul compara Sub/PL atual ao mínimo estrutural somente quando numerador, denominador e tranche são equivalentes; cinza preserva o índice documental sem concluir folga.</a:t>
            </a:r>
          </a:p>
          <a:p xmlns:a="http://schemas.openxmlformats.org/drawingml/2006/main">
            <a:r>
              <a:t>- O asterisco marca categoria editorial, piso total, combinado, calculado, ajustado ou sem equivalência direta; natureza, fórmula, documento e cláusula permanecem por CNPJ no workbook.</a:t>
            </a:r>
          </a:p>
          <a:p xmlns:a="http://schemas.openxmlformats.org/drawingml/2006/main">
            <a:r>
              <a:t>- Benchmark: A mediana agregada muda com o subtipo; o slide preserva a ressalva.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Unidade: um cartão por CNPJ elegível da Carteira I; cada cartão é uma única caixa de texto nomeada pelo CNPJ para reorganização manual.</a:t>
            </a:r>
          </a:p>
          <a:p xmlns:a="http://schemas.openxmlformats.org/drawingml/2006/main">
            <a:r>
              <a:t>- Elegibilidade do MVP: Sub/PL atual, piso documental e PL do veículo disponíveis. Casos excluídos permanecem integralmente no workbook e no explorador.</a:t>
            </a:r>
          </a:p>
          <a:p xmlns:a="http://schemas.openxmlformats.org/drawingml/2006/main">
            <a:r>
              <a:t>- O sinal vinho, âmbar ou azul compara Sub/PL atual ao mínimo estrutural somente quando numerador, denominador e tranche são equivalentes; cinza preserva o índice documental sem concluir folga.</a:t>
            </a:r>
          </a:p>
          <a:p xmlns:a="http://schemas.openxmlformats.org/drawingml/2006/main">
            <a:r>
              <a:t>- O asterisco marca categoria editorial, piso total, combinado, calculado, ajustado ou sem equivalência direta; natureza, fórmula, documento e cláusula permanecem por CNPJ no workbook.</a:t>
            </a:r>
          </a:p>
          <a:p xmlns:a="http://schemas.openxmlformats.org/drawingml/2006/main">
            <a:r>
              <a:t>- Benchmark: Amostra abaixo do mínimo configurável de cinco pares.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Unidade: um cartão por CNPJ elegível da Carteira I; cada cartão é uma única caixa de texto nomeada pelo CNPJ para reorganização manual.</a:t>
            </a:r>
          </a:p>
          <a:p xmlns:a="http://schemas.openxmlformats.org/drawingml/2006/main">
            <a:r>
              <a:t>- Elegibilidade do MVP: Sub/PL atual, piso documental e PL do veículo disponíveis. Casos excluídos permanecem integralmente no workbook e no explorador.</a:t>
            </a:r>
          </a:p>
          <a:p xmlns:a="http://schemas.openxmlformats.org/drawingml/2006/main">
            <a:r>
              <a:t>- O sinal vinho, âmbar ou azul compara Sub/PL atual ao mínimo estrutural somente quando numerador, denominador e tranche são equivalentes; cinza preserva o índice documental sem concluir folga.</a:t>
            </a:r>
          </a:p>
          <a:p xmlns:a="http://schemas.openxmlformats.org/drawingml/2006/main">
            <a:r>
              <a:t>- O asterisco marca categoria editorial, piso total, combinado, calculado, ajustado ou sem equivalência direta; natureza, fórmula, documento e cláusula permanecem por CNPJ no workbook.</a:t>
            </a:r>
          </a:p>
          <a:p xmlns:a="http://schemas.openxmlformats.org/drawingml/2006/main">
            <a:r>
              <a:t>- Benchmark: Amostra abaixo do mínimo configurável de cinco pares.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Unidade: um cartão por CNPJ elegível da Carteira I; cada cartão é uma única caixa de texto nomeada pelo CNPJ para reorganização manual.</a:t>
            </a:r>
          </a:p>
          <a:p xmlns:a="http://schemas.openxmlformats.org/drawingml/2006/main">
            <a:r>
              <a:t>- Elegibilidade do MVP: Sub/PL atual, piso documental e PL do veículo disponíveis. Casos excluídos permanecem integralmente no workbook e no explorador.</a:t>
            </a:r>
          </a:p>
          <a:p xmlns:a="http://schemas.openxmlformats.org/drawingml/2006/main">
            <a:r>
              <a:t>- O sinal vinho, âmbar ou azul compara Sub/PL atual ao mínimo estrutural somente quando numerador, denominador e tranche são equivalentes; cinza preserva o índice documental sem concluir folga.</a:t>
            </a:r>
          </a:p>
          <a:p xmlns:a="http://schemas.openxmlformats.org/drawingml/2006/main">
            <a:r>
              <a:t>- O asterisco marca categoria editorial, piso total, combinado, calculado, ajustado ou sem equivalência direta; natureza, fórmula, documento e cláusula permanecem por CNPJ no workbook.</a:t>
            </a:r>
          </a:p>
          <a:p xmlns:a="http://schemas.openxmlformats.org/drawingml/2006/main">
            <a:r>
              <a:t>- Benchmark: Comparação da Sub/PL atual; mínimos júnior e estrutural permanecem identificados separadamente.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Unidade: um cartão por CNPJ elegível da Carteira I; cada cartão é uma única caixa de texto nomeada pelo CNPJ para reorganização manual.</a:t>
            </a:r>
          </a:p>
          <a:p xmlns:a="http://schemas.openxmlformats.org/drawingml/2006/main">
            <a:r>
              <a:t>- Elegibilidade do MVP: Sub/PL atual, piso documental e PL do veículo disponíveis. Casos excluídos permanecem integralmente no workbook e no explorador.</a:t>
            </a:r>
          </a:p>
          <a:p xmlns:a="http://schemas.openxmlformats.org/drawingml/2006/main">
            <a:r>
              <a:t>- O sinal vinho, âmbar ou azul compara Sub/PL atual ao mínimo estrutural somente quando numerador, denominador e tranche são equivalentes; cinza preserva o índice documental sem concluir folga.</a:t>
            </a:r>
          </a:p>
          <a:p xmlns:a="http://schemas.openxmlformats.org/drawingml/2006/main">
            <a:r>
              <a:t>- O asterisco marca categoria editorial, piso total, combinado, calculado, ajustado ou sem equivalência direta; natureza, fórmula, documento e cláusula permanecem por CNPJ no workbook.</a:t>
            </a:r>
          </a:p>
          <a:p xmlns:a="http://schemas.openxmlformats.org/drawingml/2006/main">
            <a:r>
              <a:t>- Benchmark: Amostra abaixo do mínimo configurável de cinco pares.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CVM/SRE — oferta_resolucao_160.csv e oferta_distribuicao.csv: https://dados.cvm.gov.br/dataset/oferta-distrib</a:t>
            </a:r>
          </a:p>
          <a:p xmlns:a="http://schemas.openxmlformats.org/drawingml/2006/main">
            <a:r>
              <a:t>- Universo: Cotas de FIDC, ofertas públicas primárias encerradas, todos os ritos disponíveis, valor registrado positivo e data de encerramento no período; 2026 = jan–jun.</a:t>
            </a:r>
          </a:p>
          <a:p xmlns:a="http://schemas.openxmlformats.org/drawingml/2006/main">
            <a:r>
              <a:t>- Métrica: volume = Valor_Total_Registrado; ticket = volume registrado por oferta deduplicada. PF usa quantidade colocada e depende da cobertura do campo.</a:t>
            </a:r>
          </a:p>
          <a:p xmlns:a="http://schemas.openxmlformats.org/drawingml/2006/main">
            <a:r>
              <a:t>- Limitação: valor registrado pode diferir do valor encerrado informado à ANBIMA.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CVM/SRE — oferta_resolucao_160.csv e oferta_distribuicao.csv: https://dados.cvm.gov.br/dataset/oferta-distrib</a:t>
            </a:r>
          </a:p>
          <a:p xmlns:a="http://schemas.openxmlformats.org/drawingml/2006/main">
            <a:r>
              <a:t>- Universo: Cotas de FIDC, ofertas públicas primárias encerradas, todos os ritos disponíveis, Valor_Total_Registrado positivo e data de encerramento no período; 2024/2025 = FY e 2026 = jan–jun.</a:t>
            </a:r>
          </a:p>
          <a:p xmlns:a="http://schemas.openxmlformats.org/drawingml/2006/main">
            <a:r>
              <a:t>- Limitação: faixas e participações usam o valor registrado, que pode diferir do valor encerrado informado à ANBIMA.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CVM/SRE — oferta_resolucao_160.csv e oferta_distribuicao.csv: https://dados.cvm.gov.br/dataset/oferta-distrib</a:t>
            </a:r>
          </a:p>
          <a:p xmlns:a="http://schemas.openxmlformats.org/drawingml/2006/main">
            <a:r>
              <a:t>- Universo: Cotas de FIDC, ofertas públicas primárias encerradas, todos os ritos disponíveis, Valor_Total_Registrado positivo e data de encerramento no período; 2026 = jan–jun.</a:t>
            </a:r>
          </a:p>
          <a:p xmlns:a="http://schemas.openxmlformats.org/drawingml/2006/main">
            <a:r>
              <a:t>- Métrica: participação no volume = volume registrado da categoria / volume registrado total do período; inclui Não informado e fecha 100%, salvo arredondamento.</a:t>
            </a:r>
          </a:p>
          <a:p xmlns:a="http://schemas.openxmlformats.org/drawingml/2006/main">
            <a:r>
              <a:t>- Comparação YTD: garantia firme R$ 10,4 bi em jan–jun/25 e R$ 14,3 bi em jan–jun/26; variação 37,3%. Melhores esforços representam 69,2% do volume atual.</a:t>
            </a:r>
          </a:p>
          <a:p xmlns:a="http://schemas.openxmlformats.org/drawingml/2006/main">
            <a:r>
              <a:t>- Limitação: volume registrado pode diferir do valor encerrado informado à ANBIMA.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CVM/SRE — oferta_resolucao_160.csv e oferta_distribuicao.csv: https://dados.cvm.gov.br/dataset/oferta-distrib</a:t>
            </a:r>
          </a:p>
          <a:p xmlns:a="http://schemas.openxmlformats.org/drawingml/2006/main">
            <a:r>
              <a:t>- FundosNet/B3 — mesma curadoria documental flagship; fontes linha a linha na aba Auditoria emissões.</a:t>
            </a:r>
          </a:p>
          <a:p xmlns:a="http://schemas.openxmlformats.org/drawingml/2006/main">
            <a:r>
              <a:t>- Universo: Cotas de FIDC, ofertas públicas primárias encerradas, todos os ritos disponíveis, Valor_Total_Registrado positivo e data de encerramento no período; snapshot CVM 24/jul/26.</a:t>
            </a:r>
          </a:p>
          <a:p xmlns:a="http://schemas.openxmlformats.org/drawingml/2006/main">
            <a:r>
              <a:t>- Limitação: campo sem vínculo documental suficiente permanece N/D; o volume registrado pode diferir do valor encerrado informado à ANBIMA.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CVM/SRE — oferta_resolucao_160.csv e oferta_distribuicao.csv: https://dados.cvm.gov.br/dataset/oferta-distrib</a:t>
            </a:r>
          </a:p>
          <a:p xmlns:a="http://schemas.openxmlformats.org/drawingml/2006/main">
            <a:r>
              <a:t>- FundosNet/B3 — mesma curadoria documental flagship; fontes linha a linha na aba Auditoria emissões.</a:t>
            </a:r>
          </a:p>
          <a:p xmlns:a="http://schemas.openxmlformats.org/drawingml/2006/main">
            <a:r>
              <a:t>- Universo: Cotas de FIDC, ofertas públicas primárias encerradas, todos os ritos disponíveis, Valor_Total_Registrado positivo e data de encerramento no período; snapshot CVM 24/jul/26.</a:t>
            </a:r>
          </a:p>
          <a:p xmlns:a="http://schemas.openxmlformats.org/drawingml/2006/main">
            <a:r>
              <a:t>- Limitação: campo sem vínculo documental suficiente permanece N/D; o volume registrado pode diferir do valor encerrado informado à ANBIMA.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CVM/SRE — oferta_resolucao_160.csv e oferta_distribuicao.csv: https://dados.cvm.gov.br/dataset/oferta-distrib</a:t>
            </a:r>
          </a:p>
          <a:p xmlns:a="http://schemas.openxmlformats.org/drawingml/2006/main">
            <a:r>
              <a:t>- FundosNet/B3 — mesma curadoria documental flagship; fontes linha a linha na aba Auditoria emissões.</a:t>
            </a:r>
          </a:p>
          <a:p xmlns:a="http://schemas.openxmlformats.org/drawingml/2006/main">
            <a:r>
              <a:t>- Universo: Cotas de FIDC, ofertas públicas primárias encerradas, todos os ritos disponíveis, Valor_Total_Registrado positivo e data de encerramento no período; snapshot CVM 24/jul/26.</a:t>
            </a:r>
          </a:p>
          <a:p xmlns:a="http://schemas.openxmlformats.org/drawingml/2006/main">
            <a:r>
              <a:t>- Limitação: rating sem documento público verificável ou sem vínculo exato = N/D.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CVM/SRE — oferta_resolucao_160.csv e oferta_distribuicao.csv: https://dados.cvm.gov.br/dataset/oferta-distrib</a:t>
            </a:r>
          </a:p>
          <a:p xmlns:a="http://schemas.openxmlformats.org/drawingml/2006/main">
            <a:r>
              <a:t>- FundosNet/B3 — mesma curadoria documental flagship; fontes linha a linha na aba Auditoria emissões.</a:t>
            </a:r>
          </a:p>
          <a:p xmlns:a="http://schemas.openxmlformats.org/drawingml/2006/main">
            <a:r>
              <a:t>- Universo: Cotas de FIDC, ofertas públicas primárias encerradas, todos os ritos disponíveis, Valor_Total_Registrado positivo e data de encerramento no período; snapshot CVM 24/jul/26.</a:t>
            </a:r>
          </a:p>
          <a:p xmlns:a="http://schemas.openxmlformats.org/drawingml/2006/main">
            <a:r>
              <a:t>- Limitação: rating sem documento público verificável ou sem vínculo exato = N/D.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CVM/SRE — oferta_resolucao_160.csv e oferta_distribuicao.csv: https://dados.cvm.gov.br/dataset/oferta-distrib</a:t>
            </a:r>
          </a:p>
          <a:p xmlns:a="http://schemas.openxmlformats.org/drawingml/2006/main">
            <a:r>
              <a:t>- FundosNet/B3 — mesma curadoria documental flagship; fontes linha a linha na aba Auditoria emissões.</a:t>
            </a:r>
          </a:p>
          <a:p xmlns:a="http://schemas.openxmlformats.org/drawingml/2006/main">
            <a:r>
              <a:t>- Universo: Cotas de FIDC, ofertas públicas primárias encerradas, todos os ritos disponíveis, Valor_Total_Registrado positivo e data de encerramento no período; snapshot CVM 24/jul/26.</a:t>
            </a:r>
          </a:p>
          <a:p xmlns:a="http://schemas.openxmlformats.org/drawingml/2006/main">
            <a:r>
              <a:t>- Limitação: rating sem documento público verificável ou sem vínculo exato = N/D.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CVM/SRE — oferta_resolucao_160.csv e oferta_distribuicao.csv: https://dados.cvm.gov.br/dataset/oferta-distrib</a:t>
            </a:r>
          </a:p>
          <a:p xmlns:a="http://schemas.openxmlformats.org/drawingml/2006/main">
            <a:r>
              <a:t>- FundosNet/B3 — mesma curadoria documental flagship; fontes linha a linha na aba Auditoria emissões.</a:t>
            </a:r>
          </a:p>
          <a:p xmlns:a="http://schemas.openxmlformats.org/drawingml/2006/main">
            <a:r>
              <a:t>- Universo: Cotas de FIDC, ofertas públicas primárias encerradas, todos os ritos disponíveis, Valor_Total_Registrado positivo e data de encerramento no período; snapshot CVM 24/jul/26.</a:t>
            </a:r>
          </a:p>
          <a:p xmlns:a="http://schemas.openxmlformats.org/drawingml/2006/main">
            <a:r>
              <a:t>- Limitação: rating sem documento público verificável ou sem vínculo exato = N/D.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CVM/SRE — análises granulares de ofertas públicas primárias encerradas, todos os ritos disponíveis, volume registrado; 2026 = jan–jun: https://dados.cvm.gov.br/dataset/oferta-distrib</a:t>
            </a:r>
          </a:p>
          <a:p xmlns:a="http://schemas.openxmlformats.org/drawingml/2006/main">
            <a:r>
              <a:t>- ANBIMA — Coletiva de Mercado de Capitais 1S26, valor encerrado, snapshot jun/26; 2026 = jan–jun: https://www.anbima.com.br/data/files/8E/86/DB/07/325AF91098D078F9692BA2A8/Apresentacao%20_%20coletiva%20Mercado%20de%20Capitais%20_%201S26.pdf</a:t>
            </a:r>
          </a:p>
          <a:p xmlns:a="http://schemas.openxmlformats.org/drawingml/2006/main">
            <a:r>
              <a:t>- FundosNet/B3 — evidência documental de ratings; rating sem documento público verificável ou sem vínculo exato = N/D.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CVM/SRE — oferta_resolucao_160.csv e oferta_distribuicao.csv: https://dados.cvm.gov.br/dataset/oferta-distrib</a:t>
            </a:r>
          </a:p>
          <a:p xmlns:a="http://schemas.openxmlformats.org/drawingml/2006/main">
            <a:r>
              <a:t>- Resolução CVM 30 — categorias de investidor profissional e qualificado: https://conteudo.cvm.gov.br/legislacao/resolucoes/resolucao030.html</a:t>
            </a:r>
          </a:p>
          <a:p xmlns:a="http://schemas.openxmlformats.org/drawingml/2006/main">
            <a:r>
              <a:t>- Universo: Cotas de FIDC, ofertas públicas primárias encerradas, todos os ritos disponíveis, valor registrado positivo e data de encerramento no período; 2026 = jan–jun.</a:t>
            </a:r>
          </a:p>
          <a:p xmlns:a="http://schemas.openxmlformats.org/drawingml/2006/main">
            <a:r>
              <a:t>- Limitação: público-alvo mede elegibilidade e não alocação final; não separa pessoa física de pessoa jurídica. Campo ausente em registros legados = N/D.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b15f01a206064eac" /></Relationships>
</file>

<file path=ppt/slideLayouts/slideLayout1.xml><?xml version="1.0" encoding="utf-8"?>
<p:sldLayout xmlns:p="http://schemas.openxmlformats.org/presentationml/2006/main" type="title">
  <p:cSld name="Title Slide"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2.xml" Id="R51d249fd5a924267" /><Relationship Type="http://schemas.openxmlformats.org/officeDocument/2006/relationships/slideLayout" Target="/ppt/slideLayouts/slideLayout1.xml" Id="R0f3da187cf3e4e93" /></Relationships>
</file>

<file path=ppt/slideMasters/slideMaster1.xml><?xml version="1.0" encoding="utf-8"?>
<p:sldMaster xmlns:p="http://schemas.openxmlformats.org/presentationml/2006/main">
  <p:cSld name="Master"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0f3da187cf3e4e93"/>
  </p:sldLayoutIdLst>
  <p:txStyles>
    <p:titleStyle>
      <a:lvl1pPr xmlns:a="http://schemas.openxmlformats.org/drawingml/2006/main"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theme/theme2.xml><?xml version="1.0" encoding="utf-8"?>
<a:theme xmlns:a="http://schemas.openxmlformats.org/drawingml/2006/main" name="ChatGPT">
  <a:themeElements>
    <a:clrScheme name="Itau BBA FIDC Editorial">
      <a:dk1>
        <a:srgbClr val="151515"/>
      </a:dk1>
      <a:lt1>
        <a:srgbClr val="FFFFFF"/>
      </a:lt1>
      <a:dk2>
        <a:srgbClr val="30353A"/>
      </a:dk2>
      <a:lt2>
        <a:srgbClr val="E7E9EB"/>
      </a:lt2>
      <a:accent1>
        <a:srgbClr val="EC7000"/>
      </a:accent1>
      <a:accent2>
        <a:srgbClr val="151515"/>
      </a:accent2>
      <a:accent3>
        <a:srgbClr val="30353A"/>
      </a:accent3>
      <a:accent4>
        <a:srgbClr val="73787D"/>
      </a:accent4>
      <a:accent5>
        <a:srgbClr val="8D9399"/>
      </a:accent5>
      <a:accent6>
        <a:srgbClr val="D7DADD"/>
      </a:accent6>
      <a:hlink>
        <a:srgbClr val="EC7000"/>
      </a:hlink>
      <a:folHlink>
        <a:srgbClr val="7378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Itau BBA FIDC Editorial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ed5862616cc5453d" /><Relationship Type="http://schemas.openxmlformats.org/officeDocument/2006/relationships/notesSlide" Target="/ppt/notesSlides/notesSlide1.xml" Id="Rf79a43c26a004ee9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17d9e8e2d6034c65" /><Relationship Type="http://schemas.openxmlformats.org/officeDocument/2006/relationships/chart" Target="/ppt/slides/charts/chart1.xml" Id="Rf7fb35d6675d4bf4" /><Relationship Type="http://schemas.openxmlformats.org/officeDocument/2006/relationships/chart" Target="/ppt/slides/charts/chart2.xml" Id="Rcf28984a8fa54463" /><Relationship Type="http://schemas.openxmlformats.org/officeDocument/2006/relationships/chart" Target="/ppt/slides/charts/chart3.xml" Id="R9bbd8d63d1f14a39" /><Relationship Type="http://schemas.openxmlformats.org/officeDocument/2006/relationships/notesSlide" Target="/ppt/notesSlides/notesSlide2.xml" Id="R04cc1d978c2c403e" /></Relationships>
</file>

<file path=ppt/slides/_rels/slide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450fd2a79b294333" /><Relationship Type="http://schemas.openxmlformats.org/officeDocument/2006/relationships/chart" Target="/ppt/slides/charts/chart4.xml" Id="Rb596d219b9e94bc6" /><Relationship Type="http://schemas.openxmlformats.org/officeDocument/2006/relationships/chart" Target="/ppt/slides/charts/chart5.xml" Id="R59da0429267e42a8" /><Relationship Type="http://schemas.openxmlformats.org/officeDocument/2006/relationships/notesSlide" Target="/ppt/notesSlides/notesSlide3.xml" Id="R3971de29bf4743f6" /></Relationships>
</file>

<file path=ppt/slides/_rels/slide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db123d2539774918" /><Relationship Type="http://schemas.openxmlformats.org/officeDocument/2006/relationships/chart" Target="/ppt/slides/charts/chart6.xml" Id="Rca010b9a29294777" /><Relationship Type="http://schemas.openxmlformats.org/officeDocument/2006/relationships/chart" Target="/ppt/slides/charts/chart7.xml" Id="Re9f440d117524c06" /><Relationship Type="http://schemas.openxmlformats.org/officeDocument/2006/relationships/chart" Target="/ppt/slides/charts/chart8.xml" Id="Rb9252dbf719a4fe7" /><Relationship Type="http://schemas.openxmlformats.org/officeDocument/2006/relationships/chart" Target="/ppt/slides/charts/chart9.xml" Id="Rcba0f187e8d74939" /><Relationship Type="http://schemas.openxmlformats.org/officeDocument/2006/relationships/notesSlide" Target="/ppt/notesSlides/notesSlide4.xml" Id="Rd3e552fbe7a04637" /></Relationships>
</file>

<file path=ppt/slides/_rels/slide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e62be3fa3dcc498c" /><Relationship Type="http://schemas.openxmlformats.org/officeDocument/2006/relationships/chart" Target="/ppt/slides/charts/chart10.xml" Id="R57a8b5772b1344a5" /><Relationship Type="http://schemas.openxmlformats.org/officeDocument/2006/relationships/chart" Target="/ppt/slides/charts/chart11.xml" Id="R2707a94e79ef4cc2" /><Relationship Type="http://schemas.openxmlformats.org/officeDocument/2006/relationships/notesSlide" Target="/ppt/notesSlides/notesSlide5.xml" Id="Rb07209394d1940d1" /></Relationships>
</file>

<file path=ppt/slides/_rels/slide6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60e29ed963d14c78" /><Relationship Type="http://schemas.openxmlformats.org/officeDocument/2006/relationships/chart" Target="/ppt/slides/charts/chart12.xml" Id="R8a739ecb992f4b28" /><Relationship Type="http://schemas.openxmlformats.org/officeDocument/2006/relationships/chart" Target="/ppt/slides/charts/chart13.xml" Id="Rb31bf135a1334215" /><Relationship Type="http://schemas.openxmlformats.org/officeDocument/2006/relationships/chart" Target="/ppt/slides/charts/chart14.xml" Id="Rb3eb0461e70a4af0" /><Relationship Type="http://schemas.openxmlformats.org/officeDocument/2006/relationships/notesSlide" Target="/ppt/notesSlides/notesSlide6.xml" Id="Rdc3f066794424762" /></Relationships>
</file>

<file path=ppt/slides/_rels/slide7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44bf9a31a0af4b55" /><Relationship Type="http://schemas.openxmlformats.org/officeDocument/2006/relationships/chart" Target="/ppt/slides/charts/chart15.xml" Id="R9eb7af9f178b4ce1" /><Relationship Type="http://schemas.openxmlformats.org/officeDocument/2006/relationships/chart" Target="/ppt/slides/charts/chart16.xml" Id="Rb44160be6a1843be" /><Relationship Type="http://schemas.openxmlformats.org/officeDocument/2006/relationships/chart" Target="/ppt/slides/charts/chart17.xml" Id="R88260993e592431d" /><Relationship Type="http://schemas.openxmlformats.org/officeDocument/2006/relationships/notesSlide" Target="/ppt/notesSlides/notesSlide7.xml" Id="R5459b167ee194e7c" /></Relationships>
</file>

<file path=ppt/slides/_rels/slide8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c2a18bced65842b7" /><Relationship Type="http://schemas.openxmlformats.org/officeDocument/2006/relationships/chart" Target="/ppt/slides/charts/chart18.xml" Id="R7a08196cb71648f1" /><Relationship Type="http://schemas.openxmlformats.org/officeDocument/2006/relationships/chart" Target="/ppt/slides/charts/chart19.xml" Id="Rdffd8ef8a16c4feb" /><Relationship Type="http://schemas.openxmlformats.org/officeDocument/2006/relationships/chart" Target="/ppt/slides/charts/chart20.xml" Id="R24e078dfd4d04cfa" /><Relationship Type="http://schemas.openxmlformats.org/officeDocument/2006/relationships/notesSlide" Target="/ppt/notesSlides/notesSlide8.xml" Id="R2cc822ee833941bf" /></Relationships>
</file>

<file path=ppt/slides/_rels/slide9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efa4ba7824b84a86" /><Relationship Type="http://schemas.openxmlformats.org/officeDocument/2006/relationships/notesSlide" Target="/ppt/notesSlides/notesSlide9.xml" Id="Rc7d4436450184359" /></Relationships>
</file>

<file path=ppt/slides/_rels/slide10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44a076cf0b3046cf" /><Relationship Type="http://schemas.openxmlformats.org/officeDocument/2006/relationships/notesSlide" Target="/ppt/notesSlides/notesSlide10.xml" Id="Rec9ccc8357a849a4" /></Relationships>
</file>

<file path=ppt/slides/_rels/slide1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2444fb42c7fd488f" /><Relationship Type="http://schemas.openxmlformats.org/officeDocument/2006/relationships/notesSlide" Target="/ppt/notesSlides/notesSlide11.xml" Id="R9e438c3747114c78" /></Relationships>
</file>

<file path=ppt/slides/_rels/slide1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ca65143da8384f66" /><Relationship Type="http://schemas.openxmlformats.org/officeDocument/2006/relationships/notesSlide" Target="/ppt/notesSlides/notesSlide12.xml" Id="R40fcde26b5df4163" /></Relationships>
</file>

<file path=ppt/slides/_rels/slide1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4f8ca845296a41e3" /><Relationship Type="http://schemas.openxmlformats.org/officeDocument/2006/relationships/notesSlide" Target="/ppt/notesSlides/notesSlide13.xml" Id="Rabe55cf186cf4037" /></Relationships>
</file>

<file path=ppt/slides/_rels/slide1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c225b2daea324aac" /><Relationship Type="http://schemas.openxmlformats.org/officeDocument/2006/relationships/notesSlide" Target="/ppt/notesSlides/notesSlide14.xml" Id="R780cd8539c3b4560" /></Relationships>
</file>

<file path=ppt/slides/_rels/slide1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81ac0cf6f90244fd" /><Relationship Type="http://schemas.openxmlformats.org/officeDocument/2006/relationships/notesSlide" Target="/ppt/notesSlides/notesSlide15.xml" Id="Re3f4c2bcf743478f" /></Relationships>
</file>

<file path=ppt/slides/_rels/slide16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3c5940fc8983491e" /><Relationship Type="http://schemas.openxmlformats.org/officeDocument/2006/relationships/notesSlide" Target="/ppt/notesSlides/notesSlide16.xml" Id="R74cdb73e2ac1449f" /></Relationships>
</file>

<file path=ppt/slides/_rels/slide17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f526a4a0d2b542d1" /><Relationship Type="http://schemas.openxmlformats.org/officeDocument/2006/relationships/notesSlide" Target="/ppt/notesSlides/notesSlide17.xml" Id="Rfed9b6d280ba4e01" /></Relationships>
</file>

<file path=ppt/slides/_rels/slide18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609d082ddcce4a46" /><Relationship Type="http://schemas.openxmlformats.org/officeDocument/2006/relationships/notesSlide" Target="/ppt/notesSlides/notesSlide18.xml" Id="R1d2e852b31f64a62" /></Relationships>
</file>

<file path=ppt/slides/_rels/slide19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f9624a6dcf5d4373" /><Relationship Type="http://schemas.openxmlformats.org/officeDocument/2006/relationships/notesSlide" Target="/ppt/notesSlides/notesSlide19.xml" Id="R95d7763c3abd453d" /></Relationships>
</file>

<file path=ppt/slides/_rels/slide20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fc7a120542174f1c" /><Relationship Type="http://schemas.openxmlformats.org/officeDocument/2006/relationships/notesSlide" Target="/ppt/notesSlides/notesSlide20.xml" Id="R31f3be28db69479e" /></Relationships>
</file>

<file path=ppt/slides/_rels/slide2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1051dc7d6f2741ed" /><Relationship Type="http://schemas.openxmlformats.org/officeDocument/2006/relationships/notesSlide" Target="/ppt/notesSlides/notesSlide21.xml" Id="R95b85fbad8ad4417" /></Relationships>
</file>

<file path=ppt/slides/_rels/slide2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76579450ab344ae1" /><Relationship Type="http://schemas.openxmlformats.org/officeDocument/2006/relationships/notesSlide" Target="/ppt/notesSlides/notesSlide22.xml" Id="R41e1b0d77f7a4265" /></Relationships>
</file>

<file path=ppt/slides/_rels/slide2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544a35123656416a" /><Relationship Type="http://schemas.openxmlformats.org/officeDocument/2006/relationships/notesSlide" Target="/ppt/notesSlides/notesSlide23.xml" Id="Rfdfcf02418d648e7" /></Relationships>
</file>

<file path=ppt/slides/_rels/slide2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6605758c7b30403d" /><Relationship Type="http://schemas.openxmlformats.org/officeDocument/2006/relationships/chart" Target="/ppt/slides/charts/chart21.xml" Id="R2e7efaecba504971" /><Relationship Type="http://schemas.openxmlformats.org/officeDocument/2006/relationships/chart" Target="/ppt/slides/charts/chart22.xml" Id="R3093c66bfd384d7a" /><Relationship Type="http://schemas.openxmlformats.org/officeDocument/2006/relationships/chart" Target="/ppt/slides/charts/chart23.xml" Id="Rc663421e703d4c38" /><Relationship Type="http://schemas.openxmlformats.org/officeDocument/2006/relationships/notesSlide" Target="/ppt/notesSlides/notesSlide24.xml" Id="Rb782611374ea418a" /></Relationships>
</file>

<file path=ppt/slides/_rels/slide2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66e602b87a824a18" /><Relationship Type="http://schemas.openxmlformats.org/officeDocument/2006/relationships/chart" Target="/ppt/slides/charts/chart24.xml" Id="R8871fa4b18804346" /><Relationship Type="http://schemas.openxmlformats.org/officeDocument/2006/relationships/chart" Target="/ppt/slides/charts/chart25.xml" Id="Rd792596b42554360" /><Relationship Type="http://schemas.openxmlformats.org/officeDocument/2006/relationships/chart" Target="/ppt/slides/charts/chart26.xml" Id="R51e1b8ce558c4ddc" /><Relationship Type="http://schemas.openxmlformats.org/officeDocument/2006/relationships/chart" Target="/ppt/slides/charts/chart27.xml" Id="R9efe9c1153394317" /><Relationship Type="http://schemas.openxmlformats.org/officeDocument/2006/relationships/notesSlide" Target="/ppt/notesSlides/notesSlide25.xml" Id="Re19e9c86be974b42" /></Relationships>
</file>

<file path=ppt/slides/_rels/slide26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cd0de7e14bcf49b2" /><Relationship Type="http://schemas.openxmlformats.org/officeDocument/2006/relationships/chart" Target="/ppt/slides/charts/chart28.xml" Id="R5034bb7ac6c347bf" /><Relationship Type="http://schemas.openxmlformats.org/officeDocument/2006/relationships/notesSlide" Target="/ppt/notesSlides/notesSlide26.xml" Id="Rc343e35522144569" /></Relationships>
</file>

<file path=ppt/slides/_rels/slide27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cff3aa7e5710497e" /><Relationship Type="http://schemas.openxmlformats.org/officeDocument/2006/relationships/notesSlide" Target="/ppt/notesSlides/notesSlide27.xml" Id="R5fb27ab2650c40cb" /></Relationships>
</file>

<file path=ppt/slides/_rels/slide28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108a8adc8fb64c40" /><Relationship Type="http://schemas.openxmlformats.org/officeDocument/2006/relationships/notesSlide" Target="/ppt/notesSlides/notesSlide28.xml" Id="R18fb25b2254644bd" /></Relationships>
</file>

<file path=ppt/slides/_rels/slide29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5f1ba77406094a43" /><Relationship Type="http://schemas.openxmlformats.org/officeDocument/2006/relationships/notesSlide" Target="/ppt/notesSlides/notesSlide29.xml" Id="R1859154e05144af7" /></Relationships>
</file>

<file path=ppt/slides/_rels/slide30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539251213e004e54" /><Relationship Type="http://schemas.openxmlformats.org/officeDocument/2006/relationships/notesSlide" Target="/ppt/notesSlides/notesSlide30.xml" Id="Rd5229e8b72af411d" /></Relationships>
</file>

<file path=ppt/slides/_rels/slide3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19d58849b0884cd6" /><Relationship Type="http://schemas.openxmlformats.org/officeDocument/2006/relationships/notesSlide" Target="/ppt/notesSlides/notesSlide31.xml" Id="R968c590457aa4335" /></Relationships>
</file>

<file path=ppt/slides/_rels/slide3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34eb636265f246ff" /><Relationship Type="http://schemas.openxmlformats.org/officeDocument/2006/relationships/notesSlide" Target="/ppt/notesSlides/notesSlide32.xml" Id="R4a37d76b39ec4109" /></Relationships>
</file>

<file path=ppt/slides/_rels/slide3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17dab3fdcf974cd1" /><Relationship Type="http://schemas.openxmlformats.org/officeDocument/2006/relationships/notesSlide" Target="/ppt/notesSlides/notesSlide33.xml" Id="R57faf6e402e94fb3" /></Relationships>
</file>

<file path=ppt/slides/_rels/slide3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6a56502751df4109" /><Relationship Type="http://schemas.openxmlformats.org/officeDocument/2006/relationships/chart" Target="/ppt/slides/charts/chart29.xml" Id="R852075e6d914409a" /><Relationship Type="http://schemas.openxmlformats.org/officeDocument/2006/relationships/chart" Target="/ppt/slides/charts/chart30.xml" Id="Rebd8029c164e4301" /><Relationship Type="http://schemas.openxmlformats.org/officeDocument/2006/relationships/chart" Target="/ppt/slides/charts/chart31.xml" Id="Rca5c6651ec28455c" /><Relationship Type="http://schemas.openxmlformats.org/officeDocument/2006/relationships/chart" Target="/ppt/slides/charts/chart32.xml" Id="R9d6dcf24a2d742b5" /><Relationship Type="http://schemas.openxmlformats.org/officeDocument/2006/relationships/chart" Target="/ppt/slides/charts/chart33.xml" Id="Rbd369a90bba7455e" /><Relationship Type="http://schemas.openxmlformats.org/officeDocument/2006/relationships/chart" Target="/ppt/slides/charts/chart34.xml" Id="Rf1d40f7378474a7c" /><Relationship Type="http://schemas.openxmlformats.org/officeDocument/2006/relationships/chart" Target="/ppt/slides/charts/chart35.xml" Id="R6bf460c9126a40cf" /><Relationship Type="http://schemas.openxmlformats.org/officeDocument/2006/relationships/notesSlide" Target="/ppt/notesSlides/notesSlide34.xml" Id="R10430ebead4c4bd4" /></Relationships>
</file>

<file path=ppt/slides/_rels/slide3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2c341abfdf084838" /><Relationship Type="http://schemas.openxmlformats.org/officeDocument/2006/relationships/chart" Target="/ppt/slides/charts/chart36.xml" Id="R1d16443e22394e73" /><Relationship Type="http://schemas.openxmlformats.org/officeDocument/2006/relationships/chart" Target="/ppt/slides/charts/chart37.xml" Id="Rf91a5d7fc42d4adf" /><Relationship Type="http://schemas.openxmlformats.org/officeDocument/2006/relationships/notesSlide" Target="/ppt/notesSlides/notesSlide35.xml" Id="R13fa905a0a4641a5" /></Relationships>
</file>

<file path=ppt/slides/_rels/slide36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0b9f29451a4d40a2" /><Relationship Type="http://schemas.openxmlformats.org/officeDocument/2006/relationships/chart" Target="/ppt/slides/charts/chart38.xml" Id="R4a3e6e5ba8c540ac" /><Relationship Type="http://schemas.openxmlformats.org/officeDocument/2006/relationships/chart" Target="/ppt/slides/charts/chart39.xml" Id="Rb8e06c3ccefb41b6" /><Relationship Type="http://schemas.openxmlformats.org/officeDocument/2006/relationships/chart" Target="/ppt/slides/charts/chart40.xml" Id="Rc1e30c045c8e4903" /><Relationship Type="http://schemas.openxmlformats.org/officeDocument/2006/relationships/notesSlide" Target="/ppt/notesSlides/notesSlide36.xml" Id="R0d861ba8c7824ec1" /></Relationships>
</file>

<file path=ppt/slides/_rels/slide37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a917b235108b4498" /><Relationship Type="http://schemas.openxmlformats.org/officeDocument/2006/relationships/chart" Target="/ppt/slides/charts/chart41.xml" Id="R1c0f152ab2d14d5f" /><Relationship Type="http://schemas.openxmlformats.org/officeDocument/2006/relationships/chart" Target="/ppt/slides/charts/chart42.xml" Id="Re701762cebc54e02" /><Relationship Type="http://schemas.openxmlformats.org/officeDocument/2006/relationships/chart" Target="/ppt/slides/charts/chart43.xml" Id="R2edcd0786e08447b" /><Relationship Type="http://schemas.openxmlformats.org/officeDocument/2006/relationships/chart" Target="/ppt/slides/charts/chart44.xml" Id="Rf053f2fca9ed4cf0" /><Relationship Type="http://schemas.openxmlformats.org/officeDocument/2006/relationships/chart" Target="/ppt/slides/charts/chart45.xml" Id="R7cc4ac48d1574a09" /><Relationship Type="http://schemas.openxmlformats.org/officeDocument/2006/relationships/notesSlide" Target="/ppt/notesSlides/notesSlide37.xml" Id="R2d87f03eabf34e6e" /></Relationships>
</file>

<file path=ppt/slides/charts/chart1.xml><?xml version="1.0" encoding="utf-8"?>
<c:chartSpace xmlns:a="http://schemas.openxmlformats.org/drawingml/2006/main" xmlns:c="http://schemas.openxmlformats.org/drawingml/2006/chart">
  <c:lang val="pt-BR"/>
  <c:chart>
    <c:plotArea>
      <c:barChart>
        <c:barDir val="col"/>
        <c:grouping val="clustered"/>
        <c:varyColors val="0"/>
        <c:ser>
          <c:idx val="0"/>
          <c:order val="0"/>
          <c:tx>
            <c:v>FIDCs ex-FIC</c:v>
          </c:tx>
          <c:spPr>
            <a:solidFill>
              <a:srgbClr val="EC7000"/>
            </a:solidFill>
          </c:spPr>
          <c:cat>
            <c:strLit>
              <c:ptCount val="12"/>
              <c:pt idx="0">
                <c:v>2015</c:v>
              </c:pt>
              <c:pt idx="1">
                <c:v>2016</c:v>
              </c:pt>
              <c:pt idx="2">
                <c:v>2017</c:v>
              </c:pt>
              <c:pt idx="3">
                <c:v>2018</c:v>
              </c:pt>
              <c:pt idx="4">
                <c:v>2019</c:v>
              </c:pt>
              <c:pt idx="5">
                <c:v>2020</c:v>
              </c:pt>
              <c:pt idx="6">
                <c:v>2021</c:v>
              </c:pt>
              <c:pt idx="7">
                <c:v>2022</c:v>
              </c:pt>
              <c:pt idx="8">
                <c:v>2023</c:v>
              </c:pt>
              <c:pt idx="9">
                <c:v>2024</c:v>
              </c:pt>
              <c:pt idx="10">
                <c:v>2025</c:v>
              </c:pt>
              <c:pt idx="11">
                <c:v>jun/26</c:v>
              </c:pt>
            </c:strLit>
          </c:cat>
          <c:val>
            <c:numLit>
              <c:formatCode>0.0</c:formatCode>
              <c:ptCount val="12"/>
              <c:pt idx="0">
                <c:v>82.47394622656002</c:v>
              </c:pt>
              <c:pt idx="1">
                <c:v>91.06663976073</c:v>
              </c:pt>
              <c:pt idx="2">
                <c:v>110.17917421320999</c:v>
              </c:pt>
              <c:pt idx="3">
                <c:v>131.15934835309002</c:v>
              </c:pt>
              <c:pt idx="4">
                <c:v>227.71359379045998</c:v>
              </c:pt>
              <c:pt idx="5">
                <c:v>207.20204249441997</c:v>
              </c:pt>
              <c:pt idx="6">
                <c:v>296.00245013669</c:v>
              </c:pt>
              <c:pt idx="7">
                <c:v>361.4746705835</c:v>
              </c:pt>
              <c:pt idx="8">
                <c:v>452.33503972062</c:v>
              </c:pt>
              <c:pt idx="9">
                <c:v>651.4527427988997</c:v>
              </c:pt>
              <c:pt idx="10">
                <c:v>772.1084321980501</c:v>
              </c:pt>
              <c:pt idx="11">
                <c:v>821</c:v>
              </c:pt>
            </c:numLit>
          </c:val>
        </c:ser>
        <c:dLbls>
          <c:txPr>
            <a:bodyPr anchorCtr="1"/>
            <a:lstStyle/>
            <a:p>
              <a:pPr>
                <a:defRPr sz="1200" b="1" lang="pt-BR">
                  <a:solidFill>
                    <a:srgbClr val="151515"/>
                  </a:solidFill>
                </a:defRPr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52"/>
        <c:axId val="48650112"/>
        <c:axId val="48672768"/>
      </c:barChart>
      <c:catAx>
        <c:axId val="48650112"/>
        <c:scaling>
          <c:orientation val="minMax"/>
        </c:scaling>
        <c:delete val="0"/>
        <c:axPos val="b"/>
        <c:numFmt formatCode="General"/>
        <c:majorTickMark val="none"/>
        <c:minorTickMark val="none"/>
        <c:spPr>
          <a:ln w="9525">
            <a:solidFill>
              <a:srgbClr val="D7DADD"/>
            </a:solidFill>
            <a:prstDash val="solid"/>
          </a:ln>
        </c:spPr>
        <c:txPr>
          <a:bodyPr anchorCtr="1"/>
          <a:lstStyle/>
          <a:p>
            <a:pPr>
              <a:defRPr sz="1000" lang="pt-BR">
                <a:solidFill>
                  <a:srgbClr val="73787D"/>
                </a:solidFill>
              </a:defRPr>
            </a:pPr>
          </a:p>
        </c:txPr>
        <c:crossAx val="48672768"/>
        <c:lblAlgn val="ctr"/>
        <c:lblOffset val="100"/>
        <c:noMultiLvlLbl val="0"/>
      </c:catAx>
      <c:valAx>
        <c:axId val="48672768"/>
        <c:scaling>
          <c:orientation val="minMax"/>
          <c:max val="1000"/>
          <c:min val="0"/>
        </c:scaling>
        <c:delete val="0"/>
        <c:axPos val="l"/>
        <c:majorGridlines>
          <c:spPr>
            <a:ln w="9525">
              <a:solidFill>
                <a:srgbClr val="E7E9EB"/>
              </a:solidFill>
              <a:prstDash val="solid"/>
            </a:ln>
          </c:spPr>
        </c:majorGridlines>
        <c:numFmt formatCode="[&gt;=1000]#\.##0;0"/>
        <c:majorTickMark val="none"/>
        <c:minorTickMark val="none"/>
        <c:spPr>
          <a:ln w="9525">
            <a:solidFill>
              <a:srgbClr val="D7DADD"/>
            </a:solidFill>
            <a:prstDash val="solid"/>
          </a:ln>
        </c:spPr>
        <c:txPr>
          <a:bodyPr anchorCtr="1"/>
          <a:lstStyle/>
          <a:p>
            <a:pPr>
              <a:defRPr sz="1000" lang="pt-BR">
                <a:solidFill>
                  <a:srgbClr val="8D9399"/>
                </a:solidFill>
              </a:defRPr>
            </a:pPr>
          </a:p>
        </c:txPr>
        <c:crossAx val="48650112"/>
        <c:crossBetween val="between"/>
        <c:majorUnit val="200"/>
      </c:valAx>
      <c:spPr>
        <a:noFill/>
        <a:ln w="0">
          <a:noFill/>
          <a:prstDash val="solid"/>
        </a:ln>
      </c:spPr>
    </c:plotArea>
    <c:plotVisOnly val="1"/>
  </c:chart>
  <c:spPr>
    <a:noFill/>
    <a:ln w="0">
      <a:noFill/>
      <a:prstDash val="solid"/>
    </a:ln>
  </c:spPr>
</c:chartSpace>
</file>

<file path=ppt/slides/charts/chart2.xml><?xml version="1.0" encoding="utf-8"?>
<c:chartSpace xmlns:a="http://schemas.openxmlformats.org/drawingml/2006/main" xmlns:c="http://schemas.openxmlformats.org/drawingml/2006/chart">
  <c:lang val="pt-BR"/>
  <c:chart>
    <c:plotArea>
      <c:barChart>
        <c:barDir val="col"/>
        <c:grouping val="stacked"/>
        <c:varyColors val="0"/>
        <c:ser>
          <c:idx val="0"/>
          <c:order val="0"/>
          <c:tx>
            <c:v>Empréstimos</c:v>
          </c:tx>
          <c:spPr>
            <a:solidFill>
              <a:srgbClr val="30353A"/>
            </a:solidFill>
          </c:spPr>
          <c:dLbls>
            <c:dLbl>
              <c:idx val="0"/>
              <c:txPr>
                <a:bodyPr anchorCtr="1"/>
                <a:lstStyle/>
                <a:p>
                  <a:pPr>
                    <a:defRPr sz="1200" b="0" lang="pt-BR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1"/>
              <c:txPr>
                <a:bodyPr anchorCtr="1"/>
                <a:lstStyle/>
                <a:p>
                  <a:pPr>
                    <a:defRPr sz="1200" b="0" lang="pt-BR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2"/>
              <c:txPr>
                <a:bodyPr anchorCtr="1"/>
                <a:lstStyle/>
                <a:p>
                  <a:pPr>
                    <a:defRPr sz="1200" b="0" lang="pt-BR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3"/>
              <c:txPr>
                <a:bodyPr anchorCtr="1"/>
                <a:lstStyle/>
                <a:p>
                  <a:pPr>
                    <a:defRPr sz="1200" b="0" lang="pt-BR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4"/>
              <c:txPr>
                <a:bodyPr anchorCtr="1"/>
                <a:lstStyle/>
                <a:p>
                  <a:pPr>
                    <a:defRPr sz="1200" b="0" lang="pt-BR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5"/>
              <c:txPr>
                <a:bodyPr anchorCtr="1"/>
                <a:lstStyle/>
                <a:p>
                  <a:pPr>
                    <a:defRPr sz="1200" b="0" lang="pt-BR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6"/>
              <c:txPr>
                <a:bodyPr anchorCtr="1"/>
                <a:lstStyle/>
                <a:p>
                  <a:pPr>
                    <a:defRPr sz="1200" b="0" lang="pt-BR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7"/>
              <c:txPr>
                <a:bodyPr anchorCtr="1"/>
                <a:lstStyle/>
                <a:p>
                  <a:pPr>
                    <a:defRPr sz="1200" b="0" lang="pt-BR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8"/>
              <c:txPr>
                <a:bodyPr anchorCtr="1"/>
                <a:lstStyle/>
                <a:p>
                  <a:pPr>
                    <a:defRPr sz="1200" b="0" lang="pt-BR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9"/>
              <c:txPr>
                <a:bodyPr anchorCtr="1"/>
                <a:lstStyle/>
                <a:p>
                  <a:pPr>
                    <a:defRPr sz="1200" b="0" lang="pt-BR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10"/>
              <c:txPr>
                <a:bodyPr anchorCtr="1"/>
                <a:lstStyle/>
                <a:p>
                  <a:pPr>
                    <a:defRPr sz="1200" b="0" lang="pt-BR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11"/>
              <c:txPr>
                <a:bodyPr anchorCtr="1"/>
                <a:lstStyle/>
                <a:p>
                  <a:pPr>
                    <a:defRPr sz="1200" b="0" lang="pt-BR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</c:dLbls>
          <c:cat>
            <c:strLit>
              <c:ptCount val="12"/>
              <c:pt idx="0">
                <c:v>2015</c:v>
              </c:pt>
              <c:pt idx="1">
                <c:v>2016</c:v>
              </c:pt>
              <c:pt idx="2">
                <c:v>2017</c:v>
              </c:pt>
              <c:pt idx="3">
                <c:v>2018</c:v>
              </c:pt>
              <c:pt idx="4">
                <c:v>2019</c:v>
              </c:pt>
              <c:pt idx="5">
                <c:v>2020</c:v>
              </c:pt>
              <c:pt idx="6">
                <c:v>2021</c:v>
              </c:pt>
              <c:pt idx="7">
                <c:v>2022</c:v>
              </c:pt>
              <c:pt idx="8">
                <c:v>2023</c:v>
              </c:pt>
              <c:pt idx="9">
                <c:v>2024</c:v>
              </c:pt>
              <c:pt idx="10">
                <c:v>2025</c:v>
              </c:pt>
              <c:pt idx="11">
                <c:v>06/26</c:v>
              </c:pt>
            </c:strLit>
          </c:cat>
          <c:val>
            <c:numLit>
              <c:formatCode>[&gt;=1000]#\.##0;0</c:formatCode>
              <c:ptCount val="12"/>
              <c:pt idx="0">
                <c:v>3362.376</c:v>
              </c:pt>
              <c:pt idx="1">
                <c:v>3266.892</c:v>
              </c:pt>
              <c:pt idx="2">
                <c:v>3270.332</c:v>
              </c:pt>
              <c:pt idx="3">
                <c:v>3455.08</c:v>
              </c:pt>
              <c:pt idx="4">
                <c:v>3677.557</c:v>
              </c:pt>
              <c:pt idx="5">
                <c:v>4239.899</c:v>
              </c:pt>
              <c:pt idx="6">
                <c:v>4906.92</c:v>
              </c:pt>
              <c:pt idx="7">
                <c:v>5628.48</c:v>
              </c:pt>
              <c:pt idx="8">
                <c:v>6088.547</c:v>
              </c:pt>
              <c:pt idx="9">
                <c:v>6758.822</c:v>
              </c:pt>
              <c:pt idx="10">
                <c:v>7454.674</c:v>
              </c:pt>
              <c:pt idx="11">
                <c:v>7666.364</c:v>
              </c:pt>
            </c:numLit>
          </c:val>
        </c:ser>
        <c:ser>
          <c:idx val="1"/>
          <c:order val="1"/>
          <c:tx>
            <c:v>Títulos privados</c:v>
          </c:tx>
          <c:spPr>
            <a:solidFill>
              <a:srgbClr val="8D9399"/>
            </a:solidFill>
          </c:spPr>
          <c:dLbls>
            <c:dLbl>
              <c:idx val="0"/>
              <c:txPr>
                <a:bodyPr anchorCtr="1"/>
                <a:lstStyle/>
                <a:p>
                  <a:pPr>
                    <a:defRPr sz="1200" b="0" lang="pt-BR">
                      <a:solidFill>
                        <a:srgbClr val="151515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1"/>
              <c:txPr>
                <a:bodyPr anchorCtr="1"/>
                <a:lstStyle/>
                <a:p>
                  <a:pPr>
                    <a:defRPr sz="1200" b="0" lang="pt-BR">
                      <a:solidFill>
                        <a:srgbClr val="151515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2"/>
              <c:txPr>
                <a:bodyPr anchorCtr="1"/>
                <a:lstStyle/>
                <a:p>
                  <a:pPr>
                    <a:defRPr sz="1200" b="0" lang="pt-BR">
                      <a:solidFill>
                        <a:srgbClr val="151515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3"/>
              <c:txPr>
                <a:bodyPr anchorCtr="1"/>
                <a:lstStyle/>
                <a:p>
                  <a:pPr>
                    <a:defRPr sz="1200" b="0" lang="pt-BR">
                      <a:solidFill>
                        <a:srgbClr val="151515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4"/>
              <c:txPr>
                <a:bodyPr anchorCtr="1"/>
                <a:lstStyle/>
                <a:p>
                  <a:pPr>
                    <a:defRPr sz="1200" b="0" lang="pt-BR">
                      <a:solidFill>
                        <a:srgbClr val="151515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5"/>
              <c:txPr>
                <a:bodyPr anchorCtr="1"/>
                <a:lstStyle/>
                <a:p>
                  <a:pPr>
                    <a:defRPr sz="1200" b="0" lang="pt-BR">
                      <a:solidFill>
                        <a:srgbClr val="151515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6"/>
              <c:txPr>
                <a:bodyPr anchorCtr="1"/>
                <a:lstStyle/>
                <a:p>
                  <a:pPr>
                    <a:defRPr sz="1200" b="0" lang="pt-BR">
                      <a:solidFill>
                        <a:srgbClr val="151515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7"/>
              <c:txPr>
                <a:bodyPr anchorCtr="1"/>
                <a:lstStyle/>
                <a:p>
                  <a:pPr>
                    <a:defRPr sz="1200" b="0" lang="pt-BR">
                      <a:solidFill>
                        <a:srgbClr val="151515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8"/>
              <c:txPr>
                <a:bodyPr anchorCtr="1"/>
                <a:lstStyle/>
                <a:p>
                  <a:pPr>
                    <a:defRPr sz="1200" b="0" lang="pt-BR">
                      <a:solidFill>
                        <a:srgbClr val="151515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9"/>
              <c:txPr>
                <a:bodyPr anchorCtr="1"/>
                <a:lstStyle/>
                <a:p>
                  <a:pPr>
                    <a:defRPr sz="1200" b="0" lang="pt-BR">
                      <a:solidFill>
                        <a:srgbClr val="151515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10"/>
              <c:txPr>
                <a:bodyPr anchorCtr="1"/>
                <a:lstStyle/>
                <a:p>
                  <a:pPr>
                    <a:defRPr sz="1200" b="0" lang="pt-BR">
                      <a:solidFill>
                        <a:srgbClr val="151515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11"/>
              <c:txPr>
                <a:bodyPr anchorCtr="1"/>
                <a:lstStyle/>
                <a:p>
                  <a:pPr>
                    <a:defRPr sz="1200" b="0" lang="pt-BR">
                      <a:solidFill>
                        <a:srgbClr val="151515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0"/>
              <c:showCatName val="0"/>
              <c:showSerName val="0"/>
              <c:showPercent val="0"/>
              <c:showBubbleSize val="0"/>
            </c:dLbl>
          </c:dLbls>
          <c:cat>
            <c:strLit>
              <c:ptCount val="12"/>
              <c:pt idx="0">
                <c:v>2015</c:v>
              </c:pt>
              <c:pt idx="1">
                <c:v>2016</c:v>
              </c:pt>
              <c:pt idx="2">
                <c:v>2017</c:v>
              </c:pt>
              <c:pt idx="3">
                <c:v>2018</c:v>
              </c:pt>
              <c:pt idx="4">
                <c:v>2019</c:v>
              </c:pt>
              <c:pt idx="5">
                <c:v>2020</c:v>
              </c:pt>
              <c:pt idx="6">
                <c:v>2021</c:v>
              </c:pt>
              <c:pt idx="7">
                <c:v>2022</c:v>
              </c:pt>
              <c:pt idx="8">
                <c:v>2023</c:v>
              </c:pt>
              <c:pt idx="9">
                <c:v>2024</c:v>
              </c:pt>
              <c:pt idx="10">
                <c:v>2025</c:v>
              </c:pt>
              <c:pt idx="11">
                <c:v>06/26</c:v>
              </c:pt>
            </c:strLit>
          </c:cat>
          <c:val>
            <c:numLit>
              <c:formatCode>[&gt;=1000]#\.##0;0</c:formatCode>
              <c:ptCount val="12"/>
              <c:pt idx="0">
                <c:v>245.674</c:v>
              </c:pt>
              <c:pt idx="1">
                <c:v>242.427</c:v>
              </c:pt>
              <c:pt idx="2">
                <c:v>304.747</c:v>
              </c:pt>
              <c:pt idx="3">
                <c:v>354.539</c:v>
              </c:pt>
              <c:pt idx="4">
                <c:v>480.213</c:v>
              </c:pt>
              <c:pt idx="5">
                <c:v>499.564</c:v>
              </c:pt>
              <c:pt idx="6">
                <c:v>635.901</c:v>
              </c:pt>
              <c:pt idx="7">
                <c:v>849.483</c:v>
              </c:pt>
              <c:pt idx="8">
                <c:v>976.105</c:v>
              </c:pt>
              <c:pt idx="9">
                <c:v>1214.121</c:v>
              </c:pt>
              <c:pt idx="10">
                <c:v>1413.637</c:v>
              </c:pt>
              <c:pt idx="11">
                <c:v>1506.688</c:v>
              </c:pt>
            </c:numLit>
          </c:val>
        </c:ser>
        <c:ser>
          <c:idx val="2"/>
          <c:order val="2"/>
          <c:tx>
            <c:v>FIDCs · carteira</c:v>
          </c:tx>
          <c:spPr>
            <a:solidFill>
              <a:srgbClr val="EC7000"/>
            </a:solidFill>
          </c:spPr>
          <c:dLbls>
            <c:dLbl>
              <c:idx val="0"/>
              <c:txPr>
                <a:bodyPr anchorCtr="1"/>
                <a:lstStyle/>
                <a:p>
                  <a:pPr>
                    <a:defRPr sz="1200" b="0" lang="pt-BR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1"/>
              <c:txPr>
                <a:bodyPr anchorCtr="1"/>
                <a:lstStyle/>
                <a:p>
                  <a:pPr>
                    <a:defRPr sz="1200" b="0" lang="pt-BR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2"/>
              <c:txPr>
                <a:bodyPr anchorCtr="1"/>
                <a:lstStyle/>
                <a:p>
                  <a:pPr>
                    <a:defRPr sz="1200" b="0" lang="pt-BR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3"/>
              <c:txPr>
                <a:bodyPr anchorCtr="1"/>
                <a:lstStyle/>
                <a:p>
                  <a:pPr>
                    <a:defRPr sz="1200" b="0" lang="pt-BR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4"/>
              <c:txPr>
                <a:bodyPr anchorCtr="1"/>
                <a:lstStyle/>
                <a:p>
                  <a:pPr>
                    <a:defRPr sz="1200" b="0" lang="pt-BR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5"/>
              <c:txPr>
                <a:bodyPr anchorCtr="1"/>
                <a:lstStyle/>
                <a:p>
                  <a:pPr>
                    <a:defRPr sz="1200" b="0" lang="pt-BR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6"/>
              <c:txPr>
                <a:bodyPr anchorCtr="1"/>
                <a:lstStyle/>
                <a:p>
                  <a:pPr>
                    <a:defRPr sz="1200" b="0" lang="pt-BR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7"/>
              <c:txPr>
                <a:bodyPr anchorCtr="1"/>
                <a:lstStyle/>
                <a:p>
                  <a:pPr>
                    <a:defRPr sz="1200" b="0" lang="pt-BR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8"/>
              <c:txPr>
                <a:bodyPr anchorCtr="1"/>
                <a:lstStyle/>
                <a:p>
                  <a:pPr>
                    <a:defRPr sz="1200" b="0" lang="pt-BR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9"/>
              <c:txPr>
                <a:bodyPr anchorCtr="1"/>
                <a:lstStyle/>
                <a:p>
                  <a:pPr>
                    <a:defRPr sz="1200" b="0" lang="pt-BR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10"/>
              <c:txPr>
                <a:bodyPr anchorCtr="1"/>
                <a:lstStyle/>
                <a:p>
                  <a:pPr>
                    <a:defRPr sz="1200" b="0" lang="pt-BR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11"/>
              <c:txPr>
                <a:bodyPr anchorCtr="1"/>
                <a:lstStyle/>
                <a:p>
                  <a:pPr>
                    <a:defRPr sz="1200" b="0" lang="pt-BR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</c:dLbls>
          <c:cat>
            <c:strLit>
              <c:ptCount val="12"/>
              <c:pt idx="0">
                <c:v>2015</c:v>
              </c:pt>
              <c:pt idx="1">
                <c:v>2016</c:v>
              </c:pt>
              <c:pt idx="2">
                <c:v>2017</c:v>
              </c:pt>
              <c:pt idx="3">
                <c:v>2018</c:v>
              </c:pt>
              <c:pt idx="4">
                <c:v>2019</c:v>
              </c:pt>
              <c:pt idx="5">
                <c:v>2020</c:v>
              </c:pt>
              <c:pt idx="6">
                <c:v>2021</c:v>
              </c:pt>
              <c:pt idx="7">
                <c:v>2022</c:v>
              </c:pt>
              <c:pt idx="8">
                <c:v>2023</c:v>
              </c:pt>
              <c:pt idx="9">
                <c:v>2024</c:v>
              </c:pt>
              <c:pt idx="10">
                <c:v>2025</c:v>
              </c:pt>
              <c:pt idx="11">
                <c:v>06/26</c:v>
              </c:pt>
            </c:strLit>
          </c:cat>
          <c:val>
            <c:numLit>
              <c:formatCode>[&gt;=1000]#\.##0;0</c:formatCode>
              <c:ptCount val="12"/>
              <c:pt idx="0">
                <c:v>70.69879439891001</c:v>
              </c:pt>
              <c:pt idx="1">
                <c:v>81.9073701812</c:v>
              </c:pt>
              <c:pt idx="2">
                <c:v>95.50993683035</c:v>
              </c:pt>
              <c:pt idx="3">
                <c:v>106.12068752539999</c:v>
              </c:pt>
              <c:pt idx="4">
                <c:v>182.14515826151</c:v>
              </c:pt>
              <c:pt idx="5">
                <c:v>159.9315713704</c:v>
              </c:pt>
              <c:pt idx="6">
                <c:v>250.01323870676</c:v>
              </c:pt>
              <c:pt idx="7">
                <c:v>304.88387968723</c:v>
              </c:pt>
              <c:pt idx="8">
                <c:v>387.79349892013</c:v>
              </c:pt>
              <c:pt idx="9">
                <c:v>549.88571619299</c:v>
              </c:pt>
              <c:pt idx="10">
                <c:v>641.3242789240101</c:v>
              </c:pt>
              <c:pt idx="11">
                <c:v>676.899410153</c:v>
              </c:pt>
            </c:numLit>
          </c:val>
        </c:ser>
        <c:ser>
          <c:idx val="3"/>
          <c:order val="3"/>
          <c:tx>
            <c:v>Outras securitizações</c:v>
          </c:tx>
          <c:spPr>
            <a:solidFill>
              <a:srgbClr val="D7DADD"/>
            </a:solidFill>
          </c:spPr>
          <c:dLbls>
            <c:dLbl>
              <c:idx val="0"/>
              <c:txPr>
                <a:bodyPr anchorCtr="1"/>
                <a:lstStyle/>
                <a:p>
                  <a:pPr>
                    <a:defRPr sz="1200" b="0" lang="pt-BR">
                      <a:solidFill>
                        <a:srgbClr val="151515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1"/>
              <c:txPr>
                <a:bodyPr anchorCtr="1"/>
                <a:lstStyle/>
                <a:p>
                  <a:pPr>
                    <a:defRPr sz="1200" b="0" lang="pt-BR">
                      <a:solidFill>
                        <a:srgbClr val="151515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2"/>
              <c:txPr>
                <a:bodyPr anchorCtr="1"/>
                <a:lstStyle/>
                <a:p>
                  <a:pPr>
                    <a:defRPr sz="1200" b="0" lang="pt-BR">
                      <a:solidFill>
                        <a:srgbClr val="151515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3"/>
              <c:txPr>
                <a:bodyPr anchorCtr="1"/>
                <a:lstStyle/>
                <a:p>
                  <a:pPr>
                    <a:defRPr sz="1200" b="0" lang="pt-BR">
                      <a:solidFill>
                        <a:srgbClr val="151515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4"/>
              <c:txPr>
                <a:bodyPr anchorCtr="1"/>
                <a:lstStyle/>
                <a:p>
                  <a:pPr>
                    <a:defRPr sz="1200" b="0" lang="pt-BR">
                      <a:solidFill>
                        <a:srgbClr val="151515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5"/>
              <c:txPr>
                <a:bodyPr anchorCtr="1"/>
                <a:lstStyle/>
                <a:p>
                  <a:pPr>
                    <a:defRPr sz="1200" b="0" lang="pt-BR">
                      <a:solidFill>
                        <a:srgbClr val="151515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6"/>
              <c:txPr>
                <a:bodyPr anchorCtr="1"/>
                <a:lstStyle/>
                <a:p>
                  <a:pPr>
                    <a:defRPr sz="1200" b="0" lang="pt-BR">
                      <a:solidFill>
                        <a:srgbClr val="151515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7"/>
              <c:txPr>
                <a:bodyPr anchorCtr="1"/>
                <a:lstStyle/>
                <a:p>
                  <a:pPr>
                    <a:defRPr sz="1200" b="0" lang="pt-BR">
                      <a:solidFill>
                        <a:srgbClr val="151515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8"/>
              <c:txPr>
                <a:bodyPr anchorCtr="1"/>
                <a:lstStyle/>
                <a:p>
                  <a:pPr>
                    <a:defRPr sz="1200" b="0" lang="pt-BR">
                      <a:solidFill>
                        <a:srgbClr val="151515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9"/>
              <c:txPr>
                <a:bodyPr anchorCtr="1"/>
                <a:lstStyle/>
                <a:p>
                  <a:pPr>
                    <a:defRPr sz="1200" b="0" lang="pt-BR">
                      <a:solidFill>
                        <a:srgbClr val="151515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10"/>
              <c:txPr>
                <a:bodyPr anchorCtr="1"/>
                <a:lstStyle/>
                <a:p>
                  <a:pPr>
                    <a:defRPr sz="1200" b="0" lang="pt-BR">
                      <a:solidFill>
                        <a:srgbClr val="151515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11"/>
              <c:txPr>
                <a:bodyPr anchorCtr="1"/>
                <a:lstStyle/>
                <a:p>
                  <a:pPr>
                    <a:defRPr sz="1200" b="0" lang="pt-BR">
                      <a:solidFill>
                        <a:srgbClr val="151515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0"/>
              <c:showCatName val="0"/>
              <c:showSerName val="0"/>
              <c:showPercent val="0"/>
              <c:showBubbleSize val="0"/>
            </c:dLbl>
          </c:dLbls>
          <c:cat>
            <c:strLit>
              <c:ptCount val="12"/>
              <c:pt idx="0">
                <c:v>2015</c:v>
              </c:pt>
              <c:pt idx="1">
                <c:v>2016</c:v>
              </c:pt>
              <c:pt idx="2">
                <c:v>2017</c:v>
              </c:pt>
              <c:pt idx="3">
                <c:v>2018</c:v>
              </c:pt>
              <c:pt idx="4">
                <c:v>2019</c:v>
              </c:pt>
              <c:pt idx="5">
                <c:v>2020</c:v>
              </c:pt>
              <c:pt idx="6">
                <c:v>2021</c:v>
              </c:pt>
              <c:pt idx="7">
                <c:v>2022</c:v>
              </c:pt>
              <c:pt idx="8">
                <c:v>2023</c:v>
              </c:pt>
              <c:pt idx="9">
                <c:v>2024</c:v>
              </c:pt>
              <c:pt idx="10">
                <c:v>2025</c:v>
              </c:pt>
              <c:pt idx="11">
                <c:v>06/26</c:v>
              </c:pt>
            </c:strLit>
          </c:cat>
          <c:val>
            <c:numLit>
              <c:formatCode>[&gt;=1000]#\.##0;0</c:formatCode>
              <c:ptCount val="12"/>
              <c:pt idx="0">
                <c:v>72.80420560108999</c:v>
              </c:pt>
              <c:pt idx="1">
                <c:v>91.8096298188</c:v>
              </c:pt>
              <c:pt idx="2">
                <c:v>113.15306316965</c:v>
              </c:pt>
              <c:pt idx="3">
                <c:v>121.5283124746</c:v>
              </c:pt>
              <c:pt idx="4">
                <c:v>128.42384173849</c:v>
              </c:pt>
              <c:pt idx="5">
                <c:v>127.91442862960001</c:v>
              </c:pt>
              <c:pt idx="6">
                <c:v>183.95476129323998</c:v>
              </c:pt>
              <c:pt idx="7">
                <c:v>261.47012031277</c:v>
              </c:pt>
              <c:pt idx="8">
                <c:v>334.01450107987</c:v>
              </c:pt>
              <c:pt idx="9">
                <c:v>444.74928380701</c:v>
              </c:pt>
              <c:pt idx="10">
                <c:v>452.05372107599</c:v>
              </c:pt>
              <c:pt idx="11">
                <c:v>496.839589847</c:v>
              </c:pt>
            </c:numLit>
          </c:val>
        </c:ser>
        <c:ser>
          <c:idx val="4"/>
          <c:order val="4"/>
          <c:tx>
            <c:v>Dívida externa</c:v>
          </c:tx>
          <c:spPr>
            <a:solidFill>
              <a:srgbClr val="E7E9EB"/>
            </a:solidFill>
          </c:spPr>
          <c:dLbls>
            <c:dLbl>
              <c:idx val="0"/>
              <c:txPr>
                <a:bodyPr anchorCtr="1"/>
                <a:lstStyle/>
                <a:p>
                  <a:pPr>
                    <a:defRPr sz="1200" b="0" lang="pt-BR">
                      <a:solidFill>
                        <a:srgbClr val="151515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1"/>
              <c:txPr>
                <a:bodyPr anchorCtr="1"/>
                <a:lstStyle/>
                <a:p>
                  <a:pPr>
                    <a:defRPr sz="1200" b="0" lang="pt-BR">
                      <a:solidFill>
                        <a:srgbClr val="151515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2"/>
              <c:txPr>
                <a:bodyPr anchorCtr="1"/>
                <a:lstStyle/>
                <a:p>
                  <a:pPr>
                    <a:defRPr sz="1200" b="0" lang="pt-BR">
                      <a:solidFill>
                        <a:srgbClr val="151515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3"/>
              <c:txPr>
                <a:bodyPr anchorCtr="1"/>
                <a:lstStyle/>
                <a:p>
                  <a:pPr>
                    <a:defRPr sz="1200" b="0" lang="pt-BR">
                      <a:solidFill>
                        <a:srgbClr val="151515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4"/>
              <c:txPr>
                <a:bodyPr anchorCtr="1"/>
                <a:lstStyle/>
                <a:p>
                  <a:pPr>
                    <a:defRPr sz="1200" b="0" lang="pt-BR">
                      <a:solidFill>
                        <a:srgbClr val="151515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5"/>
              <c:txPr>
                <a:bodyPr anchorCtr="1"/>
                <a:lstStyle/>
                <a:p>
                  <a:pPr>
                    <a:defRPr sz="1200" b="0" lang="pt-BR">
                      <a:solidFill>
                        <a:srgbClr val="151515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6"/>
              <c:txPr>
                <a:bodyPr anchorCtr="1"/>
                <a:lstStyle/>
                <a:p>
                  <a:pPr>
                    <a:defRPr sz="1200" b="0" lang="pt-BR">
                      <a:solidFill>
                        <a:srgbClr val="151515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7"/>
              <c:txPr>
                <a:bodyPr anchorCtr="1"/>
                <a:lstStyle/>
                <a:p>
                  <a:pPr>
                    <a:defRPr sz="1200" b="0" lang="pt-BR">
                      <a:solidFill>
                        <a:srgbClr val="151515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8"/>
              <c:txPr>
                <a:bodyPr anchorCtr="1"/>
                <a:lstStyle/>
                <a:p>
                  <a:pPr>
                    <a:defRPr sz="1200" b="0" lang="pt-BR">
                      <a:solidFill>
                        <a:srgbClr val="151515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9"/>
              <c:txPr>
                <a:bodyPr anchorCtr="1"/>
                <a:lstStyle/>
                <a:p>
                  <a:pPr>
                    <a:defRPr sz="1200" b="0" lang="pt-BR">
                      <a:solidFill>
                        <a:srgbClr val="151515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10"/>
              <c:txPr>
                <a:bodyPr anchorCtr="1"/>
                <a:lstStyle/>
                <a:p>
                  <a:pPr>
                    <a:defRPr sz="1200" b="0" lang="pt-BR">
                      <a:solidFill>
                        <a:srgbClr val="151515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11"/>
              <c:txPr>
                <a:bodyPr anchorCtr="1"/>
                <a:lstStyle/>
                <a:p>
                  <a:pPr>
                    <a:defRPr sz="1200" b="0" lang="pt-BR">
                      <a:solidFill>
                        <a:srgbClr val="151515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0"/>
              <c:showCatName val="0"/>
              <c:showSerName val="0"/>
              <c:showPercent val="0"/>
              <c:showBubbleSize val="0"/>
            </c:dLbl>
          </c:dLbls>
          <c:cat>
            <c:strLit>
              <c:ptCount val="12"/>
              <c:pt idx="0">
                <c:v>2015</c:v>
              </c:pt>
              <c:pt idx="1">
                <c:v>2016</c:v>
              </c:pt>
              <c:pt idx="2">
                <c:v>2017</c:v>
              </c:pt>
              <c:pt idx="3">
                <c:v>2018</c:v>
              </c:pt>
              <c:pt idx="4">
                <c:v>2019</c:v>
              </c:pt>
              <c:pt idx="5">
                <c:v>2020</c:v>
              </c:pt>
              <c:pt idx="6">
                <c:v>2021</c:v>
              </c:pt>
              <c:pt idx="7">
                <c:v>2022</c:v>
              </c:pt>
              <c:pt idx="8">
                <c:v>2023</c:v>
              </c:pt>
              <c:pt idx="9">
                <c:v>2024</c:v>
              </c:pt>
              <c:pt idx="10">
                <c:v>2025</c:v>
              </c:pt>
              <c:pt idx="11">
                <c:v>06/26</c:v>
              </c:pt>
            </c:strLit>
          </c:cat>
          <c:val>
            <c:numLit>
              <c:formatCode>[&gt;=1000]#\.##0;0</c:formatCode>
              <c:ptCount val="12"/>
              <c:pt idx="0">
                <c:v>1996.897</c:v>
              </c:pt>
              <c:pt idx="1">
                <c:v>1735.5</c:v>
              </c:pt>
              <c:pt idx="2">
                <c:v>1743.734</c:v>
              </c:pt>
              <c:pt idx="3">
                <c:v>1982.893</c:v>
              </c:pt>
              <c:pt idx="4">
                <c:v>2075.703</c:v>
              </c:pt>
              <c:pt idx="5">
                <c:v>2566.911</c:v>
              </c:pt>
              <c:pt idx="6">
                <c:v>2820.561</c:v>
              </c:pt>
              <c:pt idx="7">
                <c:v>2714.754</c:v>
              </c:pt>
              <c:pt idx="8">
                <c:v>2713.732</c:v>
              </c:pt>
              <c:pt idx="9">
                <c:v>3408.391</c:v>
              </c:pt>
              <c:pt idx="10">
                <c:v>3405.938</c:v>
              </c:pt>
              <c:pt idx="11">
                <c:v>3432.857</c:v>
              </c:pt>
            </c:numLit>
          </c:val>
        </c:ser>
        <c:gapWidth val="10"/>
        <c:overlap val="100"/>
        <c:axId val="48650112"/>
        <c:axId val="48672768"/>
      </c:barChart>
      <c:lineChart>
        <c:grouping val="standard"/>
        <c:varyColors val="0"/>
        <c:ser>
          <c:idx val="5"/>
          <c:order val="5"/>
          <c:tx>
            <c:v>Total</c:v>
          </c:tx>
          <c:spPr>
            <a:ln>
              <a:noFill/>
            </a:ln>
          </c:spPr>
          <c:marker>
            <c:symbol val="none"/>
            <c:size val="2"/>
          </c:marker>
          <c:dLbls>
            <c:dLblPos val="t"/>
            <c:numFmt formatCode="[&gt;=1000]#\.##0;0" sourceLinked="0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txPr>
              <a:bodyPr/>
              <a:lstStyle/>
              <a:p>
                <a:pPr>
                  <a:defRPr sz="1200" b="0" lang="pt-BR">
                    <a:latin typeface="Arial"/>
                    <a:ea typeface="Arial"/>
                    <a:cs typeface="Arial"/>
                  </a:defRPr>
                </a:pPr>
                <a:endParaRPr lang="pt-BR"/>
              </a:p>
            </c:txPr>
          </c:dLbls>
          <c:cat>
            <c:strLit>
              <c:ptCount val="12"/>
              <c:pt idx="0">
                <c:v>2015</c:v>
              </c:pt>
              <c:pt idx="1">
                <c:v>2016</c:v>
              </c:pt>
              <c:pt idx="2">
                <c:v>2017</c:v>
              </c:pt>
              <c:pt idx="3">
                <c:v>2018</c:v>
              </c:pt>
              <c:pt idx="4">
                <c:v>2019</c:v>
              </c:pt>
              <c:pt idx="5">
                <c:v>2020</c:v>
              </c:pt>
              <c:pt idx="6">
                <c:v>2021</c:v>
              </c:pt>
              <c:pt idx="7">
                <c:v>2022</c:v>
              </c:pt>
              <c:pt idx="8">
                <c:v>2023</c:v>
              </c:pt>
              <c:pt idx="9">
                <c:v>2024</c:v>
              </c:pt>
              <c:pt idx="10">
                <c:v>2025</c:v>
              </c:pt>
              <c:pt idx="11">
                <c:v>06/26</c:v>
              </c:pt>
            </c:strLit>
          </c:cat>
          <c:val>
            <c:numLit>
              <c:formatCode>0</c:formatCode>
              <c:ptCount val="12"/>
              <c:pt idx="0">
                <c:v>5748.45</c:v>
              </c:pt>
              <c:pt idx="1">
                <c:v>5418.536</c:v>
              </c:pt>
              <c:pt idx="2">
                <c:v>5527.476</c:v>
              </c:pt>
              <c:pt idx="3">
                <c:v>6020.161</c:v>
              </c:pt>
              <c:pt idx="4">
                <c:v>6544.042</c:v>
              </c:pt>
              <c:pt idx="5">
                <c:v>7594.22</c:v>
              </c:pt>
              <c:pt idx="6">
                <c:v>8797.35</c:v>
              </c:pt>
              <c:pt idx="7">
                <c:v>9759.071</c:v>
              </c:pt>
              <c:pt idx="8">
                <c:v>10500.192</c:v>
              </c:pt>
              <c:pt idx="9">
                <c:v>12375.969</c:v>
              </c:pt>
              <c:pt idx="10">
                <c:v>13367.627</c:v>
              </c:pt>
              <c:pt idx="11">
                <c:v>13779.648</c:v>
              </c:pt>
            </c:numLit>
          </c:val>
          <c:smooth val="0"/>
        </c:ser>
        <c:axId val="48650112"/>
        <c:axId val="48672768"/>
      </c:lineChart>
      <c:catAx>
        <c:axId val="48650112"/>
        <c:scaling>
          <c:orientation val="minMax"/>
        </c:scaling>
        <c:delete val="0"/>
        <c:axPos val="b"/>
        <c:numFmt formatCode="General"/>
        <c:majorTickMark val="none"/>
        <c:minorTickMark val="none"/>
        <c:spPr>
          <a:ln w="9525">
            <a:solidFill>
              <a:srgbClr val="D7DADD"/>
            </a:solidFill>
            <a:prstDash val="solid"/>
          </a:ln>
        </c:spPr>
        <c:txPr>
          <a:bodyPr anchorCtr="1"/>
          <a:lstStyle/>
          <a:p>
            <a:pPr>
              <a:defRPr sz="1000" lang="pt-BR">
                <a:solidFill>
                  <a:srgbClr val="73787D"/>
                </a:solidFill>
              </a:defRPr>
            </a:pPr>
          </a:p>
        </c:txPr>
        <c:crossAx val="48672768"/>
        <c:lblAlgn val="ctr"/>
        <c:lblOffset val="100"/>
        <c:noMultiLvlLbl val="0"/>
      </c:catAx>
      <c:valAx>
        <c:axId val="48672768"/>
        <c:scaling>
          <c:orientation val="minMax"/>
          <c:max val="14000"/>
          <c:min val="0"/>
        </c:scaling>
        <c:delete val="0"/>
        <c:axPos val="l"/>
        <c:majorGridlines>
          <c:spPr>
            <a:ln w="9525">
              <a:solidFill>
                <a:srgbClr val="E7E9EB"/>
              </a:solidFill>
              <a:prstDash val="solid"/>
            </a:ln>
          </c:spPr>
        </c:majorGridlines>
        <c:numFmt formatCode="[&gt;=1000]#\.##0;0"/>
        <c:majorTickMark val="none"/>
        <c:minorTickMark val="none"/>
        <c:spPr>
          <a:ln w="9525">
            <a:solidFill>
              <a:srgbClr val="D7DADD"/>
            </a:solidFill>
            <a:prstDash val="solid"/>
          </a:ln>
        </c:spPr>
        <c:txPr>
          <a:bodyPr anchorCtr="1"/>
          <a:lstStyle/>
          <a:p>
            <a:pPr>
              <a:defRPr sz="1000" lang="pt-BR">
                <a:solidFill>
                  <a:srgbClr val="8D9399"/>
                </a:solidFill>
              </a:defRPr>
            </a:pPr>
          </a:p>
        </c:txPr>
        <c:crossAx val="48650112"/>
        <c:crossBetween val="between"/>
        <c:majorUnit val="5000"/>
      </c:valAx>
      <c:spPr>
        <a:noFill/>
        <a:ln w="0">
          <a:noFill/>
          <a:prstDash val="solid"/>
        </a:ln>
      </c:spPr>
    </c:plotArea>
    <c:plotVisOnly val="1"/>
  </c:chart>
  <c:spPr>
    <a:noFill/>
    <a:ln w="0">
      <a:noFill/>
      <a:prstDash val="solid"/>
    </a:ln>
  </c:spPr>
</c:chartSpace>
</file>

<file path=ppt/slides/charts/chart3.xml><?xml version="1.0" encoding="utf-8"?>
<c:chartSpace xmlns:a="http://schemas.openxmlformats.org/drawingml/2006/main" xmlns:c="http://schemas.openxmlformats.org/drawingml/2006/chart">
  <c:lang val="pt-BR"/>
  <c:chart>
    <c:plotArea>
      <c:lineChart>
        <c:grouping val="standard"/>
        <c:ser>
          <c:idx val="0"/>
          <c:order val="0"/>
          <c:tx>
            <c:v>Empréstimos</c:v>
          </c:tx>
          <c:spPr>
            <a:ln w="28575">
              <a:solidFill>
                <a:srgbClr val="30353A"/>
              </a:solidFill>
              <a:prstDash val="solid"/>
            </a:ln>
          </c:spPr>
          <c:marker>
            <c:symbol val="none"/>
          </c:marker>
          <c:cat>
            <c:strLit>
              <c:ptCount val="1"/>
              <c:pt idx="0">
                <c:v/>
              </c:pt>
            </c:strLit>
          </c:cat>
          <c:val>
            <c:numLit>
              <c:formatCode>General</c:formatCode>
              <c:ptCount val="1"/>
              <c:pt idx="0">
                <c:v>0</c:v>
              </c:pt>
            </c:numLit>
          </c:val>
        </c:ser>
        <c:ser>
          <c:idx val="1"/>
          <c:order val="1"/>
          <c:tx>
            <c:v>Tít. privados</c:v>
          </c:tx>
          <c:spPr>
            <a:ln w="28575">
              <a:solidFill>
                <a:srgbClr val="8D9399"/>
              </a:solidFill>
              <a:prstDash val="solid"/>
            </a:ln>
          </c:spPr>
          <c:marker>
            <c:symbol val="none"/>
          </c:marker>
          <c:cat>
            <c:strLit>
              <c:ptCount val="1"/>
              <c:pt idx="0">
                <c:v/>
              </c:pt>
            </c:strLit>
          </c:cat>
          <c:val>
            <c:numLit>
              <c:formatCode>General</c:formatCode>
              <c:ptCount val="1"/>
              <c:pt idx="0">
                <c:v>0</c:v>
              </c:pt>
            </c:numLit>
          </c:val>
        </c:ser>
        <c:ser>
          <c:idx val="2"/>
          <c:order val="2"/>
          <c:tx>
            <c:v>FIDCs</c:v>
          </c:tx>
          <c:spPr>
            <a:ln w="28575">
              <a:solidFill>
                <a:srgbClr val="EC7000"/>
              </a:solidFill>
              <a:prstDash val="solid"/>
            </a:ln>
          </c:spPr>
          <c:marker>
            <c:symbol val="none"/>
          </c:marker>
          <c:cat>
            <c:strLit>
              <c:ptCount val="1"/>
              <c:pt idx="0">
                <c:v/>
              </c:pt>
            </c:strLit>
          </c:cat>
          <c:val>
            <c:numLit>
              <c:formatCode>General</c:formatCode>
              <c:ptCount val="1"/>
              <c:pt idx="0">
                <c:v>0</c:v>
              </c:pt>
            </c:numLit>
          </c:val>
        </c:ser>
        <c:ser>
          <c:idx val="3"/>
          <c:order val="3"/>
          <c:tx>
            <c:v>Outras securit.</c:v>
          </c:tx>
          <c:spPr>
            <a:ln w="28575">
              <a:solidFill>
                <a:srgbClr val="D7DADD"/>
              </a:solidFill>
              <a:prstDash val="solid"/>
            </a:ln>
          </c:spPr>
          <c:marker>
            <c:symbol val="none"/>
          </c:marker>
          <c:cat>
            <c:strLit>
              <c:ptCount val="1"/>
              <c:pt idx="0">
                <c:v/>
              </c:pt>
            </c:strLit>
          </c:cat>
          <c:val>
            <c:numLit>
              <c:formatCode>General</c:formatCode>
              <c:ptCount val="1"/>
              <c:pt idx="0">
                <c:v>0</c:v>
              </c:pt>
            </c:numLit>
          </c:val>
        </c:ser>
        <c:ser>
          <c:idx val="4"/>
          <c:order val="4"/>
          <c:tx>
            <c:v>Dív. externa</c:v>
          </c:tx>
          <c:spPr>
            <a:ln w="28575">
              <a:solidFill>
                <a:srgbClr val="E7E9EB"/>
              </a:solidFill>
              <a:prstDash val="solid"/>
            </a:ln>
          </c:spPr>
          <c:marker>
            <c:symbol val="none"/>
          </c:marker>
          <c:cat>
            <c:strLit>
              <c:ptCount val="1"/>
              <c:pt idx="0">
                <c:v/>
              </c:pt>
            </c:strLit>
          </c:cat>
          <c:val>
            <c:numLit>
              <c:formatCode>General</c:formatCode>
              <c:ptCount val="1"/>
              <c:pt idx="0">
                <c:v>0</c:v>
              </c:pt>
            </c:numLit>
          </c:val>
        </c:ser>
        <c:axId val="48650112"/>
        <c:axId val="48672768"/>
      </c:lineChart>
      <c:catAx>
        <c:axId val="48650112"/>
        <c:scaling>
          <c:orientation val="minMax"/>
        </c:scaling>
        <c:delete val="0"/>
        <c:axPos val="b"/>
        <c:numFmt formatCode="General"/>
        <c:majorTickMark val="none"/>
        <c:minorTickMark val="none"/>
        <c:spPr>
          <a:ln w="9525">
            <a:solidFill>
              <a:srgbClr val="D4D4D4"/>
            </a:solidFill>
            <a:prstDash val="solid"/>
          </a:ln>
        </c:spPr>
        <c:txPr>
          <a:bodyPr anchorCtr="1"/>
          <a:lstStyle/>
          <a:p>
            <a:pPr>
              <a:defRPr lang="pt-BR">
                <a:solidFill>
                  <a:srgbClr val="666666"/>
                </a:solidFill>
              </a:defRPr>
            </a:pPr>
          </a:p>
        </c:txPr>
        <c:crossAx val="48672768"/>
        <c:lblAlgn val="ctr"/>
        <c:lblOffset val="100"/>
        <c:noMultiLvlLbl val="0"/>
      </c:catAx>
      <c:valAx>
        <c:axId val="48672768"/>
        <c:scaling>
          <c:orientation val="minMax"/>
        </c:scaling>
        <c:delete val="1"/>
        <c:axPos val="l"/>
        <c:numFmt formatCode="General"/>
        <c:majorTickMark val="none"/>
        <c:minorTickMark val="none"/>
        <c:spPr>
          <a:ln w="9525">
            <a:solidFill>
              <a:srgbClr val="D4D4D4"/>
            </a:solidFill>
            <a:prstDash val="solid"/>
          </a:ln>
        </c:spPr>
        <c:txPr>
          <a:bodyPr anchorCtr="1"/>
          <a:lstStyle/>
          <a:p>
            <a:pPr>
              <a:defRPr lang="pt-BR">
                <a:solidFill>
                  <a:srgbClr val="666666"/>
                </a:solidFill>
              </a:defRPr>
            </a:pPr>
          </a:p>
        </c:txPr>
        <c:crossAx val="48650112"/>
        <c:crossBetween val="between"/>
      </c:valAx>
      <c:spPr>
        <a:noFill/>
        <a:ln w="0">
          <a:noFill/>
          <a:prstDash val="solid"/>
        </a:ln>
      </c:spPr>
    </c:plotArea>
    <c:legend>
      <c:legendPos val="b"/>
      <c:overlay val="0"/>
      <c:txPr>
        <a:bodyPr anchorCtr="1"/>
        <a:lstStyle/>
        <a:p>
          <a:pPr>
            <a:defRPr sz="1000" lang="pt-BR">
              <a:solidFill>
                <a:srgbClr val="73787D"/>
              </a:solidFill>
            </a:defRPr>
          </a:pPr>
        </a:p>
      </c:txPr>
    </c:legend>
    <c:plotVisOnly val="1"/>
  </c:chart>
  <c:spPr>
    <a:noFill/>
    <a:ln w="0">
      <a:noFill/>
      <a:prstDash val="solid"/>
    </a:ln>
  </c:spPr>
</c:chartSpace>
</file>

<file path=ppt/slides/charts/chart4.xml><?xml version="1.0" encoding="utf-8"?>
<c:chartSpace xmlns:a="http://schemas.openxmlformats.org/drawingml/2006/main" xmlns:c="http://schemas.openxmlformats.org/drawingml/2006/chart">
  <c:lang val="pt-BR"/>
  <c:chart>
    <c:plotArea>
      <c:barChart>
        <c:barDir val="col"/>
        <c:grouping val="clustered"/>
        <c:varyColors val="0"/>
        <c:ser>
          <c:idx val="0"/>
          <c:order val="0"/>
          <c:tx>
            <c:v>FIDCs</c:v>
          </c:tx>
          <c:spPr>
            <a:solidFill>
              <a:srgbClr val="EC7000"/>
            </a:solidFill>
          </c:spPr>
          <c:cat>
            <c:strLit>
              <c:ptCount val="4"/>
              <c:pt idx="0">
                <c:v>2023FY</c:v>
              </c:pt>
              <c:pt idx="1">
                <c:v>2024FY</c:v>
              </c:pt>
              <c:pt idx="2">
                <c:v>2025FY</c:v>
              </c:pt>
              <c:pt idx="3">
                <c:v>2026 jan–jun</c:v>
              </c:pt>
            </c:strLit>
          </c:cat>
          <c:val>
            <c:numLit>
              <c:formatCode>0</c:formatCode>
              <c:ptCount val="4"/>
              <c:pt idx="0">
                <c:v>43.74614019622497</c:v>
              </c:pt>
              <c:pt idx="1">
                <c:v>95.41672613375</c:v>
              </c:pt>
              <c:pt idx="2">
                <c:v>116.92131905477001</c:v>
              </c:pt>
              <c:pt idx="3">
                <c:v>65.48811898356</c:v>
              </c:pt>
            </c:numLit>
          </c:val>
        </c:ser>
        <c:ser>
          <c:idx val="1"/>
          <c:order val="1"/>
          <c:tx>
            <c:v>Demais elegíveis</c:v>
          </c:tx>
          <c:spPr>
            <a:solidFill>
              <a:srgbClr val="30353A"/>
            </a:solidFill>
          </c:spPr>
          <c:cat>
            <c:strLit>
              <c:ptCount val="4"/>
              <c:pt idx="0">
                <c:v>2023FY</c:v>
              </c:pt>
              <c:pt idx="1">
                <c:v>2024FY</c:v>
              </c:pt>
              <c:pt idx="2">
                <c:v>2025FY</c:v>
              </c:pt>
              <c:pt idx="3">
                <c:v>2026 jan–jun</c:v>
              </c:pt>
            </c:strLit>
          </c:cat>
          <c:val>
            <c:numLit>
              <c:formatCode>0</c:formatCode>
              <c:ptCount val="4"/>
              <c:pt idx="0">
                <c:v>353.4478795703001</c:v>
              </c:pt>
              <c:pt idx="1">
                <c:v>628.73334224723</c:v>
              </c:pt>
              <c:pt idx="2">
                <c:v>656.0946706342701</c:v>
              </c:pt>
              <c:pt idx="3">
                <c:v>246.82887238694</c:v>
              </c:pt>
            </c:numLit>
          </c:val>
        </c:ser>
        <c:dLbls>
          <c:txPr>
            <a:bodyPr anchorCtr="1"/>
            <a:lstStyle/>
            <a:p>
              <a:pPr>
                <a:defRPr sz="1200" b="1" lang="pt-BR">
                  <a:solidFill>
                    <a:srgbClr val="151515"/>
                  </a:solidFill>
                </a:defRPr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45"/>
        <c:axId val="48650112"/>
        <c:axId val="48672768"/>
      </c:barChart>
      <c:catAx>
        <c:axId val="48650112"/>
        <c:scaling>
          <c:orientation val="minMax"/>
        </c:scaling>
        <c:delete val="0"/>
        <c:axPos val="b"/>
        <c:numFmt formatCode="General"/>
        <c:majorTickMark val="none"/>
        <c:minorTickMark val="none"/>
        <c:spPr>
          <a:ln w="9525">
            <a:solidFill>
              <a:srgbClr val="D7DADD"/>
            </a:solidFill>
            <a:prstDash val="solid"/>
          </a:ln>
        </c:spPr>
        <c:txPr>
          <a:bodyPr anchorCtr="1"/>
          <a:lstStyle/>
          <a:p>
            <a:pPr>
              <a:defRPr sz="1000" lang="pt-BR">
                <a:solidFill>
                  <a:srgbClr val="73787D"/>
                </a:solidFill>
              </a:defRPr>
            </a:pPr>
          </a:p>
        </c:txPr>
        <c:crossAx val="48672768"/>
        <c:lblAlgn val="ctr"/>
        <c:lblOffset val="100"/>
        <c:noMultiLvlLbl val="0"/>
      </c:catAx>
      <c:valAx>
        <c:axId val="48672768"/>
        <c:scaling>
          <c:orientation val="minMax"/>
          <c:min val="0"/>
        </c:scaling>
        <c:delete val="0"/>
        <c:axPos val="l"/>
        <c:majorGridlines>
          <c:spPr>
            <a:ln w="9525">
              <a:solidFill>
                <a:srgbClr val="E7E9EB"/>
              </a:solidFill>
              <a:prstDash val="solid"/>
            </a:ln>
          </c:spPr>
        </c:majorGridlines>
        <c:numFmt formatCode="0"/>
        <c:majorTickMark val="none"/>
        <c:minorTickMark val="none"/>
        <c:spPr>
          <a:ln w="9525">
            <a:solidFill>
              <a:srgbClr val="D7DADD"/>
            </a:solidFill>
            <a:prstDash val="solid"/>
          </a:ln>
        </c:spPr>
        <c:txPr>
          <a:bodyPr anchorCtr="1"/>
          <a:lstStyle/>
          <a:p>
            <a:pPr>
              <a:defRPr sz="1000" lang="pt-BR">
                <a:solidFill>
                  <a:srgbClr val="8D9399"/>
                </a:solidFill>
              </a:defRPr>
            </a:pPr>
          </a:p>
        </c:txPr>
        <c:crossAx val="48650112"/>
        <c:crossBetween val="between"/>
      </c:valAx>
      <c:spPr>
        <a:noFill/>
        <a:ln w="0">
          <a:noFill/>
          <a:prstDash val="solid"/>
        </a:ln>
      </c:spPr>
    </c:plotArea>
    <c:legend>
      <c:legendPos val="b"/>
      <c:overlay val="0"/>
      <c:txPr>
        <a:bodyPr anchorCtr="1"/>
        <a:lstStyle/>
        <a:p>
          <a:pPr>
            <a:defRPr sz="1000" lang="pt-BR">
              <a:solidFill>
                <a:srgbClr val="73787D"/>
              </a:solidFill>
            </a:defRPr>
          </a:pPr>
        </a:p>
      </c:txPr>
    </c:legend>
    <c:plotVisOnly val="1"/>
  </c:chart>
  <c:spPr>
    <a:noFill/>
    <a:ln w="0">
      <a:noFill/>
      <a:prstDash val="solid"/>
    </a:ln>
  </c:spPr>
</c:chartSpace>
</file>

<file path=ppt/slides/charts/chart5.xml><?xml version="1.0" encoding="utf-8"?>
<c:chartSpace xmlns:a="http://schemas.openxmlformats.org/drawingml/2006/main" xmlns:c="http://schemas.openxmlformats.org/drawingml/2006/chart">
  <c:lang val="pt-BR"/>
  <c:chart>
    <c:plotArea>
      <c:barChart>
        <c:barDir val="col"/>
        <c:grouping val="clustered"/>
        <c:varyColors val="0"/>
        <c:ser>
          <c:idx val="0"/>
          <c:order val="0"/>
          <c:tx>
            <c:v>Debêntures</c:v>
          </c:tx>
          <c:spPr>
            <a:solidFill>
              <a:srgbClr val="151515"/>
            </a:solidFill>
          </c:spPr>
          <c:cat>
            <c:strLit>
              <c:ptCount val="4"/>
              <c:pt idx="0">
                <c:v>2023 FY</c:v>
              </c:pt>
              <c:pt idx="1">
                <c:v>2024 FY</c:v>
              </c:pt>
              <c:pt idx="2">
                <c:v>2025 FY</c:v>
              </c:pt>
              <c:pt idx="3">
                <c:v>2026 jan–jun</c:v>
              </c:pt>
            </c:strLit>
          </c:cat>
          <c:val>
            <c:numLit>
              <c:formatCode>0.0</c:formatCode>
              <c:ptCount val="4"/>
              <c:pt idx="0">
                <c:v>236.61663924185</c:v>
              </c:pt>
              <c:pt idx="1">
                <c:v>474.3602899026376</c:v>
              </c:pt>
              <c:pt idx="2">
                <c:v>493.39007310800173</c:v>
              </c:pt>
              <c:pt idx="3">
                <c:v>169.8</c:v>
              </c:pt>
            </c:numLit>
          </c:val>
        </c:ser>
        <c:ser>
          <c:idx val="1"/>
          <c:order val="1"/>
          <c:tx>
            <c:v>FIDCs</c:v>
          </c:tx>
          <c:spPr>
            <a:solidFill>
              <a:srgbClr val="EC7000"/>
            </a:solidFill>
          </c:spPr>
          <c:cat>
            <c:strLit>
              <c:ptCount val="4"/>
              <c:pt idx="0">
                <c:v>2023 FY</c:v>
              </c:pt>
              <c:pt idx="1">
                <c:v>2024 FY</c:v>
              </c:pt>
              <c:pt idx="2">
                <c:v>2025 FY</c:v>
              </c:pt>
              <c:pt idx="3">
                <c:v>2026 jan–jun</c:v>
              </c:pt>
            </c:strLit>
          </c:cat>
          <c:val>
            <c:numLit>
              <c:formatCode>0.0</c:formatCode>
              <c:ptCount val="4"/>
              <c:pt idx="0">
                <c:v>43.74614019622497</c:v>
              </c:pt>
              <c:pt idx="1">
                <c:v>82.86326248207118</c:v>
              </c:pt>
              <c:pt idx="2">
                <c:v>90.98510609270312</c:v>
              </c:pt>
              <c:pt idx="3">
                <c:v>53.1</c:v>
              </c:pt>
            </c:numLit>
          </c:val>
        </c:ser>
        <c:ser>
          <c:idx val="2"/>
          <c:order val="2"/>
          <c:tx>
            <c:v>CRI</c:v>
          </c:tx>
          <c:spPr>
            <a:solidFill>
              <a:srgbClr val="73787D"/>
            </a:solidFill>
          </c:spPr>
          <c:cat>
            <c:strLit>
              <c:ptCount val="4"/>
              <c:pt idx="0">
                <c:v>2023 FY</c:v>
              </c:pt>
              <c:pt idx="1">
                <c:v>2024 FY</c:v>
              </c:pt>
              <c:pt idx="2">
                <c:v>2025 FY</c:v>
              </c:pt>
              <c:pt idx="3">
                <c:v>2026 jan–jun</c:v>
              </c:pt>
            </c:strLit>
          </c:cat>
          <c:val>
            <c:numLit>
              <c:formatCode>0.0</c:formatCode>
              <c:ptCount val="4"/>
              <c:pt idx="0">
                <c:v>47.70970732449912</c:v>
              </c:pt>
              <c:pt idx="1">
                <c:v>61.35438150259683</c:v>
              </c:pt>
              <c:pt idx="2">
                <c:v>49.37089080745136</c:v>
              </c:pt>
              <c:pt idx="3">
                <c:v>20.3</c:v>
              </c:pt>
            </c:numLit>
          </c:val>
        </c:ser>
        <c:ser>
          <c:idx val="3"/>
          <c:order val="3"/>
          <c:tx>
            <c:v>Notas comerciais</c:v>
          </c:tx>
          <c:spPr>
            <a:solidFill>
              <a:srgbClr val="8D9399"/>
            </a:solidFill>
          </c:spPr>
          <c:cat>
            <c:strLit>
              <c:ptCount val="4"/>
              <c:pt idx="0">
                <c:v>2023 FY</c:v>
              </c:pt>
              <c:pt idx="1">
                <c:v>2024 FY</c:v>
              </c:pt>
              <c:pt idx="2">
                <c:v>2025 FY</c:v>
              </c:pt>
              <c:pt idx="3">
                <c:v>2026 jan–jun</c:v>
              </c:pt>
            </c:strLit>
          </c:cat>
          <c:val>
            <c:numLit>
              <c:formatCode>0.0</c:formatCode>
              <c:ptCount val="4"/>
              <c:pt idx="0">
                <c:v>27.907646005</c:v>
              </c:pt>
              <c:pt idx="1">
                <c:v>43.5623695</c:v>
              </c:pt>
              <c:pt idx="2">
                <c:v>51.792395853</c:v>
              </c:pt>
              <c:pt idx="3">
                <c:v>27.1</c:v>
              </c:pt>
            </c:numLit>
          </c:val>
        </c:ser>
        <c:ser>
          <c:idx val="4"/>
          <c:order val="4"/>
          <c:tx>
            <c:v>CRA</c:v>
          </c:tx>
          <c:spPr>
            <a:solidFill>
              <a:srgbClr val="D7DADD"/>
            </a:solidFill>
          </c:spPr>
          <c:cat>
            <c:strLit>
              <c:ptCount val="4"/>
              <c:pt idx="0">
                <c:v>2023 FY</c:v>
              </c:pt>
              <c:pt idx="1">
                <c:v>2024 FY</c:v>
              </c:pt>
              <c:pt idx="2">
                <c:v>2025 FY</c:v>
              </c:pt>
              <c:pt idx="3">
                <c:v>2026 jan–jun</c:v>
              </c:pt>
            </c:strLit>
          </c:cat>
          <c:val>
            <c:numLit>
              <c:formatCode>0.0</c:formatCode>
              <c:ptCount val="4"/>
              <c:pt idx="0">
                <c:v>43.29453785729</c:v>
              </c:pt>
              <c:pt idx="1">
                <c:v>41.564214397</c:v>
              </c:pt>
              <c:pt idx="2">
                <c:v>46.16839518391086</c:v>
              </c:pt>
              <c:pt idx="3">
                <c:v>7.1</c:v>
              </c:pt>
            </c:numLit>
          </c:val>
        </c:ser>
        <c:gapWidth val="34"/>
        <c:axId val="48650112"/>
        <c:axId val="48672768"/>
      </c:barChart>
      <c:catAx>
        <c:axId val="48650112"/>
        <c:scaling>
          <c:orientation val="minMax"/>
        </c:scaling>
        <c:delete val="0"/>
        <c:axPos val="b"/>
        <c:numFmt formatCode="General"/>
        <c:majorTickMark val="none"/>
        <c:minorTickMark val="none"/>
        <c:spPr>
          <a:ln w="9525">
            <a:solidFill>
              <a:srgbClr val="D7DADD"/>
            </a:solidFill>
            <a:prstDash val="solid"/>
          </a:ln>
        </c:spPr>
        <c:txPr>
          <a:bodyPr anchorCtr="1"/>
          <a:lstStyle/>
          <a:p>
            <a:pPr>
              <a:defRPr sz="1000" lang="pt-BR">
                <a:solidFill>
                  <a:srgbClr val="73787D"/>
                </a:solidFill>
              </a:defRPr>
            </a:pPr>
          </a:p>
        </c:txPr>
        <c:crossAx val="48672768"/>
        <c:lblAlgn val="ctr"/>
        <c:lblOffset val="100"/>
        <c:noMultiLvlLbl val="0"/>
      </c:catAx>
      <c:valAx>
        <c:axId val="48672768"/>
        <c:scaling>
          <c:orientation val="minMax"/>
          <c:min val="0"/>
        </c:scaling>
        <c:delete val="0"/>
        <c:axPos val="l"/>
        <c:majorGridlines>
          <c:spPr>
            <a:ln w="9525">
              <a:solidFill>
                <a:srgbClr val="E7E9EB"/>
              </a:solidFill>
              <a:prstDash val="solid"/>
            </a:ln>
          </c:spPr>
        </c:majorGridlines>
        <c:numFmt formatCode="0"/>
        <c:majorTickMark val="none"/>
        <c:minorTickMark val="none"/>
        <c:spPr>
          <a:ln w="9525">
            <a:solidFill>
              <a:srgbClr val="D7DADD"/>
            </a:solidFill>
            <a:prstDash val="solid"/>
          </a:ln>
        </c:spPr>
        <c:txPr>
          <a:bodyPr anchorCtr="1"/>
          <a:lstStyle/>
          <a:p>
            <a:pPr>
              <a:defRPr sz="1000" lang="pt-BR">
                <a:solidFill>
                  <a:srgbClr val="8D9399"/>
                </a:solidFill>
              </a:defRPr>
            </a:pPr>
          </a:p>
        </c:txPr>
        <c:crossAx val="48650112"/>
        <c:crossBetween val="between"/>
      </c:valAx>
      <c:spPr>
        <a:noFill/>
        <a:ln w="0">
          <a:noFill/>
          <a:prstDash val="solid"/>
        </a:ln>
      </c:spPr>
    </c:plotArea>
    <c:legend>
      <c:legendPos val="b"/>
      <c:overlay val="0"/>
      <c:txPr>
        <a:bodyPr anchorCtr="1"/>
        <a:lstStyle/>
        <a:p>
          <a:pPr>
            <a:defRPr sz="1000" lang="pt-BR">
              <a:solidFill>
                <a:srgbClr val="73787D"/>
              </a:solidFill>
            </a:defRPr>
          </a:pPr>
        </a:p>
      </c:txPr>
    </c:legend>
    <c:plotVisOnly val="1"/>
  </c:chart>
  <c:spPr>
    <a:noFill/>
    <a:ln w="0">
      <a:noFill/>
      <a:prstDash val="solid"/>
    </a:ln>
  </c:spPr>
</c:chartSpace>
</file>

<file path=ppt/slides/charts/chart6.xml><?xml version="1.0" encoding="utf-8"?>
<c:chartSpace xmlns:a="http://schemas.openxmlformats.org/drawingml/2006/main" xmlns:c="http://schemas.openxmlformats.org/drawingml/2006/chart">
  <c:lang val="pt-BR"/>
  <c:chart>
    <c:plotArea>
      <c:barChart>
        <c:barDir val="col"/>
        <c:grouping val="stacked"/>
        <c:varyColors val="0"/>
        <c:ser>
          <c:idx val="0"/>
          <c:order val="0"/>
          <c:tx>
            <c:v>Fomento Mercantil</c:v>
          </c:tx>
          <c:spPr>
            <a:solidFill>
              <a:srgbClr val="73787D"/>
            </a:solidFill>
          </c:spPr>
          <c:dLbls>
            <c:dLbl>
              <c:idx val="0"/>
              <c:txPr>
                <a:bodyPr anchorCtr="1"/>
                <a:lstStyle/>
                <a:p>
                  <a:pPr>
                    <a:defRPr sz="1200" b="1" lang="pt-BR">
                      <a:solidFill>
                        <a:srgbClr val="FFFFFF"/>
                      </a:solidFill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"/>
              <c:txPr>
                <a:bodyPr anchorCtr="1"/>
                <a:lstStyle/>
                <a:p>
                  <a:pPr>
                    <a:defRPr sz="1200" b="1" lang="pt-BR">
                      <a:solidFill>
                        <a:srgbClr val="FFFFFF"/>
                      </a:solidFill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2"/>
              <c:txPr>
                <a:bodyPr anchorCtr="1"/>
                <a:lstStyle/>
                <a:p>
                  <a:pPr>
                    <a:defRPr sz="1200" b="1" lang="pt-BR">
                      <a:solidFill>
                        <a:srgbClr val="FFFFFF"/>
                      </a:solidFill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3"/>
              <c:txPr>
                <a:bodyPr anchorCtr="1"/>
                <a:lstStyle/>
                <a:p>
                  <a:pPr>
                    <a:defRPr sz="1200" b="1" lang="pt-BR">
                      <a:solidFill>
                        <a:srgbClr val="FFFFFF"/>
                      </a:solidFill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</c:dLbls>
          <c:cat>
            <c:strLit>
              <c:ptCount val="4"/>
              <c:pt idx="0">
                <c:v>dez/23</c:v>
              </c:pt>
              <c:pt idx="1">
                <c:v>dez/24</c:v>
              </c:pt>
              <c:pt idx="2">
                <c:v>dez/25</c:v>
              </c:pt>
              <c:pt idx="3">
                <c:v>jun/26</c:v>
              </c:pt>
            </c:strLit>
          </c:cat>
          <c:val>
            <c:numLit>
              <c:formatCode>0.0</c:formatCode>
              <c:ptCount val="4"/>
              <c:pt idx="0">
                <c:v>53.039866746449995</c:v>
              </c:pt>
              <c:pt idx="1">
                <c:v>66.99363287149</c:v>
              </c:pt>
              <c:pt idx="2">
                <c:v>84.0510959145</c:v>
              </c:pt>
              <c:pt idx="3">
                <c:v>88.39237477025999</c:v>
              </c:pt>
            </c:numLit>
          </c:val>
        </c:ser>
        <c:ser>
          <c:idx val="1"/>
          <c:order val="1"/>
          <c:tx>
            <c:v>Agro, Indústria e Comércio</c:v>
          </c:tx>
          <c:spPr>
            <a:solidFill>
              <a:srgbClr val="0A3B00"/>
            </a:solidFill>
          </c:spPr>
          <c:dLbls>
            <c:dLbl>
              <c:idx val="0"/>
              <c:txPr>
                <a:bodyPr anchorCtr="1"/>
                <a:lstStyle/>
                <a:p>
                  <a:pPr>
                    <a:defRPr sz="1200" b="1" lang="pt-BR">
                      <a:solidFill>
                        <a:srgbClr val="FFFFFF"/>
                      </a:solidFill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"/>
              <c:txPr>
                <a:bodyPr anchorCtr="1"/>
                <a:lstStyle/>
                <a:p>
                  <a:pPr>
                    <a:defRPr sz="1200" b="1" lang="pt-BR">
                      <a:solidFill>
                        <a:srgbClr val="FFFFFF"/>
                      </a:solidFill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2"/>
              <c:txPr>
                <a:bodyPr anchorCtr="1"/>
                <a:lstStyle/>
                <a:p>
                  <a:pPr>
                    <a:defRPr sz="1200" b="1" lang="pt-BR">
                      <a:solidFill>
                        <a:srgbClr val="FFFFFF"/>
                      </a:solidFill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3"/>
              <c:txPr>
                <a:bodyPr anchorCtr="1"/>
                <a:lstStyle/>
                <a:p>
                  <a:pPr>
                    <a:defRPr sz="1200" b="1" lang="pt-BR">
                      <a:solidFill>
                        <a:srgbClr val="FFFFFF"/>
                      </a:solidFill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</c:dLbls>
          <c:cat>
            <c:strLit>
              <c:ptCount val="4"/>
              <c:pt idx="0">
                <c:v>dez/23</c:v>
              </c:pt>
              <c:pt idx="1">
                <c:v>dez/24</c:v>
              </c:pt>
              <c:pt idx="2">
                <c:v>dez/25</c:v>
              </c:pt>
              <c:pt idx="3">
                <c:v>jun/26</c:v>
              </c:pt>
            </c:strLit>
          </c:cat>
          <c:val>
            <c:numLit>
              <c:formatCode>0.0</c:formatCode>
              <c:ptCount val="4"/>
              <c:pt idx="0">
                <c:v>125.75306408053</c:v>
              </c:pt>
              <c:pt idx="1">
                <c:v>202.59161148926998</c:v>
              </c:pt>
              <c:pt idx="2">
                <c:v>196.2844728819</c:v>
              </c:pt>
              <c:pt idx="3">
                <c:v>203.88586814410002</c:v>
              </c:pt>
            </c:numLit>
          </c:val>
        </c:ser>
        <c:ser>
          <c:idx val="2"/>
          <c:order val="2"/>
          <c:tx>
            <c:v>Financeiro</c:v>
          </c:tx>
          <c:spPr>
            <a:solidFill>
              <a:srgbClr val="EC7000"/>
            </a:solidFill>
          </c:spPr>
          <c:dLbls>
            <c:dLbl>
              <c:idx val="0"/>
              <c:txPr>
                <a:bodyPr anchorCtr="1"/>
                <a:lstStyle/>
                <a:p>
                  <a:pPr>
                    <a:defRPr sz="1200" b="1" lang="pt-BR">
                      <a:solidFill>
                        <a:srgbClr val="FFFFFF"/>
                      </a:solidFill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"/>
              <c:txPr>
                <a:bodyPr anchorCtr="1"/>
                <a:lstStyle/>
                <a:p>
                  <a:pPr>
                    <a:defRPr sz="1200" b="1" lang="pt-BR">
                      <a:solidFill>
                        <a:srgbClr val="FFFFFF"/>
                      </a:solidFill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2"/>
              <c:txPr>
                <a:bodyPr anchorCtr="1"/>
                <a:lstStyle/>
                <a:p>
                  <a:pPr>
                    <a:defRPr sz="1200" b="1" lang="pt-BR">
                      <a:solidFill>
                        <a:srgbClr val="FFFFFF"/>
                      </a:solidFill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3"/>
              <c:txPr>
                <a:bodyPr anchorCtr="1"/>
                <a:lstStyle/>
                <a:p>
                  <a:pPr>
                    <a:defRPr sz="1200" b="1" lang="pt-BR">
                      <a:solidFill>
                        <a:srgbClr val="FFFFFF"/>
                      </a:solidFill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</c:dLbls>
          <c:cat>
            <c:strLit>
              <c:ptCount val="4"/>
              <c:pt idx="0">
                <c:v>dez/23</c:v>
              </c:pt>
              <c:pt idx="1">
                <c:v>dez/24</c:v>
              </c:pt>
              <c:pt idx="2">
                <c:v>dez/25</c:v>
              </c:pt>
              <c:pt idx="3">
                <c:v>jun/26</c:v>
              </c:pt>
            </c:strLit>
          </c:cat>
          <c:val>
            <c:numLit>
              <c:formatCode>0.0</c:formatCode>
              <c:ptCount val="4"/>
              <c:pt idx="0">
                <c:v>154.80414908435998</c:v>
              </c:pt>
              <c:pt idx="1">
                <c:v>213.08856712501998</c:v>
              </c:pt>
              <c:pt idx="2">
                <c:v>274.22322381616</c:v>
              </c:pt>
              <c:pt idx="3">
                <c:v>323.89315872231</c:v>
              </c:pt>
            </c:numLit>
          </c:val>
        </c:ser>
        <c:ser>
          <c:idx val="3"/>
          <c:order val="3"/>
          <c:tx>
            <c:v>Precatórios / ações</c:v>
          </c:tx>
          <c:spPr>
            <a:solidFill>
              <a:srgbClr val="151515"/>
            </a:solidFill>
          </c:spPr>
          <c:dLbls>
            <c:dLbl>
              <c:idx val="0"/>
              <c:txPr>
                <a:bodyPr anchorCtr="1"/>
                <a:lstStyle/>
                <a:p>
                  <a:pPr>
                    <a:defRPr sz="1200" b="1" lang="pt-BR">
                      <a:solidFill>
                        <a:srgbClr val="FFFFFF"/>
                      </a:solidFill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"/>
              <c:txPr>
                <a:bodyPr anchorCtr="1"/>
                <a:lstStyle/>
                <a:p>
                  <a:pPr>
                    <a:defRPr sz="1200" b="1" lang="pt-BR">
                      <a:solidFill>
                        <a:srgbClr val="FFFFFF"/>
                      </a:solidFill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2"/>
              <c:txPr>
                <a:bodyPr anchorCtr="1"/>
                <a:lstStyle/>
                <a:p>
                  <a:pPr>
                    <a:defRPr sz="1200" b="1" lang="pt-BR">
                      <a:solidFill>
                        <a:srgbClr val="FFFFFF"/>
                      </a:solidFill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3"/>
              <c:txPr>
                <a:bodyPr anchorCtr="1"/>
                <a:lstStyle/>
                <a:p>
                  <a:pPr>
                    <a:defRPr sz="1200" b="1" lang="pt-BR">
                      <a:solidFill>
                        <a:srgbClr val="FFFFFF"/>
                      </a:solidFill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</c:dLbls>
          <c:cat>
            <c:strLit>
              <c:ptCount val="4"/>
              <c:pt idx="0">
                <c:v>dez/23</c:v>
              </c:pt>
              <c:pt idx="1">
                <c:v>dez/24</c:v>
              </c:pt>
              <c:pt idx="2">
                <c:v>dez/25</c:v>
              </c:pt>
              <c:pt idx="3">
                <c:v>jun/26</c:v>
              </c:pt>
            </c:strLit>
          </c:cat>
          <c:val>
            <c:numLit>
              <c:formatCode>0.0</c:formatCode>
              <c:ptCount val="4"/>
              <c:pt idx="0">
                <c:v>54.146878333349996</c:v>
              </c:pt>
              <c:pt idx="1">
                <c:v>71.53991117332</c:v>
              </c:pt>
              <c:pt idx="2">
                <c:v>92.67004840915</c:v>
              </c:pt>
              <c:pt idx="3">
                <c:v>81.84740187933001</c:v>
              </c:pt>
            </c:numLit>
          </c:val>
        </c:ser>
        <c:ser>
          <c:idx val="4"/>
          <c:order val="4"/>
          <c:tx>
            <c:v>Multicedente / multisacado</c:v>
          </c:tx>
          <c:spPr>
            <a:solidFill>
              <a:srgbClr val="7030A0"/>
            </a:solidFill>
          </c:spPr>
          <c:dLbls>
            <c:dLbl>
              <c:idx val="0"/>
              <c:txPr>
                <a:bodyPr anchorCtr="1"/>
                <a:lstStyle/>
                <a:p>
                  <a:pPr>
                    <a:defRPr sz="1200" b="1" lang="pt-BR">
                      <a:solidFill>
                        <a:srgbClr val="FFFFFF"/>
                      </a:solidFill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"/>
              <c:txPr>
                <a:bodyPr anchorCtr="1"/>
                <a:lstStyle/>
                <a:p>
                  <a:pPr>
                    <a:defRPr sz="1200" b="1" lang="pt-BR">
                      <a:solidFill>
                        <a:srgbClr val="FFFFFF"/>
                      </a:solidFill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2"/>
              <c:txPr>
                <a:bodyPr anchorCtr="1"/>
                <a:lstStyle/>
                <a:p>
                  <a:pPr>
                    <a:defRPr sz="1200" b="1" lang="pt-BR">
                      <a:solidFill>
                        <a:srgbClr val="FFFFFF"/>
                      </a:solidFill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3"/>
              <c:txPr>
                <a:bodyPr anchorCtr="1"/>
                <a:lstStyle/>
                <a:p>
                  <a:pPr>
                    <a:defRPr sz="1200" b="1" lang="pt-BR">
                      <a:solidFill>
                        <a:srgbClr val="FFFFFF"/>
                      </a:solidFill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</c:dLbls>
          <c:cat>
            <c:strLit>
              <c:ptCount val="4"/>
              <c:pt idx="0">
                <c:v>dez/23</c:v>
              </c:pt>
              <c:pt idx="1">
                <c:v>dez/24</c:v>
              </c:pt>
              <c:pt idx="2">
                <c:v>dez/25</c:v>
              </c:pt>
              <c:pt idx="3">
                <c:v>jun/26</c:v>
              </c:pt>
            </c:strLit>
          </c:cat>
          <c:val>
            <c:numLit>
              <c:formatCode>0.0</c:formatCode>
              <c:ptCount val="4"/>
              <c:pt idx="0">
                <c:v>42.82259619404</c:v>
              </c:pt>
              <c:pt idx="1">
                <c:v>63.3543770927</c:v>
              </c:pt>
              <c:pt idx="2">
                <c:v>90.8173192781</c:v>
              </c:pt>
              <c:pt idx="3">
                <c:v>86.50477887798</c:v>
              </c:pt>
            </c:numLit>
          </c:val>
        </c:ser>
        <c:ser>
          <c:idx val="5"/>
          <c:order val="5"/>
          <c:tx>
            <c:v>Recuperação / NP</c:v>
          </c:tx>
          <c:spPr>
            <a:solidFill>
              <a:srgbClr val="E7E9EB"/>
            </a:solidFill>
          </c:spPr>
          <c:dLbls>
            <c:dLbl>
              <c:idx val="0"/>
              <c:txPr>
                <a:bodyPr anchorCtr="1"/>
                <a:lstStyle/>
                <a:p>
                  <a:pPr>
                    <a:defRPr sz="1200" b="1" lang="pt-BR">
                      <a:solidFill>
                        <a:srgbClr val="151515"/>
                      </a:solidFill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"/>
              <c:txPr>
                <a:bodyPr anchorCtr="1"/>
                <a:lstStyle/>
                <a:p>
                  <a:pPr>
                    <a:defRPr sz="1200" b="1" lang="pt-BR">
                      <a:solidFill>
                        <a:srgbClr val="151515"/>
                      </a:solidFill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2"/>
              <c:txPr>
                <a:bodyPr anchorCtr="1"/>
                <a:lstStyle/>
                <a:p>
                  <a:pPr>
                    <a:defRPr sz="1200" b="1" lang="pt-BR">
                      <a:solidFill>
                        <a:srgbClr val="151515"/>
                      </a:solidFill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3"/>
              <c:txPr>
                <a:bodyPr anchorCtr="1"/>
                <a:lstStyle/>
                <a:p>
                  <a:pPr>
                    <a:defRPr sz="1200" b="1" lang="pt-BR">
                      <a:solidFill>
                        <a:srgbClr val="151515"/>
                      </a:solidFill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</c:dLbls>
          <c:cat>
            <c:strLit>
              <c:ptCount val="4"/>
              <c:pt idx="0">
                <c:v>dez/23</c:v>
              </c:pt>
              <c:pt idx="1">
                <c:v>dez/24</c:v>
              </c:pt>
              <c:pt idx="2">
                <c:v>dez/25</c:v>
              </c:pt>
              <c:pt idx="3">
                <c:v>jun/26</c:v>
              </c:pt>
            </c:strLit>
          </c:cat>
          <c:val>
            <c:numLit>
              <c:formatCode>0.0</c:formatCode>
              <c:ptCount val="4"/>
              <c:pt idx="0">
                <c:v>21.275962572810002</c:v>
              </c:pt>
              <c:pt idx="1">
                <c:v>33.66266718072</c:v>
              </c:pt>
              <c:pt idx="2">
                <c:v>33.97906413178</c:v>
              </c:pt>
              <c:pt idx="3">
                <c:v>35.199286782529995</c:v>
              </c:pt>
            </c:numLit>
          </c:val>
        </c:ser>
        <c:ser>
          <c:idx val="6"/>
          <c:order val="6"/>
          <c:tx>
            <c:v>N/D</c:v>
          </c:tx>
          <c:spPr>
            <a:solidFill>
              <a:srgbClr val="D7DADD"/>
            </a:solidFill>
          </c:spPr>
          <c:dLbls>
            <c:dLbl>
              <c:idx val="0"/>
              <c:txPr>
                <a:bodyPr anchorCtr="1"/>
                <a:lstStyle/>
                <a:p>
                  <a:pPr>
                    <a:defRPr sz="1200" b="1" lang="pt-BR">
                      <a:solidFill>
                        <a:srgbClr val="151515"/>
                      </a:solidFill>
                    </a:defRPr>
                  </a:pPr>
                </a:p>
              </c:txPr>
              <c:dLblPos val="ctr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1"/>
              <c:txPr>
                <a:bodyPr anchorCtr="1"/>
                <a:lstStyle/>
                <a:p>
                  <a:pPr>
                    <a:defRPr sz="1200" b="1" lang="pt-BR">
                      <a:solidFill>
                        <a:srgbClr val="151515"/>
                      </a:solidFill>
                    </a:defRPr>
                  </a:pPr>
                </a:p>
              </c:txPr>
              <c:dLblPos val="ctr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2"/>
              <c:txPr>
                <a:bodyPr anchorCtr="1"/>
                <a:lstStyle/>
                <a:p>
                  <a:pPr>
                    <a:defRPr sz="1200" b="1" lang="pt-BR">
                      <a:solidFill>
                        <a:srgbClr val="151515"/>
                      </a:solidFill>
                    </a:defRPr>
                  </a:pPr>
                </a:p>
              </c:txPr>
              <c:dLblPos val="ctr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3"/>
              <c:txPr>
                <a:bodyPr anchorCtr="1"/>
                <a:lstStyle/>
                <a:p>
                  <a:pPr>
                    <a:defRPr sz="1200" b="1" lang="pt-BR">
                      <a:solidFill>
                        <a:srgbClr val="151515"/>
                      </a:solidFill>
                    </a:defRPr>
                  </a:pPr>
                </a:p>
              </c:txPr>
              <c:dLblPos val="ctr"/>
              <c:showLegendKey val="0"/>
              <c:showVal val="0"/>
              <c:showCatName val="0"/>
              <c:showSerName val="0"/>
              <c:showPercent val="0"/>
              <c:showBubbleSize val="0"/>
            </c:dLbl>
          </c:dLbls>
          <c:cat>
            <c:strLit>
              <c:ptCount val="4"/>
              <c:pt idx="0">
                <c:v>dez/23</c:v>
              </c:pt>
              <c:pt idx="1">
                <c:v>dez/24</c:v>
              </c:pt>
              <c:pt idx="2">
                <c:v>dez/25</c:v>
              </c:pt>
              <c:pt idx="3">
                <c:v>jun/26</c:v>
              </c:pt>
            </c:strLit>
          </c:cat>
          <c:val>
            <c:numLit>
              <c:formatCode>0.0</c:formatCode>
              <c:ptCount val="4"/>
              <c:pt idx="0">
                <c:v>0.49252270908</c:v>
              </c:pt>
              <c:pt idx="1">
                <c:v>0.22197586638</c:v>
              </c:pt>
              <c:pt idx="2">
                <c:v>0.08320776646</c:v>
              </c:pt>
              <c:pt idx="3">
                <c:v>1.63869010794</c:v>
              </c:pt>
            </c:numLit>
          </c:val>
        </c:ser>
        <c:dLbls>
          <c:txPr>
            <a:bodyPr anchorCtr="1"/>
            <a:lstStyle/>
            <a:p>
              <a:pPr>
                <a:defRPr sz="1200" lang="pt-BR"/>
              </a:pPr>
            </a:p>
          </c:txPr>
          <c:dLblPos val="ctr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48"/>
        <c:overlap val="100"/>
        <c:axId val="48650112"/>
        <c:axId val="48672768"/>
      </c:barChart>
      <c:catAx>
        <c:axId val="48650112"/>
        <c:scaling>
          <c:orientation val="minMax"/>
        </c:scaling>
        <c:delete val="0"/>
        <c:axPos val="b"/>
        <c:numFmt formatCode="General"/>
        <c:majorTickMark val="none"/>
        <c:minorTickMark val="none"/>
        <c:spPr>
          <a:ln w="9525">
            <a:solidFill>
              <a:srgbClr val="D7DADD"/>
            </a:solidFill>
            <a:prstDash val="solid"/>
          </a:ln>
        </c:spPr>
        <c:txPr>
          <a:bodyPr anchorCtr="1"/>
          <a:lstStyle/>
          <a:p>
            <a:pPr>
              <a:defRPr sz="1000" lang="pt-BR">
                <a:solidFill>
                  <a:srgbClr val="73787D"/>
                </a:solidFill>
              </a:defRPr>
            </a:pPr>
          </a:p>
        </c:txPr>
        <c:crossAx val="48672768"/>
        <c:lblAlgn val="ctr"/>
        <c:lblOffset val="100"/>
        <c:noMultiLvlLbl val="0"/>
      </c:catAx>
      <c:valAx>
        <c:axId val="48672768"/>
        <c:scaling>
          <c:orientation val="minMax"/>
          <c:min val="0"/>
        </c:scaling>
        <c:delete val="0"/>
        <c:axPos val="l"/>
        <c:majorGridlines>
          <c:spPr>
            <a:ln w="9525">
              <a:solidFill>
                <a:srgbClr val="E7E9EB"/>
              </a:solidFill>
              <a:prstDash val="solid"/>
            </a:ln>
          </c:spPr>
        </c:majorGridlines>
        <c:numFmt formatCode="0"/>
        <c:majorTickMark val="none"/>
        <c:minorTickMark val="none"/>
        <c:spPr>
          <a:ln w="9525">
            <a:solidFill>
              <a:srgbClr val="D7DADD"/>
            </a:solidFill>
            <a:prstDash val="solid"/>
          </a:ln>
        </c:spPr>
        <c:txPr>
          <a:bodyPr anchorCtr="1"/>
          <a:lstStyle/>
          <a:p>
            <a:pPr>
              <a:defRPr sz="1000" lang="pt-BR">
                <a:solidFill>
                  <a:srgbClr val="8D9399"/>
                </a:solidFill>
              </a:defRPr>
            </a:pPr>
          </a:p>
        </c:txPr>
        <c:crossAx val="48650112"/>
        <c:crossBetween val="between"/>
      </c:valAx>
      <c:spPr>
        <a:noFill/>
        <a:ln w="0">
          <a:noFill/>
          <a:prstDash val="solid"/>
        </a:ln>
      </c:spPr>
    </c:plotArea>
    <c:plotVisOnly val="1"/>
  </c:chart>
  <c:spPr>
    <a:noFill/>
    <a:ln w="0">
      <a:noFill/>
      <a:prstDash val="solid"/>
    </a:ln>
  </c:spPr>
</c:chartSpace>
</file>

<file path=ppt/slides/charts/chart7.xml><?xml version="1.0" encoding="utf-8"?>
<c:chartSpace xmlns:a="http://schemas.openxmlformats.org/drawingml/2006/main" xmlns:c="http://schemas.openxmlformats.org/drawingml/2006/chart">
  <c:lang val="pt-BR"/>
  <c:chart>
    <c:plotArea>
      <c:barChart>
        <c:barDir val="col"/>
        <c:grouping val="percentStacked"/>
        <c:varyColors val="0"/>
        <c:ser>
          <c:idx val="0"/>
          <c:order val="0"/>
          <c:tx>
            <c:v>Fomento Mercantil</c:v>
          </c:tx>
          <c:spPr>
            <a:solidFill>
              <a:srgbClr val="73787D"/>
            </a:solidFill>
          </c:spPr>
          <c:dLbls>
            <c:dLbl>
              <c:idx val="0"/>
              <c:txPr>
                <a:bodyPr anchorCtr="1"/>
                <a:lstStyle/>
                <a:p>
                  <a:pPr>
                    <a:defRPr sz="1200" b="1" lang="pt-BR">
                      <a:solidFill>
                        <a:srgbClr val="FFFFFF"/>
                      </a:solidFill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"/>
              <c:txPr>
                <a:bodyPr anchorCtr="1"/>
                <a:lstStyle/>
                <a:p>
                  <a:pPr>
                    <a:defRPr sz="1200" b="1" lang="pt-BR">
                      <a:solidFill>
                        <a:srgbClr val="FFFFFF"/>
                      </a:solidFill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2"/>
              <c:txPr>
                <a:bodyPr anchorCtr="1"/>
                <a:lstStyle/>
                <a:p>
                  <a:pPr>
                    <a:defRPr sz="1200" b="1" lang="pt-BR">
                      <a:solidFill>
                        <a:srgbClr val="FFFFFF"/>
                      </a:solidFill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3"/>
              <c:txPr>
                <a:bodyPr anchorCtr="1"/>
                <a:lstStyle/>
                <a:p>
                  <a:pPr>
                    <a:defRPr sz="1200" b="1" lang="pt-BR">
                      <a:solidFill>
                        <a:srgbClr val="FFFFFF"/>
                      </a:solidFill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</c:dLbls>
          <c:cat>
            <c:strLit>
              <c:ptCount val="4"/>
              <c:pt idx="0">
                <c:v>dez/23</c:v>
              </c:pt>
              <c:pt idx="1">
                <c:v>dez/24</c:v>
              </c:pt>
              <c:pt idx="2">
                <c:v>dez/25</c:v>
              </c:pt>
              <c:pt idx="3">
                <c:v>jun/26</c:v>
              </c:pt>
            </c:strLit>
          </c:cat>
          <c:val>
            <c:numLit>
              <c:formatCode>0.0%</c:formatCode>
              <c:ptCount val="4"/>
              <c:pt idx="0">
                <c:v>0.11725792186961576</c:v>
              </c:pt>
              <c:pt idx="1">
                <c:v>0.10283728729678644</c:v>
              </c:pt>
              <c:pt idx="2">
                <c:v>0.10885918662385549</c:v>
              </c:pt>
              <c:pt idx="3">
                <c:v>0.10761688780184121</c:v>
              </c:pt>
            </c:numLit>
          </c:val>
        </c:ser>
        <c:ser>
          <c:idx val="1"/>
          <c:order val="1"/>
          <c:tx>
            <c:v>Agro, Indústria e Comércio</c:v>
          </c:tx>
          <c:spPr>
            <a:solidFill>
              <a:srgbClr val="0A3B00"/>
            </a:solidFill>
          </c:spPr>
          <c:dLbls>
            <c:dLbl>
              <c:idx val="0"/>
              <c:txPr>
                <a:bodyPr anchorCtr="1"/>
                <a:lstStyle/>
                <a:p>
                  <a:pPr>
                    <a:defRPr sz="1200" b="1" lang="pt-BR">
                      <a:solidFill>
                        <a:srgbClr val="FFFFFF"/>
                      </a:solidFill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"/>
              <c:txPr>
                <a:bodyPr anchorCtr="1"/>
                <a:lstStyle/>
                <a:p>
                  <a:pPr>
                    <a:defRPr sz="1200" b="1" lang="pt-BR">
                      <a:solidFill>
                        <a:srgbClr val="FFFFFF"/>
                      </a:solidFill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2"/>
              <c:txPr>
                <a:bodyPr anchorCtr="1"/>
                <a:lstStyle/>
                <a:p>
                  <a:pPr>
                    <a:defRPr sz="1200" b="1" lang="pt-BR">
                      <a:solidFill>
                        <a:srgbClr val="FFFFFF"/>
                      </a:solidFill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3"/>
              <c:txPr>
                <a:bodyPr anchorCtr="1"/>
                <a:lstStyle/>
                <a:p>
                  <a:pPr>
                    <a:defRPr sz="1200" b="1" lang="pt-BR">
                      <a:solidFill>
                        <a:srgbClr val="FFFFFF"/>
                      </a:solidFill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</c:dLbls>
          <c:cat>
            <c:strLit>
              <c:ptCount val="4"/>
              <c:pt idx="0">
                <c:v>dez/23</c:v>
              </c:pt>
              <c:pt idx="1">
                <c:v>dez/24</c:v>
              </c:pt>
              <c:pt idx="2">
                <c:v>dez/25</c:v>
              </c:pt>
              <c:pt idx="3">
                <c:v>jun/26</c:v>
              </c:pt>
            </c:strLit>
          </c:cat>
          <c:val>
            <c:numLit>
              <c:formatCode>0.0%</c:formatCode>
              <c:ptCount val="4"/>
              <c:pt idx="0">
                <c:v>0.2780086728593921</c:v>
              </c:pt>
              <c:pt idx="1">
                <c:v>0.31098435570146793</c:v>
              </c:pt>
              <c:pt idx="2">
                <c:v>0.25421879194236274</c:v>
              </c:pt>
              <c:pt idx="3">
                <c:v>0.24822913349112707</c:v>
              </c:pt>
            </c:numLit>
          </c:val>
        </c:ser>
        <c:ser>
          <c:idx val="2"/>
          <c:order val="2"/>
          <c:tx>
            <c:v>Financeiro</c:v>
          </c:tx>
          <c:spPr>
            <a:solidFill>
              <a:srgbClr val="EC7000"/>
            </a:solidFill>
          </c:spPr>
          <c:dLbls>
            <c:dLbl>
              <c:idx val="0"/>
              <c:txPr>
                <a:bodyPr anchorCtr="1"/>
                <a:lstStyle/>
                <a:p>
                  <a:pPr>
                    <a:defRPr sz="1200" b="1" lang="pt-BR">
                      <a:solidFill>
                        <a:srgbClr val="FFFFFF"/>
                      </a:solidFill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"/>
              <c:txPr>
                <a:bodyPr anchorCtr="1"/>
                <a:lstStyle/>
                <a:p>
                  <a:pPr>
                    <a:defRPr sz="1200" b="1" lang="pt-BR">
                      <a:solidFill>
                        <a:srgbClr val="FFFFFF"/>
                      </a:solidFill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2"/>
              <c:txPr>
                <a:bodyPr anchorCtr="1"/>
                <a:lstStyle/>
                <a:p>
                  <a:pPr>
                    <a:defRPr sz="1200" b="1" lang="pt-BR">
                      <a:solidFill>
                        <a:srgbClr val="FFFFFF"/>
                      </a:solidFill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3"/>
              <c:txPr>
                <a:bodyPr anchorCtr="1"/>
                <a:lstStyle/>
                <a:p>
                  <a:pPr>
                    <a:defRPr sz="1200" b="1" lang="pt-BR">
                      <a:solidFill>
                        <a:srgbClr val="FFFFFF"/>
                      </a:solidFill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</c:dLbls>
          <c:cat>
            <c:strLit>
              <c:ptCount val="4"/>
              <c:pt idx="0">
                <c:v>dez/23</c:v>
              </c:pt>
              <c:pt idx="1">
                <c:v>dez/24</c:v>
              </c:pt>
              <c:pt idx="2">
                <c:v>dez/25</c:v>
              </c:pt>
              <c:pt idx="3">
                <c:v>jun/26</c:v>
              </c:pt>
            </c:strLit>
          </c:cat>
          <c:val>
            <c:numLit>
              <c:formatCode>0.0%</c:formatCode>
              <c:ptCount val="4"/>
              <c:pt idx="0">
                <c:v>0.3422333790014878</c:v>
              </c:pt>
              <c:pt idx="1">
                <c:v>0.3270975055067031</c:v>
              </c:pt>
              <c:pt idx="2">
                <c:v>0.3551615451672988</c:v>
              </c:pt>
              <c:pt idx="3">
                <c:v>0.39433688496997327</c:v>
              </c:pt>
            </c:numLit>
          </c:val>
        </c:ser>
        <c:ser>
          <c:idx val="3"/>
          <c:order val="3"/>
          <c:tx>
            <c:v>Precatórios / ações</c:v>
          </c:tx>
          <c:spPr>
            <a:solidFill>
              <a:srgbClr val="151515"/>
            </a:solidFill>
          </c:spPr>
          <c:dLbls>
            <c:dLbl>
              <c:idx val="0"/>
              <c:txPr>
                <a:bodyPr anchorCtr="1"/>
                <a:lstStyle/>
                <a:p>
                  <a:pPr>
                    <a:defRPr sz="1200" b="1" lang="pt-BR">
                      <a:solidFill>
                        <a:srgbClr val="FFFFFF"/>
                      </a:solidFill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"/>
              <c:txPr>
                <a:bodyPr anchorCtr="1"/>
                <a:lstStyle/>
                <a:p>
                  <a:pPr>
                    <a:defRPr sz="1200" b="1" lang="pt-BR">
                      <a:solidFill>
                        <a:srgbClr val="FFFFFF"/>
                      </a:solidFill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2"/>
              <c:txPr>
                <a:bodyPr anchorCtr="1"/>
                <a:lstStyle/>
                <a:p>
                  <a:pPr>
                    <a:defRPr sz="1200" b="1" lang="pt-BR">
                      <a:solidFill>
                        <a:srgbClr val="FFFFFF"/>
                      </a:solidFill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3"/>
              <c:txPr>
                <a:bodyPr anchorCtr="1"/>
                <a:lstStyle/>
                <a:p>
                  <a:pPr>
                    <a:defRPr sz="1200" b="1" lang="pt-BR">
                      <a:solidFill>
                        <a:srgbClr val="FFFFFF"/>
                      </a:solidFill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</c:dLbls>
          <c:cat>
            <c:strLit>
              <c:ptCount val="4"/>
              <c:pt idx="0">
                <c:v>dez/23</c:v>
              </c:pt>
              <c:pt idx="1">
                <c:v>dez/24</c:v>
              </c:pt>
              <c:pt idx="2">
                <c:v>dez/25</c:v>
              </c:pt>
              <c:pt idx="3">
                <c:v>jun/26</c:v>
              </c:pt>
            </c:strLit>
          </c:cat>
          <c:val>
            <c:numLit>
              <c:formatCode>0.0%</c:formatCode>
              <c:ptCount val="4"/>
              <c:pt idx="0">
                <c:v>0.11970524849632089</c:v>
              </c:pt>
              <c:pt idx="1">
                <c:v>0.10981596434141346</c:v>
              </c:pt>
              <c:pt idx="2">
                <c:v>0.12002206496480745</c:v>
              </c:pt>
              <c:pt idx="3">
                <c:v>0.09964844465162633</c:v>
              </c:pt>
            </c:numLit>
          </c:val>
        </c:ser>
        <c:ser>
          <c:idx val="4"/>
          <c:order val="4"/>
          <c:tx>
            <c:v>Multicedente / multisacado</c:v>
          </c:tx>
          <c:spPr>
            <a:solidFill>
              <a:srgbClr val="7030A0"/>
            </a:solidFill>
          </c:spPr>
          <c:dLbls>
            <c:dLbl>
              <c:idx val="0"/>
              <c:txPr>
                <a:bodyPr anchorCtr="1"/>
                <a:lstStyle/>
                <a:p>
                  <a:pPr>
                    <a:defRPr sz="1200" b="1" lang="pt-BR">
                      <a:solidFill>
                        <a:srgbClr val="FFFFFF"/>
                      </a:solidFill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"/>
              <c:txPr>
                <a:bodyPr anchorCtr="1"/>
                <a:lstStyle/>
                <a:p>
                  <a:pPr>
                    <a:defRPr sz="1200" b="1" lang="pt-BR">
                      <a:solidFill>
                        <a:srgbClr val="FFFFFF"/>
                      </a:solidFill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2"/>
              <c:txPr>
                <a:bodyPr anchorCtr="1"/>
                <a:lstStyle/>
                <a:p>
                  <a:pPr>
                    <a:defRPr sz="1200" b="1" lang="pt-BR">
                      <a:solidFill>
                        <a:srgbClr val="FFFFFF"/>
                      </a:solidFill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3"/>
              <c:txPr>
                <a:bodyPr anchorCtr="1"/>
                <a:lstStyle/>
                <a:p>
                  <a:pPr>
                    <a:defRPr sz="1200" b="1" lang="pt-BR">
                      <a:solidFill>
                        <a:srgbClr val="FFFFFF"/>
                      </a:solidFill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</c:dLbls>
          <c:cat>
            <c:strLit>
              <c:ptCount val="4"/>
              <c:pt idx="0">
                <c:v>dez/23</c:v>
              </c:pt>
              <c:pt idx="1">
                <c:v>dez/24</c:v>
              </c:pt>
              <c:pt idx="2">
                <c:v>dez/25</c:v>
              </c:pt>
              <c:pt idx="3">
                <c:v>jun/26</c:v>
              </c:pt>
            </c:strLit>
          </c:cat>
          <c:val>
            <c:numLit>
              <c:formatCode>0.0%</c:formatCode>
              <c:ptCount val="4"/>
              <c:pt idx="0">
                <c:v>0.09467008397246636</c:v>
              </c:pt>
              <c:pt idx="1">
                <c:v>0.09725091772659426</c:v>
              </c:pt>
              <c:pt idx="2">
                <c:v>0.11762249379864934</c:v>
              </c:pt>
              <c:pt idx="3">
                <c:v>0.10531875749498289</c:v>
              </c:pt>
            </c:numLit>
          </c:val>
        </c:ser>
        <c:ser>
          <c:idx val="5"/>
          <c:order val="5"/>
          <c:tx>
            <c:v>Recuperação / NP</c:v>
          </c:tx>
          <c:spPr>
            <a:solidFill>
              <a:srgbClr val="E7E9EB"/>
            </a:solidFill>
          </c:spPr>
          <c:dLbls>
            <c:dLbl>
              <c:idx val="0"/>
              <c:txPr>
                <a:bodyPr anchorCtr="1"/>
                <a:lstStyle/>
                <a:p>
                  <a:pPr>
                    <a:defRPr sz="1200" b="1" lang="pt-BR">
                      <a:solidFill>
                        <a:srgbClr val="151515"/>
                      </a:solidFill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"/>
              <c:txPr>
                <a:bodyPr anchorCtr="1"/>
                <a:lstStyle/>
                <a:p>
                  <a:pPr>
                    <a:defRPr sz="1200" b="1" lang="pt-BR">
                      <a:solidFill>
                        <a:srgbClr val="151515"/>
                      </a:solidFill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2"/>
              <c:txPr>
                <a:bodyPr anchorCtr="1"/>
                <a:lstStyle/>
                <a:p>
                  <a:pPr>
                    <a:defRPr sz="1200" b="1" lang="pt-BR">
                      <a:solidFill>
                        <a:srgbClr val="151515"/>
                      </a:solidFill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3"/>
              <c:txPr>
                <a:bodyPr anchorCtr="1"/>
                <a:lstStyle/>
                <a:p>
                  <a:pPr>
                    <a:defRPr sz="1200" b="1" lang="pt-BR">
                      <a:solidFill>
                        <a:srgbClr val="151515"/>
                      </a:solidFill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</c:dLbls>
          <c:cat>
            <c:strLit>
              <c:ptCount val="4"/>
              <c:pt idx="0">
                <c:v>dez/23</c:v>
              </c:pt>
              <c:pt idx="1">
                <c:v>dez/24</c:v>
              </c:pt>
              <c:pt idx="2">
                <c:v>dez/25</c:v>
              </c:pt>
              <c:pt idx="3">
                <c:v>jun/26</c:v>
              </c:pt>
            </c:strLit>
          </c:cat>
          <c:val>
            <c:numLit>
              <c:formatCode>0.0%</c:formatCode>
              <c:ptCount val="4"/>
              <c:pt idx="0">
                <c:v>0.04703584888305553</c:v>
              </c:pt>
              <c:pt idx="1">
                <c:v>0.05167322964378321</c:v>
              </c:pt>
              <c:pt idx="2">
                <c:v>0.044008150558656485</c:v>
              </c:pt>
              <c:pt idx="3">
                <c:v>0.04285480174308955</c:v>
              </c:pt>
            </c:numLit>
          </c:val>
        </c:ser>
        <c:ser>
          <c:idx val="6"/>
          <c:order val="6"/>
          <c:tx>
            <c:v>N/D</c:v>
          </c:tx>
          <c:spPr>
            <a:solidFill>
              <a:srgbClr val="D7DADD"/>
            </a:solidFill>
          </c:spPr>
          <c:dLbls>
            <c:dLbl>
              <c:idx val="0"/>
              <c:txPr>
                <a:bodyPr anchorCtr="1"/>
                <a:lstStyle/>
                <a:p>
                  <a:pPr>
                    <a:defRPr sz="1200" b="1" lang="pt-BR">
                      <a:solidFill>
                        <a:srgbClr val="151515"/>
                      </a:solidFill>
                    </a:defRPr>
                  </a:pPr>
                </a:p>
              </c:txPr>
              <c:dLblPos val="ctr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1"/>
              <c:txPr>
                <a:bodyPr anchorCtr="1"/>
                <a:lstStyle/>
                <a:p>
                  <a:pPr>
                    <a:defRPr sz="1200" b="1" lang="pt-BR">
                      <a:solidFill>
                        <a:srgbClr val="151515"/>
                      </a:solidFill>
                    </a:defRPr>
                  </a:pPr>
                </a:p>
              </c:txPr>
              <c:dLblPos val="ctr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2"/>
              <c:txPr>
                <a:bodyPr anchorCtr="1"/>
                <a:lstStyle/>
                <a:p>
                  <a:pPr>
                    <a:defRPr sz="1200" b="1" lang="pt-BR">
                      <a:solidFill>
                        <a:srgbClr val="151515"/>
                      </a:solidFill>
                    </a:defRPr>
                  </a:pPr>
                </a:p>
              </c:txPr>
              <c:dLblPos val="ctr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3"/>
              <c:txPr>
                <a:bodyPr anchorCtr="1"/>
                <a:lstStyle/>
                <a:p>
                  <a:pPr>
                    <a:defRPr sz="1200" b="1" lang="pt-BR">
                      <a:solidFill>
                        <a:srgbClr val="151515"/>
                      </a:solidFill>
                    </a:defRPr>
                  </a:pPr>
                </a:p>
              </c:txPr>
              <c:dLblPos val="ctr"/>
              <c:showLegendKey val="0"/>
              <c:showVal val="0"/>
              <c:showCatName val="0"/>
              <c:showSerName val="0"/>
              <c:showPercent val="0"/>
              <c:showBubbleSize val="0"/>
            </c:dLbl>
          </c:dLbls>
          <c:cat>
            <c:strLit>
              <c:ptCount val="4"/>
              <c:pt idx="0">
                <c:v>dez/23</c:v>
              </c:pt>
              <c:pt idx="1">
                <c:v>dez/24</c:v>
              </c:pt>
              <c:pt idx="2">
                <c:v>dez/25</c:v>
              </c:pt>
              <c:pt idx="3">
                <c:v>jun/26</c:v>
              </c:pt>
            </c:strLit>
          </c:cat>
          <c:val>
            <c:numLit>
              <c:formatCode>0.0%</c:formatCode>
              <c:ptCount val="4"/>
              <c:pt idx="0">
                <c:v>0.0010888449176614783</c:v>
              </c:pt>
              <c:pt idx="1">
                <c:v>0.0003407397832516652</c:v>
              </c:pt>
              <c:pt idx="2">
                <c:v>0.00010776694436961769</c:v>
              </c:pt>
              <c:pt idx="3">
                <c:v>0.001995089847359775</c:v>
              </c:pt>
            </c:numLit>
          </c:val>
        </c:ser>
        <c:dLbls>
          <c:txPr>
            <a:bodyPr anchorCtr="1"/>
            <a:lstStyle/>
            <a:p>
              <a:pPr>
                <a:defRPr sz="1200" lang="pt-BR"/>
              </a:pPr>
            </a:p>
          </c:txPr>
          <c:dLblPos val="ctr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48"/>
        <c:overlap val="100"/>
        <c:axId val="48650112"/>
        <c:axId val="48672768"/>
      </c:barChart>
      <c:catAx>
        <c:axId val="48650112"/>
        <c:scaling>
          <c:orientation val="minMax"/>
        </c:scaling>
        <c:delete val="0"/>
        <c:axPos val="b"/>
        <c:numFmt formatCode="General"/>
        <c:majorTickMark val="none"/>
        <c:minorTickMark val="none"/>
        <c:spPr>
          <a:ln w="9525">
            <a:solidFill>
              <a:srgbClr val="D7DADD"/>
            </a:solidFill>
            <a:prstDash val="solid"/>
          </a:ln>
        </c:spPr>
        <c:txPr>
          <a:bodyPr anchorCtr="1"/>
          <a:lstStyle/>
          <a:p>
            <a:pPr>
              <a:defRPr sz="1000" lang="pt-BR">
                <a:solidFill>
                  <a:srgbClr val="73787D"/>
                </a:solidFill>
              </a:defRPr>
            </a:pPr>
          </a:p>
        </c:txPr>
        <c:crossAx val="48672768"/>
        <c:lblAlgn val="ctr"/>
        <c:lblOffset val="100"/>
        <c:noMultiLvlLbl val="0"/>
      </c:catAx>
      <c:valAx>
        <c:axId val="48672768"/>
        <c:scaling>
          <c:orientation val="minMax"/>
          <c:max val="1"/>
          <c:min val="0"/>
        </c:scaling>
        <c:delete val="0"/>
        <c:axPos val="l"/>
        <c:majorGridlines>
          <c:spPr>
            <a:ln w="9525">
              <a:solidFill>
                <a:srgbClr val="E7E9EB"/>
              </a:solidFill>
              <a:prstDash val="solid"/>
            </a:ln>
          </c:spPr>
        </c:majorGridlines>
        <c:numFmt formatCode="0%"/>
        <c:majorTickMark val="none"/>
        <c:minorTickMark val="none"/>
        <c:spPr>
          <a:ln w="9525">
            <a:solidFill>
              <a:srgbClr val="D7DADD"/>
            </a:solidFill>
            <a:prstDash val="solid"/>
          </a:ln>
        </c:spPr>
        <c:txPr>
          <a:bodyPr anchorCtr="1"/>
          <a:lstStyle/>
          <a:p>
            <a:pPr>
              <a:defRPr sz="1000" lang="pt-BR">
                <a:solidFill>
                  <a:srgbClr val="8D9399"/>
                </a:solidFill>
              </a:defRPr>
            </a:pPr>
          </a:p>
        </c:txPr>
        <c:crossAx val="48650112"/>
        <c:crossBetween val="between"/>
        <c:majorUnit val="0.25"/>
      </c:valAx>
      <c:spPr>
        <a:noFill/>
        <a:ln w="0">
          <a:noFill/>
          <a:prstDash val="solid"/>
        </a:ln>
      </c:spPr>
    </c:plotArea>
    <c:plotVisOnly val="1"/>
  </c:chart>
  <c:spPr>
    <a:noFill/>
    <a:ln w="0">
      <a:noFill/>
      <a:prstDash val="solid"/>
    </a:ln>
  </c:spPr>
</c:chartSpace>
</file>

<file path=ppt/slides/charts/chart8.xml><?xml version="1.0" encoding="utf-8"?>
<c:chartSpace xmlns:a="http://schemas.openxmlformats.org/drawingml/2006/main" xmlns:c="http://schemas.openxmlformats.org/drawingml/2006/chart">
  <c:lang val="pt-BR"/>
  <c:chart>
    <c:plotArea>
      <c:barChart>
        <c:barDir val="col"/>
        <c:grouping val="stacked"/>
        <c:varyColors val="0"/>
        <c:ser>
          <c:idx val="0"/>
          <c:order val="0"/>
          <c:tx>
            <c:v>Fomento Mercantil</c:v>
          </c:tx>
          <c:spPr>
            <a:solidFill>
              <a:srgbClr val="73787D"/>
            </a:solidFill>
          </c:spPr>
          <c:cat>
            <c:strLit>
              <c:ptCount val="5"/>
              <c:pt idx="0">
                <c:v>2023</c:v>
              </c:pt>
              <c:pt idx="1">
                <c:v>2024</c:v>
              </c:pt>
              <c:pt idx="2">
                <c:v>2025</c:v>
              </c:pt>
              <c:pt idx="3">
                <c:v>jan–jun/25</c:v>
              </c:pt>
              <c:pt idx="4">
                <c:v>jan–jun/26</c:v>
              </c:pt>
            </c:strLit>
          </c:cat>
          <c:val>
            <c:numLit>
              <c:formatCode>0.0</c:formatCode>
              <c:ptCount val="5"/>
              <c:pt idx="0">
                <c:v>4.355347460331231</c:v>
              </c:pt>
              <c:pt idx="1">
                <c:v>9.71514314594</c:v>
              </c:pt>
              <c:pt idx="2">
                <c:v>9.03480114906</c:v>
              </c:pt>
              <c:pt idx="3">
                <c:v>4.0599598731999995</c:v>
              </c:pt>
              <c:pt idx="4">
                <c:v>5.705318924819999</c:v>
              </c:pt>
            </c:numLit>
          </c:val>
        </c:ser>
        <c:ser>
          <c:idx val="1"/>
          <c:order val="1"/>
          <c:tx>
            <c:v>Agro, Indústria e Comércio</c:v>
          </c:tx>
          <c:spPr>
            <a:solidFill>
              <a:srgbClr val="0A3B00"/>
            </a:solidFill>
          </c:spPr>
          <c:cat>
            <c:strLit>
              <c:ptCount val="5"/>
              <c:pt idx="0">
                <c:v>2023</c:v>
              </c:pt>
              <c:pt idx="1">
                <c:v>2024</c:v>
              </c:pt>
              <c:pt idx="2">
                <c:v>2025</c:v>
              </c:pt>
              <c:pt idx="3">
                <c:v>jan–jun/25</c:v>
              </c:pt>
              <c:pt idx="4">
                <c:v>jan–jun/26</c:v>
              </c:pt>
            </c:strLit>
          </c:cat>
          <c:val>
            <c:numLit>
              <c:formatCode>0.0</c:formatCode>
              <c:ptCount val="5"/>
              <c:pt idx="0">
                <c:v>8.725651793954372</c:v>
              </c:pt>
              <c:pt idx="1">
                <c:v>19.803603508400002</c:v>
              </c:pt>
              <c:pt idx="2">
                <c:v>28.71965699961</c:v>
              </c:pt>
              <c:pt idx="3">
                <c:v>19.39381267632</c:v>
              </c:pt>
              <c:pt idx="4">
                <c:v>10.78363727233</c:v>
              </c:pt>
            </c:numLit>
          </c:val>
        </c:ser>
        <c:ser>
          <c:idx val="2"/>
          <c:order val="2"/>
          <c:tx>
            <c:v>Financeiro</c:v>
          </c:tx>
          <c:spPr>
            <a:solidFill>
              <a:srgbClr val="EC7000"/>
            </a:solidFill>
          </c:spPr>
          <c:cat>
            <c:strLit>
              <c:ptCount val="5"/>
              <c:pt idx="0">
                <c:v>2023</c:v>
              </c:pt>
              <c:pt idx="1">
                <c:v>2024</c:v>
              </c:pt>
              <c:pt idx="2">
                <c:v>2025</c:v>
              </c:pt>
              <c:pt idx="3">
                <c:v>jan–jun/25</c:v>
              </c:pt>
              <c:pt idx="4">
                <c:v>jan–jun/26</c:v>
              </c:pt>
            </c:strLit>
          </c:cat>
          <c:val>
            <c:numLit>
              <c:formatCode>0.0</c:formatCode>
              <c:ptCount val="5"/>
              <c:pt idx="0">
                <c:v>19.33358250441061</c:v>
              </c:pt>
              <c:pt idx="1">
                <c:v>46.91709152533</c:v>
              </c:pt>
              <c:pt idx="2">
                <c:v>52.42676092368</c:v>
              </c:pt>
              <c:pt idx="3">
                <c:v>21.60168209032</c:v>
              </c:pt>
              <c:pt idx="4">
                <c:v>40.39299902597</c:v>
              </c:pt>
            </c:numLit>
          </c:val>
        </c:ser>
        <c:ser>
          <c:idx val="3"/>
          <c:order val="3"/>
          <c:tx>
            <c:v>Outros</c:v>
          </c:tx>
          <c:spPr>
            <a:solidFill>
              <a:srgbClr val="D7DADD"/>
            </a:solidFill>
          </c:spPr>
          <c:cat>
            <c:strLit>
              <c:ptCount val="5"/>
              <c:pt idx="0">
                <c:v>2023</c:v>
              </c:pt>
              <c:pt idx="1">
                <c:v>2024</c:v>
              </c:pt>
              <c:pt idx="2">
                <c:v>2025</c:v>
              </c:pt>
              <c:pt idx="3">
                <c:v>jan–jun/25</c:v>
              </c:pt>
              <c:pt idx="4">
                <c:v>jan–jun/26</c:v>
              </c:pt>
            </c:strLit>
          </c:cat>
          <c:val>
            <c:numLit>
              <c:formatCode>0.0</c:formatCode>
              <c:ptCount val="5"/>
              <c:pt idx="0">
                <c:v>8.466997192079447</c:v>
              </c:pt>
              <c:pt idx="1">
                <c:v>11.950763954180001</c:v>
              </c:pt>
              <c:pt idx="2">
                <c:v>16.2821287893</c:v>
              </c:pt>
              <c:pt idx="3">
                <c:v>7.392147328559999</c:v>
              </c:pt>
              <c:pt idx="4">
                <c:v>5.79278421138</c:v>
              </c:pt>
            </c:numLit>
          </c:val>
        </c:ser>
        <c:dLbls>
          <c:txPr>
            <a:bodyPr anchorCtr="1"/>
            <a:lstStyle/>
            <a:p>
              <a:pPr>
                <a:defRPr sz="1200" lang="pt-BR">
                  <a:solidFill>
                    <a:srgbClr val="151515"/>
                  </a:solidFill>
                </a:defRPr>
              </a:pPr>
            </a:p>
          </c:txPr>
          <c:dLblPos val="ctr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45"/>
        <c:overlap val="100"/>
        <c:axId val="48650112"/>
        <c:axId val="48672768"/>
      </c:barChart>
      <c:catAx>
        <c:axId val="48650112"/>
        <c:scaling>
          <c:orientation val="minMax"/>
        </c:scaling>
        <c:delete val="0"/>
        <c:axPos val="b"/>
        <c:numFmt formatCode="General"/>
        <c:majorTickMark val="none"/>
        <c:minorTickMark val="none"/>
        <c:spPr>
          <a:ln w="9525">
            <a:solidFill>
              <a:srgbClr val="D7DADD"/>
            </a:solidFill>
            <a:prstDash val="solid"/>
          </a:ln>
        </c:spPr>
        <c:txPr>
          <a:bodyPr anchorCtr="1"/>
          <a:lstStyle/>
          <a:p>
            <a:pPr>
              <a:defRPr sz="1000" lang="pt-BR">
                <a:solidFill>
                  <a:srgbClr val="73787D"/>
                </a:solidFill>
              </a:defRPr>
            </a:pPr>
          </a:p>
        </c:txPr>
        <c:crossAx val="48672768"/>
        <c:lblAlgn val="ctr"/>
        <c:lblOffset val="100"/>
        <c:noMultiLvlLbl val="0"/>
      </c:catAx>
      <c:valAx>
        <c:axId val="48672768"/>
        <c:scaling>
          <c:orientation val="minMax"/>
          <c:min val="0"/>
        </c:scaling>
        <c:delete val="0"/>
        <c:axPos val="l"/>
        <c:majorGridlines>
          <c:spPr>
            <a:ln w="9525">
              <a:solidFill>
                <a:srgbClr val="E7E9EB"/>
              </a:solidFill>
              <a:prstDash val="solid"/>
            </a:ln>
          </c:spPr>
        </c:majorGridlines>
        <c:numFmt formatCode="0"/>
        <c:majorTickMark val="none"/>
        <c:minorTickMark val="none"/>
        <c:spPr>
          <a:ln w="9525">
            <a:solidFill>
              <a:srgbClr val="D7DADD"/>
            </a:solidFill>
            <a:prstDash val="solid"/>
          </a:ln>
        </c:spPr>
        <c:txPr>
          <a:bodyPr anchorCtr="1"/>
          <a:lstStyle/>
          <a:p>
            <a:pPr>
              <a:defRPr sz="1000" lang="pt-BR">
                <a:solidFill>
                  <a:srgbClr val="8D9399"/>
                </a:solidFill>
              </a:defRPr>
            </a:pPr>
          </a:p>
        </c:txPr>
        <c:crossAx val="48650112"/>
        <c:crossBetween val="between"/>
      </c:valAx>
      <c:spPr>
        <a:noFill/>
        <a:ln w="0">
          <a:noFill/>
          <a:prstDash val="solid"/>
        </a:ln>
      </c:spPr>
    </c:plotArea>
    <c:legend>
      <c:legendPos val="b"/>
      <c:overlay val="0"/>
      <c:txPr>
        <a:bodyPr anchorCtr="1"/>
        <a:lstStyle/>
        <a:p>
          <a:pPr>
            <a:defRPr sz="1000" lang="pt-BR">
              <a:solidFill>
                <a:srgbClr val="73787D"/>
              </a:solidFill>
            </a:defRPr>
          </a:pPr>
        </a:p>
      </c:txPr>
    </c:legend>
    <c:plotVisOnly val="1"/>
  </c:chart>
  <c:spPr>
    <a:noFill/>
    <a:ln w="0">
      <a:noFill/>
      <a:prstDash val="solid"/>
    </a:ln>
  </c:spPr>
</c:chartSpace>
</file>

<file path=ppt/slides/charts/chart9.xml><?xml version="1.0" encoding="utf-8"?>
<c:chartSpace xmlns:a="http://schemas.openxmlformats.org/drawingml/2006/main" xmlns:c="http://schemas.openxmlformats.org/drawingml/2006/chart">
  <c:lang val="pt-BR"/>
  <c:chart>
    <c:plotArea>
      <c:barChart>
        <c:barDir val="col"/>
        <c:grouping val="percentStacked"/>
        <c:varyColors val="0"/>
        <c:ser>
          <c:idx val="0"/>
          <c:order val="0"/>
          <c:tx>
            <c:v>Fomento Mercantil</c:v>
          </c:tx>
          <c:spPr>
            <a:solidFill>
              <a:srgbClr val="73787D"/>
            </a:solidFill>
          </c:spPr>
          <c:cat>
            <c:strLit>
              <c:ptCount val="5"/>
              <c:pt idx="0">
                <c:v>2023</c:v>
              </c:pt>
              <c:pt idx="1">
                <c:v>2024</c:v>
              </c:pt>
              <c:pt idx="2">
                <c:v>2025</c:v>
              </c:pt>
              <c:pt idx="3">
                <c:v>jan–jun/25</c:v>
              </c:pt>
              <c:pt idx="4">
                <c:v>jan–jun/26</c:v>
              </c:pt>
            </c:strLit>
          </c:cat>
          <c:val>
            <c:numLit>
              <c:formatCode>0.0%</c:formatCode>
              <c:ptCount val="5"/>
              <c:pt idx="0">
                <c:v>0.10653569583443391</c:v>
              </c:pt>
              <c:pt idx="1">
                <c:v>0.10991646823607587</c:v>
              </c:pt>
              <c:pt idx="2">
                <c:v>0.0848630193444677</c:v>
              </c:pt>
              <c:pt idx="3">
                <c:v>0.07740982849218064</c:v>
              </c:pt>
              <c:pt idx="4">
                <c:v>0.09103059663746195</c:v>
              </c:pt>
            </c:numLit>
          </c:val>
        </c:ser>
        <c:ser>
          <c:idx val="1"/>
          <c:order val="1"/>
          <c:tx>
            <c:v>Agro, Indústria e Comércio</c:v>
          </c:tx>
          <c:spPr>
            <a:solidFill>
              <a:srgbClr val="0A3B00"/>
            </a:solidFill>
          </c:spPr>
          <c:cat>
            <c:strLit>
              <c:ptCount val="5"/>
              <c:pt idx="0">
                <c:v>2023</c:v>
              </c:pt>
              <c:pt idx="1">
                <c:v>2024</c:v>
              </c:pt>
              <c:pt idx="2">
                <c:v>2025</c:v>
              </c:pt>
              <c:pt idx="3">
                <c:v>jan–jun/25</c:v>
              </c:pt>
              <c:pt idx="4">
                <c:v>jan–jun/26</c:v>
              </c:pt>
            </c:strLit>
          </c:cat>
          <c:val>
            <c:numLit>
              <c:formatCode>0.0%</c:formatCode>
              <c:ptCount val="5"/>
              <c:pt idx="0">
                <c:v>0.21343725017227638</c:v>
              </c:pt>
              <c:pt idx="1">
                <c:v>0.22405662204787577</c:v>
              </c:pt>
              <c:pt idx="2">
                <c:v>0.2697609794962622</c:v>
              </c:pt>
              <c:pt idx="3">
                <c:v>0.3697750125545281</c:v>
              </c:pt>
              <c:pt idx="4">
                <c:v>0.17205715364161575</c:v>
              </c:pt>
            </c:numLit>
          </c:val>
        </c:ser>
        <c:ser>
          <c:idx val="2"/>
          <c:order val="2"/>
          <c:tx>
            <c:v>Financeiro</c:v>
          </c:tx>
          <c:spPr>
            <a:solidFill>
              <a:srgbClr val="EC7000"/>
            </a:solidFill>
          </c:spPr>
          <c:cat>
            <c:strLit>
              <c:ptCount val="5"/>
              <c:pt idx="0">
                <c:v>2023</c:v>
              </c:pt>
              <c:pt idx="1">
                <c:v>2024</c:v>
              </c:pt>
              <c:pt idx="2">
                <c:v>2025</c:v>
              </c:pt>
              <c:pt idx="3">
                <c:v>jan–jun/25</c:v>
              </c:pt>
              <c:pt idx="4">
                <c:v>jan–jun/26</c:v>
              </c:pt>
            </c:strLit>
          </c:cat>
          <c:val>
            <c:numLit>
              <c:formatCode>0.0%</c:formatCode>
              <c:ptCount val="5"/>
              <c:pt idx="0">
                <c:v>0.47291672681452995</c:v>
              </c:pt>
              <c:pt idx="1">
                <c:v>0.5308167798359323</c:v>
              </c:pt>
              <c:pt idx="2">
                <c:v>0.4924395294407706</c:v>
              </c:pt>
              <c:pt idx="3">
                <c:v>0.4118716829672241</c:v>
              </c:pt>
              <c:pt idx="4">
                <c:v>0.6444861102004874</c:v>
              </c:pt>
            </c:numLit>
          </c:val>
        </c:ser>
        <c:ser>
          <c:idx val="3"/>
          <c:order val="3"/>
          <c:tx>
            <c:v>Outros</c:v>
          </c:tx>
          <c:spPr>
            <a:solidFill>
              <a:srgbClr val="D7DADD"/>
            </a:solidFill>
          </c:spPr>
          <c:cat>
            <c:strLit>
              <c:ptCount val="5"/>
              <c:pt idx="0">
                <c:v>2023</c:v>
              </c:pt>
              <c:pt idx="1">
                <c:v>2024</c:v>
              </c:pt>
              <c:pt idx="2">
                <c:v>2025</c:v>
              </c:pt>
              <c:pt idx="3">
                <c:v>jan–jun/25</c:v>
              </c:pt>
              <c:pt idx="4">
                <c:v>jan–jun/26</c:v>
              </c:pt>
            </c:strLit>
          </c:cat>
          <c:val>
            <c:numLit>
              <c:formatCode>0.0%</c:formatCode>
              <c:ptCount val="5"/>
              <c:pt idx="0">
                <c:v>0.20711032717875982</c:v>
              </c:pt>
              <c:pt idx="1">
                <c:v>0.13521012988011602</c:v>
              </c:pt>
              <c:pt idx="2">
                <c:v>0.1529364717184994</c:v>
              </c:pt>
              <c:pt idx="3">
                <c:v>0.14094347598606727</c:v>
              </c:pt>
              <c:pt idx="4">
                <c:v>0.0924261395204349</c:v>
              </c:pt>
            </c:numLit>
          </c:val>
        </c:ser>
        <c:dLbls>
          <c:txPr>
            <a:bodyPr anchorCtr="1"/>
            <a:lstStyle/>
            <a:p>
              <a:pPr>
                <a:defRPr sz="1200" lang="pt-BR">
                  <a:solidFill>
                    <a:srgbClr val="151515"/>
                  </a:solidFill>
                </a:defRPr>
              </a:pPr>
            </a:p>
          </c:txPr>
          <c:dLblPos val="ctr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45"/>
        <c:overlap val="100"/>
        <c:axId val="48650112"/>
        <c:axId val="48672768"/>
      </c:barChart>
      <c:catAx>
        <c:axId val="48650112"/>
        <c:scaling>
          <c:orientation val="minMax"/>
        </c:scaling>
        <c:delete val="0"/>
        <c:axPos val="b"/>
        <c:numFmt formatCode="General"/>
        <c:majorTickMark val="none"/>
        <c:minorTickMark val="none"/>
        <c:spPr>
          <a:ln w="9525">
            <a:solidFill>
              <a:srgbClr val="D7DADD"/>
            </a:solidFill>
            <a:prstDash val="solid"/>
          </a:ln>
        </c:spPr>
        <c:txPr>
          <a:bodyPr anchorCtr="1"/>
          <a:lstStyle/>
          <a:p>
            <a:pPr>
              <a:defRPr sz="1000" lang="pt-BR">
                <a:solidFill>
                  <a:srgbClr val="73787D"/>
                </a:solidFill>
              </a:defRPr>
            </a:pPr>
          </a:p>
        </c:txPr>
        <c:crossAx val="48672768"/>
        <c:lblAlgn val="ctr"/>
        <c:lblOffset val="100"/>
        <c:noMultiLvlLbl val="0"/>
      </c:catAx>
      <c:valAx>
        <c:axId val="48672768"/>
        <c:scaling>
          <c:orientation val="minMax"/>
          <c:max val="1"/>
          <c:min val="0"/>
        </c:scaling>
        <c:delete val="0"/>
        <c:axPos val="l"/>
        <c:majorGridlines>
          <c:spPr>
            <a:ln w="9525">
              <a:solidFill>
                <a:srgbClr val="E7E9EB"/>
              </a:solidFill>
              <a:prstDash val="solid"/>
            </a:ln>
          </c:spPr>
        </c:majorGridlines>
        <c:numFmt formatCode="0%"/>
        <c:majorTickMark val="none"/>
        <c:minorTickMark val="none"/>
        <c:spPr>
          <a:ln w="9525">
            <a:solidFill>
              <a:srgbClr val="D7DADD"/>
            </a:solidFill>
            <a:prstDash val="solid"/>
          </a:ln>
        </c:spPr>
        <c:txPr>
          <a:bodyPr anchorCtr="1"/>
          <a:lstStyle/>
          <a:p>
            <a:pPr>
              <a:defRPr sz="1000" lang="pt-BR">
                <a:solidFill>
                  <a:srgbClr val="8D9399"/>
                </a:solidFill>
              </a:defRPr>
            </a:pPr>
          </a:p>
        </c:txPr>
        <c:crossAx val="48650112"/>
        <c:crossBetween val="between"/>
        <c:majorUnit val="0.25"/>
      </c:valAx>
      <c:spPr>
        <a:noFill/>
        <a:ln w="0">
          <a:noFill/>
          <a:prstDash val="solid"/>
        </a:ln>
      </c:spPr>
    </c:plotArea>
    <c:legend>
      <c:legendPos val="b"/>
      <c:overlay val="0"/>
      <c:txPr>
        <a:bodyPr anchorCtr="1"/>
        <a:lstStyle/>
        <a:p>
          <a:pPr>
            <a:defRPr sz="1000" lang="pt-BR">
              <a:solidFill>
                <a:srgbClr val="73787D"/>
              </a:solidFill>
            </a:defRPr>
          </a:pPr>
        </a:p>
      </c:txPr>
    </c:legend>
    <c:plotVisOnly val="1"/>
  </c:chart>
  <c:spPr>
    <a:noFill/>
    <a:ln w="0">
      <a:noFill/>
      <a:prstDash val="solid"/>
    </a:ln>
  </c:spPr>
</c:chartSpace>
</file>

<file path=ppt/slides/charts/chart10.xml><?xml version="1.0" encoding="utf-8"?>
<c:chartSpace xmlns:a="http://schemas.openxmlformats.org/drawingml/2006/main" xmlns:c="http://schemas.openxmlformats.org/drawingml/2006/chart">
  <c:lang val="pt-BR"/>
  <c:chart>
    <c:plotArea>
      <c:barChart>
        <c:barDir val="col"/>
        <c:grouping val="stacked"/>
        <c:varyColors val="0"/>
        <c:ser>
          <c:idx val="0"/>
          <c:order val="0"/>
          <c:tx>
            <c:v>Fomento Mercantil</c:v>
          </c:tx>
          <c:spPr>
            <a:solidFill>
              <a:srgbClr val="73787D"/>
            </a:solidFill>
          </c:spPr>
          <c:cat>
            <c:strLit>
              <c:ptCount val="5"/>
              <c:pt idx="0">
                <c:v>2023</c:v>
              </c:pt>
              <c:pt idx="1">
                <c:v>2024</c:v>
              </c:pt>
              <c:pt idx="2">
                <c:v>2025</c:v>
              </c:pt>
              <c:pt idx="3">
                <c:v>jan–jun/25</c:v>
              </c:pt>
              <c:pt idx="4">
                <c:v>jan–jun/26</c:v>
              </c:pt>
            </c:strLit>
          </c:cat>
          <c:val>
            <c:numLit>
              <c:formatCode>0.0</c:formatCode>
              <c:ptCount val="5"/>
              <c:pt idx="0">
                <c:v>4.355347460331231</c:v>
              </c:pt>
              <c:pt idx="1">
                <c:v>9.71514314594</c:v>
              </c:pt>
              <c:pt idx="2">
                <c:v>9.03480114906</c:v>
              </c:pt>
              <c:pt idx="3">
                <c:v>4.0599598731999995</c:v>
              </c:pt>
              <c:pt idx="4">
                <c:v>5.705318924819999</c:v>
              </c:pt>
            </c:numLit>
          </c:val>
        </c:ser>
        <c:ser>
          <c:idx val="1"/>
          <c:order val="1"/>
          <c:tx>
            <c:v>Agro, Indústria e Comércio</c:v>
          </c:tx>
          <c:spPr>
            <a:solidFill>
              <a:srgbClr val="0A3B00"/>
            </a:solidFill>
          </c:spPr>
          <c:cat>
            <c:strLit>
              <c:ptCount val="5"/>
              <c:pt idx="0">
                <c:v>2023</c:v>
              </c:pt>
              <c:pt idx="1">
                <c:v>2024</c:v>
              </c:pt>
              <c:pt idx="2">
                <c:v>2025</c:v>
              </c:pt>
              <c:pt idx="3">
                <c:v>jan–jun/25</c:v>
              </c:pt>
              <c:pt idx="4">
                <c:v>jan–jun/26</c:v>
              </c:pt>
            </c:strLit>
          </c:cat>
          <c:val>
            <c:numLit>
              <c:formatCode>0.0</c:formatCode>
              <c:ptCount val="5"/>
              <c:pt idx="0">
                <c:v>8.725651793954372</c:v>
              </c:pt>
              <c:pt idx="1">
                <c:v>19.803603508400002</c:v>
              </c:pt>
              <c:pt idx="2">
                <c:v>28.71965699961</c:v>
              </c:pt>
              <c:pt idx="3">
                <c:v>19.39381267632</c:v>
              </c:pt>
              <c:pt idx="4">
                <c:v>10.78363727233</c:v>
              </c:pt>
            </c:numLit>
          </c:val>
        </c:ser>
        <c:ser>
          <c:idx val="2"/>
          <c:order val="2"/>
          <c:tx>
            <c:v>Financeiro</c:v>
          </c:tx>
          <c:spPr>
            <a:solidFill>
              <a:srgbClr val="EC7000"/>
            </a:solidFill>
          </c:spPr>
          <c:cat>
            <c:strLit>
              <c:ptCount val="5"/>
              <c:pt idx="0">
                <c:v>2023</c:v>
              </c:pt>
              <c:pt idx="1">
                <c:v>2024</c:v>
              </c:pt>
              <c:pt idx="2">
                <c:v>2025</c:v>
              </c:pt>
              <c:pt idx="3">
                <c:v>jan–jun/25</c:v>
              </c:pt>
              <c:pt idx="4">
                <c:v>jan–jun/26</c:v>
              </c:pt>
            </c:strLit>
          </c:cat>
          <c:val>
            <c:numLit>
              <c:formatCode>0.0</c:formatCode>
              <c:ptCount val="5"/>
              <c:pt idx="0">
                <c:v>19.33358250441061</c:v>
              </c:pt>
              <c:pt idx="1">
                <c:v>46.91709152533</c:v>
              </c:pt>
              <c:pt idx="2">
                <c:v>52.42676092368</c:v>
              </c:pt>
              <c:pt idx="3">
                <c:v>21.60168209032</c:v>
              </c:pt>
              <c:pt idx="4">
                <c:v>40.39299902597</c:v>
              </c:pt>
            </c:numLit>
          </c:val>
        </c:ser>
        <c:ser>
          <c:idx val="3"/>
          <c:order val="3"/>
          <c:tx>
            <c:v>Outros</c:v>
          </c:tx>
          <c:spPr>
            <a:solidFill>
              <a:srgbClr val="D7DADD"/>
            </a:solidFill>
          </c:spPr>
          <c:cat>
            <c:strLit>
              <c:ptCount val="5"/>
              <c:pt idx="0">
                <c:v>2023</c:v>
              </c:pt>
              <c:pt idx="1">
                <c:v>2024</c:v>
              </c:pt>
              <c:pt idx="2">
                <c:v>2025</c:v>
              </c:pt>
              <c:pt idx="3">
                <c:v>jan–jun/25</c:v>
              </c:pt>
              <c:pt idx="4">
                <c:v>jan–jun/26</c:v>
              </c:pt>
            </c:strLit>
          </c:cat>
          <c:val>
            <c:numLit>
              <c:formatCode>0.0</c:formatCode>
              <c:ptCount val="5"/>
              <c:pt idx="0">
                <c:v>8.466997192079447</c:v>
              </c:pt>
              <c:pt idx="1">
                <c:v>11.950763954180001</c:v>
              </c:pt>
              <c:pt idx="2">
                <c:v>16.2821287893</c:v>
              </c:pt>
              <c:pt idx="3">
                <c:v>7.392147328559999</c:v>
              </c:pt>
              <c:pt idx="4">
                <c:v>5.79278421138</c:v>
              </c:pt>
            </c:numLit>
          </c:val>
        </c:ser>
        <c:dLbls>
          <c:txPr>
            <a:bodyPr anchorCtr="1"/>
            <a:lstStyle/>
            <a:p>
              <a:pPr>
                <a:defRPr sz="1200" b="0" lang="pt-BR">
                  <a:solidFill>
                    <a:srgbClr val="151515"/>
                  </a:solidFill>
                </a:defRPr>
              </a:pPr>
            </a:p>
          </c:txPr>
          <c:dLblPos val="ctr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45"/>
        <c:overlap val="100"/>
        <c:axId val="48650112"/>
        <c:axId val="48672768"/>
      </c:barChart>
      <c:catAx>
        <c:axId val="48650112"/>
        <c:scaling>
          <c:orientation val="minMax"/>
        </c:scaling>
        <c:delete val="0"/>
        <c:axPos val="b"/>
        <c:numFmt formatCode="General"/>
        <c:majorTickMark val="none"/>
        <c:minorTickMark val="none"/>
        <c:spPr>
          <a:ln w="9525">
            <a:solidFill>
              <a:srgbClr val="D7DADD"/>
            </a:solidFill>
            <a:prstDash val="solid"/>
          </a:ln>
        </c:spPr>
        <c:txPr>
          <a:bodyPr anchorCtr="1"/>
          <a:lstStyle/>
          <a:p>
            <a:pPr>
              <a:defRPr sz="1000" lang="pt-BR">
                <a:solidFill>
                  <a:srgbClr val="73787D"/>
                </a:solidFill>
              </a:defRPr>
            </a:pPr>
          </a:p>
        </c:txPr>
        <c:crossAx val="48672768"/>
        <c:lblAlgn val="ctr"/>
        <c:lblOffset val="100"/>
        <c:noMultiLvlLbl val="0"/>
      </c:catAx>
      <c:valAx>
        <c:axId val="48672768"/>
        <c:scaling>
          <c:orientation val="minMax"/>
          <c:min val="0"/>
        </c:scaling>
        <c:delete val="0"/>
        <c:axPos val="l"/>
        <c:majorGridlines>
          <c:spPr>
            <a:ln w="9525">
              <a:solidFill>
                <a:srgbClr val="E7E9EB"/>
              </a:solidFill>
              <a:prstDash val="solid"/>
            </a:ln>
          </c:spPr>
        </c:majorGridlines>
        <c:numFmt formatCode="0"/>
        <c:majorTickMark val="none"/>
        <c:minorTickMark val="none"/>
        <c:spPr>
          <a:ln w="9525">
            <a:solidFill>
              <a:srgbClr val="D7DADD"/>
            </a:solidFill>
            <a:prstDash val="solid"/>
          </a:ln>
        </c:spPr>
        <c:txPr>
          <a:bodyPr anchorCtr="1"/>
          <a:lstStyle/>
          <a:p>
            <a:pPr>
              <a:defRPr sz="1000" lang="pt-BR">
                <a:solidFill>
                  <a:srgbClr val="8D9399"/>
                </a:solidFill>
              </a:defRPr>
            </a:pPr>
          </a:p>
        </c:txPr>
        <c:crossAx val="48650112"/>
        <c:crossBetween val="between"/>
      </c:valAx>
      <c:spPr>
        <a:noFill/>
        <a:ln w="0">
          <a:noFill/>
          <a:prstDash val="solid"/>
        </a:ln>
      </c:spPr>
    </c:plotArea>
    <c:legend>
      <c:legendPos val="b"/>
      <c:overlay val="0"/>
      <c:txPr>
        <a:bodyPr anchorCtr="1"/>
        <a:lstStyle/>
        <a:p>
          <a:pPr>
            <a:defRPr sz="1000" lang="pt-BR">
              <a:solidFill>
                <a:srgbClr val="73787D"/>
              </a:solidFill>
            </a:defRPr>
          </a:pPr>
        </a:p>
      </c:txPr>
    </c:legend>
    <c:plotVisOnly val="1"/>
  </c:chart>
  <c:spPr>
    <a:noFill/>
    <a:ln w="0">
      <a:noFill/>
      <a:prstDash val="solid"/>
    </a:ln>
  </c:spPr>
</c:chartSpace>
</file>

<file path=ppt/slides/charts/chart11.xml><?xml version="1.0" encoding="utf-8"?>
<c:chartSpace xmlns:a="http://schemas.openxmlformats.org/drawingml/2006/main" xmlns:c="http://schemas.openxmlformats.org/drawingml/2006/chart">
  <c:lang val="pt-BR"/>
  <c:chart>
    <c:plotArea>
      <c:barChart>
        <c:barDir val="col"/>
        <c:grouping val="percentStacked"/>
        <c:varyColors val="0"/>
        <c:ser>
          <c:idx val="0"/>
          <c:order val="0"/>
          <c:tx>
            <c:v>Fomento Mercantil</c:v>
          </c:tx>
          <c:spPr>
            <a:solidFill>
              <a:srgbClr val="73787D"/>
            </a:solidFill>
          </c:spPr>
          <c:cat>
            <c:strLit>
              <c:ptCount val="5"/>
              <c:pt idx="0">
                <c:v>2023</c:v>
              </c:pt>
              <c:pt idx="1">
                <c:v>2024</c:v>
              </c:pt>
              <c:pt idx="2">
                <c:v>2025</c:v>
              </c:pt>
              <c:pt idx="3">
                <c:v>jan–jun/25</c:v>
              </c:pt>
              <c:pt idx="4">
                <c:v>jan–jun/26</c:v>
              </c:pt>
            </c:strLit>
          </c:cat>
          <c:val>
            <c:numLit>
              <c:formatCode>0.0%</c:formatCode>
              <c:ptCount val="5"/>
              <c:pt idx="0">
                <c:v>0.10653569583443391</c:v>
              </c:pt>
              <c:pt idx="1">
                <c:v>0.10991646823607587</c:v>
              </c:pt>
              <c:pt idx="2">
                <c:v>0.0848630193444677</c:v>
              </c:pt>
              <c:pt idx="3">
                <c:v>0.07740982849218064</c:v>
              </c:pt>
              <c:pt idx="4">
                <c:v>0.09103059663746195</c:v>
              </c:pt>
            </c:numLit>
          </c:val>
        </c:ser>
        <c:ser>
          <c:idx val="1"/>
          <c:order val="1"/>
          <c:tx>
            <c:v>Agro, Indústria e Comércio</c:v>
          </c:tx>
          <c:spPr>
            <a:solidFill>
              <a:srgbClr val="0A3B00"/>
            </a:solidFill>
          </c:spPr>
          <c:cat>
            <c:strLit>
              <c:ptCount val="5"/>
              <c:pt idx="0">
                <c:v>2023</c:v>
              </c:pt>
              <c:pt idx="1">
                <c:v>2024</c:v>
              </c:pt>
              <c:pt idx="2">
                <c:v>2025</c:v>
              </c:pt>
              <c:pt idx="3">
                <c:v>jan–jun/25</c:v>
              </c:pt>
              <c:pt idx="4">
                <c:v>jan–jun/26</c:v>
              </c:pt>
            </c:strLit>
          </c:cat>
          <c:val>
            <c:numLit>
              <c:formatCode>0.0%</c:formatCode>
              <c:ptCount val="5"/>
              <c:pt idx="0">
                <c:v>0.21343725017227638</c:v>
              </c:pt>
              <c:pt idx="1">
                <c:v>0.22405662204787577</c:v>
              </c:pt>
              <c:pt idx="2">
                <c:v>0.2697609794962622</c:v>
              </c:pt>
              <c:pt idx="3">
                <c:v>0.3697750125545281</c:v>
              </c:pt>
              <c:pt idx="4">
                <c:v>0.17205715364161575</c:v>
              </c:pt>
            </c:numLit>
          </c:val>
        </c:ser>
        <c:ser>
          <c:idx val="2"/>
          <c:order val="2"/>
          <c:tx>
            <c:v>Financeiro</c:v>
          </c:tx>
          <c:spPr>
            <a:solidFill>
              <a:srgbClr val="EC7000"/>
            </a:solidFill>
          </c:spPr>
          <c:cat>
            <c:strLit>
              <c:ptCount val="5"/>
              <c:pt idx="0">
                <c:v>2023</c:v>
              </c:pt>
              <c:pt idx="1">
                <c:v>2024</c:v>
              </c:pt>
              <c:pt idx="2">
                <c:v>2025</c:v>
              </c:pt>
              <c:pt idx="3">
                <c:v>jan–jun/25</c:v>
              </c:pt>
              <c:pt idx="4">
                <c:v>jan–jun/26</c:v>
              </c:pt>
            </c:strLit>
          </c:cat>
          <c:val>
            <c:numLit>
              <c:formatCode>0.0%</c:formatCode>
              <c:ptCount val="5"/>
              <c:pt idx="0">
                <c:v>0.47291672681452995</c:v>
              </c:pt>
              <c:pt idx="1">
                <c:v>0.5308167798359323</c:v>
              </c:pt>
              <c:pt idx="2">
                <c:v>0.4924395294407706</c:v>
              </c:pt>
              <c:pt idx="3">
                <c:v>0.4118716829672241</c:v>
              </c:pt>
              <c:pt idx="4">
                <c:v>0.6444861102004874</c:v>
              </c:pt>
            </c:numLit>
          </c:val>
        </c:ser>
        <c:ser>
          <c:idx val="3"/>
          <c:order val="3"/>
          <c:tx>
            <c:v>Outros</c:v>
          </c:tx>
          <c:spPr>
            <a:solidFill>
              <a:srgbClr val="D7DADD"/>
            </a:solidFill>
          </c:spPr>
          <c:cat>
            <c:strLit>
              <c:ptCount val="5"/>
              <c:pt idx="0">
                <c:v>2023</c:v>
              </c:pt>
              <c:pt idx="1">
                <c:v>2024</c:v>
              </c:pt>
              <c:pt idx="2">
                <c:v>2025</c:v>
              </c:pt>
              <c:pt idx="3">
                <c:v>jan–jun/25</c:v>
              </c:pt>
              <c:pt idx="4">
                <c:v>jan–jun/26</c:v>
              </c:pt>
            </c:strLit>
          </c:cat>
          <c:val>
            <c:numLit>
              <c:formatCode>0.0%</c:formatCode>
              <c:ptCount val="5"/>
              <c:pt idx="0">
                <c:v>0.20711032717875982</c:v>
              </c:pt>
              <c:pt idx="1">
                <c:v>0.13521012988011602</c:v>
              </c:pt>
              <c:pt idx="2">
                <c:v>0.1529364717184994</c:v>
              </c:pt>
              <c:pt idx="3">
                <c:v>0.14094347598606727</c:v>
              </c:pt>
              <c:pt idx="4">
                <c:v>0.0924261395204349</c:v>
              </c:pt>
            </c:numLit>
          </c:val>
        </c:ser>
        <c:dLbls>
          <c:txPr>
            <a:bodyPr anchorCtr="1"/>
            <a:lstStyle/>
            <a:p>
              <a:pPr>
                <a:defRPr sz="1200" b="0" lang="pt-BR">
                  <a:solidFill>
                    <a:srgbClr val="151515"/>
                  </a:solidFill>
                </a:defRPr>
              </a:pPr>
            </a:p>
          </c:txPr>
          <c:dLblPos val="ctr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45"/>
        <c:overlap val="100"/>
        <c:axId val="48650112"/>
        <c:axId val="48672768"/>
      </c:barChart>
      <c:catAx>
        <c:axId val="48650112"/>
        <c:scaling>
          <c:orientation val="minMax"/>
        </c:scaling>
        <c:delete val="0"/>
        <c:axPos val="b"/>
        <c:numFmt formatCode="General"/>
        <c:majorTickMark val="none"/>
        <c:minorTickMark val="none"/>
        <c:spPr>
          <a:ln w="9525">
            <a:solidFill>
              <a:srgbClr val="D7DADD"/>
            </a:solidFill>
            <a:prstDash val="solid"/>
          </a:ln>
        </c:spPr>
        <c:txPr>
          <a:bodyPr anchorCtr="1"/>
          <a:lstStyle/>
          <a:p>
            <a:pPr>
              <a:defRPr sz="1000" lang="pt-BR">
                <a:solidFill>
                  <a:srgbClr val="73787D"/>
                </a:solidFill>
              </a:defRPr>
            </a:pPr>
          </a:p>
        </c:txPr>
        <c:crossAx val="48672768"/>
        <c:lblAlgn val="ctr"/>
        <c:lblOffset val="100"/>
        <c:noMultiLvlLbl val="0"/>
      </c:catAx>
      <c:valAx>
        <c:axId val="48672768"/>
        <c:scaling>
          <c:orientation val="minMax"/>
          <c:max val="1"/>
          <c:min val="0"/>
        </c:scaling>
        <c:delete val="0"/>
        <c:axPos val="l"/>
        <c:majorGridlines>
          <c:spPr>
            <a:ln w="9525">
              <a:solidFill>
                <a:srgbClr val="E7E9EB"/>
              </a:solidFill>
              <a:prstDash val="solid"/>
            </a:ln>
          </c:spPr>
        </c:majorGridlines>
        <c:numFmt formatCode="0%"/>
        <c:majorTickMark val="none"/>
        <c:minorTickMark val="none"/>
        <c:spPr>
          <a:ln w="9525">
            <a:solidFill>
              <a:srgbClr val="D7DADD"/>
            </a:solidFill>
            <a:prstDash val="solid"/>
          </a:ln>
        </c:spPr>
        <c:txPr>
          <a:bodyPr anchorCtr="1"/>
          <a:lstStyle/>
          <a:p>
            <a:pPr>
              <a:defRPr sz="1000" lang="pt-BR">
                <a:solidFill>
                  <a:srgbClr val="8D9399"/>
                </a:solidFill>
              </a:defRPr>
            </a:pPr>
          </a:p>
        </c:txPr>
        <c:crossAx val="48650112"/>
        <c:crossBetween val="between"/>
        <c:majorUnit val="0.25"/>
      </c:valAx>
      <c:spPr>
        <a:noFill/>
        <a:ln w="0">
          <a:noFill/>
          <a:prstDash val="solid"/>
        </a:ln>
      </c:spPr>
    </c:plotArea>
    <c:legend>
      <c:legendPos val="b"/>
      <c:overlay val="0"/>
      <c:txPr>
        <a:bodyPr anchorCtr="1"/>
        <a:lstStyle/>
        <a:p>
          <a:pPr>
            <a:defRPr sz="1000" lang="pt-BR">
              <a:solidFill>
                <a:srgbClr val="73787D"/>
              </a:solidFill>
            </a:defRPr>
          </a:pPr>
        </a:p>
      </c:txPr>
    </c:legend>
    <c:plotVisOnly val="1"/>
  </c:chart>
  <c:spPr>
    <a:noFill/>
    <a:ln w="0">
      <a:noFill/>
      <a:prstDash val="solid"/>
    </a:ln>
  </c:spPr>
</c:chartSpace>
</file>

<file path=ppt/slides/charts/chart12.xml><?xml version="1.0" encoding="utf-8"?>
<c:chartSpace xmlns:a="http://schemas.openxmlformats.org/drawingml/2006/main" xmlns:c="http://schemas.openxmlformats.org/drawingml/2006/chart">
  <c:lang val="pt-BR"/>
  <c:chart>
    <c:plotArea>
      <c:barChart>
        <c:barDir val="col"/>
        <c:grouping val="stacked"/>
        <c:varyColors val="0"/>
        <c:ser>
          <c:idx val="0"/>
          <c:order val="0"/>
          <c:tx>
            <c:v>Fomento Mercantil</c:v>
          </c:tx>
          <c:spPr>
            <a:solidFill>
              <a:srgbClr val="73787D"/>
            </a:solidFill>
          </c:spPr>
          <c:dLbls>
            <c:dLbl>
              <c:idx val="0"/>
              <c:txPr>
                <a:bodyPr anchorCtr="1"/>
                <a:lstStyle/>
                <a:p>
                  <a:pPr>
                    <a:defRPr sz="1200" b="1" lang="pt-BR">
                      <a:solidFill>
                        <a:srgbClr val="FFFFFF"/>
                      </a:solidFill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"/>
              <c:txPr>
                <a:bodyPr anchorCtr="1"/>
                <a:lstStyle/>
                <a:p>
                  <a:pPr>
                    <a:defRPr sz="1200" b="1" lang="pt-BR">
                      <a:solidFill>
                        <a:srgbClr val="FFFFFF"/>
                      </a:solidFill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2"/>
              <c:txPr>
                <a:bodyPr anchorCtr="1"/>
                <a:lstStyle/>
                <a:p>
                  <a:pPr>
                    <a:defRPr sz="1200" b="1" lang="pt-BR">
                      <a:solidFill>
                        <a:srgbClr val="FFFFFF"/>
                      </a:solidFill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3"/>
              <c:txPr>
                <a:bodyPr anchorCtr="1"/>
                <a:lstStyle/>
                <a:p>
                  <a:pPr>
                    <a:defRPr sz="1200" b="1" lang="pt-BR">
                      <a:solidFill>
                        <a:srgbClr val="FFFFFF"/>
                      </a:solidFill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</c:dLbls>
          <c:cat>
            <c:strLit>
              <c:ptCount val="4"/>
              <c:pt idx="0">
                <c:v>dez/23</c:v>
              </c:pt>
              <c:pt idx="1">
                <c:v>dez/24</c:v>
              </c:pt>
              <c:pt idx="2">
                <c:v>dez/25</c:v>
              </c:pt>
              <c:pt idx="3">
                <c:v>jun/26</c:v>
              </c:pt>
            </c:strLit>
          </c:cat>
          <c:val>
            <c:numLit>
              <c:formatCode>0.0</c:formatCode>
              <c:ptCount val="4"/>
              <c:pt idx="0">
                <c:v>53.039866746449995</c:v>
              </c:pt>
              <c:pt idx="1">
                <c:v>66.99363287149</c:v>
              </c:pt>
              <c:pt idx="2">
                <c:v>84.0510959145</c:v>
              </c:pt>
              <c:pt idx="3">
                <c:v>88.39237477025999</c:v>
              </c:pt>
            </c:numLit>
          </c:val>
        </c:ser>
        <c:ser>
          <c:idx val="1"/>
          <c:order val="1"/>
          <c:tx>
            <c:v>Agro, Indústria e Comércio</c:v>
          </c:tx>
          <c:spPr>
            <a:solidFill>
              <a:srgbClr val="0A3B00"/>
            </a:solidFill>
          </c:spPr>
          <c:dLbls>
            <c:dLbl>
              <c:idx val="0"/>
              <c:txPr>
                <a:bodyPr anchorCtr="1"/>
                <a:lstStyle/>
                <a:p>
                  <a:pPr>
                    <a:defRPr sz="1200" b="1" lang="pt-BR">
                      <a:solidFill>
                        <a:srgbClr val="FFFFFF"/>
                      </a:solidFill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"/>
              <c:txPr>
                <a:bodyPr anchorCtr="1"/>
                <a:lstStyle/>
                <a:p>
                  <a:pPr>
                    <a:defRPr sz="1200" b="1" lang="pt-BR">
                      <a:solidFill>
                        <a:srgbClr val="FFFFFF"/>
                      </a:solidFill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2"/>
              <c:txPr>
                <a:bodyPr anchorCtr="1"/>
                <a:lstStyle/>
                <a:p>
                  <a:pPr>
                    <a:defRPr sz="1200" b="1" lang="pt-BR">
                      <a:solidFill>
                        <a:srgbClr val="FFFFFF"/>
                      </a:solidFill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3"/>
              <c:txPr>
                <a:bodyPr anchorCtr="1"/>
                <a:lstStyle/>
                <a:p>
                  <a:pPr>
                    <a:defRPr sz="1200" b="1" lang="pt-BR">
                      <a:solidFill>
                        <a:srgbClr val="FFFFFF"/>
                      </a:solidFill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</c:dLbls>
          <c:cat>
            <c:strLit>
              <c:ptCount val="4"/>
              <c:pt idx="0">
                <c:v>dez/23</c:v>
              </c:pt>
              <c:pt idx="1">
                <c:v>dez/24</c:v>
              </c:pt>
              <c:pt idx="2">
                <c:v>dez/25</c:v>
              </c:pt>
              <c:pt idx="3">
                <c:v>jun/26</c:v>
              </c:pt>
            </c:strLit>
          </c:cat>
          <c:val>
            <c:numLit>
              <c:formatCode>0.0</c:formatCode>
              <c:ptCount val="4"/>
              <c:pt idx="0">
                <c:v>125.75306408053</c:v>
              </c:pt>
              <c:pt idx="1">
                <c:v>202.59161148926998</c:v>
              </c:pt>
              <c:pt idx="2">
                <c:v>196.2844728819</c:v>
              </c:pt>
              <c:pt idx="3">
                <c:v>203.88586814410002</c:v>
              </c:pt>
            </c:numLit>
          </c:val>
        </c:ser>
        <c:ser>
          <c:idx val="2"/>
          <c:order val="2"/>
          <c:tx>
            <c:v>Financeiro</c:v>
          </c:tx>
          <c:spPr>
            <a:solidFill>
              <a:srgbClr val="EC7000"/>
            </a:solidFill>
          </c:spPr>
          <c:dLbls>
            <c:dLbl>
              <c:idx val="0"/>
              <c:txPr>
                <a:bodyPr anchorCtr="1"/>
                <a:lstStyle/>
                <a:p>
                  <a:pPr>
                    <a:defRPr sz="1200" b="1" lang="pt-BR">
                      <a:solidFill>
                        <a:srgbClr val="FFFFFF"/>
                      </a:solidFill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"/>
              <c:txPr>
                <a:bodyPr anchorCtr="1"/>
                <a:lstStyle/>
                <a:p>
                  <a:pPr>
                    <a:defRPr sz="1200" b="1" lang="pt-BR">
                      <a:solidFill>
                        <a:srgbClr val="FFFFFF"/>
                      </a:solidFill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2"/>
              <c:txPr>
                <a:bodyPr anchorCtr="1"/>
                <a:lstStyle/>
                <a:p>
                  <a:pPr>
                    <a:defRPr sz="1200" b="1" lang="pt-BR">
                      <a:solidFill>
                        <a:srgbClr val="FFFFFF"/>
                      </a:solidFill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3"/>
              <c:txPr>
                <a:bodyPr anchorCtr="1"/>
                <a:lstStyle/>
                <a:p>
                  <a:pPr>
                    <a:defRPr sz="1200" b="1" lang="pt-BR">
                      <a:solidFill>
                        <a:srgbClr val="FFFFFF"/>
                      </a:solidFill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</c:dLbls>
          <c:cat>
            <c:strLit>
              <c:ptCount val="4"/>
              <c:pt idx="0">
                <c:v>dez/23</c:v>
              </c:pt>
              <c:pt idx="1">
                <c:v>dez/24</c:v>
              </c:pt>
              <c:pt idx="2">
                <c:v>dez/25</c:v>
              </c:pt>
              <c:pt idx="3">
                <c:v>jun/26</c:v>
              </c:pt>
            </c:strLit>
          </c:cat>
          <c:val>
            <c:numLit>
              <c:formatCode>0.0</c:formatCode>
              <c:ptCount val="4"/>
              <c:pt idx="0">
                <c:v>154.80414908435998</c:v>
              </c:pt>
              <c:pt idx="1">
                <c:v>213.08856712501998</c:v>
              </c:pt>
              <c:pt idx="2">
                <c:v>274.22322381616</c:v>
              </c:pt>
              <c:pt idx="3">
                <c:v>323.89315872231</c:v>
              </c:pt>
            </c:numLit>
          </c:val>
        </c:ser>
        <c:ser>
          <c:idx val="3"/>
          <c:order val="3"/>
          <c:tx>
            <c:v>Precatórios e/ou Ações Judiciais</c:v>
          </c:tx>
          <c:spPr>
            <a:solidFill>
              <a:srgbClr val="151515"/>
            </a:solidFill>
          </c:spPr>
          <c:dLbls>
            <c:dLbl>
              <c:idx val="0"/>
              <c:txPr>
                <a:bodyPr anchorCtr="1"/>
                <a:lstStyle/>
                <a:p>
                  <a:pPr>
                    <a:defRPr sz="1200" b="1" lang="pt-BR">
                      <a:solidFill>
                        <a:srgbClr val="FFFFFF"/>
                      </a:solidFill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"/>
              <c:txPr>
                <a:bodyPr anchorCtr="1"/>
                <a:lstStyle/>
                <a:p>
                  <a:pPr>
                    <a:defRPr sz="1200" b="1" lang="pt-BR">
                      <a:solidFill>
                        <a:srgbClr val="FFFFFF"/>
                      </a:solidFill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2"/>
              <c:txPr>
                <a:bodyPr anchorCtr="1"/>
                <a:lstStyle/>
                <a:p>
                  <a:pPr>
                    <a:defRPr sz="1200" b="1" lang="pt-BR">
                      <a:solidFill>
                        <a:srgbClr val="FFFFFF"/>
                      </a:solidFill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3"/>
              <c:txPr>
                <a:bodyPr anchorCtr="1"/>
                <a:lstStyle/>
                <a:p>
                  <a:pPr>
                    <a:defRPr sz="1200" b="1" lang="pt-BR">
                      <a:solidFill>
                        <a:srgbClr val="FFFFFF"/>
                      </a:solidFill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</c:dLbls>
          <c:cat>
            <c:strLit>
              <c:ptCount val="4"/>
              <c:pt idx="0">
                <c:v>dez/23</c:v>
              </c:pt>
              <c:pt idx="1">
                <c:v>dez/24</c:v>
              </c:pt>
              <c:pt idx="2">
                <c:v>dez/25</c:v>
              </c:pt>
              <c:pt idx="3">
                <c:v>jun/26</c:v>
              </c:pt>
            </c:strLit>
          </c:cat>
          <c:val>
            <c:numLit>
              <c:formatCode>0.0</c:formatCode>
              <c:ptCount val="4"/>
              <c:pt idx="0">
                <c:v>54.146878333349996</c:v>
              </c:pt>
              <c:pt idx="1">
                <c:v>71.53991117332</c:v>
              </c:pt>
              <c:pt idx="2">
                <c:v>92.67004840915</c:v>
              </c:pt>
              <c:pt idx="3">
                <c:v>81.84740187933001</c:v>
              </c:pt>
            </c:numLit>
          </c:val>
        </c:ser>
        <c:ser>
          <c:idx val="4"/>
          <c:order val="4"/>
          <c:tx>
            <c:v>Multicedente/Multisacado</c:v>
          </c:tx>
          <c:spPr>
            <a:solidFill>
              <a:srgbClr val="7030A0"/>
            </a:solidFill>
          </c:spPr>
          <c:dLbls>
            <c:dLbl>
              <c:idx val="0"/>
              <c:txPr>
                <a:bodyPr anchorCtr="1"/>
                <a:lstStyle/>
                <a:p>
                  <a:pPr>
                    <a:defRPr sz="1200" b="1" lang="pt-BR">
                      <a:solidFill>
                        <a:srgbClr val="FFFFFF"/>
                      </a:solidFill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"/>
              <c:txPr>
                <a:bodyPr anchorCtr="1"/>
                <a:lstStyle/>
                <a:p>
                  <a:pPr>
                    <a:defRPr sz="1200" b="1" lang="pt-BR">
                      <a:solidFill>
                        <a:srgbClr val="FFFFFF"/>
                      </a:solidFill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2"/>
              <c:txPr>
                <a:bodyPr anchorCtr="1"/>
                <a:lstStyle/>
                <a:p>
                  <a:pPr>
                    <a:defRPr sz="1200" b="1" lang="pt-BR">
                      <a:solidFill>
                        <a:srgbClr val="FFFFFF"/>
                      </a:solidFill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3"/>
              <c:txPr>
                <a:bodyPr anchorCtr="1"/>
                <a:lstStyle/>
                <a:p>
                  <a:pPr>
                    <a:defRPr sz="1200" b="1" lang="pt-BR">
                      <a:solidFill>
                        <a:srgbClr val="FFFFFF"/>
                      </a:solidFill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</c:dLbls>
          <c:cat>
            <c:strLit>
              <c:ptCount val="4"/>
              <c:pt idx="0">
                <c:v>dez/23</c:v>
              </c:pt>
              <c:pt idx="1">
                <c:v>dez/24</c:v>
              </c:pt>
              <c:pt idx="2">
                <c:v>dez/25</c:v>
              </c:pt>
              <c:pt idx="3">
                <c:v>jun/26</c:v>
              </c:pt>
            </c:strLit>
          </c:cat>
          <c:val>
            <c:numLit>
              <c:formatCode>0.0</c:formatCode>
              <c:ptCount val="4"/>
              <c:pt idx="0">
                <c:v>42.82259619404</c:v>
              </c:pt>
              <c:pt idx="1">
                <c:v>63.3543770927</c:v>
              </c:pt>
              <c:pt idx="2">
                <c:v>90.8173192781</c:v>
              </c:pt>
              <c:pt idx="3">
                <c:v>86.50477887798</c:v>
              </c:pt>
            </c:numLit>
          </c:val>
        </c:ser>
        <c:ser>
          <c:idx val="5"/>
          <c:order val="5"/>
          <c:tx>
            <c:v>Recuperação / FIDCs NP</c:v>
          </c:tx>
          <c:spPr>
            <a:solidFill>
              <a:srgbClr val="E7E9EB"/>
            </a:solidFill>
          </c:spPr>
          <c:dLbls>
            <c:dLbl>
              <c:idx val="0"/>
              <c:txPr>
                <a:bodyPr anchorCtr="1"/>
                <a:lstStyle/>
                <a:p>
                  <a:pPr>
                    <a:defRPr sz="1200" b="1" lang="pt-BR">
                      <a:solidFill>
                        <a:srgbClr val="151515"/>
                      </a:solidFill>
                    </a:defRPr>
                  </a:pPr>
                </a:p>
              </c:txPr>
              <c:dLblPos val="ctr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1"/>
              <c:txPr>
                <a:bodyPr anchorCtr="1"/>
                <a:lstStyle/>
                <a:p>
                  <a:pPr>
                    <a:defRPr sz="1200" b="1" lang="pt-BR">
                      <a:solidFill>
                        <a:srgbClr val="151515"/>
                      </a:solidFill>
                    </a:defRPr>
                  </a:pPr>
                </a:p>
              </c:txPr>
              <c:dLblPos val="ctr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2"/>
              <c:txPr>
                <a:bodyPr anchorCtr="1"/>
                <a:lstStyle/>
                <a:p>
                  <a:pPr>
                    <a:defRPr sz="1200" b="1" lang="pt-BR">
                      <a:solidFill>
                        <a:srgbClr val="151515"/>
                      </a:solidFill>
                    </a:defRPr>
                  </a:pPr>
                </a:p>
              </c:txPr>
              <c:dLblPos val="ctr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3"/>
              <c:txPr>
                <a:bodyPr anchorCtr="1"/>
                <a:lstStyle/>
                <a:p>
                  <a:pPr>
                    <a:defRPr sz="1200" b="1" lang="pt-BR">
                      <a:solidFill>
                        <a:srgbClr val="151515"/>
                      </a:solidFill>
                    </a:defRPr>
                  </a:pPr>
                </a:p>
              </c:txPr>
              <c:dLblPos val="ctr"/>
              <c:showLegendKey val="0"/>
              <c:showVal val="0"/>
              <c:showCatName val="0"/>
              <c:showSerName val="0"/>
              <c:showPercent val="0"/>
              <c:showBubbleSize val="0"/>
            </c:dLbl>
          </c:dLbls>
          <c:cat>
            <c:strLit>
              <c:ptCount val="4"/>
              <c:pt idx="0">
                <c:v>dez/23</c:v>
              </c:pt>
              <c:pt idx="1">
                <c:v>dez/24</c:v>
              </c:pt>
              <c:pt idx="2">
                <c:v>dez/25</c:v>
              </c:pt>
              <c:pt idx="3">
                <c:v>jun/26</c:v>
              </c:pt>
            </c:strLit>
          </c:cat>
          <c:val>
            <c:numLit>
              <c:formatCode>0.0</c:formatCode>
              <c:ptCount val="4"/>
              <c:pt idx="0">
                <c:v>21.275962572810002</c:v>
              </c:pt>
              <c:pt idx="1">
                <c:v>33.66266718072</c:v>
              </c:pt>
              <c:pt idx="2">
                <c:v>33.97906413178</c:v>
              </c:pt>
              <c:pt idx="3">
                <c:v>35.199286782529995</c:v>
              </c:pt>
            </c:numLit>
          </c:val>
        </c:ser>
        <c:ser>
          <c:idx val="6"/>
          <c:order val="6"/>
          <c:tx>
            <c:v>N/D</c:v>
          </c:tx>
          <c:spPr>
            <a:solidFill>
              <a:srgbClr val="D7DADD"/>
            </a:solidFill>
          </c:spPr>
          <c:dLbls>
            <c:dLbl>
              <c:idx val="0"/>
              <c:txPr>
                <a:bodyPr anchorCtr="1"/>
                <a:lstStyle/>
                <a:p>
                  <a:pPr>
                    <a:defRPr sz="1200" b="1" lang="pt-BR">
                      <a:solidFill>
                        <a:srgbClr val="151515"/>
                      </a:solidFill>
                    </a:defRPr>
                  </a:pPr>
                </a:p>
              </c:txPr>
              <c:dLblPos val="ctr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1"/>
              <c:txPr>
                <a:bodyPr anchorCtr="1"/>
                <a:lstStyle/>
                <a:p>
                  <a:pPr>
                    <a:defRPr sz="1200" b="1" lang="pt-BR">
                      <a:solidFill>
                        <a:srgbClr val="151515"/>
                      </a:solidFill>
                    </a:defRPr>
                  </a:pPr>
                </a:p>
              </c:txPr>
              <c:dLblPos val="ctr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2"/>
              <c:txPr>
                <a:bodyPr anchorCtr="1"/>
                <a:lstStyle/>
                <a:p>
                  <a:pPr>
                    <a:defRPr sz="1200" b="1" lang="pt-BR">
                      <a:solidFill>
                        <a:srgbClr val="151515"/>
                      </a:solidFill>
                    </a:defRPr>
                  </a:pPr>
                </a:p>
              </c:txPr>
              <c:dLblPos val="ctr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3"/>
              <c:txPr>
                <a:bodyPr anchorCtr="1"/>
                <a:lstStyle/>
                <a:p>
                  <a:pPr>
                    <a:defRPr sz="1200" b="1" lang="pt-BR">
                      <a:solidFill>
                        <a:srgbClr val="151515"/>
                      </a:solidFill>
                    </a:defRPr>
                  </a:pPr>
                </a:p>
              </c:txPr>
              <c:dLblPos val="ctr"/>
              <c:showLegendKey val="0"/>
              <c:showVal val="0"/>
              <c:showCatName val="0"/>
              <c:showSerName val="0"/>
              <c:showPercent val="0"/>
              <c:showBubbleSize val="0"/>
            </c:dLbl>
          </c:dLbls>
          <c:cat>
            <c:strLit>
              <c:ptCount val="4"/>
              <c:pt idx="0">
                <c:v>dez/23</c:v>
              </c:pt>
              <c:pt idx="1">
                <c:v>dez/24</c:v>
              </c:pt>
              <c:pt idx="2">
                <c:v>dez/25</c:v>
              </c:pt>
              <c:pt idx="3">
                <c:v>jun/26</c:v>
              </c:pt>
            </c:strLit>
          </c:cat>
          <c:val>
            <c:numLit>
              <c:formatCode>0.0</c:formatCode>
              <c:ptCount val="4"/>
              <c:pt idx="0">
                <c:v>0.49252270908</c:v>
              </c:pt>
              <c:pt idx="1">
                <c:v>0.22197586638</c:v>
              </c:pt>
              <c:pt idx="2">
                <c:v>0.08320776646</c:v>
              </c:pt>
              <c:pt idx="3">
                <c:v>1.63869010794</c:v>
              </c:pt>
            </c:numLit>
          </c:val>
        </c:ser>
        <c:dLbls>
          <c:txPr>
            <a:bodyPr anchorCtr="1"/>
            <a:lstStyle/>
            <a:p>
              <a:pPr>
                <a:defRPr sz="1200" lang="pt-BR"/>
              </a:pPr>
            </a:p>
          </c:txPr>
          <c:dLblPos val="ctr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52"/>
        <c:overlap val="100"/>
        <c:axId val="48650112"/>
        <c:axId val="48672768"/>
      </c:barChart>
      <c:catAx>
        <c:axId val="48650112"/>
        <c:scaling>
          <c:orientation val="minMax"/>
        </c:scaling>
        <c:delete val="0"/>
        <c:axPos val="b"/>
        <c:numFmt formatCode="General"/>
        <c:majorTickMark val="none"/>
        <c:minorTickMark val="none"/>
        <c:spPr>
          <a:ln w="9525">
            <a:solidFill>
              <a:srgbClr val="D7DADD"/>
            </a:solidFill>
            <a:prstDash val="solid"/>
          </a:ln>
        </c:spPr>
        <c:txPr>
          <a:bodyPr anchorCtr="1"/>
          <a:lstStyle/>
          <a:p>
            <a:pPr>
              <a:defRPr sz="1000" lang="pt-BR">
                <a:solidFill>
                  <a:srgbClr val="73787D"/>
                </a:solidFill>
              </a:defRPr>
            </a:pPr>
          </a:p>
        </c:txPr>
        <c:crossAx val="48672768"/>
        <c:lblAlgn val="ctr"/>
        <c:lblOffset val="100"/>
        <c:noMultiLvlLbl val="0"/>
      </c:catAx>
      <c:valAx>
        <c:axId val="48672768"/>
        <c:scaling>
          <c:orientation val="minMax"/>
          <c:max val="900"/>
          <c:min val="0"/>
        </c:scaling>
        <c:delete val="0"/>
        <c:axPos val="l"/>
        <c:majorGridlines>
          <c:spPr>
            <a:ln w="9525">
              <a:solidFill>
                <a:srgbClr val="E7E9EB"/>
              </a:solidFill>
              <a:prstDash val="solid"/>
            </a:ln>
          </c:spPr>
        </c:majorGridlines>
        <c:numFmt formatCode="0"/>
        <c:majorTickMark val="none"/>
        <c:minorTickMark val="none"/>
        <c:spPr>
          <a:ln w="9525">
            <a:solidFill>
              <a:srgbClr val="D7DADD"/>
            </a:solidFill>
            <a:prstDash val="solid"/>
          </a:ln>
        </c:spPr>
        <c:txPr>
          <a:bodyPr anchorCtr="1"/>
          <a:lstStyle/>
          <a:p>
            <a:pPr>
              <a:defRPr sz="1000" lang="pt-BR">
                <a:solidFill>
                  <a:srgbClr val="8D9399"/>
                </a:solidFill>
              </a:defRPr>
            </a:pPr>
          </a:p>
        </c:txPr>
        <c:crossAx val="48650112"/>
        <c:crossBetween val="between"/>
      </c:valAx>
      <c:spPr>
        <a:noFill/>
        <a:ln w="0">
          <a:noFill/>
          <a:prstDash val="solid"/>
        </a:ln>
      </c:spPr>
    </c:plotArea>
    <c:plotVisOnly val="1"/>
  </c:chart>
  <c:spPr>
    <a:noFill/>
    <a:ln w="0">
      <a:noFill/>
      <a:prstDash val="solid"/>
    </a:ln>
  </c:spPr>
</c:chartSpace>
</file>

<file path=ppt/slides/charts/chart13.xml><?xml version="1.0" encoding="utf-8"?>
<c:chartSpace xmlns:a="http://schemas.openxmlformats.org/drawingml/2006/main" xmlns:c="http://schemas.openxmlformats.org/drawingml/2006/chart">
  <c:lang val="pt-BR"/>
  <c:chart>
    <c:plotArea>
      <c:barChart>
        <c:barDir val="col"/>
        <c:grouping val="percentStacked"/>
        <c:varyColors val="0"/>
        <c:ser>
          <c:idx val="0"/>
          <c:order val="0"/>
          <c:tx>
            <c:v>Fomento Mercantil</c:v>
          </c:tx>
          <c:spPr>
            <a:solidFill>
              <a:srgbClr val="73787D"/>
            </a:solidFill>
          </c:spPr>
          <c:dLbls>
            <c:dLbl>
              <c:idx val="0"/>
              <c:txPr>
                <a:bodyPr anchorCtr="1"/>
                <a:lstStyle/>
                <a:p>
                  <a:pPr>
                    <a:defRPr sz="1200" b="1" lang="pt-BR">
                      <a:solidFill>
                        <a:srgbClr val="FFFFFF"/>
                      </a:solidFill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"/>
              <c:txPr>
                <a:bodyPr anchorCtr="1"/>
                <a:lstStyle/>
                <a:p>
                  <a:pPr>
                    <a:defRPr sz="1200" b="1" lang="pt-BR">
                      <a:solidFill>
                        <a:srgbClr val="FFFFFF"/>
                      </a:solidFill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2"/>
              <c:txPr>
                <a:bodyPr anchorCtr="1"/>
                <a:lstStyle/>
                <a:p>
                  <a:pPr>
                    <a:defRPr sz="1200" b="1" lang="pt-BR">
                      <a:solidFill>
                        <a:srgbClr val="FFFFFF"/>
                      </a:solidFill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3"/>
              <c:txPr>
                <a:bodyPr anchorCtr="1"/>
                <a:lstStyle/>
                <a:p>
                  <a:pPr>
                    <a:defRPr sz="1200" b="1" lang="pt-BR">
                      <a:solidFill>
                        <a:srgbClr val="FFFFFF"/>
                      </a:solidFill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</c:dLbls>
          <c:cat>
            <c:strLit>
              <c:ptCount val="4"/>
              <c:pt idx="0">
                <c:v>dez/23</c:v>
              </c:pt>
              <c:pt idx="1">
                <c:v>dez/24</c:v>
              </c:pt>
              <c:pt idx="2">
                <c:v>dez/25</c:v>
              </c:pt>
              <c:pt idx="3">
                <c:v>jun/26</c:v>
              </c:pt>
            </c:strLit>
          </c:cat>
          <c:val>
            <c:numLit>
              <c:formatCode>0.0%</c:formatCode>
              <c:ptCount val="4"/>
              <c:pt idx="0">
                <c:v>0.11725792186961576</c:v>
              </c:pt>
              <c:pt idx="1">
                <c:v>0.10283728729678644</c:v>
              </c:pt>
              <c:pt idx="2">
                <c:v>0.10885918662385549</c:v>
              </c:pt>
              <c:pt idx="3">
                <c:v>0.10761688780184121</c:v>
              </c:pt>
            </c:numLit>
          </c:val>
        </c:ser>
        <c:ser>
          <c:idx val="1"/>
          <c:order val="1"/>
          <c:tx>
            <c:v>Agro, Indústria e Comércio</c:v>
          </c:tx>
          <c:spPr>
            <a:solidFill>
              <a:srgbClr val="0A3B00"/>
            </a:solidFill>
          </c:spPr>
          <c:dLbls>
            <c:dLbl>
              <c:idx val="0"/>
              <c:txPr>
                <a:bodyPr anchorCtr="1"/>
                <a:lstStyle/>
                <a:p>
                  <a:pPr>
                    <a:defRPr sz="1200" b="1" lang="pt-BR">
                      <a:solidFill>
                        <a:srgbClr val="FFFFFF"/>
                      </a:solidFill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"/>
              <c:txPr>
                <a:bodyPr anchorCtr="1"/>
                <a:lstStyle/>
                <a:p>
                  <a:pPr>
                    <a:defRPr sz="1200" b="1" lang="pt-BR">
                      <a:solidFill>
                        <a:srgbClr val="FFFFFF"/>
                      </a:solidFill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2"/>
              <c:txPr>
                <a:bodyPr anchorCtr="1"/>
                <a:lstStyle/>
                <a:p>
                  <a:pPr>
                    <a:defRPr sz="1200" b="1" lang="pt-BR">
                      <a:solidFill>
                        <a:srgbClr val="FFFFFF"/>
                      </a:solidFill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3"/>
              <c:txPr>
                <a:bodyPr anchorCtr="1"/>
                <a:lstStyle/>
                <a:p>
                  <a:pPr>
                    <a:defRPr sz="1200" b="1" lang="pt-BR">
                      <a:solidFill>
                        <a:srgbClr val="FFFFFF"/>
                      </a:solidFill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</c:dLbls>
          <c:cat>
            <c:strLit>
              <c:ptCount val="4"/>
              <c:pt idx="0">
                <c:v>dez/23</c:v>
              </c:pt>
              <c:pt idx="1">
                <c:v>dez/24</c:v>
              </c:pt>
              <c:pt idx="2">
                <c:v>dez/25</c:v>
              </c:pt>
              <c:pt idx="3">
                <c:v>jun/26</c:v>
              </c:pt>
            </c:strLit>
          </c:cat>
          <c:val>
            <c:numLit>
              <c:formatCode>0.0%</c:formatCode>
              <c:ptCount val="4"/>
              <c:pt idx="0">
                <c:v>0.2780086728593921</c:v>
              </c:pt>
              <c:pt idx="1">
                <c:v>0.31098435570146793</c:v>
              </c:pt>
              <c:pt idx="2">
                <c:v>0.25421879194236274</c:v>
              </c:pt>
              <c:pt idx="3">
                <c:v>0.24822913349112707</c:v>
              </c:pt>
            </c:numLit>
          </c:val>
        </c:ser>
        <c:ser>
          <c:idx val="2"/>
          <c:order val="2"/>
          <c:tx>
            <c:v>Financeiro</c:v>
          </c:tx>
          <c:spPr>
            <a:solidFill>
              <a:srgbClr val="EC7000"/>
            </a:solidFill>
          </c:spPr>
          <c:dLbls>
            <c:dLbl>
              <c:idx val="0"/>
              <c:txPr>
                <a:bodyPr anchorCtr="1"/>
                <a:lstStyle/>
                <a:p>
                  <a:pPr>
                    <a:defRPr sz="1200" b="1" lang="pt-BR">
                      <a:solidFill>
                        <a:srgbClr val="FFFFFF"/>
                      </a:solidFill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"/>
              <c:txPr>
                <a:bodyPr anchorCtr="1"/>
                <a:lstStyle/>
                <a:p>
                  <a:pPr>
                    <a:defRPr sz="1200" b="1" lang="pt-BR">
                      <a:solidFill>
                        <a:srgbClr val="FFFFFF"/>
                      </a:solidFill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2"/>
              <c:txPr>
                <a:bodyPr anchorCtr="1"/>
                <a:lstStyle/>
                <a:p>
                  <a:pPr>
                    <a:defRPr sz="1200" b="1" lang="pt-BR">
                      <a:solidFill>
                        <a:srgbClr val="FFFFFF"/>
                      </a:solidFill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3"/>
              <c:txPr>
                <a:bodyPr anchorCtr="1"/>
                <a:lstStyle/>
                <a:p>
                  <a:pPr>
                    <a:defRPr sz="1200" b="1" lang="pt-BR">
                      <a:solidFill>
                        <a:srgbClr val="FFFFFF"/>
                      </a:solidFill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</c:dLbls>
          <c:cat>
            <c:strLit>
              <c:ptCount val="4"/>
              <c:pt idx="0">
                <c:v>dez/23</c:v>
              </c:pt>
              <c:pt idx="1">
                <c:v>dez/24</c:v>
              </c:pt>
              <c:pt idx="2">
                <c:v>dez/25</c:v>
              </c:pt>
              <c:pt idx="3">
                <c:v>jun/26</c:v>
              </c:pt>
            </c:strLit>
          </c:cat>
          <c:val>
            <c:numLit>
              <c:formatCode>0.0%</c:formatCode>
              <c:ptCount val="4"/>
              <c:pt idx="0">
                <c:v>0.3422333790014878</c:v>
              </c:pt>
              <c:pt idx="1">
                <c:v>0.3270975055067031</c:v>
              </c:pt>
              <c:pt idx="2">
                <c:v>0.3551615451672988</c:v>
              </c:pt>
              <c:pt idx="3">
                <c:v>0.39433688496997327</c:v>
              </c:pt>
            </c:numLit>
          </c:val>
        </c:ser>
        <c:ser>
          <c:idx val="3"/>
          <c:order val="3"/>
          <c:tx>
            <c:v>Precatórios e/ou Ações Judiciais</c:v>
          </c:tx>
          <c:spPr>
            <a:solidFill>
              <a:srgbClr val="151515"/>
            </a:solidFill>
          </c:spPr>
          <c:dLbls>
            <c:dLbl>
              <c:idx val="0"/>
              <c:txPr>
                <a:bodyPr anchorCtr="1"/>
                <a:lstStyle/>
                <a:p>
                  <a:pPr>
                    <a:defRPr sz="1200" b="1" lang="pt-BR">
                      <a:solidFill>
                        <a:srgbClr val="FFFFFF"/>
                      </a:solidFill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"/>
              <c:txPr>
                <a:bodyPr anchorCtr="1"/>
                <a:lstStyle/>
                <a:p>
                  <a:pPr>
                    <a:defRPr sz="1200" b="1" lang="pt-BR">
                      <a:solidFill>
                        <a:srgbClr val="FFFFFF"/>
                      </a:solidFill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2"/>
              <c:txPr>
                <a:bodyPr anchorCtr="1"/>
                <a:lstStyle/>
                <a:p>
                  <a:pPr>
                    <a:defRPr sz="1200" b="1" lang="pt-BR">
                      <a:solidFill>
                        <a:srgbClr val="FFFFFF"/>
                      </a:solidFill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3"/>
              <c:txPr>
                <a:bodyPr anchorCtr="1"/>
                <a:lstStyle/>
                <a:p>
                  <a:pPr>
                    <a:defRPr sz="1200" b="1" lang="pt-BR">
                      <a:solidFill>
                        <a:srgbClr val="FFFFFF"/>
                      </a:solidFill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</c:dLbls>
          <c:cat>
            <c:strLit>
              <c:ptCount val="4"/>
              <c:pt idx="0">
                <c:v>dez/23</c:v>
              </c:pt>
              <c:pt idx="1">
                <c:v>dez/24</c:v>
              </c:pt>
              <c:pt idx="2">
                <c:v>dez/25</c:v>
              </c:pt>
              <c:pt idx="3">
                <c:v>jun/26</c:v>
              </c:pt>
            </c:strLit>
          </c:cat>
          <c:val>
            <c:numLit>
              <c:formatCode>0.0%</c:formatCode>
              <c:ptCount val="4"/>
              <c:pt idx="0">
                <c:v>0.11970524849632089</c:v>
              </c:pt>
              <c:pt idx="1">
                <c:v>0.10981596434141346</c:v>
              </c:pt>
              <c:pt idx="2">
                <c:v>0.12002206496480745</c:v>
              </c:pt>
              <c:pt idx="3">
                <c:v>0.09964844465162633</c:v>
              </c:pt>
            </c:numLit>
          </c:val>
        </c:ser>
        <c:ser>
          <c:idx val="4"/>
          <c:order val="4"/>
          <c:tx>
            <c:v>Multicedente/Multisacado</c:v>
          </c:tx>
          <c:spPr>
            <a:solidFill>
              <a:srgbClr val="7030A0"/>
            </a:solidFill>
          </c:spPr>
          <c:dLbls>
            <c:dLbl>
              <c:idx val="0"/>
              <c:txPr>
                <a:bodyPr anchorCtr="1"/>
                <a:lstStyle/>
                <a:p>
                  <a:pPr>
                    <a:defRPr sz="1200" b="1" lang="pt-BR">
                      <a:solidFill>
                        <a:srgbClr val="FFFFFF"/>
                      </a:solidFill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"/>
              <c:txPr>
                <a:bodyPr anchorCtr="1"/>
                <a:lstStyle/>
                <a:p>
                  <a:pPr>
                    <a:defRPr sz="1200" b="1" lang="pt-BR">
                      <a:solidFill>
                        <a:srgbClr val="FFFFFF"/>
                      </a:solidFill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2"/>
              <c:txPr>
                <a:bodyPr anchorCtr="1"/>
                <a:lstStyle/>
                <a:p>
                  <a:pPr>
                    <a:defRPr sz="1200" b="1" lang="pt-BR">
                      <a:solidFill>
                        <a:srgbClr val="FFFFFF"/>
                      </a:solidFill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3"/>
              <c:txPr>
                <a:bodyPr anchorCtr="1"/>
                <a:lstStyle/>
                <a:p>
                  <a:pPr>
                    <a:defRPr sz="1200" b="1" lang="pt-BR">
                      <a:solidFill>
                        <a:srgbClr val="FFFFFF"/>
                      </a:solidFill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</c:dLbls>
          <c:cat>
            <c:strLit>
              <c:ptCount val="4"/>
              <c:pt idx="0">
                <c:v>dez/23</c:v>
              </c:pt>
              <c:pt idx="1">
                <c:v>dez/24</c:v>
              </c:pt>
              <c:pt idx="2">
                <c:v>dez/25</c:v>
              </c:pt>
              <c:pt idx="3">
                <c:v>jun/26</c:v>
              </c:pt>
            </c:strLit>
          </c:cat>
          <c:val>
            <c:numLit>
              <c:formatCode>0.0%</c:formatCode>
              <c:ptCount val="4"/>
              <c:pt idx="0">
                <c:v>0.09467008397246636</c:v>
              </c:pt>
              <c:pt idx="1">
                <c:v>0.09725091772659426</c:v>
              </c:pt>
              <c:pt idx="2">
                <c:v>0.11762249379864934</c:v>
              </c:pt>
              <c:pt idx="3">
                <c:v>0.10531875749498289</c:v>
              </c:pt>
            </c:numLit>
          </c:val>
        </c:ser>
        <c:ser>
          <c:idx val="5"/>
          <c:order val="5"/>
          <c:tx>
            <c:v>Recuperação / FIDCs NP</c:v>
          </c:tx>
          <c:spPr>
            <a:solidFill>
              <a:srgbClr val="E7E9EB"/>
            </a:solidFill>
          </c:spPr>
          <c:dLbls>
            <c:dLbl>
              <c:idx val="0"/>
              <c:txPr>
                <a:bodyPr anchorCtr="1"/>
                <a:lstStyle/>
                <a:p>
                  <a:pPr>
                    <a:defRPr sz="1200" b="1" lang="pt-BR">
                      <a:solidFill>
                        <a:srgbClr val="151515"/>
                      </a:solidFill>
                    </a:defRPr>
                  </a:pPr>
                </a:p>
              </c:txPr>
              <c:dLblPos val="ctr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1"/>
              <c:txPr>
                <a:bodyPr anchorCtr="1"/>
                <a:lstStyle/>
                <a:p>
                  <a:pPr>
                    <a:defRPr sz="1200" b="1" lang="pt-BR">
                      <a:solidFill>
                        <a:srgbClr val="151515"/>
                      </a:solidFill>
                    </a:defRPr>
                  </a:pPr>
                </a:p>
              </c:txPr>
              <c:dLblPos val="ctr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2"/>
              <c:txPr>
                <a:bodyPr anchorCtr="1"/>
                <a:lstStyle/>
                <a:p>
                  <a:pPr>
                    <a:defRPr sz="1200" b="1" lang="pt-BR">
                      <a:solidFill>
                        <a:srgbClr val="151515"/>
                      </a:solidFill>
                    </a:defRPr>
                  </a:pPr>
                </a:p>
              </c:txPr>
              <c:dLblPos val="ctr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3"/>
              <c:txPr>
                <a:bodyPr anchorCtr="1"/>
                <a:lstStyle/>
                <a:p>
                  <a:pPr>
                    <a:defRPr sz="1200" b="1" lang="pt-BR">
                      <a:solidFill>
                        <a:srgbClr val="151515"/>
                      </a:solidFill>
                    </a:defRPr>
                  </a:pPr>
                </a:p>
              </c:txPr>
              <c:dLblPos val="ctr"/>
              <c:showLegendKey val="0"/>
              <c:showVal val="0"/>
              <c:showCatName val="0"/>
              <c:showSerName val="0"/>
              <c:showPercent val="0"/>
              <c:showBubbleSize val="0"/>
            </c:dLbl>
          </c:dLbls>
          <c:cat>
            <c:strLit>
              <c:ptCount val="4"/>
              <c:pt idx="0">
                <c:v>dez/23</c:v>
              </c:pt>
              <c:pt idx="1">
                <c:v>dez/24</c:v>
              </c:pt>
              <c:pt idx="2">
                <c:v>dez/25</c:v>
              </c:pt>
              <c:pt idx="3">
                <c:v>jun/26</c:v>
              </c:pt>
            </c:strLit>
          </c:cat>
          <c:val>
            <c:numLit>
              <c:formatCode>0.0%</c:formatCode>
              <c:ptCount val="4"/>
              <c:pt idx="0">
                <c:v>0.04703584888305553</c:v>
              </c:pt>
              <c:pt idx="1">
                <c:v>0.05167322964378321</c:v>
              </c:pt>
              <c:pt idx="2">
                <c:v>0.044008150558656485</c:v>
              </c:pt>
              <c:pt idx="3">
                <c:v>0.04285480174308955</c:v>
              </c:pt>
            </c:numLit>
          </c:val>
        </c:ser>
        <c:ser>
          <c:idx val="6"/>
          <c:order val="6"/>
          <c:tx>
            <c:v>N/D</c:v>
          </c:tx>
          <c:spPr>
            <a:solidFill>
              <a:srgbClr val="D7DADD"/>
            </a:solidFill>
          </c:spPr>
          <c:dLbls>
            <c:dLbl>
              <c:idx val="0"/>
              <c:txPr>
                <a:bodyPr anchorCtr="1"/>
                <a:lstStyle/>
                <a:p>
                  <a:pPr>
                    <a:defRPr sz="1200" b="1" lang="pt-BR">
                      <a:solidFill>
                        <a:srgbClr val="151515"/>
                      </a:solidFill>
                    </a:defRPr>
                  </a:pPr>
                </a:p>
              </c:txPr>
              <c:dLblPos val="ctr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1"/>
              <c:txPr>
                <a:bodyPr anchorCtr="1"/>
                <a:lstStyle/>
                <a:p>
                  <a:pPr>
                    <a:defRPr sz="1200" b="1" lang="pt-BR">
                      <a:solidFill>
                        <a:srgbClr val="151515"/>
                      </a:solidFill>
                    </a:defRPr>
                  </a:pPr>
                </a:p>
              </c:txPr>
              <c:dLblPos val="ctr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2"/>
              <c:txPr>
                <a:bodyPr anchorCtr="1"/>
                <a:lstStyle/>
                <a:p>
                  <a:pPr>
                    <a:defRPr sz="1200" b="1" lang="pt-BR">
                      <a:solidFill>
                        <a:srgbClr val="151515"/>
                      </a:solidFill>
                    </a:defRPr>
                  </a:pPr>
                </a:p>
              </c:txPr>
              <c:dLblPos val="ctr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3"/>
              <c:txPr>
                <a:bodyPr anchorCtr="1"/>
                <a:lstStyle/>
                <a:p>
                  <a:pPr>
                    <a:defRPr sz="1200" b="1" lang="pt-BR">
                      <a:solidFill>
                        <a:srgbClr val="151515"/>
                      </a:solidFill>
                    </a:defRPr>
                  </a:pPr>
                </a:p>
              </c:txPr>
              <c:dLblPos val="ctr"/>
              <c:showLegendKey val="0"/>
              <c:showVal val="0"/>
              <c:showCatName val="0"/>
              <c:showSerName val="0"/>
              <c:showPercent val="0"/>
              <c:showBubbleSize val="0"/>
            </c:dLbl>
          </c:dLbls>
          <c:cat>
            <c:strLit>
              <c:ptCount val="4"/>
              <c:pt idx="0">
                <c:v>dez/23</c:v>
              </c:pt>
              <c:pt idx="1">
                <c:v>dez/24</c:v>
              </c:pt>
              <c:pt idx="2">
                <c:v>dez/25</c:v>
              </c:pt>
              <c:pt idx="3">
                <c:v>jun/26</c:v>
              </c:pt>
            </c:strLit>
          </c:cat>
          <c:val>
            <c:numLit>
              <c:formatCode>0.0%</c:formatCode>
              <c:ptCount val="4"/>
              <c:pt idx="0">
                <c:v>0.0010888449176614783</c:v>
              </c:pt>
              <c:pt idx="1">
                <c:v>0.0003407397832516652</c:v>
              </c:pt>
              <c:pt idx="2">
                <c:v>0.00010776694436961769</c:v>
              </c:pt>
              <c:pt idx="3">
                <c:v>0.001995089847359775</c:v>
              </c:pt>
            </c:numLit>
          </c:val>
        </c:ser>
        <c:dLbls>
          <c:txPr>
            <a:bodyPr anchorCtr="1"/>
            <a:lstStyle/>
            <a:p>
              <a:pPr>
                <a:defRPr sz="1200" lang="pt-BR"/>
              </a:pPr>
            </a:p>
          </c:txPr>
          <c:dLblPos val="ctr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52"/>
        <c:overlap val="100"/>
        <c:axId val="48650112"/>
        <c:axId val="48672768"/>
      </c:barChart>
      <c:catAx>
        <c:axId val="48650112"/>
        <c:scaling>
          <c:orientation val="minMax"/>
        </c:scaling>
        <c:delete val="0"/>
        <c:axPos val="b"/>
        <c:numFmt formatCode="General"/>
        <c:majorTickMark val="none"/>
        <c:minorTickMark val="none"/>
        <c:spPr>
          <a:ln w="9525">
            <a:solidFill>
              <a:srgbClr val="D7DADD"/>
            </a:solidFill>
            <a:prstDash val="solid"/>
          </a:ln>
        </c:spPr>
        <c:txPr>
          <a:bodyPr anchorCtr="1"/>
          <a:lstStyle/>
          <a:p>
            <a:pPr>
              <a:defRPr sz="1000" lang="pt-BR">
                <a:solidFill>
                  <a:srgbClr val="73787D"/>
                </a:solidFill>
              </a:defRPr>
            </a:pPr>
          </a:p>
        </c:txPr>
        <c:crossAx val="48672768"/>
        <c:lblAlgn val="ctr"/>
        <c:lblOffset val="100"/>
        <c:noMultiLvlLbl val="0"/>
      </c:catAx>
      <c:valAx>
        <c:axId val="48672768"/>
        <c:scaling>
          <c:orientation val="minMax"/>
          <c:max val="1"/>
          <c:min val="0"/>
        </c:scaling>
        <c:delete val="0"/>
        <c:axPos val="l"/>
        <c:majorGridlines>
          <c:spPr>
            <a:ln w="9525">
              <a:solidFill>
                <a:srgbClr val="E7E9EB"/>
              </a:solidFill>
              <a:prstDash val="solid"/>
            </a:ln>
          </c:spPr>
        </c:majorGridlines>
        <c:numFmt formatCode="0%"/>
        <c:majorTickMark val="none"/>
        <c:minorTickMark val="none"/>
        <c:spPr>
          <a:ln w="9525">
            <a:solidFill>
              <a:srgbClr val="D7DADD"/>
            </a:solidFill>
            <a:prstDash val="solid"/>
          </a:ln>
        </c:spPr>
        <c:txPr>
          <a:bodyPr anchorCtr="1"/>
          <a:lstStyle/>
          <a:p>
            <a:pPr>
              <a:defRPr sz="1000" lang="pt-BR">
                <a:solidFill>
                  <a:srgbClr val="8D9399"/>
                </a:solidFill>
              </a:defRPr>
            </a:pPr>
          </a:p>
        </c:txPr>
        <c:crossAx val="48650112"/>
        <c:crossBetween val="between"/>
        <c:majorUnit val="0.2"/>
      </c:valAx>
      <c:spPr>
        <a:noFill/>
        <a:ln w="0">
          <a:noFill/>
          <a:prstDash val="solid"/>
        </a:ln>
      </c:spPr>
    </c:plotArea>
    <c:plotVisOnly val="1"/>
  </c:chart>
  <c:spPr>
    <a:noFill/>
    <a:ln w="0">
      <a:noFill/>
      <a:prstDash val="solid"/>
    </a:ln>
  </c:spPr>
</c:chartSpace>
</file>

<file path=ppt/slides/charts/chart14.xml><?xml version="1.0" encoding="utf-8"?>
<c:chartSpace xmlns:a="http://schemas.openxmlformats.org/drawingml/2006/main" xmlns:c="http://schemas.openxmlformats.org/drawingml/2006/chart">
  <c:lang val="pt-BR"/>
  <c:chart>
    <c:plotArea>
      <c:lineChart>
        <c:grouping val="standard"/>
        <c:ser>
          <c:idx val="0"/>
          <c:order val="0"/>
          <c:tx>
            <c:v>Fomento Mercantil</c:v>
          </c:tx>
          <c:spPr>
            <a:ln w="28575">
              <a:solidFill>
                <a:srgbClr val="73787D"/>
              </a:solidFill>
              <a:prstDash val="solid"/>
            </a:ln>
          </c:spPr>
          <c:marker>
            <c:symbol val="none"/>
          </c:marker>
          <c:cat>
            <c:strLit>
              <c:ptCount val="1"/>
              <c:pt idx="0">
                <c:v/>
              </c:pt>
            </c:strLit>
          </c:cat>
          <c:val>
            <c:numLit>
              <c:formatCode>General</c:formatCode>
              <c:ptCount val="1"/>
              <c:pt idx="0">
                <c:v>0</c:v>
              </c:pt>
            </c:numLit>
          </c:val>
        </c:ser>
        <c:ser>
          <c:idx val="1"/>
          <c:order val="1"/>
          <c:tx>
            <c:v>Agro, Indústria e Comércio</c:v>
          </c:tx>
          <c:spPr>
            <a:ln w="28575">
              <a:solidFill>
                <a:srgbClr val="0A3B00"/>
              </a:solidFill>
              <a:prstDash val="solid"/>
            </a:ln>
          </c:spPr>
          <c:marker>
            <c:symbol val="none"/>
          </c:marker>
          <c:cat>
            <c:strLit>
              <c:ptCount val="1"/>
              <c:pt idx="0">
                <c:v/>
              </c:pt>
            </c:strLit>
          </c:cat>
          <c:val>
            <c:numLit>
              <c:formatCode>General</c:formatCode>
              <c:ptCount val="1"/>
              <c:pt idx="0">
                <c:v>0</c:v>
              </c:pt>
            </c:numLit>
          </c:val>
        </c:ser>
        <c:ser>
          <c:idx val="2"/>
          <c:order val="2"/>
          <c:tx>
            <c:v>Financeiro</c:v>
          </c:tx>
          <c:spPr>
            <a:ln w="28575">
              <a:solidFill>
                <a:srgbClr val="EC7000"/>
              </a:solidFill>
              <a:prstDash val="solid"/>
            </a:ln>
          </c:spPr>
          <c:marker>
            <c:symbol val="none"/>
          </c:marker>
          <c:cat>
            <c:strLit>
              <c:ptCount val="1"/>
              <c:pt idx="0">
                <c:v/>
              </c:pt>
            </c:strLit>
          </c:cat>
          <c:val>
            <c:numLit>
              <c:formatCode>General</c:formatCode>
              <c:ptCount val="1"/>
              <c:pt idx="0">
                <c:v>0</c:v>
              </c:pt>
            </c:numLit>
          </c:val>
        </c:ser>
        <c:ser>
          <c:idx val="3"/>
          <c:order val="3"/>
          <c:tx>
            <c:v>Precatórios e/ou Ações Judiciais</c:v>
          </c:tx>
          <c:spPr>
            <a:ln w="28575">
              <a:solidFill>
                <a:srgbClr val="151515"/>
              </a:solidFill>
              <a:prstDash val="solid"/>
            </a:ln>
          </c:spPr>
          <c:marker>
            <c:symbol val="none"/>
          </c:marker>
          <c:cat>
            <c:strLit>
              <c:ptCount val="1"/>
              <c:pt idx="0">
                <c:v/>
              </c:pt>
            </c:strLit>
          </c:cat>
          <c:val>
            <c:numLit>
              <c:formatCode>General</c:formatCode>
              <c:ptCount val="1"/>
              <c:pt idx="0">
                <c:v>0</c:v>
              </c:pt>
            </c:numLit>
          </c:val>
        </c:ser>
        <c:ser>
          <c:idx val="4"/>
          <c:order val="4"/>
          <c:tx>
            <c:v>Multicedente/Multisacado</c:v>
          </c:tx>
          <c:spPr>
            <a:ln w="28575">
              <a:solidFill>
                <a:srgbClr val="7030A0"/>
              </a:solidFill>
              <a:prstDash val="solid"/>
            </a:ln>
          </c:spPr>
          <c:marker>
            <c:symbol val="none"/>
          </c:marker>
          <c:cat>
            <c:strLit>
              <c:ptCount val="1"/>
              <c:pt idx="0">
                <c:v/>
              </c:pt>
            </c:strLit>
          </c:cat>
          <c:val>
            <c:numLit>
              <c:formatCode>General</c:formatCode>
              <c:ptCount val="1"/>
              <c:pt idx="0">
                <c:v>0</c:v>
              </c:pt>
            </c:numLit>
          </c:val>
        </c:ser>
        <c:ser>
          <c:idx val="5"/>
          <c:order val="5"/>
          <c:tx>
            <c:v>Recuperação / FIDCs NP</c:v>
          </c:tx>
          <c:spPr>
            <a:ln w="28575">
              <a:solidFill>
                <a:srgbClr val="E7E9EB"/>
              </a:solidFill>
              <a:prstDash val="solid"/>
            </a:ln>
          </c:spPr>
          <c:marker>
            <c:symbol val="none"/>
          </c:marker>
          <c:cat>
            <c:strLit>
              <c:ptCount val="1"/>
              <c:pt idx="0">
                <c:v/>
              </c:pt>
            </c:strLit>
          </c:cat>
          <c:val>
            <c:numLit>
              <c:formatCode>General</c:formatCode>
              <c:ptCount val="1"/>
              <c:pt idx="0">
                <c:v>0</c:v>
              </c:pt>
            </c:numLit>
          </c:val>
        </c:ser>
        <c:ser>
          <c:idx val="6"/>
          <c:order val="6"/>
          <c:tx>
            <c:v>N/D</c:v>
          </c:tx>
          <c:spPr>
            <a:ln w="28575">
              <a:solidFill>
                <a:srgbClr val="D7DADD"/>
              </a:solidFill>
              <a:prstDash val="solid"/>
            </a:ln>
          </c:spPr>
          <c:marker>
            <c:symbol val="none"/>
          </c:marker>
          <c:cat>
            <c:strLit>
              <c:ptCount val="1"/>
              <c:pt idx="0">
                <c:v/>
              </c:pt>
            </c:strLit>
          </c:cat>
          <c:val>
            <c:numLit>
              <c:formatCode>General</c:formatCode>
              <c:ptCount val="1"/>
              <c:pt idx="0">
                <c:v>0</c:v>
              </c:pt>
            </c:numLit>
          </c:val>
        </c:ser>
        <c:axId val="48650112"/>
        <c:axId val="48672768"/>
      </c:lineChart>
      <c:catAx>
        <c:axId val="48650112"/>
        <c:scaling>
          <c:orientation val="minMax"/>
        </c:scaling>
        <c:delete val="0"/>
        <c:axPos val="b"/>
        <c:numFmt formatCode="General"/>
        <c:majorTickMark val="none"/>
        <c:minorTickMark val="none"/>
        <c:spPr>
          <a:ln w="9525">
            <a:solidFill>
              <a:srgbClr val="D4D4D4"/>
            </a:solidFill>
            <a:prstDash val="solid"/>
          </a:ln>
        </c:spPr>
        <c:txPr>
          <a:bodyPr anchorCtr="1"/>
          <a:lstStyle/>
          <a:p>
            <a:pPr>
              <a:defRPr lang="pt-BR">
                <a:solidFill>
                  <a:srgbClr val="666666"/>
                </a:solidFill>
              </a:defRPr>
            </a:pPr>
          </a:p>
        </c:txPr>
        <c:crossAx val="48672768"/>
        <c:lblAlgn val="ctr"/>
        <c:lblOffset val="100"/>
        <c:noMultiLvlLbl val="0"/>
      </c:catAx>
      <c:valAx>
        <c:axId val="48672768"/>
        <c:scaling>
          <c:orientation val="minMax"/>
        </c:scaling>
        <c:delete val="1"/>
        <c:axPos val="l"/>
        <c:numFmt formatCode="General"/>
        <c:majorTickMark val="none"/>
        <c:minorTickMark val="none"/>
        <c:spPr>
          <a:ln w="9525">
            <a:solidFill>
              <a:srgbClr val="D4D4D4"/>
            </a:solidFill>
            <a:prstDash val="solid"/>
          </a:ln>
        </c:spPr>
        <c:txPr>
          <a:bodyPr anchorCtr="1"/>
          <a:lstStyle/>
          <a:p>
            <a:pPr>
              <a:defRPr lang="pt-BR">
                <a:solidFill>
                  <a:srgbClr val="666666"/>
                </a:solidFill>
              </a:defRPr>
            </a:pPr>
          </a:p>
        </c:txPr>
        <c:crossAx val="48650112"/>
        <c:crossBetween val="between"/>
      </c:valAx>
      <c:spPr>
        <a:noFill/>
        <a:ln w="0">
          <a:noFill/>
          <a:prstDash val="solid"/>
        </a:ln>
      </c:spPr>
    </c:plotArea>
    <c:legend>
      <c:legendPos val="b"/>
      <c:overlay val="0"/>
      <c:txPr>
        <a:bodyPr anchorCtr="1"/>
        <a:lstStyle/>
        <a:p>
          <a:pPr>
            <a:defRPr sz="1000" lang="pt-BR">
              <a:solidFill>
                <a:srgbClr val="73787D"/>
              </a:solidFill>
            </a:defRPr>
          </a:pPr>
        </a:p>
      </c:txPr>
    </c:legend>
    <c:plotVisOnly val="1"/>
  </c:chart>
  <c:spPr>
    <a:noFill/>
    <a:ln w="0">
      <a:noFill/>
      <a:prstDash val="solid"/>
    </a:ln>
  </c:spPr>
</c:chartSpace>
</file>

<file path=ppt/slides/charts/chart15.xml><?xml version="1.0" encoding="utf-8"?>
<c:chartSpace xmlns:a="http://schemas.openxmlformats.org/drawingml/2006/main" xmlns:c="http://schemas.openxmlformats.org/drawingml/2006/chart">
  <c:lang val="pt-BR"/>
  <c:chart>
    <c:plotArea>
      <c:barChart>
        <c:barDir val="bar"/>
        <c:grouping val="clustered"/>
        <c:varyColors val="0"/>
        <c:ser>
          <c:idx val="0"/>
          <c:order val="0"/>
          <c:tx>
            <c:v>Dez/23</c:v>
          </c:tx>
          <c:spPr>
            <a:solidFill>
              <a:srgbClr val="73787D"/>
            </a:solidFill>
          </c:spPr>
          <c:cat>
            <c:strLit>
              <c:ptCount val="12"/>
              <c:pt idx="0">
                <c:v>Financeiro</c:v>
              </c:pt>
              <c:pt idx="1">
                <c:v>Comercial</c:v>
              </c:pt>
              <c:pt idx="2">
                <c:v>Adquirência</c:v>
              </c:pt>
              <c:pt idx="3">
                <c:v>Industrial</c:v>
              </c:pt>
              <c:pt idx="4">
                <c:v>Serviços</c:v>
              </c:pt>
              <c:pt idx="5">
                <c:v>Setor público</c:v>
              </c:pt>
              <c:pt idx="6">
                <c:v>Ações judiciais</c:v>
              </c:pt>
              <c:pt idx="7">
                <c:v>N/D</c:v>
              </c:pt>
              <c:pt idx="8">
                <c:v>Agronegócio</c:v>
              </c:pt>
              <c:pt idx="9">
                <c:v>Cartão</c:v>
              </c:pt>
              <c:pt idx="10">
                <c:v>Imobiliário</c:v>
              </c:pt>
              <c:pt idx="11">
                <c:v>Factoring</c:v>
              </c:pt>
            </c:strLit>
          </c:cat>
          <c:val>
            <c:numLit>
              <c:formatCode>0.0</c:formatCode>
              <c:ptCount val="12"/>
              <c:pt idx="0">
                <c:v>112.83368367224</c:v>
              </c:pt>
              <c:pt idx="1">
                <c:v>103.39874467744</c:v>
              </c:pt>
              <c:pt idx="2">
                <c:v>51.72285589365</c:v>
              </c:pt>
              <c:pt idx="3">
                <c:v>48.499678</c:v>
              </c:pt>
              <c:pt idx="4">
                <c:v>24.163748261490003</c:v>
              </c:pt>
              <c:pt idx="5">
                <c:v>25.154517560259997</c:v>
              </c:pt>
              <c:pt idx="6">
                <c:v>27.32144595605</c:v>
              </c:pt>
              <c:pt idx="7">
                <c:v>9.90241714442</c:v>
              </c:pt>
              <c:pt idx="8">
                <c:v>17.30426139734</c:v>
              </c:pt>
              <c:pt idx="9">
                <c:v>30.455624762630002</c:v>
              </c:pt>
              <c:pt idx="10">
                <c:v>1.36475726781</c:v>
              </c:pt>
              <c:pt idx="11">
                <c:v>0.21330512728999998</c:v>
              </c:pt>
            </c:numLit>
          </c:val>
        </c:ser>
        <c:ser>
          <c:idx val="1"/>
          <c:order val="1"/>
          <c:tx>
            <c:v>Jun/26</c:v>
          </c:tx>
          <c:spPr>
            <a:solidFill>
              <a:srgbClr val="EC7000"/>
            </a:solidFill>
          </c:spPr>
          <c:cat>
            <c:strLit>
              <c:ptCount val="12"/>
              <c:pt idx="0">
                <c:v>Financeiro</c:v>
              </c:pt>
              <c:pt idx="1">
                <c:v>Comercial</c:v>
              </c:pt>
              <c:pt idx="2">
                <c:v>Adquirência</c:v>
              </c:pt>
              <c:pt idx="3">
                <c:v>Industrial</c:v>
              </c:pt>
              <c:pt idx="4">
                <c:v>Serviços</c:v>
              </c:pt>
              <c:pt idx="5">
                <c:v>Setor público</c:v>
              </c:pt>
              <c:pt idx="6">
                <c:v>Ações judiciais</c:v>
              </c:pt>
              <c:pt idx="7">
                <c:v>N/D</c:v>
              </c:pt>
              <c:pt idx="8">
                <c:v>Agronegócio</c:v>
              </c:pt>
              <c:pt idx="9">
                <c:v>Cartão</c:v>
              </c:pt>
              <c:pt idx="10">
                <c:v>Imobiliário</c:v>
              </c:pt>
              <c:pt idx="11">
                <c:v>Factoring</c:v>
              </c:pt>
            </c:strLit>
          </c:cat>
          <c:val>
            <c:numLit>
              <c:formatCode>0.0</c:formatCode>
              <c:ptCount val="12"/>
              <c:pt idx="0">
                <c:v>336.68042868161</c:v>
              </c:pt>
              <c:pt idx="1">
                <c:v>118.22202651527</c:v>
              </c:pt>
              <c:pt idx="2">
                <c:v>99.24654124799001</c:v>
              </c:pt>
              <c:pt idx="3">
                <c:v>85.66685206006</c:v>
              </c:pt>
              <c:pt idx="4">
                <c:v>57.4323241591</c:v>
              </c:pt>
              <c:pt idx="5">
                <c:v>43.107876023699994</c:v>
              </c:pt>
              <c:pt idx="6">
                <c:v>27.72682732234</c:v>
              </c:pt>
              <c:pt idx="7">
                <c:v>25.98170017243</c:v>
              </c:pt>
              <c:pt idx="8">
                <c:v>12.07779703784</c:v>
              </c:pt>
              <c:pt idx="9">
                <c:v>11.00644353036</c:v>
              </c:pt>
              <c:pt idx="10">
                <c:v>4.10910183534</c:v>
              </c:pt>
              <c:pt idx="11">
                <c:v>0.10364069841</c:v>
              </c:pt>
            </c:numLit>
          </c:val>
        </c:ser>
        <c:dLbls>
          <c:txPr>
            <a:bodyPr anchorCtr="1"/>
            <a:lstStyle/>
            <a:p>
              <a:pPr>
                <a:defRPr sz="1200" b="1" lang="pt-BR">
                  <a:solidFill>
                    <a:srgbClr val="151515"/>
                  </a:solidFill>
                </a:defRPr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35"/>
        <c:axId val="48650112"/>
        <c:axId val="48672768"/>
      </c:barChart>
      <c:catAx>
        <c:axId val="48650112"/>
        <c:scaling>
          <c:orientation val="minMax"/>
        </c:scaling>
        <c:delete val="0"/>
        <c:axPos val="l"/>
        <c:majorGridlines>
          <c:spPr>
            <a:ln w="9525">
              <a:solidFill>
                <a:srgbClr val="E7E9EB"/>
              </a:solidFill>
              <a:prstDash val="solid"/>
            </a:ln>
          </c:spPr>
        </c:majorGridlines>
        <c:numFmt formatCode="0"/>
        <c:majorTickMark val="none"/>
        <c:minorTickMark val="none"/>
        <c:spPr>
          <a:ln w="9525">
            <a:solidFill>
              <a:srgbClr val="D7DADD"/>
            </a:solidFill>
            <a:prstDash val="solid"/>
          </a:ln>
        </c:spPr>
        <c:txPr>
          <a:bodyPr anchorCtr="1"/>
          <a:lstStyle/>
          <a:p>
            <a:pPr>
              <a:defRPr sz="1000" lang="pt-BR">
                <a:solidFill>
                  <a:srgbClr val="8D9399"/>
                </a:solidFill>
              </a:defRPr>
            </a:pPr>
          </a:p>
        </c:txPr>
        <c:crossAx val="48672768"/>
        <c:lblAlgn val="ctr"/>
        <c:lblOffset val="100"/>
        <c:noMultiLvlLbl val="0"/>
      </c:catAx>
      <c:valAx>
        <c:axId val="48672768"/>
        <c:scaling>
          <c:orientation val="minMax"/>
        </c:scaling>
        <c:delete val="0"/>
        <c:axPos val="b"/>
        <c:numFmt formatCode="General"/>
        <c:majorTickMark val="none"/>
        <c:minorTickMark val="none"/>
        <c:spPr>
          <a:ln w="9525">
            <a:solidFill>
              <a:srgbClr val="D7DADD"/>
            </a:solidFill>
            <a:prstDash val="solid"/>
          </a:ln>
        </c:spPr>
        <c:txPr>
          <a:bodyPr anchorCtr="1"/>
          <a:lstStyle/>
          <a:p>
            <a:pPr>
              <a:defRPr sz="1000" lang="pt-BR">
                <a:solidFill>
                  <a:srgbClr val="73787D"/>
                </a:solidFill>
              </a:defRPr>
            </a:pPr>
          </a:p>
        </c:txPr>
        <c:crossAx val="48650112"/>
        <c:crossBetween val="between"/>
      </c:valAx>
      <c:spPr>
        <a:noFill/>
        <a:ln w="0">
          <a:noFill/>
          <a:prstDash val="solid"/>
        </a:ln>
      </c:spPr>
    </c:plotArea>
    <c:plotVisOnly val="1"/>
  </c:chart>
  <c:spPr>
    <a:noFill/>
    <a:ln w="0">
      <a:noFill/>
      <a:prstDash val="solid"/>
    </a:ln>
  </c:spPr>
</c:chartSpace>
</file>

<file path=ppt/slides/charts/chart16.xml><?xml version="1.0" encoding="utf-8"?>
<c:chartSpace xmlns:a="http://schemas.openxmlformats.org/drawingml/2006/main" xmlns:c="http://schemas.openxmlformats.org/drawingml/2006/chart">
  <c:lang val="pt-BR"/>
  <c:chart>
    <c:plotArea>
      <c:barChart>
        <c:barDir val="bar"/>
        <c:grouping val="clustered"/>
        <c:varyColors val="0"/>
        <c:ser>
          <c:idx val="0"/>
          <c:order val="0"/>
          <c:tx>
            <c:v>Dez/23</c:v>
          </c:tx>
          <c:spPr>
            <a:solidFill>
              <a:srgbClr val="73787D"/>
            </a:solidFill>
          </c:spPr>
          <c:cat>
            <c:strLit>
              <c:ptCount val="12"/>
              <c:pt idx="0">
                <c:v>Financeiro</c:v>
              </c:pt>
              <c:pt idx="1">
                <c:v>Comercial</c:v>
              </c:pt>
              <c:pt idx="2">
                <c:v>Adquirência</c:v>
              </c:pt>
              <c:pt idx="3">
                <c:v>Industrial</c:v>
              </c:pt>
              <c:pt idx="4">
                <c:v>Serviços</c:v>
              </c:pt>
              <c:pt idx="5">
                <c:v>Setor público</c:v>
              </c:pt>
              <c:pt idx="6">
                <c:v>Ações judiciais</c:v>
              </c:pt>
              <c:pt idx="7">
                <c:v>N/D</c:v>
              </c:pt>
              <c:pt idx="8">
                <c:v>Agronegócio</c:v>
              </c:pt>
              <c:pt idx="9">
                <c:v>Cartão</c:v>
              </c:pt>
              <c:pt idx="10">
                <c:v>Imobiliário</c:v>
              </c:pt>
              <c:pt idx="11">
                <c:v>Factoring</c:v>
              </c:pt>
            </c:strLit>
          </c:cat>
          <c:val>
            <c:numLit>
              <c:formatCode>0.0%</c:formatCode>
              <c:ptCount val="12"/>
              <c:pt idx="0">
                <c:v>0.2494471437409106</c:v>
              </c:pt>
              <c:pt idx="1">
                <c:v>0.2285888458725266</c:v>
              </c:pt>
              <c:pt idx="2">
                <c:v>0.1143463392214675</c:v>
              </c:pt>
              <c:pt idx="3">
                <c:v>0.1072206964774502</c:v>
              </c:pt>
              <c:pt idx="4">
                <c:v>0.0534200230793848</c:v>
              </c:pt>
              <c:pt idx="5">
                <c:v>0.055610366987701</c:v>
              </c:pt>
              <c:pt idx="6">
                <c:v>0.0604009054282524</c:v>
              </c:pt>
              <c:pt idx="7">
                <c:v>0.0218917755090035</c:v>
              </c:pt>
              <c:pt idx="8">
                <c:v>0.0382554077792155</c:v>
              </c:pt>
              <c:pt idx="9">
                <c:v>0.0673297933793512</c:v>
              </c:pt>
              <c:pt idx="10">
                <c:v>0.0030171380679527</c:v>
              </c:pt>
              <c:pt idx="11">
                <c:v>0.0004715644567835</c:v>
              </c:pt>
            </c:numLit>
          </c:val>
        </c:ser>
        <c:ser>
          <c:idx val="1"/>
          <c:order val="1"/>
          <c:tx>
            <c:v>Jun/26</c:v>
          </c:tx>
          <c:spPr>
            <a:solidFill>
              <a:srgbClr val="EC7000"/>
            </a:solidFill>
          </c:spPr>
          <c:cat>
            <c:strLit>
              <c:ptCount val="12"/>
              <c:pt idx="0">
                <c:v>Financeiro</c:v>
              </c:pt>
              <c:pt idx="1">
                <c:v>Comercial</c:v>
              </c:pt>
              <c:pt idx="2">
                <c:v>Adquirência</c:v>
              </c:pt>
              <c:pt idx="3">
                <c:v>Industrial</c:v>
              </c:pt>
              <c:pt idx="4">
                <c:v>Serviços</c:v>
              </c:pt>
              <c:pt idx="5">
                <c:v>Setor público</c:v>
              </c:pt>
              <c:pt idx="6">
                <c:v>Ações judiciais</c:v>
              </c:pt>
              <c:pt idx="7">
                <c:v>N/D</c:v>
              </c:pt>
              <c:pt idx="8">
                <c:v>Agronegócio</c:v>
              </c:pt>
              <c:pt idx="9">
                <c:v>Cartão</c:v>
              </c:pt>
              <c:pt idx="10">
                <c:v>Imobiliário</c:v>
              </c:pt>
              <c:pt idx="11">
                <c:v>Factoring</c:v>
              </c:pt>
            </c:strLit>
          </c:cat>
          <c:val>
            <c:numLit>
              <c:formatCode>0.0%</c:formatCode>
              <c:ptCount val="12"/>
              <c:pt idx="0">
                <c:v>0.4099052662933455</c:v>
              </c:pt>
              <c:pt idx="1">
                <c:v>0.1439342092150771</c:v>
              </c:pt>
              <c:pt idx="2">
                <c:v>0.1208317337549265</c:v>
              </c:pt>
              <c:pt idx="3">
                <c:v>0.1042985894478563</c:v>
              </c:pt>
              <c:pt idx="4">
                <c:v>0.0699233163640305</c:v>
              </c:pt>
              <c:pt idx="5">
                <c:v>0.0524834350188661</c:v>
              </c:pt>
              <c:pt idx="6">
                <c:v>0.0337571523879141</c:v>
              </c:pt>
              <c:pt idx="7">
                <c:v>0.0316324764395653</c:v>
              </c:pt>
              <c:pt idx="8">
                <c:v>0.0147046046912176</c:v>
              </c:pt>
              <c:pt idx="9">
                <c:v>0.0134002418374053</c:v>
              </c:pt>
              <c:pt idx="10">
                <c:v>0.0050027929708808</c:v>
              </c:pt>
              <c:pt idx="11">
                <c:v>0.0001261815789142</c:v>
              </c:pt>
            </c:numLit>
          </c:val>
        </c:ser>
        <c:dLbls>
          <c:txPr>
            <a:bodyPr anchorCtr="1"/>
            <a:lstStyle/>
            <a:p>
              <a:pPr>
                <a:defRPr sz="1200" b="1" lang="pt-BR">
                  <a:solidFill>
                    <a:srgbClr val="151515"/>
                  </a:solidFill>
                </a:defRPr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35"/>
        <c:axId val="48650112"/>
        <c:axId val="48672768"/>
      </c:barChart>
      <c:catAx>
        <c:axId val="48650112"/>
        <c:scaling>
          <c:orientation val="minMax"/>
        </c:scaling>
        <c:delete val="0"/>
        <c:axPos val="l"/>
        <c:numFmt formatCode="General"/>
        <c:majorTickMark val="none"/>
        <c:minorTickMark val="none"/>
        <c:spPr>
          <a:ln w="9525">
            <a:solidFill>
              <a:srgbClr val="D4D4D4"/>
            </a:solidFill>
            <a:prstDash val="solid"/>
          </a:ln>
        </c:spPr>
        <c:txPr>
          <a:bodyPr anchorCtr="1"/>
          <a:lstStyle/>
          <a:p>
            <a:pPr>
              <a:defRPr lang="pt-BR">
                <a:solidFill>
                  <a:srgbClr val="666666"/>
                </a:solidFill>
              </a:defRPr>
            </a:pPr>
          </a:p>
        </c:txPr>
        <c:crossAx val="48672768"/>
        <c:lblAlgn val="ctr"/>
        <c:lblOffset val="100"/>
        <c:noMultiLvlLbl val="0"/>
      </c:catAx>
      <c:valAx>
        <c:axId val="48672768"/>
        <c:scaling>
          <c:orientation val="minMax"/>
        </c:scaling>
        <c:delete val="0"/>
        <c:axPos val="b"/>
        <c:numFmt formatCode="General"/>
        <c:majorTickMark val="none"/>
        <c:minorTickMark val="none"/>
        <c:spPr>
          <a:ln w="9525">
            <a:solidFill>
              <a:srgbClr val="D7DADD"/>
            </a:solidFill>
            <a:prstDash val="solid"/>
          </a:ln>
        </c:spPr>
        <c:txPr>
          <a:bodyPr anchorCtr="1"/>
          <a:lstStyle/>
          <a:p>
            <a:pPr>
              <a:defRPr sz="1000" lang="pt-BR">
                <a:solidFill>
                  <a:srgbClr val="73787D"/>
                </a:solidFill>
              </a:defRPr>
            </a:pPr>
          </a:p>
        </c:txPr>
        <c:crossAx val="48650112"/>
        <c:crossBetween val="between"/>
      </c:valAx>
      <c:spPr>
        <a:noFill/>
        <a:ln w="0">
          <a:noFill/>
          <a:prstDash val="solid"/>
        </a:ln>
      </c:spPr>
    </c:plotArea>
    <c:plotVisOnly val="1"/>
  </c:chart>
  <c:spPr>
    <a:noFill/>
    <a:ln w="0">
      <a:noFill/>
      <a:prstDash val="solid"/>
    </a:ln>
  </c:spPr>
</c:chartSpace>
</file>

<file path=ppt/slides/charts/chart17.xml><?xml version="1.0" encoding="utf-8"?>
<c:chartSpace xmlns:a="http://schemas.openxmlformats.org/drawingml/2006/main" xmlns:c="http://schemas.openxmlformats.org/drawingml/2006/chart">
  <c:lang val="pt-BR"/>
  <c:chart>
    <c:plotArea>
      <c:lineChart>
        <c:grouping val="standard"/>
        <c:ser>
          <c:idx val="0"/>
          <c:order val="0"/>
          <c:tx>
            <c:v>Dez/23</c:v>
          </c:tx>
          <c:spPr>
            <a:ln w="28575">
              <a:solidFill>
                <a:srgbClr val="73787D"/>
              </a:solidFill>
              <a:prstDash val="solid"/>
            </a:ln>
          </c:spPr>
          <c:marker>
            <c:symbol val="none"/>
          </c:marker>
          <c:cat>
            <c:strLit>
              <c:ptCount val="1"/>
              <c:pt idx="0">
                <c:v/>
              </c:pt>
            </c:strLit>
          </c:cat>
          <c:val>
            <c:numLit>
              <c:formatCode>General</c:formatCode>
              <c:ptCount val="1"/>
              <c:pt idx="0">
                <c:v>0</c:v>
              </c:pt>
            </c:numLit>
          </c:val>
        </c:ser>
        <c:ser>
          <c:idx val="1"/>
          <c:order val="1"/>
          <c:tx>
            <c:v>Jun/26</c:v>
          </c:tx>
          <c:spPr>
            <a:ln w="28575">
              <a:solidFill>
                <a:srgbClr val="EC7000"/>
              </a:solidFill>
              <a:prstDash val="solid"/>
            </a:ln>
          </c:spPr>
          <c:marker>
            <c:symbol val="none"/>
          </c:marker>
          <c:cat>
            <c:strLit>
              <c:ptCount val="1"/>
              <c:pt idx="0">
                <c:v/>
              </c:pt>
            </c:strLit>
          </c:cat>
          <c:val>
            <c:numLit>
              <c:formatCode>General</c:formatCode>
              <c:ptCount val="1"/>
              <c:pt idx="0">
                <c:v>0</c:v>
              </c:pt>
            </c:numLit>
          </c:val>
        </c:ser>
        <c:axId val="48650112"/>
        <c:axId val="48672768"/>
      </c:lineChart>
      <c:catAx>
        <c:axId val="48650112"/>
        <c:scaling>
          <c:orientation val="minMax"/>
        </c:scaling>
        <c:delete val="0"/>
        <c:axPos val="b"/>
        <c:numFmt formatCode="General"/>
        <c:majorTickMark val="none"/>
        <c:minorTickMark val="none"/>
        <c:spPr>
          <a:ln w="9525">
            <a:solidFill>
              <a:srgbClr val="D4D4D4"/>
            </a:solidFill>
            <a:prstDash val="solid"/>
          </a:ln>
        </c:spPr>
        <c:txPr>
          <a:bodyPr anchorCtr="1"/>
          <a:lstStyle/>
          <a:p>
            <a:pPr>
              <a:defRPr lang="pt-BR">
                <a:solidFill>
                  <a:srgbClr val="666666"/>
                </a:solidFill>
              </a:defRPr>
            </a:pPr>
          </a:p>
        </c:txPr>
        <c:crossAx val="48672768"/>
        <c:lblAlgn val="ctr"/>
        <c:lblOffset val="100"/>
        <c:noMultiLvlLbl val="0"/>
      </c:catAx>
      <c:valAx>
        <c:axId val="48672768"/>
        <c:scaling>
          <c:orientation val="minMax"/>
        </c:scaling>
        <c:delete val="1"/>
        <c:axPos val="l"/>
        <c:numFmt formatCode="General"/>
        <c:majorTickMark val="none"/>
        <c:minorTickMark val="none"/>
        <c:spPr>
          <a:ln w="9525">
            <a:solidFill>
              <a:srgbClr val="D4D4D4"/>
            </a:solidFill>
            <a:prstDash val="solid"/>
          </a:ln>
        </c:spPr>
        <c:txPr>
          <a:bodyPr anchorCtr="1"/>
          <a:lstStyle/>
          <a:p>
            <a:pPr>
              <a:defRPr lang="pt-BR">
                <a:solidFill>
                  <a:srgbClr val="666666"/>
                </a:solidFill>
              </a:defRPr>
            </a:pPr>
          </a:p>
        </c:txPr>
        <c:crossAx val="48650112"/>
        <c:crossBetween val="between"/>
      </c:valAx>
      <c:spPr>
        <a:noFill/>
        <a:ln w="0">
          <a:noFill/>
          <a:prstDash val="solid"/>
        </a:ln>
      </c:spPr>
    </c:plotArea>
    <c:legend>
      <c:legendPos val="b"/>
      <c:overlay val="0"/>
      <c:txPr>
        <a:bodyPr anchorCtr="1"/>
        <a:lstStyle/>
        <a:p>
          <a:pPr>
            <a:defRPr sz="1000" lang="pt-BR">
              <a:solidFill>
                <a:srgbClr val="73787D"/>
              </a:solidFill>
            </a:defRPr>
          </a:pPr>
        </a:p>
      </c:txPr>
    </c:legend>
    <c:plotVisOnly val="1"/>
  </c:chart>
  <c:spPr>
    <a:noFill/>
    <a:ln w="0">
      <a:noFill/>
      <a:prstDash val="solid"/>
    </a:ln>
  </c:spPr>
</c:chartSpace>
</file>

<file path=ppt/slides/charts/chart18.xml><?xml version="1.0" encoding="utf-8"?>
<c:chartSpace xmlns:a="http://schemas.openxmlformats.org/drawingml/2006/main" xmlns:c="http://schemas.openxmlformats.org/drawingml/2006/chart">
  <c:lang val="pt-BR"/>
  <c:chart>
    <c:plotArea>
      <c:barChart>
        <c:barDir val="bar"/>
        <c:grouping val="clustered"/>
        <c:varyColors val="0"/>
        <c:ser>
          <c:idx val="0"/>
          <c:order val="0"/>
          <c:tx>
            <c:v>Dez/23</c:v>
          </c:tx>
          <c:spPr>
            <a:solidFill>
              <a:srgbClr val="73787D"/>
            </a:solidFill>
          </c:spPr>
          <c:cat>
            <c:strLit>
              <c:ptCount val="10"/>
              <c:pt idx="0">
                <c:v>Financeiro</c:v>
              </c:pt>
              <c:pt idx="1">
                <c:v>Comercial</c:v>
              </c:pt>
              <c:pt idx="2">
                <c:v>Cartão</c:v>
              </c:pt>
              <c:pt idx="3">
                <c:v>Industrial</c:v>
              </c:pt>
              <c:pt idx="4">
                <c:v>Serviços</c:v>
              </c:pt>
              <c:pt idx="5">
                <c:v>Setor público</c:v>
              </c:pt>
              <c:pt idx="6">
                <c:v>Ações judiciais</c:v>
              </c:pt>
              <c:pt idx="7">
                <c:v>Agronegócio</c:v>
              </c:pt>
              <c:pt idx="8">
                <c:v>Imobiliário</c:v>
              </c:pt>
              <c:pt idx="9">
                <c:v>Factoring</c:v>
              </c:pt>
            </c:strLit>
          </c:cat>
          <c:val>
            <c:numLit>
              <c:formatCode>0.0</c:formatCode>
              <c:ptCount val="10"/>
              <c:pt idx="0">
                <c:v>118.04530398702</c:v>
              </c:pt>
              <c:pt idx="1">
                <c:v>115.89580945848</c:v>
              </c:pt>
              <c:pt idx="2">
                <c:v>77.90442532195</c:v>
              </c:pt>
              <c:pt idx="3">
                <c:v>39.74983932099</c:v>
              </c:pt>
              <c:pt idx="4">
                <c:v>26.373186905759997</c:v>
              </c:pt>
              <c:pt idx="5">
                <c:v>19.27032074904</c:v>
              </c:pt>
              <c:pt idx="6">
                <c:v>26.30715069555</c:v>
              </c:pt>
              <c:pt idx="7">
                <c:v>14.24326332352</c:v>
              </c:pt>
              <c:pt idx="8">
                <c:v>1.5402300008699998</c:v>
              </c:pt>
              <c:pt idx="9">
                <c:v>0.16600309574000002</c:v>
              </c:pt>
            </c:numLit>
          </c:val>
        </c:ser>
        <c:ser>
          <c:idx val="1"/>
          <c:order val="1"/>
          <c:tx>
            <c:v>Jun/26</c:v>
          </c:tx>
          <c:spPr>
            <a:solidFill>
              <a:srgbClr val="EC7000"/>
            </a:solidFill>
          </c:spPr>
          <c:cat>
            <c:strLit>
              <c:ptCount val="10"/>
              <c:pt idx="0">
                <c:v>Financeiro</c:v>
              </c:pt>
              <c:pt idx="1">
                <c:v>Comercial</c:v>
              </c:pt>
              <c:pt idx="2">
                <c:v>Cartão</c:v>
              </c:pt>
              <c:pt idx="3">
                <c:v>Industrial</c:v>
              </c:pt>
              <c:pt idx="4">
                <c:v>Serviços</c:v>
              </c:pt>
              <c:pt idx="5">
                <c:v>Setor público</c:v>
              </c:pt>
              <c:pt idx="6">
                <c:v>Ações judiciais</c:v>
              </c:pt>
              <c:pt idx="7">
                <c:v>Agronegócio</c:v>
              </c:pt>
              <c:pt idx="8">
                <c:v>Imobiliário</c:v>
              </c:pt>
              <c:pt idx="9">
                <c:v>Factoring</c:v>
              </c:pt>
            </c:strLit>
          </c:cat>
          <c:val>
            <c:numLit>
              <c:formatCode>0.0</c:formatCode>
              <c:ptCount val="10"/>
              <c:pt idx="0">
                <c:v>326.76177442545</c:v>
              </c:pt>
              <c:pt idx="1">
                <c:v>123.12261035610001</c:v>
              </c:pt>
              <c:pt idx="2">
                <c:v>78.58984371139</c:v>
              </c:pt>
              <c:pt idx="3">
                <c:v>77.39724903534</c:v>
              </c:pt>
              <c:pt idx="4">
                <c:v>57.591468014120004</c:v>
              </c:pt>
              <c:pt idx="5">
                <c:v>34.27503303086</c:v>
              </c:pt>
              <c:pt idx="6">
                <c:v>27.36423282215</c:v>
              </c:pt>
              <c:pt idx="7">
                <c:v>9.12643607218</c:v>
              </c:pt>
              <c:pt idx="8">
                <c:v>3.0872617298200002</c:v>
              </c:pt>
              <c:pt idx="9">
                <c:v>0.09505420486</c:v>
              </c:pt>
            </c:numLit>
          </c:val>
        </c:ser>
        <c:dLbls>
          <c:txPr>
            <a:bodyPr anchorCtr="1"/>
            <a:lstStyle/>
            <a:p>
              <a:pPr>
                <a:defRPr sz="1200" b="1" lang="pt-BR">
                  <a:solidFill>
                    <a:srgbClr val="151515"/>
                  </a:solidFill>
                </a:defRPr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28"/>
        <c:axId val="48650112"/>
        <c:axId val="48672768"/>
      </c:barChart>
      <c:catAx>
        <c:axId val="48650112"/>
        <c:scaling>
          <c:orientation val="minMax"/>
        </c:scaling>
        <c:delete val="0"/>
        <c:axPos val="l"/>
        <c:majorGridlines>
          <c:spPr>
            <a:ln w="9525">
              <a:solidFill>
                <a:srgbClr val="E7E9EB"/>
              </a:solidFill>
              <a:prstDash val="solid"/>
            </a:ln>
          </c:spPr>
        </c:majorGridlines>
        <c:numFmt formatCode="0"/>
        <c:majorTickMark val="none"/>
        <c:minorTickMark val="none"/>
        <c:spPr>
          <a:ln w="9525">
            <a:solidFill>
              <a:srgbClr val="D7DADD"/>
            </a:solidFill>
            <a:prstDash val="solid"/>
          </a:ln>
        </c:spPr>
        <c:txPr>
          <a:bodyPr anchorCtr="1"/>
          <a:lstStyle/>
          <a:p>
            <a:pPr>
              <a:defRPr sz="1000" lang="pt-BR">
                <a:solidFill>
                  <a:srgbClr val="8D9399"/>
                </a:solidFill>
              </a:defRPr>
            </a:pPr>
          </a:p>
        </c:txPr>
        <c:crossAx val="48672768"/>
        <c:lblAlgn val="ctr"/>
        <c:lblOffset val="100"/>
        <c:noMultiLvlLbl val="0"/>
      </c:catAx>
      <c:valAx>
        <c:axId val="48672768"/>
        <c:scaling>
          <c:orientation val="minMax"/>
        </c:scaling>
        <c:delete val="0"/>
        <c:axPos val="b"/>
        <c:numFmt formatCode="General"/>
        <c:majorTickMark val="none"/>
        <c:minorTickMark val="none"/>
        <c:spPr>
          <a:ln w="9525">
            <a:solidFill>
              <a:srgbClr val="D7DADD"/>
            </a:solidFill>
            <a:prstDash val="solid"/>
          </a:ln>
        </c:spPr>
        <c:txPr>
          <a:bodyPr anchorCtr="1"/>
          <a:lstStyle/>
          <a:p>
            <a:pPr>
              <a:defRPr sz="1000" lang="pt-BR">
                <a:solidFill>
                  <a:srgbClr val="73787D"/>
                </a:solidFill>
              </a:defRPr>
            </a:pPr>
          </a:p>
        </c:txPr>
        <c:crossAx val="48650112"/>
        <c:crossBetween val="between"/>
      </c:valAx>
      <c:spPr>
        <a:noFill/>
        <a:ln w="0">
          <a:noFill/>
          <a:prstDash val="solid"/>
        </a:ln>
      </c:spPr>
    </c:plotArea>
    <c:plotVisOnly val="1"/>
  </c:chart>
  <c:spPr>
    <a:noFill/>
    <a:ln w="0">
      <a:noFill/>
      <a:prstDash val="solid"/>
    </a:ln>
  </c:spPr>
</c:chartSpace>
</file>

<file path=ppt/slides/charts/chart19.xml><?xml version="1.0" encoding="utf-8"?>
<c:chartSpace xmlns:a="http://schemas.openxmlformats.org/drawingml/2006/main" xmlns:c="http://schemas.openxmlformats.org/drawingml/2006/chart">
  <c:lang val="pt-BR"/>
  <c:chart>
    <c:plotArea>
      <c:barChart>
        <c:barDir val="bar"/>
        <c:grouping val="clustered"/>
        <c:varyColors val="0"/>
        <c:ser>
          <c:idx val="0"/>
          <c:order val="0"/>
          <c:tx>
            <c:v>Dez/23</c:v>
          </c:tx>
          <c:spPr>
            <a:solidFill>
              <a:srgbClr val="73787D"/>
            </a:solidFill>
          </c:spPr>
          <c:cat>
            <c:strLit>
              <c:ptCount val="10"/>
              <c:pt idx="0">
                <c:v>Financeiro</c:v>
              </c:pt>
              <c:pt idx="1">
                <c:v>Comercial</c:v>
              </c:pt>
              <c:pt idx="2">
                <c:v>Cartão</c:v>
              </c:pt>
              <c:pt idx="3">
                <c:v>Industrial</c:v>
              </c:pt>
              <c:pt idx="4">
                <c:v>Serviços</c:v>
              </c:pt>
              <c:pt idx="5">
                <c:v>Setor público</c:v>
              </c:pt>
              <c:pt idx="6">
                <c:v>Ações judiciais</c:v>
              </c:pt>
              <c:pt idx="7">
                <c:v>Agronegócio</c:v>
              </c:pt>
              <c:pt idx="8">
                <c:v>Imobiliário</c:v>
              </c:pt>
              <c:pt idx="9">
                <c:v>Factoring</c:v>
              </c:pt>
            </c:strLit>
          </c:cat>
          <c:val>
            <c:numLit>
              <c:formatCode>0.0%</c:formatCode>
              <c:ptCount val="10"/>
              <c:pt idx="0">
                <c:v>0.2685927277101883</c:v>
              </c:pt>
              <c:pt idx="1">
                <c:v>0.26370190546551714</c:v>
              </c:pt>
              <c:pt idx="2">
                <c:v>0.17725874212004258</c:v>
              </c:pt>
              <c:pt idx="3">
                <c:v>0.09044423970004235</c:v>
              </c:pt>
              <c:pt idx="4">
                <c:v>0.06000786113615837</c:v>
              </c:pt>
              <c:pt idx="5">
                <c:v>0.04384645419189245</c:v>
              </c:pt>
              <c:pt idx="6">
                <c:v>0.05985760657092893</c:v>
              </c:pt>
              <c:pt idx="7">
                <c:v>0.032408209546221145</c:v>
              </c:pt>
              <c:pt idx="8">
                <c:v>0.0035045407420885447</c:v>
              </c:pt>
              <c:pt idx="9">
                <c:v>0.00037771281692022964</c:v>
              </c:pt>
            </c:numLit>
          </c:val>
        </c:ser>
        <c:ser>
          <c:idx val="1"/>
          <c:order val="1"/>
          <c:tx>
            <c:v>Jun/26</c:v>
          </c:tx>
          <c:spPr>
            <a:solidFill>
              <a:srgbClr val="EC7000"/>
            </a:solidFill>
          </c:spPr>
          <c:cat>
            <c:strLit>
              <c:ptCount val="10"/>
              <c:pt idx="0">
                <c:v>Financeiro</c:v>
              </c:pt>
              <c:pt idx="1">
                <c:v>Comercial</c:v>
              </c:pt>
              <c:pt idx="2">
                <c:v>Cartão</c:v>
              </c:pt>
              <c:pt idx="3">
                <c:v>Industrial</c:v>
              </c:pt>
              <c:pt idx="4">
                <c:v>Serviços</c:v>
              </c:pt>
              <c:pt idx="5">
                <c:v>Setor público</c:v>
              </c:pt>
              <c:pt idx="6">
                <c:v>Ações judiciais</c:v>
              </c:pt>
              <c:pt idx="7">
                <c:v>Agronegócio</c:v>
              </c:pt>
              <c:pt idx="8">
                <c:v>Imobiliário</c:v>
              </c:pt>
              <c:pt idx="9">
                <c:v>Factoring</c:v>
              </c:pt>
            </c:strLit>
          </c:cat>
          <c:val>
            <c:numLit>
              <c:formatCode>0.0%</c:formatCode>
              <c:ptCount val="10"/>
              <c:pt idx="0">
                <c:v>0.4431203096273956</c:v>
              </c:pt>
              <c:pt idx="1">
                <c:v>0.16696606975849174</c:v>
              </c:pt>
              <c:pt idx="2">
                <c:v>0.10657536653481774</c:v>
              </c:pt>
              <c:pt idx="3">
                <c:v>0.1049580937585254</c:v>
              </c:pt>
              <c:pt idx="4">
                <c:v>0.07809955489189396</c:v>
              </c:pt>
              <c:pt idx="5">
                <c:v>0.046480232505252836</c:v>
              </c:pt>
              <c:pt idx="6">
                <c:v>0.0371085245273501</c:v>
              </c:pt>
              <c:pt idx="7">
                <c:v>0.012376322736066207</c:v>
              </c:pt>
              <c:pt idx="8">
                <c:v>0.004186623040666466</c:v>
              </c:pt>
              <c:pt idx="9">
                <c:v>0.00012890261953990822</c:v>
              </c:pt>
            </c:numLit>
          </c:val>
        </c:ser>
        <c:dLbls>
          <c:txPr>
            <a:bodyPr anchorCtr="1"/>
            <a:lstStyle/>
            <a:p>
              <a:pPr>
                <a:defRPr sz="1200" b="1" lang="pt-BR">
                  <a:solidFill>
                    <a:srgbClr val="151515"/>
                  </a:solidFill>
                </a:defRPr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28"/>
        <c:axId val="48650112"/>
        <c:axId val="48672768"/>
      </c:barChart>
      <c:catAx>
        <c:axId val="48650112"/>
        <c:scaling>
          <c:orientation val="minMax"/>
        </c:scaling>
        <c:delete val="0"/>
        <c:axPos val="l"/>
        <c:numFmt formatCode="General"/>
        <c:majorTickMark val="none"/>
        <c:minorTickMark val="none"/>
        <c:spPr>
          <a:ln w="9525">
            <a:solidFill>
              <a:srgbClr val="D4D4D4"/>
            </a:solidFill>
            <a:prstDash val="solid"/>
          </a:ln>
        </c:spPr>
        <c:txPr>
          <a:bodyPr anchorCtr="1"/>
          <a:lstStyle/>
          <a:p>
            <a:pPr>
              <a:defRPr lang="pt-BR">
                <a:solidFill>
                  <a:srgbClr val="666666"/>
                </a:solidFill>
              </a:defRPr>
            </a:pPr>
          </a:p>
        </c:txPr>
        <c:crossAx val="48672768"/>
        <c:lblAlgn val="ctr"/>
        <c:lblOffset val="100"/>
        <c:noMultiLvlLbl val="0"/>
      </c:catAx>
      <c:valAx>
        <c:axId val="48672768"/>
        <c:scaling>
          <c:orientation val="minMax"/>
        </c:scaling>
        <c:delete val="0"/>
        <c:axPos val="b"/>
        <c:numFmt formatCode="General"/>
        <c:majorTickMark val="none"/>
        <c:minorTickMark val="none"/>
        <c:spPr>
          <a:ln w="9525">
            <a:solidFill>
              <a:srgbClr val="D7DADD"/>
            </a:solidFill>
            <a:prstDash val="solid"/>
          </a:ln>
        </c:spPr>
        <c:txPr>
          <a:bodyPr anchorCtr="1"/>
          <a:lstStyle/>
          <a:p>
            <a:pPr>
              <a:defRPr sz="1000" lang="pt-BR">
                <a:solidFill>
                  <a:srgbClr val="73787D"/>
                </a:solidFill>
              </a:defRPr>
            </a:pPr>
          </a:p>
        </c:txPr>
        <c:crossAx val="48650112"/>
        <c:crossBetween val="between"/>
      </c:valAx>
      <c:spPr>
        <a:noFill/>
        <a:ln w="0">
          <a:noFill/>
          <a:prstDash val="solid"/>
        </a:ln>
      </c:spPr>
    </c:plotArea>
    <c:plotVisOnly val="1"/>
  </c:chart>
  <c:spPr>
    <a:noFill/>
    <a:ln w="0">
      <a:noFill/>
      <a:prstDash val="solid"/>
    </a:ln>
  </c:spPr>
</c:chartSpace>
</file>

<file path=ppt/slides/charts/chart20.xml><?xml version="1.0" encoding="utf-8"?>
<c:chartSpace xmlns:a="http://schemas.openxmlformats.org/drawingml/2006/main" xmlns:c="http://schemas.openxmlformats.org/drawingml/2006/chart">
  <c:lang val="pt-BR"/>
  <c:chart>
    <c:plotArea>
      <c:lineChart>
        <c:grouping val="standard"/>
        <c:ser>
          <c:idx val="0"/>
          <c:order val="0"/>
          <c:tx>
            <c:v>Dez/23</c:v>
          </c:tx>
          <c:spPr>
            <a:ln w="28575">
              <a:solidFill>
                <a:srgbClr val="73787D"/>
              </a:solidFill>
              <a:prstDash val="solid"/>
            </a:ln>
          </c:spPr>
          <c:marker>
            <c:symbol val="none"/>
          </c:marker>
          <c:cat>
            <c:strLit>
              <c:ptCount val="1"/>
              <c:pt idx="0">
                <c:v/>
              </c:pt>
            </c:strLit>
          </c:cat>
          <c:val>
            <c:numLit>
              <c:formatCode>General</c:formatCode>
              <c:ptCount val="1"/>
              <c:pt idx="0">
                <c:v>0</c:v>
              </c:pt>
            </c:numLit>
          </c:val>
        </c:ser>
        <c:ser>
          <c:idx val="1"/>
          <c:order val="1"/>
          <c:tx>
            <c:v>Jun/26</c:v>
          </c:tx>
          <c:spPr>
            <a:ln w="28575">
              <a:solidFill>
                <a:srgbClr val="EC7000"/>
              </a:solidFill>
              <a:prstDash val="solid"/>
            </a:ln>
          </c:spPr>
          <c:marker>
            <c:symbol val="none"/>
          </c:marker>
          <c:cat>
            <c:strLit>
              <c:ptCount val="1"/>
              <c:pt idx="0">
                <c:v/>
              </c:pt>
            </c:strLit>
          </c:cat>
          <c:val>
            <c:numLit>
              <c:formatCode>General</c:formatCode>
              <c:ptCount val="1"/>
              <c:pt idx="0">
                <c:v>0</c:v>
              </c:pt>
            </c:numLit>
          </c:val>
        </c:ser>
        <c:axId val="48650112"/>
        <c:axId val="48672768"/>
      </c:lineChart>
      <c:catAx>
        <c:axId val="48650112"/>
        <c:scaling>
          <c:orientation val="minMax"/>
        </c:scaling>
        <c:delete val="0"/>
        <c:axPos val="b"/>
        <c:numFmt formatCode="General"/>
        <c:majorTickMark val="none"/>
        <c:minorTickMark val="none"/>
        <c:spPr>
          <a:ln w="9525">
            <a:solidFill>
              <a:srgbClr val="D4D4D4"/>
            </a:solidFill>
            <a:prstDash val="solid"/>
          </a:ln>
        </c:spPr>
        <c:txPr>
          <a:bodyPr anchorCtr="1"/>
          <a:lstStyle/>
          <a:p>
            <a:pPr>
              <a:defRPr lang="pt-BR">
                <a:solidFill>
                  <a:srgbClr val="666666"/>
                </a:solidFill>
              </a:defRPr>
            </a:pPr>
          </a:p>
        </c:txPr>
        <c:crossAx val="48672768"/>
        <c:lblAlgn val="ctr"/>
        <c:lblOffset val="100"/>
        <c:noMultiLvlLbl val="0"/>
      </c:catAx>
      <c:valAx>
        <c:axId val="48672768"/>
        <c:scaling>
          <c:orientation val="minMax"/>
        </c:scaling>
        <c:delete val="1"/>
        <c:axPos val="l"/>
        <c:numFmt formatCode="General"/>
        <c:majorTickMark val="none"/>
        <c:minorTickMark val="none"/>
        <c:spPr>
          <a:ln w="9525">
            <a:solidFill>
              <a:srgbClr val="D4D4D4"/>
            </a:solidFill>
            <a:prstDash val="solid"/>
          </a:ln>
        </c:spPr>
        <c:txPr>
          <a:bodyPr anchorCtr="1"/>
          <a:lstStyle/>
          <a:p>
            <a:pPr>
              <a:defRPr lang="pt-BR">
                <a:solidFill>
                  <a:srgbClr val="666666"/>
                </a:solidFill>
              </a:defRPr>
            </a:pPr>
          </a:p>
        </c:txPr>
        <c:crossAx val="48650112"/>
        <c:crossBetween val="between"/>
      </c:valAx>
      <c:spPr>
        <a:noFill/>
        <a:ln w="0">
          <a:noFill/>
          <a:prstDash val="solid"/>
        </a:ln>
      </c:spPr>
    </c:plotArea>
    <c:legend>
      <c:legendPos val="b"/>
      <c:overlay val="0"/>
      <c:txPr>
        <a:bodyPr anchorCtr="1"/>
        <a:lstStyle/>
        <a:p>
          <a:pPr>
            <a:defRPr sz="1000" lang="pt-BR">
              <a:solidFill>
                <a:srgbClr val="73787D"/>
              </a:solidFill>
            </a:defRPr>
          </a:pPr>
        </a:p>
      </c:txPr>
    </c:legend>
    <c:plotVisOnly val="1"/>
  </c:chart>
  <c:spPr>
    <a:noFill/>
    <a:ln w="0">
      <a:noFill/>
      <a:prstDash val="solid"/>
    </a:ln>
  </c:spPr>
</c:chartSpace>
</file>

<file path=ppt/slides/charts/chart21.xml><?xml version="1.0" encoding="utf-8"?>
<c:chartSpace xmlns:a="http://schemas.openxmlformats.org/drawingml/2006/main" xmlns:c="http://schemas.openxmlformats.org/drawingml/2006/chart">
  <c:lang val="pt-BR"/>
  <c:chart>
    <c:plotArea>
      <c:barChart>
        <c:barDir val="col"/>
        <c:grouping val="clustered"/>
        <c:varyColors val="0"/>
        <c:ser>
          <c:idx val="0"/>
          <c:order val="0"/>
          <c:tx>
            <c:v>Volume registrado</c:v>
          </c:tx>
          <c:spPr>
            <a:solidFill>
              <a:srgbClr val="30353A"/>
            </a:solidFill>
          </c:spPr>
          <c:dPt>
            <c:idx val="0"/>
            <c:invertIfNegative val="0"/>
            <c:spPr>
              <a:solidFill>
                <a:srgbClr val="30353A"/>
              </a:solidFill>
            </c:spPr>
          </c:dPt>
          <c:dPt>
            <c:idx val="1"/>
            <c:invertIfNegative val="0"/>
            <c:spPr>
              <a:solidFill>
                <a:srgbClr val="30353A"/>
              </a:solidFill>
            </c:spPr>
          </c:dPt>
          <c:dPt>
            <c:idx val="2"/>
            <c:invertIfNegative val="0"/>
            <c:spPr>
              <a:solidFill>
                <a:srgbClr val="EC7000"/>
              </a:solidFill>
            </c:spPr>
          </c:dPt>
          <c:dLbls>
            <c:dLbl>
              <c:idx val="0"/>
              <c:txPr>
                <a:bodyPr anchorCtr="1"/>
                <a:lstStyle/>
                <a:p>
                  <a:pPr>
                    <a:defRPr sz="1200" b="1" lang="pt-BR">
                      <a:solidFill>
                        <a:srgbClr val="151515"/>
                      </a:solidFill>
                    </a:defRPr>
                  </a:pPr>
                </a:p>
              </c:txPr>
              <c:dLblPos val="outEnd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"/>
              <c:txPr>
                <a:bodyPr anchorCtr="1"/>
                <a:lstStyle/>
                <a:p>
                  <a:pPr>
                    <a:defRPr sz="1200" b="1" lang="pt-BR">
                      <a:solidFill>
                        <a:srgbClr val="151515"/>
                      </a:solidFill>
                    </a:defRPr>
                  </a:pPr>
                </a:p>
              </c:txPr>
              <c:dLblPos val="outEnd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2"/>
              <c:txPr>
                <a:bodyPr anchorCtr="1"/>
                <a:lstStyle/>
                <a:p>
                  <a:pPr>
                    <a:defRPr sz="1200" b="1" lang="pt-BR">
                      <a:solidFill>
                        <a:srgbClr val="151515"/>
                      </a:solidFill>
                    </a:defRPr>
                  </a:pPr>
                </a:p>
              </c:txPr>
              <c:dLblPos val="outEnd"/>
              <c:showLegendKey val="0"/>
              <c:showVal val="1"/>
              <c:showCatName val="0"/>
              <c:showSerName val="0"/>
              <c:showPercent val="0"/>
              <c:showBubbleSize val="0"/>
            </c:dLbl>
          </c:dLbls>
          <c:cat>
            <c:strLit>
              <c:ptCount val="3"/>
              <c:pt idx="0">
                <c:v>2024FY</c:v>
              </c:pt>
              <c:pt idx="1">
                <c:v>2025FY</c:v>
              </c:pt>
              <c:pt idx="2">
                <c:v>2026YTD</c:v>
              </c:pt>
            </c:strLit>
          </c:cat>
          <c:val>
            <c:numLit>
              <c:formatCode>0.0</c:formatCode>
              <c:ptCount val="3"/>
              <c:pt idx="0">
                <c:v>95.41672613375</c:v>
              </c:pt>
              <c:pt idx="1">
                <c:v>116.92131905477001</c:v>
              </c:pt>
              <c:pt idx="2">
                <c:v>65.48811898356</c:v>
              </c:pt>
            </c:numLit>
          </c:val>
        </c:ser>
        <c:dLbls>
          <c:txPr>
            <a:bodyPr anchorCtr="1"/>
            <a:lstStyle/>
            <a:p>
              <a:pPr>
                <a:defRPr sz="1200" b="1" lang="pt-BR">
                  <a:solidFill>
                    <a:srgbClr val="151515"/>
                  </a:solidFill>
                </a:defRPr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60"/>
        <c:axId val="48650112"/>
        <c:axId val="48672768"/>
      </c:barChart>
      <c:catAx>
        <c:axId val="48650112"/>
        <c:scaling>
          <c:orientation val="minMax"/>
        </c:scaling>
        <c:delete val="0"/>
        <c:axPos val="b"/>
        <c:numFmt formatCode="General"/>
        <c:majorTickMark val="none"/>
        <c:minorTickMark val="none"/>
        <c:spPr>
          <a:ln w="9525">
            <a:solidFill>
              <a:srgbClr val="D7DADD"/>
            </a:solidFill>
            <a:prstDash val="solid"/>
          </a:ln>
        </c:spPr>
        <c:txPr>
          <a:bodyPr anchorCtr="1"/>
          <a:lstStyle/>
          <a:p>
            <a:pPr>
              <a:defRPr sz="1000" lang="pt-BR">
                <a:solidFill>
                  <a:srgbClr val="73787D"/>
                </a:solidFill>
              </a:defRPr>
            </a:pPr>
          </a:p>
        </c:txPr>
        <c:crossAx val="48672768"/>
        <c:lblAlgn val="ctr"/>
        <c:lblOffset val="100"/>
        <c:noMultiLvlLbl val="0"/>
      </c:catAx>
      <c:valAx>
        <c:axId val="48672768"/>
        <c:scaling>
          <c:orientation val="minMax"/>
          <c:min val="0"/>
        </c:scaling>
        <c:delete val="0"/>
        <c:axPos val="l"/>
        <c:majorGridlines>
          <c:spPr>
            <a:ln w="9525">
              <a:solidFill>
                <a:srgbClr val="E7E9EB"/>
              </a:solidFill>
              <a:prstDash val="solid"/>
            </a:ln>
          </c:spPr>
        </c:majorGridlines>
        <c:numFmt formatCode="0"/>
        <c:majorTickMark val="none"/>
        <c:minorTickMark val="none"/>
        <c:spPr>
          <a:ln w="9525">
            <a:solidFill>
              <a:srgbClr val="D7DADD"/>
            </a:solidFill>
            <a:prstDash val="solid"/>
          </a:ln>
        </c:spPr>
        <c:txPr>
          <a:bodyPr anchorCtr="1"/>
          <a:lstStyle/>
          <a:p>
            <a:pPr>
              <a:defRPr sz="1000" lang="pt-BR">
                <a:solidFill>
                  <a:srgbClr val="8D9399"/>
                </a:solidFill>
              </a:defRPr>
            </a:pPr>
          </a:p>
        </c:txPr>
        <c:crossAx val="48650112"/>
        <c:crossBetween val="between"/>
      </c:valAx>
      <c:spPr>
        <a:noFill/>
        <a:ln w="0">
          <a:noFill/>
          <a:prstDash val="solid"/>
        </a:ln>
      </c:spPr>
    </c:plotArea>
    <c:plotVisOnly val="1"/>
  </c:chart>
  <c:spPr>
    <a:noFill/>
    <a:ln w="0">
      <a:noFill/>
      <a:prstDash val="solid"/>
    </a:ln>
  </c:spPr>
</c:chartSpace>
</file>

<file path=ppt/slides/charts/chart22.xml><?xml version="1.0" encoding="utf-8"?>
<c:chartSpace xmlns:a="http://schemas.openxmlformats.org/drawingml/2006/main" xmlns:c="http://schemas.openxmlformats.org/drawingml/2006/chart">
  <c:lang val="pt-BR"/>
  <c:chart>
    <c:plotArea>
      <c:lineChart>
        <c:grouping val="standard"/>
        <c:varyColors val="0"/>
        <c:ser>
          <c:idx val="0"/>
          <c:order val="0"/>
          <c:tx>
            <c:v>2024</c:v>
          </c:tx>
          <c:spPr>
            <a:ln w="19050">
              <a:solidFill>
                <a:srgbClr val="8D9399"/>
              </a:solidFill>
              <a:prstDash val="solid"/>
            </a:ln>
          </c:spPr>
          <c:marker>
            <c:symbol val="none"/>
          </c:marker>
          <c:cat>
            <c:strLit>
              <c:ptCount val="12"/>
              <c:pt idx="0">
                <c:v>Jan</c:v>
              </c:pt>
              <c:pt idx="1">
                <c:v>​​</c:v>
              </c:pt>
              <c:pt idx="2">
                <c:v>Mar</c:v>
              </c:pt>
              <c:pt idx="3">
                <c:v>​​​​</c:v>
              </c:pt>
              <c:pt idx="4">
                <c:v>Mai</c:v>
              </c:pt>
              <c:pt idx="5">
                <c:v>Jun</c:v>
              </c:pt>
              <c:pt idx="6">
                <c:v>​​​​​​​</c:v>
              </c:pt>
              <c:pt idx="7">
                <c:v>Ago</c:v>
              </c:pt>
              <c:pt idx="8">
                <c:v>​​​​​​​​​</c:v>
              </c:pt>
              <c:pt idx="9">
                <c:v>Out</c:v>
              </c:pt>
              <c:pt idx="10">
                <c:v>​​​​​​​​​​​</c:v>
              </c:pt>
              <c:pt idx="11">
                <c:v>Dez</c:v>
              </c:pt>
            </c:strLit>
          </c:cat>
          <c:val>
            <c:numLit>
              <c:formatCode>0.0</c:formatCode>
              <c:ptCount val="12"/>
              <c:pt idx="0">
                <c:v>3.5776889819499997</c:v>
              </c:pt>
              <c:pt idx="1">
                <c:v>6.31697433342</c:v>
              </c:pt>
              <c:pt idx="2">
                <c:v>12.75231637649</c:v>
              </c:pt>
              <c:pt idx="3">
                <c:v>18.982994111559996</c:v>
              </c:pt>
              <c:pt idx="4">
                <c:v>35.57797349489</c:v>
              </c:pt>
              <c:pt idx="5">
                <c:v>40.869510061910006</c:v>
              </c:pt>
              <c:pt idx="6">
                <c:v>49.369269147820006</c:v>
              </c:pt>
              <c:pt idx="7">
                <c:v>54.50517684065001</c:v>
              </c:pt>
              <c:pt idx="8">
                <c:v>59.275357674750005</c:v>
              </c:pt>
              <c:pt idx="9">
                <c:v>68.67479071153001</c:v>
              </c:pt>
              <c:pt idx="10">
                <c:v>80.61445578144</c:v>
              </c:pt>
              <c:pt idx="11">
                <c:v>95.41672613375</c:v>
              </c:pt>
            </c:numLit>
          </c:val>
        </c:ser>
        <c:ser>
          <c:idx val="1"/>
          <c:order val="1"/>
          <c:tx>
            <c:v>2025</c:v>
          </c:tx>
          <c:spPr>
            <a:ln w="20955">
              <a:solidFill>
                <a:srgbClr val="30353A"/>
              </a:solidFill>
              <a:prstDash val="solid"/>
            </a:ln>
          </c:spPr>
          <c:marker>
            <c:symbol val="none"/>
          </c:marker>
          <c:cat>
            <c:strLit>
              <c:ptCount val="12"/>
              <c:pt idx="0">
                <c:v>Jan</c:v>
              </c:pt>
              <c:pt idx="1">
                <c:v>​​</c:v>
              </c:pt>
              <c:pt idx="2">
                <c:v>Mar</c:v>
              </c:pt>
              <c:pt idx="3">
                <c:v>​​​​</c:v>
              </c:pt>
              <c:pt idx="4">
                <c:v>Mai</c:v>
              </c:pt>
              <c:pt idx="5">
                <c:v>Jun</c:v>
              </c:pt>
              <c:pt idx="6">
                <c:v>​​​​​​​</c:v>
              </c:pt>
              <c:pt idx="7">
                <c:v>Ago</c:v>
              </c:pt>
              <c:pt idx="8">
                <c:v>​​​​​​​​​</c:v>
              </c:pt>
              <c:pt idx="9">
                <c:v>Out</c:v>
              </c:pt>
              <c:pt idx="10">
                <c:v>​​​​​​​​​​​</c:v>
              </c:pt>
              <c:pt idx="11">
                <c:v>Dez</c:v>
              </c:pt>
            </c:strLit>
          </c:cat>
          <c:val>
            <c:numLit>
              <c:formatCode>0.0</c:formatCode>
              <c:ptCount val="12"/>
              <c:pt idx="0">
                <c:v>4.69157717423</c:v>
              </c:pt>
              <c:pt idx="1">
                <c:v>13.28230156707</c:v>
              </c:pt>
              <c:pt idx="2">
                <c:v>21.89222074001</c:v>
              </c:pt>
              <c:pt idx="3">
                <c:v>36.243054840190005</c:v>
              </c:pt>
              <c:pt idx="4">
                <c:v>44.91558778326</c:v>
              </c:pt>
              <c:pt idx="5">
                <c:v>57.15870696836</c:v>
              </c:pt>
              <c:pt idx="6">
                <c:v>64.14446989868</c:v>
              </c:pt>
              <c:pt idx="7">
                <c:v>70.52665275716001</c:v>
              </c:pt>
              <c:pt idx="8">
                <c:v>78.53187842665001</c:v>
              </c:pt>
              <c:pt idx="9">
                <c:v>90.04350947167</c:v>
              </c:pt>
              <c:pt idx="10">
                <c:v>100.76052553320001</c:v>
              </c:pt>
              <c:pt idx="11">
                <c:v>116.92131905477002</c:v>
              </c:pt>
            </c:numLit>
          </c:val>
        </c:ser>
        <c:ser>
          <c:idx val="2"/>
          <c:order val="2"/>
          <c:tx>
            <c:v>2026</c:v>
          </c:tx>
          <c:spPr>
            <a:ln w="28575">
              <a:solidFill>
                <a:srgbClr val="EC7000"/>
              </a:solidFill>
              <a:prstDash val="solid"/>
            </a:ln>
          </c:spPr>
          <c:marker>
            <c:symbol val="none"/>
          </c:marker>
          <c:cat>
            <c:strLit>
              <c:ptCount val="12"/>
              <c:pt idx="0">
                <c:v>Jan</c:v>
              </c:pt>
              <c:pt idx="1">
                <c:v>​​</c:v>
              </c:pt>
              <c:pt idx="2">
                <c:v>Mar</c:v>
              </c:pt>
              <c:pt idx="3">
                <c:v>​​​​</c:v>
              </c:pt>
              <c:pt idx="4">
                <c:v>Mai</c:v>
              </c:pt>
              <c:pt idx="5">
                <c:v>Jun</c:v>
              </c:pt>
              <c:pt idx="6">
                <c:v>​​​​​​​</c:v>
              </c:pt>
              <c:pt idx="7">
                <c:v>Ago</c:v>
              </c:pt>
              <c:pt idx="8">
                <c:v>​​​​​​​​​</c:v>
              </c:pt>
              <c:pt idx="9">
                <c:v>Out</c:v>
              </c:pt>
              <c:pt idx="10">
                <c:v>​​​​​​​​​​​</c:v>
              </c:pt>
              <c:pt idx="11">
                <c:v>Dez</c:v>
              </c:pt>
            </c:strLit>
          </c:cat>
          <c:val>
            <c:numLit>
              <c:formatCode>0.0</c:formatCode>
              <c:ptCount val="6"/>
              <c:pt idx="0">
                <c:v>8.415778112109999</c:v>
              </c:pt>
              <c:pt idx="1">
                <c:v>15.828976040429998</c:v>
              </c:pt>
              <c:pt idx="2">
                <c:v>27.564315847659994</c:v>
              </c:pt>
              <c:pt idx="3">
                <c:v>44.609140465989995</c:v>
              </c:pt>
              <c:pt idx="4">
                <c:v>51.475115157089995</c:v>
              </c:pt>
              <c:pt idx="5">
                <c:v>65.48811898356</c:v>
              </c:pt>
            </c:numLit>
          </c:val>
        </c:ser>
        <c:axId val="48650112"/>
        <c:axId val="48672768"/>
      </c:lineChart>
      <c:catAx>
        <c:axId val="48650112"/>
        <c:scaling>
          <c:orientation val="minMax"/>
        </c:scaling>
        <c:delete val="0"/>
        <c:axPos val="b"/>
        <c:numFmt formatCode="General"/>
        <c:majorTickMark val="none"/>
        <c:minorTickMark val="none"/>
        <c:tickLblPos val="low"/>
        <c:spPr>
          <a:ln w="9525">
            <a:solidFill>
              <a:srgbClr val="D7DADD"/>
            </a:solidFill>
            <a:prstDash val="solid"/>
          </a:ln>
        </c:spPr>
        <c:txPr>
          <a:bodyPr anchorCtr="1"/>
          <a:lstStyle/>
          <a:p>
            <a:pPr>
              <a:defRPr sz="1000" lang="pt-BR">
                <a:solidFill>
                  <a:srgbClr val="73787D"/>
                </a:solidFill>
              </a:defRPr>
            </a:pPr>
          </a:p>
        </c:txPr>
        <c:crossAx val="48672768"/>
        <c:lblAlgn val="ctr"/>
        <c:lblOffset val="100"/>
        <c:noMultiLvlLbl val="0"/>
      </c:catAx>
      <c:valAx>
        <c:axId val="48672768"/>
        <c:scaling>
          <c:orientation val="minMax"/>
          <c:min val="0"/>
        </c:scaling>
        <c:delete val="0"/>
        <c:axPos val="l"/>
        <c:majorGridlines>
          <c:spPr>
            <a:ln w="9525">
              <a:solidFill>
                <a:srgbClr val="E7E9EB"/>
              </a:solidFill>
              <a:prstDash val="solid"/>
            </a:ln>
          </c:spPr>
        </c:majorGridlines>
        <c:numFmt formatCode="0"/>
        <c:majorTickMark val="none"/>
        <c:minorTickMark val="none"/>
        <c:spPr>
          <a:ln w="9525">
            <a:solidFill>
              <a:srgbClr val="D7DADD"/>
            </a:solidFill>
            <a:prstDash val="solid"/>
          </a:ln>
        </c:spPr>
        <c:txPr>
          <a:bodyPr anchorCtr="1"/>
          <a:lstStyle/>
          <a:p>
            <a:pPr>
              <a:defRPr sz="1000" lang="pt-BR">
                <a:solidFill>
                  <a:srgbClr val="8D9399"/>
                </a:solidFill>
              </a:defRPr>
            </a:pPr>
          </a:p>
        </c:txPr>
        <c:crossAx val="48650112"/>
        <c:crossBetween val="between"/>
      </c:valAx>
      <c:spPr>
        <a:noFill/>
        <a:ln w="0">
          <a:noFill/>
          <a:prstDash val="solid"/>
        </a:ln>
      </c:spPr>
    </c:plotArea>
    <c:plotVisOnly val="1"/>
    <c:dispBlanksAs val="gap"/>
  </c:chart>
  <c:spPr>
    <a:noFill/>
    <a:ln w="0">
      <a:noFill/>
      <a:prstDash val="solid"/>
    </a:ln>
  </c:spPr>
</c:chartSpace>
</file>

<file path=ppt/slides/charts/chart23.xml><?xml version="1.0" encoding="utf-8"?>
<c:chartSpace xmlns:a="http://schemas.openxmlformats.org/drawingml/2006/main" xmlns:c="http://schemas.openxmlformats.org/drawingml/2006/chart">
  <c:lang val="pt-BR"/>
  <c:chart>
    <c:plotArea>
      <c:lineChart>
        <c:grouping val="standard"/>
        <c:ser>
          <c:idx val="0"/>
          <c:order val="0"/>
          <c:tx>
            <c:v>2024</c:v>
          </c:tx>
          <c:spPr>
            <a:ln w="28575">
              <a:solidFill>
                <a:srgbClr val="8D9399"/>
              </a:solidFill>
              <a:prstDash val="solid"/>
            </a:ln>
          </c:spPr>
          <c:marker>
            <c:symbol val="none"/>
          </c:marker>
          <c:cat>
            <c:strLit>
              <c:ptCount val="1"/>
              <c:pt idx="0">
                <c:v/>
              </c:pt>
            </c:strLit>
          </c:cat>
          <c:val>
            <c:numLit>
              <c:formatCode>General</c:formatCode>
              <c:ptCount val="1"/>
              <c:pt idx="0">
                <c:v>0</c:v>
              </c:pt>
            </c:numLit>
          </c:val>
        </c:ser>
        <c:ser>
          <c:idx val="1"/>
          <c:order val="1"/>
          <c:tx>
            <c:v>2025</c:v>
          </c:tx>
          <c:spPr>
            <a:ln w="28575">
              <a:solidFill>
                <a:srgbClr val="30353A"/>
              </a:solidFill>
              <a:prstDash val="solid"/>
            </a:ln>
          </c:spPr>
          <c:marker>
            <c:symbol val="none"/>
          </c:marker>
          <c:cat>
            <c:strLit>
              <c:ptCount val="1"/>
              <c:pt idx="0">
                <c:v/>
              </c:pt>
            </c:strLit>
          </c:cat>
          <c:val>
            <c:numLit>
              <c:formatCode>General</c:formatCode>
              <c:ptCount val="1"/>
              <c:pt idx="0">
                <c:v>0</c:v>
              </c:pt>
            </c:numLit>
          </c:val>
        </c:ser>
        <c:ser>
          <c:idx val="2"/>
          <c:order val="2"/>
          <c:tx>
            <c:v>2026</c:v>
          </c:tx>
          <c:spPr>
            <a:ln w="28575">
              <a:solidFill>
                <a:srgbClr val="EC7000"/>
              </a:solidFill>
              <a:prstDash val="solid"/>
            </a:ln>
          </c:spPr>
          <c:marker>
            <c:symbol val="none"/>
          </c:marker>
          <c:cat>
            <c:strLit>
              <c:ptCount val="1"/>
              <c:pt idx="0">
                <c:v/>
              </c:pt>
            </c:strLit>
          </c:cat>
          <c:val>
            <c:numLit>
              <c:formatCode>General</c:formatCode>
              <c:ptCount val="1"/>
              <c:pt idx="0">
                <c:v>0</c:v>
              </c:pt>
            </c:numLit>
          </c:val>
        </c:ser>
        <c:axId val="48650112"/>
        <c:axId val="48672768"/>
      </c:lineChart>
      <c:catAx>
        <c:axId val="48650112"/>
        <c:scaling>
          <c:orientation val="minMax"/>
        </c:scaling>
        <c:delete val="0"/>
        <c:axPos val="b"/>
        <c:numFmt formatCode="General"/>
        <c:majorTickMark val="none"/>
        <c:minorTickMark val="none"/>
        <c:spPr>
          <a:ln w="9525">
            <a:solidFill>
              <a:srgbClr val="D4D4D4"/>
            </a:solidFill>
            <a:prstDash val="solid"/>
          </a:ln>
        </c:spPr>
        <c:txPr>
          <a:bodyPr anchorCtr="1"/>
          <a:lstStyle/>
          <a:p>
            <a:pPr>
              <a:defRPr lang="pt-BR">
                <a:solidFill>
                  <a:srgbClr val="666666"/>
                </a:solidFill>
              </a:defRPr>
            </a:pPr>
          </a:p>
        </c:txPr>
        <c:crossAx val="48672768"/>
        <c:lblAlgn val="ctr"/>
        <c:lblOffset val="100"/>
        <c:noMultiLvlLbl val="0"/>
      </c:catAx>
      <c:valAx>
        <c:axId val="48672768"/>
        <c:scaling>
          <c:orientation val="minMax"/>
        </c:scaling>
        <c:delete val="1"/>
        <c:axPos val="l"/>
        <c:numFmt formatCode="General"/>
        <c:majorTickMark val="none"/>
        <c:minorTickMark val="none"/>
        <c:spPr>
          <a:ln w="9525">
            <a:solidFill>
              <a:srgbClr val="D4D4D4"/>
            </a:solidFill>
            <a:prstDash val="solid"/>
          </a:ln>
        </c:spPr>
        <c:txPr>
          <a:bodyPr anchorCtr="1"/>
          <a:lstStyle/>
          <a:p>
            <a:pPr>
              <a:defRPr lang="pt-BR">
                <a:solidFill>
                  <a:srgbClr val="666666"/>
                </a:solidFill>
              </a:defRPr>
            </a:pPr>
          </a:p>
        </c:txPr>
        <c:crossAx val="48650112"/>
        <c:crossBetween val="between"/>
      </c:valAx>
      <c:spPr>
        <a:noFill/>
        <a:ln w="0">
          <a:noFill/>
          <a:prstDash val="solid"/>
        </a:ln>
      </c:spPr>
    </c:plotArea>
    <c:legend>
      <c:legendPos val="b"/>
      <c:overlay val="0"/>
      <c:txPr>
        <a:bodyPr anchorCtr="1"/>
        <a:lstStyle/>
        <a:p>
          <a:pPr>
            <a:defRPr sz="1000" lang="pt-BR">
              <a:solidFill>
                <a:srgbClr val="73787D"/>
              </a:solidFill>
            </a:defRPr>
          </a:pPr>
        </a:p>
      </c:txPr>
    </c:legend>
    <c:plotVisOnly val="1"/>
  </c:chart>
  <c:spPr>
    <a:noFill/>
    <a:ln w="0">
      <a:noFill/>
      <a:prstDash val="solid"/>
    </a:ln>
  </c:spPr>
</c:chartSpace>
</file>

<file path=ppt/slides/charts/chart24.xml><?xml version="1.0" encoding="utf-8"?>
<c:chartSpace xmlns:a="http://schemas.openxmlformats.org/drawingml/2006/main" xmlns:c="http://schemas.openxmlformats.org/drawingml/2006/chart">
  <c:lang val="pt-BR"/>
  <c:chart>
    <c:plotArea>
      <c:barChart>
        <c:barDir val="col"/>
        <c:grouping val="clustered"/>
        <c:varyColors val="0"/>
        <c:ser>
          <c:idx val="0"/>
          <c:order val="0"/>
          <c:tx>
            <c:v>2024</c:v>
          </c:tx>
          <c:spPr>
            <a:solidFill>
              <a:srgbClr val="8D9399"/>
            </a:solidFill>
          </c:spPr>
          <c:cat>
            <c:strLit>
              <c:ptCount val="7"/>
              <c:pt idx="0">
                <c:v>&lt;10</c:v>
              </c:pt>
              <c:pt idx="1">
                <c:v>10–25</c:v>
              </c:pt>
              <c:pt idx="2">
                <c:v>25–50</c:v>
              </c:pt>
              <c:pt idx="3">
                <c:v>50–
100</c:v>
              </c:pt>
              <c:pt idx="4">
                <c:v>100–
200</c:v>
              </c:pt>
              <c:pt idx="5">
                <c:v>200–
500</c:v>
              </c:pt>
              <c:pt idx="6">
                <c:v>≥500</c:v>
              </c:pt>
            </c:strLit>
          </c:cat>
          <c:val>
            <c:numLit>
              <c:formatCode>0%</c:formatCode>
              <c:ptCount val="7"/>
              <c:pt idx="0">
                <c:v>0.2289395441030723</c:v>
              </c:pt>
              <c:pt idx="1">
                <c:v>0.2348860257680872</c:v>
              </c:pt>
              <c:pt idx="2">
                <c:v>0.1734390485629336</c:v>
              </c:pt>
              <c:pt idx="3">
                <c:v>0.1565906838453915</c:v>
              </c:pt>
              <c:pt idx="4">
                <c:v>0.0931615460852329</c:v>
              </c:pt>
              <c:pt idx="5">
                <c:v>0.0822596630327056</c:v>
              </c:pt>
              <c:pt idx="6">
                <c:v>0.0307234886025768</c:v>
              </c:pt>
            </c:numLit>
          </c:val>
        </c:ser>
        <c:ser>
          <c:idx val="1"/>
          <c:order val="1"/>
          <c:tx>
            <c:v>2025</c:v>
          </c:tx>
          <c:spPr>
            <a:solidFill>
              <a:srgbClr val="30353A"/>
            </a:solidFill>
          </c:spPr>
          <c:cat>
            <c:strLit>
              <c:ptCount val="7"/>
              <c:pt idx="0">
                <c:v>&lt;10</c:v>
              </c:pt>
              <c:pt idx="1">
                <c:v>10–25</c:v>
              </c:pt>
              <c:pt idx="2">
                <c:v>25–50</c:v>
              </c:pt>
              <c:pt idx="3">
                <c:v>50–
100</c:v>
              </c:pt>
              <c:pt idx="4">
                <c:v>100–
200</c:v>
              </c:pt>
              <c:pt idx="5">
                <c:v>200–
500</c:v>
              </c:pt>
              <c:pt idx="6">
                <c:v>≥500</c:v>
              </c:pt>
            </c:strLit>
          </c:cat>
          <c:val>
            <c:numLit>
              <c:formatCode>0%</c:formatCode>
              <c:ptCount val="7"/>
              <c:pt idx="0">
                <c:v>0.2376103190767141</c:v>
              </c:pt>
              <c:pt idx="1">
                <c:v>0.2545824847250509</c:v>
              </c:pt>
              <c:pt idx="2">
                <c:v>0.1629327902240326</c:v>
              </c:pt>
              <c:pt idx="3">
                <c:v>0.1575016972165648</c:v>
              </c:pt>
              <c:pt idx="4">
                <c:v>0.0950441276306856</c:v>
              </c:pt>
              <c:pt idx="5">
                <c:v>0.0678886625933469</c:v>
              </c:pt>
              <c:pt idx="6">
                <c:v>0.0244399185336048</c:v>
              </c:pt>
            </c:numLit>
          </c:val>
        </c:ser>
        <c:ser>
          <c:idx val="2"/>
          <c:order val="2"/>
          <c:tx>
            <c:v>Jan–jun/26</c:v>
          </c:tx>
          <c:spPr>
            <a:solidFill>
              <a:srgbClr val="EC7000"/>
            </a:solidFill>
          </c:spPr>
          <c:cat>
            <c:strLit>
              <c:ptCount val="7"/>
              <c:pt idx="0">
                <c:v>&lt;10</c:v>
              </c:pt>
              <c:pt idx="1">
                <c:v>10–25</c:v>
              </c:pt>
              <c:pt idx="2">
                <c:v>25–50</c:v>
              </c:pt>
              <c:pt idx="3">
                <c:v>50–
100</c:v>
              </c:pt>
              <c:pt idx="4">
                <c:v>100–
200</c:v>
              </c:pt>
              <c:pt idx="5">
                <c:v>200–
500</c:v>
              </c:pt>
              <c:pt idx="6">
                <c:v>≥500</c:v>
              </c:pt>
            </c:strLit>
          </c:cat>
          <c:val>
            <c:numLit>
              <c:formatCode>0%</c:formatCode>
              <c:ptCount val="7"/>
              <c:pt idx="0">
                <c:v>0.2399481193255512</c:v>
              </c:pt>
              <c:pt idx="1">
                <c:v>0.2684824902723735</c:v>
              </c:pt>
              <c:pt idx="2">
                <c:v>0.1530479896238651</c:v>
              </c:pt>
              <c:pt idx="3">
                <c:v>0.1569390402075227</c:v>
              </c:pt>
              <c:pt idx="4">
                <c:v>0.0933852140077821</c:v>
              </c:pt>
              <c:pt idx="5">
                <c:v>0.059662775616083</c:v>
              </c:pt>
              <c:pt idx="6">
                <c:v>0.0285343709468223</c:v>
              </c:pt>
            </c:numLit>
          </c:val>
        </c:ser>
        <c:gapWidth val="48"/>
        <c:axId val="48650112"/>
        <c:axId val="48672768"/>
      </c:barChart>
      <c:catAx>
        <c:axId val="48650112"/>
        <c:scaling>
          <c:orientation val="minMax"/>
        </c:scaling>
        <c:delete val="0"/>
        <c:axPos val="b"/>
        <c:numFmt formatCode="General"/>
        <c:majorTickMark val="none"/>
        <c:minorTickMark val="none"/>
        <c:spPr>
          <a:ln w="9525">
            <a:solidFill>
              <a:srgbClr val="D7DADD"/>
            </a:solidFill>
            <a:prstDash val="solid"/>
          </a:ln>
        </c:spPr>
        <c:txPr>
          <a:bodyPr anchorCtr="1"/>
          <a:lstStyle/>
          <a:p>
            <a:pPr>
              <a:defRPr sz="1000" lang="pt-BR">
                <a:solidFill>
                  <a:srgbClr val="73787D"/>
                </a:solidFill>
              </a:defRPr>
            </a:pPr>
          </a:p>
        </c:txPr>
        <c:crossAx val="48672768"/>
        <c:lblAlgn val="ctr"/>
        <c:lblOffset val="100"/>
        <c:noMultiLvlLbl val="0"/>
      </c:catAx>
      <c:valAx>
        <c:axId val="48672768"/>
        <c:scaling>
          <c:orientation val="minMax"/>
          <c:min val="0"/>
        </c:scaling>
        <c:delete val="0"/>
        <c:axPos val="l"/>
        <c:majorGridlines>
          <c:spPr>
            <a:ln w="9525">
              <a:solidFill>
                <a:srgbClr val="E7E9EB"/>
              </a:solidFill>
              <a:prstDash val="solid"/>
            </a:ln>
          </c:spPr>
        </c:majorGridlines>
        <c:numFmt formatCode="0%"/>
        <c:majorTickMark val="none"/>
        <c:minorTickMark val="none"/>
        <c:spPr>
          <a:ln w="9525">
            <a:solidFill>
              <a:srgbClr val="D7DADD"/>
            </a:solidFill>
            <a:prstDash val="solid"/>
          </a:ln>
        </c:spPr>
        <c:txPr>
          <a:bodyPr anchorCtr="1"/>
          <a:lstStyle/>
          <a:p>
            <a:pPr>
              <a:defRPr sz="1000" lang="pt-BR">
                <a:solidFill>
                  <a:srgbClr val="8D9399"/>
                </a:solidFill>
              </a:defRPr>
            </a:pPr>
          </a:p>
        </c:txPr>
        <c:crossAx val="48650112"/>
        <c:crossBetween val="between"/>
      </c:valAx>
      <c:spPr>
        <a:noFill/>
        <a:ln w="0">
          <a:noFill/>
          <a:prstDash val="solid"/>
        </a:ln>
      </c:spPr>
    </c:plotArea>
    <c:plotVisOnly val="1"/>
  </c:chart>
  <c:spPr>
    <a:noFill/>
    <a:ln w="0">
      <a:noFill/>
      <a:prstDash val="solid"/>
    </a:ln>
  </c:spPr>
</c:chartSpace>
</file>

<file path=ppt/slides/charts/chart25.xml><?xml version="1.0" encoding="utf-8"?>
<c:chartSpace xmlns:a="http://schemas.openxmlformats.org/drawingml/2006/main" xmlns:c="http://schemas.openxmlformats.org/drawingml/2006/chart">
  <c:lang val="pt-BR"/>
  <c:chart>
    <c:plotArea>
      <c:barChart>
        <c:barDir val="col"/>
        <c:grouping val="clustered"/>
        <c:varyColors val="0"/>
        <c:ser>
          <c:idx val="0"/>
          <c:order val="0"/>
          <c:tx>
            <c:v>2024</c:v>
          </c:tx>
          <c:spPr>
            <a:solidFill>
              <a:srgbClr val="8D9399"/>
            </a:solidFill>
          </c:spPr>
          <c:cat>
            <c:strLit>
              <c:ptCount val="7"/>
              <c:pt idx="0">
                <c:v>&lt;10</c:v>
              </c:pt>
              <c:pt idx="1">
                <c:v>10–25</c:v>
              </c:pt>
              <c:pt idx="2">
                <c:v>25–50</c:v>
              </c:pt>
              <c:pt idx="3">
                <c:v>50–
100</c:v>
              </c:pt>
              <c:pt idx="4">
                <c:v>100–
200</c:v>
              </c:pt>
              <c:pt idx="5">
                <c:v>200–
500</c:v>
              </c:pt>
              <c:pt idx="6">
                <c:v>≥500</c:v>
              </c:pt>
            </c:strLit>
          </c:cat>
          <c:val>
            <c:numLit>
              <c:formatCode>0%</c:formatCode>
              <c:ptCount val="7"/>
              <c:pt idx="0">
                <c:v>0.0103321633887131</c:v>
              </c:pt>
              <c:pt idx="1">
                <c:v>0.0361313295137315</c:v>
              </c:pt>
              <c:pt idx="2">
                <c:v>0.0618859371549046</c:v>
              </c:pt>
              <c:pt idx="3">
                <c:v>0.1088463666507672</c:v>
              </c:pt>
              <c:pt idx="4">
                <c:v>0.1257652142029994</c:v>
              </c:pt>
              <c:pt idx="5">
                <c:v>0.2452642827460449</c:v>
              </c:pt>
              <c:pt idx="6">
                <c:v>0.411774706342839</c:v>
              </c:pt>
            </c:numLit>
          </c:val>
        </c:ser>
        <c:ser>
          <c:idx val="1"/>
          <c:order val="1"/>
          <c:tx>
            <c:v>2025</c:v>
          </c:tx>
          <c:spPr>
            <a:solidFill>
              <a:srgbClr val="30353A"/>
            </a:solidFill>
          </c:spPr>
          <c:cat>
            <c:strLit>
              <c:ptCount val="7"/>
              <c:pt idx="0">
                <c:v>&lt;10</c:v>
              </c:pt>
              <c:pt idx="1">
                <c:v>10–25</c:v>
              </c:pt>
              <c:pt idx="2">
                <c:v>25–50</c:v>
              </c:pt>
              <c:pt idx="3">
                <c:v>50–
100</c:v>
              </c:pt>
              <c:pt idx="4">
                <c:v>100–
200</c:v>
              </c:pt>
              <c:pt idx="5">
                <c:v>200–
500</c:v>
              </c:pt>
              <c:pt idx="6">
                <c:v>≥500</c:v>
              </c:pt>
            </c:strLit>
          </c:cat>
          <c:val>
            <c:numLit>
              <c:formatCode>0%</c:formatCode>
              <c:ptCount val="7"/>
              <c:pt idx="0">
                <c:v>0.011730951363519</c:v>
              </c:pt>
              <c:pt idx="1">
                <c:v>0.0474259703898181</c:v>
              </c:pt>
              <c:pt idx="2">
                <c:v>0.0704715892035931</c:v>
              </c:pt>
              <c:pt idx="3">
                <c:v>0.1291117427322091</c:v>
              </c:pt>
              <c:pt idx="4">
                <c:v>0.1527533319156595</c:v>
              </c:pt>
              <c:pt idx="5">
                <c:v>0.2413792875044426</c:v>
              </c:pt>
              <c:pt idx="6">
                <c:v>0.3471271268907585</c:v>
              </c:pt>
            </c:numLit>
          </c:val>
        </c:ser>
        <c:ser>
          <c:idx val="2"/>
          <c:order val="2"/>
          <c:tx>
            <c:v>Jan–jun/26</c:v>
          </c:tx>
          <c:spPr>
            <a:solidFill>
              <a:srgbClr val="EC7000"/>
            </a:solidFill>
          </c:spPr>
          <c:cat>
            <c:strLit>
              <c:ptCount val="7"/>
              <c:pt idx="0">
                <c:v>&lt;10</c:v>
              </c:pt>
              <c:pt idx="1">
                <c:v>10–25</c:v>
              </c:pt>
              <c:pt idx="2">
                <c:v>25–50</c:v>
              </c:pt>
              <c:pt idx="3">
                <c:v>50–
100</c:v>
              </c:pt>
              <c:pt idx="4">
                <c:v>100–
200</c:v>
              </c:pt>
              <c:pt idx="5">
                <c:v>200–
500</c:v>
              </c:pt>
              <c:pt idx="6">
                <c:v>≥500</c:v>
              </c:pt>
            </c:strLit>
          </c:cat>
          <c:val>
            <c:numLit>
              <c:formatCode>0%</c:formatCode>
              <c:ptCount val="7"/>
              <c:pt idx="0">
                <c:v>0.0122362463084512</c:v>
              </c:pt>
              <c:pt idx="1">
                <c:v>0.0464655965907937</c:v>
              </c:pt>
              <c:pt idx="2">
                <c:v>0.0609833624673594</c:v>
              </c:pt>
              <c:pt idx="3">
                <c:v>0.1209441922159701</c:v>
              </c:pt>
              <c:pt idx="4">
                <c:v>0.1441593207615259</c:v>
              </c:pt>
              <c:pt idx="5">
                <c:v>0.1929168497919684</c:v>
              </c:pt>
              <c:pt idx="6">
                <c:v>0.4222944318639312</c:v>
              </c:pt>
            </c:numLit>
          </c:val>
        </c:ser>
        <c:gapWidth val="48"/>
        <c:axId val="48650112"/>
        <c:axId val="48672768"/>
      </c:barChart>
      <c:catAx>
        <c:axId val="48650112"/>
        <c:scaling>
          <c:orientation val="minMax"/>
        </c:scaling>
        <c:delete val="0"/>
        <c:axPos val="b"/>
        <c:numFmt formatCode="General"/>
        <c:majorTickMark val="none"/>
        <c:minorTickMark val="none"/>
        <c:spPr>
          <a:ln w="9525">
            <a:solidFill>
              <a:srgbClr val="D7DADD"/>
            </a:solidFill>
            <a:prstDash val="solid"/>
          </a:ln>
        </c:spPr>
        <c:txPr>
          <a:bodyPr anchorCtr="1"/>
          <a:lstStyle/>
          <a:p>
            <a:pPr>
              <a:defRPr sz="1000" lang="pt-BR">
                <a:solidFill>
                  <a:srgbClr val="73787D"/>
                </a:solidFill>
              </a:defRPr>
            </a:pPr>
          </a:p>
        </c:txPr>
        <c:crossAx val="48672768"/>
        <c:lblAlgn val="ctr"/>
        <c:lblOffset val="100"/>
        <c:noMultiLvlLbl val="0"/>
      </c:catAx>
      <c:valAx>
        <c:axId val="48672768"/>
        <c:scaling>
          <c:orientation val="minMax"/>
          <c:min val="0"/>
        </c:scaling>
        <c:delete val="0"/>
        <c:axPos val="l"/>
        <c:majorGridlines>
          <c:spPr>
            <a:ln w="9525">
              <a:solidFill>
                <a:srgbClr val="E7E9EB"/>
              </a:solidFill>
              <a:prstDash val="solid"/>
            </a:ln>
          </c:spPr>
        </c:majorGridlines>
        <c:numFmt formatCode="0%"/>
        <c:majorTickMark val="none"/>
        <c:minorTickMark val="none"/>
        <c:spPr>
          <a:ln w="9525">
            <a:solidFill>
              <a:srgbClr val="D7DADD"/>
            </a:solidFill>
            <a:prstDash val="solid"/>
          </a:ln>
        </c:spPr>
        <c:txPr>
          <a:bodyPr anchorCtr="1"/>
          <a:lstStyle/>
          <a:p>
            <a:pPr>
              <a:defRPr sz="1000" lang="pt-BR">
                <a:solidFill>
                  <a:srgbClr val="8D9399"/>
                </a:solidFill>
              </a:defRPr>
            </a:pPr>
          </a:p>
        </c:txPr>
        <c:crossAx val="48650112"/>
        <c:crossBetween val="between"/>
      </c:valAx>
      <c:spPr>
        <a:noFill/>
        <a:ln w="0">
          <a:noFill/>
          <a:prstDash val="solid"/>
        </a:ln>
      </c:spPr>
    </c:plotArea>
    <c:plotVisOnly val="1"/>
  </c:chart>
  <c:spPr>
    <a:noFill/>
    <a:ln w="0">
      <a:noFill/>
      <a:prstDash val="solid"/>
    </a:ln>
  </c:spPr>
</c:chartSpace>
</file>

<file path=ppt/slides/charts/chart26.xml><?xml version="1.0" encoding="utf-8"?>
<c:chartSpace xmlns:a="http://schemas.openxmlformats.org/drawingml/2006/main" xmlns:c="http://schemas.openxmlformats.org/drawingml/2006/chart">
  <c:lang val="pt-BR"/>
  <c:chart>
    <c:plotArea>
      <c:barChart>
        <c:barDir val="col"/>
        <c:grouping val="clustered"/>
        <c:varyColors val="0"/>
        <c:ser>
          <c:idx val="0"/>
          <c:order val="0"/>
          <c:tx>
            <c:v>2024</c:v>
          </c:tx>
          <c:spPr>
            <a:solidFill>
              <a:srgbClr val="8D9399"/>
            </a:solidFill>
          </c:spPr>
          <c:cat>
            <c:strLit>
              <c:ptCount val="7"/>
              <c:pt idx="0">
                <c:v>&lt;10</c:v>
              </c:pt>
              <c:pt idx="1">
                <c:v>10–25</c:v>
              </c:pt>
              <c:pt idx="2">
                <c:v>25–50</c:v>
              </c:pt>
              <c:pt idx="3">
                <c:v>50–
100</c:v>
              </c:pt>
              <c:pt idx="4">
                <c:v>100–
200</c:v>
              </c:pt>
              <c:pt idx="5">
                <c:v>200–
500</c:v>
              </c:pt>
              <c:pt idx="6">
                <c:v>≥500</c:v>
              </c:pt>
            </c:strLit>
          </c:cat>
          <c:val>
            <c:numLit>
              <c:formatCode>0.0,,,</c:formatCode>
              <c:ptCount val="7"/>
              <c:pt idx="0">
                <c:v>985861204.43</c:v>
              </c:pt>
              <c:pt idx="1">
                <c:v>3447533173.06</c:v>
              </c:pt>
              <c:pt idx="2">
                <c:v>5904953517.04</c:v>
              </c:pt>
              <c:pt idx="3">
                <c:v>10385763957.37</c:v>
              </c:pt>
              <c:pt idx="4">
                <c:v>12000105000.76</c:v>
              </c:pt>
              <c:pt idx="5">
                <c:v>23402314897.17</c:v>
              </c:pt>
              <c:pt idx="6">
                <c:v>39290194383.92</c:v>
              </c:pt>
            </c:numLit>
          </c:val>
        </c:ser>
        <c:ser>
          <c:idx val="1"/>
          <c:order val="1"/>
          <c:tx>
            <c:v>2025</c:v>
          </c:tx>
          <c:spPr>
            <a:solidFill>
              <a:srgbClr val="30353A"/>
            </a:solidFill>
          </c:spPr>
          <c:cat>
            <c:strLit>
              <c:ptCount val="7"/>
              <c:pt idx="0">
                <c:v>&lt;10</c:v>
              </c:pt>
              <c:pt idx="1">
                <c:v>10–25</c:v>
              </c:pt>
              <c:pt idx="2">
                <c:v>25–50</c:v>
              </c:pt>
              <c:pt idx="3">
                <c:v>50–
100</c:v>
              </c:pt>
              <c:pt idx="4">
                <c:v>100–
200</c:v>
              </c:pt>
              <c:pt idx="5">
                <c:v>200–
500</c:v>
              </c:pt>
              <c:pt idx="6">
                <c:v>≥500</c:v>
              </c:pt>
            </c:strLit>
          </c:cat>
          <c:val>
            <c:numLit>
              <c:formatCode>0.0,,,</c:formatCode>
              <c:ptCount val="7"/>
              <c:pt idx="0">
                <c:v>1371598307.19</c:v>
              </c:pt>
              <c:pt idx="1">
                <c:v>5545107015.43</c:v>
              </c:pt>
              <c:pt idx="2">
                <c:v>8239631165.57</c:v>
              </c:pt>
              <c:pt idx="3">
                <c:v>15095915265.71</c:v>
              </c:pt>
              <c:pt idx="4">
                <c:v>17860121057.590004</c:v>
              </c:pt>
              <c:pt idx="5">
                <c:v>28222384687.519997</c:v>
              </c:pt>
              <c:pt idx="6">
                <c:v>40586561555.76</c:v>
              </c:pt>
            </c:numLit>
          </c:val>
        </c:ser>
        <c:ser>
          <c:idx val="2"/>
          <c:order val="2"/>
          <c:tx>
            <c:v>Jan–jun/26</c:v>
          </c:tx>
          <c:spPr>
            <a:solidFill>
              <a:srgbClr val="EC7000"/>
            </a:solidFill>
          </c:spPr>
          <c:cat>
            <c:strLit>
              <c:ptCount val="7"/>
              <c:pt idx="0">
                <c:v>&lt;10</c:v>
              </c:pt>
              <c:pt idx="1">
                <c:v>10–25</c:v>
              </c:pt>
              <c:pt idx="2">
                <c:v>25–50</c:v>
              </c:pt>
              <c:pt idx="3">
                <c:v>50–
100</c:v>
              </c:pt>
              <c:pt idx="4">
                <c:v>100–
200</c:v>
              </c:pt>
              <c:pt idx="5">
                <c:v>200–
500</c:v>
              </c:pt>
              <c:pt idx="6">
                <c:v>≥500</c:v>
              </c:pt>
            </c:strLit>
          </c:cat>
          <c:val>
            <c:numLit>
              <c:formatCode>0.0,,,</c:formatCode>
              <c:ptCount val="7"/>
              <c:pt idx="0">
                <c:v>801328754.1599998</c:v>
              </c:pt>
              <c:pt idx="1">
                <c:v>3042944518.1800003</c:v>
              </c:pt>
              <c:pt idx="2">
                <c:v>3993685697.28</c:v>
              </c:pt>
              <c:pt idx="3">
                <c:v>7920407650.21</c:v>
              </c:pt>
              <c:pt idx="4">
                <c:v>9440722750.62</c:v>
              </c:pt>
              <c:pt idx="5">
                <c:v>12633761613.11</c:v>
              </c:pt>
              <c:pt idx="6">
                <c:v>27655268000</c:v>
              </c:pt>
            </c:numLit>
          </c:val>
        </c:ser>
        <c:gapWidth val="48"/>
        <c:axId val="48650112"/>
        <c:axId val="48672768"/>
      </c:barChart>
      <c:catAx>
        <c:axId val="48650112"/>
        <c:scaling>
          <c:orientation val="minMax"/>
        </c:scaling>
        <c:delete val="0"/>
        <c:axPos val="b"/>
        <c:numFmt formatCode="General"/>
        <c:majorTickMark val="none"/>
        <c:minorTickMark val="none"/>
        <c:spPr>
          <a:ln w="9525">
            <a:solidFill>
              <a:srgbClr val="D7DADD"/>
            </a:solidFill>
            <a:prstDash val="solid"/>
          </a:ln>
        </c:spPr>
        <c:txPr>
          <a:bodyPr anchorCtr="1"/>
          <a:lstStyle/>
          <a:p>
            <a:pPr>
              <a:defRPr sz="1000" lang="pt-BR">
                <a:solidFill>
                  <a:srgbClr val="73787D"/>
                </a:solidFill>
              </a:defRPr>
            </a:pPr>
          </a:p>
        </c:txPr>
        <c:crossAx val="48672768"/>
        <c:lblAlgn val="ctr"/>
        <c:lblOffset val="100"/>
        <c:noMultiLvlLbl val="0"/>
      </c:catAx>
      <c:valAx>
        <c:axId val="48672768"/>
        <c:scaling>
          <c:orientation val="minMax"/>
          <c:min val="0"/>
        </c:scaling>
        <c:delete val="0"/>
        <c:axPos val="l"/>
        <c:majorGridlines>
          <c:spPr>
            <a:ln w="9525">
              <a:solidFill>
                <a:srgbClr val="E7E9EB"/>
              </a:solidFill>
              <a:prstDash val="solid"/>
            </a:ln>
          </c:spPr>
        </c:majorGridlines>
        <c:numFmt formatCode="0.0,,,"/>
        <c:majorTickMark val="none"/>
        <c:minorTickMark val="none"/>
        <c:spPr>
          <a:ln w="9525">
            <a:solidFill>
              <a:srgbClr val="D7DADD"/>
            </a:solidFill>
            <a:prstDash val="solid"/>
          </a:ln>
        </c:spPr>
        <c:txPr>
          <a:bodyPr anchorCtr="1"/>
          <a:lstStyle/>
          <a:p>
            <a:pPr>
              <a:defRPr sz="1000" lang="pt-BR">
                <a:solidFill>
                  <a:srgbClr val="8D9399"/>
                </a:solidFill>
              </a:defRPr>
            </a:pPr>
          </a:p>
        </c:txPr>
        <c:crossAx val="48650112"/>
        <c:crossBetween val="between"/>
      </c:valAx>
      <c:spPr>
        <a:noFill/>
        <a:ln w="0">
          <a:noFill/>
          <a:prstDash val="solid"/>
        </a:ln>
      </c:spPr>
    </c:plotArea>
    <c:plotVisOnly val="1"/>
  </c:chart>
  <c:spPr>
    <a:noFill/>
    <a:ln w="0">
      <a:noFill/>
      <a:prstDash val="solid"/>
    </a:ln>
  </c:spPr>
</c:chartSpace>
</file>

<file path=ppt/slides/charts/chart27.xml><?xml version="1.0" encoding="utf-8"?>
<c:chartSpace xmlns:a="http://schemas.openxmlformats.org/drawingml/2006/main" xmlns:c="http://schemas.openxmlformats.org/drawingml/2006/chart">
  <c:lang val="pt-BR"/>
  <c:chart>
    <c:plotArea>
      <c:lineChart>
        <c:grouping val="standard"/>
        <c:ser>
          <c:idx val="0"/>
          <c:order val="0"/>
          <c:tx>
            <c:v>2024FY</c:v>
          </c:tx>
          <c:spPr>
            <a:ln w="28575">
              <a:solidFill>
                <a:srgbClr val="8D9399"/>
              </a:solidFill>
              <a:prstDash val="solid"/>
            </a:ln>
          </c:spPr>
          <c:marker>
            <c:symbol val="none"/>
          </c:marker>
          <c:cat>
            <c:strLit>
              <c:ptCount val="1"/>
              <c:pt idx="0">
                <c:v/>
              </c:pt>
            </c:strLit>
          </c:cat>
          <c:val>
            <c:numLit>
              <c:formatCode>General</c:formatCode>
              <c:ptCount val="1"/>
              <c:pt idx="0">
                <c:v>0</c:v>
              </c:pt>
            </c:numLit>
          </c:val>
        </c:ser>
        <c:ser>
          <c:idx val="1"/>
          <c:order val="1"/>
          <c:tx>
            <c:v>2025FY</c:v>
          </c:tx>
          <c:spPr>
            <a:ln w="28575">
              <a:solidFill>
                <a:srgbClr val="30353A"/>
              </a:solidFill>
              <a:prstDash val="solid"/>
            </a:ln>
          </c:spPr>
          <c:marker>
            <c:symbol val="none"/>
          </c:marker>
          <c:cat>
            <c:strLit>
              <c:ptCount val="1"/>
              <c:pt idx="0">
                <c:v/>
              </c:pt>
            </c:strLit>
          </c:cat>
          <c:val>
            <c:numLit>
              <c:formatCode>General</c:formatCode>
              <c:ptCount val="1"/>
              <c:pt idx="0">
                <c:v>0</c:v>
              </c:pt>
            </c:numLit>
          </c:val>
        </c:ser>
        <c:ser>
          <c:idx val="2"/>
          <c:order val="2"/>
          <c:tx>
            <c:v>2026 jan–jun</c:v>
          </c:tx>
          <c:spPr>
            <a:ln w="28575">
              <a:solidFill>
                <a:srgbClr val="EC7000"/>
              </a:solidFill>
              <a:prstDash val="solid"/>
            </a:ln>
          </c:spPr>
          <c:marker>
            <c:symbol val="none"/>
          </c:marker>
          <c:cat>
            <c:strLit>
              <c:ptCount val="1"/>
              <c:pt idx="0">
                <c:v/>
              </c:pt>
            </c:strLit>
          </c:cat>
          <c:val>
            <c:numLit>
              <c:formatCode>General</c:formatCode>
              <c:ptCount val="1"/>
              <c:pt idx="0">
                <c:v>0</c:v>
              </c:pt>
            </c:numLit>
          </c:val>
        </c:ser>
        <c:axId val="48650112"/>
        <c:axId val="48672768"/>
      </c:lineChart>
      <c:catAx>
        <c:axId val="48650112"/>
        <c:scaling>
          <c:orientation val="minMax"/>
        </c:scaling>
        <c:delete val="0"/>
        <c:axPos val="b"/>
        <c:numFmt formatCode="General"/>
        <c:majorTickMark val="none"/>
        <c:minorTickMark val="none"/>
        <c:spPr>
          <a:ln w="9525">
            <a:solidFill>
              <a:srgbClr val="D4D4D4"/>
            </a:solidFill>
            <a:prstDash val="solid"/>
          </a:ln>
        </c:spPr>
        <c:txPr>
          <a:bodyPr anchorCtr="1"/>
          <a:lstStyle/>
          <a:p>
            <a:pPr>
              <a:defRPr lang="pt-BR">
                <a:solidFill>
                  <a:srgbClr val="666666"/>
                </a:solidFill>
              </a:defRPr>
            </a:pPr>
          </a:p>
        </c:txPr>
        <c:crossAx val="48672768"/>
        <c:lblAlgn val="ctr"/>
        <c:lblOffset val="100"/>
        <c:noMultiLvlLbl val="0"/>
      </c:catAx>
      <c:valAx>
        <c:axId val="48672768"/>
        <c:scaling>
          <c:orientation val="minMax"/>
        </c:scaling>
        <c:delete val="1"/>
        <c:axPos val="l"/>
        <c:numFmt formatCode="General"/>
        <c:majorTickMark val="none"/>
        <c:minorTickMark val="none"/>
        <c:spPr>
          <a:ln w="9525">
            <a:solidFill>
              <a:srgbClr val="D4D4D4"/>
            </a:solidFill>
            <a:prstDash val="solid"/>
          </a:ln>
        </c:spPr>
        <c:txPr>
          <a:bodyPr anchorCtr="1"/>
          <a:lstStyle/>
          <a:p>
            <a:pPr>
              <a:defRPr lang="pt-BR">
                <a:solidFill>
                  <a:srgbClr val="666666"/>
                </a:solidFill>
              </a:defRPr>
            </a:pPr>
          </a:p>
        </c:txPr>
        <c:crossAx val="48650112"/>
        <c:crossBetween val="between"/>
      </c:valAx>
      <c:spPr>
        <a:noFill/>
        <a:ln w="0">
          <a:noFill/>
          <a:prstDash val="solid"/>
        </a:ln>
      </c:spPr>
    </c:plotArea>
    <c:legend>
      <c:legendPos val="b"/>
      <c:overlay val="0"/>
      <c:txPr>
        <a:bodyPr anchorCtr="1"/>
        <a:lstStyle/>
        <a:p>
          <a:pPr>
            <a:defRPr sz="1000" lang="pt-BR">
              <a:solidFill>
                <a:srgbClr val="73787D"/>
              </a:solidFill>
            </a:defRPr>
          </a:pPr>
        </a:p>
      </c:txPr>
    </c:legend>
    <c:plotVisOnly val="1"/>
  </c:chart>
  <c:spPr>
    <a:noFill/>
    <a:ln w="0">
      <a:noFill/>
      <a:prstDash val="solid"/>
    </a:ln>
  </c:spPr>
</c:chartSpace>
</file>

<file path=ppt/slides/charts/chart28.xml><?xml version="1.0" encoding="utf-8"?>
<c:chartSpace xmlns:a="http://schemas.openxmlformats.org/drawingml/2006/main" xmlns:c="http://schemas.openxmlformats.org/drawingml/2006/chart">
  <c:lang val="pt-BR"/>
  <c:chart>
    <c:plotArea>
      <c:barChart>
        <c:barDir val="bar"/>
        <c:grouping val="clustered"/>
        <c:varyColors val="0"/>
        <c:ser>
          <c:idx val="0"/>
          <c:order val="0"/>
          <c:tx>
            <c:v>2026 jan–jun</c:v>
          </c:tx>
          <c:spPr>
            <a:solidFill>
              <a:srgbClr val="EC7000"/>
            </a:solidFill>
          </c:spPr>
          <c:dLbls>
            <c:dLbl>
              <c:idx val="0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1"/>
              <c:txPr>
                <a:bodyPr anchorCtr="1"/>
                <a:lstStyle/>
                <a:p>
                  <a:pPr>
                    <a:defRPr sz="1200" lang="pt-BR"/>
                  </a:pPr>
                </a:p>
              </c:txPr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2"/>
              <c:txPr>
                <a:bodyPr anchorCtr="1"/>
                <a:lstStyle/>
                <a:p>
                  <a:pPr>
                    <a:defRPr sz="1200" lang="pt-BR"/>
                  </a:pPr>
                </a:p>
              </c:txPr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3"/>
              <c:txPr>
                <a:bodyPr anchorCtr="1"/>
                <a:lstStyle/>
                <a:p>
                  <a:pPr>
                    <a:defRPr sz="1200" lang="pt-BR"/>
                  </a:pPr>
                </a:p>
              </c:txPr>
              <c:showLegendKey val="0"/>
              <c:showVal val="1"/>
              <c:showCatName val="0"/>
              <c:showSerName val="0"/>
              <c:showPercent val="0"/>
              <c:showBubbleSize val="0"/>
            </c:dLbl>
          </c:dLbls>
          <c:cat>
            <c:strLit>
              <c:ptCount val="4"/>
              <c:pt idx="0">
                <c:v>Não informado</c:v>
              </c:pt>
              <c:pt idx="1">
                <c:v>Misto</c:v>
              </c:pt>
              <c:pt idx="2">
                <c:v>Garantia firme</c:v>
              </c:pt>
              <c:pt idx="3">
                <c:v>Melhores esforços</c:v>
              </c:pt>
            </c:strLit>
          </c:cat>
          <c:val>
            <c:numLit>
              <c:formatCode>0.0%</c:formatCode>
              <c:ptCount val="4"/>
              <c:pt idx="0">
                <c:v>0</c:v>
              </c:pt>
              <c:pt idx="1">
                <c:v>0.0893902602618587</c:v>
              </c:pt>
              <c:pt idx="2">
                <c:v>0.2183600967923638</c:v>
              </c:pt>
              <c:pt idx="3">
                <c:v>0.6922496429457774</c:v>
              </c:pt>
            </c:numLit>
          </c:val>
        </c:ser>
        <c:ser>
          <c:idx val="1"/>
          <c:order val="1"/>
          <c:tx>
            <c:v>2025FY</c:v>
          </c:tx>
          <c:spPr>
            <a:solidFill>
              <a:srgbClr val="30353A"/>
            </a:solidFill>
          </c:spPr>
          <c:dLbls>
            <c:dLbl>
              <c:idx val="0"/>
              <c:txPr>
                <a:bodyPr anchorCtr="1"/>
                <a:lstStyle/>
                <a:p>
                  <a:pPr>
                    <a:defRPr sz="1200" lang="pt-BR"/>
                  </a:pPr>
                </a:p>
              </c:txPr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"/>
              <c:txPr>
                <a:bodyPr anchorCtr="1"/>
                <a:lstStyle/>
                <a:p>
                  <a:pPr>
                    <a:defRPr sz="1200" lang="pt-BR"/>
                  </a:pPr>
                </a:p>
              </c:txPr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2"/>
              <c:txPr>
                <a:bodyPr anchorCtr="1"/>
                <a:lstStyle/>
                <a:p>
                  <a:pPr>
                    <a:defRPr sz="1200" lang="pt-BR"/>
                  </a:pPr>
                </a:p>
              </c:txPr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3"/>
              <c:txPr>
                <a:bodyPr anchorCtr="1"/>
                <a:lstStyle/>
                <a:p>
                  <a:pPr>
                    <a:defRPr sz="1200" lang="pt-BR"/>
                  </a:pPr>
                </a:p>
              </c:txPr>
              <c:showLegendKey val="0"/>
              <c:showVal val="1"/>
              <c:showCatName val="0"/>
              <c:showSerName val="0"/>
              <c:showPercent val="0"/>
              <c:showBubbleSize val="0"/>
            </c:dLbl>
          </c:dLbls>
          <c:cat>
            <c:strLit>
              <c:ptCount val="4"/>
              <c:pt idx="0">
                <c:v>Não informado</c:v>
              </c:pt>
              <c:pt idx="1">
                <c:v>Misto</c:v>
              </c:pt>
              <c:pt idx="2">
                <c:v>Garantia firme</c:v>
              </c:pt>
              <c:pt idx="3">
                <c:v>Melhores esforços</c:v>
              </c:pt>
            </c:strLit>
          </c:cat>
          <c:val>
            <c:numLit>
              <c:formatCode>0.0%</c:formatCode>
              <c:ptCount val="4"/>
              <c:pt idx="0">
                <c:v>0.0049007315742955</c:v>
              </c:pt>
              <c:pt idx="1">
                <c:v>0.0865092588312477</c:v>
              </c:pt>
              <c:pt idx="2">
                <c:v>0.1560715599269108</c:v>
              </c:pt>
              <c:pt idx="3">
                <c:v>0.7525184496675458</c:v>
              </c:pt>
            </c:numLit>
          </c:val>
        </c:ser>
        <c:ser>
          <c:idx val="2"/>
          <c:order val="2"/>
          <c:tx>
            <c:v>2024FY</c:v>
          </c:tx>
          <c:spPr>
            <a:solidFill>
              <a:srgbClr val="8D9399"/>
            </a:solidFill>
          </c:spPr>
          <c:dLbls>
            <c:dLbl>
              <c:idx val="0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1"/>
              <c:txPr>
                <a:bodyPr anchorCtr="1"/>
                <a:lstStyle/>
                <a:p>
                  <a:pPr>
                    <a:defRPr sz="1200" lang="pt-BR"/>
                  </a:pPr>
                </a:p>
              </c:txPr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2"/>
              <c:txPr>
                <a:bodyPr anchorCtr="1"/>
                <a:lstStyle/>
                <a:p>
                  <a:pPr>
                    <a:defRPr sz="1200" lang="pt-BR"/>
                  </a:pPr>
                </a:p>
              </c:txPr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3"/>
              <c:txPr>
                <a:bodyPr anchorCtr="1"/>
                <a:lstStyle/>
                <a:p>
                  <a:pPr>
                    <a:defRPr sz="1200" lang="pt-BR"/>
                  </a:pPr>
                </a:p>
              </c:txPr>
              <c:showLegendKey val="0"/>
              <c:showVal val="1"/>
              <c:showCatName val="0"/>
              <c:showSerName val="0"/>
              <c:showPercent val="0"/>
              <c:showBubbleSize val="0"/>
            </c:dLbl>
          </c:dLbls>
          <c:cat>
            <c:strLit>
              <c:ptCount val="4"/>
              <c:pt idx="0">
                <c:v>Não informado</c:v>
              </c:pt>
              <c:pt idx="1">
                <c:v>Misto</c:v>
              </c:pt>
              <c:pt idx="2">
                <c:v>Garantia firme</c:v>
              </c:pt>
              <c:pt idx="3">
                <c:v>Melhores esforços</c:v>
              </c:pt>
            </c:strLit>
          </c:cat>
          <c:val>
            <c:numLit>
              <c:formatCode>0.0%</c:formatCode>
              <c:ptCount val="4"/>
              <c:pt idx="0">
                <c:v>0</c:v>
              </c:pt>
              <c:pt idx="1">
                <c:v>0.1297392763466582</c:v>
              </c:pt>
              <c:pt idx="2">
                <c:v>0.1435448852101765</c:v>
              </c:pt>
              <c:pt idx="3">
                <c:v>0.7267158384431652</c:v>
              </c:pt>
            </c:numLit>
          </c:val>
        </c:ser>
        <c:dLbls>
          <c:txPr>
            <a:bodyPr anchorCtr="1"/>
            <a:lstStyle/>
            <a:p>
              <a:pPr>
                <a:defRPr sz="1200" b="0" lang="pt-BR">
                  <a:solidFill>
                    <a:srgbClr val="151515"/>
                  </a:solidFill>
                </a:defRPr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42"/>
        <c:axId val="48650112"/>
        <c:axId val="48672768"/>
      </c:barChart>
      <c:catAx>
        <c:axId val="48650112"/>
        <c:scaling>
          <c:orientation val="minMax"/>
        </c:scaling>
        <c:delete val="0"/>
        <c:axPos val="l"/>
        <c:numFmt formatCode="General"/>
        <c:majorTickMark val="none"/>
        <c:minorTickMark val="none"/>
        <c:spPr>
          <a:ln w="9525">
            <a:solidFill>
              <a:srgbClr val="D7DADD"/>
            </a:solidFill>
            <a:prstDash val="solid"/>
          </a:ln>
        </c:spPr>
        <c:txPr>
          <a:bodyPr anchorCtr="1"/>
          <a:lstStyle/>
          <a:p>
            <a:pPr>
              <a:defRPr sz="1000" lang="pt-BR">
                <a:solidFill>
                  <a:srgbClr val="73787D"/>
                </a:solidFill>
              </a:defRPr>
            </a:pPr>
          </a:p>
        </c:txPr>
        <c:crossAx val="48672768"/>
        <c:lblAlgn val="ctr"/>
        <c:lblOffset val="100"/>
        <c:noMultiLvlLbl val="0"/>
      </c:catAx>
      <c:valAx>
        <c:axId val="48672768"/>
        <c:scaling>
          <c:orientation val="minMax"/>
          <c:max val="1"/>
          <c:min val="0"/>
        </c:scaling>
        <c:delete val="0"/>
        <c:axPos val="b"/>
        <c:numFmt formatCode="0%"/>
        <c:majorTickMark val="none"/>
        <c:minorTickMark val="none"/>
        <c:spPr>
          <a:ln w="5715">
            <a:solidFill>
              <a:srgbClr val="D7DADD"/>
            </a:solidFill>
            <a:prstDash val="solid"/>
          </a:ln>
        </c:spPr>
        <c:txPr>
          <a:bodyPr anchorCtr="1"/>
          <a:lstStyle/>
          <a:p>
            <a:pPr>
              <a:defRPr sz="1000" lang="pt-BR">
                <a:solidFill>
                  <a:srgbClr val="73787D"/>
                </a:solidFill>
              </a:defRPr>
            </a:pPr>
          </a:p>
        </c:txPr>
        <c:crossAx val="48650112"/>
        <c:crossBetween val="between"/>
        <c:majorUnit val="0.2"/>
      </c:valAx>
      <c:spPr>
        <a:noFill/>
        <a:ln w="0">
          <a:noFill/>
          <a:prstDash val="solid"/>
        </a:ln>
      </c:spPr>
    </c:plotArea>
    <c:plotVisOnly val="1"/>
  </c:chart>
  <c:spPr>
    <a:noFill/>
    <a:ln w="0">
      <a:noFill/>
      <a:prstDash val="solid"/>
    </a:ln>
  </c:spPr>
</c:chartSpace>
</file>

<file path=ppt/slides/charts/chart29.xml><?xml version="1.0" encoding="utf-8"?>
<c:chartSpace xmlns:a="http://schemas.openxmlformats.org/drawingml/2006/main" xmlns:c="http://schemas.openxmlformats.org/drawingml/2006/chart">
  <c:lang val="pt-BR"/>
  <c:chart>
    <c:plotArea>
      <c:lineChart>
        <c:grouping val="standard"/>
        <c:ser>
          <c:idx val="0"/>
          <c:order val="0"/>
          <c:tx>
            <c:v>QI Tech</c:v>
          </c:tx>
          <c:spPr>
            <a:ln w="28575">
              <a:solidFill>
                <a:srgbClr val="2456D6"/>
              </a:solidFill>
              <a:prstDash val="solid"/>
            </a:ln>
          </c:spPr>
          <c:marker>
            <c:symbol val="none"/>
          </c:marker>
          <c:cat>
            <c:strLit>
              <c:ptCount val="1"/>
              <c:pt idx="0">
                <c:v/>
              </c:pt>
            </c:strLit>
          </c:cat>
          <c:val>
            <c:numLit>
              <c:formatCode>General</c:formatCode>
              <c:ptCount val="1"/>
              <c:pt idx="0">
                <c:v>0</c:v>
              </c:pt>
            </c:numLit>
          </c:val>
        </c:ser>
        <c:ser>
          <c:idx val="1"/>
          <c:order val="1"/>
          <c:tx>
            <c:v>BTG Pactual</c:v>
          </c:tx>
          <c:spPr>
            <a:ln w="28575">
              <a:solidFill>
                <a:srgbClr val="1D4080"/>
              </a:solidFill>
              <a:prstDash val="solid"/>
            </a:ln>
          </c:spPr>
          <c:marker>
            <c:symbol val="none"/>
          </c:marker>
          <c:cat>
            <c:strLit>
              <c:ptCount val="1"/>
              <c:pt idx="0">
                <c:v/>
              </c:pt>
            </c:strLit>
          </c:cat>
          <c:val>
            <c:numLit>
              <c:formatCode>General</c:formatCode>
              <c:ptCount val="1"/>
              <c:pt idx="0">
                <c:v>0</c:v>
              </c:pt>
            </c:numLit>
          </c:val>
        </c:ser>
        <c:ser>
          <c:idx val="2"/>
          <c:order val="2"/>
          <c:tx>
            <c:v>Oliveira Trust</c:v>
          </c:tx>
          <c:spPr>
            <a:ln w="28575">
              <a:solidFill>
                <a:srgbClr val="7A1F3D"/>
              </a:solidFill>
              <a:prstDash val="solid"/>
            </a:ln>
          </c:spPr>
          <c:marker>
            <c:symbol val="none"/>
          </c:marker>
          <c:cat>
            <c:strLit>
              <c:ptCount val="1"/>
              <c:pt idx="0">
                <c:v/>
              </c:pt>
            </c:strLit>
          </c:cat>
          <c:val>
            <c:numLit>
              <c:formatCode>General</c:formatCode>
              <c:ptCount val="1"/>
              <c:pt idx="0">
                <c:v>0</c:v>
              </c:pt>
            </c:numLit>
          </c:val>
        </c:ser>
        <c:ser>
          <c:idx val="3"/>
          <c:order val="3"/>
          <c:tx>
            <c:v>Itaú</c:v>
          </c:tx>
          <c:spPr>
            <a:ln w="28575">
              <a:solidFill>
                <a:srgbClr val="FF5500"/>
              </a:solidFill>
              <a:prstDash val="solid"/>
            </a:ln>
          </c:spPr>
          <c:marker>
            <c:symbol val="none"/>
          </c:marker>
          <c:cat>
            <c:strLit>
              <c:ptCount val="1"/>
              <c:pt idx="0">
                <c:v/>
              </c:pt>
            </c:strLit>
          </c:cat>
          <c:val>
            <c:numLit>
              <c:formatCode>General</c:formatCode>
              <c:ptCount val="1"/>
              <c:pt idx="0">
                <c:v>0</c:v>
              </c:pt>
            </c:numLit>
          </c:val>
        </c:ser>
        <c:ser>
          <c:idx val="4"/>
          <c:order val="4"/>
          <c:tx>
            <c:v>Genial</c:v>
          </c:tx>
          <c:spPr>
            <a:ln w="28575">
              <a:solidFill>
                <a:srgbClr val="6EC5E9"/>
              </a:solidFill>
              <a:prstDash val="solid"/>
            </a:ln>
          </c:spPr>
          <c:marker>
            <c:symbol val="none"/>
          </c:marker>
          <c:cat>
            <c:strLit>
              <c:ptCount val="1"/>
              <c:pt idx="0">
                <c:v/>
              </c:pt>
            </c:strLit>
          </c:cat>
          <c:val>
            <c:numLit>
              <c:formatCode>General</c:formatCode>
              <c:ptCount val="1"/>
              <c:pt idx="0">
                <c:v>0</c:v>
              </c:pt>
            </c:numLit>
          </c:val>
        </c:ser>
        <c:ser>
          <c:idx val="5"/>
          <c:order val="5"/>
          <c:tx>
            <c:v>CBSF / REAG</c:v>
          </c:tx>
          <c:spPr>
            <a:ln w="28575">
              <a:solidFill>
                <a:srgbClr val="73C6A1"/>
              </a:solidFill>
              <a:prstDash val="solid"/>
            </a:ln>
          </c:spPr>
          <c:marker>
            <c:symbol val="none"/>
          </c:marker>
          <c:cat>
            <c:strLit>
              <c:ptCount val="1"/>
              <c:pt idx="0">
                <c:v/>
              </c:pt>
            </c:strLit>
          </c:cat>
          <c:val>
            <c:numLit>
              <c:formatCode>General</c:formatCode>
              <c:ptCount val="1"/>
              <c:pt idx="0">
                <c:v>0</c:v>
              </c:pt>
            </c:numLit>
          </c:val>
        </c:ser>
        <c:ser>
          <c:idx val="6"/>
          <c:order val="6"/>
          <c:tx>
            <c:v>Demais</c:v>
          </c:tx>
          <c:spPr>
            <a:ln w="28575">
              <a:solidFill>
                <a:srgbClr val="73787D"/>
              </a:solidFill>
              <a:prstDash val="solid"/>
            </a:ln>
          </c:spPr>
          <c:marker>
            <c:symbol val="none"/>
          </c:marker>
          <c:cat>
            <c:strLit>
              <c:ptCount val="1"/>
              <c:pt idx="0">
                <c:v/>
              </c:pt>
            </c:strLit>
          </c:cat>
          <c:val>
            <c:numLit>
              <c:formatCode>General</c:formatCode>
              <c:ptCount val="1"/>
              <c:pt idx="0">
                <c:v>0</c:v>
              </c:pt>
            </c:numLit>
          </c:val>
        </c:ser>
        <c:axId val="48650112"/>
        <c:axId val="48672768"/>
      </c:lineChart>
      <c:catAx>
        <c:axId val="48650112"/>
        <c:scaling>
          <c:orientation val="minMax"/>
        </c:scaling>
        <c:delete val="0"/>
        <c:axPos val="b"/>
        <c:numFmt formatCode="General"/>
        <c:majorTickMark val="none"/>
        <c:minorTickMark val="none"/>
        <c:spPr>
          <a:ln w="9525">
            <a:solidFill>
              <a:srgbClr val="D4D4D4"/>
            </a:solidFill>
            <a:prstDash val="solid"/>
          </a:ln>
        </c:spPr>
        <c:txPr>
          <a:bodyPr anchorCtr="1"/>
          <a:lstStyle/>
          <a:p>
            <a:pPr>
              <a:defRPr lang="pt-BR">
                <a:solidFill>
                  <a:srgbClr val="666666"/>
                </a:solidFill>
              </a:defRPr>
            </a:pPr>
          </a:p>
        </c:txPr>
        <c:crossAx val="48672768"/>
        <c:lblAlgn val="ctr"/>
        <c:lblOffset val="100"/>
        <c:noMultiLvlLbl val="0"/>
      </c:catAx>
      <c:valAx>
        <c:axId val="48672768"/>
        <c:scaling>
          <c:orientation val="minMax"/>
        </c:scaling>
        <c:delete val="1"/>
        <c:axPos val="l"/>
        <c:numFmt formatCode="General"/>
        <c:majorTickMark val="none"/>
        <c:minorTickMark val="none"/>
        <c:spPr>
          <a:ln w="9525">
            <a:solidFill>
              <a:srgbClr val="D4D4D4"/>
            </a:solidFill>
            <a:prstDash val="solid"/>
          </a:ln>
        </c:spPr>
        <c:txPr>
          <a:bodyPr anchorCtr="1"/>
          <a:lstStyle/>
          <a:p>
            <a:pPr>
              <a:defRPr lang="pt-BR">
                <a:solidFill>
                  <a:srgbClr val="666666"/>
                </a:solidFill>
              </a:defRPr>
            </a:pPr>
          </a:p>
        </c:txPr>
        <c:crossAx val="48650112"/>
        <c:crossBetween val="between"/>
      </c:valAx>
      <c:spPr>
        <a:noFill/>
        <a:ln w="0">
          <a:noFill/>
          <a:prstDash val="solid"/>
        </a:ln>
      </c:spPr>
    </c:plotArea>
    <c:legend>
      <c:legendPos val="b"/>
      <c:overlay val="0"/>
      <c:txPr>
        <a:bodyPr anchorCtr="1"/>
        <a:lstStyle/>
        <a:p>
          <a:pPr>
            <a:defRPr sz="1000" lang="pt-BR">
              <a:solidFill>
                <a:srgbClr val="73787D"/>
              </a:solidFill>
            </a:defRPr>
          </a:pPr>
        </a:p>
      </c:txPr>
    </c:legend>
    <c:plotVisOnly val="1"/>
  </c:chart>
  <c:spPr>
    <a:noFill/>
    <a:ln w="0">
      <a:noFill/>
      <a:prstDash val="solid"/>
    </a:ln>
  </c:spPr>
</c:chartSpace>
</file>

<file path=ppt/slides/charts/chart30.xml><?xml version="1.0" encoding="utf-8"?>
<c:chartSpace xmlns:a="http://schemas.openxmlformats.org/drawingml/2006/main" xmlns:c="http://schemas.openxmlformats.org/drawingml/2006/chart">
  <c:lang val="pt-BR"/>
  <c:chart>
    <c:plotArea>
      <c:barChart>
        <c:barDir val="bar"/>
        <c:grouping val="clustered"/>
        <c:varyColors val="0"/>
        <c:ser>
          <c:idx val="0"/>
          <c:order val="0"/>
          <c:tx>
            <c:v>PL jun/26</c:v>
          </c:tx>
          <c:spPr>
            <a:solidFill>
              <a:srgbClr val="30353A"/>
            </a:solidFill>
          </c:spPr>
          <c:dPt>
            <c:idx val="0"/>
            <c:invertIfNegative val="0"/>
            <c:spPr>
              <a:solidFill>
                <a:srgbClr val="FF5500"/>
              </a:solidFill>
            </c:spPr>
          </c:dPt>
          <c:dPt>
            <c:idx val="1"/>
            <c:invertIfNegative val="0"/>
            <c:spPr>
              <a:solidFill>
                <a:srgbClr val="73787D"/>
              </a:solidFill>
            </c:spPr>
          </c:dPt>
          <c:dPt>
            <c:idx val="2"/>
            <c:invertIfNegative val="0"/>
            <c:spPr>
              <a:solidFill>
                <a:srgbClr val="7A1F3D"/>
              </a:solidFill>
            </c:spPr>
          </c:dPt>
          <c:dPt>
            <c:idx val="3"/>
            <c:invertIfNegative val="0"/>
            <c:spPr>
              <a:solidFill>
                <a:srgbClr val="1D4080"/>
              </a:solidFill>
            </c:spPr>
          </c:dPt>
          <c:dPt>
            <c:idx val="4"/>
            <c:invertIfNegative val="0"/>
            <c:spPr>
              <a:solidFill>
                <a:srgbClr val="2456D6"/>
              </a:solidFill>
            </c:spPr>
          </c:dPt>
          <c:cat>
            <c:strLit>
              <c:ptCount val="5"/>
              <c:pt idx="0">
                <c:v>Itaú</c:v>
              </c:pt>
              <c:pt idx="1">
                <c:v>Bradesco</c:v>
              </c:pt>
              <c:pt idx="2">
                <c:v>Oliveira Trust</c:v>
              </c:pt>
              <c:pt idx="3">
                <c:v>BTG Pactual</c:v>
              </c:pt>
              <c:pt idx="4">
                <c:v>QI Tech</c:v>
              </c:pt>
            </c:strLit>
          </c:cat>
          <c:val>
            <c:numLit>
              <c:formatCode>0.0</c:formatCode>
              <c:ptCount val="5"/>
              <c:pt idx="0">
                <c:v>27.05634936661</c:v>
              </c:pt>
              <c:pt idx="1">
                <c:v>49.77770817222</c:v>
              </c:pt>
              <c:pt idx="2">
                <c:v>56.87136007691</c:v>
              </c:pt>
              <c:pt idx="3">
                <c:v>107.91817098489999</c:v>
              </c:pt>
              <c:pt idx="4">
                <c:v>116.97439427594999</c:v>
              </c:pt>
            </c:numLit>
          </c:val>
        </c:ser>
        <c:dLbls>
          <c:spPr>
            <a:noFill/>
            <a:ln w="0">
              <a:noFill/>
              <a:prstDash val="solid"/>
            </a:ln>
          </c:spPr>
          <c:txPr>
            <a:bodyPr anchorCtr="1"/>
            <a:lstStyle/>
            <a:p>
              <a:pPr>
                <a:defRPr sz="1200" b="0" lang="pt-BR">
                  <a:solidFill>
                    <a:srgbClr val="FFFFFF"/>
                  </a:solidFill>
                </a:defRPr>
              </a:pPr>
            </a:p>
          </c:txPr>
          <c:dLblPos val="inEnd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26"/>
        <c:axId val="48650112"/>
        <c:axId val="48672768"/>
      </c:barChart>
      <c:catAx>
        <c:axId val="48650112"/>
        <c:scaling>
          <c:orientation val="minMax"/>
        </c:scaling>
        <c:delete val="0"/>
        <c:axPos val="l"/>
        <c:numFmt formatCode="General"/>
        <c:majorTickMark val="none"/>
        <c:minorTickMark val="none"/>
        <c:spPr>
          <a:ln w="9525">
            <a:solidFill>
              <a:srgbClr val="D4D4D4"/>
            </a:solidFill>
            <a:prstDash val="solid"/>
          </a:ln>
        </c:spPr>
        <c:txPr>
          <a:bodyPr anchorCtr="1"/>
          <a:lstStyle/>
          <a:p>
            <a:pPr>
              <a:defRPr lang="pt-BR">
                <a:solidFill>
                  <a:srgbClr val="666666"/>
                </a:solidFill>
              </a:defRPr>
            </a:pPr>
          </a:p>
        </c:txPr>
        <c:crossAx val="48672768"/>
        <c:lblAlgn val="ctr"/>
        <c:lblOffset val="100"/>
        <c:noMultiLvlLbl val="0"/>
      </c:catAx>
      <c:valAx>
        <c:axId val="48672768"/>
        <c:scaling>
          <c:orientation val="minMax"/>
        </c:scaling>
        <c:delete val="0"/>
        <c:axPos val="b"/>
        <c:numFmt formatCode="General"/>
        <c:majorTickMark val="none"/>
        <c:minorTickMark val="none"/>
        <c:spPr>
          <a:ln w="9525">
            <a:solidFill>
              <a:srgbClr val="D7DADD"/>
            </a:solidFill>
            <a:prstDash val="solid"/>
          </a:ln>
        </c:spPr>
        <c:txPr>
          <a:bodyPr anchorCtr="1"/>
          <a:lstStyle/>
          <a:p>
            <a:pPr>
              <a:defRPr sz="1000" lang="pt-BR">
                <a:solidFill>
                  <a:srgbClr val="73787D"/>
                </a:solidFill>
              </a:defRPr>
            </a:pPr>
          </a:p>
        </c:txPr>
        <c:crossAx val="48650112"/>
        <c:crossBetween val="between"/>
      </c:valAx>
      <c:spPr>
        <a:noFill/>
        <a:ln w="0">
          <a:noFill/>
          <a:prstDash val="solid"/>
        </a:ln>
      </c:spPr>
    </c:plotArea>
    <c:plotVisOnly val="1"/>
  </c:chart>
  <c:spPr>
    <a:noFill/>
    <a:ln w="0">
      <a:noFill/>
      <a:prstDash val="solid"/>
    </a:ln>
  </c:spPr>
</c:chartSpace>
</file>

<file path=ppt/slides/charts/chart31.xml><?xml version="1.0" encoding="utf-8"?>
<c:chartSpace xmlns:a="http://schemas.openxmlformats.org/drawingml/2006/main" xmlns:c="http://schemas.openxmlformats.org/drawingml/2006/chart">
  <c:lang val="pt-BR"/>
  <c:chart>
    <c:plotArea>
      <c:barChart>
        <c:barDir val="bar"/>
        <c:grouping val="clustered"/>
        <c:varyColors val="0"/>
        <c:ser>
          <c:idx val="0"/>
          <c:order val="0"/>
          <c:tx>
            <c:v>PL jun/26</c:v>
          </c:tx>
          <c:spPr>
            <a:solidFill>
              <a:srgbClr val="30353A"/>
            </a:solidFill>
          </c:spPr>
          <c:dPt>
            <c:idx val="0"/>
            <c:invertIfNegative val="0"/>
            <c:spPr>
              <a:solidFill>
                <a:srgbClr val="30353A"/>
              </a:solidFill>
            </c:spPr>
          </c:dPt>
          <c:dPt>
            <c:idx val="1"/>
            <c:invertIfNegative val="0"/>
            <c:spPr>
              <a:solidFill>
                <a:srgbClr val="454A4F"/>
              </a:solidFill>
            </c:spPr>
          </c:dPt>
          <c:dPt>
            <c:idx val="2"/>
            <c:invertIfNegative val="0"/>
            <c:spPr>
              <a:solidFill>
                <a:srgbClr val="5B6065"/>
              </a:solidFill>
            </c:spPr>
          </c:dPt>
          <c:dPt>
            <c:idx val="3"/>
            <c:invertIfNegative val="0"/>
            <c:spPr>
              <a:solidFill>
                <a:srgbClr val="7A1F3D"/>
              </a:solidFill>
            </c:spPr>
          </c:dPt>
          <c:dPt>
            <c:idx val="4"/>
            <c:invertIfNegative val="0"/>
            <c:spPr>
              <a:solidFill>
                <a:srgbClr val="2456D6"/>
              </a:solidFill>
            </c:spPr>
          </c:dPt>
          <c:cat>
            <c:strLit>
              <c:ptCount val="5"/>
              <c:pt idx="0">
                <c:v>Hemera</c:v>
              </c:pt>
              <c:pt idx="1">
                <c:v>BRL Trust</c:v>
              </c:pt>
              <c:pt idx="2">
                <c:v>Finaxis</c:v>
              </c:pt>
              <c:pt idx="3">
                <c:v>Oliveira Trust</c:v>
              </c:pt>
              <c:pt idx="4">
                <c:v>QI Tech</c:v>
              </c:pt>
            </c:strLit>
          </c:cat>
          <c:val>
            <c:numLit>
              <c:formatCode>0.0</c:formatCode>
              <c:ptCount val="5"/>
              <c:pt idx="0">
                <c:v>21.00943573536</c:v>
              </c:pt>
              <c:pt idx="1">
                <c:v>21.26060727013</c:v>
              </c:pt>
              <c:pt idx="2">
                <c:v>22.30772786867</c:v>
              </c:pt>
              <c:pt idx="3">
                <c:v>56.87136007691</c:v>
              </c:pt>
              <c:pt idx="4">
                <c:v>116.97439427594999</c:v>
              </c:pt>
            </c:numLit>
          </c:val>
        </c:ser>
        <c:dLbls>
          <c:spPr>
            <a:noFill/>
            <a:ln w="0">
              <a:noFill/>
              <a:prstDash val="solid"/>
            </a:ln>
          </c:spPr>
          <c:txPr>
            <a:bodyPr anchorCtr="1"/>
            <a:lstStyle/>
            <a:p>
              <a:pPr>
                <a:defRPr sz="1200" b="0" lang="pt-BR">
                  <a:solidFill>
                    <a:srgbClr val="FFFFFF"/>
                  </a:solidFill>
                </a:defRPr>
              </a:pPr>
            </a:p>
          </c:txPr>
          <c:dLblPos val="inEnd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26"/>
        <c:axId val="48650112"/>
        <c:axId val="48672768"/>
      </c:barChart>
      <c:catAx>
        <c:axId val="48650112"/>
        <c:scaling>
          <c:orientation val="minMax"/>
        </c:scaling>
        <c:delete val="0"/>
        <c:axPos val="l"/>
        <c:numFmt formatCode="General"/>
        <c:majorTickMark val="none"/>
        <c:minorTickMark val="none"/>
        <c:spPr>
          <a:ln w="9525">
            <a:solidFill>
              <a:srgbClr val="D4D4D4"/>
            </a:solidFill>
            <a:prstDash val="solid"/>
          </a:ln>
        </c:spPr>
        <c:txPr>
          <a:bodyPr anchorCtr="1"/>
          <a:lstStyle/>
          <a:p>
            <a:pPr>
              <a:defRPr lang="pt-BR">
                <a:solidFill>
                  <a:srgbClr val="666666"/>
                </a:solidFill>
              </a:defRPr>
            </a:pPr>
          </a:p>
        </c:txPr>
        <c:crossAx val="48672768"/>
        <c:lblAlgn val="ctr"/>
        <c:lblOffset val="100"/>
        <c:noMultiLvlLbl val="0"/>
      </c:catAx>
      <c:valAx>
        <c:axId val="48672768"/>
        <c:scaling>
          <c:orientation val="minMax"/>
        </c:scaling>
        <c:delete val="0"/>
        <c:axPos val="b"/>
        <c:numFmt formatCode="General"/>
        <c:majorTickMark val="none"/>
        <c:minorTickMark val="none"/>
        <c:spPr>
          <a:ln w="9525">
            <a:solidFill>
              <a:srgbClr val="D7DADD"/>
            </a:solidFill>
            <a:prstDash val="solid"/>
          </a:ln>
        </c:spPr>
        <c:txPr>
          <a:bodyPr anchorCtr="1"/>
          <a:lstStyle/>
          <a:p>
            <a:pPr>
              <a:defRPr sz="1000" lang="pt-BR">
                <a:solidFill>
                  <a:srgbClr val="73787D"/>
                </a:solidFill>
              </a:defRPr>
            </a:pPr>
          </a:p>
        </c:txPr>
        <c:crossAx val="48650112"/>
        <c:crossBetween val="between"/>
      </c:valAx>
      <c:spPr>
        <a:noFill/>
        <a:ln w="0">
          <a:noFill/>
          <a:prstDash val="solid"/>
        </a:ln>
      </c:spPr>
    </c:plotArea>
    <c:plotVisOnly val="1"/>
  </c:chart>
  <c:spPr>
    <a:noFill/>
    <a:ln w="0">
      <a:noFill/>
      <a:prstDash val="solid"/>
    </a:ln>
  </c:spPr>
</c:chartSpace>
</file>

<file path=ppt/slides/charts/chart32.xml><?xml version="1.0" encoding="utf-8"?>
<c:chartSpace xmlns:a="http://schemas.openxmlformats.org/drawingml/2006/main" xmlns:c="http://schemas.openxmlformats.org/drawingml/2006/chart">
  <c:lang val="pt-BR"/>
  <c:chart>
    <c:plotArea>
      <c:barChart>
        <c:barDir val="bar"/>
        <c:grouping val="clustered"/>
        <c:varyColors val="0"/>
        <c:ser>
          <c:idx val="0"/>
          <c:order val="0"/>
          <c:tx>
            <c:v>PL jun/26</c:v>
          </c:tx>
          <c:spPr>
            <a:solidFill>
              <a:srgbClr val="30353A"/>
            </a:solidFill>
          </c:spPr>
          <c:dPt>
            <c:idx val="0"/>
            <c:invertIfNegative val="0"/>
            <c:spPr>
              <a:solidFill>
                <a:srgbClr val="FF5500"/>
              </a:solidFill>
            </c:spPr>
          </c:dPt>
          <c:dPt>
            <c:idx val="1"/>
            <c:invertIfNegative val="0"/>
            <c:spPr>
              <a:solidFill>
                <a:srgbClr val="6EC5E9"/>
              </a:solidFill>
            </c:spPr>
          </c:dPt>
          <c:dPt>
            <c:idx val="2"/>
            <c:invertIfNegative val="0"/>
            <c:spPr>
              <a:solidFill>
                <a:srgbClr val="7A1F3D"/>
              </a:solidFill>
            </c:spPr>
          </c:dPt>
          <c:dPt>
            <c:idx val="3"/>
            <c:invertIfNegative val="0"/>
            <c:spPr>
              <a:solidFill>
                <a:srgbClr val="73787D"/>
              </a:solidFill>
            </c:spPr>
          </c:dPt>
          <c:dPt>
            <c:idx val="4"/>
            <c:invertIfNegative val="0"/>
            <c:spPr>
              <a:solidFill>
                <a:srgbClr val="1D4080"/>
              </a:solidFill>
            </c:spPr>
          </c:dPt>
          <c:cat>
            <c:strLit>
              <c:ptCount val="5"/>
              <c:pt idx="0">
                <c:v>Itaú</c:v>
              </c:pt>
              <c:pt idx="1">
                <c:v>Genial</c:v>
              </c:pt>
              <c:pt idx="2">
                <c:v>Oliveira Trust</c:v>
              </c:pt>
              <c:pt idx="3">
                <c:v>Bradesco</c:v>
              </c:pt>
              <c:pt idx="4">
                <c:v>BTG Pactual</c:v>
              </c:pt>
            </c:strLit>
          </c:cat>
          <c:val>
            <c:numLit>
              <c:formatCode>0.0</c:formatCode>
              <c:ptCount val="5"/>
              <c:pt idx="0">
                <c:v>18.57363252764</c:v>
              </c:pt>
              <c:pt idx="1">
                <c:v>26.87573463003</c:v>
              </c:pt>
              <c:pt idx="2">
                <c:v>35.02222544035998</c:v>
              </c:pt>
              <c:pt idx="3">
                <c:v>39.85656848075</c:v>
              </c:pt>
              <c:pt idx="4">
                <c:v>78.74983410723001</c:v>
              </c:pt>
            </c:numLit>
          </c:val>
        </c:ser>
        <c:dLbls>
          <c:spPr>
            <a:noFill/>
            <a:ln w="0">
              <a:noFill/>
              <a:prstDash val="solid"/>
            </a:ln>
          </c:spPr>
          <c:txPr>
            <a:bodyPr anchorCtr="1"/>
            <a:lstStyle/>
            <a:p>
              <a:pPr>
                <a:defRPr sz="1200" b="0" lang="pt-BR">
                  <a:solidFill>
                    <a:srgbClr val="FFFFFF"/>
                  </a:solidFill>
                </a:defRPr>
              </a:pPr>
            </a:p>
          </c:txPr>
          <c:dLblPos val="inEnd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26"/>
        <c:axId val="48650112"/>
        <c:axId val="48672768"/>
      </c:barChart>
      <c:catAx>
        <c:axId val="48650112"/>
        <c:scaling>
          <c:orientation val="minMax"/>
        </c:scaling>
        <c:delete val="0"/>
        <c:axPos val="l"/>
        <c:numFmt formatCode="General"/>
        <c:majorTickMark val="none"/>
        <c:minorTickMark val="none"/>
        <c:spPr>
          <a:ln w="9525">
            <a:solidFill>
              <a:srgbClr val="D4D4D4"/>
            </a:solidFill>
            <a:prstDash val="solid"/>
          </a:ln>
        </c:spPr>
        <c:txPr>
          <a:bodyPr anchorCtr="1"/>
          <a:lstStyle/>
          <a:p>
            <a:pPr>
              <a:defRPr lang="pt-BR">
                <a:solidFill>
                  <a:srgbClr val="666666"/>
                </a:solidFill>
              </a:defRPr>
            </a:pPr>
          </a:p>
        </c:txPr>
        <c:crossAx val="48672768"/>
        <c:lblAlgn val="ctr"/>
        <c:lblOffset val="100"/>
        <c:noMultiLvlLbl val="0"/>
      </c:catAx>
      <c:valAx>
        <c:axId val="48672768"/>
        <c:scaling>
          <c:orientation val="minMax"/>
        </c:scaling>
        <c:delete val="0"/>
        <c:axPos val="b"/>
        <c:numFmt formatCode="General"/>
        <c:majorTickMark val="none"/>
        <c:minorTickMark val="none"/>
        <c:spPr>
          <a:ln w="9525">
            <a:solidFill>
              <a:srgbClr val="D7DADD"/>
            </a:solidFill>
            <a:prstDash val="solid"/>
          </a:ln>
        </c:spPr>
        <c:txPr>
          <a:bodyPr anchorCtr="1"/>
          <a:lstStyle/>
          <a:p>
            <a:pPr>
              <a:defRPr sz="1000" lang="pt-BR">
                <a:solidFill>
                  <a:srgbClr val="73787D"/>
                </a:solidFill>
              </a:defRPr>
            </a:pPr>
          </a:p>
        </c:txPr>
        <c:crossAx val="48650112"/>
        <c:crossBetween val="between"/>
      </c:valAx>
      <c:spPr>
        <a:noFill/>
        <a:ln w="0">
          <a:noFill/>
          <a:prstDash val="solid"/>
        </a:ln>
      </c:spPr>
    </c:plotArea>
    <c:plotVisOnly val="1"/>
  </c:chart>
  <c:spPr>
    <a:noFill/>
    <a:ln w="0">
      <a:noFill/>
      <a:prstDash val="solid"/>
    </a:ln>
  </c:spPr>
</c:chartSpace>
</file>

<file path=ppt/slides/charts/chart33.xml><?xml version="1.0" encoding="utf-8"?>
<c:chartSpace xmlns:a="http://schemas.openxmlformats.org/drawingml/2006/main" xmlns:c="http://schemas.openxmlformats.org/drawingml/2006/chart">
  <c:lang val="pt-BR"/>
  <c:chart>
    <c:plotArea>
      <c:barChart>
        <c:barDir val="bar"/>
        <c:grouping val="clustered"/>
        <c:varyColors val="0"/>
        <c:ser>
          <c:idx val="0"/>
          <c:order val="0"/>
          <c:tx>
            <c:v>PL jun/26</c:v>
          </c:tx>
          <c:spPr>
            <a:solidFill>
              <a:srgbClr val="30353A"/>
            </a:solidFill>
          </c:spPr>
          <c:dPt>
            <c:idx val="0"/>
            <c:invertIfNegative val="0"/>
            <c:spPr>
              <a:solidFill>
                <a:srgbClr val="73C6A1"/>
              </a:solidFill>
            </c:spPr>
          </c:dPt>
          <c:dPt>
            <c:idx val="1"/>
            <c:invertIfNegative val="0"/>
            <c:spPr>
              <a:solidFill>
                <a:srgbClr val="BEC2C5"/>
              </a:solidFill>
            </c:spPr>
          </c:dPt>
          <c:dPt>
            <c:idx val="2"/>
            <c:invertIfNegative val="0"/>
            <c:spPr>
              <a:solidFill>
                <a:srgbClr val="A7ACB0"/>
              </a:solidFill>
            </c:spPr>
          </c:dPt>
          <c:dPt>
            <c:idx val="3"/>
            <c:invertIfNegative val="0"/>
            <c:spPr>
              <a:solidFill>
                <a:srgbClr val="8D9399"/>
              </a:solidFill>
            </c:spPr>
          </c:dPt>
          <c:dPt>
            <c:idx val="4"/>
            <c:invertIfNegative val="0"/>
            <c:spPr>
              <a:solidFill>
                <a:srgbClr val="7A1F3D"/>
              </a:solidFill>
            </c:spPr>
          </c:dPt>
          <c:cat>
            <c:strLit>
              <c:ptCount val="5"/>
              <c:pt idx="0">
                <c:v>CBSF</c:v>
              </c:pt>
              <c:pt idx="1">
                <c:v>Solis Investimentos</c:v>
              </c:pt>
              <c:pt idx="2">
                <c:v>Integral Investimentos</c:v>
              </c:pt>
              <c:pt idx="3">
                <c:v>Tercon Investimentos</c:v>
              </c:pt>
              <c:pt idx="4">
                <c:v>Oliveira Trust</c:v>
              </c:pt>
            </c:strLit>
          </c:cat>
          <c:val>
            <c:numLit>
              <c:formatCode>0.0</c:formatCode>
              <c:ptCount val="5"/>
              <c:pt idx="0">
                <c:v>10.17441132442</c:v>
              </c:pt>
              <c:pt idx="1">
                <c:v>14.32953247391</c:v>
              </c:pt>
              <c:pt idx="2">
                <c:v>14.931875223759999</c:v>
              </c:pt>
              <c:pt idx="3">
                <c:v>21.696113631950002</c:v>
              </c:pt>
              <c:pt idx="4">
                <c:v>35.02222544035998</c:v>
              </c:pt>
            </c:numLit>
          </c:val>
        </c:ser>
        <c:dLbls>
          <c:spPr>
            <a:noFill/>
            <a:ln w="0">
              <a:noFill/>
              <a:prstDash val="solid"/>
            </a:ln>
          </c:spPr>
          <c:txPr>
            <a:bodyPr anchorCtr="1"/>
            <a:lstStyle/>
            <a:p>
              <a:pPr>
                <a:defRPr sz="1200" b="0" lang="pt-BR">
                  <a:solidFill>
                    <a:srgbClr val="FFFFFF"/>
                  </a:solidFill>
                </a:defRPr>
              </a:pPr>
            </a:p>
          </c:txPr>
          <c:dLblPos val="inEnd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26"/>
        <c:axId val="48650112"/>
        <c:axId val="48672768"/>
      </c:barChart>
      <c:catAx>
        <c:axId val="48650112"/>
        <c:scaling>
          <c:orientation val="minMax"/>
        </c:scaling>
        <c:delete val="0"/>
        <c:axPos val="l"/>
        <c:numFmt formatCode="General"/>
        <c:majorTickMark val="none"/>
        <c:minorTickMark val="none"/>
        <c:spPr>
          <a:ln w="9525">
            <a:solidFill>
              <a:srgbClr val="D4D4D4"/>
            </a:solidFill>
            <a:prstDash val="solid"/>
          </a:ln>
        </c:spPr>
        <c:txPr>
          <a:bodyPr anchorCtr="1"/>
          <a:lstStyle/>
          <a:p>
            <a:pPr>
              <a:defRPr lang="pt-BR">
                <a:solidFill>
                  <a:srgbClr val="666666"/>
                </a:solidFill>
              </a:defRPr>
            </a:pPr>
          </a:p>
        </c:txPr>
        <c:crossAx val="48672768"/>
        <c:lblAlgn val="ctr"/>
        <c:lblOffset val="100"/>
        <c:noMultiLvlLbl val="0"/>
      </c:catAx>
      <c:valAx>
        <c:axId val="48672768"/>
        <c:scaling>
          <c:orientation val="minMax"/>
        </c:scaling>
        <c:delete val="0"/>
        <c:axPos val="b"/>
        <c:numFmt formatCode="General"/>
        <c:majorTickMark val="none"/>
        <c:minorTickMark val="none"/>
        <c:spPr>
          <a:ln w="9525">
            <a:solidFill>
              <a:srgbClr val="D7DADD"/>
            </a:solidFill>
            <a:prstDash val="solid"/>
          </a:ln>
        </c:spPr>
        <c:txPr>
          <a:bodyPr anchorCtr="1"/>
          <a:lstStyle/>
          <a:p>
            <a:pPr>
              <a:defRPr sz="1000" lang="pt-BR">
                <a:solidFill>
                  <a:srgbClr val="73787D"/>
                </a:solidFill>
              </a:defRPr>
            </a:pPr>
          </a:p>
        </c:txPr>
        <c:crossAx val="48650112"/>
        <c:crossBetween val="between"/>
      </c:valAx>
      <c:spPr>
        <a:noFill/>
        <a:ln w="0">
          <a:noFill/>
          <a:prstDash val="solid"/>
        </a:ln>
      </c:spPr>
    </c:plotArea>
    <c:plotVisOnly val="1"/>
  </c:chart>
  <c:spPr>
    <a:noFill/>
    <a:ln w="0">
      <a:noFill/>
      <a:prstDash val="solid"/>
    </a:ln>
  </c:spPr>
</c:chartSpace>
</file>

<file path=ppt/slides/charts/chart34.xml><?xml version="1.0" encoding="utf-8"?>
<c:chartSpace xmlns:a="http://schemas.openxmlformats.org/drawingml/2006/main" xmlns:c="http://schemas.openxmlformats.org/drawingml/2006/chart">
  <c:lang val="pt-BR"/>
  <c:chart>
    <c:plotArea>
      <c:barChart>
        <c:barDir val="bar"/>
        <c:grouping val="clustered"/>
        <c:varyColors val="0"/>
        <c:ser>
          <c:idx val="0"/>
          <c:order val="0"/>
          <c:tx>
            <c:v>PL jun/26</c:v>
          </c:tx>
          <c:spPr>
            <a:solidFill>
              <a:srgbClr val="30353A"/>
            </a:solidFill>
          </c:spPr>
          <c:dPt>
            <c:idx val="0"/>
            <c:invertIfNegative val="0"/>
            <c:spPr>
              <a:solidFill>
                <a:srgbClr val="FF5500"/>
              </a:solidFill>
            </c:spPr>
          </c:dPt>
          <c:dPt>
            <c:idx val="1"/>
            <c:invertIfNegative val="0"/>
            <c:spPr>
              <a:solidFill>
                <a:srgbClr val="BEC2C5"/>
              </a:solidFill>
            </c:spPr>
          </c:dPt>
          <c:dPt>
            <c:idx val="2"/>
            <c:invertIfNegative val="0"/>
            <c:spPr>
              <a:solidFill>
                <a:srgbClr val="7A1F3D"/>
              </a:solidFill>
            </c:spPr>
          </c:dPt>
          <c:dPt>
            <c:idx val="3"/>
            <c:invertIfNegative val="0"/>
            <c:spPr>
              <a:solidFill>
                <a:srgbClr val="1D4080"/>
              </a:solidFill>
            </c:spPr>
          </c:dPt>
          <c:dPt>
            <c:idx val="4"/>
            <c:invertIfNegative val="0"/>
            <c:spPr>
              <a:solidFill>
                <a:srgbClr val="2456D6"/>
              </a:solidFill>
            </c:spPr>
          </c:dPt>
          <c:cat>
            <c:strLit>
              <c:ptCount val="5"/>
              <c:pt idx="0">
                <c:v>Itaú</c:v>
              </c:pt>
              <c:pt idx="1">
                <c:v>Daycoval</c:v>
              </c:pt>
              <c:pt idx="2">
                <c:v>Oliveira Trust</c:v>
              </c:pt>
              <c:pt idx="3">
                <c:v>BTG Pactual</c:v>
              </c:pt>
              <c:pt idx="4">
                <c:v>QI Tech</c:v>
              </c:pt>
            </c:strLit>
          </c:cat>
          <c:val>
            <c:numLit>
              <c:formatCode>0.0</c:formatCode>
              <c:ptCount val="5"/>
              <c:pt idx="0">
                <c:v>20.405586732159996</c:v>
              </c:pt>
              <c:pt idx="1">
                <c:v>55.81924378400999</c:v>
              </c:pt>
              <c:pt idx="2">
                <c:v>71.90092760434999</c:v>
              </c:pt>
              <c:pt idx="3">
                <c:v>107.26541902169001</c:v>
              </c:pt>
              <c:pt idx="4">
                <c:v>115.31244022541</c:v>
              </c:pt>
            </c:numLit>
          </c:val>
        </c:ser>
        <c:dLbls>
          <c:spPr>
            <a:noFill/>
            <a:ln w="0">
              <a:noFill/>
              <a:prstDash val="solid"/>
            </a:ln>
          </c:spPr>
          <c:txPr>
            <a:bodyPr anchorCtr="1"/>
            <a:lstStyle/>
            <a:p>
              <a:pPr>
                <a:defRPr sz="1200" b="0" lang="pt-BR">
                  <a:solidFill>
                    <a:srgbClr val="FFFFFF"/>
                  </a:solidFill>
                </a:defRPr>
              </a:pPr>
            </a:p>
          </c:txPr>
          <c:dLblPos val="inEnd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26"/>
        <c:axId val="48650112"/>
        <c:axId val="48672768"/>
      </c:barChart>
      <c:catAx>
        <c:axId val="48650112"/>
        <c:scaling>
          <c:orientation val="minMax"/>
        </c:scaling>
        <c:delete val="0"/>
        <c:axPos val="l"/>
        <c:numFmt formatCode="General"/>
        <c:majorTickMark val="none"/>
        <c:minorTickMark val="none"/>
        <c:spPr>
          <a:ln w="9525">
            <a:solidFill>
              <a:srgbClr val="D4D4D4"/>
            </a:solidFill>
            <a:prstDash val="solid"/>
          </a:ln>
        </c:spPr>
        <c:txPr>
          <a:bodyPr anchorCtr="1"/>
          <a:lstStyle/>
          <a:p>
            <a:pPr>
              <a:defRPr lang="pt-BR">
                <a:solidFill>
                  <a:srgbClr val="666666"/>
                </a:solidFill>
              </a:defRPr>
            </a:pPr>
          </a:p>
        </c:txPr>
        <c:crossAx val="48672768"/>
        <c:lblAlgn val="ctr"/>
        <c:lblOffset val="100"/>
        <c:noMultiLvlLbl val="0"/>
      </c:catAx>
      <c:valAx>
        <c:axId val="48672768"/>
        <c:scaling>
          <c:orientation val="minMax"/>
        </c:scaling>
        <c:delete val="0"/>
        <c:axPos val="b"/>
        <c:numFmt formatCode="General"/>
        <c:majorTickMark val="none"/>
        <c:minorTickMark val="none"/>
        <c:spPr>
          <a:ln w="9525">
            <a:solidFill>
              <a:srgbClr val="D7DADD"/>
            </a:solidFill>
            <a:prstDash val="solid"/>
          </a:ln>
        </c:spPr>
        <c:txPr>
          <a:bodyPr anchorCtr="1"/>
          <a:lstStyle/>
          <a:p>
            <a:pPr>
              <a:defRPr sz="1000" lang="pt-BR">
                <a:solidFill>
                  <a:srgbClr val="73787D"/>
                </a:solidFill>
              </a:defRPr>
            </a:pPr>
          </a:p>
        </c:txPr>
        <c:crossAx val="48650112"/>
        <c:crossBetween val="between"/>
      </c:valAx>
      <c:spPr>
        <a:noFill/>
        <a:ln w="0">
          <a:noFill/>
          <a:prstDash val="solid"/>
        </a:ln>
      </c:spPr>
    </c:plotArea>
    <c:plotVisOnly val="1"/>
  </c:chart>
  <c:spPr>
    <a:noFill/>
    <a:ln w="0">
      <a:noFill/>
      <a:prstDash val="solid"/>
    </a:ln>
  </c:spPr>
</c:chartSpace>
</file>

<file path=ppt/slides/charts/chart35.xml><?xml version="1.0" encoding="utf-8"?>
<c:chartSpace xmlns:a="http://schemas.openxmlformats.org/drawingml/2006/main" xmlns:c="http://schemas.openxmlformats.org/drawingml/2006/chart">
  <c:lang val="pt-BR"/>
  <c:chart>
    <c:plotArea>
      <c:barChart>
        <c:barDir val="bar"/>
        <c:grouping val="clustered"/>
        <c:varyColors val="0"/>
        <c:ser>
          <c:idx val="0"/>
          <c:order val="0"/>
          <c:tx>
            <c:v>PL jun/26</c:v>
          </c:tx>
          <c:spPr>
            <a:solidFill>
              <a:srgbClr val="30353A"/>
            </a:solidFill>
          </c:spPr>
          <c:dPt>
            <c:idx val="0"/>
            <c:invertIfNegative val="0"/>
            <c:spPr>
              <a:solidFill>
                <a:srgbClr val="454A4F"/>
              </a:solidFill>
            </c:spPr>
          </c:dPt>
          <c:dPt>
            <c:idx val="1"/>
            <c:invertIfNegative val="0"/>
            <c:spPr>
              <a:solidFill>
                <a:srgbClr val="5B6065"/>
              </a:solidFill>
            </c:spPr>
          </c:dPt>
          <c:dPt>
            <c:idx val="2"/>
            <c:invertIfNegative val="0"/>
            <c:spPr>
              <a:solidFill>
                <a:srgbClr val="73C6A1"/>
              </a:solidFill>
            </c:spPr>
          </c:dPt>
          <c:dPt>
            <c:idx val="3"/>
            <c:invertIfNegative val="0"/>
            <c:spPr>
              <a:solidFill>
                <a:srgbClr val="7A1F3D"/>
              </a:solidFill>
            </c:spPr>
          </c:dPt>
          <c:dPt>
            <c:idx val="4"/>
            <c:invertIfNegative val="0"/>
            <c:spPr>
              <a:solidFill>
                <a:srgbClr val="2456D6"/>
              </a:solidFill>
            </c:spPr>
          </c:dPt>
          <c:cat>
            <c:strLit>
              <c:ptCount val="5"/>
              <c:pt idx="0">
                <c:v>BRL Trust</c:v>
              </c:pt>
              <c:pt idx="1">
                <c:v>Finaxis</c:v>
              </c:pt>
              <c:pt idx="2">
                <c:v>REAG</c:v>
              </c:pt>
              <c:pt idx="3">
                <c:v>Oliveira Trust</c:v>
              </c:pt>
              <c:pt idx="4">
                <c:v>QI Tech</c:v>
              </c:pt>
            </c:strLit>
          </c:cat>
          <c:val>
            <c:numLit>
              <c:formatCode>0.0</c:formatCode>
              <c:ptCount val="5"/>
              <c:pt idx="0">
                <c:v>21.26374598682</c:v>
              </c:pt>
              <c:pt idx="1">
                <c:v>22.30772786867</c:v>
              </c:pt>
              <c:pt idx="2">
                <c:v>25.04054022159</c:v>
              </c:pt>
              <c:pt idx="3">
                <c:v>71.90092760434999</c:v>
              </c:pt>
              <c:pt idx="4">
                <c:v>115.31244022541</c:v>
              </c:pt>
            </c:numLit>
          </c:val>
        </c:ser>
        <c:dLbls>
          <c:spPr>
            <a:noFill/>
            <a:ln w="0">
              <a:noFill/>
              <a:prstDash val="solid"/>
            </a:ln>
          </c:spPr>
          <c:txPr>
            <a:bodyPr anchorCtr="1"/>
            <a:lstStyle/>
            <a:p>
              <a:pPr>
                <a:defRPr sz="1200" b="0" lang="pt-BR">
                  <a:solidFill>
                    <a:srgbClr val="FFFFFF"/>
                  </a:solidFill>
                </a:defRPr>
              </a:pPr>
            </a:p>
          </c:txPr>
          <c:dLblPos val="inEnd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26"/>
        <c:axId val="48650112"/>
        <c:axId val="48672768"/>
      </c:barChart>
      <c:catAx>
        <c:axId val="48650112"/>
        <c:scaling>
          <c:orientation val="minMax"/>
        </c:scaling>
        <c:delete val="0"/>
        <c:axPos val="l"/>
        <c:numFmt formatCode="General"/>
        <c:majorTickMark val="none"/>
        <c:minorTickMark val="none"/>
        <c:spPr>
          <a:ln w="9525">
            <a:solidFill>
              <a:srgbClr val="D4D4D4"/>
            </a:solidFill>
            <a:prstDash val="solid"/>
          </a:ln>
        </c:spPr>
        <c:txPr>
          <a:bodyPr anchorCtr="1"/>
          <a:lstStyle/>
          <a:p>
            <a:pPr>
              <a:defRPr lang="pt-BR">
                <a:solidFill>
                  <a:srgbClr val="666666"/>
                </a:solidFill>
              </a:defRPr>
            </a:pPr>
          </a:p>
        </c:txPr>
        <c:crossAx val="48672768"/>
        <c:lblAlgn val="ctr"/>
        <c:lblOffset val="100"/>
        <c:noMultiLvlLbl val="0"/>
      </c:catAx>
      <c:valAx>
        <c:axId val="48672768"/>
        <c:scaling>
          <c:orientation val="minMax"/>
        </c:scaling>
        <c:delete val="0"/>
        <c:axPos val="b"/>
        <c:numFmt formatCode="General"/>
        <c:majorTickMark val="none"/>
        <c:minorTickMark val="none"/>
        <c:spPr>
          <a:ln w="9525">
            <a:solidFill>
              <a:srgbClr val="D7DADD"/>
            </a:solidFill>
            <a:prstDash val="solid"/>
          </a:ln>
        </c:spPr>
        <c:txPr>
          <a:bodyPr anchorCtr="1"/>
          <a:lstStyle/>
          <a:p>
            <a:pPr>
              <a:defRPr sz="1000" lang="pt-BR">
                <a:solidFill>
                  <a:srgbClr val="73787D"/>
                </a:solidFill>
              </a:defRPr>
            </a:pPr>
          </a:p>
        </c:txPr>
        <c:crossAx val="48650112"/>
        <c:crossBetween val="between"/>
      </c:valAx>
      <c:spPr>
        <a:noFill/>
        <a:ln w="0">
          <a:noFill/>
          <a:prstDash val="solid"/>
        </a:ln>
      </c:spPr>
    </c:plotArea>
    <c:plotVisOnly val="1"/>
  </c:chart>
  <c:spPr>
    <a:noFill/>
    <a:ln w="0">
      <a:noFill/>
      <a:prstDash val="solid"/>
    </a:ln>
  </c:spPr>
</c:chartSpace>
</file>

<file path=ppt/slides/charts/chart36.xml><?xml version="1.0" encoding="utf-8"?>
<c:chartSpace xmlns:a="http://schemas.openxmlformats.org/drawingml/2006/main" xmlns:c="http://schemas.openxmlformats.org/drawingml/2006/chart">
  <c:lang val="pt-BR"/>
  <c:chart>
    <c:plotArea>
      <c:barChart>
        <c:barDir val="bar"/>
        <c:grouping val="clustered"/>
        <c:varyColors val="0"/>
        <c:ser>
          <c:idx val="0"/>
          <c:order val="0"/>
          <c:tx>
            <c:v>Dez/25</c:v>
          </c:tx>
          <c:spPr>
            <a:solidFill>
              <a:srgbClr val="73787D"/>
            </a:solidFill>
          </c:spPr>
          <c:cat>
            <c:strLit>
              <c:ptCount val="3"/>
              <c:pt idx="0">
                <c:v>Admin.</c:v>
              </c:pt>
              <c:pt idx="1">
                <c:v>Gestão</c:v>
              </c:pt>
              <c:pt idx="2">
                <c:v>Custódia</c:v>
              </c:pt>
            </c:strLit>
          </c:cat>
          <c:val>
            <c:numLit>
              <c:formatCode>0.0%</c:formatCode>
              <c:ptCount val="3"/>
              <c:pt idx="0">
                <c:v>0.7168643095519629</c:v>
              </c:pt>
              <c:pt idx="1">
                <c:v>0.35810685850247875</c:v>
              </c:pt>
              <c:pt idx="2">
                <c:v>0.7169086306781982</c:v>
              </c:pt>
            </c:numLit>
          </c:val>
        </c:ser>
        <c:ser>
          <c:idx val="1"/>
          <c:order val="1"/>
          <c:tx>
            <c:v>Jun/26</c:v>
          </c:tx>
          <c:spPr>
            <a:solidFill>
              <a:srgbClr val="EC7000"/>
            </a:solidFill>
          </c:spPr>
          <c:cat>
            <c:strLit>
              <c:ptCount val="3"/>
              <c:pt idx="0">
                <c:v>Admin.</c:v>
              </c:pt>
              <c:pt idx="1">
                <c:v>Gestão</c:v>
              </c:pt>
              <c:pt idx="2">
                <c:v>Custódia</c:v>
              </c:pt>
            </c:strLit>
          </c:cat>
          <c:val>
            <c:numLit>
              <c:formatCode>0.0%</c:formatCode>
              <c:ptCount val="3"/>
              <c:pt idx="0">
                <c:v>0.7150145774372395</c:v>
              </c:pt>
              <c:pt idx="1">
                <c:v>0.3890568914241183</c:v>
              </c:pt>
              <c:pt idx="2">
                <c:v>0.7349339570479368</c:v>
              </c:pt>
            </c:numLit>
          </c:val>
        </c:ser>
        <c:dLbls>
          <c:spPr>
            <a:noFill/>
            <a:ln w="0">
              <a:noFill/>
              <a:prstDash val="solid"/>
            </a:ln>
          </c:spPr>
          <c:txPr>
            <a:bodyPr anchorCtr="1"/>
            <a:lstStyle/>
            <a:p>
              <a:pPr>
                <a:defRPr sz="1200" b="0" lang="pt-BR">
                  <a:solidFill>
                    <a:srgbClr val="FFFFFF"/>
                  </a:solidFill>
                </a:defRPr>
              </a:pPr>
            </a:p>
          </c:txPr>
          <c:dLblPos val="inEnd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44"/>
        <c:axId val="48650112"/>
        <c:axId val="48672768"/>
      </c:barChart>
      <c:catAx>
        <c:axId val="48650112"/>
        <c:scaling>
          <c:orientation val="minMax"/>
        </c:scaling>
        <c:delete val="0"/>
        <c:axPos val="l"/>
        <c:numFmt formatCode="General"/>
        <c:majorTickMark val="none"/>
        <c:minorTickMark val="none"/>
        <c:spPr>
          <a:ln w="9525">
            <a:solidFill>
              <a:srgbClr val="D4D4D4"/>
            </a:solidFill>
            <a:prstDash val="solid"/>
          </a:ln>
        </c:spPr>
        <c:txPr>
          <a:bodyPr anchorCtr="1"/>
          <a:lstStyle/>
          <a:p>
            <a:pPr>
              <a:defRPr lang="pt-BR">
                <a:solidFill>
                  <a:srgbClr val="666666"/>
                </a:solidFill>
              </a:defRPr>
            </a:pPr>
          </a:p>
        </c:txPr>
        <c:crossAx val="48672768"/>
        <c:lblAlgn val="ctr"/>
        <c:lblOffset val="100"/>
        <c:noMultiLvlLbl val="0"/>
      </c:catAx>
      <c:valAx>
        <c:axId val="48672768"/>
        <c:scaling>
          <c:orientation val="minMax"/>
        </c:scaling>
        <c:delete val="0"/>
        <c:axPos val="b"/>
        <c:numFmt formatCode="General"/>
        <c:majorTickMark val="none"/>
        <c:minorTickMark val="none"/>
        <c:spPr>
          <a:ln w="9525">
            <a:solidFill>
              <a:srgbClr val="D7DADD"/>
            </a:solidFill>
            <a:prstDash val="solid"/>
          </a:ln>
        </c:spPr>
        <c:txPr>
          <a:bodyPr anchorCtr="1"/>
          <a:lstStyle/>
          <a:p>
            <a:pPr>
              <a:defRPr sz="1000" lang="pt-BR">
                <a:solidFill>
                  <a:srgbClr val="73787D"/>
                </a:solidFill>
              </a:defRPr>
            </a:pPr>
          </a:p>
        </c:txPr>
        <c:crossAx val="48650112"/>
        <c:crossBetween val="between"/>
      </c:valAx>
      <c:spPr>
        <a:noFill/>
        <a:ln w="0">
          <a:noFill/>
          <a:prstDash val="solid"/>
        </a:ln>
      </c:spPr>
    </c:plotArea>
    <c:plotVisOnly val="1"/>
  </c:chart>
  <c:spPr>
    <a:noFill/>
    <a:ln w="0">
      <a:noFill/>
      <a:prstDash val="solid"/>
    </a:ln>
  </c:spPr>
</c:chartSpace>
</file>

<file path=ppt/slides/charts/chart37.xml><?xml version="1.0" encoding="utf-8"?>
<c:chartSpace xmlns:a="http://schemas.openxmlformats.org/drawingml/2006/main" xmlns:c="http://schemas.openxmlformats.org/drawingml/2006/chart">
  <c:lang val="pt-BR"/>
  <c:chart>
    <c:plotArea>
      <c:barChart>
        <c:barDir val="bar"/>
        <c:grouping val="clustered"/>
        <c:varyColors val="0"/>
        <c:ser>
          <c:idx val="0"/>
          <c:order val="0"/>
          <c:tx>
            <c:v>Dez/25</c:v>
          </c:tx>
          <c:spPr>
            <a:solidFill>
              <a:srgbClr val="73787D"/>
            </a:solidFill>
          </c:spPr>
          <c:cat>
            <c:strLit>
              <c:ptCount val="3"/>
              <c:pt idx="0">
                <c:v>Admin.</c:v>
              </c:pt>
              <c:pt idx="1">
                <c:v>Gestão</c:v>
              </c:pt>
              <c:pt idx="2">
                <c:v>Custódia</c:v>
              </c:pt>
            </c:strLit>
          </c:cat>
          <c:val>
            <c:numLit>
              <c:formatCode>0.0%</c:formatCode>
              <c:ptCount val="3"/>
              <c:pt idx="0">
                <c:v>0.497141395134468</c:v>
              </c:pt>
              <c:pt idx="1">
                <c:v>0.23645038550679134</c:v>
              </c:pt>
              <c:pt idx="2">
                <c:v>0.5170349888512263</c:v>
              </c:pt>
            </c:numLit>
          </c:val>
        </c:ser>
        <c:ser>
          <c:idx val="1"/>
          <c:order val="1"/>
          <c:tx>
            <c:v>Jun/26</c:v>
          </c:tx>
          <c:spPr>
            <a:solidFill>
              <a:srgbClr val="EC7000"/>
            </a:solidFill>
          </c:spPr>
          <c:cat>
            <c:strLit>
              <c:ptCount val="3"/>
              <c:pt idx="0">
                <c:v>Admin.</c:v>
              </c:pt>
              <c:pt idx="1">
                <c:v>Gestão</c:v>
              </c:pt>
              <c:pt idx="2">
                <c:v>Custódia</c:v>
              </c:pt>
            </c:strLit>
          </c:cat>
          <c:val>
            <c:numLit>
              <c:formatCode>0.0%</c:formatCode>
              <c:ptCount val="3"/>
              <c:pt idx="0">
                <c:v>0.5306014675789608</c:v>
              </c:pt>
              <c:pt idx="1">
                <c:v>0.2813769971812452</c:v>
              </c:pt>
              <c:pt idx="2">
                <c:v>0.5548653859259784</c:v>
              </c:pt>
            </c:numLit>
          </c:val>
        </c:ser>
        <c:dLbls>
          <c:spPr>
            <a:noFill/>
            <a:ln w="0">
              <a:noFill/>
              <a:prstDash val="solid"/>
            </a:ln>
          </c:spPr>
          <c:txPr>
            <a:bodyPr anchorCtr="1"/>
            <a:lstStyle/>
            <a:p>
              <a:pPr>
                <a:defRPr sz="1200" b="0" lang="pt-BR">
                  <a:solidFill>
                    <a:srgbClr val="FFFFFF"/>
                  </a:solidFill>
                </a:defRPr>
              </a:pPr>
            </a:p>
          </c:txPr>
          <c:dLblPos val="inEnd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44"/>
        <c:axId val="48650112"/>
        <c:axId val="48672768"/>
      </c:barChart>
      <c:catAx>
        <c:axId val="48650112"/>
        <c:scaling>
          <c:orientation val="minMax"/>
        </c:scaling>
        <c:delete val="0"/>
        <c:axPos val="l"/>
        <c:numFmt formatCode="General"/>
        <c:majorTickMark val="none"/>
        <c:minorTickMark val="none"/>
        <c:spPr>
          <a:ln w="9525">
            <a:solidFill>
              <a:srgbClr val="D4D4D4"/>
            </a:solidFill>
            <a:prstDash val="solid"/>
          </a:ln>
        </c:spPr>
        <c:txPr>
          <a:bodyPr anchorCtr="1"/>
          <a:lstStyle/>
          <a:p>
            <a:pPr>
              <a:defRPr lang="pt-BR">
                <a:solidFill>
                  <a:srgbClr val="666666"/>
                </a:solidFill>
              </a:defRPr>
            </a:pPr>
          </a:p>
        </c:txPr>
        <c:crossAx val="48672768"/>
        <c:lblAlgn val="ctr"/>
        <c:lblOffset val="100"/>
        <c:noMultiLvlLbl val="0"/>
      </c:catAx>
      <c:valAx>
        <c:axId val="48672768"/>
        <c:scaling>
          <c:orientation val="minMax"/>
        </c:scaling>
        <c:delete val="0"/>
        <c:axPos val="b"/>
        <c:numFmt formatCode="General"/>
        <c:majorTickMark val="none"/>
        <c:minorTickMark val="none"/>
        <c:spPr>
          <a:ln w="9525">
            <a:solidFill>
              <a:srgbClr val="D7DADD"/>
            </a:solidFill>
            <a:prstDash val="solid"/>
          </a:ln>
        </c:spPr>
        <c:txPr>
          <a:bodyPr anchorCtr="1"/>
          <a:lstStyle/>
          <a:p>
            <a:pPr>
              <a:defRPr sz="1000" lang="pt-BR">
                <a:solidFill>
                  <a:srgbClr val="73787D"/>
                </a:solidFill>
              </a:defRPr>
            </a:pPr>
          </a:p>
        </c:txPr>
        <c:crossAx val="48650112"/>
        <c:crossBetween val="between"/>
      </c:valAx>
      <c:spPr>
        <a:noFill/>
        <a:ln w="0">
          <a:noFill/>
          <a:prstDash val="solid"/>
        </a:ln>
      </c:spPr>
    </c:plotArea>
    <c:plotVisOnly val="1"/>
  </c:chart>
  <c:spPr>
    <a:noFill/>
    <a:ln w="0">
      <a:noFill/>
      <a:prstDash val="solid"/>
    </a:ln>
  </c:spPr>
</c:chartSpace>
</file>

<file path=ppt/slides/charts/chart38.xml><?xml version="1.0" encoding="utf-8"?>
<c:chartSpace xmlns:a="http://schemas.openxmlformats.org/drawingml/2006/main" xmlns:c="http://schemas.openxmlformats.org/drawingml/2006/chart">
  <c:lang val="pt-BR"/>
  <c:chart>
    <c:plotArea>
      <c:lineChart>
        <c:grouping val="standard"/>
        <c:varyColors val="0"/>
        <c:ser>
          <c:idx val="0"/>
          <c:order val="0"/>
          <c:tx>
            <c:v>Contas</c:v>
          </c:tx>
          <c:spPr>
            <a:ln w="28575">
              <a:solidFill>
                <a:srgbClr val="EC7000"/>
              </a:solidFill>
              <a:prstDash val="solid"/>
            </a:ln>
          </c:spPr>
          <c:marker>
            <c:symbol val="none"/>
          </c:marker>
          <c:cat>
            <c:strLit>
              <c:ptCount val="12"/>
              <c:pt idx="0">
                <c:v>2015</c:v>
              </c:pt>
              <c:pt idx="1">
                <c:v>​​</c:v>
              </c:pt>
              <c:pt idx="2">
                <c:v>​​​</c:v>
              </c:pt>
              <c:pt idx="3">
                <c:v>2018</c:v>
              </c:pt>
              <c:pt idx="4">
                <c:v>​​​​​</c:v>
              </c:pt>
              <c:pt idx="5">
                <c:v>​​​​​​</c:v>
              </c:pt>
              <c:pt idx="6">
                <c:v>2021</c:v>
              </c:pt>
              <c:pt idx="7">
                <c:v>​​​​​​​​</c:v>
              </c:pt>
              <c:pt idx="8">
                <c:v>​​​​​​​​​</c:v>
              </c:pt>
              <c:pt idx="9">
                <c:v>2024</c:v>
              </c:pt>
              <c:pt idx="10">
                <c:v>​​​​​​​​​​​</c:v>
              </c:pt>
              <c:pt idx="11">
                <c:v>Jun/26</c:v>
              </c:pt>
            </c:strLit>
          </c:cat>
          <c:val>
            <c:numLit>
              <c:formatCode>0 "mil"</c:formatCode>
              <c:ptCount val="12"/>
              <c:pt idx="0">
                <c:v>12.508</c:v>
              </c:pt>
              <c:pt idx="1">
                <c:v>13.872</c:v>
              </c:pt>
              <c:pt idx="2">
                <c:v>16.049</c:v>
              </c:pt>
              <c:pt idx="3">
                <c:v>17.678</c:v>
              </c:pt>
              <c:pt idx="4">
                <c:v>25.781</c:v>
              </c:pt>
              <c:pt idx="5">
                <c:v>32.936</c:v>
              </c:pt>
              <c:pt idx="6">
                <c:v>31.626</c:v>
              </c:pt>
              <c:pt idx="7">
                <c:v>48.608</c:v>
              </c:pt>
              <c:pt idx="8">
                <c:v>61.735</c:v>
              </c:pt>
              <c:pt idx="9">
                <c:v>148.582</c:v>
              </c:pt>
              <c:pt idx="10">
                <c:v>387.159</c:v>
              </c:pt>
              <c:pt idx="11">
                <c:v>461.222</c:v>
              </c:pt>
            </c:numLit>
          </c:val>
        </c:ser>
        <c:axId val="48650112"/>
        <c:axId val="48672768"/>
      </c:lineChart>
      <c:catAx>
        <c:axId val="48650112"/>
        <c:scaling>
          <c:orientation val="minMax"/>
        </c:scaling>
        <c:delete val="0"/>
        <c:axPos val="b"/>
        <c:numFmt formatCode="General"/>
        <c:majorTickMark val="none"/>
        <c:minorTickMark val="none"/>
        <c:tickLblPos val="low"/>
        <c:spPr>
          <a:ln w="9525">
            <a:solidFill>
              <a:srgbClr val="D7DADD"/>
            </a:solidFill>
            <a:prstDash val="solid"/>
          </a:ln>
        </c:spPr>
        <c:txPr>
          <a:bodyPr anchorCtr="1"/>
          <a:lstStyle/>
          <a:p>
            <a:pPr>
              <a:defRPr sz="1000" lang="pt-BR">
                <a:solidFill>
                  <a:srgbClr val="73787D"/>
                </a:solidFill>
              </a:defRPr>
            </a:pPr>
          </a:p>
        </c:txPr>
        <c:crossAx val="48672768"/>
        <c:lblAlgn val="ctr"/>
        <c:lblOffset val="100"/>
        <c:noMultiLvlLbl val="0"/>
      </c:catAx>
      <c:valAx>
        <c:axId val="48672768"/>
        <c:scaling>
          <c:orientation val="minMax"/>
          <c:min val="0"/>
        </c:scaling>
        <c:delete val="0"/>
        <c:axPos val="l"/>
        <c:majorGridlines>
          <c:spPr>
            <a:ln w="9525">
              <a:solidFill>
                <a:srgbClr val="E7E9EB"/>
              </a:solidFill>
              <a:prstDash val="solid"/>
            </a:ln>
          </c:spPr>
        </c:majorGridlines>
        <c:numFmt formatCode="0 &quot;mil&quot;"/>
        <c:majorTickMark val="none"/>
        <c:minorTickMark val="none"/>
        <c:spPr>
          <a:ln w="9525">
            <a:solidFill>
              <a:srgbClr val="D7DADD"/>
            </a:solidFill>
            <a:prstDash val="solid"/>
          </a:ln>
        </c:spPr>
        <c:txPr>
          <a:bodyPr anchorCtr="1"/>
          <a:lstStyle/>
          <a:p>
            <a:pPr>
              <a:defRPr sz="1000" lang="pt-BR">
                <a:solidFill>
                  <a:srgbClr val="8D9399"/>
                </a:solidFill>
              </a:defRPr>
            </a:pPr>
          </a:p>
        </c:txPr>
        <c:crossAx val="48650112"/>
        <c:crossBetween val="between"/>
      </c:valAx>
      <c:spPr>
        <a:noFill/>
        <a:ln w="0">
          <a:noFill/>
          <a:prstDash val="solid"/>
        </a:ln>
      </c:spPr>
    </c:plotArea>
    <c:plotVisOnly val="1"/>
  </c:chart>
  <c:spPr>
    <a:noFill/>
    <a:ln w="0">
      <a:noFill/>
      <a:prstDash val="solid"/>
    </a:ln>
  </c:spPr>
</c:chartSpace>
</file>

<file path=ppt/slides/charts/chart39.xml><?xml version="1.0" encoding="utf-8"?>
<c:chartSpace xmlns:a="http://schemas.openxmlformats.org/drawingml/2006/main" xmlns:c="http://schemas.openxmlformats.org/drawingml/2006/chart">
  <c:lang val="pt-BR"/>
  <c:chart>
    <c:plotArea>
      <c:barChart>
        <c:barDir val="col"/>
        <c:grouping val="stacked"/>
        <c:varyColors val="0"/>
        <c:ser>
          <c:idx val="0"/>
          <c:order val="0"/>
          <c:tx>
            <c:v>Profissional</c:v>
          </c:tx>
          <c:spPr>
            <a:solidFill>
              <a:srgbClr val="EC7000"/>
            </a:solidFill>
          </c:spPr>
          <c:cat>
            <c:strLit>
              <c:ptCount val="4"/>
              <c:pt idx="0">
                <c:v>2023FY</c:v>
              </c:pt>
              <c:pt idx="1">
                <c:v>2024FY</c:v>
              </c:pt>
              <c:pt idx="2">
                <c:v>2025FY</c:v>
              </c:pt>
              <c:pt idx="3">
                <c:v>Jan–jun/26</c:v>
              </c:pt>
            </c:strLit>
          </c:cat>
          <c:val>
            <c:numLit>
              <c:formatCode>0.0%</c:formatCode>
              <c:ptCount val="4"/>
              <c:pt idx="0">
                <c:v>0.9684547923581838</c:v>
              </c:pt>
              <c:pt idx="1">
                <c:v>0.9441348233073096</c:v>
              </c:pt>
              <c:pt idx="2">
                <c:v>0.9282664027264255</c:v>
              </c:pt>
              <c:pt idx="3">
                <c:v>0.9378646364463225</c:v>
              </c:pt>
            </c:numLit>
          </c:val>
        </c:ser>
        <c:ser>
          <c:idx val="1"/>
          <c:order val="1"/>
          <c:tx>
            <c:v>Qualificado</c:v>
          </c:tx>
          <c:spPr>
            <a:solidFill>
              <a:srgbClr val="30353A"/>
            </a:solidFill>
          </c:spPr>
          <c:cat>
            <c:strLit>
              <c:ptCount val="4"/>
              <c:pt idx="0">
                <c:v>2023FY</c:v>
              </c:pt>
              <c:pt idx="1">
                <c:v>2024FY</c:v>
              </c:pt>
              <c:pt idx="2">
                <c:v>2025FY</c:v>
              </c:pt>
              <c:pt idx="3">
                <c:v>Jan–jun/26</c:v>
              </c:pt>
            </c:strLit>
          </c:cat>
          <c:val>
            <c:numLit>
              <c:formatCode>0.0%</c:formatCode>
              <c:ptCount val="4"/>
              <c:pt idx="0">
                <c:v>0.020214315409922565</c:v>
              </c:pt>
              <c:pt idx="1">
                <c:v>0.0558127749786242</c:v>
              </c:pt>
              <c:pt idx="2">
                <c:v>0.06683286569927906</c:v>
              </c:pt>
              <c:pt idx="3">
                <c:v>0.057045463199635146</c:v>
              </c:pt>
            </c:numLit>
          </c:val>
        </c:ser>
        <c:ser>
          <c:idx val="2"/>
          <c:order val="2"/>
          <c:tx>
            <c:v>Geral</c:v>
          </c:tx>
          <c:spPr>
            <a:solidFill>
              <a:srgbClr val="73787D"/>
            </a:solidFill>
          </c:spPr>
          <c:cat>
            <c:strLit>
              <c:ptCount val="4"/>
              <c:pt idx="0">
                <c:v>2023FY</c:v>
              </c:pt>
              <c:pt idx="1">
                <c:v>2024FY</c:v>
              </c:pt>
              <c:pt idx="2">
                <c:v>2025FY</c:v>
              </c:pt>
              <c:pt idx="3">
                <c:v>Jan–jun/26</c:v>
              </c:pt>
            </c:strLit>
          </c:cat>
          <c:val>
            <c:numLit>
              <c:formatCode>0.0%</c:formatCode>
              <c:ptCount val="4"/>
              <c:pt idx="0">
                <c:v>0</c:v>
              </c:pt>
              <c:pt idx="1">
                <c:v>5.240171406626623E-05</c:v>
              </c:pt>
              <c:pt idx="2">
                <c:v>0</c:v>
              </c:pt>
              <c:pt idx="3">
                <c:v>0.005089900354042509</c:v>
              </c:pt>
            </c:numLit>
          </c:val>
        </c:ser>
        <c:ser>
          <c:idx val="3"/>
          <c:order val="3"/>
          <c:tx>
            <c:v>N/D</c:v>
          </c:tx>
          <c:spPr>
            <a:solidFill>
              <a:srgbClr val="E7E9EB"/>
            </a:solidFill>
          </c:spPr>
          <c:cat>
            <c:strLit>
              <c:ptCount val="4"/>
              <c:pt idx="0">
                <c:v>2023FY</c:v>
              </c:pt>
              <c:pt idx="1">
                <c:v>2024FY</c:v>
              </c:pt>
              <c:pt idx="2">
                <c:v>2025FY</c:v>
              </c:pt>
              <c:pt idx="3">
                <c:v>Jan–jun/26</c:v>
              </c:pt>
            </c:strLit>
          </c:cat>
          <c:val>
            <c:numLit>
              <c:formatCode>0.0%</c:formatCode>
              <c:ptCount val="4"/>
              <c:pt idx="0">
                <c:v>0.01133089223189357</c:v>
              </c:pt>
              <c:pt idx="1">
                <c:v>0</c:v>
              </c:pt>
              <c:pt idx="2">
                <c:v>0.004900731574295591</c:v>
              </c:pt>
              <c:pt idx="3">
                <c:v>0</c:v>
              </c:pt>
            </c:numLit>
          </c:val>
        </c:ser>
        <c:gapWidth val="45"/>
        <c:overlap val="100"/>
        <c:axId val="48650112"/>
        <c:axId val="48672768"/>
      </c:barChart>
      <c:catAx>
        <c:axId val="48650112"/>
        <c:scaling>
          <c:orientation val="minMax"/>
        </c:scaling>
        <c:delete val="0"/>
        <c:axPos val="b"/>
        <c:numFmt formatCode="General"/>
        <c:majorTickMark val="none"/>
        <c:minorTickMark val="none"/>
        <c:spPr>
          <a:ln w="9525">
            <a:solidFill>
              <a:srgbClr val="D7DADD"/>
            </a:solidFill>
            <a:prstDash val="solid"/>
          </a:ln>
        </c:spPr>
        <c:txPr>
          <a:bodyPr anchorCtr="1"/>
          <a:lstStyle/>
          <a:p>
            <a:pPr>
              <a:defRPr sz="1000" lang="pt-BR">
                <a:solidFill>
                  <a:srgbClr val="73787D"/>
                </a:solidFill>
              </a:defRPr>
            </a:pPr>
          </a:p>
        </c:txPr>
        <c:crossAx val="48672768"/>
        <c:lblAlgn val="ctr"/>
        <c:lblOffset val="100"/>
        <c:noMultiLvlLbl val="0"/>
      </c:catAx>
      <c:valAx>
        <c:axId val="48672768"/>
        <c:scaling>
          <c:orientation val="minMax"/>
          <c:max val="1"/>
          <c:min val="0"/>
        </c:scaling>
        <c:delete val="0"/>
        <c:axPos val="l"/>
        <c:majorGridlines>
          <c:spPr>
            <a:ln w="9525">
              <a:solidFill>
                <a:srgbClr val="E7E9EB"/>
              </a:solidFill>
              <a:prstDash val="solid"/>
            </a:ln>
          </c:spPr>
        </c:majorGridlines>
        <c:numFmt formatCode="0%"/>
        <c:majorTickMark val="none"/>
        <c:minorTickMark val="none"/>
        <c:spPr>
          <a:ln w="9525">
            <a:solidFill>
              <a:srgbClr val="D7DADD"/>
            </a:solidFill>
            <a:prstDash val="solid"/>
          </a:ln>
        </c:spPr>
        <c:txPr>
          <a:bodyPr anchorCtr="1"/>
          <a:lstStyle/>
          <a:p>
            <a:pPr>
              <a:defRPr sz="1000" lang="pt-BR">
                <a:solidFill>
                  <a:srgbClr val="8D9399"/>
                </a:solidFill>
              </a:defRPr>
            </a:pPr>
          </a:p>
        </c:txPr>
        <c:crossAx val="48650112"/>
        <c:crossBetween val="between"/>
        <c:majorUnit val="0.25"/>
      </c:valAx>
      <c:spPr>
        <a:noFill/>
        <a:ln w="0">
          <a:noFill/>
          <a:prstDash val="solid"/>
        </a:ln>
      </c:spPr>
    </c:plotArea>
    <c:legend>
      <c:legendPos val="b"/>
      <c:overlay val="0"/>
      <c:txPr>
        <a:bodyPr anchorCtr="1"/>
        <a:lstStyle/>
        <a:p>
          <a:pPr>
            <a:defRPr sz="1000" lang="pt-BR">
              <a:solidFill>
                <a:srgbClr val="73787D"/>
              </a:solidFill>
            </a:defRPr>
          </a:pPr>
        </a:p>
      </c:txPr>
    </c:legend>
    <c:plotVisOnly val="1"/>
  </c:chart>
  <c:spPr>
    <a:noFill/>
    <a:ln w="0">
      <a:noFill/>
      <a:prstDash val="solid"/>
    </a:ln>
  </c:spPr>
</c:chartSpace>
</file>

<file path=ppt/slides/charts/chart40.xml><?xml version="1.0" encoding="utf-8"?>
<c:chartSpace xmlns:a="http://schemas.openxmlformats.org/drawingml/2006/main" xmlns:c="http://schemas.openxmlformats.org/drawingml/2006/chart">
  <c:lang val="pt-BR"/>
  <c:chart>
    <c:plotArea>
      <c:barChart>
        <c:barDir val="bar"/>
        <c:grouping val="clustered"/>
        <c:varyColors val="0"/>
        <c:ser>
          <c:idx val="0"/>
          <c:order val="0"/>
          <c:tx>
            <c:v>Contas</c:v>
          </c:tx>
          <c:spPr>
            <a:solidFill>
              <a:srgbClr val="30353A"/>
            </a:solidFill>
          </c:spPr>
          <c:dPt>
            <c:idx val="0"/>
            <c:invertIfNegative val="0"/>
            <c:spPr>
              <a:solidFill>
                <a:srgbClr val="EC7000"/>
              </a:solidFill>
            </c:spPr>
          </c:dPt>
          <c:dPt>
            <c:idx val="1"/>
            <c:invertIfNegative val="0"/>
            <c:spPr>
              <a:solidFill>
                <a:srgbClr val="30353A"/>
              </a:solidFill>
            </c:spPr>
          </c:dPt>
          <c:dPt>
            <c:idx val="2"/>
            <c:invertIfNegative val="0"/>
            <c:spPr>
              <a:solidFill>
                <a:srgbClr val="30353A"/>
              </a:solidFill>
            </c:spPr>
          </c:dPt>
          <c:dPt>
            <c:idx val="3"/>
            <c:invertIfNegative val="0"/>
            <c:spPr>
              <a:solidFill>
                <a:srgbClr val="30353A"/>
              </a:solidFill>
            </c:spPr>
          </c:dPt>
          <c:dPt>
            <c:idx val="4"/>
            <c:invertIfNegative val="0"/>
            <c:spPr>
              <a:solidFill>
                <a:srgbClr val="30353A"/>
              </a:solidFill>
            </c:spPr>
          </c:dPt>
          <c:cat>
            <c:strLit>
              <c:ptCount val="5"/>
              <c:pt idx="0">
                <c:v>Fundos</c:v>
              </c:pt>
              <c:pt idx="1">
                <c:v>Empresas e outros</c:v>
              </c:pt>
              <c:pt idx="2">
                <c:v>Pessoa física</c:v>
              </c:pt>
              <c:pt idx="3">
                <c:v>Instituições financeiras</c:v>
              </c:pt>
              <c:pt idx="4">
                <c:v>Previdência e seguros</c:v>
              </c:pt>
            </c:strLit>
          </c:cat>
          <c:val>
            <c:numLit>
              <c:formatCode>0.0%</c:formatCode>
              <c:ptCount val="5"/>
              <c:pt idx="0">
                <c:v>0.442722471315705</c:v>
              </c:pt>
              <c:pt idx="1">
                <c:v>0.25706375155020944</c:v>
              </c:pt>
              <c:pt idx="2">
                <c:v>0.20520653559627777</c:v>
              </c:pt>
              <c:pt idx="3">
                <c:v>0.09422238025445116</c:v>
              </c:pt>
              <c:pt idx="4">
                <c:v>0.0007848612833566045</c:v>
              </c:pt>
            </c:numLit>
          </c:val>
        </c:ser>
        <c:dLbls>
          <c:txPr>
            <a:bodyPr anchorCtr="1"/>
            <a:lstStyle/>
            <a:p>
              <a:pPr>
                <a:defRPr sz="1200" b="1" lang="pt-BR">
                  <a:solidFill>
                    <a:srgbClr val="151515"/>
                  </a:solidFill>
                </a:defRPr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42"/>
        <c:axId val="48650112"/>
        <c:axId val="48672768"/>
      </c:barChart>
      <c:catAx>
        <c:axId val="48650112"/>
        <c:scaling>
          <c:orientation val="minMax"/>
        </c:scaling>
        <c:delete val="0"/>
        <c:axPos val="l"/>
        <c:numFmt formatCode="General"/>
        <c:majorTickMark val="none"/>
        <c:minorTickMark val="none"/>
        <c:spPr>
          <a:ln w="9525">
            <a:solidFill>
              <a:srgbClr val="D4D4D4"/>
            </a:solidFill>
            <a:prstDash val="solid"/>
          </a:ln>
        </c:spPr>
        <c:txPr>
          <a:bodyPr anchorCtr="1"/>
          <a:lstStyle/>
          <a:p>
            <a:pPr>
              <a:defRPr lang="pt-BR">
                <a:solidFill>
                  <a:srgbClr val="666666"/>
                </a:solidFill>
              </a:defRPr>
            </a:pPr>
          </a:p>
        </c:txPr>
        <c:crossAx val="48672768"/>
        <c:lblAlgn val="ctr"/>
        <c:lblOffset val="100"/>
        <c:noMultiLvlLbl val="0"/>
      </c:catAx>
      <c:valAx>
        <c:axId val="48672768"/>
        <c:scaling>
          <c:orientation val="minMax"/>
        </c:scaling>
        <c:delete val="0"/>
        <c:axPos val="b"/>
        <c:numFmt formatCode="General"/>
        <c:majorTickMark val="none"/>
        <c:minorTickMark val="none"/>
        <c:spPr>
          <a:ln w="9525">
            <a:solidFill>
              <a:srgbClr val="D7DADD"/>
            </a:solidFill>
            <a:prstDash val="solid"/>
          </a:ln>
        </c:spPr>
        <c:txPr>
          <a:bodyPr anchorCtr="1"/>
          <a:lstStyle/>
          <a:p>
            <a:pPr>
              <a:defRPr sz="1000" lang="pt-BR">
                <a:solidFill>
                  <a:srgbClr val="73787D"/>
                </a:solidFill>
              </a:defRPr>
            </a:pPr>
          </a:p>
        </c:txPr>
        <c:crossAx val="48650112"/>
        <c:crossBetween val="between"/>
      </c:valAx>
      <c:spPr>
        <a:noFill/>
        <a:ln w="0">
          <a:noFill/>
          <a:prstDash val="solid"/>
        </a:ln>
      </c:spPr>
    </c:plotArea>
    <c:plotVisOnly val="1"/>
  </c:chart>
  <c:spPr>
    <a:noFill/>
    <a:ln w="0">
      <a:noFill/>
      <a:prstDash val="solid"/>
    </a:ln>
  </c:spPr>
</c:chartSpace>
</file>

<file path=ppt/slides/charts/chart41.xml><?xml version="1.0" encoding="utf-8"?>
<c:chartSpace xmlns:a="http://schemas.openxmlformats.org/drawingml/2006/main" xmlns:c="http://schemas.openxmlformats.org/drawingml/2006/chart">
  <c:lang val="pt-BR"/>
  <c:chart>
    <c:plotArea>
      <c:lineChart>
        <c:grouping val="standard"/>
        <c:ser>
          <c:idx val="0"/>
          <c:order val="0"/>
          <c:tx>
            <c:v>Dez/23</c:v>
          </c:tx>
          <c:spPr>
            <a:ln w="28575">
              <a:solidFill>
                <a:srgbClr val="73787D"/>
              </a:solidFill>
              <a:prstDash val="solid"/>
            </a:ln>
          </c:spPr>
          <c:marker>
            <c:symbol val="none"/>
          </c:marker>
          <c:cat>
            <c:strLit>
              <c:ptCount val="1"/>
              <c:pt idx="0">
                <c:v/>
              </c:pt>
            </c:strLit>
          </c:cat>
          <c:val>
            <c:numLit>
              <c:formatCode>General</c:formatCode>
              <c:ptCount val="1"/>
              <c:pt idx="0">
                <c:v>0</c:v>
              </c:pt>
            </c:numLit>
          </c:val>
        </c:ser>
        <c:ser>
          <c:idx val="1"/>
          <c:order val="1"/>
          <c:tx>
            <c:v>Jun/26</c:v>
          </c:tx>
          <c:spPr>
            <a:ln w="28575">
              <a:solidFill>
                <a:srgbClr val="EC7000"/>
              </a:solidFill>
              <a:prstDash val="solid"/>
            </a:ln>
          </c:spPr>
          <c:marker>
            <c:symbol val="none"/>
          </c:marker>
          <c:cat>
            <c:strLit>
              <c:ptCount val="1"/>
              <c:pt idx="0">
                <c:v/>
              </c:pt>
            </c:strLit>
          </c:cat>
          <c:val>
            <c:numLit>
              <c:formatCode>General</c:formatCode>
              <c:ptCount val="1"/>
              <c:pt idx="0">
                <c:v>0</c:v>
              </c:pt>
            </c:numLit>
          </c:val>
        </c:ser>
        <c:axId val="48650112"/>
        <c:axId val="48672768"/>
      </c:lineChart>
      <c:catAx>
        <c:axId val="48650112"/>
        <c:scaling>
          <c:orientation val="minMax"/>
        </c:scaling>
        <c:delete val="0"/>
        <c:axPos val="b"/>
        <c:numFmt formatCode="General"/>
        <c:majorTickMark val="none"/>
        <c:minorTickMark val="none"/>
        <c:spPr>
          <a:ln w="9525">
            <a:solidFill>
              <a:srgbClr val="D4D4D4"/>
            </a:solidFill>
            <a:prstDash val="solid"/>
          </a:ln>
        </c:spPr>
        <c:txPr>
          <a:bodyPr anchorCtr="1"/>
          <a:lstStyle/>
          <a:p>
            <a:pPr>
              <a:defRPr lang="pt-BR">
                <a:solidFill>
                  <a:srgbClr val="666666"/>
                </a:solidFill>
              </a:defRPr>
            </a:pPr>
          </a:p>
        </c:txPr>
        <c:crossAx val="48672768"/>
        <c:lblAlgn val="ctr"/>
        <c:lblOffset val="100"/>
        <c:noMultiLvlLbl val="0"/>
      </c:catAx>
      <c:valAx>
        <c:axId val="48672768"/>
        <c:scaling>
          <c:orientation val="minMax"/>
        </c:scaling>
        <c:delete val="1"/>
        <c:axPos val="l"/>
        <c:numFmt formatCode="General"/>
        <c:majorTickMark val="none"/>
        <c:minorTickMark val="none"/>
        <c:spPr>
          <a:ln w="9525">
            <a:solidFill>
              <a:srgbClr val="D4D4D4"/>
            </a:solidFill>
            <a:prstDash val="solid"/>
          </a:ln>
        </c:spPr>
        <c:txPr>
          <a:bodyPr anchorCtr="1"/>
          <a:lstStyle/>
          <a:p>
            <a:pPr>
              <a:defRPr lang="pt-BR">
                <a:solidFill>
                  <a:srgbClr val="666666"/>
                </a:solidFill>
              </a:defRPr>
            </a:pPr>
          </a:p>
        </c:txPr>
        <c:crossAx val="48650112"/>
        <c:crossBetween val="between"/>
      </c:valAx>
      <c:spPr>
        <a:noFill/>
        <a:ln w="0">
          <a:noFill/>
          <a:prstDash val="solid"/>
        </a:ln>
      </c:spPr>
    </c:plotArea>
    <c:legend>
      <c:legendPos val="b"/>
      <c:overlay val="0"/>
      <c:txPr>
        <a:bodyPr anchorCtr="1"/>
        <a:lstStyle/>
        <a:p>
          <a:pPr>
            <a:defRPr sz="1000" lang="pt-BR">
              <a:solidFill>
                <a:srgbClr val="73787D"/>
              </a:solidFill>
            </a:defRPr>
          </a:pPr>
        </a:p>
      </c:txPr>
    </c:legend>
    <c:plotVisOnly val="1"/>
  </c:chart>
  <c:spPr>
    <a:noFill/>
    <a:ln w="0">
      <a:noFill/>
      <a:prstDash val="solid"/>
    </a:ln>
  </c:spPr>
</c:chartSpace>
</file>

<file path=ppt/slides/charts/chart42.xml><?xml version="1.0" encoding="utf-8"?>
<c:chartSpace xmlns:a="http://schemas.openxmlformats.org/drawingml/2006/main" xmlns:c="http://schemas.openxmlformats.org/drawingml/2006/chart">
  <c:lang val="pt-BR"/>
  <c:chart>
    <c:plotArea>
      <c:barChart>
        <c:barDir val="col"/>
        <c:grouping val="clustered"/>
        <c:varyColors val="0"/>
        <c:ser>
          <c:idx val="0"/>
          <c:order val="0"/>
          <c:tx>
            <c:v>Dez/23</c:v>
          </c:tx>
          <c:spPr>
            <a:solidFill>
              <a:srgbClr val="73787D"/>
            </a:solidFill>
          </c:spPr>
          <c:cat>
            <c:strLit>
              <c:ptCount val="6"/>
              <c:pt idx="0">
                <c:v>0</c:v>
              </c:pt>
              <c:pt idx="1">
                <c:v>1</c:v>
              </c:pt>
              <c:pt idx="2">
                <c:v>2–3</c:v>
              </c:pt>
              <c:pt idx="3">
                <c:v>4–10</c:v>
              </c:pt>
              <c:pt idx="4">
                <c:v>11–50</c:v>
              </c:pt>
              <c:pt idx="5">
                <c:v>51+</c:v>
              </c:pt>
            </c:strLit>
          </c:cat>
          <c:val>
            <c:numLit>
              <c:formatCode>0</c:formatCode>
              <c:ptCount val="6"/>
              <c:pt idx="0">
                <c:v>3</c:v>
              </c:pt>
              <c:pt idx="1">
                <c:v>106</c:v>
              </c:pt>
              <c:pt idx="2">
                <c:v>104</c:v>
              </c:pt>
              <c:pt idx="3">
                <c:v>71</c:v>
              </c:pt>
              <c:pt idx="4">
                <c:v>50</c:v>
              </c:pt>
              <c:pt idx="5">
                <c:v>75</c:v>
              </c:pt>
            </c:numLit>
          </c:val>
        </c:ser>
        <c:ser>
          <c:idx val="1"/>
          <c:order val="1"/>
          <c:tx>
            <c:v>Jun/26</c:v>
          </c:tx>
          <c:spPr>
            <a:solidFill>
              <a:srgbClr val="EC7000"/>
            </a:solidFill>
          </c:spPr>
          <c:cat>
            <c:strLit>
              <c:ptCount val="6"/>
              <c:pt idx="0">
                <c:v>0</c:v>
              </c:pt>
              <c:pt idx="1">
                <c:v>1</c:v>
              </c:pt>
              <c:pt idx="2">
                <c:v>2–3</c:v>
              </c:pt>
              <c:pt idx="3">
                <c:v>4–10</c:v>
              </c:pt>
              <c:pt idx="4">
                <c:v>11–50</c:v>
              </c:pt>
              <c:pt idx="5">
                <c:v>51+</c:v>
              </c:pt>
            </c:strLit>
          </c:cat>
          <c:val>
            <c:numLit>
              <c:formatCode>0</c:formatCode>
              <c:ptCount val="6"/>
              <c:pt idx="0">
                <c:v>2</c:v>
              </c:pt>
              <c:pt idx="1">
                <c:v>180</c:v>
              </c:pt>
              <c:pt idx="2">
                <c:v>123</c:v>
              </c:pt>
              <c:pt idx="3">
                <c:v>153</c:v>
              </c:pt>
              <c:pt idx="4">
                <c:v>128</c:v>
              </c:pt>
              <c:pt idx="5">
                <c:v>198</c:v>
              </c:pt>
            </c:numLit>
          </c:val>
        </c:ser>
        <c:dLbls>
          <c:txPr>
            <a:bodyPr anchorCtr="1"/>
            <a:lstStyle/>
            <a:p>
              <a:pPr>
                <a:defRPr sz="1200" b="1" lang="pt-BR">
                  <a:solidFill>
                    <a:srgbClr val="151515"/>
                  </a:solidFill>
                </a:defRPr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35"/>
        <c:axId val="48650112"/>
        <c:axId val="48672768"/>
      </c:barChart>
      <c:catAx>
        <c:axId val="48650112"/>
        <c:scaling>
          <c:orientation val="minMax"/>
        </c:scaling>
        <c:delete val="0"/>
        <c:axPos val="b"/>
        <c:numFmt formatCode="General"/>
        <c:majorTickMark val="none"/>
        <c:minorTickMark val="none"/>
        <c:spPr>
          <a:ln w="9525">
            <a:solidFill>
              <a:srgbClr val="D7DADD"/>
            </a:solidFill>
            <a:prstDash val="solid"/>
          </a:ln>
        </c:spPr>
        <c:txPr>
          <a:bodyPr anchorCtr="1"/>
          <a:lstStyle/>
          <a:p>
            <a:pPr>
              <a:defRPr sz="1000" lang="pt-BR">
                <a:solidFill>
                  <a:srgbClr val="73787D"/>
                </a:solidFill>
              </a:defRPr>
            </a:pPr>
          </a:p>
        </c:txPr>
        <c:crossAx val="48672768"/>
        <c:lblAlgn val="ctr"/>
        <c:lblOffset val="100"/>
        <c:noMultiLvlLbl val="0"/>
      </c:catAx>
      <c:valAx>
        <c:axId val="48672768"/>
        <c:scaling>
          <c:orientation val="minMax"/>
          <c:min val="0"/>
        </c:scaling>
        <c:delete val="0"/>
        <c:axPos val="l"/>
        <c:majorGridlines>
          <c:spPr>
            <a:ln w="9525">
              <a:solidFill>
                <a:srgbClr val="E7E9EB"/>
              </a:solidFill>
              <a:prstDash val="solid"/>
            </a:ln>
          </c:spPr>
        </c:majorGridlines>
        <c:numFmt formatCode="0"/>
        <c:majorTickMark val="none"/>
        <c:minorTickMark val="none"/>
        <c:spPr>
          <a:ln w="9525">
            <a:solidFill>
              <a:srgbClr val="D7DADD"/>
            </a:solidFill>
            <a:prstDash val="solid"/>
          </a:ln>
        </c:spPr>
        <c:txPr>
          <a:bodyPr anchorCtr="1"/>
          <a:lstStyle/>
          <a:p>
            <a:pPr>
              <a:defRPr sz="1000" lang="pt-BR">
                <a:solidFill>
                  <a:srgbClr val="8D9399"/>
                </a:solidFill>
              </a:defRPr>
            </a:pPr>
          </a:p>
        </c:txPr>
        <c:crossAx val="48650112"/>
        <c:crossBetween val="between"/>
      </c:valAx>
      <c:spPr>
        <a:noFill/>
        <a:ln w="0">
          <a:noFill/>
          <a:prstDash val="solid"/>
        </a:ln>
      </c:spPr>
    </c:plotArea>
    <c:plotVisOnly val="1"/>
  </c:chart>
  <c:spPr>
    <a:noFill/>
    <a:ln w="0">
      <a:noFill/>
      <a:prstDash val="solid"/>
    </a:ln>
  </c:spPr>
</c:chartSpace>
</file>

<file path=ppt/slides/charts/chart43.xml><?xml version="1.0" encoding="utf-8"?>
<c:chartSpace xmlns:a="http://schemas.openxmlformats.org/drawingml/2006/main" xmlns:c="http://schemas.openxmlformats.org/drawingml/2006/chart">
  <c:lang val="pt-BR"/>
  <c:chart>
    <c:plotArea>
      <c:barChart>
        <c:barDir val="col"/>
        <c:grouping val="clustered"/>
        <c:varyColors val="0"/>
        <c:ser>
          <c:idx val="0"/>
          <c:order val="0"/>
          <c:tx>
            <c:v>Dez/23</c:v>
          </c:tx>
          <c:spPr>
            <a:solidFill>
              <a:srgbClr val="73787D"/>
            </a:solidFill>
          </c:spPr>
          <c:cat>
            <c:strLit>
              <c:ptCount val="6"/>
              <c:pt idx="0">
                <c:v>0</c:v>
              </c:pt>
              <c:pt idx="1">
                <c:v>1</c:v>
              </c:pt>
              <c:pt idx="2">
                <c:v>2–3</c:v>
              </c:pt>
              <c:pt idx="3">
                <c:v>4–10</c:v>
              </c:pt>
              <c:pt idx="4">
                <c:v>11–50</c:v>
              </c:pt>
              <c:pt idx="5">
                <c:v>51+</c:v>
              </c:pt>
            </c:strLit>
          </c:cat>
          <c:val>
            <c:numLit>
              <c:formatCode>0</c:formatCode>
              <c:ptCount val="6"/>
              <c:pt idx="0">
                <c:v>4.08011139709</c:v>
              </c:pt>
              <c:pt idx="1">
                <c:v>107.00408055976</c:v>
              </c:pt>
              <c:pt idx="2">
                <c:v>65.98513346480999</c:v>
              </c:pt>
              <c:pt idx="3">
                <c:v>87.13513028292</c:v>
              </c:pt>
              <c:pt idx="4">
                <c:v>27.89580794356</c:v>
              </c:pt>
              <c:pt idx="5">
                <c:v>84.79440519127</c:v>
              </c:pt>
            </c:numLit>
          </c:val>
        </c:ser>
        <c:ser>
          <c:idx val="1"/>
          <c:order val="1"/>
          <c:tx>
            <c:v>Jun/26</c:v>
          </c:tx>
          <c:spPr>
            <a:solidFill>
              <a:srgbClr val="EC7000"/>
            </a:solidFill>
          </c:spPr>
          <c:cat>
            <c:strLit>
              <c:ptCount val="6"/>
              <c:pt idx="0">
                <c:v>0</c:v>
              </c:pt>
              <c:pt idx="1">
                <c:v>1</c:v>
              </c:pt>
              <c:pt idx="2">
                <c:v>2–3</c:v>
              </c:pt>
              <c:pt idx="3">
                <c:v>4–10</c:v>
              </c:pt>
              <c:pt idx="4">
                <c:v>11–50</c:v>
              </c:pt>
              <c:pt idx="5">
                <c:v>51+</c:v>
              </c:pt>
            </c:strLit>
          </c:cat>
          <c:val>
            <c:numLit>
              <c:formatCode>0</c:formatCode>
              <c:ptCount val="6"/>
              <c:pt idx="0">
                <c:v>2.04153385837</c:v>
              </c:pt>
              <c:pt idx="1">
                <c:v>174.97916627078</c:v>
              </c:pt>
              <c:pt idx="2">
                <c:v>85.07690883193</c:v>
              </c:pt>
              <c:pt idx="3">
                <c:v>174.00964091183</c:v>
              </c:pt>
              <c:pt idx="4">
                <c:v>80.62114320047</c:v>
              </c:pt>
              <c:pt idx="5">
                <c:v>216.35550333</c:v>
              </c:pt>
            </c:numLit>
          </c:val>
        </c:ser>
        <c:dLbls>
          <c:txPr>
            <a:bodyPr anchorCtr="1"/>
            <a:lstStyle/>
            <a:p>
              <a:pPr>
                <a:defRPr sz="1200" b="1" lang="pt-BR">
                  <a:solidFill>
                    <a:srgbClr val="151515"/>
                  </a:solidFill>
                </a:defRPr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35"/>
        <c:axId val="48650112"/>
        <c:axId val="48672768"/>
      </c:barChart>
      <c:catAx>
        <c:axId val="48650112"/>
        <c:scaling>
          <c:orientation val="minMax"/>
        </c:scaling>
        <c:delete val="0"/>
        <c:axPos val="b"/>
        <c:numFmt formatCode="General"/>
        <c:majorTickMark val="none"/>
        <c:minorTickMark val="none"/>
        <c:spPr>
          <a:ln w="9525">
            <a:solidFill>
              <a:srgbClr val="D7DADD"/>
            </a:solidFill>
            <a:prstDash val="solid"/>
          </a:ln>
        </c:spPr>
        <c:txPr>
          <a:bodyPr anchorCtr="1"/>
          <a:lstStyle/>
          <a:p>
            <a:pPr>
              <a:defRPr sz="1000" lang="pt-BR">
                <a:solidFill>
                  <a:srgbClr val="73787D"/>
                </a:solidFill>
              </a:defRPr>
            </a:pPr>
          </a:p>
        </c:txPr>
        <c:crossAx val="48672768"/>
        <c:lblAlgn val="ctr"/>
        <c:lblOffset val="100"/>
        <c:noMultiLvlLbl val="0"/>
      </c:catAx>
      <c:valAx>
        <c:axId val="48672768"/>
        <c:scaling>
          <c:orientation val="minMax"/>
          <c:min val="0"/>
        </c:scaling>
        <c:delete val="0"/>
        <c:axPos val="l"/>
        <c:majorGridlines>
          <c:spPr>
            <a:ln w="9525">
              <a:solidFill>
                <a:srgbClr val="E7E9EB"/>
              </a:solidFill>
              <a:prstDash val="solid"/>
            </a:ln>
          </c:spPr>
        </c:majorGridlines>
        <c:numFmt formatCode="0"/>
        <c:majorTickMark val="none"/>
        <c:minorTickMark val="none"/>
        <c:spPr>
          <a:ln w="9525">
            <a:solidFill>
              <a:srgbClr val="D7DADD"/>
            </a:solidFill>
            <a:prstDash val="solid"/>
          </a:ln>
        </c:spPr>
        <c:txPr>
          <a:bodyPr anchorCtr="1"/>
          <a:lstStyle/>
          <a:p>
            <a:pPr>
              <a:defRPr sz="1000" lang="pt-BR">
                <a:solidFill>
                  <a:srgbClr val="8D9399"/>
                </a:solidFill>
              </a:defRPr>
            </a:pPr>
          </a:p>
        </c:txPr>
        <c:crossAx val="48650112"/>
        <c:crossBetween val="between"/>
      </c:valAx>
      <c:spPr>
        <a:noFill/>
        <a:ln w="0">
          <a:noFill/>
          <a:prstDash val="solid"/>
        </a:ln>
      </c:spPr>
    </c:plotArea>
    <c:plotVisOnly val="1"/>
  </c:chart>
  <c:spPr>
    <a:noFill/>
    <a:ln w="0">
      <a:noFill/>
      <a:prstDash val="solid"/>
    </a:ln>
  </c:spPr>
</c:chartSpace>
</file>

<file path=ppt/slides/charts/chart44.xml><?xml version="1.0" encoding="utf-8"?>
<c:chartSpace xmlns:a="http://schemas.openxmlformats.org/drawingml/2006/main" xmlns:c="http://schemas.openxmlformats.org/drawingml/2006/chart">
  <c:lang val="pt-BR"/>
  <c:chart>
    <c:plotArea>
      <c:barChart>
        <c:barDir val="col"/>
        <c:grouping val="clustered"/>
        <c:varyColors val="0"/>
        <c:ser>
          <c:idx val="0"/>
          <c:order val="0"/>
          <c:tx>
            <c:v>Dez/23</c:v>
          </c:tx>
          <c:spPr>
            <a:solidFill>
              <a:srgbClr val="73787D"/>
            </a:solidFill>
          </c:spPr>
          <c:cat>
            <c:strLit>
              <c:ptCount val="6"/>
              <c:pt idx="0">
                <c:v>0</c:v>
              </c:pt>
              <c:pt idx="1">
                <c:v>1</c:v>
              </c:pt>
              <c:pt idx="2">
                <c:v>2–3</c:v>
              </c:pt>
              <c:pt idx="3">
                <c:v>4–10</c:v>
              </c:pt>
              <c:pt idx="4">
                <c:v>11–50</c:v>
              </c:pt>
              <c:pt idx="5">
                <c:v>51+</c:v>
              </c:pt>
            </c:strLit>
          </c:cat>
          <c:val>
            <c:numLit>
              <c:formatCode>0%</c:formatCode>
              <c:ptCount val="6"/>
              <c:pt idx="0">
                <c:v>0.007334963325183374</c:v>
              </c:pt>
              <c:pt idx="1">
                <c:v>0.2591687041564792</c:v>
              </c:pt>
              <c:pt idx="2">
                <c:v>0.254278728606357</c:v>
              </c:pt>
              <c:pt idx="3">
                <c:v>0.17359413202933985</c:v>
              </c:pt>
              <c:pt idx="4">
                <c:v>0.12224938875305623</c:v>
              </c:pt>
              <c:pt idx="5">
                <c:v>0.18337408312958436</c:v>
              </c:pt>
            </c:numLit>
          </c:val>
        </c:ser>
        <c:ser>
          <c:idx val="1"/>
          <c:order val="1"/>
          <c:tx>
            <c:v>Jun/26</c:v>
          </c:tx>
          <c:spPr>
            <a:solidFill>
              <a:srgbClr val="EC7000"/>
            </a:solidFill>
          </c:spPr>
          <c:cat>
            <c:strLit>
              <c:ptCount val="6"/>
              <c:pt idx="0">
                <c:v>0</c:v>
              </c:pt>
              <c:pt idx="1">
                <c:v>1</c:v>
              </c:pt>
              <c:pt idx="2">
                <c:v>2–3</c:v>
              </c:pt>
              <c:pt idx="3">
                <c:v>4–10</c:v>
              </c:pt>
              <c:pt idx="4">
                <c:v>11–50</c:v>
              </c:pt>
              <c:pt idx="5">
                <c:v>51+</c:v>
              </c:pt>
            </c:strLit>
          </c:cat>
          <c:val>
            <c:numLit>
              <c:formatCode>0%</c:formatCode>
              <c:ptCount val="6"/>
              <c:pt idx="0">
                <c:v>0.002551020408163265</c:v>
              </c:pt>
              <c:pt idx="1">
                <c:v>0.22959183673469388</c:v>
              </c:pt>
              <c:pt idx="2">
                <c:v>0.1568877551020408</c:v>
              </c:pt>
              <c:pt idx="3">
                <c:v>0.1951530612244898</c:v>
              </c:pt>
              <c:pt idx="4">
                <c:v>0.16326530612244897</c:v>
              </c:pt>
              <c:pt idx="5">
                <c:v>0.25255102040816324</c:v>
              </c:pt>
            </c:numLit>
          </c:val>
        </c:ser>
        <c:dLbls>
          <c:txPr>
            <a:bodyPr anchorCtr="1"/>
            <a:lstStyle/>
            <a:p>
              <a:pPr>
                <a:defRPr sz="1200" b="1" lang="pt-BR">
                  <a:solidFill>
                    <a:srgbClr val="151515"/>
                  </a:solidFill>
                </a:defRPr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35"/>
        <c:axId val="48650112"/>
        <c:axId val="48672768"/>
      </c:barChart>
      <c:catAx>
        <c:axId val="48650112"/>
        <c:scaling>
          <c:orientation val="minMax"/>
        </c:scaling>
        <c:delete val="0"/>
        <c:axPos val="b"/>
        <c:numFmt formatCode="General"/>
        <c:majorTickMark val="none"/>
        <c:minorTickMark val="none"/>
        <c:spPr>
          <a:ln w="9525">
            <a:solidFill>
              <a:srgbClr val="D7DADD"/>
            </a:solidFill>
            <a:prstDash val="solid"/>
          </a:ln>
        </c:spPr>
        <c:txPr>
          <a:bodyPr anchorCtr="1"/>
          <a:lstStyle/>
          <a:p>
            <a:pPr>
              <a:defRPr sz="1000" lang="pt-BR">
                <a:solidFill>
                  <a:srgbClr val="73787D"/>
                </a:solidFill>
              </a:defRPr>
            </a:pPr>
          </a:p>
        </c:txPr>
        <c:crossAx val="48672768"/>
        <c:lblAlgn val="ctr"/>
        <c:lblOffset val="100"/>
        <c:noMultiLvlLbl val="0"/>
      </c:catAx>
      <c:valAx>
        <c:axId val="48672768"/>
        <c:scaling>
          <c:orientation val="minMax"/>
          <c:max val="0.35"/>
          <c:min val="0"/>
        </c:scaling>
        <c:delete val="0"/>
        <c:axPos val="l"/>
        <c:majorGridlines>
          <c:spPr>
            <a:ln w="9525">
              <a:solidFill>
                <a:srgbClr val="E7E9EB"/>
              </a:solidFill>
              <a:prstDash val="solid"/>
            </a:ln>
          </c:spPr>
        </c:majorGridlines>
        <c:numFmt formatCode="0%"/>
        <c:majorTickMark val="none"/>
        <c:minorTickMark val="none"/>
        <c:spPr>
          <a:ln w="9525">
            <a:solidFill>
              <a:srgbClr val="D7DADD"/>
            </a:solidFill>
            <a:prstDash val="solid"/>
          </a:ln>
        </c:spPr>
        <c:txPr>
          <a:bodyPr anchorCtr="1"/>
          <a:lstStyle/>
          <a:p>
            <a:pPr>
              <a:defRPr sz="1000" lang="pt-BR">
                <a:solidFill>
                  <a:srgbClr val="8D9399"/>
                </a:solidFill>
              </a:defRPr>
            </a:pPr>
          </a:p>
        </c:txPr>
        <c:crossAx val="48650112"/>
        <c:crossBetween val="between"/>
        <c:majorUnit val="0.1"/>
      </c:valAx>
      <c:spPr>
        <a:noFill/>
        <a:ln w="0">
          <a:noFill/>
          <a:prstDash val="solid"/>
        </a:ln>
      </c:spPr>
    </c:plotArea>
    <c:plotVisOnly val="1"/>
  </c:chart>
  <c:spPr>
    <a:noFill/>
    <a:ln w="0">
      <a:noFill/>
      <a:prstDash val="solid"/>
    </a:ln>
  </c:spPr>
</c:chartSpace>
</file>

<file path=ppt/slides/charts/chart45.xml><?xml version="1.0" encoding="utf-8"?>
<c:chartSpace xmlns:a="http://schemas.openxmlformats.org/drawingml/2006/main" xmlns:c="http://schemas.openxmlformats.org/drawingml/2006/chart">
  <c:lang val="pt-BR"/>
  <c:chart>
    <c:plotArea>
      <c:barChart>
        <c:barDir val="col"/>
        <c:grouping val="clustered"/>
        <c:varyColors val="0"/>
        <c:ser>
          <c:idx val="0"/>
          <c:order val="0"/>
          <c:tx>
            <c:v>Dez/23</c:v>
          </c:tx>
          <c:spPr>
            <a:solidFill>
              <a:srgbClr val="73787D"/>
            </a:solidFill>
          </c:spPr>
          <c:cat>
            <c:strLit>
              <c:ptCount val="6"/>
              <c:pt idx="0">
                <c:v>0</c:v>
              </c:pt>
              <c:pt idx="1">
                <c:v>1</c:v>
              </c:pt>
              <c:pt idx="2">
                <c:v>2–3</c:v>
              </c:pt>
              <c:pt idx="3">
                <c:v>4–10</c:v>
              </c:pt>
              <c:pt idx="4">
                <c:v>11–50</c:v>
              </c:pt>
              <c:pt idx="5">
                <c:v>51+</c:v>
              </c:pt>
            </c:strLit>
          </c:cat>
          <c:val>
            <c:numLit>
              <c:formatCode>0%</c:formatCode>
              <c:ptCount val="6"/>
              <c:pt idx="0">
                <c:v>0.010825601247303616</c:v>
              </c:pt>
              <c:pt idx="1">
                <c:v>0.28390977481656304</c:v>
              </c:pt>
              <c:pt idx="2">
                <c:v>0.1750757941681723</c:v>
              </c:pt>
              <c:pt idx="3">
                <c:v>0.23119226003179993</c:v>
              </c:pt>
              <c:pt idx="4">
                <c:v>0.07401486476171423</c:v>
              </c:pt>
              <c:pt idx="5">
                <c:v>0.22498170497444692</c:v>
              </c:pt>
            </c:numLit>
          </c:val>
        </c:ser>
        <c:ser>
          <c:idx val="1"/>
          <c:order val="1"/>
          <c:tx>
            <c:v>Jun/26</c:v>
          </c:tx>
          <c:spPr>
            <a:solidFill>
              <a:srgbClr val="EC7000"/>
            </a:solidFill>
          </c:spPr>
          <c:cat>
            <c:strLit>
              <c:ptCount val="6"/>
              <c:pt idx="0">
                <c:v>0</c:v>
              </c:pt>
              <c:pt idx="1">
                <c:v>1</c:v>
              </c:pt>
              <c:pt idx="2">
                <c:v>2–3</c:v>
              </c:pt>
              <c:pt idx="3">
                <c:v>4–10</c:v>
              </c:pt>
              <c:pt idx="4">
                <c:v>11–50</c:v>
              </c:pt>
              <c:pt idx="5">
                <c:v>51+</c:v>
              </c:pt>
            </c:strLit>
          </c:cat>
          <c:val>
            <c:numLit>
              <c:formatCode>0%</c:formatCode>
              <c:ptCount val="6"/>
              <c:pt idx="0">
                <c:v>0.002784857051677267</c:v>
              </c:pt>
              <c:pt idx="1">
                <c:v>0.23868914203306626</c:v>
              </c:pt>
              <c:pt idx="2">
                <c:v>0.11605344115363893</c:v>
              </c:pt>
              <c:pt idx="3">
                <c:v>0.23736661215114327</c:v>
              </c:pt>
              <c:pt idx="4">
                <c:v>0.10997532969419936</c:v>
              </c:pt>
              <c:pt idx="5">
                <c:v>0.29513061791627493</c:v>
              </c:pt>
            </c:numLit>
          </c:val>
        </c:ser>
        <c:dLbls>
          <c:txPr>
            <a:bodyPr anchorCtr="1"/>
            <a:lstStyle/>
            <a:p>
              <a:pPr>
                <a:defRPr sz="1200" b="1" lang="pt-BR">
                  <a:solidFill>
                    <a:srgbClr val="151515"/>
                  </a:solidFill>
                </a:defRPr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35"/>
        <c:axId val="48650112"/>
        <c:axId val="48672768"/>
      </c:barChart>
      <c:catAx>
        <c:axId val="48650112"/>
        <c:scaling>
          <c:orientation val="minMax"/>
        </c:scaling>
        <c:delete val="0"/>
        <c:axPos val="b"/>
        <c:numFmt formatCode="General"/>
        <c:majorTickMark val="none"/>
        <c:minorTickMark val="none"/>
        <c:spPr>
          <a:ln w="9525">
            <a:solidFill>
              <a:srgbClr val="D7DADD"/>
            </a:solidFill>
            <a:prstDash val="solid"/>
          </a:ln>
        </c:spPr>
        <c:txPr>
          <a:bodyPr anchorCtr="1"/>
          <a:lstStyle/>
          <a:p>
            <a:pPr>
              <a:defRPr sz="1000" lang="pt-BR">
                <a:solidFill>
                  <a:srgbClr val="73787D"/>
                </a:solidFill>
              </a:defRPr>
            </a:pPr>
          </a:p>
        </c:txPr>
        <c:crossAx val="48672768"/>
        <c:lblAlgn val="ctr"/>
        <c:lblOffset val="100"/>
        <c:noMultiLvlLbl val="0"/>
      </c:catAx>
      <c:valAx>
        <c:axId val="48672768"/>
        <c:scaling>
          <c:orientation val="minMax"/>
          <c:max val="0.35"/>
          <c:min val="0"/>
        </c:scaling>
        <c:delete val="0"/>
        <c:axPos val="l"/>
        <c:majorGridlines>
          <c:spPr>
            <a:ln w="9525">
              <a:solidFill>
                <a:srgbClr val="E7E9EB"/>
              </a:solidFill>
              <a:prstDash val="solid"/>
            </a:ln>
          </c:spPr>
        </c:majorGridlines>
        <c:numFmt formatCode="0%"/>
        <c:majorTickMark val="none"/>
        <c:minorTickMark val="none"/>
        <c:spPr>
          <a:ln w="9525">
            <a:solidFill>
              <a:srgbClr val="D7DADD"/>
            </a:solidFill>
            <a:prstDash val="solid"/>
          </a:ln>
        </c:spPr>
        <c:txPr>
          <a:bodyPr anchorCtr="1"/>
          <a:lstStyle/>
          <a:p>
            <a:pPr>
              <a:defRPr sz="1000" lang="pt-BR">
                <a:solidFill>
                  <a:srgbClr val="8D9399"/>
                </a:solidFill>
              </a:defRPr>
            </a:pPr>
          </a:p>
        </c:txPr>
        <c:crossAx val="48650112"/>
        <c:crossBetween val="between"/>
        <c:majorUnit val="0.1"/>
      </c:valAx>
      <c:spPr>
        <a:noFill/>
        <a:ln w="0">
          <a:noFill/>
          <a:prstDash val="solid"/>
        </a:ln>
      </c:spPr>
    </c:plotArea>
    <c:plotVisOnly val="1"/>
  </c:chart>
  <c:spPr>
    <a:noFill/>
    <a:ln w="0">
      <a:noFill/>
      <a:prstDash val="solid"/>
    </a:ln>
  </c:spPr>
</c:chartSpace>
</file>

<file path=ppt/slides/slide1.xml><?xml version="1.0" encoding="utf-8"?>
<ns0:sld xmlns:a="http://schemas.openxmlformats.org/drawingml/2006/main" xmlns:ns0="http://schemas.openxmlformats.org/presentationml/2006/main" xmlns:ns2="http://schemas.microsoft.com/office/drawing/2014/main" xmlns:ns3="http://schemas.microsoft.com/office/powerpoint/2010/main">
  <ns0:cSld>
    <ns0:bg>
      <ns0:bgPr>
        <a:solidFill>
          <a:srgbClr val="151515"/>
        </a:solidFill>
      </ns0:bgPr>
    </ns0:bg>
    <ns0:spTree>
      <ns0:nvGrpSpPr>
        <ns0:cNvPr id="1" name=""/>
        <ns0:cNvGrpSpPr/>
        <ns0:nvPr/>
      </ns0:nvGrpSpPr>
      <ns0:grpSpPr>
        <a:xfrm/>
      </ns0:grpSpPr>
      <ns0:sp>
        <ns0:nvSpPr>
          <ns0:cNvPr id="7" name="">
            <a:extLst>
              <a:ext uri="{FF2B5EF4-FFF2-40B4-BE49-F238E27FC236}">
                <ns2:creationId id="{EA302FE5-BB8B-4D5D-892F-65A031347655}"/>
              </a:ext>
            </a:extLst>
          </ns0:cNvPr>
          <ns0:cNvSpPr>
            <a:spLocks noGrp="1"/>
          </ns0:cNvSpPr>
          <ns0:nvPr/>
        </ns0:nvSpPr>
        <ns0:spPr>
          <a:xfrm>
            <a:off x="571500" y="1000125"/>
            <a:ext cx="838200" cy="47625"/>
          </a:xfrm>
          <a:prstGeom prst="rect">
            <a:avLst/>
          </a:prstGeom>
          <a:solidFill>
            <a:srgbClr val="EC7000"/>
          </a:solidFill>
          <a:ln w="0">
            <a:noFill/>
            <a:prstDash val="solid"/>
          </a:ln>
        </ns0:spPr>
      </ns0:sp>
      <ns0:sp>
        <ns0:nvSpPr>
          <ns0:cNvPr id="2" name="">
            <a:extLst>
              <a:ext uri="{FF2B5EF4-FFF2-40B4-BE49-F238E27FC236}">
                <ns2:creationId id="{F912790C-C098-4727-9C02-FCDA1BFE8FD0}"/>
              </a:ext>
            </a:extLst>
          </ns0:cNvPr>
          <ns0:cNvSpPr>
            <a:spLocks noGrp="1"/>
          </ns0:cNvSpPr>
          <ns0:nvPr/>
        </ns0:nvSpPr>
        <ns0:spPr>
          <a:xfrm>
            <a:off x="571500" y="1409700"/>
            <a:ext cx="8572500" cy="8191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3600" b="1" lang="pt-BR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3600" b="1" lang="pt-BR">
                <a:solidFill>
                  <a:srgbClr val="FFFFFF"/>
                </a:solidFill>
                <a:latin typeface="Arial"/>
                <a:ea typeface="Arial"/>
                <a:cs typeface="Arial"/>
              </a:rPr>
              <a:t>Indústria de FIDCs — ago-26</a:t>
            </a:r>
          </a:p>
        </ns0:txBody>
      </ns0:sp>
      <ns0:sp>
        <ns0:nvSpPr>
          <ns0:cNvPr id="3" name="">
            <a:extLst>
              <a:ext uri="{FF2B5EF4-FFF2-40B4-BE49-F238E27FC236}">
                <ns2:creationId id="{67AEB158-419A-4B36-9160-03D323DC2175}"/>
              </a:ext>
            </a:extLst>
          </ns0:cNvPr>
          <ns0:cNvSpPr>
            <a:spLocks noGrp="1"/>
          </ns0:cNvSpPr>
          <ns0:nvPr/>
        </ns0:nvSpPr>
        <ns0:spPr>
          <a:xfrm>
            <a:off x="571500" y="5048250"/>
            <a:ext cx="11049000" cy="9525"/>
          </a:xfrm>
          <a:prstGeom prst="rect">
            <a:avLst/>
          </a:prstGeom>
          <a:solidFill>
            <a:srgbClr val="4B4F53"/>
          </a:solidFill>
          <a:ln w="0">
            <a:noFill/>
            <a:prstDash val="solid"/>
          </a:ln>
        </ns0:spPr>
      </ns0:sp>
      <ns0:sp>
        <ns0:nvSpPr>
          <ns0:cNvPr id="4" name="">
            <a:extLst>
              <a:ext uri="{FF2B5EF4-FFF2-40B4-BE49-F238E27FC236}">
                <ns2:creationId id="{853C0E87-0F22-464A-BDEA-3ED8214D09A0}"/>
              </a:ext>
            </a:extLst>
          </ns0:cNvPr>
          <ns0:cNvSpPr>
            <a:spLocks noGrp="1"/>
          </ns0:cNvSpPr>
          <ns0:nvPr/>
        </ns0:nvSpPr>
        <ns0:spPr>
          <a:xfrm>
            <a:off x="571500" y="5286375"/>
            <a:ext cx="6858000" cy="26670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t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1200" b="0" lang="pt-BR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200" b="0" lang="pt-BR">
                <a:solidFill>
                  <a:srgbClr val="FFFFFF"/>
                </a:solidFill>
                <a:latin typeface="Arial"/>
                <a:ea typeface="Arial"/>
                <a:cs typeface="Arial"/>
              </a:rPr>
              <a:t>Dados de referência: jun-26 · fechamento em 30 de junho de 2026</a:t>
            </a:r>
          </a:p>
        </ns0:txBody>
      </ns0:sp>
      <ns0:sp>
        <ns0:nvSpPr>
          <ns0:cNvPr id="5" name="">
            <a:extLst>
              <a:ext uri="{FF2B5EF4-FFF2-40B4-BE49-F238E27FC236}">
                <ns2:creationId id="{50248A6F-5686-45C6-BC03-D9D00566BFEB}"/>
              </a:ext>
            </a:extLst>
          </ns0:cNvPr>
          <ns0:cNvSpPr>
            <a:spLocks noGrp="1"/>
          </ns0:cNvSpPr>
          <ns0:nvPr/>
        </ns0:nvSpPr>
        <ns0:spPr>
          <a:xfrm>
            <a:off x="571500" y="5610225"/>
            <a:ext cx="6858000" cy="26670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t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1200" b="0" lang="pt-BR">
                <a:solidFill>
                  <a:srgbClr val="E7E9EB"/>
                </a:solidFill>
                <a:latin typeface="Arial"/>
                <a:ea typeface="Arial"/>
                <a:cs typeface="Arial"/>
              </a:defRPr>
            </a:pPr>
            <a:r>
              <a:rPr sz="1200" b="0" lang="pt-BR">
                <a:solidFill>
                  <a:srgbClr val="E7E9EB"/>
                </a:solidFill>
                <a:latin typeface="Arial"/>
                <a:ea typeface="Arial"/>
                <a:cs typeface="Arial"/>
              </a:rPr>
              <a:t>Ofertas CVM e comparativo ANBIMA até 30 de junho de 2026</a:t>
            </a:r>
          </a:p>
        </ns0:txBody>
      </ns0:sp>
      <ns0:sp>
        <ns0:nvSpPr>
          <ns0:cNvPr id="6" name="">
            <a:extLst>
              <a:ext uri="{FF2B5EF4-FFF2-40B4-BE49-F238E27FC236}">
                <ns2:creationId id="{0A616B95-20DB-4CC0-A566-F98793F963CF}"/>
              </a:ext>
            </a:extLst>
          </ns0:cNvPr>
          <ns0:cNvSpPr>
            <a:spLocks noGrp="1"/>
          </ns0:cNvSpPr>
          <ns0:nvPr/>
        </ns0:nvSpPr>
        <ns0:spPr>
          <a:xfrm>
            <a:off x="571500" y="6257925"/>
            <a:ext cx="4762500" cy="2095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t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1000" b="1" lang="pt-BR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1000" b="1" lang="pt-BR">
                <a:solidFill>
                  <a:srgbClr val="EC7000"/>
                </a:solidFill>
                <a:latin typeface="Arial"/>
                <a:ea typeface="Arial"/>
                <a:cs typeface="Arial"/>
              </a:rPr>
              <a:t>Itaú BBA · Agosto de 2026</a:t>
            </a:r>
          </a:p>
        </ns0:txBody>
      </ns0:sp>
    </ns0:spTree>
    <ns0:extLst>
      <ns0:ext uri="{BB962C8B-B14F-4D97-AF65-F5344CB8AC3E}">
        <ns3:creationId val="1722804125"/>
      </ns0:ext>
    </ns0:extLst>
  </ns0:cSld>
</ns0:sld>
</file>

<file path=ppt/slides/slide2.xml><?xml version="1.0" encoding="utf-8"?>
<ns0:sld xmlns:a="http://schemas.openxmlformats.org/drawingml/2006/main" xmlns:c="http://schemas.openxmlformats.org/drawingml/2006/chart" xmlns:ns0="http://schemas.openxmlformats.org/presentationml/2006/main" xmlns:ns2="http://schemas.microsoft.com/office/drawing/2014/main" xmlns:ns4="http://schemas.openxmlformats.org/officeDocument/2006/relationships" xmlns:ns5="http://schemas.microsoft.com/office/powerpoint/2010/main">
  <ns0:cSld>
    <ns0:bg>
      <ns0:bgPr>
        <a:solidFill>
          <a:srgbClr val="FFFFFF"/>
        </a:solidFill>
      </ns0:bgPr>
    </ns0:bg>
    <ns0:spTree>
      <ns0:nvGrpSpPr>
        <ns0:cNvPr id="1" name=""/>
        <ns0:cNvGrpSpPr/>
        <ns0:nvPr/>
      </ns0:nvGrpSpPr>
      <ns0:grpSpPr>
        <a:xfrm/>
      </ns0:grpSpPr>
      <ns0:sp>
        <ns0:nvSpPr>
          <ns0:cNvPr id="18" name="">
            <a:extLst>
              <a:ext uri="{FF2B5EF4-FFF2-40B4-BE49-F238E27FC236}">
                <ns2:creationId id="{A4172240-DDA3-43B8-86C3-203D56637AF8}"/>
              </a:ext>
            </a:extLst>
          </ns0:cNvPr>
          <ns0:cNvSpPr>
            <a:spLocks noGrp="1"/>
          </ns0:cNvSpPr>
          <ns0:nvPr/>
        </ns0:nvSpPr>
        <ns0:spPr>
          <a:xfrm>
            <a:off x="571500" y="257175"/>
            <a:ext cx="11049000" cy="19050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0" tIns="0" rIns="0" bIns="0" anchor="t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1000" b="1" lang="pt-BR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1000" b="1" lang="pt-BR">
                <a:solidFill>
                  <a:srgbClr val="EC7000"/>
                </a:solidFill>
                <a:latin typeface="Arial"/>
                <a:ea typeface="Arial"/>
                <a:cs typeface="Arial"/>
              </a:rPr>
              <a:t>ESCALA DA INDÚSTRIA</a:t>
            </a:r>
          </a:p>
        </ns0:txBody>
      </ns0:sp>
      <ns0:sp>
        <ns0:nvSpPr>
          <ns0:cNvPr id="2" name="">
            <a:extLst>
              <a:ext uri="{FF2B5EF4-FFF2-40B4-BE49-F238E27FC236}">
                <ns2:creationId id="{C0D1A5B0-4069-4381-83B3-4F9403326268}"/>
              </a:ext>
            </a:extLst>
          </ns0:cNvPr>
          <ns0:cNvSpPr>
            <a:spLocks noGrp="1"/>
          </ns0:cNvSpPr>
          <ns0:nvPr/>
        </ns0:nvSpPr>
        <ns0:spPr>
          <a:xfrm>
            <a:off x="571500" y="504825"/>
            <a:ext cx="11049000" cy="466725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0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2100" b="1" lang="pt-BR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2100" b="1" lang="pt-BR">
                <a:solidFill>
                  <a:srgbClr val="151515"/>
                </a:solidFill>
                <a:latin typeface="Arial"/>
                <a:ea typeface="Arial"/>
                <a:cs typeface="Arial"/>
              </a:rPr>
              <a:t>FIDCs ex-FIC somam R$ 821,0 bi; o crédito privado ampliado totaliza R$ 13,780 tri</a:t>
            </a:r>
          </a:p>
        </ns0:txBody>
      </ns0:sp>
      <ns0:sp>
        <ns0:nvSpPr>
          <ns0:cNvPr id="3" name="">
            <a:extLst>
              <a:ext uri="{FF2B5EF4-FFF2-40B4-BE49-F238E27FC236}">
                <ns2:creationId id="{6117E9E1-461D-4D83-8A71-73D2E7F92CC6}"/>
              </a:ext>
            </a:extLst>
          </ns0:cNvPr>
          <ns0:cNvSpPr>
            <a:spLocks noGrp="1"/>
          </ns0:cNvSpPr>
          <ns0:nvPr/>
        </ns0:nvSpPr>
        <ns0:spPr>
          <a:xfrm>
            <a:off x="571500" y="1047750"/>
            <a:ext cx="11049000" cy="9525"/>
          </a:xfrm>
          <a:prstGeom prst="rect">
            <a:avLst/>
          </a:prstGeom>
          <a:solidFill>
            <a:srgbClr val="D7DADD"/>
          </a:solidFill>
          <a:ln w="0">
            <a:noFill/>
            <a:prstDash val="solid"/>
          </a:ln>
        </ns0:spPr>
      </ns0:sp>
      <ns0:sp>
        <ns0:nvSpPr>
          <ns0:cNvPr id="4" name="">
            <a:extLst>
              <a:ext uri="{FF2B5EF4-FFF2-40B4-BE49-F238E27FC236}">
                <ns2:creationId id="{812AB0C4-FF53-4460-ABC6-D815623E0DC6}"/>
              </a:ext>
            </a:extLst>
          </ns0:cNvPr>
          <ns0:cNvSpPr>
            <a:spLocks noGrp="1"/>
          </ns0:cNvSpPr>
          <ns0:nvPr/>
        </ns0:nvSpPr>
        <ns0:spPr>
          <a:xfrm>
            <a:off x="571500" y="6353175"/>
            <a:ext cx="11049000" cy="9525"/>
          </a:xfrm>
          <a:prstGeom prst="rect">
            <a:avLst/>
          </a:prstGeom>
          <a:solidFill>
            <a:srgbClr val="D7DADD"/>
          </a:solidFill>
          <a:ln w="0">
            <a:noFill/>
            <a:prstDash val="solid"/>
          </a:ln>
        </ns0:spPr>
      </ns0:sp>
      <ns0:sp>
        <ns0:nvSpPr>
          <ns0:cNvPr id="5" name="">
            <a:extLst>
              <a:ext uri="{FF2B5EF4-FFF2-40B4-BE49-F238E27FC236}">
                <ns2:creationId id="{2DE7D035-41D2-4992-AB34-5CD0CA245E8A}"/>
              </a:ext>
            </a:extLst>
          </ns0:cNvPr>
          <ns0:cNvSpPr>
            <a:spLocks noGrp="1"/>
          </ns0:cNvSpPr>
          <ns0:nvPr/>
        </ns0:nvSpPr>
        <ns0:spPr>
          <a:xfrm>
            <a:off x="571500" y="6419850"/>
            <a:ext cx="10001250" cy="1714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47625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rPr>
              <a:t>Fontes: CVM, Informe Mensal de FIDC (jun/26); BCB, SGS 28183–28192 (último mês comum: jun/26).</a:t>
            </a:r>
          </a:p>
        </ns0:txBody>
      </ns0:sp>
      <ns0:sp>
        <ns0:nvSpPr>
          <ns0:cNvPr id="6" name="">
            <a:extLst>
              <a:ext uri="{FF2B5EF4-FFF2-40B4-BE49-F238E27FC236}">
                <ns2:creationId id="{13521330-2A42-4D96-B622-0ED7F349472E}"/>
              </a:ext>
            </a:extLst>
          </ns0:cNvPr>
          <ns0:cNvSpPr>
            <a:spLocks noGrp="1"/>
          </ns0:cNvSpPr>
          <ns0:nvPr/>
        </ns0:nvSpPr>
        <ns0:spPr>
          <a:xfrm>
            <a:off x="11144250" y="6410325"/>
            <a:ext cx="476250" cy="1714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ctr">
            <a:normAutofit fontScale="100000"/>
          </a:bodyPr>
          <a:lstStyle/>
          <a:p>
            <a:pPr algn="r">
              <a:lnSpc>
                <a:spcPct val="100000"/>
              </a:lnSpc>
              <a:buNone/>
              <a:def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rPr>
              <a:t>2</a:t>
            </a:r>
          </a:p>
        </ns0:txBody>
      </ns0:sp>
      <ns0:sp>
        <ns0:nvSpPr>
          <ns0:cNvPr id="7" name="">
            <a:extLst>
              <a:ext uri="{FF2B5EF4-FFF2-40B4-BE49-F238E27FC236}">
                <ns2:creationId id="{8693E509-16FB-45E2-A9E9-10C83FE638A2}"/>
              </a:ext>
            </a:extLst>
          </ns0:cNvPr>
          <ns0:cNvSpPr>
            <a:spLocks noGrp="1"/>
          </ns0:cNvSpPr>
          <ns0:nvPr/>
        </ns0:nvSpPr>
        <ns0:spPr>
          <a:xfrm>
            <a:off x="571500" y="1266825"/>
            <a:ext cx="5191125" cy="22860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1125" b="1" lang="pt-BR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 lang="pt-BR">
                <a:solidFill>
                  <a:srgbClr val="30353A"/>
                </a:solidFill>
                <a:latin typeface="Arial"/>
                <a:ea typeface="Arial"/>
                <a:cs typeface="Arial"/>
              </a:rPr>
              <a:t>PL dos FIDCs ex-FIC · R$ bi</a:t>
            </a:r>
          </a:p>
        </ns0:txBody>
      </ns0:sp>
      <ns0:sp>
        <ns0:nvSpPr>
          <ns0:cNvPr id="8" name="">
            <a:extLst>
              <a:ext uri="{FF2B5EF4-FFF2-40B4-BE49-F238E27FC236}">
                <ns2:creationId id="{C03112D2-6AD3-437A-B403-C882A097CC4A}"/>
              </a:ext>
            </a:extLst>
          </ns0:cNvPr>
          <ns0:cNvSpPr>
            <a:spLocks noGrp="1"/>
          </ns0:cNvSpPr>
          <ns0:nvPr/>
        </ns0:nvSpPr>
        <ns0:spPr>
          <a:xfrm>
            <a:off x="571500" y="1533525"/>
            <a:ext cx="5191125" cy="9525"/>
          </a:xfrm>
          <a:prstGeom prst="rect">
            <a:avLst/>
          </a:prstGeom>
          <a:solidFill>
            <a:srgbClr val="D7DADD"/>
          </a:solidFill>
          <a:ln w="0">
            <a:noFill/>
            <a:prstDash val="solid"/>
          </a:ln>
        </ns0:spPr>
      </ns0:sp>
      <ns0:graphicFrame>
        <ns0:nvGraphicFramePr>
          <ns0:cNvPr id="26" name="Chart"/>
          <ns0:cNvGraphicFramePr/>
          <ns0:nvPr/>
        </ns0:nvGraphicFramePr>
        <ns0:xfrm>
          <a:off x="523875" y="1571625"/>
          <a:ext cx="5286375" cy="3143250"/>
        </ns0:xfrm>
        <a:graphic>
          <a:graphicData uri="http://schemas.openxmlformats.org/drawingml/2006/chart">
            <c:chart ns4:id="Rf7fb35d6675d4bf4"/>
          </a:graphicData>
        </a:graphic>
      </ns0:graphicFrame>
      <ns0:sp>
        <ns0:nvSpPr>
          <ns0:cNvPr id="10" name="">
            <a:extLst>
              <a:ext uri="{FF2B5EF4-FFF2-40B4-BE49-F238E27FC236}">
                <ns2:creationId id="{354F3100-2EFD-420E-B36B-09187F53E75A}"/>
              </a:ext>
            </a:extLst>
          </ns0:cNvPr>
          <ns0:cNvSpPr>
            <a:spLocks noGrp="1"/>
          </ns0:cNvSpPr>
          <ns0:nvPr/>
        </ns0:nvSpPr>
        <ns0:spPr>
          <a:xfrm>
            <a:off x="571500" y="5067300"/>
            <a:ext cx="5238750" cy="2857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ctr">
            <a:normAutofit fontScale="93750"/>
          </a:bodyPr>
          <a:lstStyle/>
          <a:p>
            <a:pPr algn="ctr">
              <a:lnSpc>
                <a:spcPct val="100000"/>
              </a:lnSpc>
              <a:buNone/>
              <a:defRPr sz="1000" b="1" lang="pt-BR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000" b="1" lang="pt-BR">
                <a:solidFill>
                  <a:srgbClr val="30353A"/>
                </a:solidFill>
                <a:latin typeface="Arial"/>
                <a:ea typeface="Arial"/>
                <a:cs typeface="Arial"/>
              </a:rPr>
              <a:t>CAGR 2015–18 +16,7%   ·   2020/19 -9,0%   ·   2022/21 +22,1%   ·   2023/22 +25,1%   ·   2024/23 +44,0%   ·   2025/24 +18,5%   ·   2026 YTD +6,4%</a:t>
            </a:r>
          </a:p>
        </ns0:txBody>
      </ns0:sp>
      <ns0:sp>
        <ns0:nvSpPr>
          <ns0:cNvPr id="11" name="">
            <a:extLst>
              <a:ext uri="{FF2B5EF4-FFF2-40B4-BE49-F238E27FC236}">
                <ns2:creationId id="{6D639267-1A74-4763-8B9B-D97F9415293F}"/>
              </a:ext>
            </a:extLst>
          </ns0:cNvPr>
          <ns0:cNvSpPr>
            <a:spLocks noGrp="1"/>
          </ns0:cNvSpPr>
          <ns0:nvPr/>
        </ns0:nvSpPr>
        <ns0:spPr>
          <a:xfrm>
            <a:off x="6143625" y="1266825"/>
            <a:ext cx="5476875" cy="22860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1125" b="1" lang="pt-BR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 lang="pt-BR">
                <a:solidFill>
                  <a:srgbClr val="30353A"/>
                </a:solidFill>
                <a:latin typeface="Arial"/>
                <a:ea typeface="Arial"/>
                <a:cs typeface="Arial"/>
              </a:rPr>
              <a:t>Carteira de crédito privada ampliada · R$ bi</a:t>
            </a:r>
          </a:p>
        </ns0:txBody>
      </ns0:sp>
      <ns0:sp>
        <ns0:nvSpPr>
          <ns0:cNvPr id="12" name="">
            <a:extLst>
              <a:ext uri="{FF2B5EF4-FFF2-40B4-BE49-F238E27FC236}">
                <ns2:creationId id="{F8C28C16-7BA3-4D10-9FAD-B90796D40555}"/>
              </a:ext>
            </a:extLst>
          </ns0:cNvPr>
          <ns0:cNvSpPr>
            <a:spLocks noGrp="1"/>
          </ns0:cNvSpPr>
          <ns0:nvPr/>
        </ns0:nvSpPr>
        <ns0:spPr>
          <a:xfrm>
            <a:off x="6143625" y="1533525"/>
            <a:ext cx="5476875" cy="9525"/>
          </a:xfrm>
          <a:prstGeom prst="rect">
            <a:avLst/>
          </a:prstGeom>
          <a:solidFill>
            <a:srgbClr val="D7DADD"/>
          </a:solidFill>
          <a:ln w="0">
            <a:noFill/>
            <a:prstDash val="solid"/>
          </a:ln>
        </ns0:spPr>
      </ns0:sp>
      <ns0:graphicFrame>
        <ns0:nvGraphicFramePr>
          <ns0:cNvPr id="30" name="Chart"/>
          <ns0:cNvGraphicFramePr/>
          <ns0:nvPr/>
        </ns0:nvGraphicFramePr>
        <ns0:xfrm>
          <a:off x="6048375" y="1571625"/>
          <a:ext cx="5572125" cy="3381375"/>
        </ns0:xfrm>
        <a:graphic>
          <a:graphicData uri="http://schemas.openxmlformats.org/drawingml/2006/chart">
            <c:chart ns4:id="Rcf28984a8fa54463"/>
          </a:graphicData>
        </a:graphic>
      </ns0:graphicFrame>
      <ns0:graphicFrame>
        <ns0:nvGraphicFramePr>
          <ns0:cNvPr id="31" name="Chart"/>
          <ns0:cNvGraphicFramePr/>
          <ns0:nvPr/>
        </ns0:nvGraphicFramePr>
        <ns0:xfrm>
          <a:off x="6096000" y="4914900"/>
          <a:ext cx="5524500" cy="190500"/>
        </ns0:xfrm>
        <a:graphic>
          <a:graphicData uri="http://schemas.openxmlformats.org/drawingml/2006/chart">
            <c:chart ns4:id="R9bbd8d63d1f14a39"/>
          </a:graphicData>
        </a:graphic>
      </ns0:graphicFrame>
      <ns0:sp>
        <ns0:nvSpPr>
          <ns0:cNvPr id="15" name="">
            <a:extLst>
              <a:ext uri="{FF2B5EF4-FFF2-40B4-BE49-F238E27FC236}">
                <ns2:creationId id="{A5CE4A6C-9654-431C-B83D-E24ED324EF97}"/>
              </a:ext>
            </a:extLst>
          </ns0:cNvPr>
          <ns0:cNvSpPr>
            <a:spLocks noGrp="1"/>
          </ns0:cNvSpPr>
          <ns0:nvPr/>
        </ns0:nvSpPr>
        <ns0:spPr>
          <a:xfrm>
            <a:off x="6096000" y="5153025"/>
            <a:ext cx="5524500" cy="3238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ctr">
            <a:normAutofit fontScale="100000"/>
          </a:bodyPr>
          <a:lstStyle/>
          <a:p>
            <a:pPr algn="ctr">
              <a:lnSpc>
                <a:spcPct val="100000"/>
              </a:lnSpc>
              <a:buNone/>
              <a:defRPr sz="1000" b="1" lang="pt-BR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000" b="1" lang="pt-BR">
                <a:solidFill>
                  <a:srgbClr val="30353A"/>
                </a:solidFill>
                <a:latin typeface="Arial"/>
                <a:ea typeface="Arial"/>
                <a:cs typeface="Arial"/>
              </a:rPr>
              <a:t>CAGR 2015–18 +1,6%   ·   2020/19 +16,0%   ·   2022/21 +10,9%   ·   2023/22 +7,6%   ·   2024/23 +17,9%   ·   2025/24 +8,0%   ·   2026 YTD +3,1%</a:t>
            </a:r>
          </a:p>
        </ns0:txBody>
      </ns0:sp>
      <ns0:sp>
        <ns0:nvSpPr>
          <ns0:cNvPr id="16" name="">
            <a:extLst>
              <a:ext uri="{FF2B5EF4-FFF2-40B4-BE49-F238E27FC236}">
                <ns2:creationId id="{B562B59D-26C9-41FC-BCEF-8EA9B678F754}"/>
              </a:ext>
            </a:extLst>
          </ns0:cNvPr>
          <ns0:cNvSpPr>
            <a:spLocks noGrp="1"/>
          </ns0:cNvSpPr>
          <ns0:nvPr/>
        </ns0:nvSpPr>
        <ns0:spPr>
          <a:xfrm>
            <a:off x="6096000" y="5543550"/>
            <a:ext cx="5524500" cy="4000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ctr">
            <a:normAutofit fontScale="99956"/>
          </a:bodyPr>
          <a:lstStyle/>
          <a:p>
            <a:pPr algn="ctr">
              <a:lnSpc>
                <a:spcPct val="100000"/>
              </a:lnSpc>
              <a:buNone/>
              <a:def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rPr>
              <a:t>Jun/26: total privado R$ 13,780 tri; securitização R$ 1.174 bi; carteira FIDC R$ 677 bi. O total BCB de R$ 21,681 tri inclui R$ 7.901 bi de títulos públicos e permanece no export para reconciliação.</a:t>
            </a:r>
          </a:p>
        </ns0:txBody>
      </ns0:sp>
      <ns0:sp>
        <ns0:nvSpPr>
          <ns0:cNvPr id="17" name="">
            <a:extLst>
              <a:ext uri="{FF2B5EF4-FFF2-40B4-BE49-F238E27FC236}">
                <ns2:creationId id="{91895FC7-3EC2-4156-B7C6-AF203C2FE276}"/>
              </a:ext>
            </a:extLst>
          </ns0:cNvPr>
          <ns0:cNvSpPr>
            <a:spLocks noGrp="1"/>
          </ns0:cNvSpPr>
          <ns0:nvPr/>
        </ns0:nvSpPr>
        <ns0:spPr>
          <a:xfrm>
            <a:off x="571500" y="6019800"/>
            <a:ext cx="11049000" cy="2095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0" tIns="0" rIns="0" bIns="0" anchor="ctr">
            <a:normAutofit fontScale="83276"/>
          </a:bodyPr>
          <a:lstStyle/>
          <a:p>
            <a:pPr algn="ctr">
              <a:lnSpc>
                <a:spcPct val="100000"/>
              </a:lnSpc>
              <a:buNone/>
              <a:def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rPr>
              <a:t>Fonte: Banco Central do Brasil. Série de carteira de crédito ampliada, excluídos títulos públicos. Securitizações abertas entre FIDCs e demais securitizações (CRIs e CRAs). PL direto e carteira privada têm perímetros contábeis distintos.</a:t>
            </a:r>
          </a:p>
        </ns0:txBody>
      </ns0:sp>
    </ns0:spTree>
    <ns0:extLst>
      <ns0:ext uri="{BB962C8B-B14F-4D97-AF65-F5344CB8AC3E}">
        <ns5:creationId val="1966689058"/>
      </ns0:ext>
    </ns0:extLst>
  </ns0:cSld>
</ns0:sld>
</file>

<file path=ppt/slides/slide3.xml><?xml version="1.0" encoding="utf-8"?>
<ns0:sld xmlns:a="http://schemas.openxmlformats.org/drawingml/2006/main" xmlns:c="http://schemas.openxmlformats.org/drawingml/2006/chart" xmlns:ns0="http://schemas.openxmlformats.org/presentationml/2006/main" xmlns:ns2="http://schemas.microsoft.com/office/drawing/2014/main" xmlns:ns4="http://schemas.openxmlformats.org/officeDocument/2006/relationships" xmlns:ns5="http://schemas.microsoft.com/office/powerpoint/2010/main">
  <ns0:cSld>
    <ns0:bg>
      <ns0:bgPr>
        <a:solidFill>
          <a:srgbClr val="FFFFFF"/>
        </a:solidFill>
      </ns0:bgPr>
    </ns0:bg>
    <ns0:spTree>
      <ns0:nvGrpSpPr>
        <ns0:cNvPr id="1" name=""/>
        <ns0:cNvGrpSpPr/>
        <ns0:nvPr/>
      </ns0:nvGrpSpPr>
      <ns0:grpSpPr>
        <a:xfrm/>
      </ns0:grpSpPr>
      <ns0:sp>
        <ns0:nvSpPr>
          <ns0:cNvPr id="16" name="">
            <a:extLst>
              <a:ext uri="{FF2B5EF4-FFF2-40B4-BE49-F238E27FC236}">
                <ns2:creationId id="{DED333F4-9B51-45DC-9DC6-48D9DC072F4B}"/>
              </a:ext>
            </a:extLst>
          </ns0:cNvPr>
          <ns0:cNvSpPr>
            <a:spLocks noGrp="1"/>
          </ns0:cNvSpPr>
          <ns0:nvPr/>
        </ns0:nvSpPr>
        <ns0:spPr>
          <a:xfrm>
            <a:off x="571500" y="257175"/>
            <a:ext cx="11049000" cy="409575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0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2100" b="1" lang="pt-BR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2100" b="1" lang="pt-BR">
                <a:solidFill>
                  <a:srgbClr val="151515"/>
                </a:solidFill>
                <a:latin typeface="Arial"/>
                <a:ea typeface="Arial"/>
                <a:cs typeface="Arial"/>
              </a:rPr>
              <a:t>Emissões | FIDCs seguem ganhando escala nas emissões</a:t>
            </a:r>
          </a:p>
        </ns0:txBody>
      </ns0:sp>
      <ns0:sp>
        <ns0:nvSpPr>
          <ns0:cNvPr id="2" name="">
            <a:extLst>
              <a:ext uri="{FF2B5EF4-FFF2-40B4-BE49-F238E27FC236}">
                <ns2:creationId id="{06991225-85F8-47A5-938A-0D0B9CF38FDD}"/>
              </a:ext>
            </a:extLst>
          </ns0:cNvPr>
          <ns0:cNvSpPr>
            <a:spLocks noGrp="1"/>
          </ns0:cNvSpPr>
          <ns0:nvPr/>
        </ns0:nvSpPr>
        <ns0:spPr>
          <a:xfrm>
            <a:off x="571500" y="723900"/>
            <a:ext cx="11049000" cy="238125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0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1050" b="0" lang="pt-BR">
                <a:solidFill>
                  <a:srgbClr val="73787D"/>
                </a:solidFill>
                <a:latin typeface="Arial"/>
                <a:ea typeface="Arial"/>
                <a:cs typeface="Arial"/>
              </a:defRPr>
            </a:pPr>
            <a:r>
              <a:rPr sz="1050" b="0" lang="pt-BR">
                <a:solidFill>
                  <a:srgbClr val="73787D"/>
                </a:solidFill>
                <a:latin typeface="Arial"/>
                <a:ea typeface="Arial"/>
                <a:cs typeface="Arial"/>
              </a:rPr>
              <a:t>No 1S26, FIDCs +14,6%; demais instrumentos −7,8%</a:t>
            </a:r>
          </a:p>
        </ns0:txBody>
      </ns0:sp>
      <ns0:sp>
        <ns0:nvSpPr>
          <ns0:cNvPr id="3" name="">
            <a:extLst>
              <a:ext uri="{FF2B5EF4-FFF2-40B4-BE49-F238E27FC236}">
                <ns2:creationId id="{9B5EC2D7-5E89-40EE-A050-038876EC29DD}"/>
              </a:ext>
            </a:extLst>
          </ns0:cNvPr>
          <ns0:cNvSpPr>
            <a:spLocks noGrp="1"/>
          </ns0:cNvSpPr>
          <ns0:nvPr/>
        </ns0:nvSpPr>
        <ns0:spPr>
          <a:xfrm>
            <a:off x="571500" y="1047750"/>
            <a:ext cx="11049000" cy="9525"/>
          </a:xfrm>
          <a:prstGeom prst="rect">
            <a:avLst/>
          </a:prstGeom>
          <a:solidFill>
            <a:srgbClr val="D7DADD"/>
          </a:solidFill>
          <a:ln w="0">
            <a:noFill/>
            <a:prstDash val="solid"/>
          </a:ln>
        </ns0:spPr>
      </ns0:sp>
      <ns0:sp>
        <ns0:nvSpPr>
          <ns0:cNvPr id="4" name="">
            <a:extLst>
              <a:ext uri="{FF2B5EF4-FFF2-40B4-BE49-F238E27FC236}">
                <ns2:creationId id="{06130B36-6420-46E1-81FD-DFFD69B9F241}"/>
              </a:ext>
            </a:extLst>
          </ns0:cNvPr>
          <ns0:cNvSpPr>
            <a:spLocks noGrp="1"/>
          </ns0:cNvSpPr>
          <ns0:nvPr/>
        </ns0:nvSpPr>
        <ns0:spPr>
          <a:xfrm>
            <a:off x="571500" y="6353175"/>
            <a:ext cx="11049000" cy="9525"/>
          </a:xfrm>
          <a:prstGeom prst="rect">
            <a:avLst/>
          </a:prstGeom>
          <a:solidFill>
            <a:srgbClr val="D7DADD"/>
          </a:solidFill>
          <a:ln w="0">
            <a:noFill/>
            <a:prstDash val="solid"/>
          </a:ln>
        </ns0:spPr>
      </ns0:sp>
      <ns0:sp>
        <ns0:nvSpPr>
          <ns0:cNvPr id="5" name="">
            <a:extLst>
              <a:ext uri="{FF2B5EF4-FFF2-40B4-BE49-F238E27FC236}">
                <ns2:creationId id="{6550EF51-102E-4583-8552-8BF70FB9E573}"/>
              </a:ext>
            </a:extLst>
          </ns0:cNvPr>
          <ns0:cNvSpPr>
            <a:spLocks noGrp="1"/>
          </ns0:cNvSpPr>
          <ns0:nvPr/>
        </ns0:nvSpPr>
        <ns0:spPr>
          <a:xfrm>
            <a:off x="571500" y="6419850"/>
            <a:ext cx="10001250" cy="1714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47625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rPr>
              <a:t>CVM/SRE: R$ 65,5 bi registrado primário; ANBIMA: R$ 53,1 bi encerrado. Perímetros distintos; jan–jun/26, snapshot jun/26.</a:t>
            </a:r>
          </a:p>
        </ns0:txBody>
      </ns0:sp>
      <ns0:sp>
        <ns0:nvSpPr>
          <ns0:cNvPr id="6" name="">
            <a:extLst>
              <a:ext uri="{FF2B5EF4-FFF2-40B4-BE49-F238E27FC236}">
                <ns2:creationId id="{57A2E035-85F4-43DC-825F-F332793761AB}"/>
              </a:ext>
            </a:extLst>
          </ns0:cNvPr>
          <ns0:cNvSpPr>
            <a:spLocks noGrp="1"/>
          </ns0:cNvSpPr>
          <ns0:nvPr/>
        </ns0:nvSpPr>
        <ns0:spPr>
          <a:xfrm>
            <a:off x="11144250" y="6410325"/>
            <a:ext cx="476250" cy="1714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ctr">
            <a:normAutofit fontScale="100000"/>
          </a:bodyPr>
          <a:lstStyle/>
          <a:p>
            <a:pPr algn="r">
              <a:lnSpc>
                <a:spcPct val="100000"/>
              </a:lnSpc>
              <a:buNone/>
              <a:def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rPr>
              <a:t>3</a:t>
            </a:r>
          </a:p>
        </ns0:txBody>
      </ns0:sp>
      <ns0:sp>
        <ns0:nvSpPr>
          <ns0:cNvPr id="7" name="">
            <a:extLst>
              <a:ext uri="{FF2B5EF4-FFF2-40B4-BE49-F238E27FC236}">
                <ns2:creationId id="{A02F3CAA-F66B-46E7-88FB-9DD5291539DB}"/>
              </a:ext>
            </a:extLst>
          </ns0:cNvPr>
          <ns0:cNvSpPr>
            <a:spLocks noGrp="1"/>
          </ns0:cNvSpPr>
          <ns0:nvPr/>
        </ns0:nvSpPr>
        <ns0:spPr>
          <a:xfrm>
            <a:off x="571500" y="1257300"/>
            <a:ext cx="5238750" cy="22860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1125" b="1" lang="pt-BR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 lang="pt-BR">
                <a:solidFill>
                  <a:srgbClr val="30353A"/>
                </a:solidFill>
                <a:latin typeface="Arial"/>
                <a:ea typeface="Arial"/>
                <a:cs typeface="Arial"/>
              </a:rPr>
              <a:t>FIDCs e demais instrumentos elegíveis · R$ bi</a:t>
            </a:r>
          </a:p>
        </ns0:txBody>
      </ns0:sp>
      <ns0:sp>
        <ns0:nvSpPr>
          <ns0:cNvPr id="8" name="">
            <a:extLst>
              <a:ext uri="{FF2B5EF4-FFF2-40B4-BE49-F238E27FC236}">
                <ns2:creationId id="{5B8E44D7-EE2C-4575-B870-6298EAC221CF}"/>
              </a:ext>
            </a:extLst>
          </ns0:cNvPr>
          <ns0:cNvSpPr>
            <a:spLocks noGrp="1"/>
          </ns0:cNvSpPr>
          <ns0:nvPr/>
        </ns0:nvSpPr>
        <ns0:spPr>
          <a:xfrm>
            <a:off x="571500" y="1524000"/>
            <a:ext cx="5238750" cy="9525"/>
          </a:xfrm>
          <a:prstGeom prst="rect">
            <a:avLst/>
          </a:prstGeom>
          <a:solidFill>
            <a:srgbClr val="D7DADD"/>
          </a:solidFill>
          <a:ln w="0">
            <a:noFill/>
            <a:prstDash val="solid"/>
          </a:ln>
        </ns0:spPr>
      </ns0:sp>
      <ns0:graphicFrame>
        <ns0:nvGraphicFramePr>
          <ns0:cNvPr id="24" name="Chart"/>
          <ns0:cNvGraphicFramePr/>
          <ns0:nvPr/>
        </ns0:nvGraphicFramePr>
        <ns0:xfrm>
          <a:off x="571500" y="1524000"/>
          <a:ext cx="5238750" cy="2333625"/>
        </ns0:xfrm>
        <a:graphic>
          <a:graphicData uri="http://schemas.openxmlformats.org/drawingml/2006/chart">
            <c:chart ns4:id="Rb596d219b9e94bc6"/>
          </a:graphicData>
        </a:graphic>
      </ns0:graphicFrame>
      <ns0:sp>
        <ns0:nvSpPr>
          <ns0:cNvPr id="10" name="">
            <a:extLst>
              <a:ext uri="{FF2B5EF4-FFF2-40B4-BE49-F238E27FC236}">
                <ns2:creationId id="{CC496229-2245-4594-81AB-D72E8F547993}"/>
              </a:ext>
            </a:extLst>
          </ns0:cNvPr>
          <ns0:cNvSpPr>
            <a:spLocks noGrp="1"/>
          </ns0:cNvSpPr>
          <ns0:nvPr/>
        </ns0:nvSpPr>
        <ns0:spPr>
          <a:xfrm>
            <a:off x="6381750" y="1257300"/>
            <a:ext cx="5238750" cy="22860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1125" b="1" lang="pt-BR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 lang="pt-BR">
                <a:solidFill>
                  <a:srgbClr val="30353A"/>
                </a:solidFill>
                <a:latin typeface="Arial"/>
                <a:ea typeface="Arial"/>
                <a:cs typeface="Arial"/>
              </a:rPr>
              <a:t>Valor encerrado por instrumento · R$ bi</a:t>
            </a:r>
          </a:p>
        </ns0:txBody>
      </ns0:sp>
      <ns0:sp>
        <ns0:nvSpPr>
          <ns0:cNvPr id="11" name="">
            <a:extLst>
              <a:ext uri="{FF2B5EF4-FFF2-40B4-BE49-F238E27FC236}">
                <ns2:creationId id="{EB1CA7DE-7E05-45BF-99A8-5E931C9269B6}"/>
              </a:ext>
            </a:extLst>
          </ns0:cNvPr>
          <ns0:cNvSpPr>
            <a:spLocks noGrp="1"/>
          </ns0:cNvSpPr>
          <ns0:nvPr/>
        </ns0:nvSpPr>
        <ns0:spPr>
          <a:xfrm>
            <a:off x="6381750" y="1524000"/>
            <a:ext cx="5238750" cy="9525"/>
          </a:xfrm>
          <a:prstGeom prst="rect">
            <a:avLst/>
          </a:prstGeom>
          <a:solidFill>
            <a:srgbClr val="D7DADD"/>
          </a:solidFill>
          <a:ln w="0">
            <a:noFill/>
            <a:prstDash val="solid"/>
          </a:ln>
        </ns0:spPr>
      </ns0:sp>
      <ns0:graphicFrame>
        <ns0:nvGraphicFramePr>
          <ns0:cNvPr id="27" name="Chart"/>
          <ns0:cNvGraphicFramePr/>
          <ns0:nvPr/>
        </ns0:nvGraphicFramePr>
        <ns0:xfrm>
          <a:off x="6381750" y="1524000"/>
          <a:ext cx="5238750" cy="2333625"/>
        </ns0:xfrm>
        <a:graphic>
          <a:graphicData uri="http://schemas.openxmlformats.org/drawingml/2006/chart">
            <c:chart ns4:id="R59da0429267e42a8"/>
          </a:graphicData>
        </a:graphic>
      </ns0:graphicFrame>
      <ns0:sp>
        <ns0:nvSpPr>
          <ns0:cNvPr id="13" name="">
            <a:extLst>
              <a:ext uri="{FF2B5EF4-FFF2-40B4-BE49-F238E27FC236}">
                <ns2:creationId id="{A031C354-78A6-4228-9C24-CFA9DDE32BC8}"/>
              </a:ext>
            </a:extLst>
          </ns0:cNvPr>
          <ns0:cNvSpPr>
            <a:spLocks noGrp="1"/>
          </ns0:cNvSpPr>
          <ns0:nvPr/>
        </ns0:nvSpPr>
        <ns0:spPr>
          <a:xfrm>
            <a:off x="2857500" y="4048125"/>
            <a:ext cx="6477000" cy="19050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1125" b="1" lang="pt-BR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 lang="pt-BR">
                <a:solidFill>
                  <a:srgbClr val="30353A"/>
                </a:solidFill>
                <a:latin typeface="Arial"/>
                <a:ea typeface="Arial"/>
                <a:cs typeface="Arial"/>
              </a:rPr>
              <a:t>Crescimento por instrumento</a:t>
            </a:r>
          </a:p>
        </ns0:txBody>
      </ns0:sp>
      <ns0:sp>
        <ns0:nvSpPr>
          <ns0:cNvPr id="14" name="">
            <a:extLst>
              <a:ext uri="{FF2B5EF4-FFF2-40B4-BE49-F238E27FC236}">
                <ns2:creationId id="{6B669D05-BC7F-4AE0-9E64-949DE8A3A053}"/>
              </a:ext>
            </a:extLst>
          </ns0:cNvPr>
          <ns0:cNvSpPr>
            <a:spLocks noGrp="1"/>
          </ns0:cNvSpPr>
          <ns0:nvPr/>
        </ns0:nvSpPr>
        <ns0:spPr>
          <a:xfrm>
            <a:off x="2857500" y="4276725"/>
            <a:ext cx="6477000" cy="9525"/>
          </a:xfrm>
          <a:prstGeom prst="rect">
            <a:avLst/>
          </a:prstGeom>
          <a:solidFill>
            <a:srgbClr val="D7DADD"/>
          </a:solidFill>
          <a:ln w="0">
            <a:noFill/>
            <a:prstDash val="solid"/>
          </a:ln>
        </ns0:spPr>
      </ns0:sp>
      <ns0:graphicFrame>
        <ns0:nvGraphicFramePr>
          <ns0:cNvPr id="30" name=""/>
          <ns0:cNvGraphicFramePr/>
          <ns0:nvPr/>
        </ns0:nvGraphicFramePr>
        <ns0:xfrm>
          <a:off x="2857500" y="4286250"/>
          <a:ext cx="6477000" cy="1743075"/>
        </ns0:xfrm>
        <a:graphic>
          <a:graphicData uri="http://schemas.openxmlformats.org/drawingml/2006/table">
            <a:tbl>
              <a:tblPr firstRow="0" firstCol="0" lastRow="0" lastCol="0" bandRow="0" bandCol="0"/>
              <a:tblGrid>
                <a:gridCol w="3429000"/>
                <a:gridCol w="1524000"/>
                <a:gridCol w="1524000"/>
              </a:tblGrid>
              <a:tr h="200025"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300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Emissões por instrumento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300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2025 YoY %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300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1S26 YTD YoY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</a:tr>
              <a:tr h="184547"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b="1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FIDC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b="1" lang="pt-BR">
                          <a:solidFill>
                            <a:srgbClr val="007A3D"/>
                          </a:solidFill>
                          <a:latin typeface="Arial"/>
                          <a:ea typeface="Arial"/>
                          <a:cs typeface="Arial"/>
                        </a:rPr>
                        <a:t>+22,5%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b="1" lang="pt-BR">
                          <a:solidFill>
                            <a:srgbClr val="007A3D"/>
                          </a:solidFill>
                          <a:latin typeface="Arial"/>
                          <a:ea typeface="Arial"/>
                          <a:cs typeface="Arial"/>
                        </a:rPr>
                        <a:t>+14,6%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</a:tr>
              <a:tr h="184547"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b="1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Demais Instr.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+4,4%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b="1" lang="pt-BR">
                          <a:solidFill>
                            <a:srgbClr val="7A1F3D"/>
                          </a:solidFill>
                          <a:latin typeface="Arial"/>
                          <a:ea typeface="Arial"/>
                          <a:cs typeface="Arial"/>
                        </a:rPr>
                        <a:t>-7,8%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</a:tr>
              <a:tr h="184547"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Debêntures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-4,1%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-21,8%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  <a:tr h="184547"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CRI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-5,8%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-18,4%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  <a:tr h="184547"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Notas comerciais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+17,1%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-7,8%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  <a:tr h="184547"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CRA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+12,8%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b="1" lang="pt-BR">
                          <a:solidFill>
                            <a:srgbClr val="7A1F3D"/>
                          </a:solidFill>
                          <a:latin typeface="Arial"/>
                          <a:ea typeface="Arial"/>
                          <a:cs typeface="Arial"/>
                        </a:rPr>
                        <a:t>-44,5%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</a:tbl>
          </a:graphicData>
        </a:graphic>
      </ns0:graphicFrame>
    </ns0:spTree>
    <ns0:extLst>
      <ns0:ext uri="{BB962C8B-B14F-4D97-AF65-F5344CB8AC3E}">
        <ns5:creationId val="1810693104"/>
      </ns0:ext>
    </ns0:extLst>
  </ns0:cSld>
</ns0:sld>
</file>

<file path=ppt/slides/slide4.xml><?xml version="1.0" encoding="utf-8"?>
<ns0:sld xmlns:a="http://schemas.openxmlformats.org/drawingml/2006/main" xmlns:c="http://schemas.openxmlformats.org/drawingml/2006/chart" xmlns:ns0="http://schemas.openxmlformats.org/presentationml/2006/main" xmlns:ns2="http://schemas.microsoft.com/office/drawing/2014/main" xmlns:ns4="http://schemas.openxmlformats.org/officeDocument/2006/relationships" xmlns:ns5="http://schemas.microsoft.com/office/powerpoint/2010/main">
  <ns0:cSld>
    <ns0:bg>
      <ns0:bgPr>
        <a:solidFill>
          <a:srgbClr val="FFFFFF"/>
        </a:solidFill>
      </ns0:bgPr>
    </ns0:bg>
    <ns0:spTree>
      <ns0:nvGrpSpPr>
        <ns0:cNvPr id="1" name=""/>
        <ns0:cNvGrpSpPr/>
        <ns0:nvPr/>
      </ns0:nvGrpSpPr>
      <ns0:grpSpPr>
        <a:xfrm/>
      </ns0:grpSpPr>
      <ns0:sp>
        <ns0:nvSpPr>
          <ns0:cNvPr id="33" name="">
            <a:extLst>
              <a:ext uri="{FF2B5EF4-FFF2-40B4-BE49-F238E27FC236}">
                <ns2:creationId id="{9061E9AB-3AAB-4D60-A962-0359578B5CDB}"/>
              </a:ext>
            </a:extLst>
          </ns0:cNvPr>
          <ns0:cNvSpPr>
            <a:spLocks noGrp="1"/>
          </ns0:cNvSpPr>
          <ns0:nvPr/>
        </ns0:nvSpPr>
        <ns0:spPr>
          <a:xfrm>
            <a:off x="571500" y="257175"/>
            <a:ext cx="11049000" cy="19050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0" tIns="0" rIns="0" bIns="0" anchor="t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1000" b="1" lang="pt-BR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1000" b="1" lang="pt-BR">
                <a:solidFill>
                  <a:srgbClr val="EC7000"/>
                </a:solidFill>
                <a:latin typeface="Arial"/>
                <a:ea typeface="Arial"/>
                <a:cs typeface="Arial"/>
              </a:rPr>
              <a:t>SALDO E TIPOS DE FIDCs</a:t>
            </a:r>
          </a:p>
        </ns0:txBody>
      </ns0:sp>
      <ns0:sp>
        <ns0:nvSpPr>
          <ns0:cNvPr id="2" name="">
            <a:extLst>
              <a:ext uri="{FF2B5EF4-FFF2-40B4-BE49-F238E27FC236}">
                <ns2:creationId id="{541D8600-051A-44EB-A9B1-A9516BD22D97}"/>
              </a:ext>
            </a:extLst>
          </ns0:cNvPr>
          <ns0:cNvSpPr>
            <a:spLocks noGrp="1"/>
          </ns0:cNvSpPr>
          <ns0:nvPr/>
        </ns0:nvSpPr>
        <ns0:spPr>
          <a:xfrm>
            <a:off x="571500" y="504825"/>
            <a:ext cx="11049000" cy="466725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0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2100" b="1" lang="pt-BR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2100" b="1" lang="pt-BR">
                <a:solidFill>
                  <a:srgbClr val="151515"/>
                </a:solidFill>
                <a:latin typeface="Arial"/>
                <a:ea typeface="Arial"/>
                <a:cs typeface="Arial"/>
              </a:rPr>
              <a:t>Saldo e Tipos de FIDCs | Financeiros dominam saldo e novas emissões</a:t>
            </a:r>
          </a:p>
        </ns0:txBody>
      </ns0:sp>
      <ns0:sp>
        <ns0:nvSpPr>
          <ns0:cNvPr id="3" name="">
            <a:extLst>
              <a:ext uri="{FF2B5EF4-FFF2-40B4-BE49-F238E27FC236}">
                <ns2:creationId id="{692B04F4-6FA2-421A-9C8A-6868027C755F}"/>
              </a:ext>
            </a:extLst>
          </ns0:cNvPr>
          <ns0:cNvSpPr>
            <a:spLocks noGrp="1"/>
          </ns0:cNvSpPr>
          <ns0:nvPr/>
        </ns0:nvSpPr>
        <ns0:spPr>
          <a:xfrm>
            <a:off x="571500" y="1047750"/>
            <a:ext cx="11049000" cy="9525"/>
          </a:xfrm>
          <a:prstGeom prst="rect">
            <a:avLst/>
          </a:prstGeom>
          <a:solidFill>
            <a:srgbClr val="D7DADD"/>
          </a:solidFill>
          <a:ln w="0">
            <a:noFill/>
            <a:prstDash val="solid"/>
          </a:ln>
        </ns0:spPr>
      </ns0:sp>
      <ns0:sp>
        <ns0:nvSpPr>
          <ns0:cNvPr id="4" name="">
            <a:extLst>
              <a:ext uri="{FF2B5EF4-FFF2-40B4-BE49-F238E27FC236}">
                <ns2:creationId id="{48063DC9-A567-4D7D-8C16-93DFA0A16045}"/>
              </a:ext>
            </a:extLst>
          </ns0:cNvPr>
          <ns0:cNvSpPr>
            <a:spLocks noGrp="1"/>
          </ns0:cNvSpPr>
          <ns0:nvPr/>
        </ns0:nvSpPr>
        <ns0:spPr>
          <a:xfrm>
            <a:off x="571500" y="6353175"/>
            <a:ext cx="11049000" cy="9525"/>
          </a:xfrm>
          <a:prstGeom prst="rect">
            <a:avLst/>
          </a:prstGeom>
          <a:solidFill>
            <a:srgbClr val="D7DADD"/>
          </a:solidFill>
          <a:ln w="0">
            <a:noFill/>
            <a:prstDash val="solid"/>
          </a:ln>
        </ns0:spPr>
      </ns0:sp>
      <ns0:sp>
        <ns0:nvSpPr>
          <ns0:cNvPr id="5" name="">
            <a:extLst>
              <a:ext uri="{FF2B5EF4-FFF2-40B4-BE49-F238E27FC236}">
                <ns2:creationId id="{E2EFA90E-CFF1-47F3-BE28-1F26255E538D}"/>
              </a:ext>
            </a:extLst>
          </ns0:cNvPr>
          <ns0:cNvSpPr>
            <a:spLocks noGrp="1"/>
          </ns0:cNvSpPr>
          <ns0:nvPr/>
        </ns0:nvSpPr>
        <ns0:spPr>
          <a:xfrm>
            <a:off x="571500" y="6419850"/>
            <a:ext cx="10001250" cy="1714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47625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rPr>
              <a:t>Fontes: CVM, Informe Mensal (jun/26) e CVM/SRE, ofertas encerradas jan–jun/26. Outros emitidos: R$ 5,8 bi (9,2%).</a:t>
            </a:r>
          </a:p>
        </ns0:txBody>
      </ns0:sp>
      <ns0:sp>
        <ns0:nvSpPr>
          <ns0:cNvPr id="6" name="">
            <a:extLst>
              <a:ext uri="{FF2B5EF4-FFF2-40B4-BE49-F238E27FC236}">
                <ns2:creationId id="{3D8893FC-6A38-45B2-9CDC-85DDAE614533}"/>
              </a:ext>
            </a:extLst>
          </ns0:cNvPr>
          <ns0:cNvSpPr>
            <a:spLocks noGrp="1"/>
          </ns0:cNvSpPr>
          <ns0:nvPr/>
        </ns0:nvSpPr>
        <ns0:spPr>
          <a:xfrm>
            <a:off x="11144250" y="6410325"/>
            <a:ext cx="476250" cy="1714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ctr">
            <a:normAutofit fontScale="100000"/>
          </a:bodyPr>
          <a:lstStyle/>
          <a:p>
            <a:pPr algn="r">
              <a:lnSpc>
                <a:spcPct val="100000"/>
              </a:lnSpc>
              <a:buNone/>
              <a:def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rPr>
              <a:t>4</a:t>
            </a:r>
          </a:p>
        </ns0:txBody>
      </ns0:sp>
      <ns0:sp>
        <ns0:nvSpPr>
          <ns0:cNvPr id="7" name="">
            <a:extLst>
              <a:ext uri="{FF2B5EF4-FFF2-40B4-BE49-F238E27FC236}">
                <ns2:creationId id="{D3D9A593-2060-4D9A-9ED7-7335A4F8B678}"/>
              </a:ext>
            </a:extLst>
          </ns0:cNvPr>
          <ns0:cNvSpPr>
            <a:spLocks noGrp="1"/>
          </ns0:cNvSpPr>
          <ns0:nvPr/>
        </ns0:nvSpPr>
        <ns0:spPr>
          <a:xfrm>
            <a:off x="571500" y="1257300"/>
            <a:ext cx="5238750" cy="19050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1125" b="1" lang="pt-BR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 lang="pt-BR">
                <a:solidFill>
                  <a:srgbClr val="30353A"/>
                </a:solidFill>
                <a:latin typeface="Arial"/>
                <a:ea typeface="Arial"/>
                <a:cs typeface="Arial"/>
              </a:rPr>
              <a:t>Saldo ex-FIC · R$ bi</a:t>
            </a:r>
          </a:p>
        </ns0:txBody>
      </ns0:sp>
      <ns0:sp>
        <ns0:nvSpPr>
          <ns0:cNvPr id="8" name="">
            <a:extLst>
              <a:ext uri="{FF2B5EF4-FFF2-40B4-BE49-F238E27FC236}">
                <ns2:creationId id="{F5176576-5E4C-4742-80B6-5AF9ED4B7B6B}"/>
              </a:ext>
            </a:extLst>
          </ns0:cNvPr>
          <ns0:cNvSpPr>
            <a:spLocks noGrp="1"/>
          </ns0:cNvSpPr>
          <ns0:nvPr/>
        </ns0:nvSpPr>
        <ns0:spPr>
          <a:xfrm>
            <a:off x="571500" y="1485900"/>
            <a:ext cx="5238750" cy="9525"/>
          </a:xfrm>
          <a:prstGeom prst="rect">
            <a:avLst/>
          </a:prstGeom>
          <a:solidFill>
            <a:srgbClr val="D7DADD"/>
          </a:solidFill>
          <a:ln w="0">
            <a:noFill/>
            <a:prstDash val="solid"/>
          </a:ln>
        </ns0:spPr>
      </ns0:sp>
      <ns0:graphicFrame>
        <ns0:nvGraphicFramePr>
          <ns0:cNvPr id="41" name="Chart"/>
          <ns0:cNvGraphicFramePr/>
          <ns0:nvPr/>
        </ns0:nvGraphicFramePr>
        <ns0:xfrm>
          <a:off x="571500" y="1495425"/>
          <a:ext cx="5238750" cy="1952625"/>
        </ns0:xfrm>
        <a:graphic>
          <a:graphicData uri="http://schemas.openxmlformats.org/drawingml/2006/chart">
            <c:chart ns4:id="Rca010b9a29294777"/>
          </a:graphicData>
        </a:graphic>
      </ns0:graphicFrame>
      <ns0:sp>
        <ns0:nvSpPr>
          <ns0:cNvPr id="10" name="">
            <a:extLst>
              <a:ext uri="{FF2B5EF4-FFF2-40B4-BE49-F238E27FC236}">
                <ns2:creationId id="{13A45B6F-20C4-49D6-9BC3-5A08A9664237}"/>
              </a:ext>
            </a:extLst>
          </ns0:cNvPr>
          <ns0:cNvSpPr>
            <a:spLocks noGrp="1"/>
          </ns0:cNvSpPr>
          <ns0:nvPr/>
        </ns0:nvSpPr>
        <ns0:spPr>
          <a:xfrm>
            <a:off x="6381750" y="1257300"/>
            <a:ext cx="5238750" cy="19050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1125" b="1" lang="pt-BR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 lang="pt-BR">
                <a:solidFill>
                  <a:srgbClr val="30353A"/>
                </a:solidFill>
                <a:latin typeface="Arial"/>
                <a:ea typeface="Arial"/>
                <a:cs typeface="Arial"/>
              </a:rPr>
              <a:t>Participação no saldo</a:t>
            </a:r>
          </a:p>
        </ns0:txBody>
      </ns0:sp>
      <ns0:sp>
        <ns0:nvSpPr>
          <ns0:cNvPr id="11" name="">
            <a:extLst>
              <a:ext uri="{FF2B5EF4-FFF2-40B4-BE49-F238E27FC236}">
                <ns2:creationId id="{CD39082C-861F-45DD-83A8-65F6FBDBF3C0}"/>
              </a:ext>
            </a:extLst>
          </ns0:cNvPr>
          <ns0:cNvSpPr>
            <a:spLocks noGrp="1"/>
          </ns0:cNvSpPr>
          <ns0:nvPr/>
        </ns0:nvSpPr>
        <ns0:spPr>
          <a:xfrm>
            <a:off x="6381750" y="1485900"/>
            <a:ext cx="5238750" cy="9525"/>
          </a:xfrm>
          <a:prstGeom prst="rect">
            <a:avLst/>
          </a:prstGeom>
          <a:solidFill>
            <a:srgbClr val="D7DADD"/>
          </a:solidFill>
          <a:ln w="0">
            <a:noFill/>
            <a:prstDash val="solid"/>
          </a:ln>
        </ns0:spPr>
      </ns0:sp>
      <ns0:graphicFrame>
        <ns0:nvGraphicFramePr>
          <ns0:cNvPr id="44" name="Chart"/>
          <ns0:cNvGraphicFramePr/>
          <ns0:nvPr/>
        </ns0:nvGraphicFramePr>
        <ns0:xfrm>
          <a:off x="6381750" y="1495425"/>
          <a:ext cx="5238750" cy="1952625"/>
        </ns0:xfrm>
        <a:graphic>
          <a:graphicData uri="http://schemas.openxmlformats.org/drawingml/2006/chart">
            <c:chart ns4:id="Re9f440d117524c06"/>
          </a:graphicData>
        </a:graphic>
      </ns0:graphicFrame>
      <ns0:sp>
        <ns0:nvSpPr>
          <ns0:cNvPr id="13" name="">
            <a:extLst>
              <a:ext uri="{FF2B5EF4-FFF2-40B4-BE49-F238E27FC236}">
                <ns2:creationId id="{B6A61F68-14C2-42D0-B53D-006B46FD6452}"/>
              </a:ext>
            </a:extLst>
          </ns0:cNvPr>
          <ns0:cNvSpPr>
            <a:spLocks noGrp="1"/>
          </ns0:cNvSpPr>
          <ns0:nvPr/>
        </ns0:nvSpPr>
        <ns0:spPr>
          <a:xfrm>
            <a:off x="762000" y="3509963"/>
            <a:ext cx="66675" cy="66675"/>
          </a:xfrm>
          <a:prstGeom prst="rect">
            <a:avLst/>
          </a:prstGeom>
          <a:solidFill>
            <a:srgbClr val="73787D"/>
          </a:solidFill>
          <a:ln w="0">
            <a:noFill/>
            <a:prstDash val="solid"/>
          </a:ln>
        </ns0:spPr>
      </ns0:sp>
      <ns0:sp>
        <ns0:nvSpPr>
          <ns0:cNvPr id="14" name="">
            <a:extLst>
              <a:ext uri="{FF2B5EF4-FFF2-40B4-BE49-F238E27FC236}">
                <ns2:creationId id="{C29FBE62-BD10-4639-B789-B1FD47680C01}"/>
              </a:ext>
            </a:extLst>
          </ns0:cNvPr>
          <ns0:cNvSpPr>
            <a:spLocks noGrp="1"/>
          </ns0:cNvSpPr>
          <ns0:nvPr/>
        </ns0:nvSpPr>
        <ns0:spPr>
          <a:xfrm>
            <a:off x="876300" y="3476625"/>
            <a:ext cx="2524125" cy="1333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ctr">
            <a:normAutofit fontScale="87500"/>
          </a:bodyPr>
          <a:lstStyle/>
          <a:p>
            <a:pPr algn="l">
              <a:lnSpc>
                <a:spcPct val="100000"/>
              </a:lnSpc>
              <a:buNone/>
              <a:defRPr sz="1000" b="0" lang="pt-BR">
                <a:solidFill>
                  <a:srgbClr val="73787D"/>
                </a:solidFill>
                <a:latin typeface="Arial"/>
                <a:ea typeface="Arial"/>
                <a:cs typeface="Arial"/>
              </a:defRPr>
            </a:pPr>
            <a:r>
              <a:rPr sz="1000" b="0" lang="pt-BR">
                <a:solidFill>
                  <a:srgbClr val="73787D"/>
                </a:solidFill>
                <a:latin typeface="Arial"/>
                <a:ea typeface="Arial"/>
                <a:cs typeface="Arial"/>
              </a:rPr>
              <a:t>Fomento Mercantil</a:t>
            </a:r>
          </a:p>
        </ns0:txBody>
      </ns0:sp>
      <ns0:sp>
        <ns0:nvSpPr>
          <ns0:cNvPr id="15" name="">
            <a:extLst>
              <a:ext uri="{FF2B5EF4-FFF2-40B4-BE49-F238E27FC236}">
                <ns2:creationId id="{D80D87BE-32AB-4612-B3E5-E0C2CC50074E}"/>
              </a:ext>
            </a:extLst>
          </ns0:cNvPr>
          <ns0:cNvSpPr>
            <a:spLocks noGrp="1"/>
          </ns0:cNvSpPr>
          <ns0:nvPr/>
        </ns0:nvSpPr>
        <ns0:spPr>
          <a:xfrm>
            <a:off x="3429000" y="3509963"/>
            <a:ext cx="66675" cy="66675"/>
          </a:xfrm>
          <a:prstGeom prst="rect">
            <a:avLst/>
          </a:prstGeom>
          <a:solidFill>
            <a:srgbClr val="0A3B00"/>
          </a:solidFill>
          <a:ln w="0">
            <a:noFill/>
            <a:prstDash val="solid"/>
          </a:ln>
        </ns0:spPr>
      </ns0:sp>
      <ns0:sp>
        <ns0:nvSpPr>
          <ns0:cNvPr id="16" name="">
            <a:extLst>
              <a:ext uri="{FF2B5EF4-FFF2-40B4-BE49-F238E27FC236}">
                <ns2:creationId id="{743A7B0F-BD5F-4803-96B6-EB1A7027765D}"/>
              </a:ext>
            </a:extLst>
          </ns0:cNvPr>
          <ns0:cNvSpPr>
            <a:spLocks noGrp="1"/>
          </ns0:cNvSpPr>
          <ns0:nvPr/>
        </ns0:nvSpPr>
        <ns0:spPr>
          <a:xfrm>
            <a:off x="3543300" y="3476625"/>
            <a:ext cx="2524125" cy="1333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ctr">
            <a:normAutofit fontScale="87500"/>
          </a:bodyPr>
          <a:lstStyle/>
          <a:p>
            <a:pPr algn="l">
              <a:lnSpc>
                <a:spcPct val="100000"/>
              </a:lnSpc>
              <a:buNone/>
              <a:defRPr sz="1000" b="0" lang="pt-BR">
                <a:solidFill>
                  <a:srgbClr val="73787D"/>
                </a:solidFill>
                <a:latin typeface="Arial"/>
                <a:ea typeface="Arial"/>
                <a:cs typeface="Arial"/>
              </a:defRPr>
            </a:pPr>
            <a:r>
              <a:rPr sz="1000" b="0" lang="pt-BR">
                <a:solidFill>
                  <a:srgbClr val="73787D"/>
                </a:solidFill>
                <a:latin typeface="Arial"/>
                <a:ea typeface="Arial"/>
                <a:cs typeface="Arial"/>
              </a:rPr>
              <a:t>Agro, Indústria e Comércio</a:t>
            </a:r>
          </a:p>
        </ns0:txBody>
      </ns0:sp>
      <ns0:sp>
        <ns0:nvSpPr>
          <ns0:cNvPr id="17" name="">
            <a:extLst>
              <a:ext uri="{FF2B5EF4-FFF2-40B4-BE49-F238E27FC236}">
                <ns2:creationId id="{0F40C4AB-E80B-419B-ABEB-BBD76BA6CA79}"/>
              </a:ext>
            </a:extLst>
          </ns0:cNvPr>
          <ns0:cNvSpPr>
            <a:spLocks noGrp="1"/>
          </ns0:cNvSpPr>
          <ns0:nvPr/>
        </ns0:nvSpPr>
        <ns0:spPr>
          <a:xfrm>
            <a:off x="6096000" y="3509963"/>
            <a:ext cx="66675" cy="66675"/>
          </a:xfrm>
          <a:prstGeom prst="rect">
            <a:avLst/>
          </a:prstGeom>
          <a:solidFill>
            <a:srgbClr val="EC7000"/>
          </a:solidFill>
          <a:ln w="0">
            <a:noFill/>
            <a:prstDash val="solid"/>
          </a:ln>
        </ns0:spPr>
      </ns0:sp>
      <ns0:sp>
        <ns0:nvSpPr>
          <ns0:cNvPr id="18" name="">
            <a:extLst>
              <a:ext uri="{FF2B5EF4-FFF2-40B4-BE49-F238E27FC236}">
                <ns2:creationId id="{F39078F1-5E06-47BD-AE40-CC0BC454A89D}"/>
              </a:ext>
            </a:extLst>
          </ns0:cNvPr>
          <ns0:cNvSpPr>
            <a:spLocks noGrp="1"/>
          </ns0:cNvSpPr>
          <ns0:nvPr/>
        </ns0:nvSpPr>
        <ns0:spPr>
          <a:xfrm>
            <a:off x="6210300" y="3476625"/>
            <a:ext cx="2524125" cy="1333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ctr">
            <a:normAutofit fontScale="87500"/>
          </a:bodyPr>
          <a:lstStyle/>
          <a:p>
            <a:pPr algn="l">
              <a:lnSpc>
                <a:spcPct val="100000"/>
              </a:lnSpc>
              <a:buNone/>
              <a:defRPr sz="1000" b="0" lang="pt-BR">
                <a:solidFill>
                  <a:srgbClr val="73787D"/>
                </a:solidFill>
                <a:latin typeface="Arial"/>
                <a:ea typeface="Arial"/>
                <a:cs typeface="Arial"/>
              </a:defRPr>
            </a:pPr>
            <a:r>
              <a:rPr sz="1000" b="0" lang="pt-BR">
                <a:solidFill>
                  <a:srgbClr val="73787D"/>
                </a:solidFill>
                <a:latin typeface="Arial"/>
                <a:ea typeface="Arial"/>
                <a:cs typeface="Arial"/>
              </a:rPr>
              <a:t>Financeiro</a:t>
            </a:r>
          </a:p>
        </ns0:txBody>
      </ns0:sp>
      <ns0:sp>
        <ns0:nvSpPr>
          <ns0:cNvPr id="19" name="">
            <a:extLst>
              <a:ext uri="{FF2B5EF4-FFF2-40B4-BE49-F238E27FC236}">
                <ns2:creationId id="{8BEAED78-5235-4223-A570-3669391C1E19}"/>
              </a:ext>
            </a:extLst>
          </ns0:cNvPr>
          <ns0:cNvSpPr>
            <a:spLocks noGrp="1"/>
          </ns0:cNvSpPr>
          <ns0:nvPr/>
        </ns0:nvSpPr>
        <ns0:spPr>
          <a:xfrm>
            <a:off x="8763000" y="3509963"/>
            <a:ext cx="66675" cy="66675"/>
          </a:xfrm>
          <a:prstGeom prst="rect">
            <a:avLst/>
          </a:prstGeom>
          <a:solidFill>
            <a:srgbClr val="151515"/>
          </a:solidFill>
          <a:ln w="0">
            <a:noFill/>
            <a:prstDash val="solid"/>
          </a:ln>
        </ns0:spPr>
      </ns0:sp>
      <ns0:sp>
        <ns0:nvSpPr>
          <ns0:cNvPr id="20" name="">
            <a:extLst>
              <a:ext uri="{FF2B5EF4-FFF2-40B4-BE49-F238E27FC236}">
                <ns2:creationId id="{E8721392-2C47-427A-9F53-8C9A249540D5}"/>
              </a:ext>
            </a:extLst>
          </ns0:cNvPr>
          <ns0:cNvSpPr>
            <a:spLocks noGrp="1"/>
          </ns0:cNvSpPr>
          <ns0:nvPr/>
        </ns0:nvSpPr>
        <ns0:spPr>
          <a:xfrm>
            <a:off x="8877300" y="3476625"/>
            <a:ext cx="2524125" cy="1333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ctr">
            <a:normAutofit fontScale="87500"/>
          </a:bodyPr>
          <a:lstStyle/>
          <a:p>
            <a:pPr algn="l">
              <a:lnSpc>
                <a:spcPct val="100000"/>
              </a:lnSpc>
              <a:buNone/>
              <a:defRPr sz="1000" b="0" lang="pt-BR">
                <a:solidFill>
                  <a:srgbClr val="73787D"/>
                </a:solidFill>
                <a:latin typeface="Arial"/>
                <a:ea typeface="Arial"/>
                <a:cs typeface="Arial"/>
              </a:defRPr>
            </a:pPr>
            <a:r>
              <a:rPr sz="1000" b="0" lang="pt-BR">
                <a:solidFill>
                  <a:srgbClr val="73787D"/>
                </a:solidFill>
                <a:latin typeface="Arial"/>
                <a:ea typeface="Arial"/>
                <a:cs typeface="Arial"/>
              </a:rPr>
              <a:t>Precatórios / ações</a:t>
            </a:r>
          </a:p>
        </ns0:txBody>
      </ns0:sp>
      <ns0:sp>
        <ns0:nvSpPr>
          <ns0:cNvPr id="21" name="">
            <a:extLst>
              <a:ext uri="{FF2B5EF4-FFF2-40B4-BE49-F238E27FC236}">
                <ns2:creationId id="{6DBE602E-0B58-437A-A3DA-BE9D600F5677}"/>
              </a:ext>
            </a:extLst>
          </ns0:cNvPr>
          <ns0:cNvSpPr>
            <a:spLocks noGrp="1"/>
          </ns0:cNvSpPr>
          <ns0:nvPr/>
        </ns0:nvSpPr>
        <ns0:spPr>
          <a:xfrm>
            <a:off x="762000" y="3643313"/>
            <a:ext cx="66675" cy="66675"/>
          </a:xfrm>
          <a:prstGeom prst="rect">
            <a:avLst/>
          </a:prstGeom>
          <a:solidFill>
            <a:srgbClr val="7030A0"/>
          </a:solidFill>
          <a:ln w="0">
            <a:noFill/>
            <a:prstDash val="solid"/>
          </a:ln>
        </ns0:spPr>
      </ns0:sp>
      <ns0:sp>
        <ns0:nvSpPr>
          <ns0:cNvPr id="22" name="">
            <a:extLst>
              <a:ext uri="{FF2B5EF4-FFF2-40B4-BE49-F238E27FC236}">
                <ns2:creationId id="{BA5063EB-9E03-4318-9F56-22CEBDC166BF}"/>
              </a:ext>
            </a:extLst>
          </ns0:cNvPr>
          <ns0:cNvSpPr>
            <a:spLocks noGrp="1"/>
          </ns0:cNvSpPr>
          <ns0:nvPr/>
        </ns0:nvSpPr>
        <ns0:spPr>
          <a:xfrm>
            <a:off x="876300" y="3609975"/>
            <a:ext cx="2524125" cy="1333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ctr">
            <a:normAutofit fontScale="87500"/>
          </a:bodyPr>
          <a:lstStyle/>
          <a:p>
            <a:pPr algn="l">
              <a:lnSpc>
                <a:spcPct val="100000"/>
              </a:lnSpc>
              <a:buNone/>
              <a:defRPr sz="1000" b="0" lang="pt-BR">
                <a:solidFill>
                  <a:srgbClr val="73787D"/>
                </a:solidFill>
                <a:latin typeface="Arial"/>
                <a:ea typeface="Arial"/>
                <a:cs typeface="Arial"/>
              </a:defRPr>
            </a:pPr>
            <a:r>
              <a:rPr sz="1000" b="0" lang="pt-BR">
                <a:solidFill>
                  <a:srgbClr val="73787D"/>
                </a:solidFill>
                <a:latin typeface="Arial"/>
                <a:ea typeface="Arial"/>
                <a:cs typeface="Arial"/>
              </a:rPr>
              <a:t>Multicedente / multisacado</a:t>
            </a:r>
          </a:p>
        </ns0:txBody>
      </ns0:sp>
      <ns0:sp>
        <ns0:nvSpPr>
          <ns0:cNvPr id="23" name="">
            <a:extLst>
              <a:ext uri="{FF2B5EF4-FFF2-40B4-BE49-F238E27FC236}">
                <ns2:creationId id="{BDBD86D3-B894-4005-BAD6-19F0FBEBFF55}"/>
              </a:ext>
            </a:extLst>
          </ns0:cNvPr>
          <ns0:cNvSpPr>
            <a:spLocks noGrp="1"/>
          </ns0:cNvSpPr>
          <ns0:nvPr/>
        </ns0:nvSpPr>
        <ns0:spPr>
          <a:xfrm>
            <a:off x="3429000" y="3643313"/>
            <a:ext cx="66675" cy="66675"/>
          </a:xfrm>
          <a:prstGeom prst="rect">
            <a:avLst/>
          </a:prstGeom>
          <a:solidFill>
            <a:srgbClr val="E7E9EB"/>
          </a:solidFill>
          <a:ln w="0">
            <a:noFill/>
            <a:prstDash val="solid"/>
          </a:ln>
        </ns0:spPr>
      </ns0:sp>
      <ns0:sp>
        <ns0:nvSpPr>
          <ns0:cNvPr id="24" name="">
            <a:extLst>
              <a:ext uri="{FF2B5EF4-FFF2-40B4-BE49-F238E27FC236}">
                <ns2:creationId id="{4FD7763B-CD4E-488C-8F18-459E63FAD5D4}"/>
              </a:ext>
            </a:extLst>
          </ns0:cNvPr>
          <ns0:cNvSpPr>
            <a:spLocks noGrp="1"/>
          </ns0:cNvSpPr>
          <ns0:nvPr/>
        </ns0:nvSpPr>
        <ns0:spPr>
          <a:xfrm>
            <a:off x="3543300" y="3609975"/>
            <a:ext cx="2524125" cy="1333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ctr">
            <a:normAutofit fontScale="87500"/>
          </a:bodyPr>
          <a:lstStyle/>
          <a:p>
            <a:pPr algn="l">
              <a:lnSpc>
                <a:spcPct val="100000"/>
              </a:lnSpc>
              <a:buNone/>
              <a:defRPr sz="1000" b="0" lang="pt-BR">
                <a:solidFill>
                  <a:srgbClr val="73787D"/>
                </a:solidFill>
                <a:latin typeface="Arial"/>
                <a:ea typeface="Arial"/>
                <a:cs typeface="Arial"/>
              </a:defRPr>
            </a:pPr>
            <a:r>
              <a:rPr sz="1000" b="0" lang="pt-BR">
                <a:solidFill>
                  <a:srgbClr val="73787D"/>
                </a:solidFill>
                <a:latin typeface="Arial"/>
                <a:ea typeface="Arial"/>
                <a:cs typeface="Arial"/>
              </a:rPr>
              <a:t>Recuperação / NP</a:t>
            </a:r>
          </a:p>
        </ns0:txBody>
      </ns0:sp>
      <ns0:sp>
        <ns0:nvSpPr>
          <ns0:cNvPr id="25" name="">
            <a:extLst>
              <a:ext uri="{FF2B5EF4-FFF2-40B4-BE49-F238E27FC236}">
                <ns2:creationId id="{4656C7A7-6C8D-494B-BE67-899C8D224498}"/>
              </a:ext>
            </a:extLst>
          </ns0:cNvPr>
          <ns0:cNvSpPr>
            <a:spLocks noGrp="1"/>
          </ns0:cNvSpPr>
          <ns0:nvPr/>
        </ns0:nvSpPr>
        <ns0:spPr>
          <a:xfrm>
            <a:off x="6096000" y="3643313"/>
            <a:ext cx="66675" cy="66675"/>
          </a:xfrm>
          <a:prstGeom prst="rect">
            <a:avLst/>
          </a:prstGeom>
          <a:solidFill>
            <a:srgbClr val="D7DADD"/>
          </a:solidFill>
          <a:ln w="0">
            <a:noFill/>
            <a:prstDash val="solid"/>
          </a:ln>
        </ns0:spPr>
      </ns0:sp>
      <ns0:sp>
        <ns0:nvSpPr>
          <ns0:cNvPr id="26" name="">
            <a:extLst>
              <a:ext uri="{FF2B5EF4-FFF2-40B4-BE49-F238E27FC236}">
                <ns2:creationId id="{1B8378BB-CD34-4835-9D88-6C8E74D12BD5}"/>
              </a:ext>
            </a:extLst>
          </ns0:cNvPr>
          <ns0:cNvSpPr>
            <a:spLocks noGrp="1"/>
          </ns0:cNvSpPr>
          <ns0:nvPr/>
        </ns0:nvSpPr>
        <ns0:spPr>
          <a:xfrm>
            <a:off x="6210300" y="3609975"/>
            <a:ext cx="2524125" cy="1333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ctr">
            <a:normAutofit fontScale="87500"/>
          </a:bodyPr>
          <a:lstStyle/>
          <a:p>
            <a:pPr algn="l">
              <a:lnSpc>
                <a:spcPct val="100000"/>
              </a:lnSpc>
              <a:buNone/>
              <a:defRPr sz="1000" b="0" lang="pt-BR">
                <a:solidFill>
                  <a:srgbClr val="73787D"/>
                </a:solidFill>
                <a:latin typeface="Arial"/>
                <a:ea typeface="Arial"/>
                <a:cs typeface="Arial"/>
              </a:defRPr>
            </a:pPr>
            <a:r>
              <a:rPr sz="1000" b="0" lang="pt-BR">
                <a:solidFill>
                  <a:srgbClr val="73787D"/>
                </a:solidFill>
                <a:latin typeface="Arial"/>
                <a:ea typeface="Arial"/>
                <a:cs typeface="Arial"/>
              </a:rPr>
              <a:t>N/D</a:t>
            </a:r>
          </a:p>
        </ns0:txBody>
      </ns0:sp>
      <ns0:sp>
        <ns0:nvSpPr>
          <ns0:cNvPr id="27" name="">
            <a:extLst>
              <a:ext uri="{FF2B5EF4-FFF2-40B4-BE49-F238E27FC236}">
                <ns2:creationId id="{61635A71-6306-4A65-A146-C1F77DC65F98}"/>
              </a:ext>
            </a:extLst>
          </ns0:cNvPr>
          <ns0:cNvSpPr>
            <a:spLocks noGrp="1"/>
          </ns0:cNvSpPr>
          <ns0:nvPr/>
        </ns0:nvSpPr>
        <ns0:spPr>
          <a:xfrm>
            <a:off x="571500" y="3829050"/>
            <a:ext cx="5238750" cy="19050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1125" b="1" lang="pt-BR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 lang="pt-BR">
                <a:solidFill>
                  <a:srgbClr val="30353A"/>
                </a:solidFill>
                <a:latin typeface="Arial"/>
                <a:ea typeface="Arial"/>
                <a:cs typeface="Arial"/>
              </a:rPr>
              <a:t>Novas emissões por setor · R$ bi</a:t>
            </a:r>
          </a:p>
        </ns0:txBody>
      </ns0:sp>
      <ns0:sp>
        <ns0:nvSpPr>
          <ns0:cNvPr id="28" name="">
            <a:extLst>
              <a:ext uri="{FF2B5EF4-FFF2-40B4-BE49-F238E27FC236}">
                <ns2:creationId id="{43E147FD-66EE-4C7C-BEB8-AFC7FC59EEE0}"/>
              </a:ext>
            </a:extLst>
          </ns0:cNvPr>
          <ns0:cNvSpPr>
            <a:spLocks noGrp="1"/>
          </ns0:cNvSpPr>
          <ns0:nvPr/>
        </ns0:nvSpPr>
        <ns0:spPr>
          <a:xfrm>
            <a:off x="571500" y="4057650"/>
            <a:ext cx="5238750" cy="9525"/>
          </a:xfrm>
          <a:prstGeom prst="rect">
            <a:avLst/>
          </a:prstGeom>
          <a:solidFill>
            <a:srgbClr val="D7DADD"/>
          </a:solidFill>
          <a:ln w="0">
            <a:noFill/>
            <a:prstDash val="solid"/>
          </a:ln>
        </ns0:spPr>
      </ns0:sp>
      <ns0:graphicFrame>
        <ns0:nvGraphicFramePr>
          <ns0:cNvPr id="61" name="Chart"/>
          <ns0:cNvGraphicFramePr/>
          <ns0:nvPr/>
        </ns0:nvGraphicFramePr>
        <ns0:xfrm>
          <a:off x="571500" y="4067175"/>
          <a:ext cx="5238750" cy="1809750"/>
        </ns0:xfrm>
        <a:graphic>
          <a:graphicData uri="http://schemas.openxmlformats.org/drawingml/2006/chart">
            <c:chart ns4:id="Rb9252dbf719a4fe7"/>
          </a:graphicData>
        </a:graphic>
      </ns0:graphicFrame>
      <ns0:sp>
        <ns0:nvSpPr>
          <ns0:cNvPr id="30" name="">
            <a:extLst>
              <a:ext uri="{FF2B5EF4-FFF2-40B4-BE49-F238E27FC236}">
                <ns2:creationId id="{92AE2C19-A79F-4F3D-9BCA-DB4B4969C3DC}"/>
              </a:ext>
            </a:extLst>
          </ns0:cNvPr>
          <ns0:cNvSpPr>
            <a:spLocks noGrp="1"/>
          </ns0:cNvSpPr>
          <ns0:nvPr/>
        </ns0:nvSpPr>
        <ns0:spPr>
          <a:xfrm>
            <a:off x="6381750" y="3829050"/>
            <a:ext cx="5238750" cy="19050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1125" b="1" lang="pt-BR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 lang="pt-BR">
                <a:solidFill>
                  <a:srgbClr val="30353A"/>
                </a:solidFill>
                <a:latin typeface="Arial"/>
                <a:ea typeface="Arial"/>
                <a:cs typeface="Arial"/>
              </a:rPr>
              <a:t>Novas emissões por setor · %</a:t>
            </a:r>
          </a:p>
        </ns0:txBody>
      </ns0:sp>
      <ns0:sp>
        <ns0:nvSpPr>
          <ns0:cNvPr id="31" name="">
            <a:extLst>
              <a:ext uri="{FF2B5EF4-FFF2-40B4-BE49-F238E27FC236}">
                <ns2:creationId id="{ED0FD437-ED88-4E7C-A48E-39E4EEB91EF0}"/>
              </a:ext>
            </a:extLst>
          </ns0:cNvPr>
          <ns0:cNvSpPr>
            <a:spLocks noGrp="1"/>
          </ns0:cNvSpPr>
          <ns0:nvPr/>
        </ns0:nvSpPr>
        <ns0:spPr>
          <a:xfrm>
            <a:off x="6381750" y="4057650"/>
            <a:ext cx="5238750" cy="9525"/>
          </a:xfrm>
          <a:prstGeom prst="rect">
            <a:avLst/>
          </a:prstGeom>
          <a:solidFill>
            <a:srgbClr val="D7DADD"/>
          </a:solidFill>
          <a:ln w="0">
            <a:noFill/>
            <a:prstDash val="solid"/>
          </a:ln>
        </ns0:spPr>
      </ns0:sp>
      <ns0:graphicFrame>
        <ns0:nvGraphicFramePr>
          <ns0:cNvPr id="64" name="Chart"/>
          <ns0:cNvGraphicFramePr/>
          <ns0:nvPr/>
        </ns0:nvGraphicFramePr>
        <ns0:xfrm>
          <a:off x="6381750" y="4067175"/>
          <a:ext cx="5238750" cy="1809750"/>
        </ns0:xfrm>
        <a:graphic>
          <a:graphicData uri="http://schemas.openxmlformats.org/drawingml/2006/chart">
            <c:chart ns4:id="Rcba0f187e8d74939"/>
          </a:graphicData>
        </a:graphic>
      </ns0:graphicFrame>
    </ns0:spTree>
    <ns0:extLst>
      <ns0:ext uri="{BB962C8B-B14F-4D97-AF65-F5344CB8AC3E}">
        <ns5:creationId val="948990028"/>
      </ns0:ext>
    </ns0:extLst>
  </ns0:cSld>
</ns0:sld>
</file>

<file path=ppt/slides/slide5.xml><?xml version="1.0" encoding="utf-8"?>
<ns0:sld xmlns:a="http://schemas.openxmlformats.org/drawingml/2006/main" xmlns:c="http://schemas.openxmlformats.org/drawingml/2006/chart" xmlns:ns0="http://schemas.openxmlformats.org/presentationml/2006/main" xmlns:ns2="http://schemas.microsoft.com/office/drawing/2014/main" xmlns:ns4="http://schemas.openxmlformats.org/officeDocument/2006/relationships" xmlns:ns5="http://schemas.microsoft.com/office/powerpoint/2010/main">
  <ns0:cSld>
    <ns0:bg>
      <ns0:bgPr>
        <a:solidFill>
          <a:srgbClr val="FFFFFF"/>
        </a:solidFill>
      </ns0:bgPr>
    </ns0:bg>
    <ns0:spTree>
      <ns0:nvGrpSpPr>
        <ns0:cNvPr id="1" name=""/>
        <ns0:cNvGrpSpPr/>
        <ns0:nvPr/>
      </ns0:nvGrpSpPr>
      <ns0:grpSpPr>
        <a:xfrm/>
      </ns0:grpSpPr>
      <ns0:sp>
        <ns0:nvSpPr>
          <ns0:cNvPr id="18" name="">
            <a:extLst>
              <a:ext uri="{FF2B5EF4-FFF2-40B4-BE49-F238E27FC236}">
                <ns2:creationId id="{FF62EA3B-7A86-4D48-9D99-62CAE42E6481}"/>
              </a:ext>
            </a:extLst>
          </ns0:cNvPr>
          <ns0:cNvSpPr>
            <a:spLocks noGrp="1"/>
          </ns0:cNvSpPr>
          <ns0:nvPr/>
        </ns0:nvSpPr>
        <ns0:spPr>
          <a:xfrm>
            <a:off x="571500" y="257175"/>
            <a:ext cx="11049000" cy="19050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0" tIns="0" rIns="0" bIns="0" anchor="t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1000" b="1" lang="pt-BR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1000" b="1" lang="pt-BR">
                <a:solidFill>
                  <a:srgbClr val="EC7000"/>
                </a:solidFill>
                <a:latin typeface="Arial"/>
                <a:ea typeface="Arial"/>
                <a:cs typeface="Arial"/>
              </a:rPr>
              <a:t>EMISSÕES POR CATEGORIA ANBIMA</a:t>
            </a:r>
          </a:p>
        </ns0:txBody>
      </ns0:sp>
      <ns0:sp>
        <ns0:nvSpPr>
          <ns0:cNvPr id="2" name="">
            <a:extLst>
              <a:ext uri="{FF2B5EF4-FFF2-40B4-BE49-F238E27FC236}">
                <ns2:creationId id="{1015D2C7-503D-4633-9F20-41677F312503}"/>
              </a:ext>
            </a:extLst>
          </ns0:cNvPr>
          <ns0:cNvSpPr>
            <a:spLocks noGrp="1"/>
          </ns0:cNvSpPr>
          <ns0:nvPr/>
        </ns0:nvSpPr>
        <ns0:spPr>
          <a:xfrm>
            <a:off x="571500" y="504825"/>
            <a:ext cx="11049000" cy="466725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0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2100" b="1" lang="pt-BR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2100" b="1" lang="pt-BR">
                <a:solidFill>
                  <a:srgbClr val="151515"/>
                </a:solidFill>
                <a:latin typeface="Arial"/>
                <a:ea typeface="Arial"/>
                <a:cs typeface="Arial"/>
              </a:rPr>
              <a:t>Emissões por setor | Financeiro respondeu por 64,4% do volume no 1S26</a:t>
            </a:r>
          </a:p>
        </ns0:txBody>
      </ns0:sp>
      <ns0:sp>
        <ns0:nvSpPr>
          <ns0:cNvPr id="3" name="">
            <a:extLst>
              <a:ext uri="{FF2B5EF4-FFF2-40B4-BE49-F238E27FC236}">
                <ns2:creationId id="{22077521-05DA-4BA6-B486-2F4212258F55}"/>
              </a:ext>
            </a:extLst>
          </ns0:cNvPr>
          <ns0:cNvSpPr>
            <a:spLocks noGrp="1"/>
          </ns0:cNvSpPr>
          <ns0:nvPr/>
        </ns0:nvSpPr>
        <ns0:spPr>
          <a:xfrm>
            <a:off x="571500" y="1047750"/>
            <a:ext cx="11049000" cy="9525"/>
          </a:xfrm>
          <a:prstGeom prst="rect">
            <a:avLst/>
          </a:prstGeom>
          <a:solidFill>
            <a:srgbClr val="D7DADD"/>
          </a:solidFill>
          <a:ln w="0">
            <a:noFill/>
            <a:prstDash val="solid"/>
          </a:ln>
        </ns0:spPr>
      </ns0:sp>
      <ns0:sp>
        <ns0:nvSpPr>
          <ns0:cNvPr id="4" name="">
            <a:extLst>
              <a:ext uri="{FF2B5EF4-FFF2-40B4-BE49-F238E27FC236}">
                <ns2:creationId id="{A972B750-955B-4530-A00A-1761BB8DB44C}"/>
              </a:ext>
            </a:extLst>
          </ns0:cNvPr>
          <ns0:cNvSpPr>
            <a:spLocks noGrp="1"/>
          </ns0:cNvSpPr>
          <ns0:nvPr/>
        </ns0:nvSpPr>
        <ns0:spPr>
          <a:xfrm>
            <a:off x="571500" y="6353175"/>
            <a:ext cx="11049000" cy="9525"/>
          </a:xfrm>
          <a:prstGeom prst="rect">
            <a:avLst/>
          </a:prstGeom>
          <a:solidFill>
            <a:srgbClr val="D7DADD"/>
          </a:solidFill>
          <a:ln w="0">
            <a:noFill/>
            <a:prstDash val="solid"/>
          </a:ln>
        </ns0:spPr>
      </ns0:sp>
      <ns0:sp>
        <ns0:nvSpPr>
          <ns0:cNvPr id="5" name="">
            <a:extLst>
              <a:ext uri="{FF2B5EF4-FFF2-40B4-BE49-F238E27FC236}">
                <ns2:creationId id="{8FABD34E-5762-4587-B040-5439D1D24D1B}"/>
              </a:ext>
            </a:extLst>
          </ns0:cNvPr>
          <ns0:cNvSpPr>
            <a:spLocks noGrp="1"/>
          </ns0:cNvSpPr>
          <ns0:nvPr/>
        </ns0:nvSpPr>
        <ns0:spPr>
          <a:xfrm>
            <a:off x="571500" y="6419850"/>
            <a:ext cx="10001250" cy="1714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47625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rPr>
              <a:t>Fonte: CVM/SRE; FIDCs 2023 corrigidos pelo valor encerrado ANBIMA. Quatro tipos + FIC-FIDC reconciliam com o volume emitido.</a:t>
            </a:r>
          </a:p>
        </ns0:txBody>
      </ns0:sp>
      <ns0:sp>
        <ns0:nvSpPr>
          <ns0:cNvPr id="6" name="">
            <a:extLst>
              <a:ext uri="{FF2B5EF4-FFF2-40B4-BE49-F238E27FC236}">
                <ns2:creationId id="{AE9277E6-7D2A-41A0-8983-DA52E6F7D174}"/>
              </a:ext>
            </a:extLst>
          </ns0:cNvPr>
          <ns0:cNvSpPr>
            <a:spLocks noGrp="1"/>
          </ns0:cNvSpPr>
          <ns0:nvPr/>
        </ns0:nvSpPr>
        <ns0:spPr>
          <a:xfrm>
            <a:off x="11144250" y="6410325"/>
            <a:ext cx="476250" cy="1714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ctr">
            <a:normAutofit fontScale="100000"/>
          </a:bodyPr>
          <a:lstStyle/>
          <a:p>
            <a:pPr algn="r">
              <a:lnSpc>
                <a:spcPct val="100000"/>
              </a:lnSpc>
              <a:buNone/>
              <a:def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rPr>
              <a:t>5</a:t>
            </a:r>
          </a:p>
        </ns0:txBody>
      </ns0:sp>
      <ns0:sp>
        <ns0:nvSpPr>
          <ns0:cNvPr id="7" name="">
            <a:extLst>
              <a:ext uri="{FF2B5EF4-FFF2-40B4-BE49-F238E27FC236}">
                <ns2:creationId id="{680EF326-DDA2-4670-B7B9-772767F811B3}"/>
              </a:ext>
            </a:extLst>
          </ns0:cNvPr>
          <ns0:cNvSpPr>
            <a:spLocks noGrp="1"/>
          </ns0:cNvSpPr>
          <ns0:nvPr/>
        </ns0:nvSpPr>
        <ns0:spPr>
          <a:xfrm>
            <a:off x="571500" y="1257300"/>
            <a:ext cx="5238750" cy="22860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1125" b="1" lang="pt-BR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 lang="pt-BR">
                <a:solidFill>
                  <a:srgbClr val="30353A"/>
                </a:solidFill>
                <a:latin typeface="Arial"/>
                <a:ea typeface="Arial"/>
                <a:cs typeface="Arial"/>
              </a:rPr>
              <a:t>Emissões por setor · R$ bi</a:t>
            </a:r>
          </a:p>
        </ns0:txBody>
      </ns0:sp>
      <ns0:sp>
        <ns0:nvSpPr>
          <ns0:cNvPr id="8" name="">
            <a:extLst>
              <a:ext uri="{FF2B5EF4-FFF2-40B4-BE49-F238E27FC236}">
                <ns2:creationId id="{10C33C13-4A5F-401B-9D4B-722C83E21C21}"/>
              </a:ext>
            </a:extLst>
          </ns0:cNvPr>
          <ns0:cNvSpPr>
            <a:spLocks noGrp="1"/>
          </ns0:cNvSpPr>
          <ns0:nvPr/>
        </ns0:nvSpPr>
        <ns0:spPr>
          <a:xfrm>
            <a:off x="571500" y="1524000"/>
            <a:ext cx="5238750" cy="9525"/>
          </a:xfrm>
          <a:prstGeom prst="rect">
            <a:avLst/>
          </a:prstGeom>
          <a:solidFill>
            <a:srgbClr val="D7DADD"/>
          </a:solidFill>
          <a:ln w="0">
            <a:noFill/>
            <a:prstDash val="solid"/>
          </a:ln>
        </ns0:spPr>
      </ns0:sp>
      <ns0:graphicFrame>
        <ns0:nvGraphicFramePr>
          <ns0:cNvPr id="26" name="Chart"/>
          <ns0:cNvGraphicFramePr/>
          <ns0:nvPr/>
        </ns0:nvGraphicFramePr>
        <ns0:xfrm>
          <a:off x="571500" y="1562100"/>
          <a:ext cx="5238750" cy="1857375"/>
        </ns0:xfrm>
        <a:graphic>
          <a:graphicData uri="http://schemas.openxmlformats.org/drawingml/2006/chart">
            <c:chart ns4:id="R57a8b5772b1344a5"/>
          </a:graphicData>
        </a:graphic>
      </ns0:graphicFrame>
      <ns0:sp>
        <ns0:nvSpPr>
          <ns0:cNvPr id="10" name="">
            <a:extLst>
              <a:ext uri="{FF2B5EF4-FFF2-40B4-BE49-F238E27FC236}">
                <ns2:creationId id="{E3402148-8AD4-4902-BF93-C1C58AB987F0}"/>
              </a:ext>
            </a:extLst>
          </ns0:cNvPr>
          <ns0:cNvSpPr>
            <a:spLocks noGrp="1"/>
          </ns0:cNvSpPr>
          <ns0:nvPr/>
        </ns0:nvSpPr>
        <ns0:spPr>
          <a:xfrm>
            <a:off x="6381750" y="1257300"/>
            <a:ext cx="5238750" cy="22860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1125" b="1" lang="pt-BR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 lang="pt-BR">
                <a:solidFill>
                  <a:srgbClr val="30353A"/>
                </a:solidFill>
                <a:latin typeface="Arial"/>
                <a:ea typeface="Arial"/>
                <a:cs typeface="Arial"/>
              </a:rPr>
              <a:t>Emissões por setor · % do total</a:t>
            </a:r>
          </a:p>
        </ns0:txBody>
      </ns0:sp>
      <ns0:sp>
        <ns0:nvSpPr>
          <ns0:cNvPr id="11" name="">
            <a:extLst>
              <a:ext uri="{FF2B5EF4-FFF2-40B4-BE49-F238E27FC236}">
                <ns2:creationId id="{56C6F6A0-8024-4B30-8581-10D1F28ACB0C}"/>
              </a:ext>
            </a:extLst>
          </ns0:cNvPr>
          <ns0:cNvSpPr>
            <a:spLocks noGrp="1"/>
          </ns0:cNvSpPr>
          <ns0:nvPr/>
        </ns0:nvSpPr>
        <ns0:spPr>
          <a:xfrm>
            <a:off x="6381750" y="1524000"/>
            <a:ext cx="5238750" cy="9525"/>
          </a:xfrm>
          <a:prstGeom prst="rect">
            <a:avLst/>
          </a:prstGeom>
          <a:solidFill>
            <a:srgbClr val="D7DADD"/>
          </a:solidFill>
          <a:ln w="0">
            <a:noFill/>
            <a:prstDash val="solid"/>
          </a:ln>
        </ns0:spPr>
      </ns0:sp>
      <ns0:graphicFrame>
        <ns0:nvGraphicFramePr>
          <ns0:cNvPr id="29" name="Chart"/>
          <ns0:cNvGraphicFramePr/>
          <ns0:nvPr/>
        </ns0:nvGraphicFramePr>
        <ns0:xfrm>
          <a:off x="6381750" y="1562100"/>
          <a:ext cx="5238750" cy="1857375"/>
        </ns0:xfrm>
        <a:graphic>
          <a:graphicData uri="http://schemas.openxmlformats.org/drawingml/2006/chart">
            <c:chart ns4:id="R2707a94e79ef4cc2"/>
          </a:graphicData>
        </a:graphic>
      </ns0:graphicFrame>
      <ns0:sp>
        <ns0:nvSpPr>
          <ns0:cNvPr id="13" name="">
            <a:extLst>
              <a:ext uri="{FF2B5EF4-FFF2-40B4-BE49-F238E27FC236}">
                <ns2:creationId id="{8A1074BF-B3CA-44B7-A102-58AD84039E86}"/>
              </a:ext>
            </a:extLst>
          </ns0:cNvPr>
          <ns0:cNvSpPr>
            <a:spLocks noGrp="1"/>
          </ns0:cNvSpPr>
          <ns0:nvPr/>
        </ns0:nvSpPr>
        <ns0:spPr>
          <a:xfrm>
            <a:off x="571500" y="3562350"/>
            <a:ext cx="11049000" cy="1714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1125" b="1" lang="pt-BR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 lang="pt-BR">
                <a:solidFill>
                  <a:srgbClr val="30353A"/>
                </a:solidFill>
                <a:latin typeface="Arial"/>
                <a:ea typeface="Arial"/>
                <a:cs typeface="Arial"/>
              </a:rPr>
              <a:t>Emissões por categoria ANBIMA</a:t>
            </a:r>
          </a:p>
        </ns0:txBody>
      </ns0:sp>
      <ns0:sp>
        <ns0:nvSpPr>
          <ns0:cNvPr id="14" name="">
            <a:extLst>
              <a:ext uri="{FF2B5EF4-FFF2-40B4-BE49-F238E27FC236}">
                <ns2:creationId id="{00A09905-DBC4-4464-8132-317C0AC9A72B}"/>
              </a:ext>
            </a:extLst>
          </ns0:cNvPr>
          <ns0:cNvSpPr>
            <a:spLocks noGrp="1"/>
          </ns0:cNvSpPr>
          <ns0:nvPr/>
        </ns0:nvSpPr>
        <ns0:spPr>
          <a:xfrm>
            <a:off x="571500" y="3771900"/>
            <a:ext cx="11049000" cy="9525"/>
          </a:xfrm>
          <a:prstGeom prst="rect">
            <a:avLst/>
          </a:prstGeom>
          <a:solidFill>
            <a:srgbClr val="D7DADD"/>
          </a:solidFill>
          <a:ln w="0">
            <a:noFill/>
            <a:prstDash val="solid"/>
          </a:ln>
        </ns0:spPr>
      </ns0:sp>
      <ns0:graphicFrame>
        <ns0:nvGraphicFramePr>
          <ns0:cNvPr id="32" name=""/>
          <ns0:cNvGraphicFramePr/>
          <ns0:nvPr/>
        </ns0:nvGraphicFramePr>
        <ns0:xfrm>
          <a:off x="571500" y="3810000"/>
          <a:ext cx="11049000" cy="2038350"/>
        </ns0:xfrm>
        <a:graphic>
          <a:graphicData uri="http://schemas.openxmlformats.org/drawingml/2006/table">
            <a:tbl>
              <a:tblPr firstRow="0" firstCol="0" lastRow="0" lastCol="0" bandRow="0" bandCol="0"/>
              <a:tblGrid>
                <a:gridCol w="2190750"/>
                <a:gridCol w="1000125"/>
                <a:gridCol w="1000125"/>
                <a:gridCol w="1000125"/>
                <a:gridCol w="1000125"/>
                <a:gridCol w="1000125"/>
                <a:gridCol w="1524000"/>
                <a:gridCol w="2333625"/>
              </a:tblGrid>
              <a:tr h="214313"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300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Categoria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300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2023</a:t>
                      </a:r>
                    </a:p>
                    <a:p>
                      <a:pPr algn="r"/>
                      <a:r>
                        <a:rPr sz="1300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R$ bi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300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2024</a:t>
                      </a:r>
                    </a:p>
                    <a:p>
                      <a:pPr algn="r"/>
                      <a:r>
                        <a:rPr sz="1300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R$ bi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300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2025</a:t>
                      </a:r>
                    </a:p>
                    <a:p>
                      <a:pPr algn="r"/>
                      <a:r>
                        <a:rPr sz="1300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R$ bi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300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1S25</a:t>
                      </a:r>
                    </a:p>
                    <a:p>
                      <a:pPr algn="r"/>
                      <a:r>
                        <a:rPr sz="1300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R$ bi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300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1S26</a:t>
                      </a:r>
                    </a:p>
                    <a:p>
                      <a:pPr algn="r"/>
                      <a:r>
                        <a:rPr sz="1300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R$ bi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300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1S26</a:t>
                      </a:r>
                    </a:p>
                    <a:p>
                      <a:pPr algn="r"/>
                      <a:r>
                        <a:rPr sz="1300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%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300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1S26 YoY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</a:tr>
              <a:tr h="262890"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Fomento Mercantil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4,4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9,7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9,0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4,1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5,7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9,1%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b="1" lang="pt-BR">
                          <a:solidFill>
                            <a:srgbClr val="007A3D"/>
                          </a:solidFill>
                          <a:latin typeface="Arial"/>
                          <a:ea typeface="Arial"/>
                          <a:cs typeface="Arial"/>
                        </a:rPr>
                        <a:t>+40,5%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  <a:tr h="262890"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Agro, Indústria e Comércio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8,7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19,8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28,7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19,4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10,8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17,2%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b="1" lang="pt-BR">
                          <a:solidFill>
                            <a:srgbClr val="7A1F3D"/>
                          </a:solidFill>
                          <a:latin typeface="Arial"/>
                          <a:ea typeface="Arial"/>
                          <a:cs typeface="Arial"/>
                        </a:rPr>
                        <a:t>-44,4%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  <a:tr h="262890"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Financeiro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19,3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46,9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52,4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21,6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40,4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64,4%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b="1" lang="pt-BR">
                          <a:solidFill>
                            <a:srgbClr val="007A3D"/>
                          </a:solidFill>
                          <a:latin typeface="Arial"/>
                          <a:ea typeface="Arial"/>
                          <a:cs typeface="Arial"/>
                        </a:rPr>
                        <a:t>+87,0%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  <a:tr h="262890"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Outros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8,5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12,0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16,3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7,4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5,8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9,2%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b="1" lang="pt-BR">
                          <a:solidFill>
                            <a:srgbClr val="7A1F3D"/>
                          </a:solidFill>
                          <a:latin typeface="Arial"/>
                          <a:ea typeface="Arial"/>
                          <a:cs typeface="Arial"/>
                        </a:rPr>
                        <a:t>-21,6%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  <a:tr h="262890"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Total emitido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43,7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95,4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116,9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57,2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65,5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100,0%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+14,6%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</a:tr>
            </a:tbl>
          </a:graphicData>
        </a:graphic>
      </ns0:graphicFrame>
      <ns0:sp>
        <ns0:nvSpPr>
          <ns0:cNvPr id="16" name="">
            <a:extLst>
              <a:ext uri="{FF2B5EF4-FFF2-40B4-BE49-F238E27FC236}">
                <ns2:creationId id="{E8487728-7880-4166-B27D-0F3C5D567FDA}"/>
              </a:ext>
            </a:extLst>
          </ns0:cNvPr>
          <ns0:cNvSpPr>
            <a:spLocks noGrp="1"/>
          </ns0:cNvSpPr>
          <ns0:nvPr/>
        </ns0:nvSpPr>
        <ns0:spPr>
          <a:xfrm>
            <a:off x="571500" y="5905500"/>
            <a:ext cx="11049000" cy="342900"/>
          </a:xfrm>
          <a:prstGeom prst="rect">
            <a:avLst/>
          </a:prstGeom>
          <a:solidFill>
            <a:srgbClr val="F5F6F7"/>
          </a:solidFill>
          <a:ln w="0">
            <a:noFill/>
            <a:prstDash val="solid"/>
          </a:ln>
        </ns0:spPr>
      </ns0:sp>
      <ns0:sp>
        <ns0:nvSpPr>
          <ns0:cNvPr id="17" name="">
            <a:extLst>
              <a:ext uri="{FF2B5EF4-FFF2-40B4-BE49-F238E27FC236}">
                <ns2:creationId id="{B56AD8A5-395E-4CA7-A78D-7D531609EEFF}"/>
              </a:ext>
            </a:extLst>
          </ns0:cNvPr>
          <ns0:cNvSpPr>
            <a:spLocks noGrp="1"/>
          </ns0:cNvSpPr>
          <ns0:nvPr/>
        </ns0:nvSpPr>
        <ns0:spPr>
          <a:xfrm>
            <a:off x="704850" y="5962650"/>
            <a:ext cx="10782300" cy="22860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0" tIns="0" rIns="0" bIns="0" anchor="ctr">
            <a:normAutofit fontScale="100000"/>
          </a:bodyPr>
          <a:lstStyle/>
          <a:p>
            <a:pPr algn="ctr">
              <a:lnSpc>
                <a:spcPct val="100000"/>
              </a:lnSpc>
              <a:buNone/>
              <a:defRPr sz="1000" b="1" lang="pt-BR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000" b="1" lang="pt-BR">
                <a:solidFill>
                  <a:srgbClr val="30353A"/>
                </a:solidFill>
                <a:latin typeface="Arial"/>
                <a:ea typeface="Arial"/>
                <a:cs typeface="Arial"/>
              </a:rPr>
              <a:t>CARTEIRA I · 0 CNPJs oficiais em Outros somam R$ 0,0 bi; o ledger os redistribui em 5 Agro e 1 Financeiro. Nas emissões, Outros permanece positivo: R$ 5,8 bi no 1S26.</a:t>
            </a:r>
          </a:p>
        </ns0:txBody>
      </ns0:sp>
    </ns0:spTree>
    <ns0:extLst>
      <ns0:ext uri="{BB962C8B-B14F-4D97-AF65-F5344CB8AC3E}">
        <ns5:creationId val="1793646194"/>
      </ns0:ext>
    </ns0:extLst>
  </ns0:cSld>
</ns0:sld>
</file>

<file path=ppt/slides/slide6.xml><?xml version="1.0" encoding="utf-8"?>
<ns0:sld xmlns:a="http://schemas.openxmlformats.org/drawingml/2006/main" xmlns:c="http://schemas.openxmlformats.org/drawingml/2006/chart" xmlns:ns0="http://schemas.openxmlformats.org/presentationml/2006/main" xmlns:ns2="http://schemas.microsoft.com/office/drawing/2014/main" xmlns:ns4="http://schemas.openxmlformats.org/officeDocument/2006/relationships" xmlns:ns5="http://schemas.microsoft.com/office/powerpoint/2010/main">
  <ns0:cSld>
    <ns0:bg>
      <ns0:bgPr>
        <a:solidFill>
          <a:srgbClr val="FFFFFF"/>
        </a:solidFill>
      </ns0:bgPr>
    </ns0:bg>
    <ns0:spTree>
      <ns0:nvGrpSpPr>
        <ns0:cNvPr id="1" name=""/>
        <ns0:cNvGrpSpPr/>
        <ns0:nvPr/>
      </ns0:nvGrpSpPr>
      <ns0:grpSpPr>
        <a:xfrm/>
      </ns0:grpSpPr>
      <ns0:sp>
        <ns0:nvSpPr>
          <ns0:cNvPr id="16" name="">
            <a:extLst>
              <a:ext uri="{FF2B5EF4-FFF2-40B4-BE49-F238E27FC236}">
                <ns2:creationId id="{B111A4CD-7953-411E-B38F-87B6D9A39523}"/>
              </a:ext>
            </a:extLst>
          </ns0:cNvPr>
          <ns0:cNvSpPr>
            <a:spLocks noGrp="1"/>
          </ns0:cNvSpPr>
          <ns0:nvPr/>
        </ns0:nvSpPr>
        <ns0:spPr>
          <a:xfrm>
            <a:off x="571500" y="257175"/>
            <a:ext cx="11049000" cy="409575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0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2100" b="1" lang="pt-BR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2100" b="1" lang="pt-BR">
                <a:solidFill>
                  <a:srgbClr val="151515"/>
                </a:solidFill>
                <a:latin typeface="Arial"/>
                <a:ea typeface="Arial"/>
                <a:cs typeface="Arial"/>
              </a:rPr>
              <a:t>Abrir "Outros" revela que 63% do mercado é crédito financeiro</a:t>
            </a:r>
          </a:p>
        </ns0:txBody>
      </ns0:sp>
      <ns0:sp>
        <ns0:nvSpPr>
          <ns0:cNvPr id="2" name="">
            <a:extLst>
              <a:ext uri="{FF2B5EF4-FFF2-40B4-BE49-F238E27FC236}">
                <ns2:creationId id="{C4FC7551-676A-4BA6-8A9B-3268939ED316}"/>
              </a:ext>
            </a:extLst>
          </ns0:cNvPr>
          <ns0:cNvSpPr>
            <a:spLocks noGrp="1"/>
          </ns0:cNvSpPr>
          <ns0:nvPr/>
        </ns0:nvSpPr>
        <ns0:spPr>
          <a:xfrm>
            <a:off x="571500" y="723900"/>
            <a:ext cx="11049000" cy="238125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0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1050" b="0" lang="pt-BR">
                <a:solidFill>
                  <a:srgbClr val="73787D"/>
                </a:solidFill>
                <a:latin typeface="Arial"/>
                <a:ea typeface="Arial"/>
                <a:cs typeface="Arial"/>
              </a:defRPr>
            </a:pPr>
            <a:r>
              <a:rPr sz="1050" b="0" lang="pt-BR">
                <a:solidFill>
                  <a:srgbClr val="73787D"/>
                </a:solidFill>
                <a:latin typeface="Arial"/>
                <a:ea typeface="Arial"/>
                <a:cs typeface="Arial"/>
              </a:rPr>
              <a:t>Financeiro somado aos componentes de Outros, jun/26</a:t>
            </a:r>
          </a:p>
        </ns0:txBody>
      </ns0:sp>
      <ns0:sp>
        <ns0:nvSpPr>
          <ns0:cNvPr id="3" name="">
            <a:extLst>
              <a:ext uri="{FF2B5EF4-FFF2-40B4-BE49-F238E27FC236}">
                <ns2:creationId id="{40D90392-E887-49D6-B78B-F97196AF98A1}"/>
              </a:ext>
            </a:extLst>
          </ns0:cNvPr>
          <ns0:cNvSpPr>
            <a:spLocks noGrp="1"/>
          </ns0:cNvSpPr>
          <ns0:nvPr/>
        </ns0:nvSpPr>
        <ns0:spPr>
          <a:xfrm>
            <a:off x="571500" y="1047750"/>
            <a:ext cx="11049000" cy="9525"/>
          </a:xfrm>
          <a:prstGeom prst="rect">
            <a:avLst/>
          </a:prstGeom>
          <a:solidFill>
            <a:srgbClr val="D7DADD"/>
          </a:solidFill>
          <a:ln w="0">
            <a:noFill/>
            <a:prstDash val="solid"/>
          </a:ln>
        </ns0:spPr>
      </ns0:sp>
      <ns0:sp>
        <ns0:nvSpPr>
          <ns0:cNvPr id="4" name="">
            <a:extLst>
              <a:ext uri="{FF2B5EF4-FFF2-40B4-BE49-F238E27FC236}">
                <ns2:creationId id="{6ECCD366-A081-4A0C-8744-0702D6D049B7}"/>
              </a:ext>
            </a:extLst>
          </ns0:cNvPr>
          <ns0:cNvSpPr>
            <a:spLocks noGrp="1"/>
          </ns0:cNvSpPr>
          <ns0:nvPr/>
        </ns0:nvSpPr>
        <ns0:spPr>
          <a:xfrm>
            <a:off x="571500" y="6353175"/>
            <a:ext cx="11049000" cy="9525"/>
          </a:xfrm>
          <a:prstGeom prst="rect">
            <a:avLst/>
          </a:prstGeom>
          <a:solidFill>
            <a:srgbClr val="D7DADD"/>
          </a:solidFill>
          <a:ln w="0">
            <a:noFill/>
            <a:prstDash val="solid"/>
          </a:ln>
        </ns0:spPr>
      </ns0:sp>
      <ns0:sp>
        <ns0:nvSpPr>
          <ns0:cNvPr id="5" name="">
            <a:extLst>
              <a:ext uri="{FF2B5EF4-FFF2-40B4-BE49-F238E27FC236}">
                <ns2:creationId id="{19F981E7-20BC-46C8-B106-B1CFB5A15FBF}"/>
              </a:ext>
            </a:extLst>
          </ns0:cNvPr>
          <ns0:cNvSpPr>
            <a:spLocks noGrp="1"/>
          </ns0:cNvSpPr>
          <ns0:nvPr/>
        </ns0:nvSpPr>
        <ns0:spPr>
          <a:xfrm>
            <a:off x="571500" y="6419850"/>
            <a:ext cx="10001250" cy="1714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47625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rPr>
              <a:t>Fonte: ANBIMA Data (Tipo/Foco, dez/25), Informe Mensal CVM (jun/26) e ledger documental aprovado; classificação oficial preservada no workbook.</a:t>
            </a:r>
          </a:p>
        </ns0:txBody>
      </ns0:sp>
      <ns0:sp>
        <ns0:nvSpPr>
          <ns0:cNvPr id="6" name="">
            <a:extLst>
              <a:ext uri="{FF2B5EF4-FFF2-40B4-BE49-F238E27FC236}">
                <ns2:creationId id="{4B9DF20B-3693-43CD-B2B3-20EF7E66E8C7}"/>
              </a:ext>
            </a:extLst>
          </ns0:cNvPr>
          <ns0:cNvSpPr>
            <a:spLocks noGrp="1"/>
          </ns0:cNvSpPr>
          <ns0:nvPr/>
        </ns0:nvSpPr>
        <ns0:spPr>
          <a:xfrm>
            <a:off x="11144250" y="6410325"/>
            <a:ext cx="476250" cy="1714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ctr">
            <a:normAutofit fontScale="100000"/>
          </a:bodyPr>
          <a:lstStyle/>
          <a:p>
            <a:pPr algn="r">
              <a:lnSpc>
                <a:spcPct val="100000"/>
              </a:lnSpc>
              <a:buNone/>
              <a:def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rPr>
              <a:t>6</a:t>
            </a:r>
          </a:p>
        </ns0:txBody>
      </ns0:sp>
      <ns0:sp>
        <ns0:nvSpPr>
          <ns0:cNvPr id="7" name="">
            <a:extLst>
              <a:ext uri="{FF2B5EF4-FFF2-40B4-BE49-F238E27FC236}">
                <ns2:creationId id="{A0BB0A5D-F366-41BD-BB8F-840DC880F6D6}"/>
              </a:ext>
            </a:extLst>
          </ns0:cNvPr>
          <ns0:cNvSpPr>
            <a:spLocks noGrp="1"/>
          </ns0:cNvSpPr>
          <ns0:nvPr/>
        </ns0:nvSpPr>
        <ns0:spPr>
          <a:xfrm>
            <a:off x="571500" y="1381125"/>
            <a:ext cx="5238750" cy="22860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1125" b="1" lang="pt-BR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 lang="pt-BR">
                <a:solidFill>
                  <a:srgbClr val="30353A"/>
                </a:solidFill>
                <a:latin typeface="Arial"/>
                <a:ea typeface="Arial"/>
                <a:cs typeface="Arial"/>
              </a:rPr>
              <a:t>PL ex-FIC · R$ bilhões</a:t>
            </a:r>
          </a:p>
        </ns0:txBody>
      </ns0:sp>
      <ns0:sp>
        <ns0:nvSpPr>
          <ns0:cNvPr id="8" name="">
            <a:extLst>
              <a:ext uri="{FF2B5EF4-FFF2-40B4-BE49-F238E27FC236}">
                <ns2:creationId id="{A3D02A2D-8B60-4B2E-8BB7-73B32FCEE6EE}"/>
              </a:ext>
            </a:extLst>
          </ns0:cNvPr>
          <ns0:cNvSpPr>
            <a:spLocks noGrp="1"/>
          </ns0:cNvSpPr>
          <ns0:nvPr/>
        </ns0:nvSpPr>
        <ns0:spPr>
          <a:xfrm>
            <a:off x="571500" y="1647825"/>
            <a:ext cx="5238750" cy="9525"/>
          </a:xfrm>
          <a:prstGeom prst="rect">
            <a:avLst/>
          </a:prstGeom>
          <a:solidFill>
            <a:srgbClr val="D7DADD"/>
          </a:solidFill>
          <a:ln w="0">
            <a:noFill/>
            <a:prstDash val="solid"/>
          </a:ln>
        </ns0:spPr>
      </ns0:sp>
      <ns0:graphicFrame>
        <ns0:nvGraphicFramePr>
          <ns0:cNvPr id="24" name="Chart"/>
          <ns0:cNvGraphicFramePr/>
          <ns0:nvPr/>
        </ns0:nvGraphicFramePr>
        <ns0:xfrm>
          <a:off x="571500" y="1762125"/>
          <a:ext cx="5238750" cy="3381375"/>
        </ns0:xfrm>
        <a:graphic>
          <a:graphicData uri="http://schemas.openxmlformats.org/drawingml/2006/chart">
            <c:chart ns4:id="R8a739ecb992f4b28"/>
          </a:graphicData>
        </a:graphic>
      </ns0:graphicFrame>
      <ns0:sp>
        <ns0:nvSpPr>
          <ns0:cNvPr id="10" name="">
            <a:extLst>
              <a:ext uri="{FF2B5EF4-FFF2-40B4-BE49-F238E27FC236}">
                <ns2:creationId id="{206E966C-90A1-4B2C-ADD9-72D8F25F8126}"/>
              </a:ext>
            </a:extLst>
          </ns0:cNvPr>
          <ns0:cNvSpPr>
            <a:spLocks noGrp="1"/>
          </ns0:cNvSpPr>
          <ns0:nvPr/>
        </ns0:nvSpPr>
        <ns0:spPr>
          <a:xfrm>
            <a:off x="6381750" y="1381125"/>
            <a:ext cx="5238750" cy="22860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1125" b="1" lang="pt-BR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 lang="pt-BR">
                <a:solidFill>
                  <a:srgbClr val="30353A"/>
                </a:solidFill>
                <a:latin typeface="Arial"/>
                <a:ea typeface="Arial"/>
                <a:cs typeface="Arial"/>
              </a:rPr>
              <a:t>Participação no PL ex-FIC</a:t>
            </a:r>
          </a:p>
        </ns0:txBody>
      </ns0:sp>
      <ns0:sp>
        <ns0:nvSpPr>
          <ns0:cNvPr id="11" name="">
            <a:extLst>
              <a:ext uri="{FF2B5EF4-FFF2-40B4-BE49-F238E27FC236}">
                <ns2:creationId id="{CE561D7D-92AA-48F1-9537-12314A2F6CE4}"/>
              </a:ext>
            </a:extLst>
          </ns0:cNvPr>
          <ns0:cNvSpPr>
            <a:spLocks noGrp="1"/>
          </ns0:cNvSpPr>
          <ns0:nvPr/>
        </ns0:nvSpPr>
        <ns0:spPr>
          <a:xfrm>
            <a:off x="6381750" y="1647825"/>
            <a:ext cx="5238750" cy="9525"/>
          </a:xfrm>
          <a:prstGeom prst="rect">
            <a:avLst/>
          </a:prstGeom>
          <a:solidFill>
            <a:srgbClr val="D7DADD"/>
          </a:solidFill>
          <a:ln w="0">
            <a:noFill/>
            <a:prstDash val="solid"/>
          </a:ln>
        </ns0:spPr>
      </ns0:sp>
      <ns0:graphicFrame>
        <ns0:nvGraphicFramePr>
          <ns0:cNvPr id="27" name="Chart"/>
          <ns0:cNvGraphicFramePr/>
          <ns0:nvPr/>
        </ns0:nvGraphicFramePr>
        <ns0:xfrm>
          <a:off x="6381750" y="1762125"/>
          <a:ext cx="5238750" cy="3381375"/>
        </ns0:xfrm>
        <a:graphic>
          <a:graphicData uri="http://schemas.openxmlformats.org/drawingml/2006/chart">
            <c:chart ns4:id="Rb31bf135a1334215"/>
          </a:graphicData>
        </a:graphic>
      </ns0:graphicFrame>
      <ns0:graphicFrame>
        <ns0:nvGraphicFramePr>
          <ns0:cNvPr id="28" name="Chart"/>
          <ns0:cNvGraphicFramePr/>
          <ns0:nvPr/>
        </ns0:nvGraphicFramePr>
        <ns0:xfrm>
          <a:off x="857250" y="5219700"/>
          <a:ext cx="10477500" cy="428625"/>
        </ns0:xfrm>
        <a:graphic>
          <a:graphicData uri="http://schemas.openxmlformats.org/drawingml/2006/chart">
            <c:chart ns4:id="Rb3eb0461e70a4af0"/>
          </a:graphicData>
        </a:graphic>
      </ns0:graphicFrame>
      <ns0:sp>
        <ns0:nvSpPr>
          <ns0:cNvPr id="14" name="">
            <a:extLst>
              <a:ext uri="{FF2B5EF4-FFF2-40B4-BE49-F238E27FC236}">
                <ns2:creationId id="{FBD7B953-1C3C-4356-B72E-FF3B861BE7C3}"/>
              </a:ext>
            </a:extLst>
          </ns0:cNvPr>
          <ns0:cNvSpPr>
            <a:spLocks noGrp="1"/>
          </ns0:cNvSpPr>
          <ns0:nvPr/>
        </ns0:nvSpPr>
        <ns0:spPr>
          <a:xfrm>
            <a:off x="1143000" y="5676900"/>
            <a:ext cx="9906000" cy="2095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ctr">
            <a:normAutofit fontScale="100000"/>
          </a:bodyPr>
          <a:lstStyle/>
          <a:p>
            <a:pPr algn="ctr">
              <a:lnSpc>
                <a:spcPct val="100000"/>
              </a:lnSpc>
              <a:buNone/>
              <a:defRPr sz="1000" b="1" lang="pt-BR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000" b="1" lang="pt-BR">
                <a:solidFill>
                  <a:srgbClr val="30353A"/>
                </a:solidFill>
                <a:latin typeface="Arial"/>
                <a:ea typeface="Arial"/>
                <a:cs typeface="Arial"/>
              </a:rPr>
              <a:t>Os sete blocos somam R$ 821,4 bi e fecham 100% do PL ex-FIC de jun/26.</a:t>
            </a:r>
          </a:p>
        </ns0:txBody>
      </ns0:sp>
      <ns0:sp>
        <ns0:nvSpPr>
          <ns0:cNvPr id="15" name="">
            <a:extLst>
              <a:ext uri="{FF2B5EF4-FFF2-40B4-BE49-F238E27FC236}">
                <ns2:creationId id="{C7D71E68-8363-4785-A8E5-59F94F8277AE}"/>
              </a:ext>
            </a:extLst>
          </ns0:cNvPr>
          <ns0:cNvSpPr>
            <a:spLocks noGrp="1"/>
          </ns0:cNvSpPr>
          <ns0:nvPr/>
        </ns0:nvSpPr>
        <ns0:spPr>
          <a:xfrm>
            <a:off x="666750" y="5905500"/>
            <a:ext cx="10858500" cy="3238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ctr">
            <a:normAutofit fontScale="100000"/>
          </a:bodyPr>
          <a:lstStyle/>
          <a:p>
            <a:pPr algn="ctr">
              <a:lnSpc>
                <a:spcPct val="100000"/>
              </a:lnSpc>
              <a:buNone/>
              <a:def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rPr>
              <a:t>Rótulos de exibição: Poder Público → Precatórios e/ou Ações Judiciais; Multicarteira Outros e Multicedente/Multissacado → Multicedente/Multisacado; Recuperação → Recuperação / FIDCs NP. Recuperação e N/D ficam detalhados no workbook para evitar sobreposição.</a:t>
            </a:r>
          </a:p>
        </ns0:txBody>
      </ns0:sp>
    </ns0:spTree>
    <ns0:extLst>
      <ns0:ext uri="{BB962C8B-B14F-4D97-AF65-F5344CB8AC3E}">
        <ns5:creationId val="1521510672"/>
      </ns0:ext>
    </ns0:extLst>
  </ns0:cSld>
</ns0:sld>
</file>

<file path=ppt/slides/slide7.xml><?xml version="1.0" encoding="utf-8"?>
<ns0:sld xmlns:a="http://schemas.openxmlformats.org/drawingml/2006/main" xmlns:c="http://schemas.openxmlformats.org/drawingml/2006/chart" xmlns:ns0="http://schemas.openxmlformats.org/presentationml/2006/main" xmlns:ns2="http://schemas.microsoft.com/office/drawing/2014/main" xmlns:ns4="http://schemas.openxmlformats.org/officeDocument/2006/relationships" xmlns:ns5="http://schemas.microsoft.com/office/powerpoint/2010/main">
  <ns0:cSld>
    <ns0:bg>
      <ns0:bgPr>
        <a:solidFill>
          <a:srgbClr val="FFFFFF"/>
        </a:solidFill>
      </ns0:bgPr>
    </ns0:bg>
    <ns0:spTree>
      <ns0:nvGrpSpPr>
        <ns0:cNvPr id="1" name=""/>
        <ns0:cNvGrpSpPr/>
        <ns0:nvPr/>
      </ns0:nvGrpSpPr>
      <ns0:grpSpPr>
        <a:xfrm/>
      </ns0:grpSpPr>
      <ns0:sp>
        <ns0:nvSpPr>
          <ns0:cNvPr id="15" name="">
            <a:extLst>
              <a:ext uri="{FF2B5EF4-FFF2-40B4-BE49-F238E27FC236}">
                <ns2:creationId id="{0E56E8CA-222B-4C07-8E62-CA4D2C11ED51}"/>
              </a:ext>
            </a:extLst>
          </ns0:cNvPr>
          <ns0:cNvSpPr>
            <a:spLocks noGrp="1"/>
          </ns0:cNvSpPr>
          <ns0:nvPr/>
        </ns0:nvSpPr>
        <ns0:spPr>
          <a:xfrm>
            <a:off x="571500" y="257175"/>
            <a:ext cx="11049000" cy="409575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0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2100" b="1" lang="pt-BR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2100" b="1" lang="pt-BR">
                <a:solidFill>
                  <a:srgbClr val="151515"/>
                </a:solidFill>
                <a:latin typeface="Arial"/>
                <a:ea typeface="Arial"/>
                <a:cs typeface="Arial"/>
              </a:rPr>
              <a:t>Adquirência é R$ 99 bi que a taxonomia oficial não mostra</a:t>
            </a:r>
          </a:p>
        </ns0:txBody>
      </ns0:sp>
      <ns0:sp>
        <ns0:nvSpPr>
          <ns0:cNvPr id="2" name="">
            <a:extLst>
              <a:ext uri="{FF2B5EF4-FFF2-40B4-BE49-F238E27FC236}">
                <ns2:creationId id="{D7571A19-44B7-44D9-9F3E-C196A3D412C8}"/>
              </a:ext>
            </a:extLst>
          </ns0:cNvPr>
          <ns0:cNvSpPr>
            <a:spLocks noGrp="1"/>
          </ns0:cNvSpPr>
          <ns0:nvPr/>
        </ns0:nvSpPr>
        <ns0:spPr>
          <a:xfrm>
            <a:off x="571500" y="723900"/>
            <a:ext cx="11049000" cy="238125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0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1050" b="0" lang="pt-BR">
                <a:solidFill>
                  <a:srgbClr val="73787D"/>
                </a:solidFill>
                <a:latin typeface="Arial"/>
                <a:ea typeface="Arial"/>
                <a:cs typeface="Arial"/>
              </a:defRPr>
            </a:pPr>
            <a:r>
              <a:rPr sz="1050" b="0" lang="pt-BR">
                <a:solidFill>
                  <a:srgbClr val="73787D"/>
                </a:solidFill>
                <a:latin typeface="Arial"/>
                <a:ea typeface="Arial"/>
                <a:cs typeface="Arial"/>
              </a:rPr>
              <a:t>33 CNPJs reclassificados, 12,1% do PL</a:t>
            </a:r>
          </a:p>
        </ns0:txBody>
      </ns0:sp>
      <ns0:sp>
        <ns0:nvSpPr>
          <ns0:cNvPr id="3" name="">
            <a:extLst>
              <a:ext uri="{FF2B5EF4-FFF2-40B4-BE49-F238E27FC236}">
                <ns2:creationId id="{CE53BC9C-D776-4083-B4D1-636D1705AB5F}"/>
              </a:ext>
            </a:extLst>
          </ns0:cNvPr>
          <ns0:cNvSpPr>
            <a:spLocks noGrp="1"/>
          </ns0:cNvSpPr>
          <ns0:nvPr/>
        </ns0:nvSpPr>
        <ns0:spPr>
          <a:xfrm>
            <a:off x="571500" y="1047750"/>
            <a:ext cx="11049000" cy="9525"/>
          </a:xfrm>
          <a:prstGeom prst="rect">
            <a:avLst/>
          </a:prstGeom>
          <a:solidFill>
            <a:srgbClr val="D7DADD"/>
          </a:solidFill>
          <a:ln w="0">
            <a:noFill/>
            <a:prstDash val="solid"/>
          </a:ln>
        </ns0:spPr>
      </ns0:sp>
      <ns0:sp>
        <ns0:nvSpPr>
          <ns0:cNvPr id="4" name="">
            <a:extLst>
              <a:ext uri="{FF2B5EF4-FFF2-40B4-BE49-F238E27FC236}">
                <ns2:creationId id="{97C0A059-C011-450E-9894-0321DA938BEF}"/>
              </a:ext>
            </a:extLst>
          </ns0:cNvPr>
          <ns0:cNvSpPr>
            <a:spLocks noGrp="1"/>
          </ns0:cNvSpPr>
          <ns0:nvPr/>
        </ns0:nvSpPr>
        <ns0:spPr>
          <a:xfrm>
            <a:off x="571500" y="6353175"/>
            <a:ext cx="11049000" cy="9525"/>
          </a:xfrm>
          <a:prstGeom prst="rect">
            <a:avLst/>
          </a:prstGeom>
          <a:solidFill>
            <a:srgbClr val="D7DADD"/>
          </a:solidFill>
          <a:ln w="0">
            <a:noFill/>
            <a:prstDash val="solid"/>
          </a:ln>
        </ns0:spPr>
      </ns0:sp>
      <ns0:sp>
        <ns0:nvSpPr>
          <ns0:cNvPr id="5" name="">
            <a:extLst>
              <a:ext uri="{FF2B5EF4-FFF2-40B4-BE49-F238E27FC236}">
                <ns2:creationId id="{5D7CE9BD-71CD-47F4-B5EE-B644671B6C29}"/>
              </a:ext>
            </a:extLst>
          </ns0:cNvPr>
          <ns0:cNvSpPr>
            <a:spLocks noGrp="1"/>
          </ns0:cNvSpPr>
          <ns0:nvPr/>
        </ns0:nvSpPr>
        <ns0:spPr>
          <a:xfrm>
            <a:off x="571500" y="6419850"/>
            <a:ext cx="10001250" cy="1714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47625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rPr>
              <a:t>Fonte: CVM, Informe Mensal e regulamentos no FundosNet. Curadoria em 21/jul/26; a categoria CVM original permanece preservada.</a:t>
            </a:r>
          </a:p>
        </ns0:txBody>
      </ns0:sp>
      <ns0:sp>
        <ns0:nvSpPr>
          <ns0:cNvPr id="6" name="">
            <a:extLst>
              <a:ext uri="{FF2B5EF4-FFF2-40B4-BE49-F238E27FC236}">
                <ns2:creationId id="{8EEE8B31-3EF3-41FB-9508-CE860D5F46FA}"/>
              </a:ext>
            </a:extLst>
          </ns0:cNvPr>
          <ns0:cNvSpPr>
            <a:spLocks noGrp="1"/>
          </ns0:cNvSpPr>
          <ns0:nvPr/>
        </ns0:nvSpPr>
        <ns0:spPr>
          <a:xfrm>
            <a:off x="11144250" y="6410325"/>
            <a:ext cx="476250" cy="1714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ctr">
            <a:normAutofit fontScale="100000"/>
          </a:bodyPr>
          <a:lstStyle/>
          <a:p>
            <a:pPr algn="r">
              <a:lnSpc>
                <a:spcPct val="100000"/>
              </a:lnSpc>
              <a:buNone/>
              <a:def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rPr>
              <a:t>7</a:t>
            </a:r>
          </a:p>
        </ns0:txBody>
      </ns0:sp>
      <ns0:sp>
        <ns0:nvSpPr>
          <ns0:cNvPr id="7" name="">
            <a:extLst>
              <a:ext uri="{FF2B5EF4-FFF2-40B4-BE49-F238E27FC236}">
                <ns2:creationId id="{D5B2445A-E133-43C4-8C5B-66DCAD47B5E5}"/>
              </a:ext>
            </a:extLst>
          </ns0:cNvPr>
          <ns0:cNvSpPr>
            <a:spLocks noGrp="1"/>
          </ns0:cNvSpPr>
          <ns0:nvPr/>
        </ns0:nvSpPr>
        <ns0:spPr>
          <a:xfrm>
            <a:off x="571500" y="1428750"/>
            <a:ext cx="5238750" cy="22860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1125" b="1" lang="pt-BR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 lang="pt-BR">
                <a:solidFill>
                  <a:srgbClr val="30353A"/>
                </a:solidFill>
                <a:latin typeface="Arial"/>
                <a:ea typeface="Arial"/>
                <a:cs typeface="Arial"/>
              </a:rPr>
              <a:t>PL ex-FIC · R$ bi · dez/23 → jun/26</a:t>
            </a:r>
          </a:p>
        </ns0:txBody>
      </ns0:sp>
      <ns0:sp>
        <ns0:nvSpPr>
          <ns0:cNvPr id="8" name="">
            <a:extLst>
              <a:ext uri="{FF2B5EF4-FFF2-40B4-BE49-F238E27FC236}">
                <ns2:creationId id="{1CB4500F-E15E-4BDE-9287-43CBEDCA0A21}"/>
              </a:ext>
            </a:extLst>
          </ns0:cNvPr>
          <ns0:cNvSpPr>
            <a:spLocks noGrp="1"/>
          </ns0:cNvSpPr>
          <ns0:nvPr/>
        </ns0:nvSpPr>
        <ns0:spPr>
          <a:xfrm>
            <a:off x="571500" y="1695450"/>
            <a:ext cx="5238750" cy="9525"/>
          </a:xfrm>
          <a:prstGeom prst="rect">
            <a:avLst/>
          </a:prstGeom>
          <a:solidFill>
            <a:srgbClr val="D7DADD"/>
          </a:solidFill>
          <a:ln w="0">
            <a:noFill/>
            <a:prstDash val="solid"/>
          </a:ln>
        </ns0:spPr>
      </ns0:sp>
      <ns0:graphicFrame>
        <ns0:nvGraphicFramePr>
          <ns0:cNvPr id="23" name="Chart"/>
          <ns0:cNvGraphicFramePr/>
          <ns0:nvPr/>
        </ns0:nvGraphicFramePr>
        <ns0:xfrm>
          <a:off x="571500" y="1762125"/>
          <a:ext cx="5238750" cy="3810000"/>
        </ns0:xfrm>
        <a:graphic>
          <a:graphicData uri="http://schemas.openxmlformats.org/drawingml/2006/chart">
            <c:chart ns4:id="R9eb7af9f178b4ce1"/>
          </a:graphicData>
        </a:graphic>
      </ns0:graphicFrame>
      <ns0:sp>
        <ns0:nvSpPr>
          <ns0:cNvPr id="10" name="">
            <a:extLst>
              <a:ext uri="{FF2B5EF4-FFF2-40B4-BE49-F238E27FC236}">
                <ns2:creationId id="{012EBB07-1CC9-42C3-BEFB-8936A759D779}"/>
              </a:ext>
            </a:extLst>
          </ns0:cNvPr>
          <ns0:cNvSpPr>
            <a:spLocks noGrp="1"/>
          </ns0:cNvSpPr>
          <ns0:nvPr/>
        </ns0:nvSpPr>
        <ns0:spPr>
          <a:xfrm>
            <a:off x="6381750" y="1428750"/>
            <a:ext cx="5238750" cy="22860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1125" b="1" lang="pt-BR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 lang="pt-BR">
                <a:solidFill>
                  <a:srgbClr val="30353A"/>
                </a:solidFill>
                <a:latin typeface="Arial"/>
                <a:ea typeface="Arial"/>
                <a:cs typeface="Arial"/>
              </a:rPr>
              <a:t>% do PL ex-FIC · dez/23 → jun/26</a:t>
            </a:r>
          </a:p>
        </ns0:txBody>
      </ns0:sp>
      <ns0:sp>
        <ns0:nvSpPr>
          <ns0:cNvPr id="11" name="">
            <a:extLst>
              <a:ext uri="{FF2B5EF4-FFF2-40B4-BE49-F238E27FC236}">
                <ns2:creationId id="{73CDD542-AD8C-44A3-AF88-83BD4918152A}"/>
              </a:ext>
            </a:extLst>
          </ns0:cNvPr>
          <ns0:cNvSpPr>
            <a:spLocks noGrp="1"/>
          </ns0:cNvSpPr>
          <ns0:nvPr/>
        </ns0:nvSpPr>
        <ns0:spPr>
          <a:xfrm>
            <a:off x="6381750" y="1695450"/>
            <a:ext cx="5238750" cy="9525"/>
          </a:xfrm>
          <a:prstGeom prst="rect">
            <a:avLst/>
          </a:prstGeom>
          <a:solidFill>
            <a:srgbClr val="D7DADD"/>
          </a:solidFill>
          <a:ln w="0">
            <a:noFill/>
            <a:prstDash val="solid"/>
          </a:ln>
        </ns0:spPr>
      </ns0:sp>
      <ns0:graphicFrame>
        <ns0:nvGraphicFramePr>
          <ns0:cNvPr id="26" name="Chart"/>
          <ns0:cNvGraphicFramePr/>
          <ns0:nvPr/>
        </ns0:nvGraphicFramePr>
        <ns0:xfrm>
          <a:off x="6381750" y="1762125"/>
          <a:ext cx="5238750" cy="3810000"/>
        </ns0:xfrm>
        <a:graphic>
          <a:graphicData uri="http://schemas.openxmlformats.org/drawingml/2006/chart">
            <c:chart ns4:id="Rb44160be6a1843be"/>
          </a:graphicData>
        </a:graphic>
      </ns0:graphicFrame>
      <ns0:graphicFrame>
        <ns0:nvGraphicFramePr>
          <ns0:cNvPr id="27" name="Chart"/>
          <ns0:cNvGraphicFramePr/>
          <ns0:nvPr/>
        </ns0:nvGraphicFramePr>
        <ns0:xfrm>
          <a:off x="8858250" y="1200150"/>
          <a:ext cx="2762250" cy="209550"/>
        </ns0:xfrm>
        <a:graphic>
          <a:graphicData uri="http://schemas.openxmlformats.org/drawingml/2006/chart">
            <c:chart ns4:id="R88260993e592431d"/>
          </a:graphicData>
        </a:graphic>
      </ns0:graphicFrame>
      <ns0:sp>
        <ns0:nvSpPr>
          <ns0:cNvPr id="14" name="">
            <a:extLst>
              <a:ext uri="{FF2B5EF4-FFF2-40B4-BE49-F238E27FC236}">
                <ns2:creationId id="{5D4E422E-7847-4281-A82A-FEDB4EC78C4A}"/>
              </a:ext>
            </a:extLst>
          </ns0:cNvPr>
          <ns0:cNvSpPr>
            <a:spLocks noGrp="1"/>
          </ns0:cNvSpPr>
          <ns0:nvPr/>
        </ns0:nvSpPr>
        <ns0:spPr>
          <a:xfrm>
            <a:off x="571500" y="5953125"/>
            <a:ext cx="11049000" cy="2857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ctr">
            <a:normAutofit fontScale="100000"/>
          </a:bodyPr>
          <a:lstStyle/>
          <a:p>
            <a:pPr algn="r">
              <a:lnSpc>
                <a:spcPct val="100000"/>
              </a:lnSpc>
              <a:buNone/>
              <a:def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rPr>
              <a:t>Bucket Cartão: 26 incluídos, 17 fora e 4 pendentes. Em jun/26, 31 dos 33 CNPJs selecionados têm reporte ativo; 2 não reportam.</a:t>
            </a:r>
          </a:p>
        </ns0:txBody>
      </ns0:sp>
    </ns0:spTree>
    <ns0:extLst>
      <ns0:ext uri="{BB962C8B-B14F-4D97-AF65-F5344CB8AC3E}">
        <ns5:creationId val="1053181468"/>
      </ns0:ext>
    </ns0:extLst>
  </ns0:cSld>
</ns0:sld>
</file>

<file path=ppt/slides/slide8.xml><?xml version="1.0" encoding="utf-8"?>
<ns0:sld xmlns:a="http://schemas.openxmlformats.org/drawingml/2006/main" xmlns:c="http://schemas.openxmlformats.org/drawingml/2006/chart" xmlns:ns0="http://schemas.openxmlformats.org/presentationml/2006/main" xmlns:ns2="http://schemas.microsoft.com/office/drawing/2014/main" xmlns:ns4="http://schemas.openxmlformats.org/officeDocument/2006/relationships" xmlns:ns5="http://schemas.microsoft.com/office/powerpoint/2010/main">
  <ns0:cSld>
    <ns0:bg>
      <ns0:bgPr>
        <a:solidFill>
          <a:srgbClr val="FFFFFF"/>
        </a:solidFill>
      </ns0:bgPr>
    </ns0:bg>
    <ns0:spTree>
      <ns0:nvGrpSpPr>
        <ns0:cNvPr id="1" name=""/>
        <ns0:cNvGrpSpPr/>
        <ns0:nvPr/>
      </ns0:nvGrpSpPr>
      <ns0:grpSpPr>
        <a:xfrm/>
      </ns0:grpSpPr>
      <ns0:sp>
        <ns0:nvSpPr>
          <ns0:cNvPr id="16" name="">
            <a:extLst>
              <a:ext uri="{FF2B5EF4-FFF2-40B4-BE49-F238E27FC236}">
                <ns2:creationId id="{14795EF6-D473-44ED-94A4-896601C1D4C8}"/>
              </a:ext>
            </a:extLst>
          </ns0:cNvPr>
          <ns0:cNvSpPr>
            <a:spLocks noGrp="1"/>
          </ns0:cNvSpPr>
          <ns0:nvPr/>
        </ns0:nvSpPr>
        <ns0:spPr>
          <a:xfrm>
            <a:off x="571500" y="257175"/>
            <a:ext cx="11049000" cy="409575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0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2100" b="1" lang="pt-BR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2100" b="1" lang="pt-BR">
                <a:solidFill>
                  <a:srgbClr val="151515"/>
                </a:solidFill>
                <a:latin typeface="Arial"/>
                <a:ea typeface="Arial"/>
                <a:cs typeface="Arial"/>
              </a:rPr>
              <a:t>Financeiro explicou 70% do crescimento da carteira</a:t>
            </a:r>
          </a:p>
        </ns0:txBody>
      </ns0:sp>
      <ns0:sp>
        <ns0:nvSpPr>
          <ns0:cNvPr id="2" name="">
            <a:extLst>
              <a:ext uri="{FF2B5EF4-FFF2-40B4-BE49-F238E27FC236}">
                <ns2:creationId id="{AD774BE7-F485-4249-8758-28770AA6D197}"/>
              </a:ext>
            </a:extLst>
          </ns0:cNvPr>
          <ns0:cNvSpPr>
            <a:spLocks noGrp="1"/>
          </ns0:cNvSpPr>
          <ns0:nvPr/>
        </ns0:nvSpPr>
        <ns0:spPr>
          <a:xfrm>
            <a:off x="571500" y="723900"/>
            <a:ext cx="11049000" cy="238125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0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1050" b="0" lang="pt-BR">
                <a:solidFill>
                  <a:srgbClr val="73787D"/>
                </a:solidFill>
                <a:latin typeface="Arial"/>
                <a:ea typeface="Arial"/>
                <a:cs typeface="Arial"/>
              </a:defRPr>
            </a:pPr>
            <a:r>
              <a:rPr sz="1050" b="0" lang="pt-BR">
                <a:solidFill>
                  <a:srgbClr val="73787D"/>
                </a:solidFill>
                <a:latin typeface="Arial"/>
                <a:ea typeface="Arial"/>
                <a:cs typeface="Arial"/>
              </a:rPr>
              <a:t>Ganho de 17,5 p.p. de participação no período</a:t>
            </a:r>
          </a:p>
        </ns0:txBody>
      </ns0:sp>
      <ns0:sp>
        <ns0:nvSpPr>
          <ns0:cNvPr id="3" name="">
            <a:extLst>
              <a:ext uri="{FF2B5EF4-FFF2-40B4-BE49-F238E27FC236}">
                <ns2:creationId id="{2F125623-58E4-4871-8F61-05040DB27EDB}"/>
              </a:ext>
            </a:extLst>
          </ns0:cNvPr>
          <ns0:cNvSpPr>
            <a:spLocks noGrp="1"/>
          </ns0:cNvSpPr>
          <ns0:nvPr/>
        </ns0:nvSpPr>
        <ns0:spPr>
          <a:xfrm>
            <a:off x="571500" y="1047750"/>
            <a:ext cx="11049000" cy="9525"/>
          </a:xfrm>
          <a:prstGeom prst="rect">
            <a:avLst/>
          </a:prstGeom>
          <a:solidFill>
            <a:srgbClr val="D7DADD"/>
          </a:solidFill>
          <a:ln w="0">
            <a:noFill/>
            <a:prstDash val="solid"/>
          </a:ln>
        </ns0:spPr>
      </ns0:sp>
      <ns0:sp>
        <ns0:nvSpPr>
          <ns0:cNvPr id="4" name="">
            <a:extLst>
              <a:ext uri="{FF2B5EF4-FFF2-40B4-BE49-F238E27FC236}">
                <ns2:creationId id="{C221E649-B5A0-4D1E-BC74-BD7B85F33E1D}"/>
              </a:ext>
            </a:extLst>
          </ns0:cNvPr>
          <ns0:cNvSpPr>
            <a:spLocks noGrp="1"/>
          </ns0:cNvSpPr>
          <ns0:nvPr/>
        </ns0:nvSpPr>
        <ns0:spPr>
          <a:xfrm>
            <a:off x="571500" y="6353175"/>
            <a:ext cx="11049000" cy="9525"/>
          </a:xfrm>
          <a:prstGeom prst="rect">
            <a:avLst/>
          </a:prstGeom>
          <a:solidFill>
            <a:srgbClr val="D7DADD"/>
          </a:solidFill>
          <a:ln w="0">
            <a:noFill/>
            <a:prstDash val="solid"/>
          </a:ln>
        </ns0:spPr>
      </ns0:sp>
      <ns0:sp>
        <ns0:nvSpPr>
          <ns0:cNvPr id="5" name="">
            <a:extLst>
              <a:ext uri="{FF2B5EF4-FFF2-40B4-BE49-F238E27FC236}">
                <ns2:creationId id="{68B011A0-E01D-45D5-B48D-0C18EE067F1E}"/>
              </a:ext>
            </a:extLst>
          </ns0:cNvPr>
          <ns0:cNvSpPr>
            <a:spLocks noGrp="1"/>
          </ns0:cNvSpPr>
          <ns0:nvPr/>
        </ns0:nvSpPr>
        <ns0:spPr>
          <a:xfrm>
            <a:off x="571500" y="6419850"/>
            <a:ext cx="10001250" cy="1714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47625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rPr>
              <a:t>Fonte: CVM, Informe Mensal, Tabela II; dez/23 e jun/26. Percentuais sobre a soma dos segmentos reportados; contribuição = Δ Financeiro / Δ total líquido.</a:t>
            </a:r>
          </a:p>
        </ns0:txBody>
      </ns0:sp>
      <ns0:sp>
        <ns0:nvSpPr>
          <ns0:cNvPr id="6" name="">
            <a:extLst>
              <a:ext uri="{FF2B5EF4-FFF2-40B4-BE49-F238E27FC236}">
                <ns2:creationId id="{6D37CFAC-6B55-4D53-A3EC-69FFEF0FE10C}"/>
              </a:ext>
            </a:extLst>
          </ns0:cNvPr>
          <ns0:cNvSpPr>
            <a:spLocks noGrp="1"/>
          </ns0:cNvSpPr>
          <ns0:nvPr/>
        </ns0:nvSpPr>
        <ns0:spPr>
          <a:xfrm>
            <a:off x="11144250" y="6410325"/>
            <a:ext cx="476250" cy="1714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ctr">
            <a:normAutofit fontScale="100000"/>
          </a:bodyPr>
          <a:lstStyle/>
          <a:p>
            <a:pPr algn="r">
              <a:lnSpc>
                <a:spcPct val="100000"/>
              </a:lnSpc>
              <a:buNone/>
              <a:def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rPr>
              <a:t>8</a:t>
            </a:r>
          </a:p>
        </ns0:txBody>
      </ns0:sp>
      <ns0:sp>
        <ns0:nvSpPr>
          <ns0:cNvPr id="7" name="">
            <a:extLst>
              <a:ext uri="{FF2B5EF4-FFF2-40B4-BE49-F238E27FC236}">
                <ns2:creationId id="{54642261-83C7-45A1-98BD-8A3C31B573BD}"/>
              </a:ext>
            </a:extLst>
          </ns0:cNvPr>
          <ns0:cNvSpPr>
            <a:spLocks noGrp="1"/>
          </ns0:cNvSpPr>
          <ns0:nvPr/>
        </ns0:nvSpPr>
        <ns0:spPr>
          <a:xfrm>
            <a:off x="571500" y="1428750"/>
            <a:ext cx="5238750" cy="22860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1125" b="1" lang="pt-BR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 lang="pt-BR">
                <a:solidFill>
                  <a:srgbClr val="30353A"/>
                </a:solidFill>
                <a:latin typeface="Arial"/>
                <a:ea typeface="Arial"/>
                <a:cs typeface="Arial"/>
              </a:rPr>
              <a:t>Valor reportado · R$ bi</a:t>
            </a:r>
          </a:p>
        </ns0:txBody>
      </ns0:sp>
      <ns0:sp>
        <ns0:nvSpPr>
          <ns0:cNvPr id="8" name="">
            <a:extLst>
              <a:ext uri="{FF2B5EF4-FFF2-40B4-BE49-F238E27FC236}">
                <ns2:creationId id="{D2778257-C720-41D8-9903-F1F725A0B952}"/>
              </a:ext>
            </a:extLst>
          </ns0:cNvPr>
          <ns0:cNvSpPr>
            <a:spLocks noGrp="1"/>
          </ns0:cNvSpPr>
          <ns0:nvPr/>
        </ns0:nvSpPr>
        <ns0:spPr>
          <a:xfrm>
            <a:off x="571500" y="1695450"/>
            <a:ext cx="5238750" cy="9525"/>
          </a:xfrm>
          <a:prstGeom prst="rect">
            <a:avLst/>
          </a:prstGeom>
          <a:solidFill>
            <a:srgbClr val="D7DADD"/>
          </a:solidFill>
          <a:ln w="0">
            <a:noFill/>
            <a:prstDash val="solid"/>
          </a:ln>
        </ns0:spPr>
      </ns0:sp>
      <ns0:graphicFrame>
        <ns0:nvGraphicFramePr>
          <ns0:cNvPr id="24" name="Chart"/>
          <ns0:cNvGraphicFramePr/>
          <ns0:nvPr/>
        </ns0:nvGraphicFramePr>
        <ns0:xfrm>
          <a:off x="571500" y="1743075"/>
          <a:ext cx="5238750" cy="4238625"/>
        </ns0:xfrm>
        <a:graphic>
          <a:graphicData uri="http://schemas.openxmlformats.org/drawingml/2006/chart">
            <c:chart ns4:id="R7a08196cb71648f1"/>
          </a:graphicData>
        </a:graphic>
      </ns0:graphicFrame>
      <ns0:sp>
        <ns0:nvSpPr>
          <ns0:cNvPr id="10" name="">
            <a:extLst>
              <a:ext uri="{FF2B5EF4-FFF2-40B4-BE49-F238E27FC236}">
                <ns2:creationId id="{A1D565DE-D1C1-45B9-B3C6-226DF1E5EEAB}"/>
              </a:ext>
            </a:extLst>
          </ns0:cNvPr>
          <ns0:cNvSpPr>
            <a:spLocks noGrp="1"/>
          </ns0:cNvSpPr>
          <ns0:nvPr/>
        </ns0:nvSpPr>
        <ns0:spPr>
          <a:xfrm>
            <a:off x="6381750" y="1428750"/>
            <a:ext cx="5238750" cy="22860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1125" b="1" lang="pt-BR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 lang="pt-BR">
                <a:solidFill>
                  <a:srgbClr val="30353A"/>
                </a:solidFill>
                <a:latin typeface="Arial"/>
                <a:ea typeface="Arial"/>
                <a:cs typeface="Arial"/>
              </a:rPr>
              <a:t>% do valor segmentado da tabela II</a:t>
            </a:r>
          </a:p>
        </ns0:txBody>
      </ns0:sp>
      <ns0:sp>
        <ns0:nvSpPr>
          <ns0:cNvPr id="11" name="">
            <a:extLst>
              <a:ext uri="{FF2B5EF4-FFF2-40B4-BE49-F238E27FC236}">
                <ns2:creationId id="{903C89CD-333E-4080-A9F0-3CC27C59C2F7}"/>
              </a:ext>
            </a:extLst>
          </ns0:cNvPr>
          <ns0:cNvSpPr>
            <a:spLocks noGrp="1"/>
          </ns0:cNvSpPr>
          <ns0:nvPr/>
        </ns0:nvSpPr>
        <ns0:spPr>
          <a:xfrm>
            <a:off x="6381750" y="1695450"/>
            <a:ext cx="5238750" cy="9525"/>
          </a:xfrm>
          <a:prstGeom prst="rect">
            <a:avLst/>
          </a:prstGeom>
          <a:solidFill>
            <a:srgbClr val="D7DADD"/>
          </a:solidFill>
          <a:ln w="0">
            <a:noFill/>
            <a:prstDash val="solid"/>
          </a:ln>
        </ns0:spPr>
      </ns0:sp>
      <ns0:graphicFrame>
        <ns0:nvGraphicFramePr>
          <ns0:cNvPr id="27" name="Chart"/>
          <ns0:cNvGraphicFramePr/>
          <ns0:nvPr/>
        </ns0:nvGraphicFramePr>
        <ns0:xfrm>
          <a:off x="6381750" y="1743075"/>
          <a:ext cx="5238750" cy="4238625"/>
        </ns0:xfrm>
        <a:graphic>
          <a:graphicData uri="http://schemas.openxmlformats.org/drawingml/2006/chart">
            <c:chart ns4:id="Rdffd8ef8a16c4feb"/>
          </a:graphicData>
        </a:graphic>
      </ns0:graphicFrame>
      <ns0:sp>
        <ns0:nvSpPr>
          <ns0:cNvPr id="13" name="">
            <a:extLst>
              <a:ext uri="{FF2B5EF4-FFF2-40B4-BE49-F238E27FC236}">
                <ns2:creationId id="{1A0CAF52-8F93-45E7-A3EE-B5C386D1ABBB}"/>
              </a:ext>
            </a:extLst>
          </ns0:cNvPr>
          <ns0:cNvSpPr>
            <a:spLocks noGrp="1"/>
          </ns0:cNvSpPr>
          <ns0:nvPr/>
        </ns0:nvSpPr>
        <ns0:spPr>
          <a:xfrm>
            <a:off x="7239000" y="5715000"/>
            <a:ext cx="4381500" cy="228600"/>
          </a:xfrm>
          <a:prstGeom prst="rect">
            <a:avLst/>
          </a:prstGeom>
          <a:solidFill>
            <a:srgbClr val="FFFFFF"/>
          </a:solidFill>
          <a:ln w="0">
            <a:noFill/>
            <a:prstDash val="solid"/>
          </a:ln>
        </ns0:spPr>
      </ns0:sp>
      <ns0:sp>
        <ns0:nvSpPr>
          <ns0:cNvPr id="14" name="">
            <a:extLst>
              <a:ext uri="{FF2B5EF4-FFF2-40B4-BE49-F238E27FC236}">
                <ns2:creationId id="{72FC1019-2EAF-495D-980E-F799FFA6DAC5}"/>
              </a:ext>
            </a:extLst>
          </ns0:cNvPr>
          <ns0:cNvSpPr>
            <a:spLocks noGrp="1"/>
          </ns0:cNvSpPr>
          <ns0:nvPr/>
        </ns0:nvSpPr>
        <ns0:spPr>
          <a:xfrm>
            <a:off x="571500" y="6048375"/>
            <a:ext cx="11049000" cy="22860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ctr">
            <a:normAutofit fontScale="100000"/>
          </a:bodyPr>
          <a:lstStyle/>
          <a:p>
            <a:pPr algn="r">
              <a:lnSpc>
                <a:spcPct val="100000"/>
              </a:lnSpc>
              <a:buNone/>
              <a:defRPr sz="1000" b="0" lang="pt-BR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000" b="0" lang="pt-BR">
                <a:solidFill>
                  <a:srgbClr val="30353A"/>
                </a:solidFill>
                <a:latin typeface="Arial"/>
                <a:ea typeface="Arial"/>
                <a:cs typeface="Arial"/>
              </a:rPr>
              <a:t>Diferença Tabela II − Tabela I: R$ 51,7 bi em dez/23 e R$ 60,4 bi em jun/26. Em jun/26, 0 fundos sem abertura (R$ 0,0 bi de PL); Top 20 explicam 40,5% do gap positivo.</a:t>
            </a:r>
          </a:p>
        </ns0:txBody>
      </ns0:sp>
      <ns0:graphicFrame>
        <ns0:nvGraphicFramePr>
          <ns0:cNvPr id="30" name="Chart"/>
          <ns0:cNvGraphicFramePr/>
          <ns0:nvPr/>
        </ns0:nvGraphicFramePr>
        <ns0:xfrm>
          <a:off x="9239250" y="1219200"/>
          <a:ext cx="2381250" cy="209550"/>
        </ns0:xfrm>
        <a:graphic>
          <a:graphicData uri="http://schemas.openxmlformats.org/drawingml/2006/chart">
            <c:chart ns4:id="R24e078dfd4d04cfa"/>
          </a:graphicData>
        </a:graphic>
      </ns0:graphicFrame>
    </ns0:spTree>
    <ns0:extLst>
      <ns0:ext uri="{BB962C8B-B14F-4D97-AF65-F5344CB8AC3E}">
        <ns5:creationId val="1024859314"/>
      </ns0:ext>
    </ns0:extLst>
  </ns0:cSld>
</ns0:sld>
</file>

<file path=ppt/slides/slide9.xml><?xml version="1.0" encoding="utf-8"?>
<ns0:sld xmlns:a="http://schemas.openxmlformats.org/drawingml/2006/main" xmlns:ns0="http://schemas.openxmlformats.org/presentationml/2006/main" xmlns:ns2="http://schemas.microsoft.com/office/drawing/2014/main" xmlns:ns3="http://schemas.microsoft.com/office/powerpoint/2010/main">
  <ns0:cSld>
    <ns0:bg>
      <ns0:bgPr>
        <a:solidFill>
          <a:srgbClr val="FFFFFF"/>
        </a:solidFill>
      </ns0:bgPr>
    </ns0:bg>
    <ns0:spTree>
      <ns0:nvGrpSpPr>
        <ns0:cNvPr id="1" name=""/>
        <ns0:cNvGrpSpPr/>
        <ns0:nvPr/>
      </ns0:nvGrpSpPr>
      <ns0:grpSpPr>
        <a:xfrm/>
      </ns0:grpSpPr>
      <ns0:sp>
        <ns0:nvSpPr>
          <ns0:cNvPr id="10" name="">
            <a:extLst>
              <a:ext uri="{FF2B5EF4-FFF2-40B4-BE49-F238E27FC236}">
                <ns2:creationId id="{0489462D-05C6-4D0F-B0A7-8AC5BC19E131}"/>
              </a:ext>
            </a:extLst>
          </ns0:cNvPr>
          <ns0:cNvSpPr>
            <a:spLocks noGrp="1"/>
          </ns0:cNvSpPr>
          <ns0:nvPr/>
        </ns0:nvSpPr>
        <ns0:spPr>
          <a:xfrm>
            <a:off x="571500" y="257175"/>
            <a:ext cx="11049000" cy="19050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0" tIns="0" rIns="0" bIns="0" anchor="t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1000" b="1" lang="pt-BR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1000" b="1" lang="pt-BR">
                <a:solidFill>
                  <a:srgbClr val="EC7000"/>
                </a:solidFill>
                <a:latin typeface="Arial"/>
                <a:ea typeface="Arial"/>
                <a:cs typeface="Arial"/>
              </a:rPr>
              <a:t>RANKING · TOP 20 FIDCs</a:t>
            </a:r>
          </a:p>
        </ns0:txBody>
      </ns0:sp>
      <ns0:sp>
        <ns0:nvSpPr>
          <ns0:cNvPr id="2" name="">
            <a:extLst>
              <a:ext uri="{FF2B5EF4-FFF2-40B4-BE49-F238E27FC236}">
                <ns2:creationId id="{27B19639-5693-42A1-B4CD-2B8A23A09396}"/>
              </a:ext>
            </a:extLst>
          </ns0:cNvPr>
          <ns0:cNvSpPr>
            <a:spLocks noGrp="1"/>
          </ns0:cNvSpPr>
          <ns0:nvPr/>
        </ns0:nvSpPr>
        <ns0:spPr>
          <a:xfrm>
            <a:off x="571500" y="504825"/>
            <a:ext cx="11049000" cy="466725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0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2100" b="1" lang="pt-BR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2100" b="1" lang="pt-BR">
                <a:solidFill>
                  <a:srgbClr val="151515"/>
                </a:solidFill>
                <a:latin typeface="Arial"/>
                <a:ea typeface="Arial"/>
                <a:cs typeface="Arial"/>
              </a:rPr>
              <a:t>Top 20 somam 27,5% do PL ex-FIC; Petrobras e TAPSO são 45,5% do bloco</a:t>
            </a:r>
          </a:p>
        </ns0:txBody>
      </ns0:sp>
      <ns0:sp>
        <ns0:nvSpPr>
          <ns0:cNvPr id="3" name="">
            <a:extLst>
              <a:ext uri="{FF2B5EF4-FFF2-40B4-BE49-F238E27FC236}">
                <ns2:creationId id="{3CFA571B-EF63-498C-A251-EB28479F4163}"/>
              </a:ext>
            </a:extLst>
          </ns0:cNvPr>
          <ns0:cNvSpPr>
            <a:spLocks noGrp="1"/>
          </ns0:cNvSpPr>
          <ns0:nvPr/>
        </ns0:nvSpPr>
        <ns0:spPr>
          <a:xfrm>
            <a:off x="571500" y="1047750"/>
            <a:ext cx="11049000" cy="9525"/>
          </a:xfrm>
          <a:prstGeom prst="rect">
            <a:avLst/>
          </a:prstGeom>
          <a:solidFill>
            <a:srgbClr val="D7DADD"/>
          </a:solidFill>
          <a:ln w="0">
            <a:noFill/>
            <a:prstDash val="solid"/>
          </a:ln>
        </ns0:spPr>
      </ns0:sp>
      <ns0:sp>
        <ns0:nvSpPr>
          <ns0:cNvPr id="4" name="">
            <a:extLst>
              <a:ext uri="{FF2B5EF4-FFF2-40B4-BE49-F238E27FC236}">
                <ns2:creationId id="{B0C4C89F-87A5-4C85-8859-8B16A12B69F7}"/>
              </a:ext>
            </a:extLst>
          </ns0:cNvPr>
          <ns0:cNvSpPr>
            <a:spLocks noGrp="1"/>
          </ns0:cNvSpPr>
          <ns0:nvPr/>
        </ns0:nvSpPr>
        <ns0:spPr>
          <a:xfrm>
            <a:off x="571500" y="6353175"/>
            <a:ext cx="11049000" cy="9525"/>
          </a:xfrm>
          <a:prstGeom prst="rect">
            <a:avLst/>
          </a:prstGeom>
          <a:solidFill>
            <a:srgbClr val="D7DADD"/>
          </a:solidFill>
          <a:ln w="0">
            <a:noFill/>
            <a:prstDash val="solid"/>
          </a:ln>
        </ns0:spPr>
      </ns0:sp>
      <ns0:sp>
        <ns0:nvSpPr>
          <ns0:cNvPr id="5" name="">
            <a:extLst>
              <a:ext uri="{FF2B5EF4-FFF2-40B4-BE49-F238E27FC236}">
                <ns2:creationId id="{E5B5CCC4-E6D9-44E1-B07F-8F03D44C9D66}"/>
              </a:ext>
            </a:extLst>
          </ns0:cNvPr>
          <ns0:cNvSpPr>
            <a:spLocks noGrp="1"/>
          </ns0:cNvSpPr>
          <ns0:nvPr/>
        </ns0:nvSpPr>
        <ns0:spPr>
          <a:xfrm>
            <a:off x="571500" y="6419850"/>
            <a:ext cx="10001250" cy="1714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47625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rPr>
              <a:t>Fonte: CVM, ANBIMA, ledger analítico e base Carteira 101, jun/26. * = cadastro conferido; N/D = originador/cedente não localizado.</a:t>
            </a:r>
          </a:p>
        </ns0:txBody>
      </ns0:sp>
      <ns0:sp>
        <ns0:nvSpPr>
          <ns0:cNvPr id="6" name="">
            <a:extLst>
              <a:ext uri="{FF2B5EF4-FFF2-40B4-BE49-F238E27FC236}">
                <ns2:creationId id="{BC7E10B0-39F6-4078-BD30-B798F535E682}"/>
              </a:ext>
            </a:extLst>
          </ns0:cNvPr>
          <ns0:cNvSpPr>
            <a:spLocks noGrp="1"/>
          </ns0:cNvSpPr>
          <ns0:nvPr/>
        </ns0:nvSpPr>
        <ns0:spPr>
          <a:xfrm>
            <a:off x="11144250" y="6410325"/>
            <a:ext cx="476250" cy="1714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ctr">
            <a:normAutofit fontScale="100000"/>
          </a:bodyPr>
          <a:lstStyle/>
          <a:p>
            <a:pPr algn="r">
              <a:lnSpc>
                <a:spcPct val="100000"/>
              </a:lnSpc>
              <a:buNone/>
              <a:def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rPr>
              <a:t>9</a:t>
            </a:r>
          </a:p>
        </ns0:txBody>
      </ns0:sp>
      <ns0:graphicFrame>
        <ns0:nvGraphicFramePr>
          <ns0:cNvPr id="16" name=""/>
          <ns0:cNvGraphicFramePr/>
          <ns0:nvPr/>
        </ns0:nvGraphicFramePr>
        <ns0:xfrm>
          <a:off x="571500" y="1428750"/>
          <a:ext cx="5429250" cy="4429125"/>
        </ns0:xfrm>
        <a:graphic>
          <a:graphicData uri="http://schemas.openxmlformats.org/drawingml/2006/table">
            <a:tbl>
              <a:tblPr firstRow="0" firstCol="0" lastRow="0" lastCol="0" bandRow="0" bandCol="0"/>
              <a:tblGrid>
                <a:gridCol w="285750"/>
                <a:gridCol w="2047875"/>
                <a:gridCol w="666750"/>
                <a:gridCol w="619125"/>
                <a:gridCol w="1809750"/>
              </a:tblGrid>
              <a:tr h="157163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300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#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300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Fundo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300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PL bi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300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Share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300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Originador / cedente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</a:tr>
              <a:tr h="316468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FIDC Sistema Petrobras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61,3 bi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7,5%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</a:tr>
              <a:tr h="316468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TAPSO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41,5 bi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5,1%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O: Stone*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</a:tr>
              <a:tr h="316468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3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PAN Auto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18,0 bi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2,2%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  <a:tr h="316468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4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CloudWalk Bela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10,0 bi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1,2%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O: Cloudwalk*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  <a:tr h="316468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5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MT Global · Consignado Privado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9,4 bi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1,1%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O: MeuTudo*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  <a:tr h="316468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6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Itaú Crédito Privado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8,7 bi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1,1%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  <a:tr h="316468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7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BTG Consignados II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8,0 bi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1,0%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O: Banco Pan*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  <a:tr h="316468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8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Aetos Energia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7,4 bi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0,9%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  <a:tr h="316468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9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Cielo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6,5 bi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0,8%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O: Cielo*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  <a:tr h="316468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10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Rio Vermelho NP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6,4 bi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0,8%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</a:tbl>
          </a:graphicData>
        </a:graphic>
      </ns0:graphicFrame>
      <ns0:graphicFrame>
        <ns0:nvGraphicFramePr>
          <ns0:cNvPr id="17" name=""/>
          <ns0:cNvGraphicFramePr/>
          <ns0:nvPr/>
        </ns0:nvGraphicFramePr>
        <ns0:xfrm>
          <a:off x="6191250" y="1428750"/>
          <a:ext cx="5429250" cy="4429125"/>
        </ns0:xfrm>
        <a:graphic>
          <a:graphicData uri="http://schemas.openxmlformats.org/drawingml/2006/table">
            <a:tbl>
              <a:tblPr firstRow="0" firstCol="0" lastRow="0" lastCol="0" bandRow="0" bandCol="0"/>
              <a:tblGrid>
                <a:gridCol w="285750"/>
                <a:gridCol w="2047875"/>
                <a:gridCol w="666750"/>
                <a:gridCol w="619125"/>
                <a:gridCol w="1809750"/>
              </a:tblGrid>
              <a:tr h="157163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300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#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300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Fundo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300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PL bi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300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Share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300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Originador / cedente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</a:tr>
              <a:tr h="316468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11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PagSeguro I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6,2 bi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0,8%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O: PagBank · C: PagSeguro*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  <a:tr h="316468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12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BTG Consignados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6,0 bi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0,7%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O: Banco Pan*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  <a:tr h="316468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13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Alternative Assets III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5,9 bi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0,7%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  <a:tr h="316468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14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Monee I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5,8 bi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0,7%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O: Shopee*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  <a:tr h="316468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15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PicPay I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4,8 bi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0,6%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O: PicPay*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  <a:tr h="316468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16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Marobá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4,5 bi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0,5%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O: Itaú BBA*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  <a:tr h="316468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17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Venda de Veículos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4,2 bi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0,5%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O: Nissan, Renault e Geely*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  <a:tr h="316468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18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Day Maxx 2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4,0 bi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0,5%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  <a:tr h="316468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19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ACR BEM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3,7 bi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0,4%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O: Stone*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  <a:tr h="316468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20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HAVAN ECONÔMICO, FINANCEIRO E COMERCIAL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3,7 bi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0,4%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O: Havan*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</a:tbl>
          </a:graphicData>
        </a:graphic>
      </ns0:graphicFrame>
      <ns0:sp>
        <ns0:nvSpPr>
          <ns0:cNvPr id="9" name="">
            <a:extLst>
              <a:ext uri="{FF2B5EF4-FFF2-40B4-BE49-F238E27FC236}">
                <ns2:creationId id="{8F416090-9BBA-4212-B618-D2367369B484}"/>
              </a:ext>
            </a:extLst>
          </ns0:cNvPr>
          <ns0:cNvSpPr>
            <a:spLocks noGrp="1"/>
          </ns0:cNvSpPr>
          <ns0:nvPr/>
        </ns0:nvSpPr>
        <ns0:spPr>
          <a:xfrm>
            <a:off x="571500" y="5953125"/>
            <a:ext cx="11049000" cy="22860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ctr">
            <a:normAutofit fontScale="100000"/>
          </a:bodyPr>
          <a:lstStyle/>
          <a:p>
            <a:pPr algn="r">
              <a:lnSpc>
                <a:spcPct val="100000"/>
              </a:lnSpc>
              <a:buNone/>
              <a:def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rPr>
              <a:t>* Cadastro conferido na base Carteira 101; o dado documental permanece prioritário. N/D não é inferido pelo nome do fundo.</a:t>
            </a:r>
          </a:p>
        </ns0:txBody>
      </ns0:sp>
    </ns0:spTree>
    <ns0:extLst>
      <ns0:ext uri="{BB962C8B-B14F-4D97-AF65-F5344CB8AC3E}">
        <ns3:creationId val="434029107"/>
      </ns0:ext>
    </ns0:extLst>
  </ns0:cSld>
</ns0:sld>
</file>

<file path=ppt/slides/slide10.xml><?xml version="1.0" encoding="utf-8"?>
<ns0:sld xmlns:a="http://schemas.openxmlformats.org/drawingml/2006/main" xmlns:ns0="http://schemas.openxmlformats.org/presentationml/2006/main" xmlns:ns2="http://schemas.microsoft.com/office/drawing/2014/main" xmlns:ns3="http://schemas.microsoft.com/office/powerpoint/2010/main">
  <ns0:cSld>
    <ns0:bg>
      <ns0:bgPr>
        <a:solidFill>
          <a:srgbClr val="FFFFFF"/>
        </a:solidFill>
      </ns0:bgPr>
    </ns0:bg>
    <ns0:spTree>
      <ns0:nvGrpSpPr>
        <ns0:cNvPr id="1" name=""/>
        <ns0:cNvGrpSpPr/>
        <ns0:nvPr/>
      </ns0:nvGrpSpPr>
      <ns0:grpSpPr>
        <a:xfrm/>
      </ns0:grpSpPr>
      <ns0:sp>
        <ns0:nvSpPr>
          <ns0:cNvPr id="14" name="">
            <a:extLst>
              <a:ext uri="{FF2B5EF4-FFF2-40B4-BE49-F238E27FC236}">
                <ns2:creationId id="{4D4C252E-F477-4CBC-AF7D-3434D6C5871D}"/>
              </a:ext>
            </a:extLst>
          </ns0:cNvPr>
          <ns0:cNvSpPr>
            <a:spLocks noGrp="1"/>
          </ns0:cNvSpPr>
          <ns0:nvPr/>
        </ns0:nvSpPr>
        <ns0:spPr>
          <a:xfrm>
            <a:off x="571500" y="257175"/>
            <a:ext cx="11049000" cy="409575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0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2100" b="1" lang="pt-BR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2100" b="1" lang="pt-BR">
                <a:solidFill>
                  <a:srgbClr val="151515"/>
                </a:solidFill>
                <a:latin typeface="Arial"/>
                <a:ea typeface="Arial"/>
                <a:cs typeface="Arial"/>
              </a:rPr>
              <a:t>Fomento Mercantil: crescimento marginal em seis meses</a:t>
            </a:r>
          </a:p>
        </ns0:txBody>
      </ns0:sp>
      <ns0:sp>
        <ns0:nvSpPr>
          <ns0:cNvPr id="2" name="">
            <a:extLst>
              <a:ext uri="{FF2B5EF4-FFF2-40B4-BE49-F238E27FC236}">
                <ns2:creationId id="{58986AEE-3E69-4A14-B9BD-10C6C4DCEAD9}"/>
              </a:ext>
            </a:extLst>
          </ns0:cNvPr>
          <ns0:cNvSpPr>
            <a:spLocks noGrp="1"/>
          </ns0:cNvSpPr>
          <ns0:nvPr/>
        </ns0:nvSpPr>
        <ns0:spPr>
          <a:xfrm>
            <a:off x="571500" y="723900"/>
            <a:ext cx="11049000" cy="238125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0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1050" b="0" lang="pt-BR">
                <a:solidFill>
                  <a:srgbClr val="73787D"/>
                </a:solidFill>
                <a:latin typeface="Arial"/>
                <a:ea typeface="Arial"/>
                <a:cs typeface="Arial"/>
              </a:defRPr>
            </a:pPr>
            <a:r>
              <a:rPr sz="1050" b="0" lang="pt-BR">
                <a:solidFill>
                  <a:srgbClr val="73787D"/>
                </a:solidFill>
                <a:latin typeface="Arial"/>
                <a:ea typeface="Arial"/>
                <a:cs typeface="Arial"/>
              </a:rPr>
              <a:t>Top 15 vai de R$ 30,4 bi a R$ 31,9 bi</a:t>
            </a:r>
          </a:p>
        </ns0:txBody>
      </ns0:sp>
      <ns0:sp>
        <ns0:nvSpPr>
          <ns0:cNvPr id="3" name="">
            <a:extLst>
              <a:ext uri="{FF2B5EF4-FFF2-40B4-BE49-F238E27FC236}">
                <ns2:creationId id="{5B2BA02F-DD2C-459A-B984-CCC7A81E1159}"/>
              </a:ext>
            </a:extLst>
          </ns0:cNvPr>
          <ns0:cNvSpPr>
            <a:spLocks noGrp="1"/>
          </ns0:cNvSpPr>
          <ns0:nvPr/>
        </ns0:nvSpPr>
        <ns0:spPr>
          <a:xfrm>
            <a:off x="571500" y="1047750"/>
            <a:ext cx="11049000" cy="9525"/>
          </a:xfrm>
          <a:prstGeom prst="rect">
            <a:avLst/>
          </a:prstGeom>
          <a:solidFill>
            <a:srgbClr val="D7DADD"/>
          </a:solidFill>
          <a:ln w="0">
            <a:noFill/>
            <a:prstDash val="solid"/>
          </a:ln>
        </ns0:spPr>
      </ns0:sp>
      <ns0:sp>
        <ns0:nvSpPr>
          <ns0:cNvPr id="4" name="">
            <a:extLst>
              <a:ext uri="{FF2B5EF4-FFF2-40B4-BE49-F238E27FC236}">
                <ns2:creationId id="{4CD4D25E-1AA0-48CB-9E90-875128083B8C}"/>
              </a:ext>
            </a:extLst>
          </ns0:cNvPr>
          <ns0:cNvSpPr>
            <a:spLocks noGrp="1"/>
          </ns0:cNvSpPr>
          <ns0:nvPr/>
        </ns0:nvSpPr>
        <ns0:spPr>
          <a:xfrm>
            <a:off x="571500" y="6353175"/>
            <a:ext cx="11049000" cy="9525"/>
          </a:xfrm>
          <a:prstGeom prst="rect">
            <a:avLst/>
          </a:prstGeom>
          <a:solidFill>
            <a:srgbClr val="D7DADD"/>
          </a:solidFill>
          <a:ln w="0">
            <a:noFill/>
            <a:prstDash val="solid"/>
          </a:ln>
        </ns0:spPr>
      </ns0:sp>
      <ns0:sp>
        <ns0:nvSpPr>
          <ns0:cNvPr id="5" name="">
            <a:extLst>
              <a:ext uri="{FF2B5EF4-FFF2-40B4-BE49-F238E27FC236}">
                <ns2:creationId id="{BE07A8A0-2E29-49AA-838D-DCAC87BC2372}"/>
              </a:ext>
            </a:extLst>
          </ns0:cNvPr>
          <ns0:cNvSpPr>
            <a:spLocks noGrp="1"/>
          </ns0:cNvSpPr>
          <ns0:nvPr/>
        </ns0:nvSpPr>
        <ns0:spPr>
          <a:xfrm>
            <a:off x="571500" y="6419850"/>
            <a:ext cx="10001250" cy="1714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47625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rPr>
              <a:t>jun/26 · Top 15: R$ 27,4 bi. Comparação: R$ 26,7 bi em dez/25 e R$ 27,4 bi em jun/26.</a:t>
            </a:r>
          </a:p>
        </ns0:txBody>
      </ns0:sp>
      <ns0:sp>
        <ns0:nvSpPr>
          <ns0:cNvPr id="6" name="">
            <a:extLst>
              <a:ext uri="{FF2B5EF4-FFF2-40B4-BE49-F238E27FC236}">
                <ns2:creationId id="{D661F7E7-F6AF-458F-B0EA-4BF79434775C}"/>
              </a:ext>
            </a:extLst>
          </ns0:cNvPr>
          <ns0:cNvSpPr>
            <a:spLocks noGrp="1"/>
          </ns0:cNvSpPr>
          <ns0:nvPr/>
        </ns0:nvSpPr>
        <ns0:spPr>
          <a:xfrm>
            <a:off x="11144250" y="6410325"/>
            <a:ext cx="476250" cy="1714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ctr">
            <a:normAutofit fontScale="100000"/>
          </a:bodyPr>
          <a:lstStyle/>
          <a:p>
            <a:pPr algn="r">
              <a:lnSpc>
                <a:spcPct val="100000"/>
              </a:lnSpc>
              <a:buNone/>
              <a:def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rPr>
              <a:t>10</a:t>
            </a:r>
          </a:p>
        </ns0:txBody>
      </ns0:sp>
      <ns0:sp>
        <ns0:nvSpPr>
          <ns0:cNvPr id="7" name="">
            <a:extLst>
              <a:ext uri="{FF2B5EF4-FFF2-40B4-BE49-F238E27FC236}">
                <ns2:creationId id="{CC13C46A-0BC8-433C-A3C1-094A5372AD75}"/>
              </a:ext>
            </a:extLst>
          </ns0:cNvPr>
          <ns0:cNvSpPr>
            <a:spLocks noGrp="1"/>
          </ns0:cNvSpPr>
          <ns0:nvPr/>
        </ns0:nvSpPr>
        <ns0:spPr>
          <a:xfrm>
            <a:off x="571500" y="1143000"/>
            <a:ext cx="11049000" cy="2095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1125" b="1" lang="pt-BR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 lang="pt-BR">
                <a:solidFill>
                  <a:srgbClr val="30353A"/>
                </a:solidFill>
                <a:latin typeface="Arial"/>
                <a:ea typeface="Arial"/>
                <a:cs typeface="Arial"/>
              </a:rPr>
              <a:t>jun/26 · Top 15</a:t>
            </a:r>
          </a:p>
        </ns0:txBody>
      </ns0:sp>
      <ns0:sp>
        <ns0:nvSpPr>
          <ns0:cNvPr id="8" name="">
            <a:extLst>
              <a:ext uri="{FF2B5EF4-FFF2-40B4-BE49-F238E27FC236}">
                <ns2:creationId id="{59D1DB28-6E90-4F43-A687-CC005BF8C93B}"/>
              </a:ext>
            </a:extLst>
          </ns0:cNvPr>
          <ns0:cNvSpPr>
            <a:spLocks noGrp="1"/>
          </ns0:cNvSpPr>
          <ns0:nvPr/>
        </ns0:nvSpPr>
        <ns0:spPr>
          <a:xfrm>
            <a:off x="571500" y="1390650"/>
            <a:ext cx="11049000" cy="9525"/>
          </a:xfrm>
          <a:prstGeom prst="rect">
            <a:avLst/>
          </a:prstGeom>
          <a:solidFill>
            <a:srgbClr val="D7DADD"/>
          </a:solidFill>
          <a:ln w="0">
            <a:noFill/>
            <a:prstDash val="solid"/>
          </a:ln>
        </ns0:spPr>
      </ns0:sp>
      <ns0:graphicFrame>
        <ns0:nvGraphicFramePr>
          <ns0:cNvPr id="22" name=""/>
          <ns0:cNvGraphicFramePr/>
          <ns0:nvPr/>
        </ns0:nvGraphicFramePr>
        <ns0:xfrm>
          <a:off x="571500" y="1438275"/>
          <a:ext cx="11049000" cy="4286250"/>
        </ns0:xfrm>
        <a:graphic>
          <a:graphicData uri="http://schemas.openxmlformats.org/drawingml/2006/table">
            <a:tbl>
              <a:tblPr firstRow="0" firstCol="0" lastRow="0" lastCol="0" bandRow="0" bandCol="0"/>
              <a:tblGrid>
                <a:gridCol w="285750"/>
                <a:gridCol w="1857375"/>
                <a:gridCol w="1285875"/>
                <a:gridCol w="2095500"/>
                <a:gridCol w="952500"/>
                <a:gridCol w="2047875"/>
                <a:gridCol w="1762125"/>
                <a:gridCol w="762000"/>
              </a:tblGrid>
              <a:tr h="221456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050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#</a:t>
                      </a:r>
                    </a:p>
                  </a:txBody>
                  <a:tcPr marL="47625" marR="47625" marT="19050" marB="19050" anchor="ctr">
                    <a:solidFill>
                      <a:srgbClr val="EC7000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050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FIDC</a:t>
                      </a:r>
                    </a:p>
                  </a:txBody>
                  <a:tcPr marL="47625" marR="47625" marT="19050" marB="19050" anchor="ctr">
                    <a:solidFill>
                      <a:srgbClr val="EC7000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050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CNPJ</a:t>
                      </a:r>
                    </a:p>
                  </a:txBody>
                  <a:tcPr marL="47625" marR="47625" marT="19050" marB="19050" anchor="ctr">
                    <a:solidFill>
                      <a:srgbClr val="EC7000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050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Cedente / originador</a:t>
                      </a:r>
                    </a:p>
                  </a:txBody>
                  <a:tcPr marL="47625" marR="47625" marT="19050" marB="19050" anchor="ctr">
                    <a:solidFill>
                      <a:srgbClr val="EC7000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050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Sub. mín.</a:t>
                      </a:r>
                    </a:p>
                  </a:txBody>
                  <a:tcPr marL="47625" marR="47625" marT="19050" marB="19050" anchor="ctr">
                    <a:solidFill>
                      <a:srgbClr val="EC7000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050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Remuneração-alvo</a:t>
                      </a:r>
                    </a:p>
                  </a:txBody>
                  <a:tcPr marL="47625" marR="47625" marT="19050" marB="19050" anchor="ctr">
                    <a:solidFill>
                      <a:srgbClr val="EC7000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050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Sacado</a:t>
                      </a:r>
                    </a:p>
                  </a:txBody>
                  <a:tcPr marL="47625" marR="47625" marT="19050" marB="19050" anchor="ctr">
                    <a:solidFill>
                      <a:srgbClr val="EC7000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050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R$ bi</a:t>
                      </a:r>
                    </a:p>
                  </a:txBody>
                  <a:tcPr marL="47625" marR="47625" marT="19050" marB="19050" anchor="ctr">
                    <a:solidFill>
                      <a:srgbClr val="EC7000"/>
                    </a:solidFill>
                  </a:tcPr>
                </a:tc>
              </a:tr>
              <a:tr h="199549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DAY MAXX 2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34197588000137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CDI+1,50% · 6 séries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PF/PJ/entes púb.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4,02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  <a:tr h="199549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ATLANTA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11468186000124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Jr. 50%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3,09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  <a:tr h="199549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3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CITY - 02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32321307000180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2,71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  <a:tr h="199549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4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EUV SP1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44229197000100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2,18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  <a:tr h="199549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5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MULTIPLICA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23216398000101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C: QI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CDI+4,10% · 4 séries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1,99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  <a:tr h="199549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6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IOX II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24504464000101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CDI+6,75% · 2 séries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1,89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  <a:tr h="199549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7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NÃO-PADRONIZADOS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12428086000137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C: PARANAPANEMA S.A - EM +2 ent.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103% CDI · 7 séries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1,63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  <a:tr h="199549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8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CF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23200289000198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1,48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  <a:tr h="199549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9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ALDEBARAN II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57833038000162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Estrut. 3%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1,48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  <a:tr h="199549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10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SIFRA STAR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14166140000149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CDI+3,90% · 2 séries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1,28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  <a:tr h="199549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11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NAGOYA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63465818000108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Devedor/endossador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1,25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  <a:tr h="199549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12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SIFRA PLUS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08678936000188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CDI+3,60% · 2 séries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1,23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  <a:tr h="199549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13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MULTIPLIKE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29469420000101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C: Multiplike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CDI+4,50% · 2 séries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1,18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  <a:tr h="199549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14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IOX I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19388423000159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Estrut. 33%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CDI+6,0% · 19 séries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Devedores PF/PJ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1,02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  <a:tr h="199549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15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CLIENTES BRF II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52720932000102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C: BRF S.A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CDI+3,00% · 3 séries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0,97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ns0:graphicFrame>
      <ns0:sp>
        <ns0:nvSpPr>
          <ns0:cNvPr id="10" name="">
            <a:extLst>
              <a:ext uri="{FF2B5EF4-FFF2-40B4-BE49-F238E27FC236}">
                <ns2:creationId id="{81519DCE-7BBC-416D-B6D2-EC866FE3EB08}"/>
              </a:ext>
            </a:extLst>
          </ns0:cNvPr>
          <ns0:cNvSpPr>
            <a:spLocks noGrp="1"/>
          </ns0:cNvSpPr>
          <ns0:nvPr/>
        </ns0:nvSpPr>
        <ns0:spPr>
          <a:xfrm>
            <a:off x="571500" y="5781675"/>
            <a:ext cx="11049000" cy="342900"/>
          </a:xfrm>
          <a:prstGeom prst="rect">
            <a:avLst/>
          </a:prstGeom>
          <a:solidFill>
            <a:srgbClr val="F5F6F7"/>
          </a:solidFill>
          <a:ln w="5715">
            <a:solidFill>
              <a:srgbClr val="D7DADD"/>
            </a:solidFill>
            <a:prstDash val="solid"/>
          </a:ln>
        </ns0:spPr>
      </ns0:sp>
      <ns0:sp>
        <ns0:nvSpPr>
          <ns0:cNvPr id="11" name="">
            <a:extLst>
              <a:ext uri="{FF2B5EF4-FFF2-40B4-BE49-F238E27FC236}">
                <ns2:creationId id="{F87B9CBB-5BFD-43DD-A698-89A9132D8C44}"/>
              </a:ext>
            </a:extLst>
          </ns0:cNvPr>
          <ns0:cNvSpPr>
            <a:spLocks noGrp="1"/>
          </ns0:cNvSpPr>
          <ns0:nvPr/>
        </ns0:nvSpPr>
        <ns0:spPr>
          <a:xfrm>
            <a:off x="647700" y="5810250"/>
            <a:ext cx="10896600" cy="11430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0" tIns="0" rIns="0" bIns="0" anchor="ctr">
            <a:normAutofit fontScale="75000"/>
          </a:bodyPr>
          <a:lstStyle/>
          <a:p>
            <a:pPr algn="l">
              <a:lnSpc>
                <a:spcPct val="100000"/>
              </a:lnSpc>
              <a:buNone/>
              <a:defRPr sz="1000" b="1" lang="pt-BR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000" b="1" lang="pt-BR">
                <a:solidFill>
                  <a:srgbClr val="30353A"/>
                </a:solidFill>
                <a:latin typeface="Arial"/>
                <a:ea typeface="Arial"/>
                <a:cs typeface="Arial"/>
              </a:rPr>
              <a:t>Prêmio de remuneração Mz.–Sr. · mesmo fundo e corte · base dos slides 10–17</a:t>
            </a:r>
          </a:p>
        </ns0:txBody>
      </ns0:sp>
      <ns0:sp>
        <ns0:nvSpPr>
          <ns0:cNvPr id="12" name="">
            <a:extLst>
              <a:ext uri="{FF2B5EF4-FFF2-40B4-BE49-F238E27FC236}">
                <ns2:creationId id="{69A98A06-E885-49EC-86CA-240F5EC5251A}"/>
              </a:ext>
            </a:extLst>
          </ns0:cNvPr>
          <ns0:cNvSpPr>
            <a:spLocks noGrp="1"/>
          </ns0:cNvSpPr>
          <ns0:nvPr/>
        </ns0:nvSpPr>
        <ns0:spPr>
          <a:xfrm>
            <a:off x="647700" y="5943600"/>
            <a:ext cx="10896600" cy="1333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0" tIns="0" rIns="0" bIns="0" anchor="ctr">
            <a:normAutofit fontScale="87500"/>
          </a:bodyPr>
          <a:lstStyle/>
          <a:p>
            <a:pPr algn="l">
              <a:lnSpc>
                <a:spcPct val="100000"/>
              </a:lnSpc>
              <a:buNone/>
              <a:defRPr sz="1000" b="0" lang="pt-BR">
                <a:solidFill>
                  <a:srgbClr val="73787D"/>
                </a:solidFill>
                <a:latin typeface="Arial"/>
                <a:ea typeface="Arial"/>
                <a:cs typeface="Arial"/>
              </a:defRPr>
            </a:pPr>
            <a:r>
              <a:rPr sz="1000" b="0" lang="pt-BR">
                <a:solidFill>
                  <a:srgbClr val="73787D"/>
                </a:solidFill>
                <a:latin typeface="Arial"/>
                <a:ea typeface="Arial"/>
                <a:cs typeface="Arial"/>
              </a:rPr>
              <a:t>N=20 fundo-corte · mediana +100 bps · faixa +50–300 bps</a:t>
            </a:r>
          </a:p>
        </ns0:txBody>
      </ns0:sp>
      <ns0:sp>
        <ns0:nvSpPr>
          <ns0:cNvPr id="13" name="">
            <a:extLst>
              <a:ext uri="{FF2B5EF4-FFF2-40B4-BE49-F238E27FC236}">
                <ns2:creationId id="{79EA576C-745A-4BEE-81B7-68CE640F2D32}"/>
              </a:ext>
            </a:extLst>
          </ns0:cNvPr>
          <ns0:cNvSpPr>
            <a:spLocks noGrp="1"/>
          </ns0:cNvSpPr>
          <ns0:nvPr/>
        </ns0:nvSpPr>
        <ns0:spPr>
          <a:xfrm>
            <a:off x="571500" y="6172200"/>
            <a:ext cx="11049000" cy="15240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0" tIns="0" rIns="0" bIns="0" anchor="ctr">
            <a:normAutofit fontScale="100000"/>
          </a:bodyPr>
          <a:lstStyle/>
          <a:p>
            <a:pPr algn="r">
              <a:lnSpc>
                <a:spcPct val="100000"/>
              </a:lnSpc>
              <a:buNone/>
              <a:def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rPr>
              <a:t>C/O = cedente/originador; +N ent./séries = itens adicionais; comb./total = natureza do mínimo; * = complemento manual; N/D = lacuna. Texto integral: Auditoria emissões.</a:t>
            </a:r>
          </a:p>
        </ns0:txBody>
      </ns0:sp>
    </ns0:spTree>
    <ns0:extLst>
      <ns0:ext uri="{BB962C8B-B14F-4D97-AF65-F5344CB8AC3E}">
        <ns3:creationId val="391968102"/>
      </ns0:ext>
    </ns0:extLst>
  </ns0:cSld>
</ns0:sld>
</file>

<file path=ppt/slides/slide11.xml><?xml version="1.0" encoding="utf-8"?>
<ns0:sld xmlns:a="http://schemas.openxmlformats.org/drawingml/2006/main" xmlns:ns0="http://schemas.openxmlformats.org/presentationml/2006/main" xmlns:ns2="http://schemas.microsoft.com/office/drawing/2014/main" xmlns:ns3="http://schemas.microsoft.com/office/powerpoint/2010/main">
  <ns0:cSld>
    <ns0:bg>
      <ns0:bgPr>
        <a:solidFill>
          <a:srgbClr val="FFFFFF"/>
        </a:solidFill>
      </ns0:bgPr>
    </ns0:bg>
    <ns0:spTree>
      <ns0:nvGrpSpPr>
        <ns0:cNvPr id="1" name=""/>
        <ns0:cNvGrpSpPr/>
        <ns0:nvPr/>
      </ns0:nvGrpSpPr>
      <ns0:grpSpPr>
        <a:xfrm/>
      </ns0:grpSpPr>
      <ns0:sp>
        <ns0:nvSpPr>
          <ns0:cNvPr id="14" name="">
            <a:extLst>
              <a:ext uri="{FF2B5EF4-FFF2-40B4-BE49-F238E27FC236}">
                <ns2:creationId id="{E63126A1-AB90-4ED6-BB9E-7E4D17EDE08D}"/>
              </a:ext>
            </a:extLst>
          </ns0:cNvPr>
          <ns0:cNvSpPr>
            <a:spLocks noGrp="1"/>
          </ns0:cNvSpPr>
          <ns0:nvPr/>
        </ns0:nvSpPr>
        <ns0:spPr>
          <a:xfrm>
            <a:off x="571500" y="257175"/>
            <a:ext cx="11049000" cy="409575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0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2100" b="1" lang="pt-BR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2100" b="1" lang="pt-BR">
                <a:solidFill>
                  <a:srgbClr val="151515"/>
                </a:solidFill>
                <a:latin typeface="Arial"/>
                <a:ea typeface="Arial"/>
                <a:cs typeface="Arial"/>
              </a:rPr>
              <a:t>Fomento Mercantil: crescimento marginal em seis meses</a:t>
            </a:r>
          </a:p>
        </ns0:txBody>
      </ns0:sp>
      <ns0:sp>
        <ns0:nvSpPr>
          <ns0:cNvPr id="2" name="">
            <a:extLst>
              <a:ext uri="{FF2B5EF4-FFF2-40B4-BE49-F238E27FC236}">
                <ns2:creationId id="{6342C0CD-E950-4E78-8283-E370440CAC5A}"/>
              </a:ext>
            </a:extLst>
          </ns0:cNvPr>
          <ns0:cNvSpPr>
            <a:spLocks noGrp="1"/>
          </ns0:cNvSpPr>
          <ns0:nvPr/>
        </ns0:nvSpPr>
        <ns0:spPr>
          <a:xfrm>
            <a:off x="571500" y="723900"/>
            <a:ext cx="11049000" cy="238125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0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1050" b="0" lang="pt-BR">
                <a:solidFill>
                  <a:srgbClr val="73787D"/>
                </a:solidFill>
                <a:latin typeface="Arial"/>
                <a:ea typeface="Arial"/>
                <a:cs typeface="Arial"/>
              </a:defRPr>
            </a:pPr>
            <a:r>
              <a:rPr sz="1050" b="0" lang="pt-BR">
                <a:solidFill>
                  <a:srgbClr val="73787D"/>
                </a:solidFill>
                <a:latin typeface="Arial"/>
                <a:ea typeface="Arial"/>
                <a:cs typeface="Arial"/>
              </a:rPr>
              <a:t>Top 15 vai de R$ 30,4 bi a R$ 31,9 bi</a:t>
            </a:r>
          </a:p>
        </ns0:txBody>
      </ns0:sp>
      <ns0:sp>
        <ns0:nvSpPr>
          <ns0:cNvPr id="3" name="">
            <a:extLst>
              <a:ext uri="{FF2B5EF4-FFF2-40B4-BE49-F238E27FC236}">
                <ns2:creationId id="{324D93AE-46CD-49F7-B624-ED13C8C23059}"/>
              </a:ext>
            </a:extLst>
          </ns0:cNvPr>
          <ns0:cNvSpPr>
            <a:spLocks noGrp="1"/>
          </ns0:cNvSpPr>
          <ns0:nvPr/>
        </ns0:nvSpPr>
        <ns0:spPr>
          <a:xfrm>
            <a:off x="571500" y="1047750"/>
            <a:ext cx="11049000" cy="9525"/>
          </a:xfrm>
          <a:prstGeom prst="rect">
            <a:avLst/>
          </a:prstGeom>
          <a:solidFill>
            <a:srgbClr val="D7DADD"/>
          </a:solidFill>
          <a:ln w="0">
            <a:noFill/>
            <a:prstDash val="solid"/>
          </a:ln>
        </ns0:spPr>
      </ns0:sp>
      <ns0:sp>
        <ns0:nvSpPr>
          <ns0:cNvPr id="4" name="">
            <a:extLst>
              <a:ext uri="{FF2B5EF4-FFF2-40B4-BE49-F238E27FC236}">
                <ns2:creationId id="{5B275145-CF70-407E-A1D5-F33C09210DAD}"/>
              </a:ext>
            </a:extLst>
          </ns0:cNvPr>
          <ns0:cNvSpPr>
            <a:spLocks noGrp="1"/>
          </ns0:cNvSpPr>
          <ns0:nvPr/>
        </ns0:nvSpPr>
        <ns0:spPr>
          <a:xfrm>
            <a:off x="571500" y="6353175"/>
            <a:ext cx="11049000" cy="9525"/>
          </a:xfrm>
          <a:prstGeom prst="rect">
            <a:avLst/>
          </a:prstGeom>
          <a:solidFill>
            <a:srgbClr val="D7DADD"/>
          </a:solidFill>
          <a:ln w="0">
            <a:noFill/>
            <a:prstDash val="solid"/>
          </a:ln>
        </ns0:spPr>
      </ns0:sp>
      <ns0:sp>
        <ns0:nvSpPr>
          <ns0:cNvPr id="5" name="">
            <a:extLst>
              <a:ext uri="{FF2B5EF4-FFF2-40B4-BE49-F238E27FC236}">
                <ns2:creationId id="{567799A0-B8A9-4167-BBE7-A9A87472AD39}"/>
              </a:ext>
            </a:extLst>
          </ns0:cNvPr>
          <ns0:cNvSpPr>
            <a:spLocks noGrp="1"/>
          </ns0:cNvSpPr>
          <ns0:nvPr/>
        </ns0:nvSpPr>
        <ns0:spPr>
          <a:xfrm>
            <a:off x="571500" y="6419850"/>
            <a:ext cx="10001250" cy="1714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47625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rPr>
              <a:t>dez/25 · Top 15: R$ 26,7 bi. Comparação: R$ 26,7 bi em dez/25 e R$ 27,4 bi em jun/26.</a:t>
            </a:r>
          </a:p>
        </ns0:txBody>
      </ns0:sp>
      <ns0:sp>
        <ns0:nvSpPr>
          <ns0:cNvPr id="6" name="">
            <a:extLst>
              <a:ext uri="{FF2B5EF4-FFF2-40B4-BE49-F238E27FC236}">
                <ns2:creationId id="{139377BE-D45A-48E8-80A5-77AE41AEC738}"/>
              </a:ext>
            </a:extLst>
          </ns0:cNvPr>
          <ns0:cNvSpPr>
            <a:spLocks noGrp="1"/>
          </ns0:cNvSpPr>
          <ns0:nvPr/>
        </ns0:nvSpPr>
        <ns0:spPr>
          <a:xfrm>
            <a:off x="11144250" y="6410325"/>
            <a:ext cx="476250" cy="1714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ctr">
            <a:normAutofit fontScale="100000"/>
          </a:bodyPr>
          <a:lstStyle/>
          <a:p>
            <a:pPr algn="r">
              <a:lnSpc>
                <a:spcPct val="100000"/>
              </a:lnSpc>
              <a:buNone/>
              <a:def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rPr>
              <a:t>11</a:t>
            </a:r>
          </a:p>
        </ns0:txBody>
      </ns0:sp>
      <ns0:sp>
        <ns0:nvSpPr>
          <ns0:cNvPr id="7" name="">
            <a:extLst>
              <a:ext uri="{FF2B5EF4-FFF2-40B4-BE49-F238E27FC236}">
                <ns2:creationId id="{FEAB0DB4-E33D-4993-8BA6-767C9290ACDB}"/>
              </a:ext>
            </a:extLst>
          </ns0:cNvPr>
          <ns0:cNvSpPr>
            <a:spLocks noGrp="1"/>
          </ns0:cNvSpPr>
          <ns0:nvPr/>
        </ns0:nvSpPr>
        <ns0:spPr>
          <a:xfrm>
            <a:off x="571500" y="1143000"/>
            <a:ext cx="11049000" cy="2095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1125" b="1" lang="pt-BR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 lang="pt-BR">
                <a:solidFill>
                  <a:srgbClr val="30353A"/>
                </a:solidFill>
                <a:latin typeface="Arial"/>
                <a:ea typeface="Arial"/>
                <a:cs typeface="Arial"/>
              </a:rPr>
              <a:t>dez/25 · Top 15</a:t>
            </a:r>
          </a:p>
        </ns0:txBody>
      </ns0:sp>
      <ns0:sp>
        <ns0:nvSpPr>
          <ns0:cNvPr id="8" name="">
            <a:extLst>
              <a:ext uri="{FF2B5EF4-FFF2-40B4-BE49-F238E27FC236}">
                <ns2:creationId id="{C1E2A893-2077-4CDA-AAD9-E720EA941A52}"/>
              </a:ext>
            </a:extLst>
          </ns0:cNvPr>
          <ns0:cNvSpPr>
            <a:spLocks noGrp="1"/>
          </ns0:cNvSpPr>
          <ns0:nvPr/>
        </ns0:nvSpPr>
        <ns0:spPr>
          <a:xfrm>
            <a:off x="571500" y="1390650"/>
            <a:ext cx="11049000" cy="9525"/>
          </a:xfrm>
          <a:prstGeom prst="rect">
            <a:avLst/>
          </a:prstGeom>
          <a:solidFill>
            <a:srgbClr val="D7DADD"/>
          </a:solidFill>
          <a:ln w="0">
            <a:noFill/>
            <a:prstDash val="solid"/>
          </a:ln>
        </ns0:spPr>
      </ns0:sp>
      <ns0:graphicFrame>
        <ns0:nvGraphicFramePr>
          <ns0:cNvPr id="22" name=""/>
          <ns0:cNvGraphicFramePr/>
          <ns0:nvPr/>
        </ns0:nvGraphicFramePr>
        <ns0:xfrm>
          <a:off x="571500" y="1438275"/>
          <a:ext cx="11049000" cy="4286250"/>
        </ns0:xfrm>
        <a:graphic>
          <a:graphicData uri="http://schemas.openxmlformats.org/drawingml/2006/table">
            <a:tbl>
              <a:tblPr firstRow="0" firstCol="0" lastRow="0" lastCol="0" bandRow="0" bandCol="0"/>
              <a:tblGrid>
                <a:gridCol w="285750"/>
                <a:gridCol w="1857375"/>
                <a:gridCol w="1285875"/>
                <a:gridCol w="2095500"/>
                <a:gridCol w="952500"/>
                <a:gridCol w="2047875"/>
                <a:gridCol w="1762125"/>
                <a:gridCol w="762000"/>
              </a:tblGrid>
              <a:tr h="221456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050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#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050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FIDC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050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CNPJ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050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Cedente / originador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050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Sub. mín.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050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Remuneração-alvo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050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Sacado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050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R$ bi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</a:tr>
              <a:tr h="199549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DAY MAXX 2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34197588000137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CDI+1,50% · 6 séries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PF/PJ/entes púb.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4,03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  <a:tr h="199549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ATLANTA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11468186000124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Jr. 50%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2,92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  <a:tr h="199549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3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CITY - 02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32321307000180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2,58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  <a:tr h="199549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4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EUV SP1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44229197000100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2,06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  <a:tr h="199549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5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RHODONITE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41776416000183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1,88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  <a:tr h="199549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6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MULTIPLICA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23216398000101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C: QI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CDI+4,10% · 4 séries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1,67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  <a:tr h="199549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7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CF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23200289000198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1,66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  <a:tr h="199549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8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ALDEBARAN II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57833038000162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Estrut. 3%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1,46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  <a:tr h="199549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9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NÃO-PADRONIZADOS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12428086000137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C: PARANAPANEMA S.A - EM +2 ent.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103% CDI · 7 séries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1,43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  <a:tr h="199549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10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MULTIPLIKE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29469420000101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C: Multiplike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CDI+4,50% · 2 séries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1,30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  <a:tr h="199549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11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SIFRA STAR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14166140000149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CDI+3,90% · 2 séries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1,27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  <a:tr h="199549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12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IOX II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24504464000101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CDI+6,75% · 2 séries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1,27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  <a:tr h="199549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13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NAGOYA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63465818000108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Devedor/endossador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1,14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  <a:tr h="199549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14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SIFRA PLUS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08678936000188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CDI+3,60% · 2 séries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1,07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  <a:tr h="199549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15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CLIENTES BRF II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52720932000102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C: BRF S.A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CDI+3,00% · 3 séries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0,97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ns0:graphicFrame>
      <ns0:sp>
        <ns0:nvSpPr>
          <ns0:cNvPr id="10" name="">
            <a:extLst>
              <a:ext uri="{FF2B5EF4-FFF2-40B4-BE49-F238E27FC236}">
                <ns2:creationId id="{C0C2D678-9C00-4356-98DF-324E01284006}"/>
              </a:ext>
            </a:extLst>
          </ns0:cNvPr>
          <ns0:cNvSpPr>
            <a:spLocks noGrp="1"/>
          </ns0:cNvSpPr>
          <ns0:nvPr/>
        </ns0:nvSpPr>
        <ns0:spPr>
          <a:xfrm>
            <a:off x="571500" y="5781675"/>
            <a:ext cx="11049000" cy="342900"/>
          </a:xfrm>
          <a:prstGeom prst="rect">
            <a:avLst/>
          </a:prstGeom>
          <a:solidFill>
            <a:srgbClr val="F5F6F7"/>
          </a:solidFill>
          <a:ln w="5715">
            <a:solidFill>
              <a:srgbClr val="D7DADD"/>
            </a:solidFill>
            <a:prstDash val="solid"/>
          </a:ln>
        </ns0:spPr>
      </ns0:sp>
      <ns0:sp>
        <ns0:nvSpPr>
          <ns0:cNvPr id="11" name="">
            <a:extLst>
              <a:ext uri="{FF2B5EF4-FFF2-40B4-BE49-F238E27FC236}">
                <ns2:creationId id="{2FE0FA01-AD6E-43A5-AFAF-0A68323848B4}"/>
              </a:ext>
            </a:extLst>
          </ns0:cNvPr>
          <ns0:cNvSpPr>
            <a:spLocks noGrp="1"/>
          </ns0:cNvSpPr>
          <ns0:nvPr/>
        </ns0:nvSpPr>
        <ns0:spPr>
          <a:xfrm>
            <a:off x="647700" y="5810250"/>
            <a:ext cx="10896600" cy="11430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0" tIns="0" rIns="0" bIns="0" anchor="ctr">
            <a:normAutofit fontScale="75000"/>
          </a:bodyPr>
          <a:lstStyle/>
          <a:p>
            <a:pPr algn="l">
              <a:lnSpc>
                <a:spcPct val="100000"/>
              </a:lnSpc>
              <a:buNone/>
              <a:defRPr sz="1000" b="1" lang="pt-BR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000" b="1" lang="pt-BR">
                <a:solidFill>
                  <a:srgbClr val="30353A"/>
                </a:solidFill>
                <a:latin typeface="Arial"/>
                <a:ea typeface="Arial"/>
                <a:cs typeface="Arial"/>
              </a:rPr>
              <a:t>Movimento semestral · mesma classe e CNPJ · amostra casada</a:t>
            </a:r>
          </a:p>
        </ns0:txBody>
      </ns0:sp>
      <ns0:sp>
        <ns0:nvSpPr>
          <ns0:cNvPr id="12" name="">
            <a:extLst>
              <a:ext uri="{FF2B5EF4-FFF2-40B4-BE49-F238E27FC236}">
                <ns2:creationId id="{B0240ADF-FE33-412B-81ED-66EC00B14879}"/>
              </a:ext>
            </a:extLst>
          </ns0:cNvPr>
          <ns0:cNvSpPr>
            <a:spLocks noGrp="1"/>
          </ns0:cNvSpPr>
          <ns0:nvPr/>
        </ns0:nvSpPr>
        <ns0:spPr>
          <a:xfrm>
            <a:off x="647700" y="5943600"/>
            <a:ext cx="10896600" cy="1333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0" tIns="0" rIns="0" bIns="0" anchor="ctr">
            <a:normAutofit fontScale="87500"/>
          </a:bodyPr>
          <a:lstStyle/>
          <a:p>
            <a:pPr algn="l">
              <a:lnSpc>
                <a:spcPct val="100000"/>
              </a:lnSpc>
              <a:buNone/>
              <a:defRPr sz="1000" b="0" lang="pt-BR">
                <a:solidFill>
                  <a:srgbClr val="73787D"/>
                </a:solidFill>
                <a:latin typeface="Arial"/>
                <a:ea typeface="Arial"/>
                <a:cs typeface="Arial"/>
              </a:defRPr>
            </a:pPr>
            <a:r>
              <a:rPr sz="1000" b="0" lang="pt-BR">
                <a:solidFill>
                  <a:srgbClr val="73787D"/>
                </a:solidFill>
                <a:latin typeface="Arial"/>
                <a:ea typeface="Arial"/>
                <a:cs typeface="Arial"/>
              </a:rPr>
              <a:t>N=22 fundo-classe · 1 mudança · SIFRA PLUS Sênior −50 bps</a:t>
            </a:r>
          </a:p>
        </ns0:txBody>
      </ns0:sp>
      <ns0:sp>
        <ns0:nvSpPr>
          <ns0:cNvPr id="13" name="">
            <a:extLst>
              <a:ext uri="{FF2B5EF4-FFF2-40B4-BE49-F238E27FC236}">
                <ns2:creationId id="{D4D501C0-DAEC-4F4F-B416-ED1ED9F2FF58}"/>
              </a:ext>
            </a:extLst>
          </ns0:cNvPr>
          <ns0:cNvSpPr>
            <a:spLocks noGrp="1"/>
          </ns0:cNvSpPr>
          <ns0:nvPr/>
        </ns0:nvSpPr>
        <ns0:spPr>
          <a:xfrm>
            <a:off x="571500" y="6172200"/>
            <a:ext cx="11049000" cy="15240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0" tIns="0" rIns="0" bIns="0" anchor="ctr">
            <a:normAutofit fontScale="100000"/>
          </a:bodyPr>
          <a:lstStyle/>
          <a:p>
            <a:pPr algn="r">
              <a:lnSpc>
                <a:spcPct val="100000"/>
              </a:lnSpc>
              <a:buNone/>
              <a:def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rPr>
              <a:t>C/O = cedente/originador; +N ent./séries = itens adicionais; comb./total = natureza do mínimo; * = complemento manual; N/D = lacuna. Texto integral: Auditoria emissões.</a:t>
            </a:r>
          </a:p>
        </ns0:txBody>
      </ns0:sp>
    </ns0:spTree>
    <ns0:extLst>
      <ns0:ext uri="{BB962C8B-B14F-4D97-AF65-F5344CB8AC3E}">
        <ns3:creationId val="1408584634"/>
      </ns0:ext>
    </ns0:extLst>
  </ns0:cSld>
</ns0:sld>
</file>

<file path=ppt/slides/slide12.xml><?xml version="1.0" encoding="utf-8"?>
<ns0:sld xmlns:a="http://schemas.openxmlformats.org/drawingml/2006/main" xmlns:ns0="http://schemas.openxmlformats.org/presentationml/2006/main" xmlns:ns2="http://schemas.microsoft.com/office/drawing/2014/main" xmlns:ns3="http://schemas.microsoft.com/office/powerpoint/2010/main">
  <ns0:cSld>
    <ns0:bg>
      <ns0:bgPr>
        <a:solidFill>
          <a:srgbClr val="FFFFFF"/>
        </a:solidFill>
      </ns0:bgPr>
    </ns0:bg>
    <ns0:spTree>
      <ns0:nvGrpSpPr>
        <ns0:cNvPr id="1" name=""/>
        <ns0:cNvGrpSpPr/>
        <ns0:nvPr/>
      </ns0:nvGrpSpPr>
      <ns0:grpSpPr>
        <a:xfrm/>
      </ns0:grpSpPr>
      <ns0:sp>
        <ns0:nvSpPr>
          <ns0:cNvPr id="11" name="">
            <a:extLst>
              <a:ext uri="{FF2B5EF4-FFF2-40B4-BE49-F238E27FC236}">
                <ns2:creationId id="{5D211E89-9E54-48FE-A349-266A6690D1A8}"/>
              </a:ext>
            </a:extLst>
          </ns0:cNvPr>
          <ns0:cNvSpPr>
            <a:spLocks noGrp="1"/>
          </ns0:cNvSpPr>
          <ns0:nvPr/>
        </ns0:nvSpPr>
        <ns0:spPr>
          <a:xfrm>
            <a:off x="571500" y="257175"/>
            <a:ext cx="11049000" cy="409575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0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2100" b="1" lang="pt-BR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2100" b="1" lang="pt-BR">
                <a:solidFill>
                  <a:srgbClr val="151515"/>
                </a:solidFill>
                <a:latin typeface="Arial"/>
                <a:ea typeface="Arial"/>
                <a:cs typeface="Arial"/>
              </a:rPr>
              <a:t>Agro, Indústria e Comércio: o maior salto absoluto</a:t>
            </a:r>
          </a:p>
        </ns0:txBody>
      </ns0:sp>
      <ns0:sp>
        <ns0:nvSpPr>
          <ns0:cNvPr id="2" name="">
            <a:extLst>
              <a:ext uri="{FF2B5EF4-FFF2-40B4-BE49-F238E27FC236}">
                <ns2:creationId id="{F4BC89A3-F861-4D00-A112-39B1E077B4DE}"/>
              </a:ext>
            </a:extLst>
          </ns0:cNvPr>
          <ns0:cNvSpPr>
            <a:spLocks noGrp="1"/>
          </ns0:cNvSpPr>
          <ns0:nvPr/>
        </ns0:nvSpPr>
        <ns0:spPr>
          <a:xfrm>
            <a:off x="571500" y="723900"/>
            <a:ext cx="11049000" cy="238125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0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1050" b="0" lang="pt-BR">
                <a:solidFill>
                  <a:srgbClr val="73787D"/>
                </a:solidFill>
                <a:latin typeface="Arial"/>
                <a:ea typeface="Arial"/>
                <a:cs typeface="Arial"/>
              </a:defRPr>
            </a:pPr>
            <a:r>
              <a:rPr sz="1050" b="0" lang="pt-BR">
                <a:solidFill>
                  <a:srgbClr val="73787D"/>
                </a:solidFill>
                <a:latin typeface="Arial"/>
                <a:ea typeface="Arial"/>
                <a:cs typeface="Arial"/>
              </a:rPr>
              <a:t>Top 15 sobe R$ 18,2 bi, para R$ 112,2 bi</a:t>
            </a:r>
          </a:p>
        </ns0:txBody>
      </ns0:sp>
      <ns0:sp>
        <ns0:nvSpPr>
          <ns0:cNvPr id="3" name="">
            <a:extLst>
              <a:ext uri="{FF2B5EF4-FFF2-40B4-BE49-F238E27FC236}">
                <ns2:creationId id="{90F1A2A0-3B94-4DFE-B926-967B20E655B0}"/>
              </a:ext>
            </a:extLst>
          </ns0:cNvPr>
          <ns0:cNvSpPr>
            <a:spLocks noGrp="1"/>
          </ns0:cNvSpPr>
          <ns0:nvPr/>
        </ns0:nvSpPr>
        <ns0:spPr>
          <a:xfrm>
            <a:off x="571500" y="1047750"/>
            <a:ext cx="11049000" cy="9525"/>
          </a:xfrm>
          <a:prstGeom prst="rect">
            <a:avLst/>
          </a:prstGeom>
          <a:solidFill>
            <a:srgbClr val="D7DADD"/>
          </a:solidFill>
          <a:ln w="0">
            <a:noFill/>
            <a:prstDash val="solid"/>
          </a:ln>
        </ns0:spPr>
      </ns0:sp>
      <ns0:sp>
        <ns0:nvSpPr>
          <ns0:cNvPr id="4" name="">
            <a:extLst>
              <a:ext uri="{FF2B5EF4-FFF2-40B4-BE49-F238E27FC236}">
                <ns2:creationId id="{93D6356F-EEEE-4EB2-8EC6-93AA4B6C7EEA}"/>
              </a:ext>
            </a:extLst>
          </ns0:cNvPr>
          <ns0:cNvSpPr>
            <a:spLocks noGrp="1"/>
          </ns0:cNvSpPr>
          <ns0:nvPr/>
        </ns0:nvSpPr>
        <ns0:spPr>
          <a:xfrm>
            <a:off x="571500" y="6353175"/>
            <a:ext cx="11049000" cy="9525"/>
          </a:xfrm>
          <a:prstGeom prst="rect">
            <a:avLst/>
          </a:prstGeom>
          <a:solidFill>
            <a:srgbClr val="D7DADD"/>
          </a:solidFill>
          <a:ln w="0">
            <a:noFill/>
            <a:prstDash val="solid"/>
          </a:ln>
        </ns0:spPr>
      </ns0:sp>
      <ns0:sp>
        <ns0:nvSpPr>
          <ns0:cNvPr id="5" name="">
            <a:extLst>
              <a:ext uri="{FF2B5EF4-FFF2-40B4-BE49-F238E27FC236}">
                <ns2:creationId id="{D59479D0-C927-47B1-B4CE-9086F3D202FA}"/>
              </a:ext>
            </a:extLst>
          </ns0:cNvPr>
          <ns0:cNvSpPr>
            <a:spLocks noGrp="1"/>
          </ns0:cNvSpPr>
          <ns0:nvPr/>
        </ns0:nvSpPr>
        <ns0:spPr>
          <a:xfrm>
            <a:off x="571500" y="6419850"/>
            <a:ext cx="10001250" cy="1714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47625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rPr>
              <a:t>jun/26 · Top 15: R$ 102,0 bi. Comparação: R$ 98,4 bi em dez/25 e R$ 102,0 bi em jun/26.</a:t>
            </a:r>
          </a:p>
        </ns0:txBody>
      </ns0:sp>
      <ns0:sp>
        <ns0:nvSpPr>
          <ns0:cNvPr id="6" name="">
            <a:extLst>
              <a:ext uri="{FF2B5EF4-FFF2-40B4-BE49-F238E27FC236}">
                <ns2:creationId id="{548AC6A1-57E2-4FFB-9A12-DA86A1FB9B20}"/>
              </a:ext>
            </a:extLst>
          </ns0:cNvPr>
          <ns0:cNvSpPr>
            <a:spLocks noGrp="1"/>
          </ns0:cNvSpPr>
          <ns0:nvPr/>
        </ns0:nvSpPr>
        <ns0:spPr>
          <a:xfrm>
            <a:off x="11144250" y="6410325"/>
            <a:ext cx="476250" cy="1714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ctr">
            <a:normAutofit fontScale="100000"/>
          </a:bodyPr>
          <a:lstStyle/>
          <a:p>
            <a:pPr algn="r">
              <a:lnSpc>
                <a:spcPct val="100000"/>
              </a:lnSpc>
              <a:buNone/>
              <a:def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rPr>
              <a:t>12</a:t>
            </a:r>
          </a:p>
        </ns0:txBody>
      </ns0:sp>
      <ns0:sp>
        <ns0:nvSpPr>
          <ns0:cNvPr id="7" name="">
            <a:extLst>
              <a:ext uri="{FF2B5EF4-FFF2-40B4-BE49-F238E27FC236}">
                <ns2:creationId id="{837B18B4-98FE-4A8F-8FE7-300BCDA4A69A}"/>
              </a:ext>
            </a:extLst>
          </ns0:cNvPr>
          <ns0:cNvSpPr>
            <a:spLocks noGrp="1"/>
          </ns0:cNvSpPr>
          <ns0:nvPr/>
        </ns0:nvSpPr>
        <ns0:spPr>
          <a:xfrm>
            <a:off x="571500" y="1143000"/>
            <a:ext cx="11049000" cy="2095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1125" b="1" lang="pt-BR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 lang="pt-BR">
                <a:solidFill>
                  <a:srgbClr val="30353A"/>
                </a:solidFill>
                <a:latin typeface="Arial"/>
                <a:ea typeface="Arial"/>
                <a:cs typeface="Arial"/>
              </a:rPr>
              <a:t>jun/26 · Top 15</a:t>
            </a:r>
          </a:p>
        </ns0:txBody>
      </ns0:sp>
      <ns0:sp>
        <ns0:nvSpPr>
          <ns0:cNvPr id="8" name="">
            <a:extLst>
              <a:ext uri="{FF2B5EF4-FFF2-40B4-BE49-F238E27FC236}">
                <ns2:creationId id="{1EAC9DBF-33CF-4523-8C69-D67EA5E79DD9}"/>
              </a:ext>
            </a:extLst>
          </ns0:cNvPr>
          <ns0:cNvSpPr>
            <a:spLocks noGrp="1"/>
          </ns0:cNvSpPr>
          <ns0:nvPr/>
        </ns0:nvSpPr>
        <ns0:spPr>
          <a:xfrm>
            <a:off x="571500" y="1390650"/>
            <a:ext cx="11049000" cy="9525"/>
          </a:xfrm>
          <a:prstGeom prst="rect">
            <a:avLst/>
          </a:prstGeom>
          <a:solidFill>
            <a:srgbClr val="D7DADD"/>
          </a:solidFill>
          <a:ln w="0">
            <a:noFill/>
            <a:prstDash val="solid"/>
          </a:ln>
        </ns0:spPr>
      </ns0:sp>
      <ns0:graphicFrame>
        <ns0:nvGraphicFramePr>
          <ns0:cNvPr id="19" name=""/>
          <ns0:cNvGraphicFramePr/>
          <ns0:nvPr/>
        </ns0:nvGraphicFramePr>
        <ns0:xfrm>
          <a:off x="571500" y="1438275"/>
          <a:ext cx="11049000" cy="4705350"/>
        </ns0:xfrm>
        <a:graphic>
          <a:graphicData uri="http://schemas.openxmlformats.org/drawingml/2006/table">
            <a:tbl>
              <a:tblPr firstRow="0" firstCol="0" lastRow="0" lastCol="0" bandRow="0" bandCol="0"/>
              <a:tblGrid>
                <a:gridCol w="285750"/>
                <a:gridCol w="1857375"/>
                <a:gridCol w="1285875"/>
                <a:gridCol w="2095500"/>
                <a:gridCol w="952500"/>
                <a:gridCol w="2047875"/>
                <a:gridCol w="1762125"/>
                <a:gridCol w="762000"/>
              </a:tblGrid>
              <a:tr h="221456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050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#</a:t>
                      </a:r>
                    </a:p>
                  </a:txBody>
                  <a:tcPr marL="47625" marR="47625" marT="19050" marB="19050" anchor="ctr">
                    <a:solidFill>
                      <a:srgbClr val="EC7000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050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FIDC</a:t>
                      </a:r>
                    </a:p>
                  </a:txBody>
                  <a:tcPr marL="47625" marR="47625" marT="19050" marB="19050" anchor="ctr">
                    <a:solidFill>
                      <a:srgbClr val="EC7000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050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CNPJ</a:t>
                      </a:r>
                    </a:p>
                  </a:txBody>
                  <a:tcPr marL="47625" marR="47625" marT="19050" marB="19050" anchor="ctr">
                    <a:solidFill>
                      <a:srgbClr val="EC7000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050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Cedente / originador</a:t>
                      </a:r>
                    </a:p>
                  </a:txBody>
                  <a:tcPr marL="47625" marR="47625" marT="19050" marB="19050" anchor="ctr">
                    <a:solidFill>
                      <a:srgbClr val="EC7000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050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Sub. mín.</a:t>
                      </a:r>
                    </a:p>
                  </a:txBody>
                  <a:tcPr marL="47625" marR="47625" marT="19050" marB="19050" anchor="ctr">
                    <a:solidFill>
                      <a:srgbClr val="EC7000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050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Remuneração-alvo</a:t>
                      </a:r>
                    </a:p>
                  </a:txBody>
                  <a:tcPr marL="47625" marR="47625" marT="19050" marB="19050" anchor="ctr">
                    <a:solidFill>
                      <a:srgbClr val="EC7000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050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Sacado</a:t>
                      </a:r>
                    </a:p>
                  </a:txBody>
                  <a:tcPr marL="47625" marR="47625" marT="19050" marB="19050" anchor="ctr">
                    <a:solidFill>
                      <a:srgbClr val="EC7000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050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R$ bi</a:t>
                      </a:r>
                    </a:p>
                  </a:txBody>
                  <a:tcPr marL="47625" marR="47625" marT="19050" marB="19050" anchor="ctr">
                    <a:solidFill>
                      <a:srgbClr val="EC7000"/>
                    </a:solidFill>
                  </a:tcPr>
                </a:tc>
              </a:tr>
              <a:tr h="220504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Sistema Petrobras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09195235000150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C: Petrobras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Clientes PJ cedentes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61,25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  <a:tr h="220504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AETOS ENERGIA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52610624000124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C: BRF Energia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Compradores energia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7,35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  <a:tr h="220504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3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VENDA DE VEÍCULOS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21126275000146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C: Renault +1 ent. · O: RCI*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4,24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  <a:tr h="220504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4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OCCAM CRÉDITO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48349509000170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3,47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  <a:tr h="220504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5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COMERCIAIS MEDICI I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62393829000159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C: CARGILL AGRICOLA S A +8 ent.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BRF*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3,09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  <a:tr h="220504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6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FIDC GM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11230727000181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C: GM Brasil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2,98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  <a:tr h="220504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7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GAZIN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29492605000129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C: Gazin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Jr. 51%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2,49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  <a:tr h="220504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8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VITA AUTO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50095909000149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C: Stellantis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40% do CDI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2,49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  <a:tr h="220504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9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ER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59356753000187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C: Âmbar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2,46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  <a:tr h="220504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10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AGRO FLEX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47228232000165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C: Syngenta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Coop./fornec./rev.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2,35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  <a:tr h="220504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11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EB VESTA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40801446000130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2,20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  <a:tr h="220504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12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HYUNDAI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52651831000127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C: Hyundai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2,19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  <a:tr h="220504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13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IBCB-AF01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53300525000109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C: WHIRLPOOL S.A +1 ent.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Grupo Casas Bahia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1,91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  <a:tr h="220504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14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AUTO-HONDA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28279473000199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C: Honda Brasil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85% do CDI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1,84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  <a:tr h="220504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15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Caterpillar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05754060000113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C: Caterpillar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1,67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ns0:graphicFrame>
      <ns0:sp>
        <ns0:nvSpPr>
          <ns0:cNvPr id="10" name="">
            <a:extLst>
              <a:ext uri="{FF2B5EF4-FFF2-40B4-BE49-F238E27FC236}">
                <ns2:creationId id="{8F51CC8C-FADA-4FD6-AA84-7255172941C0}"/>
              </a:ext>
            </a:extLst>
          </ns0:cNvPr>
          <ns0:cNvSpPr>
            <a:spLocks noGrp="1"/>
          </ns0:cNvSpPr>
          <ns0:nvPr/>
        </ns0:nvSpPr>
        <ns0:spPr>
          <a:xfrm>
            <a:off x="571500" y="6172200"/>
            <a:ext cx="11049000" cy="15240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0" tIns="0" rIns="0" bIns="0" anchor="ctr">
            <a:normAutofit fontScale="100000"/>
          </a:bodyPr>
          <a:lstStyle/>
          <a:p>
            <a:pPr algn="r">
              <a:lnSpc>
                <a:spcPct val="100000"/>
              </a:lnSpc>
              <a:buNone/>
              <a:def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rPr>
              <a:t>C/O = cedente/originador; +N ent./séries = itens adicionais; comb./total = natureza do mínimo; * = complemento manual; N/D = lacuna. Texto integral: Auditoria emissões.</a:t>
            </a:r>
          </a:p>
        </ns0:txBody>
      </ns0:sp>
    </ns0:spTree>
    <ns0:extLst>
      <ns0:ext uri="{BB962C8B-B14F-4D97-AF65-F5344CB8AC3E}">
        <ns3:creationId val="406237369"/>
      </ns0:ext>
    </ns0:extLst>
  </ns0:cSld>
</ns0:sld>
</file>

<file path=ppt/slides/slide13.xml><?xml version="1.0" encoding="utf-8"?>
<ns0:sld xmlns:a="http://schemas.openxmlformats.org/drawingml/2006/main" xmlns:ns0="http://schemas.openxmlformats.org/presentationml/2006/main" xmlns:ns2="http://schemas.microsoft.com/office/drawing/2014/main" xmlns:ns3="http://schemas.microsoft.com/office/powerpoint/2010/main">
  <ns0:cSld>
    <ns0:bg>
      <ns0:bgPr>
        <a:solidFill>
          <a:srgbClr val="FFFFFF"/>
        </a:solidFill>
      </ns0:bgPr>
    </ns0:bg>
    <ns0:spTree>
      <ns0:nvGrpSpPr>
        <ns0:cNvPr id="1" name=""/>
        <ns0:cNvGrpSpPr/>
        <ns0:nvPr/>
      </ns0:nvGrpSpPr>
      <ns0:grpSpPr>
        <a:xfrm/>
      </ns0:grpSpPr>
      <ns0:sp>
        <ns0:nvSpPr>
          <ns0:cNvPr id="11" name="">
            <a:extLst>
              <a:ext uri="{FF2B5EF4-FFF2-40B4-BE49-F238E27FC236}">
                <ns2:creationId id="{EA5CE2A6-DC7B-4BF3-A3FA-293F9BDE4BAD}"/>
              </a:ext>
            </a:extLst>
          </ns0:cNvPr>
          <ns0:cNvSpPr>
            <a:spLocks noGrp="1"/>
          </ns0:cNvSpPr>
          <ns0:nvPr/>
        </ns0:nvSpPr>
        <ns0:spPr>
          <a:xfrm>
            <a:off x="571500" y="257175"/>
            <a:ext cx="11049000" cy="409575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0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2100" b="1" lang="pt-BR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2100" b="1" lang="pt-BR">
                <a:solidFill>
                  <a:srgbClr val="151515"/>
                </a:solidFill>
                <a:latin typeface="Arial"/>
                <a:ea typeface="Arial"/>
                <a:cs typeface="Arial"/>
              </a:rPr>
              <a:t>Agro, Indústria e Comércio: o maior salto absoluto</a:t>
            </a:r>
          </a:p>
        </ns0:txBody>
      </ns0:sp>
      <ns0:sp>
        <ns0:nvSpPr>
          <ns0:cNvPr id="2" name="">
            <a:extLst>
              <a:ext uri="{FF2B5EF4-FFF2-40B4-BE49-F238E27FC236}">
                <ns2:creationId id="{B7537D3F-B347-4B80-9AF9-CA55CCBE8FA7}"/>
              </a:ext>
            </a:extLst>
          </ns0:cNvPr>
          <ns0:cNvSpPr>
            <a:spLocks noGrp="1"/>
          </ns0:cNvSpPr>
          <ns0:nvPr/>
        </ns0:nvSpPr>
        <ns0:spPr>
          <a:xfrm>
            <a:off x="571500" y="723900"/>
            <a:ext cx="11049000" cy="238125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0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1050" b="0" lang="pt-BR">
                <a:solidFill>
                  <a:srgbClr val="73787D"/>
                </a:solidFill>
                <a:latin typeface="Arial"/>
                <a:ea typeface="Arial"/>
                <a:cs typeface="Arial"/>
              </a:defRPr>
            </a:pPr>
            <a:r>
              <a:rPr sz="1050" b="0" lang="pt-BR">
                <a:solidFill>
                  <a:srgbClr val="73787D"/>
                </a:solidFill>
                <a:latin typeface="Arial"/>
                <a:ea typeface="Arial"/>
                <a:cs typeface="Arial"/>
              </a:rPr>
              <a:t>Top 15 sobe R$ 18,2 bi, para R$ 112,2 bi</a:t>
            </a:r>
          </a:p>
        </ns0:txBody>
      </ns0:sp>
      <ns0:sp>
        <ns0:nvSpPr>
          <ns0:cNvPr id="3" name="">
            <a:extLst>
              <a:ext uri="{FF2B5EF4-FFF2-40B4-BE49-F238E27FC236}">
                <ns2:creationId id="{3DB75BDE-13F5-4573-B216-A435AA2A9FA4}"/>
              </a:ext>
            </a:extLst>
          </ns0:cNvPr>
          <ns0:cNvSpPr>
            <a:spLocks noGrp="1"/>
          </ns0:cNvSpPr>
          <ns0:nvPr/>
        </ns0:nvSpPr>
        <ns0:spPr>
          <a:xfrm>
            <a:off x="571500" y="1047750"/>
            <a:ext cx="11049000" cy="9525"/>
          </a:xfrm>
          <a:prstGeom prst="rect">
            <a:avLst/>
          </a:prstGeom>
          <a:solidFill>
            <a:srgbClr val="D7DADD"/>
          </a:solidFill>
          <a:ln w="0">
            <a:noFill/>
            <a:prstDash val="solid"/>
          </a:ln>
        </ns0:spPr>
      </ns0:sp>
      <ns0:sp>
        <ns0:nvSpPr>
          <ns0:cNvPr id="4" name="">
            <a:extLst>
              <a:ext uri="{FF2B5EF4-FFF2-40B4-BE49-F238E27FC236}">
                <ns2:creationId id="{1635A8E8-C80B-4C4A-9D74-35F55101567B}"/>
              </a:ext>
            </a:extLst>
          </ns0:cNvPr>
          <ns0:cNvSpPr>
            <a:spLocks noGrp="1"/>
          </ns0:cNvSpPr>
          <ns0:nvPr/>
        </ns0:nvSpPr>
        <ns0:spPr>
          <a:xfrm>
            <a:off x="571500" y="6353175"/>
            <a:ext cx="11049000" cy="9525"/>
          </a:xfrm>
          <a:prstGeom prst="rect">
            <a:avLst/>
          </a:prstGeom>
          <a:solidFill>
            <a:srgbClr val="D7DADD"/>
          </a:solidFill>
          <a:ln w="0">
            <a:noFill/>
            <a:prstDash val="solid"/>
          </a:ln>
        </ns0:spPr>
      </ns0:sp>
      <ns0:sp>
        <ns0:nvSpPr>
          <ns0:cNvPr id="5" name="">
            <a:extLst>
              <a:ext uri="{FF2B5EF4-FFF2-40B4-BE49-F238E27FC236}">
                <ns2:creationId id="{07E43032-A64D-41C1-A9F2-05C27DC152C2}"/>
              </a:ext>
            </a:extLst>
          </ns0:cNvPr>
          <ns0:cNvSpPr>
            <a:spLocks noGrp="1"/>
          </ns0:cNvSpPr>
          <ns0:nvPr/>
        </ns0:nvSpPr>
        <ns0:spPr>
          <a:xfrm>
            <a:off x="571500" y="6419850"/>
            <a:ext cx="10001250" cy="1714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47625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rPr>
              <a:t>dez/25 · Top 15: R$ 98,4 bi. Comparação: R$ 98,4 bi em dez/25 e R$ 102,0 bi em jun/26.</a:t>
            </a:r>
          </a:p>
        </ns0:txBody>
      </ns0:sp>
      <ns0:sp>
        <ns0:nvSpPr>
          <ns0:cNvPr id="6" name="">
            <a:extLst>
              <a:ext uri="{FF2B5EF4-FFF2-40B4-BE49-F238E27FC236}">
                <ns2:creationId id="{9BD612D0-13BA-4000-86DE-0B225DD09C87}"/>
              </a:ext>
            </a:extLst>
          </ns0:cNvPr>
          <ns0:cNvSpPr>
            <a:spLocks noGrp="1"/>
          </ns0:cNvSpPr>
          <ns0:nvPr/>
        </ns0:nvSpPr>
        <ns0:spPr>
          <a:xfrm>
            <a:off x="11144250" y="6410325"/>
            <a:ext cx="476250" cy="1714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ctr">
            <a:normAutofit fontScale="100000"/>
          </a:bodyPr>
          <a:lstStyle/>
          <a:p>
            <a:pPr algn="r">
              <a:lnSpc>
                <a:spcPct val="100000"/>
              </a:lnSpc>
              <a:buNone/>
              <a:def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rPr>
              <a:t>13</a:t>
            </a:r>
          </a:p>
        </ns0:txBody>
      </ns0:sp>
      <ns0:sp>
        <ns0:nvSpPr>
          <ns0:cNvPr id="7" name="">
            <a:extLst>
              <a:ext uri="{FF2B5EF4-FFF2-40B4-BE49-F238E27FC236}">
                <ns2:creationId id="{736B00B7-4FDD-4986-BFDB-697973CF1F01}"/>
              </a:ext>
            </a:extLst>
          </ns0:cNvPr>
          <ns0:cNvSpPr>
            <a:spLocks noGrp="1"/>
          </ns0:cNvSpPr>
          <ns0:nvPr/>
        </ns0:nvSpPr>
        <ns0:spPr>
          <a:xfrm>
            <a:off x="571500" y="1143000"/>
            <a:ext cx="11049000" cy="2095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1125" b="1" lang="pt-BR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 lang="pt-BR">
                <a:solidFill>
                  <a:srgbClr val="30353A"/>
                </a:solidFill>
                <a:latin typeface="Arial"/>
                <a:ea typeface="Arial"/>
                <a:cs typeface="Arial"/>
              </a:rPr>
              <a:t>dez/25 · Top 15</a:t>
            </a:r>
          </a:p>
        </ns0:txBody>
      </ns0:sp>
      <ns0:sp>
        <ns0:nvSpPr>
          <ns0:cNvPr id="8" name="">
            <a:extLst>
              <a:ext uri="{FF2B5EF4-FFF2-40B4-BE49-F238E27FC236}">
                <ns2:creationId id="{8FF77AE0-B0D2-4187-A626-3D2836BEDF6E}"/>
              </a:ext>
            </a:extLst>
          </ns0:cNvPr>
          <ns0:cNvSpPr>
            <a:spLocks noGrp="1"/>
          </ns0:cNvSpPr>
          <ns0:nvPr/>
        </ns0:nvSpPr>
        <ns0:spPr>
          <a:xfrm>
            <a:off x="571500" y="1390650"/>
            <a:ext cx="11049000" cy="9525"/>
          </a:xfrm>
          <a:prstGeom prst="rect">
            <a:avLst/>
          </a:prstGeom>
          <a:solidFill>
            <a:srgbClr val="D7DADD"/>
          </a:solidFill>
          <a:ln w="0">
            <a:noFill/>
            <a:prstDash val="solid"/>
          </a:ln>
        </ns0:spPr>
      </ns0:sp>
      <ns0:graphicFrame>
        <ns0:nvGraphicFramePr>
          <ns0:cNvPr id="19" name=""/>
          <ns0:cNvGraphicFramePr/>
          <ns0:nvPr/>
        </ns0:nvGraphicFramePr>
        <ns0:xfrm>
          <a:off x="571500" y="1438275"/>
          <a:ext cx="11049000" cy="4705350"/>
        </ns0:xfrm>
        <a:graphic>
          <a:graphicData uri="http://schemas.openxmlformats.org/drawingml/2006/table">
            <a:tbl>
              <a:tblPr firstRow="0" firstCol="0" lastRow="0" lastCol="0" bandRow="0" bandCol="0"/>
              <a:tblGrid>
                <a:gridCol w="285750"/>
                <a:gridCol w="1857375"/>
                <a:gridCol w="1285875"/>
                <a:gridCol w="2095500"/>
                <a:gridCol w="952500"/>
                <a:gridCol w="2047875"/>
                <a:gridCol w="1762125"/>
                <a:gridCol w="762000"/>
              </a:tblGrid>
              <a:tr h="221456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050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#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050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FIDC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050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CNPJ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050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Cedente / originador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050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Sub. mín.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050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Remuneração-alvo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050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Sacado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050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R$ bi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</a:tr>
              <a:tr h="220504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Sistema Petrobras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09195235000150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C: Petrobras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Clientes PJ cedentes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61,56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  <a:tr h="220504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AETOS ENERGIA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52610624000124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C: BRF Energia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Compradores energia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6,64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  <a:tr h="220504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3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VENDA DE VEÍCULOS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21126275000146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C: Renault +1 ent. · O: RCI*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3,77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  <a:tr h="220504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4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AGRO FLEX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47228232000165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C: Syngenta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Coop./fornec./rev.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3,06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  <a:tr h="220504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5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OCCAM CRÉDITO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48349509000170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3,05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  <a:tr h="220504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6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FIDC GM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11230727000181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C: GM Brasil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3,02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  <a:tr h="220504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7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ER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59356753000187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C: Âmbar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2,33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  <a:tr h="220504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8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VITA AUTO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50095909000149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C: Stellantis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40% do CDI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2,22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  <a:tr h="220504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9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COMERCIAIS MEDICI I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62393829000159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C: CARGILL AGRICOLA S A +8 ent.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BRF*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2,05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  <a:tr h="220504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10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HYUNDAI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52651831000127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C: Hyundai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2,03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  <a:tr h="220504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11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FRANQUIAS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09217024000171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2,00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  <a:tr h="220504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12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CLASSE ÚNICA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34218864000104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1,80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  <a:tr h="220504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13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AUTO-HONDA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28279473000199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C: Honda Brasil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85% do CDI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1,68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  <a:tr h="220504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14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GAZIN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29492605000129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C: Gazin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Jr. 51%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1,62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  <a:tr h="220504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15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EB VESTA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40801446000130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1,55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ns0:graphicFrame>
      <ns0:sp>
        <ns0:nvSpPr>
          <ns0:cNvPr id="10" name="">
            <a:extLst>
              <a:ext uri="{FF2B5EF4-FFF2-40B4-BE49-F238E27FC236}">
                <ns2:creationId id="{B4D98BE6-6E63-4197-8CD4-1E9E7E3C9DE7}"/>
              </a:ext>
            </a:extLst>
          </ns0:cNvPr>
          <ns0:cNvSpPr>
            <a:spLocks noGrp="1"/>
          </ns0:cNvSpPr>
          <ns0:nvPr/>
        </ns0:nvSpPr>
        <ns0:spPr>
          <a:xfrm>
            <a:off x="571500" y="6172200"/>
            <a:ext cx="11049000" cy="15240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0" tIns="0" rIns="0" bIns="0" anchor="ctr">
            <a:normAutofit fontScale="100000"/>
          </a:bodyPr>
          <a:lstStyle/>
          <a:p>
            <a:pPr algn="r">
              <a:lnSpc>
                <a:spcPct val="100000"/>
              </a:lnSpc>
              <a:buNone/>
              <a:def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rPr>
              <a:t>C/O = cedente/originador; +N ent./séries = itens adicionais; comb./total = natureza do mínimo; * = complemento manual; N/D = lacuna. Texto integral: Auditoria emissões.</a:t>
            </a:r>
          </a:p>
        </ns0:txBody>
      </ns0:sp>
    </ns0:spTree>
    <ns0:extLst>
      <ns0:ext uri="{BB962C8B-B14F-4D97-AF65-F5344CB8AC3E}">
        <ns3:creationId val="1894286965"/>
      </ns0:ext>
    </ns0:extLst>
  </ns0:cSld>
</ns0:sld>
</file>

<file path=ppt/slides/slide14.xml><?xml version="1.0" encoding="utf-8"?>
<ns0:sld xmlns:a="http://schemas.openxmlformats.org/drawingml/2006/main" xmlns:ns0="http://schemas.openxmlformats.org/presentationml/2006/main" xmlns:ns2="http://schemas.microsoft.com/office/drawing/2014/main" xmlns:ns3="http://schemas.microsoft.com/office/powerpoint/2010/main">
  <ns0:cSld>
    <ns0:bg>
      <ns0:bgPr>
        <a:solidFill>
          <a:srgbClr val="FFFFFF"/>
        </a:solidFill>
      </ns0:bgPr>
    </ns0:bg>
    <ns0:spTree>
      <ns0:nvGrpSpPr>
        <ns0:cNvPr id="1" name=""/>
        <ns0:cNvGrpSpPr/>
        <ns0:nvPr/>
      </ns0:nvGrpSpPr>
      <ns0:grpSpPr>
        <a:xfrm/>
      </ns0:grpSpPr>
      <ns0:sp>
        <ns0:nvSpPr>
          <ns0:cNvPr id="11" name="">
            <a:extLst>
              <a:ext uri="{FF2B5EF4-FFF2-40B4-BE49-F238E27FC236}">
                <ns2:creationId id="{A17530CA-D8E5-45CA-954C-E433D7557C69}"/>
              </a:ext>
            </a:extLst>
          </ns0:cNvPr>
          <ns0:cNvSpPr>
            <a:spLocks noGrp="1"/>
          </ns0:cNvSpPr>
          <ns0:nvPr/>
        </ns0:nvSpPr>
        <ns0:spPr>
          <a:xfrm>
            <a:off x="571500" y="257175"/>
            <a:ext cx="11049000" cy="409575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0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2100" b="1" lang="pt-BR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2100" b="1" lang="pt-BR">
                <a:solidFill>
                  <a:srgbClr val="151515"/>
                </a:solidFill>
                <a:latin typeface="Arial"/>
                <a:ea typeface="Arial"/>
                <a:cs typeface="Arial"/>
              </a:rPr>
              <a:t>Financeiro: o maior bloco, e ainda crescendo</a:t>
            </a:r>
          </a:p>
        </ns0:txBody>
      </ns0:sp>
      <ns0:sp>
        <ns0:nvSpPr>
          <ns0:cNvPr id="2" name="">
            <a:extLst>
              <a:ext uri="{FF2B5EF4-FFF2-40B4-BE49-F238E27FC236}">
                <ns2:creationId id="{498D54A8-C1A5-4AF7-96C6-85E78F10427B}"/>
              </a:ext>
            </a:extLst>
          </ns0:cNvPr>
          <ns0:cNvSpPr>
            <a:spLocks noGrp="1"/>
          </ns0:cNvSpPr>
          <ns0:nvPr/>
        </ns0:nvSpPr>
        <ns0:spPr>
          <a:xfrm>
            <a:off x="571500" y="723900"/>
            <a:ext cx="11049000" cy="238125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0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1050" b="0" lang="pt-BR">
                <a:solidFill>
                  <a:srgbClr val="73787D"/>
                </a:solidFill>
                <a:latin typeface="Arial"/>
                <a:ea typeface="Arial"/>
                <a:cs typeface="Arial"/>
              </a:defRPr>
            </a:pPr>
            <a:r>
              <a:rPr sz="1050" b="0" lang="pt-BR">
                <a:solidFill>
                  <a:srgbClr val="73787D"/>
                </a:solidFill>
                <a:latin typeface="Arial"/>
                <a:ea typeface="Arial"/>
                <a:cs typeface="Arial"/>
              </a:rPr>
              <a:t>Top 15 vai a R$ 121,1 bi</a:t>
            </a:r>
          </a:p>
        </ns0:txBody>
      </ns0:sp>
      <ns0:sp>
        <ns0:nvSpPr>
          <ns0:cNvPr id="3" name="">
            <a:extLst>
              <a:ext uri="{FF2B5EF4-FFF2-40B4-BE49-F238E27FC236}">
                <ns2:creationId id="{E2038464-D9B2-4DEE-94F5-13CE6CC40F5D}"/>
              </a:ext>
            </a:extLst>
          </ns0:cNvPr>
          <ns0:cNvSpPr>
            <a:spLocks noGrp="1"/>
          </ns0:cNvSpPr>
          <ns0:nvPr/>
        </ns0:nvSpPr>
        <ns0:spPr>
          <a:xfrm>
            <a:off x="571500" y="1047750"/>
            <a:ext cx="11049000" cy="9525"/>
          </a:xfrm>
          <a:prstGeom prst="rect">
            <a:avLst/>
          </a:prstGeom>
          <a:solidFill>
            <a:srgbClr val="D7DADD"/>
          </a:solidFill>
          <a:ln w="0">
            <a:noFill/>
            <a:prstDash val="solid"/>
          </a:ln>
        </ns0:spPr>
      </ns0:sp>
      <ns0:sp>
        <ns0:nvSpPr>
          <ns0:cNvPr id="4" name="">
            <a:extLst>
              <a:ext uri="{FF2B5EF4-FFF2-40B4-BE49-F238E27FC236}">
                <ns2:creationId id="{D5CD2492-0841-47FB-888D-884216B5BA4E}"/>
              </a:ext>
            </a:extLst>
          </ns0:cNvPr>
          <ns0:cNvSpPr>
            <a:spLocks noGrp="1"/>
          </ns0:cNvSpPr>
          <ns0:nvPr/>
        </ns0:nvSpPr>
        <ns0:spPr>
          <a:xfrm>
            <a:off x="571500" y="6353175"/>
            <a:ext cx="11049000" cy="9525"/>
          </a:xfrm>
          <a:prstGeom prst="rect">
            <a:avLst/>
          </a:prstGeom>
          <a:solidFill>
            <a:srgbClr val="D7DADD"/>
          </a:solidFill>
          <a:ln w="0">
            <a:noFill/>
            <a:prstDash val="solid"/>
          </a:ln>
        </ns0:spPr>
      </ns0:sp>
      <ns0:sp>
        <ns0:nvSpPr>
          <ns0:cNvPr id="5" name="">
            <a:extLst>
              <a:ext uri="{FF2B5EF4-FFF2-40B4-BE49-F238E27FC236}">
                <ns2:creationId id="{04603B4A-BCC4-4189-A784-E9703676B894}"/>
              </a:ext>
            </a:extLst>
          </ns0:cNvPr>
          <ns0:cNvSpPr>
            <a:spLocks noGrp="1"/>
          </ns0:cNvSpPr>
          <ns0:nvPr/>
        </ns0:nvSpPr>
        <ns0:spPr>
          <a:xfrm>
            <a:off x="571500" y="6419850"/>
            <a:ext cx="10001250" cy="1714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47625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rPr>
              <a:t>jun/26 · Top 15: R$ 120,0 bi. Comparação: R$ 105,2 bi em dez/25 e R$ 120,0 bi em jun/26.</a:t>
            </a:r>
          </a:p>
        </ns0:txBody>
      </ns0:sp>
      <ns0:sp>
        <ns0:nvSpPr>
          <ns0:cNvPr id="6" name="">
            <a:extLst>
              <a:ext uri="{FF2B5EF4-FFF2-40B4-BE49-F238E27FC236}">
                <ns2:creationId id="{9BA6FC8B-F5F4-48F2-B175-7446FE701B09}"/>
              </a:ext>
            </a:extLst>
          </ns0:cNvPr>
          <ns0:cNvSpPr>
            <a:spLocks noGrp="1"/>
          </ns0:cNvSpPr>
          <ns0:nvPr/>
        </ns0:nvSpPr>
        <ns0:spPr>
          <a:xfrm>
            <a:off x="11144250" y="6410325"/>
            <a:ext cx="476250" cy="1714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ctr">
            <a:normAutofit fontScale="100000"/>
          </a:bodyPr>
          <a:lstStyle/>
          <a:p>
            <a:pPr algn="r">
              <a:lnSpc>
                <a:spcPct val="100000"/>
              </a:lnSpc>
              <a:buNone/>
              <a:def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rPr>
              <a:t>14</a:t>
            </a:r>
          </a:p>
        </ns0:txBody>
      </ns0:sp>
      <ns0:sp>
        <ns0:nvSpPr>
          <ns0:cNvPr id="7" name="">
            <a:extLst>
              <a:ext uri="{FF2B5EF4-FFF2-40B4-BE49-F238E27FC236}">
                <ns2:creationId id="{294F3FB3-BDB2-4CF3-A75F-8903807F974C}"/>
              </a:ext>
            </a:extLst>
          </ns0:cNvPr>
          <ns0:cNvSpPr>
            <a:spLocks noGrp="1"/>
          </ns0:cNvSpPr>
          <ns0:nvPr/>
        </ns0:nvSpPr>
        <ns0:spPr>
          <a:xfrm>
            <a:off x="571500" y="1143000"/>
            <a:ext cx="11049000" cy="2095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1125" b="1" lang="pt-BR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 lang="pt-BR">
                <a:solidFill>
                  <a:srgbClr val="30353A"/>
                </a:solidFill>
                <a:latin typeface="Arial"/>
                <a:ea typeface="Arial"/>
                <a:cs typeface="Arial"/>
              </a:rPr>
              <a:t>jun/26 · Top 15</a:t>
            </a:r>
          </a:p>
        </ns0:txBody>
      </ns0:sp>
      <ns0:sp>
        <ns0:nvSpPr>
          <ns0:cNvPr id="8" name="">
            <a:extLst>
              <a:ext uri="{FF2B5EF4-FFF2-40B4-BE49-F238E27FC236}">
                <ns2:creationId id="{B9CD756F-090C-4ED3-8C72-945D12A1819D}"/>
              </a:ext>
            </a:extLst>
          </ns0:cNvPr>
          <ns0:cNvSpPr>
            <a:spLocks noGrp="1"/>
          </ns0:cNvSpPr>
          <ns0:nvPr/>
        </ns0:nvSpPr>
        <ns0:spPr>
          <a:xfrm>
            <a:off x="571500" y="1390650"/>
            <a:ext cx="11049000" cy="9525"/>
          </a:xfrm>
          <a:prstGeom prst="rect">
            <a:avLst/>
          </a:prstGeom>
          <a:solidFill>
            <a:srgbClr val="D7DADD"/>
          </a:solidFill>
          <a:ln w="0">
            <a:noFill/>
            <a:prstDash val="solid"/>
          </a:ln>
        </ns0:spPr>
      </ns0:sp>
      <ns0:graphicFrame>
        <ns0:nvGraphicFramePr>
          <ns0:cNvPr id="19" name=""/>
          <ns0:cNvGraphicFramePr/>
          <ns0:nvPr/>
        </ns0:nvGraphicFramePr>
        <ns0:xfrm>
          <a:off x="571500" y="1438275"/>
          <a:ext cx="11049000" cy="4705350"/>
        </ns0:xfrm>
        <a:graphic>
          <a:graphicData uri="http://schemas.openxmlformats.org/drawingml/2006/table">
            <a:tbl>
              <a:tblPr firstRow="0" firstCol="0" lastRow="0" lastCol="0" bandRow="0" bandCol="0"/>
              <a:tblGrid>
                <a:gridCol w="285750"/>
                <a:gridCol w="1857375"/>
                <a:gridCol w="1285875"/>
                <a:gridCol w="2095500"/>
                <a:gridCol w="952500"/>
                <a:gridCol w="2047875"/>
                <a:gridCol w="1762125"/>
                <a:gridCol w="762000"/>
              </a:tblGrid>
              <a:tr h="221456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050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#</a:t>
                      </a:r>
                    </a:p>
                  </a:txBody>
                  <a:tcPr marL="47625" marR="47625" marT="19050" marB="19050" anchor="ctr">
                    <a:solidFill>
                      <a:srgbClr val="EC7000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050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FIDC</a:t>
                      </a:r>
                    </a:p>
                  </a:txBody>
                  <a:tcPr marL="47625" marR="47625" marT="19050" marB="19050" anchor="ctr">
                    <a:solidFill>
                      <a:srgbClr val="EC7000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050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CNPJ</a:t>
                      </a:r>
                    </a:p>
                  </a:txBody>
                  <a:tcPr marL="47625" marR="47625" marT="19050" marB="19050" anchor="ctr">
                    <a:solidFill>
                      <a:srgbClr val="EC7000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050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Cedente / originador</a:t>
                      </a:r>
                    </a:p>
                  </a:txBody>
                  <a:tcPr marL="47625" marR="47625" marT="19050" marB="19050" anchor="ctr">
                    <a:solidFill>
                      <a:srgbClr val="EC7000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050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Sub. mín.</a:t>
                      </a:r>
                    </a:p>
                  </a:txBody>
                  <a:tcPr marL="47625" marR="47625" marT="19050" marB="19050" anchor="ctr">
                    <a:solidFill>
                      <a:srgbClr val="EC7000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050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Remuneração-alvo</a:t>
                      </a:r>
                    </a:p>
                  </a:txBody>
                  <a:tcPr marL="47625" marR="47625" marT="19050" marB="19050" anchor="ctr">
                    <a:solidFill>
                      <a:srgbClr val="EC7000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050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Sacado</a:t>
                      </a:r>
                    </a:p>
                  </a:txBody>
                  <a:tcPr marL="47625" marR="47625" marT="19050" marB="19050" anchor="ctr">
                    <a:solidFill>
                      <a:srgbClr val="EC7000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050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R$ bi</a:t>
                      </a:r>
                    </a:p>
                  </a:txBody>
                  <a:tcPr marL="47625" marR="47625" marT="19050" marB="19050" anchor="ctr">
                    <a:solidFill>
                      <a:srgbClr val="EC7000"/>
                    </a:solidFill>
                  </a:tcPr>
                </a:tc>
              </a:tr>
              <a:tr h="220504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TAPSO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26287464000114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C: Stone/Pagar.me · O: Stone*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CDI+2,10%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Stone/Pagar.me/adq.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41,50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  <a:tr h="220504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CLOUDWALK BELA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62393679000183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C: CloudWalk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1,0%→2,5%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CDI+1,35% · 3 séries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Emissores/IPs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10,01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  <a:tr h="220504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3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MT Consignado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63953619000130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C: Parati Crédito · O: MeuTudo*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Empregados CLT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9,41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  <a:tr h="220504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4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BTG Consignados II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52242420000188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O: Banco Pan*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PF · INSS/Aux./FGTS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8,03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  <a:tr h="220504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5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CIELO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26286939000158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C: Cielo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Cielo (adquirente)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6,48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  <a:tr h="220504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6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PAGSEGURO I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28169275000172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C: PagSeguro · O: PagBank*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Jr. 50%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CDI+1,85%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PagSeguro (devedor)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6,23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  <a:tr h="220504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7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BTG Consignados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50906397000153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O: Banco Pan*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PF · INSS/FGTS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6,01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  <a:tr h="220504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8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MONEE I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42922136000107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C: MAREE +2 ent. · O: SHPP Brasil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Tomadores PF/PJ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5,75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  <a:tr h="220504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9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PICPAY I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32527650000186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C: PicPay IP · O: PicPay*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PicPay (pagador)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4,76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  <a:tr h="220504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10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Marobá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61285603000171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O: Itaú BBA*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4,47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  <a:tr h="220504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11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ACR Bem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54979779000168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C: Stone IP · O: Stone*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3,68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  <a:tr h="220504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12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Havan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12817329000129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C: Havan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3,67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  <a:tr h="220504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13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Seller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50473039000102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C: Estab./M.Cred. · O: Mercado Pago*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10,0%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Mercado Pago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3,66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  <a:tr h="220504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14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CloudWalk PI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60356171000180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C: CloudWalk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2,5%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CDI+1,70% · 4 séries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Bancos/IPs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3,25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  <a:tr h="220504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15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VTK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62588266000154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C: Facta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Jr. 5%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3,09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ns0:graphicFrame>
      <ns0:sp>
        <ns0:nvSpPr>
          <ns0:cNvPr id="10" name="">
            <a:extLst>
              <a:ext uri="{FF2B5EF4-FFF2-40B4-BE49-F238E27FC236}">
                <ns2:creationId id="{8DD32229-F32E-46F1-94FF-FB0617AA740E}"/>
              </a:ext>
            </a:extLst>
          </ns0:cNvPr>
          <ns0:cNvSpPr>
            <a:spLocks noGrp="1"/>
          </ns0:cNvSpPr>
          <ns0:nvPr/>
        </ns0:nvSpPr>
        <ns0:spPr>
          <a:xfrm>
            <a:off x="571500" y="6172200"/>
            <a:ext cx="11049000" cy="15240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0" tIns="0" rIns="0" bIns="0" anchor="ctr">
            <a:normAutofit fontScale="100000"/>
          </a:bodyPr>
          <a:lstStyle/>
          <a:p>
            <a:pPr algn="r">
              <a:lnSpc>
                <a:spcPct val="100000"/>
              </a:lnSpc>
              <a:buNone/>
              <a:def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rPr>
              <a:t>C/O = cedente/originador; +N ent./séries = itens adicionais; comb./total = natureza do mínimo; * = complemento manual; N/D = lacuna. Texto integral: Auditoria emissões.</a:t>
            </a:r>
          </a:p>
        </ns0:txBody>
      </ns0:sp>
    </ns0:spTree>
    <ns0:extLst>
      <ns0:ext uri="{BB962C8B-B14F-4D97-AF65-F5344CB8AC3E}">
        <ns3:creationId val="12052944"/>
      </ns0:ext>
    </ns0:extLst>
  </ns0:cSld>
</ns0:sld>
</file>

<file path=ppt/slides/slide15.xml><?xml version="1.0" encoding="utf-8"?>
<ns0:sld xmlns:a="http://schemas.openxmlformats.org/drawingml/2006/main" xmlns:ns0="http://schemas.openxmlformats.org/presentationml/2006/main" xmlns:ns2="http://schemas.microsoft.com/office/drawing/2014/main" xmlns:ns3="http://schemas.microsoft.com/office/powerpoint/2010/main">
  <ns0:cSld>
    <ns0:bg>
      <ns0:bgPr>
        <a:solidFill>
          <a:srgbClr val="FFFFFF"/>
        </a:solidFill>
      </ns0:bgPr>
    </ns0:bg>
    <ns0:spTree>
      <ns0:nvGrpSpPr>
        <ns0:cNvPr id="1" name=""/>
        <ns0:cNvGrpSpPr/>
        <ns0:nvPr/>
      </ns0:nvGrpSpPr>
      <ns0:grpSpPr>
        <a:xfrm/>
      </ns0:grpSpPr>
      <ns0:sp>
        <ns0:nvSpPr>
          <ns0:cNvPr id="11" name="">
            <a:extLst>
              <a:ext uri="{FF2B5EF4-FFF2-40B4-BE49-F238E27FC236}">
                <ns2:creationId id="{DF7D5151-4E64-454A-9574-E3EFED6E5929}"/>
              </a:ext>
            </a:extLst>
          </ns0:cNvPr>
          <ns0:cNvSpPr>
            <a:spLocks noGrp="1"/>
          </ns0:cNvSpPr>
          <ns0:nvPr/>
        </ns0:nvSpPr>
        <ns0:spPr>
          <a:xfrm>
            <a:off x="571500" y="257175"/>
            <a:ext cx="11049000" cy="409575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0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2100" b="1" lang="pt-BR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2100" b="1" lang="pt-BR">
                <a:solidFill>
                  <a:srgbClr val="151515"/>
                </a:solidFill>
                <a:latin typeface="Arial"/>
                <a:ea typeface="Arial"/>
                <a:cs typeface="Arial"/>
              </a:rPr>
              <a:t>Financeiro: o maior bloco, e ainda crescendo</a:t>
            </a:r>
          </a:p>
        </ns0:txBody>
      </ns0:sp>
      <ns0:sp>
        <ns0:nvSpPr>
          <ns0:cNvPr id="2" name="">
            <a:extLst>
              <a:ext uri="{FF2B5EF4-FFF2-40B4-BE49-F238E27FC236}">
                <ns2:creationId id="{2258DC94-987D-4235-AEA6-4BE28F50D420}"/>
              </a:ext>
            </a:extLst>
          </ns0:cNvPr>
          <ns0:cNvSpPr>
            <a:spLocks noGrp="1"/>
          </ns0:cNvSpPr>
          <ns0:nvPr/>
        </ns0:nvSpPr>
        <ns0:spPr>
          <a:xfrm>
            <a:off x="571500" y="723900"/>
            <a:ext cx="11049000" cy="238125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0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1050" b="0" lang="pt-BR">
                <a:solidFill>
                  <a:srgbClr val="73787D"/>
                </a:solidFill>
                <a:latin typeface="Arial"/>
                <a:ea typeface="Arial"/>
                <a:cs typeface="Arial"/>
              </a:defRPr>
            </a:pPr>
            <a:r>
              <a:rPr sz="1050" b="0" lang="pt-BR">
                <a:solidFill>
                  <a:srgbClr val="73787D"/>
                </a:solidFill>
                <a:latin typeface="Arial"/>
                <a:ea typeface="Arial"/>
                <a:cs typeface="Arial"/>
              </a:rPr>
              <a:t>Top 15 vai a R$ 121,1 bi</a:t>
            </a:r>
          </a:p>
        </ns0:txBody>
      </ns0:sp>
      <ns0:sp>
        <ns0:nvSpPr>
          <ns0:cNvPr id="3" name="">
            <a:extLst>
              <a:ext uri="{FF2B5EF4-FFF2-40B4-BE49-F238E27FC236}">
                <ns2:creationId id="{D744B3FB-EDC8-4036-AEC4-93A05A4D4ED7}"/>
              </a:ext>
            </a:extLst>
          </ns0:cNvPr>
          <ns0:cNvSpPr>
            <a:spLocks noGrp="1"/>
          </ns0:cNvSpPr>
          <ns0:nvPr/>
        </ns0:nvSpPr>
        <ns0:spPr>
          <a:xfrm>
            <a:off x="571500" y="1047750"/>
            <a:ext cx="11049000" cy="9525"/>
          </a:xfrm>
          <a:prstGeom prst="rect">
            <a:avLst/>
          </a:prstGeom>
          <a:solidFill>
            <a:srgbClr val="D7DADD"/>
          </a:solidFill>
          <a:ln w="0">
            <a:noFill/>
            <a:prstDash val="solid"/>
          </a:ln>
        </ns0:spPr>
      </ns0:sp>
      <ns0:sp>
        <ns0:nvSpPr>
          <ns0:cNvPr id="4" name="">
            <a:extLst>
              <a:ext uri="{FF2B5EF4-FFF2-40B4-BE49-F238E27FC236}">
                <ns2:creationId id="{709223B6-2D6D-4101-83C9-D9EEE190A607}"/>
              </a:ext>
            </a:extLst>
          </ns0:cNvPr>
          <ns0:cNvSpPr>
            <a:spLocks noGrp="1"/>
          </ns0:cNvSpPr>
          <ns0:nvPr/>
        </ns0:nvSpPr>
        <ns0:spPr>
          <a:xfrm>
            <a:off x="571500" y="6353175"/>
            <a:ext cx="11049000" cy="9525"/>
          </a:xfrm>
          <a:prstGeom prst="rect">
            <a:avLst/>
          </a:prstGeom>
          <a:solidFill>
            <a:srgbClr val="D7DADD"/>
          </a:solidFill>
          <a:ln w="0">
            <a:noFill/>
            <a:prstDash val="solid"/>
          </a:ln>
        </ns0:spPr>
      </ns0:sp>
      <ns0:sp>
        <ns0:nvSpPr>
          <ns0:cNvPr id="5" name="">
            <a:extLst>
              <a:ext uri="{FF2B5EF4-FFF2-40B4-BE49-F238E27FC236}">
                <ns2:creationId id="{2D90D7F1-239E-4286-B995-0E6464B684B2}"/>
              </a:ext>
            </a:extLst>
          </ns0:cNvPr>
          <ns0:cNvSpPr>
            <a:spLocks noGrp="1"/>
          </ns0:cNvSpPr>
          <ns0:nvPr/>
        </ns0:nvSpPr>
        <ns0:spPr>
          <a:xfrm>
            <a:off x="571500" y="6419850"/>
            <a:ext cx="10001250" cy="1714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47625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rPr>
              <a:t>dez/25 · Top 15: R$ 105,2 bi. Comparação: R$ 105,2 bi em dez/25 e R$ 120,0 bi em jun/26.</a:t>
            </a:r>
          </a:p>
        </ns0:txBody>
      </ns0:sp>
      <ns0:sp>
        <ns0:nvSpPr>
          <ns0:cNvPr id="6" name="">
            <a:extLst>
              <a:ext uri="{FF2B5EF4-FFF2-40B4-BE49-F238E27FC236}">
                <ns2:creationId id="{85DD5212-BB3B-4728-871D-03B31C4E4085}"/>
              </a:ext>
            </a:extLst>
          </ns0:cNvPr>
          <ns0:cNvSpPr>
            <a:spLocks noGrp="1"/>
          </ns0:cNvSpPr>
          <ns0:nvPr/>
        </ns0:nvSpPr>
        <ns0:spPr>
          <a:xfrm>
            <a:off x="11144250" y="6410325"/>
            <a:ext cx="476250" cy="1714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ctr">
            <a:normAutofit fontScale="100000"/>
          </a:bodyPr>
          <a:lstStyle/>
          <a:p>
            <a:pPr algn="r">
              <a:lnSpc>
                <a:spcPct val="100000"/>
              </a:lnSpc>
              <a:buNone/>
              <a:def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rPr>
              <a:t>15</a:t>
            </a:r>
          </a:p>
        </ns0:txBody>
      </ns0:sp>
      <ns0:sp>
        <ns0:nvSpPr>
          <ns0:cNvPr id="7" name="">
            <a:extLst>
              <a:ext uri="{FF2B5EF4-FFF2-40B4-BE49-F238E27FC236}">
                <ns2:creationId id="{92110801-A7ED-4710-A329-E590E14F7B1C}"/>
              </a:ext>
            </a:extLst>
          </ns0:cNvPr>
          <ns0:cNvSpPr>
            <a:spLocks noGrp="1"/>
          </ns0:cNvSpPr>
          <ns0:nvPr/>
        </ns0:nvSpPr>
        <ns0:spPr>
          <a:xfrm>
            <a:off x="571500" y="1143000"/>
            <a:ext cx="11049000" cy="2095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1125" b="1" lang="pt-BR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 lang="pt-BR">
                <a:solidFill>
                  <a:srgbClr val="30353A"/>
                </a:solidFill>
                <a:latin typeface="Arial"/>
                <a:ea typeface="Arial"/>
                <a:cs typeface="Arial"/>
              </a:rPr>
              <a:t>dez/25 · Top 15</a:t>
            </a:r>
          </a:p>
        </ns0:txBody>
      </ns0:sp>
      <ns0:sp>
        <ns0:nvSpPr>
          <ns0:cNvPr id="8" name="">
            <a:extLst>
              <a:ext uri="{FF2B5EF4-FFF2-40B4-BE49-F238E27FC236}">
                <ns2:creationId id="{F4D4343A-0FBC-445C-89EC-D96D9FD99FE7}"/>
              </a:ext>
            </a:extLst>
          </ns0:cNvPr>
          <ns0:cNvSpPr>
            <a:spLocks noGrp="1"/>
          </ns0:cNvSpPr>
          <ns0:nvPr/>
        </ns0:nvSpPr>
        <ns0:spPr>
          <a:xfrm>
            <a:off x="571500" y="1390650"/>
            <a:ext cx="11049000" cy="9525"/>
          </a:xfrm>
          <a:prstGeom prst="rect">
            <a:avLst/>
          </a:prstGeom>
          <a:solidFill>
            <a:srgbClr val="D7DADD"/>
          </a:solidFill>
          <a:ln w="0">
            <a:noFill/>
            <a:prstDash val="solid"/>
          </a:ln>
        </ns0:spPr>
      </ns0:sp>
      <ns0:graphicFrame>
        <ns0:nvGraphicFramePr>
          <ns0:cNvPr id="19" name=""/>
          <ns0:cNvGraphicFramePr/>
          <ns0:nvPr/>
        </ns0:nvGraphicFramePr>
        <ns0:xfrm>
          <a:off x="571500" y="1438275"/>
          <a:ext cx="11049000" cy="4705350"/>
        </ns0:xfrm>
        <a:graphic>
          <a:graphicData uri="http://schemas.openxmlformats.org/drawingml/2006/table">
            <a:tbl>
              <a:tblPr firstRow="0" firstCol="0" lastRow="0" lastCol="0" bandRow="0" bandCol="0"/>
              <a:tblGrid>
                <a:gridCol w="285750"/>
                <a:gridCol w="1857375"/>
                <a:gridCol w="1285875"/>
                <a:gridCol w="2095500"/>
                <a:gridCol w="952500"/>
                <a:gridCol w="2047875"/>
                <a:gridCol w="1762125"/>
                <a:gridCol w="762000"/>
              </a:tblGrid>
              <a:tr h="221456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050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#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050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FIDC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050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CNPJ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050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Cedente / originador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050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Sub. mín.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050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Remuneração-alvo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050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Sacado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050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R$ bi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</a:tr>
              <a:tr h="220504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TAPSO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26287464000114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C: Stone/Pagar.me · O: Stone*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CDI+2,10%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Stone/Pagar.me/adq.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36,63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  <a:tr h="220504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BTG Consignados II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52242420000188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O: Banco Pan*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PF · INSS/Aux./FGTS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9,05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  <a:tr h="220504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3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ALEPO NÃO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36886028000115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8,75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  <a:tr h="220504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4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CIELO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26286939000158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C: Cielo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Cielo (adquirente)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8,07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  <a:tr h="220504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5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PAGSEGURO I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28169275000172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C: PagSeguro · O: PagBank*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Jr. 50%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CDI+1,85%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PagSeguro (devedor)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5,34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  <a:tr h="220504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6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PICPAY I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32527650000186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C: PicPay IP · O: PicPay*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PicPay (pagador)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4,68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  <a:tr h="220504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7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Seller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50473039000102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C: Estab./M.Cred. · O: Mercado Pago*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10,0%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Mercado Pago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4,68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  <a:tr h="220504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8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CLOUDWALK BELA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62393679000183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C: CloudWalk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1,0%→2,5%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DI+0,75%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Emissores/IPs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4,36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  <a:tr h="220504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9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MT CONSIGNADO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60010416000112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C: Parati Crédito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5,0%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3,99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  <a:tr h="220504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10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ACR Bem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54979779000168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C: Stone IP · O: Stone*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3,68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  <a:tr h="220504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11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MONEE I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42922136000107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C: MAREE +2 ent. · O: SHPP Brasil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Tomadores PF/PJ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3,54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  <a:tr h="220504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12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Havan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12817329000129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C: Havan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3,44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  <a:tr h="220504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13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CloudWalk PI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60356171000180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C: CloudWalk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2,5%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CDI+1,70% · 4 séries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Bancos/IPs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3,25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  <a:tr h="220504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14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FIDC SANTANDER AUTO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63662224000189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C: Santander SCFI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3,01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  <a:tr h="220504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15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CLOUDWALK A.I.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57609282000146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C: CloudWalk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CDI+3,85% · 2 séries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Bancos/IPs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2,70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ns0:graphicFrame>
      <ns0:sp>
        <ns0:nvSpPr>
          <ns0:cNvPr id="10" name="">
            <a:extLst>
              <a:ext uri="{FF2B5EF4-FFF2-40B4-BE49-F238E27FC236}">
                <ns2:creationId id="{2DAA66E4-25C1-40E3-B7CC-C785557B07BB}"/>
              </a:ext>
            </a:extLst>
          </ns0:cNvPr>
          <ns0:cNvSpPr>
            <a:spLocks noGrp="1"/>
          </ns0:cNvSpPr>
          <ns0:nvPr/>
        </ns0:nvSpPr>
        <ns0:spPr>
          <a:xfrm>
            <a:off x="571500" y="6172200"/>
            <a:ext cx="11049000" cy="15240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0" tIns="0" rIns="0" bIns="0" anchor="ctr">
            <a:normAutofit fontScale="100000"/>
          </a:bodyPr>
          <a:lstStyle/>
          <a:p>
            <a:pPr algn="r">
              <a:lnSpc>
                <a:spcPct val="100000"/>
              </a:lnSpc>
              <a:buNone/>
              <a:def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rPr>
              <a:t>C/O = cedente/originador; +N ent./séries = itens adicionais; comb./total = natureza do mínimo; * = complemento manual; N/D = lacuna. Texto integral: Auditoria emissões.</a:t>
            </a:r>
          </a:p>
        </ns0:txBody>
      </ns0:sp>
    </ns0:spTree>
    <ns0:extLst>
      <ns0:ext uri="{BB962C8B-B14F-4D97-AF65-F5344CB8AC3E}">
        <ns3:creationId val="1992997644"/>
      </ns0:ext>
    </ns0:extLst>
  </ns0:cSld>
</ns0:sld>
</file>

<file path=ppt/slides/slide16.xml><?xml version="1.0" encoding="utf-8"?>
<ns0:sld xmlns:a="http://schemas.openxmlformats.org/drawingml/2006/main" xmlns:ns0="http://schemas.openxmlformats.org/presentationml/2006/main" xmlns:ns2="http://schemas.microsoft.com/office/drawing/2014/main" xmlns:ns3="http://schemas.microsoft.com/office/powerpoint/2010/main">
  <ns0:cSld>
    <ns0:bg>
      <ns0:bgPr>
        <a:solidFill>
          <a:srgbClr val="FFFFFF"/>
        </a:solidFill>
      </ns0:bgPr>
    </ns0:bg>
    <ns0:spTree>
      <ns0:nvGrpSpPr>
        <ns0:cNvPr id="1" name=""/>
        <ns0:cNvGrpSpPr/>
        <ns0:nvPr/>
      </ns0:nvGrpSpPr>
      <ns0:grpSpPr>
        <a:xfrm/>
      </ns0:grpSpPr>
      <ns0:sp>
        <ns0:nvSpPr>
          <ns0:cNvPr id="11" name="">
            <a:extLst>
              <a:ext uri="{FF2B5EF4-FFF2-40B4-BE49-F238E27FC236}">
                <ns2:creationId id="{92524769-FE0E-4956-A66B-242554928E8A}"/>
              </a:ext>
            </a:extLst>
          </ns0:cNvPr>
          <ns0:cNvSpPr>
            <a:spLocks noGrp="1"/>
          </ns0:cNvSpPr>
          <ns0:nvPr/>
        </ns0:nvSpPr>
        <ns0:spPr>
          <a:xfrm>
            <a:off x="571500" y="257175"/>
            <a:ext cx="11049000" cy="409575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0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2100" b="1" lang="pt-BR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2100" b="1" lang="pt-BR">
                <a:solidFill>
                  <a:srgbClr val="151515"/>
                </a:solidFill>
                <a:latin typeface="Arial"/>
                <a:ea typeface="Arial"/>
                <a:cs typeface="Arial"/>
              </a:rPr>
              <a:t>Outros: o único bloco que encolheu</a:t>
            </a:r>
          </a:p>
        </ns0:txBody>
      </ns0:sp>
      <ns0:sp>
        <ns0:nvSpPr>
          <ns0:cNvPr id="2" name="">
            <a:extLst>
              <a:ext uri="{FF2B5EF4-FFF2-40B4-BE49-F238E27FC236}">
                <ns2:creationId id="{59901222-9105-4A24-AEE7-0BE31376E60F}"/>
              </a:ext>
            </a:extLst>
          </ns0:cNvPr>
          <ns0:cNvSpPr>
            <a:spLocks noGrp="1"/>
          </ns0:cNvSpPr>
          <ns0:nvPr/>
        </ns0:nvSpPr>
        <ns0:spPr>
          <a:xfrm>
            <a:off x="571500" y="723900"/>
            <a:ext cx="11049000" cy="238125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0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1050" b="0" lang="pt-BR">
                <a:solidFill>
                  <a:srgbClr val="73787D"/>
                </a:solidFill>
                <a:latin typeface="Arial"/>
                <a:ea typeface="Arial"/>
                <a:cs typeface="Arial"/>
              </a:defRPr>
            </a:pPr>
            <a:r>
              <a:rPr sz="1050" b="0" lang="pt-BR">
                <a:solidFill>
                  <a:srgbClr val="73787D"/>
                </a:solidFill>
                <a:latin typeface="Arial"/>
                <a:ea typeface="Arial"/>
                <a:cs typeface="Arial"/>
              </a:rPr>
              <a:t>Top 15 recua de R$ 60,9 bi para R$ 55,1 bi</a:t>
            </a:r>
          </a:p>
        </ns0:txBody>
      </ns0:sp>
      <ns0:sp>
        <ns0:nvSpPr>
          <ns0:cNvPr id="3" name="">
            <a:extLst>
              <a:ext uri="{FF2B5EF4-FFF2-40B4-BE49-F238E27FC236}">
                <ns2:creationId id="{496B1092-4E77-4AB4-8C64-510ECDE703CB}"/>
              </a:ext>
            </a:extLst>
          </ns0:cNvPr>
          <ns0:cNvSpPr>
            <a:spLocks noGrp="1"/>
          </ns0:cNvSpPr>
          <ns0:nvPr/>
        </ns0:nvSpPr>
        <ns0:spPr>
          <a:xfrm>
            <a:off x="571500" y="1047750"/>
            <a:ext cx="11049000" cy="9525"/>
          </a:xfrm>
          <a:prstGeom prst="rect">
            <a:avLst/>
          </a:prstGeom>
          <a:solidFill>
            <a:srgbClr val="D7DADD"/>
          </a:solidFill>
          <a:ln w="0">
            <a:noFill/>
            <a:prstDash val="solid"/>
          </a:ln>
        </ns0:spPr>
      </ns0:sp>
      <ns0:sp>
        <ns0:nvSpPr>
          <ns0:cNvPr id="4" name="">
            <a:extLst>
              <a:ext uri="{FF2B5EF4-FFF2-40B4-BE49-F238E27FC236}">
                <ns2:creationId id="{A4CF558E-6E5F-4C40-A1CA-578D3AC5CA65}"/>
              </a:ext>
            </a:extLst>
          </ns0:cNvPr>
          <ns0:cNvSpPr>
            <a:spLocks noGrp="1"/>
          </ns0:cNvSpPr>
          <ns0:nvPr/>
        </ns0:nvSpPr>
        <ns0:spPr>
          <a:xfrm>
            <a:off x="571500" y="6353175"/>
            <a:ext cx="11049000" cy="9525"/>
          </a:xfrm>
          <a:prstGeom prst="rect">
            <a:avLst/>
          </a:prstGeom>
          <a:solidFill>
            <a:srgbClr val="D7DADD"/>
          </a:solidFill>
          <a:ln w="0">
            <a:noFill/>
            <a:prstDash val="solid"/>
          </a:ln>
        </ns0:spPr>
      </ns0:sp>
      <ns0:sp>
        <ns0:nvSpPr>
          <ns0:cNvPr id="5" name="">
            <a:extLst>
              <a:ext uri="{FF2B5EF4-FFF2-40B4-BE49-F238E27FC236}">
                <ns2:creationId id="{0D07CB5B-736F-42D7-9269-D8A47FF638E8}"/>
              </a:ext>
            </a:extLst>
          </ns0:cNvPr>
          <ns0:cNvSpPr>
            <a:spLocks noGrp="1"/>
          </ns0:cNvSpPr>
          <ns0:nvPr/>
        </ns0:nvSpPr>
        <ns0:spPr>
          <a:xfrm>
            <a:off x="571500" y="6419850"/>
            <a:ext cx="10001250" cy="1714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47625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rPr>
              <a:t>jun/26 · Top 15: R$ 70,9 bi. Comparação: R$ 61,3 bi em dez/25 e R$ 70,9 bi em jun/26.</a:t>
            </a:r>
          </a:p>
        </ns0:txBody>
      </ns0:sp>
      <ns0:sp>
        <ns0:nvSpPr>
          <ns0:cNvPr id="6" name="">
            <a:extLst>
              <a:ext uri="{FF2B5EF4-FFF2-40B4-BE49-F238E27FC236}">
                <ns2:creationId id="{1464C7F6-00C2-4125-B507-1F5A9A5E6C6C}"/>
              </a:ext>
            </a:extLst>
          </ns0:cNvPr>
          <ns0:cNvSpPr>
            <a:spLocks noGrp="1"/>
          </ns0:cNvSpPr>
          <ns0:nvPr/>
        </ns0:nvSpPr>
        <ns0:spPr>
          <a:xfrm>
            <a:off x="11144250" y="6410325"/>
            <a:ext cx="476250" cy="1714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ctr">
            <a:normAutofit fontScale="100000"/>
          </a:bodyPr>
          <a:lstStyle/>
          <a:p>
            <a:pPr algn="r">
              <a:lnSpc>
                <a:spcPct val="100000"/>
              </a:lnSpc>
              <a:buNone/>
              <a:def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rPr>
              <a:t>16</a:t>
            </a:r>
          </a:p>
        </ns0:txBody>
      </ns0:sp>
      <ns0:sp>
        <ns0:nvSpPr>
          <ns0:cNvPr id="7" name="">
            <a:extLst>
              <a:ext uri="{FF2B5EF4-FFF2-40B4-BE49-F238E27FC236}">
                <ns2:creationId id="{476DBB9E-4EA4-4349-A771-FDEA30DD20DB}"/>
              </a:ext>
            </a:extLst>
          </ns0:cNvPr>
          <ns0:cNvSpPr>
            <a:spLocks noGrp="1"/>
          </ns0:cNvSpPr>
          <ns0:nvPr/>
        </ns0:nvSpPr>
        <ns0:spPr>
          <a:xfrm>
            <a:off x="571500" y="1143000"/>
            <a:ext cx="11049000" cy="2095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1125" b="1" lang="pt-BR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 lang="pt-BR">
                <a:solidFill>
                  <a:srgbClr val="30353A"/>
                </a:solidFill>
                <a:latin typeface="Arial"/>
                <a:ea typeface="Arial"/>
                <a:cs typeface="Arial"/>
              </a:rPr>
              <a:t>jun/26 · Top 15</a:t>
            </a:r>
          </a:p>
        </ns0:txBody>
      </ns0:sp>
      <ns0:sp>
        <ns0:nvSpPr>
          <ns0:cNvPr id="8" name="">
            <a:extLst>
              <a:ext uri="{FF2B5EF4-FFF2-40B4-BE49-F238E27FC236}">
                <ns2:creationId id="{3097CD45-AAF5-479A-B4AD-2F4898EC85AE}"/>
              </a:ext>
            </a:extLst>
          </ns0:cNvPr>
          <ns0:cNvSpPr>
            <a:spLocks noGrp="1"/>
          </ns0:cNvSpPr>
          <ns0:nvPr/>
        </ns0:nvSpPr>
        <ns0:spPr>
          <a:xfrm>
            <a:off x="571500" y="1390650"/>
            <a:ext cx="11049000" cy="9525"/>
          </a:xfrm>
          <a:prstGeom prst="rect">
            <a:avLst/>
          </a:prstGeom>
          <a:solidFill>
            <a:srgbClr val="D7DADD"/>
          </a:solidFill>
          <a:ln w="0">
            <a:noFill/>
            <a:prstDash val="solid"/>
          </a:ln>
        </ns0:spPr>
      </ns0:sp>
      <ns0:graphicFrame>
        <ns0:nvGraphicFramePr>
          <ns0:cNvPr id="19" name=""/>
          <ns0:cNvGraphicFramePr/>
          <ns0:nvPr/>
        </ns0:nvGraphicFramePr>
        <ns0:xfrm>
          <a:off x="571500" y="1438275"/>
          <a:ext cx="11049000" cy="4705350"/>
        </ns0:xfrm>
        <a:graphic>
          <a:graphicData uri="http://schemas.openxmlformats.org/drawingml/2006/table">
            <a:tbl>
              <a:tblPr firstRow="0" firstCol="0" lastRow="0" lastCol="0" bandRow="0" bandCol="0"/>
              <a:tblGrid>
                <a:gridCol w="285750"/>
                <a:gridCol w="1857375"/>
                <a:gridCol w="1285875"/>
                <a:gridCol w="2095500"/>
                <a:gridCol w="952500"/>
                <a:gridCol w="2047875"/>
                <a:gridCol w="1762125"/>
                <a:gridCol w="762000"/>
              </a:tblGrid>
              <a:tr h="221456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050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#</a:t>
                      </a:r>
                    </a:p>
                  </a:txBody>
                  <a:tcPr marL="47625" marR="47625" marT="19050" marB="19050" anchor="ctr">
                    <a:solidFill>
                      <a:srgbClr val="EC7000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050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FIDC</a:t>
                      </a:r>
                    </a:p>
                  </a:txBody>
                  <a:tcPr marL="47625" marR="47625" marT="19050" marB="19050" anchor="ctr">
                    <a:solidFill>
                      <a:srgbClr val="EC7000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050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CNPJ</a:t>
                      </a:r>
                    </a:p>
                  </a:txBody>
                  <a:tcPr marL="47625" marR="47625" marT="19050" marB="19050" anchor="ctr">
                    <a:solidFill>
                      <a:srgbClr val="EC7000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050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Cedente / originador</a:t>
                      </a:r>
                    </a:p>
                  </a:txBody>
                  <a:tcPr marL="47625" marR="47625" marT="19050" marB="19050" anchor="ctr">
                    <a:solidFill>
                      <a:srgbClr val="EC7000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050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Sub. mín.</a:t>
                      </a:r>
                    </a:p>
                  </a:txBody>
                  <a:tcPr marL="47625" marR="47625" marT="19050" marB="19050" anchor="ctr">
                    <a:solidFill>
                      <a:srgbClr val="EC7000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050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Remuneração-alvo</a:t>
                      </a:r>
                    </a:p>
                  </a:txBody>
                  <a:tcPr marL="47625" marR="47625" marT="19050" marB="19050" anchor="ctr">
                    <a:solidFill>
                      <a:srgbClr val="EC7000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050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Sacado</a:t>
                      </a:r>
                    </a:p>
                  </a:txBody>
                  <a:tcPr marL="47625" marR="47625" marT="19050" marB="19050" anchor="ctr">
                    <a:solidFill>
                      <a:srgbClr val="EC7000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050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R$ bi</a:t>
                      </a:r>
                    </a:p>
                  </a:txBody>
                  <a:tcPr marL="47625" marR="47625" marT="19050" marB="19050" anchor="ctr">
                    <a:solidFill>
                      <a:srgbClr val="EC7000"/>
                    </a:solidFill>
                  </a:tcPr>
                </a:tc>
              </a:tr>
              <a:tr h="220504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PAN AUTO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65473848000183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Entes púb./precat.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17,97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  <a:tr h="220504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ITAÚ CRÉDITO PRIVADO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53286499000101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8,72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  <a:tr h="220504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3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Rio Vermelho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53216449000158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Entes púb. e PF/PJ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6,39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  <a:tr h="220504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4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Alt. Assets III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29225241000110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C: WHIRLPOOL +3 ent.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Devedores PF/PJ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5,86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  <a:tr h="220504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5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RSCRED MULTIESTRÉGIA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29301202000155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3,60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  <a:tr h="220504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6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RED REAL LP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17250006000110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C: BMP SCD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CDI+2,75% · 4 séries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3,39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  <a:tr h="220504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7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ASA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49826785000145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C: ASA SCD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3,36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  <a:tr h="220504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8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FIDC PCG - BRASIL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07727002000126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3,14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  <a:tr h="220504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9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CARNIVAL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51079269000146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3,06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  <a:tr h="220504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10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Alt. Assets I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24194675000187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C: 2R HOLDING S.A +1 ent.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3,03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  <a:tr h="220504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11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GSR NÃO PADRONIZADOS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53029409000105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Estrut. 20%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2,94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  <a:tr h="220504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12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FIDC MULTISEGMENTOS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26405883000103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2,63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  <a:tr h="220504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13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Aconcágua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42358004000196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C: COMPANHIA ACUCAREIRA +2 ent.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2,34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  <a:tr h="220504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14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Ital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55720253000121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2,30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  <a:tr h="220504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15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RSG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57719370000109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2,14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ns0:graphicFrame>
      <ns0:sp>
        <ns0:nvSpPr>
          <ns0:cNvPr id="10" name="">
            <a:extLst>
              <a:ext uri="{FF2B5EF4-FFF2-40B4-BE49-F238E27FC236}">
                <ns2:creationId id="{EED8741D-534D-448E-A030-D63961CFB686}"/>
              </a:ext>
            </a:extLst>
          </ns0:cNvPr>
          <ns0:cNvSpPr>
            <a:spLocks noGrp="1"/>
          </ns0:cNvSpPr>
          <ns0:nvPr/>
        </ns0:nvSpPr>
        <ns0:spPr>
          <a:xfrm>
            <a:off x="571500" y="6172200"/>
            <a:ext cx="11049000" cy="15240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0" tIns="0" rIns="0" bIns="0" anchor="ctr">
            <a:normAutofit fontScale="100000"/>
          </a:bodyPr>
          <a:lstStyle/>
          <a:p>
            <a:pPr algn="r">
              <a:lnSpc>
                <a:spcPct val="100000"/>
              </a:lnSpc>
              <a:buNone/>
              <a:def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rPr>
              <a:t>C/O = cedente/originador; +N ent./séries = itens adicionais; comb./total = natureza do mínimo; * = complemento manual; N/D = lacuna. Texto integral: Auditoria emissões.</a:t>
            </a:r>
          </a:p>
        </ns0:txBody>
      </ns0:sp>
    </ns0:spTree>
    <ns0:extLst>
      <ns0:ext uri="{BB962C8B-B14F-4D97-AF65-F5344CB8AC3E}">
        <ns3:creationId val="1087832542"/>
      </ns0:ext>
    </ns0:extLst>
  </ns0:cSld>
</ns0:sld>
</file>

<file path=ppt/slides/slide17.xml><?xml version="1.0" encoding="utf-8"?>
<ns0:sld xmlns:a="http://schemas.openxmlformats.org/drawingml/2006/main" xmlns:ns0="http://schemas.openxmlformats.org/presentationml/2006/main" xmlns:ns2="http://schemas.microsoft.com/office/drawing/2014/main" xmlns:ns3="http://schemas.microsoft.com/office/powerpoint/2010/main">
  <ns0:cSld>
    <ns0:bg>
      <ns0:bgPr>
        <a:solidFill>
          <a:srgbClr val="FFFFFF"/>
        </a:solidFill>
      </ns0:bgPr>
    </ns0:bg>
    <ns0:spTree>
      <ns0:nvGrpSpPr>
        <ns0:cNvPr id="1" name=""/>
        <ns0:cNvGrpSpPr/>
        <ns0:nvPr/>
      </ns0:nvGrpSpPr>
      <ns0:grpSpPr>
        <a:xfrm/>
      </ns0:grpSpPr>
      <ns0:sp>
        <ns0:nvSpPr>
          <ns0:cNvPr id="11" name="">
            <a:extLst>
              <a:ext uri="{FF2B5EF4-FFF2-40B4-BE49-F238E27FC236}">
                <ns2:creationId id="{CB669DF8-8853-4CAC-87CE-0F372AE3B08D}"/>
              </a:ext>
            </a:extLst>
          </ns0:cNvPr>
          <ns0:cNvSpPr>
            <a:spLocks noGrp="1"/>
          </ns0:cNvSpPr>
          <ns0:nvPr/>
        </ns0:nvSpPr>
        <ns0:spPr>
          <a:xfrm>
            <a:off x="571500" y="257175"/>
            <a:ext cx="11049000" cy="409575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0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2100" b="1" lang="pt-BR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2100" b="1" lang="pt-BR">
                <a:solidFill>
                  <a:srgbClr val="151515"/>
                </a:solidFill>
                <a:latin typeface="Arial"/>
                <a:ea typeface="Arial"/>
                <a:cs typeface="Arial"/>
              </a:rPr>
              <a:t>Outros: o único bloco que encolheu</a:t>
            </a:r>
          </a:p>
        </ns0:txBody>
      </ns0:sp>
      <ns0:sp>
        <ns0:nvSpPr>
          <ns0:cNvPr id="2" name="">
            <a:extLst>
              <a:ext uri="{FF2B5EF4-FFF2-40B4-BE49-F238E27FC236}">
                <ns2:creationId id="{31DC1C67-79CB-4F1C-B341-ADAE8E171D23}"/>
              </a:ext>
            </a:extLst>
          </ns0:cNvPr>
          <ns0:cNvSpPr>
            <a:spLocks noGrp="1"/>
          </ns0:cNvSpPr>
          <ns0:nvPr/>
        </ns0:nvSpPr>
        <ns0:spPr>
          <a:xfrm>
            <a:off x="571500" y="723900"/>
            <a:ext cx="11049000" cy="238125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0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1050" b="0" lang="pt-BR">
                <a:solidFill>
                  <a:srgbClr val="73787D"/>
                </a:solidFill>
                <a:latin typeface="Arial"/>
                <a:ea typeface="Arial"/>
                <a:cs typeface="Arial"/>
              </a:defRPr>
            </a:pPr>
            <a:r>
              <a:rPr sz="1050" b="0" lang="pt-BR">
                <a:solidFill>
                  <a:srgbClr val="73787D"/>
                </a:solidFill>
                <a:latin typeface="Arial"/>
                <a:ea typeface="Arial"/>
                <a:cs typeface="Arial"/>
              </a:rPr>
              <a:t>Top 15 recua de R$ 60,9 bi para R$ 55,1 bi</a:t>
            </a:r>
          </a:p>
        </ns0:txBody>
      </ns0:sp>
      <ns0:sp>
        <ns0:nvSpPr>
          <ns0:cNvPr id="3" name="">
            <a:extLst>
              <a:ext uri="{FF2B5EF4-FFF2-40B4-BE49-F238E27FC236}">
                <ns2:creationId id="{C80D704B-3DFA-4DC4-A855-6405E01F36C7}"/>
              </a:ext>
            </a:extLst>
          </ns0:cNvPr>
          <ns0:cNvSpPr>
            <a:spLocks noGrp="1"/>
          </ns0:cNvSpPr>
          <ns0:nvPr/>
        </ns0:nvSpPr>
        <ns0:spPr>
          <a:xfrm>
            <a:off x="571500" y="1047750"/>
            <a:ext cx="11049000" cy="9525"/>
          </a:xfrm>
          <a:prstGeom prst="rect">
            <a:avLst/>
          </a:prstGeom>
          <a:solidFill>
            <a:srgbClr val="D7DADD"/>
          </a:solidFill>
          <a:ln w="0">
            <a:noFill/>
            <a:prstDash val="solid"/>
          </a:ln>
        </ns0:spPr>
      </ns0:sp>
      <ns0:sp>
        <ns0:nvSpPr>
          <ns0:cNvPr id="4" name="">
            <a:extLst>
              <a:ext uri="{FF2B5EF4-FFF2-40B4-BE49-F238E27FC236}">
                <ns2:creationId id="{F1E87336-9C7E-4C0F-A934-4A5DA4FD125A}"/>
              </a:ext>
            </a:extLst>
          </ns0:cNvPr>
          <ns0:cNvSpPr>
            <a:spLocks noGrp="1"/>
          </ns0:cNvSpPr>
          <ns0:nvPr/>
        </ns0:nvSpPr>
        <ns0:spPr>
          <a:xfrm>
            <a:off x="571500" y="6353175"/>
            <a:ext cx="11049000" cy="9525"/>
          </a:xfrm>
          <a:prstGeom prst="rect">
            <a:avLst/>
          </a:prstGeom>
          <a:solidFill>
            <a:srgbClr val="D7DADD"/>
          </a:solidFill>
          <a:ln w="0">
            <a:noFill/>
            <a:prstDash val="solid"/>
          </a:ln>
        </ns0:spPr>
      </ns0:sp>
      <ns0:sp>
        <ns0:nvSpPr>
          <ns0:cNvPr id="5" name="">
            <a:extLst>
              <a:ext uri="{FF2B5EF4-FFF2-40B4-BE49-F238E27FC236}">
                <ns2:creationId id="{247A8C9E-12A3-46AC-8C08-0043E2ADCD98}"/>
              </a:ext>
            </a:extLst>
          </ns0:cNvPr>
          <ns0:cNvSpPr>
            <a:spLocks noGrp="1"/>
          </ns0:cNvSpPr>
          <ns0:nvPr/>
        </ns0:nvSpPr>
        <ns0:spPr>
          <a:xfrm>
            <a:off x="571500" y="6419850"/>
            <a:ext cx="10001250" cy="1714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47625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rPr>
              <a:t>dez/25 · Top 15: R$ 61,3 bi. Comparação: R$ 61,3 bi em dez/25 e R$ 70,9 bi em jun/26.</a:t>
            </a:r>
          </a:p>
        </ns0:txBody>
      </ns0:sp>
      <ns0:sp>
        <ns0:nvSpPr>
          <ns0:cNvPr id="6" name="">
            <a:extLst>
              <a:ext uri="{FF2B5EF4-FFF2-40B4-BE49-F238E27FC236}">
                <ns2:creationId id="{67AB56C1-2B4D-4423-991E-CCF5AD486A1B}"/>
              </a:ext>
            </a:extLst>
          </ns0:cNvPr>
          <ns0:cNvSpPr>
            <a:spLocks noGrp="1"/>
          </ns0:cNvSpPr>
          <ns0:nvPr/>
        </ns0:nvSpPr>
        <ns0:spPr>
          <a:xfrm>
            <a:off x="11144250" y="6410325"/>
            <a:ext cx="476250" cy="1714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ctr">
            <a:normAutofit fontScale="100000"/>
          </a:bodyPr>
          <a:lstStyle/>
          <a:p>
            <a:pPr algn="r">
              <a:lnSpc>
                <a:spcPct val="100000"/>
              </a:lnSpc>
              <a:buNone/>
              <a:def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rPr>
              <a:t>17</a:t>
            </a:r>
          </a:p>
        </ns0:txBody>
      </ns0:sp>
      <ns0:sp>
        <ns0:nvSpPr>
          <ns0:cNvPr id="7" name="">
            <a:extLst>
              <a:ext uri="{FF2B5EF4-FFF2-40B4-BE49-F238E27FC236}">
                <ns2:creationId id="{180167EB-2574-4C38-8180-0BF92A6E270C}"/>
              </a:ext>
            </a:extLst>
          </ns0:cNvPr>
          <ns0:cNvSpPr>
            <a:spLocks noGrp="1"/>
          </ns0:cNvSpPr>
          <ns0:nvPr/>
        </ns0:nvSpPr>
        <ns0:spPr>
          <a:xfrm>
            <a:off x="571500" y="1143000"/>
            <a:ext cx="11049000" cy="2095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1125" b="1" lang="pt-BR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 lang="pt-BR">
                <a:solidFill>
                  <a:srgbClr val="30353A"/>
                </a:solidFill>
                <a:latin typeface="Arial"/>
                <a:ea typeface="Arial"/>
                <a:cs typeface="Arial"/>
              </a:rPr>
              <a:t>dez/25 · Top 15</a:t>
            </a:r>
          </a:p>
        </ns0:txBody>
      </ns0:sp>
      <ns0:sp>
        <ns0:nvSpPr>
          <ns0:cNvPr id="8" name="">
            <a:extLst>
              <a:ext uri="{FF2B5EF4-FFF2-40B4-BE49-F238E27FC236}">
                <ns2:creationId id="{1012C49A-3337-4871-A276-6D03594332D7}"/>
              </a:ext>
            </a:extLst>
          </ns0:cNvPr>
          <ns0:cNvSpPr>
            <a:spLocks noGrp="1"/>
          </ns0:cNvSpPr>
          <ns0:nvPr/>
        </ns0:nvSpPr>
        <ns0:spPr>
          <a:xfrm>
            <a:off x="571500" y="1390650"/>
            <a:ext cx="11049000" cy="9525"/>
          </a:xfrm>
          <a:prstGeom prst="rect">
            <a:avLst/>
          </a:prstGeom>
          <a:solidFill>
            <a:srgbClr val="D7DADD"/>
          </a:solidFill>
          <a:ln w="0">
            <a:noFill/>
            <a:prstDash val="solid"/>
          </a:ln>
        </ns0:spPr>
      </ns0:sp>
      <ns0:graphicFrame>
        <ns0:nvGraphicFramePr>
          <ns0:cNvPr id="19" name=""/>
          <ns0:cNvGraphicFramePr/>
          <ns0:nvPr/>
        </ns0:nvGraphicFramePr>
        <ns0:xfrm>
          <a:off x="571500" y="1438275"/>
          <a:ext cx="11049000" cy="4705350"/>
        </ns0:xfrm>
        <a:graphic>
          <a:graphicData uri="http://schemas.openxmlformats.org/drawingml/2006/table">
            <a:tbl>
              <a:tblPr firstRow="0" firstCol="0" lastRow="0" lastCol="0" bandRow="0" bandCol="0"/>
              <a:tblGrid>
                <a:gridCol w="285750"/>
                <a:gridCol w="1857375"/>
                <a:gridCol w="1285875"/>
                <a:gridCol w="2095500"/>
                <a:gridCol w="952500"/>
                <a:gridCol w="2047875"/>
                <a:gridCol w="1762125"/>
                <a:gridCol w="762000"/>
              </a:tblGrid>
              <a:tr h="221456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050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#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050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FIDC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050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CNPJ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050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Cedente / originador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050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Sub. mín.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050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Remuneração-alvo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050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Sacado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050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R$ bi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</a:tr>
              <a:tr h="220504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ITAÚ CRÉDITO PRIVADO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53286499000101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8,14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  <a:tr h="220504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ESPERANZA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53263761000100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Entes púb./deved.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6,48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  <a:tr h="220504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3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Rio Vermelho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53216449000158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Entes púb. e PF/PJ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6,38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  <a:tr h="220504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4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NC 2025 I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63700113000110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5,34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  <a:tr h="220504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5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HIGH TOWER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51152102000163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Clientes das ced.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3,97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  <a:tr h="220504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6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RSCRED MULTIESTRÉGIA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29301202000155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3,60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  <a:tr h="220504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7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Aconcágua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42358004000196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C: COMPANHIA ACUCAREIRA +2 ent.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3,51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  <a:tr h="220504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8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RED REAL LP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17250006000110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C: BMP SCD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3,49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  <a:tr h="220504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9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GSR NÃO PADRONIZADOS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53029409000105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Estrut. 20%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3,20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  <a:tr h="220504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10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CARNIVAL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51079269000146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3,06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  <a:tr h="220504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11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Alt. Assets III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29225241000110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C: WHIRLPOOL +3 ent.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Devedores PF/PJ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2,99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  <a:tr h="220504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12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FIDC PCG - BRASIL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07727002000126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2,85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  <a:tr h="220504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13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JC DIVERSIFICADO III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29109350000172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2,82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  <a:tr h="220504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14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Alt. Assets I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24194675000187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C: 2R HOLDING S.A +1 ent.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2,77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  <a:tr h="220504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15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SCARLET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55344996000144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CDI+3,00%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2,72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ns0:graphicFrame>
      <ns0:sp>
        <ns0:nvSpPr>
          <ns0:cNvPr id="10" name="">
            <a:extLst>
              <a:ext uri="{FF2B5EF4-FFF2-40B4-BE49-F238E27FC236}">
                <ns2:creationId id="{618C1354-2D49-405B-9A06-3F44E3737FB9}"/>
              </a:ext>
            </a:extLst>
          </ns0:cNvPr>
          <ns0:cNvSpPr>
            <a:spLocks noGrp="1"/>
          </ns0:cNvSpPr>
          <ns0:nvPr/>
        </ns0:nvSpPr>
        <ns0:spPr>
          <a:xfrm>
            <a:off x="571500" y="6172200"/>
            <a:ext cx="11049000" cy="15240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0" tIns="0" rIns="0" bIns="0" anchor="ctr">
            <a:normAutofit fontScale="100000"/>
          </a:bodyPr>
          <a:lstStyle/>
          <a:p>
            <a:pPr algn="r">
              <a:lnSpc>
                <a:spcPct val="100000"/>
              </a:lnSpc>
              <a:buNone/>
              <a:def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rPr>
              <a:t>C/O = cedente/originador; +N ent./séries = itens adicionais; comb./total = natureza do mínimo; * = complemento manual; N/D = lacuna. Texto integral: Auditoria emissões.</a:t>
            </a:r>
          </a:p>
        </ns0:txBody>
      </ns0:sp>
    </ns0:spTree>
    <ns0:extLst>
      <ns0:ext uri="{BB962C8B-B14F-4D97-AF65-F5344CB8AC3E}">
        <ns3:creationId val="1969098029"/>
      </ns0:ext>
    </ns0:extLst>
  </ns0:cSld>
</ns0:sld>
</file>

<file path=ppt/slides/slide18.xml><?xml version="1.0" encoding="utf-8"?>
<ns0:sld xmlns:a="http://schemas.openxmlformats.org/drawingml/2006/main" xmlns:ns0="http://schemas.openxmlformats.org/presentationml/2006/main" xmlns:ns2="http://schemas.microsoft.com/office/drawing/2014/main" xmlns:ns3="http://schemas.microsoft.com/office/powerpoint/2010/main">
  <ns0:cSld>
    <ns0:bg>
      <ns0:bgPr>
        <a:solidFill>
          <a:srgbClr val="FFFFFF"/>
        </a:solidFill>
      </ns0:bgPr>
    </ns0:bg>
    <ns0:spTree>
      <ns0:nvGrpSpPr>
        <ns0:cNvPr id="1" name=""/>
        <ns0:cNvGrpSpPr/>
        <ns0:nvPr/>
      </ns0:nvGrpSpPr>
      <ns0:grpSpPr>
        <a:xfrm/>
      </ns0:grpSpPr>
      <ns0:sp>
        <ns0:nvSpPr>
          <ns0:cNvPr id="38" name="">
            <a:extLst>
              <a:ext uri="{FF2B5EF4-FFF2-40B4-BE49-F238E27FC236}">
                <ns2:creationId id="{27CDD19F-561E-4EB3-976A-D2C638537DB4}"/>
              </a:ext>
            </a:extLst>
          </ns0:cNvPr>
          <ns0:cNvSpPr>
            <a:spLocks noGrp="1"/>
          </ns0:cNvSpPr>
          <ns0:nvPr/>
        </ns0:nvSpPr>
        <ns0:spPr>
          <a:xfrm>
            <a:off x="571500" y="257175"/>
            <a:ext cx="11049000" cy="19050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0" tIns="0" rIns="0" bIns="0" anchor="t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1000" b="1" lang="pt-BR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1000" b="1" lang="pt-BR">
                <a:solidFill>
                  <a:srgbClr val="EC7000"/>
                </a:solidFill>
                <a:latin typeface="Arial"/>
                <a:ea typeface="Arial"/>
                <a:cs typeface="Arial"/>
              </a:rPr>
              <a:t>RISCO ESTRUTURAL · CARTEIRA I · FINANCEIRO</a:t>
            </a:r>
          </a:p>
        </ns0:txBody>
      </ns0:sp>
      <ns0:sp>
        <ns0:nvSpPr>
          <ns0:cNvPr id="2" name="">
            <a:extLst>
              <a:ext uri="{FF2B5EF4-FFF2-40B4-BE49-F238E27FC236}">
                <ns2:creationId id="{8BA68AE2-2892-409C-ABF6-7797C5D98EEA}"/>
              </a:ext>
            </a:extLst>
          </ns0:cNvPr>
          <ns0:cNvSpPr>
            <a:spLocks noGrp="1"/>
          </ns0:cNvSpPr>
          <ns0:nvPr/>
        </ns0:nvSpPr>
        <ns0:spPr>
          <a:xfrm>
            <a:off x="571500" y="504825"/>
            <a:ext cx="11049000" cy="466725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0" tIns="0" rIns="0" bIns="0" anchor="ctr">
            <a:normAutofit fontScale="96225"/>
          </a:bodyPr>
          <a:lstStyle/>
          <a:p>
            <a:pPr algn="l">
              <a:lnSpc>
                <a:spcPct val="100000"/>
              </a:lnSpc>
              <a:buNone/>
              <a:defRPr sz="1950" b="1" lang="pt-BR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1950" b="1" lang="pt-BR">
                <a:solidFill>
                  <a:srgbClr val="151515"/>
                </a:solidFill>
                <a:latin typeface="Arial"/>
                <a:ea typeface="Arial"/>
                <a:cs typeface="Arial"/>
              </a:rPr>
              <a:t>Financeiro | Sub atual e mínimos documentais por veículo; 12 estruturas exigem leitura separada</a:t>
            </a:r>
          </a:p>
        </ns0:txBody>
      </ns0:sp>
      <ns0:sp>
        <ns0:nvSpPr>
          <ns0:cNvPr id="3" name="">
            <a:extLst>
              <a:ext uri="{FF2B5EF4-FFF2-40B4-BE49-F238E27FC236}">
                <ns2:creationId id="{A4BEADE4-406F-445D-A906-5B4CDF1A757F}"/>
              </a:ext>
            </a:extLst>
          </ns0:cNvPr>
          <ns0:cNvSpPr>
            <a:spLocks noGrp="1"/>
          </ns0:cNvSpPr>
          <ns0:nvPr/>
        </ns0:nvSpPr>
        <ns0:spPr>
          <a:xfrm>
            <a:off x="571500" y="1047750"/>
            <a:ext cx="11049000" cy="9525"/>
          </a:xfrm>
          <a:prstGeom prst="rect">
            <a:avLst/>
          </a:prstGeom>
          <a:solidFill>
            <a:srgbClr val="D7DADD"/>
          </a:solidFill>
          <a:ln w="0">
            <a:noFill/>
            <a:prstDash val="solid"/>
          </a:ln>
        </ns0:spPr>
      </ns0:sp>
      <ns0:sp>
        <ns0:nvSpPr>
          <ns0:cNvPr id="4" name="">
            <a:extLst>
              <a:ext uri="{FF2B5EF4-FFF2-40B4-BE49-F238E27FC236}">
                <ns2:creationId id="{24458665-BC1D-47E7-9802-6C44FBA01935}"/>
              </a:ext>
            </a:extLst>
          </ns0:cNvPr>
          <ns0:cNvSpPr>
            <a:spLocks noGrp="1"/>
          </ns0:cNvSpPr>
          <ns0:nvPr/>
        </ns0:nvSpPr>
        <ns0:spPr>
          <a:xfrm>
            <a:off x="571500" y="6353175"/>
            <a:ext cx="11049000" cy="9525"/>
          </a:xfrm>
          <a:prstGeom prst="rect">
            <a:avLst/>
          </a:prstGeom>
          <a:solidFill>
            <a:srgbClr val="D7DADD"/>
          </a:solidFill>
          <a:ln w="0">
            <a:noFill/>
            <a:prstDash val="solid"/>
          </a:ln>
        </ns0:spPr>
      </ns0:sp>
      <ns0:sp>
        <ns0:nvSpPr>
          <ns0:cNvPr id="5" name="">
            <a:extLst>
              <a:ext uri="{FF2B5EF4-FFF2-40B4-BE49-F238E27FC236}">
                <ns2:creationId id="{B1865964-CA19-489C-9F19-015A10F7C3B2}"/>
              </a:ext>
            </a:extLst>
          </ns0:cNvPr>
          <ns0:cNvSpPr>
            <a:spLocks noGrp="1"/>
          </ns0:cNvSpPr>
          <ns0:nvPr/>
        </ns0:nvSpPr>
        <ns0:spPr>
          <a:xfrm>
            <a:off x="571500" y="6419850"/>
            <a:ext cx="10001250" cy="1714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47625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rPr>
              <a:t>CVM, Informe Mensal, jun/26; pisos em regulamentos FundosNet/B3. Lacunas ficam fora do slide e permanecem no workbook/explorador.</a:t>
            </a:r>
          </a:p>
        </ns0:txBody>
      </ns0:sp>
      <ns0:sp>
        <ns0:nvSpPr>
          <ns0:cNvPr id="6" name="">
            <a:extLst>
              <a:ext uri="{FF2B5EF4-FFF2-40B4-BE49-F238E27FC236}">
                <ns2:creationId id="{D4F3255F-46BC-4822-B486-89EE8B8504EA}"/>
              </a:ext>
            </a:extLst>
          </ns0:cNvPr>
          <ns0:cNvSpPr>
            <a:spLocks noGrp="1"/>
          </ns0:cNvSpPr>
          <ns0:nvPr/>
        </ns0:nvSpPr>
        <ns0:spPr>
          <a:xfrm>
            <a:off x="11144250" y="6410325"/>
            <a:ext cx="476250" cy="1714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ctr">
            <a:normAutofit fontScale="100000"/>
          </a:bodyPr>
          <a:lstStyle/>
          <a:p>
            <a:pPr algn="r">
              <a:lnSpc>
                <a:spcPct val="100000"/>
              </a:lnSpc>
              <a:buNone/>
              <a:def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rPr>
              <a:t>18</a:t>
            </a:r>
          </a:p>
        </ns0:txBody>
      </ns0:sp>
      <ns0:sp>
        <ns0:nvSpPr>
          <ns0:cNvPr id="7" name="mvp-summary-structural_mvp_financeiro-1">
            <a:extLst>
              <a:ext uri="{FF2B5EF4-FFF2-40B4-BE49-F238E27FC236}">
                <ns2:creationId id="{6D154F75-E692-4660-A7C7-95A457D74114}"/>
              </a:ext>
            </a:extLst>
          </ns0:cNvPr>
          <ns0:cNvSpPr>
            <a:spLocks noGrp="1"/>
          </ns0:cNvSpPr>
          <ns0:nvPr/>
        </ns0:nvSpPr>
        <ns0:spPr>
          <a:xfrm>
            <a:off x="571500" y="1152525"/>
            <a:ext cx="3143250" cy="609600"/>
          </a:xfrm>
          <a:prstGeom prst="rect">
            <a:avLst/>
          </a:prstGeom>
          <a:solidFill>
            <a:srgbClr val="EAF0F7"/>
          </a:solidFill>
          <a:ln w="0">
            <a:solidFill>
              <a:srgbClr val="EAF0F7"/>
            </a:solidFill>
            <a:prstDash val="solid"/>
          </a:ln>
        </ns0:spPr>
        <ns0:txBody>
          <a:bodyPr wrap="square" lIns="95250" tIns="66675" rIns="95250" bIns="66675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1000" b="1" lang="pt-BR">
                <a:solidFill>
                  <a:srgbClr val="002B5C"/>
                </a:solidFill>
                <a:latin typeface="Arial"/>
                <a:ea typeface="Arial"/>
                <a:cs typeface="Arial"/>
              </a:defRPr>
            </a:pPr>
            <a:r>
              <a:rPr sz="1000" b="1" lang="pt-BR">
                <a:solidFill>
                  <a:srgbClr val="002B5C"/>
                </a:solidFill>
                <a:latin typeface="Arial"/>
                <a:ea typeface="Arial"/>
                <a:cs typeface="Arial"/>
              </a:rPr>
              <a:t>COBERTURA DO SLIDE</a:t>
            </a:r>
          </a:p>
          <a:p>
            <a:pPr algn="l">
              <a:lnSpc>
                <a:spcPct val="100000"/>
              </a:lnSpc>
              <a:buNone/>
              <a:defRPr sz="1000" b="1" lang="pt-BR">
                <a:solidFill>
                  <a:srgbClr val="002B5C"/>
                </a:solidFill>
                <a:latin typeface="Arial"/>
                <a:ea typeface="Arial"/>
                <a:cs typeface="Arial"/>
              </a:defRPr>
            </a:pPr>
            <a:r>
              <a:rPr sz="1000" b="1" lang="pt-BR">
                <a:solidFill>
                  <a:srgbClr val="002B5C"/>
                </a:solidFill>
                <a:latin typeface="Arial"/>
                <a:ea typeface="Arial"/>
                <a:cs typeface="Arial"/>
              </a:rPr>
              <a:t>15/18 CNPJs · R$ 10,9 bi de R$ 11,4 bi</a:t>
            </a:r>
          </a:p>
        </ns0:txBody>
      </ns0:sp>
      <ns0:sp>
        <ns0:nvSpPr>
          <ns0:cNvPr id="8" name="mvp-summary-structural_mvp_financeiro-2">
            <a:extLst>
              <a:ext uri="{FF2B5EF4-FFF2-40B4-BE49-F238E27FC236}">
                <ns2:creationId id="{7DE1645C-3375-46E4-8EAD-D2EC5DECB520}"/>
              </a:ext>
            </a:extLst>
          </ns0:cNvPr>
          <ns0:cNvSpPr>
            <a:spLocks noGrp="1"/>
          </ns0:cNvSpPr>
          <ns0:nvPr/>
        </ns0:nvSpPr>
        <ns0:spPr>
          <a:xfrm>
            <a:off x="3810000" y="1152525"/>
            <a:ext cx="4810125" cy="609600"/>
          </a:xfrm>
          <a:prstGeom prst="rect">
            <a:avLst/>
          </a:prstGeom>
          <a:solidFill>
            <a:srgbClr val="FFFFFF"/>
          </a:solidFill>
          <a:ln w="9525">
            <a:solidFill>
              <a:srgbClr val="AFC5DD"/>
            </a:solidFill>
            <a:prstDash val="solid"/>
          </a:ln>
        </ns0:spPr>
        <ns0:txBody>
          <a:bodyPr wrap="square" lIns="95250" tIns="66675" rIns="95250" bIns="66675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1000" b="1" lang="pt-BR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000" b="1" lang="pt-BR">
                <a:solidFill>
                  <a:srgbClr val="30353A"/>
                </a:solidFill>
                <a:latin typeface="Arial"/>
                <a:ea typeface="Arial"/>
                <a:cs typeface="Arial"/>
              </a:rPr>
              <a:t>REFERÊNCIA DE MERCADO · SUB/PL ATUAL</a:t>
            </a:r>
          </a:p>
          <a:p>
            <a:pPr algn="l">
              <a:lnSpc>
                <a:spcPct val="100000"/>
              </a:lnSpc>
              <a:buNone/>
              <a:defRPr sz="1000" b="1" lang="pt-BR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000" b="1" lang="pt-BR">
                <a:solidFill>
                  <a:srgbClr val="30353A"/>
                </a:solidFill>
                <a:latin typeface="Arial"/>
                <a:ea typeface="Arial"/>
                <a:cs typeface="Arial"/>
              </a:rPr>
              <a:t>Referência ampla · 12 pares · med. carteira 31,8% vs. mercado 30,1%</a:t>
            </a:r>
          </a:p>
        </ns0:txBody>
      </ns0:sp>
      <ns0:sp>
        <ns0:nvSpPr>
          <ns0:cNvPr id="9" name="mvp-summary-structural_mvp_financeiro-3">
            <a:extLst>
              <a:ext uri="{FF2B5EF4-FFF2-40B4-BE49-F238E27FC236}">
                <ns2:creationId id="{0D124A67-DAE5-421D-B0AC-1A3AAE95A243}"/>
              </a:ext>
            </a:extLst>
          </ns0:cNvPr>
          <ns0:cNvSpPr>
            <a:spLocks noGrp="1"/>
          </ns0:cNvSpPr>
          <ns0:nvPr/>
        </ns0:nvSpPr>
        <ns0:spPr>
          <a:xfrm>
            <a:off x="8715375" y="1152525"/>
            <a:ext cx="2905125" cy="609600"/>
          </a:xfrm>
          <a:prstGeom prst="rect">
            <a:avLst/>
          </a:prstGeom>
          <a:solidFill>
            <a:srgbClr val="FFF1E6"/>
          </a:solidFill>
          <a:ln w="0">
            <a:solidFill>
              <a:srgbClr val="FFF1E6"/>
            </a:solidFill>
            <a:prstDash val="solid"/>
          </a:ln>
        </ns0:spPr>
        <ns0:txBody>
          <a:bodyPr wrap="square" lIns="95250" tIns="66675" rIns="95250" bIns="66675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1000" b="1" lang="pt-BR">
                <a:solidFill>
                  <a:srgbClr val="7A1F3D"/>
                </a:solidFill>
                <a:latin typeface="Arial"/>
                <a:ea typeface="Arial"/>
                <a:cs typeface="Arial"/>
              </a:defRPr>
            </a:pPr>
            <a:r>
              <a:rPr sz="1000" b="1" lang="pt-BR">
                <a:solidFill>
                  <a:srgbClr val="7A1F3D"/>
                </a:solidFill>
                <a:latin typeface="Arial"/>
                <a:ea typeface="Arial"/>
                <a:cs typeface="Arial"/>
              </a:rPr>
              <a:t>LEITURA RELATIVA</a:t>
            </a:r>
          </a:p>
          <a:p>
            <a:pPr algn="l">
              <a:lnSpc>
                <a:spcPct val="100000"/>
              </a:lnSpc>
              <a:buNone/>
              <a:defRPr sz="1000" b="1" lang="pt-BR">
                <a:solidFill>
                  <a:srgbClr val="7A1F3D"/>
                </a:solidFill>
                <a:latin typeface="Arial"/>
                <a:ea typeface="Arial"/>
                <a:cs typeface="Arial"/>
              </a:defRPr>
            </a:pPr>
            <a:r>
              <a:rPr sz="1000" b="1" lang="pt-BR">
                <a:solidFill>
                  <a:srgbClr val="7A1F3D"/>
                </a:solidFill>
                <a:latin typeface="Arial"/>
                <a:ea typeface="Arial"/>
                <a:cs typeface="Arial"/>
              </a:rPr>
              <a:t>≈ Em linha na referência ampla*</a:t>
            </a:r>
          </a:p>
        </ns0:txBody>
      </ns0:sp>
      <ns0:sp>
        <ns0:nvSpPr>
          <ns0:cNvPr id="10" name="mvp-band-structural_mvp_financeiro-1">
            <a:extLst>
              <a:ext uri="{FF2B5EF4-FFF2-40B4-BE49-F238E27FC236}">
                <ns2:creationId id="{46A047B4-0DDE-4E3E-89ED-01F78E68E351}"/>
              </a:ext>
            </a:extLst>
          </ns0:cNvPr>
          <ns0:cNvSpPr>
            <a:spLocks noGrp="1"/>
          </ns0:cNvSpPr>
          <ns0:nvPr/>
        </ns0:nvSpPr>
        <ns0:spPr>
          <a:xfrm>
            <a:off x="571500" y="1885950"/>
            <a:ext cx="1778000" cy="22860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0" tIns="0" rIns="0" bIns="0" anchor="ctr">
            <a:normAutofit fontScale="100000"/>
          </a:bodyPr>
          <a:lstStyle/>
          <a:p>
            <a:pPr algn="ctr">
              <a:lnSpc>
                <a:spcPct val="100000"/>
              </a:lnSpc>
              <a:buNone/>
              <a:defRPr sz="1050" b="1" lang="pt-BR">
                <a:solidFill>
                  <a:srgbClr val="002B5C"/>
                </a:solidFill>
                <a:latin typeface="Arial"/>
                <a:ea typeface="Arial"/>
                <a:cs typeface="Arial"/>
              </a:defRPr>
            </a:pPr>
            <a:r>
              <a:rPr sz="1050" b="1" lang="pt-BR">
                <a:solidFill>
                  <a:srgbClr val="002B5C"/>
                </a:solidFill>
                <a:latin typeface="Arial"/>
                <a:ea typeface="Arial"/>
                <a:cs typeface="Arial"/>
              </a:rPr>
              <a:t>&lt; 10%</a:t>
            </a:r>
          </a:p>
        </ns0:txBody>
      </ns0:sp>
      <ns0:sp>
        <ns0:nvSpPr>
          <ns0:cNvPr id="11" name="">
            <a:extLst>
              <a:ext uri="{FF2B5EF4-FFF2-40B4-BE49-F238E27FC236}">
                <ns2:creationId id="{825A31F9-E686-46FE-8E1E-11718A4B4BD5}"/>
              </a:ext>
            </a:extLst>
          </ns0:cNvPr>
          <ns0:cNvSpPr>
            <a:spLocks noGrp="1"/>
          </ns0:cNvSpPr>
          <ns0:nvPr/>
        </ns0:nvSpPr>
        <ns0:spPr>
          <a:xfrm>
            <a:off x="571500" y="2114550"/>
            <a:ext cx="1778000" cy="19050"/>
          </a:xfrm>
          <a:prstGeom prst="rect">
            <a:avLst/>
          </a:prstGeom>
          <a:solidFill>
            <a:srgbClr val="002B5C"/>
          </a:solidFill>
          <a:ln w="0">
            <a:noFill/>
            <a:prstDash val="solid"/>
          </a:ln>
        </ns0:spPr>
      </ns0:sp>
      <ns0:sp>
        <ns0:nvSpPr>
          <ns0:cNvPr id="12" name="mvp-card-structural_mvp_financeiro-62838025000116">
            <a:extLst>
              <a:ext uri="{FF2B5EF4-FFF2-40B4-BE49-F238E27FC236}">
                <ns2:creationId id="{2A3D74D4-8E06-4C22-8446-36BCE1D27A8D}"/>
              </a:ext>
            </a:extLst>
          </ns0:cNvPr>
          <ns0:cNvSpPr>
            <a:spLocks noGrp="1"/>
          </ns0:cNvSpPr>
          <ns0:nvPr/>
        </ns0:nvSpPr>
        <ns0:spPr>
          <a:xfrm>
            <a:off x="571500" y="2181225"/>
            <a:ext cx="1778000" cy="438150"/>
          </a:xfrm>
          <a:prstGeom prst="rect">
            <a:avLst/>
          </a:prstGeom>
          <a:solidFill>
            <a:srgbClr val="F5F6F7"/>
          </a:solidFill>
          <a:ln w="9525">
            <a:solidFill>
              <a:srgbClr val="B8BDC2"/>
            </a:solidFill>
            <a:prstDash val="solid"/>
          </a:ln>
        </ns0:spPr>
        <ns0:txBody>
          <a:bodyPr wrap="none" lIns="47625" tIns="28575" rIns="47625" bIns="28575" anchor="ctr">
            <a:normAutofit fontScale="87719"/>
          </a:bodyPr>
          <a:lstStyle/>
          <a:p>
            <a:pPr algn="l">
              <a:lnSpc>
                <a:spcPct val="95000"/>
              </a:lnSpc>
              <a:buNone/>
              <a:defRPr sz="1000" b="1" lang="pt-BR">
                <a:solidFill>
                  <a:srgbClr val="5E646A"/>
                </a:solidFill>
                <a:latin typeface="Arial"/>
                <a:ea typeface="Arial"/>
                <a:cs typeface="Arial"/>
              </a:defRPr>
            </a:pPr>
            <a:r>
              <a:rPr sz="1000" b="1" lang="pt-BR">
                <a:solidFill>
                  <a:srgbClr val="5E646A"/>
                </a:solidFill>
                <a:latin typeface="Arial"/>
                <a:ea typeface="Arial"/>
                <a:cs typeface="Arial"/>
              </a:rPr>
              <a:t>ENDURANCE</a:t>
            </a:r>
          </a:p>
          <a:p>
            <a:pPr algn="l">
              <a:lnSpc>
                <a:spcPct val="95000"/>
              </a:lnSpc>
              <a:buNone/>
              <a:defRPr sz="1000" b="1" lang="pt-BR">
                <a:solidFill>
                  <a:srgbClr val="5E646A"/>
                </a:solidFill>
                <a:latin typeface="Arial"/>
                <a:ea typeface="Arial"/>
                <a:cs typeface="Arial"/>
              </a:defRPr>
            </a:pPr>
            <a:r>
              <a:rPr sz="1000" b="1" lang="pt-BR">
                <a:solidFill>
                  <a:srgbClr val="5E646A"/>
                </a:solidFill>
                <a:latin typeface="Arial"/>
                <a:ea typeface="Arial"/>
                <a:cs typeface="Arial"/>
              </a:rPr>
              <a:t>R$ 2,0 bi · Sub atual 9,5%</a:t>
            </a:r>
          </a:p>
          <a:p>
            <a:pPr algn="l">
              <a:lnSpc>
                <a:spcPct val="95000"/>
              </a:lnSpc>
              <a:buNone/>
              <a:defRPr sz="1000" b="1" lang="pt-BR">
                <a:solidFill>
                  <a:srgbClr val="5E646A"/>
                </a:solidFill>
                <a:latin typeface="Arial"/>
                <a:ea typeface="Arial"/>
                <a:cs typeface="Arial"/>
              </a:defRPr>
            </a:pPr>
            <a:r>
              <a:rPr sz="1000" b="1" lang="pt-BR">
                <a:solidFill>
                  <a:srgbClr val="5E646A"/>
                </a:solidFill>
                <a:latin typeface="Arial"/>
                <a:ea typeface="Arial"/>
                <a:cs typeface="Arial"/>
              </a:rPr>
              <a:t>Jr 10,0% · Estr. N/D*</a:t>
            </a:r>
          </a:p>
        </ns0:txBody>
      </ns0:sp>
      <ns0:sp>
        <ns0:nvSpPr>
          <ns0:cNvPr id="13" name="mvp-card-structural_mvp_financeiro-50988212000105">
            <a:extLst>
              <a:ext uri="{FF2B5EF4-FFF2-40B4-BE49-F238E27FC236}">
                <ns2:creationId id="{8BD1DC8D-5AFE-499F-9768-34A16FEE475A}"/>
              </a:ext>
            </a:extLst>
          </ns0:cNvPr>
          <ns0:cNvSpPr>
            <a:spLocks noGrp="1"/>
          </ns0:cNvSpPr>
          <ns0:nvPr/>
        </ns0:nvSpPr>
        <ns0:spPr>
          <a:xfrm>
            <a:off x="571500" y="2638425"/>
            <a:ext cx="1778000" cy="438150"/>
          </a:xfrm>
          <a:prstGeom prst="rect">
            <a:avLst/>
          </a:prstGeom>
          <a:solidFill>
            <a:srgbClr val="F5F6F7"/>
          </a:solidFill>
          <a:ln w="9525">
            <a:solidFill>
              <a:srgbClr val="B8BDC2"/>
            </a:solidFill>
            <a:prstDash val="solid"/>
          </a:ln>
        </ns0:spPr>
        <ns0:txBody>
          <a:bodyPr wrap="none" lIns="47625" tIns="28575" rIns="47625" bIns="28575" anchor="ctr">
            <a:normAutofit fontScale="87719"/>
          </a:bodyPr>
          <a:lstStyle/>
          <a:p>
            <a:pPr algn="l">
              <a:lnSpc>
                <a:spcPct val="95000"/>
              </a:lnSpc>
              <a:buNone/>
              <a:defRPr sz="1000" b="1" lang="pt-BR">
                <a:solidFill>
                  <a:srgbClr val="5E646A"/>
                </a:solidFill>
                <a:latin typeface="Arial"/>
                <a:ea typeface="Arial"/>
                <a:cs typeface="Arial"/>
              </a:defRPr>
            </a:pPr>
            <a:r>
              <a:rPr sz="1000" b="1" lang="pt-BR">
                <a:solidFill>
                  <a:srgbClr val="5E646A"/>
                </a:solidFill>
                <a:latin typeface="Arial"/>
                <a:ea typeface="Arial"/>
                <a:cs typeface="Arial"/>
              </a:rPr>
              <a:t>CARTÃO DE COMPRA</a:t>
            </a:r>
          </a:p>
          <a:p>
            <a:pPr algn="l">
              <a:lnSpc>
                <a:spcPct val="95000"/>
              </a:lnSpc>
              <a:buNone/>
              <a:defRPr sz="1000" b="1" lang="pt-BR">
                <a:solidFill>
                  <a:srgbClr val="5E646A"/>
                </a:solidFill>
                <a:latin typeface="Arial"/>
                <a:ea typeface="Arial"/>
                <a:cs typeface="Arial"/>
              </a:defRPr>
            </a:pPr>
            <a:r>
              <a:rPr sz="1000" b="1" lang="pt-BR">
                <a:solidFill>
                  <a:srgbClr val="5E646A"/>
                </a:solidFill>
                <a:latin typeface="Arial"/>
                <a:ea typeface="Arial"/>
                <a:cs typeface="Arial"/>
              </a:rPr>
              <a:t>R$ 193,6 mi · Sub atual 7,0%</a:t>
            </a:r>
          </a:p>
          <a:p>
            <a:pPr algn="l">
              <a:lnSpc>
                <a:spcPct val="95000"/>
              </a:lnSpc>
              <a:buNone/>
              <a:defRPr sz="1000" b="1" lang="pt-BR">
                <a:solidFill>
                  <a:srgbClr val="5E646A"/>
                </a:solidFill>
                <a:latin typeface="Arial"/>
                <a:ea typeface="Arial"/>
                <a:cs typeface="Arial"/>
              </a:defRPr>
            </a:pPr>
            <a:r>
              <a:rPr sz="1000" b="1" lang="pt-BR">
                <a:solidFill>
                  <a:srgbClr val="5E646A"/>
                </a:solidFill>
                <a:latin typeface="Arial"/>
                <a:ea typeface="Arial"/>
                <a:cs typeface="Arial"/>
              </a:rPr>
              <a:t>Jr 4,5%* · Estr. N/D*</a:t>
            </a:r>
          </a:p>
        </ns0:txBody>
      </ns0:sp>
      <ns0:sp>
        <ns0:nvSpPr>
          <ns0:cNvPr id="14" name="mvp-band-structural_mvp_financeiro-2">
            <a:extLst>
              <a:ext uri="{FF2B5EF4-FFF2-40B4-BE49-F238E27FC236}">
                <ns2:creationId id="{B199E0B5-D04A-4B43-8A4B-7136E7DF6D9B}"/>
              </a:ext>
            </a:extLst>
          </ns0:cNvPr>
          <ns0:cNvSpPr>
            <a:spLocks noGrp="1"/>
          </ns0:cNvSpPr>
          <ns0:nvPr/>
        </ns0:nvSpPr>
        <ns0:spPr>
          <a:xfrm>
            <a:off x="2425700" y="1885950"/>
            <a:ext cx="1778000" cy="22860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0" tIns="0" rIns="0" bIns="0" anchor="ctr">
            <a:normAutofit fontScale="100000"/>
          </a:bodyPr>
          <a:lstStyle/>
          <a:p>
            <a:pPr algn="ctr">
              <a:lnSpc>
                <a:spcPct val="100000"/>
              </a:lnSpc>
              <a:buNone/>
              <a:defRPr sz="1050" b="1" lang="pt-BR">
                <a:solidFill>
                  <a:srgbClr val="002B5C"/>
                </a:solidFill>
                <a:latin typeface="Arial"/>
                <a:ea typeface="Arial"/>
                <a:cs typeface="Arial"/>
              </a:defRPr>
            </a:pPr>
            <a:r>
              <a:rPr sz="1050" b="1" lang="pt-BR">
                <a:solidFill>
                  <a:srgbClr val="002B5C"/>
                </a:solidFill>
                <a:latin typeface="Arial"/>
                <a:ea typeface="Arial"/>
                <a:cs typeface="Arial"/>
              </a:rPr>
              <a:t>10%–15%</a:t>
            </a:r>
          </a:p>
        </ns0:txBody>
      </ns0:sp>
      <ns0:sp>
        <ns0:nvSpPr>
          <ns0:cNvPr id="15" name="">
            <a:extLst>
              <a:ext uri="{FF2B5EF4-FFF2-40B4-BE49-F238E27FC236}">
                <ns2:creationId id="{B4EFFD7F-FB88-48F2-B19B-69A6DA7618CD}"/>
              </a:ext>
            </a:extLst>
          </ns0:cNvPr>
          <ns0:cNvSpPr>
            <a:spLocks noGrp="1"/>
          </ns0:cNvSpPr>
          <ns0:nvPr/>
        </ns0:nvSpPr>
        <ns0:spPr>
          <a:xfrm>
            <a:off x="2425700" y="2114550"/>
            <a:ext cx="1778000" cy="19050"/>
          </a:xfrm>
          <a:prstGeom prst="rect">
            <a:avLst/>
          </a:prstGeom>
          <a:solidFill>
            <a:srgbClr val="002B5C"/>
          </a:solidFill>
          <a:ln w="0">
            <a:noFill/>
            <a:prstDash val="solid"/>
          </a:ln>
        </ns0:spPr>
      </ns0:sp>
      <ns0:sp>
        <ns0:nvSpPr>
          <ns0:cNvPr id="16" name="mvp-band-structural_mvp_financeiro-3">
            <a:extLst>
              <a:ext uri="{FF2B5EF4-FFF2-40B4-BE49-F238E27FC236}">
                <ns2:creationId id="{4EF5F14E-7B93-4EE7-A1B5-91652E13404A}"/>
              </a:ext>
            </a:extLst>
          </ns0:cNvPr>
          <ns0:cNvSpPr>
            <a:spLocks noGrp="1"/>
          </ns0:cNvSpPr>
          <ns0:nvPr/>
        </ns0:nvSpPr>
        <ns0:spPr>
          <a:xfrm>
            <a:off x="4279900" y="1885950"/>
            <a:ext cx="1778000" cy="22860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0" tIns="0" rIns="0" bIns="0" anchor="ctr">
            <a:normAutofit fontScale="100000"/>
          </a:bodyPr>
          <a:lstStyle/>
          <a:p>
            <a:pPr algn="ctr">
              <a:lnSpc>
                <a:spcPct val="100000"/>
              </a:lnSpc>
              <a:buNone/>
              <a:defRPr sz="1050" b="1" lang="pt-BR">
                <a:solidFill>
                  <a:srgbClr val="002B5C"/>
                </a:solidFill>
                <a:latin typeface="Arial"/>
                <a:ea typeface="Arial"/>
                <a:cs typeface="Arial"/>
              </a:defRPr>
            </a:pPr>
            <a:r>
              <a:rPr sz="1050" b="1" lang="pt-BR">
                <a:solidFill>
                  <a:srgbClr val="002B5C"/>
                </a:solidFill>
                <a:latin typeface="Arial"/>
                <a:ea typeface="Arial"/>
                <a:cs typeface="Arial"/>
              </a:rPr>
              <a:t>15%–20%</a:t>
            </a:r>
          </a:p>
        </ns0:txBody>
      </ns0:sp>
      <ns0:sp>
        <ns0:nvSpPr>
          <ns0:cNvPr id="17" name="">
            <a:extLst>
              <a:ext uri="{FF2B5EF4-FFF2-40B4-BE49-F238E27FC236}">
                <ns2:creationId id="{81D6377A-8449-4B22-89D0-19D096A8F5F0}"/>
              </a:ext>
            </a:extLst>
          </ns0:cNvPr>
          <ns0:cNvSpPr>
            <a:spLocks noGrp="1"/>
          </ns0:cNvSpPr>
          <ns0:nvPr/>
        </ns0:nvSpPr>
        <ns0:spPr>
          <a:xfrm>
            <a:off x="4279900" y="2114550"/>
            <a:ext cx="1778000" cy="19050"/>
          </a:xfrm>
          <a:prstGeom prst="rect">
            <a:avLst/>
          </a:prstGeom>
          <a:solidFill>
            <a:srgbClr val="002B5C"/>
          </a:solidFill>
          <a:ln w="0">
            <a:noFill/>
            <a:prstDash val="solid"/>
          </a:ln>
        </ns0:spPr>
      </ns0:sp>
      <ns0:sp>
        <ns0:nvSpPr>
          <ns0:cNvPr id="18" name="mvp-band-structural_mvp_financeiro-4">
            <a:extLst>
              <a:ext uri="{FF2B5EF4-FFF2-40B4-BE49-F238E27FC236}">
                <ns2:creationId id="{F6ADB2DF-EE1D-4B79-9928-FCAF05A84AA9}"/>
              </a:ext>
            </a:extLst>
          </ns0:cNvPr>
          <ns0:cNvSpPr>
            <a:spLocks noGrp="1"/>
          </ns0:cNvSpPr>
          <ns0:nvPr/>
        </ns0:nvSpPr>
        <ns0:spPr>
          <a:xfrm>
            <a:off x="6134100" y="1885950"/>
            <a:ext cx="1778000" cy="22860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0" tIns="0" rIns="0" bIns="0" anchor="ctr">
            <a:normAutofit fontScale="100000"/>
          </a:bodyPr>
          <a:lstStyle/>
          <a:p>
            <a:pPr algn="ctr">
              <a:lnSpc>
                <a:spcPct val="100000"/>
              </a:lnSpc>
              <a:buNone/>
              <a:defRPr sz="1050" b="1" lang="pt-BR">
                <a:solidFill>
                  <a:srgbClr val="002B5C"/>
                </a:solidFill>
                <a:latin typeface="Arial"/>
                <a:ea typeface="Arial"/>
                <a:cs typeface="Arial"/>
              </a:defRPr>
            </a:pPr>
            <a:r>
              <a:rPr sz="1050" b="1" lang="pt-BR">
                <a:solidFill>
                  <a:srgbClr val="002B5C"/>
                </a:solidFill>
                <a:latin typeface="Arial"/>
                <a:ea typeface="Arial"/>
                <a:cs typeface="Arial"/>
              </a:rPr>
              <a:t>20%–35%</a:t>
            </a:r>
          </a:p>
        </ns0:txBody>
      </ns0:sp>
      <ns0:sp>
        <ns0:nvSpPr>
          <ns0:cNvPr id="19" name="">
            <a:extLst>
              <a:ext uri="{FF2B5EF4-FFF2-40B4-BE49-F238E27FC236}">
                <ns2:creationId id="{04852B0E-D02B-4C82-8E10-7C80E6948082}"/>
              </a:ext>
            </a:extLst>
          </ns0:cNvPr>
          <ns0:cNvSpPr>
            <a:spLocks noGrp="1"/>
          </ns0:cNvSpPr>
          <ns0:nvPr/>
        </ns0:nvSpPr>
        <ns0:spPr>
          <a:xfrm>
            <a:off x="6134100" y="2114550"/>
            <a:ext cx="1778000" cy="19050"/>
          </a:xfrm>
          <a:prstGeom prst="rect">
            <a:avLst/>
          </a:prstGeom>
          <a:solidFill>
            <a:srgbClr val="002B5C"/>
          </a:solidFill>
          <a:ln w="0">
            <a:noFill/>
            <a:prstDash val="solid"/>
          </a:ln>
        </ns0:spPr>
      </ns0:sp>
      <ns0:sp>
        <ns0:nvSpPr>
          <ns0:cNvPr id="20" name="mvp-card-structural_mvp_financeiro-57816252000100">
            <a:extLst>
              <a:ext uri="{FF2B5EF4-FFF2-40B4-BE49-F238E27FC236}">
                <ns2:creationId id="{67CC359D-6E8A-4A81-AA45-06F9C0F8E42F}"/>
              </a:ext>
            </a:extLst>
          </ns0:cNvPr>
          <ns0:cNvSpPr>
            <a:spLocks noGrp="1"/>
          </ns0:cNvSpPr>
          <ns0:nvPr/>
        </ns0:nvSpPr>
        <ns0:spPr>
          <a:xfrm>
            <a:off x="6134100" y="2181225"/>
            <a:ext cx="1778000" cy="438150"/>
          </a:xfrm>
          <a:prstGeom prst="rect">
            <a:avLst/>
          </a:prstGeom>
          <a:solidFill>
            <a:srgbClr val="EAF0F7"/>
          </a:solidFill>
          <a:ln w="9525">
            <a:solidFill>
              <a:srgbClr val="AFC5DD"/>
            </a:solidFill>
            <a:prstDash val="solid"/>
          </a:ln>
        </ns0:spPr>
        <ns0:txBody>
          <a:bodyPr wrap="none" lIns="47625" tIns="28575" rIns="47625" bIns="28575" anchor="ctr">
            <a:normAutofit fontScale="87719"/>
          </a:bodyPr>
          <a:lstStyle/>
          <a:p>
            <a:pPr algn="l">
              <a:lnSpc>
                <a:spcPct val="95000"/>
              </a:lnSpc>
              <a:buNone/>
              <a:defRPr sz="1000" b="1" lang="pt-BR">
                <a:solidFill>
                  <a:srgbClr val="002B5C"/>
                </a:solidFill>
                <a:latin typeface="Arial"/>
                <a:ea typeface="Arial"/>
                <a:cs typeface="Arial"/>
              </a:defRPr>
            </a:pPr>
            <a:r>
              <a:rPr sz="1000" b="1" lang="pt-BR">
                <a:solidFill>
                  <a:srgbClr val="002B5C"/>
                </a:solidFill>
                <a:latin typeface="Arial"/>
                <a:ea typeface="Arial"/>
                <a:cs typeface="Arial"/>
              </a:rPr>
              <a:t>NATURA PAY CRÉDITO</a:t>
            </a:r>
          </a:p>
          <a:p>
            <a:pPr algn="l">
              <a:lnSpc>
                <a:spcPct val="95000"/>
              </a:lnSpc>
              <a:buNone/>
              <a:defRPr sz="1000" b="1" lang="pt-BR">
                <a:solidFill>
                  <a:srgbClr val="002B5C"/>
                </a:solidFill>
                <a:latin typeface="Arial"/>
                <a:ea typeface="Arial"/>
                <a:cs typeface="Arial"/>
              </a:defRPr>
            </a:pPr>
            <a:r>
              <a:rPr sz="1000" b="1" lang="pt-BR">
                <a:solidFill>
                  <a:srgbClr val="002B5C"/>
                </a:solidFill>
                <a:latin typeface="Arial"/>
                <a:ea typeface="Arial"/>
                <a:cs typeface="Arial"/>
              </a:rPr>
              <a:t>R$ 1,0 bi · Sub atual 28,3%</a:t>
            </a:r>
          </a:p>
          <a:p>
            <a:pPr algn="l">
              <a:lnSpc>
                <a:spcPct val="95000"/>
              </a:lnSpc>
              <a:buNone/>
              <a:defRPr sz="1000" b="1" lang="pt-BR">
                <a:solidFill>
                  <a:srgbClr val="002B5C"/>
                </a:solidFill>
                <a:latin typeface="Arial"/>
                <a:ea typeface="Arial"/>
                <a:cs typeface="Arial"/>
              </a:defRPr>
            </a:pPr>
            <a:r>
              <a:rPr sz="1000" b="1" lang="pt-BR">
                <a:solidFill>
                  <a:srgbClr val="002B5C"/>
                </a:solidFill>
                <a:latin typeface="Arial"/>
                <a:ea typeface="Arial"/>
                <a:cs typeface="Arial"/>
              </a:rPr>
              <a:t>Jr 25,3% · Estr. 25,3%</a:t>
            </a:r>
          </a:p>
        </ns0:txBody>
      </ns0:sp>
      <ns0:sp>
        <ns0:nvSpPr>
          <ns0:cNvPr id="21" name="mvp-card-structural_mvp_financeiro-61288838000117">
            <a:extLst>
              <a:ext uri="{FF2B5EF4-FFF2-40B4-BE49-F238E27FC236}">
                <ns2:creationId id="{607FE8B6-3855-4F6C-B73E-AF79763AF80E}"/>
              </a:ext>
            </a:extLst>
          </ns0:cNvPr>
          <ns0:cNvSpPr>
            <a:spLocks noGrp="1"/>
          </ns0:cNvSpPr>
          <ns0:nvPr/>
        </ns0:nvSpPr>
        <ns0:spPr>
          <a:xfrm>
            <a:off x="6134100" y="2638425"/>
            <a:ext cx="1778000" cy="438150"/>
          </a:xfrm>
          <a:prstGeom prst="rect">
            <a:avLst/>
          </a:prstGeom>
          <a:solidFill>
            <a:srgbClr val="F5F6F7"/>
          </a:solidFill>
          <a:ln w="9525">
            <a:solidFill>
              <a:srgbClr val="B8BDC2"/>
            </a:solidFill>
            <a:prstDash val="solid"/>
          </a:ln>
        </ns0:spPr>
        <ns0:txBody>
          <a:bodyPr wrap="none" lIns="47625" tIns="28575" rIns="47625" bIns="28575" anchor="ctr">
            <a:normAutofit fontScale="87719"/>
          </a:bodyPr>
          <a:lstStyle/>
          <a:p>
            <a:pPr algn="l">
              <a:lnSpc>
                <a:spcPct val="95000"/>
              </a:lnSpc>
              <a:buNone/>
              <a:defRPr sz="1000" b="1" lang="pt-BR">
                <a:solidFill>
                  <a:srgbClr val="5E646A"/>
                </a:solidFill>
                <a:latin typeface="Arial"/>
                <a:ea typeface="Arial"/>
                <a:cs typeface="Arial"/>
              </a:defRPr>
            </a:pPr>
            <a:r>
              <a:rPr sz="1000" b="1" lang="pt-BR">
                <a:solidFill>
                  <a:srgbClr val="5E646A"/>
                </a:solidFill>
                <a:latin typeface="Arial"/>
                <a:ea typeface="Arial"/>
                <a:cs typeface="Arial"/>
              </a:rPr>
              <a:t>IFOOD PAGO CRÉDITO</a:t>
            </a:r>
          </a:p>
          <a:p>
            <a:pPr algn="l">
              <a:lnSpc>
                <a:spcPct val="95000"/>
              </a:lnSpc>
              <a:buNone/>
              <a:defRPr sz="1000" b="1" lang="pt-BR">
                <a:solidFill>
                  <a:srgbClr val="5E646A"/>
                </a:solidFill>
                <a:latin typeface="Arial"/>
                <a:ea typeface="Arial"/>
                <a:cs typeface="Arial"/>
              </a:defRPr>
            </a:pPr>
            <a:r>
              <a:rPr sz="1000" b="1" lang="pt-BR">
                <a:solidFill>
                  <a:srgbClr val="5E646A"/>
                </a:solidFill>
                <a:latin typeface="Arial"/>
                <a:ea typeface="Arial"/>
                <a:cs typeface="Arial"/>
              </a:rPr>
              <a:t>R$ 722,5 mi · Sub atual 30,3%</a:t>
            </a:r>
          </a:p>
          <a:p>
            <a:pPr algn="l">
              <a:lnSpc>
                <a:spcPct val="95000"/>
              </a:lnSpc>
              <a:buNone/>
              <a:defRPr sz="1000" b="1" lang="pt-BR">
                <a:solidFill>
                  <a:srgbClr val="5E646A"/>
                </a:solidFill>
                <a:latin typeface="Arial"/>
                <a:ea typeface="Arial"/>
                <a:cs typeface="Arial"/>
              </a:defRPr>
            </a:pPr>
            <a:r>
              <a:rPr sz="1000" b="1" lang="pt-BR">
                <a:solidFill>
                  <a:srgbClr val="5E646A"/>
                </a:solidFill>
                <a:latin typeface="Arial"/>
                <a:ea typeface="Arial"/>
                <a:cs typeface="Arial"/>
              </a:rPr>
              <a:t>Jr 15,0% · Estr. N/D*</a:t>
            </a:r>
          </a:p>
        </ns0:txBody>
      </ns0:sp>
      <ns0:sp>
        <ns0:nvSpPr>
          <ns0:cNvPr id="22" name="mvp-card-structural_mvp_financeiro-37294759000134">
            <a:extLst>
              <a:ext uri="{FF2B5EF4-FFF2-40B4-BE49-F238E27FC236}">
                <ns2:creationId id="{97F61437-BE00-4A08-886A-545336986951}"/>
              </a:ext>
            </a:extLst>
          </ns0:cNvPr>
          <ns0:cNvSpPr>
            <a:spLocks noGrp="1"/>
          </ns0:cNvSpPr>
          <ns0:nvPr/>
        </ns0:nvSpPr>
        <ns0:spPr>
          <a:xfrm>
            <a:off x="6134100" y="3095625"/>
            <a:ext cx="1778000" cy="438150"/>
          </a:xfrm>
          <a:prstGeom prst="rect">
            <a:avLst/>
          </a:prstGeom>
          <a:solidFill>
            <a:srgbClr val="EAF0F7"/>
          </a:solidFill>
          <a:ln w="9525">
            <a:solidFill>
              <a:srgbClr val="AFC5DD"/>
            </a:solidFill>
            <a:prstDash val="solid"/>
          </a:ln>
        </ns0:spPr>
        <ns0:txBody>
          <a:bodyPr wrap="none" lIns="47625" tIns="28575" rIns="47625" bIns="28575" anchor="ctr">
            <a:normAutofit fontScale="87719"/>
          </a:bodyPr>
          <a:lstStyle/>
          <a:p>
            <a:pPr algn="l">
              <a:lnSpc>
                <a:spcPct val="95000"/>
              </a:lnSpc>
              <a:buNone/>
              <a:defRPr sz="1000" b="1" lang="pt-BR">
                <a:solidFill>
                  <a:srgbClr val="002B5C"/>
                </a:solidFill>
                <a:latin typeface="Arial"/>
                <a:ea typeface="Arial"/>
                <a:cs typeface="Arial"/>
              </a:defRPr>
            </a:pPr>
            <a:r>
              <a:rPr sz="1000" b="1" lang="pt-BR">
                <a:solidFill>
                  <a:srgbClr val="002B5C"/>
                </a:solidFill>
                <a:latin typeface="Arial"/>
                <a:ea typeface="Arial"/>
                <a:cs typeface="Arial"/>
              </a:rPr>
              <a:t>GALLERIA HOME EQUITY</a:t>
            </a:r>
          </a:p>
          <a:p>
            <a:pPr algn="l">
              <a:lnSpc>
                <a:spcPct val="95000"/>
              </a:lnSpc>
              <a:buNone/>
              <a:defRPr sz="1000" b="1" lang="pt-BR">
                <a:solidFill>
                  <a:srgbClr val="002B5C"/>
                </a:solidFill>
                <a:latin typeface="Arial"/>
                <a:ea typeface="Arial"/>
                <a:cs typeface="Arial"/>
              </a:defRPr>
            </a:pPr>
            <a:r>
              <a:rPr sz="1000" b="1" lang="pt-BR">
                <a:solidFill>
                  <a:srgbClr val="002B5C"/>
                </a:solidFill>
                <a:latin typeface="Arial"/>
                <a:ea typeface="Arial"/>
                <a:cs typeface="Arial"/>
              </a:rPr>
              <a:t>R$ 513,2 mi · Sub atual 31,8%</a:t>
            </a:r>
          </a:p>
          <a:p>
            <a:pPr algn="l">
              <a:lnSpc>
                <a:spcPct val="95000"/>
              </a:lnSpc>
              <a:buNone/>
              <a:defRPr sz="1000" b="1" lang="pt-BR">
                <a:solidFill>
                  <a:srgbClr val="002B5C"/>
                </a:solidFill>
                <a:latin typeface="Arial"/>
                <a:ea typeface="Arial"/>
                <a:cs typeface="Arial"/>
              </a:defRPr>
            </a:pPr>
            <a:r>
              <a:rPr sz="1000" b="1" lang="pt-BR">
                <a:solidFill>
                  <a:srgbClr val="002B5C"/>
                </a:solidFill>
                <a:latin typeface="Arial"/>
                <a:ea typeface="Arial"/>
                <a:cs typeface="Arial"/>
              </a:rPr>
              <a:t>Jr N/D · Estr. 4,8%*</a:t>
            </a:r>
          </a:p>
        </ns0:txBody>
      </ns0:sp>
      <ns0:sp>
        <ns0:nvSpPr>
          <ns0:cNvPr id="23" name="mvp-card-structural_mvp_financeiro-57028406000108">
            <a:extLst>
              <a:ext uri="{FF2B5EF4-FFF2-40B4-BE49-F238E27FC236}">
                <ns2:creationId id="{D556F285-3DE9-4CCC-9E69-08BADDAF67D2}"/>
              </a:ext>
            </a:extLst>
          </ns0:cNvPr>
          <ns0:cNvSpPr>
            <a:spLocks noGrp="1"/>
          </ns0:cNvSpPr>
          <ns0:nvPr/>
        </ns0:nvSpPr>
        <ns0:spPr>
          <a:xfrm>
            <a:off x="6134100" y="3552825"/>
            <a:ext cx="1778000" cy="438150"/>
          </a:xfrm>
          <a:prstGeom prst="rect">
            <a:avLst/>
          </a:prstGeom>
          <a:solidFill>
            <a:srgbClr val="F5F6F7"/>
          </a:solidFill>
          <a:ln w="9525">
            <a:solidFill>
              <a:srgbClr val="B8BDC2"/>
            </a:solidFill>
            <a:prstDash val="solid"/>
          </a:ln>
        </ns0:spPr>
        <ns0:txBody>
          <a:bodyPr wrap="none" lIns="47625" tIns="28575" rIns="47625" bIns="28575" anchor="ctr">
            <a:normAutofit fontScale="87719"/>
          </a:bodyPr>
          <a:lstStyle/>
          <a:p>
            <a:pPr algn="l">
              <a:lnSpc>
                <a:spcPct val="95000"/>
              </a:lnSpc>
              <a:buNone/>
              <a:defRPr sz="1000" b="1" lang="pt-BR">
                <a:solidFill>
                  <a:srgbClr val="5E646A"/>
                </a:solidFill>
                <a:latin typeface="Arial"/>
                <a:ea typeface="Arial"/>
                <a:cs typeface="Arial"/>
              </a:defRPr>
            </a:pPr>
            <a:r>
              <a:rPr sz="1000" b="1" lang="pt-BR">
                <a:solidFill>
                  <a:srgbClr val="5E646A"/>
                </a:solidFill>
                <a:latin typeface="Arial"/>
                <a:ea typeface="Arial"/>
                <a:cs typeface="Arial"/>
              </a:rPr>
              <a:t>IS GREEN SOLFÁCIL VI</a:t>
            </a:r>
          </a:p>
          <a:p>
            <a:pPr algn="l">
              <a:lnSpc>
                <a:spcPct val="95000"/>
              </a:lnSpc>
              <a:buNone/>
              <a:defRPr sz="1000" b="1" lang="pt-BR">
                <a:solidFill>
                  <a:srgbClr val="5E646A"/>
                </a:solidFill>
                <a:latin typeface="Arial"/>
                <a:ea typeface="Arial"/>
                <a:cs typeface="Arial"/>
              </a:defRPr>
            </a:pPr>
            <a:r>
              <a:rPr sz="1000" b="1" lang="pt-BR">
                <a:solidFill>
                  <a:srgbClr val="5E646A"/>
                </a:solidFill>
                <a:latin typeface="Arial"/>
                <a:ea typeface="Arial"/>
                <a:cs typeface="Arial"/>
              </a:rPr>
              <a:t>R$ 437,4 mi · Sub atual 26,6%</a:t>
            </a:r>
          </a:p>
          <a:p>
            <a:pPr algn="l">
              <a:lnSpc>
                <a:spcPct val="95000"/>
              </a:lnSpc>
              <a:buNone/>
              <a:defRPr sz="1000" b="1" lang="pt-BR">
                <a:solidFill>
                  <a:srgbClr val="5E646A"/>
                </a:solidFill>
                <a:latin typeface="Arial"/>
                <a:ea typeface="Arial"/>
                <a:cs typeface="Arial"/>
              </a:defRPr>
            </a:pPr>
            <a:r>
              <a:rPr sz="1000" b="1" lang="pt-BR">
                <a:solidFill>
                  <a:srgbClr val="5E646A"/>
                </a:solidFill>
                <a:latin typeface="Arial"/>
                <a:ea typeface="Arial"/>
                <a:cs typeface="Arial"/>
              </a:rPr>
              <a:t>Jr 2,0% · Estr. N/D*</a:t>
            </a:r>
          </a:p>
        </ns0:txBody>
      </ns0:sp>
      <ns0:sp>
        <ns0:nvSpPr>
          <ns0:cNvPr id="24" name="mvp-card-structural_mvp_financeiro-47640584000123">
            <a:extLst>
              <a:ext uri="{FF2B5EF4-FFF2-40B4-BE49-F238E27FC236}">
                <ns2:creationId id="{11060EB7-D836-4BB9-9ADC-BD4710B0CFC6}"/>
              </a:ext>
            </a:extLst>
          </ns0:cNvPr>
          <ns0:cNvSpPr>
            <a:spLocks noGrp="1"/>
          </ns0:cNvSpPr>
          <ns0:nvPr/>
        </ns0:nvSpPr>
        <ns0:spPr>
          <a:xfrm>
            <a:off x="6134100" y="4010025"/>
            <a:ext cx="1778000" cy="438150"/>
          </a:xfrm>
          <a:prstGeom prst="rect">
            <a:avLst/>
          </a:prstGeom>
          <a:solidFill>
            <a:srgbClr val="F5F6F7"/>
          </a:solidFill>
          <a:ln w="9525">
            <a:solidFill>
              <a:srgbClr val="B8BDC2"/>
            </a:solidFill>
            <a:prstDash val="solid"/>
          </a:ln>
        </ns0:spPr>
        <ns0:txBody>
          <a:bodyPr wrap="none" lIns="47625" tIns="28575" rIns="47625" bIns="28575" anchor="ctr">
            <a:normAutofit fontScale="87719"/>
          </a:bodyPr>
          <a:lstStyle/>
          <a:p>
            <a:pPr algn="l">
              <a:lnSpc>
                <a:spcPct val="95000"/>
              </a:lnSpc>
              <a:buNone/>
              <a:defRPr sz="1000" b="1" lang="pt-BR">
                <a:solidFill>
                  <a:srgbClr val="5E646A"/>
                </a:solidFill>
                <a:latin typeface="Arial"/>
                <a:ea typeface="Arial"/>
                <a:cs typeface="Arial"/>
              </a:defRPr>
            </a:pPr>
            <a:r>
              <a:rPr sz="1000" b="1" lang="pt-BR">
                <a:solidFill>
                  <a:srgbClr val="5E646A"/>
                </a:solidFill>
                <a:latin typeface="Arial"/>
                <a:ea typeface="Arial"/>
                <a:cs typeface="Arial"/>
              </a:rPr>
              <a:t>SOL AGORA GREEN ESG</a:t>
            </a:r>
          </a:p>
          <a:p>
            <a:pPr algn="l">
              <a:lnSpc>
                <a:spcPct val="95000"/>
              </a:lnSpc>
              <a:buNone/>
              <a:defRPr sz="1000" b="1" lang="pt-BR">
                <a:solidFill>
                  <a:srgbClr val="5E646A"/>
                </a:solidFill>
                <a:latin typeface="Arial"/>
                <a:ea typeface="Arial"/>
                <a:cs typeface="Arial"/>
              </a:defRPr>
            </a:pPr>
            <a:r>
              <a:rPr sz="1000" b="1" lang="pt-BR">
                <a:solidFill>
                  <a:srgbClr val="5E646A"/>
                </a:solidFill>
                <a:latin typeface="Arial"/>
                <a:ea typeface="Arial"/>
                <a:cs typeface="Arial"/>
              </a:rPr>
              <a:t>R$ 285,1 mi · Sub atual 30,4%</a:t>
            </a:r>
          </a:p>
          <a:p>
            <a:pPr algn="l">
              <a:lnSpc>
                <a:spcPct val="95000"/>
              </a:lnSpc>
              <a:buNone/>
              <a:defRPr sz="1000" b="1" lang="pt-BR">
                <a:solidFill>
                  <a:srgbClr val="5E646A"/>
                </a:solidFill>
                <a:latin typeface="Arial"/>
                <a:ea typeface="Arial"/>
                <a:cs typeface="Arial"/>
              </a:defRPr>
            </a:pPr>
            <a:r>
              <a:rPr sz="1000" b="1" lang="pt-BR">
                <a:solidFill>
                  <a:srgbClr val="5E646A"/>
                </a:solidFill>
                <a:latin typeface="Arial"/>
                <a:ea typeface="Arial"/>
                <a:cs typeface="Arial"/>
              </a:rPr>
              <a:t>Jr 10,0% · Estr. N/D*</a:t>
            </a:r>
          </a:p>
        </ns0:txBody>
      </ns0:sp>
      <ns0:sp>
        <ns0:nvSpPr>
          <ns0:cNvPr id="25" name="mvp-card-structural_mvp_financeiro-42462306000100">
            <a:extLst>
              <a:ext uri="{FF2B5EF4-FFF2-40B4-BE49-F238E27FC236}">
                <ns2:creationId id="{2937FE6A-F29C-4AEA-8930-E841FFABF36A}"/>
              </a:ext>
            </a:extLst>
          </ns0:cNvPr>
          <ns0:cNvSpPr>
            <a:spLocks noGrp="1"/>
          </ns0:cNvSpPr>
          <ns0:nvPr/>
        </ns0:nvSpPr>
        <ns0:spPr>
          <a:xfrm>
            <a:off x="6134100" y="4467225"/>
            <a:ext cx="1778000" cy="438150"/>
          </a:xfrm>
          <a:prstGeom prst="rect">
            <a:avLst/>
          </a:prstGeom>
          <a:solidFill>
            <a:srgbClr val="F5F6F7"/>
          </a:solidFill>
          <a:ln w="9525">
            <a:solidFill>
              <a:srgbClr val="B8BDC2"/>
            </a:solidFill>
            <a:prstDash val="solid"/>
          </a:ln>
        </ns0:spPr>
        <ns0:txBody>
          <a:bodyPr wrap="none" lIns="47625" tIns="28575" rIns="47625" bIns="28575" anchor="ctr">
            <a:normAutofit fontScale="87719"/>
          </a:bodyPr>
          <a:lstStyle/>
          <a:p>
            <a:pPr algn="l">
              <a:lnSpc>
                <a:spcPct val="95000"/>
              </a:lnSpc>
              <a:buNone/>
              <a:defRPr sz="1000" b="1" lang="pt-BR">
                <a:solidFill>
                  <a:srgbClr val="5E646A"/>
                </a:solidFill>
                <a:latin typeface="Arial"/>
                <a:ea typeface="Arial"/>
                <a:cs typeface="Arial"/>
              </a:defRPr>
            </a:pPr>
            <a:r>
              <a:rPr sz="1000" b="1" lang="pt-BR">
                <a:solidFill>
                  <a:srgbClr val="5E646A"/>
                </a:solidFill>
                <a:latin typeface="Arial"/>
                <a:ea typeface="Arial"/>
                <a:cs typeface="Arial"/>
              </a:rPr>
              <a:t>IS GREEN SOLFÁCIL II</a:t>
            </a:r>
          </a:p>
          <a:p>
            <a:pPr algn="l">
              <a:lnSpc>
                <a:spcPct val="95000"/>
              </a:lnSpc>
              <a:buNone/>
              <a:defRPr sz="1000" b="1" lang="pt-BR">
                <a:solidFill>
                  <a:srgbClr val="5E646A"/>
                </a:solidFill>
                <a:latin typeface="Arial"/>
                <a:ea typeface="Arial"/>
                <a:cs typeface="Arial"/>
              </a:defRPr>
            </a:pPr>
            <a:r>
              <a:rPr sz="1000" b="1" lang="pt-BR">
                <a:solidFill>
                  <a:srgbClr val="5E646A"/>
                </a:solidFill>
                <a:latin typeface="Arial"/>
                <a:ea typeface="Arial"/>
                <a:cs typeface="Arial"/>
              </a:rPr>
              <a:t>R$ 96,1 mi · Sub atual 24,7%</a:t>
            </a:r>
          </a:p>
          <a:p>
            <a:pPr algn="l">
              <a:lnSpc>
                <a:spcPct val="95000"/>
              </a:lnSpc>
              <a:buNone/>
              <a:defRPr sz="1000" b="1" lang="pt-BR">
                <a:solidFill>
                  <a:srgbClr val="5E646A"/>
                </a:solidFill>
                <a:latin typeface="Arial"/>
                <a:ea typeface="Arial"/>
                <a:cs typeface="Arial"/>
              </a:defRPr>
            </a:pPr>
            <a:r>
              <a:rPr sz="1000" b="1" lang="pt-BR">
                <a:solidFill>
                  <a:srgbClr val="5E646A"/>
                </a:solidFill>
                <a:latin typeface="Arial"/>
                <a:ea typeface="Arial"/>
                <a:cs typeface="Arial"/>
              </a:rPr>
              <a:t>Jr 4,5% · Estr. N/D*</a:t>
            </a:r>
          </a:p>
        </ns0:txBody>
      </ns0:sp>
      <ns0:sp>
        <ns0:nvSpPr>
          <ns0:cNvPr id="26" name="mvp-band-structural_mvp_financeiro-5">
            <a:extLst>
              <a:ext uri="{FF2B5EF4-FFF2-40B4-BE49-F238E27FC236}">
                <ns2:creationId id="{60D2B7CE-51CF-4ED7-ADB0-5F2EA59E9BF4}"/>
              </a:ext>
            </a:extLst>
          </ns0:cNvPr>
          <ns0:cNvSpPr>
            <a:spLocks noGrp="1"/>
          </ns0:cNvSpPr>
          <ns0:nvPr/>
        </ns0:nvSpPr>
        <ns0:spPr>
          <a:xfrm>
            <a:off x="7988300" y="1885950"/>
            <a:ext cx="1778000" cy="22860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0" tIns="0" rIns="0" bIns="0" anchor="ctr">
            <a:normAutofit fontScale="100000"/>
          </a:bodyPr>
          <a:lstStyle/>
          <a:p>
            <a:pPr algn="ctr">
              <a:lnSpc>
                <a:spcPct val="100000"/>
              </a:lnSpc>
              <a:buNone/>
              <a:defRPr sz="1050" b="1" lang="pt-BR">
                <a:solidFill>
                  <a:srgbClr val="002B5C"/>
                </a:solidFill>
                <a:latin typeface="Arial"/>
                <a:ea typeface="Arial"/>
                <a:cs typeface="Arial"/>
              </a:defRPr>
            </a:pPr>
            <a:r>
              <a:rPr sz="1050" b="1" lang="pt-BR">
                <a:solidFill>
                  <a:srgbClr val="002B5C"/>
                </a:solidFill>
                <a:latin typeface="Arial"/>
                <a:ea typeface="Arial"/>
                <a:cs typeface="Arial"/>
              </a:rPr>
              <a:t>35%–60%</a:t>
            </a:r>
          </a:p>
        </ns0:txBody>
      </ns0:sp>
      <ns0:sp>
        <ns0:nvSpPr>
          <ns0:cNvPr id="27" name="">
            <a:extLst>
              <a:ext uri="{FF2B5EF4-FFF2-40B4-BE49-F238E27FC236}">
                <ns2:creationId id="{B3D6DC48-8BAB-4126-80D5-6A6BE6B1A154}"/>
              </a:ext>
            </a:extLst>
          </ns0:cNvPr>
          <ns0:cNvSpPr>
            <a:spLocks noGrp="1"/>
          </ns0:cNvSpPr>
          <ns0:nvPr/>
        </ns0:nvSpPr>
        <ns0:spPr>
          <a:xfrm>
            <a:off x="7988300" y="2114550"/>
            <a:ext cx="1778000" cy="19050"/>
          </a:xfrm>
          <a:prstGeom prst="rect">
            <a:avLst/>
          </a:prstGeom>
          <a:solidFill>
            <a:srgbClr val="002B5C"/>
          </a:solidFill>
          <a:ln w="0">
            <a:noFill/>
            <a:prstDash val="solid"/>
          </a:ln>
        </ns0:spPr>
      </ns0:sp>
      <ns0:sp>
        <ns0:nvSpPr>
          <ns0:cNvPr id="28" name="mvp-card-structural_mvp_financeiro-42154687000160">
            <a:extLst>
              <a:ext uri="{FF2B5EF4-FFF2-40B4-BE49-F238E27FC236}">
                <ns2:creationId id="{EBA4BD88-0AB0-45C6-BC84-9A87A68E6C78}"/>
              </a:ext>
            </a:extLst>
          </ns0:cNvPr>
          <ns0:cNvSpPr>
            <a:spLocks noGrp="1"/>
          </ns0:cNvSpPr>
          <ns0:nvPr/>
        </ns0:nvSpPr>
        <ns0:spPr>
          <a:xfrm>
            <a:off x="7988300" y="2181225"/>
            <a:ext cx="1778000" cy="438150"/>
          </a:xfrm>
          <a:prstGeom prst="rect">
            <a:avLst/>
          </a:prstGeom>
          <a:solidFill>
            <a:srgbClr val="F5F6F7"/>
          </a:solidFill>
          <a:ln w="9525">
            <a:solidFill>
              <a:srgbClr val="B8BDC2"/>
            </a:solidFill>
            <a:prstDash val="solid"/>
          </a:ln>
        </ns0:spPr>
        <ns0:txBody>
          <a:bodyPr wrap="none" lIns="47625" tIns="28575" rIns="47625" bIns="28575" anchor="ctr">
            <a:normAutofit fontScale="87719"/>
          </a:bodyPr>
          <a:lstStyle/>
          <a:p>
            <a:pPr algn="l">
              <a:lnSpc>
                <a:spcPct val="95000"/>
              </a:lnSpc>
              <a:buNone/>
              <a:defRPr sz="1000" b="1" lang="pt-BR">
                <a:solidFill>
                  <a:srgbClr val="5E646A"/>
                </a:solidFill>
                <a:latin typeface="Arial"/>
                <a:ea typeface="Arial"/>
                <a:cs typeface="Arial"/>
              </a:defRPr>
            </a:pPr>
            <a:r>
              <a:rPr sz="1000" b="1" lang="pt-BR">
                <a:solidFill>
                  <a:srgbClr val="5E646A"/>
                </a:solidFill>
                <a:latin typeface="Arial"/>
                <a:ea typeface="Arial"/>
                <a:cs typeface="Arial"/>
              </a:rPr>
              <a:t>MULTIPLIKE PLUS</a:t>
            </a:r>
          </a:p>
          <a:p>
            <a:pPr algn="l">
              <a:lnSpc>
                <a:spcPct val="95000"/>
              </a:lnSpc>
              <a:buNone/>
              <a:defRPr sz="1000" b="1" lang="pt-BR">
                <a:solidFill>
                  <a:srgbClr val="5E646A"/>
                </a:solidFill>
                <a:latin typeface="Arial"/>
                <a:ea typeface="Arial"/>
                <a:cs typeface="Arial"/>
              </a:defRPr>
            </a:pPr>
            <a:r>
              <a:rPr sz="1000" b="1" lang="pt-BR">
                <a:solidFill>
                  <a:srgbClr val="5E646A"/>
                </a:solidFill>
                <a:latin typeface="Arial"/>
                <a:ea typeface="Arial"/>
                <a:cs typeface="Arial"/>
              </a:rPr>
              <a:t>R$ 2,1 bi · Sub atual 42,3%</a:t>
            </a:r>
          </a:p>
          <a:p>
            <a:pPr algn="l">
              <a:lnSpc>
                <a:spcPct val="95000"/>
              </a:lnSpc>
              <a:buNone/>
              <a:defRPr sz="1000" b="1" lang="pt-BR">
                <a:solidFill>
                  <a:srgbClr val="5E646A"/>
                </a:solidFill>
                <a:latin typeface="Arial"/>
                <a:ea typeface="Arial"/>
                <a:cs typeface="Arial"/>
              </a:defRPr>
            </a:pPr>
            <a:r>
              <a:rPr sz="1000" b="1" lang="pt-BR">
                <a:solidFill>
                  <a:srgbClr val="5E646A"/>
                </a:solidFill>
                <a:latin typeface="Arial"/>
                <a:ea typeface="Arial"/>
                <a:cs typeface="Arial"/>
              </a:rPr>
              <a:t>Jr 20,0% · Estr. N/D*</a:t>
            </a:r>
          </a:p>
        </ns0:txBody>
      </ns0:sp>
      <ns0:sp>
        <ns0:nvSpPr>
          <ns0:cNvPr id="29" name="mvp-card-structural_mvp_financeiro-41197066000109">
            <a:extLst>
              <a:ext uri="{FF2B5EF4-FFF2-40B4-BE49-F238E27FC236}">
                <ns2:creationId id="{4010CEA5-47D4-4178-A145-941248DC9F89}"/>
              </a:ext>
            </a:extLst>
          </ns0:cNvPr>
          <ns0:cNvSpPr>
            <a:spLocks noGrp="1"/>
          </ns0:cNvSpPr>
          <ns0:nvPr/>
        </ns0:nvSpPr>
        <ns0:spPr>
          <a:xfrm>
            <a:off x="7988300" y="2638425"/>
            <a:ext cx="1778000" cy="438150"/>
          </a:xfrm>
          <a:prstGeom prst="rect">
            <a:avLst/>
          </a:prstGeom>
          <a:solidFill>
            <a:srgbClr val="F5F6F7"/>
          </a:solidFill>
          <a:ln w="9525">
            <a:solidFill>
              <a:srgbClr val="B8BDC2"/>
            </a:solidFill>
            <a:prstDash val="solid"/>
          </a:ln>
        </ns0:spPr>
        <ns0:txBody>
          <a:bodyPr wrap="none" lIns="47625" tIns="28575" rIns="47625" bIns="28575" anchor="ctr">
            <a:normAutofit fontScale="87719"/>
          </a:bodyPr>
          <a:lstStyle/>
          <a:p>
            <a:pPr algn="l">
              <a:lnSpc>
                <a:spcPct val="95000"/>
              </a:lnSpc>
              <a:buNone/>
              <a:defRPr sz="1000" b="1" lang="pt-BR">
                <a:solidFill>
                  <a:srgbClr val="5E646A"/>
                </a:solidFill>
                <a:latin typeface="Arial"/>
                <a:ea typeface="Arial"/>
                <a:cs typeface="Arial"/>
              </a:defRPr>
            </a:pPr>
            <a:r>
              <a:rPr sz="1000" b="1" lang="pt-BR">
                <a:solidFill>
                  <a:srgbClr val="5E646A"/>
                </a:solidFill>
                <a:latin typeface="Arial"/>
                <a:ea typeface="Arial"/>
                <a:cs typeface="Arial"/>
              </a:rPr>
              <a:t>IFOOD PAGO CRÉDITO I</a:t>
            </a:r>
          </a:p>
          <a:p>
            <a:pPr algn="l">
              <a:lnSpc>
                <a:spcPct val="95000"/>
              </a:lnSpc>
              <a:buNone/>
              <a:defRPr sz="1000" b="1" lang="pt-BR">
                <a:solidFill>
                  <a:srgbClr val="5E646A"/>
                </a:solidFill>
                <a:latin typeface="Arial"/>
                <a:ea typeface="Arial"/>
                <a:cs typeface="Arial"/>
              </a:defRPr>
            </a:pPr>
            <a:r>
              <a:rPr sz="1000" b="1" lang="pt-BR">
                <a:solidFill>
                  <a:srgbClr val="5E646A"/>
                </a:solidFill>
                <a:latin typeface="Arial"/>
                <a:ea typeface="Arial"/>
                <a:cs typeface="Arial"/>
              </a:rPr>
              <a:t>R$ 657,1 mi · Sub atual 36,5%</a:t>
            </a:r>
          </a:p>
          <a:p>
            <a:pPr algn="l">
              <a:lnSpc>
                <a:spcPct val="95000"/>
              </a:lnSpc>
              <a:buNone/>
              <a:defRPr sz="1000" b="1" lang="pt-BR">
                <a:solidFill>
                  <a:srgbClr val="5E646A"/>
                </a:solidFill>
                <a:latin typeface="Arial"/>
                <a:ea typeface="Arial"/>
                <a:cs typeface="Arial"/>
              </a:defRPr>
            </a:pPr>
            <a:r>
              <a:rPr sz="1000" b="1" lang="pt-BR">
                <a:solidFill>
                  <a:srgbClr val="5E646A"/>
                </a:solidFill>
                <a:latin typeface="Arial"/>
                <a:ea typeface="Arial"/>
                <a:cs typeface="Arial"/>
              </a:rPr>
              <a:t>Jr 10,0% · Estr. N/D*</a:t>
            </a:r>
          </a:p>
        </ns0:txBody>
      </ns0:sp>
      <ns0:sp>
        <ns0:nvSpPr>
          <ns0:cNvPr id="30" name="mvp-card-structural_mvp_financeiro-58152340000118">
            <a:extLst>
              <a:ext uri="{FF2B5EF4-FFF2-40B4-BE49-F238E27FC236}">
                <ns2:creationId id="{4D8CE1DF-3D55-4D1B-A64A-7C4470B44285}"/>
              </a:ext>
            </a:extLst>
          </ns0:cNvPr>
          <ns0:cNvSpPr>
            <a:spLocks noGrp="1"/>
          </ns0:cNvSpPr>
          <ns0:nvPr/>
        </ns0:nvSpPr>
        <ns0:spPr>
          <a:xfrm>
            <a:off x="7988300" y="3095625"/>
            <a:ext cx="1778000" cy="438150"/>
          </a:xfrm>
          <a:prstGeom prst="rect">
            <a:avLst/>
          </a:prstGeom>
          <a:solidFill>
            <a:srgbClr val="EAF0F7"/>
          </a:solidFill>
          <a:ln w="9525">
            <a:solidFill>
              <a:srgbClr val="AFC5DD"/>
            </a:solidFill>
            <a:prstDash val="solid"/>
          </a:ln>
        </ns0:spPr>
        <ns0:txBody>
          <a:bodyPr wrap="none" lIns="47625" tIns="28575" rIns="47625" bIns="28575" anchor="ctr">
            <a:normAutofit fontScale="87719"/>
          </a:bodyPr>
          <a:lstStyle/>
          <a:p>
            <a:pPr algn="l">
              <a:lnSpc>
                <a:spcPct val="95000"/>
              </a:lnSpc>
              <a:buNone/>
              <a:defRPr sz="1000" b="1" lang="pt-BR">
                <a:solidFill>
                  <a:srgbClr val="002B5C"/>
                </a:solidFill>
                <a:latin typeface="Arial"/>
                <a:ea typeface="Arial"/>
                <a:cs typeface="Arial"/>
              </a:defRPr>
            </a:pPr>
            <a:r>
              <a:rPr sz="1000" b="1" lang="pt-BR">
                <a:solidFill>
                  <a:srgbClr val="002B5C"/>
                </a:solidFill>
                <a:latin typeface="Arial"/>
                <a:ea typeface="Arial"/>
                <a:cs typeface="Arial"/>
              </a:rPr>
              <a:t>MONEE II SEGMENTO</a:t>
            </a:r>
          </a:p>
          <a:p>
            <a:pPr algn="l">
              <a:lnSpc>
                <a:spcPct val="95000"/>
              </a:lnSpc>
              <a:buNone/>
              <a:defRPr sz="1000" b="1" lang="pt-BR">
                <a:solidFill>
                  <a:srgbClr val="002B5C"/>
                </a:solidFill>
                <a:latin typeface="Arial"/>
                <a:ea typeface="Arial"/>
                <a:cs typeface="Arial"/>
              </a:defRPr>
            </a:pPr>
            <a:r>
              <a:rPr sz="1000" b="1" lang="pt-BR">
                <a:solidFill>
                  <a:srgbClr val="002B5C"/>
                </a:solidFill>
                <a:latin typeface="Arial"/>
                <a:ea typeface="Arial"/>
                <a:cs typeface="Arial"/>
              </a:rPr>
              <a:t>R$ 442,2 mi · Sub atual 40,6%</a:t>
            </a:r>
          </a:p>
          <a:p>
            <a:pPr algn="l">
              <a:lnSpc>
                <a:spcPct val="95000"/>
              </a:lnSpc>
              <a:buNone/>
              <a:defRPr sz="1000" b="1" lang="pt-BR">
                <a:solidFill>
                  <a:srgbClr val="002B5C"/>
                </a:solidFill>
                <a:latin typeface="Arial"/>
                <a:ea typeface="Arial"/>
                <a:cs typeface="Arial"/>
              </a:defRPr>
            </a:pPr>
            <a:r>
              <a:rPr sz="1000" b="1" lang="pt-BR">
                <a:solidFill>
                  <a:srgbClr val="002B5C"/>
                </a:solidFill>
                <a:latin typeface="Arial"/>
                <a:ea typeface="Arial"/>
                <a:cs typeface="Arial"/>
              </a:rPr>
              <a:t>Jr 30,0% · Estr. 30,0%</a:t>
            </a:r>
          </a:p>
        </ns0:txBody>
      </ns0:sp>
      <ns0:sp>
        <ns0:nvSpPr>
          <ns0:cNvPr id="31" name="mvp-card-structural_mvp_financeiro-63066147000102">
            <a:extLst>
              <a:ext uri="{FF2B5EF4-FFF2-40B4-BE49-F238E27FC236}">
                <ns2:creationId id="{11CA7D37-5E53-474B-BC8B-D415C4363C5D}"/>
              </a:ext>
            </a:extLst>
          </ns0:cNvPr>
          <ns0:cNvSpPr>
            <a:spLocks noGrp="1"/>
          </ns0:cNvSpPr>
          <ns0:nvPr/>
        </ns0:nvSpPr>
        <ns0:spPr>
          <a:xfrm>
            <a:off x="7988300" y="3552825"/>
            <a:ext cx="1778000" cy="438150"/>
          </a:xfrm>
          <a:prstGeom prst="rect">
            <a:avLst/>
          </a:prstGeom>
          <a:solidFill>
            <a:srgbClr val="F5F6F7"/>
          </a:solidFill>
          <a:ln w="9525">
            <a:solidFill>
              <a:srgbClr val="B8BDC2"/>
            </a:solidFill>
            <a:prstDash val="solid"/>
          </a:ln>
        </ns0:spPr>
        <ns0:txBody>
          <a:bodyPr wrap="none" lIns="47625" tIns="28575" rIns="47625" bIns="28575" anchor="ctr">
            <a:normAutofit fontScale="87719"/>
          </a:bodyPr>
          <a:lstStyle/>
          <a:p>
            <a:pPr algn="l">
              <a:lnSpc>
                <a:spcPct val="95000"/>
              </a:lnSpc>
              <a:buNone/>
              <a:defRPr sz="1000" b="1" lang="pt-BR">
                <a:solidFill>
                  <a:srgbClr val="5E646A"/>
                </a:solidFill>
                <a:latin typeface="Arial"/>
                <a:ea typeface="Arial"/>
                <a:cs typeface="Arial"/>
              </a:defRPr>
            </a:pPr>
            <a:r>
              <a:rPr sz="1000" b="1" lang="pt-BR">
                <a:solidFill>
                  <a:srgbClr val="5E646A"/>
                </a:solidFill>
                <a:latin typeface="Arial"/>
                <a:ea typeface="Arial"/>
                <a:cs typeface="Arial"/>
              </a:rPr>
              <a:t>INCLUSÃO CREDIÁRIA</a:t>
            </a:r>
          </a:p>
          <a:p>
            <a:pPr algn="l">
              <a:lnSpc>
                <a:spcPct val="95000"/>
              </a:lnSpc>
              <a:buNone/>
              <a:defRPr sz="1000" b="1" lang="pt-BR">
                <a:solidFill>
                  <a:srgbClr val="5E646A"/>
                </a:solidFill>
                <a:latin typeface="Arial"/>
                <a:ea typeface="Arial"/>
                <a:cs typeface="Arial"/>
              </a:defRPr>
            </a:pPr>
            <a:r>
              <a:rPr sz="1000" b="1" lang="pt-BR">
                <a:solidFill>
                  <a:srgbClr val="5E646A"/>
                </a:solidFill>
                <a:latin typeface="Arial"/>
                <a:ea typeface="Arial"/>
                <a:cs typeface="Arial"/>
              </a:rPr>
              <a:t>R$ 156,4 mi · Sub atual 52,0%</a:t>
            </a:r>
          </a:p>
          <a:p>
            <a:pPr algn="l">
              <a:lnSpc>
                <a:spcPct val="95000"/>
              </a:lnSpc>
              <a:buNone/>
              <a:defRPr sz="1000" b="1" lang="pt-BR">
                <a:solidFill>
                  <a:srgbClr val="5E646A"/>
                </a:solidFill>
                <a:latin typeface="Arial"/>
                <a:ea typeface="Arial"/>
                <a:cs typeface="Arial"/>
              </a:defRPr>
            </a:pPr>
            <a:r>
              <a:rPr sz="1000" b="1" lang="pt-BR">
                <a:solidFill>
                  <a:srgbClr val="5E646A"/>
                </a:solidFill>
                <a:latin typeface="Arial"/>
                <a:ea typeface="Arial"/>
                <a:cs typeface="Arial"/>
              </a:rPr>
              <a:t>Jr 12,5% · Estr. N/D*</a:t>
            </a:r>
          </a:p>
        </ns0:txBody>
      </ns0:sp>
      <ns0:sp>
        <ns0:nvSpPr>
          <ns0:cNvPr id="32" name="mvp-card-structural_mvp_financeiro-49113994000141">
            <a:extLst>
              <a:ext uri="{FF2B5EF4-FFF2-40B4-BE49-F238E27FC236}">
                <ns2:creationId id="{556140F8-9B6A-4956-9B3F-97F93263EA08}"/>
              </a:ext>
            </a:extLst>
          </ns0:cNvPr>
          <ns0:cNvSpPr>
            <a:spLocks noGrp="1"/>
          </ns0:cNvSpPr>
          <ns0:nvPr/>
        </ns0:nvSpPr>
        <ns0:spPr>
          <a:xfrm>
            <a:off x="7988300" y="4010025"/>
            <a:ext cx="1778000" cy="438150"/>
          </a:xfrm>
          <a:prstGeom prst="rect">
            <a:avLst/>
          </a:prstGeom>
          <a:solidFill>
            <a:srgbClr val="F5F6F7"/>
          </a:solidFill>
          <a:ln w="9525">
            <a:solidFill>
              <a:srgbClr val="B8BDC2"/>
            </a:solidFill>
            <a:prstDash val="solid"/>
          </a:ln>
        </ns0:spPr>
        <ns0:txBody>
          <a:bodyPr wrap="none" lIns="47625" tIns="28575" rIns="47625" bIns="28575" anchor="ctr">
            <a:normAutofit fontScale="87719"/>
          </a:bodyPr>
          <a:lstStyle/>
          <a:p>
            <a:pPr algn="l">
              <a:lnSpc>
                <a:spcPct val="95000"/>
              </a:lnSpc>
              <a:buNone/>
              <a:defRPr sz="1000" b="1" lang="pt-BR">
                <a:solidFill>
                  <a:srgbClr val="5E646A"/>
                </a:solidFill>
                <a:latin typeface="Arial"/>
                <a:ea typeface="Arial"/>
                <a:cs typeface="Arial"/>
              </a:defRPr>
            </a:pPr>
            <a:r>
              <a:rPr sz="1000" b="1" lang="pt-BR">
                <a:solidFill>
                  <a:srgbClr val="5E646A"/>
                </a:solidFill>
                <a:latin typeface="Arial"/>
                <a:ea typeface="Arial"/>
                <a:cs typeface="Arial"/>
              </a:rPr>
              <a:t>CAP</a:t>
            </a:r>
          </a:p>
          <a:p>
            <a:pPr algn="l">
              <a:lnSpc>
                <a:spcPct val="95000"/>
              </a:lnSpc>
              <a:buNone/>
              <a:defRPr sz="1000" b="1" lang="pt-BR">
                <a:solidFill>
                  <a:srgbClr val="5E646A"/>
                </a:solidFill>
                <a:latin typeface="Arial"/>
                <a:ea typeface="Arial"/>
                <a:cs typeface="Arial"/>
              </a:defRPr>
            </a:pPr>
            <a:r>
              <a:rPr sz="1000" b="1" lang="pt-BR">
                <a:solidFill>
                  <a:srgbClr val="5E646A"/>
                </a:solidFill>
                <a:latin typeface="Arial"/>
                <a:ea typeface="Arial"/>
                <a:cs typeface="Arial"/>
              </a:rPr>
              <a:t>R$ 99,3 mi · Sub atual 44,1%</a:t>
            </a:r>
          </a:p>
          <a:p>
            <a:pPr algn="l">
              <a:lnSpc>
                <a:spcPct val="95000"/>
              </a:lnSpc>
              <a:buNone/>
              <a:defRPr sz="1000" b="1" lang="pt-BR">
                <a:solidFill>
                  <a:srgbClr val="5E646A"/>
                </a:solidFill>
                <a:latin typeface="Arial"/>
                <a:ea typeface="Arial"/>
                <a:cs typeface="Arial"/>
              </a:defRPr>
            </a:pPr>
            <a:r>
              <a:rPr sz="1000" b="1" lang="pt-BR">
                <a:solidFill>
                  <a:srgbClr val="5E646A"/>
                </a:solidFill>
                <a:latin typeface="Arial"/>
                <a:ea typeface="Arial"/>
                <a:cs typeface="Arial"/>
              </a:rPr>
              <a:t>Jr 14,0% · Estr. N/D*</a:t>
            </a:r>
          </a:p>
        </ns0:txBody>
      </ns0:sp>
      <ns0:sp>
        <ns0:nvSpPr>
          <ns0:cNvPr id="33" name="mvp-band-structural_mvp_financeiro-6">
            <a:extLst>
              <a:ext uri="{FF2B5EF4-FFF2-40B4-BE49-F238E27FC236}">
                <ns2:creationId id="{33356AA8-ACB3-4BBC-BDF9-71C812A0142F}"/>
              </a:ext>
            </a:extLst>
          </ns0:cNvPr>
          <ns0:cNvSpPr>
            <a:spLocks noGrp="1"/>
          </ns0:cNvSpPr>
          <ns0:nvPr/>
        </ns0:nvSpPr>
        <ns0:spPr>
          <a:xfrm>
            <a:off x="9842500" y="1885950"/>
            <a:ext cx="1778000" cy="22860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0" tIns="0" rIns="0" bIns="0" anchor="ctr">
            <a:normAutofit fontScale="100000"/>
          </a:bodyPr>
          <a:lstStyle/>
          <a:p>
            <a:pPr algn="ctr">
              <a:lnSpc>
                <a:spcPct val="100000"/>
              </a:lnSpc>
              <a:buNone/>
              <a:defRPr sz="1050" b="1" lang="pt-BR">
                <a:solidFill>
                  <a:srgbClr val="002B5C"/>
                </a:solidFill>
                <a:latin typeface="Arial"/>
                <a:ea typeface="Arial"/>
                <a:cs typeface="Arial"/>
              </a:defRPr>
            </a:pPr>
            <a:r>
              <a:rPr sz="1050" b="1" lang="pt-BR">
                <a:solidFill>
                  <a:srgbClr val="002B5C"/>
                </a:solidFill>
                <a:latin typeface="Arial"/>
                <a:ea typeface="Arial"/>
                <a:cs typeface="Arial"/>
              </a:rPr>
              <a:t>≥ 60%</a:t>
            </a:r>
          </a:p>
        </ns0:txBody>
      </ns0:sp>
      <ns0:sp>
        <ns0:nvSpPr>
          <ns0:cNvPr id="34" name="">
            <a:extLst>
              <a:ext uri="{FF2B5EF4-FFF2-40B4-BE49-F238E27FC236}">
                <ns2:creationId id="{4C60199A-7162-4FE6-8378-4BE3E1A706E0}"/>
              </a:ext>
            </a:extLst>
          </ns0:cNvPr>
          <ns0:cNvSpPr>
            <a:spLocks noGrp="1"/>
          </ns0:cNvSpPr>
          <ns0:nvPr/>
        </ns0:nvSpPr>
        <ns0:spPr>
          <a:xfrm>
            <a:off x="9842500" y="2114550"/>
            <a:ext cx="1778000" cy="19050"/>
          </a:xfrm>
          <a:prstGeom prst="rect">
            <a:avLst/>
          </a:prstGeom>
          <a:solidFill>
            <a:srgbClr val="002B5C"/>
          </a:solidFill>
          <a:ln w="0">
            <a:noFill/>
            <a:prstDash val="solid"/>
          </a:ln>
        </ns0:spPr>
      </ns0:sp>
      <ns0:sp>
        <ns0:nvSpPr>
          <ns0:cNvPr id="35" name="mvp-card-structural_mvp_financeiro-32526025000110">
            <a:extLst>
              <a:ext uri="{FF2B5EF4-FFF2-40B4-BE49-F238E27FC236}">
                <ns2:creationId id="{DDAA6CF5-76D6-4C8B-861C-6FCAC23743D6}"/>
              </a:ext>
            </a:extLst>
          </ns0:cNvPr>
          <ns0:cNvSpPr>
            <a:spLocks noGrp="1"/>
          </ns0:cNvSpPr>
          <ns0:nvPr/>
        </ns0:nvSpPr>
        <ns0:spPr>
          <a:xfrm>
            <a:off x="9842500" y="2181225"/>
            <a:ext cx="1778000" cy="438150"/>
          </a:xfrm>
          <a:prstGeom prst="rect">
            <a:avLst/>
          </a:prstGeom>
          <a:solidFill>
            <a:srgbClr val="F5F6F7"/>
          </a:solidFill>
          <a:ln w="9525">
            <a:solidFill>
              <a:srgbClr val="B8BDC2"/>
            </a:solidFill>
            <a:prstDash val="solid"/>
          </a:ln>
        </ns0:spPr>
        <ns0:txBody>
          <a:bodyPr wrap="none" lIns="47625" tIns="28575" rIns="47625" bIns="28575" anchor="ctr">
            <a:normAutofit fontScale="87719"/>
          </a:bodyPr>
          <a:lstStyle/>
          <a:p>
            <a:pPr algn="l">
              <a:lnSpc>
                <a:spcPct val="95000"/>
              </a:lnSpc>
              <a:buNone/>
              <a:defRPr sz="1000" b="1" lang="pt-BR">
                <a:solidFill>
                  <a:srgbClr val="5E646A"/>
                </a:solidFill>
                <a:latin typeface="Arial"/>
                <a:ea typeface="Arial"/>
                <a:cs typeface="Arial"/>
              </a:defRPr>
            </a:pPr>
            <a:r>
              <a:rPr sz="1000" b="1" lang="pt-BR">
                <a:solidFill>
                  <a:srgbClr val="5E646A"/>
                </a:solidFill>
                <a:latin typeface="Arial"/>
                <a:ea typeface="Arial"/>
                <a:cs typeface="Arial"/>
              </a:rPr>
              <a:t>COBUCCIO DE RESPONS</a:t>
            </a:r>
          </a:p>
          <a:p>
            <a:pPr algn="l">
              <a:lnSpc>
                <a:spcPct val="95000"/>
              </a:lnSpc>
              <a:buNone/>
              <a:defRPr sz="1000" b="1" lang="pt-BR">
                <a:solidFill>
                  <a:srgbClr val="5E646A"/>
                </a:solidFill>
                <a:latin typeface="Arial"/>
                <a:ea typeface="Arial"/>
                <a:cs typeface="Arial"/>
              </a:defRPr>
            </a:pPr>
            <a:r>
              <a:rPr sz="1000" b="1" lang="pt-BR">
                <a:solidFill>
                  <a:srgbClr val="5E646A"/>
                </a:solidFill>
                <a:latin typeface="Arial"/>
                <a:ea typeface="Arial"/>
                <a:cs typeface="Arial"/>
              </a:rPr>
              <a:t>R$ 1,8 bi · Sub atual 75,6%</a:t>
            </a:r>
          </a:p>
          <a:p>
            <a:pPr algn="l">
              <a:lnSpc>
                <a:spcPct val="95000"/>
              </a:lnSpc>
              <a:buNone/>
              <a:defRPr sz="1000" b="1" lang="pt-BR">
                <a:solidFill>
                  <a:srgbClr val="5E646A"/>
                </a:solidFill>
                <a:latin typeface="Arial"/>
                <a:ea typeface="Arial"/>
                <a:cs typeface="Arial"/>
              </a:defRPr>
            </a:pPr>
            <a:r>
              <a:rPr sz="1000" b="1" lang="pt-BR">
                <a:solidFill>
                  <a:srgbClr val="5E646A"/>
                </a:solidFill>
                <a:latin typeface="Arial"/>
                <a:ea typeface="Arial"/>
                <a:cs typeface="Arial"/>
              </a:rPr>
              <a:t>Jr 75,0% · Estr. N/D*</a:t>
            </a:r>
          </a:p>
        </ns0:txBody>
      </ns0:sp>
      <ns0:sp>
        <ns0:nvSpPr>
          <ns0:cNvPr id="36" name="mvp-card-structural_mvp_financeiro-43193260000133">
            <a:extLst>
              <a:ext uri="{FF2B5EF4-FFF2-40B4-BE49-F238E27FC236}">
                <ns2:creationId id="{EB56070B-A0A6-46AA-8F40-70C9586249BB}"/>
              </a:ext>
            </a:extLst>
          </ns0:cNvPr>
          <ns0:cNvSpPr>
            <a:spLocks noGrp="1"/>
          </ns0:cNvSpPr>
          <ns0:nvPr/>
        </ns0:nvSpPr>
        <ns0:spPr>
          <a:xfrm>
            <a:off x="9842500" y="2638425"/>
            <a:ext cx="1778000" cy="438150"/>
          </a:xfrm>
          <a:prstGeom prst="rect">
            <a:avLst/>
          </a:prstGeom>
          <a:solidFill>
            <a:srgbClr val="F5F6F7"/>
          </a:solidFill>
          <a:ln w="9525">
            <a:solidFill>
              <a:srgbClr val="B8BDC2"/>
            </a:solidFill>
            <a:prstDash val="solid"/>
          </a:ln>
        </ns0:spPr>
        <ns0:txBody>
          <a:bodyPr wrap="none" lIns="47625" tIns="28575" rIns="47625" bIns="28575" anchor="ctr">
            <a:normAutofit fontScale="87719"/>
          </a:bodyPr>
          <a:lstStyle/>
          <a:p>
            <a:pPr algn="l">
              <a:lnSpc>
                <a:spcPct val="95000"/>
              </a:lnSpc>
              <a:buNone/>
              <a:defRPr sz="1000" b="1" lang="pt-BR">
                <a:solidFill>
                  <a:srgbClr val="5E646A"/>
                </a:solidFill>
                <a:latin typeface="Arial"/>
                <a:ea typeface="Arial"/>
                <a:cs typeface="Arial"/>
              </a:defRPr>
            </a:pPr>
            <a:r>
              <a:rPr sz="1000" b="1" lang="pt-BR">
                <a:solidFill>
                  <a:srgbClr val="5E646A"/>
                </a:solidFill>
                <a:latin typeface="Arial"/>
                <a:ea typeface="Arial"/>
                <a:cs typeface="Arial"/>
              </a:rPr>
              <a:t>RESIDENCE CLUB</a:t>
            </a:r>
          </a:p>
          <a:p>
            <a:pPr algn="l">
              <a:lnSpc>
                <a:spcPct val="95000"/>
              </a:lnSpc>
              <a:buNone/>
              <a:defRPr sz="1000" b="1" lang="pt-BR">
                <a:solidFill>
                  <a:srgbClr val="5E646A"/>
                </a:solidFill>
                <a:latin typeface="Arial"/>
                <a:ea typeface="Arial"/>
                <a:cs typeface="Arial"/>
              </a:defRPr>
            </a:pPr>
            <a:r>
              <a:rPr sz="1000" b="1" lang="pt-BR">
                <a:solidFill>
                  <a:srgbClr val="5E646A"/>
                </a:solidFill>
                <a:latin typeface="Arial"/>
                <a:ea typeface="Arial"/>
                <a:cs typeface="Arial"/>
              </a:rPr>
              <a:t>R$ 403,4 mi · Sub atual 69,1%</a:t>
            </a:r>
          </a:p>
          <a:p>
            <a:pPr algn="l">
              <a:lnSpc>
                <a:spcPct val="95000"/>
              </a:lnSpc>
              <a:buNone/>
              <a:defRPr sz="1000" b="1" lang="pt-BR">
                <a:solidFill>
                  <a:srgbClr val="5E646A"/>
                </a:solidFill>
                <a:latin typeface="Arial"/>
                <a:ea typeface="Arial"/>
                <a:cs typeface="Arial"/>
              </a:defRPr>
            </a:pPr>
            <a:r>
              <a:rPr sz="1000" b="1" lang="pt-BR">
                <a:solidFill>
                  <a:srgbClr val="5E646A"/>
                </a:solidFill>
                <a:latin typeface="Arial"/>
                <a:ea typeface="Arial"/>
                <a:cs typeface="Arial"/>
              </a:rPr>
              <a:t>Jr 15,0%* · Estr. 50,0%*</a:t>
            </a:r>
          </a:p>
        </ns0:txBody>
      </ns0:sp>
      <ns0:sp>
        <ns0:nvSpPr>
          <ns0:cNvPr id="37" name="">
            <a:extLst>
              <a:ext uri="{FF2B5EF4-FFF2-40B4-BE49-F238E27FC236}">
                <ns2:creationId id="{C206929F-0465-4FE5-BCC7-4F2B908AE849}"/>
              </a:ext>
            </a:extLst>
          </ns0:cNvPr>
          <ns0:cNvSpPr>
            <a:spLocks noGrp="1"/>
          </ns0:cNvSpPr>
          <ns0:nvPr/>
        </ns0:nvSpPr>
        <ns0:spPr>
          <a:xfrm>
            <a:off x="571500" y="5981700"/>
            <a:ext cx="11049000" cy="295275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0" tIns="0" rIns="0" bIns="0" anchor="ctr">
            <a:normAutofit fontScale="88796"/>
          </a:bodyPr>
          <a:lstStyle/>
          <a:p>
            <a:pPr algn="r">
              <a:lnSpc>
                <a:spcPct val="100000"/>
              </a:lnSpc>
              <a:buNone/>
              <a:def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rPr>
              <a:t>Vinho = abaixo do mínimo estrutural · âmbar = até 2 p.p. acima · azul = mais de 2 p.p. acima · cinza = estrutura incomparável. * Categoria editorial ou piso total, combinado, calculado, ajustado ou sem equivalência direta.</a:t>
            </a:r>
          </a:p>
        </ns0:txBody>
      </ns0:sp>
    </ns0:spTree>
    <ns0:extLst>
      <ns0:ext uri="{BB962C8B-B14F-4D97-AF65-F5344CB8AC3E}">
        <ns3:creationId val="459627869"/>
      </ns0:ext>
    </ns0:extLst>
  </ns0:cSld>
</ns0:sld>
</file>

<file path=ppt/slides/slide19.xml><?xml version="1.0" encoding="utf-8"?>
<ns0:sld xmlns:a="http://schemas.openxmlformats.org/drawingml/2006/main" xmlns:ns0="http://schemas.openxmlformats.org/presentationml/2006/main" xmlns:ns2="http://schemas.microsoft.com/office/drawing/2014/main" xmlns:ns3="http://schemas.microsoft.com/office/powerpoint/2010/main">
  <ns0:cSld>
    <ns0:bg>
      <ns0:bgPr>
        <a:solidFill>
          <a:srgbClr val="FFFFFF"/>
        </a:solidFill>
      </ns0:bgPr>
    </ns0:bg>
    <ns0:spTree>
      <ns0:nvGrpSpPr>
        <ns0:cNvPr id="1" name=""/>
        <ns0:cNvGrpSpPr/>
        <ns0:nvPr/>
      </ns0:nvGrpSpPr>
      <ns0:grpSpPr>
        <a:xfrm/>
      </ns0:grpSpPr>
      <ns0:sp>
        <ns0:nvSpPr>
          <ns0:cNvPr id="35" name="">
            <a:extLst>
              <a:ext uri="{FF2B5EF4-FFF2-40B4-BE49-F238E27FC236}">
                <ns2:creationId id="{1AEC9362-5203-4E70-9DF6-7281E6D3F3B7}"/>
              </a:ext>
            </a:extLst>
          </ns0:cNvPr>
          <ns0:cNvSpPr>
            <a:spLocks noGrp="1"/>
          </ns0:cNvSpPr>
          <ns0:nvPr/>
        </ns0:nvSpPr>
        <ns0:spPr>
          <a:xfrm>
            <a:off x="571500" y="257175"/>
            <a:ext cx="11049000" cy="19050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0" tIns="0" rIns="0" bIns="0" anchor="t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1000" b="1" lang="pt-BR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1000" b="1" lang="pt-BR">
                <a:solidFill>
                  <a:srgbClr val="EC7000"/>
                </a:solidFill>
                <a:latin typeface="Arial"/>
                <a:ea typeface="Arial"/>
                <a:cs typeface="Arial"/>
              </a:rPr>
              <a:t>RISCO ESTRUTURAL · CARTEIRA I · ADQUIRÊNCIA</a:t>
            </a:r>
          </a:p>
        </ns0:txBody>
      </ns0:sp>
      <ns0:sp>
        <ns0:nvSpPr>
          <ns0:cNvPr id="2" name="">
            <a:extLst>
              <a:ext uri="{FF2B5EF4-FFF2-40B4-BE49-F238E27FC236}">
                <ns2:creationId id="{755240BA-DB32-43E5-840D-9954F4959664}"/>
              </a:ext>
            </a:extLst>
          </ns0:cNvPr>
          <ns0:cNvSpPr>
            <a:spLocks noGrp="1"/>
          </ns0:cNvSpPr>
          <ns0:nvPr/>
        </ns0:nvSpPr>
        <ns0:spPr>
          <a:xfrm>
            <a:off x="571500" y="504825"/>
            <a:ext cx="11049000" cy="466725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0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2100" b="1" lang="pt-BR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2100" b="1" lang="pt-BR">
                <a:solidFill>
                  <a:srgbClr val="151515"/>
                </a:solidFill>
                <a:latin typeface="Arial"/>
                <a:ea typeface="Arial"/>
                <a:cs typeface="Arial"/>
              </a:rPr>
              <a:t>Adquirência | 2 veículos comparáveis estão até 2 p.p. acima do mínimo estrutural</a:t>
            </a:r>
          </a:p>
        </ns0:txBody>
      </ns0:sp>
      <ns0:sp>
        <ns0:nvSpPr>
          <ns0:cNvPr id="3" name="">
            <a:extLst>
              <a:ext uri="{FF2B5EF4-FFF2-40B4-BE49-F238E27FC236}">
                <ns2:creationId id="{EC3FDA30-A2C7-40D5-8BA8-BD803C9A173E}"/>
              </a:ext>
            </a:extLst>
          </ns0:cNvPr>
          <ns0:cNvSpPr>
            <a:spLocks noGrp="1"/>
          </ns0:cNvSpPr>
          <ns0:nvPr/>
        </ns0:nvSpPr>
        <ns0:spPr>
          <a:xfrm>
            <a:off x="571500" y="1047750"/>
            <a:ext cx="11049000" cy="9525"/>
          </a:xfrm>
          <a:prstGeom prst="rect">
            <a:avLst/>
          </a:prstGeom>
          <a:solidFill>
            <a:srgbClr val="D7DADD"/>
          </a:solidFill>
          <a:ln w="0">
            <a:noFill/>
            <a:prstDash val="solid"/>
          </a:ln>
        </ns0:spPr>
      </ns0:sp>
      <ns0:sp>
        <ns0:nvSpPr>
          <ns0:cNvPr id="4" name="">
            <a:extLst>
              <a:ext uri="{FF2B5EF4-FFF2-40B4-BE49-F238E27FC236}">
                <ns2:creationId id="{ED4BED2A-7C39-403F-BFBD-325EBA3DB27B}"/>
              </a:ext>
            </a:extLst>
          </ns0:cNvPr>
          <ns0:cNvSpPr>
            <a:spLocks noGrp="1"/>
          </ns0:cNvSpPr>
          <ns0:nvPr/>
        </ns0:nvSpPr>
        <ns0:spPr>
          <a:xfrm>
            <a:off x="571500" y="6353175"/>
            <a:ext cx="11049000" cy="9525"/>
          </a:xfrm>
          <a:prstGeom prst="rect">
            <a:avLst/>
          </a:prstGeom>
          <a:solidFill>
            <a:srgbClr val="D7DADD"/>
          </a:solidFill>
          <a:ln w="0">
            <a:noFill/>
            <a:prstDash val="solid"/>
          </a:ln>
        </ns0:spPr>
      </ns0:sp>
      <ns0:sp>
        <ns0:nvSpPr>
          <ns0:cNvPr id="5" name="">
            <a:extLst>
              <a:ext uri="{FF2B5EF4-FFF2-40B4-BE49-F238E27FC236}">
                <ns2:creationId id="{DA8305CA-AD5A-4DD6-86C8-93CC7E12E61E}"/>
              </a:ext>
            </a:extLst>
          </ns0:cNvPr>
          <ns0:cNvSpPr>
            <a:spLocks noGrp="1"/>
          </ns0:cNvSpPr>
          <ns0:nvPr/>
        </ns0:nvSpPr>
        <ns0:spPr>
          <a:xfrm>
            <a:off x="571500" y="6419850"/>
            <a:ext cx="10001250" cy="1714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47625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rPr>
              <a:t>CVM, Informe Mensal, jun/26; pisos em regulamentos FundosNet/B3. Lacunas ficam fora do slide e permanecem no workbook/explorador.</a:t>
            </a:r>
          </a:p>
        </ns0:txBody>
      </ns0:sp>
      <ns0:sp>
        <ns0:nvSpPr>
          <ns0:cNvPr id="6" name="">
            <a:extLst>
              <a:ext uri="{FF2B5EF4-FFF2-40B4-BE49-F238E27FC236}">
                <ns2:creationId id="{7017A7B4-6930-468B-AF2D-427781865789}"/>
              </a:ext>
            </a:extLst>
          </ns0:cNvPr>
          <ns0:cNvSpPr>
            <a:spLocks noGrp="1"/>
          </ns0:cNvSpPr>
          <ns0:nvPr/>
        </ns0:nvSpPr>
        <ns0:spPr>
          <a:xfrm>
            <a:off x="11144250" y="6410325"/>
            <a:ext cx="476250" cy="1714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ctr">
            <a:normAutofit fontScale="100000"/>
          </a:bodyPr>
          <a:lstStyle/>
          <a:p>
            <a:pPr algn="r">
              <a:lnSpc>
                <a:spcPct val="100000"/>
              </a:lnSpc>
              <a:buNone/>
              <a:def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rPr>
              <a:t>19</a:t>
            </a:r>
          </a:p>
        </ns0:txBody>
      </ns0:sp>
      <ns0:sp>
        <ns0:nvSpPr>
          <ns0:cNvPr id="7" name="mvp-summary-structural_mvp_adquirencia-1">
            <a:extLst>
              <a:ext uri="{FF2B5EF4-FFF2-40B4-BE49-F238E27FC236}">
                <ns2:creationId id="{E0E22046-E2C1-4BA5-B412-7978AAA2BC96}"/>
              </a:ext>
            </a:extLst>
          </ns0:cNvPr>
          <ns0:cNvSpPr>
            <a:spLocks noGrp="1"/>
          </ns0:cNvSpPr>
          <ns0:nvPr/>
        </ns0:nvSpPr>
        <ns0:spPr>
          <a:xfrm>
            <a:off x="571500" y="1152525"/>
            <a:ext cx="3143250" cy="609600"/>
          </a:xfrm>
          <a:prstGeom prst="rect">
            <a:avLst/>
          </a:prstGeom>
          <a:solidFill>
            <a:srgbClr val="EAF0F7"/>
          </a:solidFill>
          <a:ln w="0">
            <a:solidFill>
              <a:srgbClr val="EAF0F7"/>
            </a:solidFill>
            <a:prstDash val="solid"/>
          </a:ln>
        </ns0:spPr>
        <ns0:txBody>
          <a:bodyPr wrap="square" lIns="95250" tIns="66675" rIns="95250" bIns="66675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1000" b="1" lang="pt-BR">
                <a:solidFill>
                  <a:srgbClr val="002B5C"/>
                </a:solidFill>
                <a:latin typeface="Arial"/>
                <a:ea typeface="Arial"/>
                <a:cs typeface="Arial"/>
              </a:defRPr>
            </a:pPr>
            <a:r>
              <a:rPr sz="1000" b="1" lang="pt-BR">
                <a:solidFill>
                  <a:srgbClr val="002B5C"/>
                </a:solidFill>
                <a:latin typeface="Arial"/>
                <a:ea typeface="Arial"/>
                <a:cs typeface="Arial"/>
              </a:rPr>
              <a:t>COBERTURA DO SLIDE</a:t>
            </a:r>
          </a:p>
          <a:p>
            <a:pPr algn="l">
              <a:lnSpc>
                <a:spcPct val="100000"/>
              </a:lnSpc>
              <a:buNone/>
              <a:defRPr sz="1000" b="1" lang="pt-BR">
                <a:solidFill>
                  <a:srgbClr val="002B5C"/>
                </a:solidFill>
                <a:latin typeface="Arial"/>
                <a:ea typeface="Arial"/>
                <a:cs typeface="Arial"/>
              </a:defRPr>
            </a:pPr>
            <a:r>
              <a:rPr sz="1000" b="1" lang="pt-BR">
                <a:solidFill>
                  <a:srgbClr val="002B5C"/>
                </a:solidFill>
                <a:latin typeface="Arial"/>
                <a:ea typeface="Arial"/>
                <a:cs typeface="Arial"/>
              </a:rPr>
              <a:t>12/17 CNPJs · R$ 15,1 bi de R$ 15,1 bi</a:t>
            </a:r>
          </a:p>
        </ns0:txBody>
      </ns0:sp>
      <ns0:sp>
        <ns0:nvSpPr>
          <ns0:cNvPr id="8" name="mvp-summary-structural_mvp_adquirencia-2">
            <a:extLst>
              <a:ext uri="{FF2B5EF4-FFF2-40B4-BE49-F238E27FC236}">
                <ns2:creationId id="{363C4E1B-A407-4161-805C-28362718BBE9}"/>
              </a:ext>
            </a:extLst>
          </ns0:cNvPr>
          <ns0:cNvSpPr>
            <a:spLocks noGrp="1"/>
          </ns0:cNvSpPr>
          <ns0:nvPr/>
        </ns0:nvSpPr>
        <ns0:spPr>
          <a:xfrm>
            <a:off x="3810000" y="1152525"/>
            <a:ext cx="4810125" cy="609600"/>
          </a:xfrm>
          <a:prstGeom prst="rect">
            <a:avLst/>
          </a:prstGeom>
          <a:solidFill>
            <a:srgbClr val="FFFFFF"/>
          </a:solidFill>
          <a:ln w="9525">
            <a:solidFill>
              <a:srgbClr val="AFC5DD"/>
            </a:solidFill>
            <a:prstDash val="solid"/>
          </a:ln>
        </ns0:spPr>
        <ns0:txBody>
          <a:bodyPr wrap="square" lIns="95250" tIns="66675" rIns="95250" bIns="66675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1000" b="1" lang="pt-BR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000" b="1" lang="pt-BR">
                <a:solidFill>
                  <a:srgbClr val="30353A"/>
                </a:solidFill>
                <a:latin typeface="Arial"/>
                <a:ea typeface="Arial"/>
                <a:cs typeface="Arial"/>
              </a:rPr>
              <a:t>REFERÊNCIA DE MERCADO · SUB/PL ATUAL</a:t>
            </a:r>
          </a:p>
          <a:p>
            <a:pPr algn="l">
              <a:lnSpc>
                <a:spcPct val="100000"/>
              </a:lnSpc>
              <a:buNone/>
              <a:defRPr sz="1000" b="1" lang="pt-BR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000" b="1" lang="pt-BR">
                <a:solidFill>
                  <a:srgbClr val="30353A"/>
                </a:solidFill>
                <a:latin typeface="Arial"/>
                <a:ea typeface="Arial"/>
                <a:cs typeface="Arial"/>
              </a:rPr>
              <a:t>15 pares · med. agregada carteira 11,7% vs. mercado 15,5%</a:t>
            </a:r>
          </a:p>
        </ns0:txBody>
      </ns0:sp>
      <ns0:sp>
        <ns0:nvSpPr>
          <ns0:cNvPr id="9" name="mvp-summary-structural_mvp_adquirencia-3">
            <a:extLst>
              <a:ext uri="{FF2B5EF4-FFF2-40B4-BE49-F238E27FC236}">
                <ns2:creationId id="{3AF8A55E-DD02-4396-A072-7EB8DBF04E83}"/>
              </a:ext>
            </a:extLst>
          </ns0:cNvPr>
          <ns0:cNvSpPr>
            <a:spLocks noGrp="1"/>
          </ns0:cNvSpPr>
          <ns0:nvPr/>
        </ns0:nvSpPr>
        <ns0:spPr>
          <a:xfrm>
            <a:off x="8715375" y="1152525"/>
            <a:ext cx="2905125" cy="609600"/>
          </a:xfrm>
          <a:prstGeom prst="rect">
            <a:avLst/>
          </a:prstGeom>
          <a:solidFill>
            <a:srgbClr val="FFF1E6"/>
          </a:solidFill>
          <a:ln w="0">
            <a:solidFill>
              <a:srgbClr val="FFF1E6"/>
            </a:solidFill>
            <a:prstDash val="solid"/>
          </a:ln>
        </ns0:spPr>
        <ns0:txBody>
          <a:bodyPr wrap="square" lIns="95250" tIns="66675" rIns="95250" bIns="66675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1000" b="1" lang="pt-BR">
                <a:solidFill>
                  <a:srgbClr val="7A1F3D"/>
                </a:solidFill>
                <a:latin typeface="Arial"/>
                <a:ea typeface="Arial"/>
                <a:cs typeface="Arial"/>
              </a:defRPr>
            </a:pPr>
            <a:r>
              <a:rPr sz="1000" b="1" lang="pt-BR">
                <a:solidFill>
                  <a:srgbClr val="7A1F3D"/>
                </a:solidFill>
                <a:latin typeface="Arial"/>
                <a:ea typeface="Arial"/>
                <a:cs typeface="Arial"/>
              </a:rPr>
              <a:t>LEITURA RELATIVA</a:t>
            </a:r>
          </a:p>
          <a:p>
            <a:pPr algn="l">
              <a:lnSpc>
                <a:spcPct val="100000"/>
              </a:lnSpc>
              <a:buNone/>
              <a:defRPr sz="1000" b="1" lang="pt-BR">
                <a:solidFill>
                  <a:srgbClr val="7A1F3D"/>
                </a:solidFill>
                <a:latin typeface="Arial"/>
                <a:ea typeface="Arial"/>
                <a:cs typeface="Arial"/>
              </a:defRPr>
            </a:pPr>
            <a:r>
              <a:rPr sz="1000" b="1" lang="pt-BR">
                <a:solidFill>
                  <a:srgbClr val="7A1F3D"/>
                </a:solidFill>
                <a:latin typeface="Arial"/>
                <a:ea typeface="Arial"/>
                <a:cs typeface="Arial"/>
              </a:rPr>
              <a:t>N/D · mistura risco emissor e adquirente*</a:t>
            </a:r>
          </a:p>
        </ns0:txBody>
      </ns0:sp>
      <ns0:sp>
        <ns0:nvSpPr>
          <ns0:cNvPr id="10" name="mvp-band-structural_mvp_adquirencia-1">
            <a:extLst>
              <a:ext uri="{FF2B5EF4-FFF2-40B4-BE49-F238E27FC236}">
                <ns2:creationId id="{5E0DECA1-0F25-4255-9544-655C1859D0AE}"/>
              </a:ext>
            </a:extLst>
          </ns0:cNvPr>
          <ns0:cNvSpPr>
            <a:spLocks noGrp="1"/>
          </ns0:cNvSpPr>
          <ns0:nvPr/>
        </ns0:nvSpPr>
        <ns0:spPr>
          <a:xfrm>
            <a:off x="571500" y="1885950"/>
            <a:ext cx="1778000" cy="22860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0" tIns="0" rIns="0" bIns="0" anchor="ctr">
            <a:normAutofit fontScale="100000"/>
          </a:bodyPr>
          <a:lstStyle/>
          <a:p>
            <a:pPr algn="ctr">
              <a:lnSpc>
                <a:spcPct val="100000"/>
              </a:lnSpc>
              <a:buNone/>
              <a:defRPr sz="1050" b="1" lang="pt-BR">
                <a:solidFill>
                  <a:srgbClr val="002B5C"/>
                </a:solidFill>
                <a:latin typeface="Arial"/>
                <a:ea typeface="Arial"/>
                <a:cs typeface="Arial"/>
              </a:defRPr>
            </a:pPr>
            <a:r>
              <a:rPr sz="1050" b="1" lang="pt-BR">
                <a:solidFill>
                  <a:srgbClr val="002B5C"/>
                </a:solidFill>
                <a:latin typeface="Arial"/>
                <a:ea typeface="Arial"/>
                <a:cs typeface="Arial"/>
              </a:rPr>
              <a:t>&lt; 10%</a:t>
            </a:r>
          </a:p>
        </ns0:txBody>
      </ns0:sp>
      <ns0:sp>
        <ns0:nvSpPr>
          <ns0:cNvPr id="11" name="">
            <a:extLst>
              <a:ext uri="{FF2B5EF4-FFF2-40B4-BE49-F238E27FC236}">
                <ns2:creationId id="{FBBC2C7F-8FA6-4B74-85E3-2DC6F19DFBA7}"/>
              </a:ext>
            </a:extLst>
          </ns0:cNvPr>
          <ns0:cNvSpPr>
            <a:spLocks noGrp="1"/>
          </ns0:cNvSpPr>
          <ns0:nvPr/>
        </ns0:nvSpPr>
        <ns0:spPr>
          <a:xfrm>
            <a:off x="571500" y="2114550"/>
            <a:ext cx="1778000" cy="19050"/>
          </a:xfrm>
          <a:prstGeom prst="rect">
            <a:avLst/>
          </a:prstGeom>
          <a:solidFill>
            <a:srgbClr val="002B5C"/>
          </a:solidFill>
          <a:ln w="0">
            <a:noFill/>
            <a:prstDash val="solid"/>
          </a:ln>
        </ns0:spPr>
      </ns0:sp>
      <ns0:sp>
        <ns0:nvSpPr>
          <ns0:cNvPr id="12" name="mvp-card-structural_mvp_adquirencia-48967719000122">
            <a:extLst>
              <a:ext uri="{FF2B5EF4-FFF2-40B4-BE49-F238E27FC236}">
                <ns2:creationId id="{85F59118-6099-4CF3-B344-B2F377EDA837}"/>
              </a:ext>
            </a:extLst>
          </ns0:cNvPr>
          <ns0:cNvSpPr>
            <a:spLocks noGrp="1"/>
          </ns0:cNvSpPr>
          <ns0:nvPr/>
        </ns0:nvSpPr>
        <ns0:spPr>
          <a:xfrm>
            <a:off x="571500" y="2181225"/>
            <a:ext cx="1778000" cy="438150"/>
          </a:xfrm>
          <a:prstGeom prst="rect">
            <a:avLst/>
          </a:prstGeom>
          <a:solidFill>
            <a:srgbClr val="FFF0D6"/>
          </a:solidFill>
          <a:ln w="9525">
            <a:solidFill>
              <a:srgbClr val="EC7000"/>
            </a:solidFill>
            <a:prstDash val="solid"/>
          </a:ln>
        </ns0:spPr>
        <ns0:txBody>
          <a:bodyPr wrap="none" lIns="47625" tIns="28575" rIns="47625" bIns="28575" anchor="ctr">
            <a:normAutofit fontScale="87719"/>
          </a:bodyPr>
          <a:lstStyle/>
          <a:p>
            <a:pPr algn="l">
              <a:lnSpc>
                <a:spcPct val="95000"/>
              </a:lnSpc>
              <a:buNone/>
              <a:defRPr sz="1000" b="1" lang="pt-BR">
                <a:solidFill>
                  <a:srgbClr val="7A1F3D"/>
                </a:solidFill>
                <a:latin typeface="Arial"/>
                <a:ea typeface="Arial"/>
                <a:cs typeface="Arial"/>
              </a:defRPr>
            </a:pPr>
            <a:r>
              <a:rPr sz="1000" b="1" lang="pt-BR">
                <a:solidFill>
                  <a:srgbClr val="7A1F3D"/>
                </a:solidFill>
                <a:latin typeface="Arial"/>
                <a:ea typeface="Arial"/>
                <a:cs typeface="Arial"/>
              </a:rPr>
              <a:t>SOULPAY*</a:t>
            </a:r>
          </a:p>
          <a:p>
            <a:pPr algn="l">
              <a:lnSpc>
                <a:spcPct val="95000"/>
              </a:lnSpc>
              <a:buNone/>
              <a:defRPr sz="1000" b="1" lang="pt-BR">
                <a:solidFill>
                  <a:srgbClr val="7A1F3D"/>
                </a:solidFill>
                <a:latin typeface="Arial"/>
                <a:ea typeface="Arial"/>
                <a:cs typeface="Arial"/>
              </a:defRPr>
            </a:pPr>
            <a:r>
              <a:rPr sz="1000" b="1" lang="pt-BR">
                <a:solidFill>
                  <a:srgbClr val="7A1F3D"/>
                </a:solidFill>
                <a:latin typeface="Arial"/>
                <a:ea typeface="Arial"/>
                <a:cs typeface="Arial"/>
              </a:rPr>
              <a:t>R$ 78,4 mi · Sub atual 6,0%</a:t>
            </a:r>
          </a:p>
          <a:p>
            <a:pPr algn="l">
              <a:lnSpc>
                <a:spcPct val="95000"/>
              </a:lnSpc>
              <a:buNone/>
              <a:defRPr sz="1000" b="1" lang="pt-BR">
                <a:solidFill>
                  <a:srgbClr val="7A1F3D"/>
                </a:solidFill>
                <a:latin typeface="Arial"/>
                <a:ea typeface="Arial"/>
                <a:cs typeface="Arial"/>
              </a:defRPr>
            </a:pPr>
            <a:r>
              <a:rPr sz="1000" b="1" lang="pt-BR">
                <a:solidFill>
                  <a:srgbClr val="7A1F3D"/>
                </a:solidFill>
                <a:latin typeface="Arial"/>
                <a:ea typeface="Arial"/>
                <a:cs typeface="Arial"/>
              </a:rPr>
              <a:t>Jr 5,0% · Estr. 5,0%</a:t>
            </a:r>
          </a:p>
        </ns0:txBody>
      </ns0:sp>
      <ns0:sp>
        <ns0:nvSpPr>
          <ns0:cNvPr id="13" name="mvp-card-structural_mvp_adquirencia-31739396000117">
            <a:extLst>
              <a:ext uri="{FF2B5EF4-FFF2-40B4-BE49-F238E27FC236}">
                <ns2:creationId id="{ED713087-520C-46B7-A098-D2EE898CE508}"/>
              </a:ext>
            </a:extLst>
          </ns0:cNvPr>
          <ns0:cNvSpPr>
            <a:spLocks noGrp="1"/>
          </ns0:cNvSpPr>
          <ns0:nvPr/>
        </ns0:nvSpPr>
        <ns0:spPr>
          <a:xfrm>
            <a:off x="571500" y="2638425"/>
            <a:ext cx="1778000" cy="438150"/>
          </a:xfrm>
          <a:prstGeom prst="rect">
            <a:avLst/>
          </a:prstGeom>
          <a:solidFill>
            <a:srgbClr val="F5F6F7"/>
          </a:solidFill>
          <a:ln w="9525">
            <a:solidFill>
              <a:srgbClr val="B8BDC2"/>
            </a:solidFill>
            <a:prstDash val="solid"/>
          </a:ln>
        </ns0:spPr>
        <ns0:txBody>
          <a:bodyPr wrap="none" lIns="47625" tIns="28575" rIns="47625" bIns="28575" anchor="ctr">
            <a:normAutofit fontScale="87719"/>
          </a:bodyPr>
          <a:lstStyle/>
          <a:p>
            <a:pPr algn="l">
              <a:lnSpc>
                <a:spcPct val="95000"/>
              </a:lnSpc>
              <a:buNone/>
              <a:defRPr sz="1000" b="1" lang="pt-BR">
                <a:solidFill>
                  <a:srgbClr val="5E646A"/>
                </a:solidFill>
                <a:latin typeface="Arial"/>
                <a:ea typeface="Arial"/>
                <a:cs typeface="Arial"/>
              </a:defRPr>
            </a:pPr>
            <a:r>
              <a:rPr sz="1000" b="1" lang="pt-BR">
                <a:solidFill>
                  <a:srgbClr val="5E646A"/>
                </a:solidFill>
                <a:latin typeface="Arial"/>
                <a:ea typeface="Arial"/>
                <a:cs typeface="Arial"/>
              </a:rPr>
              <a:t>LF III*</a:t>
            </a:r>
          </a:p>
          <a:p>
            <a:pPr algn="l">
              <a:lnSpc>
                <a:spcPct val="95000"/>
              </a:lnSpc>
              <a:buNone/>
              <a:defRPr sz="1000" b="1" lang="pt-BR">
                <a:solidFill>
                  <a:srgbClr val="5E646A"/>
                </a:solidFill>
                <a:latin typeface="Arial"/>
                <a:ea typeface="Arial"/>
                <a:cs typeface="Arial"/>
              </a:defRPr>
            </a:pPr>
            <a:r>
              <a:rPr sz="1000" b="1" lang="pt-BR">
                <a:solidFill>
                  <a:srgbClr val="5E646A"/>
                </a:solidFill>
                <a:latin typeface="Arial"/>
                <a:ea typeface="Arial"/>
                <a:cs typeface="Arial"/>
              </a:rPr>
              <a:t>R$ 1,4 bi · Sub atual 8,0%</a:t>
            </a:r>
          </a:p>
          <a:p>
            <a:pPr algn="l">
              <a:lnSpc>
                <a:spcPct val="95000"/>
              </a:lnSpc>
              <a:buNone/>
              <a:defRPr sz="1000" b="1" lang="pt-BR">
                <a:solidFill>
                  <a:srgbClr val="5E646A"/>
                </a:solidFill>
                <a:latin typeface="Arial"/>
                <a:ea typeface="Arial"/>
                <a:cs typeface="Arial"/>
              </a:defRPr>
            </a:pPr>
            <a:r>
              <a:rPr sz="1000" b="1" lang="pt-BR">
                <a:solidFill>
                  <a:srgbClr val="5E646A"/>
                </a:solidFill>
                <a:latin typeface="Arial"/>
                <a:ea typeface="Arial"/>
                <a:cs typeface="Arial"/>
              </a:rPr>
              <a:t>Jr 0,5% · Estr. N/D*</a:t>
            </a:r>
          </a:p>
        </ns0:txBody>
      </ns0:sp>
      <ns0:sp>
        <ns0:nvSpPr>
          <ns0:cNvPr id="14" name="mvp-card-structural_mvp_adquirencia-62626887000185">
            <a:extLst>
              <a:ext uri="{FF2B5EF4-FFF2-40B4-BE49-F238E27FC236}">
                <ns2:creationId id="{F3328981-688E-462A-A53C-7AEF9AF7A5BE}"/>
              </a:ext>
            </a:extLst>
          </ns0:cNvPr>
          <ns0:cNvSpPr>
            <a:spLocks noGrp="1"/>
          </ns0:cNvSpPr>
          <ns0:nvPr/>
        </ns0:nvSpPr>
        <ns0:spPr>
          <a:xfrm>
            <a:off x="571500" y="3095625"/>
            <a:ext cx="1778000" cy="438150"/>
          </a:xfrm>
          <a:prstGeom prst="rect">
            <a:avLst/>
          </a:prstGeom>
          <a:solidFill>
            <a:srgbClr val="F5F6F7"/>
          </a:solidFill>
          <a:ln w="9525">
            <a:solidFill>
              <a:srgbClr val="B8BDC2"/>
            </a:solidFill>
            <a:prstDash val="solid"/>
          </a:ln>
        </ns0:spPr>
        <ns0:txBody>
          <a:bodyPr wrap="none" lIns="47625" tIns="28575" rIns="47625" bIns="28575" anchor="ctr">
            <a:normAutofit fontScale="87719"/>
          </a:bodyPr>
          <a:lstStyle/>
          <a:p>
            <a:pPr algn="l">
              <a:lnSpc>
                <a:spcPct val="95000"/>
              </a:lnSpc>
              <a:buNone/>
              <a:defRPr sz="1000" b="1" lang="pt-BR">
                <a:solidFill>
                  <a:srgbClr val="5E646A"/>
                </a:solidFill>
                <a:latin typeface="Arial"/>
                <a:ea typeface="Arial"/>
                <a:cs typeface="Arial"/>
              </a:defRPr>
            </a:pPr>
            <a:r>
              <a:rPr sz="1000" b="1" lang="pt-BR">
                <a:solidFill>
                  <a:srgbClr val="5E646A"/>
                </a:solidFill>
                <a:latin typeface="Arial"/>
                <a:ea typeface="Arial"/>
                <a:cs typeface="Arial"/>
              </a:rPr>
              <a:t>SUMUP SMART IV FIDC*</a:t>
            </a:r>
          </a:p>
          <a:p>
            <a:pPr algn="l">
              <a:lnSpc>
                <a:spcPct val="95000"/>
              </a:lnSpc>
              <a:buNone/>
              <a:defRPr sz="1000" b="1" lang="pt-BR">
                <a:solidFill>
                  <a:srgbClr val="5E646A"/>
                </a:solidFill>
                <a:latin typeface="Arial"/>
                <a:ea typeface="Arial"/>
                <a:cs typeface="Arial"/>
              </a:defRPr>
            </a:pPr>
            <a:r>
              <a:rPr sz="1000" b="1" lang="pt-BR">
                <a:solidFill>
                  <a:srgbClr val="5E646A"/>
                </a:solidFill>
                <a:latin typeface="Arial"/>
                <a:ea typeface="Arial"/>
                <a:cs typeface="Arial"/>
              </a:rPr>
              <a:t>R$ 356,8 mi · Sub atual 4,0%</a:t>
            </a:r>
          </a:p>
          <a:p>
            <a:pPr algn="l">
              <a:lnSpc>
                <a:spcPct val="95000"/>
              </a:lnSpc>
              <a:buNone/>
              <a:defRPr sz="1000" b="1" lang="pt-BR">
                <a:solidFill>
                  <a:srgbClr val="5E646A"/>
                </a:solidFill>
                <a:latin typeface="Arial"/>
                <a:ea typeface="Arial"/>
                <a:cs typeface="Arial"/>
              </a:defRPr>
            </a:pPr>
            <a:r>
              <a:rPr sz="1000" b="1" lang="pt-BR">
                <a:solidFill>
                  <a:srgbClr val="5E646A"/>
                </a:solidFill>
                <a:latin typeface="Arial"/>
                <a:ea typeface="Arial"/>
                <a:cs typeface="Arial"/>
              </a:rPr>
              <a:t>Jr 2,9% · Estr. N/D*</a:t>
            </a:r>
          </a:p>
        </ns0:txBody>
      </ns0:sp>
      <ns0:sp>
        <ns0:nvSpPr>
          <ns0:cNvPr id="15" name="mvp-card-structural_mvp_adquirencia-42085830000109">
            <a:extLst>
              <a:ext uri="{FF2B5EF4-FFF2-40B4-BE49-F238E27FC236}">
                <ns2:creationId id="{9708C041-6710-46BF-AA32-5DE43EFE6701}"/>
              </a:ext>
            </a:extLst>
          </ns0:cNvPr>
          <ns0:cNvSpPr>
            <a:spLocks noGrp="1"/>
          </ns0:cNvSpPr>
          <ns0:nvPr/>
        </ns0:nvSpPr>
        <ns0:spPr>
          <a:xfrm>
            <a:off x="571500" y="3552825"/>
            <a:ext cx="1778000" cy="438150"/>
          </a:xfrm>
          <a:prstGeom prst="rect">
            <a:avLst/>
          </a:prstGeom>
          <a:solidFill>
            <a:srgbClr val="EAF0F7"/>
          </a:solidFill>
          <a:ln w="9525">
            <a:solidFill>
              <a:srgbClr val="AFC5DD"/>
            </a:solidFill>
            <a:prstDash val="solid"/>
          </a:ln>
        </ns0:spPr>
        <ns0:txBody>
          <a:bodyPr wrap="none" lIns="47625" tIns="28575" rIns="47625" bIns="28575" anchor="ctr">
            <a:normAutofit fontScale="87719"/>
          </a:bodyPr>
          <a:lstStyle/>
          <a:p>
            <a:pPr algn="l">
              <a:lnSpc>
                <a:spcPct val="95000"/>
              </a:lnSpc>
              <a:buNone/>
              <a:defRPr sz="1000" b="1" lang="pt-BR">
                <a:solidFill>
                  <a:srgbClr val="002B5C"/>
                </a:solidFill>
                <a:latin typeface="Arial"/>
                <a:ea typeface="Arial"/>
                <a:cs typeface="Arial"/>
              </a:defRPr>
            </a:pPr>
            <a:r>
              <a:rPr sz="1000" b="1" lang="pt-BR">
                <a:solidFill>
                  <a:srgbClr val="002B5C"/>
                </a:solidFill>
                <a:latin typeface="Arial"/>
                <a:ea typeface="Arial"/>
                <a:cs typeface="Arial"/>
              </a:rPr>
              <a:t>CLOUDWALK AKIRA I</a:t>
            </a:r>
          </a:p>
          <a:p>
            <a:pPr algn="l">
              <a:lnSpc>
                <a:spcPct val="95000"/>
              </a:lnSpc>
              <a:buNone/>
              <a:defRPr sz="1000" b="1" lang="pt-BR">
                <a:solidFill>
                  <a:srgbClr val="002B5C"/>
                </a:solidFill>
                <a:latin typeface="Arial"/>
                <a:ea typeface="Arial"/>
                <a:cs typeface="Arial"/>
              </a:defRPr>
            </a:pPr>
            <a:r>
              <a:rPr sz="1000" b="1" lang="pt-BR">
                <a:solidFill>
                  <a:srgbClr val="002B5C"/>
                </a:solidFill>
                <a:latin typeface="Arial"/>
                <a:ea typeface="Arial"/>
                <a:cs typeface="Arial"/>
              </a:rPr>
              <a:t>R$ 308,2 mi · Sub atual 5,3%</a:t>
            </a:r>
          </a:p>
          <a:p>
            <a:pPr algn="l">
              <a:lnSpc>
                <a:spcPct val="95000"/>
              </a:lnSpc>
              <a:buNone/>
              <a:defRPr sz="1000" b="1" lang="pt-BR">
                <a:solidFill>
                  <a:srgbClr val="002B5C"/>
                </a:solidFill>
                <a:latin typeface="Arial"/>
                <a:ea typeface="Arial"/>
                <a:cs typeface="Arial"/>
              </a:defRPr>
            </a:pPr>
            <a:r>
              <a:rPr sz="1000" b="1" lang="pt-BR">
                <a:solidFill>
                  <a:srgbClr val="002B5C"/>
                </a:solidFill>
                <a:latin typeface="Arial"/>
                <a:ea typeface="Arial"/>
                <a:cs typeface="Arial"/>
              </a:rPr>
              <a:t>Jr 3,0% · Estr. 3,0%</a:t>
            </a:r>
          </a:p>
        </ns0:txBody>
      </ns0:sp>
      <ns0:sp>
        <ns0:nvSpPr>
          <ns0:cNvPr id="16" name="mvp-band-structural_mvp_adquirencia-2">
            <a:extLst>
              <a:ext uri="{FF2B5EF4-FFF2-40B4-BE49-F238E27FC236}">
                <ns2:creationId id="{5A3F756B-4BBF-48F5-912D-B4404AB5A7EC}"/>
              </a:ext>
            </a:extLst>
          </ns0:cNvPr>
          <ns0:cNvSpPr>
            <a:spLocks noGrp="1"/>
          </ns0:cNvSpPr>
          <ns0:nvPr/>
        </ns0:nvSpPr>
        <ns0:spPr>
          <a:xfrm>
            <a:off x="2425700" y="1885950"/>
            <a:ext cx="1778000" cy="22860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0" tIns="0" rIns="0" bIns="0" anchor="ctr">
            <a:normAutofit fontScale="100000"/>
          </a:bodyPr>
          <a:lstStyle/>
          <a:p>
            <a:pPr algn="ctr">
              <a:lnSpc>
                <a:spcPct val="100000"/>
              </a:lnSpc>
              <a:buNone/>
              <a:defRPr sz="1050" b="1" lang="pt-BR">
                <a:solidFill>
                  <a:srgbClr val="002B5C"/>
                </a:solidFill>
                <a:latin typeface="Arial"/>
                <a:ea typeface="Arial"/>
                <a:cs typeface="Arial"/>
              </a:defRPr>
            </a:pPr>
            <a:r>
              <a:rPr sz="1050" b="1" lang="pt-BR">
                <a:solidFill>
                  <a:srgbClr val="002B5C"/>
                </a:solidFill>
                <a:latin typeface="Arial"/>
                <a:ea typeface="Arial"/>
                <a:cs typeface="Arial"/>
              </a:rPr>
              <a:t>10%–15%</a:t>
            </a:r>
          </a:p>
        </ns0:txBody>
      </ns0:sp>
      <ns0:sp>
        <ns0:nvSpPr>
          <ns0:cNvPr id="17" name="">
            <a:extLst>
              <a:ext uri="{FF2B5EF4-FFF2-40B4-BE49-F238E27FC236}">
                <ns2:creationId id="{F6275B55-4B0D-4873-9421-9B81CCBFAAC4}"/>
              </a:ext>
            </a:extLst>
          </ns0:cNvPr>
          <ns0:cNvSpPr>
            <a:spLocks noGrp="1"/>
          </ns0:cNvSpPr>
          <ns0:nvPr/>
        </ns0:nvSpPr>
        <ns0:spPr>
          <a:xfrm>
            <a:off x="2425700" y="2114550"/>
            <a:ext cx="1778000" cy="19050"/>
          </a:xfrm>
          <a:prstGeom prst="rect">
            <a:avLst/>
          </a:prstGeom>
          <a:solidFill>
            <a:srgbClr val="002B5C"/>
          </a:solidFill>
          <a:ln w="0">
            <a:noFill/>
            <a:prstDash val="solid"/>
          </a:ln>
        </ns0:spPr>
      </ns0:sp>
      <ns0:sp>
        <ns0:nvSpPr>
          <ns0:cNvPr id="18" name="mvp-card-structural_mvp_adquirencia-54083697000130">
            <a:extLst>
              <a:ext uri="{FF2B5EF4-FFF2-40B4-BE49-F238E27FC236}">
                <ns2:creationId id="{03C63A2F-7626-43EC-8383-C5BFB015B315}"/>
              </a:ext>
            </a:extLst>
          </ns0:cNvPr>
          <ns0:cNvSpPr>
            <a:spLocks noGrp="1"/>
          </ns0:cNvSpPr>
          <ns0:nvPr/>
        </ns0:nvSpPr>
        <ns0:spPr>
          <a:xfrm>
            <a:off x="2425700" y="2181225"/>
            <a:ext cx="1778000" cy="438150"/>
          </a:xfrm>
          <a:prstGeom prst="rect">
            <a:avLst/>
          </a:prstGeom>
          <a:solidFill>
            <a:srgbClr val="FFF0D6"/>
          </a:solidFill>
          <a:ln w="9525">
            <a:solidFill>
              <a:srgbClr val="EC7000"/>
            </a:solidFill>
            <a:prstDash val="solid"/>
          </a:ln>
        </ns0:spPr>
        <ns0:txBody>
          <a:bodyPr wrap="none" lIns="47625" tIns="28575" rIns="47625" bIns="28575" anchor="ctr">
            <a:normAutofit fontScale="87719"/>
          </a:bodyPr>
          <a:lstStyle/>
          <a:p>
            <a:pPr algn="l">
              <a:lnSpc>
                <a:spcPct val="95000"/>
              </a:lnSpc>
              <a:buNone/>
              <a:defRPr sz="1000" b="1" lang="pt-BR">
                <a:solidFill>
                  <a:srgbClr val="7A1F3D"/>
                </a:solidFill>
                <a:latin typeface="Arial"/>
                <a:ea typeface="Arial"/>
                <a:cs typeface="Arial"/>
              </a:defRPr>
            </a:pPr>
            <a:r>
              <a:rPr sz="1000" b="1" lang="pt-BR">
                <a:solidFill>
                  <a:srgbClr val="7A1F3D"/>
                </a:solidFill>
                <a:latin typeface="Arial"/>
                <a:ea typeface="Arial"/>
                <a:cs typeface="Arial"/>
              </a:rPr>
              <a:t>PERNAMBUCANAS FIDC*</a:t>
            </a:r>
          </a:p>
          <a:p>
            <a:pPr algn="l">
              <a:lnSpc>
                <a:spcPct val="95000"/>
              </a:lnSpc>
              <a:buNone/>
              <a:defRPr sz="1000" b="1" lang="pt-BR">
                <a:solidFill>
                  <a:srgbClr val="7A1F3D"/>
                </a:solidFill>
                <a:latin typeface="Arial"/>
                <a:ea typeface="Arial"/>
                <a:cs typeface="Arial"/>
              </a:defRPr>
            </a:pPr>
            <a:r>
              <a:rPr sz="1000" b="1" lang="pt-BR">
                <a:solidFill>
                  <a:srgbClr val="7A1F3D"/>
                </a:solidFill>
                <a:latin typeface="Arial"/>
                <a:ea typeface="Arial"/>
                <a:cs typeface="Arial"/>
              </a:rPr>
              <a:t>R$ 226,6 mi · Sub atual 10,9%</a:t>
            </a:r>
          </a:p>
          <a:p>
            <a:pPr algn="l">
              <a:lnSpc>
                <a:spcPct val="95000"/>
              </a:lnSpc>
              <a:buNone/>
              <a:defRPr sz="1000" b="1" lang="pt-BR">
                <a:solidFill>
                  <a:srgbClr val="7A1F3D"/>
                </a:solidFill>
                <a:latin typeface="Arial"/>
                <a:ea typeface="Arial"/>
                <a:cs typeface="Arial"/>
              </a:defRPr>
            </a:pPr>
            <a:r>
              <a:rPr sz="1000" b="1" lang="pt-BR">
                <a:solidFill>
                  <a:srgbClr val="7A1F3D"/>
                </a:solidFill>
                <a:latin typeface="Arial"/>
                <a:ea typeface="Arial"/>
                <a:cs typeface="Arial"/>
              </a:rPr>
              <a:t>Jr 10,0% · Estr. 10,0%</a:t>
            </a:r>
          </a:p>
        </ns0:txBody>
      </ns0:sp>
      <ns0:sp>
        <ns0:nvSpPr>
          <ns0:cNvPr id="19" name="mvp-card-structural_mvp_adquirencia-45598747000121">
            <a:extLst>
              <a:ext uri="{FF2B5EF4-FFF2-40B4-BE49-F238E27FC236}">
                <ns2:creationId id="{3318EAA4-BDD9-4F7D-8EA6-783296CDE46E}"/>
              </a:ext>
            </a:extLst>
          </ns0:cNvPr>
          <ns0:cNvSpPr>
            <a:spLocks noGrp="1"/>
          </ns0:cNvSpPr>
          <ns0:nvPr/>
        </ns0:nvSpPr>
        <ns0:spPr>
          <a:xfrm>
            <a:off x="2425700" y="2638425"/>
            <a:ext cx="1778000" cy="438150"/>
          </a:xfrm>
          <a:prstGeom prst="rect">
            <a:avLst/>
          </a:prstGeom>
          <a:solidFill>
            <a:srgbClr val="EAF0F7"/>
          </a:solidFill>
          <a:ln w="9525">
            <a:solidFill>
              <a:srgbClr val="AFC5DD"/>
            </a:solidFill>
            <a:prstDash val="solid"/>
          </a:ln>
        </ns0:spPr>
        <ns0:txBody>
          <a:bodyPr wrap="none" lIns="47625" tIns="28575" rIns="47625" bIns="28575" anchor="ctr">
            <a:normAutofit fontScale="87719"/>
          </a:bodyPr>
          <a:lstStyle/>
          <a:p>
            <a:pPr algn="l">
              <a:lnSpc>
                <a:spcPct val="95000"/>
              </a:lnSpc>
              <a:buNone/>
              <a:defRPr sz="1000" b="1" lang="pt-BR">
                <a:solidFill>
                  <a:srgbClr val="002B5C"/>
                </a:solidFill>
                <a:latin typeface="Arial"/>
                <a:ea typeface="Arial"/>
                <a:cs typeface="Arial"/>
              </a:defRPr>
            </a:pPr>
            <a:r>
              <a:rPr sz="1000" b="1" lang="pt-BR">
                <a:solidFill>
                  <a:srgbClr val="002B5C"/>
                </a:solidFill>
                <a:latin typeface="Arial"/>
                <a:ea typeface="Arial"/>
                <a:cs typeface="Arial"/>
              </a:rPr>
              <a:t>SUMUP SOLO SEGMENTO*</a:t>
            </a:r>
          </a:p>
          <a:p>
            <a:pPr algn="l">
              <a:lnSpc>
                <a:spcPct val="95000"/>
              </a:lnSpc>
              <a:buNone/>
              <a:defRPr sz="1000" b="1" lang="pt-BR">
                <a:solidFill>
                  <a:srgbClr val="002B5C"/>
                </a:solidFill>
                <a:latin typeface="Arial"/>
                <a:ea typeface="Arial"/>
                <a:cs typeface="Arial"/>
              </a:defRPr>
            </a:pPr>
            <a:r>
              <a:rPr sz="1000" b="1" lang="pt-BR">
                <a:solidFill>
                  <a:srgbClr val="002B5C"/>
                </a:solidFill>
                <a:latin typeface="Arial"/>
                <a:ea typeface="Arial"/>
                <a:cs typeface="Arial"/>
              </a:rPr>
              <a:t>R$ 378,1 mi · Sub atual 10,2%</a:t>
            </a:r>
          </a:p>
          <a:p>
            <a:pPr algn="l">
              <a:lnSpc>
                <a:spcPct val="95000"/>
              </a:lnSpc>
              <a:buNone/>
              <a:defRPr sz="1000" b="1" lang="pt-BR">
                <a:solidFill>
                  <a:srgbClr val="002B5C"/>
                </a:solidFill>
                <a:latin typeface="Arial"/>
                <a:ea typeface="Arial"/>
                <a:cs typeface="Arial"/>
              </a:defRPr>
            </a:pPr>
            <a:r>
              <a:rPr sz="1000" b="1" lang="pt-BR">
                <a:solidFill>
                  <a:srgbClr val="002B5C"/>
                </a:solidFill>
                <a:latin typeface="Arial"/>
                <a:ea typeface="Arial"/>
                <a:cs typeface="Arial"/>
              </a:rPr>
              <a:t>Jr 4,8%* · Estr. 4,8%*</a:t>
            </a:r>
          </a:p>
        </ns0:txBody>
      </ns0:sp>
      <ns0:sp>
        <ns0:nvSpPr>
          <ns0:cNvPr id="20" name="mvp-card-structural_mvp_adquirencia-50857998000113">
            <a:extLst>
              <a:ext uri="{FF2B5EF4-FFF2-40B4-BE49-F238E27FC236}">
                <ns2:creationId id="{C652AA13-A059-48C7-814F-3E4CC29F9DFA}"/>
              </a:ext>
            </a:extLst>
          </ns0:cNvPr>
          <ns0:cNvSpPr>
            <a:spLocks noGrp="1"/>
          </ns0:cNvSpPr>
          <ns0:nvPr/>
        </ns0:nvSpPr>
        <ns0:spPr>
          <a:xfrm>
            <a:off x="2425700" y="3095625"/>
            <a:ext cx="1778000" cy="438150"/>
          </a:xfrm>
          <a:prstGeom prst="rect">
            <a:avLst/>
          </a:prstGeom>
          <a:solidFill>
            <a:srgbClr val="F5F6F7"/>
          </a:solidFill>
          <a:ln w="9525">
            <a:solidFill>
              <a:srgbClr val="B8BDC2"/>
            </a:solidFill>
            <a:prstDash val="solid"/>
          </a:ln>
        </ns0:spPr>
        <ns0:txBody>
          <a:bodyPr wrap="none" lIns="47625" tIns="28575" rIns="47625" bIns="28575" anchor="ctr">
            <a:normAutofit fontScale="87719"/>
          </a:bodyPr>
          <a:lstStyle/>
          <a:p>
            <a:pPr algn="l">
              <a:lnSpc>
                <a:spcPct val="95000"/>
              </a:lnSpc>
              <a:buNone/>
              <a:defRPr sz="1000" b="1" lang="pt-BR">
                <a:solidFill>
                  <a:srgbClr val="5E646A"/>
                </a:solidFill>
                <a:latin typeface="Arial"/>
                <a:ea typeface="Arial"/>
                <a:cs typeface="Arial"/>
              </a:defRPr>
            </a:pPr>
            <a:r>
              <a:rPr sz="1000" b="1" lang="pt-BR">
                <a:solidFill>
                  <a:srgbClr val="5E646A"/>
                </a:solidFill>
                <a:latin typeface="Arial"/>
                <a:ea typeface="Arial"/>
                <a:cs typeface="Arial"/>
              </a:rPr>
              <a:t>LEO MADEIRAS FIDC*</a:t>
            </a:r>
          </a:p>
          <a:p>
            <a:pPr algn="l">
              <a:lnSpc>
                <a:spcPct val="95000"/>
              </a:lnSpc>
              <a:buNone/>
              <a:defRPr sz="1000" b="1" lang="pt-BR">
                <a:solidFill>
                  <a:srgbClr val="5E646A"/>
                </a:solidFill>
                <a:latin typeface="Arial"/>
                <a:ea typeface="Arial"/>
                <a:cs typeface="Arial"/>
              </a:defRPr>
            </a:pPr>
            <a:r>
              <a:rPr sz="1000" b="1" lang="pt-BR">
                <a:solidFill>
                  <a:srgbClr val="5E646A"/>
                </a:solidFill>
                <a:latin typeface="Arial"/>
                <a:ea typeface="Arial"/>
                <a:cs typeface="Arial"/>
              </a:rPr>
              <a:t>R$ 177,0 mi · Sub atual 12,6%</a:t>
            </a:r>
          </a:p>
          <a:p>
            <a:pPr algn="l">
              <a:lnSpc>
                <a:spcPct val="95000"/>
              </a:lnSpc>
              <a:buNone/>
              <a:defRPr sz="1000" b="1" lang="pt-BR">
                <a:solidFill>
                  <a:srgbClr val="5E646A"/>
                </a:solidFill>
                <a:latin typeface="Arial"/>
                <a:ea typeface="Arial"/>
                <a:cs typeface="Arial"/>
              </a:defRPr>
            </a:pPr>
            <a:r>
              <a:rPr sz="1000" b="1" lang="pt-BR">
                <a:solidFill>
                  <a:srgbClr val="5E646A"/>
                </a:solidFill>
                <a:latin typeface="Arial"/>
                <a:ea typeface="Arial"/>
                <a:cs typeface="Arial"/>
              </a:rPr>
              <a:t>Jr 5,0% · Estr. N/D*</a:t>
            </a:r>
          </a:p>
        </ns0:txBody>
      </ns0:sp>
      <ns0:sp>
        <ns0:nvSpPr>
          <ns0:cNvPr id="21" name="mvp-band-structural_mvp_adquirencia-3">
            <a:extLst>
              <a:ext uri="{FF2B5EF4-FFF2-40B4-BE49-F238E27FC236}">
                <ns2:creationId id="{FBB4C702-0B3A-4784-ACD2-517D75F915D7}"/>
              </a:ext>
            </a:extLst>
          </ns0:cNvPr>
          <ns0:cNvSpPr>
            <a:spLocks noGrp="1"/>
          </ns0:cNvSpPr>
          <ns0:nvPr/>
        </ns0:nvSpPr>
        <ns0:spPr>
          <a:xfrm>
            <a:off x="4279900" y="1885950"/>
            <a:ext cx="1778000" cy="22860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0" tIns="0" rIns="0" bIns="0" anchor="ctr">
            <a:normAutofit fontScale="100000"/>
          </a:bodyPr>
          <a:lstStyle/>
          <a:p>
            <a:pPr algn="ctr">
              <a:lnSpc>
                <a:spcPct val="100000"/>
              </a:lnSpc>
              <a:buNone/>
              <a:defRPr sz="1050" b="1" lang="pt-BR">
                <a:solidFill>
                  <a:srgbClr val="002B5C"/>
                </a:solidFill>
                <a:latin typeface="Arial"/>
                <a:ea typeface="Arial"/>
                <a:cs typeface="Arial"/>
              </a:defRPr>
            </a:pPr>
            <a:r>
              <a:rPr sz="1050" b="1" lang="pt-BR">
                <a:solidFill>
                  <a:srgbClr val="002B5C"/>
                </a:solidFill>
                <a:latin typeface="Arial"/>
                <a:ea typeface="Arial"/>
                <a:cs typeface="Arial"/>
              </a:rPr>
              <a:t>15%–20%</a:t>
            </a:r>
          </a:p>
        </ns0:txBody>
      </ns0:sp>
      <ns0:sp>
        <ns0:nvSpPr>
          <ns0:cNvPr id="22" name="">
            <a:extLst>
              <a:ext uri="{FF2B5EF4-FFF2-40B4-BE49-F238E27FC236}">
                <ns2:creationId id="{048C5BD7-3B0F-4B63-8D4D-4F39E4E77882}"/>
              </a:ext>
            </a:extLst>
          </ns0:cNvPr>
          <ns0:cNvSpPr>
            <a:spLocks noGrp="1"/>
          </ns0:cNvSpPr>
          <ns0:nvPr/>
        </ns0:nvSpPr>
        <ns0:spPr>
          <a:xfrm>
            <a:off x="4279900" y="2114550"/>
            <a:ext cx="1778000" cy="19050"/>
          </a:xfrm>
          <a:prstGeom prst="rect">
            <a:avLst/>
          </a:prstGeom>
          <a:solidFill>
            <a:srgbClr val="002B5C"/>
          </a:solidFill>
          <a:ln w="0">
            <a:noFill/>
            <a:prstDash val="solid"/>
          </a:ln>
        </ns0:spPr>
      </ns0:sp>
      <ns0:sp>
        <ns0:nvSpPr>
          <ns0:cNvPr id="23" name="mvp-band-structural_mvp_adquirencia-4">
            <a:extLst>
              <a:ext uri="{FF2B5EF4-FFF2-40B4-BE49-F238E27FC236}">
                <ns2:creationId id="{62857E4F-AB8F-4DF8-B453-0F565571285A}"/>
              </a:ext>
            </a:extLst>
          </ns0:cNvPr>
          <ns0:cNvSpPr>
            <a:spLocks noGrp="1"/>
          </ns0:cNvSpPr>
          <ns0:nvPr/>
        </ns0:nvSpPr>
        <ns0:spPr>
          <a:xfrm>
            <a:off x="6134100" y="1885950"/>
            <a:ext cx="1778000" cy="22860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0" tIns="0" rIns="0" bIns="0" anchor="ctr">
            <a:normAutofit fontScale="100000"/>
          </a:bodyPr>
          <a:lstStyle/>
          <a:p>
            <a:pPr algn="ctr">
              <a:lnSpc>
                <a:spcPct val="100000"/>
              </a:lnSpc>
              <a:buNone/>
              <a:defRPr sz="1050" b="1" lang="pt-BR">
                <a:solidFill>
                  <a:srgbClr val="002B5C"/>
                </a:solidFill>
                <a:latin typeface="Arial"/>
                <a:ea typeface="Arial"/>
                <a:cs typeface="Arial"/>
              </a:defRPr>
            </a:pPr>
            <a:r>
              <a:rPr sz="1050" b="1" lang="pt-BR">
                <a:solidFill>
                  <a:srgbClr val="002B5C"/>
                </a:solidFill>
                <a:latin typeface="Arial"/>
                <a:ea typeface="Arial"/>
                <a:cs typeface="Arial"/>
              </a:rPr>
              <a:t>20%–35%</a:t>
            </a:r>
          </a:p>
        </ns0:txBody>
      </ns0:sp>
      <ns0:sp>
        <ns0:nvSpPr>
          <ns0:cNvPr id="24" name="">
            <a:extLst>
              <a:ext uri="{FF2B5EF4-FFF2-40B4-BE49-F238E27FC236}">
                <ns2:creationId id="{A635F9D9-5113-4199-A56A-45BFDA31032A}"/>
              </a:ext>
            </a:extLst>
          </ns0:cNvPr>
          <ns0:cNvSpPr>
            <a:spLocks noGrp="1"/>
          </ns0:cNvSpPr>
          <ns0:nvPr/>
        </ns0:nvSpPr>
        <ns0:spPr>
          <a:xfrm>
            <a:off x="6134100" y="2114550"/>
            <a:ext cx="1778000" cy="19050"/>
          </a:xfrm>
          <a:prstGeom prst="rect">
            <a:avLst/>
          </a:prstGeom>
          <a:solidFill>
            <a:srgbClr val="002B5C"/>
          </a:solidFill>
          <a:ln w="0">
            <a:noFill/>
            <a:prstDash val="solid"/>
          </a:ln>
        </ns0:spPr>
      </ns0:sp>
      <ns0:sp>
        <ns0:nvSpPr>
          <ns0:cNvPr id="25" name="mvp-card-structural_mvp_adquirencia-52271464000136">
            <a:extLst>
              <a:ext uri="{FF2B5EF4-FFF2-40B4-BE49-F238E27FC236}">
                <ns2:creationId id="{51AC128A-F0A4-4653-9849-BC4B3258525D}"/>
              </a:ext>
            </a:extLst>
          </ns0:cNvPr>
          <ns0:cNvSpPr>
            <a:spLocks noGrp="1"/>
          </ns0:cNvSpPr>
          <ns0:nvPr/>
        </ns0:nvSpPr>
        <ns0:spPr>
          <a:xfrm>
            <a:off x="6134100" y="2181225"/>
            <a:ext cx="1778000" cy="438150"/>
          </a:xfrm>
          <a:prstGeom prst="rect">
            <a:avLst/>
          </a:prstGeom>
          <a:solidFill>
            <a:srgbClr val="F5F6F7"/>
          </a:solidFill>
          <a:ln w="9525">
            <a:solidFill>
              <a:srgbClr val="B8BDC2"/>
            </a:solidFill>
            <a:prstDash val="solid"/>
          </a:ln>
        </ns0:spPr>
        <ns0:txBody>
          <a:bodyPr wrap="none" lIns="47625" tIns="28575" rIns="47625" bIns="28575" anchor="ctr">
            <a:normAutofit fontScale="87719"/>
          </a:bodyPr>
          <a:lstStyle/>
          <a:p>
            <a:pPr algn="l">
              <a:lnSpc>
                <a:spcPct val="95000"/>
              </a:lnSpc>
              <a:buNone/>
              <a:defRPr sz="1000" b="1" lang="pt-BR">
                <a:solidFill>
                  <a:srgbClr val="5E646A"/>
                </a:solidFill>
                <a:latin typeface="Arial"/>
                <a:ea typeface="Arial"/>
                <a:cs typeface="Arial"/>
              </a:defRPr>
            </a:pPr>
            <a:r>
              <a:rPr sz="1000" b="1" lang="pt-BR">
                <a:solidFill>
                  <a:srgbClr val="5E646A"/>
                </a:solidFill>
                <a:latin typeface="Arial"/>
                <a:ea typeface="Arial"/>
                <a:cs typeface="Arial"/>
              </a:rPr>
              <a:t>KIWIFY SEGMENTO*</a:t>
            </a:r>
          </a:p>
          <a:p>
            <a:pPr algn="l">
              <a:lnSpc>
                <a:spcPct val="95000"/>
              </a:lnSpc>
              <a:buNone/>
              <a:defRPr sz="1000" b="1" lang="pt-BR">
                <a:solidFill>
                  <a:srgbClr val="5E646A"/>
                </a:solidFill>
                <a:latin typeface="Arial"/>
                <a:ea typeface="Arial"/>
                <a:cs typeface="Arial"/>
              </a:defRPr>
            </a:pPr>
            <a:r>
              <a:rPr sz="1000" b="1" lang="pt-BR">
                <a:solidFill>
                  <a:srgbClr val="5E646A"/>
                </a:solidFill>
                <a:latin typeface="Arial"/>
                <a:ea typeface="Arial"/>
                <a:cs typeface="Arial"/>
              </a:rPr>
              <a:t>R$ 347,3 mi · Sub atual 20,2%</a:t>
            </a:r>
          </a:p>
          <a:p>
            <a:pPr algn="l">
              <a:lnSpc>
                <a:spcPct val="95000"/>
              </a:lnSpc>
              <a:buNone/>
              <a:defRPr sz="1000" b="1" lang="pt-BR">
                <a:solidFill>
                  <a:srgbClr val="5E646A"/>
                </a:solidFill>
                <a:latin typeface="Arial"/>
                <a:ea typeface="Arial"/>
                <a:cs typeface="Arial"/>
              </a:defRPr>
            </a:pPr>
            <a:r>
              <a:rPr sz="1000" b="1" lang="pt-BR">
                <a:solidFill>
                  <a:srgbClr val="5E646A"/>
                </a:solidFill>
                <a:latin typeface="Arial"/>
                <a:ea typeface="Arial"/>
                <a:cs typeface="Arial"/>
              </a:rPr>
              <a:t>Jr 6,0% · Estr. N/D*</a:t>
            </a:r>
          </a:p>
        </ns0:txBody>
      </ns0:sp>
      <ns0:sp>
        <ns0:nvSpPr>
          <ns0:cNvPr id="26" name="mvp-band-structural_mvp_adquirencia-5">
            <a:extLst>
              <a:ext uri="{FF2B5EF4-FFF2-40B4-BE49-F238E27FC236}">
                <ns2:creationId id="{C145833F-1B90-4A51-8729-21FAFFB739D2}"/>
              </a:ext>
            </a:extLst>
          </ns0:cNvPr>
          <ns0:cNvSpPr>
            <a:spLocks noGrp="1"/>
          </ns0:cNvSpPr>
          <ns0:nvPr/>
        </ns0:nvSpPr>
        <ns0:spPr>
          <a:xfrm>
            <a:off x="7988300" y="1885950"/>
            <a:ext cx="1778000" cy="22860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0" tIns="0" rIns="0" bIns="0" anchor="ctr">
            <a:normAutofit fontScale="100000"/>
          </a:bodyPr>
          <a:lstStyle/>
          <a:p>
            <a:pPr algn="ctr">
              <a:lnSpc>
                <a:spcPct val="100000"/>
              </a:lnSpc>
              <a:buNone/>
              <a:defRPr sz="1050" b="1" lang="pt-BR">
                <a:solidFill>
                  <a:srgbClr val="002B5C"/>
                </a:solidFill>
                <a:latin typeface="Arial"/>
                <a:ea typeface="Arial"/>
                <a:cs typeface="Arial"/>
              </a:defRPr>
            </a:pPr>
            <a:r>
              <a:rPr sz="1050" b="1" lang="pt-BR">
                <a:solidFill>
                  <a:srgbClr val="002B5C"/>
                </a:solidFill>
                <a:latin typeface="Arial"/>
                <a:ea typeface="Arial"/>
                <a:cs typeface="Arial"/>
              </a:rPr>
              <a:t>35%–60%</a:t>
            </a:r>
          </a:p>
        </ns0:txBody>
      </ns0:sp>
      <ns0:sp>
        <ns0:nvSpPr>
          <ns0:cNvPr id="27" name="">
            <a:extLst>
              <a:ext uri="{FF2B5EF4-FFF2-40B4-BE49-F238E27FC236}">
                <ns2:creationId id="{11DF96E3-0289-4682-A812-CF1126A2E52D}"/>
              </a:ext>
            </a:extLst>
          </ns0:cNvPr>
          <ns0:cNvSpPr>
            <a:spLocks noGrp="1"/>
          </ns0:cNvSpPr>
          <ns0:nvPr/>
        </ns0:nvSpPr>
        <ns0:spPr>
          <a:xfrm>
            <a:off x="7988300" y="2114550"/>
            <a:ext cx="1778000" cy="19050"/>
          </a:xfrm>
          <a:prstGeom prst="rect">
            <a:avLst/>
          </a:prstGeom>
          <a:solidFill>
            <a:srgbClr val="002B5C"/>
          </a:solidFill>
          <a:ln w="0">
            <a:noFill/>
            <a:prstDash val="solid"/>
          </a:ln>
        </ns0:spPr>
      </ns0:sp>
      <ns0:sp>
        <ns0:nvSpPr>
          <ns0:cNvPr id="28" name="mvp-card-structural_mvp_adquirencia-50473039000102">
            <a:extLst>
              <a:ext uri="{FF2B5EF4-FFF2-40B4-BE49-F238E27FC236}">
                <ns2:creationId id="{5299CF72-74E7-47E7-BACD-520A4920503D}"/>
              </a:ext>
            </a:extLst>
          </ns0:cNvPr>
          <ns0:cNvSpPr>
            <a:spLocks noGrp="1"/>
          </ns0:cNvSpPr>
          <ns0:nvPr/>
        </ns0:nvSpPr>
        <ns0:spPr>
          <a:xfrm>
            <a:off x="7988300" y="2181225"/>
            <a:ext cx="1778000" cy="438150"/>
          </a:xfrm>
          <a:prstGeom prst="rect">
            <a:avLst/>
          </a:prstGeom>
          <a:solidFill>
            <a:srgbClr val="F5F6F7"/>
          </a:solidFill>
          <a:ln w="9525">
            <a:solidFill>
              <a:srgbClr val="B8BDC2"/>
            </a:solidFill>
            <a:prstDash val="solid"/>
          </a:ln>
        </ns0:spPr>
        <ns0:txBody>
          <a:bodyPr wrap="none" lIns="47625" tIns="28575" rIns="47625" bIns="28575" anchor="ctr">
            <a:normAutofit fontScale="87719"/>
          </a:bodyPr>
          <a:lstStyle/>
          <a:p>
            <a:pPr algn="l">
              <a:lnSpc>
                <a:spcPct val="95000"/>
              </a:lnSpc>
              <a:buNone/>
              <a:defRPr sz="1000" b="1" lang="pt-BR">
                <a:solidFill>
                  <a:srgbClr val="5E646A"/>
                </a:solidFill>
                <a:latin typeface="Arial"/>
                <a:ea typeface="Arial"/>
                <a:cs typeface="Arial"/>
              </a:defRPr>
            </a:pPr>
            <a:r>
              <a:rPr sz="1000" b="1" lang="pt-BR">
                <a:solidFill>
                  <a:srgbClr val="5E646A"/>
                </a:solidFill>
                <a:latin typeface="Arial"/>
                <a:ea typeface="Arial"/>
                <a:cs typeface="Arial"/>
              </a:rPr>
              <a:t>SELLER FIDC SEGMENTO</a:t>
            </a:r>
          </a:p>
          <a:p>
            <a:pPr algn="l">
              <a:lnSpc>
                <a:spcPct val="95000"/>
              </a:lnSpc>
              <a:buNone/>
              <a:defRPr sz="1000" b="1" lang="pt-BR">
                <a:solidFill>
                  <a:srgbClr val="5E646A"/>
                </a:solidFill>
                <a:latin typeface="Arial"/>
                <a:ea typeface="Arial"/>
                <a:cs typeface="Arial"/>
              </a:defRPr>
            </a:pPr>
            <a:r>
              <a:rPr sz="1000" b="1" lang="pt-BR">
                <a:solidFill>
                  <a:srgbClr val="5E646A"/>
                </a:solidFill>
                <a:latin typeface="Arial"/>
                <a:ea typeface="Arial"/>
                <a:cs typeface="Arial"/>
              </a:rPr>
              <a:t>R$ 3,7 bi · Sub atual 51,3%</a:t>
            </a:r>
          </a:p>
          <a:p>
            <a:pPr algn="l">
              <a:lnSpc>
                <a:spcPct val="95000"/>
              </a:lnSpc>
              <a:buNone/>
              <a:defRPr sz="1000" b="1" lang="pt-BR">
                <a:solidFill>
                  <a:srgbClr val="5E646A"/>
                </a:solidFill>
                <a:latin typeface="Arial"/>
                <a:ea typeface="Arial"/>
                <a:cs typeface="Arial"/>
              </a:defRPr>
            </a:pPr>
            <a:r>
              <a:rPr sz="1000" b="1" lang="pt-BR">
                <a:solidFill>
                  <a:srgbClr val="5E646A"/>
                </a:solidFill>
                <a:latin typeface="Arial"/>
                <a:ea typeface="Arial"/>
                <a:cs typeface="Arial"/>
              </a:rPr>
              <a:t>Jr 10,0% · Estr. N/D*</a:t>
            </a:r>
          </a:p>
        </ns0:txBody>
      </ns0:sp>
      <ns0:sp>
        <ns0:nvSpPr>
          <ns0:cNvPr id="29" name="mvp-band-structural_mvp_adquirencia-6">
            <a:extLst>
              <a:ext uri="{FF2B5EF4-FFF2-40B4-BE49-F238E27FC236}">
                <ns2:creationId id="{187C2325-4F65-4C0F-B6A6-9F2B098489EB}"/>
              </a:ext>
            </a:extLst>
          </ns0:cNvPr>
          <ns0:cNvSpPr>
            <a:spLocks noGrp="1"/>
          </ns0:cNvSpPr>
          <ns0:nvPr/>
        </ns0:nvSpPr>
        <ns0:spPr>
          <a:xfrm>
            <a:off x="9842500" y="1885950"/>
            <a:ext cx="1778000" cy="22860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0" tIns="0" rIns="0" bIns="0" anchor="ctr">
            <a:normAutofit fontScale="100000"/>
          </a:bodyPr>
          <a:lstStyle/>
          <a:p>
            <a:pPr algn="ctr">
              <a:lnSpc>
                <a:spcPct val="100000"/>
              </a:lnSpc>
              <a:buNone/>
              <a:defRPr sz="1050" b="1" lang="pt-BR">
                <a:solidFill>
                  <a:srgbClr val="002B5C"/>
                </a:solidFill>
                <a:latin typeface="Arial"/>
                <a:ea typeface="Arial"/>
                <a:cs typeface="Arial"/>
              </a:defRPr>
            </a:pPr>
            <a:r>
              <a:rPr sz="1050" b="1" lang="pt-BR">
                <a:solidFill>
                  <a:srgbClr val="002B5C"/>
                </a:solidFill>
                <a:latin typeface="Arial"/>
                <a:ea typeface="Arial"/>
                <a:cs typeface="Arial"/>
              </a:rPr>
              <a:t>≥ 60%</a:t>
            </a:r>
          </a:p>
        </ns0:txBody>
      </ns0:sp>
      <ns0:sp>
        <ns0:nvSpPr>
          <ns0:cNvPr id="30" name="">
            <a:extLst>
              <a:ext uri="{FF2B5EF4-FFF2-40B4-BE49-F238E27FC236}">
                <ns2:creationId id="{D7C45079-0ED6-4388-B7EF-ACA7BCB48264}"/>
              </a:ext>
            </a:extLst>
          </ns0:cNvPr>
          <ns0:cNvSpPr>
            <a:spLocks noGrp="1"/>
          </ns0:cNvSpPr>
          <ns0:nvPr/>
        </ns0:nvSpPr>
        <ns0:spPr>
          <a:xfrm>
            <a:off x="9842500" y="2114550"/>
            <a:ext cx="1778000" cy="19050"/>
          </a:xfrm>
          <a:prstGeom prst="rect">
            <a:avLst/>
          </a:prstGeom>
          <a:solidFill>
            <a:srgbClr val="002B5C"/>
          </a:solidFill>
          <a:ln w="0">
            <a:noFill/>
            <a:prstDash val="solid"/>
          </a:ln>
        </ns0:spPr>
      </ns0:sp>
      <ns0:sp>
        <ns0:nvSpPr>
          <ns0:cNvPr id="31" name="mvp-card-structural_mvp_adquirencia-28169275000172">
            <a:extLst>
              <a:ext uri="{FF2B5EF4-FFF2-40B4-BE49-F238E27FC236}">
                <ns2:creationId id="{19B3C001-1CDC-4D3B-8F7B-373F3335BABE}"/>
              </a:ext>
            </a:extLst>
          </ns0:cNvPr>
          <ns0:cNvSpPr>
            <a:spLocks noGrp="1"/>
          </ns0:cNvSpPr>
          <ns0:nvPr/>
        </ns0:nvSpPr>
        <ns0:spPr>
          <a:xfrm>
            <a:off x="9842500" y="2181225"/>
            <a:ext cx="1778000" cy="438150"/>
          </a:xfrm>
          <a:prstGeom prst="rect">
            <a:avLst/>
          </a:prstGeom>
          <a:solidFill>
            <a:srgbClr val="F5F6F7"/>
          </a:solidFill>
          <a:ln w="9525">
            <a:solidFill>
              <a:srgbClr val="B8BDC2"/>
            </a:solidFill>
            <a:prstDash val="solid"/>
          </a:ln>
        </ns0:spPr>
        <ns0:txBody>
          <a:bodyPr wrap="none" lIns="47625" tIns="28575" rIns="47625" bIns="28575" anchor="ctr">
            <a:normAutofit fontScale="87719"/>
          </a:bodyPr>
          <a:lstStyle/>
          <a:p>
            <a:pPr algn="l">
              <a:lnSpc>
                <a:spcPct val="95000"/>
              </a:lnSpc>
              <a:buNone/>
              <a:defRPr sz="1000" b="1" lang="pt-BR">
                <a:solidFill>
                  <a:srgbClr val="5E646A"/>
                </a:solidFill>
                <a:latin typeface="Arial"/>
                <a:ea typeface="Arial"/>
                <a:cs typeface="Arial"/>
              </a:defRPr>
            </a:pPr>
            <a:r>
              <a:rPr sz="1000" b="1" lang="pt-BR">
                <a:solidFill>
                  <a:srgbClr val="5E646A"/>
                </a:solidFill>
                <a:latin typeface="Arial"/>
                <a:ea typeface="Arial"/>
                <a:cs typeface="Arial"/>
              </a:rPr>
              <a:t>PAGSEGURO I</a:t>
            </a:r>
          </a:p>
          <a:p>
            <a:pPr algn="l">
              <a:lnSpc>
                <a:spcPct val="95000"/>
              </a:lnSpc>
              <a:buNone/>
              <a:defRPr sz="1000" b="1" lang="pt-BR">
                <a:solidFill>
                  <a:srgbClr val="5E646A"/>
                </a:solidFill>
                <a:latin typeface="Arial"/>
                <a:ea typeface="Arial"/>
                <a:cs typeface="Arial"/>
              </a:defRPr>
            </a:pPr>
            <a:r>
              <a:rPr sz="1000" b="1" lang="pt-BR">
                <a:solidFill>
                  <a:srgbClr val="5E646A"/>
                </a:solidFill>
                <a:latin typeface="Arial"/>
                <a:ea typeface="Arial"/>
                <a:cs typeface="Arial"/>
              </a:rPr>
              <a:t>R$ 6,2 bi · Sub atual 63,2%</a:t>
            </a:r>
          </a:p>
          <a:p>
            <a:pPr algn="l">
              <a:lnSpc>
                <a:spcPct val="95000"/>
              </a:lnSpc>
              <a:buNone/>
              <a:defRPr sz="1000" b="1" lang="pt-BR">
                <a:solidFill>
                  <a:srgbClr val="5E646A"/>
                </a:solidFill>
                <a:latin typeface="Arial"/>
                <a:ea typeface="Arial"/>
                <a:cs typeface="Arial"/>
              </a:defRPr>
            </a:pPr>
            <a:r>
              <a:rPr sz="1000" b="1" lang="pt-BR">
                <a:solidFill>
                  <a:srgbClr val="5E646A"/>
                </a:solidFill>
                <a:latin typeface="Arial"/>
                <a:ea typeface="Arial"/>
                <a:cs typeface="Arial"/>
              </a:rPr>
              <a:t>Jr 50,0% · Estr. N/D*</a:t>
            </a:r>
          </a:p>
        </ns0:txBody>
      </ns0:sp>
      <ns0:sp>
        <ns0:nvSpPr>
          <ns0:cNvPr id="32" name="mvp-card-structural_mvp_adquirencia-38376526000143">
            <a:extLst>
              <a:ext uri="{FF2B5EF4-FFF2-40B4-BE49-F238E27FC236}">
                <ns2:creationId id="{33193942-38DF-47F8-9C17-F8529C74A3EB}"/>
              </a:ext>
            </a:extLst>
          </ns0:cNvPr>
          <ns0:cNvSpPr>
            <a:spLocks noGrp="1"/>
          </ns0:cNvSpPr>
          <ns0:nvPr/>
        </ns0:nvSpPr>
        <ns0:spPr>
          <a:xfrm>
            <a:off x="9842500" y="2638425"/>
            <a:ext cx="1778000" cy="438150"/>
          </a:xfrm>
          <a:prstGeom prst="rect">
            <a:avLst/>
          </a:prstGeom>
          <a:solidFill>
            <a:srgbClr val="F5F6F7"/>
          </a:solidFill>
          <a:ln w="9525">
            <a:solidFill>
              <a:srgbClr val="B8BDC2"/>
            </a:solidFill>
            <a:prstDash val="solid"/>
          </a:ln>
        </ns0:spPr>
        <ns0:txBody>
          <a:bodyPr wrap="none" lIns="47625" tIns="28575" rIns="47625" bIns="28575" anchor="ctr">
            <a:normAutofit fontScale="87719"/>
          </a:bodyPr>
          <a:lstStyle/>
          <a:p>
            <a:pPr algn="l">
              <a:lnSpc>
                <a:spcPct val="95000"/>
              </a:lnSpc>
              <a:buNone/>
              <a:defRPr sz="1000" b="1" lang="pt-BR">
                <a:solidFill>
                  <a:srgbClr val="5E646A"/>
                </a:solidFill>
                <a:latin typeface="Arial"/>
                <a:ea typeface="Arial"/>
                <a:cs typeface="Arial"/>
              </a:defRPr>
            </a:pPr>
            <a:r>
              <a:rPr sz="1000" b="1" lang="pt-BR">
                <a:solidFill>
                  <a:srgbClr val="5E646A"/>
                </a:solidFill>
                <a:latin typeface="Arial"/>
                <a:ea typeface="Arial"/>
                <a:cs typeface="Arial"/>
              </a:rPr>
              <a:t>HOTFUND SEGMENTO*</a:t>
            </a:r>
          </a:p>
          <a:p>
            <a:pPr algn="l">
              <a:lnSpc>
                <a:spcPct val="95000"/>
              </a:lnSpc>
              <a:buNone/>
              <a:defRPr sz="1000" b="1" lang="pt-BR">
                <a:solidFill>
                  <a:srgbClr val="5E646A"/>
                </a:solidFill>
                <a:latin typeface="Arial"/>
                <a:ea typeface="Arial"/>
                <a:cs typeface="Arial"/>
              </a:defRPr>
            </a:pPr>
            <a:r>
              <a:rPr sz="1000" b="1" lang="pt-BR">
                <a:solidFill>
                  <a:srgbClr val="5E646A"/>
                </a:solidFill>
                <a:latin typeface="Arial"/>
                <a:ea typeface="Arial"/>
                <a:cs typeface="Arial"/>
              </a:rPr>
              <a:t>R$ 1,7 bi · Sub atual 76,4%</a:t>
            </a:r>
          </a:p>
          <a:p>
            <a:pPr algn="l">
              <a:lnSpc>
                <a:spcPct val="95000"/>
              </a:lnSpc>
              <a:buNone/>
              <a:defRPr sz="1000" b="1" lang="pt-BR">
                <a:solidFill>
                  <a:srgbClr val="5E646A"/>
                </a:solidFill>
                <a:latin typeface="Arial"/>
                <a:ea typeface="Arial"/>
                <a:cs typeface="Arial"/>
              </a:defRPr>
            </a:pPr>
            <a:r>
              <a:rPr sz="1000" b="1" lang="pt-BR">
                <a:solidFill>
                  <a:srgbClr val="5E646A"/>
                </a:solidFill>
                <a:latin typeface="Arial"/>
                <a:ea typeface="Arial"/>
                <a:cs typeface="Arial"/>
              </a:rPr>
              <a:t>Jr 21,0% · Estr. N/D*</a:t>
            </a:r>
          </a:p>
        </ns0:txBody>
      </ns0:sp>
      <ns0:sp>
        <ns0:nvSpPr>
          <ns0:cNvPr id="33" name="mvp-card-structural_mvp_adquirencia-40919667000107">
            <a:extLst>
              <a:ext uri="{FF2B5EF4-FFF2-40B4-BE49-F238E27FC236}">
                <ns2:creationId id="{CD3F3780-84A5-42EA-B3AB-E2F2D73A02F9}"/>
              </a:ext>
            </a:extLst>
          </ns0:cNvPr>
          <ns0:cNvSpPr>
            <a:spLocks noGrp="1"/>
          </ns0:cNvSpPr>
          <ns0:nvPr/>
        </ns0:nvSpPr>
        <ns0:spPr>
          <a:xfrm>
            <a:off x="9842500" y="3095625"/>
            <a:ext cx="1778000" cy="438150"/>
          </a:xfrm>
          <a:prstGeom prst="rect">
            <a:avLst/>
          </a:prstGeom>
          <a:solidFill>
            <a:srgbClr val="EAF0F7"/>
          </a:solidFill>
          <a:ln w="9525">
            <a:solidFill>
              <a:srgbClr val="AFC5DD"/>
            </a:solidFill>
            <a:prstDash val="solid"/>
          </a:ln>
        </ns0:spPr>
        <ns0:txBody>
          <a:bodyPr wrap="none" lIns="47625" tIns="28575" rIns="47625" bIns="28575" anchor="ctr">
            <a:normAutofit fontScale="87719"/>
          </a:bodyPr>
          <a:lstStyle/>
          <a:p>
            <a:pPr algn="l">
              <a:lnSpc>
                <a:spcPct val="95000"/>
              </a:lnSpc>
              <a:buNone/>
              <a:defRPr sz="1000" b="1" lang="pt-BR">
                <a:solidFill>
                  <a:srgbClr val="002B5C"/>
                </a:solidFill>
                <a:latin typeface="Arial"/>
                <a:ea typeface="Arial"/>
                <a:cs typeface="Arial"/>
              </a:defRPr>
            </a:pPr>
            <a:r>
              <a:rPr sz="1000" b="1" lang="pt-BR">
                <a:solidFill>
                  <a:srgbClr val="002B5C"/>
                </a:solidFill>
                <a:latin typeface="Arial"/>
                <a:ea typeface="Arial"/>
                <a:cs typeface="Arial"/>
              </a:rPr>
              <a:t>RECARGAPAY I*</a:t>
            </a:r>
          </a:p>
          <a:p>
            <a:pPr algn="l">
              <a:lnSpc>
                <a:spcPct val="95000"/>
              </a:lnSpc>
              <a:buNone/>
              <a:defRPr sz="1000" b="1" lang="pt-BR">
                <a:solidFill>
                  <a:srgbClr val="002B5C"/>
                </a:solidFill>
                <a:latin typeface="Arial"/>
                <a:ea typeface="Arial"/>
                <a:cs typeface="Arial"/>
              </a:defRPr>
            </a:pPr>
            <a:r>
              <a:rPr sz="1000" b="1" lang="pt-BR">
                <a:solidFill>
                  <a:srgbClr val="002B5C"/>
                </a:solidFill>
                <a:latin typeface="Arial"/>
                <a:ea typeface="Arial"/>
                <a:cs typeface="Arial"/>
              </a:rPr>
              <a:t>R$ 281,5 mi · Sub atual 98,0%</a:t>
            </a:r>
          </a:p>
          <a:p>
            <a:pPr algn="l">
              <a:lnSpc>
                <a:spcPct val="95000"/>
              </a:lnSpc>
              <a:buNone/>
              <a:defRPr sz="1000" b="1" lang="pt-BR">
                <a:solidFill>
                  <a:srgbClr val="002B5C"/>
                </a:solidFill>
                <a:latin typeface="Arial"/>
                <a:ea typeface="Arial"/>
                <a:cs typeface="Arial"/>
              </a:defRPr>
            </a:pPr>
            <a:r>
              <a:rPr sz="1000" b="1" lang="pt-BR">
                <a:solidFill>
                  <a:srgbClr val="002B5C"/>
                </a:solidFill>
                <a:latin typeface="Arial"/>
                <a:ea typeface="Arial"/>
                <a:cs typeface="Arial"/>
              </a:rPr>
              <a:t>Jr 50,0% · Estr. 50,0%</a:t>
            </a:r>
          </a:p>
        </ns0:txBody>
      </ns0:sp>
      <ns0:sp>
        <ns0:nvSpPr>
          <ns0:cNvPr id="34" name="">
            <a:extLst>
              <a:ext uri="{FF2B5EF4-FFF2-40B4-BE49-F238E27FC236}">
                <ns2:creationId id="{C7DBD6BF-6119-4157-A766-11C2A51F6286}"/>
              </a:ext>
            </a:extLst>
          </ns0:cNvPr>
          <ns0:cNvSpPr>
            <a:spLocks noGrp="1"/>
          </ns0:cNvSpPr>
          <ns0:nvPr/>
        </ns0:nvSpPr>
        <ns0:spPr>
          <a:xfrm>
            <a:off x="571500" y="5981700"/>
            <a:ext cx="11049000" cy="295275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0" tIns="0" rIns="0" bIns="0" anchor="ctr">
            <a:normAutofit fontScale="88796"/>
          </a:bodyPr>
          <a:lstStyle/>
          <a:p>
            <a:pPr algn="r">
              <a:lnSpc>
                <a:spcPct val="100000"/>
              </a:lnSpc>
              <a:buNone/>
              <a:def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rPr>
              <a:t>Vinho = abaixo do mínimo estrutural · âmbar = até 2 p.p. acima · azul = mais de 2 p.p. acima · cinza = estrutura incomparável. * Categoria editorial ou piso total, combinado, calculado, ajustado ou sem equivalência direta.</a:t>
            </a:r>
          </a:p>
        </ns0:txBody>
      </ns0:sp>
    </ns0:spTree>
    <ns0:extLst>
      <ns0:ext uri="{BB962C8B-B14F-4D97-AF65-F5344CB8AC3E}">
        <ns3:creationId val="801741699"/>
      </ns0:ext>
    </ns0:extLst>
  </ns0:cSld>
</ns0:sld>
</file>

<file path=ppt/slides/slide20.xml><?xml version="1.0" encoding="utf-8"?>
<ns0:sld xmlns:a="http://schemas.openxmlformats.org/drawingml/2006/main" xmlns:ns0="http://schemas.openxmlformats.org/presentationml/2006/main" xmlns:ns2="http://schemas.microsoft.com/office/drawing/2014/main" xmlns:ns3="http://schemas.microsoft.com/office/powerpoint/2010/main">
  <ns0:cSld>
    <ns0:bg>
      <ns0:bgPr>
        <a:solidFill>
          <a:srgbClr val="FFFFFF"/>
        </a:solidFill>
      </ns0:bgPr>
    </ns0:bg>
    <ns0:spTree>
      <ns0:nvGrpSpPr>
        <ns0:cNvPr id="1" name=""/>
        <ns0:cNvGrpSpPr/>
        <ns0:nvPr/>
      </ns0:nvGrpSpPr>
      <ns0:grpSpPr>
        <a:xfrm/>
      </ns0:grpSpPr>
      <ns0:sp>
        <ns0:nvSpPr>
          <ns0:cNvPr id="40" name="">
            <a:extLst>
              <a:ext uri="{FF2B5EF4-FFF2-40B4-BE49-F238E27FC236}">
                <ns2:creationId id="{C65AE615-D53F-4293-84D5-A1D9D097F54F}"/>
              </a:ext>
            </a:extLst>
          </ns0:cNvPr>
          <ns0:cNvSpPr>
            <a:spLocks noGrp="1"/>
          </ns0:cNvSpPr>
          <ns0:nvPr/>
        </ns0:nvSpPr>
        <ns0:spPr>
          <a:xfrm>
            <a:off x="571500" y="257175"/>
            <a:ext cx="11049000" cy="19050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0" tIns="0" rIns="0" bIns="0" anchor="t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1000" b="1" lang="pt-BR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1000" b="1" lang="pt-BR">
                <a:solidFill>
                  <a:srgbClr val="EC7000"/>
                </a:solidFill>
                <a:latin typeface="Arial"/>
                <a:ea typeface="Arial"/>
                <a:cs typeface="Arial"/>
              </a:rPr>
              <a:t>RISCO ESTRUTURAL · CARTEIRA I · AGRO / REVENDA</a:t>
            </a:r>
          </a:p>
        </ns0:txBody>
      </ns0:sp>
      <ns0:sp>
        <ns0:nvSpPr>
          <ns0:cNvPr id="2" name="">
            <a:extLst>
              <a:ext uri="{FF2B5EF4-FFF2-40B4-BE49-F238E27FC236}">
                <ns2:creationId id="{EFDCC7AD-D5DF-447B-80D8-7DC8D1A8F1F6}"/>
              </a:ext>
            </a:extLst>
          </ns0:cNvPr>
          <ns0:cNvSpPr>
            <a:spLocks noGrp="1"/>
          </ns0:cNvSpPr>
          <ns0:nvPr/>
        </ns0:nvSpPr>
        <ns0:spPr>
          <a:xfrm>
            <a:off x="571500" y="504825"/>
            <a:ext cx="11049000" cy="466725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0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2100" b="1" lang="pt-BR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2100" b="1" lang="pt-BR">
                <a:solidFill>
                  <a:srgbClr val="151515"/>
                </a:solidFill>
                <a:latin typeface="Arial"/>
                <a:ea typeface="Arial"/>
                <a:cs typeface="Arial"/>
              </a:rPr>
              <a:t>Agro / Revenda | 2 veículos comparáveis estão abaixo do mínimo estrutural</a:t>
            </a:r>
          </a:p>
        </ns0:txBody>
      </ns0:sp>
      <ns0:sp>
        <ns0:nvSpPr>
          <ns0:cNvPr id="3" name="">
            <a:extLst>
              <a:ext uri="{FF2B5EF4-FFF2-40B4-BE49-F238E27FC236}">
                <ns2:creationId id="{4AAC8FF9-9600-4F1A-97A3-00FBA5D8B413}"/>
              </a:ext>
            </a:extLst>
          </ns0:cNvPr>
          <ns0:cNvSpPr>
            <a:spLocks noGrp="1"/>
          </ns0:cNvSpPr>
          <ns0:nvPr/>
        </ns0:nvSpPr>
        <ns0:spPr>
          <a:xfrm>
            <a:off x="571500" y="1047750"/>
            <a:ext cx="11049000" cy="9525"/>
          </a:xfrm>
          <a:prstGeom prst="rect">
            <a:avLst/>
          </a:prstGeom>
          <a:solidFill>
            <a:srgbClr val="D7DADD"/>
          </a:solidFill>
          <a:ln w="0">
            <a:noFill/>
            <a:prstDash val="solid"/>
          </a:ln>
        </ns0:spPr>
      </ns0:sp>
      <ns0:sp>
        <ns0:nvSpPr>
          <ns0:cNvPr id="4" name="">
            <a:extLst>
              <a:ext uri="{FF2B5EF4-FFF2-40B4-BE49-F238E27FC236}">
                <ns2:creationId id="{D87517CE-49D3-4D44-870A-A6A73D20F594}"/>
              </a:ext>
            </a:extLst>
          </ns0:cNvPr>
          <ns0:cNvSpPr>
            <a:spLocks noGrp="1"/>
          </ns0:cNvSpPr>
          <ns0:nvPr/>
        </ns0:nvSpPr>
        <ns0:spPr>
          <a:xfrm>
            <a:off x="571500" y="6353175"/>
            <a:ext cx="11049000" cy="9525"/>
          </a:xfrm>
          <a:prstGeom prst="rect">
            <a:avLst/>
          </a:prstGeom>
          <a:solidFill>
            <a:srgbClr val="D7DADD"/>
          </a:solidFill>
          <a:ln w="0">
            <a:noFill/>
            <a:prstDash val="solid"/>
          </a:ln>
        </ns0:spPr>
      </ns0:sp>
      <ns0:sp>
        <ns0:nvSpPr>
          <ns0:cNvPr id="5" name="">
            <a:extLst>
              <a:ext uri="{FF2B5EF4-FFF2-40B4-BE49-F238E27FC236}">
                <ns2:creationId id="{32B799CE-9148-4C63-B312-7DD783EF5F18}"/>
              </a:ext>
            </a:extLst>
          </ns0:cNvPr>
          <ns0:cNvSpPr>
            <a:spLocks noGrp="1"/>
          </ns0:cNvSpPr>
          <ns0:nvPr/>
        </ns0:nvSpPr>
        <ns0:spPr>
          <a:xfrm>
            <a:off x="571500" y="6419850"/>
            <a:ext cx="10001250" cy="1714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47625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rPr>
              <a:t>CVM, Informe Mensal, jun/26; pisos em regulamentos FundosNet/B3. Lacunas ficam fora do slide e permanecem no workbook/explorador.</a:t>
            </a:r>
          </a:p>
        </ns0:txBody>
      </ns0:sp>
      <ns0:sp>
        <ns0:nvSpPr>
          <ns0:cNvPr id="6" name="">
            <a:extLst>
              <a:ext uri="{FF2B5EF4-FFF2-40B4-BE49-F238E27FC236}">
                <ns2:creationId id="{017A81BC-D3A9-43E1-8CC5-B35FEC1D4C6D}"/>
              </a:ext>
            </a:extLst>
          </ns0:cNvPr>
          <ns0:cNvSpPr>
            <a:spLocks noGrp="1"/>
          </ns0:cNvSpPr>
          <ns0:nvPr/>
        </ns0:nvSpPr>
        <ns0:spPr>
          <a:xfrm>
            <a:off x="11144250" y="6410325"/>
            <a:ext cx="476250" cy="1714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ctr">
            <a:normAutofit fontScale="100000"/>
          </a:bodyPr>
          <a:lstStyle/>
          <a:p>
            <a:pPr algn="r">
              <a:lnSpc>
                <a:spcPct val="100000"/>
              </a:lnSpc>
              <a:buNone/>
              <a:def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rPr>
              <a:t>20</a:t>
            </a:r>
          </a:p>
        </ns0:txBody>
      </ns0:sp>
      <ns0:sp>
        <ns0:nvSpPr>
          <ns0:cNvPr id="7" name="mvp-summary-structural_mvp_agro_revenda-1">
            <a:extLst>
              <a:ext uri="{FF2B5EF4-FFF2-40B4-BE49-F238E27FC236}">
                <ns2:creationId id="{F84B9820-66C3-42CC-B100-0B0F4CB80BD9}"/>
              </a:ext>
            </a:extLst>
          </ns0:cNvPr>
          <ns0:cNvSpPr>
            <a:spLocks noGrp="1"/>
          </ns0:cNvSpPr>
          <ns0:nvPr/>
        </ns0:nvSpPr>
        <ns0:spPr>
          <a:xfrm>
            <a:off x="571500" y="1152525"/>
            <a:ext cx="3143250" cy="609600"/>
          </a:xfrm>
          <a:prstGeom prst="rect">
            <a:avLst/>
          </a:prstGeom>
          <a:solidFill>
            <a:srgbClr val="EAF0F7"/>
          </a:solidFill>
          <a:ln w="0">
            <a:solidFill>
              <a:srgbClr val="EAF0F7"/>
            </a:solidFill>
            <a:prstDash val="solid"/>
          </a:ln>
        </ns0:spPr>
        <ns0:txBody>
          <a:bodyPr wrap="square" lIns="95250" tIns="66675" rIns="95250" bIns="66675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1000" b="1" lang="pt-BR">
                <a:solidFill>
                  <a:srgbClr val="002B5C"/>
                </a:solidFill>
                <a:latin typeface="Arial"/>
                <a:ea typeface="Arial"/>
                <a:cs typeface="Arial"/>
              </a:defRPr>
            </a:pPr>
            <a:r>
              <a:rPr sz="1000" b="1" lang="pt-BR">
                <a:solidFill>
                  <a:srgbClr val="002B5C"/>
                </a:solidFill>
                <a:latin typeface="Arial"/>
                <a:ea typeface="Arial"/>
                <a:cs typeface="Arial"/>
              </a:rPr>
              <a:t>COBERTURA DO SLIDE</a:t>
            </a:r>
          </a:p>
          <a:p>
            <a:pPr algn="l">
              <a:lnSpc>
                <a:spcPct val="100000"/>
              </a:lnSpc>
              <a:buNone/>
              <a:defRPr sz="1000" b="1" lang="pt-BR">
                <a:solidFill>
                  <a:srgbClr val="002B5C"/>
                </a:solidFill>
                <a:latin typeface="Arial"/>
                <a:ea typeface="Arial"/>
                <a:cs typeface="Arial"/>
              </a:defRPr>
            </a:pPr>
            <a:r>
              <a:rPr sz="1000" b="1" lang="pt-BR">
                <a:solidFill>
                  <a:srgbClr val="002B5C"/>
                </a:solidFill>
                <a:latin typeface="Arial"/>
                <a:ea typeface="Arial"/>
                <a:cs typeface="Arial"/>
              </a:rPr>
              <a:t>17/35 CNPJs · R$ 6,5 bi de R$ 7,1 bi</a:t>
            </a:r>
          </a:p>
        </ns0:txBody>
      </ns0:sp>
      <ns0:sp>
        <ns0:nvSpPr>
          <ns0:cNvPr id="8" name="mvp-summary-structural_mvp_agro_revenda-2">
            <a:extLst>
              <a:ext uri="{FF2B5EF4-FFF2-40B4-BE49-F238E27FC236}">
                <ns2:creationId id="{F5375A06-087A-4305-B856-DEEF63F51015}"/>
              </a:ext>
            </a:extLst>
          </ns0:cNvPr>
          <ns0:cNvSpPr>
            <a:spLocks noGrp="1"/>
          </ns0:cNvSpPr>
          <ns0:nvPr/>
        </ns0:nvSpPr>
        <ns0:spPr>
          <a:xfrm>
            <a:off x="3810000" y="1152525"/>
            <a:ext cx="4810125" cy="609600"/>
          </a:xfrm>
          <a:prstGeom prst="rect">
            <a:avLst/>
          </a:prstGeom>
          <a:solidFill>
            <a:srgbClr val="FFFFFF"/>
          </a:solidFill>
          <a:ln w="9525">
            <a:solidFill>
              <a:srgbClr val="AFC5DD"/>
            </a:solidFill>
            <a:prstDash val="solid"/>
          </a:ln>
        </ns0:spPr>
        <ns0:txBody>
          <a:bodyPr wrap="square" lIns="95250" tIns="66675" rIns="95250" bIns="66675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1000" b="1" lang="pt-BR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000" b="1" lang="pt-BR">
                <a:solidFill>
                  <a:srgbClr val="30353A"/>
                </a:solidFill>
                <a:latin typeface="Arial"/>
                <a:ea typeface="Arial"/>
                <a:cs typeface="Arial"/>
              </a:rPr>
              <a:t>REFERÊNCIA DE MERCADO · SUB/PL ATUAL</a:t>
            </a:r>
          </a:p>
          <a:p>
            <a:pPr algn="l">
              <a:lnSpc>
                <a:spcPct val="100000"/>
              </a:lnSpc>
              <a:buNone/>
              <a:defRPr sz="1000" b="1" lang="pt-BR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000" b="1" lang="pt-BR">
                <a:solidFill>
                  <a:srgbClr val="30353A"/>
                </a:solidFill>
                <a:latin typeface="Arial"/>
                <a:ea typeface="Arial"/>
                <a:cs typeface="Arial"/>
              </a:rPr>
              <a:t>0 pares com Sub/PL atual</a:t>
            </a:r>
          </a:p>
        </ns0:txBody>
      </ns0:sp>
      <ns0:sp>
        <ns0:nvSpPr>
          <ns0:cNvPr id="9" name="mvp-summary-structural_mvp_agro_revenda-3">
            <a:extLst>
              <a:ext uri="{FF2B5EF4-FFF2-40B4-BE49-F238E27FC236}">
                <ns2:creationId id="{EC9BBF67-C83B-4B96-91C7-7C80407D6AE7}"/>
              </a:ext>
            </a:extLst>
          </ns0:cNvPr>
          <ns0:cNvSpPr>
            <a:spLocks noGrp="1"/>
          </ns0:cNvSpPr>
          <ns0:nvPr/>
        </ns0:nvSpPr>
        <ns0:spPr>
          <a:xfrm>
            <a:off x="8715375" y="1152525"/>
            <a:ext cx="2905125" cy="609600"/>
          </a:xfrm>
          <a:prstGeom prst="rect">
            <a:avLst/>
          </a:prstGeom>
          <a:solidFill>
            <a:srgbClr val="FFF1E6"/>
          </a:solidFill>
          <a:ln w="0">
            <a:solidFill>
              <a:srgbClr val="FFF1E6"/>
            </a:solidFill>
            <a:prstDash val="solid"/>
          </a:ln>
        </ns0:spPr>
        <ns0:txBody>
          <a:bodyPr wrap="square" lIns="95250" tIns="66675" rIns="95250" bIns="66675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1000" b="1" lang="pt-BR">
                <a:solidFill>
                  <a:srgbClr val="7A1F3D"/>
                </a:solidFill>
                <a:latin typeface="Arial"/>
                <a:ea typeface="Arial"/>
                <a:cs typeface="Arial"/>
              </a:defRPr>
            </a:pPr>
            <a:r>
              <a:rPr sz="1000" b="1" lang="pt-BR">
                <a:solidFill>
                  <a:srgbClr val="7A1F3D"/>
                </a:solidFill>
                <a:latin typeface="Arial"/>
                <a:ea typeface="Arial"/>
                <a:cs typeface="Arial"/>
              </a:rPr>
              <a:t>LEITURA RELATIVA</a:t>
            </a:r>
          </a:p>
          <a:p>
            <a:pPr algn="l">
              <a:lnSpc>
                <a:spcPct val="100000"/>
              </a:lnSpc>
              <a:buNone/>
              <a:defRPr sz="1000" b="1" lang="pt-BR">
                <a:solidFill>
                  <a:srgbClr val="7A1F3D"/>
                </a:solidFill>
                <a:latin typeface="Arial"/>
                <a:ea typeface="Arial"/>
                <a:cs typeface="Arial"/>
              </a:defRPr>
            </a:pPr>
            <a:r>
              <a:rPr sz="1000" b="1" lang="pt-BR">
                <a:solidFill>
                  <a:srgbClr val="7A1F3D"/>
                </a:solidFill>
                <a:latin typeface="Arial"/>
                <a:ea typeface="Arial"/>
                <a:cs typeface="Arial"/>
              </a:rPr>
              <a:t>N/D · benchmark insuficiente</a:t>
            </a:r>
          </a:p>
        </ns0:txBody>
      </ns0:sp>
      <ns0:sp>
        <ns0:nvSpPr>
          <ns0:cNvPr id="10" name="mvp-band-structural_mvp_agro_revenda-1">
            <a:extLst>
              <a:ext uri="{FF2B5EF4-FFF2-40B4-BE49-F238E27FC236}">
                <ns2:creationId id="{58EBF793-E029-4FC1-94A4-1A2C17A08BE1}"/>
              </a:ext>
            </a:extLst>
          </ns0:cNvPr>
          <ns0:cNvSpPr>
            <a:spLocks noGrp="1"/>
          </ns0:cNvSpPr>
          <ns0:nvPr/>
        </ns0:nvSpPr>
        <ns0:spPr>
          <a:xfrm>
            <a:off x="571500" y="1885950"/>
            <a:ext cx="1778000" cy="22860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0" tIns="0" rIns="0" bIns="0" anchor="ctr">
            <a:normAutofit fontScale="100000"/>
          </a:bodyPr>
          <a:lstStyle/>
          <a:p>
            <a:pPr algn="ctr">
              <a:lnSpc>
                <a:spcPct val="100000"/>
              </a:lnSpc>
              <a:buNone/>
              <a:defRPr sz="1050" b="1" lang="pt-BR">
                <a:solidFill>
                  <a:srgbClr val="002B5C"/>
                </a:solidFill>
                <a:latin typeface="Arial"/>
                <a:ea typeface="Arial"/>
                <a:cs typeface="Arial"/>
              </a:defRPr>
            </a:pPr>
            <a:r>
              <a:rPr sz="1050" b="1" lang="pt-BR">
                <a:solidFill>
                  <a:srgbClr val="002B5C"/>
                </a:solidFill>
                <a:latin typeface="Arial"/>
                <a:ea typeface="Arial"/>
                <a:cs typeface="Arial"/>
              </a:rPr>
              <a:t>&lt; 10%</a:t>
            </a:r>
          </a:p>
        </ns0:txBody>
      </ns0:sp>
      <ns0:sp>
        <ns0:nvSpPr>
          <ns0:cNvPr id="11" name="">
            <a:extLst>
              <a:ext uri="{FF2B5EF4-FFF2-40B4-BE49-F238E27FC236}">
                <ns2:creationId id="{EC3F38D4-A712-4A0C-BC9E-803F65F5FA34}"/>
              </a:ext>
            </a:extLst>
          </ns0:cNvPr>
          <ns0:cNvSpPr>
            <a:spLocks noGrp="1"/>
          </ns0:cNvSpPr>
          <ns0:nvPr/>
        </ns0:nvSpPr>
        <ns0:spPr>
          <a:xfrm>
            <a:off x="571500" y="2114550"/>
            <a:ext cx="1778000" cy="19050"/>
          </a:xfrm>
          <a:prstGeom prst="rect">
            <a:avLst/>
          </a:prstGeom>
          <a:solidFill>
            <a:srgbClr val="002B5C"/>
          </a:solidFill>
          <a:ln w="0">
            <a:noFill/>
            <a:prstDash val="solid"/>
          </a:ln>
        </ns0:spPr>
      </ns0:sp>
      <ns0:sp>
        <ns0:nvSpPr>
          <ns0:cNvPr id="12" name="mvp-card-structural_mvp_agro_revenda-52968533000165">
            <a:extLst>
              <a:ext uri="{FF2B5EF4-FFF2-40B4-BE49-F238E27FC236}">
                <ns2:creationId id="{75C0192C-9617-4A77-9DE4-2C57E4890AF7}"/>
              </a:ext>
            </a:extLst>
          </ns0:cNvPr>
          <ns0:cNvSpPr>
            <a:spLocks noGrp="1"/>
          </ns0:cNvSpPr>
          <ns0:nvPr/>
        </ns0:nvSpPr>
        <ns0:spPr>
          <a:xfrm>
            <a:off x="571500" y="2181225"/>
            <a:ext cx="1778000" cy="438150"/>
          </a:xfrm>
          <a:prstGeom prst="rect">
            <a:avLst/>
          </a:prstGeom>
          <a:solidFill>
            <a:srgbClr val="7A1F3D"/>
          </a:solidFill>
          <a:ln w="9525">
            <a:solidFill>
              <a:srgbClr val="7A1F3D"/>
            </a:solidFill>
            <a:prstDash val="solid"/>
          </a:ln>
        </ns0:spPr>
        <ns0:txBody>
          <a:bodyPr wrap="none" lIns="47625" tIns="28575" rIns="47625" bIns="28575" anchor="ctr">
            <a:normAutofit fontScale="87719"/>
          </a:bodyPr>
          <a:lstStyle/>
          <a:p>
            <a:pPr algn="l">
              <a:lnSpc>
                <a:spcPct val="95000"/>
              </a:lnSpc>
              <a:buNone/>
              <a:defRPr sz="1000" b="1" lang="pt-BR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000" b="1" lang="pt-BR">
                <a:solidFill>
                  <a:srgbClr val="FFFFFF"/>
                </a:solidFill>
                <a:latin typeface="Arial"/>
                <a:ea typeface="Arial"/>
                <a:cs typeface="Arial"/>
              </a:rPr>
              <a:t>MCPO*</a:t>
            </a:r>
          </a:p>
          <a:p>
            <a:pPr algn="l">
              <a:lnSpc>
                <a:spcPct val="95000"/>
              </a:lnSpc>
              <a:buNone/>
              <a:defRPr sz="1000" b="1" lang="pt-BR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000" b="1" lang="pt-BR">
                <a:solidFill>
                  <a:srgbClr val="FFFFFF"/>
                </a:solidFill>
                <a:latin typeface="Arial"/>
                <a:ea typeface="Arial"/>
                <a:cs typeface="Arial"/>
              </a:rPr>
              <a:t>R$ 113,3 mi · Sub atual 0,0%</a:t>
            </a:r>
          </a:p>
          <a:p>
            <a:pPr algn="l">
              <a:lnSpc>
                <a:spcPct val="95000"/>
              </a:lnSpc>
              <a:buNone/>
              <a:defRPr sz="1000" b="1" lang="pt-BR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000" b="1" lang="pt-BR">
                <a:solidFill>
                  <a:srgbClr val="FFFFFF"/>
                </a:solidFill>
                <a:latin typeface="Arial"/>
                <a:ea typeface="Arial"/>
                <a:cs typeface="Arial"/>
              </a:rPr>
              <a:t>Jr N/D · Estr. 20,0%*</a:t>
            </a:r>
          </a:p>
        </ns0:txBody>
      </ns0:sp>
      <ns0:sp>
        <ns0:nvSpPr>
          <ns0:cNvPr id="13" name="mvp-band-structural_mvp_agro_revenda-2">
            <a:extLst>
              <a:ext uri="{FF2B5EF4-FFF2-40B4-BE49-F238E27FC236}">
                <ns2:creationId id="{63A4F3D3-69BF-4E37-9C93-6E0A02F7B560}"/>
              </a:ext>
            </a:extLst>
          </ns0:cNvPr>
          <ns0:cNvSpPr>
            <a:spLocks noGrp="1"/>
          </ns0:cNvSpPr>
          <ns0:nvPr/>
        </ns0:nvSpPr>
        <ns0:spPr>
          <a:xfrm>
            <a:off x="2425700" y="1885950"/>
            <a:ext cx="1778000" cy="22860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0" tIns="0" rIns="0" bIns="0" anchor="ctr">
            <a:normAutofit fontScale="100000"/>
          </a:bodyPr>
          <a:lstStyle/>
          <a:p>
            <a:pPr algn="ctr">
              <a:lnSpc>
                <a:spcPct val="100000"/>
              </a:lnSpc>
              <a:buNone/>
              <a:defRPr sz="1050" b="1" lang="pt-BR">
                <a:solidFill>
                  <a:srgbClr val="002B5C"/>
                </a:solidFill>
                <a:latin typeface="Arial"/>
                <a:ea typeface="Arial"/>
                <a:cs typeface="Arial"/>
              </a:defRPr>
            </a:pPr>
            <a:r>
              <a:rPr sz="1050" b="1" lang="pt-BR">
                <a:solidFill>
                  <a:srgbClr val="002B5C"/>
                </a:solidFill>
                <a:latin typeface="Arial"/>
                <a:ea typeface="Arial"/>
                <a:cs typeface="Arial"/>
              </a:rPr>
              <a:t>10%–15%</a:t>
            </a:r>
          </a:p>
        </ns0:txBody>
      </ns0:sp>
      <ns0:sp>
        <ns0:nvSpPr>
          <ns0:cNvPr id="14" name="">
            <a:extLst>
              <a:ext uri="{FF2B5EF4-FFF2-40B4-BE49-F238E27FC236}">
                <ns2:creationId id="{61601942-5297-44F3-985F-8BA8A631BB1D}"/>
              </a:ext>
            </a:extLst>
          </ns0:cNvPr>
          <ns0:cNvSpPr>
            <a:spLocks noGrp="1"/>
          </ns0:cNvSpPr>
          <ns0:nvPr/>
        </ns0:nvSpPr>
        <ns0:spPr>
          <a:xfrm>
            <a:off x="2425700" y="2114550"/>
            <a:ext cx="1778000" cy="19050"/>
          </a:xfrm>
          <a:prstGeom prst="rect">
            <a:avLst/>
          </a:prstGeom>
          <a:solidFill>
            <a:srgbClr val="002B5C"/>
          </a:solidFill>
          <a:ln w="0">
            <a:noFill/>
            <a:prstDash val="solid"/>
          </a:ln>
        </ns0:spPr>
      </ns0:sp>
      <ns0:sp>
        <ns0:nvSpPr>
          <ns0:cNvPr id="15" name="mvp-band-structural_mvp_agro_revenda-3">
            <a:extLst>
              <a:ext uri="{FF2B5EF4-FFF2-40B4-BE49-F238E27FC236}">
                <ns2:creationId id="{11DC5888-4EC1-4E21-876D-F4759E3976B2}"/>
              </a:ext>
            </a:extLst>
          </ns0:cNvPr>
          <ns0:cNvSpPr>
            <a:spLocks noGrp="1"/>
          </ns0:cNvSpPr>
          <ns0:nvPr/>
        </ns0:nvSpPr>
        <ns0:spPr>
          <a:xfrm>
            <a:off x="4279900" y="1885950"/>
            <a:ext cx="1778000" cy="22860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0" tIns="0" rIns="0" bIns="0" anchor="ctr">
            <a:normAutofit fontScale="100000"/>
          </a:bodyPr>
          <a:lstStyle/>
          <a:p>
            <a:pPr algn="ctr">
              <a:lnSpc>
                <a:spcPct val="100000"/>
              </a:lnSpc>
              <a:buNone/>
              <a:defRPr sz="1050" b="1" lang="pt-BR">
                <a:solidFill>
                  <a:srgbClr val="002B5C"/>
                </a:solidFill>
                <a:latin typeface="Arial"/>
                <a:ea typeface="Arial"/>
                <a:cs typeface="Arial"/>
              </a:defRPr>
            </a:pPr>
            <a:r>
              <a:rPr sz="1050" b="1" lang="pt-BR">
                <a:solidFill>
                  <a:srgbClr val="002B5C"/>
                </a:solidFill>
                <a:latin typeface="Arial"/>
                <a:ea typeface="Arial"/>
                <a:cs typeface="Arial"/>
              </a:rPr>
              <a:t>15%–20%</a:t>
            </a:r>
          </a:p>
        </ns0:txBody>
      </ns0:sp>
      <ns0:sp>
        <ns0:nvSpPr>
          <ns0:cNvPr id="16" name="">
            <a:extLst>
              <a:ext uri="{FF2B5EF4-FFF2-40B4-BE49-F238E27FC236}">
                <ns2:creationId id="{CF6BAF46-B477-4CEE-B570-8FCB92ECB2CC}"/>
              </a:ext>
            </a:extLst>
          </ns0:cNvPr>
          <ns0:cNvSpPr>
            <a:spLocks noGrp="1"/>
          </ns0:cNvSpPr>
          <ns0:nvPr/>
        </ns0:nvSpPr>
        <ns0:spPr>
          <a:xfrm>
            <a:off x="4279900" y="2114550"/>
            <a:ext cx="1778000" cy="19050"/>
          </a:xfrm>
          <a:prstGeom prst="rect">
            <a:avLst/>
          </a:prstGeom>
          <a:solidFill>
            <a:srgbClr val="002B5C"/>
          </a:solidFill>
          <a:ln w="0">
            <a:noFill/>
            <a:prstDash val="solid"/>
          </a:ln>
        </ns0:spPr>
      </ns0:sp>
      <ns0:sp>
        <ns0:nvSpPr>
          <ns0:cNvPr id="17" name="mvp-card-structural_mvp_agro_revenda-57270666000187">
            <a:extLst>
              <a:ext uri="{FF2B5EF4-FFF2-40B4-BE49-F238E27FC236}">
                <ns2:creationId id="{4C67A0EB-BF5D-437A-A1D8-575A2B8789F5}"/>
              </a:ext>
            </a:extLst>
          </ns0:cNvPr>
          <ns0:cNvSpPr>
            <a:spLocks noGrp="1"/>
          </ns0:cNvSpPr>
          <ns0:nvPr/>
        </ns0:nvSpPr>
        <ns0:spPr>
          <a:xfrm>
            <a:off x="4279900" y="2181225"/>
            <a:ext cx="1778000" cy="438150"/>
          </a:xfrm>
          <a:prstGeom prst="rect">
            <a:avLst/>
          </a:prstGeom>
          <a:solidFill>
            <a:srgbClr val="F5F6F7"/>
          </a:solidFill>
          <a:ln w="9525">
            <a:solidFill>
              <a:srgbClr val="B8BDC2"/>
            </a:solidFill>
            <a:prstDash val="solid"/>
          </a:ln>
        </ns0:spPr>
        <ns0:txBody>
          <a:bodyPr wrap="none" lIns="47625" tIns="28575" rIns="47625" bIns="28575" anchor="ctr">
            <a:normAutofit fontScale="87719"/>
          </a:bodyPr>
          <a:lstStyle/>
          <a:p>
            <a:pPr algn="l">
              <a:lnSpc>
                <a:spcPct val="95000"/>
              </a:lnSpc>
              <a:buNone/>
              <a:defRPr sz="1000" b="1" lang="pt-BR">
                <a:solidFill>
                  <a:srgbClr val="5E646A"/>
                </a:solidFill>
                <a:latin typeface="Arial"/>
                <a:ea typeface="Arial"/>
                <a:cs typeface="Arial"/>
              </a:defRPr>
            </a:pPr>
            <a:r>
              <a:rPr sz="1000" b="1" lang="pt-BR">
                <a:solidFill>
                  <a:srgbClr val="5E646A"/>
                </a:solidFill>
                <a:latin typeface="Arial"/>
                <a:ea typeface="Arial"/>
                <a:cs typeface="Arial"/>
              </a:rPr>
              <a:t>MOBILITAS</a:t>
            </a:r>
          </a:p>
          <a:p>
            <a:pPr algn="l">
              <a:lnSpc>
                <a:spcPct val="95000"/>
              </a:lnSpc>
              <a:buNone/>
              <a:defRPr sz="1000" b="1" lang="pt-BR">
                <a:solidFill>
                  <a:srgbClr val="5E646A"/>
                </a:solidFill>
                <a:latin typeface="Arial"/>
                <a:ea typeface="Arial"/>
                <a:cs typeface="Arial"/>
              </a:defRPr>
            </a:pPr>
            <a:r>
              <a:rPr sz="1000" b="1" lang="pt-BR">
                <a:solidFill>
                  <a:srgbClr val="5E646A"/>
                </a:solidFill>
                <a:latin typeface="Arial"/>
                <a:ea typeface="Arial"/>
                <a:cs typeface="Arial"/>
              </a:rPr>
              <a:t>R$ 53,0 mi · Sub atual 15,1%</a:t>
            </a:r>
          </a:p>
          <a:p>
            <a:pPr algn="l">
              <a:lnSpc>
                <a:spcPct val="95000"/>
              </a:lnSpc>
              <a:buNone/>
              <a:defRPr sz="1000" b="1" lang="pt-BR">
                <a:solidFill>
                  <a:srgbClr val="5E646A"/>
                </a:solidFill>
                <a:latin typeface="Arial"/>
                <a:ea typeface="Arial"/>
                <a:cs typeface="Arial"/>
              </a:defRPr>
            </a:pPr>
            <a:r>
              <a:rPr sz="1000" b="1" lang="pt-BR">
                <a:solidFill>
                  <a:srgbClr val="5E646A"/>
                </a:solidFill>
                <a:latin typeface="Arial"/>
                <a:ea typeface="Arial"/>
                <a:cs typeface="Arial"/>
              </a:rPr>
              <a:t>Jr 10,0% · Estr. N/D*</a:t>
            </a:r>
          </a:p>
        </ns0:txBody>
      </ns0:sp>
      <ns0:sp>
        <ns0:nvSpPr>
          <ns0:cNvPr id="18" name="mvp-band-structural_mvp_agro_revenda-4">
            <a:extLst>
              <a:ext uri="{FF2B5EF4-FFF2-40B4-BE49-F238E27FC236}">
                <ns2:creationId id="{FC1E6C78-9B16-4524-92AE-06956B6FDE7C}"/>
              </a:ext>
            </a:extLst>
          </ns0:cNvPr>
          <ns0:cNvSpPr>
            <a:spLocks noGrp="1"/>
          </ns0:cNvSpPr>
          <ns0:nvPr/>
        </ns0:nvSpPr>
        <ns0:spPr>
          <a:xfrm>
            <a:off x="6134100" y="1885950"/>
            <a:ext cx="1778000" cy="22860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0" tIns="0" rIns="0" bIns="0" anchor="ctr">
            <a:normAutofit fontScale="100000"/>
          </a:bodyPr>
          <a:lstStyle/>
          <a:p>
            <a:pPr algn="ctr">
              <a:lnSpc>
                <a:spcPct val="100000"/>
              </a:lnSpc>
              <a:buNone/>
              <a:defRPr sz="1050" b="1" lang="pt-BR">
                <a:solidFill>
                  <a:srgbClr val="002B5C"/>
                </a:solidFill>
                <a:latin typeface="Arial"/>
                <a:ea typeface="Arial"/>
                <a:cs typeface="Arial"/>
              </a:defRPr>
            </a:pPr>
            <a:r>
              <a:rPr sz="1050" b="1" lang="pt-BR">
                <a:solidFill>
                  <a:srgbClr val="002B5C"/>
                </a:solidFill>
                <a:latin typeface="Arial"/>
                <a:ea typeface="Arial"/>
                <a:cs typeface="Arial"/>
              </a:rPr>
              <a:t>20%–35%</a:t>
            </a:r>
          </a:p>
        </ns0:txBody>
      </ns0:sp>
      <ns0:sp>
        <ns0:nvSpPr>
          <ns0:cNvPr id="19" name="">
            <a:extLst>
              <a:ext uri="{FF2B5EF4-FFF2-40B4-BE49-F238E27FC236}">
                <ns2:creationId id="{55783151-157C-4A3E-9540-AB726A6DB503}"/>
              </a:ext>
            </a:extLst>
          </ns0:cNvPr>
          <ns0:cNvSpPr>
            <a:spLocks noGrp="1"/>
          </ns0:cNvSpPr>
          <ns0:nvPr/>
        </ns0:nvSpPr>
        <ns0:spPr>
          <a:xfrm>
            <a:off x="6134100" y="2114550"/>
            <a:ext cx="1778000" cy="19050"/>
          </a:xfrm>
          <a:prstGeom prst="rect">
            <a:avLst/>
          </a:prstGeom>
          <a:solidFill>
            <a:srgbClr val="002B5C"/>
          </a:solidFill>
          <a:ln w="0">
            <a:noFill/>
            <a:prstDash val="solid"/>
          </a:ln>
        </ns0:spPr>
      </ns0:sp>
      <ns0:sp>
        <ns0:nvSpPr>
          <ns0:cNvPr id="20" name="mvp-card-structural_mvp_agro_revenda-33076242000118">
            <a:extLst>
              <a:ext uri="{FF2B5EF4-FFF2-40B4-BE49-F238E27FC236}">
                <ns2:creationId id="{5D266E43-4A4A-49CA-BEB9-B8C6F945321A}"/>
              </a:ext>
            </a:extLst>
          </ns0:cNvPr>
          <ns0:cNvSpPr>
            <a:spLocks noGrp="1"/>
          </ns0:cNvSpPr>
          <ns0:nvPr/>
        </ns0:nvSpPr>
        <ns0:spPr>
          <a:xfrm>
            <a:off x="6134100" y="2181225"/>
            <a:ext cx="1778000" cy="438150"/>
          </a:xfrm>
          <a:prstGeom prst="rect">
            <a:avLst/>
          </a:prstGeom>
          <a:solidFill>
            <a:srgbClr val="FFF0D6"/>
          </a:solidFill>
          <a:ln w="9525">
            <a:solidFill>
              <a:srgbClr val="EC7000"/>
            </a:solidFill>
            <a:prstDash val="solid"/>
          </a:ln>
        </ns0:spPr>
        <ns0:txBody>
          <a:bodyPr wrap="none" lIns="47625" tIns="28575" rIns="47625" bIns="28575" anchor="ctr">
            <a:normAutofit fontScale="87719"/>
          </a:bodyPr>
          <a:lstStyle/>
          <a:p>
            <a:pPr algn="l">
              <a:lnSpc>
                <a:spcPct val="95000"/>
              </a:lnSpc>
              <a:buNone/>
              <a:defRPr sz="1000" b="1" lang="pt-BR">
                <a:solidFill>
                  <a:srgbClr val="7A1F3D"/>
                </a:solidFill>
                <a:latin typeface="Arial"/>
                <a:ea typeface="Arial"/>
                <a:cs typeface="Arial"/>
              </a:defRPr>
            </a:pPr>
            <a:r>
              <a:rPr sz="1000" b="1" lang="pt-BR">
                <a:solidFill>
                  <a:srgbClr val="7A1F3D"/>
                </a:solidFill>
                <a:latin typeface="Arial"/>
                <a:ea typeface="Arial"/>
                <a:cs typeface="Arial"/>
              </a:rPr>
              <a:t>WORKCAP AGRO</a:t>
            </a:r>
          </a:p>
          <a:p>
            <a:pPr algn="l">
              <a:lnSpc>
                <a:spcPct val="95000"/>
              </a:lnSpc>
              <a:buNone/>
              <a:defRPr sz="1000" b="1" lang="pt-BR">
                <a:solidFill>
                  <a:srgbClr val="7A1F3D"/>
                </a:solidFill>
                <a:latin typeface="Arial"/>
                <a:ea typeface="Arial"/>
                <a:cs typeface="Arial"/>
              </a:defRPr>
            </a:pPr>
            <a:r>
              <a:rPr sz="1000" b="1" lang="pt-BR">
                <a:solidFill>
                  <a:srgbClr val="7A1F3D"/>
                </a:solidFill>
                <a:latin typeface="Arial"/>
                <a:ea typeface="Arial"/>
                <a:cs typeface="Arial"/>
              </a:rPr>
              <a:t>R$ 443,2 mi · Sub atual 21,6%</a:t>
            </a:r>
          </a:p>
          <a:p>
            <a:pPr algn="l">
              <a:lnSpc>
                <a:spcPct val="95000"/>
              </a:lnSpc>
              <a:buNone/>
              <a:defRPr sz="1000" b="1" lang="pt-BR">
                <a:solidFill>
                  <a:srgbClr val="7A1F3D"/>
                </a:solidFill>
                <a:latin typeface="Arial"/>
                <a:ea typeface="Arial"/>
                <a:cs typeface="Arial"/>
              </a:defRPr>
            </a:pPr>
            <a:r>
              <a:rPr sz="1000" b="1" lang="pt-BR">
                <a:solidFill>
                  <a:srgbClr val="7A1F3D"/>
                </a:solidFill>
                <a:latin typeface="Arial"/>
                <a:ea typeface="Arial"/>
                <a:cs typeface="Arial"/>
              </a:rPr>
              <a:t>Jr 20,0% · Estr. 20,0%</a:t>
            </a:r>
          </a:p>
        </ns0:txBody>
      </ns0:sp>
      <ns0:sp>
        <ns0:nvSpPr>
          <ns0:cNvPr id="21" name="mvp-card-structural_mvp_agro_revenda-47280025000150">
            <a:extLst>
              <a:ext uri="{FF2B5EF4-FFF2-40B4-BE49-F238E27FC236}">
                <ns2:creationId id="{75079D73-5278-426B-B982-F720E38A4F61}"/>
              </a:ext>
            </a:extLst>
          </ns0:cNvPr>
          <ns0:cNvSpPr>
            <a:spLocks noGrp="1"/>
          </ns0:cNvSpPr>
          <ns0:nvPr/>
        </ns0:nvSpPr>
        <ns0:spPr>
          <a:xfrm>
            <a:off x="6134100" y="2638425"/>
            <a:ext cx="1778000" cy="438150"/>
          </a:xfrm>
          <a:prstGeom prst="rect">
            <a:avLst/>
          </a:prstGeom>
          <a:solidFill>
            <a:srgbClr val="EAF0F7"/>
          </a:solidFill>
          <a:ln w="9525">
            <a:solidFill>
              <a:srgbClr val="AFC5DD"/>
            </a:solidFill>
            <a:prstDash val="solid"/>
          </a:ln>
        </ns0:spPr>
        <ns0:txBody>
          <a:bodyPr wrap="none" lIns="47625" tIns="28575" rIns="47625" bIns="28575" anchor="ctr">
            <a:normAutofit fontScale="87719"/>
          </a:bodyPr>
          <a:lstStyle/>
          <a:p>
            <a:pPr algn="l">
              <a:lnSpc>
                <a:spcPct val="95000"/>
              </a:lnSpc>
              <a:buNone/>
              <a:defRPr sz="1000" b="1" lang="pt-BR">
                <a:solidFill>
                  <a:srgbClr val="002B5C"/>
                </a:solidFill>
                <a:latin typeface="Arial"/>
                <a:ea typeface="Arial"/>
                <a:cs typeface="Arial"/>
              </a:defRPr>
            </a:pPr>
            <a:r>
              <a:rPr sz="1000" b="1" lang="pt-BR">
                <a:solidFill>
                  <a:srgbClr val="002B5C"/>
                </a:solidFill>
                <a:latin typeface="Arial"/>
                <a:ea typeface="Arial"/>
                <a:cs typeface="Arial"/>
              </a:rPr>
              <a:t>FIDC AGRO CAPITAL</a:t>
            </a:r>
          </a:p>
          <a:p>
            <a:pPr algn="l">
              <a:lnSpc>
                <a:spcPct val="95000"/>
              </a:lnSpc>
              <a:buNone/>
              <a:defRPr sz="1000" b="1" lang="pt-BR">
                <a:solidFill>
                  <a:srgbClr val="002B5C"/>
                </a:solidFill>
                <a:latin typeface="Arial"/>
                <a:ea typeface="Arial"/>
                <a:cs typeface="Arial"/>
              </a:defRPr>
            </a:pPr>
            <a:r>
              <a:rPr sz="1000" b="1" lang="pt-BR">
                <a:solidFill>
                  <a:srgbClr val="002B5C"/>
                </a:solidFill>
                <a:latin typeface="Arial"/>
                <a:ea typeface="Arial"/>
                <a:cs typeface="Arial"/>
              </a:rPr>
              <a:t>R$ 522,1 mi · Sub atual 32,2%</a:t>
            </a:r>
          </a:p>
          <a:p>
            <a:pPr algn="l">
              <a:lnSpc>
                <a:spcPct val="95000"/>
              </a:lnSpc>
              <a:buNone/>
              <a:defRPr sz="1000" b="1" lang="pt-BR">
                <a:solidFill>
                  <a:srgbClr val="002B5C"/>
                </a:solidFill>
                <a:latin typeface="Arial"/>
                <a:ea typeface="Arial"/>
                <a:cs typeface="Arial"/>
              </a:defRPr>
            </a:pPr>
            <a:r>
              <a:rPr sz="1000" b="1" lang="pt-BR">
                <a:solidFill>
                  <a:srgbClr val="002B5C"/>
                </a:solidFill>
                <a:latin typeface="Arial"/>
                <a:ea typeface="Arial"/>
                <a:cs typeface="Arial"/>
              </a:rPr>
              <a:t>Jr 30,0% · Estr. 30,0%</a:t>
            </a:r>
          </a:p>
        </ns0:txBody>
      </ns0:sp>
      <ns0:sp>
        <ns0:nvSpPr>
          <ns0:cNvPr id="22" name="mvp-card-structural_mvp_agro_revenda-58171340000165">
            <a:extLst>
              <a:ext uri="{FF2B5EF4-FFF2-40B4-BE49-F238E27FC236}">
                <ns2:creationId id="{F2D80E90-257F-473B-B07C-E40B353B71C8}"/>
              </a:ext>
            </a:extLst>
          </ns0:cNvPr>
          <ns0:cNvSpPr>
            <a:spLocks noGrp="1"/>
          </ns0:cNvSpPr>
          <ns0:nvPr/>
        </ns0:nvSpPr>
        <ns0:spPr>
          <a:xfrm>
            <a:off x="6134100" y="3095625"/>
            <a:ext cx="1778000" cy="438150"/>
          </a:xfrm>
          <a:prstGeom prst="rect">
            <a:avLst/>
          </a:prstGeom>
          <a:solidFill>
            <a:srgbClr val="F5F6F7"/>
          </a:solidFill>
          <a:ln w="9525">
            <a:solidFill>
              <a:srgbClr val="B8BDC2"/>
            </a:solidFill>
            <a:prstDash val="solid"/>
          </a:ln>
        </ns0:spPr>
        <ns0:txBody>
          <a:bodyPr wrap="none" lIns="47625" tIns="28575" rIns="47625" bIns="28575" anchor="ctr">
            <a:normAutofit fontScale="87719"/>
          </a:bodyPr>
          <a:lstStyle/>
          <a:p>
            <a:pPr algn="l">
              <a:lnSpc>
                <a:spcPct val="95000"/>
              </a:lnSpc>
              <a:buNone/>
              <a:defRPr sz="1000" b="1" lang="pt-BR">
                <a:solidFill>
                  <a:srgbClr val="5E646A"/>
                </a:solidFill>
                <a:latin typeface="Arial"/>
                <a:ea typeface="Arial"/>
                <a:cs typeface="Arial"/>
              </a:defRPr>
            </a:pPr>
            <a:r>
              <a:rPr sz="1000" b="1" lang="pt-BR">
                <a:solidFill>
                  <a:srgbClr val="5E646A"/>
                </a:solidFill>
                <a:latin typeface="Arial"/>
                <a:ea typeface="Arial"/>
                <a:cs typeface="Arial"/>
              </a:rPr>
              <a:t>FRIMESA</a:t>
            </a:r>
          </a:p>
          <a:p>
            <a:pPr algn="l">
              <a:lnSpc>
                <a:spcPct val="95000"/>
              </a:lnSpc>
              <a:buNone/>
              <a:defRPr sz="1000" b="1" lang="pt-BR">
                <a:solidFill>
                  <a:srgbClr val="5E646A"/>
                </a:solidFill>
                <a:latin typeface="Arial"/>
                <a:ea typeface="Arial"/>
                <a:cs typeface="Arial"/>
              </a:defRPr>
            </a:pPr>
            <a:r>
              <a:rPr sz="1000" b="1" lang="pt-BR">
                <a:solidFill>
                  <a:srgbClr val="5E646A"/>
                </a:solidFill>
                <a:latin typeface="Arial"/>
                <a:ea typeface="Arial"/>
                <a:cs typeface="Arial"/>
              </a:rPr>
              <a:t>R$ 357,7 mi · Sub atual 21,0%</a:t>
            </a:r>
          </a:p>
          <a:p>
            <a:pPr algn="l">
              <a:lnSpc>
                <a:spcPct val="95000"/>
              </a:lnSpc>
              <a:buNone/>
              <a:defRPr sz="1000" b="1" lang="pt-BR">
                <a:solidFill>
                  <a:srgbClr val="5E646A"/>
                </a:solidFill>
                <a:latin typeface="Arial"/>
                <a:ea typeface="Arial"/>
                <a:cs typeface="Arial"/>
              </a:defRPr>
            </a:pPr>
            <a:r>
              <a:rPr sz="1000" b="1" lang="pt-BR">
                <a:solidFill>
                  <a:srgbClr val="5E646A"/>
                </a:solidFill>
                <a:latin typeface="Arial"/>
                <a:ea typeface="Arial"/>
                <a:cs typeface="Arial"/>
              </a:rPr>
              <a:t>Jr 1,0% · Estr. N/D*</a:t>
            </a:r>
          </a:p>
        </ns0:txBody>
      </ns0:sp>
      <ns0:sp>
        <ns0:nvSpPr>
          <ns0:cNvPr id="23" name="mvp-card-structural_mvp_agro_revenda-54857414000160">
            <a:extLst>
              <a:ext uri="{FF2B5EF4-FFF2-40B4-BE49-F238E27FC236}">
                <ns2:creationId id="{CF9EADC6-331F-459B-A21F-B3C71666DF13}"/>
              </a:ext>
            </a:extLst>
          </ns0:cNvPr>
          <ns0:cNvSpPr>
            <a:spLocks noGrp="1"/>
          </ns0:cNvSpPr>
          <ns0:nvPr/>
        </ns0:nvSpPr>
        <ns0:spPr>
          <a:xfrm>
            <a:off x="6134100" y="3552825"/>
            <a:ext cx="1778000" cy="438150"/>
          </a:xfrm>
          <a:prstGeom prst="rect">
            <a:avLst/>
          </a:prstGeom>
          <a:solidFill>
            <a:srgbClr val="F5F6F7"/>
          </a:solidFill>
          <a:ln w="9525">
            <a:solidFill>
              <a:srgbClr val="B8BDC2"/>
            </a:solidFill>
            <a:prstDash val="solid"/>
          </a:ln>
        </ns0:spPr>
        <ns0:txBody>
          <a:bodyPr wrap="none" lIns="47625" tIns="28575" rIns="47625" bIns="28575" anchor="ctr">
            <a:normAutofit fontScale="87719"/>
          </a:bodyPr>
          <a:lstStyle/>
          <a:p>
            <a:pPr algn="l">
              <a:lnSpc>
                <a:spcPct val="95000"/>
              </a:lnSpc>
              <a:buNone/>
              <a:defRPr sz="1000" b="1" lang="pt-BR">
                <a:solidFill>
                  <a:srgbClr val="5E646A"/>
                </a:solidFill>
                <a:latin typeface="Arial"/>
                <a:ea typeface="Arial"/>
                <a:cs typeface="Arial"/>
              </a:defRPr>
            </a:pPr>
            <a:r>
              <a:rPr sz="1000" b="1" lang="pt-BR">
                <a:solidFill>
                  <a:srgbClr val="5E646A"/>
                </a:solidFill>
                <a:latin typeface="Arial"/>
                <a:ea typeface="Arial"/>
                <a:cs typeface="Arial"/>
              </a:rPr>
              <a:t>INDIE MERX RAIZ I</a:t>
            </a:r>
          </a:p>
          <a:p>
            <a:pPr algn="l">
              <a:lnSpc>
                <a:spcPct val="95000"/>
              </a:lnSpc>
              <a:buNone/>
              <a:defRPr sz="1000" b="1" lang="pt-BR">
                <a:solidFill>
                  <a:srgbClr val="5E646A"/>
                </a:solidFill>
                <a:latin typeface="Arial"/>
                <a:ea typeface="Arial"/>
                <a:cs typeface="Arial"/>
              </a:defRPr>
            </a:pPr>
            <a:r>
              <a:rPr sz="1000" b="1" lang="pt-BR">
                <a:solidFill>
                  <a:srgbClr val="5E646A"/>
                </a:solidFill>
                <a:latin typeface="Arial"/>
                <a:ea typeface="Arial"/>
                <a:cs typeface="Arial"/>
              </a:rPr>
              <a:t>R$ 104,2 mi · Sub atual 27,5%</a:t>
            </a:r>
          </a:p>
          <a:p>
            <a:pPr algn="l">
              <a:lnSpc>
                <a:spcPct val="95000"/>
              </a:lnSpc>
              <a:buNone/>
              <a:defRPr sz="1000" b="1" lang="pt-BR">
                <a:solidFill>
                  <a:srgbClr val="5E646A"/>
                </a:solidFill>
                <a:latin typeface="Arial"/>
                <a:ea typeface="Arial"/>
                <a:cs typeface="Arial"/>
              </a:defRPr>
            </a:pPr>
            <a:r>
              <a:rPr sz="1000" b="1" lang="pt-BR">
                <a:solidFill>
                  <a:srgbClr val="5E646A"/>
                </a:solidFill>
                <a:latin typeface="Arial"/>
                <a:ea typeface="Arial"/>
                <a:cs typeface="Arial"/>
              </a:rPr>
              <a:t>Jr 15,0% · Estr. N/D*</a:t>
            </a:r>
          </a:p>
        </ns0:txBody>
      </ns0:sp>
      <ns0:sp>
        <ns0:nvSpPr>
          <ns0:cNvPr id="24" name="mvp-card-structural_mvp_agro_revenda-57752597000148">
            <a:extLst>
              <a:ext uri="{FF2B5EF4-FFF2-40B4-BE49-F238E27FC236}">
                <ns2:creationId id="{8FE72DA2-6D4C-4C89-860D-140553E0F5E3}"/>
              </a:ext>
            </a:extLst>
          </ns0:cNvPr>
          <ns0:cNvSpPr>
            <a:spLocks noGrp="1"/>
          </ns0:cNvSpPr>
          <ns0:nvPr/>
        </ns0:nvSpPr>
        <ns0:spPr>
          <a:xfrm>
            <a:off x="6134100" y="4010025"/>
            <a:ext cx="1778000" cy="438150"/>
          </a:xfrm>
          <a:prstGeom prst="rect">
            <a:avLst/>
          </a:prstGeom>
          <a:solidFill>
            <a:srgbClr val="F5F6F7"/>
          </a:solidFill>
          <a:ln w="9525">
            <a:solidFill>
              <a:srgbClr val="B8BDC2"/>
            </a:solidFill>
            <a:prstDash val="solid"/>
          </a:ln>
        </ns0:spPr>
        <ns0:txBody>
          <a:bodyPr wrap="none" lIns="47625" tIns="28575" rIns="47625" bIns="28575" anchor="ctr">
            <a:normAutofit fontScale="87719"/>
          </a:bodyPr>
          <a:lstStyle/>
          <a:p>
            <a:pPr algn="l">
              <a:lnSpc>
                <a:spcPct val="95000"/>
              </a:lnSpc>
              <a:buNone/>
              <a:defRPr sz="1000" b="1" lang="pt-BR">
                <a:solidFill>
                  <a:srgbClr val="5E646A"/>
                </a:solidFill>
                <a:latin typeface="Arial"/>
                <a:ea typeface="Arial"/>
                <a:cs typeface="Arial"/>
              </a:defRPr>
            </a:pPr>
            <a:r>
              <a:rPr sz="1000" b="1" lang="pt-BR">
                <a:solidFill>
                  <a:srgbClr val="5E646A"/>
                </a:solidFill>
                <a:latin typeface="Arial"/>
                <a:ea typeface="Arial"/>
                <a:cs typeface="Arial"/>
              </a:rPr>
              <a:t>AGROMERCANTIL CRÉDITO</a:t>
            </a:r>
          </a:p>
          <a:p>
            <a:pPr algn="l">
              <a:lnSpc>
                <a:spcPct val="95000"/>
              </a:lnSpc>
              <a:buNone/>
              <a:defRPr sz="1000" b="1" lang="pt-BR">
                <a:solidFill>
                  <a:srgbClr val="5E646A"/>
                </a:solidFill>
                <a:latin typeface="Arial"/>
                <a:ea typeface="Arial"/>
                <a:cs typeface="Arial"/>
              </a:defRPr>
            </a:pPr>
            <a:r>
              <a:rPr sz="1000" b="1" lang="pt-BR">
                <a:solidFill>
                  <a:srgbClr val="5E646A"/>
                </a:solidFill>
                <a:latin typeface="Arial"/>
                <a:ea typeface="Arial"/>
                <a:cs typeface="Arial"/>
              </a:rPr>
              <a:t>R$ 68,7 mi · Sub atual 32,5%</a:t>
            </a:r>
          </a:p>
          <a:p>
            <a:pPr algn="l">
              <a:lnSpc>
                <a:spcPct val="95000"/>
              </a:lnSpc>
              <a:buNone/>
              <a:defRPr sz="1000" b="1" lang="pt-BR">
                <a:solidFill>
                  <a:srgbClr val="5E646A"/>
                </a:solidFill>
                <a:latin typeface="Arial"/>
                <a:ea typeface="Arial"/>
                <a:cs typeface="Arial"/>
              </a:defRPr>
            </a:pPr>
            <a:r>
              <a:rPr sz="1000" b="1" lang="pt-BR">
                <a:solidFill>
                  <a:srgbClr val="5E646A"/>
                </a:solidFill>
                <a:latin typeface="Arial"/>
                <a:ea typeface="Arial"/>
                <a:cs typeface="Arial"/>
              </a:rPr>
              <a:t>Jr 30,0% · Estr. N/D*</a:t>
            </a:r>
          </a:p>
        </ns0:txBody>
      </ns0:sp>
      <ns0:sp>
        <ns0:nvSpPr>
          <ns0:cNvPr id="25" name="mvp-band-structural_mvp_agro_revenda-5">
            <a:extLst>
              <a:ext uri="{FF2B5EF4-FFF2-40B4-BE49-F238E27FC236}">
                <ns2:creationId id="{A71B4885-2900-4211-B01D-4F47D6739141}"/>
              </a:ext>
            </a:extLst>
          </ns0:cNvPr>
          <ns0:cNvSpPr>
            <a:spLocks noGrp="1"/>
          </ns0:cNvSpPr>
          <ns0:nvPr/>
        </ns0:nvSpPr>
        <ns0:spPr>
          <a:xfrm>
            <a:off x="7988300" y="1885950"/>
            <a:ext cx="1778000" cy="22860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0" tIns="0" rIns="0" bIns="0" anchor="ctr">
            <a:normAutofit fontScale="100000"/>
          </a:bodyPr>
          <a:lstStyle/>
          <a:p>
            <a:pPr algn="ctr">
              <a:lnSpc>
                <a:spcPct val="100000"/>
              </a:lnSpc>
              <a:buNone/>
              <a:defRPr sz="1050" b="1" lang="pt-BR">
                <a:solidFill>
                  <a:srgbClr val="002B5C"/>
                </a:solidFill>
                <a:latin typeface="Arial"/>
                <a:ea typeface="Arial"/>
                <a:cs typeface="Arial"/>
              </a:defRPr>
            </a:pPr>
            <a:r>
              <a:rPr sz="1050" b="1" lang="pt-BR">
                <a:solidFill>
                  <a:srgbClr val="002B5C"/>
                </a:solidFill>
                <a:latin typeface="Arial"/>
                <a:ea typeface="Arial"/>
                <a:cs typeface="Arial"/>
              </a:rPr>
              <a:t>35%–60%</a:t>
            </a:r>
          </a:p>
        </ns0:txBody>
      </ns0:sp>
      <ns0:sp>
        <ns0:nvSpPr>
          <ns0:cNvPr id="26" name="">
            <a:extLst>
              <a:ext uri="{FF2B5EF4-FFF2-40B4-BE49-F238E27FC236}">
                <ns2:creationId id="{E9BF05DD-DD2C-46D8-97E3-31B5F7572624}"/>
              </a:ext>
            </a:extLst>
          </ns0:cNvPr>
          <ns0:cNvSpPr>
            <a:spLocks noGrp="1"/>
          </ns0:cNvSpPr>
          <ns0:nvPr/>
        </ns0:nvSpPr>
        <ns0:spPr>
          <a:xfrm>
            <a:off x="7988300" y="2114550"/>
            <a:ext cx="1778000" cy="19050"/>
          </a:xfrm>
          <a:prstGeom prst="rect">
            <a:avLst/>
          </a:prstGeom>
          <a:solidFill>
            <a:srgbClr val="002B5C"/>
          </a:solidFill>
          <a:ln w="0">
            <a:noFill/>
            <a:prstDash val="solid"/>
          </a:ln>
        </ns0:spPr>
      </ns0:sp>
      <ns0:sp>
        <ns0:nvSpPr>
          <ns0:cNvPr id="27" name="mvp-card-structural_mvp_agro_revenda-50536324000117">
            <a:extLst>
              <a:ext uri="{FF2B5EF4-FFF2-40B4-BE49-F238E27FC236}">
                <ns2:creationId id="{AD45D6BD-EAB1-4D2C-BD11-462E429CE2E9}"/>
              </a:ext>
            </a:extLst>
          </ns0:cNvPr>
          <ns0:cNvSpPr>
            <a:spLocks noGrp="1"/>
          </ns0:cNvSpPr>
          <ns0:nvPr/>
        </ns0:nvSpPr>
        <ns0:spPr>
          <a:xfrm>
            <a:off x="7988300" y="2181225"/>
            <a:ext cx="1778000" cy="438150"/>
          </a:xfrm>
          <a:prstGeom prst="rect">
            <a:avLst/>
          </a:prstGeom>
          <a:solidFill>
            <a:srgbClr val="7A1F3D"/>
          </a:solidFill>
          <a:ln w="9525">
            <a:solidFill>
              <a:srgbClr val="7A1F3D"/>
            </a:solidFill>
            <a:prstDash val="solid"/>
          </a:ln>
        </ns0:spPr>
        <ns0:txBody>
          <a:bodyPr wrap="none" lIns="47625" tIns="28575" rIns="47625" bIns="28575" anchor="ctr">
            <a:normAutofit fontScale="87719"/>
          </a:bodyPr>
          <a:lstStyle/>
          <a:p>
            <a:pPr algn="l">
              <a:lnSpc>
                <a:spcPct val="95000"/>
              </a:lnSpc>
              <a:buNone/>
              <a:defRPr sz="1000" b="1" lang="pt-BR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000" b="1" lang="pt-BR">
                <a:solidFill>
                  <a:srgbClr val="FFFFFF"/>
                </a:solidFill>
                <a:latin typeface="Arial"/>
                <a:ea typeface="Arial"/>
                <a:cs typeface="Arial"/>
              </a:rPr>
              <a:t>MAQNELSON</a:t>
            </a:r>
          </a:p>
          <a:p>
            <a:pPr algn="l">
              <a:lnSpc>
                <a:spcPct val="95000"/>
              </a:lnSpc>
              <a:buNone/>
              <a:defRPr sz="1000" b="1" lang="pt-BR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000" b="1" lang="pt-BR">
                <a:solidFill>
                  <a:srgbClr val="FFFFFF"/>
                </a:solidFill>
                <a:latin typeface="Arial"/>
                <a:ea typeface="Arial"/>
                <a:cs typeface="Arial"/>
              </a:rPr>
              <a:t>R$ 100,0 mi · Sub atual 49,2%</a:t>
            </a:r>
          </a:p>
          <a:p>
            <a:pPr algn="l">
              <a:lnSpc>
                <a:spcPct val="95000"/>
              </a:lnSpc>
              <a:buNone/>
              <a:defRPr sz="1000" b="1" lang="pt-BR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000" b="1" lang="pt-BR">
                <a:solidFill>
                  <a:srgbClr val="FFFFFF"/>
                </a:solidFill>
                <a:latin typeface="Arial"/>
                <a:ea typeface="Arial"/>
                <a:cs typeface="Arial"/>
              </a:rPr>
              <a:t>Jr 50,0% · Estr. 50,0%</a:t>
            </a:r>
          </a:p>
        </ns0:txBody>
      </ns0:sp>
      <ns0:sp>
        <ns0:nvSpPr>
          <ns0:cNvPr id="28" name="mvp-card-structural_mvp_agro_revenda-37035970000132">
            <a:extLst>
              <a:ext uri="{FF2B5EF4-FFF2-40B4-BE49-F238E27FC236}">
                <ns2:creationId id="{E4DCE848-94CA-46BC-8364-B8E560F73E2F}"/>
              </a:ext>
            </a:extLst>
          </ns0:cNvPr>
          <ns0:cNvSpPr>
            <a:spLocks noGrp="1"/>
          </ns0:cNvSpPr>
          <ns0:nvPr/>
        </ns0:nvSpPr>
        <ns0:spPr>
          <a:xfrm>
            <a:off x="7988300" y="2638425"/>
            <a:ext cx="1778000" cy="438150"/>
          </a:xfrm>
          <a:prstGeom prst="rect">
            <a:avLst/>
          </a:prstGeom>
          <a:solidFill>
            <a:srgbClr val="F5F6F7"/>
          </a:solidFill>
          <a:ln w="9525">
            <a:solidFill>
              <a:srgbClr val="B8BDC2"/>
            </a:solidFill>
            <a:prstDash val="solid"/>
          </a:ln>
        </ns0:spPr>
        <ns0:txBody>
          <a:bodyPr wrap="none" lIns="47625" tIns="28575" rIns="47625" bIns="28575" anchor="ctr">
            <a:normAutofit fontScale="87719"/>
          </a:bodyPr>
          <a:lstStyle/>
          <a:p>
            <a:pPr algn="l">
              <a:lnSpc>
                <a:spcPct val="95000"/>
              </a:lnSpc>
              <a:buNone/>
              <a:defRPr sz="1000" b="1" lang="pt-BR">
                <a:solidFill>
                  <a:srgbClr val="5E646A"/>
                </a:solidFill>
                <a:latin typeface="Arial"/>
                <a:ea typeface="Arial"/>
                <a:cs typeface="Arial"/>
              </a:defRPr>
            </a:pPr>
            <a:r>
              <a:rPr sz="1000" b="1" lang="pt-BR">
                <a:solidFill>
                  <a:srgbClr val="5E646A"/>
                </a:solidFill>
                <a:latin typeface="Arial"/>
                <a:ea typeface="Arial"/>
                <a:cs typeface="Arial"/>
              </a:rPr>
              <a:t>CD CASH</a:t>
            </a:r>
          </a:p>
          <a:p>
            <a:pPr algn="l">
              <a:lnSpc>
                <a:spcPct val="95000"/>
              </a:lnSpc>
              <a:buNone/>
              <a:defRPr sz="1000" b="1" lang="pt-BR">
                <a:solidFill>
                  <a:srgbClr val="5E646A"/>
                </a:solidFill>
                <a:latin typeface="Arial"/>
                <a:ea typeface="Arial"/>
                <a:cs typeface="Arial"/>
              </a:defRPr>
            </a:pPr>
            <a:r>
              <a:rPr sz="1000" b="1" lang="pt-BR">
                <a:solidFill>
                  <a:srgbClr val="5E646A"/>
                </a:solidFill>
                <a:latin typeface="Arial"/>
                <a:ea typeface="Arial"/>
                <a:cs typeface="Arial"/>
              </a:rPr>
              <a:t>R$ 291,8 mi · Sub atual 46,8%</a:t>
            </a:r>
          </a:p>
          <a:p>
            <a:pPr algn="l">
              <a:lnSpc>
                <a:spcPct val="95000"/>
              </a:lnSpc>
              <a:buNone/>
              <a:defRPr sz="1000" b="1" lang="pt-BR">
                <a:solidFill>
                  <a:srgbClr val="5E646A"/>
                </a:solidFill>
                <a:latin typeface="Arial"/>
                <a:ea typeface="Arial"/>
                <a:cs typeface="Arial"/>
              </a:defRPr>
            </a:pPr>
            <a:r>
              <a:rPr sz="1000" b="1" lang="pt-BR">
                <a:solidFill>
                  <a:srgbClr val="5E646A"/>
                </a:solidFill>
                <a:latin typeface="Arial"/>
                <a:ea typeface="Arial"/>
                <a:cs typeface="Arial"/>
              </a:rPr>
              <a:t>Jr 30,0% · Estr. N/D*</a:t>
            </a:r>
          </a:p>
        </ns0:txBody>
      </ns0:sp>
      <ns0:sp>
        <ns0:nvSpPr>
          <ns0:cNvPr id="29" name="mvp-card-structural_mvp_agro_revenda-45523699000102">
            <a:extLst>
              <a:ext uri="{FF2B5EF4-FFF2-40B4-BE49-F238E27FC236}">
                <ns2:creationId id="{DCE144B0-BC9B-4903-BCDE-41DE6BE3CC4B}"/>
              </a:ext>
            </a:extLst>
          </ns0:cNvPr>
          <ns0:cNvSpPr>
            <a:spLocks noGrp="1"/>
          </ns0:cNvSpPr>
          <ns0:nvPr/>
        </ns0:nvSpPr>
        <ns0:spPr>
          <a:xfrm>
            <a:off x="7988300" y="3095625"/>
            <a:ext cx="1778000" cy="438150"/>
          </a:xfrm>
          <a:prstGeom prst="rect">
            <a:avLst/>
          </a:prstGeom>
          <a:solidFill>
            <a:srgbClr val="F5F6F7"/>
          </a:solidFill>
          <a:ln w="9525">
            <a:solidFill>
              <a:srgbClr val="B8BDC2"/>
            </a:solidFill>
            <a:prstDash val="solid"/>
          </a:ln>
        </ns0:spPr>
        <ns0:txBody>
          <a:bodyPr wrap="none" lIns="47625" tIns="28575" rIns="47625" bIns="28575" anchor="ctr">
            <a:normAutofit fontScale="87719"/>
          </a:bodyPr>
          <a:lstStyle/>
          <a:p>
            <a:pPr algn="l">
              <a:lnSpc>
                <a:spcPct val="95000"/>
              </a:lnSpc>
              <a:buNone/>
              <a:defRPr sz="1000" b="1" lang="pt-BR">
                <a:solidFill>
                  <a:srgbClr val="5E646A"/>
                </a:solidFill>
                <a:latin typeface="Arial"/>
                <a:ea typeface="Arial"/>
                <a:cs typeface="Arial"/>
              </a:defRPr>
            </a:pPr>
            <a:r>
              <a:rPr sz="1000" b="1" lang="pt-BR">
                <a:solidFill>
                  <a:srgbClr val="5E646A"/>
                </a:solidFill>
                <a:latin typeface="Arial"/>
                <a:ea typeface="Arial"/>
                <a:cs typeface="Arial"/>
              </a:rPr>
              <a:t>VIXTRA</a:t>
            </a:r>
          </a:p>
          <a:p>
            <a:pPr algn="l">
              <a:lnSpc>
                <a:spcPct val="95000"/>
              </a:lnSpc>
              <a:buNone/>
              <a:defRPr sz="1000" b="1" lang="pt-BR">
                <a:solidFill>
                  <a:srgbClr val="5E646A"/>
                </a:solidFill>
                <a:latin typeface="Arial"/>
                <a:ea typeface="Arial"/>
                <a:cs typeface="Arial"/>
              </a:defRPr>
            </a:pPr>
            <a:r>
              <a:rPr sz="1000" b="1" lang="pt-BR">
                <a:solidFill>
                  <a:srgbClr val="5E646A"/>
                </a:solidFill>
                <a:latin typeface="Arial"/>
                <a:ea typeface="Arial"/>
                <a:cs typeface="Arial"/>
              </a:rPr>
              <a:t>R$ 233,6 mi · Sub atual 38,2%</a:t>
            </a:r>
          </a:p>
          <a:p>
            <a:pPr algn="l">
              <a:lnSpc>
                <a:spcPct val="95000"/>
              </a:lnSpc>
              <a:buNone/>
              <a:defRPr sz="1000" b="1" lang="pt-BR">
                <a:solidFill>
                  <a:srgbClr val="5E646A"/>
                </a:solidFill>
                <a:latin typeface="Arial"/>
                <a:ea typeface="Arial"/>
                <a:cs typeface="Arial"/>
              </a:defRPr>
            </a:pPr>
            <a:r>
              <a:rPr sz="1000" b="1" lang="pt-BR">
                <a:solidFill>
                  <a:srgbClr val="5E646A"/>
                </a:solidFill>
                <a:latin typeface="Arial"/>
                <a:ea typeface="Arial"/>
                <a:cs typeface="Arial"/>
              </a:rPr>
              <a:t>Jr 10,0% · Estr. N/D*</a:t>
            </a:r>
          </a:p>
        </ns0:txBody>
      </ns0:sp>
      <ns0:sp>
        <ns0:nvSpPr>
          <ns0:cNvPr id="30" name="mvp-card-structural_mvp_agro_revenda-47425750000179">
            <a:extLst>
              <a:ext uri="{FF2B5EF4-FFF2-40B4-BE49-F238E27FC236}">
                <ns2:creationId id="{4C230AB1-5C34-4625-9CFD-1C7285E46821}"/>
              </a:ext>
            </a:extLst>
          </ns0:cNvPr>
          <ns0:cNvSpPr>
            <a:spLocks noGrp="1"/>
          </ns0:cNvSpPr>
          <ns0:nvPr/>
        </ns0:nvSpPr>
        <ns0:spPr>
          <a:xfrm>
            <a:off x="7988300" y="3552825"/>
            <a:ext cx="1778000" cy="438150"/>
          </a:xfrm>
          <a:prstGeom prst="rect">
            <a:avLst/>
          </a:prstGeom>
          <a:solidFill>
            <a:srgbClr val="F5F6F7"/>
          </a:solidFill>
          <a:ln w="9525">
            <a:solidFill>
              <a:srgbClr val="B8BDC2"/>
            </a:solidFill>
            <a:prstDash val="solid"/>
          </a:ln>
        </ns0:spPr>
        <ns0:txBody>
          <a:bodyPr wrap="none" lIns="47625" tIns="28575" rIns="47625" bIns="28575" anchor="ctr">
            <a:normAutofit fontScale="87719"/>
          </a:bodyPr>
          <a:lstStyle/>
          <a:p>
            <a:pPr algn="l">
              <a:lnSpc>
                <a:spcPct val="95000"/>
              </a:lnSpc>
              <a:buNone/>
              <a:defRPr sz="1000" b="1" lang="pt-BR">
                <a:solidFill>
                  <a:srgbClr val="5E646A"/>
                </a:solidFill>
                <a:latin typeface="Arial"/>
                <a:ea typeface="Arial"/>
                <a:cs typeface="Arial"/>
              </a:defRPr>
            </a:pPr>
            <a:r>
              <a:rPr sz="1000" b="1" lang="pt-BR">
                <a:solidFill>
                  <a:srgbClr val="5E646A"/>
                </a:solidFill>
                <a:latin typeface="Arial"/>
                <a:ea typeface="Arial"/>
                <a:cs typeface="Arial"/>
              </a:rPr>
              <a:t>CEREALIS</a:t>
            </a:r>
          </a:p>
          <a:p>
            <a:pPr algn="l">
              <a:lnSpc>
                <a:spcPct val="95000"/>
              </a:lnSpc>
              <a:buNone/>
              <a:defRPr sz="1000" b="1" lang="pt-BR">
                <a:solidFill>
                  <a:srgbClr val="5E646A"/>
                </a:solidFill>
                <a:latin typeface="Arial"/>
                <a:ea typeface="Arial"/>
                <a:cs typeface="Arial"/>
              </a:defRPr>
            </a:pPr>
            <a:r>
              <a:rPr sz="1000" b="1" lang="pt-BR">
                <a:solidFill>
                  <a:srgbClr val="5E646A"/>
                </a:solidFill>
                <a:latin typeface="Arial"/>
                <a:ea typeface="Arial"/>
                <a:cs typeface="Arial"/>
              </a:rPr>
              <a:t>R$ 215,3 mi · Sub atual 53,0%</a:t>
            </a:r>
          </a:p>
          <a:p>
            <a:pPr algn="l">
              <a:lnSpc>
                <a:spcPct val="95000"/>
              </a:lnSpc>
              <a:buNone/>
              <a:defRPr sz="1000" b="1" lang="pt-BR">
                <a:solidFill>
                  <a:srgbClr val="5E646A"/>
                </a:solidFill>
                <a:latin typeface="Arial"/>
                <a:ea typeface="Arial"/>
                <a:cs typeface="Arial"/>
              </a:defRPr>
            </a:pPr>
            <a:r>
              <a:rPr sz="1000" b="1" lang="pt-BR">
                <a:solidFill>
                  <a:srgbClr val="5E646A"/>
                </a:solidFill>
                <a:latin typeface="Arial"/>
                <a:ea typeface="Arial"/>
                <a:cs typeface="Arial"/>
              </a:rPr>
              <a:t>Jr 25,0% · Estr. N/D*</a:t>
            </a:r>
          </a:p>
        </ns0:txBody>
      </ns0:sp>
      <ns0:sp>
        <ns0:nvSpPr>
          <ns0:cNvPr id="31" name="mvp-band-structural_mvp_agro_revenda-6">
            <a:extLst>
              <a:ext uri="{FF2B5EF4-FFF2-40B4-BE49-F238E27FC236}">
                <ns2:creationId id="{23B26335-E203-4749-81FB-E110ACE99D87}"/>
              </a:ext>
            </a:extLst>
          </ns0:cNvPr>
          <ns0:cNvSpPr>
            <a:spLocks noGrp="1"/>
          </ns0:cNvSpPr>
          <ns0:nvPr/>
        </ns0:nvSpPr>
        <ns0:spPr>
          <a:xfrm>
            <a:off x="9842500" y="1885950"/>
            <a:ext cx="1778000" cy="22860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0" tIns="0" rIns="0" bIns="0" anchor="ctr">
            <a:normAutofit fontScale="100000"/>
          </a:bodyPr>
          <a:lstStyle/>
          <a:p>
            <a:pPr algn="ctr">
              <a:lnSpc>
                <a:spcPct val="100000"/>
              </a:lnSpc>
              <a:buNone/>
              <a:defRPr sz="1050" b="1" lang="pt-BR">
                <a:solidFill>
                  <a:srgbClr val="002B5C"/>
                </a:solidFill>
                <a:latin typeface="Arial"/>
                <a:ea typeface="Arial"/>
                <a:cs typeface="Arial"/>
              </a:defRPr>
            </a:pPr>
            <a:r>
              <a:rPr sz="1050" b="1" lang="pt-BR">
                <a:solidFill>
                  <a:srgbClr val="002B5C"/>
                </a:solidFill>
                <a:latin typeface="Arial"/>
                <a:ea typeface="Arial"/>
                <a:cs typeface="Arial"/>
              </a:rPr>
              <a:t>≥ 60%</a:t>
            </a:r>
          </a:p>
        </ns0:txBody>
      </ns0:sp>
      <ns0:sp>
        <ns0:nvSpPr>
          <ns0:cNvPr id="32" name="">
            <a:extLst>
              <a:ext uri="{FF2B5EF4-FFF2-40B4-BE49-F238E27FC236}">
                <ns2:creationId id="{A9218045-B0DA-4226-8DF4-A48105BD0286}"/>
              </a:ext>
            </a:extLst>
          </ns0:cNvPr>
          <ns0:cNvSpPr>
            <a:spLocks noGrp="1"/>
          </ns0:cNvSpPr>
          <ns0:nvPr/>
        </ns0:nvSpPr>
        <ns0:spPr>
          <a:xfrm>
            <a:off x="9842500" y="2114550"/>
            <a:ext cx="1778000" cy="19050"/>
          </a:xfrm>
          <a:prstGeom prst="rect">
            <a:avLst/>
          </a:prstGeom>
          <a:solidFill>
            <a:srgbClr val="002B5C"/>
          </a:solidFill>
          <a:ln w="0">
            <a:noFill/>
            <a:prstDash val="solid"/>
          </a:ln>
        </ns0:spPr>
      </ns0:sp>
      <ns0:sp>
        <ns0:nvSpPr>
          <ns0:cNvPr id="33" name="mvp-card-structural_mvp_agro_revenda-29492605000129">
            <a:extLst>
              <a:ext uri="{FF2B5EF4-FFF2-40B4-BE49-F238E27FC236}">
                <ns2:creationId id="{8AAEBF3B-D5DD-46D0-BEA6-D6B794E8C114}"/>
              </a:ext>
            </a:extLst>
          </ns0:cNvPr>
          <ns0:cNvSpPr>
            <a:spLocks noGrp="1"/>
          </ns0:cNvSpPr>
          <ns0:nvPr/>
        </ns0:nvSpPr>
        <ns0:spPr>
          <a:xfrm>
            <a:off x="9842500" y="2181225"/>
            <a:ext cx="1778000" cy="438150"/>
          </a:xfrm>
          <a:prstGeom prst="rect">
            <a:avLst/>
          </a:prstGeom>
          <a:solidFill>
            <a:srgbClr val="EAF0F7"/>
          </a:solidFill>
          <a:ln w="9525">
            <a:solidFill>
              <a:srgbClr val="AFC5DD"/>
            </a:solidFill>
            <a:prstDash val="solid"/>
          </a:ln>
        </ns0:spPr>
        <ns0:txBody>
          <a:bodyPr wrap="none" lIns="47625" tIns="28575" rIns="47625" bIns="28575" anchor="ctr">
            <a:normAutofit fontScale="87719"/>
          </a:bodyPr>
          <a:lstStyle/>
          <a:p>
            <a:pPr algn="l">
              <a:lnSpc>
                <a:spcPct val="95000"/>
              </a:lnSpc>
              <a:buNone/>
              <a:defRPr sz="1000" b="1" lang="pt-BR">
                <a:solidFill>
                  <a:srgbClr val="002B5C"/>
                </a:solidFill>
                <a:latin typeface="Arial"/>
                <a:ea typeface="Arial"/>
                <a:cs typeface="Arial"/>
              </a:defRPr>
            </a:pPr>
            <a:r>
              <a:rPr sz="1000" b="1" lang="pt-BR">
                <a:solidFill>
                  <a:srgbClr val="002B5C"/>
                </a:solidFill>
                <a:latin typeface="Arial"/>
                <a:ea typeface="Arial"/>
                <a:cs typeface="Arial"/>
              </a:rPr>
              <a:t>GAZIN MULTISSEGMENTOS</a:t>
            </a:r>
          </a:p>
          <a:p>
            <a:pPr algn="l">
              <a:lnSpc>
                <a:spcPct val="95000"/>
              </a:lnSpc>
              <a:buNone/>
              <a:defRPr sz="1000" b="1" lang="pt-BR">
                <a:solidFill>
                  <a:srgbClr val="002B5C"/>
                </a:solidFill>
                <a:latin typeface="Arial"/>
                <a:ea typeface="Arial"/>
                <a:cs typeface="Arial"/>
              </a:defRPr>
            </a:pPr>
            <a:r>
              <a:rPr sz="1000" b="1" lang="pt-BR">
                <a:solidFill>
                  <a:srgbClr val="002B5C"/>
                </a:solidFill>
                <a:latin typeface="Arial"/>
                <a:ea typeface="Arial"/>
                <a:cs typeface="Arial"/>
              </a:rPr>
              <a:t>R$ 2,5 bi · Sub atual 67,6%</a:t>
            </a:r>
          </a:p>
          <a:p>
            <a:pPr algn="l">
              <a:lnSpc>
                <a:spcPct val="95000"/>
              </a:lnSpc>
              <a:buNone/>
              <a:defRPr sz="1000" b="1" lang="pt-BR">
                <a:solidFill>
                  <a:srgbClr val="002B5C"/>
                </a:solidFill>
                <a:latin typeface="Arial"/>
                <a:ea typeface="Arial"/>
                <a:cs typeface="Arial"/>
              </a:defRPr>
            </a:pPr>
            <a:r>
              <a:rPr sz="1000" b="1" lang="pt-BR">
                <a:solidFill>
                  <a:srgbClr val="002B5C"/>
                </a:solidFill>
                <a:latin typeface="Arial"/>
                <a:ea typeface="Arial"/>
                <a:cs typeface="Arial"/>
              </a:rPr>
              <a:t>Jr 51,0% · Estr. 51,0%</a:t>
            </a:r>
          </a:p>
        </ns0:txBody>
      </ns0:sp>
      <ns0:sp>
        <ns0:nvSpPr>
          <ns0:cNvPr id="34" name="mvp-card-structural_mvp_agro_revenda-29226654000110">
            <a:extLst>
              <a:ext uri="{FF2B5EF4-FFF2-40B4-BE49-F238E27FC236}">
                <ns2:creationId id="{F93A49CF-CCD1-4618-A3FA-13603CB6C065}"/>
              </a:ext>
            </a:extLst>
          </ns0:cNvPr>
          <ns0:cNvSpPr>
            <a:spLocks noGrp="1"/>
          </ns0:cNvSpPr>
          <ns0:nvPr/>
        </ns0:nvSpPr>
        <ns0:spPr>
          <a:xfrm>
            <a:off x="9842500" y="2638425"/>
            <a:ext cx="1778000" cy="438150"/>
          </a:xfrm>
          <a:prstGeom prst="rect">
            <a:avLst/>
          </a:prstGeom>
          <a:solidFill>
            <a:srgbClr val="EAF0F7"/>
          </a:solidFill>
          <a:ln w="9525">
            <a:solidFill>
              <a:srgbClr val="AFC5DD"/>
            </a:solidFill>
            <a:prstDash val="solid"/>
          </a:ln>
        </ns0:spPr>
        <ns0:txBody>
          <a:bodyPr wrap="none" lIns="47625" tIns="28575" rIns="47625" bIns="28575" anchor="ctr">
            <a:normAutofit fontScale="87719"/>
          </a:bodyPr>
          <a:lstStyle/>
          <a:p>
            <a:pPr algn="l">
              <a:lnSpc>
                <a:spcPct val="95000"/>
              </a:lnSpc>
              <a:buNone/>
              <a:defRPr sz="1000" b="1" lang="pt-BR">
                <a:solidFill>
                  <a:srgbClr val="002B5C"/>
                </a:solidFill>
                <a:latin typeface="Arial"/>
                <a:ea typeface="Arial"/>
                <a:cs typeface="Arial"/>
              </a:defRPr>
            </a:pPr>
            <a:r>
              <a:rPr sz="1000" b="1" lang="pt-BR">
                <a:solidFill>
                  <a:srgbClr val="002B5C"/>
                </a:solidFill>
                <a:latin typeface="Arial"/>
                <a:ea typeface="Arial"/>
                <a:cs typeface="Arial"/>
              </a:rPr>
              <a:t>INVESTCRED</a:t>
            </a:r>
          </a:p>
          <a:p>
            <a:pPr algn="l">
              <a:lnSpc>
                <a:spcPct val="95000"/>
              </a:lnSpc>
              <a:buNone/>
              <a:defRPr sz="1000" b="1" lang="pt-BR">
                <a:solidFill>
                  <a:srgbClr val="002B5C"/>
                </a:solidFill>
                <a:latin typeface="Arial"/>
                <a:ea typeface="Arial"/>
                <a:cs typeface="Arial"/>
              </a:defRPr>
            </a:pPr>
            <a:r>
              <a:rPr sz="1000" b="1" lang="pt-BR">
                <a:solidFill>
                  <a:srgbClr val="002B5C"/>
                </a:solidFill>
                <a:latin typeface="Arial"/>
                <a:ea typeface="Arial"/>
                <a:cs typeface="Arial"/>
              </a:rPr>
              <a:t>R$ 1,2 bi · Sub atual 79,6%</a:t>
            </a:r>
          </a:p>
          <a:p>
            <a:pPr algn="l">
              <a:lnSpc>
                <a:spcPct val="95000"/>
              </a:lnSpc>
              <a:buNone/>
              <a:defRPr sz="1000" b="1" lang="pt-BR">
                <a:solidFill>
                  <a:srgbClr val="002B5C"/>
                </a:solidFill>
                <a:latin typeface="Arial"/>
                <a:ea typeface="Arial"/>
                <a:cs typeface="Arial"/>
              </a:defRPr>
            </a:pPr>
            <a:r>
              <a:rPr sz="1000" b="1" lang="pt-BR">
                <a:solidFill>
                  <a:srgbClr val="002B5C"/>
                </a:solidFill>
                <a:latin typeface="Arial"/>
                <a:ea typeface="Arial"/>
                <a:cs typeface="Arial"/>
              </a:rPr>
              <a:t>Jr 67,4%* · Estr. 67,4%*</a:t>
            </a:r>
          </a:p>
        </ns0:txBody>
      </ns0:sp>
      <ns0:sp>
        <ns0:nvSpPr>
          <ns0:cNvPr id="35" name="mvp-card-structural_mvp_agro_revenda-43866348000179">
            <a:extLst>
              <a:ext uri="{FF2B5EF4-FFF2-40B4-BE49-F238E27FC236}">
                <ns2:creationId id="{BF5AFB08-5856-4475-B977-127E294C0D6A}"/>
              </a:ext>
            </a:extLst>
          </ns0:cNvPr>
          <ns0:cNvSpPr>
            <a:spLocks noGrp="1"/>
          </ns0:cNvSpPr>
          <ns0:nvPr/>
        </ns0:nvSpPr>
        <ns0:spPr>
          <a:xfrm>
            <a:off x="9842500" y="3095625"/>
            <a:ext cx="1778000" cy="438150"/>
          </a:xfrm>
          <a:prstGeom prst="rect">
            <a:avLst/>
          </a:prstGeom>
          <a:solidFill>
            <a:srgbClr val="F5F6F7"/>
          </a:solidFill>
          <a:ln w="9525">
            <a:solidFill>
              <a:srgbClr val="B8BDC2"/>
            </a:solidFill>
            <a:prstDash val="solid"/>
          </a:ln>
        </ns0:spPr>
        <ns0:txBody>
          <a:bodyPr wrap="none" lIns="47625" tIns="28575" rIns="47625" bIns="28575" anchor="ctr">
            <a:normAutofit fontScale="87719"/>
          </a:bodyPr>
          <a:lstStyle/>
          <a:p>
            <a:pPr algn="l">
              <a:lnSpc>
                <a:spcPct val="95000"/>
              </a:lnSpc>
              <a:buNone/>
              <a:defRPr sz="1000" b="1" lang="pt-BR">
                <a:solidFill>
                  <a:srgbClr val="5E646A"/>
                </a:solidFill>
                <a:latin typeface="Arial"/>
                <a:ea typeface="Arial"/>
                <a:cs typeface="Arial"/>
              </a:defRPr>
            </a:pPr>
            <a:r>
              <a:rPr sz="1000" b="1" lang="pt-BR">
                <a:solidFill>
                  <a:srgbClr val="5E646A"/>
                </a:solidFill>
                <a:latin typeface="Arial"/>
                <a:ea typeface="Arial"/>
                <a:cs typeface="Arial"/>
              </a:rPr>
              <a:t>OPEA AGRO SUMITOMO</a:t>
            </a:r>
          </a:p>
          <a:p>
            <a:pPr algn="l">
              <a:lnSpc>
                <a:spcPct val="95000"/>
              </a:lnSpc>
              <a:buNone/>
              <a:defRPr sz="1000" b="1" lang="pt-BR">
                <a:solidFill>
                  <a:srgbClr val="5E646A"/>
                </a:solidFill>
                <a:latin typeface="Arial"/>
                <a:ea typeface="Arial"/>
                <a:cs typeface="Arial"/>
              </a:defRPr>
            </a:pPr>
            <a:r>
              <a:rPr sz="1000" b="1" lang="pt-BR">
                <a:solidFill>
                  <a:srgbClr val="5E646A"/>
                </a:solidFill>
                <a:latin typeface="Arial"/>
                <a:ea typeface="Arial"/>
                <a:cs typeface="Arial"/>
              </a:rPr>
              <a:t>R$ 256,0 mi · Sub atual 65,4%</a:t>
            </a:r>
          </a:p>
          <a:p>
            <a:pPr algn="l">
              <a:lnSpc>
                <a:spcPct val="95000"/>
              </a:lnSpc>
              <a:buNone/>
              <a:defRPr sz="1000" b="1" lang="pt-BR">
                <a:solidFill>
                  <a:srgbClr val="5E646A"/>
                </a:solidFill>
                <a:latin typeface="Arial"/>
                <a:ea typeface="Arial"/>
                <a:cs typeface="Arial"/>
              </a:defRPr>
            </a:pPr>
            <a:r>
              <a:rPr sz="1000" b="1" lang="pt-BR">
                <a:solidFill>
                  <a:srgbClr val="5E646A"/>
                </a:solidFill>
                <a:latin typeface="Arial"/>
                <a:ea typeface="Arial"/>
                <a:cs typeface="Arial"/>
              </a:rPr>
              <a:t>Jr 5,0% · Estr. N/D*</a:t>
            </a:r>
          </a:p>
        </ns0:txBody>
      </ns0:sp>
      <ns0:sp>
        <ns0:nvSpPr>
          <ns0:cNvPr id="36" name="mvp-card-structural_mvp_agro_revenda-51554551000138">
            <a:extLst>
              <a:ext uri="{FF2B5EF4-FFF2-40B4-BE49-F238E27FC236}">
                <ns2:creationId id="{59640539-620A-4DA8-A944-0FFA338B57E2}"/>
              </a:ext>
            </a:extLst>
          </ns0:cNvPr>
          <ns0:cNvSpPr>
            <a:spLocks noGrp="1"/>
          </ns0:cNvSpPr>
          <ns0:nvPr/>
        </ns0:nvSpPr>
        <ns0:spPr>
          <a:xfrm>
            <a:off x="9842500" y="3552825"/>
            <a:ext cx="1778000" cy="438150"/>
          </a:xfrm>
          <a:prstGeom prst="rect">
            <a:avLst/>
          </a:prstGeom>
          <a:solidFill>
            <a:srgbClr val="EAF0F7"/>
          </a:solidFill>
          <a:ln w="9525">
            <a:solidFill>
              <a:srgbClr val="AFC5DD"/>
            </a:solidFill>
            <a:prstDash val="solid"/>
          </a:ln>
        </ns0:spPr>
        <ns0:txBody>
          <a:bodyPr wrap="none" lIns="47625" tIns="28575" rIns="47625" bIns="28575" anchor="ctr">
            <a:normAutofit fontScale="87719"/>
          </a:bodyPr>
          <a:lstStyle/>
          <a:p>
            <a:pPr algn="l">
              <a:lnSpc>
                <a:spcPct val="95000"/>
              </a:lnSpc>
              <a:buNone/>
              <a:defRPr sz="1000" b="1" lang="pt-BR">
                <a:solidFill>
                  <a:srgbClr val="002B5C"/>
                </a:solidFill>
                <a:latin typeface="Arial"/>
                <a:ea typeface="Arial"/>
                <a:cs typeface="Arial"/>
              </a:defRPr>
            </a:pPr>
            <a:r>
              <a:rPr sz="1000" b="1" lang="pt-BR">
                <a:solidFill>
                  <a:srgbClr val="002B5C"/>
                </a:solidFill>
                <a:latin typeface="Arial"/>
                <a:ea typeface="Arial"/>
                <a:cs typeface="Arial"/>
              </a:rPr>
              <a:t>CLASSE ÚNICA DO FIDC</a:t>
            </a:r>
          </a:p>
          <a:p>
            <a:pPr algn="l">
              <a:lnSpc>
                <a:spcPct val="95000"/>
              </a:lnSpc>
              <a:buNone/>
              <a:defRPr sz="1000" b="1" lang="pt-BR">
                <a:solidFill>
                  <a:srgbClr val="002B5C"/>
                </a:solidFill>
                <a:latin typeface="Arial"/>
                <a:ea typeface="Arial"/>
                <a:cs typeface="Arial"/>
              </a:defRPr>
            </a:pPr>
            <a:r>
              <a:rPr sz="1000" b="1" lang="pt-BR">
                <a:solidFill>
                  <a:srgbClr val="002B5C"/>
                </a:solidFill>
                <a:latin typeface="Arial"/>
                <a:ea typeface="Arial"/>
                <a:cs typeface="Arial"/>
              </a:rPr>
              <a:t>R$ 64,5 mi · Sub atual 100,0%</a:t>
            </a:r>
          </a:p>
          <a:p>
            <a:pPr algn="l">
              <a:lnSpc>
                <a:spcPct val="95000"/>
              </a:lnSpc>
              <a:buNone/>
              <a:defRPr sz="1000" b="1" lang="pt-BR">
                <a:solidFill>
                  <a:srgbClr val="002B5C"/>
                </a:solidFill>
                <a:latin typeface="Arial"/>
                <a:ea typeface="Arial"/>
                <a:cs typeface="Arial"/>
              </a:defRPr>
            </a:pPr>
            <a:r>
              <a:rPr sz="1000" b="1" lang="pt-BR">
                <a:solidFill>
                  <a:srgbClr val="002B5C"/>
                </a:solidFill>
                <a:latin typeface="Arial"/>
                <a:ea typeface="Arial"/>
                <a:cs typeface="Arial"/>
              </a:rPr>
              <a:t>Jr N/D · Estr. 25,0%*</a:t>
            </a:r>
          </a:p>
        </ns0:txBody>
      </ns0:sp>
      <ns0:sp>
        <ns0:nvSpPr>
          <ns0:cNvPr id="37" name="mvp-card-structural_mvp_agro_revenda-47151680000108">
            <a:extLst>
              <a:ext uri="{FF2B5EF4-FFF2-40B4-BE49-F238E27FC236}">
                <ns2:creationId id="{C8DE9463-D15F-4501-AC48-AA850990264E}"/>
              </a:ext>
            </a:extLst>
          </ns0:cNvPr>
          <ns0:cNvSpPr>
            <a:spLocks noGrp="1"/>
          </ns0:cNvSpPr>
          <ns0:nvPr/>
        </ns0:nvSpPr>
        <ns0:spPr>
          <a:xfrm>
            <a:off x="9842500" y="4010025"/>
            <a:ext cx="1778000" cy="438150"/>
          </a:xfrm>
          <a:prstGeom prst="rect">
            <a:avLst/>
          </a:prstGeom>
          <a:solidFill>
            <a:srgbClr val="EAF0F7"/>
          </a:solidFill>
          <a:ln w="9525">
            <a:solidFill>
              <a:srgbClr val="AFC5DD"/>
            </a:solidFill>
            <a:prstDash val="solid"/>
          </a:ln>
        </ns0:spPr>
        <ns0:txBody>
          <a:bodyPr wrap="none" lIns="47625" tIns="28575" rIns="47625" bIns="28575" anchor="ctr">
            <a:normAutofit fontScale="87719"/>
          </a:bodyPr>
          <a:lstStyle/>
          <a:p>
            <a:pPr algn="l">
              <a:lnSpc>
                <a:spcPct val="95000"/>
              </a:lnSpc>
              <a:buNone/>
              <a:defRPr sz="1000" b="1" lang="pt-BR">
                <a:solidFill>
                  <a:srgbClr val="002B5C"/>
                </a:solidFill>
                <a:latin typeface="Arial"/>
                <a:ea typeface="Arial"/>
                <a:cs typeface="Arial"/>
              </a:defRPr>
            </a:pPr>
            <a:r>
              <a:rPr sz="1000" b="1" lang="pt-BR">
                <a:solidFill>
                  <a:srgbClr val="002B5C"/>
                </a:solidFill>
                <a:latin typeface="Arial"/>
                <a:ea typeface="Arial"/>
                <a:cs typeface="Arial"/>
              </a:rPr>
              <a:t>FARM TECH IBBA I</a:t>
            </a:r>
          </a:p>
          <a:p>
            <a:pPr algn="l">
              <a:lnSpc>
                <a:spcPct val="95000"/>
              </a:lnSpc>
              <a:buNone/>
              <a:defRPr sz="1000" b="1" lang="pt-BR">
                <a:solidFill>
                  <a:srgbClr val="002B5C"/>
                </a:solidFill>
                <a:latin typeface="Arial"/>
                <a:ea typeface="Arial"/>
                <a:cs typeface="Arial"/>
              </a:defRPr>
            </a:pPr>
            <a:r>
              <a:rPr sz="1000" b="1" lang="pt-BR">
                <a:solidFill>
                  <a:srgbClr val="002B5C"/>
                </a:solidFill>
                <a:latin typeface="Arial"/>
                <a:ea typeface="Arial"/>
                <a:cs typeface="Arial"/>
              </a:rPr>
              <a:t>R$ 9,4 mi · Sub atual 100,1%</a:t>
            </a:r>
          </a:p>
          <a:p>
            <a:pPr algn="l">
              <a:lnSpc>
                <a:spcPct val="95000"/>
              </a:lnSpc>
              <a:buNone/>
              <a:defRPr sz="1000" b="1" lang="pt-BR">
                <a:solidFill>
                  <a:srgbClr val="002B5C"/>
                </a:solidFill>
                <a:latin typeface="Arial"/>
                <a:ea typeface="Arial"/>
                <a:cs typeface="Arial"/>
              </a:defRPr>
            </a:pPr>
            <a:r>
              <a:rPr sz="1000" b="1" lang="pt-BR">
                <a:solidFill>
                  <a:srgbClr val="002B5C"/>
                </a:solidFill>
                <a:latin typeface="Arial"/>
                <a:ea typeface="Arial"/>
                <a:cs typeface="Arial"/>
              </a:rPr>
              <a:t>Jr N/D · Estr. 20,0%*</a:t>
            </a:r>
          </a:p>
        </ns0:txBody>
      </ns0:sp>
      <ns0:sp>
        <ns0:nvSpPr>
          <ns0:cNvPr id="38" name="mvp-card-structural_mvp_agro_revenda-43616659000180">
            <a:extLst>
              <a:ext uri="{FF2B5EF4-FFF2-40B4-BE49-F238E27FC236}">
                <ns2:creationId id="{7AD1B795-49CB-46EA-BC45-843A3FD63312}"/>
              </a:ext>
            </a:extLst>
          </ns0:cNvPr>
          <ns0:cNvSpPr>
            <a:spLocks noGrp="1"/>
          </ns0:cNvSpPr>
          <ns0:nvPr/>
        </ns0:nvSpPr>
        <ns0:spPr>
          <a:xfrm>
            <a:off x="9842500" y="4467225"/>
            <a:ext cx="1778000" cy="438150"/>
          </a:xfrm>
          <a:prstGeom prst="rect">
            <a:avLst/>
          </a:prstGeom>
          <a:solidFill>
            <a:srgbClr val="EAF0F7"/>
          </a:solidFill>
          <a:ln w="9525">
            <a:solidFill>
              <a:srgbClr val="AFC5DD"/>
            </a:solidFill>
            <a:prstDash val="solid"/>
          </a:ln>
        </ns0:spPr>
        <ns0:txBody>
          <a:bodyPr wrap="none" lIns="47625" tIns="28575" rIns="47625" bIns="28575" anchor="ctr">
            <a:normAutofit fontScale="87719"/>
          </a:bodyPr>
          <a:lstStyle/>
          <a:p>
            <a:pPr algn="l">
              <a:lnSpc>
                <a:spcPct val="95000"/>
              </a:lnSpc>
              <a:buNone/>
              <a:defRPr sz="1000" b="1" lang="pt-BR">
                <a:solidFill>
                  <a:srgbClr val="002B5C"/>
                </a:solidFill>
                <a:latin typeface="Arial"/>
                <a:ea typeface="Arial"/>
                <a:cs typeface="Arial"/>
              </a:defRPr>
            </a:pPr>
            <a:r>
              <a:rPr sz="1000" b="1" lang="pt-BR">
                <a:solidFill>
                  <a:srgbClr val="002B5C"/>
                </a:solidFill>
                <a:latin typeface="Arial"/>
                <a:ea typeface="Arial"/>
                <a:cs typeface="Arial"/>
              </a:rPr>
              <a:t>TALÓ 1</a:t>
            </a:r>
          </a:p>
          <a:p>
            <a:pPr algn="l">
              <a:lnSpc>
                <a:spcPct val="95000"/>
              </a:lnSpc>
              <a:buNone/>
              <a:defRPr sz="1000" b="1" lang="pt-BR">
                <a:solidFill>
                  <a:srgbClr val="002B5C"/>
                </a:solidFill>
                <a:latin typeface="Arial"/>
                <a:ea typeface="Arial"/>
                <a:cs typeface="Arial"/>
              </a:defRPr>
            </a:pPr>
            <a:r>
              <a:rPr sz="1000" b="1" lang="pt-BR">
                <a:solidFill>
                  <a:srgbClr val="002B5C"/>
                </a:solidFill>
                <a:latin typeface="Arial"/>
                <a:ea typeface="Arial"/>
                <a:cs typeface="Arial"/>
              </a:rPr>
              <a:t>R$ 7,0 mi · Sub atual 100,0%</a:t>
            </a:r>
          </a:p>
          <a:p>
            <a:pPr algn="l">
              <a:lnSpc>
                <a:spcPct val="95000"/>
              </a:lnSpc>
              <a:buNone/>
              <a:defRPr sz="1000" b="1" lang="pt-BR">
                <a:solidFill>
                  <a:srgbClr val="002B5C"/>
                </a:solidFill>
                <a:latin typeface="Arial"/>
                <a:ea typeface="Arial"/>
                <a:cs typeface="Arial"/>
              </a:defRPr>
            </a:pPr>
            <a:r>
              <a:rPr sz="1000" b="1" lang="pt-BR">
                <a:solidFill>
                  <a:srgbClr val="002B5C"/>
                </a:solidFill>
                <a:latin typeface="Arial"/>
                <a:ea typeface="Arial"/>
                <a:cs typeface="Arial"/>
              </a:rPr>
              <a:t>Jr N/D · Estr. 25,0%*</a:t>
            </a:r>
          </a:p>
        </ns0:txBody>
      </ns0:sp>
      <ns0:sp>
        <ns0:nvSpPr>
          <ns0:cNvPr id="39" name="">
            <a:extLst>
              <a:ext uri="{FF2B5EF4-FFF2-40B4-BE49-F238E27FC236}">
                <ns2:creationId id="{D07CEE52-D39A-4CE0-BE71-FD804DCBAD8B}"/>
              </a:ext>
            </a:extLst>
          </ns0:cNvPr>
          <ns0:cNvSpPr>
            <a:spLocks noGrp="1"/>
          </ns0:cNvSpPr>
          <ns0:nvPr/>
        </ns0:nvSpPr>
        <ns0:spPr>
          <a:xfrm>
            <a:off x="571500" y="5981700"/>
            <a:ext cx="11049000" cy="295275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0" tIns="0" rIns="0" bIns="0" anchor="ctr">
            <a:normAutofit fontScale="88796"/>
          </a:bodyPr>
          <a:lstStyle/>
          <a:p>
            <a:pPr algn="r">
              <a:lnSpc>
                <a:spcPct val="100000"/>
              </a:lnSpc>
              <a:buNone/>
              <a:def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rPr>
              <a:t>Vinho = abaixo do mínimo estrutural · âmbar = até 2 p.p. acima · azul = mais de 2 p.p. acima · cinza = estrutura incomparável. * Categoria editorial ou piso total, combinado, calculado, ajustado ou sem equivalência direta.</a:t>
            </a:r>
          </a:p>
        </ns0:txBody>
      </ns0:sp>
    </ns0:spTree>
    <ns0:extLst>
      <ns0:ext uri="{BB962C8B-B14F-4D97-AF65-F5344CB8AC3E}">
        <ns3:creationId val="1987295364"/>
      </ns0:ext>
    </ns0:extLst>
  </ns0:cSld>
</ns0:sld>
</file>

<file path=ppt/slides/slide21.xml><?xml version="1.0" encoding="utf-8"?>
<ns0:sld xmlns:a="http://schemas.openxmlformats.org/drawingml/2006/main" xmlns:ns0="http://schemas.openxmlformats.org/presentationml/2006/main" xmlns:ns2="http://schemas.microsoft.com/office/drawing/2014/main" xmlns:ns3="http://schemas.microsoft.com/office/powerpoint/2010/main">
  <ns0:cSld>
    <ns0:bg>
      <ns0:bgPr>
        <a:solidFill>
          <a:srgbClr val="FFFFFF"/>
        </a:solidFill>
      </ns0:bgPr>
    </ns0:bg>
    <ns0:spTree>
      <ns0:nvGrpSpPr>
        <ns0:cNvPr id="1" name=""/>
        <ns0:cNvGrpSpPr/>
        <ns0:nvPr/>
      </ns0:nvGrpSpPr>
      <ns0:grpSpPr>
        <a:xfrm/>
      </ns0:grpSpPr>
      <ns0:sp>
        <ns0:nvSpPr>
          <ns0:cNvPr id="34" name="">
            <a:extLst>
              <a:ext uri="{FF2B5EF4-FFF2-40B4-BE49-F238E27FC236}">
                <ns2:creationId id="{CFA163D8-C784-4261-916E-0D1F0246B8E5}"/>
              </a:ext>
            </a:extLst>
          </ns0:cNvPr>
          <ns0:cNvSpPr>
            <a:spLocks noGrp="1"/>
          </ns0:cNvSpPr>
          <ns0:nvPr/>
        </ns0:nvSpPr>
        <ns0:spPr>
          <a:xfrm>
            <a:off x="571500" y="257175"/>
            <a:ext cx="11049000" cy="19050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0" tIns="0" rIns="0" bIns="0" anchor="t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1000" b="1" lang="pt-BR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1000" b="1" lang="pt-BR">
                <a:solidFill>
                  <a:srgbClr val="EC7000"/>
                </a:solidFill>
                <a:latin typeface="Arial"/>
                <a:ea typeface="Arial"/>
                <a:cs typeface="Arial"/>
              </a:rPr>
              <a:t>RISCO ESTRUTURAL · CARTEIRA I · RISCO CORPORATIVO</a:t>
            </a:r>
          </a:p>
        </ns0:txBody>
      </ns0:sp>
      <ns0:sp>
        <ns0:nvSpPr>
          <ns0:cNvPr id="2" name="">
            <a:extLst>
              <a:ext uri="{FF2B5EF4-FFF2-40B4-BE49-F238E27FC236}">
                <ns2:creationId id="{8F4BCC11-D420-4AD3-895E-96319A7A5F21}"/>
              </a:ext>
            </a:extLst>
          </ns0:cNvPr>
          <ns0:cNvSpPr>
            <a:spLocks noGrp="1"/>
          </ns0:cNvSpPr>
          <ns0:nvPr/>
        </ns0:nvSpPr>
        <ns0:spPr>
          <a:xfrm>
            <a:off x="571500" y="504825"/>
            <a:ext cx="11049000" cy="466725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0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2100" b="1" lang="pt-BR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2100" b="1" lang="pt-BR">
                <a:solidFill>
                  <a:srgbClr val="151515"/>
                </a:solidFill>
                <a:latin typeface="Arial"/>
                <a:ea typeface="Arial"/>
                <a:cs typeface="Arial"/>
              </a:rPr>
              <a:t>Risco Corporativo | 1 veículo comparável está abaixo do mínimo estrutural</a:t>
            </a:r>
          </a:p>
        </ns0:txBody>
      </ns0:sp>
      <ns0:sp>
        <ns0:nvSpPr>
          <ns0:cNvPr id="3" name="">
            <a:extLst>
              <a:ext uri="{FF2B5EF4-FFF2-40B4-BE49-F238E27FC236}">
                <ns2:creationId id="{977641A3-65A1-42DB-99A9-4807677AF06D}"/>
              </a:ext>
            </a:extLst>
          </ns0:cNvPr>
          <ns0:cNvSpPr>
            <a:spLocks noGrp="1"/>
          </ns0:cNvSpPr>
          <ns0:nvPr/>
        </ns0:nvSpPr>
        <ns0:spPr>
          <a:xfrm>
            <a:off x="571500" y="1047750"/>
            <a:ext cx="11049000" cy="9525"/>
          </a:xfrm>
          <a:prstGeom prst="rect">
            <a:avLst/>
          </a:prstGeom>
          <a:solidFill>
            <a:srgbClr val="D7DADD"/>
          </a:solidFill>
          <a:ln w="0">
            <a:noFill/>
            <a:prstDash val="solid"/>
          </a:ln>
        </ns0:spPr>
      </ns0:sp>
      <ns0:sp>
        <ns0:nvSpPr>
          <ns0:cNvPr id="4" name="">
            <a:extLst>
              <a:ext uri="{FF2B5EF4-FFF2-40B4-BE49-F238E27FC236}">
                <ns2:creationId id="{A8E4B204-3E07-4177-93F9-0C77C1F51E94}"/>
              </a:ext>
            </a:extLst>
          </ns0:cNvPr>
          <ns0:cNvSpPr>
            <a:spLocks noGrp="1"/>
          </ns0:cNvSpPr>
          <ns0:nvPr/>
        </ns0:nvSpPr>
        <ns0:spPr>
          <a:xfrm>
            <a:off x="571500" y="6353175"/>
            <a:ext cx="11049000" cy="9525"/>
          </a:xfrm>
          <a:prstGeom prst="rect">
            <a:avLst/>
          </a:prstGeom>
          <a:solidFill>
            <a:srgbClr val="D7DADD"/>
          </a:solidFill>
          <a:ln w="0">
            <a:noFill/>
            <a:prstDash val="solid"/>
          </a:ln>
        </ns0:spPr>
      </ns0:sp>
      <ns0:sp>
        <ns0:nvSpPr>
          <ns0:cNvPr id="5" name="">
            <a:extLst>
              <a:ext uri="{FF2B5EF4-FFF2-40B4-BE49-F238E27FC236}">
                <ns2:creationId id="{22321FC3-5AEB-4921-ADF6-EE2E8B6C1E48}"/>
              </a:ext>
            </a:extLst>
          </ns0:cNvPr>
          <ns0:cNvSpPr>
            <a:spLocks noGrp="1"/>
          </ns0:cNvSpPr>
          <ns0:nvPr/>
        </ns0:nvSpPr>
        <ns0:spPr>
          <a:xfrm>
            <a:off x="571500" y="6419850"/>
            <a:ext cx="10001250" cy="1714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47625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rPr>
              <a:t>CVM, Informe Mensal, jun/26; pisos em regulamentos FundosNet/B3. Lacunas ficam fora do slide e permanecem no workbook/explorador.</a:t>
            </a:r>
          </a:p>
        </ns0:txBody>
      </ns0:sp>
      <ns0:sp>
        <ns0:nvSpPr>
          <ns0:cNvPr id="6" name="">
            <a:extLst>
              <a:ext uri="{FF2B5EF4-FFF2-40B4-BE49-F238E27FC236}">
                <ns2:creationId id="{E2F16B88-B16A-4C4B-B34C-DA2EE2433951}"/>
              </a:ext>
            </a:extLst>
          </ns0:cNvPr>
          <ns0:cNvSpPr>
            <a:spLocks noGrp="1"/>
          </ns0:cNvSpPr>
          <ns0:nvPr/>
        </ns0:nvSpPr>
        <ns0:spPr>
          <a:xfrm>
            <a:off x="11144250" y="6410325"/>
            <a:ext cx="476250" cy="1714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ctr">
            <a:normAutofit fontScale="100000"/>
          </a:bodyPr>
          <a:lstStyle/>
          <a:p>
            <a:pPr algn="r">
              <a:lnSpc>
                <a:spcPct val="100000"/>
              </a:lnSpc>
              <a:buNone/>
              <a:def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rPr>
              <a:t>21</a:t>
            </a:r>
          </a:p>
        </ns0:txBody>
      </ns0:sp>
      <ns0:sp>
        <ns0:nvSpPr>
          <ns0:cNvPr id="7" name="mvp-summary-structural_mvp_risco_corporativo-1">
            <a:extLst>
              <a:ext uri="{FF2B5EF4-FFF2-40B4-BE49-F238E27FC236}">
                <ns2:creationId id="{B51C3A95-2489-46F7-BC3D-6D4685CB8D1C}"/>
              </a:ext>
            </a:extLst>
          </ns0:cNvPr>
          <ns0:cNvSpPr>
            <a:spLocks noGrp="1"/>
          </ns0:cNvSpPr>
          <ns0:nvPr/>
        </ns0:nvSpPr>
        <ns0:spPr>
          <a:xfrm>
            <a:off x="571500" y="1152525"/>
            <a:ext cx="3143250" cy="609600"/>
          </a:xfrm>
          <a:prstGeom prst="rect">
            <a:avLst/>
          </a:prstGeom>
          <a:solidFill>
            <a:srgbClr val="EAF0F7"/>
          </a:solidFill>
          <a:ln w="0">
            <a:solidFill>
              <a:srgbClr val="EAF0F7"/>
            </a:solidFill>
            <a:prstDash val="solid"/>
          </a:ln>
        </ns0:spPr>
        <ns0:txBody>
          <a:bodyPr wrap="square" lIns="95250" tIns="66675" rIns="95250" bIns="66675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1000" b="1" lang="pt-BR">
                <a:solidFill>
                  <a:srgbClr val="002B5C"/>
                </a:solidFill>
                <a:latin typeface="Arial"/>
                <a:ea typeface="Arial"/>
                <a:cs typeface="Arial"/>
              </a:defRPr>
            </a:pPr>
            <a:r>
              <a:rPr sz="1000" b="1" lang="pt-BR">
                <a:solidFill>
                  <a:srgbClr val="002B5C"/>
                </a:solidFill>
                <a:latin typeface="Arial"/>
                <a:ea typeface="Arial"/>
                <a:cs typeface="Arial"/>
              </a:rPr>
              <a:t>COBERTURA DO SLIDE</a:t>
            </a:r>
          </a:p>
          <a:p>
            <a:pPr algn="l">
              <a:lnSpc>
                <a:spcPct val="100000"/>
              </a:lnSpc>
              <a:buNone/>
              <a:defRPr sz="1000" b="1" lang="pt-BR">
                <a:solidFill>
                  <a:srgbClr val="002B5C"/>
                </a:solidFill>
                <a:latin typeface="Arial"/>
                <a:ea typeface="Arial"/>
                <a:cs typeface="Arial"/>
              </a:defRPr>
            </a:pPr>
            <a:r>
              <a:rPr sz="1000" b="1" lang="pt-BR">
                <a:solidFill>
                  <a:srgbClr val="002B5C"/>
                </a:solidFill>
                <a:latin typeface="Arial"/>
                <a:ea typeface="Arial"/>
                <a:cs typeface="Arial"/>
              </a:rPr>
              <a:t>11/13 CNPJs · R$ 5,5 bi de R$ 6,7 bi</a:t>
            </a:r>
          </a:p>
        </ns0:txBody>
      </ns0:sp>
      <ns0:sp>
        <ns0:nvSpPr>
          <ns0:cNvPr id="8" name="mvp-summary-structural_mvp_risco_corporativo-2">
            <a:extLst>
              <a:ext uri="{FF2B5EF4-FFF2-40B4-BE49-F238E27FC236}">
                <ns2:creationId id="{20F17326-F05A-4E42-BB7C-CCC74EA3E302}"/>
              </a:ext>
            </a:extLst>
          </ns0:cNvPr>
          <ns0:cNvSpPr>
            <a:spLocks noGrp="1"/>
          </ns0:cNvSpPr>
          <ns0:nvPr/>
        </ns0:nvSpPr>
        <ns0:spPr>
          <a:xfrm>
            <a:off x="3810000" y="1152525"/>
            <a:ext cx="4810125" cy="609600"/>
          </a:xfrm>
          <a:prstGeom prst="rect">
            <a:avLst/>
          </a:prstGeom>
          <a:solidFill>
            <a:srgbClr val="FFFFFF"/>
          </a:solidFill>
          <a:ln w="9525">
            <a:solidFill>
              <a:srgbClr val="AFC5DD"/>
            </a:solidFill>
            <a:prstDash val="solid"/>
          </a:ln>
        </ns0:spPr>
        <ns0:txBody>
          <a:bodyPr wrap="square" lIns="95250" tIns="66675" rIns="95250" bIns="66675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1000" b="1" lang="pt-BR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000" b="1" lang="pt-BR">
                <a:solidFill>
                  <a:srgbClr val="30353A"/>
                </a:solidFill>
                <a:latin typeface="Arial"/>
                <a:ea typeface="Arial"/>
                <a:cs typeface="Arial"/>
              </a:rPr>
              <a:t>REFERÊNCIA DE MERCADO · SUB/PL ATUAL</a:t>
            </a:r>
          </a:p>
          <a:p>
            <a:pPr algn="l">
              <a:lnSpc>
                <a:spcPct val="100000"/>
              </a:lnSpc>
              <a:buNone/>
              <a:defRPr sz="1000" b="1" lang="pt-BR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000" b="1" lang="pt-BR">
                <a:solidFill>
                  <a:srgbClr val="30353A"/>
                </a:solidFill>
                <a:latin typeface="Arial"/>
                <a:ea typeface="Arial"/>
                <a:cs typeface="Arial"/>
              </a:rPr>
              <a:t>0 pares com Sub/PL atual</a:t>
            </a:r>
          </a:p>
        </ns0:txBody>
      </ns0:sp>
      <ns0:sp>
        <ns0:nvSpPr>
          <ns0:cNvPr id="9" name="mvp-summary-structural_mvp_risco_corporativo-3">
            <a:extLst>
              <a:ext uri="{FF2B5EF4-FFF2-40B4-BE49-F238E27FC236}">
                <ns2:creationId id="{42997448-E5CA-467C-B5AB-EE04C0FECF68}"/>
              </a:ext>
            </a:extLst>
          </ns0:cNvPr>
          <ns0:cNvSpPr>
            <a:spLocks noGrp="1"/>
          </ns0:cNvSpPr>
          <ns0:nvPr/>
        </ns0:nvSpPr>
        <ns0:spPr>
          <a:xfrm>
            <a:off x="8715375" y="1152525"/>
            <a:ext cx="2905125" cy="609600"/>
          </a:xfrm>
          <a:prstGeom prst="rect">
            <a:avLst/>
          </a:prstGeom>
          <a:solidFill>
            <a:srgbClr val="FFF1E6"/>
          </a:solidFill>
          <a:ln w="0">
            <a:solidFill>
              <a:srgbClr val="FFF1E6"/>
            </a:solidFill>
            <a:prstDash val="solid"/>
          </a:ln>
        </ns0:spPr>
        <ns0:txBody>
          <a:bodyPr wrap="square" lIns="95250" tIns="66675" rIns="95250" bIns="66675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1000" b="1" lang="pt-BR">
                <a:solidFill>
                  <a:srgbClr val="7A1F3D"/>
                </a:solidFill>
                <a:latin typeface="Arial"/>
                <a:ea typeface="Arial"/>
                <a:cs typeface="Arial"/>
              </a:defRPr>
            </a:pPr>
            <a:r>
              <a:rPr sz="1000" b="1" lang="pt-BR">
                <a:solidFill>
                  <a:srgbClr val="7A1F3D"/>
                </a:solidFill>
                <a:latin typeface="Arial"/>
                <a:ea typeface="Arial"/>
                <a:cs typeface="Arial"/>
              </a:rPr>
              <a:t>LEITURA RELATIVA</a:t>
            </a:r>
          </a:p>
          <a:p>
            <a:pPr algn="l">
              <a:lnSpc>
                <a:spcPct val="100000"/>
              </a:lnSpc>
              <a:buNone/>
              <a:defRPr sz="1000" b="1" lang="pt-BR">
                <a:solidFill>
                  <a:srgbClr val="7A1F3D"/>
                </a:solidFill>
                <a:latin typeface="Arial"/>
                <a:ea typeface="Arial"/>
                <a:cs typeface="Arial"/>
              </a:defRPr>
            </a:pPr>
            <a:r>
              <a:rPr sz="1000" b="1" lang="pt-BR">
                <a:solidFill>
                  <a:srgbClr val="7A1F3D"/>
                </a:solidFill>
                <a:latin typeface="Arial"/>
                <a:ea typeface="Arial"/>
                <a:cs typeface="Arial"/>
              </a:rPr>
              <a:t>N/D · benchmark insuficiente</a:t>
            </a:r>
          </a:p>
        </ns0:txBody>
      </ns0:sp>
      <ns0:sp>
        <ns0:nvSpPr>
          <ns0:cNvPr id="10" name="mvp-band-structural_mvp_risco_corporativo-1">
            <a:extLst>
              <a:ext uri="{FF2B5EF4-FFF2-40B4-BE49-F238E27FC236}">
                <ns2:creationId id="{A36AF28C-2C80-41FC-9DFA-09DEFFEC9CC5}"/>
              </a:ext>
            </a:extLst>
          </ns0:cNvPr>
          <ns0:cNvSpPr>
            <a:spLocks noGrp="1"/>
          </ns0:cNvSpPr>
          <ns0:nvPr/>
        </ns0:nvSpPr>
        <ns0:spPr>
          <a:xfrm>
            <a:off x="571500" y="1885950"/>
            <a:ext cx="1778000" cy="22860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0" tIns="0" rIns="0" bIns="0" anchor="ctr">
            <a:normAutofit fontScale="100000"/>
          </a:bodyPr>
          <a:lstStyle/>
          <a:p>
            <a:pPr algn="ctr">
              <a:lnSpc>
                <a:spcPct val="100000"/>
              </a:lnSpc>
              <a:buNone/>
              <a:defRPr sz="1050" b="1" lang="pt-BR">
                <a:solidFill>
                  <a:srgbClr val="002B5C"/>
                </a:solidFill>
                <a:latin typeface="Arial"/>
                <a:ea typeface="Arial"/>
                <a:cs typeface="Arial"/>
              </a:defRPr>
            </a:pPr>
            <a:r>
              <a:rPr sz="1050" b="1" lang="pt-BR">
                <a:solidFill>
                  <a:srgbClr val="002B5C"/>
                </a:solidFill>
                <a:latin typeface="Arial"/>
                <a:ea typeface="Arial"/>
                <a:cs typeface="Arial"/>
              </a:rPr>
              <a:t>&lt; 10%</a:t>
            </a:r>
          </a:p>
        </ns0:txBody>
      </ns0:sp>
      <ns0:sp>
        <ns0:nvSpPr>
          <ns0:cNvPr id="11" name="">
            <a:extLst>
              <a:ext uri="{FF2B5EF4-FFF2-40B4-BE49-F238E27FC236}">
                <ns2:creationId id="{ADCA2985-5905-4DD0-87C7-BE663800EBD3}"/>
              </a:ext>
            </a:extLst>
          </ns0:cNvPr>
          <ns0:cNvSpPr>
            <a:spLocks noGrp="1"/>
          </ns0:cNvSpPr>
          <ns0:nvPr/>
        </ns0:nvSpPr>
        <ns0:spPr>
          <a:xfrm>
            <a:off x="571500" y="2114550"/>
            <a:ext cx="1778000" cy="19050"/>
          </a:xfrm>
          <a:prstGeom prst="rect">
            <a:avLst/>
          </a:prstGeom>
          <a:solidFill>
            <a:srgbClr val="002B5C"/>
          </a:solidFill>
          <a:ln w="0">
            <a:noFill/>
            <a:prstDash val="solid"/>
          </a:ln>
        </ns0:spPr>
      </ns0:sp>
      <ns0:sp>
        <ns0:nvSpPr>
          <ns0:cNvPr id="12" name="mvp-card-structural_mvp_risco_corporativo-62393829000159">
            <a:extLst>
              <a:ext uri="{FF2B5EF4-FFF2-40B4-BE49-F238E27FC236}">
                <ns2:creationId id="{C4AAD9F7-59C2-48EC-B73A-5FB275DD607B}"/>
              </a:ext>
            </a:extLst>
          </ns0:cNvPr>
          <ns0:cNvSpPr>
            <a:spLocks noGrp="1"/>
          </ns0:cNvSpPr>
          <ns0:nvPr/>
        </ns0:nvSpPr>
        <ns0:spPr>
          <a:xfrm>
            <a:off x="571500" y="2181225"/>
            <a:ext cx="1778000" cy="438150"/>
          </a:xfrm>
          <a:prstGeom prst="rect">
            <a:avLst/>
          </a:prstGeom>
          <a:solidFill>
            <a:srgbClr val="FFF0D6"/>
          </a:solidFill>
          <a:ln w="9525">
            <a:solidFill>
              <a:srgbClr val="EC7000"/>
            </a:solidFill>
            <a:prstDash val="solid"/>
          </a:ln>
        </ns0:spPr>
        <ns0:txBody>
          <a:bodyPr wrap="none" lIns="47625" tIns="28575" rIns="47625" bIns="28575" anchor="ctr">
            <a:normAutofit fontScale="87719"/>
          </a:bodyPr>
          <a:lstStyle/>
          <a:p>
            <a:pPr algn="l">
              <a:lnSpc>
                <a:spcPct val="95000"/>
              </a:lnSpc>
              <a:buNone/>
              <a:defRPr sz="1000" b="1" lang="pt-BR">
                <a:solidFill>
                  <a:srgbClr val="7A1F3D"/>
                </a:solidFill>
                <a:latin typeface="Arial"/>
                <a:ea typeface="Arial"/>
                <a:cs typeface="Arial"/>
              </a:defRPr>
            </a:pPr>
            <a:r>
              <a:rPr sz="1000" b="1" lang="pt-BR">
                <a:solidFill>
                  <a:srgbClr val="7A1F3D"/>
                </a:solidFill>
                <a:latin typeface="Arial"/>
                <a:ea typeface="Arial"/>
                <a:cs typeface="Arial"/>
              </a:rPr>
              <a:t>MÉDICI · BRF/MARFRIG*</a:t>
            </a:r>
          </a:p>
          <a:p>
            <a:pPr algn="l">
              <a:lnSpc>
                <a:spcPct val="95000"/>
              </a:lnSpc>
              <a:buNone/>
              <a:defRPr sz="1000" b="1" lang="pt-BR">
                <a:solidFill>
                  <a:srgbClr val="7A1F3D"/>
                </a:solidFill>
                <a:latin typeface="Arial"/>
                <a:ea typeface="Arial"/>
                <a:cs typeface="Arial"/>
              </a:defRPr>
            </a:pPr>
            <a:r>
              <a:rPr sz="1000" b="1" lang="pt-BR">
                <a:solidFill>
                  <a:srgbClr val="7A1F3D"/>
                </a:solidFill>
                <a:latin typeface="Arial"/>
                <a:ea typeface="Arial"/>
                <a:cs typeface="Arial"/>
              </a:rPr>
              <a:t>R$ 3,1 bi · Sub atual 5,5%</a:t>
            </a:r>
          </a:p>
          <a:p>
            <a:pPr algn="l">
              <a:lnSpc>
                <a:spcPct val="95000"/>
              </a:lnSpc>
              <a:buNone/>
              <a:defRPr sz="1000" b="1" lang="pt-BR">
                <a:solidFill>
                  <a:srgbClr val="7A1F3D"/>
                </a:solidFill>
                <a:latin typeface="Arial"/>
                <a:ea typeface="Arial"/>
                <a:cs typeface="Arial"/>
              </a:defRPr>
            </a:pPr>
            <a:r>
              <a:rPr sz="1000" b="1" lang="pt-BR">
                <a:solidFill>
                  <a:srgbClr val="7A1F3D"/>
                </a:solidFill>
                <a:latin typeface="Arial"/>
                <a:ea typeface="Arial"/>
                <a:cs typeface="Arial"/>
              </a:rPr>
              <a:t>Jr 5,0% · Estr. 5,0%</a:t>
            </a:r>
          </a:p>
        </ns0:txBody>
      </ns0:sp>
      <ns0:sp>
        <ns0:nvSpPr>
          <ns0:cNvPr id="13" name="mvp-band-structural_mvp_risco_corporativo-2">
            <a:extLst>
              <a:ext uri="{FF2B5EF4-FFF2-40B4-BE49-F238E27FC236}">
                <ns2:creationId id="{749453D1-CCCF-4399-A185-8D700E1326C0}"/>
              </a:ext>
            </a:extLst>
          </ns0:cNvPr>
          <ns0:cNvSpPr>
            <a:spLocks noGrp="1"/>
          </ns0:cNvSpPr>
          <ns0:nvPr/>
        </ns0:nvSpPr>
        <ns0:spPr>
          <a:xfrm>
            <a:off x="2425700" y="1885950"/>
            <a:ext cx="1778000" cy="22860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0" tIns="0" rIns="0" bIns="0" anchor="ctr">
            <a:normAutofit fontScale="100000"/>
          </a:bodyPr>
          <a:lstStyle/>
          <a:p>
            <a:pPr algn="ctr">
              <a:lnSpc>
                <a:spcPct val="100000"/>
              </a:lnSpc>
              <a:buNone/>
              <a:defRPr sz="1050" b="1" lang="pt-BR">
                <a:solidFill>
                  <a:srgbClr val="002B5C"/>
                </a:solidFill>
                <a:latin typeface="Arial"/>
                <a:ea typeface="Arial"/>
                <a:cs typeface="Arial"/>
              </a:defRPr>
            </a:pPr>
            <a:r>
              <a:rPr sz="1050" b="1" lang="pt-BR">
                <a:solidFill>
                  <a:srgbClr val="002B5C"/>
                </a:solidFill>
                <a:latin typeface="Arial"/>
                <a:ea typeface="Arial"/>
                <a:cs typeface="Arial"/>
              </a:rPr>
              <a:t>10%–15%</a:t>
            </a:r>
          </a:p>
        </ns0:txBody>
      </ns0:sp>
      <ns0:sp>
        <ns0:nvSpPr>
          <ns0:cNvPr id="14" name="">
            <a:extLst>
              <a:ext uri="{FF2B5EF4-FFF2-40B4-BE49-F238E27FC236}">
                <ns2:creationId id="{16E95FB8-57FA-499D-A223-1410E925B197}"/>
              </a:ext>
            </a:extLst>
          </ns0:cNvPr>
          <ns0:cNvSpPr>
            <a:spLocks noGrp="1"/>
          </ns0:cNvSpPr>
          <ns0:nvPr/>
        </ns0:nvSpPr>
        <ns0:spPr>
          <a:xfrm>
            <a:off x="2425700" y="2114550"/>
            <a:ext cx="1778000" cy="19050"/>
          </a:xfrm>
          <a:prstGeom prst="rect">
            <a:avLst/>
          </a:prstGeom>
          <a:solidFill>
            <a:srgbClr val="002B5C"/>
          </a:solidFill>
          <a:ln w="0">
            <a:noFill/>
            <a:prstDash val="solid"/>
          </a:ln>
        </ns0:spPr>
      </ns0:sp>
      <ns0:sp>
        <ns0:nvSpPr>
          <ns0:cNvPr id="15" name="mvp-band-structural_mvp_risco_corporativo-3">
            <a:extLst>
              <a:ext uri="{FF2B5EF4-FFF2-40B4-BE49-F238E27FC236}">
                <ns2:creationId id="{953F6E23-F916-42A0-A4E2-A3877E7FC72F}"/>
              </a:ext>
            </a:extLst>
          </ns0:cNvPr>
          <ns0:cNvSpPr>
            <a:spLocks noGrp="1"/>
          </ns0:cNvSpPr>
          <ns0:nvPr/>
        </ns0:nvSpPr>
        <ns0:spPr>
          <a:xfrm>
            <a:off x="4279900" y="1885950"/>
            <a:ext cx="1778000" cy="22860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0" tIns="0" rIns="0" bIns="0" anchor="ctr">
            <a:normAutofit fontScale="100000"/>
          </a:bodyPr>
          <a:lstStyle/>
          <a:p>
            <a:pPr algn="ctr">
              <a:lnSpc>
                <a:spcPct val="100000"/>
              </a:lnSpc>
              <a:buNone/>
              <a:defRPr sz="1050" b="1" lang="pt-BR">
                <a:solidFill>
                  <a:srgbClr val="002B5C"/>
                </a:solidFill>
                <a:latin typeface="Arial"/>
                <a:ea typeface="Arial"/>
                <a:cs typeface="Arial"/>
              </a:defRPr>
            </a:pPr>
            <a:r>
              <a:rPr sz="1050" b="1" lang="pt-BR">
                <a:solidFill>
                  <a:srgbClr val="002B5C"/>
                </a:solidFill>
                <a:latin typeface="Arial"/>
                <a:ea typeface="Arial"/>
                <a:cs typeface="Arial"/>
              </a:rPr>
              <a:t>15%–20%</a:t>
            </a:r>
          </a:p>
        </ns0:txBody>
      </ns0:sp>
      <ns0:sp>
        <ns0:nvSpPr>
          <ns0:cNvPr id="16" name="">
            <a:extLst>
              <a:ext uri="{FF2B5EF4-FFF2-40B4-BE49-F238E27FC236}">
                <ns2:creationId id="{859FFEDF-6CFA-4756-8ABE-B5CCB3A6369A}"/>
              </a:ext>
            </a:extLst>
          </ns0:cNvPr>
          <ns0:cNvSpPr>
            <a:spLocks noGrp="1"/>
          </ns0:cNvSpPr>
          <ns0:nvPr/>
        </ns0:nvSpPr>
        <ns0:spPr>
          <a:xfrm>
            <a:off x="4279900" y="2114550"/>
            <a:ext cx="1778000" cy="19050"/>
          </a:xfrm>
          <a:prstGeom prst="rect">
            <a:avLst/>
          </a:prstGeom>
          <a:solidFill>
            <a:srgbClr val="002B5C"/>
          </a:solidFill>
          <a:ln w="0">
            <a:noFill/>
            <a:prstDash val="solid"/>
          </a:ln>
        </ns0:spPr>
      </ns0:sp>
      <ns0:sp>
        <ns0:nvSpPr>
          <ns0:cNvPr id="17" name="mvp-card-structural_mvp_risco_corporativo-65873297000145">
            <a:extLst>
              <a:ext uri="{FF2B5EF4-FFF2-40B4-BE49-F238E27FC236}">
                <ns2:creationId id="{35FB23BF-594A-4F0E-AAE8-D0B3916D990E}"/>
              </a:ext>
            </a:extLst>
          </ns0:cNvPr>
          <ns0:cNvSpPr>
            <a:spLocks noGrp="1"/>
          </ns0:cNvSpPr>
          <ns0:nvPr/>
        </ns0:nvSpPr>
        <ns0:spPr>
          <a:xfrm>
            <a:off x="4279900" y="2181225"/>
            <a:ext cx="1778000" cy="438150"/>
          </a:xfrm>
          <a:prstGeom prst="rect">
            <a:avLst/>
          </a:prstGeom>
          <a:solidFill>
            <a:srgbClr val="EAF0F7"/>
          </a:solidFill>
          <a:ln w="9525">
            <a:solidFill>
              <a:srgbClr val="AFC5DD"/>
            </a:solidFill>
            <a:prstDash val="solid"/>
          </a:ln>
        </ns0:spPr>
        <ns0:txBody>
          <a:bodyPr wrap="none" lIns="47625" tIns="28575" rIns="47625" bIns="28575" anchor="ctr">
            <a:normAutofit fontScale="87719"/>
          </a:bodyPr>
          <a:lstStyle/>
          <a:p>
            <a:pPr algn="l">
              <a:lnSpc>
                <a:spcPct val="95000"/>
              </a:lnSpc>
              <a:buNone/>
              <a:defRPr sz="1000" b="1" lang="pt-BR">
                <a:solidFill>
                  <a:srgbClr val="002B5C"/>
                </a:solidFill>
                <a:latin typeface="Arial"/>
                <a:ea typeface="Arial"/>
                <a:cs typeface="Arial"/>
              </a:defRPr>
            </a:pPr>
            <a:r>
              <a:rPr sz="1000" b="1" lang="pt-BR">
                <a:solidFill>
                  <a:srgbClr val="002B5C"/>
                </a:solidFill>
                <a:latin typeface="Arial"/>
                <a:ea typeface="Arial"/>
                <a:cs typeface="Arial"/>
              </a:rPr>
              <a:t>ARCELORMITTAL*</a:t>
            </a:r>
          </a:p>
          <a:p>
            <a:pPr algn="l">
              <a:lnSpc>
                <a:spcPct val="95000"/>
              </a:lnSpc>
              <a:buNone/>
              <a:defRPr sz="1000" b="1" lang="pt-BR">
                <a:solidFill>
                  <a:srgbClr val="002B5C"/>
                </a:solidFill>
                <a:latin typeface="Arial"/>
                <a:ea typeface="Arial"/>
                <a:cs typeface="Arial"/>
              </a:defRPr>
            </a:pPr>
            <a:r>
              <a:rPr sz="1000" b="1" lang="pt-BR">
                <a:solidFill>
                  <a:srgbClr val="002B5C"/>
                </a:solidFill>
                <a:latin typeface="Arial"/>
                <a:ea typeface="Arial"/>
                <a:cs typeface="Arial"/>
              </a:rPr>
              <a:t>R$ 162,6 mi · Sub atual 18,6%</a:t>
            </a:r>
          </a:p>
          <a:p>
            <a:pPr algn="l">
              <a:lnSpc>
                <a:spcPct val="95000"/>
              </a:lnSpc>
              <a:buNone/>
              <a:defRPr sz="1000" b="1" lang="pt-BR">
                <a:solidFill>
                  <a:srgbClr val="002B5C"/>
                </a:solidFill>
                <a:latin typeface="Arial"/>
                <a:ea typeface="Arial"/>
                <a:cs typeface="Arial"/>
              </a:defRPr>
            </a:pPr>
            <a:r>
              <a:rPr sz="1000" b="1" lang="pt-BR">
                <a:solidFill>
                  <a:srgbClr val="002B5C"/>
                </a:solidFill>
                <a:latin typeface="Arial"/>
                <a:ea typeface="Arial"/>
                <a:cs typeface="Arial"/>
              </a:rPr>
              <a:t>Jr 12,0% · Estr. 12,0%</a:t>
            </a:r>
          </a:p>
        </ns0:txBody>
      </ns0:sp>
      <ns0:sp>
        <ns0:nvSpPr>
          <ns0:cNvPr id="18" name="mvp-card-structural_mvp_risco_corporativo-63679792000192">
            <a:extLst>
              <a:ext uri="{FF2B5EF4-FFF2-40B4-BE49-F238E27FC236}">
                <ns2:creationId id="{6C9A31A7-6780-4108-8EA1-959E01D4FD10}"/>
              </a:ext>
            </a:extLst>
          </ns0:cNvPr>
          <ns0:cNvSpPr>
            <a:spLocks noGrp="1"/>
          </ns0:cNvSpPr>
          <ns0:nvPr/>
        </ns0:nvSpPr>
        <ns0:spPr>
          <a:xfrm>
            <a:off x="4279900" y="2638425"/>
            <a:ext cx="1778000" cy="438150"/>
          </a:xfrm>
          <a:prstGeom prst="rect">
            <a:avLst/>
          </a:prstGeom>
          <a:solidFill>
            <a:srgbClr val="F5F6F7"/>
          </a:solidFill>
          <a:ln w="9525">
            <a:solidFill>
              <a:srgbClr val="B8BDC2"/>
            </a:solidFill>
            <a:prstDash val="solid"/>
          </a:ln>
        </ns0:spPr>
        <ns0:txBody>
          <a:bodyPr wrap="none" lIns="47625" tIns="28575" rIns="47625" bIns="28575" anchor="ctr">
            <a:normAutofit fontScale="87719"/>
          </a:bodyPr>
          <a:lstStyle/>
          <a:p>
            <a:pPr algn="l">
              <a:lnSpc>
                <a:spcPct val="95000"/>
              </a:lnSpc>
              <a:buNone/>
              <a:defRPr sz="1000" b="1" lang="pt-BR">
                <a:solidFill>
                  <a:srgbClr val="5E646A"/>
                </a:solidFill>
                <a:latin typeface="Arial"/>
                <a:ea typeface="Arial"/>
                <a:cs typeface="Arial"/>
              </a:defRPr>
            </a:pPr>
            <a:r>
              <a:rPr sz="1000" b="1" lang="pt-BR">
                <a:solidFill>
                  <a:srgbClr val="5E646A"/>
                </a:solidFill>
                <a:latin typeface="Arial"/>
                <a:ea typeface="Arial"/>
                <a:cs typeface="Arial"/>
              </a:rPr>
              <a:t>BLUE HEALTH FIDC*</a:t>
            </a:r>
          </a:p>
          <a:p>
            <a:pPr algn="l">
              <a:lnSpc>
                <a:spcPct val="95000"/>
              </a:lnSpc>
              <a:buNone/>
              <a:defRPr sz="1000" b="1" lang="pt-BR">
                <a:solidFill>
                  <a:srgbClr val="5E646A"/>
                </a:solidFill>
                <a:latin typeface="Arial"/>
                <a:ea typeface="Arial"/>
                <a:cs typeface="Arial"/>
              </a:defRPr>
            </a:pPr>
            <a:r>
              <a:rPr sz="1000" b="1" lang="pt-BR">
                <a:solidFill>
                  <a:srgbClr val="5E646A"/>
                </a:solidFill>
                <a:latin typeface="Arial"/>
                <a:ea typeface="Arial"/>
                <a:cs typeface="Arial"/>
              </a:rPr>
              <a:t>R$ 142,2 mi · Sub atual 19,3%</a:t>
            </a:r>
          </a:p>
          <a:p>
            <a:pPr algn="l">
              <a:lnSpc>
                <a:spcPct val="95000"/>
              </a:lnSpc>
              <a:buNone/>
              <a:defRPr sz="1000" b="1" lang="pt-BR">
                <a:solidFill>
                  <a:srgbClr val="5E646A"/>
                </a:solidFill>
                <a:latin typeface="Arial"/>
                <a:ea typeface="Arial"/>
                <a:cs typeface="Arial"/>
              </a:defRPr>
            </a:pPr>
            <a:r>
              <a:rPr sz="1000" b="1" lang="pt-BR">
                <a:solidFill>
                  <a:srgbClr val="5E646A"/>
                </a:solidFill>
                <a:latin typeface="Arial"/>
                <a:ea typeface="Arial"/>
                <a:cs typeface="Arial"/>
              </a:rPr>
              <a:t>Jr 20,0% · Estr. N/D*</a:t>
            </a:r>
          </a:p>
        </ns0:txBody>
      </ns0:sp>
      <ns0:sp>
        <ns0:nvSpPr>
          <ns0:cNvPr id="19" name="mvp-band-structural_mvp_risco_corporativo-4">
            <a:extLst>
              <a:ext uri="{FF2B5EF4-FFF2-40B4-BE49-F238E27FC236}">
                <ns2:creationId id="{E439332C-9412-45BE-9589-64B609E4D988}"/>
              </a:ext>
            </a:extLst>
          </ns0:cNvPr>
          <ns0:cNvSpPr>
            <a:spLocks noGrp="1"/>
          </ns0:cNvSpPr>
          <ns0:nvPr/>
        </ns0:nvSpPr>
        <ns0:spPr>
          <a:xfrm>
            <a:off x="6134100" y="1885950"/>
            <a:ext cx="1778000" cy="22860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0" tIns="0" rIns="0" bIns="0" anchor="ctr">
            <a:normAutofit fontScale="100000"/>
          </a:bodyPr>
          <a:lstStyle/>
          <a:p>
            <a:pPr algn="ctr">
              <a:lnSpc>
                <a:spcPct val="100000"/>
              </a:lnSpc>
              <a:buNone/>
              <a:defRPr sz="1050" b="1" lang="pt-BR">
                <a:solidFill>
                  <a:srgbClr val="002B5C"/>
                </a:solidFill>
                <a:latin typeface="Arial"/>
                <a:ea typeface="Arial"/>
                <a:cs typeface="Arial"/>
              </a:defRPr>
            </a:pPr>
            <a:r>
              <a:rPr sz="1050" b="1" lang="pt-BR">
                <a:solidFill>
                  <a:srgbClr val="002B5C"/>
                </a:solidFill>
                <a:latin typeface="Arial"/>
                <a:ea typeface="Arial"/>
                <a:cs typeface="Arial"/>
              </a:rPr>
              <a:t>20%–35%</a:t>
            </a:r>
          </a:p>
        </ns0:txBody>
      </ns0:sp>
      <ns0:sp>
        <ns0:nvSpPr>
          <ns0:cNvPr id="20" name="">
            <a:extLst>
              <a:ext uri="{FF2B5EF4-FFF2-40B4-BE49-F238E27FC236}">
                <ns2:creationId id="{4C6E2369-6CCF-4EBB-A477-825A4C8C83B0}"/>
              </a:ext>
            </a:extLst>
          </ns0:cNvPr>
          <ns0:cNvSpPr>
            <a:spLocks noGrp="1"/>
          </ns0:cNvSpPr>
          <ns0:nvPr/>
        </ns0:nvSpPr>
        <ns0:spPr>
          <a:xfrm>
            <a:off x="6134100" y="2114550"/>
            <a:ext cx="1778000" cy="19050"/>
          </a:xfrm>
          <a:prstGeom prst="rect">
            <a:avLst/>
          </a:prstGeom>
          <a:solidFill>
            <a:srgbClr val="002B5C"/>
          </a:solidFill>
          <a:ln w="0">
            <a:noFill/>
            <a:prstDash val="solid"/>
          </a:ln>
        </ns0:spPr>
      </ns0:sp>
      <ns0:sp>
        <ns0:nvSpPr>
          <ns0:cNvPr id="21" name="mvp-card-structural_mvp_risco_corporativo-52100879000147">
            <a:extLst>
              <a:ext uri="{FF2B5EF4-FFF2-40B4-BE49-F238E27FC236}">
                <ns2:creationId id="{1489A741-362D-4311-9362-AB340CDCCB40}"/>
              </a:ext>
            </a:extLst>
          </ns0:cNvPr>
          <ns0:cNvSpPr>
            <a:spLocks noGrp="1"/>
          </ns0:cNvSpPr>
          <ns0:nvPr/>
        </ns0:nvSpPr>
        <ns0:spPr>
          <a:xfrm>
            <a:off x="6134100" y="2181225"/>
            <a:ext cx="1778000" cy="438150"/>
          </a:xfrm>
          <a:prstGeom prst="rect">
            <a:avLst/>
          </a:prstGeom>
          <a:solidFill>
            <a:srgbClr val="7A1F3D"/>
          </a:solidFill>
          <a:ln w="9525">
            <a:solidFill>
              <a:srgbClr val="7A1F3D"/>
            </a:solidFill>
            <a:prstDash val="solid"/>
          </a:ln>
        </ns0:spPr>
        <ns0:txBody>
          <a:bodyPr wrap="none" lIns="47625" tIns="28575" rIns="47625" bIns="28575" anchor="ctr">
            <a:normAutofit fontScale="87719"/>
          </a:bodyPr>
          <a:lstStyle/>
          <a:p>
            <a:pPr algn="l">
              <a:lnSpc>
                <a:spcPct val="95000"/>
              </a:lnSpc>
              <a:buNone/>
              <a:defRPr sz="1000" b="1" lang="pt-BR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000" b="1" lang="pt-BR">
                <a:solidFill>
                  <a:srgbClr val="FFFFFF"/>
                </a:solidFill>
                <a:latin typeface="Arial"/>
                <a:ea typeface="Arial"/>
                <a:cs typeface="Arial"/>
              </a:rPr>
              <a:t>SOTREQ*</a:t>
            </a:r>
          </a:p>
          <a:p>
            <a:pPr algn="l">
              <a:lnSpc>
                <a:spcPct val="95000"/>
              </a:lnSpc>
              <a:buNone/>
              <a:defRPr sz="1000" b="1" lang="pt-BR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000" b="1" lang="pt-BR">
                <a:solidFill>
                  <a:srgbClr val="FFFFFF"/>
                </a:solidFill>
                <a:latin typeface="Arial"/>
                <a:ea typeface="Arial"/>
                <a:cs typeface="Arial"/>
              </a:rPr>
              <a:t>R$ 205,2 mi · Sub atual 23,6%</a:t>
            </a:r>
          </a:p>
          <a:p>
            <a:pPr algn="l">
              <a:lnSpc>
                <a:spcPct val="95000"/>
              </a:lnSpc>
              <a:buNone/>
              <a:defRPr sz="1000" b="1" lang="pt-BR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000" b="1" lang="pt-BR">
                <a:solidFill>
                  <a:srgbClr val="FFFFFF"/>
                </a:solidFill>
                <a:latin typeface="Arial"/>
                <a:ea typeface="Arial"/>
                <a:cs typeface="Arial"/>
              </a:rPr>
              <a:t>Jr N/D · Estr. 25,0%*</a:t>
            </a:r>
          </a:p>
        </ns0:txBody>
      </ns0:sp>
      <ns0:sp>
        <ns0:nvSpPr>
          <ns0:cNvPr id="22" name="mvp-card-structural_mvp_risco_corporativo-31570767000180">
            <a:extLst>
              <a:ext uri="{FF2B5EF4-FFF2-40B4-BE49-F238E27FC236}">
                <ns2:creationId id="{3AF0B88D-7E63-47C8-9097-2747485A9043}"/>
              </a:ext>
            </a:extLst>
          </ns0:cNvPr>
          <ns0:cNvSpPr>
            <a:spLocks noGrp="1"/>
          </ns0:cNvSpPr>
          <ns0:nvPr/>
        </ns0:nvSpPr>
        <ns0:spPr>
          <a:xfrm>
            <a:off x="6134100" y="2638425"/>
            <a:ext cx="1778000" cy="438150"/>
          </a:xfrm>
          <a:prstGeom prst="rect">
            <a:avLst/>
          </a:prstGeom>
          <a:solidFill>
            <a:srgbClr val="F5F6F7"/>
          </a:solidFill>
          <a:ln w="9525">
            <a:solidFill>
              <a:srgbClr val="B8BDC2"/>
            </a:solidFill>
            <a:prstDash val="solid"/>
          </a:ln>
        </ns0:spPr>
        <ns0:txBody>
          <a:bodyPr wrap="none" lIns="47625" tIns="28575" rIns="47625" bIns="28575" anchor="ctr">
            <a:normAutofit fontScale="87719"/>
          </a:bodyPr>
          <a:lstStyle/>
          <a:p>
            <a:pPr algn="l">
              <a:lnSpc>
                <a:spcPct val="95000"/>
              </a:lnSpc>
              <a:buNone/>
              <a:defRPr sz="1000" b="1" lang="pt-BR">
                <a:solidFill>
                  <a:srgbClr val="5E646A"/>
                </a:solidFill>
                <a:latin typeface="Arial"/>
                <a:ea typeface="Arial"/>
                <a:cs typeface="Arial"/>
              </a:defRPr>
            </a:pPr>
            <a:r>
              <a:rPr sz="1000" b="1" lang="pt-BR">
                <a:solidFill>
                  <a:srgbClr val="5E646A"/>
                </a:solidFill>
                <a:latin typeface="Arial"/>
                <a:ea typeface="Arial"/>
                <a:cs typeface="Arial"/>
              </a:rPr>
              <a:t>TRADEPAY VAREJO I*</a:t>
            </a:r>
          </a:p>
          <a:p>
            <a:pPr algn="l">
              <a:lnSpc>
                <a:spcPct val="95000"/>
              </a:lnSpc>
              <a:buNone/>
              <a:defRPr sz="1000" b="1" lang="pt-BR">
                <a:solidFill>
                  <a:srgbClr val="5E646A"/>
                </a:solidFill>
                <a:latin typeface="Arial"/>
                <a:ea typeface="Arial"/>
                <a:cs typeface="Arial"/>
              </a:defRPr>
            </a:pPr>
            <a:r>
              <a:rPr sz="1000" b="1" lang="pt-BR">
                <a:solidFill>
                  <a:srgbClr val="5E646A"/>
                </a:solidFill>
                <a:latin typeface="Arial"/>
                <a:ea typeface="Arial"/>
                <a:cs typeface="Arial"/>
              </a:rPr>
              <a:t>R$ 702,1 mi · Sub atual 23,3%</a:t>
            </a:r>
          </a:p>
          <a:p>
            <a:pPr algn="l">
              <a:lnSpc>
                <a:spcPct val="95000"/>
              </a:lnSpc>
              <a:buNone/>
              <a:defRPr sz="1000" b="1" lang="pt-BR">
                <a:solidFill>
                  <a:srgbClr val="5E646A"/>
                </a:solidFill>
                <a:latin typeface="Arial"/>
                <a:ea typeface="Arial"/>
                <a:cs typeface="Arial"/>
              </a:defRPr>
            </a:pPr>
            <a:r>
              <a:rPr sz="1000" b="1" lang="pt-BR">
                <a:solidFill>
                  <a:srgbClr val="5E646A"/>
                </a:solidFill>
                <a:latin typeface="Arial"/>
                <a:ea typeface="Arial"/>
                <a:cs typeface="Arial"/>
              </a:rPr>
              <a:t>Jr 5,0% · Estr. N/D*</a:t>
            </a:r>
          </a:p>
        </ns0:txBody>
      </ns0:sp>
      <ns0:sp>
        <ns0:nvSpPr>
          <ns0:cNvPr id="23" name="mvp-card-structural_mvp_risco_corporativo-52340225000190">
            <a:extLst>
              <a:ext uri="{FF2B5EF4-FFF2-40B4-BE49-F238E27FC236}">
                <ns2:creationId id="{21181422-CB80-4AF1-9622-EF92175ACD28}"/>
              </a:ext>
            </a:extLst>
          </ns0:cNvPr>
          <ns0:cNvSpPr>
            <a:spLocks noGrp="1"/>
          </ns0:cNvSpPr>
          <ns0:nvPr/>
        </ns0:nvSpPr>
        <ns0:spPr>
          <a:xfrm>
            <a:off x="6134100" y="3095625"/>
            <a:ext cx="1778000" cy="438150"/>
          </a:xfrm>
          <a:prstGeom prst="rect">
            <a:avLst/>
          </a:prstGeom>
          <a:solidFill>
            <a:srgbClr val="F5F6F7"/>
          </a:solidFill>
          <a:ln w="9525">
            <a:solidFill>
              <a:srgbClr val="B8BDC2"/>
            </a:solidFill>
            <a:prstDash val="solid"/>
          </a:ln>
        </ns0:spPr>
        <ns0:txBody>
          <a:bodyPr wrap="none" lIns="47625" tIns="28575" rIns="47625" bIns="28575" anchor="ctr">
            <a:normAutofit fontScale="87719"/>
          </a:bodyPr>
          <a:lstStyle/>
          <a:p>
            <a:pPr algn="l">
              <a:lnSpc>
                <a:spcPct val="95000"/>
              </a:lnSpc>
              <a:buNone/>
              <a:defRPr sz="1000" b="1" lang="pt-BR">
                <a:solidFill>
                  <a:srgbClr val="5E646A"/>
                </a:solidFill>
                <a:latin typeface="Arial"/>
                <a:ea typeface="Arial"/>
                <a:cs typeface="Arial"/>
              </a:defRPr>
            </a:pPr>
            <a:r>
              <a:rPr sz="1000" b="1" lang="pt-BR">
                <a:solidFill>
                  <a:srgbClr val="5E646A"/>
                </a:solidFill>
                <a:latin typeface="Arial"/>
                <a:ea typeface="Arial"/>
                <a:cs typeface="Arial"/>
              </a:rPr>
              <a:t>INOVA CREDTECH III*</a:t>
            </a:r>
          </a:p>
          <a:p>
            <a:pPr algn="l">
              <a:lnSpc>
                <a:spcPct val="95000"/>
              </a:lnSpc>
              <a:buNone/>
              <a:defRPr sz="1000" b="1" lang="pt-BR">
                <a:solidFill>
                  <a:srgbClr val="5E646A"/>
                </a:solidFill>
                <a:latin typeface="Arial"/>
                <a:ea typeface="Arial"/>
                <a:cs typeface="Arial"/>
              </a:defRPr>
            </a:pPr>
            <a:r>
              <a:rPr sz="1000" b="1" lang="pt-BR">
                <a:solidFill>
                  <a:srgbClr val="5E646A"/>
                </a:solidFill>
                <a:latin typeface="Arial"/>
                <a:ea typeface="Arial"/>
                <a:cs typeface="Arial"/>
              </a:rPr>
              <a:t>R$ 86,1 mi · Sub atual 22,2%</a:t>
            </a:r>
          </a:p>
          <a:p>
            <a:pPr algn="l">
              <a:lnSpc>
                <a:spcPct val="95000"/>
              </a:lnSpc>
              <a:buNone/>
              <a:defRPr sz="1000" b="1" lang="pt-BR">
                <a:solidFill>
                  <a:srgbClr val="5E646A"/>
                </a:solidFill>
                <a:latin typeface="Arial"/>
                <a:ea typeface="Arial"/>
                <a:cs typeface="Arial"/>
              </a:defRPr>
            </a:pPr>
            <a:r>
              <a:rPr sz="1000" b="1" lang="pt-BR">
                <a:solidFill>
                  <a:srgbClr val="5E646A"/>
                </a:solidFill>
                <a:latin typeface="Arial"/>
                <a:ea typeface="Arial"/>
                <a:cs typeface="Arial"/>
              </a:rPr>
              <a:t>Jr 7,5% · Estr. N/D*</a:t>
            </a:r>
          </a:p>
        </ns0:txBody>
      </ns0:sp>
      <ns0:sp>
        <ns0:nvSpPr>
          <ns0:cNvPr id="24" name="mvp-band-structural_mvp_risco_corporativo-5">
            <a:extLst>
              <a:ext uri="{FF2B5EF4-FFF2-40B4-BE49-F238E27FC236}">
                <ns2:creationId id="{B6B5ACE9-B5F8-411B-9EBE-B26C527CEBE4}"/>
              </a:ext>
            </a:extLst>
          </ns0:cNvPr>
          <ns0:cNvSpPr>
            <a:spLocks noGrp="1"/>
          </ns0:cNvSpPr>
          <ns0:nvPr/>
        </ns0:nvSpPr>
        <ns0:spPr>
          <a:xfrm>
            <a:off x="7988300" y="1885950"/>
            <a:ext cx="1778000" cy="22860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0" tIns="0" rIns="0" bIns="0" anchor="ctr">
            <a:normAutofit fontScale="100000"/>
          </a:bodyPr>
          <a:lstStyle/>
          <a:p>
            <a:pPr algn="ctr">
              <a:lnSpc>
                <a:spcPct val="100000"/>
              </a:lnSpc>
              <a:buNone/>
              <a:defRPr sz="1050" b="1" lang="pt-BR">
                <a:solidFill>
                  <a:srgbClr val="002B5C"/>
                </a:solidFill>
                <a:latin typeface="Arial"/>
                <a:ea typeface="Arial"/>
                <a:cs typeface="Arial"/>
              </a:defRPr>
            </a:pPr>
            <a:r>
              <a:rPr sz="1050" b="1" lang="pt-BR">
                <a:solidFill>
                  <a:srgbClr val="002B5C"/>
                </a:solidFill>
                <a:latin typeface="Arial"/>
                <a:ea typeface="Arial"/>
                <a:cs typeface="Arial"/>
              </a:rPr>
              <a:t>35%–60%</a:t>
            </a:r>
          </a:p>
        </ns0:txBody>
      </ns0:sp>
      <ns0:sp>
        <ns0:nvSpPr>
          <ns0:cNvPr id="25" name="">
            <a:extLst>
              <a:ext uri="{FF2B5EF4-FFF2-40B4-BE49-F238E27FC236}">
                <ns2:creationId id="{109F5316-5C16-45BB-86AD-09A4C5FD0F31}"/>
              </a:ext>
            </a:extLst>
          </ns0:cNvPr>
          <ns0:cNvSpPr>
            <a:spLocks noGrp="1"/>
          </ns0:cNvSpPr>
          <ns0:nvPr/>
        </ns0:nvSpPr>
        <ns0:spPr>
          <a:xfrm>
            <a:off x="7988300" y="2114550"/>
            <a:ext cx="1778000" cy="19050"/>
          </a:xfrm>
          <a:prstGeom prst="rect">
            <a:avLst/>
          </a:prstGeom>
          <a:solidFill>
            <a:srgbClr val="002B5C"/>
          </a:solidFill>
          <a:ln w="0">
            <a:noFill/>
            <a:prstDash val="solid"/>
          </a:ln>
        </ns0:spPr>
      </ns0:sp>
      <ns0:sp>
        <ns0:nvSpPr>
          <ns0:cNvPr id="26" name="mvp-card-structural_mvp_risco_corporativo-63622842000103">
            <a:extLst>
              <a:ext uri="{FF2B5EF4-FFF2-40B4-BE49-F238E27FC236}">
                <ns2:creationId id="{3FB44187-E9D6-4304-8862-100B05BFE3A1}"/>
              </a:ext>
            </a:extLst>
          </ns0:cNvPr>
          <ns0:cNvSpPr>
            <a:spLocks noGrp="1"/>
          </ns0:cNvSpPr>
          <ns0:nvPr/>
        </ns0:nvSpPr>
        <ns0:spPr>
          <a:xfrm>
            <a:off x="7988300" y="2181225"/>
            <a:ext cx="1778000" cy="438150"/>
          </a:xfrm>
          <a:prstGeom prst="rect">
            <a:avLst/>
          </a:prstGeom>
          <a:solidFill>
            <a:srgbClr val="FFF0D6"/>
          </a:solidFill>
          <a:ln w="9525">
            <a:solidFill>
              <a:srgbClr val="EC7000"/>
            </a:solidFill>
            <a:prstDash val="solid"/>
          </a:ln>
        </ns0:spPr>
        <ns0:txBody>
          <a:bodyPr wrap="none" lIns="47625" tIns="28575" rIns="47625" bIns="28575" anchor="ctr">
            <a:normAutofit fontScale="87719"/>
          </a:bodyPr>
          <a:lstStyle/>
          <a:p>
            <a:pPr algn="l">
              <a:lnSpc>
                <a:spcPct val="95000"/>
              </a:lnSpc>
              <a:buNone/>
              <a:defRPr sz="1000" b="1" lang="pt-BR">
                <a:solidFill>
                  <a:srgbClr val="7A1F3D"/>
                </a:solidFill>
                <a:latin typeface="Arial"/>
                <a:ea typeface="Arial"/>
                <a:cs typeface="Arial"/>
              </a:defRPr>
            </a:pPr>
            <a:r>
              <a:rPr sz="1000" b="1" lang="pt-BR">
                <a:solidFill>
                  <a:srgbClr val="7A1F3D"/>
                </a:solidFill>
                <a:latin typeface="Arial"/>
                <a:ea typeface="Arial"/>
                <a:cs typeface="Arial"/>
              </a:rPr>
              <a:t>DESBRAVA UNO ARTIGOS*</a:t>
            </a:r>
          </a:p>
          <a:p>
            <a:pPr algn="l">
              <a:lnSpc>
                <a:spcPct val="95000"/>
              </a:lnSpc>
              <a:buNone/>
              <a:defRPr sz="1000" b="1" lang="pt-BR">
                <a:solidFill>
                  <a:srgbClr val="7A1F3D"/>
                </a:solidFill>
                <a:latin typeface="Arial"/>
                <a:ea typeface="Arial"/>
                <a:cs typeface="Arial"/>
              </a:defRPr>
            </a:pPr>
            <a:r>
              <a:rPr sz="1000" b="1" lang="pt-BR">
                <a:solidFill>
                  <a:srgbClr val="7A1F3D"/>
                </a:solidFill>
                <a:latin typeface="Arial"/>
                <a:ea typeface="Arial"/>
                <a:cs typeface="Arial"/>
              </a:rPr>
              <a:t>R$ 343,6 mi · Sub atual 50,4%</a:t>
            </a:r>
          </a:p>
          <a:p>
            <a:pPr algn="l">
              <a:lnSpc>
                <a:spcPct val="95000"/>
              </a:lnSpc>
              <a:buNone/>
              <a:defRPr sz="1000" b="1" lang="pt-BR">
                <a:solidFill>
                  <a:srgbClr val="7A1F3D"/>
                </a:solidFill>
                <a:latin typeface="Arial"/>
                <a:ea typeface="Arial"/>
                <a:cs typeface="Arial"/>
              </a:defRPr>
            </a:pPr>
            <a:r>
              <a:rPr sz="1000" b="1" lang="pt-BR">
                <a:solidFill>
                  <a:srgbClr val="7A1F3D"/>
                </a:solidFill>
                <a:latin typeface="Arial"/>
                <a:ea typeface="Arial"/>
                <a:cs typeface="Arial"/>
              </a:rPr>
              <a:t>Jr 50,0% · Estr. 50,0%</a:t>
            </a:r>
          </a:p>
        </ns0:txBody>
      </ns0:sp>
      <ns0:sp>
        <ns0:nvSpPr>
          <ns0:cNvPr id="27" name="mvp-card-structural_mvp_risco_corporativo-63657457000193">
            <a:extLst>
              <a:ext uri="{FF2B5EF4-FFF2-40B4-BE49-F238E27FC236}">
                <ns2:creationId id="{6C002AEE-9B46-4EF4-BC28-C1DD1791674C}"/>
              </a:ext>
            </a:extLst>
          </ns0:cNvPr>
          <ns0:cNvSpPr>
            <a:spLocks noGrp="1"/>
          </ns0:cNvSpPr>
          <ns0:nvPr/>
        </ns0:nvSpPr>
        <ns0:spPr>
          <a:xfrm>
            <a:off x="7988300" y="2638425"/>
            <a:ext cx="1778000" cy="438150"/>
          </a:xfrm>
          <a:prstGeom prst="rect">
            <a:avLst/>
          </a:prstGeom>
          <a:solidFill>
            <a:srgbClr val="F5F6F7"/>
          </a:solidFill>
          <a:ln w="9525">
            <a:solidFill>
              <a:srgbClr val="B8BDC2"/>
            </a:solidFill>
            <a:prstDash val="solid"/>
          </a:ln>
        </ns0:spPr>
        <ns0:txBody>
          <a:bodyPr wrap="none" lIns="47625" tIns="28575" rIns="47625" bIns="28575" anchor="ctr">
            <a:normAutofit fontScale="87719"/>
          </a:bodyPr>
          <a:lstStyle/>
          <a:p>
            <a:pPr algn="l">
              <a:lnSpc>
                <a:spcPct val="95000"/>
              </a:lnSpc>
              <a:buNone/>
              <a:defRPr sz="1000" b="1" lang="pt-BR">
                <a:solidFill>
                  <a:srgbClr val="5E646A"/>
                </a:solidFill>
                <a:latin typeface="Arial"/>
                <a:ea typeface="Arial"/>
                <a:cs typeface="Arial"/>
              </a:defRPr>
            </a:pPr>
            <a:r>
              <a:rPr sz="1000" b="1" lang="pt-BR">
                <a:solidFill>
                  <a:srgbClr val="5E646A"/>
                </a:solidFill>
                <a:latin typeface="Arial"/>
                <a:ea typeface="Arial"/>
                <a:cs typeface="Arial"/>
              </a:rPr>
              <a:t>MSV3 RECEBÍVEIS*</a:t>
            </a:r>
          </a:p>
          <a:p>
            <a:pPr algn="l">
              <a:lnSpc>
                <a:spcPct val="95000"/>
              </a:lnSpc>
              <a:buNone/>
              <a:defRPr sz="1000" b="1" lang="pt-BR">
                <a:solidFill>
                  <a:srgbClr val="5E646A"/>
                </a:solidFill>
                <a:latin typeface="Arial"/>
                <a:ea typeface="Arial"/>
                <a:cs typeface="Arial"/>
              </a:defRPr>
            </a:pPr>
            <a:r>
              <a:rPr sz="1000" b="1" lang="pt-BR">
                <a:solidFill>
                  <a:srgbClr val="5E646A"/>
                </a:solidFill>
                <a:latin typeface="Arial"/>
                <a:ea typeface="Arial"/>
                <a:cs typeface="Arial"/>
              </a:rPr>
              <a:t>R$ 311,5 mi · Sub atual 36,3%</a:t>
            </a:r>
          </a:p>
          <a:p>
            <a:pPr algn="l">
              <a:lnSpc>
                <a:spcPct val="95000"/>
              </a:lnSpc>
              <a:buNone/>
              <a:defRPr sz="1000" b="1" lang="pt-BR">
                <a:solidFill>
                  <a:srgbClr val="5E646A"/>
                </a:solidFill>
                <a:latin typeface="Arial"/>
                <a:ea typeface="Arial"/>
                <a:cs typeface="Arial"/>
              </a:defRPr>
            </a:pPr>
            <a:r>
              <a:rPr sz="1000" b="1" lang="pt-BR">
                <a:solidFill>
                  <a:srgbClr val="5E646A"/>
                </a:solidFill>
                <a:latin typeface="Arial"/>
                <a:ea typeface="Arial"/>
                <a:cs typeface="Arial"/>
              </a:rPr>
              <a:t>Jr 25,0% · Estr. N/D*</a:t>
            </a:r>
          </a:p>
        </ns0:txBody>
      </ns0:sp>
      <ns0:sp>
        <ns0:nvSpPr>
          <ns0:cNvPr id="28" name="mvp-card-structural_mvp_risco_corporativo-38658727000133">
            <a:extLst>
              <a:ext uri="{FF2B5EF4-FFF2-40B4-BE49-F238E27FC236}">
                <ns2:creationId id="{BFD9A93E-1B96-4541-9AEA-74108B36A152}"/>
              </a:ext>
            </a:extLst>
          </ns0:cNvPr>
          <ns0:cNvSpPr>
            <a:spLocks noGrp="1"/>
          </ns0:cNvSpPr>
          <ns0:nvPr/>
        </ns0:nvSpPr>
        <ns0:spPr>
          <a:xfrm>
            <a:off x="7988300" y="3095625"/>
            <a:ext cx="1778000" cy="438150"/>
          </a:xfrm>
          <a:prstGeom prst="rect">
            <a:avLst/>
          </a:prstGeom>
          <a:solidFill>
            <a:srgbClr val="EAF0F7"/>
          </a:solidFill>
          <a:ln w="9525">
            <a:solidFill>
              <a:srgbClr val="AFC5DD"/>
            </a:solidFill>
            <a:prstDash val="solid"/>
          </a:ln>
        </ns0:spPr>
        <ns0:txBody>
          <a:bodyPr wrap="none" lIns="47625" tIns="28575" rIns="47625" bIns="28575" anchor="ctr">
            <a:normAutofit fontScale="87719"/>
          </a:bodyPr>
          <a:lstStyle/>
          <a:p>
            <a:pPr algn="l">
              <a:lnSpc>
                <a:spcPct val="95000"/>
              </a:lnSpc>
              <a:buNone/>
              <a:defRPr sz="1000" b="1" lang="pt-BR">
                <a:solidFill>
                  <a:srgbClr val="002B5C"/>
                </a:solidFill>
                <a:latin typeface="Arial"/>
                <a:ea typeface="Arial"/>
                <a:cs typeface="Arial"/>
              </a:defRPr>
            </a:pPr>
            <a:r>
              <a:rPr sz="1000" b="1" lang="pt-BR">
                <a:solidFill>
                  <a:srgbClr val="002B5C"/>
                </a:solidFill>
                <a:latin typeface="Arial"/>
                <a:ea typeface="Arial"/>
                <a:cs typeface="Arial"/>
              </a:rPr>
              <a:t>FORNECEDORES MADEIRA*</a:t>
            </a:r>
          </a:p>
          <a:p>
            <a:pPr algn="l">
              <a:lnSpc>
                <a:spcPct val="95000"/>
              </a:lnSpc>
              <a:buNone/>
              <a:defRPr sz="1000" b="1" lang="pt-BR">
                <a:solidFill>
                  <a:srgbClr val="002B5C"/>
                </a:solidFill>
                <a:latin typeface="Arial"/>
                <a:ea typeface="Arial"/>
                <a:cs typeface="Arial"/>
              </a:defRPr>
            </a:pPr>
            <a:r>
              <a:rPr sz="1000" b="1" lang="pt-BR">
                <a:solidFill>
                  <a:srgbClr val="002B5C"/>
                </a:solidFill>
                <a:latin typeface="Arial"/>
                <a:ea typeface="Arial"/>
                <a:cs typeface="Arial"/>
              </a:rPr>
              <a:t>R$ 196,7 mi · Sub atual 46,9%</a:t>
            </a:r>
          </a:p>
          <a:p>
            <a:pPr algn="l">
              <a:lnSpc>
                <a:spcPct val="95000"/>
              </a:lnSpc>
              <a:buNone/>
              <a:defRPr sz="1000" b="1" lang="pt-BR">
                <a:solidFill>
                  <a:srgbClr val="002B5C"/>
                </a:solidFill>
                <a:latin typeface="Arial"/>
                <a:ea typeface="Arial"/>
                <a:cs typeface="Arial"/>
              </a:defRPr>
            </a:pPr>
            <a:r>
              <a:rPr sz="1000" b="1" lang="pt-BR">
                <a:solidFill>
                  <a:srgbClr val="002B5C"/>
                </a:solidFill>
                <a:latin typeface="Arial"/>
                <a:ea typeface="Arial"/>
                <a:cs typeface="Arial"/>
              </a:rPr>
              <a:t>Jr 26,7%* · Estr. 26,7%*</a:t>
            </a:r>
          </a:p>
        </ns0:txBody>
      </ns0:sp>
      <ns0:sp>
        <ns0:nvSpPr>
          <ns0:cNvPr id="29" name="mvp-card-structural_mvp_risco_corporativo-58476088000100">
            <a:extLst>
              <a:ext uri="{FF2B5EF4-FFF2-40B4-BE49-F238E27FC236}">
                <ns2:creationId id="{322680C6-3FB0-44F8-A60C-D1DF2652A2EC}"/>
              </a:ext>
            </a:extLst>
          </ns0:cNvPr>
          <ns0:cNvSpPr>
            <a:spLocks noGrp="1"/>
          </ns0:cNvSpPr>
          <ns0:nvPr/>
        </ns0:nvSpPr>
        <ns0:spPr>
          <a:xfrm>
            <a:off x="7988300" y="3552825"/>
            <a:ext cx="1778000" cy="438150"/>
          </a:xfrm>
          <a:prstGeom prst="rect">
            <a:avLst/>
          </a:prstGeom>
          <a:solidFill>
            <a:srgbClr val="EAF0F7"/>
          </a:solidFill>
          <a:ln w="9525">
            <a:solidFill>
              <a:srgbClr val="AFC5DD"/>
            </a:solidFill>
            <a:prstDash val="solid"/>
          </a:ln>
        </ns0:spPr>
        <ns0:txBody>
          <a:bodyPr wrap="none" lIns="47625" tIns="28575" rIns="47625" bIns="28575" anchor="ctr">
            <a:normAutofit fontScale="87719"/>
          </a:bodyPr>
          <a:lstStyle/>
          <a:p>
            <a:pPr algn="l">
              <a:lnSpc>
                <a:spcPct val="95000"/>
              </a:lnSpc>
              <a:buNone/>
              <a:defRPr sz="1000" b="1" lang="pt-BR">
                <a:solidFill>
                  <a:srgbClr val="002B5C"/>
                </a:solidFill>
                <a:latin typeface="Arial"/>
                <a:ea typeface="Arial"/>
                <a:cs typeface="Arial"/>
              </a:defRPr>
            </a:pPr>
            <a:r>
              <a:rPr sz="1000" b="1" lang="pt-BR">
                <a:solidFill>
                  <a:srgbClr val="002B5C"/>
                </a:solidFill>
                <a:latin typeface="Arial"/>
                <a:ea typeface="Arial"/>
                <a:cs typeface="Arial"/>
              </a:rPr>
              <a:t>SAGA CRÉDITO PRIVADO*</a:t>
            </a:r>
          </a:p>
          <a:p>
            <a:pPr algn="l">
              <a:lnSpc>
                <a:spcPct val="95000"/>
              </a:lnSpc>
              <a:buNone/>
              <a:defRPr sz="1000" b="1" lang="pt-BR">
                <a:solidFill>
                  <a:srgbClr val="002B5C"/>
                </a:solidFill>
                <a:latin typeface="Arial"/>
                <a:ea typeface="Arial"/>
                <a:cs typeface="Arial"/>
              </a:defRPr>
            </a:pPr>
            <a:r>
              <a:rPr sz="1000" b="1" lang="pt-BR">
                <a:solidFill>
                  <a:srgbClr val="002B5C"/>
                </a:solidFill>
                <a:latin typeface="Arial"/>
                <a:ea typeface="Arial"/>
                <a:cs typeface="Arial"/>
              </a:rPr>
              <a:t>R$ 167,6 mi · Sub atual 38,7%</a:t>
            </a:r>
          </a:p>
          <a:p>
            <a:pPr algn="l">
              <a:lnSpc>
                <a:spcPct val="95000"/>
              </a:lnSpc>
              <a:buNone/>
              <a:defRPr sz="1000" b="1" lang="pt-BR">
                <a:solidFill>
                  <a:srgbClr val="002B5C"/>
                </a:solidFill>
                <a:latin typeface="Arial"/>
                <a:ea typeface="Arial"/>
                <a:cs typeface="Arial"/>
              </a:defRPr>
            </a:pPr>
            <a:r>
              <a:rPr sz="1000" b="1" lang="pt-BR">
                <a:solidFill>
                  <a:srgbClr val="002B5C"/>
                </a:solidFill>
                <a:latin typeface="Arial"/>
                <a:ea typeface="Arial"/>
                <a:cs typeface="Arial"/>
              </a:rPr>
              <a:t>Jr 33,3% · Estr. 33,3%</a:t>
            </a:r>
          </a:p>
        </ns0:txBody>
      </ns0:sp>
      <ns0:sp>
        <ns0:nvSpPr>
          <ns0:cNvPr id="30" name="mvp-band-structural_mvp_risco_corporativo-6">
            <a:extLst>
              <a:ext uri="{FF2B5EF4-FFF2-40B4-BE49-F238E27FC236}">
                <ns2:creationId id="{2240442D-9D7B-45A5-9125-14D3CA07E691}"/>
              </a:ext>
            </a:extLst>
          </ns0:cNvPr>
          <ns0:cNvSpPr>
            <a:spLocks noGrp="1"/>
          </ns0:cNvSpPr>
          <ns0:nvPr/>
        </ns0:nvSpPr>
        <ns0:spPr>
          <a:xfrm>
            <a:off x="9842500" y="1885950"/>
            <a:ext cx="1778000" cy="22860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0" tIns="0" rIns="0" bIns="0" anchor="ctr">
            <a:normAutofit fontScale="100000"/>
          </a:bodyPr>
          <a:lstStyle/>
          <a:p>
            <a:pPr algn="ctr">
              <a:lnSpc>
                <a:spcPct val="100000"/>
              </a:lnSpc>
              <a:buNone/>
              <a:defRPr sz="1050" b="1" lang="pt-BR">
                <a:solidFill>
                  <a:srgbClr val="002B5C"/>
                </a:solidFill>
                <a:latin typeface="Arial"/>
                <a:ea typeface="Arial"/>
                <a:cs typeface="Arial"/>
              </a:defRPr>
            </a:pPr>
            <a:r>
              <a:rPr sz="1050" b="1" lang="pt-BR">
                <a:solidFill>
                  <a:srgbClr val="002B5C"/>
                </a:solidFill>
                <a:latin typeface="Arial"/>
                <a:ea typeface="Arial"/>
                <a:cs typeface="Arial"/>
              </a:rPr>
              <a:t>≥ 60%</a:t>
            </a:r>
          </a:p>
        </ns0:txBody>
      </ns0:sp>
      <ns0:sp>
        <ns0:nvSpPr>
          <ns0:cNvPr id="31" name="">
            <a:extLst>
              <a:ext uri="{FF2B5EF4-FFF2-40B4-BE49-F238E27FC236}">
                <ns2:creationId id="{4B5DB29A-E7FB-47FB-87B2-29D95D2A9A41}"/>
              </a:ext>
            </a:extLst>
          </ns0:cNvPr>
          <ns0:cNvSpPr>
            <a:spLocks noGrp="1"/>
          </ns0:cNvSpPr>
          <ns0:nvPr/>
        </ns0:nvSpPr>
        <ns0:spPr>
          <a:xfrm>
            <a:off x="9842500" y="2114550"/>
            <a:ext cx="1778000" cy="19050"/>
          </a:xfrm>
          <a:prstGeom prst="rect">
            <a:avLst/>
          </a:prstGeom>
          <a:solidFill>
            <a:srgbClr val="002B5C"/>
          </a:solidFill>
          <a:ln w="0">
            <a:noFill/>
            <a:prstDash val="solid"/>
          </a:ln>
        </ns0:spPr>
      </ns0:sp>
      <ns0:sp>
        <ns0:nvSpPr>
          <ns0:cNvPr id="32" name="mvp-card-structural_mvp_risco_corporativo-58288437000152">
            <a:extLst>
              <a:ext uri="{FF2B5EF4-FFF2-40B4-BE49-F238E27FC236}">
                <ns2:creationId id="{CA293D8D-AFF5-42EB-81B1-C70EF48430E9}"/>
              </a:ext>
            </a:extLst>
          </ns0:cNvPr>
          <ns0:cNvSpPr>
            <a:spLocks noGrp="1"/>
          </ns0:cNvSpPr>
          <ns0:nvPr/>
        </ns0:nvSpPr>
        <ns0:spPr>
          <a:xfrm>
            <a:off x="9842500" y="2181225"/>
            <a:ext cx="1778000" cy="438150"/>
          </a:xfrm>
          <a:prstGeom prst="rect">
            <a:avLst/>
          </a:prstGeom>
          <a:solidFill>
            <a:srgbClr val="F5F6F7"/>
          </a:solidFill>
          <a:ln w="9525">
            <a:solidFill>
              <a:srgbClr val="B8BDC2"/>
            </a:solidFill>
            <a:prstDash val="solid"/>
          </a:ln>
        </ns0:spPr>
        <ns0:txBody>
          <a:bodyPr wrap="none" lIns="47625" tIns="28575" rIns="47625" bIns="28575" anchor="ctr">
            <a:normAutofit fontScale="87719"/>
          </a:bodyPr>
          <a:lstStyle/>
          <a:p>
            <a:pPr algn="l">
              <a:lnSpc>
                <a:spcPct val="95000"/>
              </a:lnSpc>
              <a:buNone/>
              <a:defRPr sz="1000" b="1" lang="pt-BR">
                <a:solidFill>
                  <a:srgbClr val="5E646A"/>
                </a:solidFill>
                <a:latin typeface="Arial"/>
                <a:ea typeface="Arial"/>
                <a:cs typeface="Arial"/>
              </a:defRPr>
            </a:pPr>
            <a:r>
              <a:rPr sz="1000" b="1" lang="pt-BR">
                <a:solidFill>
                  <a:srgbClr val="5E646A"/>
                </a:solidFill>
                <a:latin typeface="Arial"/>
                <a:ea typeface="Arial"/>
                <a:cs typeface="Arial"/>
              </a:rPr>
              <a:t>ALTOMAX SEGMENTO*</a:t>
            </a:r>
          </a:p>
          <a:p>
            <a:pPr algn="l">
              <a:lnSpc>
                <a:spcPct val="95000"/>
              </a:lnSpc>
              <a:buNone/>
              <a:defRPr sz="1000" b="1" lang="pt-BR">
                <a:solidFill>
                  <a:srgbClr val="5E646A"/>
                </a:solidFill>
                <a:latin typeface="Arial"/>
                <a:ea typeface="Arial"/>
                <a:cs typeface="Arial"/>
              </a:defRPr>
            </a:pPr>
            <a:r>
              <a:rPr sz="1000" b="1" lang="pt-BR">
                <a:solidFill>
                  <a:srgbClr val="5E646A"/>
                </a:solidFill>
                <a:latin typeface="Arial"/>
                <a:ea typeface="Arial"/>
                <a:cs typeface="Arial"/>
              </a:rPr>
              <a:t>R$ 89,9 mi · Sub atual 64,6%</a:t>
            </a:r>
          </a:p>
          <a:p>
            <a:pPr algn="l">
              <a:lnSpc>
                <a:spcPct val="95000"/>
              </a:lnSpc>
              <a:buNone/>
              <a:defRPr sz="1000" b="1" lang="pt-BR">
                <a:solidFill>
                  <a:srgbClr val="5E646A"/>
                </a:solidFill>
                <a:latin typeface="Arial"/>
                <a:ea typeface="Arial"/>
                <a:cs typeface="Arial"/>
              </a:defRPr>
            </a:pPr>
            <a:r>
              <a:rPr sz="1000" b="1" lang="pt-BR">
                <a:solidFill>
                  <a:srgbClr val="5E646A"/>
                </a:solidFill>
                <a:latin typeface="Arial"/>
                <a:ea typeface="Arial"/>
                <a:cs typeface="Arial"/>
              </a:rPr>
              <a:t>Jr 20,0% · Estr. N/D*</a:t>
            </a:r>
          </a:p>
        </ns0:txBody>
      </ns0:sp>
      <ns0:sp>
        <ns0:nvSpPr>
          <ns0:cNvPr id="33" name="">
            <a:extLst>
              <a:ext uri="{FF2B5EF4-FFF2-40B4-BE49-F238E27FC236}">
                <ns2:creationId id="{10C89DF2-CED2-4062-A740-7BA1D0CF3EEA}"/>
              </a:ext>
            </a:extLst>
          </ns0:cNvPr>
          <ns0:cNvSpPr>
            <a:spLocks noGrp="1"/>
          </ns0:cNvSpPr>
          <ns0:nvPr/>
        </ns0:nvSpPr>
        <ns0:spPr>
          <a:xfrm>
            <a:off x="571500" y="5981700"/>
            <a:ext cx="11049000" cy="295275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0" tIns="0" rIns="0" bIns="0" anchor="ctr">
            <a:normAutofit fontScale="88796"/>
          </a:bodyPr>
          <a:lstStyle/>
          <a:p>
            <a:pPr algn="r">
              <a:lnSpc>
                <a:spcPct val="100000"/>
              </a:lnSpc>
              <a:buNone/>
              <a:def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rPr>
              <a:t>Vinho = abaixo do mínimo estrutural · âmbar = até 2 p.p. acima · azul = mais de 2 p.p. acima · cinza = estrutura incomparável. * Categoria editorial ou piso total, combinado, calculado, ajustado ou sem equivalência direta.</a:t>
            </a:r>
          </a:p>
        </ns0:txBody>
      </ns0:sp>
    </ns0:spTree>
    <ns0:extLst>
      <ns0:ext uri="{BB962C8B-B14F-4D97-AF65-F5344CB8AC3E}">
        <ns3:creationId val="474124683"/>
      </ns0:ext>
    </ns0:extLst>
  </ns0:cSld>
</ns0:sld>
</file>

<file path=ppt/slides/slide22.xml><?xml version="1.0" encoding="utf-8"?>
<ns0:sld xmlns:a="http://schemas.openxmlformats.org/drawingml/2006/main" xmlns:ns0="http://schemas.openxmlformats.org/presentationml/2006/main" xmlns:ns2="http://schemas.microsoft.com/office/drawing/2014/main" xmlns:ns3="http://schemas.microsoft.com/office/powerpoint/2010/main">
  <ns0:cSld>
    <ns0:bg>
      <ns0:bgPr>
        <a:solidFill>
          <a:srgbClr val="FFFFFF"/>
        </a:solidFill>
      </ns0:bgPr>
    </ns0:bg>
    <ns0:spTree>
      <ns0:nvGrpSpPr>
        <ns0:cNvPr id="1" name=""/>
        <ns0:cNvGrpSpPr/>
        <ns0:nvPr/>
      </ns0:nvGrpSpPr>
      <ns0:grpSpPr>
        <a:xfrm/>
      </ns0:grpSpPr>
      <ns0:sp>
        <ns0:nvSpPr>
          <ns0:cNvPr id="32" name="">
            <a:extLst>
              <a:ext uri="{FF2B5EF4-FFF2-40B4-BE49-F238E27FC236}">
                <ns2:creationId id="{949E577E-E88E-498B-BB53-2DFFAA2DD1B2}"/>
              </a:ext>
            </a:extLst>
          </ns0:cNvPr>
          <ns0:cNvSpPr>
            <a:spLocks noGrp="1"/>
          </ns0:cNvSpPr>
          <ns0:nvPr/>
        </ns0:nvSpPr>
        <ns0:spPr>
          <a:xfrm>
            <a:off x="571500" y="257175"/>
            <a:ext cx="11049000" cy="19050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0" tIns="0" rIns="0" bIns="0" anchor="t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1000" b="1" lang="pt-BR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1000" b="1" lang="pt-BR">
                <a:solidFill>
                  <a:srgbClr val="EC7000"/>
                </a:solidFill>
                <a:latin typeface="Arial"/>
                <a:ea typeface="Arial"/>
                <a:cs typeface="Arial"/>
              </a:rPr>
              <a:t>RISCO ESTRUTURAL · CARTEIRA I · CONSIGNADO INSS E FGTS</a:t>
            </a:r>
          </a:p>
        </ns0:txBody>
      </ns0:sp>
      <ns0:sp>
        <ns0:nvSpPr>
          <ns0:cNvPr id="2" name="">
            <a:extLst>
              <a:ext uri="{FF2B5EF4-FFF2-40B4-BE49-F238E27FC236}">
                <ns2:creationId id="{4E766DF9-754D-44E6-8994-7A3729E20390}"/>
              </a:ext>
            </a:extLst>
          </ns0:cNvPr>
          <ns0:cNvSpPr>
            <a:spLocks noGrp="1"/>
          </ns0:cNvSpPr>
          <ns0:nvPr/>
        </ns0:nvSpPr>
        <ns0:spPr>
          <a:xfrm>
            <a:off x="571500" y="504825"/>
            <a:ext cx="11049000" cy="466725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0" tIns="0" rIns="0" bIns="0" anchor="ctr">
            <a:normAutofit fontScale="91523"/>
          </a:bodyPr>
          <a:lstStyle/>
          <a:p>
            <a:pPr algn="l">
              <a:lnSpc>
                <a:spcPct val="100000"/>
              </a:lnSpc>
              <a:buNone/>
              <a:defRPr sz="1800" b="1" lang="pt-BR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1800" b="1" lang="pt-BR">
                <a:solidFill>
                  <a:srgbClr val="151515"/>
                </a:solidFill>
                <a:latin typeface="Arial"/>
                <a:ea typeface="Arial"/>
                <a:cs typeface="Arial"/>
              </a:rPr>
              <a:t>Consignado INSS e FGTS | Sub atual e mínimos documentais por veículo; 9 estruturas exigem leitura separada</a:t>
            </a:r>
          </a:p>
        </ns0:txBody>
      </ns0:sp>
      <ns0:sp>
        <ns0:nvSpPr>
          <ns0:cNvPr id="3" name="">
            <a:extLst>
              <a:ext uri="{FF2B5EF4-FFF2-40B4-BE49-F238E27FC236}">
                <ns2:creationId id="{1CB6E2EC-3269-4B29-98B1-90393DE831C6}"/>
              </a:ext>
            </a:extLst>
          </ns0:cNvPr>
          <ns0:cNvSpPr>
            <a:spLocks noGrp="1"/>
          </ns0:cNvSpPr>
          <ns0:nvPr/>
        </ns0:nvSpPr>
        <ns0:spPr>
          <a:xfrm>
            <a:off x="571500" y="1047750"/>
            <a:ext cx="11049000" cy="9525"/>
          </a:xfrm>
          <a:prstGeom prst="rect">
            <a:avLst/>
          </a:prstGeom>
          <a:solidFill>
            <a:srgbClr val="D7DADD"/>
          </a:solidFill>
          <a:ln w="0">
            <a:noFill/>
            <a:prstDash val="solid"/>
          </a:ln>
        </ns0:spPr>
      </ns0:sp>
      <ns0:sp>
        <ns0:nvSpPr>
          <ns0:cNvPr id="4" name="">
            <a:extLst>
              <a:ext uri="{FF2B5EF4-FFF2-40B4-BE49-F238E27FC236}">
                <ns2:creationId id="{4BEC4E72-E37B-4E6B-9F05-F0968F256E1C}"/>
              </a:ext>
            </a:extLst>
          </ns0:cNvPr>
          <ns0:cNvSpPr>
            <a:spLocks noGrp="1"/>
          </ns0:cNvSpPr>
          <ns0:nvPr/>
        </ns0:nvSpPr>
        <ns0:spPr>
          <a:xfrm>
            <a:off x="571500" y="6353175"/>
            <a:ext cx="11049000" cy="9525"/>
          </a:xfrm>
          <a:prstGeom prst="rect">
            <a:avLst/>
          </a:prstGeom>
          <a:solidFill>
            <a:srgbClr val="D7DADD"/>
          </a:solidFill>
          <a:ln w="0">
            <a:noFill/>
            <a:prstDash val="solid"/>
          </a:ln>
        </ns0:spPr>
      </ns0:sp>
      <ns0:sp>
        <ns0:nvSpPr>
          <ns0:cNvPr id="5" name="">
            <a:extLst>
              <a:ext uri="{FF2B5EF4-FFF2-40B4-BE49-F238E27FC236}">
                <ns2:creationId id="{EFEC9B65-A420-4313-A7AB-C22EB1FD2470}"/>
              </a:ext>
            </a:extLst>
          </ns0:cNvPr>
          <ns0:cNvSpPr>
            <a:spLocks noGrp="1"/>
          </ns0:cNvSpPr>
          <ns0:nvPr/>
        </ns0:nvSpPr>
        <ns0:spPr>
          <a:xfrm>
            <a:off x="571500" y="6419850"/>
            <a:ext cx="10001250" cy="1714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47625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rPr>
              <a:t>CVM, Informe Mensal, jun/26; pisos em regulamentos FundosNet/B3. Lacunas ficam fora do slide e permanecem no workbook/explorador.</a:t>
            </a:r>
          </a:p>
        </ns0:txBody>
      </ns0:sp>
      <ns0:sp>
        <ns0:nvSpPr>
          <ns0:cNvPr id="6" name="">
            <a:extLst>
              <a:ext uri="{FF2B5EF4-FFF2-40B4-BE49-F238E27FC236}">
                <ns2:creationId id="{970936CF-B1D6-496F-AA4C-F7037AAD75F6}"/>
              </a:ext>
            </a:extLst>
          </ns0:cNvPr>
          <ns0:cNvSpPr>
            <a:spLocks noGrp="1"/>
          </ns0:cNvSpPr>
          <ns0:nvPr/>
        </ns0:nvSpPr>
        <ns0:spPr>
          <a:xfrm>
            <a:off x="11144250" y="6410325"/>
            <a:ext cx="476250" cy="1714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ctr">
            <a:normAutofit fontScale="100000"/>
          </a:bodyPr>
          <a:lstStyle/>
          <a:p>
            <a:pPr algn="r">
              <a:lnSpc>
                <a:spcPct val="100000"/>
              </a:lnSpc>
              <a:buNone/>
              <a:def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rPr>
              <a:t>22</a:t>
            </a:r>
          </a:p>
        </ns0:txBody>
      </ns0:sp>
      <ns0:sp>
        <ns0:nvSpPr>
          <ns0:cNvPr id="7" name="mvp-summary-structural_mvp_consignado-1">
            <a:extLst>
              <a:ext uri="{FF2B5EF4-FFF2-40B4-BE49-F238E27FC236}">
                <ns2:creationId id="{23692BC2-3AAA-47CC-9EE3-14C9993327F4}"/>
              </a:ext>
            </a:extLst>
          </ns0:cNvPr>
          <ns0:cNvSpPr>
            <a:spLocks noGrp="1"/>
          </ns0:cNvSpPr>
          <ns0:nvPr/>
        </ns0:nvSpPr>
        <ns0:spPr>
          <a:xfrm>
            <a:off x="571500" y="1152525"/>
            <a:ext cx="3143250" cy="609600"/>
          </a:xfrm>
          <a:prstGeom prst="rect">
            <a:avLst/>
          </a:prstGeom>
          <a:solidFill>
            <a:srgbClr val="EAF0F7"/>
          </a:solidFill>
          <a:ln w="0">
            <a:solidFill>
              <a:srgbClr val="EAF0F7"/>
            </a:solidFill>
            <a:prstDash val="solid"/>
          </a:ln>
        </ns0:spPr>
        <ns0:txBody>
          <a:bodyPr wrap="square" lIns="95250" tIns="66675" rIns="95250" bIns="66675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1000" b="1" lang="pt-BR">
                <a:solidFill>
                  <a:srgbClr val="002B5C"/>
                </a:solidFill>
                <a:latin typeface="Arial"/>
                <a:ea typeface="Arial"/>
                <a:cs typeface="Arial"/>
              </a:defRPr>
            </a:pPr>
            <a:r>
              <a:rPr sz="1000" b="1" lang="pt-BR">
                <a:solidFill>
                  <a:srgbClr val="002B5C"/>
                </a:solidFill>
                <a:latin typeface="Arial"/>
                <a:ea typeface="Arial"/>
                <a:cs typeface="Arial"/>
              </a:rPr>
              <a:t>COBERTURA DO SLIDE</a:t>
            </a:r>
          </a:p>
          <a:p>
            <a:pPr algn="l">
              <a:lnSpc>
                <a:spcPct val="100000"/>
              </a:lnSpc>
              <a:buNone/>
              <a:defRPr sz="1000" b="1" lang="pt-BR">
                <a:solidFill>
                  <a:srgbClr val="002B5C"/>
                </a:solidFill>
                <a:latin typeface="Arial"/>
                <a:ea typeface="Arial"/>
                <a:cs typeface="Arial"/>
              </a:defRPr>
            </a:pPr>
            <a:r>
              <a:rPr sz="1000" b="1" lang="pt-BR">
                <a:solidFill>
                  <a:srgbClr val="002B5C"/>
                </a:solidFill>
                <a:latin typeface="Arial"/>
                <a:ea typeface="Arial"/>
                <a:cs typeface="Arial"/>
              </a:rPr>
              <a:t>9/12 CNPJs · R$ 7,2 bi de R$ 10,5 bi</a:t>
            </a:r>
          </a:p>
        </ns0:txBody>
      </ns0:sp>
      <ns0:sp>
        <ns0:nvSpPr>
          <ns0:cNvPr id="8" name="mvp-summary-structural_mvp_consignado-2">
            <a:extLst>
              <a:ext uri="{FF2B5EF4-FFF2-40B4-BE49-F238E27FC236}">
                <ns2:creationId id="{B4B76D70-20AE-4CD0-9832-F1D80C7152D6}"/>
              </a:ext>
            </a:extLst>
          </ns0:cNvPr>
          <ns0:cNvSpPr>
            <a:spLocks noGrp="1"/>
          </ns0:cNvSpPr>
          <ns0:nvPr/>
        </ns0:nvSpPr>
        <ns0:spPr>
          <a:xfrm>
            <a:off x="3810000" y="1152525"/>
            <a:ext cx="4810125" cy="609600"/>
          </a:xfrm>
          <a:prstGeom prst="rect">
            <a:avLst/>
          </a:prstGeom>
          <a:solidFill>
            <a:srgbClr val="FFFFFF"/>
          </a:solidFill>
          <a:ln w="9525">
            <a:solidFill>
              <a:srgbClr val="AFC5DD"/>
            </a:solidFill>
            <a:prstDash val="solid"/>
          </a:ln>
        </ns0:spPr>
        <ns0:txBody>
          <a:bodyPr wrap="square" lIns="95250" tIns="66675" rIns="95250" bIns="66675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1000" b="1" lang="pt-BR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000" b="1" lang="pt-BR">
                <a:solidFill>
                  <a:srgbClr val="30353A"/>
                </a:solidFill>
                <a:latin typeface="Arial"/>
                <a:ea typeface="Arial"/>
                <a:cs typeface="Arial"/>
              </a:rPr>
              <a:t>REFERÊNCIA DE MERCADO · SUB/PL ATUAL</a:t>
            </a:r>
          </a:p>
          <a:p>
            <a:pPr algn="l">
              <a:lnSpc>
                <a:spcPct val="100000"/>
              </a:lnSpc>
              <a:buNone/>
              <a:defRPr sz="1000" b="1" lang="pt-BR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000" b="1" lang="pt-BR">
                <a:solidFill>
                  <a:srgbClr val="30353A"/>
                </a:solidFill>
                <a:latin typeface="Arial"/>
                <a:ea typeface="Arial"/>
                <a:cs typeface="Arial"/>
              </a:rPr>
              <a:t>INSS carteira 14,9% vs. pares 16,1% | FGTS carteira 18,3% vs. pares 17,2%</a:t>
            </a:r>
          </a:p>
        </ns0:txBody>
      </ns0:sp>
      <ns0:sp>
        <ns0:nvSpPr>
          <ns0:cNvPr id="9" name="mvp-summary-structural_mvp_consignado-3">
            <a:extLst>
              <a:ext uri="{FF2B5EF4-FFF2-40B4-BE49-F238E27FC236}">
                <ns2:creationId id="{A677FA70-B329-40D6-9710-590CA11AF909}"/>
              </a:ext>
            </a:extLst>
          </ns0:cNvPr>
          <ns0:cNvSpPr>
            <a:spLocks noGrp="1"/>
          </ns0:cNvSpPr>
          <ns0:nvPr/>
        </ns0:nvSpPr>
        <ns0:spPr>
          <a:xfrm>
            <a:off x="8715375" y="1152525"/>
            <a:ext cx="2905125" cy="609600"/>
          </a:xfrm>
          <a:prstGeom prst="rect">
            <a:avLst/>
          </a:prstGeom>
          <a:solidFill>
            <a:srgbClr val="FFF1E6"/>
          </a:solidFill>
          <a:ln w="0">
            <a:solidFill>
              <a:srgbClr val="FFF1E6"/>
            </a:solidFill>
            <a:prstDash val="solid"/>
          </a:ln>
        </ns0:spPr>
        <ns0:txBody>
          <a:bodyPr wrap="square" lIns="95250" tIns="66675" rIns="95250" bIns="66675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1000" b="1" lang="pt-BR">
                <a:solidFill>
                  <a:srgbClr val="7A1F3D"/>
                </a:solidFill>
                <a:latin typeface="Arial"/>
                <a:ea typeface="Arial"/>
                <a:cs typeface="Arial"/>
              </a:defRPr>
            </a:pPr>
            <a:r>
              <a:rPr sz="1000" b="1" lang="pt-BR">
                <a:solidFill>
                  <a:srgbClr val="7A1F3D"/>
                </a:solidFill>
                <a:latin typeface="Arial"/>
                <a:ea typeface="Arial"/>
                <a:cs typeface="Arial"/>
              </a:rPr>
              <a:t>LEITURA RELATIVA</a:t>
            </a:r>
          </a:p>
          <a:p>
            <a:pPr algn="l">
              <a:lnSpc>
                <a:spcPct val="100000"/>
              </a:lnSpc>
              <a:buNone/>
              <a:defRPr sz="1000" b="1" lang="pt-BR">
                <a:solidFill>
                  <a:srgbClr val="7A1F3D"/>
                </a:solidFill>
                <a:latin typeface="Arial"/>
                <a:ea typeface="Arial"/>
                <a:cs typeface="Arial"/>
              </a:defRPr>
            </a:pPr>
            <a:r>
              <a:rPr sz="1000" b="1" lang="pt-BR">
                <a:solidFill>
                  <a:srgbClr val="7A1F3D"/>
                </a:solidFill>
                <a:latin typeface="Arial"/>
                <a:ea typeface="Arial"/>
                <a:cs typeface="Arial"/>
              </a:rPr>
              <a:t>≈ Em linha nos dois grupos</a:t>
            </a:r>
          </a:p>
        </ns0:txBody>
      </ns0:sp>
      <ns0:sp>
        <ns0:nvSpPr>
          <ns0:cNvPr id="10" name="mvp-band-structural_mvp_consignado-1">
            <a:extLst>
              <a:ext uri="{FF2B5EF4-FFF2-40B4-BE49-F238E27FC236}">
                <ns2:creationId id="{494895F3-480D-4B06-B305-0513FF5C24C8}"/>
              </a:ext>
            </a:extLst>
          </ns0:cNvPr>
          <ns0:cNvSpPr>
            <a:spLocks noGrp="1"/>
          </ns0:cNvSpPr>
          <ns0:nvPr/>
        </ns0:nvSpPr>
        <ns0:spPr>
          <a:xfrm>
            <a:off x="571500" y="1885950"/>
            <a:ext cx="1778000" cy="22860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0" tIns="0" rIns="0" bIns="0" anchor="ctr">
            <a:normAutofit fontScale="100000"/>
          </a:bodyPr>
          <a:lstStyle/>
          <a:p>
            <a:pPr algn="ctr">
              <a:lnSpc>
                <a:spcPct val="100000"/>
              </a:lnSpc>
              <a:buNone/>
              <a:defRPr sz="1050" b="1" lang="pt-BR">
                <a:solidFill>
                  <a:srgbClr val="002B5C"/>
                </a:solidFill>
                <a:latin typeface="Arial"/>
                <a:ea typeface="Arial"/>
                <a:cs typeface="Arial"/>
              </a:defRPr>
            </a:pPr>
            <a:r>
              <a:rPr sz="1050" b="1" lang="pt-BR">
                <a:solidFill>
                  <a:srgbClr val="002B5C"/>
                </a:solidFill>
                <a:latin typeface="Arial"/>
                <a:ea typeface="Arial"/>
                <a:cs typeface="Arial"/>
              </a:rPr>
              <a:t>&lt; 10%</a:t>
            </a:r>
          </a:p>
        </ns0:txBody>
      </ns0:sp>
      <ns0:sp>
        <ns0:nvSpPr>
          <ns0:cNvPr id="11" name="">
            <a:extLst>
              <a:ext uri="{FF2B5EF4-FFF2-40B4-BE49-F238E27FC236}">
                <ns2:creationId id="{23A8B532-75B3-418A-96FF-0F1146EDE2E0}"/>
              </a:ext>
            </a:extLst>
          </ns0:cNvPr>
          <ns0:cNvSpPr>
            <a:spLocks noGrp="1"/>
          </ns0:cNvSpPr>
          <ns0:nvPr/>
        </ns0:nvSpPr>
        <ns0:spPr>
          <a:xfrm>
            <a:off x="571500" y="2114550"/>
            <a:ext cx="1778000" cy="19050"/>
          </a:xfrm>
          <a:prstGeom prst="rect">
            <a:avLst/>
          </a:prstGeom>
          <a:solidFill>
            <a:srgbClr val="002B5C"/>
          </a:solidFill>
          <a:ln w="0">
            <a:noFill/>
            <a:prstDash val="solid"/>
          </a:ln>
        </ns0:spPr>
      </ns0:sp>
      <ns0:sp>
        <ns0:nvSpPr>
          <ns0:cNvPr id="12" name="mvp-band-structural_mvp_consignado-2">
            <a:extLst>
              <a:ext uri="{FF2B5EF4-FFF2-40B4-BE49-F238E27FC236}">
                <ns2:creationId id="{378E939F-FE4A-4156-BA8E-0985794815FB}"/>
              </a:ext>
            </a:extLst>
          </ns0:cNvPr>
          <ns0:cNvSpPr>
            <a:spLocks noGrp="1"/>
          </ns0:cNvSpPr>
          <ns0:nvPr/>
        </ns0:nvSpPr>
        <ns0:spPr>
          <a:xfrm>
            <a:off x="2425700" y="1885950"/>
            <a:ext cx="1778000" cy="22860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0" tIns="0" rIns="0" bIns="0" anchor="ctr">
            <a:normAutofit fontScale="100000"/>
          </a:bodyPr>
          <a:lstStyle/>
          <a:p>
            <a:pPr algn="ctr">
              <a:lnSpc>
                <a:spcPct val="100000"/>
              </a:lnSpc>
              <a:buNone/>
              <a:defRPr sz="1050" b="1" lang="pt-BR">
                <a:solidFill>
                  <a:srgbClr val="002B5C"/>
                </a:solidFill>
                <a:latin typeface="Arial"/>
                <a:ea typeface="Arial"/>
                <a:cs typeface="Arial"/>
              </a:defRPr>
            </a:pPr>
            <a:r>
              <a:rPr sz="1050" b="1" lang="pt-BR">
                <a:solidFill>
                  <a:srgbClr val="002B5C"/>
                </a:solidFill>
                <a:latin typeface="Arial"/>
                <a:ea typeface="Arial"/>
                <a:cs typeface="Arial"/>
              </a:rPr>
              <a:t>10%–15%</a:t>
            </a:r>
          </a:p>
        </ns0:txBody>
      </ns0:sp>
      <ns0:sp>
        <ns0:nvSpPr>
          <ns0:cNvPr id="13" name="">
            <a:extLst>
              <a:ext uri="{FF2B5EF4-FFF2-40B4-BE49-F238E27FC236}">
                <ns2:creationId id="{05D461F3-B7D2-4A00-A2AB-C06C5D36F4AD}"/>
              </a:ext>
            </a:extLst>
          </ns0:cNvPr>
          <ns0:cNvSpPr>
            <a:spLocks noGrp="1"/>
          </ns0:cNvSpPr>
          <ns0:nvPr/>
        </ns0:nvSpPr>
        <ns0:spPr>
          <a:xfrm>
            <a:off x="2425700" y="2114550"/>
            <a:ext cx="1778000" cy="19050"/>
          </a:xfrm>
          <a:prstGeom prst="rect">
            <a:avLst/>
          </a:prstGeom>
          <a:solidFill>
            <a:srgbClr val="002B5C"/>
          </a:solidFill>
          <a:ln w="0">
            <a:noFill/>
            <a:prstDash val="solid"/>
          </a:ln>
        </ns0:spPr>
      </ns0:sp>
      <ns0:sp>
        <ns0:nvSpPr>
          <ns0:cNvPr id="14" name="mvp-card-structural_mvp_consignado-63546406000194">
            <a:extLst>
              <a:ext uri="{FF2B5EF4-FFF2-40B4-BE49-F238E27FC236}">
                <ns2:creationId id="{8C4BDD6D-CDF2-47AB-9974-07ABA2A08A31}"/>
              </a:ext>
            </a:extLst>
          </ns0:cNvPr>
          <ns0:cNvSpPr>
            <a:spLocks noGrp="1"/>
          </ns0:cNvSpPr>
          <ns0:nvPr/>
        </ns0:nvSpPr>
        <ns0:spPr>
          <a:xfrm>
            <a:off x="2425700" y="2181225"/>
            <a:ext cx="1778000" cy="438150"/>
          </a:xfrm>
          <a:prstGeom prst="rect">
            <a:avLst/>
          </a:prstGeom>
          <a:solidFill>
            <a:srgbClr val="F5F6F7"/>
          </a:solidFill>
          <a:ln w="9525">
            <a:solidFill>
              <a:srgbClr val="B8BDC2"/>
            </a:solidFill>
            <a:prstDash val="solid"/>
          </a:ln>
        </ns0:spPr>
        <ns0:txBody>
          <a:bodyPr wrap="none" lIns="47625" tIns="28575" rIns="47625" bIns="28575" anchor="ctr">
            <a:normAutofit fontScale="87719"/>
          </a:bodyPr>
          <a:lstStyle/>
          <a:p>
            <a:pPr algn="l">
              <a:lnSpc>
                <a:spcPct val="95000"/>
              </a:lnSpc>
              <a:buNone/>
              <a:defRPr sz="1000" b="1" lang="pt-BR">
                <a:solidFill>
                  <a:srgbClr val="5E646A"/>
                </a:solidFill>
                <a:latin typeface="Arial"/>
                <a:ea typeface="Arial"/>
                <a:cs typeface="Arial"/>
              </a:defRPr>
            </a:pPr>
            <a:r>
              <a:rPr sz="1000" b="1" lang="pt-BR">
                <a:solidFill>
                  <a:srgbClr val="5E646A"/>
                </a:solidFill>
                <a:latin typeface="Arial"/>
                <a:ea typeface="Arial"/>
                <a:cs typeface="Arial"/>
              </a:rPr>
              <a:t>PINE INSS III</a:t>
            </a:r>
          </a:p>
          <a:p>
            <a:pPr algn="l">
              <a:lnSpc>
                <a:spcPct val="95000"/>
              </a:lnSpc>
              <a:buNone/>
              <a:defRPr sz="1000" b="1" lang="pt-BR">
                <a:solidFill>
                  <a:srgbClr val="5E646A"/>
                </a:solidFill>
                <a:latin typeface="Arial"/>
                <a:ea typeface="Arial"/>
                <a:cs typeface="Arial"/>
              </a:defRPr>
            </a:pPr>
            <a:r>
              <a:rPr sz="1000" b="1" lang="pt-BR">
                <a:solidFill>
                  <a:srgbClr val="5E646A"/>
                </a:solidFill>
                <a:latin typeface="Arial"/>
                <a:ea typeface="Arial"/>
                <a:cs typeface="Arial"/>
              </a:rPr>
              <a:t>R$ 1,2 bi · Sub atual 14,9%</a:t>
            </a:r>
          </a:p>
          <a:p>
            <a:pPr algn="l">
              <a:lnSpc>
                <a:spcPct val="95000"/>
              </a:lnSpc>
              <a:buNone/>
              <a:defRPr sz="1000" b="1" lang="pt-BR">
                <a:solidFill>
                  <a:srgbClr val="5E646A"/>
                </a:solidFill>
                <a:latin typeface="Arial"/>
                <a:ea typeface="Arial"/>
                <a:cs typeface="Arial"/>
              </a:defRPr>
            </a:pPr>
            <a:r>
              <a:rPr sz="1000" b="1" lang="pt-BR">
                <a:solidFill>
                  <a:srgbClr val="5E646A"/>
                </a:solidFill>
                <a:latin typeface="Arial"/>
                <a:ea typeface="Arial"/>
                <a:cs typeface="Arial"/>
              </a:rPr>
              <a:t>Jr 1,5% · Estr. N/D*</a:t>
            </a:r>
          </a:p>
        </ns0:txBody>
      </ns0:sp>
      <ns0:sp>
        <ns0:nvSpPr>
          <ns0:cNvPr id="15" name="mvp-card-structural_mvp_consignado-65347578000164">
            <a:extLst>
              <a:ext uri="{FF2B5EF4-FFF2-40B4-BE49-F238E27FC236}">
                <ns2:creationId id="{9CBF50A7-B867-448B-B9E7-2710AFB92D08}"/>
              </a:ext>
            </a:extLst>
          </ns0:cNvPr>
          <ns0:cNvSpPr>
            <a:spLocks noGrp="1"/>
          </ns0:cNvSpPr>
          <ns0:nvPr/>
        </ns0:nvSpPr>
        <ns0:spPr>
          <a:xfrm>
            <a:off x="2425700" y="2638425"/>
            <a:ext cx="1778000" cy="438150"/>
          </a:xfrm>
          <a:prstGeom prst="rect">
            <a:avLst/>
          </a:prstGeom>
          <a:solidFill>
            <a:srgbClr val="F5F6F7"/>
          </a:solidFill>
          <a:ln w="9525">
            <a:solidFill>
              <a:srgbClr val="B8BDC2"/>
            </a:solidFill>
            <a:prstDash val="solid"/>
          </a:ln>
        </ns0:spPr>
        <ns0:txBody>
          <a:bodyPr wrap="none" lIns="47625" tIns="28575" rIns="47625" bIns="28575" anchor="ctr">
            <a:normAutofit fontScale="87719"/>
          </a:bodyPr>
          <a:lstStyle/>
          <a:p>
            <a:pPr algn="l">
              <a:lnSpc>
                <a:spcPct val="95000"/>
              </a:lnSpc>
              <a:buNone/>
              <a:defRPr sz="1000" b="1" lang="pt-BR">
                <a:solidFill>
                  <a:srgbClr val="5E646A"/>
                </a:solidFill>
                <a:latin typeface="Arial"/>
                <a:ea typeface="Arial"/>
                <a:cs typeface="Arial"/>
              </a:defRPr>
            </a:pPr>
            <a:r>
              <a:rPr sz="1000" b="1" lang="pt-BR">
                <a:solidFill>
                  <a:srgbClr val="5E646A"/>
                </a:solidFill>
                <a:latin typeface="Arial"/>
                <a:ea typeface="Arial"/>
                <a:cs typeface="Arial"/>
              </a:rPr>
              <a:t>ICRED INSS III</a:t>
            </a:r>
          </a:p>
          <a:p>
            <a:pPr algn="l">
              <a:lnSpc>
                <a:spcPct val="95000"/>
              </a:lnSpc>
              <a:buNone/>
              <a:defRPr sz="1000" b="1" lang="pt-BR">
                <a:solidFill>
                  <a:srgbClr val="5E646A"/>
                </a:solidFill>
                <a:latin typeface="Arial"/>
                <a:ea typeface="Arial"/>
                <a:cs typeface="Arial"/>
              </a:defRPr>
            </a:pPr>
            <a:r>
              <a:rPr sz="1000" b="1" lang="pt-BR">
                <a:solidFill>
                  <a:srgbClr val="5E646A"/>
                </a:solidFill>
                <a:latin typeface="Arial"/>
                <a:ea typeface="Arial"/>
                <a:cs typeface="Arial"/>
              </a:rPr>
              <a:t>R$ 664,8 mi · Sub atual 13,5%</a:t>
            </a:r>
          </a:p>
          <a:p>
            <a:pPr algn="l">
              <a:lnSpc>
                <a:spcPct val="95000"/>
              </a:lnSpc>
              <a:buNone/>
              <a:defRPr sz="1000" b="1" lang="pt-BR">
                <a:solidFill>
                  <a:srgbClr val="5E646A"/>
                </a:solidFill>
                <a:latin typeface="Arial"/>
                <a:ea typeface="Arial"/>
                <a:cs typeface="Arial"/>
              </a:defRPr>
            </a:pPr>
            <a:r>
              <a:rPr sz="1000" b="1" lang="pt-BR">
                <a:solidFill>
                  <a:srgbClr val="5E646A"/>
                </a:solidFill>
                <a:latin typeface="Arial"/>
                <a:ea typeface="Arial"/>
                <a:cs typeface="Arial"/>
              </a:rPr>
              <a:t>Jr 2,5% · Estr. N/D*</a:t>
            </a:r>
          </a:p>
        </ns0:txBody>
      </ns0:sp>
      <ns0:sp>
        <ns0:nvSpPr>
          <ns0:cNvPr id="16" name="mvp-band-structural_mvp_consignado-3">
            <a:extLst>
              <a:ext uri="{FF2B5EF4-FFF2-40B4-BE49-F238E27FC236}">
                <ns2:creationId id="{CB5BE569-AE46-429E-B1A2-F8F9A1CEB74F}"/>
              </a:ext>
            </a:extLst>
          </ns0:cNvPr>
          <ns0:cNvSpPr>
            <a:spLocks noGrp="1"/>
          </ns0:cNvSpPr>
          <ns0:nvPr/>
        </ns0:nvSpPr>
        <ns0:spPr>
          <a:xfrm>
            <a:off x="4279900" y="1885950"/>
            <a:ext cx="1778000" cy="22860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0" tIns="0" rIns="0" bIns="0" anchor="ctr">
            <a:normAutofit fontScale="100000"/>
          </a:bodyPr>
          <a:lstStyle/>
          <a:p>
            <a:pPr algn="ctr">
              <a:lnSpc>
                <a:spcPct val="100000"/>
              </a:lnSpc>
              <a:buNone/>
              <a:defRPr sz="1050" b="1" lang="pt-BR">
                <a:solidFill>
                  <a:srgbClr val="002B5C"/>
                </a:solidFill>
                <a:latin typeface="Arial"/>
                <a:ea typeface="Arial"/>
                <a:cs typeface="Arial"/>
              </a:defRPr>
            </a:pPr>
            <a:r>
              <a:rPr sz="1050" b="1" lang="pt-BR">
                <a:solidFill>
                  <a:srgbClr val="002B5C"/>
                </a:solidFill>
                <a:latin typeface="Arial"/>
                <a:ea typeface="Arial"/>
                <a:cs typeface="Arial"/>
              </a:rPr>
              <a:t>15%–20%</a:t>
            </a:r>
          </a:p>
        </ns0:txBody>
      </ns0:sp>
      <ns0:sp>
        <ns0:nvSpPr>
          <ns0:cNvPr id="17" name="">
            <a:extLst>
              <a:ext uri="{FF2B5EF4-FFF2-40B4-BE49-F238E27FC236}">
                <ns2:creationId id="{28B897BB-8B32-4DCE-9538-78813153C12E}"/>
              </a:ext>
            </a:extLst>
          </ns0:cNvPr>
          <ns0:cNvSpPr>
            <a:spLocks noGrp="1"/>
          </ns0:cNvSpPr>
          <ns0:nvPr/>
        </ns0:nvSpPr>
        <ns0:spPr>
          <a:xfrm>
            <a:off x="4279900" y="2114550"/>
            <a:ext cx="1778000" cy="19050"/>
          </a:xfrm>
          <a:prstGeom prst="rect">
            <a:avLst/>
          </a:prstGeom>
          <a:solidFill>
            <a:srgbClr val="002B5C"/>
          </a:solidFill>
          <a:ln w="0">
            <a:noFill/>
            <a:prstDash val="solid"/>
          </a:ln>
        </ns0:spPr>
      </ns0:sp>
      <ns0:sp>
        <ns0:nvSpPr>
          <ns0:cNvPr id="18" name="mvp-card-structural_mvp_consignado-65976848000104">
            <a:extLst>
              <a:ext uri="{FF2B5EF4-FFF2-40B4-BE49-F238E27FC236}">
                <ns2:creationId id="{30D86E2B-9144-4C3A-9F48-1D25CC48C27B}"/>
              </a:ext>
            </a:extLst>
          </ns0:cNvPr>
          <ns0:cNvSpPr>
            <a:spLocks noGrp="1"/>
          </ns0:cNvSpPr>
          <ns0:nvPr/>
        </ns0:nvSpPr>
        <ns0:spPr>
          <a:xfrm>
            <a:off x="4279900" y="2181225"/>
            <a:ext cx="1778000" cy="438150"/>
          </a:xfrm>
          <a:prstGeom prst="rect">
            <a:avLst/>
          </a:prstGeom>
          <a:solidFill>
            <a:srgbClr val="F5F6F7"/>
          </a:solidFill>
          <a:ln w="9525">
            <a:solidFill>
              <a:srgbClr val="B8BDC2"/>
            </a:solidFill>
            <a:prstDash val="solid"/>
          </a:ln>
        </ns0:spPr>
        <ns0:txBody>
          <a:bodyPr wrap="none" lIns="47625" tIns="28575" rIns="47625" bIns="28575" anchor="ctr">
            <a:normAutofit fontScale="87719"/>
          </a:bodyPr>
          <a:lstStyle/>
          <a:p>
            <a:pPr algn="l">
              <a:lnSpc>
                <a:spcPct val="95000"/>
              </a:lnSpc>
              <a:buNone/>
              <a:defRPr sz="1000" b="1" lang="pt-BR">
                <a:solidFill>
                  <a:srgbClr val="5E646A"/>
                </a:solidFill>
                <a:latin typeface="Arial"/>
                <a:ea typeface="Arial"/>
                <a:cs typeface="Arial"/>
              </a:defRPr>
            </a:pPr>
            <a:r>
              <a:rPr sz="1000" b="1" lang="pt-BR">
                <a:solidFill>
                  <a:srgbClr val="5E646A"/>
                </a:solidFill>
                <a:latin typeface="Arial"/>
                <a:ea typeface="Arial"/>
                <a:cs typeface="Arial"/>
              </a:rPr>
              <a:t>AGIBANK II</a:t>
            </a:r>
          </a:p>
          <a:p>
            <a:pPr algn="l">
              <a:lnSpc>
                <a:spcPct val="95000"/>
              </a:lnSpc>
              <a:buNone/>
              <a:defRPr sz="1000" b="1" lang="pt-BR">
                <a:solidFill>
                  <a:srgbClr val="5E646A"/>
                </a:solidFill>
                <a:latin typeface="Arial"/>
                <a:ea typeface="Arial"/>
                <a:cs typeface="Arial"/>
              </a:defRPr>
            </a:pPr>
            <a:r>
              <a:rPr sz="1000" b="1" lang="pt-BR">
                <a:solidFill>
                  <a:srgbClr val="5E646A"/>
                </a:solidFill>
                <a:latin typeface="Arial"/>
                <a:ea typeface="Arial"/>
                <a:cs typeface="Arial"/>
              </a:rPr>
              <a:t>R$ 3,0 bi · Sub atual 15,2%</a:t>
            </a:r>
          </a:p>
          <a:p>
            <a:pPr algn="l">
              <a:lnSpc>
                <a:spcPct val="95000"/>
              </a:lnSpc>
              <a:buNone/>
              <a:defRPr sz="1000" b="1" lang="pt-BR">
                <a:solidFill>
                  <a:srgbClr val="5E646A"/>
                </a:solidFill>
                <a:latin typeface="Arial"/>
                <a:ea typeface="Arial"/>
                <a:cs typeface="Arial"/>
              </a:defRPr>
            </a:pPr>
            <a:r>
              <a:rPr sz="1000" b="1" lang="pt-BR">
                <a:solidFill>
                  <a:srgbClr val="5E646A"/>
                </a:solidFill>
                <a:latin typeface="Arial"/>
                <a:ea typeface="Arial"/>
                <a:cs typeface="Arial"/>
              </a:rPr>
              <a:t>Jr 5,0% · Estr. N/D*</a:t>
            </a:r>
          </a:p>
        </ns0:txBody>
      </ns0:sp>
      <ns0:sp>
        <ns0:nvSpPr>
          <ns0:cNvPr id="19" name="mvp-card-structural_mvp_consignado-54810968000102">
            <a:extLst>
              <a:ext uri="{FF2B5EF4-FFF2-40B4-BE49-F238E27FC236}">
                <ns2:creationId id="{3BB49480-97CF-44D8-9A5F-D08CECB437A1}"/>
              </a:ext>
            </a:extLst>
          </ns0:cNvPr>
          <ns0:cNvSpPr>
            <a:spLocks noGrp="1"/>
          </ns0:cNvSpPr>
          <ns0:nvPr/>
        </ns0:nvSpPr>
        <ns0:spPr>
          <a:xfrm>
            <a:off x="4279900" y="2638425"/>
            <a:ext cx="1778000" cy="438150"/>
          </a:xfrm>
          <a:prstGeom prst="rect">
            <a:avLst/>
          </a:prstGeom>
          <a:solidFill>
            <a:srgbClr val="F5F6F7"/>
          </a:solidFill>
          <a:ln w="9525">
            <a:solidFill>
              <a:srgbClr val="B8BDC2"/>
            </a:solidFill>
            <a:prstDash val="solid"/>
          </a:ln>
        </ns0:spPr>
        <ns0:txBody>
          <a:bodyPr wrap="none" lIns="47625" tIns="28575" rIns="47625" bIns="28575" anchor="ctr">
            <a:normAutofit fontScale="87719"/>
          </a:bodyPr>
          <a:lstStyle/>
          <a:p>
            <a:pPr algn="l">
              <a:lnSpc>
                <a:spcPct val="95000"/>
              </a:lnSpc>
              <a:buNone/>
              <a:defRPr sz="1000" b="1" lang="pt-BR">
                <a:solidFill>
                  <a:srgbClr val="5E646A"/>
                </a:solidFill>
                <a:latin typeface="Arial"/>
                <a:ea typeface="Arial"/>
                <a:cs typeface="Arial"/>
              </a:defRPr>
            </a:pPr>
            <a:r>
              <a:rPr sz="1000" b="1" lang="pt-BR">
                <a:solidFill>
                  <a:srgbClr val="5E646A"/>
                </a:solidFill>
                <a:latin typeface="Arial"/>
                <a:ea typeface="Arial"/>
                <a:cs typeface="Arial"/>
              </a:rPr>
              <a:t>ANGÁ FGTS III</a:t>
            </a:r>
          </a:p>
          <a:p>
            <a:pPr algn="l">
              <a:lnSpc>
                <a:spcPct val="95000"/>
              </a:lnSpc>
              <a:buNone/>
              <a:defRPr sz="1000" b="1" lang="pt-BR">
                <a:solidFill>
                  <a:srgbClr val="5E646A"/>
                </a:solidFill>
                <a:latin typeface="Arial"/>
                <a:ea typeface="Arial"/>
                <a:cs typeface="Arial"/>
              </a:defRPr>
            </a:pPr>
            <a:r>
              <a:rPr sz="1000" b="1" lang="pt-BR">
                <a:solidFill>
                  <a:srgbClr val="5E646A"/>
                </a:solidFill>
                <a:latin typeface="Arial"/>
                <a:ea typeface="Arial"/>
                <a:cs typeface="Arial"/>
              </a:rPr>
              <a:t>R$ 965,3 mi · Sub atual 16,1%</a:t>
            </a:r>
          </a:p>
          <a:p>
            <a:pPr algn="l">
              <a:lnSpc>
                <a:spcPct val="95000"/>
              </a:lnSpc>
              <a:buNone/>
              <a:defRPr sz="1000" b="1" lang="pt-BR">
                <a:solidFill>
                  <a:srgbClr val="5E646A"/>
                </a:solidFill>
                <a:latin typeface="Arial"/>
                <a:ea typeface="Arial"/>
                <a:cs typeface="Arial"/>
              </a:defRPr>
            </a:pPr>
            <a:r>
              <a:rPr sz="1000" b="1" lang="pt-BR">
                <a:solidFill>
                  <a:srgbClr val="5E646A"/>
                </a:solidFill>
                <a:latin typeface="Arial"/>
                <a:ea typeface="Arial"/>
                <a:cs typeface="Arial"/>
              </a:rPr>
              <a:t>Jr 5,0% · Estr. N/D*</a:t>
            </a:r>
          </a:p>
        </ns0:txBody>
      </ns0:sp>
      <ns0:sp>
        <ns0:nvSpPr>
          <ns0:cNvPr id="20" name="mvp-card-structural_mvp_consignado-54464892000100">
            <a:extLst>
              <a:ext uri="{FF2B5EF4-FFF2-40B4-BE49-F238E27FC236}">
                <ns2:creationId id="{B02AC1BA-B5A3-4C5D-AB39-C48CA699CF3B}"/>
              </a:ext>
            </a:extLst>
          </ns0:cNvPr>
          <ns0:cNvSpPr>
            <a:spLocks noGrp="1"/>
          </ns0:cNvSpPr>
          <ns0:nvPr/>
        </ns0:nvSpPr>
        <ns0:spPr>
          <a:xfrm>
            <a:off x="4279900" y="3095625"/>
            <a:ext cx="1778000" cy="438150"/>
          </a:xfrm>
          <a:prstGeom prst="rect">
            <a:avLst/>
          </a:prstGeom>
          <a:solidFill>
            <a:srgbClr val="F5F6F7"/>
          </a:solidFill>
          <a:ln w="9525">
            <a:solidFill>
              <a:srgbClr val="B8BDC2"/>
            </a:solidFill>
            <a:prstDash val="solid"/>
          </a:ln>
        </ns0:spPr>
        <ns0:txBody>
          <a:bodyPr wrap="none" lIns="47625" tIns="28575" rIns="47625" bIns="28575" anchor="ctr">
            <a:normAutofit fontScale="87719"/>
          </a:bodyPr>
          <a:lstStyle/>
          <a:p>
            <a:pPr algn="l">
              <a:lnSpc>
                <a:spcPct val="95000"/>
              </a:lnSpc>
              <a:buNone/>
              <a:defRPr sz="1000" b="1" lang="pt-BR">
                <a:solidFill>
                  <a:srgbClr val="5E646A"/>
                </a:solidFill>
                <a:latin typeface="Arial"/>
                <a:ea typeface="Arial"/>
                <a:cs typeface="Arial"/>
              </a:defRPr>
            </a:pPr>
            <a:r>
              <a:rPr sz="1000" b="1" lang="pt-BR">
                <a:solidFill>
                  <a:srgbClr val="5E646A"/>
                </a:solidFill>
                <a:latin typeface="Arial"/>
                <a:ea typeface="Arial"/>
                <a:cs typeface="Arial"/>
              </a:rPr>
              <a:t>MT FGTS RECEIVABLES</a:t>
            </a:r>
          </a:p>
          <a:p>
            <a:pPr algn="l">
              <a:lnSpc>
                <a:spcPct val="95000"/>
              </a:lnSpc>
              <a:buNone/>
              <a:defRPr sz="1000" b="1" lang="pt-BR">
                <a:solidFill>
                  <a:srgbClr val="5E646A"/>
                </a:solidFill>
                <a:latin typeface="Arial"/>
                <a:ea typeface="Arial"/>
                <a:cs typeface="Arial"/>
              </a:defRPr>
            </a:pPr>
            <a:r>
              <a:rPr sz="1000" b="1" lang="pt-BR">
                <a:solidFill>
                  <a:srgbClr val="5E646A"/>
                </a:solidFill>
                <a:latin typeface="Arial"/>
                <a:ea typeface="Arial"/>
                <a:cs typeface="Arial"/>
              </a:rPr>
              <a:t>R$ 697,5 mi · Sub atual 19,4%</a:t>
            </a:r>
          </a:p>
          <a:p>
            <a:pPr algn="l">
              <a:lnSpc>
                <a:spcPct val="95000"/>
              </a:lnSpc>
              <a:buNone/>
              <a:defRPr sz="1000" b="1" lang="pt-BR">
                <a:solidFill>
                  <a:srgbClr val="5E646A"/>
                </a:solidFill>
                <a:latin typeface="Arial"/>
                <a:ea typeface="Arial"/>
                <a:cs typeface="Arial"/>
              </a:defRPr>
            </a:pPr>
            <a:r>
              <a:rPr sz="1000" b="1" lang="pt-BR">
                <a:solidFill>
                  <a:srgbClr val="5E646A"/>
                </a:solidFill>
                <a:latin typeface="Arial"/>
                <a:ea typeface="Arial"/>
                <a:cs typeface="Arial"/>
              </a:rPr>
              <a:t>Jr 3,5% · Estr. N/D*</a:t>
            </a:r>
          </a:p>
        </ns0:txBody>
      </ns0:sp>
      <ns0:sp>
        <ns0:nvSpPr>
          <ns0:cNvPr id="21" name="mvp-card-structural_mvp_consignado-55401645000128">
            <a:extLst>
              <a:ext uri="{FF2B5EF4-FFF2-40B4-BE49-F238E27FC236}">
                <ns2:creationId id="{0A629FCA-D2AC-48C0-942E-CEEF1C4C17B2}"/>
              </a:ext>
            </a:extLst>
          </ns0:cNvPr>
          <ns0:cNvSpPr>
            <a:spLocks noGrp="1"/>
          </ns0:cNvSpPr>
          <ns0:nvPr/>
        </ns0:nvSpPr>
        <ns0:spPr>
          <a:xfrm>
            <a:off x="4279900" y="3552825"/>
            <a:ext cx="1778000" cy="438150"/>
          </a:xfrm>
          <a:prstGeom prst="rect">
            <a:avLst/>
          </a:prstGeom>
          <a:solidFill>
            <a:srgbClr val="F5F6F7"/>
          </a:solidFill>
          <a:ln w="9525">
            <a:solidFill>
              <a:srgbClr val="B8BDC2"/>
            </a:solidFill>
            <a:prstDash val="solid"/>
          </a:ln>
        </ns0:spPr>
        <ns0:txBody>
          <a:bodyPr wrap="none" lIns="47625" tIns="28575" rIns="47625" bIns="28575" anchor="ctr">
            <a:normAutofit fontScale="87719"/>
          </a:bodyPr>
          <a:lstStyle/>
          <a:p>
            <a:pPr algn="l">
              <a:lnSpc>
                <a:spcPct val="95000"/>
              </a:lnSpc>
              <a:buNone/>
              <a:defRPr sz="1000" b="1" lang="pt-BR">
                <a:solidFill>
                  <a:srgbClr val="5E646A"/>
                </a:solidFill>
                <a:latin typeface="Arial"/>
                <a:ea typeface="Arial"/>
                <a:cs typeface="Arial"/>
              </a:defRPr>
            </a:pPr>
            <a:r>
              <a:rPr sz="1000" b="1" lang="pt-BR">
                <a:solidFill>
                  <a:srgbClr val="5E646A"/>
                </a:solidFill>
                <a:latin typeface="Arial"/>
                <a:ea typeface="Arial"/>
                <a:cs typeface="Arial"/>
              </a:rPr>
              <a:t>QUATÁ FDC FGTS</a:t>
            </a:r>
          </a:p>
          <a:p>
            <a:pPr algn="l">
              <a:lnSpc>
                <a:spcPct val="95000"/>
              </a:lnSpc>
              <a:buNone/>
              <a:defRPr sz="1000" b="1" lang="pt-BR">
                <a:solidFill>
                  <a:srgbClr val="5E646A"/>
                </a:solidFill>
                <a:latin typeface="Arial"/>
                <a:ea typeface="Arial"/>
                <a:cs typeface="Arial"/>
              </a:defRPr>
            </a:pPr>
            <a:r>
              <a:rPr sz="1000" b="1" lang="pt-BR">
                <a:solidFill>
                  <a:srgbClr val="5E646A"/>
                </a:solidFill>
                <a:latin typeface="Arial"/>
                <a:ea typeface="Arial"/>
                <a:cs typeface="Arial"/>
              </a:rPr>
              <a:t>R$ 225,0 mi · Sub atual 17,3%</a:t>
            </a:r>
          </a:p>
          <a:p>
            <a:pPr algn="l">
              <a:lnSpc>
                <a:spcPct val="95000"/>
              </a:lnSpc>
              <a:buNone/>
              <a:defRPr sz="1000" b="1" lang="pt-BR">
                <a:solidFill>
                  <a:srgbClr val="5E646A"/>
                </a:solidFill>
                <a:latin typeface="Arial"/>
                <a:ea typeface="Arial"/>
                <a:cs typeface="Arial"/>
              </a:defRPr>
            </a:pPr>
            <a:r>
              <a:rPr sz="1000" b="1" lang="pt-BR">
                <a:solidFill>
                  <a:srgbClr val="5E646A"/>
                </a:solidFill>
                <a:latin typeface="Arial"/>
                <a:ea typeface="Arial"/>
                <a:cs typeface="Arial"/>
              </a:rPr>
              <a:t>Jr 3,0% · Estr. N/D*</a:t>
            </a:r>
          </a:p>
        </ns0:txBody>
      </ns0:sp>
      <ns0:sp>
        <ns0:nvSpPr>
          <ns0:cNvPr id="22" name="mvp-card-structural_mvp_consignado-54252144000164">
            <a:extLst>
              <a:ext uri="{FF2B5EF4-FFF2-40B4-BE49-F238E27FC236}">
                <ns2:creationId id="{F3461D42-3BA5-4242-9DC1-BCB62C5A4232}"/>
              </a:ext>
            </a:extLst>
          </ns0:cNvPr>
          <ns0:cNvSpPr>
            <a:spLocks noGrp="1"/>
          </ns0:cNvSpPr>
          <ns0:nvPr/>
        </ns0:nvSpPr>
        <ns0:spPr>
          <a:xfrm>
            <a:off x="4279900" y="4010025"/>
            <a:ext cx="1778000" cy="438150"/>
          </a:xfrm>
          <a:prstGeom prst="rect">
            <a:avLst/>
          </a:prstGeom>
          <a:solidFill>
            <a:srgbClr val="F5F6F7"/>
          </a:solidFill>
          <a:ln w="9525">
            <a:solidFill>
              <a:srgbClr val="B8BDC2"/>
            </a:solidFill>
            <a:prstDash val="solid"/>
          </a:ln>
        </ns0:spPr>
        <ns0:txBody>
          <a:bodyPr wrap="none" lIns="47625" tIns="28575" rIns="47625" bIns="28575" anchor="ctr">
            <a:normAutofit fontScale="87719"/>
          </a:bodyPr>
          <a:lstStyle/>
          <a:p>
            <a:pPr algn="l">
              <a:lnSpc>
                <a:spcPct val="95000"/>
              </a:lnSpc>
              <a:buNone/>
              <a:defRPr sz="1000" b="1" lang="pt-BR">
                <a:solidFill>
                  <a:srgbClr val="5E646A"/>
                </a:solidFill>
                <a:latin typeface="Arial"/>
                <a:ea typeface="Arial"/>
                <a:cs typeface="Arial"/>
              </a:defRPr>
            </a:pPr>
            <a:r>
              <a:rPr sz="1000" b="1" lang="pt-BR">
                <a:solidFill>
                  <a:srgbClr val="5E646A"/>
                </a:solidFill>
                <a:latin typeface="Arial"/>
                <a:ea typeface="Arial"/>
                <a:cs typeface="Arial"/>
              </a:rPr>
              <a:t>J17 FGTS FINANCEIRO</a:t>
            </a:r>
          </a:p>
          <a:p>
            <a:pPr algn="l">
              <a:lnSpc>
                <a:spcPct val="95000"/>
              </a:lnSpc>
              <a:buNone/>
              <a:defRPr sz="1000" b="1" lang="pt-BR">
                <a:solidFill>
                  <a:srgbClr val="5E646A"/>
                </a:solidFill>
                <a:latin typeface="Arial"/>
                <a:ea typeface="Arial"/>
                <a:cs typeface="Arial"/>
              </a:defRPr>
            </a:pPr>
            <a:r>
              <a:rPr sz="1000" b="1" lang="pt-BR">
                <a:solidFill>
                  <a:srgbClr val="5E646A"/>
                </a:solidFill>
                <a:latin typeface="Arial"/>
                <a:ea typeface="Arial"/>
                <a:cs typeface="Arial"/>
              </a:rPr>
              <a:t>R$ 213,6 mi · Sub atual 15,0%</a:t>
            </a:r>
          </a:p>
          <a:p>
            <a:pPr algn="l">
              <a:lnSpc>
                <a:spcPct val="95000"/>
              </a:lnSpc>
              <a:buNone/>
              <a:defRPr sz="1000" b="1" lang="pt-BR">
                <a:solidFill>
                  <a:srgbClr val="5E646A"/>
                </a:solidFill>
                <a:latin typeface="Arial"/>
                <a:ea typeface="Arial"/>
                <a:cs typeface="Arial"/>
              </a:defRPr>
            </a:pPr>
            <a:r>
              <a:rPr sz="1000" b="1" lang="pt-BR">
                <a:solidFill>
                  <a:srgbClr val="5E646A"/>
                </a:solidFill>
                <a:latin typeface="Arial"/>
                <a:ea typeface="Arial"/>
                <a:cs typeface="Arial"/>
              </a:rPr>
              <a:t>Jr 5,0% · Estr. N/D*</a:t>
            </a:r>
          </a:p>
        </ns0:txBody>
      </ns0:sp>
      <ns0:sp>
        <ns0:nvSpPr>
          <ns0:cNvPr id="23" name="mvp-band-structural_mvp_consignado-4">
            <a:extLst>
              <a:ext uri="{FF2B5EF4-FFF2-40B4-BE49-F238E27FC236}">
                <ns2:creationId id="{C764BB41-447D-430D-A688-F68F4A8E3692}"/>
              </a:ext>
            </a:extLst>
          </ns0:cNvPr>
          <ns0:cNvSpPr>
            <a:spLocks noGrp="1"/>
          </ns0:cNvSpPr>
          <ns0:nvPr/>
        </ns0:nvSpPr>
        <ns0:spPr>
          <a:xfrm>
            <a:off x="6134100" y="1885950"/>
            <a:ext cx="1778000" cy="22860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0" tIns="0" rIns="0" bIns="0" anchor="ctr">
            <a:normAutofit fontScale="100000"/>
          </a:bodyPr>
          <a:lstStyle/>
          <a:p>
            <a:pPr algn="ctr">
              <a:lnSpc>
                <a:spcPct val="100000"/>
              </a:lnSpc>
              <a:buNone/>
              <a:defRPr sz="1050" b="1" lang="pt-BR">
                <a:solidFill>
                  <a:srgbClr val="002B5C"/>
                </a:solidFill>
                <a:latin typeface="Arial"/>
                <a:ea typeface="Arial"/>
                <a:cs typeface="Arial"/>
              </a:defRPr>
            </a:pPr>
            <a:r>
              <a:rPr sz="1050" b="1" lang="pt-BR">
                <a:solidFill>
                  <a:srgbClr val="002B5C"/>
                </a:solidFill>
                <a:latin typeface="Arial"/>
                <a:ea typeface="Arial"/>
                <a:cs typeface="Arial"/>
              </a:rPr>
              <a:t>20%–35%</a:t>
            </a:r>
          </a:p>
        </ns0:txBody>
      </ns0:sp>
      <ns0:sp>
        <ns0:nvSpPr>
          <ns0:cNvPr id="24" name="">
            <a:extLst>
              <a:ext uri="{FF2B5EF4-FFF2-40B4-BE49-F238E27FC236}">
                <ns2:creationId id="{F40CC38C-E243-4470-B1A6-7595C3EF5A65}"/>
              </a:ext>
            </a:extLst>
          </ns0:cNvPr>
          <ns0:cNvSpPr>
            <a:spLocks noGrp="1"/>
          </ns0:cNvSpPr>
          <ns0:nvPr/>
        </ns0:nvSpPr>
        <ns0:spPr>
          <a:xfrm>
            <a:off x="6134100" y="2114550"/>
            <a:ext cx="1778000" cy="19050"/>
          </a:xfrm>
          <a:prstGeom prst="rect">
            <a:avLst/>
          </a:prstGeom>
          <a:solidFill>
            <a:srgbClr val="002B5C"/>
          </a:solidFill>
          <a:ln w="0">
            <a:noFill/>
            <a:prstDash val="solid"/>
          </a:ln>
        </ns0:spPr>
      </ns0:sp>
      <ns0:sp>
        <ns0:nvSpPr>
          <ns0:cNvPr id="25" name="mvp-card-structural_mvp_consignado-53577135000180">
            <a:extLst>
              <a:ext uri="{FF2B5EF4-FFF2-40B4-BE49-F238E27FC236}">
                <ns2:creationId id="{41AEF530-6AA8-40DE-8BA1-F36AE73AF5A7}"/>
              </a:ext>
            </a:extLst>
          </ns0:cNvPr>
          <ns0:cNvSpPr>
            <a:spLocks noGrp="1"/>
          </ns0:cNvSpPr>
          <ns0:nvPr/>
        </ns0:nvSpPr>
        <ns0:spPr>
          <a:xfrm>
            <a:off x="6134100" y="2181225"/>
            <a:ext cx="1778000" cy="438150"/>
          </a:xfrm>
          <a:prstGeom prst="rect">
            <a:avLst/>
          </a:prstGeom>
          <a:solidFill>
            <a:srgbClr val="F5F6F7"/>
          </a:solidFill>
          <a:ln w="9525">
            <a:solidFill>
              <a:srgbClr val="B8BDC2"/>
            </a:solidFill>
            <a:prstDash val="solid"/>
          </a:ln>
        </ns0:spPr>
        <ns0:txBody>
          <a:bodyPr wrap="none" lIns="47625" tIns="28575" rIns="47625" bIns="28575" anchor="ctr">
            <a:normAutofit fontScale="87719"/>
          </a:bodyPr>
          <a:lstStyle/>
          <a:p>
            <a:pPr algn="l">
              <a:lnSpc>
                <a:spcPct val="95000"/>
              </a:lnSpc>
              <a:buNone/>
              <a:defRPr sz="1000" b="1" lang="pt-BR">
                <a:solidFill>
                  <a:srgbClr val="5E646A"/>
                </a:solidFill>
                <a:latin typeface="Arial"/>
                <a:ea typeface="Arial"/>
                <a:cs typeface="Arial"/>
              </a:defRPr>
            </a:pPr>
            <a:r>
              <a:rPr sz="1000" b="1" lang="pt-BR">
                <a:solidFill>
                  <a:srgbClr val="5E646A"/>
                </a:solidFill>
                <a:latin typeface="Arial"/>
                <a:ea typeface="Arial"/>
                <a:cs typeface="Arial"/>
              </a:rPr>
              <a:t>ANGÁ FGTS II</a:t>
            </a:r>
          </a:p>
          <a:p>
            <a:pPr algn="l">
              <a:lnSpc>
                <a:spcPct val="95000"/>
              </a:lnSpc>
              <a:buNone/>
              <a:defRPr sz="1000" b="1" lang="pt-BR">
                <a:solidFill>
                  <a:srgbClr val="5E646A"/>
                </a:solidFill>
                <a:latin typeface="Arial"/>
                <a:ea typeface="Arial"/>
                <a:cs typeface="Arial"/>
              </a:defRPr>
            </a:pPr>
            <a:r>
              <a:rPr sz="1000" b="1" lang="pt-BR">
                <a:solidFill>
                  <a:srgbClr val="5E646A"/>
                </a:solidFill>
                <a:latin typeface="Arial"/>
                <a:ea typeface="Arial"/>
                <a:cs typeface="Arial"/>
              </a:rPr>
              <a:t>R$ 249,7 mi · Sub atual 22,0%</a:t>
            </a:r>
          </a:p>
          <a:p>
            <a:pPr algn="l">
              <a:lnSpc>
                <a:spcPct val="95000"/>
              </a:lnSpc>
              <a:buNone/>
              <a:defRPr sz="1000" b="1" lang="pt-BR">
                <a:solidFill>
                  <a:srgbClr val="5E646A"/>
                </a:solidFill>
                <a:latin typeface="Arial"/>
                <a:ea typeface="Arial"/>
                <a:cs typeface="Arial"/>
              </a:defRPr>
            </a:pPr>
            <a:r>
              <a:rPr sz="1000" b="1" lang="pt-BR">
                <a:solidFill>
                  <a:srgbClr val="5E646A"/>
                </a:solidFill>
                <a:latin typeface="Arial"/>
                <a:ea typeface="Arial"/>
                <a:cs typeface="Arial"/>
              </a:rPr>
              <a:t>Jr 15,0% · Estr. N/D*</a:t>
            </a:r>
          </a:p>
        </ns0:txBody>
      </ns0:sp>
      <ns0:sp>
        <ns0:nvSpPr>
          <ns0:cNvPr id="26" name="mvp-card-structural_mvp_consignado-53270983000142">
            <a:extLst>
              <a:ext uri="{FF2B5EF4-FFF2-40B4-BE49-F238E27FC236}">
                <ns2:creationId id="{0DB40966-D3DC-4173-BD5C-B7791A98C2FD}"/>
              </a:ext>
            </a:extLst>
          </ns0:cNvPr>
          <ns0:cNvSpPr>
            <a:spLocks noGrp="1"/>
          </ns0:cNvSpPr>
          <ns0:nvPr/>
        </ns0:nvSpPr>
        <ns0:spPr>
          <a:xfrm>
            <a:off x="6134100" y="2638425"/>
            <a:ext cx="1778000" cy="438150"/>
          </a:xfrm>
          <a:prstGeom prst="rect">
            <a:avLst/>
          </a:prstGeom>
          <a:solidFill>
            <a:srgbClr val="F5F6F7"/>
          </a:solidFill>
          <a:ln w="9525">
            <a:solidFill>
              <a:srgbClr val="B8BDC2"/>
            </a:solidFill>
            <a:prstDash val="solid"/>
          </a:ln>
        </ns0:spPr>
        <ns0:txBody>
          <a:bodyPr wrap="none" lIns="47625" tIns="28575" rIns="47625" bIns="28575" anchor="ctr">
            <a:normAutofit fontScale="87719"/>
          </a:bodyPr>
          <a:lstStyle/>
          <a:p>
            <a:pPr algn="l">
              <a:lnSpc>
                <a:spcPct val="95000"/>
              </a:lnSpc>
              <a:buNone/>
              <a:defRPr sz="1000" b="1" lang="pt-BR">
                <a:solidFill>
                  <a:srgbClr val="5E646A"/>
                </a:solidFill>
                <a:latin typeface="Arial"/>
                <a:ea typeface="Arial"/>
                <a:cs typeface="Arial"/>
              </a:defRPr>
            </a:pPr>
            <a:r>
              <a:rPr sz="1000" b="1" lang="pt-BR">
                <a:solidFill>
                  <a:srgbClr val="5E646A"/>
                </a:solidFill>
                <a:latin typeface="Arial"/>
                <a:ea typeface="Arial"/>
                <a:cs typeface="Arial"/>
              </a:rPr>
              <a:t>ANGÁ FGTS +AG</a:t>
            </a:r>
          </a:p>
          <a:p>
            <a:pPr algn="l">
              <a:lnSpc>
                <a:spcPct val="95000"/>
              </a:lnSpc>
              <a:buNone/>
              <a:defRPr sz="1000" b="1" lang="pt-BR">
                <a:solidFill>
                  <a:srgbClr val="5E646A"/>
                </a:solidFill>
                <a:latin typeface="Arial"/>
                <a:ea typeface="Arial"/>
                <a:cs typeface="Arial"/>
              </a:defRPr>
            </a:pPr>
            <a:r>
              <a:rPr sz="1000" b="1" lang="pt-BR">
                <a:solidFill>
                  <a:srgbClr val="5E646A"/>
                </a:solidFill>
                <a:latin typeface="Arial"/>
                <a:ea typeface="Arial"/>
                <a:cs typeface="Arial"/>
              </a:rPr>
              <a:t>R$ 71,1 mi · Sub atual 20,2%</a:t>
            </a:r>
          </a:p>
          <a:p>
            <a:pPr algn="l">
              <a:lnSpc>
                <a:spcPct val="95000"/>
              </a:lnSpc>
              <a:buNone/>
              <a:defRPr sz="1000" b="1" lang="pt-BR">
                <a:solidFill>
                  <a:srgbClr val="5E646A"/>
                </a:solidFill>
                <a:latin typeface="Arial"/>
                <a:ea typeface="Arial"/>
                <a:cs typeface="Arial"/>
              </a:defRPr>
            </a:pPr>
            <a:r>
              <a:rPr sz="1000" b="1" lang="pt-BR">
                <a:solidFill>
                  <a:srgbClr val="5E646A"/>
                </a:solidFill>
                <a:latin typeface="Arial"/>
                <a:ea typeface="Arial"/>
                <a:cs typeface="Arial"/>
              </a:rPr>
              <a:t>Jr 8,0% · Estr. N/D*</a:t>
            </a:r>
          </a:p>
        </ns0:txBody>
      </ns0:sp>
      <ns0:sp>
        <ns0:nvSpPr>
          <ns0:cNvPr id="27" name="mvp-band-structural_mvp_consignado-5">
            <a:extLst>
              <a:ext uri="{FF2B5EF4-FFF2-40B4-BE49-F238E27FC236}">
                <ns2:creationId id="{EE3F24F9-0D36-4B67-A156-B31CDBFFDE9A}"/>
              </a:ext>
            </a:extLst>
          </ns0:cNvPr>
          <ns0:cNvSpPr>
            <a:spLocks noGrp="1"/>
          </ns0:cNvSpPr>
          <ns0:nvPr/>
        </ns0:nvSpPr>
        <ns0:spPr>
          <a:xfrm>
            <a:off x="7988300" y="1885950"/>
            <a:ext cx="1778000" cy="22860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0" tIns="0" rIns="0" bIns="0" anchor="ctr">
            <a:normAutofit fontScale="100000"/>
          </a:bodyPr>
          <a:lstStyle/>
          <a:p>
            <a:pPr algn="ctr">
              <a:lnSpc>
                <a:spcPct val="100000"/>
              </a:lnSpc>
              <a:buNone/>
              <a:defRPr sz="1050" b="1" lang="pt-BR">
                <a:solidFill>
                  <a:srgbClr val="002B5C"/>
                </a:solidFill>
                <a:latin typeface="Arial"/>
                <a:ea typeface="Arial"/>
                <a:cs typeface="Arial"/>
              </a:defRPr>
            </a:pPr>
            <a:r>
              <a:rPr sz="1050" b="1" lang="pt-BR">
                <a:solidFill>
                  <a:srgbClr val="002B5C"/>
                </a:solidFill>
                <a:latin typeface="Arial"/>
                <a:ea typeface="Arial"/>
                <a:cs typeface="Arial"/>
              </a:rPr>
              <a:t>35%–60%</a:t>
            </a:r>
          </a:p>
        </ns0:txBody>
      </ns0:sp>
      <ns0:sp>
        <ns0:nvSpPr>
          <ns0:cNvPr id="28" name="">
            <a:extLst>
              <a:ext uri="{FF2B5EF4-FFF2-40B4-BE49-F238E27FC236}">
                <ns2:creationId id="{D62D020F-05EB-4052-AC96-C50933663A88}"/>
              </a:ext>
            </a:extLst>
          </ns0:cNvPr>
          <ns0:cNvSpPr>
            <a:spLocks noGrp="1"/>
          </ns0:cNvSpPr>
          <ns0:nvPr/>
        </ns0:nvSpPr>
        <ns0:spPr>
          <a:xfrm>
            <a:off x="7988300" y="2114550"/>
            <a:ext cx="1778000" cy="19050"/>
          </a:xfrm>
          <a:prstGeom prst="rect">
            <a:avLst/>
          </a:prstGeom>
          <a:solidFill>
            <a:srgbClr val="002B5C"/>
          </a:solidFill>
          <a:ln w="0">
            <a:noFill/>
            <a:prstDash val="solid"/>
          </a:ln>
        </ns0:spPr>
      </ns0:sp>
      <ns0:sp>
        <ns0:nvSpPr>
          <ns0:cNvPr id="29" name="mvp-band-structural_mvp_consignado-6">
            <a:extLst>
              <a:ext uri="{FF2B5EF4-FFF2-40B4-BE49-F238E27FC236}">
                <ns2:creationId id="{9FA456F9-F2E5-4640-9E9E-0AE4F3A37A45}"/>
              </a:ext>
            </a:extLst>
          </ns0:cNvPr>
          <ns0:cNvSpPr>
            <a:spLocks noGrp="1"/>
          </ns0:cNvSpPr>
          <ns0:nvPr/>
        </ns0:nvSpPr>
        <ns0:spPr>
          <a:xfrm>
            <a:off x="9842500" y="1885950"/>
            <a:ext cx="1778000" cy="22860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0" tIns="0" rIns="0" bIns="0" anchor="ctr">
            <a:normAutofit fontScale="100000"/>
          </a:bodyPr>
          <a:lstStyle/>
          <a:p>
            <a:pPr algn="ctr">
              <a:lnSpc>
                <a:spcPct val="100000"/>
              </a:lnSpc>
              <a:buNone/>
              <a:defRPr sz="1050" b="1" lang="pt-BR">
                <a:solidFill>
                  <a:srgbClr val="002B5C"/>
                </a:solidFill>
                <a:latin typeface="Arial"/>
                <a:ea typeface="Arial"/>
                <a:cs typeface="Arial"/>
              </a:defRPr>
            </a:pPr>
            <a:r>
              <a:rPr sz="1050" b="1" lang="pt-BR">
                <a:solidFill>
                  <a:srgbClr val="002B5C"/>
                </a:solidFill>
                <a:latin typeface="Arial"/>
                <a:ea typeface="Arial"/>
                <a:cs typeface="Arial"/>
              </a:rPr>
              <a:t>≥ 60%</a:t>
            </a:r>
          </a:p>
        </ns0:txBody>
      </ns0:sp>
      <ns0:sp>
        <ns0:nvSpPr>
          <ns0:cNvPr id="30" name="">
            <a:extLst>
              <a:ext uri="{FF2B5EF4-FFF2-40B4-BE49-F238E27FC236}">
                <ns2:creationId id="{633D8BC8-EB96-4777-97C2-0473C2E47430}"/>
              </a:ext>
            </a:extLst>
          </ns0:cNvPr>
          <ns0:cNvSpPr>
            <a:spLocks noGrp="1"/>
          </ns0:cNvSpPr>
          <ns0:nvPr/>
        </ns0:nvSpPr>
        <ns0:spPr>
          <a:xfrm>
            <a:off x="9842500" y="2114550"/>
            <a:ext cx="1778000" cy="19050"/>
          </a:xfrm>
          <a:prstGeom prst="rect">
            <a:avLst/>
          </a:prstGeom>
          <a:solidFill>
            <a:srgbClr val="002B5C"/>
          </a:solidFill>
          <a:ln w="0">
            <a:noFill/>
            <a:prstDash val="solid"/>
          </a:ln>
        </ns0:spPr>
      </ns0:sp>
      <ns0:sp>
        <ns0:nvSpPr>
          <ns0:cNvPr id="31" name="">
            <a:extLst>
              <a:ext uri="{FF2B5EF4-FFF2-40B4-BE49-F238E27FC236}">
                <ns2:creationId id="{1BC2131B-032B-4F20-807F-43365D2CDDDE}"/>
              </a:ext>
            </a:extLst>
          </ns0:cNvPr>
          <ns0:cNvSpPr>
            <a:spLocks noGrp="1"/>
          </ns0:cNvSpPr>
          <ns0:nvPr/>
        </ns0:nvSpPr>
        <ns0:spPr>
          <a:xfrm>
            <a:off x="571500" y="5981700"/>
            <a:ext cx="11049000" cy="295275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0" tIns="0" rIns="0" bIns="0" anchor="ctr">
            <a:normAutofit fontScale="88796"/>
          </a:bodyPr>
          <a:lstStyle/>
          <a:p>
            <a:pPr algn="r">
              <a:lnSpc>
                <a:spcPct val="100000"/>
              </a:lnSpc>
              <a:buNone/>
              <a:def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rPr>
              <a:t>Vinho = abaixo do mínimo estrutural · âmbar = até 2 p.p. acima · azul = mais de 2 p.p. acima · cinza = estrutura incomparável. * Categoria editorial ou piso total, combinado, calculado, ajustado ou sem equivalência direta.</a:t>
            </a:r>
          </a:p>
        </ns0:txBody>
      </ns0:sp>
    </ns0:spTree>
    <ns0:extLst>
      <ns0:ext uri="{BB962C8B-B14F-4D97-AF65-F5344CB8AC3E}">
        <ns3:creationId val="1708847135"/>
      </ns0:ext>
    </ns0:extLst>
  </ns0:cSld>
</ns0:sld>
</file>

<file path=ppt/slides/slide23.xml><?xml version="1.0" encoding="utf-8"?>
<ns0:sld xmlns:a="http://schemas.openxmlformats.org/drawingml/2006/main" xmlns:ns0="http://schemas.openxmlformats.org/presentationml/2006/main" xmlns:ns2="http://schemas.microsoft.com/office/drawing/2014/main" xmlns:ns3="http://schemas.microsoft.com/office/powerpoint/2010/main">
  <ns0:cSld>
    <ns0:bg>
      <ns0:bgPr>
        <a:solidFill>
          <a:srgbClr val="FFFFFF"/>
        </a:solidFill>
      </ns0:bgPr>
    </ns0:bg>
    <ns0:spTree>
      <ns0:nvGrpSpPr>
        <ns0:cNvPr id="1" name=""/>
        <ns0:cNvGrpSpPr/>
        <ns0:nvPr/>
      </ns0:nvGrpSpPr>
      <ns0:grpSpPr>
        <a:xfrm/>
      </ns0:grpSpPr>
      <ns0:sp>
        <ns0:nvSpPr>
          <ns0:cNvPr id="26" name="">
            <a:extLst>
              <a:ext uri="{FF2B5EF4-FFF2-40B4-BE49-F238E27FC236}">
                <ns2:creationId id="{5786DB83-9347-4B02-8980-1A160C891076}"/>
              </a:ext>
            </a:extLst>
          </ns0:cNvPr>
          <ns0:cNvSpPr>
            <a:spLocks noGrp="1"/>
          </ns0:cNvSpPr>
          <ns0:nvPr/>
        </ns0:nvSpPr>
        <ns0:spPr>
          <a:xfrm>
            <a:off x="571500" y="257175"/>
            <a:ext cx="11049000" cy="19050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0" tIns="0" rIns="0" bIns="0" anchor="t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1000" b="1" lang="pt-BR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1000" b="1" lang="pt-BR">
                <a:solidFill>
                  <a:srgbClr val="EC7000"/>
                </a:solidFill>
                <a:latin typeface="Arial"/>
                <a:ea typeface="Arial"/>
                <a:cs typeface="Arial"/>
              </a:rPr>
              <a:t>RISCO ESTRUTURAL · CARTEIRA I · FACTORING</a:t>
            </a:r>
          </a:p>
        </ns0:txBody>
      </ns0:sp>
      <ns0:sp>
        <ns0:nvSpPr>
          <ns0:cNvPr id="2" name="">
            <a:extLst>
              <a:ext uri="{FF2B5EF4-FFF2-40B4-BE49-F238E27FC236}">
                <ns2:creationId id="{BAB6647F-5540-456B-B939-37F4A63E9774}"/>
              </a:ext>
            </a:extLst>
          </ns0:cNvPr>
          <ns0:cNvSpPr>
            <a:spLocks noGrp="1"/>
          </ns0:cNvSpPr>
          <ns0:nvPr/>
        </ns0:nvSpPr>
        <ns0:spPr>
          <a:xfrm>
            <a:off x="571500" y="504825"/>
            <a:ext cx="11049000" cy="466725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0" tIns="0" rIns="0" bIns="0" anchor="ctr">
            <a:normAutofit fontScale="98525"/>
          </a:bodyPr>
          <a:lstStyle/>
          <a:p>
            <a:pPr algn="l">
              <a:lnSpc>
                <a:spcPct val="100000"/>
              </a:lnSpc>
              <a:buNone/>
              <a:defRPr sz="1950" b="1" lang="pt-BR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1950" b="1" lang="pt-BR">
                <a:solidFill>
                  <a:srgbClr val="151515"/>
                </a:solidFill>
                <a:latin typeface="Arial"/>
                <a:ea typeface="Arial"/>
                <a:cs typeface="Arial"/>
              </a:rPr>
              <a:t>Factoring | Sub atual e mínimos documentais por veículo; 3 estruturas exigem leitura separada</a:t>
            </a:r>
          </a:p>
        </ns0:txBody>
      </ns0:sp>
      <ns0:sp>
        <ns0:nvSpPr>
          <ns0:cNvPr id="3" name="">
            <a:extLst>
              <a:ext uri="{FF2B5EF4-FFF2-40B4-BE49-F238E27FC236}">
                <ns2:creationId id="{1D72073D-098B-4D44-8751-70227D8D808F}"/>
              </a:ext>
            </a:extLst>
          </ns0:cNvPr>
          <ns0:cNvSpPr>
            <a:spLocks noGrp="1"/>
          </ns0:cNvSpPr>
          <ns0:nvPr/>
        </ns0:nvSpPr>
        <ns0:spPr>
          <a:xfrm>
            <a:off x="571500" y="1047750"/>
            <a:ext cx="11049000" cy="9525"/>
          </a:xfrm>
          <a:prstGeom prst="rect">
            <a:avLst/>
          </a:prstGeom>
          <a:solidFill>
            <a:srgbClr val="D7DADD"/>
          </a:solidFill>
          <a:ln w="0">
            <a:noFill/>
            <a:prstDash val="solid"/>
          </a:ln>
        </ns0:spPr>
      </ns0:sp>
      <ns0:sp>
        <ns0:nvSpPr>
          <ns0:cNvPr id="4" name="">
            <a:extLst>
              <a:ext uri="{FF2B5EF4-FFF2-40B4-BE49-F238E27FC236}">
                <ns2:creationId id="{B4EFBCA9-1297-4AFE-85AD-AECCBB706441}"/>
              </a:ext>
            </a:extLst>
          </ns0:cNvPr>
          <ns0:cNvSpPr>
            <a:spLocks noGrp="1"/>
          </ns0:cNvSpPr>
          <ns0:nvPr/>
        </ns0:nvSpPr>
        <ns0:spPr>
          <a:xfrm>
            <a:off x="571500" y="6353175"/>
            <a:ext cx="11049000" cy="9525"/>
          </a:xfrm>
          <a:prstGeom prst="rect">
            <a:avLst/>
          </a:prstGeom>
          <a:solidFill>
            <a:srgbClr val="D7DADD"/>
          </a:solidFill>
          <a:ln w="0">
            <a:noFill/>
            <a:prstDash val="solid"/>
          </a:ln>
        </ns0:spPr>
      </ns0:sp>
      <ns0:sp>
        <ns0:nvSpPr>
          <ns0:cNvPr id="5" name="">
            <a:extLst>
              <a:ext uri="{FF2B5EF4-FFF2-40B4-BE49-F238E27FC236}">
                <ns2:creationId id="{CB119EB9-2835-4632-B2CD-2A82F02224EA}"/>
              </a:ext>
            </a:extLst>
          </ns0:cNvPr>
          <ns0:cNvSpPr>
            <a:spLocks noGrp="1"/>
          </ns0:cNvSpPr>
          <ns0:nvPr/>
        </ns0:nvSpPr>
        <ns0:spPr>
          <a:xfrm>
            <a:off x="571500" y="6419850"/>
            <a:ext cx="10001250" cy="1714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47625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rPr>
              <a:t>CVM, Informe Mensal, jun/26; pisos em regulamentos FundosNet/B3. Lacunas ficam fora do slide e permanecem no workbook/explorador.</a:t>
            </a:r>
          </a:p>
        </ns0:txBody>
      </ns0:sp>
      <ns0:sp>
        <ns0:nvSpPr>
          <ns0:cNvPr id="6" name="">
            <a:extLst>
              <a:ext uri="{FF2B5EF4-FFF2-40B4-BE49-F238E27FC236}">
                <ns2:creationId id="{5B2B5815-32FA-47B8-8AAC-BBED6A680361}"/>
              </a:ext>
            </a:extLst>
          </ns0:cNvPr>
          <ns0:cNvSpPr>
            <a:spLocks noGrp="1"/>
          </ns0:cNvSpPr>
          <ns0:nvPr/>
        </ns0:nvSpPr>
        <ns0:spPr>
          <a:xfrm>
            <a:off x="11144250" y="6410325"/>
            <a:ext cx="476250" cy="1714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ctr">
            <a:normAutofit fontScale="100000"/>
          </a:bodyPr>
          <a:lstStyle/>
          <a:p>
            <a:pPr algn="r">
              <a:lnSpc>
                <a:spcPct val="100000"/>
              </a:lnSpc>
              <a:buNone/>
              <a:def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rPr>
              <a:t>23</a:t>
            </a:r>
          </a:p>
        </ns0:txBody>
      </ns0:sp>
      <ns0:sp>
        <ns0:nvSpPr>
          <ns0:cNvPr id="7" name="mvp-summary-structural_mvp_factoring-1">
            <a:extLst>
              <a:ext uri="{FF2B5EF4-FFF2-40B4-BE49-F238E27FC236}">
                <ns2:creationId id="{A9720B49-44A3-47F7-82F1-DCDD75282777}"/>
              </a:ext>
            </a:extLst>
          </ns0:cNvPr>
          <ns0:cNvSpPr>
            <a:spLocks noGrp="1"/>
          </ns0:cNvSpPr>
          <ns0:nvPr/>
        </ns0:nvSpPr>
        <ns0:spPr>
          <a:xfrm>
            <a:off x="571500" y="1152525"/>
            <a:ext cx="3143250" cy="609600"/>
          </a:xfrm>
          <a:prstGeom prst="rect">
            <a:avLst/>
          </a:prstGeom>
          <a:solidFill>
            <a:srgbClr val="EAF0F7"/>
          </a:solidFill>
          <a:ln w="0">
            <a:solidFill>
              <a:srgbClr val="EAF0F7"/>
            </a:solidFill>
            <a:prstDash val="solid"/>
          </a:ln>
        </ns0:spPr>
        <ns0:txBody>
          <a:bodyPr wrap="square" lIns="95250" tIns="66675" rIns="95250" bIns="66675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1000" b="1" lang="pt-BR">
                <a:solidFill>
                  <a:srgbClr val="002B5C"/>
                </a:solidFill>
                <a:latin typeface="Arial"/>
                <a:ea typeface="Arial"/>
                <a:cs typeface="Arial"/>
              </a:defRPr>
            </a:pPr>
            <a:r>
              <a:rPr sz="1000" b="1" lang="pt-BR">
                <a:solidFill>
                  <a:srgbClr val="002B5C"/>
                </a:solidFill>
                <a:latin typeface="Arial"/>
                <a:ea typeface="Arial"/>
                <a:cs typeface="Arial"/>
              </a:rPr>
              <a:t>COBERTURA DO SLIDE</a:t>
            </a:r>
          </a:p>
          <a:p>
            <a:pPr algn="l">
              <a:lnSpc>
                <a:spcPct val="100000"/>
              </a:lnSpc>
              <a:buNone/>
              <a:defRPr sz="1000" b="1" lang="pt-BR">
                <a:solidFill>
                  <a:srgbClr val="002B5C"/>
                </a:solidFill>
                <a:latin typeface="Arial"/>
                <a:ea typeface="Arial"/>
                <a:cs typeface="Arial"/>
              </a:defRPr>
            </a:pPr>
            <a:r>
              <a:rPr sz="1000" b="1" lang="pt-BR">
                <a:solidFill>
                  <a:srgbClr val="002B5C"/>
                </a:solidFill>
                <a:latin typeface="Arial"/>
                <a:ea typeface="Arial"/>
                <a:cs typeface="Arial"/>
              </a:rPr>
              <a:t>3/4 CNPJs · R$ 4,2 bi de R$ 4,4 bi</a:t>
            </a:r>
          </a:p>
        </ns0:txBody>
      </ns0:sp>
      <ns0:sp>
        <ns0:nvSpPr>
          <ns0:cNvPr id="8" name="mvp-summary-structural_mvp_factoring-2">
            <a:extLst>
              <a:ext uri="{FF2B5EF4-FFF2-40B4-BE49-F238E27FC236}">
                <ns2:creationId id="{3C0B5318-B5E5-467E-880E-BC911A72014C}"/>
              </a:ext>
            </a:extLst>
          </ns0:cNvPr>
          <ns0:cNvSpPr>
            <a:spLocks noGrp="1"/>
          </ns0:cNvSpPr>
          <ns0:nvPr/>
        </ns0:nvSpPr>
        <ns0:spPr>
          <a:xfrm>
            <a:off x="3810000" y="1152525"/>
            <a:ext cx="4810125" cy="609600"/>
          </a:xfrm>
          <a:prstGeom prst="rect">
            <a:avLst/>
          </a:prstGeom>
          <a:solidFill>
            <a:srgbClr val="FFFFFF"/>
          </a:solidFill>
          <a:ln w="9525">
            <a:solidFill>
              <a:srgbClr val="AFC5DD"/>
            </a:solidFill>
            <a:prstDash val="solid"/>
          </a:ln>
        </ns0:spPr>
        <ns0:txBody>
          <a:bodyPr wrap="square" lIns="95250" tIns="66675" rIns="95250" bIns="66675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1000" b="1" lang="pt-BR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000" b="1" lang="pt-BR">
                <a:solidFill>
                  <a:srgbClr val="30353A"/>
                </a:solidFill>
                <a:latin typeface="Arial"/>
                <a:ea typeface="Arial"/>
                <a:cs typeface="Arial"/>
              </a:rPr>
              <a:t>REFERÊNCIA DE MERCADO · SUB/PL ATUAL</a:t>
            </a:r>
          </a:p>
          <a:p>
            <a:pPr algn="l">
              <a:lnSpc>
                <a:spcPct val="100000"/>
              </a:lnSpc>
              <a:buNone/>
              <a:defRPr sz="1000" b="1" lang="pt-BR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000" b="1" lang="pt-BR">
                <a:solidFill>
                  <a:srgbClr val="30353A"/>
                </a:solidFill>
                <a:latin typeface="Arial"/>
                <a:ea typeface="Arial"/>
                <a:cs typeface="Arial"/>
              </a:rPr>
              <a:t>2 pares com Sub/PL atual</a:t>
            </a:r>
          </a:p>
        </ns0:txBody>
      </ns0:sp>
      <ns0:sp>
        <ns0:nvSpPr>
          <ns0:cNvPr id="9" name="mvp-summary-structural_mvp_factoring-3">
            <a:extLst>
              <a:ext uri="{FF2B5EF4-FFF2-40B4-BE49-F238E27FC236}">
                <ns2:creationId id="{D19F5C3D-37E3-41BB-9B1A-C41FDDC5550C}"/>
              </a:ext>
            </a:extLst>
          </ns0:cNvPr>
          <ns0:cNvSpPr>
            <a:spLocks noGrp="1"/>
          </ns0:cNvSpPr>
          <ns0:nvPr/>
        </ns0:nvSpPr>
        <ns0:spPr>
          <a:xfrm>
            <a:off x="8715375" y="1152525"/>
            <a:ext cx="2905125" cy="609600"/>
          </a:xfrm>
          <a:prstGeom prst="rect">
            <a:avLst/>
          </a:prstGeom>
          <a:solidFill>
            <a:srgbClr val="FFF1E6"/>
          </a:solidFill>
          <a:ln w="0">
            <a:solidFill>
              <a:srgbClr val="FFF1E6"/>
            </a:solidFill>
            <a:prstDash val="solid"/>
          </a:ln>
        </ns0:spPr>
        <ns0:txBody>
          <a:bodyPr wrap="square" lIns="95250" tIns="66675" rIns="95250" bIns="66675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1000" b="1" lang="pt-BR">
                <a:solidFill>
                  <a:srgbClr val="7A1F3D"/>
                </a:solidFill>
                <a:latin typeface="Arial"/>
                <a:ea typeface="Arial"/>
                <a:cs typeface="Arial"/>
              </a:defRPr>
            </a:pPr>
            <a:r>
              <a:rPr sz="1000" b="1" lang="pt-BR">
                <a:solidFill>
                  <a:srgbClr val="7A1F3D"/>
                </a:solidFill>
                <a:latin typeface="Arial"/>
                <a:ea typeface="Arial"/>
                <a:cs typeface="Arial"/>
              </a:rPr>
              <a:t>LEITURA RELATIVA</a:t>
            </a:r>
          </a:p>
          <a:p>
            <a:pPr algn="l">
              <a:lnSpc>
                <a:spcPct val="100000"/>
              </a:lnSpc>
              <a:buNone/>
              <a:defRPr sz="1000" b="1" lang="pt-BR">
                <a:solidFill>
                  <a:srgbClr val="7A1F3D"/>
                </a:solidFill>
                <a:latin typeface="Arial"/>
                <a:ea typeface="Arial"/>
                <a:cs typeface="Arial"/>
              </a:defRPr>
            </a:pPr>
            <a:r>
              <a:rPr sz="1000" b="1" lang="pt-BR">
                <a:solidFill>
                  <a:srgbClr val="7A1F3D"/>
                </a:solidFill>
                <a:latin typeface="Arial"/>
                <a:ea typeface="Arial"/>
                <a:cs typeface="Arial"/>
              </a:rPr>
              <a:t>N/D · benchmark insuficiente</a:t>
            </a:r>
          </a:p>
        </ns0:txBody>
      </ns0:sp>
      <ns0:sp>
        <ns0:nvSpPr>
          <ns0:cNvPr id="10" name="mvp-band-structural_mvp_factoring-1">
            <a:extLst>
              <a:ext uri="{FF2B5EF4-FFF2-40B4-BE49-F238E27FC236}">
                <ns2:creationId id="{FA53D8F9-CDB0-4537-B767-D84F4939612E}"/>
              </a:ext>
            </a:extLst>
          </ns0:cNvPr>
          <ns0:cNvSpPr>
            <a:spLocks noGrp="1"/>
          </ns0:cNvSpPr>
          <ns0:nvPr/>
        </ns0:nvSpPr>
        <ns0:spPr>
          <a:xfrm>
            <a:off x="571500" y="1885950"/>
            <a:ext cx="1778000" cy="22860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0" tIns="0" rIns="0" bIns="0" anchor="ctr">
            <a:normAutofit fontScale="100000"/>
          </a:bodyPr>
          <a:lstStyle/>
          <a:p>
            <a:pPr algn="ctr">
              <a:lnSpc>
                <a:spcPct val="100000"/>
              </a:lnSpc>
              <a:buNone/>
              <a:defRPr sz="1050" b="1" lang="pt-BR">
                <a:solidFill>
                  <a:srgbClr val="002B5C"/>
                </a:solidFill>
                <a:latin typeface="Arial"/>
                <a:ea typeface="Arial"/>
                <a:cs typeface="Arial"/>
              </a:defRPr>
            </a:pPr>
            <a:r>
              <a:rPr sz="1050" b="1" lang="pt-BR">
                <a:solidFill>
                  <a:srgbClr val="002B5C"/>
                </a:solidFill>
                <a:latin typeface="Arial"/>
                <a:ea typeface="Arial"/>
                <a:cs typeface="Arial"/>
              </a:rPr>
              <a:t>&lt; 10%</a:t>
            </a:r>
          </a:p>
        </ns0:txBody>
      </ns0:sp>
      <ns0:sp>
        <ns0:nvSpPr>
          <ns0:cNvPr id="11" name="">
            <a:extLst>
              <a:ext uri="{FF2B5EF4-FFF2-40B4-BE49-F238E27FC236}">
                <ns2:creationId id="{6976A50F-DDE1-4326-A590-0E1500D68148}"/>
              </a:ext>
            </a:extLst>
          </ns0:cNvPr>
          <ns0:cNvSpPr>
            <a:spLocks noGrp="1"/>
          </ns0:cNvSpPr>
          <ns0:nvPr/>
        </ns0:nvSpPr>
        <ns0:spPr>
          <a:xfrm>
            <a:off x="571500" y="2114550"/>
            <a:ext cx="1778000" cy="19050"/>
          </a:xfrm>
          <a:prstGeom prst="rect">
            <a:avLst/>
          </a:prstGeom>
          <a:solidFill>
            <a:srgbClr val="002B5C"/>
          </a:solidFill>
          <a:ln w="0">
            <a:noFill/>
            <a:prstDash val="solid"/>
          </a:ln>
        </ns0:spPr>
      </ns0:sp>
      <ns0:sp>
        <ns0:nvSpPr>
          <ns0:cNvPr id="12" name="mvp-band-structural_mvp_factoring-2">
            <a:extLst>
              <a:ext uri="{FF2B5EF4-FFF2-40B4-BE49-F238E27FC236}">
                <ns2:creationId id="{DB423B24-3023-42A3-BC6D-FF15DC549283}"/>
              </a:ext>
            </a:extLst>
          </ns0:cNvPr>
          <ns0:cNvSpPr>
            <a:spLocks noGrp="1"/>
          </ns0:cNvSpPr>
          <ns0:nvPr/>
        </ns0:nvSpPr>
        <ns0:spPr>
          <a:xfrm>
            <a:off x="2425700" y="1885950"/>
            <a:ext cx="1778000" cy="22860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0" tIns="0" rIns="0" bIns="0" anchor="ctr">
            <a:normAutofit fontScale="100000"/>
          </a:bodyPr>
          <a:lstStyle/>
          <a:p>
            <a:pPr algn="ctr">
              <a:lnSpc>
                <a:spcPct val="100000"/>
              </a:lnSpc>
              <a:buNone/>
              <a:defRPr sz="1050" b="1" lang="pt-BR">
                <a:solidFill>
                  <a:srgbClr val="002B5C"/>
                </a:solidFill>
                <a:latin typeface="Arial"/>
                <a:ea typeface="Arial"/>
                <a:cs typeface="Arial"/>
              </a:defRPr>
            </a:pPr>
            <a:r>
              <a:rPr sz="1050" b="1" lang="pt-BR">
                <a:solidFill>
                  <a:srgbClr val="002B5C"/>
                </a:solidFill>
                <a:latin typeface="Arial"/>
                <a:ea typeface="Arial"/>
                <a:cs typeface="Arial"/>
              </a:rPr>
              <a:t>10%–15%</a:t>
            </a:r>
          </a:p>
        </ns0:txBody>
      </ns0:sp>
      <ns0:sp>
        <ns0:nvSpPr>
          <ns0:cNvPr id="13" name="">
            <a:extLst>
              <a:ext uri="{FF2B5EF4-FFF2-40B4-BE49-F238E27FC236}">
                <ns2:creationId id="{BB2D3C64-EEAE-4AA5-A658-ABD067C89604}"/>
              </a:ext>
            </a:extLst>
          </ns0:cNvPr>
          <ns0:cNvSpPr>
            <a:spLocks noGrp="1"/>
          </ns0:cNvSpPr>
          <ns0:nvPr/>
        </ns0:nvSpPr>
        <ns0:spPr>
          <a:xfrm>
            <a:off x="2425700" y="2114550"/>
            <a:ext cx="1778000" cy="19050"/>
          </a:xfrm>
          <a:prstGeom prst="rect">
            <a:avLst/>
          </a:prstGeom>
          <a:solidFill>
            <a:srgbClr val="002B5C"/>
          </a:solidFill>
          <a:ln w="0">
            <a:noFill/>
            <a:prstDash val="solid"/>
          </a:ln>
        </ns0:spPr>
      </ns0:sp>
      <ns0:sp>
        <ns0:nvSpPr>
          <ns0:cNvPr id="14" name="mvp-band-structural_mvp_factoring-3">
            <a:extLst>
              <a:ext uri="{FF2B5EF4-FFF2-40B4-BE49-F238E27FC236}">
                <ns2:creationId id="{CB904D3E-1B4B-494A-90EC-8C74FCFA2653}"/>
              </a:ext>
            </a:extLst>
          </ns0:cNvPr>
          <ns0:cNvSpPr>
            <a:spLocks noGrp="1"/>
          </ns0:cNvSpPr>
          <ns0:nvPr/>
        </ns0:nvSpPr>
        <ns0:spPr>
          <a:xfrm>
            <a:off x="4279900" y="1885950"/>
            <a:ext cx="1778000" cy="22860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0" tIns="0" rIns="0" bIns="0" anchor="ctr">
            <a:normAutofit fontScale="100000"/>
          </a:bodyPr>
          <a:lstStyle/>
          <a:p>
            <a:pPr algn="ctr">
              <a:lnSpc>
                <a:spcPct val="100000"/>
              </a:lnSpc>
              <a:buNone/>
              <a:defRPr sz="1050" b="1" lang="pt-BR">
                <a:solidFill>
                  <a:srgbClr val="002B5C"/>
                </a:solidFill>
                <a:latin typeface="Arial"/>
                <a:ea typeface="Arial"/>
                <a:cs typeface="Arial"/>
              </a:defRPr>
            </a:pPr>
            <a:r>
              <a:rPr sz="1050" b="1" lang="pt-BR">
                <a:solidFill>
                  <a:srgbClr val="002B5C"/>
                </a:solidFill>
                <a:latin typeface="Arial"/>
                <a:ea typeface="Arial"/>
                <a:cs typeface="Arial"/>
              </a:rPr>
              <a:t>15%–20%</a:t>
            </a:r>
          </a:p>
        </ns0:txBody>
      </ns0:sp>
      <ns0:sp>
        <ns0:nvSpPr>
          <ns0:cNvPr id="15" name="">
            <a:extLst>
              <a:ext uri="{FF2B5EF4-FFF2-40B4-BE49-F238E27FC236}">
                <ns2:creationId id="{42ECC4A1-F6DD-46DE-AAE2-FC2EE111202F}"/>
              </a:ext>
            </a:extLst>
          </ns0:cNvPr>
          <ns0:cNvSpPr>
            <a:spLocks noGrp="1"/>
          </ns0:cNvSpPr>
          <ns0:nvPr/>
        </ns0:nvSpPr>
        <ns0:spPr>
          <a:xfrm>
            <a:off x="4279900" y="2114550"/>
            <a:ext cx="1778000" cy="19050"/>
          </a:xfrm>
          <a:prstGeom prst="rect">
            <a:avLst/>
          </a:prstGeom>
          <a:solidFill>
            <a:srgbClr val="002B5C"/>
          </a:solidFill>
          <a:ln w="0">
            <a:noFill/>
            <a:prstDash val="solid"/>
          </a:ln>
        </ns0:spPr>
      </ns0:sp>
      <ns0:sp>
        <ns0:nvSpPr>
          <ns0:cNvPr id="16" name="mvp-band-structural_mvp_factoring-4">
            <a:extLst>
              <a:ext uri="{FF2B5EF4-FFF2-40B4-BE49-F238E27FC236}">
                <ns2:creationId id="{C2C5CE19-4E3F-4034-AC1C-BB177A89EBD2}"/>
              </a:ext>
            </a:extLst>
          </ns0:cNvPr>
          <ns0:cNvSpPr>
            <a:spLocks noGrp="1"/>
          </ns0:cNvSpPr>
          <ns0:nvPr/>
        </ns0:nvSpPr>
        <ns0:spPr>
          <a:xfrm>
            <a:off x="6134100" y="1885950"/>
            <a:ext cx="1778000" cy="22860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0" tIns="0" rIns="0" bIns="0" anchor="ctr">
            <a:normAutofit fontScale="100000"/>
          </a:bodyPr>
          <a:lstStyle/>
          <a:p>
            <a:pPr algn="ctr">
              <a:lnSpc>
                <a:spcPct val="100000"/>
              </a:lnSpc>
              <a:buNone/>
              <a:defRPr sz="1050" b="1" lang="pt-BR">
                <a:solidFill>
                  <a:srgbClr val="002B5C"/>
                </a:solidFill>
                <a:latin typeface="Arial"/>
                <a:ea typeface="Arial"/>
                <a:cs typeface="Arial"/>
              </a:defRPr>
            </a:pPr>
            <a:r>
              <a:rPr sz="1050" b="1" lang="pt-BR">
                <a:solidFill>
                  <a:srgbClr val="002B5C"/>
                </a:solidFill>
                <a:latin typeface="Arial"/>
                <a:ea typeface="Arial"/>
                <a:cs typeface="Arial"/>
              </a:rPr>
              <a:t>20%–35%</a:t>
            </a:r>
          </a:p>
        </ns0:txBody>
      </ns0:sp>
      <ns0:sp>
        <ns0:nvSpPr>
          <ns0:cNvPr id="17" name="">
            <a:extLst>
              <a:ext uri="{FF2B5EF4-FFF2-40B4-BE49-F238E27FC236}">
                <ns2:creationId id="{CC02C568-F12C-4C96-915A-F190DE3DE361}"/>
              </a:ext>
            </a:extLst>
          </ns0:cNvPr>
          <ns0:cNvSpPr>
            <a:spLocks noGrp="1"/>
          </ns0:cNvSpPr>
          <ns0:nvPr/>
        </ns0:nvSpPr>
        <ns0:spPr>
          <a:xfrm>
            <a:off x="6134100" y="2114550"/>
            <a:ext cx="1778000" cy="19050"/>
          </a:xfrm>
          <a:prstGeom prst="rect">
            <a:avLst/>
          </a:prstGeom>
          <a:solidFill>
            <a:srgbClr val="002B5C"/>
          </a:solidFill>
          <a:ln w="0">
            <a:noFill/>
            <a:prstDash val="solid"/>
          </a:ln>
        </ns0:spPr>
      </ns0:sp>
      <ns0:sp>
        <ns0:nvSpPr>
          <ns0:cNvPr id="18" name="mvp-band-structural_mvp_factoring-5">
            <a:extLst>
              <a:ext uri="{FF2B5EF4-FFF2-40B4-BE49-F238E27FC236}">
                <ns2:creationId id="{697BDF59-90F6-434B-A801-AF7AF2A951C4}"/>
              </a:ext>
            </a:extLst>
          </ns0:cNvPr>
          <ns0:cNvSpPr>
            <a:spLocks noGrp="1"/>
          </ns0:cNvSpPr>
          <ns0:nvPr/>
        </ns0:nvSpPr>
        <ns0:spPr>
          <a:xfrm>
            <a:off x="7988300" y="1885950"/>
            <a:ext cx="1778000" cy="22860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0" tIns="0" rIns="0" bIns="0" anchor="ctr">
            <a:normAutofit fontScale="100000"/>
          </a:bodyPr>
          <a:lstStyle/>
          <a:p>
            <a:pPr algn="ctr">
              <a:lnSpc>
                <a:spcPct val="100000"/>
              </a:lnSpc>
              <a:buNone/>
              <a:defRPr sz="1050" b="1" lang="pt-BR">
                <a:solidFill>
                  <a:srgbClr val="002B5C"/>
                </a:solidFill>
                <a:latin typeface="Arial"/>
                <a:ea typeface="Arial"/>
                <a:cs typeface="Arial"/>
              </a:defRPr>
            </a:pPr>
            <a:r>
              <a:rPr sz="1050" b="1" lang="pt-BR">
                <a:solidFill>
                  <a:srgbClr val="002B5C"/>
                </a:solidFill>
                <a:latin typeface="Arial"/>
                <a:ea typeface="Arial"/>
                <a:cs typeface="Arial"/>
              </a:rPr>
              <a:t>35%–60%</a:t>
            </a:r>
          </a:p>
        </ns0:txBody>
      </ns0:sp>
      <ns0:sp>
        <ns0:nvSpPr>
          <ns0:cNvPr id="19" name="">
            <a:extLst>
              <a:ext uri="{FF2B5EF4-FFF2-40B4-BE49-F238E27FC236}">
                <ns2:creationId id="{FE2E7B76-B9CF-4F7C-80B5-0A0D4EB86C74}"/>
              </a:ext>
            </a:extLst>
          </ns0:cNvPr>
          <ns0:cNvSpPr>
            <a:spLocks noGrp="1"/>
          </ns0:cNvSpPr>
          <ns0:nvPr/>
        </ns0:nvSpPr>
        <ns0:spPr>
          <a:xfrm>
            <a:off x="7988300" y="2114550"/>
            <a:ext cx="1778000" cy="19050"/>
          </a:xfrm>
          <a:prstGeom prst="rect">
            <a:avLst/>
          </a:prstGeom>
          <a:solidFill>
            <a:srgbClr val="002B5C"/>
          </a:solidFill>
          <a:ln w="0">
            <a:noFill/>
            <a:prstDash val="solid"/>
          </a:ln>
        </ns0:spPr>
      </ns0:sp>
      <ns0:sp>
        <ns0:nvSpPr>
          <ns0:cNvPr id="20" name="mvp-card-structural_mvp_factoring-18185812000114">
            <a:extLst>
              <a:ext uri="{FF2B5EF4-FFF2-40B4-BE49-F238E27FC236}">
                <ns2:creationId id="{230E71FB-A8CD-417E-B132-B400CC56E9D5}"/>
              </a:ext>
            </a:extLst>
          </ns0:cNvPr>
          <ns0:cNvSpPr>
            <a:spLocks noGrp="1"/>
          </ns0:cNvSpPr>
          <ns0:nvPr/>
        </ns0:nvSpPr>
        <ns0:spPr>
          <a:xfrm>
            <a:off x="7988300" y="2181225"/>
            <a:ext cx="1778000" cy="438150"/>
          </a:xfrm>
          <a:prstGeom prst="rect">
            <a:avLst/>
          </a:prstGeom>
          <a:solidFill>
            <a:srgbClr val="F5F6F7"/>
          </a:solidFill>
          <a:ln w="9525">
            <a:solidFill>
              <a:srgbClr val="B8BDC2"/>
            </a:solidFill>
            <a:prstDash val="solid"/>
          </a:ln>
        </ns0:spPr>
        <ns0:txBody>
          <a:bodyPr wrap="none" lIns="47625" tIns="28575" rIns="47625" bIns="28575" anchor="ctr">
            <a:normAutofit fontScale="87719"/>
          </a:bodyPr>
          <a:lstStyle/>
          <a:p>
            <a:pPr algn="l">
              <a:lnSpc>
                <a:spcPct val="95000"/>
              </a:lnSpc>
              <a:buNone/>
              <a:defRPr sz="1000" b="1" lang="pt-BR">
                <a:solidFill>
                  <a:srgbClr val="5E646A"/>
                </a:solidFill>
                <a:latin typeface="Arial"/>
                <a:ea typeface="Arial"/>
                <a:cs typeface="Arial"/>
              </a:defRPr>
            </a:pPr>
            <a:r>
              <a:rPr sz="1000" b="1" lang="pt-BR">
                <a:solidFill>
                  <a:srgbClr val="5E646A"/>
                </a:solidFill>
                <a:latin typeface="Arial"/>
                <a:ea typeface="Arial"/>
                <a:cs typeface="Arial"/>
              </a:rPr>
              <a:t>GAVEA SUL</a:t>
            </a:r>
          </a:p>
          <a:p>
            <a:pPr algn="l">
              <a:lnSpc>
                <a:spcPct val="95000"/>
              </a:lnSpc>
              <a:buNone/>
              <a:defRPr sz="1000" b="1" lang="pt-BR">
                <a:solidFill>
                  <a:srgbClr val="5E646A"/>
                </a:solidFill>
                <a:latin typeface="Arial"/>
                <a:ea typeface="Arial"/>
                <a:cs typeface="Arial"/>
              </a:defRPr>
            </a:pPr>
            <a:r>
              <a:rPr sz="1000" b="1" lang="pt-BR">
                <a:solidFill>
                  <a:srgbClr val="5E646A"/>
                </a:solidFill>
                <a:latin typeface="Arial"/>
                <a:ea typeface="Arial"/>
                <a:cs typeface="Arial"/>
              </a:rPr>
              <a:t>R$ 562,0 mi · Sub atual 45,8%</a:t>
            </a:r>
          </a:p>
          <a:p>
            <a:pPr algn="l">
              <a:lnSpc>
                <a:spcPct val="95000"/>
              </a:lnSpc>
              <a:buNone/>
              <a:defRPr sz="1000" b="1" lang="pt-BR">
                <a:solidFill>
                  <a:srgbClr val="5E646A"/>
                </a:solidFill>
                <a:latin typeface="Arial"/>
                <a:ea typeface="Arial"/>
                <a:cs typeface="Arial"/>
              </a:defRPr>
            </a:pPr>
            <a:r>
              <a:rPr sz="1000" b="1" lang="pt-BR">
                <a:solidFill>
                  <a:srgbClr val="5E646A"/>
                </a:solidFill>
                <a:latin typeface="Arial"/>
                <a:ea typeface="Arial"/>
                <a:cs typeface="Arial"/>
              </a:rPr>
              <a:t>Jr 22,0% · Estr. N/D*</a:t>
            </a:r>
          </a:p>
        </ns0:txBody>
      </ns0:sp>
      <ns0:sp>
        <ns0:nvSpPr>
          <ns0:cNvPr id="21" name="mvp-card-structural_mvp_factoring-17468142000180">
            <a:extLst>
              <a:ext uri="{FF2B5EF4-FFF2-40B4-BE49-F238E27FC236}">
                <ns2:creationId id="{C79B9086-64E4-4657-97EA-ABD33F1CD958}"/>
              </a:ext>
            </a:extLst>
          </ns0:cNvPr>
          <ns0:cNvSpPr>
            <a:spLocks noGrp="1"/>
          </ns0:cNvSpPr>
          <ns0:nvPr/>
        </ns0:nvSpPr>
        <ns0:spPr>
          <a:xfrm>
            <a:off x="7988300" y="2638425"/>
            <a:ext cx="1778000" cy="438150"/>
          </a:xfrm>
          <a:prstGeom prst="rect">
            <a:avLst/>
          </a:prstGeom>
          <a:solidFill>
            <a:srgbClr val="F5F6F7"/>
          </a:solidFill>
          <a:ln w="9525">
            <a:solidFill>
              <a:srgbClr val="B8BDC2"/>
            </a:solidFill>
            <a:prstDash val="solid"/>
          </a:ln>
        </ns0:spPr>
        <ns0:txBody>
          <a:bodyPr wrap="none" lIns="47625" tIns="28575" rIns="47625" bIns="28575" anchor="ctr">
            <a:normAutofit fontScale="87719"/>
          </a:bodyPr>
          <a:lstStyle/>
          <a:p>
            <a:pPr algn="l">
              <a:lnSpc>
                <a:spcPct val="95000"/>
              </a:lnSpc>
              <a:buNone/>
              <a:defRPr sz="1000" b="1" lang="pt-BR">
                <a:solidFill>
                  <a:srgbClr val="5E646A"/>
                </a:solidFill>
                <a:latin typeface="Arial"/>
                <a:ea typeface="Arial"/>
                <a:cs typeface="Arial"/>
              </a:defRPr>
            </a:pPr>
            <a:r>
              <a:rPr sz="1000" b="1" lang="pt-BR">
                <a:solidFill>
                  <a:srgbClr val="5E646A"/>
                </a:solidFill>
                <a:latin typeface="Arial"/>
                <a:ea typeface="Arial"/>
                <a:cs typeface="Arial"/>
              </a:rPr>
              <a:t>VALOREM MULTISETORIAL</a:t>
            </a:r>
          </a:p>
          <a:p>
            <a:pPr algn="l">
              <a:lnSpc>
                <a:spcPct val="95000"/>
              </a:lnSpc>
              <a:buNone/>
              <a:defRPr sz="1000" b="1" lang="pt-BR">
                <a:solidFill>
                  <a:srgbClr val="5E646A"/>
                </a:solidFill>
                <a:latin typeface="Arial"/>
                <a:ea typeface="Arial"/>
                <a:cs typeface="Arial"/>
              </a:defRPr>
            </a:pPr>
            <a:r>
              <a:rPr sz="1000" b="1" lang="pt-BR">
                <a:solidFill>
                  <a:srgbClr val="5E646A"/>
                </a:solidFill>
                <a:latin typeface="Arial"/>
                <a:ea typeface="Arial"/>
                <a:cs typeface="Arial"/>
              </a:rPr>
              <a:t>R$ 511,8 mi · Sub atual 47,1%</a:t>
            </a:r>
          </a:p>
          <a:p>
            <a:pPr algn="l">
              <a:lnSpc>
                <a:spcPct val="95000"/>
              </a:lnSpc>
              <a:buNone/>
              <a:defRPr sz="1000" b="1" lang="pt-BR">
                <a:solidFill>
                  <a:srgbClr val="5E646A"/>
                </a:solidFill>
                <a:latin typeface="Arial"/>
                <a:ea typeface="Arial"/>
                <a:cs typeface="Arial"/>
              </a:defRPr>
            </a:pPr>
            <a:r>
              <a:rPr sz="1000" b="1" lang="pt-BR">
                <a:solidFill>
                  <a:srgbClr val="5E646A"/>
                </a:solidFill>
                <a:latin typeface="Arial"/>
                <a:ea typeface="Arial"/>
                <a:cs typeface="Arial"/>
              </a:rPr>
              <a:t>Jr 15,0% · Estr. N/D*</a:t>
            </a:r>
          </a:p>
        </ns0:txBody>
      </ns0:sp>
      <ns0:sp>
        <ns0:nvSpPr>
          <ns0:cNvPr id="22" name="mvp-band-structural_mvp_factoring-6">
            <a:extLst>
              <a:ext uri="{FF2B5EF4-FFF2-40B4-BE49-F238E27FC236}">
                <ns2:creationId id="{90D45DC2-DCA6-486E-A5C1-156537842CDD}"/>
              </a:ext>
            </a:extLst>
          </ns0:cNvPr>
          <ns0:cNvSpPr>
            <a:spLocks noGrp="1"/>
          </ns0:cNvSpPr>
          <ns0:nvPr/>
        </ns0:nvSpPr>
        <ns0:spPr>
          <a:xfrm>
            <a:off x="9842500" y="1885950"/>
            <a:ext cx="1778000" cy="22860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0" tIns="0" rIns="0" bIns="0" anchor="ctr">
            <a:normAutofit fontScale="100000"/>
          </a:bodyPr>
          <a:lstStyle/>
          <a:p>
            <a:pPr algn="ctr">
              <a:lnSpc>
                <a:spcPct val="100000"/>
              </a:lnSpc>
              <a:buNone/>
              <a:defRPr sz="1050" b="1" lang="pt-BR">
                <a:solidFill>
                  <a:srgbClr val="002B5C"/>
                </a:solidFill>
                <a:latin typeface="Arial"/>
                <a:ea typeface="Arial"/>
                <a:cs typeface="Arial"/>
              </a:defRPr>
            </a:pPr>
            <a:r>
              <a:rPr sz="1050" b="1" lang="pt-BR">
                <a:solidFill>
                  <a:srgbClr val="002B5C"/>
                </a:solidFill>
                <a:latin typeface="Arial"/>
                <a:ea typeface="Arial"/>
                <a:cs typeface="Arial"/>
              </a:rPr>
              <a:t>≥ 60%</a:t>
            </a:r>
          </a:p>
        </ns0:txBody>
      </ns0:sp>
      <ns0:sp>
        <ns0:nvSpPr>
          <ns0:cNvPr id="23" name="">
            <a:extLst>
              <a:ext uri="{FF2B5EF4-FFF2-40B4-BE49-F238E27FC236}">
                <ns2:creationId id="{8C7F8685-9EFE-42CC-A0A3-4620B003979B}"/>
              </a:ext>
            </a:extLst>
          </ns0:cNvPr>
          <ns0:cNvSpPr>
            <a:spLocks noGrp="1"/>
          </ns0:cNvSpPr>
          <ns0:nvPr/>
        </ns0:nvSpPr>
        <ns0:spPr>
          <a:xfrm>
            <a:off x="9842500" y="2114550"/>
            <a:ext cx="1778000" cy="19050"/>
          </a:xfrm>
          <a:prstGeom prst="rect">
            <a:avLst/>
          </a:prstGeom>
          <a:solidFill>
            <a:srgbClr val="002B5C"/>
          </a:solidFill>
          <a:ln w="0">
            <a:noFill/>
            <a:prstDash val="solid"/>
          </a:ln>
        </ns0:spPr>
      </ns0:sp>
      <ns0:sp>
        <ns0:nvSpPr>
          <ns0:cNvPr id="24" name="mvp-card-structural_mvp_factoring-11468186000124">
            <a:extLst>
              <a:ext uri="{FF2B5EF4-FFF2-40B4-BE49-F238E27FC236}">
                <ns2:creationId id="{EA609FC0-99DD-4B11-9E6D-51ADF1040936}"/>
              </a:ext>
            </a:extLst>
          </ns0:cNvPr>
          <ns0:cNvSpPr>
            <a:spLocks noGrp="1"/>
          </ns0:cNvSpPr>
          <ns0:nvPr/>
        </ns0:nvSpPr>
        <ns0:spPr>
          <a:xfrm>
            <a:off x="9842500" y="2181225"/>
            <a:ext cx="1778000" cy="438150"/>
          </a:xfrm>
          <a:prstGeom prst="rect">
            <a:avLst/>
          </a:prstGeom>
          <a:solidFill>
            <a:srgbClr val="F5F6F7"/>
          </a:solidFill>
          <a:ln w="9525">
            <a:solidFill>
              <a:srgbClr val="B8BDC2"/>
            </a:solidFill>
            <a:prstDash val="solid"/>
          </a:ln>
        </ns0:spPr>
        <ns0:txBody>
          <a:bodyPr wrap="none" lIns="47625" tIns="28575" rIns="47625" bIns="28575" anchor="ctr">
            <a:normAutofit fontScale="87719"/>
          </a:bodyPr>
          <a:lstStyle/>
          <a:p>
            <a:pPr algn="l">
              <a:lnSpc>
                <a:spcPct val="95000"/>
              </a:lnSpc>
              <a:buNone/>
              <a:defRPr sz="1000" b="1" lang="pt-BR">
                <a:solidFill>
                  <a:srgbClr val="5E646A"/>
                </a:solidFill>
                <a:latin typeface="Arial"/>
                <a:ea typeface="Arial"/>
                <a:cs typeface="Arial"/>
              </a:defRPr>
            </a:pPr>
            <a:r>
              <a:rPr sz="1000" b="1" lang="pt-BR">
                <a:solidFill>
                  <a:srgbClr val="5E646A"/>
                </a:solidFill>
                <a:latin typeface="Arial"/>
                <a:ea typeface="Arial"/>
                <a:cs typeface="Arial"/>
              </a:rPr>
              <a:t>ATLANTA</a:t>
            </a:r>
          </a:p>
          <a:p>
            <a:pPr algn="l">
              <a:lnSpc>
                <a:spcPct val="95000"/>
              </a:lnSpc>
              <a:buNone/>
              <a:defRPr sz="1000" b="1" lang="pt-BR">
                <a:solidFill>
                  <a:srgbClr val="5E646A"/>
                </a:solidFill>
                <a:latin typeface="Arial"/>
                <a:ea typeface="Arial"/>
                <a:cs typeface="Arial"/>
              </a:defRPr>
            </a:pPr>
            <a:r>
              <a:rPr sz="1000" b="1" lang="pt-BR">
                <a:solidFill>
                  <a:srgbClr val="5E646A"/>
                </a:solidFill>
                <a:latin typeface="Arial"/>
                <a:ea typeface="Arial"/>
                <a:cs typeface="Arial"/>
              </a:rPr>
              <a:t>R$ 3,1 bi · Sub atual 79,7%</a:t>
            </a:r>
          </a:p>
          <a:p>
            <a:pPr algn="l">
              <a:lnSpc>
                <a:spcPct val="95000"/>
              </a:lnSpc>
              <a:buNone/>
              <a:defRPr sz="1000" b="1" lang="pt-BR">
                <a:solidFill>
                  <a:srgbClr val="5E646A"/>
                </a:solidFill>
                <a:latin typeface="Arial"/>
                <a:ea typeface="Arial"/>
                <a:cs typeface="Arial"/>
              </a:defRPr>
            </a:pPr>
            <a:r>
              <a:rPr sz="1000" b="1" lang="pt-BR">
                <a:solidFill>
                  <a:srgbClr val="5E646A"/>
                </a:solidFill>
                <a:latin typeface="Arial"/>
                <a:ea typeface="Arial"/>
                <a:cs typeface="Arial"/>
              </a:rPr>
              <a:t>Jr 50,0% · Estr. N/D*</a:t>
            </a:r>
          </a:p>
        </ns0:txBody>
      </ns0:sp>
      <ns0:sp>
        <ns0:nvSpPr>
          <ns0:cNvPr id="25" name="">
            <a:extLst>
              <a:ext uri="{FF2B5EF4-FFF2-40B4-BE49-F238E27FC236}">
                <ns2:creationId id="{978C3D17-831D-4260-A0B1-5FAA371BF149}"/>
              </a:ext>
            </a:extLst>
          </ns0:cNvPr>
          <ns0:cNvSpPr>
            <a:spLocks noGrp="1"/>
          </ns0:cNvSpPr>
          <ns0:nvPr/>
        </ns0:nvSpPr>
        <ns0:spPr>
          <a:xfrm>
            <a:off x="571500" y="5981700"/>
            <a:ext cx="11049000" cy="295275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0" tIns="0" rIns="0" bIns="0" anchor="ctr">
            <a:normAutofit fontScale="88796"/>
          </a:bodyPr>
          <a:lstStyle/>
          <a:p>
            <a:pPr algn="r">
              <a:lnSpc>
                <a:spcPct val="100000"/>
              </a:lnSpc>
              <a:buNone/>
              <a:def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rPr>
              <a:t>Vinho = abaixo do mínimo estrutural · âmbar = até 2 p.p. acima · azul = mais de 2 p.p. acima · cinza = estrutura incomparável. * Categoria editorial ou piso total, combinado, calculado, ajustado ou sem equivalência direta.</a:t>
            </a:r>
          </a:p>
        </ns0:txBody>
      </ns0:sp>
    </ns0:spTree>
    <ns0:extLst>
      <ns0:ext uri="{BB962C8B-B14F-4D97-AF65-F5344CB8AC3E}">
        <ns3:creationId val="1453228381"/>
      </ns0:ext>
    </ns0:extLst>
  </ns0:cSld>
</ns0:sld>
</file>

<file path=ppt/slides/slide24.xml><?xml version="1.0" encoding="utf-8"?>
<ns0:sld xmlns:a="http://schemas.openxmlformats.org/drawingml/2006/main" xmlns:c="http://schemas.openxmlformats.org/drawingml/2006/chart" xmlns:ns0="http://schemas.openxmlformats.org/presentationml/2006/main" xmlns:ns2="http://schemas.microsoft.com/office/drawing/2014/main" xmlns:ns4="http://schemas.openxmlformats.org/officeDocument/2006/relationships" xmlns:ns5="http://schemas.microsoft.com/office/powerpoint/2010/main">
  <ns0:cSld>
    <ns0:bg>
      <ns0:bgPr>
        <a:solidFill>
          <a:srgbClr val="FFFFFF"/>
        </a:solidFill>
      </ns0:bgPr>
    </ns0:bg>
    <ns0:spTree>
      <ns0:nvGrpSpPr>
        <ns0:cNvPr id="1" name=""/>
        <ns0:cNvGrpSpPr/>
        <ns0:nvPr/>
      </ns0:nvGrpSpPr>
      <ns0:grpSpPr>
        <a:xfrm/>
      </ns0:grpSpPr>
      <ns0:sp>
        <ns0:nvSpPr>
          <ns0:cNvPr id="17" name="">
            <a:extLst>
              <a:ext uri="{FF2B5EF4-FFF2-40B4-BE49-F238E27FC236}">
                <ns2:creationId id="{2DA35FAA-362A-461F-8585-1210FF9550B8}"/>
              </a:ext>
            </a:extLst>
          </ns0:cNvPr>
          <ns0:cNvSpPr>
            <a:spLocks noGrp="1"/>
          </ns0:cNvSpPr>
          <ns0:nvPr/>
        </ns0:nvSpPr>
        <ns0:spPr>
          <a:xfrm>
            <a:off x="571500" y="257175"/>
            <a:ext cx="11049000" cy="409575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0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2100" b="1" lang="pt-BR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2100" b="1" lang="pt-BR">
                <a:solidFill>
                  <a:srgbClr val="151515"/>
                </a:solidFill>
                <a:latin typeface="Arial"/>
                <a:ea typeface="Arial"/>
                <a:cs typeface="Arial"/>
              </a:rPr>
              <a:t>Emissões crescem 15% no semestre</a:t>
            </a:r>
          </a:p>
        </ns0:txBody>
      </ns0:sp>
      <ns0:sp>
        <ns0:nvSpPr>
          <ns0:cNvPr id="2" name="">
            <a:extLst>
              <a:ext uri="{FF2B5EF4-FFF2-40B4-BE49-F238E27FC236}">
                <ns2:creationId id="{6B7DE7B6-FB49-487A-9474-203FDCC07126}"/>
              </a:ext>
            </a:extLst>
          </ns0:cNvPr>
          <ns0:cNvSpPr>
            <a:spLocks noGrp="1"/>
          </ns0:cNvSpPr>
          <ns0:nvPr/>
        </ns0:nvSpPr>
        <ns0:spPr>
          <a:xfrm>
            <a:off x="571500" y="723900"/>
            <a:ext cx="11049000" cy="238125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0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1050" b="0" lang="pt-BR">
                <a:solidFill>
                  <a:srgbClr val="73787D"/>
                </a:solidFill>
                <a:latin typeface="Arial"/>
                <a:ea typeface="Arial"/>
                <a:cs typeface="Arial"/>
              </a:defRPr>
            </a:pPr>
            <a:r>
              <a:rPr sz="1050" b="0" lang="pt-BR">
                <a:solidFill>
                  <a:srgbClr val="73787D"/>
                </a:solidFill>
                <a:latin typeface="Arial"/>
                <a:ea typeface="Arial"/>
                <a:cs typeface="Arial"/>
              </a:rPr>
              <a:t>R$ 65,5 bi em 771 ofertas no jan–jun/26</a:t>
            </a:r>
          </a:p>
        </ns0:txBody>
      </ns0:sp>
      <ns0:sp>
        <ns0:nvSpPr>
          <ns0:cNvPr id="3" name="">
            <a:extLst>
              <a:ext uri="{FF2B5EF4-FFF2-40B4-BE49-F238E27FC236}">
                <ns2:creationId id="{A21BBE51-6548-420D-A831-4D294861FDC9}"/>
              </a:ext>
            </a:extLst>
          </ns0:cNvPr>
          <ns0:cNvSpPr>
            <a:spLocks noGrp="1"/>
          </ns0:cNvSpPr>
          <ns0:nvPr/>
        </ns0:nvSpPr>
        <ns0:spPr>
          <a:xfrm>
            <a:off x="571500" y="1047750"/>
            <a:ext cx="11049000" cy="9525"/>
          </a:xfrm>
          <a:prstGeom prst="rect">
            <a:avLst/>
          </a:prstGeom>
          <a:solidFill>
            <a:srgbClr val="D7DADD"/>
          </a:solidFill>
          <a:ln w="0">
            <a:noFill/>
            <a:prstDash val="solid"/>
          </a:ln>
        </ns0:spPr>
      </ns0:sp>
      <ns0:sp>
        <ns0:nvSpPr>
          <ns0:cNvPr id="4" name="">
            <a:extLst>
              <a:ext uri="{FF2B5EF4-FFF2-40B4-BE49-F238E27FC236}">
                <ns2:creationId id="{97F31DD6-A17D-4371-9B08-5DC66916E2CF}"/>
              </a:ext>
            </a:extLst>
          </ns0:cNvPr>
          <ns0:cNvSpPr>
            <a:spLocks noGrp="1"/>
          </ns0:cNvSpPr>
          <ns0:nvPr/>
        </ns0:nvSpPr>
        <ns0:spPr>
          <a:xfrm>
            <a:off x="571500" y="6353175"/>
            <a:ext cx="11049000" cy="9525"/>
          </a:xfrm>
          <a:prstGeom prst="rect">
            <a:avLst/>
          </a:prstGeom>
          <a:solidFill>
            <a:srgbClr val="D7DADD"/>
          </a:solidFill>
          <a:ln w="0">
            <a:noFill/>
            <a:prstDash val="solid"/>
          </a:ln>
        </ns0:spPr>
      </ns0:sp>
      <ns0:sp>
        <ns0:nvSpPr>
          <ns0:cNvPr id="5" name="">
            <a:extLst>
              <a:ext uri="{FF2B5EF4-FFF2-40B4-BE49-F238E27FC236}">
                <ns2:creationId id="{A8864D60-1450-4DD1-BDBE-34814CA1FCDD}"/>
              </a:ext>
            </a:extLst>
          </ns0:cNvPr>
          <ns0:cNvSpPr>
            <a:spLocks noGrp="1"/>
          </ns0:cNvSpPr>
          <ns0:nvPr/>
        </ns0:nvSpPr>
        <ns0:spPr>
          <a:xfrm>
            <a:off x="571500" y="6419850"/>
            <a:ext cx="10001250" cy="1714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47625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rPr>
              <a:t>Fonte: CVM/SRE, dois arquivos de ofertas, snapshot 24/jul/26. Primárias encerradas, todos os ritos; volume registrado.</a:t>
            </a:r>
          </a:p>
        </ns0:txBody>
      </ns0:sp>
      <ns0:sp>
        <ns0:nvSpPr>
          <ns0:cNvPr id="6" name="">
            <a:extLst>
              <a:ext uri="{FF2B5EF4-FFF2-40B4-BE49-F238E27FC236}">
                <ns2:creationId id="{9DD11032-EA65-4209-ABFF-03DB5053A936}"/>
              </a:ext>
            </a:extLst>
          </ns0:cNvPr>
          <ns0:cNvSpPr>
            <a:spLocks noGrp="1"/>
          </ns0:cNvSpPr>
          <ns0:nvPr/>
        </ns0:nvSpPr>
        <ns0:spPr>
          <a:xfrm>
            <a:off x="11144250" y="6410325"/>
            <a:ext cx="476250" cy="1714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ctr">
            <a:normAutofit fontScale="100000"/>
          </a:bodyPr>
          <a:lstStyle/>
          <a:p>
            <a:pPr algn="r">
              <a:lnSpc>
                <a:spcPct val="100000"/>
              </a:lnSpc>
              <a:buNone/>
              <a:def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rPr>
              <a:t>24</a:t>
            </a:r>
          </a:p>
        </ns0:txBody>
      </ns0:sp>
      <ns0:sp>
        <ns0:nvSpPr>
          <ns0:cNvPr id="7" name="">
            <a:extLst>
              <a:ext uri="{FF2B5EF4-FFF2-40B4-BE49-F238E27FC236}">
                <ns2:creationId id="{D4F9A098-F884-4909-808C-37D6EBDB20ED}"/>
              </a:ext>
            </a:extLst>
          </ns0:cNvPr>
          <ns0:cNvSpPr>
            <a:spLocks noGrp="1"/>
          </ns0:cNvSpPr>
          <ns0:nvPr/>
        </ns0:nvSpPr>
        <ns0:spPr>
          <a:xfrm>
            <a:off x="571500" y="1381125"/>
            <a:ext cx="5238750" cy="22860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1125" b="1" lang="pt-BR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 lang="pt-BR">
                <a:solidFill>
                  <a:srgbClr val="30353A"/>
                </a:solidFill>
                <a:latin typeface="Arial"/>
                <a:ea typeface="Arial"/>
                <a:cs typeface="Arial"/>
              </a:rPr>
              <a:t>Volume registrado e ticket · FY / YTD</a:t>
            </a:r>
          </a:p>
        </ns0:txBody>
      </ns0:sp>
      <ns0:sp>
        <ns0:nvSpPr>
          <ns0:cNvPr id="8" name="">
            <a:extLst>
              <a:ext uri="{FF2B5EF4-FFF2-40B4-BE49-F238E27FC236}">
                <ns2:creationId id="{F46F7C26-2D36-4851-AE82-2BC89680ADF6}"/>
              </a:ext>
            </a:extLst>
          </ns0:cNvPr>
          <ns0:cNvSpPr>
            <a:spLocks noGrp="1"/>
          </ns0:cNvSpPr>
          <ns0:nvPr/>
        </ns0:nvSpPr>
        <ns0:spPr>
          <a:xfrm>
            <a:off x="571500" y="1647825"/>
            <a:ext cx="5238750" cy="9525"/>
          </a:xfrm>
          <a:prstGeom prst="rect">
            <a:avLst/>
          </a:prstGeom>
          <a:solidFill>
            <a:srgbClr val="D7DADD"/>
          </a:solidFill>
          <a:ln w="0">
            <a:noFill/>
            <a:prstDash val="solid"/>
          </a:ln>
        </ns0:spPr>
      </ns0:sp>
      <ns0:graphicFrame>
        <ns0:nvGraphicFramePr>
          <ns0:cNvPr id="25" name="Chart"/>
          <ns0:cNvGraphicFramePr/>
          <ns0:nvPr/>
        </ns0:nvGraphicFramePr>
        <ns0:xfrm>
          <a:off x="571500" y="1714500"/>
          <a:ext cx="5238750" cy="2333625"/>
        </ns0:xfrm>
        <a:graphic>
          <a:graphicData uri="http://schemas.openxmlformats.org/drawingml/2006/chart">
            <c:chart ns4:id="R2e7efaecba504971"/>
          </a:graphicData>
        </a:graphic>
      </ns0:graphicFrame>
      <ns0:sp>
        <ns0:nvSpPr>
          <ns0:cNvPr id="10" name="">
            <a:extLst>
              <a:ext uri="{FF2B5EF4-FFF2-40B4-BE49-F238E27FC236}">
                <ns2:creationId id="{18614F27-CAA5-4607-A4B8-FE6AF40D3967}"/>
              </a:ext>
            </a:extLst>
          </ns0:cNvPr>
          <ns0:cNvSpPr>
            <a:spLocks noGrp="1"/>
          </ns0:cNvSpPr>
          <ns0:nvPr/>
        </ns0:nvSpPr>
        <ns0:spPr>
          <a:xfrm>
            <a:off x="6381750" y="1381125"/>
            <a:ext cx="5238750" cy="22860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1125" b="1" lang="pt-BR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 lang="pt-BR">
                <a:solidFill>
                  <a:srgbClr val="30353A"/>
                </a:solidFill>
                <a:latin typeface="Arial"/>
                <a:ea typeface="Arial"/>
                <a:cs typeface="Arial"/>
              </a:rPr>
              <a:t>Volume acumulado · jan–dez · R$ bi</a:t>
            </a:r>
          </a:p>
        </ns0:txBody>
      </ns0:sp>
      <ns0:sp>
        <ns0:nvSpPr>
          <ns0:cNvPr id="11" name="">
            <a:extLst>
              <a:ext uri="{FF2B5EF4-FFF2-40B4-BE49-F238E27FC236}">
                <ns2:creationId id="{39D6B698-F59E-4393-97C1-A0E23412B543}"/>
              </a:ext>
            </a:extLst>
          </ns0:cNvPr>
          <ns0:cNvSpPr>
            <a:spLocks noGrp="1"/>
          </ns0:cNvSpPr>
          <ns0:nvPr/>
        </ns0:nvSpPr>
        <ns0:spPr>
          <a:xfrm>
            <a:off x="6381750" y="1647825"/>
            <a:ext cx="5238750" cy="9525"/>
          </a:xfrm>
          <a:prstGeom prst="rect">
            <a:avLst/>
          </a:prstGeom>
          <a:solidFill>
            <a:srgbClr val="D7DADD"/>
          </a:solidFill>
          <a:ln w="0">
            <a:noFill/>
            <a:prstDash val="solid"/>
          </a:ln>
        </ns0:spPr>
      </ns0:sp>
      <ns0:graphicFrame>
        <ns0:nvGraphicFramePr>
          <ns0:cNvPr id="28" name="Chart"/>
          <ns0:cNvGraphicFramePr/>
          <ns0:nvPr/>
        </ns0:nvGraphicFramePr>
        <ns0:xfrm>
          <a:off x="6381750" y="1714500"/>
          <a:ext cx="5238750" cy="2333625"/>
        </ns0:xfrm>
        <a:graphic>
          <a:graphicData uri="http://schemas.openxmlformats.org/drawingml/2006/chart">
            <c:chart ns4:id="R3093c66bfd384d7a"/>
          </a:graphicData>
        </a:graphic>
      </ns0:graphicFrame>
      <ns0:graphicFrame>
        <ns0:nvGraphicFramePr>
          <ns0:cNvPr id="29" name="Chart"/>
          <ns0:cNvGraphicFramePr/>
          <ns0:nvPr/>
        </ns0:nvGraphicFramePr>
        <ns0:xfrm>
          <a:off x="7715250" y="4000500"/>
          <a:ext cx="3905250" cy="209550"/>
        </ns0:xfrm>
        <a:graphic>
          <a:graphicData uri="http://schemas.openxmlformats.org/drawingml/2006/chart">
            <c:chart ns4:id="Rc663421e703d4c38"/>
          </a:graphicData>
        </a:graphic>
      </ns0:graphicFrame>
      <ns0:sp>
        <ns0:nvSpPr>
          <ns0:cNvPr id="14" name="">
            <a:extLst>
              <a:ext uri="{FF2B5EF4-FFF2-40B4-BE49-F238E27FC236}">
                <ns2:creationId id="{B4B1CD74-6825-4FF9-86A2-549A05F06A7B}"/>
              </a:ext>
            </a:extLst>
          </ns0:cNvPr>
          <ns0:cNvSpPr>
            <a:spLocks noGrp="1"/>
          </ns0:cNvSpPr>
          <ns0:nvPr/>
        </ns0:nvSpPr>
        <ns0:spPr>
          <a:xfrm>
            <a:off x="6381750" y="4219575"/>
            <a:ext cx="5238750" cy="15240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t">
            <a:normAutofit fontScale="100000"/>
          </a:bodyPr>
          <a:lstStyle/>
          <a:p>
            <a:pPr algn="r">
              <a:lnSpc>
                <a:spcPct val="100000"/>
              </a:lnSpc>
              <a:buNone/>
              <a:def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rPr>
              <a:t>2026 encerra em jun/26; as curvas de 2024 e 2025 seguem até dezembro.</a:t>
            </a:r>
          </a:p>
        </ns0:txBody>
      </ns0:sp>
      <ns0:graphicFrame>
        <ns0:nvGraphicFramePr>
          <ns0:cNvPr id="31" name=""/>
          <ns0:cNvGraphicFramePr/>
          <ns0:nvPr/>
        </ns0:nvGraphicFramePr>
        <ns0:xfrm>
          <a:off x="571500" y="4286250"/>
          <a:ext cx="11049000" cy="1619250"/>
        </ns0:xfrm>
        <a:graphic>
          <a:graphicData uri="http://schemas.openxmlformats.org/drawingml/2006/table">
            <a:tbl>
              <a:tblPr firstRow="0" firstCol="0" lastRow="0" lastCol="0" bandRow="0" bandCol="0"/>
              <a:tblGrid>
                <a:gridCol w="952500"/>
                <a:gridCol w="1476375"/>
                <a:gridCol w="1714500"/>
                <a:gridCol w="1476375"/>
                <a:gridCol w="1476375"/>
                <a:gridCol w="1952625"/>
                <a:gridCol w="2000250"/>
              </a:tblGrid>
              <a:tr h="228600"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300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Ano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300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Ofertas encerradas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300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Volume registrado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300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Ticket médio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300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Ticket mediano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300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PF no volume colocado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300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Público profissional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</a:tr>
              <a:tr h="197168"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2022 FY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7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R$ 2,7 bi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R$ 392,7 mi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R$ 200,0 mi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  <a:tr h="197168"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2023 FY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350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R$ 26,5 bi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R$ 75,6 mi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R$ 23,3 mi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4,3%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96,8%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  <a:tr h="197168"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2024 FY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1.009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R$ 95,4 bi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R$ 94,6 mi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R$ 30,0 mi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4,6%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94,4%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  <a:tr h="197168"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2025 FY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1.473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R$ 116,9 bi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R$ 79,4 mi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R$ 25,0 mi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6,6%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92,8%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  <a:tr h="197168"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2026 YTD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771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R$ 65,5 bi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R$ 84,9 mi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R$ 22,5 mi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4,0%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93,8%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</a:tr>
            </a:tbl>
          </a:graphicData>
        </a:graphic>
      </ns0:graphicFrame>
      <ns0:sp>
        <ns0:nvSpPr>
          <ns0:cNvPr id="16" name="">
            <a:extLst>
              <a:ext uri="{FF2B5EF4-FFF2-40B4-BE49-F238E27FC236}">
                <ns2:creationId id="{8BD46C5D-6397-4C8F-917D-44F26EC46DFE}"/>
              </a:ext>
            </a:extLst>
          </ns0:cNvPr>
          <ns0:cNvSpPr>
            <a:spLocks noGrp="1"/>
          </ns0:cNvSpPr>
          <ns0:nvPr/>
        </ns0:nvSpPr>
        <ns0:spPr>
          <a:xfrm>
            <a:off x="571500" y="5962650"/>
            <a:ext cx="11049000" cy="2857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ctr">
            <a:normAutofit fontScale="100000"/>
          </a:bodyPr>
          <a:lstStyle/>
          <a:p>
            <a:pPr algn="r">
              <a:lnSpc>
                <a:spcPct val="100000"/>
              </a:lnSpc>
              <a:buNone/>
              <a:def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rPr>
              <a:t>PF representa 4,0% do proxy colocado; cobertura 97,3%. Público profissional usa o volume registrado total como denominador, incluindo N/D; 2022 = N/D por ausência de reporte.</a:t>
            </a:r>
          </a:p>
        </ns0:txBody>
      </ns0:sp>
    </ns0:spTree>
    <ns0:extLst>
      <ns0:ext uri="{BB962C8B-B14F-4D97-AF65-F5344CB8AC3E}">
        <ns5:creationId val="470676830"/>
      </ns0:ext>
    </ns0:extLst>
  </ns0:cSld>
</ns0:sld>
</file>

<file path=ppt/slides/slide25.xml><?xml version="1.0" encoding="utf-8"?>
<ns0:sld xmlns:a="http://schemas.openxmlformats.org/drawingml/2006/main" xmlns:c="http://schemas.openxmlformats.org/drawingml/2006/chart" xmlns:ns0="http://schemas.openxmlformats.org/presentationml/2006/main" xmlns:ns2="http://schemas.microsoft.com/office/drawing/2014/main" xmlns:ns4="http://schemas.openxmlformats.org/officeDocument/2006/relationships" xmlns:ns5="http://schemas.microsoft.com/office/powerpoint/2010/main">
  <ns0:cSld>
    <ns0:bg>
      <ns0:bgPr>
        <a:solidFill>
          <a:srgbClr val="FFFFFF"/>
        </a:solidFill>
      </ns0:bgPr>
    </ns0:bg>
    <ns0:spTree>
      <ns0:nvGrpSpPr>
        <ns0:cNvPr id="1" name=""/>
        <ns0:cNvGrpSpPr/>
        <ns0:nvPr/>
      </ns0:nvGrpSpPr>
      <ns0:grpSpPr>
        <a:xfrm/>
      </ns0:grpSpPr>
      <ns0:sp>
        <ns0:nvSpPr>
          <ns0:cNvPr id="26" name="">
            <a:extLst>
              <a:ext uri="{FF2B5EF4-FFF2-40B4-BE49-F238E27FC236}">
                <ns2:creationId id="{048BE547-F3FB-4A79-9A34-1A32A091E8EC}"/>
              </a:ext>
            </a:extLst>
          </ns0:cNvPr>
          <ns0:cNvSpPr>
            <a:spLocks noGrp="1"/>
          </ns0:cNvSpPr>
          <ns0:nvPr/>
        </ns0:nvSpPr>
        <ns0:spPr>
          <a:xfrm>
            <a:off x="571500" y="257175"/>
            <a:ext cx="11049000" cy="409575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0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2100" b="1" lang="pt-BR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2100" b="1" lang="pt-BR">
                <a:solidFill>
                  <a:srgbClr val="151515"/>
                </a:solidFill>
                <a:latin typeface="Arial"/>
                <a:ea typeface="Arial"/>
                <a:cs typeface="Arial"/>
              </a:rPr>
              <a:t>22 ofertas concentram 42% de todo o volume</a:t>
            </a:r>
          </a:p>
        </ns0:txBody>
      </ns0:sp>
      <ns0:sp>
        <ns0:nvSpPr>
          <ns0:cNvPr id="2" name="">
            <a:extLst>
              <a:ext uri="{FF2B5EF4-FFF2-40B4-BE49-F238E27FC236}">
                <ns2:creationId id="{AB9C4CA5-4093-4467-8A0D-4ECA844BB7EE}"/>
              </a:ext>
            </a:extLst>
          </ns0:cNvPr>
          <ns0:cNvSpPr>
            <a:spLocks noGrp="1"/>
          </ns0:cNvSpPr>
          <ns0:nvPr/>
        </ns0:nvSpPr>
        <ns0:spPr>
          <a:xfrm>
            <a:off x="571500" y="723900"/>
            <a:ext cx="11049000" cy="238125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0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1050" b="0" lang="pt-BR">
                <a:solidFill>
                  <a:srgbClr val="73787D"/>
                </a:solidFill>
                <a:latin typeface="Arial"/>
                <a:ea typeface="Arial"/>
                <a:cs typeface="Arial"/>
              </a:defRPr>
            </a:pPr>
            <a:r>
              <a:rPr sz="1050" b="0" lang="pt-BR">
                <a:solidFill>
                  <a:srgbClr val="73787D"/>
                </a:solidFill>
                <a:latin typeface="Arial"/>
                <a:ea typeface="Arial"/>
                <a:cs typeface="Arial"/>
              </a:rPr>
              <a:t>Tickets acima de R$ 500 mi, jan–jun/26</a:t>
            </a:r>
          </a:p>
        </ns0:txBody>
      </ns0:sp>
      <ns0:sp>
        <ns0:nvSpPr>
          <ns0:cNvPr id="3" name="">
            <a:extLst>
              <a:ext uri="{FF2B5EF4-FFF2-40B4-BE49-F238E27FC236}">
                <ns2:creationId id="{994E41C5-C5B7-45CF-A3DD-D6818604AAED}"/>
              </a:ext>
            </a:extLst>
          </ns0:cNvPr>
          <ns0:cNvSpPr>
            <a:spLocks noGrp="1"/>
          </ns0:cNvSpPr>
          <ns0:nvPr/>
        </ns0:nvSpPr>
        <ns0:spPr>
          <a:xfrm>
            <a:off x="571500" y="1047750"/>
            <a:ext cx="11049000" cy="9525"/>
          </a:xfrm>
          <a:prstGeom prst="rect">
            <a:avLst/>
          </a:prstGeom>
          <a:solidFill>
            <a:srgbClr val="D7DADD"/>
          </a:solidFill>
          <a:ln w="0">
            <a:noFill/>
            <a:prstDash val="solid"/>
          </a:ln>
        </ns0:spPr>
      </ns0:sp>
      <ns0:sp>
        <ns0:nvSpPr>
          <ns0:cNvPr id="4" name="">
            <a:extLst>
              <a:ext uri="{FF2B5EF4-FFF2-40B4-BE49-F238E27FC236}">
                <ns2:creationId id="{EB2EFF3C-8BA5-40DE-A806-0513558D1CC3}"/>
              </a:ext>
            </a:extLst>
          </ns0:cNvPr>
          <ns0:cNvSpPr>
            <a:spLocks noGrp="1"/>
          </ns0:cNvSpPr>
          <ns0:nvPr/>
        </ns0:nvSpPr>
        <ns0:spPr>
          <a:xfrm>
            <a:off x="571500" y="6353175"/>
            <a:ext cx="11049000" cy="9525"/>
          </a:xfrm>
          <a:prstGeom prst="rect">
            <a:avLst/>
          </a:prstGeom>
          <a:solidFill>
            <a:srgbClr val="D7DADD"/>
          </a:solidFill>
          <a:ln w="0">
            <a:noFill/>
            <a:prstDash val="solid"/>
          </a:ln>
        </ns0:spPr>
      </ns0:sp>
      <ns0:sp>
        <ns0:nvSpPr>
          <ns0:cNvPr id="5" name="">
            <a:extLst>
              <a:ext uri="{FF2B5EF4-FFF2-40B4-BE49-F238E27FC236}">
                <ns2:creationId id="{3177721B-5685-41C6-A9F7-9187B7F88DFF}"/>
              </a:ext>
            </a:extLst>
          </ns0:cNvPr>
          <ns0:cNvSpPr>
            <a:spLocks noGrp="1"/>
          </ns0:cNvSpPr>
          <ns0:nvPr/>
        </ns0:nvSpPr>
        <ns0:spPr>
          <a:xfrm>
            <a:off x="571500" y="6419850"/>
            <a:ext cx="10001250" cy="1714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47625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rPr>
              <a:t>Fonte: CVM/SRE, dois arquivos de ofertas; mesma coorte primária encerrada do slide anterior. 2026 = jan–jun.</a:t>
            </a:r>
          </a:p>
        </ns0:txBody>
      </ns0:sp>
      <ns0:sp>
        <ns0:nvSpPr>
          <ns0:cNvPr id="6" name="">
            <a:extLst>
              <a:ext uri="{FF2B5EF4-FFF2-40B4-BE49-F238E27FC236}">
                <ns2:creationId id="{4B939987-5A15-4746-BB44-EDC5BAE8D34C}"/>
              </a:ext>
            </a:extLst>
          </ns0:cNvPr>
          <ns0:cNvSpPr>
            <a:spLocks noGrp="1"/>
          </ns0:cNvSpPr>
          <ns0:nvPr/>
        </ns0:nvSpPr>
        <ns0:spPr>
          <a:xfrm>
            <a:off x="11144250" y="6410325"/>
            <a:ext cx="476250" cy="1714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ctr">
            <a:normAutofit fontScale="100000"/>
          </a:bodyPr>
          <a:lstStyle/>
          <a:p>
            <a:pPr algn="r">
              <a:lnSpc>
                <a:spcPct val="100000"/>
              </a:lnSpc>
              <a:buNone/>
              <a:def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rPr>
              <a:t>25</a:t>
            </a:r>
          </a:p>
        </ns0:txBody>
      </ns0:sp>
      <ns0:sp>
        <ns0:nvSpPr>
          <ns0:cNvPr id="7" name="">
            <a:extLst>
              <a:ext uri="{FF2B5EF4-FFF2-40B4-BE49-F238E27FC236}">
                <ns2:creationId id="{2042526D-C5D0-4B03-A5B7-3BC5DFF1E63F}"/>
              </a:ext>
            </a:extLst>
          </ns0:cNvPr>
          <ns0:cNvSpPr>
            <a:spLocks noGrp="1"/>
          </ns0:cNvSpPr>
          <ns0:nvPr/>
        </ns0:nvSpPr>
        <ns0:spPr>
          <a:xfrm>
            <a:off x="571500" y="1381125"/>
            <a:ext cx="3429000" cy="22860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1125" b="1" lang="pt-BR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 lang="pt-BR">
                <a:solidFill>
                  <a:srgbClr val="30353A"/>
                </a:solidFill>
                <a:latin typeface="Arial"/>
                <a:ea typeface="Arial"/>
                <a:cs typeface="Arial"/>
              </a:rPr>
              <a:t>% das ofertas</a:t>
            </a:r>
          </a:p>
        </ns0:txBody>
      </ns0:sp>
      <ns0:sp>
        <ns0:nvSpPr>
          <ns0:cNvPr id="8" name="">
            <a:extLst>
              <a:ext uri="{FF2B5EF4-FFF2-40B4-BE49-F238E27FC236}">
                <ns2:creationId id="{282BFB3F-05D3-4499-BD2D-B6405580000F}"/>
              </a:ext>
            </a:extLst>
          </ns0:cNvPr>
          <ns0:cNvSpPr>
            <a:spLocks noGrp="1"/>
          </ns0:cNvSpPr>
          <ns0:nvPr/>
        </ns0:nvSpPr>
        <ns0:spPr>
          <a:xfrm>
            <a:off x="571500" y="1647825"/>
            <a:ext cx="3429000" cy="9525"/>
          </a:xfrm>
          <a:prstGeom prst="rect">
            <a:avLst/>
          </a:prstGeom>
          <a:solidFill>
            <a:srgbClr val="D7DADD"/>
          </a:solidFill>
          <a:ln w="0">
            <a:noFill/>
            <a:prstDash val="solid"/>
          </a:ln>
        </ns0:spPr>
      </ns0:sp>
      <ns0:graphicFrame>
        <ns0:nvGraphicFramePr>
          <ns0:cNvPr id="34" name="Chart"/>
          <ns0:cNvGraphicFramePr/>
          <ns0:nvPr/>
        </ns0:nvGraphicFramePr>
        <ns0:xfrm>
          <a:off x="571500" y="1743075"/>
          <a:ext cx="3429000" cy="3714750"/>
        </ns0:xfrm>
        <a:graphic>
          <a:graphicData uri="http://schemas.openxmlformats.org/drawingml/2006/chart">
            <c:chart ns4:id="R8871fa4b18804346"/>
          </a:graphicData>
        </a:graphic>
      </ns0:graphicFrame>
      <ns0:sp>
        <ns0:nvSpPr>
          <ns0:cNvPr id="10" name="">
            <a:extLst>
              <a:ext uri="{FF2B5EF4-FFF2-40B4-BE49-F238E27FC236}">
                <ns2:creationId id="{638C3579-3850-476A-831A-1FCA6252778D}"/>
              </a:ext>
            </a:extLst>
          </ns0:cNvPr>
          <ns0:cNvSpPr>
            <a:spLocks noGrp="1"/>
          </ns0:cNvSpPr>
          <ns0:nvPr/>
        </ns0:nvSpPr>
        <ns0:spPr>
          <a:xfrm>
            <a:off x="4286250" y="1381125"/>
            <a:ext cx="3429000" cy="22860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1125" b="1" lang="pt-BR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 lang="pt-BR">
                <a:solidFill>
                  <a:srgbClr val="30353A"/>
                </a:solidFill>
                <a:latin typeface="Arial"/>
                <a:ea typeface="Arial"/>
                <a:cs typeface="Arial"/>
              </a:rPr>
              <a:t>% do volume</a:t>
            </a:r>
          </a:p>
        </ns0:txBody>
      </ns0:sp>
      <ns0:sp>
        <ns0:nvSpPr>
          <ns0:cNvPr id="11" name="">
            <a:extLst>
              <a:ext uri="{FF2B5EF4-FFF2-40B4-BE49-F238E27FC236}">
                <ns2:creationId id="{C4D28D7F-3FE2-4B90-82F1-AE7BF1060A45}"/>
              </a:ext>
            </a:extLst>
          </ns0:cNvPr>
          <ns0:cNvSpPr>
            <a:spLocks noGrp="1"/>
          </ns0:cNvSpPr>
          <ns0:nvPr/>
        </ns0:nvSpPr>
        <ns0:spPr>
          <a:xfrm>
            <a:off x="4286250" y="1647825"/>
            <a:ext cx="3429000" cy="9525"/>
          </a:xfrm>
          <a:prstGeom prst="rect">
            <a:avLst/>
          </a:prstGeom>
          <a:solidFill>
            <a:srgbClr val="D7DADD"/>
          </a:solidFill>
          <a:ln w="0">
            <a:noFill/>
            <a:prstDash val="solid"/>
          </a:ln>
        </ns0:spPr>
      </ns0:sp>
      <ns0:graphicFrame>
        <ns0:nvGraphicFramePr>
          <ns0:cNvPr id="37" name="Chart"/>
          <ns0:cNvGraphicFramePr/>
          <ns0:nvPr/>
        </ns0:nvGraphicFramePr>
        <ns0:xfrm>
          <a:off x="4286250" y="1743075"/>
          <a:ext cx="3429000" cy="3714750"/>
        </ns0:xfrm>
        <a:graphic>
          <a:graphicData uri="http://schemas.openxmlformats.org/drawingml/2006/chart">
            <c:chart ns4:id="Rd792596b42554360"/>
          </a:graphicData>
        </a:graphic>
      </ns0:graphicFrame>
      <ns0:sp>
        <ns0:nvSpPr>
          <ns0:cNvPr id="13" name="">
            <a:extLst>
              <a:ext uri="{FF2B5EF4-FFF2-40B4-BE49-F238E27FC236}">
                <ns2:creationId id="{19894E98-AEF3-47EA-A93B-C82286AB82EA}"/>
              </a:ext>
            </a:extLst>
          </ns0:cNvPr>
          <ns0:cNvSpPr>
            <a:spLocks noGrp="1"/>
          </ns0:cNvSpPr>
          <ns0:nvPr/>
        </ns0:nvSpPr>
        <ns0:spPr>
          <a:xfrm>
            <a:off x="8001000" y="1381125"/>
            <a:ext cx="3619500" cy="22860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1125" b="1" lang="pt-BR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 lang="pt-BR">
                <a:solidFill>
                  <a:srgbClr val="30353A"/>
                </a:solidFill>
                <a:latin typeface="Arial"/>
                <a:ea typeface="Arial"/>
                <a:cs typeface="Arial"/>
              </a:rPr>
              <a:t>Volume · R$ bi</a:t>
            </a:r>
          </a:p>
        </ns0:txBody>
      </ns0:sp>
      <ns0:sp>
        <ns0:nvSpPr>
          <ns0:cNvPr id="14" name="">
            <a:extLst>
              <a:ext uri="{FF2B5EF4-FFF2-40B4-BE49-F238E27FC236}">
                <ns2:creationId id="{2C2AAD74-8CFD-4B5A-AB93-FCDB7AB59538}"/>
              </a:ext>
            </a:extLst>
          </ns0:cNvPr>
          <ns0:cNvSpPr>
            <a:spLocks noGrp="1"/>
          </ns0:cNvSpPr>
          <ns0:nvPr/>
        </ns0:nvSpPr>
        <ns0:spPr>
          <a:xfrm>
            <a:off x="8001000" y="1647825"/>
            <a:ext cx="3619500" cy="9525"/>
          </a:xfrm>
          <a:prstGeom prst="rect">
            <a:avLst/>
          </a:prstGeom>
          <a:solidFill>
            <a:srgbClr val="D7DADD"/>
          </a:solidFill>
          <a:ln w="0">
            <a:noFill/>
            <a:prstDash val="solid"/>
          </a:ln>
        </ns0:spPr>
      </ns0:sp>
      <ns0:graphicFrame>
        <ns0:nvGraphicFramePr>
          <ns0:cNvPr id="40" name="Chart"/>
          <ns0:cNvGraphicFramePr/>
          <ns0:nvPr/>
        </ns0:nvGraphicFramePr>
        <ns0:xfrm>
          <a:off x="8001000" y="1743075"/>
          <a:ext cx="3619500" cy="3714750"/>
        </ns0:xfrm>
        <a:graphic>
          <a:graphicData uri="http://schemas.openxmlformats.org/drawingml/2006/chart">
            <c:chart ns4:id="R51e1b8ce558c4ddc"/>
          </a:graphicData>
        </a:graphic>
      </ns0:graphicFrame>
      <ns0:graphicFrame>
        <ns0:nvGraphicFramePr>
          <ns0:cNvPr id="41" name="Chart"/>
          <ns0:cNvGraphicFramePr/>
          <ns0:nvPr/>
        </ns0:nvGraphicFramePr>
        <ns0:xfrm>
          <a:off x="4048125" y="5486400"/>
          <a:ext cx="4095750" cy="209550"/>
        </ns0:xfrm>
        <a:graphic>
          <a:graphicData uri="http://schemas.openxmlformats.org/drawingml/2006/chart">
            <c:chart ns4:id="R9efe9c1153394317"/>
          </a:graphicData>
        </a:graphic>
      </ns0:graphicFrame>
      <ns0:sp>
        <ns0:nvSpPr>
          <ns0:cNvPr id="17" name="">
            <a:extLst>
              <a:ext uri="{FF2B5EF4-FFF2-40B4-BE49-F238E27FC236}">
                <ns2:creationId id="{7688C66E-6370-4215-9422-8F86090F9A12}"/>
              </a:ext>
            </a:extLst>
          </ns0:cNvPr>
          <ns0:cNvSpPr>
            <a:spLocks noGrp="1"/>
          </ns0:cNvSpPr>
          <ns0:nvPr/>
        </ns0:nvSpPr>
        <ns0:spPr>
          <a:xfrm>
            <a:off x="571500" y="5705475"/>
            <a:ext cx="11049000" cy="1333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ctr">
            <a:normAutofit fontScale="87500"/>
          </a:bodyPr>
          <a:lstStyle/>
          <a:p>
            <a:pPr algn="ctr">
              <a:lnSpc>
                <a:spcPct val="100000"/>
              </a:lnSpc>
              <a:buNone/>
              <a:def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rPr>
              <a:t>Faixas do eixo em R$ mi; fecham no limite inferior. “&gt; R$ 100 mi” é estrito e exclui ofertas exatamente iguais a R$ 100 mi.</a:t>
            </a:r>
          </a:p>
        </ns0:txBody>
      </ns0:sp>
      <ns0:sp>
        <ns0:nvSpPr>
          <ns0:cNvPr id="18" name="">
            <a:extLst>
              <a:ext uri="{FF2B5EF4-FFF2-40B4-BE49-F238E27FC236}">
                <ns2:creationId id="{929CD474-B742-4279-B8D5-B8838D0920EE}"/>
              </a:ext>
            </a:extLst>
          </ns0:cNvPr>
          <ns0:cNvSpPr>
            <a:spLocks noGrp="1"/>
          </ns0:cNvSpPr>
          <ns0:nvPr/>
        </ns0:nvSpPr>
        <ns0:spPr>
          <a:xfrm>
            <a:off x="571500" y="5867400"/>
            <a:ext cx="3429000" cy="15240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t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1000" b="1" lang="pt-BR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000" b="1" lang="pt-BR">
                <a:solidFill>
                  <a:srgbClr val="30353A"/>
                </a:solidFill>
                <a:latin typeface="Arial"/>
                <a:ea typeface="Arial"/>
                <a:cs typeface="Arial"/>
              </a:rPr>
              <a:t>2024FY · &gt; R$ 100 mi</a:t>
            </a:r>
          </a:p>
        </ns0:txBody>
      </ns0:sp>
      <ns0:sp>
        <ns0:nvSpPr>
          <ns0:cNvPr id="19" name="">
            <a:extLst>
              <a:ext uri="{FF2B5EF4-FFF2-40B4-BE49-F238E27FC236}">
                <ns2:creationId id="{95D411DC-7CDB-4F2A-89B9-5AF0CB4F1F10}"/>
              </a:ext>
            </a:extLst>
          </ns0:cNvPr>
          <ns0:cNvSpPr>
            <a:spLocks noGrp="1"/>
          </ns0:cNvSpPr>
          <ns0:nvPr/>
        </ns0:nvSpPr>
        <ns0:spPr>
          <a:xfrm>
            <a:off x="571500" y="6048375"/>
            <a:ext cx="3429000" cy="2095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t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rPr>
              <a:t>R$ 72,0 bi · 75,5% do volume · 181 ofertas (17,9%)</a:t>
            </a:r>
          </a:p>
        </ns0:txBody>
      </ns0:sp>
      <ns0:sp>
        <ns0:nvSpPr>
          <ns0:cNvPr id="20" name="">
            <a:extLst>
              <a:ext uri="{FF2B5EF4-FFF2-40B4-BE49-F238E27FC236}">
                <ns2:creationId id="{F02D7DDB-6A1A-4C2B-92A8-4A8BC4FAD4AA}"/>
              </a:ext>
            </a:extLst>
          </ns0:cNvPr>
          <ns0:cNvSpPr>
            <a:spLocks noGrp="1"/>
          </ns0:cNvSpPr>
          <ns0:nvPr/>
        </ns0:nvSpPr>
        <ns0:spPr>
          <a:xfrm>
            <a:off x="4143375" y="5867400"/>
            <a:ext cx="9525" cy="9525"/>
          </a:xfrm>
          <a:prstGeom prst="rect">
            <a:avLst/>
          </a:prstGeom>
          <a:solidFill>
            <a:srgbClr val="D7DADD"/>
          </a:solidFill>
          <a:ln w="0">
            <a:noFill/>
            <a:prstDash val="solid"/>
          </a:ln>
        </ns0:spPr>
      </ns0:sp>
      <ns0:sp>
        <ns0:nvSpPr>
          <ns0:cNvPr id="21" name="">
            <a:extLst>
              <a:ext uri="{FF2B5EF4-FFF2-40B4-BE49-F238E27FC236}">
                <ns2:creationId id="{FFDB5519-165C-4273-B077-2BEB25F1D708}"/>
              </a:ext>
            </a:extLst>
          </ns0:cNvPr>
          <ns0:cNvSpPr>
            <a:spLocks noGrp="1"/>
          </ns0:cNvSpPr>
          <ns0:nvPr/>
        </ns0:nvSpPr>
        <ns0:spPr>
          <a:xfrm>
            <a:off x="4286250" y="5867400"/>
            <a:ext cx="3429000" cy="15240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t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1000" b="1" lang="pt-BR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000" b="1" lang="pt-BR">
                <a:solidFill>
                  <a:srgbClr val="30353A"/>
                </a:solidFill>
                <a:latin typeface="Arial"/>
                <a:ea typeface="Arial"/>
                <a:cs typeface="Arial"/>
              </a:rPr>
              <a:t>2025FY · &gt; R$ 100 mi</a:t>
            </a:r>
          </a:p>
        </ns0:txBody>
      </ns0:sp>
      <ns0:sp>
        <ns0:nvSpPr>
          <ns0:cNvPr id="22" name="">
            <a:extLst>
              <a:ext uri="{FF2B5EF4-FFF2-40B4-BE49-F238E27FC236}">
                <ns2:creationId id="{1F9406DC-2702-4F74-931D-A6A16320C4B5}"/>
              </a:ext>
            </a:extLst>
          </ns0:cNvPr>
          <ns0:cNvSpPr>
            <a:spLocks noGrp="1"/>
          </ns0:cNvSpPr>
          <ns0:nvPr/>
        </ns0:nvSpPr>
        <ns0:spPr>
          <a:xfrm>
            <a:off x="4286250" y="6048375"/>
            <a:ext cx="3429000" cy="2095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t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rPr>
              <a:t>R$ 81,8 bi · 69,9% do volume · 227 ofertas (15,4%)</a:t>
            </a:r>
          </a:p>
        </ns0:txBody>
      </ns0:sp>
      <ns0:sp>
        <ns0:nvSpPr>
          <ns0:cNvPr id="23" name="">
            <a:extLst>
              <a:ext uri="{FF2B5EF4-FFF2-40B4-BE49-F238E27FC236}">
                <ns2:creationId id="{00D74F10-1703-4344-B0AC-AB3CBCC026DA}"/>
              </a:ext>
            </a:extLst>
          </ns0:cNvPr>
          <ns0:cNvSpPr>
            <a:spLocks noGrp="1"/>
          </ns0:cNvSpPr>
          <ns0:nvPr/>
        </ns0:nvSpPr>
        <ns0:spPr>
          <a:xfrm>
            <a:off x="7858125" y="5867400"/>
            <a:ext cx="9525" cy="9525"/>
          </a:xfrm>
          <a:prstGeom prst="rect">
            <a:avLst/>
          </a:prstGeom>
          <a:solidFill>
            <a:srgbClr val="D7DADD"/>
          </a:solidFill>
          <a:ln w="0">
            <a:noFill/>
            <a:prstDash val="solid"/>
          </a:ln>
        </ns0:spPr>
      </ns0:sp>
      <ns0:sp>
        <ns0:nvSpPr>
          <ns0:cNvPr id="24" name="">
            <a:extLst>
              <a:ext uri="{FF2B5EF4-FFF2-40B4-BE49-F238E27FC236}">
                <ns2:creationId id="{9A505F39-69A8-4A8D-95E3-F5252BB2D0F1}"/>
              </a:ext>
            </a:extLst>
          </ns0:cNvPr>
          <ns0:cNvSpPr>
            <a:spLocks noGrp="1"/>
          </ns0:cNvSpPr>
          <ns0:nvPr/>
        </ns0:nvSpPr>
        <ns0:spPr>
          <a:xfrm>
            <a:off x="8001000" y="5867400"/>
            <a:ext cx="3429000" cy="15240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t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1000" b="1" lang="pt-BR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1000" b="1" lang="pt-BR">
                <a:solidFill>
                  <a:srgbClr val="EC7000"/>
                </a:solidFill>
                <a:latin typeface="Arial"/>
                <a:ea typeface="Arial"/>
                <a:cs typeface="Arial"/>
              </a:rPr>
              <a:t>2026 YTD · &gt; R$ 100 mi</a:t>
            </a:r>
          </a:p>
        </ns0:txBody>
      </ns0:sp>
      <ns0:sp>
        <ns0:nvSpPr>
          <ns0:cNvPr id="25" name="">
            <a:extLst>
              <a:ext uri="{FF2B5EF4-FFF2-40B4-BE49-F238E27FC236}">
                <ns2:creationId id="{60A521DA-FAEE-44A7-B3CB-A2A03DD7F450}"/>
              </a:ext>
            </a:extLst>
          </ns0:cNvPr>
          <ns0:cNvSpPr>
            <a:spLocks noGrp="1"/>
          </ns0:cNvSpPr>
          <ns0:nvPr/>
        </ns0:nvSpPr>
        <ns0:spPr>
          <a:xfrm>
            <a:off x="8001000" y="6048375"/>
            <a:ext cx="3429000" cy="2095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t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rPr>
              <a:t>R$ 47,7 bi · 72,9% do volume · 120 ofertas (15,6%)</a:t>
            </a:r>
          </a:p>
        </ns0:txBody>
      </ns0:sp>
    </ns0:spTree>
    <ns0:extLst>
      <ns0:ext uri="{BB962C8B-B14F-4D97-AF65-F5344CB8AC3E}">
        <ns5:creationId val="622796254"/>
      </ns0:ext>
    </ns0:extLst>
  </ns0:cSld>
</ns0:sld>
</file>

<file path=ppt/slides/slide26.xml><?xml version="1.0" encoding="utf-8"?>
<ns0:sld xmlns:a="http://schemas.openxmlformats.org/drawingml/2006/main" xmlns:c="http://schemas.openxmlformats.org/drawingml/2006/chart" xmlns:ns0="http://schemas.openxmlformats.org/presentationml/2006/main" xmlns:ns2="http://schemas.microsoft.com/office/drawing/2014/main" xmlns:ns4="http://schemas.openxmlformats.org/officeDocument/2006/relationships" xmlns:ns5="http://schemas.microsoft.com/office/powerpoint/2010/main">
  <ns0:cSld>
    <ns0:bg>
      <ns0:bgPr>
        <a:solidFill>
          <a:srgbClr val="FFFFFF"/>
        </a:solidFill>
      </ns0:bgPr>
    </ns0:bg>
    <ns0:spTree>
      <ns0:nvGrpSpPr>
        <ns0:cNvPr id="1" name=""/>
        <ns0:cNvGrpSpPr/>
        <ns0:nvPr/>
      </ns0:nvGrpSpPr>
      <ns0:grpSpPr>
        <a:xfrm/>
      </ns0:grpSpPr>
      <ns0:sp>
        <ns0:nvSpPr>
          <ns0:cNvPr id="17" name="">
            <a:extLst>
              <a:ext uri="{FF2B5EF4-FFF2-40B4-BE49-F238E27FC236}">
                <ns2:creationId id="{7F38B117-7528-475C-8C71-F3AF669E07C9}"/>
              </a:ext>
            </a:extLst>
          </ns0:cNvPr>
          <ns0:cNvSpPr>
            <a:spLocks noGrp="1"/>
          </ns0:cNvSpPr>
          <ns0:nvPr/>
        </ns0:nvSpPr>
        <ns0:spPr>
          <a:xfrm>
            <a:off x="571500" y="257175"/>
            <a:ext cx="11049000" cy="19050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0" tIns="0" rIns="0" bIns="0" anchor="t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1000" b="1" lang="pt-BR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1000" b="1" lang="pt-BR">
                <a:solidFill>
                  <a:srgbClr val="EC7000"/>
                </a:solidFill>
                <a:latin typeface="Arial"/>
                <a:ea typeface="Arial"/>
                <a:cs typeface="Arial"/>
              </a:rPr>
              <a:t>OFERTAS · VOLUME E REGIME</a:t>
            </a:r>
          </a:p>
        </ns0:txBody>
      </ns0:sp>
      <ns0:sp>
        <ns0:nvSpPr>
          <ns0:cNvPr id="2" name="">
            <a:extLst>
              <a:ext uri="{FF2B5EF4-FFF2-40B4-BE49-F238E27FC236}">
                <ns2:creationId id="{E41A382E-2DA6-4BCE-8E3B-64AB4ECBD08F}"/>
              </a:ext>
            </a:extLst>
          </ns0:cNvPr>
          <ns0:cNvSpPr>
            <a:spLocks noGrp="1"/>
          </ns0:cNvSpPr>
          <ns0:nvPr/>
        </ns0:nvSpPr>
        <ns0:spPr>
          <a:xfrm>
            <a:off x="571500" y="504825"/>
            <a:ext cx="11049000" cy="466725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0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2100" b="1" lang="pt-BR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2100" b="1" lang="pt-BR">
                <a:solidFill>
                  <a:srgbClr val="151515"/>
                </a:solidFill>
                <a:latin typeface="Arial"/>
                <a:ea typeface="Arial"/>
                <a:cs typeface="Arial"/>
              </a:rPr>
              <a:t>Emissões | Garantia firme cresceu 37% YoY YTD, de R$ 10,4 bi para R$ 14,3 bi</a:t>
            </a:r>
          </a:p>
        </ns0:txBody>
      </ns0:sp>
      <ns0:sp>
        <ns0:nvSpPr>
          <ns0:cNvPr id="3" name="">
            <a:extLst>
              <a:ext uri="{FF2B5EF4-FFF2-40B4-BE49-F238E27FC236}">
                <ns2:creationId id="{2E205BFB-8325-4292-8F7C-5A38489CB8B4}"/>
              </a:ext>
            </a:extLst>
          </ns0:cNvPr>
          <ns0:cNvSpPr>
            <a:spLocks noGrp="1"/>
          </ns0:cNvSpPr>
          <ns0:nvPr/>
        </ns0:nvSpPr>
        <ns0:spPr>
          <a:xfrm>
            <a:off x="571500" y="1047750"/>
            <a:ext cx="11049000" cy="9525"/>
          </a:xfrm>
          <a:prstGeom prst="rect">
            <a:avLst/>
          </a:prstGeom>
          <a:solidFill>
            <a:srgbClr val="D7DADD"/>
          </a:solidFill>
          <a:ln w="0">
            <a:noFill/>
            <a:prstDash val="solid"/>
          </a:ln>
        </ns0:spPr>
      </ns0:sp>
      <ns0:sp>
        <ns0:nvSpPr>
          <ns0:cNvPr id="4" name="">
            <a:extLst>
              <a:ext uri="{FF2B5EF4-FFF2-40B4-BE49-F238E27FC236}">
                <ns2:creationId id="{3418A93A-1F5B-4070-8BFC-5294ED7098DE}"/>
              </a:ext>
            </a:extLst>
          </ns0:cNvPr>
          <ns0:cNvSpPr>
            <a:spLocks noGrp="1"/>
          </ns0:cNvSpPr>
          <ns0:nvPr/>
        </ns0:nvSpPr>
        <ns0:spPr>
          <a:xfrm>
            <a:off x="571500" y="6353175"/>
            <a:ext cx="11049000" cy="9525"/>
          </a:xfrm>
          <a:prstGeom prst="rect">
            <a:avLst/>
          </a:prstGeom>
          <a:solidFill>
            <a:srgbClr val="D7DADD"/>
          </a:solidFill>
          <a:ln w="0">
            <a:noFill/>
            <a:prstDash val="solid"/>
          </a:ln>
        </ns0:spPr>
      </ns0:sp>
      <ns0:sp>
        <ns0:nvSpPr>
          <ns0:cNvPr id="5" name="">
            <a:extLst>
              <a:ext uri="{FF2B5EF4-FFF2-40B4-BE49-F238E27FC236}">
                <ns2:creationId id="{FA92CD9D-3182-4A2A-829D-F59E0AFAD82A}"/>
              </a:ext>
            </a:extLst>
          </ns0:cNvPr>
          <ns0:cNvSpPr>
            <a:spLocks noGrp="1"/>
          </ns0:cNvSpPr>
          <ns0:nvPr/>
        </ns0:nvSpPr>
        <ns0:spPr>
          <a:xfrm>
            <a:off x="571500" y="6419850"/>
            <a:ext cx="10001250" cy="1714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47625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rPr>
              <a:t>Fonte: CVM/SRE, dois arquivos de ofertas, snapshot 24/jul/26. Regime declarado; campo ausente = Não informado.</a:t>
            </a:r>
          </a:p>
        </ns0:txBody>
      </ns0:sp>
      <ns0:sp>
        <ns0:nvSpPr>
          <ns0:cNvPr id="6" name="">
            <a:extLst>
              <a:ext uri="{FF2B5EF4-FFF2-40B4-BE49-F238E27FC236}">
                <ns2:creationId id="{333C2152-D20C-4E70-AF38-5E331CE88ACB}"/>
              </a:ext>
            </a:extLst>
          </ns0:cNvPr>
          <ns0:cNvSpPr>
            <a:spLocks noGrp="1"/>
          </ns0:cNvSpPr>
          <ns0:nvPr/>
        </ns0:nvSpPr>
        <ns0:spPr>
          <a:xfrm>
            <a:off x="11144250" y="6410325"/>
            <a:ext cx="476250" cy="1714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ctr">
            <a:normAutofit fontScale="100000"/>
          </a:bodyPr>
          <a:lstStyle/>
          <a:p>
            <a:pPr algn="r">
              <a:lnSpc>
                <a:spcPct val="100000"/>
              </a:lnSpc>
              <a:buNone/>
              <a:def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rPr>
              <a:t>26</a:t>
            </a:r>
          </a:p>
        </ns0:txBody>
      </ns0:sp>
      <ns0:sp>
        <ns0:nvSpPr>
          <ns0:cNvPr id="7" name="">
            <a:extLst>
              <a:ext uri="{FF2B5EF4-FFF2-40B4-BE49-F238E27FC236}">
                <ns2:creationId id="{F7E941CE-69A3-464B-8F29-CD3CA5068328}"/>
              </a:ext>
            </a:extLst>
          </ns0:cNvPr>
          <ns0:cNvSpPr>
            <a:spLocks noGrp="1"/>
          </ns0:cNvSpPr>
          <ns0:nvPr/>
        </ns0:nvSpPr>
        <ns0:spPr>
          <a:xfrm>
            <a:off x="571500" y="1076325"/>
            <a:ext cx="11049000" cy="19050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1000" b="0" lang="pt-BR">
                <a:solidFill>
                  <a:srgbClr val="73787D"/>
                </a:solidFill>
                <a:latin typeface="Arial"/>
                <a:ea typeface="Arial"/>
                <a:cs typeface="Arial"/>
              </a:defRPr>
            </a:pPr>
            <a:r>
              <a:rPr sz="1000" b="0" lang="pt-BR">
                <a:solidFill>
                  <a:srgbClr val="73787D"/>
                </a:solidFill>
                <a:latin typeface="Arial"/>
                <a:ea typeface="Arial"/>
                <a:cs typeface="Arial"/>
              </a:rPr>
              <a:t>Melhores esforços repr. 69,2% do volume em 2026</a:t>
            </a:r>
          </a:p>
        </ns0:txBody>
      </ns0:sp>
      <ns0:sp>
        <ns0:nvSpPr>
          <ns0:cNvPr id="8" name="">
            <a:extLst>
              <a:ext uri="{FF2B5EF4-FFF2-40B4-BE49-F238E27FC236}">
                <ns2:creationId id="{53888F6D-6786-4D0D-B764-CAC0835AA018}"/>
              </a:ext>
            </a:extLst>
          </ns0:cNvPr>
          <ns0:cNvSpPr>
            <a:spLocks noGrp="1"/>
          </ns0:cNvSpPr>
          <ns0:nvPr/>
        </ns0:nvSpPr>
        <ns0:spPr>
          <a:xfrm>
            <a:off x="4333875" y="1724025"/>
            <a:ext cx="76200" cy="76200"/>
          </a:xfrm>
          <a:prstGeom prst="rect">
            <a:avLst/>
          </a:prstGeom>
          <a:solidFill>
            <a:srgbClr val="8D9399"/>
          </a:solidFill>
          <a:ln w="0">
            <a:noFill/>
            <a:prstDash val="solid"/>
          </a:ln>
        </ns0:spPr>
      </ns0:sp>
      <ns0:sp>
        <ns0:nvSpPr>
          <ns0:cNvPr id="9" name="">
            <a:extLst>
              <a:ext uri="{FF2B5EF4-FFF2-40B4-BE49-F238E27FC236}">
                <ns2:creationId id="{8A445BD0-6A88-49C1-9C4B-B96AD12D2841}"/>
              </a:ext>
            </a:extLst>
          </ns0:cNvPr>
          <ns0:cNvSpPr>
            <a:spLocks noGrp="1"/>
          </ns0:cNvSpPr>
          <ns0:nvPr/>
        </ns0:nvSpPr>
        <ns0:spPr>
          <a:xfrm>
            <a:off x="4457700" y="1657350"/>
            <a:ext cx="1022350" cy="2095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1000" b="0" lang="pt-BR">
                <a:solidFill>
                  <a:srgbClr val="73787D"/>
                </a:solidFill>
                <a:latin typeface="Arial"/>
                <a:ea typeface="Arial"/>
                <a:cs typeface="Arial"/>
              </a:defRPr>
            </a:pPr>
            <a:r>
              <a:rPr sz="1000" b="0" lang="pt-BR">
                <a:solidFill>
                  <a:srgbClr val="73787D"/>
                </a:solidFill>
                <a:latin typeface="Arial"/>
                <a:ea typeface="Arial"/>
                <a:cs typeface="Arial"/>
              </a:rPr>
              <a:t>2024FY</a:t>
            </a:r>
          </a:p>
        </ns0:txBody>
      </ns0:sp>
      <ns0:sp>
        <ns0:nvSpPr>
          <ns0:cNvPr id="10" name="">
            <a:extLst>
              <a:ext uri="{FF2B5EF4-FFF2-40B4-BE49-F238E27FC236}">
                <ns2:creationId id="{06D2DB65-9391-4903-87AA-0EA51F0D6C36}"/>
              </a:ext>
            </a:extLst>
          </ns0:cNvPr>
          <ns0:cNvSpPr>
            <a:spLocks noGrp="1"/>
          </ns0:cNvSpPr>
          <ns0:nvPr/>
        </ns0:nvSpPr>
        <ns0:spPr>
          <a:xfrm>
            <a:off x="5508625" y="1724025"/>
            <a:ext cx="76200" cy="76200"/>
          </a:xfrm>
          <a:prstGeom prst="rect">
            <a:avLst/>
          </a:prstGeom>
          <a:solidFill>
            <a:srgbClr val="30353A"/>
          </a:solidFill>
          <a:ln w="0">
            <a:noFill/>
            <a:prstDash val="solid"/>
          </a:ln>
        </ns0:spPr>
      </ns0:sp>
      <ns0:sp>
        <ns0:nvSpPr>
          <ns0:cNvPr id="11" name="">
            <a:extLst>
              <a:ext uri="{FF2B5EF4-FFF2-40B4-BE49-F238E27FC236}">
                <ns2:creationId id="{A1E75B57-19C8-48A3-A636-F3AF24DAB72C}"/>
              </a:ext>
            </a:extLst>
          </ns0:cNvPr>
          <ns0:cNvSpPr>
            <a:spLocks noGrp="1"/>
          </ns0:cNvSpPr>
          <ns0:nvPr/>
        </ns0:nvSpPr>
        <ns0:spPr>
          <a:xfrm>
            <a:off x="5632450" y="1657350"/>
            <a:ext cx="1022350" cy="2095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1000" b="0" lang="pt-BR">
                <a:solidFill>
                  <a:srgbClr val="73787D"/>
                </a:solidFill>
                <a:latin typeface="Arial"/>
                <a:ea typeface="Arial"/>
                <a:cs typeface="Arial"/>
              </a:defRPr>
            </a:pPr>
            <a:r>
              <a:rPr sz="1000" b="0" lang="pt-BR">
                <a:solidFill>
                  <a:srgbClr val="73787D"/>
                </a:solidFill>
                <a:latin typeface="Arial"/>
                <a:ea typeface="Arial"/>
                <a:cs typeface="Arial"/>
              </a:rPr>
              <a:t>2025FY</a:t>
            </a:r>
          </a:p>
        </ns0:txBody>
      </ns0:sp>
      <ns0:sp>
        <ns0:nvSpPr>
          <ns0:cNvPr id="12" name="">
            <a:extLst>
              <a:ext uri="{FF2B5EF4-FFF2-40B4-BE49-F238E27FC236}">
                <ns2:creationId id="{42450C15-4820-4166-AAEC-51C9F380692A}"/>
              </a:ext>
            </a:extLst>
          </ns0:cNvPr>
          <ns0:cNvSpPr>
            <a:spLocks noGrp="1"/>
          </ns0:cNvSpPr>
          <ns0:nvPr/>
        </ns0:nvSpPr>
        <ns0:spPr>
          <a:xfrm>
            <a:off x="6683375" y="1724025"/>
            <a:ext cx="76200" cy="76200"/>
          </a:xfrm>
          <a:prstGeom prst="rect">
            <a:avLst/>
          </a:prstGeom>
          <a:solidFill>
            <a:srgbClr val="EC7000"/>
          </a:solidFill>
          <a:ln w="0">
            <a:noFill/>
            <a:prstDash val="solid"/>
          </a:ln>
        </ns0:spPr>
      </ns0:sp>
      <ns0:sp>
        <ns0:nvSpPr>
          <ns0:cNvPr id="13" name="">
            <a:extLst>
              <a:ext uri="{FF2B5EF4-FFF2-40B4-BE49-F238E27FC236}">
                <ns2:creationId id="{829A0A6A-694E-4356-AA55-2611906CE111}"/>
              </a:ext>
            </a:extLst>
          </ns0:cNvPr>
          <ns0:cNvSpPr>
            <a:spLocks noGrp="1"/>
          </ns0:cNvSpPr>
          <ns0:nvPr/>
        </ns0:nvSpPr>
        <ns0:spPr>
          <a:xfrm>
            <a:off x="6807200" y="1657350"/>
            <a:ext cx="1022350" cy="2095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1000" b="0" lang="pt-BR">
                <a:solidFill>
                  <a:srgbClr val="73787D"/>
                </a:solidFill>
                <a:latin typeface="Arial"/>
                <a:ea typeface="Arial"/>
                <a:cs typeface="Arial"/>
              </a:defRPr>
            </a:pPr>
            <a:r>
              <a:rPr sz="1000" b="0" lang="pt-BR">
                <a:solidFill>
                  <a:srgbClr val="73787D"/>
                </a:solidFill>
                <a:latin typeface="Arial"/>
                <a:ea typeface="Arial"/>
                <a:cs typeface="Arial"/>
              </a:rPr>
              <a:t>2026 jan–jun</a:t>
            </a:r>
          </a:p>
        </ns0:txBody>
      </ns0:sp>
      <ns0:sp>
        <ns0:nvSpPr>
          <ns0:cNvPr id="14" name="">
            <a:extLst>
              <a:ext uri="{FF2B5EF4-FFF2-40B4-BE49-F238E27FC236}">
                <ns2:creationId id="{728071EB-3B97-4DEB-9C22-B15B1A1F8242}"/>
              </a:ext>
            </a:extLst>
          </ns0:cNvPr>
          <ns0:cNvSpPr>
            <a:spLocks noGrp="1"/>
          </ns0:cNvSpPr>
          <ns0:nvPr/>
        </ns0:nvSpPr>
        <ns0:spPr>
          <a:xfrm>
            <a:off x="571500" y="1381125"/>
            <a:ext cx="11049000" cy="22860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1125" b="1" lang="pt-BR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 lang="pt-BR">
                <a:solidFill>
                  <a:srgbClr val="30353A"/>
                </a:solidFill>
                <a:latin typeface="Arial"/>
                <a:ea typeface="Arial"/>
                <a:cs typeface="Arial"/>
              </a:rPr>
              <a:t>Regime de colocação · participação no volume · % do total</a:t>
            </a:r>
          </a:p>
        </ns0:txBody>
      </ns0:sp>
      <ns0:sp>
        <ns0:nvSpPr>
          <ns0:cNvPr id="15" name="">
            <a:extLst>
              <a:ext uri="{FF2B5EF4-FFF2-40B4-BE49-F238E27FC236}">
                <ns2:creationId id="{82072942-A70E-4DC9-BFFE-01001E6ABFD4}"/>
              </a:ext>
            </a:extLst>
          </ns0:cNvPr>
          <ns0:cNvSpPr>
            <a:spLocks noGrp="1"/>
          </ns0:cNvSpPr>
          <ns0:nvPr/>
        </ns0:nvSpPr>
        <ns0:spPr>
          <a:xfrm>
            <a:off x="571500" y="1647825"/>
            <a:ext cx="11049000" cy="9525"/>
          </a:xfrm>
          <a:prstGeom prst="rect">
            <a:avLst/>
          </a:prstGeom>
          <a:solidFill>
            <a:srgbClr val="D7DADD"/>
          </a:solidFill>
          <a:ln w="0">
            <a:noFill/>
            <a:prstDash val="solid"/>
          </a:ln>
        </ns0:spPr>
      </ns0:sp>
      <ns0:graphicFrame>
        <ns0:nvGraphicFramePr>
          <ns0:cNvPr id="32" name="Chart"/>
          <ns0:cNvGraphicFramePr/>
          <ns0:nvPr/>
        </ns0:nvGraphicFramePr>
        <ns0:xfrm>
          <a:off x="571500" y="1952625"/>
          <a:ext cx="11049000" cy="4048125"/>
        </ns0:xfrm>
        <a:graphic>
          <a:graphicData uri="http://schemas.openxmlformats.org/drawingml/2006/chart">
            <c:chart ns4:id="R5034bb7ac6c347bf"/>
          </a:graphicData>
        </a:graphic>
      </ns0:graphicFrame>
    </ns0:spTree>
    <ns0:extLst>
      <ns0:ext uri="{BB962C8B-B14F-4D97-AF65-F5344CB8AC3E}">
        <ns5:creationId val="1309624045"/>
      </ns0:ext>
    </ns0:extLst>
  </ns0:cSld>
</ns0:sld>
</file>

<file path=ppt/slides/slide27.xml><?xml version="1.0" encoding="utf-8"?>
<ns0:sld xmlns:a="http://schemas.openxmlformats.org/drawingml/2006/main" xmlns:ns0="http://schemas.openxmlformats.org/presentationml/2006/main" xmlns:ns2="http://schemas.microsoft.com/office/drawing/2014/main" xmlns:ns3="http://schemas.microsoft.com/office/powerpoint/2010/main">
  <ns0:cSld>
    <ns0:bg>
      <ns0:bgPr>
        <a:solidFill>
          <a:srgbClr val="FFFFFF"/>
        </a:solidFill>
      </ns0:bgPr>
    </ns0:bg>
    <ns0:spTree>
      <ns0:nvGrpSpPr>
        <ns0:cNvPr id="1" name=""/>
        <ns0:cNvGrpSpPr/>
        <ns0:nvPr/>
      </ns0:nvGrpSpPr>
      <ns0:grpSpPr>
        <a:xfrm/>
      </ns0:grpSpPr>
      <ns0:sp>
        <ns0:nvSpPr>
          <ns0:cNvPr id="11" name="">
            <a:extLst>
              <a:ext uri="{FF2B5EF4-FFF2-40B4-BE49-F238E27FC236}">
                <ns2:creationId id="{EF859F74-56C2-4EBB-9D31-DEAE228A6186}"/>
              </a:ext>
            </a:extLst>
          </ns0:cNvPr>
          <ns0:cNvSpPr>
            <a:spLocks noGrp="1"/>
          </ns0:cNvSpPr>
          <ns0:nvPr/>
        </ns0:nvSpPr>
        <ns0:spPr>
          <a:xfrm>
            <a:off x="571500" y="257175"/>
            <a:ext cx="11049000" cy="409575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0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2100" b="1" lang="pt-BR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2100" b="1" lang="pt-BR">
                <a:solidFill>
                  <a:srgbClr val="151515"/>
                </a:solidFill>
                <a:latin typeface="Arial"/>
                <a:ea typeface="Arial"/>
                <a:cs typeface="Arial"/>
              </a:rPr>
              <a:t>IBBA esteve em 8 das 15 maiores ofertas do semestre</a:t>
            </a:r>
          </a:p>
        </ns0:txBody>
      </ns0:sp>
      <ns0:sp>
        <ns0:nvSpPr>
          <ns0:cNvPr id="2" name="">
            <a:extLst>
              <a:ext uri="{FF2B5EF4-FFF2-40B4-BE49-F238E27FC236}">
                <ns2:creationId id="{403758C7-FD55-4290-82DF-79FB541A60EB}"/>
              </a:ext>
            </a:extLst>
          </ns0:cNvPr>
          <ns0:cNvSpPr>
            <a:spLocks noGrp="1"/>
          </ns0:cNvSpPr>
          <ns0:nvPr/>
        </ns0:nvSpPr>
        <ns0:spPr>
          <a:xfrm>
            <a:off x="571500" y="723900"/>
            <a:ext cx="11049000" cy="238125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0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1050" b="0" lang="pt-BR">
                <a:solidFill>
                  <a:srgbClr val="73787D"/>
                </a:solidFill>
                <a:latin typeface="Arial"/>
                <a:ea typeface="Arial"/>
                <a:cs typeface="Arial"/>
              </a:defRPr>
            </a:pPr>
            <a:r>
              <a:rPr sz="1050" b="0" lang="pt-BR">
                <a:solidFill>
                  <a:srgbClr val="73787D"/>
                </a:solidFill>
                <a:latin typeface="Arial"/>
                <a:ea typeface="Arial"/>
                <a:cs typeface="Arial"/>
              </a:rPr>
              <a:t>Liderou 5 delas</a:t>
            </a:r>
          </a:p>
        </ns0:txBody>
      </ns0:sp>
      <ns0:sp>
        <ns0:nvSpPr>
          <ns0:cNvPr id="3" name="">
            <a:extLst>
              <a:ext uri="{FF2B5EF4-FFF2-40B4-BE49-F238E27FC236}">
                <ns2:creationId id="{F697C029-09F3-4B8D-AE14-5DC608272125}"/>
              </a:ext>
            </a:extLst>
          </ns0:cNvPr>
          <ns0:cNvSpPr>
            <a:spLocks noGrp="1"/>
          </ns0:cNvSpPr>
          <ns0:nvPr/>
        </ns0:nvSpPr>
        <ns0:spPr>
          <a:xfrm>
            <a:off x="571500" y="1047750"/>
            <a:ext cx="11049000" cy="9525"/>
          </a:xfrm>
          <a:prstGeom prst="rect">
            <a:avLst/>
          </a:prstGeom>
          <a:solidFill>
            <a:srgbClr val="D7DADD"/>
          </a:solidFill>
          <a:ln w="0">
            <a:noFill/>
            <a:prstDash val="solid"/>
          </a:ln>
        </ns0:spPr>
      </ns0:sp>
      <ns0:sp>
        <ns0:nvSpPr>
          <ns0:cNvPr id="4" name="">
            <a:extLst>
              <a:ext uri="{FF2B5EF4-FFF2-40B4-BE49-F238E27FC236}">
                <ns2:creationId id="{0B66861B-7071-4ACC-8212-992251197756}"/>
              </a:ext>
            </a:extLst>
          </ns0:cNvPr>
          <ns0:cNvSpPr>
            <a:spLocks noGrp="1"/>
          </ns0:cNvSpPr>
          <ns0:nvPr/>
        </ns0:nvSpPr>
        <ns0:spPr>
          <a:xfrm>
            <a:off x="571500" y="6353175"/>
            <a:ext cx="11049000" cy="9525"/>
          </a:xfrm>
          <a:prstGeom prst="rect">
            <a:avLst/>
          </a:prstGeom>
          <a:solidFill>
            <a:srgbClr val="D7DADD"/>
          </a:solidFill>
          <a:ln w="0">
            <a:noFill/>
            <a:prstDash val="solid"/>
          </a:ln>
        </ns0:spPr>
      </ns0:sp>
      <ns0:sp>
        <ns0:nvSpPr>
          <ns0:cNvPr id="5" name="">
            <a:extLst>
              <a:ext uri="{FF2B5EF4-FFF2-40B4-BE49-F238E27FC236}">
                <ns2:creationId id="{67F73FDF-14CC-429C-B097-4E99B1602500}"/>
              </a:ext>
            </a:extLst>
          </ns0:cNvPr>
          <ns0:cNvSpPr>
            <a:spLocks noGrp="1"/>
          </ns0:cNvSpPr>
          <ns0:nvPr/>
        </ns0:nvSpPr>
        <ns0:spPr>
          <a:xfrm>
            <a:off x="571500" y="6419850"/>
            <a:ext cx="10001250" cy="1714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47625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rPr>
              <a:t>Fonte: CVM/SRE e FundosNet. jan–jun/26, ofertas primárias encerradas; volume registrado.</a:t>
            </a:r>
          </a:p>
        </ns0:txBody>
      </ns0:sp>
      <ns0:sp>
        <ns0:nvSpPr>
          <ns0:cNvPr id="6" name="">
            <a:extLst>
              <a:ext uri="{FF2B5EF4-FFF2-40B4-BE49-F238E27FC236}">
                <ns2:creationId id="{CE63798E-FCBA-4D65-A423-F219066DBB98}"/>
              </a:ext>
            </a:extLst>
          </ns0:cNvPr>
          <ns0:cNvSpPr>
            <a:spLocks noGrp="1"/>
          </ns0:cNvSpPr>
          <ns0:nvPr/>
        </ns0:nvSpPr>
        <ns0:spPr>
          <a:xfrm>
            <a:off x="11144250" y="6410325"/>
            <a:ext cx="476250" cy="1714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ctr">
            <a:normAutofit fontScale="100000"/>
          </a:bodyPr>
          <a:lstStyle/>
          <a:p>
            <a:pPr algn="r">
              <a:lnSpc>
                <a:spcPct val="100000"/>
              </a:lnSpc>
              <a:buNone/>
              <a:def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rPr>
              <a:t>27</a:t>
            </a:r>
          </a:p>
        </ns0:txBody>
      </ns0:sp>
      <ns0:sp>
        <ns0:nvSpPr>
          <ns0:cNvPr id="7" name="">
            <a:extLst>
              <a:ext uri="{FF2B5EF4-FFF2-40B4-BE49-F238E27FC236}">
                <ns2:creationId id="{1A37C9BC-D51D-4333-9C86-25C3D742949F}"/>
              </a:ext>
            </a:extLst>
          </ns0:cNvPr>
          <ns0:cNvSpPr>
            <a:spLocks noGrp="1"/>
          </ns0:cNvSpPr>
          <ns0:nvPr/>
        </ns0:nvSpPr>
        <ns0:spPr>
          <a:xfrm>
            <a:off x="571500" y="1143000"/>
            <a:ext cx="11049000" cy="2095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1125" b="1" lang="pt-BR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 lang="pt-BR">
                <a:solidFill>
                  <a:srgbClr val="30353A"/>
                </a:solidFill>
                <a:latin typeface="Arial"/>
                <a:ea typeface="Arial"/>
                <a:cs typeface="Arial"/>
              </a:rPr>
              <a:t>jan–jun/26 · Top 15</a:t>
            </a:r>
          </a:p>
        </ns0:txBody>
      </ns0:sp>
      <ns0:sp>
        <ns0:nvSpPr>
          <ns0:cNvPr id="8" name="">
            <a:extLst>
              <a:ext uri="{FF2B5EF4-FFF2-40B4-BE49-F238E27FC236}">
                <ns2:creationId id="{06E43037-64C9-4B75-9552-71665F4BAE45}"/>
              </a:ext>
            </a:extLst>
          </ns0:cNvPr>
          <ns0:cNvSpPr>
            <a:spLocks noGrp="1"/>
          </ns0:cNvSpPr>
          <ns0:nvPr/>
        </ns0:nvSpPr>
        <ns0:spPr>
          <a:xfrm>
            <a:off x="571500" y="1390650"/>
            <a:ext cx="11049000" cy="9525"/>
          </a:xfrm>
          <a:prstGeom prst="rect">
            <a:avLst/>
          </a:prstGeom>
          <a:solidFill>
            <a:srgbClr val="D7DADD"/>
          </a:solidFill>
          <a:ln w="0">
            <a:noFill/>
            <a:prstDash val="solid"/>
          </a:ln>
        </ns0:spPr>
      </ns0:sp>
      <ns0:graphicFrame>
        <ns0:nvGraphicFramePr>
          <ns0:cNvPr id="19" name=""/>
          <ns0:cNvGraphicFramePr/>
          <ns0:nvPr/>
        </ns0:nvGraphicFramePr>
        <ns0:xfrm>
          <a:off x="571500" y="1438275"/>
          <a:ext cx="11049000" cy="4705350"/>
        </ns0:xfrm>
        <a:graphic>
          <a:graphicData uri="http://schemas.openxmlformats.org/drawingml/2006/table">
            <a:tbl>
              <a:tblPr firstRow="0" firstCol="0" lastRow="0" lastCol="0" bandRow="0" bandCol="0"/>
              <a:tblGrid>
                <a:gridCol w="304800"/>
                <a:gridCol w="552450"/>
                <a:gridCol w="1333500"/>
                <a:gridCol w="2000250"/>
                <a:gridCol w="1190625"/>
                <a:gridCol w="1190625"/>
                <a:gridCol w="1047750"/>
                <a:gridCol w="1428750"/>
                <a:gridCol w="1285875"/>
                <a:gridCol w="714375"/>
              </a:tblGrid>
              <a:tr h="221456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300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#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300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Emis.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300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CNPJ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300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FIDC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300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Originador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300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Cedente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300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Sub. mín.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300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Preço por cota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300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Sacado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300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R$ bi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</a:tr>
              <a:tr h="220504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b="1" lang="pt-BR">
                          <a:solidFill>
                            <a:srgbClr val="EC7000"/>
                          </a:solidFill>
                          <a:latin typeface="Arial"/>
                          <a:ea typeface="Arial"/>
                          <a:cs typeface="Arial"/>
                        </a:rPr>
                        <a:t>1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b="1" lang="pt-BR">
                          <a:solidFill>
                            <a:srgbClr val="EC7000"/>
                          </a:solidFill>
                          <a:latin typeface="Arial"/>
                          <a:ea typeface="Arial"/>
                          <a:cs typeface="Arial"/>
                        </a:rPr>
                        <a:t>24947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62393679000183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CloudWalk Bela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CloudWalk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1,0% até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R$ 1.000,00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5,50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</a:tr>
              <a:tr h="220504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b="1" lang="pt-BR">
                          <a:solidFill>
                            <a:srgbClr val="EC7000"/>
                          </a:solidFill>
                          <a:latin typeface="Arial"/>
                          <a:ea typeface="Arial"/>
                          <a:cs typeface="Arial"/>
                        </a:rPr>
                        <a:t>2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b="1" lang="pt-BR">
                          <a:solidFill>
                            <a:srgbClr val="EC7000"/>
                          </a:solidFill>
                          <a:latin typeface="Arial"/>
                          <a:ea typeface="Arial"/>
                          <a:cs typeface="Arial"/>
                        </a:rPr>
                        <a:t>22244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62588266000154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VTK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Facta*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2,85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</a:tr>
              <a:tr h="220504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b="1" lang="pt-BR">
                          <a:solidFill>
                            <a:srgbClr val="EC7000"/>
                          </a:solidFill>
                          <a:latin typeface="Arial"/>
                          <a:ea typeface="Arial"/>
                          <a:cs typeface="Arial"/>
                        </a:rPr>
                        <a:t>3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b="1" lang="pt-BR">
                          <a:solidFill>
                            <a:srgbClr val="EC7000"/>
                          </a:solidFill>
                          <a:latin typeface="Arial"/>
                          <a:ea typeface="Arial"/>
                          <a:cs typeface="Arial"/>
                        </a:rPr>
                        <a:t>25826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65976848000104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AGIBANK II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Agibank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2,50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</a:tr>
              <a:tr h="220504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b="1" lang="pt-BR">
                          <a:solidFill>
                            <a:srgbClr val="EC7000"/>
                          </a:solidFill>
                          <a:latin typeface="Arial"/>
                          <a:ea typeface="Arial"/>
                          <a:cs typeface="Arial"/>
                        </a:rPr>
                        <a:t>4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b="1" lang="pt-BR">
                          <a:solidFill>
                            <a:srgbClr val="EC7000"/>
                          </a:solidFill>
                          <a:latin typeface="Arial"/>
                          <a:ea typeface="Arial"/>
                          <a:cs typeface="Arial"/>
                        </a:rPr>
                        <a:t>24712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50114948000146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DRIVER BRASIL SIX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Banco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2,00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</a:tr>
              <a:tr h="220504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5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24433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63572282000111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SELLER 3 MEIOS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Mercado Pago /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10,0%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R$ 1.000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1,50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  <a:tr h="220504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b="1" lang="pt-BR">
                          <a:solidFill>
                            <a:srgbClr val="EC7000"/>
                          </a:solidFill>
                          <a:latin typeface="Arial"/>
                          <a:ea typeface="Arial"/>
                          <a:cs typeface="Arial"/>
                        </a:rPr>
                        <a:t>6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b="1" lang="pt-BR">
                          <a:solidFill>
                            <a:srgbClr val="EC7000"/>
                          </a:solidFill>
                          <a:latin typeface="Arial"/>
                          <a:ea typeface="Arial"/>
                          <a:cs typeface="Arial"/>
                        </a:rPr>
                        <a:t>25379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63546406000194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Pine INSS III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Banco Pine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1,5%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1,25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</a:tr>
              <a:tr h="220504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7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26277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65839682000176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INVESTIMENTOS PICPAY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PicPay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1,25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  <a:tr h="220504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8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23614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63733796000101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ICRED INSS II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ICred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1,02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  <a:tr h="220504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9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24212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64118207000148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JIVEMAUÁ BOSSANOVA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Não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1,00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  <a:tr h="220504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10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24371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62393829000159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COMERCIAIS MEDICI I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Fornecedores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BRF*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1,00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  <a:tr h="220504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b="1" lang="pt-BR">
                          <a:solidFill>
                            <a:srgbClr val="EC7000"/>
                          </a:solidFill>
                          <a:latin typeface="Arial"/>
                          <a:ea typeface="Arial"/>
                          <a:cs typeface="Arial"/>
                        </a:rPr>
                        <a:t>11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b="1" lang="pt-BR">
                          <a:solidFill>
                            <a:srgbClr val="EC7000"/>
                          </a:solidFill>
                          <a:latin typeface="Arial"/>
                          <a:ea typeface="Arial"/>
                          <a:cs typeface="Arial"/>
                        </a:rPr>
                        <a:t>25708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28169275000172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PagSeguro I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PagSeguro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PagSeguro*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1,00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</a:tr>
              <a:tr h="220504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b="1" lang="pt-BR">
                          <a:solidFill>
                            <a:srgbClr val="EC7000"/>
                          </a:solidFill>
                          <a:latin typeface="Arial"/>
                          <a:ea typeface="Arial"/>
                          <a:cs typeface="Arial"/>
                        </a:rPr>
                        <a:t>12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b="1" lang="pt-BR">
                          <a:solidFill>
                            <a:srgbClr val="EC7000"/>
                          </a:solidFill>
                          <a:latin typeface="Arial"/>
                          <a:ea typeface="Arial"/>
                          <a:cs typeface="Arial"/>
                        </a:rPr>
                        <a:t>24266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63505455000189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IS GREEN SOLFACIL VII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Solfácil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0,77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</a:tr>
              <a:tr h="220504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b="1" lang="pt-BR">
                          <a:solidFill>
                            <a:srgbClr val="EC7000"/>
                          </a:solidFill>
                          <a:latin typeface="Arial"/>
                          <a:ea typeface="Arial"/>
                          <a:cs typeface="Arial"/>
                        </a:rPr>
                        <a:t>13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b="1" lang="pt-BR">
                          <a:solidFill>
                            <a:srgbClr val="EC7000"/>
                          </a:solidFill>
                          <a:latin typeface="Arial"/>
                          <a:ea typeface="Arial"/>
                          <a:cs typeface="Arial"/>
                        </a:rPr>
                        <a:t>26532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66226355000101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DAYCOVAL D413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Não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0,75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</a:tr>
              <a:tr h="220504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14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23529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61669748000176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LAVORO FORNECEDORES DO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Lavoro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0,73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  <a:tr h="220504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15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23032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44302112000172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CLASSE ÚNICA AGRO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Bayer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0,70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ns0:graphicFrame>
      <ns0:sp>
        <ns0:nvSpPr>
          <ns0:cNvPr id="10" name="">
            <a:extLst>
              <a:ext uri="{FF2B5EF4-FFF2-40B4-BE49-F238E27FC236}">
                <ns2:creationId id="{6CDC363B-0BE4-4944-B48F-AA884BF59C1D}"/>
              </a:ext>
            </a:extLst>
          </ns0:cNvPr>
          <ns0:cNvSpPr>
            <a:spLocks noGrp="1"/>
          </ns0:cNvSpPr>
          <ns0:nvPr/>
        </ns0:nvSpPr>
        <ns0:spPr>
          <a:xfrm>
            <a:off x="571500" y="6172200"/>
            <a:ext cx="11049000" cy="15240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0" tIns="0" rIns="0" bIns="0" anchor="ctr">
            <a:normAutofit fontScale="100000"/>
          </a:bodyPr>
          <a:lstStyle/>
          <a:p>
            <a:pPr algn="r">
              <a:lnSpc>
                <a:spcPct val="100000"/>
              </a:lnSpc>
              <a:buNone/>
              <a:def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rPr>
              <a:t>Subtotal: R$ 23,82 bi · 36,4% do período. * = exceção/múltiplas classes; campos integrais: aba Auditoria emissões.</a:t>
            </a:r>
          </a:p>
        </ns0:txBody>
      </ns0:sp>
    </ns0:spTree>
    <ns0:extLst>
      <ns0:ext uri="{BB962C8B-B14F-4D97-AF65-F5344CB8AC3E}">
        <ns3:creationId val="1023873707"/>
      </ns0:ext>
    </ns0:extLst>
  </ns0:cSld>
</ns0:sld>
</file>

<file path=ppt/slides/slide28.xml><?xml version="1.0" encoding="utf-8"?>
<ns0:sld xmlns:a="http://schemas.openxmlformats.org/drawingml/2006/main" xmlns:ns0="http://schemas.openxmlformats.org/presentationml/2006/main" xmlns:ns2="http://schemas.microsoft.com/office/drawing/2014/main" xmlns:ns3="http://schemas.microsoft.com/office/powerpoint/2010/main">
  <ns0:cSld>
    <ns0:bg>
      <ns0:bgPr>
        <a:solidFill>
          <a:srgbClr val="FFFFFF"/>
        </a:solidFill>
      </ns0:bgPr>
    </ns0:bg>
    <ns0:spTree>
      <ns0:nvGrpSpPr>
        <ns0:cNvPr id="1" name=""/>
        <ns0:cNvGrpSpPr/>
        <ns0:nvPr/>
      </ns0:nvGrpSpPr>
      <ns0:grpSpPr>
        <a:xfrm/>
      </ns0:grpSpPr>
      <ns0:sp>
        <ns0:nvSpPr>
          <ns0:cNvPr id="11" name="">
            <a:extLst>
              <a:ext uri="{FF2B5EF4-FFF2-40B4-BE49-F238E27FC236}">
                <ns2:creationId id="{4B5BB2A4-3347-4611-8082-80A8F7284AD9}"/>
              </a:ext>
            </a:extLst>
          </ns0:cNvPr>
          <ns0:cNvSpPr>
            <a:spLocks noGrp="1"/>
          </ns0:cNvSpPr>
          <ns0:nvPr/>
        </ns0:nvSpPr>
        <ns0:spPr>
          <a:xfrm>
            <a:off x="571500" y="257175"/>
            <a:ext cx="11049000" cy="409575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0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2100" b="1" lang="pt-BR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2100" b="1" lang="pt-BR">
                <a:solidFill>
                  <a:srgbClr val="151515"/>
                </a:solidFill>
                <a:latin typeface="Arial"/>
                <a:ea typeface="Arial"/>
                <a:cs typeface="Arial"/>
              </a:rPr>
              <a:t>As 15 maiores ofertas de 2025 mantêm a base anual de comparação</a:t>
            </a:r>
          </a:p>
        </ns0:txBody>
      </ns0:sp>
      <ns0:sp>
        <ns0:nvSpPr>
          <ns0:cNvPr id="2" name="">
            <a:extLst>
              <a:ext uri="{FF2B5EF4-FFF2-40B4-BE49-F238E27FC236}">
                <ns2:creationId id="{61B31329-7159-48F3-983B-720E146A5D43}"/>
              </a:ext>
            </a:extLst>
          </ns0:cNvPr>
          <ns0:cNvSpPr>
            <a:spLocks noGrp="1"/>
          </ns0:cNvSpPr>
          <ns0:nvPr/>
        </ns0:nvSpPr>
        <ns0:spPr>
          <a:xfrm>
            <a:off x="571500" y="723900"/>
            <a:ext cx="11049000" cy="238125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0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1050" b="0" lang="pt-BR">
                <a:solidFill>
                  <a:srgbClr val="73787D"/>
                </a:solidFill>
                <a:latin typeface="Arial"/>
                <a:ea typeface="Arial"/>
                <a:cs typeface="Arial"/>
              </a:defRPr>
            </a:pPr>
            <a:r>
              <a:rPr sz="1050" b="0" lang="pt-BR">
                <a:solidFill>
                  <a:srgbClr val="73787D"/>
                </a:solidFill>
                <a:latin typeface="Arial"/>
                <a:ea typeface="Arial"/>
                <a:cs typeface="Arial"/>
              </a:rPr>
              <a:t>2025FY · ofertas primárias encerradas</a:t>
            </a:r>
          </a:p>
        </ns0:txBody>
      </ns0:sp>
      <ns0:sp>
        <ns0:nvSpPr>
          <ns0:cNvPr id="3" name="">
            <a:extLst>
              <a:ext uri="{FF2B5EF4-FFF2-40B4-BE49-F238E27FC236}">
                <ns2:creationId id="{5C0E05AA-882E-495F-ACBC-B942626CB910}"/>
              </a:ext>
            </a:extLst>
          </ns0:cNvPr>
          <ns0:cNvSpPr>
            <a:spLocks noGrp="1"/>
          </ns0:cNvSpPr>
          <ns0:nvPr/>
        </ns0:nvSpPr>
        <ns0:spPr>
          <a:xfrm>
            <a:off x="571500" y="1047750"/>
            <a:ext cx="11049000" cy="9525"/>
          </a:xfrm>
          <a:prstGeom prst="rect">
            <a:avLst/>
          </a:prstGeom>
          <a:solidFill>
            <a:srgbClr val="D7DADD"/>
          </a:solidFill>
          <a:ln w="0">
            <a:noFill/>
            <a:prstDash val="solid"/>
          </a:ln>
        </ns0:spPr>
      </ns0:sp>
      <ns0:sp>
        <ns0:nvSpPr>
          <ns0:cNvPr id="4" name="">
            <a:extLst>
              <a:ext uri="{FF2B5EF4-FFF2-40B4-BE49-F238E27FC236}">
                <ns2:creationId id="{E7A62483-0572-4A45-927A-049F212D7124}"/>
              </a:ext>
            </a:extLst>
          </ns0:cNvPr>
          <ns0:cNvSpPr>
            <a:spLocks noGrp="1"/>
          </ns0:cNvSpPr>
          <ns0:nvPr/>
        </ns0:nvSpPr>
        <ns0:spPr>
          <a:xfrm>
            <a:off x="571500" y="6353175"/>
            <a:ext cx="11049000" cy="9525"/>
          </a:xfrm>
          <a:prstGeom prst="rect">
            <a:avLst/>
          </a:prstGeom>
          <a:solidFill>
            <a:srgbClr val="D7DADD"/>
          </a:solidFill>
          <a:ln w="0">
            <a:noFill/>
            <a:prstDash val="solid"/>
          </a:ln>
        </ns0:spPr>
      </ns0:sp>
      <ns0:sp>
        <ns0:nvSpPr>
          <ns0:cNvPr id="5" name="">
            <a:extLst>
              <a:ext uri="{FF2B5EF4-FFF2-40B4-BE49-F238E27FC236}">
                <ns2:creationId id="{4A8B5015-BEAA-4FA2-8F1D-766D66D73BC5}"/>
              </a:ext>
            </a:extLst>
          </ns0:cNvPr>
          <ns0:cNvSpPr>
            <a:spLocks noGrp="1"/>
          </ns0:cNvSpPr>
          <ns0:nvPr/>
        </ns0:nvSpPr>
        <ns0:spPr>
          <a:xfrm>
            <a:off x="571500" y="6419850"/>
            <a:ext cx="10001250" cy="1714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47625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rPr>
              <a:t>Fonte: CVM/SRE e FundosNet. 2025FY, ofertas primárias encerradas; volume registrado.</a:t>
            </a:r>
          </a:p>
        </ns0:txBody>
      </ns0:sp>
      <ns0:sp>
        <ns0:nvSpPr>
          <ns0:cNvPr id="6" name="">
            <a:extLst>
              <a:ext uri="{FF2B5EF4-FFF2-40B4-BE49-F238E27FC236}">
                <ns2:creationId id="{3BA920AB-FCD0-4DBD-9912-4ED59B296372}"/>
              </a:ext>
            </a:extLst>
          </ns0:cNvPr>
          <ns0:cNvSpPr>
            <a:spLocks noGrp="1"/>
          </ns0:cNvSpPr>
          <ns0:nvPr/>
        </ns0:nvSpPr>
        <ns0:spPr>
          <a:xfrm>
            <a:off x="11144250" y="6410325"/>
            <a:ext cx="476250" cy="1714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ctr">
            <a:normAutofit fontScale="100000"/>
          </a:bodyPr>
          <a:lstStyle/>
          <a:p>
            <a:pPr algn="r">
              <a:lnSpc>
                <a:spcPct val="100000"/>
              </a:lnSpc>
              <a:buNone/>
              <a:def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rPr>
              <a:t>28</a:t>
            </a:r>
          </a:p>
        </ns0:txBody>
      </ns0:sp>
      <ns0:sp>
        <ns0:nvSpPr>
          <ns0:cNvPr id="7" name="">
            <a:extLst>
              <a:ext uri="{FF2B5EF4-FFF2-40B4-BE49-F238E27FC236}">
                <ns2:creationId id="{6EF5DED6-47FE-4722-A5DB-96BDDFBA6BB3}"/>
              </a:ext>
            </a:extLst>
          </ns0:cNvPr>
          <ns0:cNvSpPr>
            <a:spLocks noGrp="1"/>
          </ns0:cNvSpPr>
          <ns0:nvPr/>
        </ns0:nvSpPr>
        <ns0:spPr>
          <a:xfrm>
            <a:off x="571500" y="1143000"/>
            <a:ext cx="11049000" cy="2095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1125" b="1" lang="pt-BR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 lang="pt-BR">
                <a:solidFill>
                  <a:srgbClr val="30353A"/>
                </a:solidFill>
                <a:latin typeface="Arial"/>
                <a:ea typeface="Arial"/>
                <a:cs typeface="Arial"/>
              </a:rPr>
              <a:t>2025 FY · Top 15</a:t>
            </a:r>
          </a:p>
        </ns0:txBody>
      </ns0:sp>
      <ns0:sp>
        <ns0:nvSpPr>
          <ns0:cNvPr id="8" name="">
            <a:extLst>
              <a:ext uri="{FF2B5EF4-FFF2-40B4-BE49-F238E27FC236}">
                <ns2:creationId id="{24437AA0-90AE-4C7E-8196-67564D759B7D}"/>
              </a:ext>
            </a:extLst>
          </ns0:cNvPr>
          <ns0:cNvSpPr>
            <a:spLocks noGrp="1"/>
          </ns0:cNvSpPr>
          <ns0:nvPr/>
        </ns0:nvSpPr>
        <ns0:spPr>
          <a:xfrm>
            <a:off x="571500" y="1390650"/>
            <a:ext cx="11049000" cy="9525"/>
          </a:xfrm>
          <a:prstGeom prst="rect">
            <a:avLst/>
          </a:prstGeom>
          <a:solidFill>
            <a:srgbClr val="D7DADD"/>
          </a:solidFill>
          <a:ln w="0">
            <a:noFill/>
            <a:prstDash val="solid"/>
          </a:ln>
        </ns0:spPr>
      </ns0:sp>
      <ns0:graphicFrame>
        <ns0:nvGraphicFramePr>
          <ns0:cNvPr id="19" name=""/>
          <ns0:cNvGraphicFramePr/>
          <ns0:nvPr/>
        </ns0:nvGraphicFramePr>
        <ns0:xfrm>
          <a:off x="571500" y="1438275"/>
          <a:ext cx="11049000" cy="4705350"/>
        </ns0:xfrm>
        <a:graphic>
          <a:graphicData uri="http://schemas.openxmlformats.org/drawingml/2006/table">
            <a:tbl>
              <a:tblPr firstRow="0" firstCol="0" lastRow="0" lastCol="0" bandRow="0" bandCol="0"/>
              <a:tblGrid>
                <a:gridCol w="304800"/>
                <a:gridCol w="552450"/>
                <a:gridCol w="1333500"/>
                <a:gridCol w="2000250"/>
                <a:gridCol w="1190625"/>
                <a:gridCol w="1190625"/>
                <a:gridCol w="1047750"/>
                <a:gridCol w="1428750"/>
                <a:gridCol w="1285875"/>
                <a:gridCol w="714375"/>
              </a:tblGrid>
              <a:tr h="221456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300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#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300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Emis.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300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CNPJ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300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FIDC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300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Originador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300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Cedente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300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Sub. mín.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300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Preço por cota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300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Sacado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300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R$ bi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</a:tr>
              <a:tr h="220504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17862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47228232000165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AGRO FLEX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Carteira agro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3,40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  <a:tr h="220504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b="1" lang="pt-BR">
                          <a:solidFill>
                            <a:srgbClr val="EC7000"/>
                          </a:solidFill>
                          <a:latin typeface="Arial"/>
                          <a:ea typeface="Arial"/>
                          <a:cs typeface="Arial"/>
                        </a:rPr>
                        <a:t>2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b="1" lang="pt-BR">
                          <a:solidFill>
                            <a:srgbClr val="EC7000"/>
                          </a:solidFill>
                          <a:latin typeface="Arial"/>
                          <a:ea typeface="Arial"/>
                          <a:cs typeface="Arial"/>
                        </a:rPr>
                        <a:t>20185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60356171000180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CW PI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CloudWalk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2,5%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R$ 1,00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3,14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</a:tr>
              <a:tr h="220504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3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23734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63662224000189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SANTANDER AUTO LOANS I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Banco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3,00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  <a:tr h="220504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b="1" lang="pt-BR">
                          <a:solidFill>
                            <a:srgbClr val="EC7000"/>
                          </a:solidFill>
                          <a:latin typeface="Arial"/>
                          <a:ea typeface="Arial"/>
                          <a:cs typeface="Arial"/>
                        </a:rPr>
                        <a:t>4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b="1" lang="pt-BR">
                          <a:solidFill>
                            <a:srgbClr val="EC7000"/>
                          </a:solidFill>
                          <a:latin typeface="Arial"/>
                          <a:ea typeface="Arial"/>
                          <a:cs typeface="Arial"/>
                        </a:rPr>
                        <a:t>20351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60528786000146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AGIBANK I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Agibank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2,00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</a:tr>
              <a:tr h="220504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5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19640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59356753000187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ER - ENERGIA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Não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1,90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  <a:tr h="220504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6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21258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56924942000110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ASA LP II COTAS LIM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Não aplicável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1,54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  <a:tr h="220504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7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18230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47228232000165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AGRO FLEX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Carteira agro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1,50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  <a:tr h="220504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8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20365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47228232000165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AGRO FLEX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Carteira agro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1,50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  <a:tr h="220504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b="1" lang="pt-BR">
                          <a:solidFill>
                            <a:srgbClr val="EC7000"/>
                          </a:solidFill>
                          <a:latin typeface="Arial"/>
                          <a:ea typeface="Arial"/>
                          <a:cs typeface="Arial"/>
                        </a:rPr>
                        <a:t>9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b="1" lang="pt-BR">
                          <a:solidFill>
                            <a:srgbClr val="EC7000"/>
                          </a:solidFill>
                          <a:latin typeface="Arial"/>
                          <a:ea typeface="Arial"/>
                          <a:cs typeface="Arial"/>
                        </a:rPr>
                        <a:t>20694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50473039000102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Sellers I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Mercado Pago /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Mercado Livre*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10,0%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R$ 1.000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1,50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</a:tr>
              <a:tr h="220504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10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21550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60598366000136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BV AUTO II FINANCEIRO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Banco BV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1,50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  <a:tr h="220504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b="1" lang="pt-BR">
                          <a:solidFill>
                            <a:srgbClr val="EC7000"/>
                          </a:solidFill>
                          <a:latin typeface="Arial"/>
                          <a:ea typeface="Arial"/>
                          <a:cs typeface="Arial"/>
                        </a:rPr>
                        <a:t>11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b="1" lang="pt-BR">
                          <a:solidFill>
                            <a:srgbClr val="EC7000"/>
                          </a:solidFill>
                          <a:latin typeface="Arial"/>
                          <a:ea typeface="Arial"/>
                          <a:cs typeface="Arial"/>
                        </a:rPr>
                        <a:t>22987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63321684000143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PINE INSS II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Banco Pine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1,25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</a:tr>
              <a:tr h="220504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b="1" lang="pt-BR">
                          <a:solidFill>
                            <a:srgbClr val="EC7000"/>
                          </a:solidFill>
                          <a:latin typeface="Arial"/>
                          <a:ea typeface="Arial"/>
                          <a:cs typeface="Arial"/>
                        </a:rPr>
                        <a:t>12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b="1" lang="pt-BR">
                          <a:solidFill>
                            <a:srgbClr val="EC7000"/>
                          </a:solidFill>
                          <a:latin typeface="Arial"/>
                          <a:ea typeface="Arial"/>
                          <a:cs typeface="Arial"/>
                        </a:rPr>
                        <a:t>19298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58349979000198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VOLKSWAGEN TERA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Banco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Volkswagen do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1,00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</a:tr>
              <a:tr h="220504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13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21006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61188091000125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BYX MOZART - CRÉDITO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Não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1,00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  <a:tr h="220504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14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21036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61271872000189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PINE INSS FINANCEIRO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Banco Pine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1,00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  <a:tr h="220504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15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21208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17250006000110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RED REAL LP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1,00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ns0:graphicFrame>
      <ns0:sp>
        <ns0:nvSpPr>
          <ns0:cNvPr id="10" name="">
            <a:extLst>
              <a:ext uri="{FF2B5EF4-FFF2-40B4-BE49-F238E27FC236}">
                <ns2:creationId id="{08BB2D58-EACB-4BE1-A969-E3D2ED1E52BE}"/>
              </a:ext>
            </a:extLst>
          </ns0:cNvPr>
          <ns0:cNvSpPr>
            <a:spLocks noGrp="1"/>
          </ns0:cNvSpPr>
          <ns0:nvPr/>
        </ns0:nvSpPr>
        <ns0:spPr>
          <a:xfrm>
            <a:off x="571500" y="6172200"/>
            <a:ext cx="11049000" cy="15240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0" tIns="0" rIns="0" bIns="0" anchor="ctr">
            <a:normAutofit fontScale="100000"/>
          </a:bodyPr>
          <a:lstStyle/>
          <a:p>
            <a:pPr algn="r">
              <a:lnSpc>
                <a:spcPct val="100000"/>
              </a:lnSpc>
              <a:buNone/>
              <a:def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rPr>
              <a:t>Subtotal: R$ 26,23 bi · 22,4% do período. * = exceção/múltiplas classes; campos integrais: aba Auditoria emissões.</a:t>
            </a:r>
          </a:p>
        </ns0:txBody>
      </ns0:sp>
    </ns0:spTree>
    <ns0:extLst>
      <ns0:ext uri="{BB962C8B-B14F-4D97-AF65-F5344CB8AC3E}">
        <ns3:creationId val="1706439468"/>
      </ns0:ext>
    </ns0:extLst>
  </ns0:cSld>
</ns0:sld>
</file>

<file path=ppt/slides/slide29.xml><?xml version="1.0" encoding="utf-8"?>
<ns0:sld xmlns:a="http://schemas.openxmlformats.org/drawingml/2006/main" xmlns:ns0="http://schemas.openxmlformats.org/presentationml/2006/main" xmlns:ns2="http://schemas.microsoft.com/office/drawing/2014/main" xmlns:ns3="http://schemas.microsoft.com/office/powerpoint/2010/main">
  <ns0:cSld>
    <ns0:bg>
      <ns0:bgPr>
        <a:solidFill>
          <a:srgbClr val="FFFFFF"/>
        </a:solidFill>
      </ns0:bgPr>
    </ns0:bg>
    <ns0:spTree>
      <ns0:nvGrpSpPr>
        <ns0:cNvPr id="1" name=""/>
        <ns0:cNvGrpSpPr/>
        <ns0:nvPr/>
      </ns0:nvGrpSpPr>
      <ns0:grpSpPr>
        <a:xfrm/>
      </ns0:grpSpPr>
      <ns0:sp>
        <ns0:nvSpPr>
          <ns0:cNvPr id="11" name="">
            <a:extLst>
              <a:ext uri="{FF2B5EF4-FFF2-40B4-BE49-F238E27FC236}">
                <ns2:creationId id="{4BEB0EB7-CBA6-450D-8936-E447B6707948}"/>
              </a:ext>
            </a:extLst>
          </ns0:cNvPr>
          <ns0:cNvSpPr>
            <a:spLocks noGrp="1"/>
          </ns0:cNvSpPr>
          <ns0:nvPr/>
        </ns0:nvSpPr>
        <ns0:spPr>
          <a:xfrm>
            <a:off x="571500" y="257175"/>
            <a:ext cx="11049000" cy="19050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0" tIns="0" rIns="0" bIns="0" anchor="t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1000" b="1" lang="pt-BR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1000" b="1" lang="pt-BR">
                <a:solidFill>
                  <a:srgbClr val="EC7000"/>
                </a:solidFill>
                <a:latin typeface="Arial"/>
                <a:ea typeface="Arial"/>
                <a:cs typeface="Arial"/>
              </a:rPr>
              <a:t>TOP 15 · HISTÓRICO</a:t>
            </a:r>
          </a:p>
        </ns0:txBody>
      </ns0:sp>
      <ns0:sp>
        <ns0:nvSpPr>
          <ns0:cNvPr id="2" name="">
            <a:extLst>
              <a:ext uri="{FF2B5EF4-FFF2-40B4-BE49-F238E27FC236}">
                <ns2:creationId id="{7E4C9A21-0B48-4A14-80C4-9B03F91CC8E9}"/>
              </a:ext>
            </a:extLst>
          </ns0:cNvPr>
          <ns0:cNvSpPr>
            <a:spLocks noGrp="1"/>
          </ns0:cNvSpPr>
          <ns0:nvPr/>
        </ns0:nvSpPr>
        <ns0:spPr>
          <a:xfrm>
            <a:off x="571500" y="504825"/>
            <a:ext cx="11049000" cy="466725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0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2100" b="1" lang="pt-BR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2100" b="1" lang="pt-BR">
                <a:solidFill>
                  <a:srgbClr val="151515"/>
                </a:solidFill>
                <a:latin typeface="Arial"/>
                <a:ea typeface="Arial"/>
                <a:cs typeface="Arial"/>
              </a:rPr>
              <a:t>As maiores ofertas de 2024, com agência e nota em colunas separadas</a:t>
            </a:r>
          </a:p>
        </ns0:txBody>
      </ns0:sp>
      <ns0:sp>
        <ns0:nvSpPr>
          <ns0:cNvPr id="3" name="">
            <a:extLst>
              <a:ext uri="{FF2B5EF4-FFF2-40B4-BE49-F238E27FC236}">
                <ns2:creationId id="{8FD28D8E-6FEE-4FF2-A711-FB7AAEC088BF}"/>
              </a:ext>
            </a:extLst>
          </ns0:cNvPr>
          <ns0:cNvSpPr>
            <a:spLocks noGrp="1"/>
          </ns0:cNvSpPr>
          <ns0:nvPr/>
        </ns0:nvSpPr>
        <ns0:spPr>
          <a:xfrm>
            <a:off x="571500" y="1047750"/>
            <a:ext cx="11049000" cy="9525"/>
          </a:xfrm>
          <a:prstGeom prst="rect">
            <a:avLst/>
          </a:prstGeom>
          <a:solidFill>
            <a:srgbClr val="D7DADD"/>
          </a:solidFill>
          <a:ln w="0">
            <a:noFill/>
            <a:prstDash val="solid"/>
          </a:ln>
        </ns0:spPr>
      </ns0:sp>
      <ns0:sp>
        <ns0:nvSpPr>
          <ns0:cNvPr id="4" name="">
            <a:extLst>
              <a:ext uri="{FF2B5EF4-FFF2-40B4-BE49-F238E27FC236}">
                <ns2:creationId id="{3BB0D68D-7CDE-493B-93DE-284A440D46DB}"/>
              </a:ext>
            </a:extLst>
          </ns0:cNvPr>
          <ns0:cNvSpPr>
            <a:spLocks noGrp="1"/>
          </ns0:cNvSpPr>
          <ns0:nvPr/>
        </ns0:nvSpPr>
        <ns0:spPr>
          <a:xfrm>
            <a:off x="571500" y="6353175"/>
            <a:ext cx="11049000" cy="9525"/>
          </a:xfrm>
          <a:prstGeom prst="rect">
            <a:avLst/>
          </a:prstGeom>
          <a:solidFill>
            <a:srgbClr val="D7DADD"/>
          </a:solidFill>
          <a:ln w="0">
            <a:noFill/>
            <a:prstDash val="solid"/>
          </a:ln>
        </ns0:spPr>
      </ns0:sp>
      <ns0:sp>
        <ns0:nvSpPr>
          <ns0:cNvPr id="5" name="">
            <a:extLst>
              <a:ext uri="{FF2B5EF4-FFF2-40B4-BE49-F238E27FC236}">
                <ns2:creationId id="{5ADEC742-7FB2-44CC-80CA-69F708145D4F}"/>
              </a:ext>
            </a:extLst>
          </ns0:cNvPr>
          <ns0:cNvSpPr>
            <a:spLocks noGrp="1"/>
          </ns0:cNvSpPr>
          <ns0:nvPr/>
        </ns0:nvSpPr>
        <ns0:spPr>
          <a:xfrm>
            <a:off x="571500" y="6419850"/>
            <a:ext cx="10001250" cy="1714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47625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rPr>
              <a:t>Fonte: CVM/SRE e FundosNet. 2024FY, ofertas primárias encerradas; volume registrado.</a:t>
            </a:r>
          </a:p>
        </ns0:txBody>
      </ns0:sp>
      <ns0:sp>
        <ns0:nvSpPr>
          <ns0:cNvPr id="6" name="">
            <a:extLst>
              <a:ext uri="{FF2B5EF4-FFF2-40B4-BE49-F238E27FC236}">
                <ns2:creationId id="{AEF0D29E-0DA0-4615-A91D-D05D576DB0D3}"/>
              </a:ext>
            </a:extLst>
          </ns0:cNvPr>
          <ns0:cNvSpPr>
            <a:spLocks noGrp="1"/>
          </ns0:cNvSpPr>
          <ns0:nvPr/>
        </ns0:nvSpPr>
        <ns0:spPr>
          <a:xfrm>
            <a:off x="11144250" y="6410325"/>
            <a:ext cx="476250" cy="1714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ctr">
            <a:normAutofit fontScale="100000"/>
          </a:bodyPr>
          <a:lstStyle/>
          <a:p>
            <a:pPr algn="r">
              <a:lnSpc>
                <a:spcPct val="100000"/>
              </a:lnSpc>
              <a:buNone/>
              <a:def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rPr>
              <a:t>29</a:t>
            </a:r>
          </a:p>
        </ns0:txBody>
      </ns0:sp>
      <ns0:sp>
        <ns0:nvSpPr>
          <ns0:cNvPr id="7" name="">
            <a:extLst>
              <a:ext uri="{FF2B5EF4-FFF2-40B4-BE49-F238E27FC236}">
                <ns2:creationId id="{CF26EE25-5DEE-4ED0-955C-8EC8D2AD757C}"/>
              </a:ext>
            </a:extLst>
          </ns0:cNvPr>
          <ns0:cNvSpPr>
            <a:spLocks noGrp="1"/>
          </ns0:cNvSpPr>
          <ns0:nvPr/>
        </ns0:nvSpPr>
        <ns0:spPr>
          <a:xfrm>
            <a:off x="571500" y="1143000"/>
            <a:ext cx="11049000" cy="2095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1125" b="1" lang="pt-BR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 lang="pt-BR">
                <a:solidFill>
                  <a:srgbClr val="30353A"/>
                </a:solidFill>
                <a:latin typeface="Arial"/>
                <a:ea typeface="Arial"/>
                <a:cs typeface="Arial"/>
              </a:rPr>
              <a:t>2024 FY · Top 15 · 1/2</a:t>
            </a:r>
          </a:p>
        </ns0:txBody>
      </ns0:sp>
      <ns0:sp>
        <ns0:nvSpPr>
          <ns0:cNvPr id="8" name="">
            <a:extLst>
              <a:ext uri="{FF2B5EF4-FFF2-40B4-BE49-F238E27FC236}">
                <ns2:creationId id="{22D851C1-71AD-442C-BC61-BF3507D042D3}"/>
              </a:ext>
            </a:extLst>
          </ns0:cNvPr>
          <ns0:cNvSpPr>
            <a:spLocks noGrp="1"/>
          </ns0:cNvSpPr>
          <ns0:nvPr/>
        </ns0:nvSpPr>
        <ns0:spPr>
          <a:xfrm>
            <a:off x="571500" y="1390650"/>
            <a:ext cx="11049000" cy="9525"/>
          </a:xfrm>
          <a:prstGeom prst="rect">
            <a:avLst/>
          </a:prstGeom>
          <a:solidFill>
            <a:srgbClr val="D7DADD"/>
          </a:solidFill>
          <a:ln w="0">
            <a:noFill/>
            <a:prstDash val="solid"/>
          </a:ln>
        </ns0:spPr>
      </ns0:sp>
      <ns0:graphicFrame>
        <ns0:nvGraphicFramePr>
          <ns0:cNvPr id="19" name=""/>
          <ns0:cNvGraphicFramePr/>
          <ns0:nvPr/>
        </ns0:nvGraphicFramePr>
        <ns0:xfrm>
          <a:off x="571500" y="1438275"/>
          <a:ext cx="11049000" cy="4095750"/>
        </ns0:xfrm>
        <a:graphic>
          <a:graphicData uri="http://schemas.openxmlformats.org/drawingml/2006/table">
            <a:tbl>
              <a:tblPr firstRow="0" firstCol="0" lastRow="0" lastCol="0" bandRow="0" bandCol="0"/>
              <a:tblGrid>
                <a:gridCol w="285750"/>
                <a:gridCol w="571500"/>
                <a:gridCol w="1266825"/>
                <a:gridCol w="1428750"/>
                <a:gridCol w="952500"/>
                <a:gridCol w="952500"/>
                <a:gridCol w="876300"/>
                <a:gridCol w="1285875"/>
                <a:gridCol w="1095375"/>
                <a:gridCol w="857250"/>
                <a:gridCol w="904875"/>
                <a:gridCol w="571500"/>
              </a:tblGrid>
              <a:tr h="221456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300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#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300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Emis.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300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CNPJ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300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FIDC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300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Originador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300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Cedente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300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Sub. mín.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300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Preço por cota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300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Sacado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300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Agência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300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Rating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300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R$ bi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</a:tr>
              <a:tr h="356295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18162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57532556000146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CLASSE A DO BV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Banco BV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3,51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  <a:tr h="356295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15612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54979779000168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ACR BEM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Stone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S&amp;P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brAAA (sf)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3,50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  <a:tr h="356295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3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3627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47228232000165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AGRO FLEX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3,50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  <a:tr h="356295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4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3794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32321307000180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CITY - 02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Liberum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CCC(FE)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3,00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  <a:tr h="356295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5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4203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52256912000122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ACR I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Austin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brAAA(sf)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2,78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  <a:tr h="356295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6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17739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57609282000146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CLOUDWALK AGI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CloudWalk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Moody's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AAA.br(sf)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2,59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  <a:tr h="356295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7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15753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54810968000102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Angá FGTS III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BMG*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1,52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  <a:tr h="356295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8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15714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47228232000165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AGRO FLEX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1,50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</a:tbl>
          </a:graphicData>
        </a:graphic>
      </ns0:graphicFrame>
      <ns0:sp>
        <ns0:nvSpPr>
          <ns0:cNvPr id="10" name="">
            <a:extLst>
              <a:ext uri="{FF2B5EF4-FFF2-40B4-BE49-F238E27FC236}">
                <ns2:creationId id="{27B25467-843C-4CC6-AB98-C673798FFA74}"/>
              </a:ext>
            </a:extLst>
          </ns0:cNvPr>
          <ns0:cNvSpPr>
            <a:spLocks noGrp="1"/>
          </ns0:cNvSpPr>
          <ns0:nvPr/>
        </ns0:nvSpPr>
        <ns0:spPr>
          <a:xfrm>
            <a:off x="571500" y="5715000"/>
            <a:ext cx="11049000" cy="3238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0" tIns="0" rIns="0" bIns="0" anchor="ctr">
            <a:normAutofit fontScale="100000"/>
          </a:bodyPr>
          <a:lstStyle/>
          <a:p>
            <a:pPr algn="r">
              <a:lnSpc>
                <a:spcPct val="100000"/>
              </a:lnSpc>
              <a:buNone/>
              <a:def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rPr>
              <a:t>Continua em 2/2. Preço = valor unitário por cota; quantidade fica fora. * = exceção ou múltiplas classes.</a:t>
            </a:r>
          </a:p>
        </ns0:txBody>
      </ns0:sp>
    </ns0:spTree>
    <ns0:extLst>
      <ns0:ext uri="{BB962C8B-B14F-4D97-AF65-F5344CB8AC3E}">
        <ns3:creationId val="1816967529"/>
      </ns0:ext>
    </ns0:extLst>
  </ns0:cSld>
</ns0:sld>
</file>

<file path=ppt/slides/slide30.xml><?xml version="1.0" encoding="utf-8"?>
<ns0:sld xmlns:a="http://schemas.openxmlformats.org/drawingml/2006/main" xmlns:ns0="http://schemas.openxmlformats.org/presentationml/2006/main" xmlns:ns2="http://schemas.microsoft.com/office/drawing/2014/main" xmlns:ns3="http://schemas.microsoft.com/office/powerpoint/2010/main">
  <ns0:cSld>
    <ns0:bg>
      <ns0:bgPr>
        <a:solidFill>
          <a:srgbClr val="FFFFFF"/>
        </a:solidFill>
      </ns0:bgPr>
    </ns0:bg>
    <ns0:spTree>
      <ns0:nvGrpSpPr>
        <ns0:cNvPr id="1" name=""/>
        <ns0:cNvGrpSpPr/>
        <ns0:nvPr/>
      </ns0:nvGrpSpPr>
      <ns0:grpSpPr>
        <a:xfrm/>
      </ns0:grpSpPr>
      <ns0:sp>
        <ns0:nvSpPr>
          <ns0:cNvPr id="11" name="">
            <a:extLst>
              <a:ext uri="{FF2B5EF4-FFF2-40B4-BE49-F238E27FC236}">
                <ns2:creationId id="{EE25AF27-BCC7-4608-8E45-E81B3D9828D9}"/>
              </a:ext>
            </a:extLst>
          </ns0:cNvPr>
          <ns0:cNvSpPr>
            <a:spLocks noGrp="1"/>
          </ns0:cNvSpPr>
          <ns0:nvPr/>
        </ns0:nvSpPr>
        <ns0:spPr>
          <a:xfrm>
            <a:off x="571500" y="257175"/>
            <a:ext cx="11049000" cy="19050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0" tIns="0" rIns="0" bIns="0" anchor="t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1000" b="1" lang="pt-BR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1000" b="1" lang="pt-BR">
                <a:solidFill>
                  <a:srgbClr val="EC7000"/>
                </a:solidFill>
                <a:latin typeface="Arial"/>
                <a:ea typeface="Arial"/>
                <a:cs typeface="Arial"/>
              </a:rPr>
              <a:t>TOP 15 · HISTÓRICO</a:t>
            </a:r>
          </a:p>
        </ns0:txBody>
      </ns0:sp>
      <ns0:sp>
        <ns0:nvSpPr>
          <ns0:cNvPr id="2" name="">
            <a:extLst>
              <a:ext uri="{FF2B5EF4-FFF2-40B4-BE49-F238E27FC236}">
                <ns2:creationId id="{9038FDC4-BC19-4E07-9534-0F19333D2AD3}"/>
              </a:ext>
            </a:extLst>
          </ns0:cNvPr>
          <ns0:cNvSpPr>
            <a:spLocks noGrp="1"/>
          </ns0:cNvSpPr>
          <ns0:nvPr/>
        </ns0:nvSpPr>
        <ns0:spPr>
          <a:xfrm>
            <a:off x="571500" y="504825"/>
            <a:ext cx="11049000" cy="466725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0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2100" b="1" lang="pt-BR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2100" b="1" lang="pt-BR">
                <a:solidFill>
                  <a:srgbClr val="151515"/>
                </a:solidFill>
                <a:latin typeface="Arial"/>
                <a:ea typeface="Arial"/>
                <a:cs typeface="Arial"/>
              </a:rPr>
              <a:t>As maiores ofertas de 2024, com agência e nota em colunas separadas</a:t>
            </a:r>
          </a:p>
        </ns0:txBody>
      </ns0:sp>
      <ns0:sp>
        <ns0:nvSpPr>
          <ns0:cNvPr id="3" name="">
            <a:extLst>
              <a:ext uri="{FF2B5EF4-FFF2-40B4-BE49-F238E27FC236}">
                <ns2:creationId id="{F0B69BC9-CB2C-45B9-929F-E3AC561E7771}"/>
              </a:ext>
            </a:extLst>
          </ns0:cNvPr>
          <ns0:cNvSpPr>
            <a:spLocks noGrp="1"/>
          </ns0:cNvSpPr>
          <ns0:nvPr/>
        </ns0:nvSpPr>
        <ns0:spPr>
          <a:xfrm>
            <a:off x="571500" y="1047750"/>
            <a:ext cx="11049000" cy="9525"/>
          </a:xfrm>
          <a:prstGeom prst="rect">
            <a:avLst/>
          </a:prstGeom>
          <a:solidFill>
            <a:srgbClr val="D7DADD"/>
          </a:solidFill>
          <a:ln w="0">
            <a:noFill/>
            <a:prstDash val="solid"/>
          </a:ln>
        </ns0:spPr>
      </ns0:sp>
      <ns0:sp>
        <ns0:nvSpPr>
          <ns0:cNvPr id="4" name="">
            <a:extLst>
              <a:ext uri="{FF2B5EF4-FFF2-40B4-BE49-F238E27FC236}">
                <ns2:creationId id="{1E7974D4-6D51-409B-B525-0473FEE3E293}"/>
              </a:ext>
            </a:extLst>
          </ns0:cNvPr>
          <ns0:cNvSpPr>
            <a:spLocks noGrp="1"/>
          </ns0:cNvSpPr>
          <ns0:nvPr/>
        </ns0:nvSpPr>
        <ns0:spPr>
          <a:xfrm>
            <a:off x="571500" y="6353175"/>
            <a:ext cx="11049000" cy="9525"/>
          </a:xfrm>
          <a:prstGeom prst="rect">
            <a:avLst/>
          </a:prstGeom>
          <a:solidFill>
            <a:srgbClr val="D7DADD"/>
          </a:solidFill>
          <a:ln w="0">
            <a:noFill/>
            <a:prstDash val="solid"/>
          </a:ln>
        </ns0:spPr>
      </ns0:sp>
      <ns0:sp>
        <ns0:nvSpPr>
          <ns0:cNvPr id="5" name="">
            <a:extLst>
              <a:ext uri="{FF2B5EF4-FFF2-40B4-BE49-F238E27FC236}">
                <ns2:creationId id="{517E3726-6253-4B5A-BBF5-D8288B291D40}"/>
              </a:ext>
            </a:extLst>
          </ns0:cNvPr>
          <ns0:cNvSpPr>
            <a:spLocks noGrp="1"/>
          </ns0:cNvSpPr>
          <ns0:nvPr/>
        </ns0:nvSpPr>
        <ns0:spPr>
          <a:xfrm>
            <a:off x="571500" y="6419850"/>
            <a:ext cx="10001250" cy="1714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47625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rPr>
              <a:t>Fonte: CVM/SRE e FundosNet. 2024FY, ofertas primárias encerradas; volume registrado.</a:t>
            </a:r>
          </a:p>
        </ns0:txBody>
      </ns0:sp>
      <ns0:sp>
        <ns0:nvSpPr>
          <ns0:cNvPr id="6" name="">
            <a:extLst>
              <a:ext uri="{FF2B5EF4-FFF2-40B4-BE49-F238E27FC236}">
                <ns2:creationId id="{9407586F-59EE-4C22-9135-34D5BDD1F1A2}"/>
              </a:ext>
            </a:extLst>
          </ns0:cNvPr>
          <ns0:cNvSpPr>
            <a:spLocks noGrp="1"/>
          </ns0:cNvSpPr>
          <ns0:nvPr/>
        </ns0:nvSpPr>
        <ns0:spPr>
          <a:xfrm>
            <a:off x="11144250" y="6410325"/>
            <a:ext cx="476250" cy="1714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ctr">
            <a:normAutofit fontScale="100000"/>
          </a:bodyPr>
          <a:lstStyle/>
          <a:p>
            <a:pPr algn="r">
              <a:lnSpc>
                <a:spcPct val="100000"/>
              </a:lnSpc>
              <a:buNone/>
              <a:def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rPr>
              <a:t>30</a:t>
            </a:r>
          </a:p>
        </ns0:txBody>
      </ns0:sp>
      <ns0:sp>
        <ns0:nvSpPr>
          <ns0:cNvPr id="7" name="">
            <a:extLst>
              <a:ext uri="{FF2B5EF4-FFF2-40B4-BE49-F238E27FC236}">
                <ns2:creationId id="{5321471E-DA0B-47EE-9EBD-3C3603DFF8F2}"/>
              </a:ext>
            </a:extLst>
          </ns0:cNvPr>
          <ns0:cNvSpPr>
            <a:spLocks noGrp="1"/>
          </ns0:cNvSpPr>
          <ns0:nvPr/>
        </ns0:nvSpPr>
        <ns0:spPr>
          <a:xfrm>
            <a:off x="571500" y="1143000"/>
            <a:ext cx="11049000" cy="2095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1125" b="1" lang="pt-BR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 lang="pt-BR">
                <a:solidFill>
                  <a:srgbClr val="30353A"/>
                </a:solidFill>
                <a:latin typeface="Arial"/>
                <a:ea typeface="Arial"/>
                <a:cs typeface="Arial"/>
              </a:rPr>
              <a:t>2024 FY · Top 15 · 2/2</a:t>
            </a:r>
          </a:p>
        </ns0:txBody>
      </ns0:sp>
      <ns0:sp>
        <ns0:nvSpPr>
          <ns0:cNvPr id="8" name="">
            <a:extLst>
              <a:ext uri="{FF2B5EF4-FFF2-40B4-BE49-F238E27FC236}">
                <ns2:creationId id="{9EA02186-F66F-40FD-8380-6F6F3270C8C3}"/>
              </a:ext>
            </a:extLst>
          </ns0:cNvPr>
          <ns0:cNvSpPr>
            <a:spLocks noGrp="1"/>
          </ns0:cNvSpPr>
          <ns0:nvPr/>
        </ns0:nvSpPr>
        <ns0:spPr>
          <a:xfrm>
            <a:off x="571500" y="1390650"/>
            <a:ext cx="11049000" cy="9525"/>
          </a:xfrm>
          <a:prstGeom prst="rect">
            <a:avLst/>
          </a:prstGeom>
          <a:solidFill>
            <a:srgbClr val="D7DADD"/>
          </a:solidFill>
          <a:ln w="0">
            <a:noFill/>
            <a:prstDash val="solid"/>
          </a:ln>
        </ns0:spPr>
      </ns0:sp>
      <ns0:graphicFrame>
        <ns0:nvGraphicFramePr>
          <ns0:cNvPr id="19" name=""/>
          <ns0:cNvGraphicFramePr/>
          <ns0:nvPr/>
        </ns0:nvGraphicFramePr>
        <ns0:xfrm>
          <a:off x="571500" y="1438275"/>
          <a:ext cx="11049000" cy="4095750"/>
        </ns0:xfrm>
        <a:graphic>
          <a:graphicData uri="http://schemas.openxmlformats.org/drawingml/2006/table">
            <a:tbl>
              <a:tblPr firstRow="0" firstCol="0" lastRow="0" lastCol="0" bandRow="0" bandCol="0"/>
              <a:tblGrid>
                <a:gridCol w="285750"/>
                <a:gridCol w="571500"/>
                <a:gridCol w="1266825"/>
                <a:gridCol w="1428750"/>
                <a:gridCol w="952500"/>
                <a:gridCol w="952500"/>
                <a:gridCol w="876300"/>
                <a:gridCol w="1285875"/>
                <a:gridCol w="1095375"/>
                <a:gridCol w="857250"/>
                <a:gridCol w="904875"/>
                <a:gridCol w="571500"/>
              </a:tblGrid>
              <a:tr h="221456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300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#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300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Emis.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300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CNPJ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300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FIDC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300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Originador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300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Cedente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300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Sub. mín.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300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Preço por cota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300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Sacado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300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Agência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300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Rating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300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R$ bi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</a:tr>
              <a:tr h="407194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9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18270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46450551000158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D365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D365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1,50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  <a:tr h="407194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10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16416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55471753000177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SELLER II MEIOS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Mercado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33,3%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R$ 1.000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S&amp;P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brAAA (sf)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1,00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  <a:tr h="407194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11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18027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28169275000172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PagSeguro I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PagSeguro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PagSeguro*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1,00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  <a:tr h="407194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12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3687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46073195000109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AGRO CITI-SYNGENTA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0,90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  <a:tr h="407194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13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18122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57028406000108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IS GREEN SOLFACIL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Solfácil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Solfácil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Austin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brAA(sf)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0,90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  <a:tr h="407194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14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14966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54218673000141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CW Big Pic. I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CloudWalk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2,5%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R$ 1.000,00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Moody's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AAA.br(sf)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0,88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  <a:tr h="407194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15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15820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55070804000159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Estrat. Vinc. II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Banco IBM*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0,85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ns0:graphicFrame>
      <ns0:sp>
        <ns0:nvSpPr>
          <ns0:cNvPr id="10" name="">
            <a:extLst>
              <a:ext uri="{FF2B5EF4-FFF2-40B4-BE49-F238E27FC236}">
                <ns2:creationId id="{AC7802B2-81AD-4A04-9027-975826D34508}"/>
              </a:ext>
            </a:extLst>
          </ns0:cNvPr>
          <ns0:cNvSpPr>
            <a:spLocks noGrp="1"/>
          </ns0:cNvSpPr>
          <ns0:nvPr/>
        </ns0:nvSpPr>
        <ns0:spPr>
          <a:xfrm>
            <a:off x="571500" y="5715000"/>
            <a:ext cx="11049000" cy="3238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0" tIns="0" rIns="0" bIns="0" anchor="ctr">
            <a:normAutofit fontScale="100000"/>
          </a:bodyPr>
          <a:lstStyle/>
          <a:p>
            <a:pPr algn="r">
              <a:lnSpc>
                <a:spcPct val="100000"/>
              </a:lnSpc>
              <a:buNone/>
              <a:def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rPr>
              <a:t>Subtotal Top 15: R$ 28,93 bi · 30,3% do período. * = exceção ou múltiplas classes.</a:t>
            </a:r>
          </a:p>
        </ns0:txBody>
      </ns0:sp>
    </ns0:spTree>
    <ns0:extLst>
      <ns0:ext uri="{BB962C8B-B14F-4D97-AF65-F5344CB8AC3E}">
        <ns3:creationId val="852999029"/>
      </ns0:ext>
    </ns0:extLst>
  </ns0:cSld>
</ns0:sld>
</file>

<file path=ppt/slides/slide31.xml><?xml version="1.0" encoding="utf-8"?>
<ns0:sld xmlns:a="http://schemas.openxmlformats.org/drawingml/2006/main" xmlns:ns0="http://schemas.openxmlformats.org/presentationml/2006/main" xmlns:ns2="http://schemas.microsoft.com/office/drawing/2014/main" xmlns:ns3="http://schemas.microsoft.com/office/powerpoint/2010/main">
  <ns0:cSld>
    <ns0:bg>
      <ns0:bgPr>
        <a:solidFill>
          <a:srgbClr val="FFFFFF"/>
        </a:solidFill>
      </ns0:bgPr>
    </ns0:bg>
    <ns0:spTree>
      <ns0:nvGrpSpPr>
        <ns0:cNvPr id="1" name=""/>
        <ns0:cNvGrpSpPr/>
        <ns0:nvPr/>
      </ns0:nvGrpSpPr>
      <ns0:grpSpPr>
        <a:xfrm/>
      </ns0:grpSpPr>
      <ns0:sp>
        <ns0:nvSpPr>
          <ns0:cNvPr id="11" name="">
            <a:extLst>
              <a:ext uri="{FF2B5EF4-FFF2-40B4-BE49-F238E27FC236}">
                <ns2:creationId id="{64620B2A-48E6-4FC5-8A9A-7798110405F5}"/>
              </a:ext>
            </a:extLst>
          </ns0:cNvPr>
          <ns0:cNvSpPr>
            <a:spLocks noGrp="1"/>
          </ns0:cNvSpPr>
          <ns0:nvPr/>
        </ns0:nvSpPr>
        <ns0:spPr>
          <a:xfrm>
            <a:off x="571500" y="257175"/>
            <a:ext cx="11049000" cy="19050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0" tIns="0" rIns="0" bIns="0" anchor="t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1000" b="1" lang="pt-BR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1000" b="1" lang="pt-BR">
                <a:solidFill>
                  <a:srgbClr val="EC7000"/>
                </a:solidFill>
                <a:latin typeface="Arial"/>
                <a:ea typeface="Arial"/>
                <a:cs typeface="Arial"/>
              </a:rPr>
              <a:t>TOP 15 · HISTÓRICO</a:t>
            </a:r>
          </a:p>
        </ns0:txBody>
      </ns0:sp>
      <ns0:sp>
        <ns0:nvSpPr>
          <ns0:cNvPr id="2" name="">
            <a:extLst>
              <a:ext uri="{FF2B5EF4-FFF2-40B4-BE49-F238E27FC236}">
                <ns2:creationId id="{29FF7FA7-6685-4B15-A56A-ECF542E3B801}"/>
              </a:ext>
            </a:extLst>
          </ns0:cNvPr>
          <ns0:cNvSpPr>
            <a:spLocks noGrp="1"/>
          </ns0:cNvSpPr>
          <ns0:nvPr/>
        </ns0:nvSpPr>
        <ns0:spPr>
          <a:xfrm>
            <a:off x="571500" y="504825"/>
            <a:ext cx="11049000" cy="466725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0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2100" b="1" lang="pt-BR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2100" b="1" lang="pt-BR">
                <a:solidFill>
                  <a:srgbClr val="151515"/>
                </a:solidFill>
                <a:latin typeface="Arial"/>
                <a:ea typeface="Arial"/>
                <a:cs typeface="Arial"/>
              </a:rPr>
              <a:t>As maiores ofertas de 2023, com agência e nota em colunas separadas</a:t>
            </a:r>
          </a:p>
        </ns0:txBody>
      </ns0:sp>
      <ns0:sp>
        <ns0:nvSpPr>
          <ns0:cNvPr id="3" name="">
            <a:extLst>
              <a:ext uri="{FF2B5EF4-FFF2-40B4-BE49-F238E27FC236}">
                <ns2:creationId id="{4094987F-E673-4FD8-9016-05355C1B3891}"/>
              </a:ext>
            </a:extLst>
          </ns0:cNvPr>
          <ns0:cNvSpPr>
            <a:spLocks noGrp="1"/>
          </ns0:cNvSpPr>
          <ns0:nvPr/>
        </ns0:nvSpPr>
        <ns0:spPr>
          <a:xfrm>
            <a:off x="571500" y="1047750"/>
            <a:ext cx="11049000" cy="9525"/>
          </a:xfrm>
          <a:prstGeom prst="rect">
            <a:avLst/>
          </a:prstGeom>
          <a:solidFill>
            <a:srgbClr val="D7DADD"/>
          </a:solidFill>
          <a:ln w="0">
            <a:noFill/>
            <a:prstDash val="solid"/>
          </a:ln>
        </ns0:spPr>
      </ns0:sp>
      <ns0:sp>
        <ns0:nvSpPr>
          <ns0:cNvPr id="4" name="">
            <a:extLst>
              <a:ext uri="{FF2B5EF4-FFF2-40B4-BE49-F238E27FC236}">
                <ns2:creationId id="{AB425DC5-6AB4-4503-B152-4DDBF1C9EC66}"/>
              </a:ext>
            </a:extLst>
          </ns0:cNvPr>
          <ns0:cNvSpPr>
            <a:spLocks noGrp="1"/>
          </ns0:cNvSpPr>
          <ns0:nvPr/>
        </ns0:nvSpPr>
        <ns0:spPr>
          <a:xfrm>
            <a:off x="571500" y="6353175"/>
            <a:ext cx="11049000" cy="9525"/>
          </a:xfrm>
          <a:prstGeom prst="rect">
            <a:avLst/>
          </a:prstGeom>
          <a:solidFill>
            <a:srgbClr val="D7DADD"/>
          </a:solidFill>
          <a:ln w="0">
            <a:noFill/>
            <a:prstDash val="solid"/>
          </a:ln>
        </ns0:spPr>
      </ns0:sp>
      <ns0:sp>
        <ns0:nvSpPr>
          <ns0:cNvPr id="5" name="">
            <a:extLst>
              <a:ext uri="{FF2B5EF4-FFF2-40B4-BE49-F238E27FC236}">
                <ns2:creationId id="{B02DCA85-F10F-4D32-89BA-83DC96850A15}"/>
              </a:ext>
            </a:extLst>
          </ns0:cNvPr>
          <ns0:cNvSpPr>
            <a:spLocks noGrp="1"/>
          </ns0:cNvSpPr>
          <ns0:nvPr/>
        </ns0:nvSpPr>
        <ns0:spPr>
          <a:xfrm>
            <a:off x="571500" y="6419850"/>
            <a:ext cx="10001250" cy="1714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47625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rPr>
              <a:t>Fonte: CVM/SRE e FundosNet. 2023FY, ofertas primárias encerradas; volume registrado.</a:t>
            </a:r>
          </a:p>
        </ns0:txBody>
      </ns0:sp>
      <ns0:sp>
        <ns0:nvSpPr>
          <ns0:cNvPr id="6" name="">
            <a:extLst>
              <a:ext uri="{FF2B5EF4-FFF2-40B4-BE49-F238E27FC236}">
                <ns2:creationId id="{FA38A596-1B96-4078-A388-D61F6926F0FE}"/>
              </a:ext>
            </a:extLst>
          </ns0:cNvPr>
          <ns0:cNvSpPr>
            <a:spLocks noGrp="1"/>
          </ns0:cNvSpPr>
          <ns0:nvPr/>
        </ns0:nvSpPr>
        <ns0:spPr>
          <a:xfrm>
            <a:off x="11144250" y="6410325"/>
            <a:ext cx="476250" cy="1714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ctr">
            <a:normAutofit fontScale="100000"/>
          </a:bodyPr>
          <a:lstStyle/>
          <a:p>
            <a:pPr algn="r">
              <a:lnSpc>
                <a:spcPct val="100000"/>
              </a:lnSpc>
              <a:buNone/>
              <a:def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rPr>
              <a:t>31</a:t>
            </a:r>
          </a:p>
        </ns0:txBody>
      </ns0:sp>
      <ns0:sp>
        <ns0:nvSpPr>
          <ns0:cNvPr id="7" name="">
            <a:extLst>
              <a:ext uri="{FF2B5EF4-FFF2-40B4-BE49-F238E27FC236}">
                <ns2:creationId id="{021BEB5E-2B69-4FC0-AEFF-C1453996F9E2}"/>
              </a:ext>
            </a:extLst>
          </ns0:cNvPr>
          <ns0:cNvSpPr>
            <a:spLocks noGrp="1"/>
          </ns0:cNvSpPr>
          <ns0:nvPr/>
        </ns0:nvSpPr>
        <ns0:spPr>
          <a:xfrm>
            <a:off x="571500" y="1143000"/>
            <a:ext cx="11049000" cy="2095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1125" b="1" lang="pt-BR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 lang="pt-BR">
                <a:solidFill>
                  <a:srgbClr val="30353A"/>
                </a:solidFill>
                <a:latin typeface="Arial"/>
                <a:ea typeface="Arial"/>
                <a:cs typeface="Arial"/>
              </a:rPr>
              <a:t>2023 FY · Top 15 · 1/2</a:t>
            </a:r>
          </a:p>
        </ns0:txBody>
      </ns0:sp>
      <ns0:sp>
        <ns0:nvSpPr>
          <ns0:cNvPr id="8" name="">
            <a:extLst>
              <a:ext uri="{FF2B5EF4-FFF2-40B4-BE49-F238E27FC236}">
                <ns2:creationId id="{6FDC7A52-AF4F-4013-9B73-13C8C79DCA1B}"/>
              </a:ext>
            </a:extLst>
          </ns0:cNvPr>
          <ns0:cNvSpPr>
            <a:spLocks noGrp="1"/>
          </ns0:cNvSpPr>
          <ns0:nvPr/>
        </ns0:nvSpPr>
        <ns0:spPr>
          <a:xfrm>
            <a:off x="571500" y="1390650"/>
            <a:ext cx="11049000" cy="9525"/>
          </a:xfrm>
          <a:prstGeom prst="rect">
            <a:avLst/>
          </a:prstGeom>
          <a:solidFill>
            <a:srgbClr val="D7DADD"/>
          </a:solidFill>
          <a:ln w="0">
            <a:noFill/>
            <a:prstDash val="solid"/>
          </a:ln>
        </ns0:spPr>
      </ns0:sp>
      <ns0:graphicFrame>
        <ns0:nvGraphicFramePr>
          <ns0:cNvPr id="19" name=""/>
          <ns0:cNvGraphicFramePr/>
          <ns0:nvPr/>
        </ns0:nvGraphicFramePr>
        <ns0:xfrm>
          <a:off x="571500" y="1438275"/>
          <a:ext cx="11049000" cy="4095750"/>
        </ns0:xfrm>
        <a:graphic>
          <a:graphicData uri="http://schemas.openxmlformats.org/drawingml/2006/table">
            <a:tbl>
              <a:tblPr firstRow="0" firstCol="0" lastRow="0" lastCol="0" bandRow="0" bandCol="0"/>
              <a:tblGrid>
                <a:gridCol w="285750"/>
                <a:gridCol w="571500"/>
                <a:gridCol w="1266825"/>
                <a:gridCol w="1428750"/>
                <a:gridCol w="952500"/>
                <a:gridCol w="952500"/>
                <a:gridCol w="876300"/>
                <a:gridCol w="1285875"/>
                <a:gridCol w="1095375"/>
                <a:gridCol w="857250"/>
                <a:gridCol w="904875"/>
                <a:gridCol w="571500"/>
              </a:tblGrid>
              <a:tr h="221456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300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#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300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Emis.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300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CNPJ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300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FIDC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300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Originador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300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Cedente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300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Sub. mín.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300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Preço por cota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300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Sacado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300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Agência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300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Rating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300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R$ bi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</a:tr>
              <a:tr h="356295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1758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50473039000102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SELLER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Mercado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Mercado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10,0%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R$ 1.000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1,50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  <a:tr h="356295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3483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51983832000106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ACR IV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S&amp;P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brAAA (sf)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1,03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  <a:tr h="356295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3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816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48905593000161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PÁTRIA INFRA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0,98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  <a:tr h="356295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4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3468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52720932000102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CLIENTES BRF II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0,94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  <a:tr h="356295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5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1744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50114948000146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DRIVER BRASIL SIX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0,70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  <a:tr h="356295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6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2925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51957370000152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Angá FGTS I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Austin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brAA+(sf)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0,61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  <a:tr h="356295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7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578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49306883000151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TERRAMAR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0,51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  <a:tr h="356295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8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3491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47936340000192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OPEA AGRO INSUMOS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BASF*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0,50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</a:tbl>
          </a:graphicData>
        </a:graphic>
      </ns0:graphicFrame>
      <ns0:sp>
        <ns0:nvSpPr>
          <ns0:cNvPr id="10" name="">
            <a:extLst>
              <a:ext uri="{FF2B5EF4-FFF2-40B4-BE49-F238E27FC236}">
                <ns2:creationId id="{43524FAD-04BE-4991-A5A1-422E9B63D9B4}"/>
              </a:ext>
            </a:extLst>
          </ns0:cNvPr>
          <ns0:cNvSpPr>
            <a:spLocks noGrp="1"/>
          </ns0:cNvSpPr>
          <ns0:nvPr/>
        </ns0:nvSpPr>
        <ns0:spPr>
          <a:xfrm>
            <a:off x="571500" y="5715000"/>
            <a:ext cx="11049000" cy="3238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0" tIns="0" rIns="0" bIns="0" anchor="ctr">
            <a:normAutofit fontScale="100000"/>
          </a:bodyPr>
          <a:lstStyle/>
          <a:p>
            <a:pPr algn="r">
              <a:lnSpc>
                <a:spcPct val="100000"/>
              </a:lnSpc>
              <a:buNone/>
              <a:def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rPr>
              <a:t>Continua em 2/2. Preço = valor unitário por cota; quantidade fica fora. * = exceção ou múltiplas classes.</a:t>
            </a:r>
          </a:p>
        </ns0:txBody>
      </ns0:sp>
    </ns0:spTree>
    <ns0:extLst>
      <ns0:ext uri="{BB962C8B-B14F-4D97-AF65-F5344CB8AC3E}">
        <ns3:creationId val="672271596"/>
      </ns0:ext>
    </ns0:extLst>
  </ns0:cSld>
</ns0:sld>
</file>

<file path=ppt/slides/slide32.xml><?xml version="1.0" encoding="utf-8"?>
<ns0:sld xmlns:a="http://schemas.openxmlformats.org/drawingml/2006/main" xmlns:ns0="http://schemas.openxmlformats.org/presentationml/2006/main" xmlns:ns2="http://schemas.microsoft.com/office/drawing/2014/main" xmlns:ns3="http://schemas.microsoft.com/office/powerpoint/2010/main">
  <ns0:cSld>
    <ns0:bg>
      <ns0:bgPr>
        <a:solidFill>
          <a:srgbClr val="FFFFFF"/>
        </a:solidFill>
      </ns0:bgPr>
    </ns0:bg>
    <ns0:spTree>
      <ns0:nvGrpSpPr>
        <ns0:cNvPr id="1" name=""/>
        <ns0:cNvGrpSpPr/>
        <ns0:nvPr/>
      </ns0:nvGrpSpPr>
      <ns0:grpSpPr>
        <a:xfrm/>
      </ns0:grpSpPr>
      <ns0:sp>
        <ns0:nvSpPr>
          <ns0:cNvPr id="11" name="">
            <a:extLst>
              <a:ext uri="{FF2B5EF4-FFF2-40B4-BE49-F238E27FC236}">
                <ns2:creationId id="{9B878012-AD9A-48A5-9056-A48A24118593}"/>
              </a:ext>
            </a:extLst>
          </ns0:cNvPr>
          <ns0:cNvSpPr>
            <a:spLocks noGrp="1"/>
          </ns0:cNvSpPr>
          <ns0:nvPr/>
        </ns0:nvSpPr>
        <ns0:spPr>
          <a:xfrm>
            <a:off x="571500" y="257175"/>
            <a:ext cx="11049000" cy="19050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0" tIns="0" rIns="0" bIns="0" anchor="t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1000" b="1" lang="pt-BR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1000" b="1" lang="pt-BR">
                <a:solidFill>
                  <a:srgbClr val="EC7000"/>
                </a:solidFill>
                <a:latin typeface="Arial"/>
                <a:ea typeface="Arial"/>
                <a:cs typeface="Arial"/>
              </a:rPr>
              <a:t>TOP 15 · HISTÓRICO</a:t>
            </a:r>
          </a:p>
        </ns0:txBody>
      </ns0:sp>
      <ns0:sp>
        <ns0:nvSpPr>
          <ns0:cNvPr id="2" name="">
            <a:extLst>
              <a:ext uri="{FF2B5EF4-FFF2-40B4-BE49-F238E27FC236}">
                <ns2:creationId id="{F612B6DD-8E82-496D-9351-2DA9D7A9B247}"/>
              </a:ext>
            </a:extLst>
          </ns0:cNvPr>
          <ns0:cNvSpPr>
            <a:spLocks noGrp="1"/>
          </ns0:cNvSpPr>
          <ns0:nvPr/>
        </ns0:nvSpPr>
        <ns0:spPr>
          <a:xfrm>
            <a:off x="571500" y="504825"/>
            <a:ext cx="11049000" cy="466725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0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2100" b="1" lang="pt-BR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2100" b="1" lang="pt-BR">
                <a:solidFill>
                  <a:srgbClr val="151515"/>
                </a:solidFill>
                <a:latin typeface="Arial"/>
                <a:ea typeface="Arial"/>
                <a:cs typeface="Arial"/>
              </a:rPr>
              <a:t>As maiores ofertas de 2023, com agência e nota em colunas separadas</a:t>
            </a:r>
          </a:p>
        </ns0:txBody>
      </ns0:sp>
      <ns0:sp>
        <ns0:nvSpPr>
          <ns0:cNvPr id="3" name="">
            <a:extLst>
              <a:ext uri="{FF2B5EF4-FFF2-40B4-BE49-F238E27FC236}">
                <ns2:creationId id="{713BBD39-4A00-4198-A43A-4C7FC61BCBFB}"/>
              </a:ext>
            </a:extLst>
          </ns0:cNvPr>
          <ns0:cNvSpPr>
            <a:spLocks noGrp="1"/>
          </ns0:cNvSpPr>
          <ns0:nvPr/>
        </ns0:nvSpPr>
        <ns0:spPr>
          <a:xfrm>
            <a:off x="571500" y="1047750"/>
            <a:ext cx="11049000" cy="9525"/>
          </a:xfrm>
          <a:prstGeom prst="rect">
            <a:avLst/>
          </a:prstGeom>
          <a:solidFill>
            <a:srgbClr val="D7DADD"/>
          </a:solidFill>
          <a:ln w="0">
            <a:noFill/>
            <a:prstDash val="solid"/>
          </a:ln>
        </ns0:spPr>
      </ns0:sp>
      <ns0:sp>
        <ns0:nvSpPr>
          <ns0:cNvPr id="4" name="">
            <a:extLst>
              <a:ext uri="{FF2B5EF4-FFF2-40B4-BE49-F238E27FC236}">
                <ns2:creationId id="{0FC6435B-6E9F-4BC8-B567-BBE17A0002B3}"/>
              </a:ext>
            </a:extLst>
          </ns0:cNvPr>
          <ns0:cNvSpPr>
            <a:spLocks noGrp="1"/>
          </ns0:cNvSpPr>
          <ns0:nvPr/>
        </ns0:nvSpPr>
        <ns0:spPr>
          <a:xfrm>
            <a:off x="571500" y="6353175"/>
            <a:ext cx="11049000" cy="9525"/>
          </a:xfrm>
          <a:prstGeom prst="rect">
            <a:avLst/>
          </a:prstGeom>
          <a:solidFill>
            <a:srgbClr val="D7DADD"/>
          </a:solidFill>
          <a:ln w="0">
            <a:noFill/>
            <a:prstDash val="solid"/>
          </a:ln>
        </ns0:spPr>
      </ns0:sp>
      <ns0:sp>
        <ns0:nvSpPr>
          <ns0:cNvPr id="5" name="">
            <a:extLst>
              <a:ext uri="{FF2B5EF4-FFF2-40B4-BE49-F238E27FC236}">
                <ns2:creationId id="{7F34A24D-4256-494F-8CF0-C1F4FCD31CAC}"/>
              </a:ext>
            </a:extLst>
          </ns0:cNvPr>
          <ns0:cNvSpPr>
            <a:spLocks noGrp="1"/>
          </ns0:cNvSpPr>
          <ns0:nvPr/>
        </ns0:nvSpPr>
        <ns0:spPr>
          <a:xfrm>
            <a:off x="571500" y="6419850"/>
            <a:ext cx="10001250" cy="1714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47625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rPr>
              <a:t>Fonte: CVM/SRE e FundosNet. 2023FY, ofertas primárias encerradas; volume registrado.</a:t>
            </a:r>
          </a:p>
        </ns0:txBody>
      </ns0:sp>
      <ns0:sp>
        <ns0:nvSpPr>
          <ns0:cNvPr id="6" name="">
            <a:extLst>
              <a:ext uri="{FF2B5EF4-FFF2-40B4-BE49-F238E27FC236}">
                <ns2:creationId id="{BC75013A-404F-4FD6-8D0A-DD312050F735}"/>
              </a:ext>
            </a:extLst>
          </ns0:cNvPr>
          <ns0:cNvSpPr>
            <a:spLocks noGrp="1"/>
          </ns0:cNvSpPr>
          <ns0:nvPr/>
        </ns0:nvSpPr>
        <ns0:spPr>
          <a:xfrm>
            <a:off x="11144250" y="6410325"/>
            <a:ext cx="476250" cy="1714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ctr">
            <a:normAutofit fontScale="100000"/>
          </a:bodyPr>
          <a:lstStyle/>
          <a:p>
            <a:pPr algn="r">
              <a:lnSpc>
                <a:spcPct val="100000"/>
              </a:lnSpc>
              <a:buNone/>
              <a:def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rPr>
              <a:t>32</a:t>
            </a:r>
          </a:p>
        </ns0:txBody>
      </ns0:sp>
      <ns0:sp>
        <ns0:nvSpPr>
          <ns0:cNvPr id="7" name="">
            <a:extLst>
              <a:ext uri="{FF2B5EF4-FFF2-40B4-BE49-F238E27FC236}">
                <ns2:creationId id="{CAB13BE4-DB09-4CF3-B138-7E004088B830}"/>
              </a:ext>
            </a:extLst>
          </ns0:cNvPr>
          <ns0:cNvSpPr>
            <a:spLocks noGrp="1"/>
          </ns0:cNvSpPr>
          <ns0:nvPr/>
        </ns0:nvSpPr>
        <ns0:spPr>
          <a:xfrm>
            <a:off x="571500" y="1143000"/>
            <a:ext cx="11049000" cy="2095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1125" b="1" lang="pt-BR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 lang="pt-BR">
                <a:solidFill>
                  <a:srgbClr val="30353A"/>
                </a:solidFill>
                <a:latin typeface="Arial"/>
                <a:ea typeface="Arial"/>
                <a:cs typeface="Arial"/>
              </a:rPr>
              <a:t>2023 FY · Top 15 · 2/2</a:t>
            </a:r>
          </a:p>
        </ns0:txBody>
      </ns0:sp>
      <ns0:sp>
        <ns0:nvSpPr>
          <ns0:cNvPr id="8" name="">
            <a:extLst>
              <a:ext uri="{FF2B5EF4-FFF2-40B4-BE49-F238E27FC236}">
                <ns2:creationId id="{B4F5621B-4B0B-42D8-87E1-BBF84B2D335C}"/>
              </a:ext>
            </a:extLst>
          </ns0:cNvPr>
          <ns0:cNvSpPr>
            <a:spLocks noGrp="1"/>
          </ns0:cNvSpPr>
          <ns0:nvPr/>
        </ns0:nvSpPr>
        <ns0:spPr>
          <a:xfrm>
            <a:off x="571500" y="1390650"/>
            <a:ext cx="11049000" cy="9525"/>
          </a:xfrm>
          <a:prstGeom prst="rect">
            <a:avLst/>
          </a:prstGeom>
          <a:solidFill>
            <a:srgbClr val="D7DADD"/>
          </a:solidFill>
          <a:ln w="0">
            <a:noFill/>
            <a:prstDash val="solid"/>
          </a:ln>
        </ns0:spPr>
      </ns0:sp>
      <ns0:graphicFrame>
        <ns0:nvGraphicFramePr>
          <ns0:cNvPr id="19" name=""/>
          <ns0:cNvGraphicFramePr/>
          <ns0:nvPr/>
        </ns0:nvGraphicFramePr>
        <ns0:xfrm>
          <a:off x="571500" y="1438275"/>
          <a:ext cx="11049000" cy="4095750"/>
        </ns0:xfrm>
        <a:graphic>
          <a:graphicData uri="http://schemas.openxmlformats.org/drawingml/2006/table">
            <a:tbl>
              <a:tblPr firstRow="0" firstCol="0" lastRow="0" lastCol="0" bandRow="0" bandCol="0"/>
              <a:tblGrid>
                <a:gridCol w="285750"/>
                <a:gridCol w="571500"/>
                <a:gridCol w="1266825"/>
                <a:gridCol w="1428750"/>
                <a:gridCol w="952500"/>
                <a:gridCol w="952500"/>
                <a:gridCol w="876300"/>
                <a:gridCol w="1285875"/>
                <a:gridCol w="1095375"/>
                <a:gridCol w="857250"/>
                <a:gridCol w="904875"/>
                <a:gridCol w="571500"/>
              </a:tblGrid>
              <a:tr h="221456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300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#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300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Emis.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300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CNPJ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300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FIDC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300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Originador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300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Cedente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300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Sub. mín.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300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Preço por cota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300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Sacado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300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Agência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300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Rating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300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R$ bi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</a:tr>
              <a:tr h="407194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9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3865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34850088000152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SUMUP I MEIOS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S&amp;P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brAAA (sf)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0,50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  <a:tr h="407194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10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2036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49920525000134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GREEN SOLFÁCIL III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Fitch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AA+sf(bra)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0,48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  <a:tr h="407194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11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2004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50098465000103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CHEMICAL XIII - -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Braskem*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0,44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  <a:tr h="407194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12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1131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24761946000139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CREDZ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0,40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  <a:tr h="407194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13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3138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50988212000105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SUPPLIER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Supplier*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0,40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  <a:tr h="407194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14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1519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50440392000188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PLATINUM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0,36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  <a:tr h="407194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15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1433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35159296000172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ATRANI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0,30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ns0:graphicFrame>
      <ns0:sp>
        <ns0:nvSpPr>
          <ns0:cNvPr id="10" name="">
            <a:extLst>
              <a:ext uri="{FF2B5EF4-FFF2-40B4-BE49-F238E27FC236}">
                <ns2:creationId id="{474501C7-D4A1-461E-8920-6FC547B95D7C}"/>
              </a:ext>
            </a:extLst>
          </ns0:cNvPr>
          <ns0:cNvSpPr>
            <a:spLocks noGrp="1"/>
          </ns0:cNvSpPr>
          <ns0:nvPr/>
        </ns0:nvSpPr>
        <ns0:spPr>
          <a:xfrm>
            <a:off x="571500" y="5715000"/>
            <a:ext cx="11049000" cy="3238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0" tIns="0" rIns="0" bIns="0" anchor="ctr">
            <a:normAutofit fontScale="100000"/>
          </a:bodyPr>
          <a:lstStyle/>
          <a:p>
            <a:pPr algn="r">
              <a:lnSpc>
                <a:spcPct val="100000"/>
              </a:lnSpc>
              <a:buNone/>
              <a:def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rPr>
              <a:t>Subtotal Top 15: R$ 9,65 bi · 36,5% do período. * = exceção ou múltiplas classes.</a:t>
            </a:r>
          </a:p>
        </ns0:txBody>
      </ns0:sp>
    </ns0:spTree>
    <ns0:extLst>
      <ns0:ext uri="{BB962C8B-B14F-4D97-AF65-F5344CB8AC3E}">
        <ns3:creationId val="1818940396"/>
      </ns0:ext>
    </ns0:extLst>
  </ns0:cSld>
</ns0:sld>
</file>

<file path=ppt/slides/slide33.xml><?xml version="1.0" encoding="utf-8"?>
<ns0:sld xmlns:a="http://schemas.openxmlformats.org/drawingml/2006/main" xmlns:ns0="http://schemas.openxmlformats.org/presentationml/2006/main" xmlns:ns2="http://schemas.microsoft.com/office/drawing/2014/main" xmlns:ns3="http://schemas.microsoft.com/office/powerpoint/2010/main">
  <ns0:cSld>
    <ns0:bg>
      <ns0:bgPr>
        <a:solidFill>
          <a:srgbClr val="FFFFFF"/>
        </a:solidFill>
      </ns0:bgPr>
    </ns0:bg>
    <ns0:spTree>
      <ns0:nvGrpSpPr>
        <ns0:cNvPr id="1" name=""/>
        <ns0:cNvGrpSpPr/>
        <ns0:nvPr/>
      </ns0:nvGrpSpPr>
      <ns0:grpSpPr>
        <a:xfrm/>
      </ns0:grpSpPr>
      <ns0:sp>
        <ns0:nvSpPr>
          <ns0:cNvPr id="28" name="">
            <a:extLst>
              <a:ext uri="{FF2B5EF4-FFF2-40B4-BE49-F238E27FC236}">
                <ns2:creationId id="{464B9CB6-55D0-48CF-A17C-EC2047E3516F}"/>
              </a:ext>
            </a:extLst>
          </ns0:cNvPr>
          <ns0:cNvSpPr>
            <a:spLocks noGrp="1"/>
          </ns0:cNvSpPr>
          <ns0:nvPr/>
        </ns0:nvSpPr>
        <ns0:spPr>
          <a:xfrm>
            <a:off x="571500" y="257175"/>
            <a:ext cx="11049000" cy="409575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0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2100" b="1" lang="pt-BR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2100" b="1" lang="pt-BR">
                <a:solidFill>
                  <a:srgbClr val="151515"/>
                </a:solidFill>
                <a:latin typeface="Arial"/>
                <a:ea typeface="Arial"/>
                <a:cs typeface="Arial"/>
              </a:rPr>
              <a:t>O que muda a leitura do mercado</a:t>
            </a:r>
          </a:p>
        </ns0:txBody>
      </ns0:sp>
      <ns0:sp>
        <ns0:nvSpPr>
          <ns0:cNvPr id="2" name="">
            <a:extLst>
              <a:ext uri="{FF2B5EF4-FFF2-40B4-BE49-F238E27FC236}">
                <ns2:creationId id="{3FE700E8-3361-4C05-83A6-B1B5DE4B97AA}"/>
              </a:ext>
            </a:extLst>
          </ns0:cNvPr>
          <ns0:cNvSpPr>
            <a:spLocks noGrp="1"/>
          </ns0:cNvSpPr>
          <ns0:nvPr/>
        </ns0:nvSpPr>
        <ns0:spPr>
          <a:xfrm>
            <a:off x="571500" y="723900"/>
            <a:ext cx="11049000" cy="238125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0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1050" b="0" lang="pt-BR">
                <a:solidFill>
                  <a:srgbClr val="73787D"/>
                </a:solidFill>
                <a:latin typeface="Arial"/>
                <a:ea typeface="Arial"/>
                <a:cs typeface="Arial"/>
              </a:defRPr>
            </a:pPr>
            <a:r>
              <a:rPr sz="1050" b="0" lang="pt-BR">
                <a:solidFill>
                  <a:srgbClr val="73787D"/>
                </a:solidFill>
                <a:latin typeface="Arial"/>
                <a:ea typeface="Arial"/>
                <a:cs typeface="Arial"/>
              </a:rPr>
              <a:t>Distribuição, prestadores, migração e ofertas</a:t>
            </a:r>
          </a:p>
        </ns0:txBody>
      </ns0:sp>
      <ns0:sp>
        <ns0:nvSpPr>
          <ns0:cNvPr id="3" name="">
            <a:extLst>
              <a:ext uri="{FF2B5EF4-FFF2-40B4-BE49-F238E27FC236}">
                <ns2:creationId id="{8E229A0D-3665-4FC9-8953-1054EB201285}"/>
              </a:ext>
            </a:extLst>
          </ns0:cNvPr>
          <ns0:cNvSpPr>
            <a:spLocks noGrp="1"/>
          </ns0:cNvSpPr>
          <ns0:nvPr/>
        </ns0:nvSpPr>
        <ns0:spPr>
          <a:xfrm>
            <a:off x="571500" y="1047750"/>
            <a:ext cx="11049000" cy="9525"/>
          </a:xfrm>
          <a:prstGeom prst="rect">
            <a:avLst/>
          </a:prstGeom>
          <a:solidFill>
            <a:srgbClr val="D7DADD"/>
          </a:solidFill>
          <a:ln w="0">
            <a:noFill/>
            <a:prstDash val="solid"/>
          </a:ln>
        </ns0:spPr>
      </ns0:sp>
      <ns0:sp>
        <ns0:nvSpPr>
          <ns0:cNvPr id="4" name="">
            <a:extLst>
              <a:ext uri="{FF2B5EF4-FFF2-40B4-BE49-F238E27FC236}">
                <ns2:creationId id="{B38D1981-E498-40F0-974F-1BA6B8204C5A}"/>
              </a:ext>
            </a:extLst>
          </ns0:cNvPr>
          <ns0:cNvSpPr>
            <a:spLocks noGrp="1"/>
          </ns0:cNvSpPr>
          <ns0:nvPr/>
        </ns0:nvSpPr>
        <ns0:spPr>
          <a:xfrm>
            <a:off x="571500" y="6353175"/>
            <a:ext cx="11049000" cy="9525"/>
          </a:xfrm>
          <a:prstGeom prst="rect">
            <a:avLst/>
          </a:prstGeom>
          <a:solidFill>
            <a:srgbClr val="D7DADD"/>
          </a:solidFill>
          <a:ln w="0">
            <a:noFill/>
            <a:prstDash val="solid"/>
          </a:ln>
        </ns0:spPr>
      </ns0:sp>
      <ns0:sp>
        <ns0:nvSpPr>
          <ns0:cNvPr id="5" name="">
            <a:extLst>
              <a:ext uri="{FF2B5EF4-FFF2-40B4-BE49-F238E27FC236}">
                <ns2:creationId id="{FE5E3422-EF1E-419B-9ACB-AAE055142177}"/>
              </a:ext>
            </a:extLst>
          </ns0:cNvPr>
          <ns0:cNvSpPr>
            <a:spLocks noGrp="1"/>
          </ns0:cNvSpPr>
          <ns0:nvPr/>
        </ns0:nvSpPr>
        <ns0:spPr>
          <a:xfrm>
            <a:off x="571500" y="6419850"/>
            <a:ext cx="10001250" cy="1714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47625" tIns="0" rIns="0" bIns="0" anchor="ctr">
            <a:normAutofit fontScale="56284"/>
          </a:bodyPr>
          <a:lstStyle/>
          <a:p>
            <a:pPr algn="l">
              <a:lnSpc>
                <a:spcPct val="100000"/>
              </a:lnSpc>
              <a:buNone/>
              <a:def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rPr>
              <a:t>Fontes: CVM, ANBIMA e BCB; coorte bancária curada a partir dos conglomerados prudenciais. PF: proxy com 97,3% de cobertura; contas não equivalem a investidores únicos. Verticalização no universo elegível; Top 10 ex-Petrobras/TAPSO. BTG: 30/32 raízes observadas; ofertas CVM e ANBIMA até 30/jun/26.</a:t>
            </a:r>
          </a:p>
        </ns0:txBody>
      </ns0:sp>
      <ns0:sp>
        <ns0:nvSpPr>
          <ns0:cNvPr id="6" name="">
            <a:extLst>
              <a:ext uri="{FF2B5EF4-FFF2-40B4-BE49-F238E27FC236}">
                <ns2:creationId id="{A8E17C69-4A95-4CC0-939D-F0F5D03C966A}"/>
              </a:ext>
            </a:extLst>
          </ns0:cNvPr>
          <ns0:cNvSpPr>
            <a:spLocks noGrp="1"/>
          </ns0:cNvSpPr>
          <ns0:nvPr/>
        </ns0:nvSpPr>
        <ns0:spPr>
          <a:xfrm>
            <a:off x="11144250" y="6410325"/>
            <a:ext cx="476250" cy="1714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ctr">
            <a:normAutofit fontScale="100000"/>
          </a:bodyPr>
          <a:lstStyle/>
          <a:p>
            <a:pPr algn="r">
              <a:lnSpc>
                <a:spcPct val="100000"/>
              </a:lnSpc>
              <a:buNone/>
              <a:def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rPr>
              <a:t>33</a:t>
            </a:r>
          </a:p>
        </ns0:txBody>
      </ns0:sp>
      <ns0:sp>
        <ns0:nvSpPr>
          <ns0:cNvPr id="7" name="">
            <a:extLst>
              <a:ext uri="{FF2B5EF4-FFF2-40B4-BE49-F238E27FC236}">
                <ns2:creationId id="{0BA6C11C-061B-456F-9184-B87A8E99E4F0}"/>
              </a:ext>
            </a:extLst>
          </ns0:cNvPr>
          <ns0:cNvSpPr>
            <a:spLocks noGrp="1"/>
          </ns0:cNvSpPr>
          <ns0:nvPr/>
        </ns0:nvSpPr>
        <ns0:spPr>
          <a:xfrm>
            <a:off x="571500" y="1257300"/>
            <a:ext cx="5143500" cy="19050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t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1000" b="1" lang="pt-BR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1000" b="1" lang="pt-BR">
                <a:solidFill>
                  <a:srgbClr val="EC7000"/>
                </a:solidFill>
                <a:latin typeface="Arial"/>
                <a:ea typeface="Arial"/>
                <a:cs typeface="Arial"/>
              </a:rPr>
              <a:t>01 · DISTRIBUIÇÃO APÓS A RCVM 175 SEGUE INSTITUCIONAL E CONCENTRADA</a:t>
            </a:r>
          </a:p>
        </ns0:txBody>
      </ns0:sp>
      <ns0:sp>
        <ns0:nvSpPr>
          <ns0:cNvPr id="8" name="">
            <a:extLst>
              <a:ext uri="{FF2B5EF4-FFF2-40B4-BE49-F238E27FC236}">
                <ns2:creationId id="{9C8A103D-819A-4639-B660-05260459FA99}"/>
              </a:ext>
            </a:extLst>
          </ns0:cNvPr>
          <ns0:cNvSpPr>
            <a:spLocks noGrp="1"/>
          </ns0:cNvSpPr>
          <ns0:nvPr/>
        </ns0:nvSpPr>
        <ns0:spPr>
          <a:xfrm>
            <a:off x="571500" y="1495425"/>
            <a:ext cx="5143500" cy="8191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t">
            <a:normAutofit fontScale="100000"/>
          </a:bodyPr>
          <a:lstStyle/>
          <a:p>
            <a:pPr algn="l">
              <a:lnSpc>
                <a:spcPct val="102000"/>
              </a:lnSpc>
              <a:buNone/>
              <a:defRPr sz="1000" b="0" lang="pt-BR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000" b="0" lang="pt-BR">
                <a:solidFill>
                  <a:srgbClr val="30353A"/>
                </a:solidFill>
                <a:latin typeface="Arial"/>
                <a:ea typeface="Arial"/>
                <a:cs typeface="Arial"/>
              </a:rPr>
              <a:t>• A mediana foi de R$ 22,5 mi, apenas 26% do ticket médio de R$ 84,9 mi; 22 ofertas de R$ 500 mi ou mais — 2,9% do total — concentraram 42,2% do volume.</a:t>
            </a:r>
          </a:p>
          <a:p>
            <a:pPr algn="l">
              <a:lnSpc>
                <a:spcPct val="102000"/>
              </a:lnSpc>
              <a:buNone/>
              <a:defRPr sz="1000" b="0" lang="pt-BR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000" b="0" lang="pt-BR">
                <a:solidFill>
                  <a:srgbClr val="30353A"/>
                </a:solidFill>
                <a:latin typeface="Arial"/>
                <a:ea typeface="Arial"/>
                <a:cs typeface="Arial"/>
              </a:rPr>
              <a:t>• Pessoas físicas responderam por apenas 4,0% do volume colocado estimado; entre os fundos com PL ≥ R$ 200 mi, 58,4% têm até dez contas.</a:t>
            </a:r>
          </a:p>
        </ns0:txBody>
      </ns0:sp>
      <ns0:sp>
        <ns0:nvSpPr>
          <ns0:cNvPr id="9" name="">
            <a:extLst>
              <a:ext uri="{FF2B5EF4-FFF2-40B4-BE49-F238E27FC236}">
                <ns2:creationId id="{FB53F50D-C0D5-4F96-B35A-951BF0371B40}"/>
              </a:ext>
            </a:extLst>
          </ns0:cNvPr>
          <ns0:cNvSpPr>
            <a:spLocks noGrp="1"/>
          </ns0:cNvSpPr>
          <ns0:nvPr/>
        </ns0:nvSpPr>
        <ns0:spPr>
          <a:xfrm>
            <a:off x="571500" y="2371725"/>
            <a:ext cx="5143500" cy="6668"/>
          </a:xfrm>
          <a:prstGeom prst="rect">
            <a:avLst/>
          </a:prstGeom>
          <a:solidFill>
            <a:srgbClr val="D7DADD"/>
          </a:solidFill>
          <a:ln w="0">
            <a:noFill/>
            <a:prstDash val="solid"/>
          </a:ln>
        </ns0:spPr>
      </ns0:sp>
      <ns0:sp>
        <ns0:nvSpPr>
          <ns0:cNvPr id="10" name="">
            <a:extLst>
              <a:ext uri="{FF2B5EF4-FFF2-40B4-BE49-F238E27FC236}">
                <ns2:creationId id="{B650A1CE-9B45-407B-949C-8F90AF3C5130}"/>
              </a:ext>
            </a:extLst>
          </ns0:cNvPr>
          <ns0:cNvSpPr>
            <a:spLocks noGrp="1"/>
          </ns0:cNvSpPr>
          <ns0:nvPr/>
        </ns0:nvSpPr>
        <ns0:spPr>
          <a:xfrm>
            <a:off x="6286500" y="1257300"/>
            <a:ext cx="5143500" cy="19050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t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1000" b="1" lang="pt-BR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1000" b="1" lang="pt-BR">
                <a:solidFill>
                  <a:srgbClr val="EC7000"/>
                </a:solidFill>
                <a:latin typeface="Arial"/>
                <a:ea typeface="Arial"/>
                <a:cs typeface="Arial"/>
              </a:rPr>
              <a:t>02 · VERTICALIZAÇÃO DEFINE O MODELO OPERACIONAL DA INDÚSTRIA</a:t>
            </a:r>
          </a:p>
        </ns0:txBody>
      </ns0:sp>
      <ns0:sp>
        <ns0:nvSpPr>
          <ns0:cNvPr id="11" name="">
            <a:extLst>
              <a:ext uri="{FF2B5EF4-FFF2-40B4-BE49-F238E27FC236}">
                <ns2:creationId id="{E05D0E1A-0273-407A-94C5-41D6D1B81F01}"/>
              </a:ext>
            </a:extLst>
          </ns0:cNvPr>
          <ns0:cNvSpPr>
            <a:spLocks noGrp="1"/>
          </ns0:cNvSpPr>
          <ns0:nvPr/>
        </ns0:nvSpPr>
        <ns0:spPr>
          <a:xfrm>
            <a:off x="6286500" y="1495425"/>
            <a:ext cx="5143500" cy="8191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t">
            <a:normAutofit fontScale="100000"/>
          </a:bodyPr>
          <a:lstStyle/>
          <a:p>
            <a:pPr algn="l">
              <a:lnSpc>
                <a:spcPct val="102000"/>
              </a:lnSpc>
              <a:buNone/>
              <a:defRPr sz="1000" b="0" lang="pt-BR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000" b="0" lang="pt-BR">
                <a:solidFill>
                  <a:srgbClr val="30353A"/>
                </a:solidFill>
                <a:latin typeface="Arial"/>
                <a:ea typeface="Arial"/>
                <a:cs typeface="Arial"/>
              </a:rPr>
              <a:t>• Administração e custódia estão no mesmo conglomerado em 90,7% do PL: nove em cada dez reais da indústria.</a:t>
            </a:r>
          </a:p>
          <a:p>
            <a:pPr algn="l">
              <a:lnSpc>
                <a:spcPct val="102000"/>
              </a:lnSpc>
              <a:buNone/>
              <a:defRPr sz="1000" b="0" lang="pt-BR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000" b="0" lang="pt-BR">
                <a:solidFill>
                  <a:srgbClr val="30353A"/>
                </a:solidFill>
                <a:latin typeface="Arial"/>
                <a:ea typeface="Arial"/>
                <a:cs typeface="Arial"/>
              </a:rPr>
              <a:t>• Monoestruturas, com as três funções no mesmo grupo, já concentram 40,4% do PL.</a:t>
            </a:r>
          </a:p>
        </ns0:txBody>
      </ns0:sp>
      <ns0:sp>
        <ns0:nvSpPr>
          <ns0:cNvPr id="12" name="">
            <a:extLst>
              <a:ext uri="{FF2B5EF4-FFF2-40B4-BE49-F238E27FC236}">
                <ns2:creationId id="{5287FA37-04BE-4D20-B2F0-B37AAFE9FC49}"/>
              </a:ext>
            </a:extLst>
          </ns0:cNvPr>
          <ns0:cNvSpPr>
            <a:spLocks noGrp="1"/>
          </ns0:cNvSpPr>
          <ns0:nvPr/>
        </ns0:nvSpPr>
        <ns0:spPr>
          <a:xfrm>
            <a:off x="6286500" y="2371725"/>
            <a:ext cx="5143500" cy="6668"/>
          </a:xfrm>
          <a:prstGeom prst="rect">
            <a:avLst/>
          </a:prstGeom>
          <a:solidFill>
            <a:srgbClr val="D7DADD"/>
          </a:solidFill>
          <a:ln w="0">
            <a:noFill/>
            <a:prstDash val="solid"/>
          </a:ln>
        </ns0:spPr>
      </ns0:sp>
      <ns0:sp>
        <ns0:nvSpPr>
          <ns0:cNvPr id="13" name="">
            <a:extLst>
              <a:ext uri="{FF2B5EF4-FFF2-40B4-BE49-F238E27FC236}">
                <ns2:creationId id="{1848CC92-A3D6-42AF-BA7C-76B0E0E13F15}"/>
              </a:ext>
            </a:extLst>
          </ns0:cNvPr>
          <ns0:cNvSpPr>
            <a:spLocks noGrp="1"/>
          </ns0:cNvSpPr>
          <ns0:nvPr/>
        </ns0:nvSpPr>
        <ns0:spPr>
          <a:xfrm>
            <a:off x="571500" y="2476500"/>
            <a:ext cx="5143500" cy="19050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t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1000" b="1" lang="pt-BR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1000" b="1" lang="pt-BR">
                <a:solidFill>
                  <a:srgbClr val="EC7000"/>
                </a:solidFill>
                <a:latin typeface="Arial"/>
                <a:ea typeface="Arial"/>
                <a:cs typeface="Arial"/>
              </a:rPr>
              <a:t>03 · ESCALA INDEPENDENTE ESTÁ CONCENTRADA EM POUCAS PLATAFORMAS</a:t>
            </a:r>
          </a:p>
        </ns0:txBody>
      </ns0:sp>
      <ns0:sp>
        <ns0:nvSpPr>
          <ns0:cNvPr id="14" name="">
            <a:extLst>
              <a:ext uri="{FF2B5EF4-FFF2-40B4-BE49-F238E27FC236}">
                <ns2:creationId id="{BDA8DDD7-E86F-4D26-BEAC-7B9CBB302770}"/>
              </a:ext>
            </a:extLst>
          </ns0:cNvPr>
          <ns0:cNvSpPr>
            <a:spLocks noGrp="1"/>
          </ns0:cNvSpPr>
          <ns0:nvPr/>
        </ns0:nvSpPr>
        <ns0:spPr>
          <a:xfrm>
            <a:off x="571500" y="2714625"/>
            <a:ext cx="5143500" cy="8191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t">
            <a:normAutofit fontScale="100000"/>
          </a:bodyPr>
          <a:lstStyle/>
          <a:p>
            <a:pPr algn="l">
              <a:lnSpc>
                <a:spcPct val="102000"/>
              </a:lnSpc>
              <a:buNone/>
              <a:defRPr sz="1000" b="0" lang="pt-BR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000" b="0" lang="pt-BR">
                <a:solidFill>
                  <a:srgbClr val="30353A"/>
                </a:solidFill>
                <a:latin typeface="Arial"/>
                <a:ea typeface="Arial"/>
                <a:cs typeface="Arial"/>
              </a:rPr>
              <a:t>• QI Tech lidera administração e está em empate técnico com o BTG em custódia; 96% de sua base administrativa em dez/24 veio do legado Singulare.</a:t>
            </a:r>
          </a:p>
          <a:p>
            <a:pPr algn="l">
              <a:lnSpc>
                <a:spcPct val="102000"/>
              </a:lnSpc>
              <a:buNone/>
              <a:defRPr sz="1000" b="0" lang="pt-BR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000" b="0" lang="pt-BR">
                <a:solidFill>
                  <a:srgbClr val="30353A"/>
                </a:solidFill>
                <a:latin typeface="Arial"/>
                <a:ea typeface="Arial"/>
                <a:cs typeface="Arial"/>
              </a:rPr>
              <a:t>• Oliveira Trust é a terceira maior gestora, com R$ 35,0 bi; na coorte CBSF/Reag, 35,1% do PL continuante já havia migrado de administrador até jun/26.</a:t>
            </a:r>
          </a:p>
        </ns0:txBody>
      </ns0:sp>
      <ns0:sp>
        <ns0:nvSpPr>
          <ns0:cNvPr id="15" name="">
            <a:extLst>
              <a:ext uri="{FF2B5EF4-FFF2-40B4-BE49-F238E27FC236}">
                <ns2:creationId id="{27767C29-07D1-4997-BE7F-B6A65D834948}"/>
              </a:ext>
            </a:extLst>
          </ns0:cNvPr>
          <ns0:cNvSpPr>
            <a:spLocks noGrp="1"/>
          </ns0:cNvSpPr>
          <ns0:nvPr/>
        </ns0:nvSpPr>
        <ns0:spPr>
          <a:xfrm>
            <a:off x="571500" y="3590925"/>
            <a:ext cx="5143500" cy="6668"/>
          </a:xfrm>
          <a:prstGeom prst="rect">
            <a:avLst/>
          </a:prstGeom>
          <a:solidFill>
            <a:srgbClr val="D7DADD"/>
          </a:solidFill>
          <a:ln w="0">
            <a:noFill/>
            <a:prstDash val="solid"/>
          </a:ln>
        </ns0:spPr>
      </ns0:sp>
      <ns0:sp>
        <ns0:nvSpPr>
          <ns0:cNvPr id="16" name="">
            <a:extLst>
              <a:ext uri="{FF2B5EF4-FFF2-40B4-BE49-F238E27FC236}">
                <ns2:creationId id="{E8EBA557-363E-4A68-9726-320677A8B9FF}"/>
              </a:ext>
            </a:extLst>
          </ns0:cNvPr>
          <ns0:cNvSpPr>
            <a:spLocks noGrp="1"/>
          </ns0:cNvSpPr>
          <ns0:nvPr/>
        </ns0:nvSpPr>
        <ns0:spPr>
          <a:xfrm>
            <a:off x="6286500" y="2476500"/>
            <a:ext cx="5143500" cy="19050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t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1000" b="1" lang="pt-BR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1000" b="1" lang="pt-BR">
                <a:solidFill>
                  <a:srgbClr val="EC7000"/>
                </a:solidFill>
                <a:latin typeface="Arial"/>
                <a:ea typeface="Arial"/>
                <a:cs typeface="Arial"/>
              </a:rPr>
              <a:t>04 · MOVIMENTAÇÃO DE ADMINISTRADORES FOI BAIXA E CONCENTRADA</a:t>
            </a:r>
          </a:p>
        </ns0:txBody>
      </ns0:sp>
      <ns0:sp>
        <ns0:nvSpPr>
          <ns0:cNvPr id="17" name="">
            <a:extLst>
              <a:ext uri="{FF2B5EF4-FFF2-40B4-BE49-F238E27FC236}">
                <ns2:creationId id="{B0BB7DE0-0F3D-463D-A958-F2C70D7B24F3}"/>
              </a:ext>
            </a:extLst>
          </ns0:cNvPr>
          <ns0:cNvSpPr>
            <a:spLocks noGrp="1"/>
          </ns0:cNvSpPr>
          <ns0:nvPr/>
        </ns0:nvSpPr>
        <ns0:spPr>
          <a:xfrm>
            <a:off x="6286500" y="2714625"/>
            <a:ext cx="5143500" cy="8191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t">
            <a:normAutofit fontScale="100000"/>
          </a:bodyPr>
          <a:lstStyle/>
          <a:p>
            <a:pPr algn="l">
              <a:lnSpc>
                <a:spcPct val="102000"/>
              </a:lnSpc>
              <a:buNone/>
              <a:defRPr sz="1000" b="0" lang="pt-BR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000" b="0" lang="pt-BR">
                <a:solidFill>
                  <a:srgbClr val="30353A"/>
                </a:solidFill>
                <a:latin typeface="Arial"/>
                <a:ea typeface="Arial"/>
                <a:cs typeface="Arial"/>
              </a:rPr>
              <a:t>• Apenas 7,6% do PL comparável trocou de administrador entre dez/24 e dez/25: R$ 32,4 bi em 243 fundos.</a:t>
            </a:r>
          </a:p>
          <a:p>
            <a:pPr algn="l">
              <a:lnSpc>
                <a:spcPct val="102000"/>
              </a:lnSpc>
              <a:buNone/>
              <a:defRPr sz="1000" b="0" lang="pt-BR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000" b="0" lang="pt-BR">
                <a:solidFill>
                  <a:srgbClr val="30353A"/>
                </a:solidFill>
                <a:latin typeface="Arial"/>
                <a:ea typeface="Arial"/>
                <a:cs typeface="Arial"/>
              </a:rPr>
              <a:t>• Os dois FIDCs Cielo responderam sozinhos por 28% do volume migrado, com R$ 8,9 bi transferidos de Oliveira Trust para Bradesco.</a:t>
            </a:r>
          </a:p>
        </ns0:txBody>
      </ns0:sp>
      <ns0:sp>
        <ns0:nvSpPr>
          <ns0:cNvPr id="18" name="">
            <a:extLst>
              <a:ext uri="{FF2B5EF4-FFF2-40B4-BE49-F238E27FC236}">
                <ns2:creationId id="{03A2318A-AB8C-4D91-BB92-9EEC3D0F250D}"/>
              </a:ext>
            </a:extLst>
          </ns0:cNvPr>
          <ns0:cNvSpPr>
            <a:spLocks noGrp="1"/>
          </ns0:cNvSpPr>
          <ns0:nvPr/>
        </ns0:nvSpPr>
        <ns0:spPr>
          <a:xfrm>
            <a:off x="6286500" y="3590925"/>
            <a:ext cx="5143500" cy="6668"/>
          </a:xfrm>
          <a:prstGeom prst="rect">
            <a:avLst/>
          </a:prstGeom>
          <a:solidFill>
            <a:srgbClr val="D7DADD"/>
          </a:solidFill>
          <a:ln w="0">
            <a:noFill/>
            <a:prstDash val="solid"/>
          </a:ln>
        </ns0:spPr>
      </ns0:sp>
      <ns0:sp>
        <ns0:nvSpPr>
          <ns0:cNvPr id="19" name="">
            <a:extLst>
              <a:ext uri="{FF2B5EF4-FFF2-40B4-BE49-F238E27FC236}">
                <ns2:creationId id="{7A284B1D-F449-41DE-819A-B4FDB4645E79}"/>
              </a:ext>
            </a:extLst>
          </ns0:cNvPr>
          <ns0:cNvSpPr>
            <a:spLocks noGrp="1"/>
          </ns0:cNvSpPr>
          <ns0:nvPr/>
        </ns0:nvSpPr>
        <ns0:spPr>
          <a:xfrm>
            <a:off x="571500" y="3695700"/>
            <a:ext cx="5143500" cy="19050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t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1000" b="1" lang="pt-BR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1000" b="1" lang="pt-BR">
                <a:solidFill>
                  <a:srgbClr val="EC7000"/>
                </a:solidFill>
                <a:latin typeface="Arial"/>
                <a:ea typeface="Arial"/>
                <a:cs typeface="Arial"/>
              </a:rPr>
              <a:t>05 · GESTÃO É A FUNÇÃO MAIS PULVERIZADA</a:t>
            </a:r>
          </a:p>
        </ns0:txBody>
      </ns0:sp>
      <ns0:sp>
        <ns0:nvSpPr>
          <ns0:cNvPr id="20" name="">
            <a:extLst>
              <a:ext uri="{FF2B5EF4-FFF2-40B4-BE49-F238E27FC236}">
                <ns2:creationId id="{67457A20-7B90-429B-B2BD-3B945DF790E6}"/>
              </a:ext>
            </a:extLst>
          </ns0:cNvPr>
          <ns0:cNvSpPr>
            <a:spLocks noGrp="1"/>
          </ns0:cNvSpPr>
          <ns0:nvPr/>
        </ns0:nvSpPr>
        <ns0:spPr>
          <a:xfrm>
            <a:off x="571500" y="3933825"/>
            <a:ext cx="5143500" cy="8191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t">
            <a:normAutofit fontScale="100000"/>
          </a:bodyPr>
          <a:lstStyle/>
          <a:p>
            <a:pPr algn="l">
              <a:lnSpc>
                <a:spcPct val="102000"/>
              </a:lnSpc>
              <a:buNone/>
              <a:defRPr sz="1000" b="0" lang="pt-BR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000" b="0" lang="pt-BR">
                <a:solidFill>
                  <a:srgbClr val="30353A"/>
                </a:solidFill>
                <a:latin typeface="Arial"/>
                <a:ea typeface="Arial"/>
                <a:cs typeface="Arial"/>
              </a:rPr>
              <a:t>• As dez maiores gestoras reúnem apenas 38,9% do PL ex-FIC; a líder, BTG, tem 11,0%.</a:t>
            </a:r>
          </a:p>
          <a:p>
            <a:pPr algn="l">
              <a:lnSpc>
                <a:spcPct val="102000"/>
              </a:lnSpc>
              <a:buNone/>
              <a:defRPr sz="1000" b="0" lang="pt-BR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000" b="0" lang="pt-BR">
                <a:solidFill>
                  <a:srgbClr val="30353A"/>
                </a:solidFill>
                <a:latin typeface="Arial"/>
                <a:ea typeface="Arial"/>
                <a:cs typeface="Arial"/>
              </a:rPr>
              <a:t>• Administração e custódia têm, respectivamente, 71,5% e 73,5% do PL nos dez maiores grupos, praticamente o dobro da concentração em gestão.</a:t>
            </a:r>
          </a:p>
        </ns0:txBody>
      </ns0:sp>
      <ns0:sp>
        <ns0:nvSpPr>
          <ns0:cNvPr id="21" name="">
            <a:extLst>
              <a:ext uri="{FF2B5EF4-FFF2-40B4-BE49-F238E27FC236}">
                <ns2:creationId id="{2F2CDE9C-1D47-4E9F-8C5B-816641CAE209}"/>
              </a:ext>
            </a:extLst>
          </ns0:cNvPr>
          <ns0:cNvSpPr>
            <a:spLocks noGrp="1"/>
          </ns0:cNvSpPr>
          <ns0:nvPr/>
        </ns0:nvSpPr>
        <ns0:spPr>
          <a:xfrm>
            <a:off x="571500" y="4810125"/>
            <a:ext cx="5143500" cy="6668"/>
          </a:xfrm>
          <a:prstGeom prst="rect">
            <a:avLst/>
          </a:prstGeom>
          <a:solidFill>
            <a:srgbClr val="D7DADD"/>
          </a:solidFill>
          <a:ln w="0">
            <a:noFill/>
            <a:prstDash val="solid"/>
          </a:ln>
        </ns0:spPr>
      </ns0:sp>
      <ns0:sp>
        <ns0:nvSpPr>
          <ns0:cNvPr id="22" name="">
            <a:extLst>
              <a:ext uri="{FF2B5EF4-FFF2-40B4-BE49-F238E27FC236}">
                <ns2:creationId id="{AB7927A8-7835-4338-99D1-72F1304553B9}"/>
              </a:ext>
            </a:extLst>
          </ns0:cNvPr>
          <ns0:cNvSpPr>
            <a:spLocks noGrp="1"/>
          </ns0:cNvSpPr>
          <ns0:nvPr/>
        </ns0:nvSpPr>
        <ns0:spPr>
          <a:xfrm>
            <a:off x="6286500" y="3695700"/>
            <a:ext cx="5143500" cy="19050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t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1000" b="1" lang="pt-BR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1000" b="1" lang="pt-BR">
                <a:solidFill>
                  <a:srgbClr val="EC7000"/>
                </a:solidFill>
                <a:latin typeface="Arial"/>
                <a:ea typeface="Arial"/>
                <a:cs typeface="Arial"/>
              </a:rPr>
              <a:t>06 · COORTE BANCÁRIA EXPLICA DOIS TERÇOS DO COMBO COMPLETO DO BTG</a:t>
            </a:r>
          </a:p>
        </ns0:txBody>
      </ns0:sp>
      <ns0:sp>
        <ns0:nvSpPr>
          <ns0:cNvPr id="23" name="">
            <a:extLst>
              <a:ext uri="{FF2B5EF4-FFF2-40B4-BE49-F238E27FC236}">
                <ns2:creationId id="{34892CE6-196F-4521-B284-78C886F2FDE5}"/>
              </a:ext>
            </a:extLst>
          </ns0:cNvPr>
          <ns0:cNvSpPr>
            <a:spLocks noGrp="1"/>
          </ns0:cNvSpPr>
          <ns0:nvPr/>
        </ns0:nvSpPr>
        <ns0:spPr>
          <a:xfrm>
            <a:off x="6286500" y="3933825"/>
            <a:ext cx="5143500" cy="8191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t">
            <a:normAutofit fontScale="100000"/>
          </a:bodyPr>
          <a:lstStyle/>
          <a:p>
            <a:pPr algn="l">
              <a:lnSpc>
                <a:spcPct val="102000"/>
              </a:lnSpc>
              <a:buNone/>
              <a:defRPr sz="1000" b="0" lang="pt-BR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000" b="0" lang="pt-BR">
                <a:solidFill>
                  <a:srgbClr val="30353A"/>
                </a:solidFill>
                <a:latin typeface="Arial"/>
                <a:ea typeface="Arial"/>
                <a:cs typeface="Arial"/>
              </a:rPr>
              <a:t>• Dos 30 FIDCs observados na coorte BTG, 22 concentram as três funções no grupo e representam 98% do PL da coorte — R$ 51,3 bi.</a:t>
            </a:r>
          </a:p>
          <a:p>
            <a:pPr algn="l">
              <a:lnSpc>
                <a:spcPct val="102000"/>
              </a:lnSpc>
              <a:buNone/>
              <a:defRPr sz="1000" b="0" lang="pt-BR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000" b="0" lang="pt-BR">
                <a:solidFill>
                  <a:srgbClr val="30353A"/>
                </a:solidFill>
                <a:latin typeface="Arial"/>
                <a:ea typeface="Arial"/>
                <a:cs typeface="Arial"/>
              </a:rPr>
              <a:t>• Os R$ 51,3 bi da coorte equivalem a 66,0% dos R$ 77,7 bi de PL ex-FIC atendidos pelo BTG nas três funções.</a:t>
            </a:r>
          </a:p>
        </ns0:txBody>
      </ns0:sp>
      <ns0:sp>
        <ns0:nvSpPr>
          <ns0:cNvPr id="24" name="">
            <a:extLst>
              <a:ext uri="{FF2B5EF4-FFF2-40B4-BE49-F238E27FC236}">
                <ns2:creationId id="{A15F4DE1-94EB-4486-947D-D5BC95D1B77B}"/>
              </a:ext>
            </a:extLst>
          </ns0:cNvPr>
          <ns0:cNvSpPr>
            <a:spLocks noGrp="1"/>
          </ns0:cNvSpPr>
          <ns0:nvPr/>
        </ns0:nvSpPr>
        <ns0:spPr>
          <a:xfrm>
            <a:off x="6286500" y="4810125"/>
            <a:ext cx="5143500" cy="6668"/>
          </a:xfrm>
          <a:prstGeom prst="rect">
            <a:avLst/>
          </a:prstGeom>
          <a:solidFill>
            <a:srgbClr val="D7DADD"/>
          </a:solidFill>
          <a:ln w="0">
            <a:noFill/>
            <a:prstDash val="solid"/>
          </a:ln>
        </ns0:spPr>
      </ns0:sp>
      <ns0:sp>
        <ns0:nvSpPr>
          <ns0:cNvPr id="25" name="">
            <a:extLst>
              <a:ext uri="{FF2B5EF4-FFF2-40B4-BE49-F238E27FC236}">
                <ns2:creationId id="{784F5C0B-0ECB-4407-88DA-D4BC2B2DF5C0}"/>
              </a:ext>
            </a:extLst>
          </ns0:cNvPr>
          <ns0:cNvSpPr>
            <a:spLocks noGrp="1"/>
          </ns0:cNvSpPr>
          <ns0:nvPr/>
        </ns0:nvSpPr>
        <ns0:spPr>
          <a:xfrm>
            <a:off x="571500" y="4914900"/>
            <a:ext cx="5143500" cy="19050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t">
            <a:normAutofit fontScale="96709"/>
          </a:bodyPr>
          <a:lstStyle/>
          <a:p>
            <a:pPr algn="l">
              <a:lnSpc>
                <a:spcPct val="100000"/>
              </a:lnSpc>
              <a:buNone/>
              <a:defRPr sz="1000" b="1" lang="pt-BR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1000" b="1" lang="pt-BR">
                <a:solidFill>
                  <a:srgbClr val="EC7000"/>
                </a:solidFill>
                <a:latin typeface="Arial"/>
                <a:ea typeface="Arial"/>
                <a:cs typeface="Arial"/>
              </a:rPr>
              <a:t>07 · EMISSÕES ACELERARAM; A MAIOR OFERTA EXPLICA DOIS TERÇOS DO AVANÇO</a:t>
            </a:r>
          </a:p>
        </ns0:txBody>
      </ns0:sp>
      <ns0:sp>
        <ns0:nvSpPr>
          <ns0:cNvPr id="26" name="">
            <a:extLst>
              <a:ext uri="{FF2B5EF4-FFF2-40B4-BE49-F238E27FC236}">
                <ns2:creationId id="{8466084D-0EB0-4A1E-BAF1-AEE9C53CE2BE}"/>
              </a:ext>
            </a:extLst>
          </ns0:cNvPr>
          <ns0:cNvSpPr>
            <a:spLocks noGrp="1"/>
          </ns0:cNvSpPr>
          <ns0:nvPr/>
        </ns0:nvSpPr>
        <ns0:spPr>
          <a:xfrm>
            <a:off x="571500" y="5153025"/>
            <a:ext cx="5143500" cy="8191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t">
            <a:normAutofit fontScale="100000"/>
          </a:bodyPr>
          <a:lstStyle/>
          <a:p>
            <a:pPr algn="l">
              <a:lnSpc>
                <a:spcPct val="102000"/>
              </a:lnSpc>
              <a:buNone/>
              <a:defRPr sz="1000" b="0" lang="pt-BR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000" b="0" lang="pt-BR">
                <a:solidFill>
                  <a:srgbClr val="30353A"/>
                </a:solidFill>
                <a:latin typeface="Arial"/>
                <a:ea typeface="Arial"/>
                <a:cs typeface="Arial"/>
              </a:rPr>
              <a:t>• As 771 ofertas encerradas em jan–jun/26 somaram R$ 65,5 bi, avanço de 15% sobre jan–jun/25 e 60% sobre jan–jun/24.</a:t>
            </a:r>
          </a:p>
          <a:p>
            <a:pPr algn="l">
              <a:lnSpc>
                <a:spcPct val="102000"/>
              </a:lnSpc>
              <a:buNone/>
              <a:defRPr sz="1000" b="0" lang="pt-BR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000" b="0" lang="pt-BR">
                <a:solidFill>
                  <a:srgbClr val="30353A"/>
                </a:solidFill>
                <a:latin typeface="Arial"/>
                <a:ea typeface="Arial"/>
                <a:cs typeface="Arial"/>
              </a:rPr>
              <a:t>• A oferta CloudWalk Bela, de R$ 5,5 bi, representou 8,4% do volume e 66,0% do crescimento sobre jan–jun/25; na sensibilidade sem essa oferta, o mercado teria avançado 5,0%.</a:t>
            </a:r>
          </a:p>
        </ns0:txBody>
      </ns0:sp>
      <ns0:sp>
        <ns0:nvSpPr>
          <ns0:cNvPr id="27" name="">
            <a:extLst>
              <a:ext uri="{FF2B5EF4-FFF2-40B4-BE49-F238E27FC236}">
                <ns2:creationId id="{8CB89769-8B63-4BF2-B23C-03629BA47CA8}"/>
              </a:ext>
            </a:extLst>
          </ns0:cNvPr>
          <ns0:cNvSpPr>
            <a:spLocks noGrp="1"/>
          </ns0:cNvSpPr>
          <ns0:nvPr/>
        </ns0:nvSpPr>
        <ns0:spPr>
          <a:xfrm>
            <a:off x="571500" y="6029325"/>
            <a:ext cx="5143500" cy="6668"/>
          </a:xfrm>
          <a:prstGeom prst="rect">
            <a:avLst/>
          </a:prstGeom>
          <a:solidFill>
            <a:srgbClr val="D7DADD"/>
          </a:solidFill>
          <a:ln w="0">
            <a:noFill/>
            <a:prstDash val="solid"/>
          </a:ln>
        </ns0:spPr>
      </ns0:sp>
    </ns0:spTree>
    <ns0:extLst>
      <ns0:ext uri="{BB962C8B-B14F-4D97-AF65-F5344CB8AC3E}">
        <ns3:creationId val="1518339645"/>
      </ns0:ext>
    </ns0:extLst>
  </ns0:cSld>
</ns0:sld>
</file>

<file path=ppt/slides/slide34.xml><?xml version="1.0" encoding="utf-8"?>
<ns0:sld xmlns:a="http://schemas.openxmlformats.org/drawingml/2006/main" xmlns:c="http://schemas.openxmlformats.org/drawingml/2006/chart" xmlns:ns0="http://schemas.openxmlformats.org/presentationml/2006/main" xmlns:ns2="http://schemas.microsoft.com/office/drawing/2014/main" xmlns:ns4="http://schemas.openxmlformats.org/officeDocument/2006/relationships" xmlns:ns5="http://schemas.microsoft.com/office/powerpoint/2010/main">
  <ns0:cSld>
    <ns0:bg>
      <ns0:bgPr>
        <a:solidFill>
          <a:srgbClr val="FFFFFF"/>
        </a:solidFill>
      </ns0:bgPr>
    </ns0:bg>
    <ns0:spTree>
      <ns0:nvGrpSpPr>
        <ns0:cNvPr id="1" name=""/>
        <ns0:cNvGrpSpPr/>
        <ns0:nvPr/>
      </ns0:nvGrpSpPr>
      <ns0:grpSpPr>
        <a:xfrm/>
      </ns0:grpSpPr>
      <ns0:sp>
        <ns0:nvSpPr>
          <ns0:cNvPr id="22" name="">
            <a:extLst>
              <a:ext uri="{FF2B5EF4-FFF2-40B4-BE49-F238E27FC236}">
                <ns2:creationId id="{A67BE0B2-82F1-46AC-8B0C-3B4DB0C28AF4}"/>
              </a:ext>
            </a:extLst>
          </ns0:cNvPr>
          <ns0:cNvSpPr>
            <a:spLocks noGrp="1"/>
          </ns0:cNvSpPr>
          <ns0:nvPr/>
        </ns0:nvSpPr>
        <ns0:spPr>
          <a:xfrm>
            <a:off x="571500" y="257175"/>
            <a:ext cx="11049000" cy="409575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0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2100" b="1" lang="pt-BR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2100" b="1" lang="pt-BR">
                <a:solidFill>
                  <a:srgbClr val="151515"/>
                </a:solidFill>
                <a:latin typeface="Arial"/>
                <a:ea typeface="Arial"/>
                <a:cs typeface="Arial"/>
              </a:rPr>
              <a:t>QI lidera administração; BTG lidera gestão e custódia</a:t>
            </a:r>
          </a:p>
        </ns0:txBody>
      </ns0:sp>
      <ns0:sp>
        <ns0:nvSpPr>
          <ns0:cNvPr id="2" name="">
            <a:extLst>
              <a:ext uri="{FF2B5EF4-FFF2-40B4-BE49-F238E27FC236}">
                <ns2:creationId id="{822E9EE8-D19D-4759-92FE-F8E2982A9075}"/>
              </a:ext>
            </a:extLst>
          </ns0:cNvPr>
          <ns0:cNvSpPr>
            <a:spLocks noGrp="1"/>
          </ns0:cNvSpPr>
          <ns0:nvPr/>
        </ns0:nvSpPr>
        <ns0:spPr>
          <a:xfrm>
            <a:off x="571500" y="723900"/>
            <a:ext cx="11049000" cy="238125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0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1050" b="0" lang="pt-BR">
                <a:solidFill>
                  <a:srgbClr val="73787D"/>
                </a:solidFill>
                <a:latin typeface="Arial"/>
                <a:ea typeface="Arial"/>
                <a:cs typeface="Arial"/>
              </a:defRPr>
            </a:pPr>
            <a:r>
              <a:rPr sz="1050" b="0" lang="pt-BR">
                <a:solidFill>
                  <a:srgbClr val="73787D"/>
                </a:solidFill>
                <a:latin typeface="Arial"/>
                <a:ea typeface="Arial"/>
                <a:cs typeface="Arial"/>
              </a:rPr>
              <a:t>Ranking geral de jun/26</a:t>
            </a:r>
          </a:p>
        </ns0:txBody>
      </ns0:sp>
      <ns0:sp>
        <ns0:nvSpPr>
          <ns0:cNvPr id="3" name="">
            <a:extLst>
              <a:ext uri="{FF2B5EF4-FFF2-40B4-BE49-F238E27FC236}">
                <ns2:creationId id="{B08CEAC6-5C19-4B02-A092-12CBEB4EC9B7}"/>
              </a:ext>
            </a:extLst>
          </ns0:cNvPr>
          <ns0:cNvSpPr>
            <a:spLocks noGrp="1"/>
          </ns0:cNvSpPr>
          <ns0:nvPr/>
        </ns0:nvSpPr>
        <ns0:spPr>
          <a:xfrm>
            <a:off x="571500" y="1047750"/>
            <a:ext cx="11049000" cy="9525"/>
          </a:xfrm>
          <a:prstGeom prst="rect">
            <a:avLst/>
          </a:prstGeom>
          <a:solidFill>
            <a:srgbClr val="D7DADD"/>
          </a:solidFill>
          <a:ln w="0">
            <a:noFill/>
            <a:prstDash val="solid"/>
          </a:ln>
        </ns0:spPr>
      </ns0:sp>
      <ns0:sp>
        <ns0:nvSpPr>
          <ns0:cNvPr id="4" name="">
            <a:extLst>
              <a:ext uri="{FF2B5EF4-FFF2-40B4-BE49-F238E27FC236}">
                <ns2:creationId id="{2280984D-5593-4680-A252-9134170FA80E}"/>
              </a:ext>
            </a:extLst>
          </ns0:cNvPr>
          <ns0:cNvSpPr>
            <a:spLocks noGrp="1"/>
          </ns0:cNvSpPr>
          <ns0:nvPr/>
        </ns0:nvSpPr>
        <ns0:spPr>
          <a:xfrm>
            <a:off x="571500" y="6353175"/>
            <a:ext cx="11049000" cy="9525"/>
          </a:xfrm>
          <a:prstGeom prst="rect">
            <a:avLst/>
          </a:prstGeom>
          <a:solidFill>
            <a:srgbClr val="D7DADD"/>
          </a:solidFill>
          <a:ln w="0">
            <a:noFill/>
            <a:prstDash val="solid"/>
          </a:ln>
        </ns0:spPr>
      </ns0:sp>
      <ns0:sp>
        <ns0:nvSpPr>
          <ns0:cNvPr id="5" name="">
            <a:extLst>
              <a:ext uri="{FF2B5EF4-FFF2-40B4-BE49-F238E27FC236}">
                <ns2:creationId id="{BC5FFF56-0E51-4961-9E91-B2E283A688CE}"/>
              </a:ext>
            </a:extLst>
          </ns0:cNvPr>
          <ns0:cNvSpPr>
            <a:spLocks noGrp="1"/>
          </ns0:cNvSpPr>
          <ns0:nvPr/>
        </ns0:nvSpPr>
        <ns0:spPr>
          <a:xfrm>
            <a:off x="571500" y="6419850"/>
            <a:ext cx="10001250" cy="1714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47625" tIns="0" rIns="0" bIns="0" anchor="ctr">
            <a:normAutofit fontScale="80284"/>
          </a:bodyPr>
          <a:lstStyle/>
          <a:p>
            <a:pPr algn="l">
              <a:lnSpc>
                <a:spcPct val="100000"/>
              </a:lnSpc>
              <a:buNone/>
              <a:def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rPr>
              <a:t>Fonte: CVM, Informe Mensal e cadastro de prestadores, jun/26. Exclui Sistema Petrobras e TAPSO. *Independentes: grupos sem controlador bancário na curadoria; Singulare consolidada em QI Tech e Kanastra no Itaú.</a:t>
            </a:r>
          </a:p>
        </ns0:txBody>
      </ns0:sp>
      <ns0:sp>
        <ns0:nvSpPr>
          <ns0:cNvPr id="6" name="">
            <a:extLst>
              <a:ext uri="{FF2B5EF4-FFF2-40B4-BE49-F238E27FC236}">
                <ns2:creationId id="{CC6F0A0E-F496-4C18-8FC2-C71ED2933ECD}"/>
              </a:ext>
            </a:extLst>
          </ns0:cNvPr>
          <ns0:cNvSpPr>
            <a:spLocks noGrp="1"/>
          </ns0:cNvSpPr>
          <ns0:nvPr/>
        </ns0:nvSpPr>
        <ns0:spPr>
          <a:xfrm>
            <a:off x="11144250" y="6410325"/>
            <a:ext cx="476250" cy="1714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ctr">
            <a:normAutofit fontScale="100000"/>
          </a:bodyPr>
          <a:lstStyle/>
          <a:p>
            <a:pPr algn="r">
              <a:lnSpc>
                <a:spcPct val="100000"/>
              </a:lnSpc>
              <a:buNone/>
              <a:def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rPr>
              <a:t>34</a:t>
            </a:r>
          </a:p>
        </ns0:txBody>
      </ns0:sp>
      <ns0:graphicFrame>
        <ns0:nvGraphicFramePr>
          <ns0:cNvPr id="28" name="Chart"/>
          <ns0:cNvGraphicFramePr/>
          <ns0:nvPr/>
        </ns0:nvGraphicFramePr>
        <ns0:xfrm>
          <a:off x="1524000" y="1133475"/>
          <a:ext cx="9144000" cy="209550"/>
        </ns0:xfrm>
        <a:graphic>
          <a:graphicData uri="http://schemas.openxmlformats.org/drawingml/2006/chart">
            <c:chart ns4:id="R852075e6d914409a"/>
          </a:graphicData>
        </a:graphic>
      </ns0:graphicFrame>
      <ns0:sp>
        <ns0:nvSpPr>
          <ns0:cNvPr id="8" name="">
            <a:extLst>
              <a:ext uri="{FF2B5EF4-FFF2-40B4-BE49-F238E27FC236}">
                <ns2:creationId id="{5D5E7FDF-3CCF-4A8D-A229-F008BF3D70B3}"/>
              </a:ext>
            </a:extLst>
          </ns0:cNvPr>
          <ns0:cNvSpPr>
            <a:spLocks noGrp="1"/>
          </ns0:cNvSpPr>
          <ns0:nvPr/>
        </ns0:nvSpPr>
        <ns0:spPr>
          <a:xfrm>
            <a:off x="571500" y="1362075"/>
            <a:ext cx="5286375" cy="2095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ctr">
            <a:normAutofit fontScale="100000"/>
          </a:bodyPr>
          <a:lstStyle/>
          <a:p>
            <a:pPr algn="ctr">
              <a:lnSpc>
                <a:spcPct val="100000"/>
              </a:lnSpc>
              <a:buNone/>
              <a:defRPr sz="1000" b="1" lang="pt-BR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000" b="1" lang="pt-BR">
                <a:solidFill>
                  <a:srgbClr val="30353A"/>
                </a:solidFill>
                <a:latin typeface="Arial"/>
                <a:ea typeface="Arial"/>
                <a:cs typeface="Arial"/>
              </a:rPr>
              <a:t>Todos os prestadores</a:t>
            </a:r>
          </a:p>
        </ns0:txBody>
      </ns0:sp>
      <ns0:sp>
        <ns0:nvSpPr>
          <ns0:cNvPr id="9" name="">
            <a:extLst>
              <a:ext uri="{FF2B5EF4-FFF2-40B4-BE49-F238E27FC236}">
                <ns2:creationId id="{8F08E78B-B77B-4CFB-8675-D25ABE494FB4}"/>
              </a:ext>
            </a:extLst>
          </ns0:cNvPr>
          <ns0:cNvSpPr>
            <a:spLocks noGrp="1"/>
          </ns0:cNvSpPr>
          <ns0:nvPr/>
        </ns0:nvSpPr>
        <ns0:spPr>
          <a:xfrm>
            <a:off x="6334125" y="1362075"/>
            <a:ext cx="5286375" cy="2095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ctr">
            <a:normAutofit fontScale="100000"/>
          </a:bodyPr>
          <a:lstStyle/>
          <a:p>
            <a:pPr algn="ctr">
              <a:lnSpc>
                <a:spcPct val="100000"/>
              </a:lnSpc>
              <a:buNone/>
              <a:defRPr sz="1000" b="1" lang="pt-BR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000" b="1" lang="pt-BR">
                <a:solidFill>
                  <a:srgbClr val="30353A"/>
                </a:solidFill>
                <a:latin typeface="Arial"/>
                <a:ea typeface="Arial"/>
                <a:cs typeface="Arial"/>
              </a:rPr>
              <a:t>Independentes*</a:t>
            </a:r>
          </a:p>
        </ns0:txBody>
      </ns0:sp>
      <ns0:sp>
        <ns0:nvSpPr>
          <ns0:cNvPr id="10" name="">
            <a:extLst>
              <a:ext uri="{FF2B5EF4-FFF2-40B4-BE49-F238E27FC236}">
                <ns2:creationId id="{1C404795-4DA9-475E-A82E-FD304DE86823}"/>
              </a:ext>
            </a:extLst>
          </ns0:cNvPr>
          <ns0:cNvSpPr>
            <a:spLocks noGrp="1"/>
          </ns0:cNvSpPr>
          <ns0:nvPr/>
        </ns0:nvSpPr>
        <ns0:spPr>
          <a:xfrm>
            <a:off x="571500" y="1581150"/>
            <a:ext cx="5286375" cy="1714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1000" b="1" lang="pt-BR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1000" b="1" lang="pt-BR">
                <a:solidFill>
                  <a:srgbClr val="8D9399"/>
                </a:solidFill>
                <a:latin typeface="Arial"/>
                <a:ea typeface="Arial"/>
                <a:cs typeface="Arial"/>
              </a:rPr>
              <a:t>Administração · ranking geral</a:t>
            </a:r>
          </a:p>
        </ns0:txBody>
      </ns0:sp>
      <ns0:graphicFrame>
        <ns0:nvGraphicFramePr>
          <ns0:cNvPr id="32" name="Chart"/>
          <ns0:cNvGraphicFramePr/>
          <ns0:nvPr/>
        </ns0:nvGraphicFramePr>
        <ns0:xfrm>
          <a:off x="571500" y="1752600"/>
          <a:ext cx="5286375" cy="1333500"/>
        </ns0:xfrm>
        <a:graphic>
          <a:graphicData uri="http://schemas.openxmlformats.org/drawingml/2006/chart">
            <c:chart ns4:id="Rebd8029c164e4301"/>
          </a:graphicData>
        </a:graphic>
      </ns0:graphicFrame>
      <ns0:sp>
        <ns0:nvSpPr>
          <ns0:cNvPr id="12" name="">
            <a:extLst>
              <a:ext uri="{FF2B5EF4-FFF2-40B4-BE49-F238E27FC236}">
                <ns2:creationId id="{05F90D32-68FB-45D6-AD2B-97D48142B808}"/>
              </a:ext>
            </a:extLst>
          </ns0:cNvPr>
          <ns0:cNvSpPr>
            <a:spLocks noGrp="1"/>
          </ns0:cNvSpPr>
          <ns0:nvPr/>
        </ns0:nvSpPr>
        <ns0:spPr>
          <a:xfrm>
            <a:off x="6334125" y="1581150"/>
            <a:ext cx="5286375" cy="1714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1000" b="1" lang="pt-BR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1000" b="1" lang="pt-BR">
                <a:solidFill>
                  <a:srgbClr val="8D9399"/>
                </a:solidFill>
                <a:latin typeface="Arial"/>
                <a:ea typeface="Arial"/>
                <a:cs typeface="Arial"/>
              </a:rPr>
              <a:t>Administração · ranking independente</a:t>
            </a:r>
          </a:p>
        </ns0:txBody>
      </ns0:sp>
      <ns0:graphicFrame>
        <ns0:nvGraphicFramePr>
          <ns0:cNvPr id="34" name="Chart"/>
          <ns0:cNvGraphicFramePr/>
          <ns0:nvPr/>
        </ns0:nvGraphicFramePr>
        <ns0:xfrm>
          <a:off x="6334125" y="1752600"/>
          <a:ext cx="5286375" cy="1333500"/>
        </ns0:xfrm>
        <a:graphic>
          <a:graphicData uri="http://schemas.openxmlformats.org/drawingml/2006/chart">
            <c:chart ns4:id="Rca5c6651ec28455c"/>
          </a:graphicData>
        </a:graphic>
      </ns0:graphicFrame>
      <ns0:sp>
        <ns0:nvSpPr>
          <ns0:cNvPr id="14" name="">
            <a:extLst>
              <a:ext uri="{FF2B5EF4-FFF2-40B4-BE49-F238E27FC236}">
                <ns2:creationId id="{EC98255B-6CFA-44E4-A5E4-D5BEED30203E}"/>
              </a:ext>
            </a:extLst>
          </ns0:cNvPr>
          <ns0:cNvSpPr>
            <a:spLocks noGrp="1"/>
          </ns0:cNvSpPr>
          <ns0:nvPr/>
        </ns0:nvSpPr>
        <ns0:spPr>
          <a:xfrm>
            <a:off x="571500" y="3114675"/>
            <a:ext cx="5286375" cy="1714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1000" b="1" lang="pt-BR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1000" b="1" lang="pt-BR">
                <a:solidFill>
                  <a:srgbClr val="8D9399"/>
                </a:solidFill>
                <a:latin typeface="Arial"/>
                <a:ea typeface="Arial"/>
                <a:cs typeface="Arial"/>
              </a:rPr>
              <a:t>Gestão · ranking geral</a:t>
            </a:r>
          </a:p>
        </ns0:txBody>
      </ns0:sp>
      <ns0:graphicFrame>
        <ns0:nvGraphicFramePr>
          <ns0:cNvPr id="36" name="Chart"/>
          <ns0:cNvGraphicFramePr/>
          <ns0:nvPr/>
        </ns0:nvGraphicFramePr>
        <ns0:xfrm>
          <a:off x="571500" y="3286125"/>
          <a:ext cx="5286375" cy="1333500"/>
        </ns0:xfrm>
        <a:graphic>
          <a:graphicData uri="http://schemas.openxmlformats.org/drawingml/2006/chart">
            <c:chart ns4:id="R9d6dcf24a2d742b5"/>
          </a:graphicData>
        </a:graphic>
      </ns0:graphicFrame>
      <ns0:sp>
        <ns0:nvSpPr>
          <ns0:cNvPr id="16" name="">
            <a:extLst>
              <a:ext uri="{FF2B5EF4-FFF2-40B4-BE49-F238E27FC236}">
                <ns2:creationId id="{5446CE80-C243-4112-822C-10A1EA6609CB}"/>
              </a:ext>
            </a:extLst>
          </ns0:cNvPr>
          <ns0:cNvSpPr>
            <a:spLocks noGrp="1"/>
          </ns0:cNvSpPr>
          <ns0:nvPr/>
        </ns0:nvSpPr>
        <ns0:spPr>
          <a:xfrm>
            <a:off x="6334125" y="3114675"/>
            <a:ext cx="5286375" cy="1714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1000" b="1" lang="pt-BR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1000" b="1" lang="pt-BR">
                <a:solidFill>
                  <a:srgbClr val="8D9399"/>
                </a:solidFill>
                <a:latin typeface="Arial"/>
                <a:ea typeface="Arial"/>
                <a:cs typeface="Arial"/>
              </a:rPr>
              <a:t>Gestão · ranking independente</a:t>
            </a:r>
          </a:p>
        </ns0:txBody>
      </ns0:sp>
      <ns0:graphicFrame>
        <ns0:nvGraphicFramePr>
          <ns0:cNvPr id="38" name="Chart"/>
          <ns0:cNvGraphicFramePr/>
          <ns0:nvPr/>
        </ns0:nvGraphicFramePr>
        <ns0:xfrm>
          <a:off x="6334125" y="3286125"/>
          <a:ext cx="5286375" cy="1333500"/>
        </ns0:xfrm>
        <a:graphic>
          <a:graphicData uri="http://schemas.openxmlformats.org/drawingml/2006/chart">
            <c:chart ns4:id="Rbd369a90bba7455e"/>
          </a:graphicData>
        </a:graphic>
      </ns0:graphicFrame>
      <ns0:sp>
        <ns0:nvSpPr>
          <ns0:cNvPr id="18" name="">
            <a:extLst>
              <a:ext uri="{FF2B5EF4-FFF2-40B4-BE49-F238E27FC236}">
                <ns2:creationId id="{4CDF51A5-29E1-4ACD-965A-8D3E316F0980}"/>
              </a:ext>
            </a:extLst>
          </ns0:cNvPr>
          <ns0:cNvSpPr>
            <a:spLocks noGrp="1"/>
          </ns0:cNvSpPr>
          <ns0:nvPr/>
        </ns0:nvSpPr>
        <ns0:spPr>
          <a:xfrm>
            <a:off x="571500" y="4648200"/>
            <a:ext cx="5286375" cy="1714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1000" b="1" lang="pt-BR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1000" b="1" lang="pt-BR">
                <a:solidFill>
                  <a:srgbClr val="8D9399"/>
                </a:solidFill>
                <a:latin typeface="Arial"/>
                <a:ea typeface="Arial"/>
                <a:cs typeface="Arial"/>
              </a:rPr>
              <a:t>Custódia · ranking geral</a:t>
            </a:r>
          </a:p>
        </ns0:txBody>
      </ns0:sp>
      <ns0:graphicFrame>
        <ns0:nvGraphicFramePr>
          <ns0:cNvPr id="40" name="Chart"/>
          <ns0:cNvGraphicFramePr/>
          <ns0:nvPr/>
        </ns0:nvGraphicFramePr>
        <ns0:xfrm>
          <a:off x="571500" y="4819650"/>
          <a:ext cx="5286375" cy="1333500"/>
        </ns0:xfrm>
        <a:graphic>
          <a:graphicData uri="http://schemas.openxmlformats.org/drawingml/2006/chart">
            <c:chart ns4:id="Rf1d40f7378474a7c"/>
          </a:graphicData>
        </a:graphic>
      </ns0:graphicFrame>
      <ns0:sp>
        <ns0:nvSpPr>
          <ns0:cNvPr id="20" name="">
            <a:extLst>
              <a:ext uri="{FF2B5EF4-FFF2-40B4-BE49-F238E27FC236}">
                <ns2:creationId id="{72FEAD2D-C806-47D0-B279-4637EB44142B}"/>
              </a:ext>
            </a:extLst>
          </ns0:cNvPr>
          <ns0:cNvSpPr>
            <a:spLocks noGrp="1"/>
          </ns0:cNvSpPr>
          <ns0:nvPr/>
        </ns0:nvSpPr>
        <ns0:spPr>
          <a:xfrm>
            <a:off x="6334125" y="4648200"/>
            <a:ext cx="5286375" cy="1714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1000" b="1" lang="pt-BR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1000" b="1" lang="pt-BR">
                <a:solidFill>
                  <a:srgbClr val="8D9399"/>
                </a:solidFill>
                <a:latin typeface="Arial"/>
                <a:ea typeface="Arial"/>
                <a:cs typeface="Arial"/>
              </a:rPr>
              <a:t>Custódia · ranking independente</a:t>
            </a:r>
          </a:p>
        </ns0:txBody>
      </ns0:sp>
      <ns0:graphicFrame>
        <ns0:nvGraphicFramePr>
          <ns0:cNvPr id="42" name="Chart"/>
          <ns0:cNvGraphicFramePr/>
          <ns0:nvPr/>
        </ns0:nvGraphicFramePr>
        <ns0:xfrm>
          <a:off x="6334125" y="4819650"/>
          <a:ext cx="5286375" cy="1333500"/>
        </ns0:xfrm>
        <a:graphic>
          <a:graphicData uri="http://schemas.openxmlformats.org/drawingml/2006/chart">
            <c:chart ns4:id="R6bf460c9126a40cf"/>
          </a:graphicData>
        </a:graphic>
      </ns0:graphicFrame>
    </ns0:spTree>
    <ns0:extLst>
      <ns0:ext uri="{BB962C8B-B14F-4D97-AF65-F5344CB8AC3E}">
        <ns5:creationId val="1669681322"/>
      </ns0:ext>
    </ns0:extLst>
  </ns0:cSld>
</ns0:sld>
</file>

<file path=ppt/slides/slide35.xml><?xml version="1.0" encoding="utf-8"?>
<ns0:sld xmlns:a="http://schemas.openxmlformats.org/drawingml/2006/main" xmlns:c="http://schemas.openxmlformats.org/drawingml/2006/chart" xmlns:ns0="http://schemas.openxmlformats.org/presentationml/2006/main" xmlns:ns2="http://schemas.microsoft.com/office/drawing/2014/main" xmlns:ns4="http://schemas.openxmlformats.org/officeDocument/2006/relationships" xmlns:ns5="http://schemas.microsoft.com/office/powerpoint/2010/main">
  <ns0:cSld>
    <ns0:bg>
      <ns0:bgPr>
        <a:solidFill>
          <a:srgbClr val="FFFFFF"/>
        </a:solidFill>
      </ns0:bgPr>
    </ns0:bg>
    <ns0:spTree>
      <ns0:nvGrpSpPr>
        <ns0:cNvPr id="1" name=""/>
        <ns0:cNvGrpSpPr/>
        <ns0:nvPr/>
      </ns0:nvGrpSpPr>
      <ns0:grpSpPr>
        <a:xfrm/>
      </ns0:grpSpPr>
      <ns0:sp>
        <ns0:nvSpPr>
          <ns0:cNvPr id="21" name="">
            <a:extLst>
              <a:ext uri="{FF2B5EF4-FFF2-40B4-BE49-F238E27FC236}">
                <ns2:creationId id="{44037A4E-57ED-4BEE-9B3F-EB4F1483B49F}"/>
              </a:ext>
            </a:extLst>
          </ns0:cNvPr>
          <ns0:cNvSpPr>
            <a:spLocks noGrp="1"/>
          </ns0:cNvSpPr>
          <ns0:nvPr/>
        </ns0:nvSpPr>
        <ns0:spPr>
          <a:xfrm>
            <a:off x="571500" y="257175"/>
            <a:ext cx="11049000" cy="19050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0" tIns="0" rIns="0" bIns="0" anchor="t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1000" b="1" lang="pt-BR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1000" b="1" lang="pt-BR">
                <a:solidFill>
                  <a:srgbClr val="EC7000"/>
                </a:solidFill>
                <a:latin typeface="Arial"/>
                <a:ea typeface="Arial"/>
                <a:cs typeface="Arial"/>
              </a:rPr>
              <a:t>PRESTADORES · RANKING E CONCENTRAÇÃO</a:t>
            </a:r>
          </a:p>
        </ns0:txBody>
      </ns0:sp>
      <ns0:sp>
        <ns0:nvSpPr>
          <ns0:cNvPr id="2" name="">
            <a:extLst>
              <a:ext uri="{FF2B5EF4-FFF2-40B4-BE49-F238E27FC236}">
                <ns2:creationId id="{E9714CED-D956-4032-BEF9-51D33A990F4A}"/>
              </a:ext>
            </a:extLst>
          </ns0:cNvPr>
          <ns0:cNvSpPr>
            <a:spLocks noGrp="1"/>
          </ns0:cNvSpPr>
          <ns0:nvPr/>
        </ns0:nvSpPr>
        <ns0:spPr>
          <a:xfrm>
            <a:off x="571500" y="504825"/>
            <a:ext cx="11049000" cy="466725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0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2100" b="1" lang="pt-BR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2100" b="1" lang="pt-BR">
                <a:solidFill>
                  <a:srgbClr val="151515"/>
                </a:solidFill>
                <a:latin typeface="Arial"/>
                <a:ea typeface="Arial"/>
                <a:cs typeface="Arial"/>
              </a:rPr>
              <a:t>Top 10 mantém cerca de 72% em administração e custódia; gestão subiu a 38,9%</a:t>
            </a:r>
          </a:p>
        </ns0:txBody>
      </ns0:sp>
      <ns0:sp>
        <ns0:nvSpPr>
          <ns0:cNvPr id="3" name="">
            <a:extLst>
              <a:ext uri="{FF2B5EF4-FFF2-40B4-BE49-F238E27FC236}">
                <ns2:creationId id="{0334F1E9-16D8-4E42-A14B-40E2ED901CD6}"/>
              </a:ext>
            </a:extLst>
          </ns0:cNvPr>
          <ns0:cNvSpPr>
            <a:spLocks noGrp="1"/>
          </ns0:cNvSpPr>
          <ns0:nvPr/>
        </ns0:nvSpPr>
        <ns0:spPr>
          <a:xfrm>
            <a:off x="571500" y="1047750"/>
            <a:ext cx="11049000" cy="9525"/>
          </a:xfrm>
          <a:prstGeom prst="rect">
            <a:avLst/>
          </a:prstGeom>
          <a:solidFill>
            <a:srgbClr val="D7DADD"/>
          </a:solidFill>
          <a:ln w="0">
            <a:noFill/>
            <a:prstDash val="solid"/>
          </a:ln>
        </ns0:spPr>
      </ns0:sp>
      <ns0:sp>
        <ns0:nvSpPr>
          <ns0:cNvPr id="4" name="">
            <a:extLst>
              <a:ext uri="{FF2B5EF4-FFF2-40B4-BE49-F238E27FC236}">
                <ns2:creationId id="{CCD4EBC5-F596-4E5A-AD7F-5FEB51321923}"/>
              </a:ext>
            </a:extLst>
          </ns0:cNvPr>
          <ns0:cNvSpPr>
            <a:spLocks noGrp="1"/>
          </ns0:cNvSpPr>
          <ns0:nvPr/>
        </ns0:nvSpPr>
        <ns0:spPr>
          <a:xfrm>
            <a:off x="571500" y="6353175"/>
            <a:ext cx="11049000" cy="9525"/>
          </a:xfrm>
          <a:prstGeom prst="rect">
            <a:avLst/>
          </a:prstGeom>
          <a:solidFill>
            <a:srgbClr val="D7DADD"/>
          </a:solidFill>
          <a:ln w="0">
            <a:noFill/>
            <a:prstDash val="solid"/>
          </a:ln>
        </ns0:spPr>
      </ns0:sp>
      <ns0:sp>
        <ns0:nvSpPr>
          <ns0:cNvPr id="5" name="">
            <a:extLst>
              <a:ext uri="{FF2B5EF4-FFF2-40B4-BE49-F238E27FC236}">
                <ns2:creationId id="{D7880BC5-8FD0-4F71-9F1D-516AE36DB456}"/>
              </a:ext>
            </a:extLst>
          </ns0:cNvPr>
          <ns0:cNvSpPr>
            <a:spLocks noGrp="1"/>
          </ns0:cNvSpPr>
          <ns0:nvPr/>
        </ns0:nvSpPr>
        <ns0:spPr>
          <a:xfrm>
            <a:off x="571500" y="6419850"/>
            <a:ext cx="10001250" cy="1714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47625" tIns="0" rIns="0" bIns="0" anchor="ctr">
            <a:normAutofit fontScale="87634"/>
          </a:bodyPr>
          <a:lstStyle/>
          <a:p>
            <a:pPr algn="l">
              <a:lnSpc>
                <a:spcPct val="100000"/>
              </a:lnSpc>
              <a:buNone/>
              <a:def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rPr>
              <a:t>Fonte: CVM, dez/25 e jun/26. PL ex-FIC; Sistema Petrobras e TAPSO excluídos do numerador e denominador. Administração observada; gestão/custódia históricas reconstruídas com cadastro vigente.</a:t>
            </a:r>
          </a:p>
        </ns0:txBody>
      </ns0:sp>
      <ns0:sp>
        <ns0:nvSpPr>
          <ns0:cNvPr id="6" name="">
            <a:extLst>
              <a:ext uri="{FF2B5EF4-FFF2-40B4-BE49-F238E27FC236}">
                <ns2:creationId id="{A2A49FED-15D1-4B58-BFD8-C73C3CB9BCFD}"/>
              </a:ext>
            </a:extLst>
          </ns0:cNvPr>
          <ns0:cNvSpPr>
            <a:spLocks noGrp="1"/>
          </ns0:cNvSpPr>
          <ns0:nvPr/>
        </ns0:nvSpPr>
        <ns0:spPr>
          <a:xfrm>
            <a:off x="11144250" y="6410325"/>
            <a:ext cx="476250" cy="1714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ctr">
            <a:normAutofit fontScale="100000"/>
          </a:bodyPr>
          <a:lstStyle/>
          <a:p>
            <a:pPr algn="r">
              <a:lnSpc>
                <a:spcPct val="100000"/>
              </a:lnSpc>
              <a:buNone/>
              <a:def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rPr>
              <a:t>35</a:t>
            </a:r>
          </a:p>
        </ns0:txBody>
      </ns0:sp>
      <ns0:sp>
        <ns0:nvSpPr>
          <ns0:cNvPr id="7" name="">
            <a:extLst>
              <a:ext uri="{FF2B5EF4-FFF2-40B4-BE49-F238E27FC236}">
                <ns2:creationId id="{94D86154-AA24-43D6-B2D7-3C88BB6A94CC}"/>
              </a:ext>
            </a:extLst>
          </ns0:cNvPr>
          <ns0:cNvSpPr>
            <a:spLocks noGrp="1"/>
          </ns0:cNvSpPr>
          <ns0:nvPr/>
        </ns0:nvSpPr>
        <ns0:spPr>
          <a:xfrm>
            <a:off x="571500" y="1476375"/>
            <a:ext cx="5143500" cy="22860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1125" b="1" lang="pt-BR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 lang="pt-BR">
                <a:solidFill>
                  <a:srgbClr val="30353A"/>
                </a:solidFill>
                <a:latin typeface="Arial"/>
                <a:ea typeface="Arial"/>
                <a:cs typeface="Arial"/>
              </a:rPr>
              <a:t>Top 10 · % do PL ex-FIC</a:t>
            </a:r>
          </a:p>
        </ns0:txBody>
      </ns0:sp>
      <ns0:sp>
        <ns0:nvSpPr>
          <ns0:cNvPr id="8" name="">
            <a:extLst>
              <a:ext uri="{FF2B5EF4-FFF2-40B4-BE49-F238E27FC236}">
                <ns2:creationId id="{CF61EA82-62A0-4F81-8732-52CD82438024}"/>
              </a:ext>
            </a:extLst>
          </ns0:cNvPr>
          <ns0:cNvSpPr>
            <a:spLocks noGrp="1"/>
          </ns0:cNvSpPr>
          <ns0:nvPr/>
        </ns0:nvSpPr>
        <ns0:spPr>
          <a:xfrm>
            <a:off x="571500" y="1743075"/>
            <a:ext cx="5143500" cy="9525"/>
          </a:xfrm>
          <a:prstGeom prst="rect">
            <a:avLst/>
          </a:prstGeom>
          <a:solidFill>
            <a:srgbClr val="D7DADD"/>
          </a:solidFill>
          <a:ln w="0">
            <a:noFill/>
            <a:prstDash val="solid"/>
          </a:ln>
        </ns0:spPr>
      </ns0:sp>
      <ns0:graphicFrame>
        <ns0:nvGraphicFramePr>
          <ns0:cNvPr id="29" name="Chart"/>
          <ns0:cNvGraphicFramePr/>
          <ns0:nvPr/>
        </ns0:nvGraphicFramePr>
        <ns0:xfrm>
          <a:off x="571500" y="1857375"/>
          <a:ext cx="5143500" cy="3000375"/>
        </ns0:xfrm>
        <a:graphic>
          <a:graphicData uri="http://schemas.openxmlformats.org/drawingml/2006/chart">
            <c:chart ns4:id="R1d16443e22394e73"/>
          </a:graphicData>
        </a:graphic>
      </ns0:graphicFrame>
      <ns0:sp>
        <ns0:nvSpPr>
          <ns0:cNvPr id="10" name="">
            <a:extLst>
              <a:ext uri="{FF2B5EF4-FFF2-40B4-BE49-F238E27FC236}">
                <ns2:creationId id="{4F8AAAAE-4DA5-4961-9E62-8AD84353EF8F}"/>
              </a:ext>
            </a:extLst>
          </ns0:cNvPr>
          <ns0:cNvSpPr>
            <a:spLocks noGrp="1"/>
          </ns0:cNvSpPr>
          <ns0:nvPr/>
        </ns0:nvSpPr>
        <ns0:spPr>
          <a:xfrm>
            <a:off x="571500" y="4629150"/>
            <a:ext cx="5143500" cy="333375"/>
          </a:xfrm>
          <a:prstGeom prst="rect">
            <a:avLst/>
          </a:prstGeom>
          <a:solidFill>
            <a:srgbClr val="FFFFFF"/>
          </a:solidFill>
          <a:ln w="0">
            <a:noFill/>
            <a:prstDash val="solid"/>
          </a:ln>
        </ns0:spPr>
      </ns0:sp>
      <ns0:sp>
        <ns0:nvSpPr>
          <ns0:cNvPr id="11" name="">
            <a:extLst>
              <a:ext uri="{FF2B5EF4-FFF2-40B4-BE49-F238E27FC236}">
                <ns2:creationId id="{CE428E07-EB9C-472B-8432-656B7FF92C82}"/>
              </a:ext>
            </a:extLst>
          </ns0:cNvPr>
          <ns0:cNvSpPr>
            <a:spLocks noGrp="1"/>
          </ns0:cNvSpPr>
          <ns0:nvPr/>
        </ns0:nvSpPr>
        <ns0:spPr>
          <a:xfrm>
            <a:off x="6477000" y="1476375"/>
            <a:ext cx="5143500" cy="22860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1125" b="1" lang="pt-BR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 lang="pt-BR">
                <a:solidFill>
                  <a:srgbClr val="30353A"/>
                </a:solidFill>
                <a:latin typeface="Arial"/>
                <a:ea typeface="Arial"/>
                <a:cs typeface="Arial"/>
              </a:rPr>
              <a:t>Top 5 · % do PL ex-FIC</a:t>
            </a:r>
          </a:p>
        </ns0:txBody>
      </ns0:sp>
      <ns0:sp>
        <ns0:nvSpPr>
          <ns0:cNvPr id="12" name="">
            <a:extLst>
              <a:ext uri="{FF2B5EF4-FFF2-40B4-BE49-F238E27FC236}">
                <ns2:creationId id="{1F5D7017-DF58-4691-9A81-FC479CF63F40}"/>
              </a:ext>
            </a:extLst>
          </ns0:cNvPr>
          <ns0:cNvSpPr>
            <a:spLocks noGrp="1"/>
          </ns0:cNvSpPr>
          <ns0:nvPr/>
        </ns0:nvSpPr>
        <ns0:spPr>
          <a:xfrm>
            <a:off x="6477000" y="1743075"/>
            <a:ext cx="5143500" cy="9525"/>
          </a:xfrm>
          <a:prstGeom prst="rect">
            <a:avLst/>
          </a:prstGeom>
          <a:solidFill>
            <a:srgbClr val="D7DADD"/>
          </a:solidFill>
          <a:ln w="0">
            <a:noFill/>
            <a:prstDash val="solid"/>
          </a:ln>
        </ns0:spPr>
      </ns0:sp>
      <ns0:graphicFrame>
        <ns0:nvGraphicFramePr>
          <ns0:cNvPr id="33" name="Chart"/>
          <ns0:cNvGraphicFramePr/>
          <ns0:nvPr/>
        </ns0:nvGraphicFramePr>
        <ns0:xfrm>
          <a:off x="6477000" y="1857375"/>
          <a:ext cx="5143500" cy="3000375"/>
        </ns0:xfrm>
        <a:graphic>
          <a:graphicData uri="http://schemas.openxmlformats.org/drawingml/2006/chart">
            <c:chart ns4:id="Rf91a5d7fc42d4adf"/>
          </a:graphicData>
        </a:graphic>
      </ns0:graphicFrame>
      <ns0:sp>
        <ns0:nvSpPr>
          <ns0:cNvPr id="14" name="">
            <a:extLst>
              <a:ext uri="{FF2B5EF4-FFF2-40B4-BE49-F238E27FC236}">
                <ns2:creationId id="{CEB9A7EC-ED95-4045-B937-33B23490F7BB}"/>
              </a:ext>
            </a:extLst>
          </ns0:cNvPr>
          <ns0:cNvSpPr>
            <a:spLocks noGrp="1"/>
          </ns0:cNvSpPr>
          <ns0:nvPr/>
        </ns0:nvSpPr>
        <ns0:spPr>
          <a:xfrm>
            <a:off x="6477000" y="4629150"/>
            <a:ext cx="5143500" cy="333375"/>
          </a:xfrm>
          <a:prstGeom prst="rect">
            <a:avLst/>
          </a:prstGeom>
          <a:solidFill>
            <a:srgbClr val="FFFFFF"/>
          </a:solidFill>
          <a:ln w="0">
            <a:noFill/>
            <a:prstDash val="solid"/>
          </a:ln>
        </ns0:spPr>
      </ns0:sp>
      <ns0:sp>
        <ns0:nvSpPr>
          <ns0:cNvPr id="15" name="">
            <a:extLst>
              <a:ext uri="{FF2B5EF4-FFF2-40B4-BE49-F238E27FC236}">
                <ns2:creationId id="{1C4A28FE-6528-4701-A33C-1E57549AB95D}"/>
              </a:ext>
            </a:extLst>
          </ns0:cNvPr>
          <ns0:cNvSpPr>
            <a:spLocks noGrp="1"/>
          </ns0:cNvSpPr>
          <ns0:nvPr/>
        </ns0:nvSpPr>
        <ns0:spPr>
          <a:xfrm>
            <a:off x="571500" y="5191125"/>
            <a:ext cx="11049000" cy="9525"/>
          </a:xfrm>
          <a:prstGeom prst="rect">
            <a:avLst/>
          </a:prstGeom>
          <a:solidFill>
            <a:srgbClr val="D7DADD"/>
          </a:solidFill>
          <a:ln w="0">
            <a:noFill/>
            <a:prstDash val="solid"/>
          </a:ln>
        </ns0:spPr>
      </ns0:sp>
      <ns0:sp>
        <ns0:nvSpPr>
          <ns0:cNvPr id="16" name="">
            <a:extLst>
              <a:ext uri="{FF2B5EF4-FFF2-40B4-BE49-F238E27FC236}">
                <ns2:creationId id="{BD95DAD8-7CBF-4723-9A9F-645A65E2AF34}"/>
              </a:ext>
            </a:extLst>
          </ns0:cNvPr>
          <ns0:cNvSpPr>
            <a:spLocks noGrp="1"/>
          </ns0:cNvSpPr>
          <ns0:nvPr/>
        </ns0:nvSpPr>
        <ns0:spPr>
          <a:xfrm>
            <a:off x="571500" y="5429250"/>
            <a:ext cx="11049000" cy="4000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ctr">
            <a:normAutofit fontScale="100000"/>
          </a:bodyPr>
          <a:lstStyle/>
          <a:p>
            <a:pPr algn="ctr">
              <a:lnSpc>
                <a:spcPct val="100000"/>
              </a:lnSpc>
              <a:buNone/>
              <a:defRPr sz="1000" b="0" lang="pt-BR">
                <a:solidFill>
                  <a:srgbClr val="73787D"/>
                </a:solidFill>
                <a:latin typeface="Arial"/>
                <a:ea typeface="Arial"/>
                <a:cs typeface="Arial"/>
              </a:defRPr>
            </a:pPr>
            <a:r>
              <a:rPr sz="1000" b="0" lang="pt-BR">
                <a:solidFill>
                  <a:srgbClr val="73787D"/>
                </a:solidFill>
                <a:latin typeface="Arial"/>
                <a:ea typeface="Arial"/>
                <a:cs typeface="Arial"/>
              </a:rPr>
              <a:t>Cobertura de PL, dez/25 → Jun/26: administração 100,0% → 100,0%; gestão 98,9% → 99,8%; custódia 97,8% → 98,8%.</a:t>
            </a:r>
          </a:p>
        </ns0:txBody>
      </ns0:sp>
      <ns0:sp>
        <ns0:nvSpPr>
          <ns0:cNvPr id="17" name="">
            <a:extLst>
              <a:ext uri="{FF2B5EF4-FFF2-40B4-BE49-F238E27FC236}">
                <ns2:creationId id="{8873BC58-7893-49C9-BE79-D86A55C2AE18}"/>
              </a:ext>
            </a:extLst>
          </ns0:cNvPr>
          <ns0:cNvSpPr>
            <a:spLocks noGrp="1"/>
          </ns0:cNvSpPr>
          <ns0:nvPr/>
        </ns0:nvSpPr>
        <ns0:spPr>
          <a:xfrm>
            <a:off x="9239250" y="1285875"/>
            <a:ext cx="76200" cy="76200"/>
          </a:xfrm>
          <a:prstGeom prst="rect">
            <a:avLst/>
          </a:prstGeom>
          <a:solidFill>
            <a:srgbClr val="73787D"/>
          </a:solidFill>
          <a:ln w="0">
            <a:noFill/>
            <a:prstDash val="solid"/>
          </a:ln>
        </ns0:spPr>
      </ns0:sp>
      <ns0:sp>
        <ns0:nvSpPr>
          <ns0:cNvPr id="18" name="">
            <a:extLst>
              <a:ext uri="{FF2B5EF4-FFF2-40B4-BE49-F238E27FC236}">
                <ns2:creationId id="{730701FB-A0D7-4C59-98C5-070BAC79B413}"/>
              </a:ext>
            </a:extLst>
          </ns0:cNvPr>
          <ns0:cNvSpPr>
            <a:spLocks noGrp="1"/>
          </ns0:cNvSpPr>
          <ns0:nvPr/>
        </ns0:nvSpPr>
        <ns0:spPr>
          <a:xfrm>
            <a:off x="9363075" y="1219200"/>
            <a:ext cx="1038225" cy="2095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1000" b="0" lang="pt-BR">
                <a:solidFill>
                  <a:srgbClr val="73787D"/>
                </a:solidFill>
                <a:latin typeface="Arial"/>
                <a:ea typeface="Arial"/>
                <a:cs typeface="Arial"/>
              </a:defRPr>
            </a:pPr>
            <a:r>
              <a:rPr sz="1000" b="0" lang="pt-BR">
                <a:solidFill>
                  <a:srgbClr val="73787D"/>
                </a:solidFill>
                <a:latin typeface="Arial"/>
                <a:ea typeface="Arial"/>
                <a:cs typeface="Arial"/>
              </a:rPr>
              <a:t>Dez/25</a:t>
            </a:r>
          </a:p>
        </ns0:txBody>
      </ns0:sp>
      <ns0:sp>
        <ns0:nvSpPr>
          <ns0:cNvPr id="19" name="">
            <a:extLst>
              <a:ext uri="{FF2B5EF4-FFF2-40B4-BE49-F238E27FC236}">
                <ns2:creationId id="{EFA2F10B-1813-4F26-8177-3BAD37424B6A}"/>
              </a:ext>
            </a:extLst>
          </ns0:cNvPr>
          <ns0:cNvSpPr>
            <a:spLocks noGrp="1"/>
          </ns0:cNvSpPr>
          <ns0:nvPr/>
        </ns0:nvSpPr>
        <ns0:spPr>
          <a:xfrm>
            <a:off x="10429875" y="1285875"/>
            <a:ext cx="76200" cy="76200"/>
          </a:xfrm>
          <a:prstGeom prst="rect">
            <a:avLst/>
          </a:prstGeom>
          <a:solidFill>
            <a:srgbClr val="EC7000"/>
          </a:solidFill>
          <a:ln w="0">
            <a:noFill/>
            <a:prstDash val="solid"/>
          </a:ln>
        </ns0:spPr>
      </ns0:sp>
      <ns0:sp>
        <ns0:nvSpPr>
          <ns0:cNvPr id="20" name="">
            <a:extLst>
              <a:ext uri="{FF2B5EF4-FFF2-40B4-BE49-F238E27FC236}">
                <ns2:creationId id="{90CCEAAD-936D-430A-8F50-2E2575C8EAFA}"/>
              </a:ext>
            </a:extLst>
          </ns0:cNvPr>
          <ns0:cNvSpPr>
            <a:spLocks noGrp="1"/>
          </ns0:cNvSpPr>
          <ns0:nvPr/>
        </ns0:nvSpPr>
        <ns0:spPr>
          <a:xfrm>
            <a:off x="10553700" y="1219200"/>
            <a:ext cx="1038225" cy="2095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1000" b="0" lang="pt-BR">
                <a:solidFill>
                  <a:srgbClr val="73787D"/>
                </a:solidFill>
                <a:latin typeface="Arial"/>
                <a:ea typeface="Arial"/>
                <a:cs typeface="Arial"/>
              </a:defRPr>
            </a:pPr>
            <a:r>
              <a:rPr sz="1000" b="0" lang="pt-BR">
                <a:solidFill>
                  <a:srgbClr val="73787D"/>
                </a:solidFill>
                <a:latin typeface="Arial"/>
                <a:ea typeface="Arial"/>
                <a:cs typeface="Arial"/>
              </a:rPr>
              <a:t>Jun/26</a:t>
            </a:r>
          </a:p>
        </ns0:txBody>
      </ns0:sp>
    </ns0:spTree>
    <ns0:extLst>
      <ns0:ext uri="{BB962C8B-B14F-4D97-AF65-F5344CB8AC3E}">
        <ns5:creationId val="435807809"/>
      </ns0:ext>
    </ns0:extLst>
  </ns0:cSld>
</ns0:sld>
</file>

<file path=ppt/slides/slide36.xml><?xml version="1.0" encoding="utf-8"?>
<ns0:sld xmlns:a="http://schemas.openxmlformats.org/drawingml/2006/main" xmlns:c="http://schemas.openxmlformats.org/drawingml/2006/chart" xmlns:ns0="http://schemas.openxmlformats.org/presentationml/2006/main" xmlns:ns2="http://schemas.microsoft.com/office/drawing/2014/main" xmlns:ns4="http://schemas.openxmlformats.org/officeDocument/2006/relationships" xmlns:ns5="http://schemas.microsoft.com/office/powerpoint/2010/main">
  <ns0:cSld>
    <ns0:bg>
      <ns0:bgPr>
        <a:solidFill>
          <a:srgbClr val="FFFFFF"/>
        </a:solidFill>
      </ns0:bgPr>
    </ns0:bg>
    <ns0:spTree>
      <ns0:nvGrpSpPr>
        <ns0:cNvPr id="1" name=""/>
        <ns0:cNvGrpSpPr/>
        <ns0:nvPr/>
      </ns0:nvGrpSpPr>
      <ns0:grpSpPr>
        <a:xfrm/>
      </ns0:grpSpPr>
      <ns0:sp>
        <ns0:nvSpPr>
          <ns0:cNvPr id="17" name="">
            <a:extLst>
              <a:ext uri="{FF2B5EF4-FFF2-40B4-BE49-F238E27FC236}">
                <ns2:creationId id="{43207E02-174B-40D2-B4FB-FA9F25E5B49B}"/>
              </a:ext>
            </a:extLst>
          </ns0:cNvPr>
          <ns0:cNvSpPr>
            <a:spLocks noGrp="1"/>
          </ns0:cNvSpPr>
          <ns0:nvPr/>
        </ns0:nvSpPr>
        <ns0:spPr>
          <a:xfrm>
            <a:off x="571500" y="257175"/>
            <a:ext cx="11049000" cy="409575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0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2100" b="1" lang="pt-BR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2100" b="1" lang="pt-BR">
                <a:solidFill>
                  <a:srgbClr val="151515"/>
                </a:solidFill>
                <a:latin typeface="Arial"/>
                <a:ea typeface="Arial"/>
                <a:cs typeface="Arial"/>
              </a:rPr>
              <a:t>Quase todo o volume vai para o investidor profissional</a:t>
            </a:r>
          </a:p>
        </ns0:txBody>
      </ns0:sp>
      <ns0:sp>
        <ns0:nvSpPr>
          <ns0:cNvPr id="2" name="">
            <a:extLst>
              <a:ext uri="{FF2B5EF4-FFF2-40B4-BE49-F238E27FC236}">
                <ns2:creationId id="{9C535537-A637-41FC-9D4A-D2EC0DEFAFAB}"/>
              </a:ext>
            </a:extLst>
          </ns0:cNvPr>
          <ns0:cNvSpPr>
            <a:spLocks noGrp="1"/>
          </ns0:cNvSpPr>
          <ns0:nvPr/>
        </ns0:nvSpPr>
        <ns0:spPr>
          <a:xfrm>
            <a:off x="571500" y="723900"/>
            <a:ext cx="11049000" cy="238125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0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1050" b="0" lang="pt-BR">
                <a:solidFill>
                  <a:srgbClr val="73787D"/>
                </a:solidFill>
                <a:latin typeface="Arial"/>
                <a:ea typeface="Arial"/>
                <a:cs typeface="Arial"/>
              </a:defRPr>
            </a:pPr>
            <a:r>
              <a:rPr sz="1050" b="0" lang="pt-BR">
                <a:solidFill>
                  <a:srgbClr val="73787D"/>
                </a:solidFill>
                <a:latin typeface="Arial"/>
                <a:ea typeface="Arial"/>
                <a:cs typeface="Arial"/>
              </a:rPr>
              <a:t>Entre 93% e 97% ao ano; a classificação mede elegibilidade, não alocação efetiva</a:t>
            </a:r>
          </a:p>
        </ns0:txBody>
      </ns0:sp>
      <ns0:sp>
        <ns0:nvSpPr>
          <ns0:cNvPr id="3" name="">
            <a:extLst>
              <a:ext uri="{FF2B5EF4-FFF2-40B4-BE49-F238E27FC236}">
                <ns2:creationId id="{4115413B-7723-4E16-899A-D474D724C608}"/>
              </a:ext>
            </a:extLst>
          </ns0:cNvPr>
          <ns0:cNvSpPr>
            <a:spLocks noGrp="1"/>
          </ns0:cNvSpPr>
          <ns0:nvPr/>
        </ns0:nvSpPr>
        <ns0:spPr>
          <a:xfrm>
            <a:off x="571500" y="1047750"/>
            <a:ext cx="11049000" cy="9525"/>
          </a:xfrm>
          <a:prstGeom prst="rect">
            <a:avLst/>
          </a:prstGeom>
          <a:solidFill>
            <a:srgbClr val="D7DADD"/>
          </a:solidFill>
          <a:ln w="0">
            <a:noFill/>
            <a:prstDash val="solid"/>
          </a:ln>
        </ns0:spPr>
      </ns0:sp>
      <ns0:sp>
        <ns0:nvSpPr>
          <ns0:cNvPr id="4" name="">
            <a:extLst>
              <a:ext uri="{FF2B5EF4-FFF2-40B4-BE49-F238E27FC236}">
                <ns2:creationId id="{8C5BA3B5-E661-46F7-88D0-8AD500039051}"/>
              </a:ext>
            </a:extLst>
          </ns0:cNvPr>
          <ns0:cNvSpPr>
            <a:spLocks noGrp="1"/>
          </ns0:cNvSpPr>
          <ns0:nvPr/>
        </ns0:nvSpPr>
        <ns0:spPr>
          <a:xfrm>
            <a:off x="571500" y="6353175"/>
            <a:ext cx="11049000" cy="9525"/>
          </a:xfrm>
          <a:prstGeom prst="rect">
            <a:avLst/>
          </a:prstGeom>
          <a:solidFill>
            <a:srgbClr val="D7DADD"/>
          </a:solidFill>
          <a:ln w="0">
            <a:noFill/>
            <a:prstDash val="solid"/>
          </a:ln>
        </ns0:spPr>
      </ns0:sp>
      <ns0:sp>
        <ns0:nvSpPr>
          <ns0:cNvPr id="5" name="">
            <a:extLst>
              <a:ext uri="{FF2B5EF4-FFF2-40B4-BE49-F238E27FC236}">
                <ns2:creationId id="{0D289B02-6848-430B-AF77-A065EB0F69F2}"/>
              </a:ext>
            </a:extLst>
          </ns0:cNvPr>
          <ns0:cNvSpPr>
            <a:spLocks noGrp="1"/>
          </ns0:cNvSpPr>
          <ns0:nvPr/>
        </ns0:nvSpPr>
        <ns0:spPr>
          <a:xfrm>
            <a:off x="571500" y="6419850"/>
            <a:ext cx="10001250" cy="1714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47625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rPr>
              <a:t>Fonte: CVM/SRE, dois arquivos de ofertas; 24/jul/26. Primárias encerradas, todos os ritos. Definições: RCVM 30.</a:t>
            </a:r>
          </a:p>
        </ns0:txBody>
      </ns0:sp>
      <ns0:sp>
        <ns0:nvSpPr>
          <ns0:cNvPr id="6" name="">
            <a:extLst>
              <a:ext uri="{FF2B5EF4-FFF2-40B4-BE49-F238E27FC236}">
                <ns2:creationId id="{242CD381-A1EE-4458-AA54-416A40088F00}"/>
              </a:ext>
            </a:extLst>
          </ns0:cNvPr>
          <ns0:cNvSpPr>
            <a:spLocks noGrp="1"/>
          </ns0:cNvSpPr>
          <ns0:nvPr/>
        </ns0:nvSpPr>
        <ns0:spPr>
          <a:xfrm>
            <a:off x="11144250" y="6410325"/>
            <a:ext cx="476250" cy="1714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ctr">
            <a:normAutofit fontScale="100000"/>
          </a:bodyPr>
          <a:lstStyle/>
          <a:p>
            <a:pPr algn="r">
              <a:lnSpc>
                <a:spcPct val="100000"/>
              </a:lnSpc>
              <a:buNone/>
              <a:def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rPr>
              <a:t>36</a:t>
            </a:r>
          </a:p>
        </ns0:txBody>
      </ns0:sp>
      <ns0:sp>
        <ns0:nvSpPr>
          <ns0:cNvPr id="7" name="">
            <a:extLst>
              <a:ext uri="{FF2B5EF4-FFF2-40B4-BE49-F238E27FC236}">
                <ns2:creationId id="{9E99A10E-89C7-445C-8CB9-CBC765D239B9}"/>
              </a:ext>
            </a:extLst>
          </ns0:cNvPr>
          <ns0:cNvSpPr>
            <a:spLocks noGrp="1"/>
          </ns0:cNvSpPr>
          <ns0:nvPr/>
        </ns0:nvSpPr>
        <ns0:spPr>
          <a:xfrm>
            <a:off x="571500" y="1333500"/>
            <a:ext cx="6572250" cy="22860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1125" b="1" lang="pt-BR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 lang="pt-BR">
                <a:solidFill>
                  <a:srgbClr val="30353A"/>
                </a:solidFill>
                <a:latin typeface="Arial"/>
                <a:ea typeface="Arial"/>
                <a:cs typeface="Arial"/>
              </a:rPr>
              <a:t>Contas de cotistas</a:t>
            </a:r>
          </a:p>
        </ns0:txBody>
      </ns0:sp>
      <ns0:sp>
        <ns0:nvSpPr>
          <ns0:cNvPr id="8" name="">
            <a:extLst>
              <a:ext uri="{FF2B5EF4-FFF2-40B4-BE49-F238E27FC236}">
                <ns2:creationId id="{2341DE6B-1C46-4225-87FA-E8C574F7F173}"/>
              </a:ext>
            </a:extLst>
          </ns0:cNvPr>
          <ns0:cNvSpPr>
            <a:spLocks noGrp="1"/>
          </ns0:cNvSpPr>
          <ns0:nvPr/>
        </ns0:nvSpPr>
        <ns0:spPr>
          <a:xfrm>
            <a:off x="571500" y="1600200"/>
            <a:ext cx="6572250" cy="9525"/>
          </a:xfrm>
          <a:prstGeom prst="rect">
            <a:avLst/>
          </a:prstGeom>
          <a:solidFill>
            <a:srgbClr val="D7DADD"/>
          </a:solidFill>
          <a:ln w="0">
            <a:noFill/>
            <a:prstDash val="solid"/>
          </a:ln>
        </ns0:spPr>
      </ns0:sp>
      <ns0:graphicFrame>
        <ns0:nvGraphicFramePr>
          <ns0:cNvPr id="25" name="Chart"/>
          <ns0:cNvGraphicFramePr/>
          <ns0:nvPr/>
        </ns0:nvGraphicFramePr>
        <ns0:xfrm>
          <a:off x="571500" y="1666875"/>
          <a:ext cx="6572250" cy="1809750"/>
        </ns0:xfrm>
        <a:graphic>
          <a:graphicData uri="http://schemas.openxmlformats.org/drawingml/2006/chart">
            <c:chart ns4:id="R4a3e6e5ba8c540ac"/>
          </a:graphicData>
        </a:graphic>
      </ns0:graphicFrame>
      <ns0:sp>
        <ns0:nvSpPr>
          <ns0:cNvPr id="10" name="">
            <a:extLst>
              <a:ext uri="{FF2B5EF4-FFF2-40B4-BE49-F238E27FC236}">
                <ns2:creationId id="{960F473D-67E0-48EF-BC8E-9E17E9ADB533}"/>
              </a:ext>
            </a:extLst>
          </ns0:cNvPr>
          <ns0:cNvSpPr>
            <a:spLocks noGrp="1"/>
          </ns0:cNvSpPr>
          <ns0:nvPr/>
        </ns0:nvSpPr>
        <ns0:spPr>
          <a:xfrm>
            <a:off x="571500" y="3638550"/>
            <a:ext cx="6572250" cy="22860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1125" b="1" lang="pt-BR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 lang="pt-BR">
                <a:solidFill>
                  <a:srgbClr val="30353A"/>
                </a:solidFill>
                <a:latin typeface="Arial"/>
                <a:ea typeface="Arial"/>
                <a:cs typeface="Arial"/>
              </a:rPr>
              <a:t>% do volume emitido por público-alvo CVM</a:t>
            </a:r>
          </a:p>
        </ns0:txBody>
      </ns0:sp>
      <ns0:sp>
        <ns0:nvSpPr>
          <ns0:cNvPr id="11" name="">
            <a:extLst>
              <a:ext uri="{FF2B5EF4-FFF2-40B4-BE49-F238E27FC236}">
                <ns2:creationId id="{24B39B37-FE49-4D68-AA05-2D1266AFF38E}"/>
              </a:ext>
            </a:extLst>
          </ns0:cNvPr>
          <ns0:cNvSpPr>
            <a:spLocks noGrp="1"/>
          </ns0:cNvSpPr>
          <ns0:nvPr/>
        </ns0:nvSpPr>
        <ns0:spPr>
          <a:xfrm>
            <a:off x="571500" y="3905250"/>
            <a:ext cx="6572250" cy="9525"/>
          </a:xfrm>
          <a:prstGeom prst="rect">
            <a:avLst/>
          </a:prstGeom>
          <a:solidFill>
            <a:srgbClr val="D7DADD"/>
          </a:solidFill>
          <a:ln w="0">
            <a:noFill/>
            <a:prstDash val="solid"/>
          </a:ln>
        </ns0:spPr>
      </ns0:sp>
      <ns0:graphicFrame>
        <ns0:nvGraphicFramePr>
          <ns0:cNvPr id="28" name="Chart"/>
          <ns0:cNvGraphicFramePr/>
          <ns0:nvPr/>
        </ns0:nvGraphicFramePr>
        <ns0:xfrm>
          <a:off x="571500" y="3971925"/>
          <a:ext cx="6572250" cy="1809750"/>
        </ns0:xfrm>
        <a:graphic>
          <a:graphicData uri="http://schemas.openxmlformats.org/drawingml/2006/chart">
            <c:chart ns4:id="Rb8e06c3ccefb41b6"/>
          </a:graphicData>
        </a:graphic>
      </ns0:graphicFrame>
      <ns0:sp>
        <ns0:nvSpPr>
          <ns0:cNvPr id="13" name="">
            <a:extLst>
              <a:ext uri="{FF2B5EF4-FFF2-40B4-BE49-F238E27FC236}">
                <ns2:creationId id="{C50DE85F-DE2D-436F-96F5-B1E38D4CF2E2}"/>
              </a:ext>
            </a:extLst>
          </ns0:cNvPr>
          <ns0:cNvSpPr>
            <a:spLocks noGrp="1"/>
          </ns0:cNvSpPr>
          <ns0:nvPr/>
        </ns0:nvSpPr>
        <ns0:spPr>
          <a:xfrm>
            <a:off x="7572375" y="1333500"/>
            <a:ext cx="4048125" cy="22860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1125" b="1" lang="pt-BR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 lang="pt-BR">
                <a:solidFill>
                  <a:srgbClr val="30353A"/>
                </a:solidFill>
                <a:latin typeface="Arial"/>
                <a:ea typeface="Arial"/>
                <a:cs typeface="Arial"/>
              </a:rPr>
              <a:t>Composição das contas · jun/26</a:t>
            </a:r>
          </a:p>
        </ns0:txBody>
      </ns0:sp>
      <ns0:sp>
        <ns0:nvSpPr>
          <ns0:cNvPr id="14" name="">
            <a:extLst>
              <a:ext uri="{FF2B5EF4-FFF2-40B4-BE49-F238E27FC236}">
                <ns2:creationId id="{2E7F3BBE-5488-4B26-8835-708D12EF92E5}"/>
              </a:ext>
            </a:extLst>
          </ns0:cNvPr>
          <ns0:cNvSpPr>
            <a:spLocks noGrp="1"/>
          </ns0:cNvSpPr>
          <ns0:nvPr/>
        </ns0:nvSpPr>
        <ns0:spPr>
          <a:xfrm>
            <a:off x="7572375" y="1600200"/>
            <a:ext cx="4048125" cy="9525"/>
          </a:xfrm>
          <a:prstGeom prst="rect">
            <a:avLst/>
          </a:prstGeom>
          <a:solidFill>
            <a:srgbClr val="D7DADD"/>
          </a:solidFill>
          <a:ln w="0">
            <a:noFill/>
            <a:prstDash val="solid"/>
          </a:ln>
        </ns0:spPr>
      </ns0:sp>
      <ns0:graphicFrame>
        <ns0:nvGraphicFramePr>
          <ns0:cNvPr id="31" name="Chart"/>
          <ns0:cNvGraphicFramePr/>
          <ns0:nvPr/>
        </ns0:nvGraphicFramePr>
        <ns0:xfrm>
          <a:off x="7524750" y="1714500"/>
          <a:ext cx="4095750" cy="3190875"/>
        </ns0:xfrm>
        <a:graphic>
          <a:graphicData uri="http://schemas.openxmlformats.org/drawingml/2006/chart">
            <c:chart ns4:id="Rc1e30c045c8e4903"/>
          </a:graphicData>
        </a:graphic>
      </ns0:graphicFrame>
      <ns0:sp>
        <ns0:nvSpPr>
          <ns0:cNvPr id="16" name="">
            <a:extLst>
              <a:ext uri="{FF2B5EF4-FFF2-40B4-BE49-F238E27FC236}">
                <ns2:creationId id="{2132E490-F48D-4DDD-8611-6A5C1CA04F08}"/>
              </a:ext>
            </a:extLst>
          </ns0:cNvPr>
          <ns0:cNvSpPr>
            <a:spLocks noGrp="1"/>
          </ns0:cNvSpPr>
          <ns0:nvPr/>
        </ns0:nvSpPr>
        <ns0:spPr>
          <a:xfrm>
            <a:off x="7572375" y="5095875"/>
            <a:ext cx="4048125" cy="6667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t">
            <a:normAutofit fontScale="96776"/>
          </a:bodyPr>
          <a:lstStyle/>
          <a:p>
            <a:pPr algn="l">
              <a:lnSpc>
                <a:spcPct val="100000"/>
              </a:lnSpc>
              <a:buNone/>
              <a:def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rPr>
              <a:t>A emissão é majoritariamente elegível a investidores profissionais, padrão compatível com demanda institucional/gestoras. A base de público-alvo não separa pessoa física de pessoa jurídica; Público Geral foi 0,0% em 2024 e 0,5% em jan–jun/26. N/D: 1,1% em 2023 e 0,5% em 2025.</a:t>
            </a:r>
          </a:p>
        </ns0:txBody>
      </ns0:sp>
    </ns0:spTree>
    <ns0:extLst>
      <ns0:ext uri="{BB962C8B-B14F-4D97-AF65-F5344CB8AC3E}">
        <ns5:creationId val="1052848520"/>
      </ns0:ext>
    </ns0:extLst>
  </ns0:cSld>
</ns0:sld>
</file>

<file path=ppt/slides/slide37.xml><?xml version="1.0" encoding="utf-8"?>
<ns0:sld xmlns:a="http://schemas.openxmlformats.org/drawingml/2006/main" xmlns:c="http://schemas.openxmlformats.org/drawingml/2006/chart" xmlns:ns0="http://schemas.openxmlformats.org/presentationml/2006/main" xmlns:ns2="http://schemas.microsoft.com/office/drawing/2014/main" xmlns:ns4="http://schemas.openxmlformats.org/officeDocument/2006/relationships" xmlns:ns5="http://schemas.microsoft.com/office/powerpoint/2010/main">
  <ns0:cSld>
    <ns0:bg>
      <ns0:bgPr>
        <a:solidFill>
          <a:srgbClr val="FFFFFF"/>
        </a:solidFill>
      </ns0:bgPr>
    </ns0:bg>
    <ns0:spTree>
      <ns0:nvGrpSpPr>
        <ns0:cNvPr id="1" name=""/>
        <ns0:cNvGrpSpPr/>
        <ns0:nvPr/>
      </ns0:nvGrpSpPr>
      <ns0:grpSpPr>
        <a:xfrm/>
      </ns0:grpSpPr>
      <ns0:sp>
        <ns0:nvSpPr>
          <ns0:cNvPr id="23" name="">
            <a:extLst>
              <a:ext uri="{FF2B5EF4-FFF2-40B4-BE49-F238E27FC236}">
                <ns2:creationId id="{C3106BBD-E422-44D9-A48C-F85373E08E05}"/>
              </a:ext>
            </a:extLst>
          </ns0:cNvPr>
          <ns0:cNvSpPr>
            <a:spLocks noGrp="1"/>
          </ns0:cNvSpPr>
          <ns0:nvPr/>
        </ns0:nvSpPr>
        <ns0:spPr>
          <a:xfrm>
            <a:off x="571500" y="257175"/>
            <a:ext cx="11049000" cy="19050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0" tIns="0" rIns="0" bIns="0" anchor="t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1000" b="1" lang="pt-BR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1000" b="1" lang="pt-BR">
                <a:solidFill>
                  <a:srgbClr val="EC7000"/>
                </a:solidFill>
                <a:latin typeface="Arial"/>
                <a:ea typeface="Arial"/>
                <a:cs typeface="Arial"/>
              </a:rPr>
              <a:t>DISTRIBUIÇÃO POR NÚMERO DE COTISTAS</a:t>
            </a:r>
          </a:p>
        </ns0:txBody>
      </ns0:sp>
      <ns0:sp>
        <ns0:nvSpPr>
          <ns0:cNvPr id="2" name="">
            <a:extLst>
              <a:ext uri="{FF2B5EF4-FFF2-40B4-BE49-F238E27FC236}">
                <ns2:creationId id="{FE4468E9-3DA8-408A-8F56-6CB8B9374A20}"/>
              </a:ext>
            </a:extLst>
          </ns0:cNvPr>
          <ns0:cNvSpPr>
            <a:spLocks noGrp="1"/>
          </ns0:cNvSpPr>
          <ns0:nvPr/>
        </ns0:nvSpPr>
        <ns0:spPr>
          <a:xfrm>
            <a:off x="571500" y="504825"/>
            <a:ext cx="11049000" cy="466725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0" tIns="0" rIns="0" bIns="0" anchor="ctr">
            <a:normAutofit fontScale="99702"/>
          </a:bodyPr>
          <a:lstStyle/>
          <a:p>
            <a:pPr algn="l">
              <a:lnSpc>
                <a:spcPct val="100000"/>
              </a:lnSpc>
              <a:buNone/>
              <a:defRPr sz="1950" b="1" lang="pt-BR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1950" b="1" lang="pt-BR">
                <a:solidFill>
                  <a:srgbClr val="151515"/>
                </a:solidFill>
                <a:latin typeface="Arial"/>
                <a:ea typeface="Arial"/>
                <a:cs typeface="Arial"/>
              </a:rPr>
              <a:t>Fundos com mais de 10 contas ganharam 11,0 p.p. do universo e 10,6 p.p. do PL desde dez/23</a:t>
            </a:r>
          </a:p>
        </ns0:txBody>
      </ns0:sp>
      <ns0:sp>
        <ns0:nvSpPr>
          <ns0:cNvPr id="3" name="">
            <a:extLst>
              <a:ext uri="{FF2B5EF4-FFF2-40B4-BE49-F238E27FC236}">
                <ns2:creationId id="{1B03E86D-A59D-4C9D-87F8-337432A9BFA0}"/>
              </a:ext>
            </a:extLst>
          </ns0:cNvPr>
          <ns0:cNvSpPr>
            <a:spLocks noGrp="1"/>
          </ns0:cNvSpPr>
          <ns0:nvPr/>
        </ns0:nvSpPr>
        <ns0:spPr>
          <a:xfrm>
            <a:off x="571500" y="1047750"/>
            <a:ext cx="11049000" cy="9525"/>
          </a:xfrm>
          <a:prstGeom prst="rect">
            <a:avLst/>
          </a:prstGeom>
          <a:solidFill>
            <a:srgbClr val="D7DADD"/>
          </a:solidFill>
          <a:ln w="0">
            <a:noFill/>
            <a:prstDash val="solid"/>
          </a:ln>
        </ns0:spPr>
      </ns0:sp>
      <ns0:sp>
        <ns0:nvSpPr>
          <ns0:cNvPr id="4" name="">
            <a:extLst>
              <a:ext uri="{FF2B5EF4-FFF2-40B4-BE49-F238E27FC236}">
                <ns2:creationId id="{B38FBB28-5685-491C-A081-1D2DCF63DCF7}"/>
              </a:ext>
            </a:extLst>
          </ns0:cNvPr>
          <ns0:cNvSpPr>
            <a:spLocks noGrp="1"/>
          </ns0:cNvSpPr>
          <ns0:nvPr/>
        </ns0:nvSpPr>
        <ns0:spPr>
          <a:xfrm>
            <a:off x="571500" y="6353175"/>
            <a:ext cx="11049000" cy="9525"/>
          </a:xfrm>
          <a:prstGeom prst="rect">
            <a:avLst/>
          </a:prstGeom>
          <a:solidFill>
            <a:srgbClr val="D7DADD"/>
          </a:solidFill>
          <a:ln w="0">
            <a:noFill/>
            <a:prstDash val="solid"/>
          </a:ln>
        </ns0:spPr>
      </ns0:sp>
      <ns0:sp>
        <ns0:nvSpPr>
          <ns0:cNvPr id="5" name="">
            <a:extLst>
              <a:ext uri="{FF2B5EF4-FFF2-40B4-BE49-F238E27FC236}">
                <ns2:creationId id="{CCF8A594-1932-465C-B54D-EA449170B6D6}"/>
              </a:ext>
            </a:extLst>
          </ns0:cNvPr>
          <ns0:cNvSpPr>
            <a:spLocks noGrp="1"/>
          </ns0:cNvSpPr>
          <ns0:nvPr/>
        </ns0:nvSpPr>
        <ns0:spPr>
          <a:xfrm>
            <a:off x="571500" y="6419850"/>
            <a:ext cx="10001250" cy="1714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47625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rPr>
              <a:t>Fonte: CVM, dez/23 e jun/26. Ex-FIC com PL ≥ R$ 200 mi: 409 → 784 fundos; contas por classe/série, não investidores únicos.</a:t>
            </a:r>
          </a:p>
        </ns0:txBody>
      </ns0:sp>
      <ns0:sp>
        <ns0:nvSpPr>
          <ns0:cNvPr id="6" name="">
            <a:extLst>
              <a:ext uri="{FF2B5EF4-FFF2-40B4-BE49-F238E27FC236}">
                <ns2:creationId id="{D1BE50A7-8A39-4D2B-B6AB-55B7C1FF92B2}"/>
              </a:ext>
            </a:extLst>
          </ns0:cNvPr>
          <ns0:cNvSpPr>
            <a:spLocks noGrp="1"/>
          </ns0:cNvSpPr>
          <ns0:nvPr/>
        </ns0:nvSpPr>
        <ns0:spPr>
          <a:xfrm>
            <a:off x="11144250" y="6410325"/>
            <a:ext cx="476250" cy="1714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ctr">
            <a:normAutofit fontScale="100000"/>
          </a:bodyPr>
          <a:lstStyle/>
          <a:p>
            <a:pPr algn="r">
              <a:lnSpc>
                <a:spcPct val="100000"/>
              </a:lnSpc>
              <a:buNone/>
              <a:def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rPr>
              <a:t>37</a:t>
            </a:r>
          </a:p>
        </ns0:txBody>
      </ns0:sp>
      <ns0:graphicFrame>
        <ns0:nvGraphicFramePr>
          <ns0:cNvPr id="29" name="Chart"/>
          <ns0:cNvGraphicFramePr/>
          <ns0:nvPr/>
        </ns0:nvGraphicFramePr>
        <ns0:xfrm>
          <a:off x="9239250" y="1219200"/>
          <a:ext cx="2381250" cy="209550"/>
        </ns0:xfrm>
        <a:graphic>
          <a:graphicData uri="http://schemas.openxmlformats.org/drawingml/2006/chart">
            <c:chart ns4:id="R1c0f152ab2d14d5f"/>
          </a:graphicData>
        </a:graphic>
      </ns0:graphicFrame>
      <ns0:sp>
        <ns0:nvSpPr>
          <ns0:cNvPr id="8" name="">
            <a:extLst>
              <a:ext uri="{FF2B5EF4-FFF2-40B4-BE49-F238E27FC236}">
                <ns2:creationId id="{E08FABB6-0B2F-43CD-9880-04C9F93CA46B}"/>
              </a:ext>
            </a:extLst>
          </ns0:cNvPr>
          <ns0:cNvSpPr>
            <a:spLocks noGrp="1"/>
          </ns0:cNvSpPr>
          <ns0:nvPr/>
        </ns0:nvSpPr>
        <ns0:spPr>
          <a:xfrm>
            <a:off x="571500" y="1323975"/>
            <a:ext cx="5286375" cy="22860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1125" b="1" lang="pt-BR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 lang="pt-BR">
                <a:solidFill>
                  <a:srgbClr val="30353A"/>
                </a:solidFill>
                <a:latin typeface="Arial"/>
                <a:ea typeface="Arial"/>
                <a:cs typeface="Arial"/>
              </a:rPr>
              <a:t>Quantidade de fundos · absoluto</a:t>
            </a:r>
          </a:p>
        </ns0:txBody>
      </ns0:sp>
      <ns0:sp>
        <ns0:nvSpPr>
          <ns0:cNvPr id="9" name="">
            <a:extLst>
              <a:ext uri="{FF2B5EF4-FFF2-40B4-BE49-F238E27FC236}">
                <ns2:creationId id="{ABB86F27-D026-46D6-B0D6-678300EE634D}"/>
              </a:ext>
            </a:extLst>
          </ns0:cNvPr>
          <ns0:cNvSpPr>
            <a:spLocks noGrp="1"/>
          </ns0:cNvSpPr>
          <ns0:nvPr/>
        </ns0:nvSpPr>
        <ns0:spPr>
          <a:xfrm>
            <a:off x="571500" y="1590675"/>
            <a:ext cx="5286375" cy="9525"/>
          </a:xfrm>
          <a:prstGeom prst="rect">
            <a:avLst/>
          </a:prstGeom>
          <a:solidFill>
            <a:srgbClr val="D7DADD"/>
          </a:solidFill>
          <a:ln w="0">
            <a:noFill/>
            <a:prstDash val="solid"/>
          </a:ln>
        </ns0:spPr>
      </ns0:sp>
      <ns0:graphicFrame>
        <ns0:nvGraphicFramePr>
          <ns0:cNvPr id="32" name="Chart"/>
          <ns0:cNvGraphicFramePr/>
          <ns0:nvPr/>
        </ns0:nvGraphicFramePr>
        <ns0:xfrm>
          <a:off x="571500" y="1724025"/>
          <a:ext cx="5286375" cy="1809750"/>
        </ns0:xfrm>
        <a:graphic>
          <a:graphicData uri="http://schemas.openxmlformats.org/drawingml/2006/chart">
            <c:chart ns4:id="Re701762cebc54e02"/>
          </a:graphicData>
        </a:graphic>
      </ns0:graphicFrame>
      <ns0:sp>
        <ns0:nvSpPr>
          <ns0:cNvPr id="11" name="">
            <a:extLst>
              <a:ext uri="{FF2B5EF4-FFF2-40B4-BE49-F238E27FC236}">
                <ns2:creationId id="{3AFF4EA8-1775-4060-AEE1-A527BDBEFE85}"/>
              </a:ext>
            </a:extLst>
          </ns0:cNvPr>
          <ns0:cNvSpPr>
            <a:spLocks noGrp="1"/>
          </ns0:cNvSpPr>
          <ns0:nvPr/>
        </ns0:nvSpPr>
        <ns0:spPr>
          <a:xfrm>
            <a:off x="6334125" y="1323975"/>
            <a:ext cx="5286375" cy="22860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1125" b="1" lang="pt-BR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 lang="pt-BR">
                <a:solidFill>
                  <a:srgbClr val="30353A"/>
                </a:solidFill>
                <a:latin typeface="Arial"/>
                <a:ea typeface="Arial"/>
                <a:cs typeface="Arial"/>
              </a:rPr>
              <a:t>PL por faixa · R$ bi</a:t>
            </a:r>
          </a:p>
        </ns0:txBody>
      </ns0:sp>
      <ns0:sp>
        <ns0:nvSpPr>
          <ns0:cNvPr id="12" name="">
            <a:extLst>
              <a:ext uri="{FF2B5EF4-FFF2-40B4-BE49-F238E27FC236}">
                <ns2:creationId id="{4B8DF1A6-CD01-4787-B6B4-09458E8AE46A}"/>
              </a:ext>
            </a:extLst>
          </ns0:cNvPr>
          <ns0:cNvSpPr>
            <a:spLocks noGrp="1"/>
          </ns0:cNvSpPr>
          <ns0:nvPr/>
        </ns0:nvSpPr>
        <ns0:spPr>
          <a:xfrm>
            <a:off x="6334125" y="1590675"/>
            <a:ext cx="5286375" cy="9525"/>
          </a:xfrm>
          <a:prstGeom prst="rect">
            <a:avLst/>
          </a:prstGeom>
          <a:solidFill>
            <a:srgbClr val="D7DADD"/>
          </a:solidFill>
          <a:ln w="0">
            <a:noFill/>
            <a:prstDash val="solid"/>
          </a:ln>
        </ns0:spPr>
      </ns0:sp>
      <ns0:graphicFrame>
        <ns0:nvGraphicFramePr>
          <ns0:cNvPr id="35" name="Chart"/>
          <ns0:cNvGraphicFramePr/>
          <ns0:nvPr/>
        </ns0:nvGraphicFramePr>
        <ns0:xfrm>
          <a:off x="6334125" y="1724025"/>
          <a:ext cx="5286375" cy="1809750"/>
        </ns0:xfrm>
        <a:graphic>
          <a:graphicData uri="http://schemas.openxmlformats.org/drawingml/2006/chart">
            <c:chart ns4:id="R2edcd0786e08447b"/>
          </a:graphicData>
        </a:graphic>
      </ns0:graphicFrame>
      <ns0:sp>
        <ns0:nvSpPr>
          <ns0:cNvPr id="14" name="">
            <a:extLst>
              <a:ext uri="{FF2B5EF4-FFF2-40B4-BE49-F238E27FC236}">
                <ns2:creationId id="{1EE229A3-04A1-4A18-9504-678F77AA0073}"/>
              </a:ext>
            </a:extLst>
          </ns0:cNvPr>
          <ns0:cNvSpPr>
            <a:spLocks noGrp="1"/>
          </ns0:cNvSpPr>
          <ns0:nvPr/>
        </ns0:nvSpPr>
        <ns0:spPr>
          <a:xfrm>
            <a:off x="571500" y="3733800"/>
            <a:ext cx="5286375" cy="22860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1125" b="1" lang="pt-BR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 lang="pt-BR">
                <a:solidFill>
                  <a:srgbClr val="30353A"/>
                </a:solidFill>
                <a:latin typeface="Arial"/>
                <a:ea typeface="Arial"/>
                <a:cs typeface="Arial"/>
              </a:rPr>
              <a:t>Quantidade de fundos · % do total</a:t>
            </a:r>
          </a:p>
        </ns0:txBody>
      </ns0:sp>
      <ns0:sp>
        <ns0:nvSpPr>
          <ns0:cNvPr id="15" name="">
            <a:extLst>
              <a:ext uri="{FF2B5EF4-FFF2-40B4-BE49-F238E27FC236}">
                <ns2:creationId id="{151C8547-1F42-4E4C-AECB-1C71530E254F}"/>
              </a:ext>
            </a:extLst>
          </ns0:cNvPr>
          <ns0:cNvSpPr>
            <a:spLocks noGrp="1"/>
          </ns0:cNvSpPr>
          <ns0:nvPr/>
        </ns0:nvSpPr>
        <ns0:spPr>
          <a:xfrm>
            <a:off x="571500" y="4000500"/>
            <a:ext cx="5286375" cy="9525"/>
          </a:xfrm>
          <a:prstGeom prst="rect">
            <a:avLst/>
          </a:prstGeom>
          <a:solidFill>
            <a:srgbClr val="D7DADD"/>
          </a:solidFill>
          <a:ln w="0">
            <a:noFill/>
            <a:prstDash val="solid"/>
          </a:ln>
        </ns0:spPr>
      </ns0:sp>
      <ns0:graphicFrame>
        <ns0:nvGraphicFramePr>
          <ns0:cNvPr id="38" name="Chart"/>
          <ns0:cNvGraphicFramePr/>
          <ns0:nvPr/>
        </ns0:nvGraphicFramePr>
        <ns0:xfrm>
          <a:off x="571500" y="4076700"/>
          <a:ext cx="5286375" cy="1809750"/>
        </ns0:xfrm>
        <a:graphic>
          <a:graphicData uri="http://schemas.openxmlformats.org/drawingml/2006/chart">
            <c:chart ns4:id="Rf053f2fca9ed4cf0"/>
          </a:graphicData>
        </a:graphic>
      </ns0:graphicFrame>
      <ns0:sp>
        <ns0:nvSpPr>
          <ns0:cNvPr id="17" name="">
            <a:extLst>
              <a:ext uri="{FF2B5EF4-FFF2-40B4-BE49-F238E27FC236}">
                <ns2:creationId id="{D664B37F-5774-472A-93DA-B76CF459EB9E}"/>
              </a:ext>
            </a:extLst>
          </ns0:cNvPr>
          <ns0:cNvSpPr>
            <a:spLocks noGrp="1"/>
          </ns0:cNvSpPr>
          <ns0:nvPr/>
        </ns0:nvSpPr>
        <ns0:spPr>
          <a:xfrm>
            <a:off x="3905250" y="3752850"/>
            <a:ext cx="1952625" cy="19050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ctr">
            <a:normAutofit fontScale="100000"/>
          </a:bodyPr>
          <a:lstStyle/>
          <a:p>
            <a:pPr algn="r">
              <a:lnSpc>
                <a:spcPct val="100000"/>
              </a:lnSpc>
              <a:buNone/>
              <a:def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rPr>
              <a:t>Soma das barras = 100%</a:t>
            </a:r>
          </a:p>
        </ns0:txBody>
      </ns0:sp>
      <ns0:sp>
        <ns0:nvSpPr>
          <ns0:cNvPr id="18" name="">
            <a:extLst>
              <a:ext uri="{FF2B5EF4-FFF2-40B4-BE49-F238E27FC236}">
                <ns2:creationId id="{E367B2AD-3EE1-4FBC-B44C-5C6746542353}"/>
              </a:ext>
            </a:extLst>
          </ns0:cNvPr>
          <ns0:cNvSpPr>
            <a:spLocks noGrp="1"/>
          </ns0:cNvSpPr>
          <ns0:nvPr/>
        </ns0:nvSpPr>
        <ns0:spPr>
          <a:xfrm>
            <a:off x="6334125" y="3733800"/>
            <a:ext cx="5286375" cy="22860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1125" b="1" lang="pt-BR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 lang="pt-BR">
                <a:solidFill>
                  <a:srgbClr val="30353A"/>
                </a:solidFill>
                <a:latin typeface="Arial"/>
                <a:ea typeface="Arial"/>
                <a:cs typeface="Arial"/>
              </a:rPr>
              <a:t>PL por faixa · % do total</a:t>
            </a:r>
          </a:p>
        </ns0:txBody>
      </ns0:sp>
      <ns0:sp>
        <ns0:nvSpPr>
          <ns0:cNvPr id="19" name="">
            <a:extLst>
              <a:ext uri="{FF2B5EF4-FFF2-40B4-BE49-F238E27FC236}">
                <ns2:creationId id="{3ABC4834-CD9E-472C-86D9-4E6173033EEF}"/>
              </a:ext>
            </a:extLst>
          </ns0:cNvPr>
          <ns0:cNvSpPr>
            <a:spLocks noGrp="1"/>
          </ns0:cNvSpPr>
          <ns0:nvPr/>
        </ns0:nvSpPr>
        <ns0:spPr>
          <a:xfrm>
            <a:off x="6334125" y="4000500"/>
            <a:ext cx="5286375" cy="9525"/>
          </a:xfrm>
          <a:prstGeom prst="rect">
            <a:avLst/>
          </a:prstGeom>
          <a:solidFill>
            <a:srgbClr val="D7DADD"/>
          </a:solidFill>
          <a:ln w="0">
            <a:noFill/>
            <a:prstDash val="solid"/>
          </a:ln>
        </ns0:spPr>
      </ns0:sp>
      <ns0:graphicFrame>
        <ns0:nvGraphicFramePr>
          <ns0:cNvPr id="42" name="Chart"/>
          <ns0:cNvGraphicFramePr/>
          <ns0:nvPr/>
        </ns0:nvGraphicFramePr>
        <ns0:xfrm>
          <a:off x="6334125" y="4076700"/>
          <a:ext cx="5286375" cy="1809750"/>
        </ns0:xfrm>
        <a:graphic>
          <a:graphicData uri="http://schemas.openxmlformats.org/drawingml/2006/chart">
            <c:chart ns4:id="R7cc4ac48d1574a09"/>
          </a:graphicData>
        </a:graphic>
      </ns0:graphicFrame>
      <ns0:sp>
        <ns0:nvSpPr>
          <ns0:cNvPr id="21" name="">
            <a:extLst>
              <a:ext uri="{FF2B5EF4-FFF2-40B4-BE49-F238E27FC236}">
                <ns2:creationId id="{398957AC-C720-4F20-A154-2C0D6A0641BB}"/>
              </a:ext>
            </a:extLst>
          </ns0:cNvPr>
          <ns0:cNvSpPr>
            <a:spLocks noGrp="1"/>
          </ns0:cNvSpPr>
          <ns0:nvPr/>
        </ns0:nvSpPr>
        <ns0:spPr>
          <a:xfrm>
            <a:off x="9667875" y="3752850"/>
            <a:ext cx="1952625" cy="19050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ctr">
            <a:normAutofit fontScale="100000"/>
          </a:bodyPr>
          <a:lstStyle/>
          <a:p>
            <a:pPr algn="r">
              <a:lnSpc>
                <a:spcPct val="100000"/>
              </a:lnSpc>
              <a:buNone/>
              <a:def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rPr>
              <a:t>Soma das barras = 100%</a:t>
            </a:r>
          </a:p>
        </ns0:txBody>
      </ns0:sp>
      <ns0:sp>
        <ns0:nvSpPr>
          <ns0:cNvPr id="22" name="">
            <a:extLst>
              <a:ext uri="{FF2B5EF4-FFF2-40B4-BE49-F238E27FC236}">
                <ns2:creationId id="{3B0D25C7-5F55-4411-82C6-B9A9F78B1491}"/>
              </a:ext>
            </a:extLst>
          </ns0:cNvPr>
          <ns0:cNvSpPr>
            <a:spLocks noGrp="1"/>
          </ns0:cNvSpPr>
          <ns0:nvPr/>
        </ns0:nvSpPr>
        <ns0:spPr>
          <a:xfrm>
            <a:off x="571500" y="6096000"/>
            <a:ext cx="11049000" cy="1714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t">
            <a:normAutofit fontScale="100000"/>
          </a:bodyPr>
          <a:lstStyle/>
          <a:p>
            <a:pPr algn="r">
              <a:lnSpc>
                <a:spcPct val="100000"/>
              </a:lnSpc>
              <a:buNone/>
              <a:def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rPr>
              <a:t>Comparação de duas fotografias da indústria, não de coorte constante. Corte de R$ 200 mi em valores nominais; cada histograma percentual fecha em 100%.</a:t>
            </a:r>
          </a:p>
        </ns0:txBody>
      </ns0:sp>
    </ns0:spTree>
    <ns0:extLst>
      <ns0:ext uri="{BB962C8B-B14F-4D97-AF65-F5344CB8AC3E}">
        <ns5:creationId val="1936999079"/>
      </ns0:ext>
    </ns0:extLst>
  </ns0:cSld>
</ns0:sld>
</file>

<file path=ppt/theme/theme1.xml><?xml version="1.0" encoding="utf-8"?>
<a:theme xmlns:a="http://schemas.openxmlformats.org/drawingml/2006/main" name="ChatGPT">
  <a:themeElements>
    <a:clrScheme name="Itau BBA FIDC Editorial">
      <a:dk1>
        <a:srgbClr val="151515"/>
      </a:dk1>
      <a:lt1>
        <a:srgbClr val="FFFFFF"/>
      </a:lt1>
      <a:dk2>
        <a:srgbClr val="30353A"/>
      </a:dk2>
      <a:lt2>
        <a:srgbClr val="E7E9EB"/>
      </a:lt2>
      <a:accent1>
        <a:srgbClr val="EC7000"/>
      </a:accent1>
      <a:accent2>
        <a:srgbClr val="151515"/>
      </a:accent2>
      <a:accent3>
        <a:srgbClr val="30353A"/>
      </a:accent3>
      <a:accent4>
        <a:srgbClr val="73787D"/>
      </a:accent4>
      <a:accent5>
        <a:srgbClr val="8D9399"/>
      </a:accent5>
      <a:accent6>
        <a:srgbClr val="D7DADD"/>
      </a:accent6>
      <a:hlink>
        <a:srgbClr val="EC7000"/>
      </a:hlink>
      <a:folHlink>
        <a:srgbClr val="7378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Itau BBA FIDC Editorial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2026-08-05T00:32:44.0470000Z</dcterms:created>
  <dcterms:modified xsi:type="dcterms:W3CDTF">2026-08-05T00:32:44.0470000Z</dcterms:modified>
</coreProperties>
</file>