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8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9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0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9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32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33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34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charts/chart35.xml" ContentType="application/vnd.openxmlformats-officedocument.drawingml.chart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slides/charts/chart45.xml" ContentType="application/vnd.openxmlformats-officedocument.drawingml.chart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slides/charts/chart46.xml" ContentType="application/vnd.openxmlformats-officedocument.drawingml.chart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slides/charts/chart47.xml" ContentType="application/vnd.openxmlformats-officedocument.drawingml.chart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3ae457d113743e9" /><Relationship Type="http://schemas.openxmlformats.org/officeDocument/2006/relationships/extended-properties" Target="/docProps/app.xml" Id="Rbbdb4a3bd3c1417d" /><Relationship Type="http://schemas.openxmlformats.org/officeDocument/2006/relationships/officeDocument" Target="/ppt/presentation.xml" Id="Raaee5e532d0740e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8cc007504824c4f"/>
  </p:sldMasterIdLst>
  <p:notesMasterIdLst>
    <p:notesMasterId xmlns:r="http://schemas.openxmlformats.org/officeDocument/2006/relationships" r:id="R7b7aab362e16400c"/>
  </p:notesMasterIdLst>
  <p:sldIdLst>
    <p:sldId xmlns:r="http://schemas.openxmlformats.org/officeDocument/2006/relationships" id="256" r:id="Rdf68fe79640f43b3"/>
    <p:sldId xmlns:r="http://schemas.openxmlformats.org/officeDocument/2006/relationships" id="257" r:id="R39c7727d91fd49b6"/>
    <p:sldId xmlns:r="http://schemas.openxmlformats.org/officeDocument/2006/relationships" id="258" r:id="Rb23bce342f564807"/>
    <p:sldId xmlns:r="http://schemas.openxmlformats.org/officeDocument/2006/relationships" id="259" r:id="R2aee2ded75e942eb"/>
    <p:sldId xmlns:r="http://schemas.openxmlformats.org/officeDocument/2006/relationships" id="260" r:id="R729be5da0eb04b2c"/>
    <p:sldId xmlns:r="http://schemas.openxmlformats.org/officeDocument/2006/relationships" id="261" r:id="R1d8c0904e99145f1"/>
    <p:sldId xmlns:r="http://schemas.openxmlformats.org/officeDocument/2006/relationships" id="262" r:id="R710495b6400d4464"/>
    <p:sldId xmlns:r="http://schemas.openxmlformats.org/officeDocument/2006/relationships" id="263" r:id="Rd905f5de6ec44abe"/>
    <p:sldId xmlns:r="http://schemas.openxmlformats.org/officeDocument/2006/relationships" id="264" r:id="R5d6856f523214968"/>
    <p:sldId xmlns:r="http://schemas.openxmlformats.org/officeDocument/2006/relationships" id="265" r:id="R937c37eb9abd468f"/>
    <p:sldId xmlns:r="http://schemas.openxmlformats.org/officeDocument/2006/relationships" id="266" r:id="Ra8a9617a8d3b4964"/>
    <p:sldId xmlns:r="http://schemas.openxmlformats.org/officeDocument/2006/relationships" id="267" r:id="R002414a9727040e2"/>
    <p:sldId xmlns:r="http://schemas.openxmlformats.org/officeDocument/2006/relationships" id="268" r:id="R6779494255b94c5b"/>
    <p:sldId xmlns:r="http://schemas.openxmlformats.org/officeDocument/2006/relationships" id="269" r:id="R919638f664bb4373"/>
    <p:sldId xmlns:r="http://schemas.openxmlformats.org/officeDocument/2006/relationships" id="270" r:id="Rc0b4337e5e274d80"/>
    <p:sldId xmlns:r="http://schemas.openxmlformats.org/officeDocument/2006/relationships" id="271" r:id="R686a75603f97496f"/>
    <p:sldId xmlns:r="http://schemas.openxmlformats.org/officeDocument/2006/relationships" id="272" r:id="R5c0a290616ff41c4"/>
    <p:sldId xmlns:r="http://schemas.openxmlformats.org/officeDocument/2006/relationships" id="273" r:id="R5ce580f8574843b3"/>
    <p:sldId xmlns:r="http://schemas.openxmlformats.org/officeDocument/2006/relationships" id="274" r:id="R0d98425e617645de"/>
    <p:sldId xmlns:r="http://schemas.openxmlformats.org/officeDocument/2006/relationships" id="275" r:id="Re5e04fe58ea04183"/>
    <p:sldId xmlns:r="http://schemas.openxmlformats.org/officeDocument/2006/relationships" id="276" r:id="R92f5eb5cbd294a92"/>
    <p:sldId xmlns:r="http://schemas.openxmlformats.org/officeDocument/2006/relationships" id="277" r:id="R8e3587b7461043b6"/>
    <p:sldId xmlns:r="http://schemas.openxmlformats.org/officeDocument/2006/relationships" id="278" r:id="R28b1eddfe56a4918"/>
    <p:sldId xmlns:r="http://schemas.openxmlformats.org/officeDocument/2006/relationships" id="279" r:id="R51c91e8508e54d62"/>
    <p:sldId xmlns:r="http://schemas.openxmlformats.org/officeDocument/2006/relationships" id="280" r:id="R7c2665bb59a54ce2"/>
    <p:sldId xmlns:r="http://schemas.openxmlformats.org/officeDocument/2006/relationships" id="281" r:id="Rd8b637129799433f"/>
    <p:sldId xmlns:r="http://schemas.openxmlformats.org/officeDocument/2006/relationships" id="282" r:id="R0132ce32968d4f03"/>
    <p:sldId xmlns:r="http://schemas.openxmlformats.org/officeDocument/2006/relationships" id="283" r:id="R3c43175ea78245ce"/>
    <p:sldId xmlns:r="http://schemas.openxmlformats.org/officeDocument/2006/relationships" id="284" r:id="R8014e1ebc783460a"/>
    <p:sldId xmlns:r="http://schemas.openxmlformats.org/officeDocument/2006/relationships" id="285" r:id="R11d3811fc7084d1c"/>
    <p:sldId xmlns:r="http://schemas.openxmlformats.org/officeDocument/2006/relationships" id="286" r:id="R440bf46876934ca0"/>
    <p:sldId xmlns:r="http://schemas.openxmlformats.org/officeDocument/2006/relationships" id="287" r:id="R7cfa3fc36e0d4e50"/>
    <p:sldId xmlns:r="http://schemas.openxmlformats.org/officeDocument/2006/relationships" id="288" r:id="Rea4581d1c270401e"/>
    <p:sldId xmlns:r="http://schemas.openxmlformats.org/officeDocument/2006/relationships" id="289" r:id="R780bee8d65904a75"/>
    <p:sldId xmlns:r="http://schemas.openxmlformats.org/officeDocument/2006/relationships" id="290" r:id="R47fd5fe119d44e3b"/>
    <p:sldId xmlns:r="http://schemas.openxmlformats.org/officeDocument/2006/relationships" id="291" r:id="R6ab51885d9e14185"/>
    <p:sldId xmlns:r="http://schemas.openxmlformats.org/officeDocument/2006/relationships" id="292" r:id="R9315e5f1daef42cb"/>
    <p:sldId xmlns:r="http://schemas.openxmlformats.org/officeDocument/2006/relationships" id="293" r:id="R35e377b9f4f64410"/>
    <p:sldId xmlns:r="http://schemas.openxmlformats.org/officeDocument/2006/relationships" id="294" r:id="R9f6e88d51dc94bad"/>
    <p:sldId xmlns:r="http://schemas.openxmlformats.org/officeDocument/2006/relationships" id="295" r:id="Ra05a5fe51d92468d"/>
    <p:sldId xmlns:r="http://schemas.openxmlformats.org/officeDocument/2006/relationships" id="296" r:id="Ra24bef3cc77a47c7"/>
    <p:sldId xmlns:r="http://schemas.openxmlformats.org/officeDocument/2006/relationships" id="297" r:id="Rd2a6dc595dd54417"/>
    <p:sldId xmlns:r="http://schemas.openxmlformats.org/officeDocument/2006/relationships" id="298" r:id="Rbb9b7c72b8d54f1a"/>
    <p:sldId xmlns:r="http://schemas.openxmlformats.org/officeDocument/2006/relationships" id="299" r:id="R3d2854fc85914fa3"/>
    <p:sldId xmlns:r="http://schemas.openxmlformats.org/officeDocument/2006/relationships" id="300" r:id="R92ddae71ce524b6c"/>
    <p:sldId xmlns:r="http://schemas.openxmlformats.org/officeDocument/2006/relationships" id="301" r:id="Re706b9f6dba54089"/>
    <p:sldId xmlns:r="http://schemas.openxmlformats.org/officeDocument/2006/relationships" id="302" r:id="R1f1bc03a48f54816"/>
    <p:sldId xmlns:r="http://schemas.openxmlformats.org/officeDocument/2006/relationships" id="303" r:id="R6f5326aa814b430e"/>
    <p:sldId xmlns:r="http://schemas.openxmlformats.org/officeDocument/2006/relationships" id="304" r:id="Rabec16ad4cb74037"/>
    <p:sldId xmlns:r="http://schemas.openxmlformats.org/officeDocument/2006/relationships" id="305" r:id="Rb287f9cb4c784915"/>
    <p:sldId xmlns:r="http://schemas.openxmlformats.org/officeDocument/2006/relationships" id="306" r:id="Rbcae1d0d568b4b33"/>
    <p:sldId xmlns:r="http://schemas.openxmlformats.org/officeDocument/2006/relationships" id="307" r:id="R8cc82f0e2fca4a53"/>
    <p:sldId xmlns:r="http://schemas.openxmlformats.org/officeDocument/2006/relationships" id="308" r:id="R7b6aa42abb93490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11e520548de4b11" /><Relationship Type="http://schemas.openxmlformats.org/officeDocument/2006/relationships/slideMaster" Target="/ppt/slideMasters/slideMaster1.xml" Id="Rc8cc007504824c4f" /><Relationship Type="http://schemas.openxmlformats.org/officeDocument/2006/relationships/notesMaster" Target="/ppt/notesMasters/notesMaster1.xml" Id="R7b7aab362e16400c" /><Relationship Type="http://schemas.openxmlformats.org/officeDocument/2006/relationships/presProps" Target="/ppt/presProps.xml" Id="R4ce4c205a8734a9f" /><Relationship Type="http://schemas.openxmlformats.org/officeDocument/2006/relationships/tableStyles" Target="/ppt/tableStyles.xml" Id="R287c2a9266c04865" /><Relationship Type="http://schemas.openxmlformats.org/officeDocument/2006/relationships/slide" Target="/ppt/slides/slide1.xml" Id="Rdf68fe79640f43b3" /><Relationship Type="http://schemas.openxmlformats.org/officeDocument/2006/relationships/slide" Target="/ppt/slides/slide2.xml" Id="R39c7727d91fd49b6" /><Relationship Type="http://schemas.openxmlformats.org/officeDocument/2006/relationships/slide" Target="/ppt/slides/slide3.xml" Id="Rb23bce342f564807" /><Relationship Type="http://schemas.openxmlformats.org/officeDocument/2006/relationships/slide" Target="/ppt/slides/slide4.xml" Id="R2aee2ded75e942eb" /><Relationship Type="http://schemas.openxmlformats.org/officeDocument/2006/relationships/slide" Target="/ppt/slides/slide5.xml" Id="R729be5da0eb04b2c" /><Relationship Type="http://schemas.openxmlformats.org/officeDocument/2006/relationships/slide" Target="/ppt/slides/slide6.xml" Id="R1d8c0904e99145f1" /><Relationship Type="http://schemas.openxmlformats.org/officeDocument/2006/relationships/slide" Target="/ppt/slides/slide7.xml" Id="R710495b6400d4464" /><Relationship Type="http://schemas.openxmlformats.org/officeDocument/2006/relationships/slide" Target="/ppt/slides/slide8.xml" Id="Rd905f5de6ec44abe" /><Relationship Type="http://schemas.openxmlformats.org/officeDocument/2006/relationships/slide" Target="/ppt/slides/slide9.xml" Id="R5d6856f523214968" /><Relationship Type="http://schemas.openxmlformats.org/officeDocument/2006/relationships/slide" Target="/ppt/slides/slide10.xml" Id="R937c37eb9abd468f" /><Relationship Type="http://schemas.openxmlformats.org/officeDocument/2006/relationships/slide" Target="/ppt/slides/slide11.xml" Id="Ra8a9617a8d3b4964" /><Relationship Type="http://schemas.openxmlformats.org/officeDocument/2006/relationships/slide" Target="/ppt/slides/slide12.xml" Id="R002414a9727040e2" /><Relationship Type="http://schemas.openxmlformats.org/officeDocument/2006/relationships/slide" Target="/ppt/slides/slide13.xml" Id="R6779494255b94c5b" /><Relationship Type="http://schemas.openxmlformats.org/officeDocument/2006/relationships/slide" Target="/ppt/slides/slide14.xml" Id="R919638f664bb4373" /><Relationship Type="http://schemas.openxmlformats.org/officeDocument/2006/relationships/slide" Target="/ppt/slides/slide15.xml" Id="Rc0b4337e5e274d80" /><Relationship Type="http://schemas.openxmlformats.org/officeDocument/2006/relationships/slide" Target="/ppt/slides/slide16.xml" Id="R686a75603f97496f" /><Relationship Type="http://schemas.openxmlformats.org/officeDocument/2006/relationships/slide" Target="/ppt/slides/slide17.xml" Id="R5c0a290616ff41c4" /><Relationship Type="http://schemas.openxmlformats.org/officeDocument/2006/relationships/slide" Target="/ppt/slides/slide18.xml" Id="R5ce580f8574843b3" /><Relationship Type="http://schemas.openxmlformats.org/officeDocument/2006/relationships/slide" Target="/ppt/slides/slide19.xml" Id="R0d98425e617645de" /><Relationship Type="http://schemas.openxmlformats.org/officeDocument/2006/relationships/slide" Target="/ppt/slides/slide20.xml" Id="Re5e04fe58ea04183" /><Relationship Type="http://schemas.openxmlformats.org/officeDocument/2006/relationships/slide" Target="/ppt/slides/slide21.xml" Id="R92f5eb5cbd294a92" /><Relationship Type="http://schemas.openxmlformats.org/officeDocument/2006/relationships/slide" Target="/ppt/slides/slide22.xml" Id="R8e3587b7461043b6" /><Relationship Type="http://schemas.openxmlformats.org/officeDocument/2006/relationships/slide" Target="/ppt/slides/slide23.xml" Id="R28b1eddfe56a4918" /><Relationship Type="http://schemas.openxmlformats.org/officeDocument/2006/relationships/slide" Target="/ppt/slides/slide24.xml" Id="R51c91e8508e54d62" /><Relationship Type="http://schemas.openxmlformats.org/officeDocument/2006/relationships/slide" Target="/ppt/slides/slide25.xml" Id="R7c2665bb59a54ce2" /><Relationship Type="http://schemas.openxmlformats.org/officeDocument/2006/relationships/slide" Target="/ppt/slides/slide26.xml" Id="Rd8b637129799433f" /><Relationship Type="http://schemas.openxmlformats.org/officeDocument/2006/relationships/slide" Target="/ppt/slides/slide27.xml" Id="R0132ce32968d4f03" /><Relationship Type="http://schemas.openxmlformats.org/officeDocument/2006/relationships/slide" Target="/ppt/slides/slide28.xml" Id="R3c43175ea78245ce" /><Relationship Type="http://schemas.openxmlformats.org/officeDocument/2006/relationships/slide" Target="/ppt/slides/slide29.xml" Id="R8014e1ebc783460a" /><Relationship Type="http://schemas.openxmlformats.org/officeDocument/2006/relationships/slide" Target="/ppt/slides/slide30.xml" Id="R11d3811fc7084d1c" /><Relationship Type="http://schemas.openxmlformats.org/officeDocument/2006/relationships/slide" Target="/ppt/slides/slide31.xml" Id="R440bf46876934ca0" /><Relationship Type="http://schemas.openxmlformats.org/officeDocument/2006/relationships/slide" Target="/ppt/slides/slide32.xml" Id="R7cfa3fc36e0d4e50" /><Relationship Type="http://schemas.openxmlformats.org/officeDocument/2006/relationships/slide" Target="/ppt/slides/slide33.xml" Id="Rea4581d1c270401e" /><Relationship Type="http://schemas.openxmlformats.org/officeDocument/2006/relationships/slide" Target="/ppt/slides/slide34.xml" Id="R780bee8d65904a75" /><Relationship Type="http://schemas.openxmlformats.org/officeDocument/2006/relationships/slide" Target="/ppt/slides/slide35.xml" Id="R47fd5fe119d44e3b" /><Relationship Type="http://schemas.openxmlformats.org/officeDocument/2006/relationships/slide" Target="/ppt/slides/slide36.xml" Id="R6ab51885d9e14185" /><Relationship Type="http://schemas.openxmlformats.org/officeDocument/2006/relationships/slide" Target="/ppt/slides/slide37.xml" Id="R9315e5f1daef42cb" /><Relationship Type="http://schemas.openxmlformats.org/officeDocument/2006/relationships/slide" Target="/ppt/slides/slide38.xml" Id="R35e377b9f4f64410" /><Relationship Type="http://schemas.openxmlformats.org/officeDocument/2006/relationships/slide" Target="/ppt/slides/slide39.xml" Id="R9f6e88d51dc94bad" /><Relationship Type="http://schemas.openxmlformats.org/officeDocument/2006/relationships/slide" Target="/ppt/slides/slide40.xml" Id="Ra05a5fe51d92468d" /><Relationship Type="http://schemas.openxmlformats.org/officeDocument/2006/relationships/slide" Target="/ppt/slides/slide41.xml" Id="Ra24bef3cc77a47c7" /><Relationship Type="http://schemas.openxmlformats.org/officeDocument/2006/relationships/slide" Target="/ppt/slides/slide42.xml" Id="Rd2a6dc595dd54417" /><Relationship Type="http://schemas.openxmlformats.org/officeDocument/2006/relationships/slide" Target="/ppt/slides/slide43.xml" Id="Rbb9b7c72b8d54f1a" /><Relationship Type="http://schemas.openxmlformats.org/officeDocument/2006/relationships/slide" Target="/ppt/slides/slide44.xml" Id="R3d2854fc85914fa3" /><Relationship Type="http://schemas.openxmlformats.org/officeDocument/2006/relationships/slide" Target="/ppt/slides/slide45.xml" Id="R92ddae71ce524b6c" /><Relationship Type="http://schemas.openxmlformats.org/officeDocument/2006/relationships/slide" Target="/ppt/slides/slide46.xml" Id="Re706b9f6dba54089" /><Relationship Type="http://schemas.openxmlformats.org/officeDocument/2006/relationships/slide" Target="/ppt/slides/slide47.xml" Id="R1f1bc03a48f54816" /><Relationship Type="http://schemas.openxmlformats.org/officeDocument/2006/relationships/slide" Target="/ppt/slides/slide48.xml" Id="R6f5326aa814b430e" /><Relationship Type="http://schemas.openxmlformats.org/officeDocument/2006/relationships/slide" Target="/ppt/slides/slide49.xml" Id="Rabec16ad4cb74037" /><Relationship Type="http://schemas.openxmlformats.org/officeDocument/2006/relationships/slide" Target="/ppt/slides/slide50.xml" Id="Rb287f9cb4c784915" /><Relationship Type="http://schemas.openxmlformats.org/officeDocument/2006/relationships/slide" Target="/ppt/slides/slide51.xml" Id="Rbcae1d0d568b4b33" /><Relationship Type="http://schemas.openxmlformats.org/officeDocument/2006/relationships/slide" Target="/ppt/slides/slide52.xml" Id="R8cc82f0e2fca4a53" /><Relationship Type="http://schemas.openxmlformats.org/officeDocument/2006/relationships/slide" Target="/ppt/slides/slide53.xml" Id="R7b6aa42abb93490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fd473cd5dba41e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ce887f8c20c4a9b" /><Relationship Type="http://schemas.openxmlformats.org/officeDocument/2006/relationships/notesMaster" Target="/ppt/notesMasters/notesMaster1.xml" Id="Rb4be5b4c62ab45f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890fea4e1044937" /><Relationship Type="http://schemas.openxmlformats.org/officeDocument/2006/relationships/notesMaster" Target="/ppt/notesMasters/notesMaster1.xml" Id="R86f3d110055f4a3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04d811395b94df6" /><Relationship Type="http://schemas.openxmlformats.org/officeDocument/2006/relationships/notesMaster" Target="/ppt/notesMasters/notesMaster1.xml" Id="R757301668f38475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3904fddeb848ad" /><Relationship Type="http://schemas.openxmlformats.org/officeDocument/2006/relationships/notesMaster" Target="/ppt/notesMasters/notesMaster1.xml" Id="Rfcb03598a4984b8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fe1220a679c4513" /><Relationship Type="http://schemas.openxmlformats.org/officeDocument/2006/relationships/notesMaster" Target="/ppt/notesMasters/notesMaster1.xml" Id="R6efc3a618143490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abaeddcd6c248f2" /><Relationship Type="http://schemas.openxmlformats.org/officeDocument/2006/relationships/notesMaster" Target="/ppt/notesMasters/notesMaster1.xml" Id="Rf883275bfab0458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61b0348103645b3" /><Relationship Type="http://schemas.openxmlformats.org/officeDocument/2006/relationships/notesMaster" Target="/ppt/notesMasters/notesMaster1.xml" Id="R033b6e7158e9401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08a7f7972e3482d" /><Relationship Type="http://schemas.openxmlformats.org/officeDocument/2006/relationships/notesMaster" Target="/ppt/notesMasters/notesMaster1.xml" Id="R62cffabb1cfe4bd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f65e044dc49483b" /><Relationship Type="http://schemas.openxmlformats.org/officeDocument/2006/relationships/notesMaster" Target="/ppt/notesMasters/notesMaster1.xml" Id="Rb8b7224e76fa453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0ef1e732c1d4f73" /><Relationship Type="http://schemas.openxmlformats.org/officeDocument/2006/relationships/notesMaster" Target="/ppt/notesMasters/notesMaster1.xml" Id="R003d610730dd413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efaf719271f40a1" /><Relationship Type="http://schemas.openxmlformats.org/officeDocument/2006/relationships/notesMaster" Target="/ppt/notesMasters/notesMaster1.xml" Id="Ra16ac7d3bb6448e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d42457b1c1c45bd" /><Relationship Type="http://schemas.openxmlformats.org/officeDocument/2006/relationships/notesMaster" Target="/ppt/notesMasters/notesMaster1.xml" Id="Rd7c2b94df9cd4be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39bfcb5064c4914" /><Relationship Type="http://schemas.openxmlformats.org/officeDocument/2006/relationships/notesMaster" Target="/ppt/notesMasters/notesMaster1.xml" Id="R3427b386260a4e6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4bb4fec429e43e4" /><Relationship Type="http://schemas.openxmlformats.org/officeDocument/2006/relationships/notesMaster" Target="/ppt/notesMasters/notesMaster1.xml" Id="Re5f329e1454d479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f348dbbf61e4854" /><Relationship Type="http://schemas.openxmlformats.org/officeDocument/2006/relationships/notesMaster" Target="/ppt/notesMasters/notesMaster1.xml" Id="Rbd17f27d60604e6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4b5a53b7e074cdb" /><Relationship Type="http://schemas.openxmlformats.org/officeDocument/2006/relationships/notesMaster" Target="/ppt/notesMasters/notesMaster1.xml" Id="Rd64c9aa2e8444d3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9dde4accf6a469b" /><Relationship Type="http://schemas.openxmlformats.org/officeDocument/2006/relationships/notesMaster" Target="/ppt/notesMasters/notesMaster1.xml" Id="R5a9e2fbcbe3645e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dac6509caf741f1" /><Relationship Type="http://schemas.openxmlformats.org/officeDocument/2006/relationships/notesMaster" Target="/ppt/notesMasters/notesMaster1.xml" Id="Re3a2af2d24f3444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fea2f512109473d" /><Relationship Type="http://schemas.openxmlformats.org/officeDocument/2006/relationships/notesMaster" Target="/ppt/notesMasters/notesMaster1.xml" Id="R4bbb74405272405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ee89b23d63e44ae" /><Relationship Type="http://schemas.openxmlformats.org/officeDocument/2006/relationships/notesMaster" Target="/ppt/notesMasters/notesMaster1.xml" Id="R0affa1d81e98464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e67148b52c24007" /><Relationship Type="http://schemas.openxmlformats.org/officeDocument/2006/relationships/notesMaster" Target="/ppt/notesMasters/notesMaster1.xml" Id="R604b30d536a445e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621292bfeb24ba4" /><Relationship Type="http://schemas.openxmlformats.org/officeDocument/2006/relationships/notesMaster" Target="/ppt/notesMasters/notesMaster1.xml" Id="R28329a6972ac468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fe6649576164c2b" /><Relationship Type="http://schemas.openxmlformats.org/officeDocument/2006/relationships/notesMaster" Target="/ppt/notesMasters/notesMaster1.xml" Id="Rd7caaaa21e10411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4258790d67b4332" /><Relationship Type="http://schemas.openxmlformats.org/officeDocument/2006/relationships/notesMaster" Target="/ppt/notesMasters/notesMaster1.xml" Id="R9f2c03b5465f4ce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44fa34801374a96" /><Relationship Type="http://schemas.openxmlformats.org/officeDocument/2006/relationships/notesMaster" Target="/ppt/notesMasters/notesMaster1.xml" Id="R2fcd7d36773742d2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188eb1ee50b4824" /><Relationship Type="http://schemas.openxmlformats.org/officeDocument/2006/relationships/notesMaster" Target="/ppt/notesMasters/notesMaster1.xml" Id="R80ba3a0e87a3414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0e737d279f248a8" /><Relationship Type="http://schemas.openxmlformats.org/officeDocument/2006/relationships/notesMaster" Target="/ppt/notesMasters/notesMaster1.xml" Id="Re460112a3e5c417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2fc5e5f29e747d5" /><Relationship Type="http://schemas.openxmlformats.org/officeDocument/2006/relationships/notesMaster" Target="/ppt/notesMasters/notesMaster1.xml" Id="R7be8455e884a4cb8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a7cb1b57a014414" /><Relationship Type="http://schemas.openxmlformats.org/officeDocument/2006/relationships/notesMaster" Target="/ppt/notesMasters/notesMaster1.xml" Id="R6eed3424954a49f4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c9f2e00e138146e8" /><Relationship Type="http://schemas.openxmlformats.org/officeDocument/2006/relationships/notesMaster" Target="/ppt/notesMasters/notesMaster1.xml" Id="R287dde4c69f444a0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b06859b9bed54159" /><Relationship Type="http://schemas.openxmlformats.org/officeDocument/2006/relationships/notesMaster" Target="/ppt/notesMasters/notesMaster1.xml" Id="R2c13b4dc568142b7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599925a4dc24776" /><Relationship Type="http://schemas.openxmlformats.org/officeDocument/2006/relationships/notesMaster" Target="/ppt/notesMasters/notesMaster1.xml" Id="R4ade28517c204934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9e57c96df48b46fc" /><Relationship Type="http://schemas.openxmlformats.org/officeDocument/2006/relationships/notesMaster" Target="/ppt/notesMasters/notesMaster1.xml" Id="Re670e436e5d04c3c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a57698b4745c42d1" /><Relationship Type="http://schemas.openxmlformats.org/officeDocument/2006/relationships/notesMaster" Target="/ppt/notesMasters/notesMaster1.xml" Id="R22e4a6b7551845af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3dda6e6a23f1438e" /><Relationship Type="http://schemas.openxmlformats.org/officeDocument/2006/relationships/notesMaster" Target="/ppt/notesMasters/notesMaster1.xml" Id="Raa56cab085e54448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fe32862c32254e3b" /><Relationship Type="http://schemas.openxmlformats.org/officeDocument/2006/relationships/notesMaster" Target="/ppt/notesMasters/notesMaster1.xml" Id="Re895563c5d7d4892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a125690d5e954802" /><Relationship Type="http://schemas.openxmlformats.org/officeDocument/2006/relationships/notesMaster" Target="/ppt/notesMasters/notesMaster1.xml" Id="R8236095d1f634d92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2f992140a31344b0" /><Relationship Type="http://schemas.openxmlformats.org/officeDocument/2006/relationships/notesMaster" Target="/ppt/notesMasters/notesMaster1.xml" Id="R08b15ea5ed1c4122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4e7d51a319844356" /><Relationship Type="http://schemas.openxmlformats.org/officeDocument/2006/relationships/notesMaster" Target="/ppt/notesMasters/notesMaster1.xml" Id="R854d6ac3770b4ec4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3acfa40590bf4194" /><Relationship Type="http://schemas.openxmlformats.org/officeDocument/2006/relationships/notesMaster" Target="/ppt/notesMasters/notesMaster1.xml" Id="Rce327f92e93a420e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ff0169e280184357" /><Relationship Type="http://schemas.openxmlformats.org/officeDocument/2006/relationships/notesMaster" Target="/ppt/notesMasters/notesMaster1.xml" Id="R565170b010994782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a23f64d7f8074bf3" /><Relationship Type="http://schemas.openxmlformats.org/officeDocument/2006/relationships/notesMaster" Target="/ppt/notesMasters/notesMaster1.xml" Id="R2dadcde7739f4475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f3ca88f58b3a4c33" /><Relationship Type="http://schemas.openxmlformats.org/officeDocument/2006/relationships/notesMaster" Target="/ppt/notesMasters/notesMaster1.xml" Id="R11410d520fb144dd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f817a55650824c14" /><Relationship Type="http://schemas.openxmlformats.org/officeDocument/2006/relationships/notesMaster" Target="/ppt/notesMasters/notesMaster1.xml" Id="Rf602f5f975e14eb9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a3ac0454e1af45fb" /><Relationship Type="http://schemas.openxmlformats.org/officeDocument/2006/relationships/notesMaster" Target="/ppt/notesMasters/notesMaster1.xml" Id="R60fa86ebd985430a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ceca21d20fab4ba0" /><Relationship Type="http://schemas.openxmlformats.org/officeDocument/2006/relationships/notesMaster" Target="/ppt/notesMasters/notesMaster1.xml" Id="R3bb3a2cc38e14d5b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604a73d80dab4edf" /><Relationship Type="http://schemas.openxmlformats.org/officeDocument/2006/relationships/notesMaster" Target="/ppt/notesMasters/notesMaster1.xml" Id="Rc35528f3aea54ecd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c52fad0a076d4ca1" /><Relationship Type="http://schemas.openxmlformats.org/officeDocument/2006/relationships/notesMaster" Target="/ppt/notesMasters/notesMaster1.xml" Id="R84608ce9842c4f10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cf8501254b9b4622" /><Relationship Type="http://schemas.openxmlformats.org/officeDocument/2006/relationships/notesMaster" Target="/ppt/notesMasters/notesMaster1.xml" Id="R661caf373f6241f6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e0ca5e82999c421a" /><Relationship Type="http://schemas.openxmlformats.org/officeDocument/2006/relationships/notesMaster" Target="/ppt/notesMasters/notesMaster1.xml" Id="R26aa29748f474f9e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902f15a8d58840cc" /><Relationship Type="http://schemas.openxmlformats.org/officeDocument/2006/relationships/notesMaster" Target="/ppt/notesMasters/notesMaster1.xml" Id="R00f3fad0a3d94c0a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701b7c47fd2444b9" /><Relationship Type="http://schemas.openxmlformats.org/officeDocument/2006/relationships/notesMaster" Target="/ppt/notesMasters/notesMaster1.xml" Id="R0388769f0b264ed2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fb0703c351114eda" /><Relationship Type="http://schemas.openxmlformats.org/officeDocument/2006/relationships/notesMaster" Target="/ppt/notesMasters/notesMaster1.xml" Id="R5ce9156f6b844ba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5f0ee1d0b7496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8d1bfb289d54224" /><Relationship Type="http://schemas.openxmlformats.org/officeDocument/2006/relationships/slideLayout" Target="/ppt/slideLayouts/slideLayout1.xml" Id="R9983c6ab20be432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983c6ab20be432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8ba861577d4463" /><Relationship Type="http://schemas.openxmlformats.org/officeDocument/2006/relationships/notesSlide" Target="/ppt/notesSlides/notesSlide1.xml" Id="R9f3978333c5d431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ea45cd6365409f" /><Relationship Type="http://schemas.openxmlformats.org/officeDocument/2006/relationships/notesSlide" Target="/ppt/notesSlides/notesSlide2.xml" Id="R5547b5fdd9a54a8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7cb39b13fd465d" /><Relationship Type="http://schemas.openxmlformats.org/officeDocument/2006/relationships/chart" Target="/ppt/slides/charts/chart1.xml" Id="R0b273106ac5e4aa0" /><Relationship Type="http://schemas.openxmlformats.org/officeDocument/2006/relationships/chart" Target="/ppt/slides/charts/chart2.xml" Id="Red62ce06b3c2457c" /><Relationship Type="http://schemas.openxmlformats.org/officeDocument/2006/relationships/notesSlide" Target="/ppt/notesSlides/notesSlide3.xml" Id="R4c2a7ff7939441f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6818d06e8949ca" /><Relationship Type="http://schemas.openxmlformats.org/officeDocument/2006/relationships/chart" Target="/ppt/slides/charts/chart3.xml" Id="Rdb15bcf39cc349c7" /><Relationship Type="http://schemas.openxmlformats.org/officeDocument/2006/relationships/chart" Target="/ppt/slides/charts/chart4.xml" Id="Rbafc55feafde4921" /><Relationship Type="http://schemas.openxmlformats.org/officeDocument/2006/relationships/notesSlide" Target="/ppt/notesSlides/notesSlide4.xml" Id="R11d0446a66794cb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c61307b1e1403c" /><Relationship Type="http://schemas.openxmlformats.org/officeDocument/2006/relationships/chart" Target="/ppt/slides/charts/chart5.xml" Id="R8ea412b1870c4a93" /><Relationship Type="http://schemas.openxmlformats.org/officeDocument/2006/relationships/chart" Target="/ppt/slides/charts/chart6.xml" Id="R0b02f7361db04eda" /><Relationship Type="http://schemas.openxmlformats.org/officeDocument/2006/relationships/chart" Target="/ppt/slides/charts/chart7.xml" Id="R0e5a0036adea4317" /><Relationship Type="http://schemas.openxmlformats.org/officeDocument/2006/relationships/notesSlide" Target="/ppt/notesSlides/notesSlide5.xml" Id="R8e69268f02d9471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cab1a2722f41cb" /><Relationship Type="http://schemas.openxmlformats.org/officeDocument/2006/relationships/chart" Target="/ppt/slides/charts/chart8.xml" Id="Rbd3f2265caea4d58" /><Relationship Type="http://schemas.openxmlformats.org/officeDocument/2006/relationships/chart" Target="/ppt/slides/charts/chart9.xml" Id="R1506bf2dcf024466" /><Relationship Type="http://schemas.openxmlformats.org/officeDocument/2006/relationships/chart" Target="/ppt/slides/charts/chart10.xml" Id="R01b0e3bb5d4f4fe1" /><Relationship Type="http://schemas.openxmlformats.org/officeDocument/2006/relationships/chart" Target="/ppt/slides/charts/chart11.xml" Id="Re0f1ea3f9ae1488d" /><Relationship Type="http://schemas.openxmlformats.org/officeDocument/2006/relationships/notesSlide" Target="/ppt/notesSlides/notesSlide6.xml" Id="R1c91db04a3aa473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fd6f0362ec4b81" /><Relationship Type="http://schemas.openxmlformats.org/officeDocument/2006/relationships/chart" Target="/ppt/slides/charts/chart12.xml" Id="Rfa68fafbb6ac417a" /><Relationship Type="http://schemas.openxmlformats.org/officeDocument/2006/relationships/chart" Target="/ppt/slides/charts/chart13.xml" Id="R0c3574c2e245469c" /><Relationship Type="http://schemas.openxmlformats.org/officeDocument/2006/relationships/notesSlide" Target="/ppt/notesSlides/notesSlide7.xml" Id="R94dac92d6b83429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0ac26057f84dfa" /><Relationship Type="http://schemas.openxmlformats.org/officeDocument/2006/relationships/chart" Target="/ppt/slides/charts/chart14.xml" Id="Rb0bcee03f42f4c20" /><Relationship Type="http://schemas.openxmlformats.org/officeDocument/2006/relationships/chart" Target="/ppt/slides/charts/chart15.xml" Id="R7460d11824994283" /><Relationship Type="http://schemas.openxmlformats.org/officeDocument/2006/relationships/notesSlide" Target="/ppt/notesSlides/notesSlide8.xml" Id="Rcd5e6ad363b548c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6aa88f57094e90" /><Relationship Type="http://schemas.openxmlformats.org/officeDocument/2006/relationships/chart" Target="/ppt/slides/charts/chart16.xml" Id="R9eba533fff524fbc" /><Relationship Type="http://schemas.openxmlformats.org/officeDocument/2006/relationships/chart" Target="/ppt/slides/charts/chart17.xml" Id="Rcd568e71054d4111" /><Relationship Type="http://schemas.openxmlformats.org/officeDocument/2006/relationships/notesSlide" Target="/ppt/notesSlides/notesSlide9.xml" Id="Reb57096dcb2146f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cc45c0bc2649fb" /><Relationship Type="http://schemas.openxmlformats.org/officeDocument/2006/relationships/chart" Target="/ppt/slides/charts/chart18.xml" Id="R80b661412df94888" /><Relationship Type="http://schemas.openxmlformats.org/officeDocument/2006/relationships/notesSlide" Target="/ppt/notesSlides/notesSlide10.xml" Id="R290625961b4b49a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5f4598f11944bc" /><Relationship Type="http://schemas.openxmlformats.org/officeDocument/2006/relationships/chart" Target="/ppt/slides/charts/chart19.xml" Id="Rd7d00a407cdb436f" /><Relationship Type="http://schemas.openxmlformats.org/officeDocument/2006/relationships/notesSlide" Target="/ppt/notesSlides/notesSlide11.xml" Id="R5a063f46b84b4ab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40f48b32084d83" /><Relationship Type="http://schemas.openxmlformats.org/officeDocument/2006/relationships/chart" Target="/ppt/slides/charts/chart20.xml" Id="R731dad17c8424cf3" /><Relationship Type="http://schemas.openxmlformats.org/officeDocument/2006/relationships/notesSlide" Target="/ppt/notesSlides/notesSlide12.xml" Id="Rce0a9339eb0d4d4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4ad490af66453a" /><Relationship Type="http://schemas.openxmlformats.org/officeDocument/2006/relationships/chart" Target="/ppt/slides/charts/chart21.xml" Id="Rbbdd871d51614ddf" /><Relationship Type="http://schemas.openxmlformats.org/officeDocument/2006/relationships/chart" Target="/ppt/slides/charts/chart22.xml" Id="R90294e70785e4af4" /><Relationship Type="http://schemas.openxmlformats.org/officeDocument/2006/relationships/notesSlide" Target="/ppt/notesSlides/notesSlide13.xml" Id="R85145e53372e4bd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d9cfe9fe464c75" /><Relationship Type="http://schemas.openxmlformats.org/officeDocument/2006/relationships/chart" Target="/ppt/slides/charts/chart23.xml" Id="R97808a8f24e943d9" /><Relationship Type="http://schemas.openxmlformats.org/officeDocument/2006/relationships/chart" Target="/ppt/slides/charts/chart24.xml" Id="Rbcc0ebc9d86b4709" /><Relationship Type="http://schemas.openxmlformats.org/officeDocument/2006/relationships/chart" Target="/ppt/slides/charts/chart25.xml" Id="Rcc852747b0dd4c76" /><Relationship Type="http://schemas.openxmlformats.org/officeDocument/2006/relationships/chart" Target="/ppt/slides/charts/chart26.xml" Id="R29ea3d4ff95f418e" /><Relationship Type="http://schemas.openxmlformats.org/officeDocument/2006/relationships/chart" Target="/ppt/slides/charts/chart27.xml" Id="R069425b08e2c414e" /><Relationship Type="http://schemas.openxmlformats.org/officeDocument/2006/relationships/chart" Target="/ppt/slides/charts/chart28.xml" Id="R861dfdf2275f48e9" /><Relationship Type="http://schemas.openxmlformats.org/officeDocument/2006/relationships/notesSlide" Target="/ppt/notesSlides/notesSlide14.xml" Id="R42ff6506dd264d0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26239754664cb3" /><Relationship Type="http://schemas.openxmlformats.org/officeDocument/2006/relationships/chart" Target="/ppt/slides/charts/chart29.xml" Id="R638d2d523d7a4f11" /><Relationship Type="http://schemas.openxmlformats.org/officeDocument/2006/relationships/notesSlide" Target="/ppt/notesSlides/notesSlide15.xml" Id="R73b423b3b95d42b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d57e299aa54360" /><Relationship Type="http://schemas.openxmlformats.org/officeDocument/2006/relationships/chart" Target="/ppt/slides/charts/chart30.xml" Id="Rfaaffc963f7a44b3" /><Relationship Type="http://schemas.openxmlformats.org/officeDocument/2006/relationships/chart" Target="/ppt/slides/charts/chart31.xml" Id="R77493769f4b1467f" /><Relationship Type="http://schemas.openxmlformats.org/officeDocument/2006/relationships/notesSlide" Target="/ppt/notesSlides/notesSlide16.xml" Id="R50e9f75289f84d5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d5fe0dbddd4f34" /><Relationship Type="http://schemas.openxmlformats.org/officeDocument/2006/relationships/chart" Target="/ppt/slides/charts/chart32.xml" Id="R1b5359bf021346c8" /><Relationship Type="http://schemas.openxmlformats.org/officeDocument/2006/relationships/notesSlide" Target="/ppt/notesSlides/notesSlide17.xml" Id="R0854eda9466247e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89404fb9dd49e1" /><Relationship Type="http://schemas.openxmlformats.org/officeDocument/2006/relationships/chart" Target="/ppt/slides/charts/chart33.xml" Id="R1bb82074e1f94eb8" /><Relationship Type="http://schemas.openxmlformats.org/officeDocument/2006/relationships/notesSlide" Target="/ppt/notesSlides/notesSlide18.xml" Id="R79212a38d669419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be510d546b4eec" /><Relationship Type="http://schemas.openxmlformats.org/officeDocument/2006/relationships/chart" Target="/ppt/slides/charts/chart34.xml" Id="Rbfd25005a6494e97" /><Relationship Type="http://schemas.openxmlformats.org/officeDocument/2006/relationships/notesSlide" Target="/ppt/notesSlides/notesSlide19.xml" Id="R5aa74a5b757148a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a24ffd4c824b8a" /><Relationship Type="http://schemas.openxmlformats.org/officeDocument/2006/relationships/notesSlide" Target="/ppt/notesSlides/notesSlide20.xml" Id="Rc44c40bfe3374c5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af0eea4edb495f" /><Relationship Type="http://schemas.openxmlformats.org/officeDocument/2006/relationships/notesSlide" Target="/ppt/notesSlides/notesSlide21.xml" Id="Re63b7482065b465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90473a884d490d" /><Relationship Type="http://schemas.openxmlformats.org/officeDocument/2006/relationships/chart" Target="/ppt/slides/charts/chart35.xml" Id="R4a37c39a190e40a3" /><Relationship Type="http://schemas.openxmlformats.org/officeDocument/2006/relationships/notesSlide" Target="/ppt/notesSlides/notesSlide22.xml" Id="Rd0ee2b514a6f4c0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5b34de40854231" /><Relationship Type="http://schemas.openxmlformats.org/officeDocument/2006/relationships/notesSlide" Target="/ppt/notesSlides/notesSlide23.xml" Id="Ra666e787eced47c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61447f309c48e5" /><Relationship Type="http://schemas.openxmlformats.org/officeDocument/2006/relationships/chart" Target="/ppt/slides/charts/chart36.xml" Id="R45c1292b24694567" /><Relationship Type="http://schemas.openxmlformats.org/officeDocument/2006/relationships/chart" Target="/ppt/slides/charts/chart37.xml" Id="Rbc5817fbae2a4776" /><Relationship Type="http://schemas.openxmlformats.org/officeDocument/2006/relationships/notesSlide" Target="/ppt/notesSlides/notesSlide24.xml" Id="Rdbbbe5c8be004b8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35ec44d33f4aa2" /><Relationship Type="http://schemas.openxmlformats.org/officeDocument/2006/relationships/chart" Target="/ppt/slides/charts/chart38.xml" Id="Rf7f29193b0b04b48" /><Relationship Type="http://schemas.openxmlformats.org/officeDocument/2006/relationships/chart" Target="/ppt/slides/charts/chart39.xml" Id="R06b8d9a3584c4aed" /><Relationship Type="http://schemas.openxmlformats.org/officeDocument/2006/relationships/chart" Target="/ppt/slides/charts/chart40.xml" Id="Rae0fbfca32cc41fb" /><Relationship Type="http://schemas.openxmlformats.org/officeDocument/2006/relationships/notesSlide" Target="/ppt/notesSlides/notesSlide25.xml" Id="R945b51dcbecc4dc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177e58427b4285" /><Relationship Type="http://schemas.openxmlformats.org/officeDocument/2006/relationships/chart" Target="/ppt/slides/charts/chart41.xml" Id="Rb8fe6c4cf6134a34" /><Relationship Type="http://schemas.openxmlformats.org/officeDocument/2006/relationships/chart" Target="/ppt/slides/charts/chart42.xml" Id="R6c21404405f04660" /><Relationship Type="http://schemas.openxmlformats.org/officeDocument/2006/relationships/chart" Target="/ppt/slides/charts/chart43.xml" Id="Ra28e8cef536c4a7b" /><Relationship Type="http://schemas.openxmlformats.org/officeDocument/2006/relationships/chart" Target="/ppt/slides/charts/chart44.xml" Id="R7c7c4f814f0045cd" /><Relationship Type="http://schemas.openxmlformats.org/officeDocument/2006/relationships/notesSlide" Target="/ppt/notesSlides/notesSlide26.xml" Id="R79ebf16b2789469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e6628134814187" /><Relationship Type="http://schemas.openxmlformats.org/officeDocument/2006/relationships/notesSlide" Target="/ppt/notesSlides/notesSlide27.xml" Id="Rec36a16b27c54d26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648b461d2d4597" /><Relationship Type="http://schemas.openxmlformats.org/officeDocument/2006/relationships/notesSlide" Target="/ppt/notesSlides/notesSlide28.xml" Id="R3556684a194d4e99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56b5c3461b4668" /><Relationship Type="http://schemas.openxmlformats.org/officeDocument/2006/relationships/notesSlide" Target="/ppt/notesSlides/notesSlide29.xml" Id="Re7055312b4bf452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2c7b4cbc5446e5" /><Relationship Type="http://schemas.openxmlformats.org/officeDocument/2006/relationships/notesSlide" Target="/ppt/notesSlides/notesSlide30.xml" Id="Rfe5081295acd470e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71272d79e54254" /><Relationship Type="http://schemas.openxmlformats.org/officeDocument/2006/relationships/notesSlide" Target="/ppt/notesSlides/notesSlide31.xml" Id="Rcbe835223c3b41f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d4ef9af62e47ab" /><Relationship Type="http://schemas.openxmlformats.org/officeDocument/2006/relationships/notesSlide" Target="/ppt/notesSlides/notesSlide32.xml" Id="Ra5fc7163ae1a4096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4d37bcb01a48a4" /><Relationship Type="http://schemas.openxmlformats.org/officeDocument/2006/relationships/notesSlide" Target="/ppt/notesSlides/notesSlide33.xml" Id="R9d99442e4bd84bf8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2ae0d6d2274555" /><Relationship Type="http://schemas.openxmlformats.org/officeDocument/2006/relationships/notesSlide" Target="/ppt/notesSlides/notesSlide34.xml" Id="R69a6b8a69b41462c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a1fc8ee6374787" /><Relationship Type="http://schemas.openxmlformats.org/officeDocument/2006/relationships/notesSlide" Target="/ppt/notesSlides/notesSlide35.xml" Id="Rc3bee552f8544cdb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3aac9369a34787" /><Relationship Type="http://schemas.openxmlformats.org/officeDocument/2006/relationships/notesSlide" Target="/ppt/notesSlides/notesSlide36.xml" Id="R8cc3191815984a52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410115d3d944ac" /><Relationship Type="http://schemas.openxmlformats.org/officeDocument/2006/relationships/notesSlide" Target="/ppt/notesSlides/notesSlide37.xml" Id="Rc102092d21e0452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9ce337f1fc445e" /><Relationship Type="http://schemas.openxmlformats.org/officeDocument/2006/relationships/notesSlide" Target="/ppt/notesSlides/notesSlide38.xml" Id="R4322fbd7bc54493f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fc8870e697406a" /><Relationship Type="http://schemas.openxmlformats.org/officeDocument/2006/relationships/notesSlide" Target="/ppt/notesSlides/notesSlide39.xml" Id="R9903e4faec4244f3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b1b29852e141f5" /><Relationship Type="http://schemas.openxmlformats.org/officeDocument/2006/relationships/notesSlide" Target="/ppt/notesSlides/notesSlide40.xml" Id="Ra0de0f183cd642d8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fc8103ae214a39" /><Relationship Type="http://schemas.openxmlformats.org/officeDocument/2006/relationships/notesSlide" Target="/ppt/notesSlides/notesSlide41.xml" Id="Rbcb1bbf86445416d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f46fa8a39a4d9f" /><Relationship Type="http://schemas.openxmlformats.org/officeDocument/2006/relationships/notesSlide" Target="/ppt/notesSlides/notesSlide42.xml" Id="R5ee286c5f7204353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73ac2b99de44a2" /><Relationship Type="http://schemas.openxmlformats.org/officeDocument/2006/relationships/notesSlide" Target="/ppt/notesSlides/notesSlide43.xml" Id="R63f0aa1e66d94b9b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e2aece7af34df1" /><Relationship Type="http://schemas.openxmlformats.org/officeDocument/2006/relationships/notesSlide" Target="/ppt/notesSlides/notesSlide44.xml" Id="R90e19a79f6d54637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8b1b82fad64b6f" /><Relationship Type="http://schemas.openxmlformats.org/officeDocument/2006/relationships/notesSlide" Target="/ppt/notesSlides/notesSlide45.xml" Id="Rbb8ef14d4d314288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7109495b814176" /><Relationship Type="http://schemas.openxmlformats.org/officeDocument/2006/relationships/notesSlide" Target="/ppt/notesSlides/notesSlide46.xml" Id="Radac9572d7ed4260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f60143494c4a9f" /><Relationship Type="http://schemas.openxmlformats.org/officeDocument/2006/relationships/notesSlide" Target="/ppt/notesSlides/notesSlide47.xml" Id="R4b9c860e39f24606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6b8438990a4bd6" /><Relationship Type="http://schemas.openxmlformats.org/officeDocument/2006/relationships/notesSlide" Target="/ppt/notesSlides/notesSlide48.xml" Id="Rbf41ff1312574f83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7d1c937a9d4c0b" /><Relationship Type="http://schemas.openxmlformats.org/officeDocument/2006/relationships/notesSlide" Target="/ppt/notesSlides/notesSlide49.xml" Id="R916de31f9e5a4fa8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dc03aae2bb4bce" /><Relationship Type="http://schemas.openxmlformats.org/officeDocument/2006/relationships/chart" Target="/ppt/slides/charts/chart45.xml" Id="R1c37cbf059a649f1" /><Relationship Type="http://schemas.openxmlformats.org/officeDocument/2006/relationships/notesSlide" Target="/ppt/notesSlides/notesSlide50.xml" Id="R62068288ba854c42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eaad175a494669" /><Relationship Type="http://schemas.openxmlformats.org/officeDocument/2006/relationships/chart" Target="/ppt/slides/charts/chart46.xml" Id="Rc8c52e5b6a4c424d" /><Relationship Type="http://schemas.openxmlformats.org/officeDocument/2006/relationships/notesSlide" Target="/ppt/notesSlides/notesSlide51.xml" Id="R6517e980ce944fdf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d45c143e004bba" /><Relationship Type="http://schemas.openxmlformats.org/officeDocument/2006/relationships/chart" Target="/ppt/slides/charts/chart47.xml" Id="Rad6d6f9e023241aa" /><Relationship Type="http://schemas.openxmlformats.org/officeDocument/2006/relationships/notesSlide" Target="/ppt/notesSlides/notesSlide52.xml" Id="Rc7a878bcae994a23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623e30ed0a427c" /><Relationship Type="http://schemas.openxmlformats.org/officeDocument/2006/relationships/notesSlide" Target="/ppt/notesSlides/notesSlide53.xml" Id="R344c048815e943c4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82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91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110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131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230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209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298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366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462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683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833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880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880.3753465023101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2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 xmlns:a="http://schemas.openxmlformats.org/drawingml/2006/main">
              <a:srgbClr val="30353A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3.362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3.267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3.270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3.455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3.678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4.240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4.907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5.628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6.089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6.759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7.455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7.617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7617.175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 xmlns:a="http://schemas.openxmlformats.org/drawingml/2006/main">
              <a:srgbClr val="8D9399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246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242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305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355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480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500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636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849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976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1.214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1.414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1.533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1533.136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71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82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96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106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182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160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250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305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388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550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641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670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70.86095119410001</c:v>
              </c:pt>
              <c:pt idx="1">
                <c:v>82.19072984</c:v>
              </c:pt>
              <c:pt idx="2">
                <c:v>95.75352406850999</c:v>
              </c:pt>
              <c:pt idx="3">
                <c:v>106.12068752539999</c:v>
              </c:pt>
              <c:pt idx="4">
                <c:v>182.22866537173002</c:v>
              </c:pt>
              <c:pt idx="5">
                <c:v>160.17258675028998</c:v>
              </c:pt>
              <c:pt idx="6">
                <c:v>250.02515732651</c:v>
              </c:pt>
              <c:pt idx="7">
                <c:v>304.88729907795</c:v>
              </c:pt>
              <c:pt idx="8">
                <c:v>387.7969193108501</c:v>
              </c:pt>
              <c:pt idx="9">
                <c:v>549.9166688619099</c:v>
              </c:pt>
              <c:pt idx="10">
                <c:v>641.37597886001</c:v>
              </c:pt>
              <c:pt idx="11">
                <c:v>670.4811522614399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73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92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113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122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128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128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184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261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334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445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452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486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72.64204880589999</c:v>
              </c:pt>
              <c:pt idx="1">
                <c:v>91.52627016</c:v>
              </c:pt>
              <c:pt idx="2">
                <c:v>112.90947593149001</c:v>
              </c:pt>
              <c:pt idx="3">
                <c:v>121.5283124746</c:v>
              </c:pt>
              <c:pt idx="4">
                <c:v>128.34033462827</c:v>
              </c:pt>
              <c:pt idx="5">
                <c:v>127.67341324971002</c:v>
              </c:pt>
              <c:pt idx="6">
                <c:v>183.94284267349</c:v>
              </c:pt>
              <c:pt idx="7">
                <c:v>261.46670092205</c:v>
              </c:pt>
              <c:pt idx="8">
                <c:v>334.0110806891499</c:v>
              </c:pt>
              <c:pt idx="9">
                <c:v>444.7183311380901</c:v>
              </c:pt>
              <c:pt idx="10">
                <c:v>452.00202113999</c:v>
              </c:pt>
              <c:pt idx="11">
                <c:v>486.4528477385601</c:v>
              </c:pt>
            </c:numLit>
          </c:val>
        </c:ser>
        <c:ser>
          <c:idx val="4"/>
          <c:order val="4"/>
          <c:tx>
            <c:v>Dívida externa</c:v>
          </c:tx>
          <c:spPr>
            <a:solidFill xmlns:a="http://schemas.openxmlformats.org/drawingml/2006/main">
              <a:srgbClr val="E7E9EB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1.997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1.736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1.744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1.983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2.076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2.567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2.821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2.715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2.714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3.408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3.406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3.365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3364.88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435" b="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5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Debêntures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229.291431673</c:v>
              </c:pt>
              <c:pt idx="1">
                <c:v>472.8632475001801</c:v>
              </c:pt>
              <c:pt idx="2">
                <c:v>453.66557470805</c:v>
              </c:pt>
              <c:pt idx="3">
                <c:v>148.028583447</c:v>
              </c:pt>
            </c:numLit>
          </c:val>
        </c:ser>
        <c:ser>
          <c:idx val="2"/>
          <c:order val="2"/>
          <c:tx>
            <c:v>CRI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47.3460402706</c:v>
              </c:pt>
              <c:pt idx="1">
                <c:v>57.687766747050006</c:v>
              </c:pt>
              <c:pt idx="2">
                <c:v>54.329561267269995</c:v>
              </c:pt>
              <c:pt idx="3">
                <c:v>22.11693260334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25.407368005</c:v>
              </c:pt>
              <c:pt idx="1">
                <c:v>45.7676395</c:v>
              </c:pt>
              <c:pt idx="2">
                <c:v>53.583946853</c:v>
              </c:pt>
              <c:pt idx="3">
                <c:v>28.60619646</c:v>
              </c:pt>
            </c:numLit>
          </c:val>
        </c:ser>
        <c:ser>
          <c:idx val="4"/>
          <c:order val="4"/>
          <c:tx>
            <c:v>CRA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51.149282621699996</c:v>
              </c:pt>
              <c:pt idx="1">
                <c:v>41.832471</c:v>
              </c:pt>
              <c:pt idx="2">
                <c:v>47.202138266949994</c:v>
              </c:pt>
              <c:pt idx="3">
                <c:v>7.291704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Veículos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</c:formatCode>
              <c:ptCount val="12"/>
              <c:pt idx="0">
                <c:v>527</c:v>
              </c:pt>
              <c:pt idx="1">
                <c:v>575</c:v>
              </c:pt>
              <c:pt idx="2">
                <c:v>750</c:v>
              </c:pt>
              <c:pt idx="3">
                <c:v>890</c:v>
              </c:pt>
              <c:pt idx="4">
                <c:v>1042</c:v>
              </c:pt>
              <c:pt idx="5">
                <c:v>1230</c:v>
              </c:pt>
              <c:pt idx="6">
                <c:v>1547</c:v>
              </c:pt>
              <c:pt idx="7">
                <c:v>1912</c:v>
              </c:pt>
              <c:pt idx="8">
                <c:v>2404</c:v>
              </c:pt>
              <c:pt idx="9">
                <c:v>3140</c:v>
              </c:pt>
              <c:pt idx="10">
                <c:v>4007</c:v>
              </c:pt>
              <c:pt idx="11">
                <c:v>4252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50.88905009467</c:v>
              </c:pt>
              <c:pt idx="1">
                <c:v>65.33776656658</c:v>
              </c:pt>
              <c:pt idx="2">
                <c:v>81.70753862344999</c:v>
              </c:pt>
              <c:pt idx="3">
                <c:v>86.65656370392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119.06650336766</c:v>
              </c:pt>
              <c:pt idx="1">
                <c:v>187.83835901057998</c:v>
              </c:pt>
              <c:pt idx="2">
                <c:v>166.6673864538</c:v>
              </c:pt>
              <c:pt idx="3">
                <c:v>189.2379048169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119.92760539484</c:v>
              </c:pt>
              <c:pt idx="1">
                <c:v>168.15979170238</c:v>
              </c:pt>
              <c:pt idx="2">
                <c:v>213.62236975357</c:v>
              </c:pt>
              <c:pt idx="3">
                <c:v>248.7758374328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171.87314443695</c:v>
              </c:pt>
              <c:pt idx="1">
                <c:v>261.56111636791</c:v>
              </c:pt>
              <c:pt idx="2">
                <c:v>371.220026734</c:v>
              </c:pt>
              <c:pt idx="3">
                <c:v>355.70504054869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0.11020759160542684</c:v>
              </c:pt>
              <c:pt idx="1">
                <c:v>0.09567733252200807</c:v>
              </c:pt>
              <c:pt idx="2">
                <c:v>0.09806269806057262</c:v>
              </c:pt>
              <c:pt idx="3">
                <c:v>0.09843138389574681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0.25785571852133327</c:v>
              </c:pt>
              <c:pt idx="1">
                <c:v>0.2750610264146392</c:v>
              </c:pt>
              <c:pt idx="2">
                <c:v>0.2000287105659194</c:v>
              </c:pt>
              <c:pt idx="3">
                <c:v>0.21495139041402433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0.25972055939310257</c:v>
              </c:pt>
              <c:pt idx="1">
                <c:v>0.2462447241924814</c:v>
              </c:pt>
              <c:pt idx="2">
                <c:v>0.25638253577395326</c:v>
              </c:pt>
              <c:pt idx="3">
                <c:v>0.2825792866885411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0.37221613048013724</c:v>
              </c:pt>
              <c:pt idx="1">
                <c:v>0.3830169168708714</c:v>
              </c:pt>
              <c:pt idx="2">
                <c:v>0.4455260555995546</c:v>
              </c:pt>
              <c:pt idx="3">
                <c:v>0.40403793900168766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19.32368071792</c:v>
              </c:pt>
              <c:pt idx="5">
                <c:v>24.163748261490003</c:v>
              </c:pt>
              <c:pt idx="6">
                <c:v>25.154517560259997</c:v>
              </c:pt>
              <c:pt idx="7">
                <c:v>27.32144595605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336.84039317390994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84.83552289799</c:v>
              </c:pt>
              <c:pt idx="5">
                <c:v>57.4323241591</c:v>
              </c:pt>
              <c:pt idx="6">
                <c:v>43.107876023699994</c:v>
              </c:pt>
              <c:pt idx="7">
                <c:v>27.72682732234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0.2443576468091428</c:v>
              </c:pt>
              <c:pt idx="1">
                <c:v>0.2239249230379844</c:v>
              </c:pt>
              <c:pt idx="2">
                <c:v>0.1120133185506395</c:v>
              </c:pt>
              <c:pt idx="3">
                <c:v>0.1050330610627478</c:v>
              </c:pt>
              <c:pt idx="4">
                <c:v>0.0418482229263941</c:v>
              </c:pt>
              <c:pt idx="5">
                <c:v>0.052330088596752</c:v>
              </c:pt>
              <c:pt idx="6">
                <c:v>0.054475742682472</c:v>
              </c:pt>
              <c:pt idx="7">
                <c:v>0.0591685392514227</c:v>
              </c:pt>
              <c:pt idx="8">
                <c:v>0.0374748785753291</c:v>
              </c:pt>
              <c:pt idx="9">
                <c:v>0.0659560563556205</c:v>
              </c:pt>
              <c:pt idx="10">
                <c:v>0.0029555790750964</c:v>
              </c:pt>
              <c:pt idx="11">
                <c:v>0.0004619430763983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0.3826099793822727</c:v>
              </c:pt>
              <c:pt idx="1">
                <c:v>0.1342859349537224</c:v>
              </c:pt>
              <c:pt idx="2">
                <c:v>0.1127320768832201</c:v>
              </c:pt>
              <c:pt idx="3">
                <c:v>0.097307191075273</c:v>
              </c:pt>
              <c:pt idx="4">
                <c:v>0.0963629016135419</c:v>
              </c:pt>
              <c:pt idx="5">
                <c:v>0.0652361795310102</c:v>
              </c:pt>
              <c:pt idx="6">
                <c:v>0.0489653375630809</c:v>
              </c:pt>
              <c:pt idx="7">
                <c:v>0.0314943250427188</c:v>
              </c:pt>
              <c:pt idx="8">
                <c:v>0.0137189178295649</c:v>
              </c:pt>
              <c:pt idx="9">
                <c:v>0.0125019897184627</c:v>
              </c:pt>
              <c:pt idx="10">
                <c:v>0.0046674430987479</c:v>
              </c:pt>
              <c:pt idx="11">
                <c:v>0.000117723308384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9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Bruta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0.1953629837546001</c:v>
              </c:pt>
              <c:pt idx="1">
                <c:v>0.1809235440996488</c:v>
              </c:pt>
              <c:pt idx="2">
                <c:v>0.192154933474053</c:v>
              </c:pt>
              <c:pt idx="3">
                <c:v>0.1518453736285437</c:v>
              </c:pt>
              <c:pt idx="4">
                <c:v>0.1435849112425625</c:v>
              </c:pt>
              <c:pt idx="5">
                <c:v>0.1473663046832823</c:v>
              </c:pt>
              <c:pt idx="6">
                <c:v>0.0911001409180365</c:v>
              </c:pt>
              <c:pt idx="7">
                <c:v>0.0919394935790263</c:v>
              </c:pt>
              <c:pt idx="8">
                <c:v>0.0825084228403041</c:v>
              </c:pt>
              <c:pt idx="9">
                <c:v>0.078802626303978</c:v>
              </c:pt>
              <c:pt idx="10">
                <c:v>0.0820881119001283</c:v>
              </c:pt>
              <c:pt idx="11">
                <c:v>0.08378779452232</c:v>
              </c:pt>
              <c:pt idx="12">
                <c:v>0.0698478283500979</c:v>
              </c:pt>
              <c:pt idx="13">
                <c:v>0.0744516655492446</c:v>
              </c:pt>
              <c:pt idx="14">
                <c:v>0.0809058933465922</c:v>
              </c:pt>
            </c:numLit>
          </c:yVal>
        </c:ser>
        <c:ser>
          <c:idx val="1"/>
          <c:order val="1"/>
          <c:tx>
            <c:v>Ajustada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0.081130140165096</c:v>
              </c:pt>
              <c:pt idx="1">
                <c:v>0.0745232452683116</c:v>
              </c:pt>
              <c:pt idx="2">
                <c:v>0.0871059391884933</c:v>
              </c:pt>
              <c:pt idx="3">
                <c:v>0.0752028516325915</c:v>
              </c:pt>
              <c:pt idx="4">
                <c:v>0.0704152514172544</c:v>
              </c:pt>
              <c:pt idx="5">
                <c:v>0.0770053144630339</c:v>
              </c:pt>
              <c:pt idx="6">
                <c:v>0.0671417034451458</c:v>
              </c:pt>
              <c:pt idx="7">
                <c:v>0.0698999145821442</c:v>
              </c:pt>
              <c:pt idx="8">
                <c:v>0.0630090651293403</c:v>
              </c:pt>
              <c:pt idx="9">
                <c:v>0.0592500474459332</c:v>
              </c:pt>
              <c:pt idx="10">
                <c:v>0.0623234995475539</c:v>
              </c:pt>
              <c:pt idx="11">
                <c:v>0.0628881535366592</c:v>
              </c:pt>
              <c:pt idx="12">
                <c:v>0.0502587784704449</c:v>
              </c:pt>
              <c:pt idx="13">
                <c:v>0.0536913823719812</c:v>
              </c:pt>
              <c:pt idx="14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majorUnit val="0.03"/>
      </c:valAx>
      <c:valAx>
        <c:axId val="48650112"/>
        <c:scaling>
          <c:orientation val="minMax"/>
          <c:max val="14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0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Financeiro</c:v>
          </c:tx>
          <c:spPr>
            <a:ln xmlns:a="http://schemas.openxmlformats.org/drawingml/2006/main"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0.0721933056522929</c:v>
              </c:pt>
              <c:pt idx="1">
                <c:v>0.0724527089960241</c:v>
              </c:pt>
              <c:pt idx="2">
                <c:v>0.0730804465099311</c:v>
              </c:pt>
              <c:pt idx="3">
                <c:v>0.0632503901979427</c:v>
              </c:pt>
              <c:pt idx="4">
                <c:v>0.0641912171142307</c:v>
              </c:pt>
              <c:pt idx="5">
                <c:v>0.0657546480281713</c:v>
              </c:pt>
              <c:pt idx="6">
                <c:v>0.0634494475619897</c:v>
              </c:pt>
              <c:pt idx="7">
                <c:v>0.0646543625808829</c:v>
              </c:pt>
              <c:pt idx="8">
                <c:v>0.0673111027113792</c:v>
              </c:pt>
              <c:pt idx="9">
                <c:v>0.0656328096378168</c:v>
              </c:pt>
              <c:pt idx="10">
                <c:v>0.0620757208077272</c:v>
              </c:pt>
              <c:pt idx="11">
                <c:v>0.0736017938293535</c:v>
              </c:pt>
              <c:pt idx="12">
                <c:v>0.0635557109295464</c:v>
              </c:pt>
              <c:pt idx="13">
                <c:v>0.0542417392216208</c:v>
              </c:pt>
              <c:pt idx="14">
                <c:v>0.0538538517691906</c:v>
              </c:pt>
              <c:pt idx="15">
                <c:v>0.0521482823676041</c:v>
              </c:pt>
              <c:pt idx="16">
                <c:v>0.0536968054360994</c:v>
              </c:pt>
              <c:pt idx="17">
                <c:v>0.0518963049039671</c:v>
              </c:pt>
              <c:pt idx="18">
                <c:v>0.0510546702744202</c:v>
              </c:pt>
              <c:pt idx="19">
                <c:v>0.0529196484159213</c:v>
              </c:pt>
              <c:pt idx="20">
                <c:v>0.046013836733936</c:v>
              </c:pt>
              <c:pt idx="21">
                <c:v>0.0550382677231159</c:v>
              </c:pt>
              <c:pt idx="22">
                <c:v>0.0485909630112604</c:v>
              </c:pt>
              <c:pt idx="23">
                <c:v>0.0574955025459674</c:v>
              </c:pt>
              <c:pt idx="24">
                <c:v>0.0468319400175989</c:v>
              </c:pt>
              <c:pt idx="25">
                <c:v>0.0539850839306449</c:v>
              </c:pt>
              <c:pt idx="26">
                <c:v>0.0548524033756501</c:v>
              </c:pt>
              <c:pt idx="27">
                <c:v>0.057384795173174</c:v>
              </c:pt>
              <c:pt idx="28">
                <c:v>0.0561998841914902</c:v>
              </c:pt>
              <c:pt idx="29">
                <c:v>0.0601770065333058</c:v>
              </c:pt>
              <c:pt idx="30">
                <c:v>0.0716771622807513</c:v>
              </c:pt>
            </c:numLit>
          </c:yVal>
        </c:ser>
        <c:ser>
          <c:idx val="1"/>
          <c:order val="1"/>
          <c:tx>
            <c:v>Cartão de crédito</c:v>
          </c:tx>
          <c:spPr>
            <a:ln xmlns:a="http://schemas.openxmlformats.org/drawingml/2006/main"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0.0101429214599004</c:v>
              </c:pt>
              <c:pt idx="26">
                <c:v>0.0106021535752052</c:v>
              </c:pt>
              <c:pt idx="27">
                <c:v>0.0103961681274984</c:v>
              </c:pt>
              <c:pt idx="28">
                <c:v>0.0111458074735555</c:v>
              </c:pt>
              <c:pt idx="29">
                <c:v>0.0112389411589637</c:v>
              </c:pt>
              <c:pt idx="30">
                <c:v>0.0117604400025326</c:v>
              </c:pt>
            </c:numLit>
          </c:yVal>
        </c:ser>
        <c:ser>
          <c:idx val="2"/>
          <c:order val="2"/>
          <c:tx>
            <c:v>Comercial</c:v>
          </c:tx>
          <c:spPr>
            <a:ln xmlns:a="http://schemas.openxmlformats.org/drawingml/2006/main"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0.1082012781222687</c:v>
              </c:pt>
              <c:pt idx="1">
                <c:v>0.1161592735371424</c:v>
              </c:pt>
              <c:pt idx="2">
                <c:v>0.1194716541232022</c:v>
              </c:pt>
              <c:pt idx="3">
                <c:v>0.110340097661799</c:v>
              </c:pt>
              <c:pt idx="4">
                <c:v>0.1101662641871065</c:v>
              </c:pt>
              <c:pt idx="5">
                <c:v>0.1149075978008279</c:v>
              </c:pt>
              <c:pt idx="6">
                <c:v>0.1124919560057237</c:v>
              </c:pt>
              <c:pt idx="7">
                <c:v>0.098567530605085</c:v>
              </c:pt>
              <c:pt idx="8">
                <c:v>0.1000404253970929</c:v>
              </c:pt>
              <c:pt idx="9">
                <c:v>0.0874582451638325</c:v>
              </c:pt>
              <c:pt idx="10">
                <c:v>0.0856747977502285</c:v>
              </c:pt>
              <c:pt idx="11">
                <c:v>0.0877889765268387</c:v>
              </c:pt>
              <c:pt idx="12">
                <c:v>0.0885286227670983</c:v>
              </c:pt>
              <c:pt idx="13">
                <c:v>0.1431704813182423</c:v>
              </c:pt>
              <c:pt idx="14">
                <c:v>0.1427519812637698</c:v>
              </c:pt>
              <c:pt idx="15">
                <c:v>0.1104294687674457</c:v>
              </c:pt>
              <c:pt idx="16">
                <c:v>0.1092444441783367</c:v>
              </c:pt>
              <c:pt idx="17">
                <c:v>0.1020185080892119</c:v>
              </c:pt>
              <c:pt idx="18">
                <c:v>0.0819808141756463</c:v>
              </c:pt>
              <c:pt idx="19">
                <c:v>0.0739784925005875</c:v>
              </c:pt>
              <c:pt idx="20">
                <c:v>0.0776869622102317</c:v>
              </c:pt>
              <c:pt idx="21">
                <c:v>0.0812227396177681</c:v>
              </c:pt>
              <c:pt idx="22">
                <c:v>0.0778389474752357</c:v>
              </c:pt>
              <c:pt idx="23">
                <c:v>0.0619370973852018</c:v>
              </c:pt>
              <c:pt idx="24">
                <c:v>0.0638211406580486</c:v>
              </c:pt>
              <c:pt idx="25">
                <c:v>0.0615357509303453</c:v>
              </c:pt>
              <c:pt idx="26">
                <c:v>0.0511457130166931</c:v>
              </c:pt>
              <c:pt idx="27">
                <c:v>0.0505787700495826</c:v>
              </c:pt>
              <c:pt idx="28">
                <c:v>0.0485661426696369</c:v>
              </c:pt>
              <c:pt idx="29">
                <c:v>0.0473808964121762</c:v>
              </c:pt>
              <c:pt idx="30">
                <c:v>0.0383198312904363</c:v>
              </c:pt>
            </c:numLit>
          </c:yVal>
        </c:ser>
        <c:ser>
          <c:idx val="3"/>
          <c:order val="3"/>
          <c:tx>
            <c:v>Industrial</c:v>
          </c:tx>
          <c:spPr>
            <a:ln xmlns:a="http://schemas.openxmlformats.org/drawingml/2006/main"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0.0025995750477537</c:v>
              </c:pt>
              <c:pt idx="1">
                <c:v>0.0027073175458643</c:v>
              </c:pt>
              <c:pt idx="2">
                <c:v>0.0032142957243589</c:v>
              </c:pt>
              <c:pt idx="3">
                <c:v>0.0034097015354183</c:v>
              </c:pt>
              <c:pt idx="4">
                <c:v>0.0021054729286722</c:v>
              </c:pt>
              <c:pt idx="5">
                <c:v>0.0047362923216476</c:v>
              </c:pt>
              <c:pt idx="6">
                <c:v>0.0055366129638028</c:v>
              </c:pt>
              <c:pt idx="7">
                <c:v>0.0024131461675404</c:v>
              </c:pt>
              <c:pt idx="8">
                <c:v>0.0019877205669721</c:v>
              </c:pt>
              <c:pt idx="9">
                <c:v>0.0046091003151197</c:v>
              </c:pt>
              <c:pt idx="10">
                <c:v>0.003757986185218</c:v>
              </c:pt>
              <c:pt idx="11">
                <c:v>0.003791079854629</c:v>
              </c:pt>
              <c:pt idx="12">
                <c:v>0.004061108957977</c:v>
              </c:pt>
              <c:pt idx="13">
                <c:v>0.0036679242090174</c:v>
              </c:pt>
              <c:pt idx="14">
                <c:v>0.0037228807818014</c:v>
              </c:pt>
              <c:pt idx="15">
                <c:v>0.0041390501391543</c:v>
              </c:pt>
              <c:pt idx="16">
                <c:v>0.0043238466007108</c:v>
              </c:pt>
              <c:pt idx="17">
                <c:v>0.0040579403197648</c:v>
              </c:pt>
              <c:pt idx="18">
                <c:v>0.0070527663617381</c:v>
              </c:pt>
              <c:pt idx="19">
                <c:v>0.0067700063530923</c:v>
              </c:pt>
              <c:pt idx="20">
                <c:v>0.0070438224934519</c:v>
              </c:pt>
              <c:pt idx="21">
                <c:v>0.0085456396251194</c:v>
              </c:pt>
              <c:pt idx="22">
                <c:v>0.0091884370424081</c:v>
              </c:pt>
              <c:pt idx="23">
                <c:v>0.0062620305712928</c:v>
              </c:pt>
              <c:pt idx="24">
                <c:v>0.0070617642492158</c:v>
              </c:pt>
              <c:pt idx="25">
                <c:v>0.0063200695172949</c:v>
              </c:pt>
              <c:pt idx="26">
                <c:v>0.0059848905077144</c:v>
              </c:pt>
              <c:pt idx="27">
                <c:v>0.0063789170386723</c:v>
              </c:pt>
              <c:pt idx="28">
                <c:v>0.006420463309229</c:v>
              </c:pt>
              <c:pt idx="29">
                <c:v>0.0096784901416031</c:v>
              </c:pt>
              <c:pt idx="30">
                <c:v>0.0106470085607881</c:v>
              </c:pt>
            </c:numLit>
          </c:yVal>
        </c:ser>
        <c:ser>
          <c:idx val="4"/>
          <c:order val="4"/>
          <c:tx>
            <c:v>Serviços</c:v>
          </c:tx>
          <c:spPr>
            <a:ln xmlns:a="http://schemas.openxmlformats.org/drawingml/2006/main"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0.002761753511805</c:v>
              </c:pt>
              <c:pt idx="1">
                <c:v>0.0027082086002623</c:v>
              </c:pt>
              <c:pt idx="2">
                <c:v>0.0030878238406748</c:v>
              </c:pt>
              <c:pt idx="3">
                <c:v>0.0038134279430219</c:v>
              </c:pt>
              <c:pt idx="4">
                <c:v>0.0047264073090607</c:v>
              </c:pt>
              <c:pt idx="5">
                <c:v>0.0053374101483992</c:v>
              </c:pt>
              <c:pt idx="6">
                <c:v>0.0048777594375193</c:v>
              </c:pt>
              <c:pt idx="7">
                <c:v>0.0060579729890402</c:v>
              </c:pt>
              <c:pt idx="8">
                <c:v>0.0057354615135486</c:v>
              </c:pt>
              <c:pt idx="9">
                <c:v>0.0065809960074512</c:v>
              </c:pt>
              <c:pt idx="10">
                <c:v>0.011011195532876</c:v>
              </c:pt>
              <c:pt idx="11">
                <c:v>0.011019621516894</c:v>
              </c:pt>
              <c:pt idx="12">
                <c:v>0.011761078041623</c:v>
              </c:pt>
              <c:pt idx="13">
                <c:v>0.0052755069921239</c:v>
              </c:pt>
              <c:pt idx="14">
                <c:v>0.0050888290074184</c:v>
              </c:pt>
              <c:pt idx="15">
                <c:v>0.0058759615026774</c:v>
              </c:pt>
              <c:pt idx="16">
                <c:v>0.0061558874072902</c:v>
              </c:pt>
              <c:pt idx="17">
                <c:v>0.0064786730545633</c:v>
              </c:pt>
              <c:pt idx="18">
                <c:v>0.0067141159294199</c:v>
              </c:pt>
              <c:pt idx="19">
                <c:v>0.006201689312099</c:v>
              </c:pt>
              <c:pt idx="20">
                <c:v>0.0058260498006329</c:v>
              </c:pt>
              <c:pt idx="21">
                <c:v>0.006571374774792</c:v>
              </c:pt>
              <c:pt idx="22">
                <c:v>0.0066587917472255</c:v>
              </c:pt>
              <c:pt idx="23">
                <c:v>0.0072842278339582</c:v>
              </c:pt>
              <c:pt idx="24">
                <c:v>0.0081006571546639</c:v>
              </c:pt>
              <c:pt idx="25">
                <c:v>0.0117685005784751</c:v>
              </c:pt>
              <c:pt idx="26">
                <c:v>0.0123753954145278</c:v>
              </c:pt>
              <c:pt idx="27">
                <c:v>0.0140555053054944</c:v>
              </c:pt>
              <c:pt idx="28">
                <c:v>0.0144069916246104</c:v>
              </c:pt>
              <c:pt idx="29">
                <c:v>0.0157044040571552</c:v>
              </c:pt>
              <c:pt idx="30">
                <c:v>0.0155258929379865</c:v>
              </c:pt>
            </c:numLit>
          </c:yVal>
        </c:ser>
        <c:ser>
          <c:idx val="5"/>
          <c:order val="5"/>
          <c:tx>
            <c:v>Setor público</c:v>
          </c:tx>
          <c:spPr>
            <a:ln xmlns:a="http://schemas.openxmlformats.org/drawingml/2006/main"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0.1854216092153828</c:v>
              </c:pt>
              <c:pt idx="1">
                <c:v>0.1884788306642439</c:v>
              </c:pt>
              <c:pt idx="2">
                <c:v>0.1881706191809939</c:v>
              </c:pt>
              <c:pt idx="3">
                <c:v>0.0598179826329479</c:v>
              </c:pt>
              <c:pt idx="4">
                <c:v>0.2317110731792012</c:v>
              </c:pt>
              <c:pt idx="5">
                <c:v>0.2307453092491834</c:v>
              </c:pt>
              <c:pt idx="6">
                <c:v>0.231820743559852</c:v>
              </c:pt>
              <c:pt idx="7">
                <c:v>0.2276967726779469</c:v>
              </c:pt>
              <c:pt idx="8">
                <c:v>0.2228561784834045</c:v>
              </c:pt>
              <c:pt idx="9">
                <c:v>0.2601261710594481</c:v>
              </c:pt>
              <c:pt idx="10">
                <c:v>0.2226853028361558</c:v>
              </c:pt>
              <c:pt idx="11">
                <c:v>0.2187278941356636</c:v>
              </c:pt>
              <c:pt idx="12">
                <c:v>0.2021675560835505</c:v>
              </c:pt>
              <c:pt idx="13">
                <c:v>0.2127286140116034</c:v>
              </c:pt>
              <c:pt idx="14">
                <c:v>0.2136774816817553</c:v>
              </c:pt>
              <c:pt idx="15">
                <c:v>0.2116474567427985</c:v>
              </c:pt>
              <c:pt idx="16">
                <c:v>0.2182492714737423</c:v>
              </c:pt>
              <c:pt idx="17">
                <c:v>0.2305949573703942</c:v>
              </c:pt>
              <c:pt idx="18">
                <c:v>0.2170184839875787</c:v>
              </c:pt>
              <c:pt idx="19">
                <c:v>0.2066235198492703</c:v>
              </c:pt>
              <c:pt idx="20">
                <c:v>0.204642946005455</c:v>
              </c:pt>
              <c:pt idx="21">
                <c:v>0.2046761144659297</c:v>
              </c:pt>
              <c:pt idx="22">
                <c:v>0.1950570873721957</c:v>
              </c:pt>
              <c:pt idx="23">
                <c:v>0.1838076625569173</c:v>
              </c:pt>
              <c:pt idx="24">
                <c:v>0.0320722949695946</c:v>
              </c:pt>
              <c:pt idx="25">
                <c:v>0.0267519834548788</c:v>
              </c:pt>
              <c:pt idx="26">
                <c:v>0.0254709221093874</c:v>
              </c:pt>
              <c:pt idx="27">
                <c:v>0.0286391392387492</c:v>
              </c:pt>
              <c:pt idx="28">
                <c:v>0.0278719164478153</c:v>
              </c:pt>
              <c:pt idx="29">
                <c:v>0.0310941253039807</c:v>
              </c:pt>
              <c:pt idx="30">
                <c:v>0.0269677990830523</c:v>
              </c:pt>
            </c:numLit>
          </c:yVal>
        </c:ser>
        <c:ser>
          <c:idx val="6"/>
          <c:order val="6"/>
          <c:tx>
            <c:v>Ações judiciais</c:v>
          </c:tx>
          <c:spPr>
            <a:ln xmlns:a="http://schemas.openxmlformats.org/drawingml/2006/main"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0.0417142491781317</c:v>
              </c:pt>
              <c:pt idx="1">
                <c:v>0.0423201793463372</c:v>
              </c:pt>
              <c:pt idx="2">
                <c:v>0.0422821490121826</c:v>
              </c:pt>
              <c:pt idx="3">
                <c:v>0.0418197489706348</c:v>
              </c:pt>
              <c:pt idx="4">
                <c:v>0.013868015487937</c:v>
              </c:pt>
              <c:pt idx="5">
                <c:v>0.0161057915619758</c:v>
              </c:pt>
              <c:pt idx="6">
                <c:v>0.0460301180426334</c:v>
              </c:pt>
              <c:pt idx="7">
                <c:v>0.0156646355220548</c:v>
              </c:pt>
              <c:pt idx="8">
                <c:v>0.0127402436285298</c:v>
              </c:pt>
              <c:pt idx="9">
                <c:v>0.0146633705519831</c:v>
              </c:pt>
              <c:pt idx="10">
                <c:v>0.0148839095437175</c:v>
              </c:pt>
              <c:pt idx="11">
                <c:v>0.0145553054107453</c:v>
              </c:pt>
              <c:pt idx="12">
                <c:v>0.0129260058421569</c:v>
              </c:pt>
              <c:pt idx="13">
                <c:v>0.0133275954599381</c:v>
              </c:pt>
              <c:pt idx="14">
                <c:v>0.0135276953704358</c:v>
              </c:pt>
              <c:pt idx="15">
                <c:v>0.0133137511967988</c:v>
              </c:pt>
              <c:pt idx="16">
                <c:v>0.0132286727585075</c:v>
              </c:pt>
              <c:pt idx="17">
                <c:v>0.0129521393419009</c:v>
              </c:pt>
              <c:pt idx="18">
                <c:v>0.0125611054439207</c:v>
              </c:pt>
              <c:pt idx="19">
                <c:v>0.0125414517133714</c:v>
              </c:pt>
              <c:pt idx="20">
                <c:v>0.012167116656769</c:v>
              </c:pt>
              <c:pt idx="21">
                <c:v>0.0116434513520777</c:v>
              </c:pt>
              <c:pt idx="22">
                <c:v>0.0114818559290975</c:v>
              </c:pt>
              <c:pt idx="23">
                <c:v>0.0117198804644548</c:v>
              </c:pt>
              <c:pt idx="24">
                <c:v>0.0521667521091537</c:v>
              </c:pt>
              <c:pt idx="25">
                <c:v>0.0134295528242896</c:v>
              </c:pt>
              <c:pt idx="26">
                <c:v>0.0195114019773375</c:v>
              </c:pt>
              <c:pt idx="27">
                <c:v>0.0176558617875715</c:v>
              </c:pt>
              <c:pt idx="28">
                <c:v>0.0181866201777597</c:v>
              </c:pt>
              <c:pt idx="29">
                <c:v>0.0301063967497122</c:v>
              </c:pt>
              <c:pt idx="30">
                <c:v>0.0276212038505898</c:v>
              </c:pt>
            </c:numLit>
          </c:yVal>
        </c:ser>
        <c:ser>
          <c:idx val="7"/>
          <c:order val="7"/>
          <c:tx>
            <c:v>Agronegócio</c:v>
          </c:tx>
          <c:spPr>
            <a:ln xmlns:a="http://schemas.openxmlformats.org/drawingml/2006/main"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0.0193848320803037</c:v>
              </c:pt>
              <c:pt idx="1">
                <c:v>0.0074534188133573</c:v>
              </c:pt>
              <c:pt idx="2">
                <c:v>0.0073692353757936</c:v>
              </c:pt>
              <c:pt idx="3">
                <c:v>0.0275878340521066</c:v>
              </c:pt>
              <c:pt idx="4">
                <c:v>0.0699173713403787</c:v>
              </c:pt>
              <c:pt idx="5">
                <c:v>0.1071495886627592</c:v>
              </c:pt>
              <c:pt idx="6">
                <c:v>0.081170617074055</c:v>
              </c:pt>
              <c:pt idx="7">
                <c:v>0.0592144502484672</c:v>
              </c:pt>
              <c:pt idx="8">
                <c:v>0.068794386861829</c:v>
              </c:pt>
              <c:pt idx="9">
                <c:v>0.0804965019363218</c:v>
              </c:pt>
              <c:pt idx="10">
                <c:v>0.0568105669235579</c:v>
              </c:pt>
              <c:pt idx="11">
                <c:v>0.0539414905307017</c:v>
              </c:pt>
              <c:pt idx="12">
                <c:v>0.0456547393457803</c:v>
              </c:pt>
              <c:pt idx="13">
                <c:v>0.0938023365883941</c:v>
              </c:pt>
              <c:pt idx="14">
                <c:v>0.0318554027571156</c:v>
              </c:pt>
              <c:pt idx="15">
                <c:v>0.0513104257372555</c:v>
              </c:pt>
              <c:pt idx="16">
                <c:v>0.0844147829421874</c:v>
              </c:pt>
              <c:pt idx="17">
                <c:v>0.1096583784966358</c:v>
              </c:pt>
              <c:pt idx="18">
                <c:v>0.0834970570681469</c:v>
              </c:pt>
              <c:pt idx="19">
                <c:v>0.0543135517074533</c:v>
              </c:pt>
              <c:pt idx="20">
                <c:v>0.0397669344769683</c:v>
              </c:pt>
              <c:pt idx="21">
                <c:v>0.0839122035225489</c:v>
              </c:pt>
              <c:pt idx="22">
                <c:v>0.062508468287794</c:v>
              </c:pt>
              <c:pt idx="23">
                <c:v>0.0403071668157024</c:v>
              </c:pt>
              <c:pt idx="24">
                <c:v>0.0356597059135657</c:v>
              </c:pt>
              <c:pt idx="25">
                <c:v>0.0295211680001266</c:v>
              </c:pt>
              <c:pt idx="26">
                <c:v>0.0252043134620647</c:v>
              </c:pt>
              <c:pt idx="27">
                <c:v>0.1089245109690359</c:v>
              </c:pt>
              <c:pt idx="28">
                <c:v>0.0634141693348424</c:v>
              </c:pt>
              <c:pt idx="29">
                <c:v>0.0985406452471582</c:v>
              </c:pt>
              <c:pt idx="30">
                <c:v>0.0982584113424741</c:v>
              </c:pt>
            </c:numLit>
          </c:yVal>
        </c:ser>
        <c:ser>
          <c:idx val="8"/>
          <c:order val="8"/>
          <c:tx>
            <c:v>Imobiliário</c:v>
          </c:tx>
          <c:spPr>
            <a:ln xmlns:a="http://schemas.openxmlformats.org/drawingml/2006/main"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0.0368120139814974</c:v>
              </c:pt>
              <c:pt idx="10">
                <c:v>0.0370727339192215</c:v>
              </c:pt>
              <c:pt idx="11">
                <c:v>0.0383168676299335</c:v>
              </c:pt>
              <c:pt idx="12">
                <c:v>0.0411647909984821</c:v>
              </c:pt>
              <c:pt idx="13">
                <c:v>0.0420544170094409</c:v>
              </c:pt>
              <c:pt idx="14">
                <c:v>0.0452665646472693</c:v>
              </c:pt>
              <c:pt idx="15">
                <c:v>0.0471589020247165</c:v>
              </c:pt>
              <c:pt idx="16">
                <c:v>0.0479186023653569</c:v>
              </c:pt>
              <c:pt idx="17">
                <c:v>0.0497283898045638</c:v>
              </c:pt>
              <c:pt idx="18">
                <c:v>0.0513562669687059</c:v>
              </c:pt>
              <c:pt idx="19">
                <c:v>0.0524041751673811</c:v>
              </c:pt>
              <c:pt idx="20">
                <c:v>0.0549718365574653</c:v>
              </c:pt>
              <c:pt idx="21">
                <c:v>0.0467619519887603</c:v>
              </c:pt>
              <c:pt idx="22">
                <c:v>0.0529296618834481</c:v>
              </c:pt>
              <c:pt idx="23">
                <c:v>0.0555227271204206</c:v>
              </c:pt>
              <c:pt idx="24">
                <c:v>0.0469577659285627</c:v>
              </c:pt>
              <c:pt idx="25">
                <c:v>0.0508181998171366</c:v>
              </c:pt>
              <c:pt idx="26">
                <c:v>0.0563587832928188</c:v>
              </c:pt>
              <c:pt idx="27">
                <c:v>0.0610793382898068</c:v>
              </c:pt>
              <c:pt idx="28">
                <c:v>0.0669949830191097</c:v>
              </c:pt>
              <c:pt idx="29">
                <c:v>0.0721630638324931</c:v>
              </c:pt>
              <c:pt idx="30">
                <c:v>0.0727874220270115</c:v>
              </c:pt>
            </c:numLit>
          </c:yVal>
        </c:ser>
        <c:ser>
          <c:idx val="9"/>
          <c:order val="9"/>
          <c:tx>
            <c:v>Factoring</c:v>
          </c:tx>
          <c:spPr>
            <a:ln xmlns:a="http://schemas.openxmlformats.org/drawingml/2006/main"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  <c:pt idx="30">
                <c:v>0.1391390506699004</c:v>
              </c:pt>
            </c:numLit>
          </c:yVal>
        </c:ser>
        <c:ser>
          <c:idx val="10"/>
          <c:order val="10"/>
          <c:tx>
            <c:v>Consolidado ajustado</c:v>
          </c:tx>
          <c:spPr>
            <a:ln xmlns:a="http://schemas.openxmlformats.org/drawingml/2006/main"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  <c:pt idx="30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majorUnit val="0.05"/>
      </c:valAx>
      <c:valAx>
        <c:axId val="48650112"/>
        <c:scaling>
          <c:orientation val="minMax"/>
          <c:max val="30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0.7177319262894483</c:v>
              </c:pt>
              <c:pt idx="1">
                <c:v>0.3640830858142464</c:v>
              </c:pt>
              <c:pt idx="2">
                <c:v>0.7281455649767723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0.5320851575861103</c:v>
              </c:pt>
              <c:pt idx="1">
                <c:v>0.2617042615232217</c:v>
              </c:pt>
              <c:pt idx="2">
                <c:v>0.5578650737236776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Oliveira Trust</c:v>
              </c:pt>
              <c:pt idx="2">
                <c:v>Daycoval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28.577477955880003</c:v>
              </c:pt>
              <c:pt idx="1">
                <c:v>57.205822956949994</c:v>
              </c:pt>
              <c:pt idx="2">
                <c:v>58.07994111931001</c:v>
              </c:pt>
              <c:pt idx="3">
                <c:v>123.34891855075</c:v>
              </c:pt>
              <c:pt idx="4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21.117364064860002</c:v>
              </c:pt>
              <c:pt idx="1">
                <c:v>21.71761716544</c:v>
              </c:pt>
              <c:pt idx="2">
                <c:v>22.40761845837</c:v>
              </c:pt>
              <c:pt idx="3">
                <c:v>57.205822956949994</c:v>
              </c:pt>
              <c:pt idx="4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18.875169440439997</c:v>
              </c:pt>
              <c:pt idx="1">
                <c:v>26.891086880550002</c:v>
              </c:pt>
              <c:pt idx="2">
                <c:v>35.02222544035998</c:v>
              </c:pt>
              <c:pt idx="3">
                <c:v>40.32919650402</c:v>
              </c:pt>
              <c:pt idx="4">
                <c:v>79.11922838494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A7ACB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Integral Investimentos</c:v>
              </c:pt>
              <c:pt idx="2">
                <c:v>Solis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14.95203415536</c:v>
              </c:pt>
              <c:pt idx="2">
                <c:v>16.12591261212</c:v>
              </c:pt>
              <c:pt idx="3">
                <c:v>22.14586346137</c:v>
              </c:pt>
              <c:pt idx="4">
                <c:v>35.02222544035998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QI Tech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21.926715321429995</c:v>
              </c:pt>
              <c:pt idx="1">
                <c:v>64.38995086032001</c:v>
              </c:pt>
              <c:pt idx="2">
                <c:v>74.73806249444</c:v>
              </c:pt>
              <c:pt idx="3">
                <c:v>122.32123834260001</c:v>
              </c:pt>
              <c:pt idx="4">
                <c:v>122.70207078867999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21.72075588213</c:v>
              </c:pt>
              <c:pt idx="1">
                <c:v>22.40761845837</c:v>
              </c:pt>
              <c:pt idx="2">
                <c:v>25.148795168550002</c:v>
              </c:pt>
              <c:pt idx="3">
                <c:v>74.73806249444</c:v>
              </c:pt>
              <c:pt idx="4">
                <c:v>122.32123834260001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9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 xmlns:a="http://schemas.openxmlformats.org/drawingml/2006/main"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 xmlns:a="http://schemas.openxmlformats.org/drawingml/2006/main"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 xmlns:a="http://schemas.openxmlformats.org/drawingml/2006/main"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 xmlns:a="http://schemas.openxmlformats.org/drawingml/2006/main">
              <a:srgbClr val="2456D6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 xmlns:a="http://schemas.openxmlformats.org/drawingml/2006/main">
              <a:srgbClr val="1D4080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79.11922838494</c:v>
              </c:pt>
              <c:pt idx="1">
                <c:v>40.32919650402</c:v>
              </c:pt>
              <c:pt idx="2">
                <c:v>27.842201097290015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0.1116763306350601</c:v>
              </c:pt>
              <c:pt idx="1">
                <c:v>0.6782283246807754</c:v>
              </c:pt>
              <c:pt idx="2">
                <c:v>0.0450938092637845</c:v>
              </c:pt>
              <c:pt idx="3">
                <c:v>0.0383225339956283</c:v>
              </c:pt>
              <c:pt idx="4">
                <c:v>0.0555263851137853</c:v>
              </c:pt>
              <c:pt idx="5">
                <c:v>0.1191594010470072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0.1390963456785791</c:v>
              </c:pt>
              <c:pt idx="1">
                <c:v>0.0085369657675623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0.3313177990979622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0.0840999608667202</c:v>
              </c:pt>
              <c:pt idx="1">
                <c:v>0.0060998187147488</c:v>
              </c:pt>
              <c:pt idx="2">
                <c:v>0.0121996377120526</c:v>
              </c:pt>
              <c:pt idx="3">
                <c:v>0.1576375144502833</c:v>
              </c:pt>
              <c:pt idx="4">
                <c:v>0.1003776283557518</c:v>
              </c:pt>
              <c:pt idx="5">
                <c:v>0.0466955779633413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0.0146265486635242</c:v>
              </c:pt>
              <c:pt idx="1">
                <c:v>0.009628795711521</c:v>
              </c:pt>
              <c:pt idx="2">
                <c:v>0.0718716845273516</c:v>
              </c:pt>
              <c:pt idx="3">
                <c:v>0.0746723052215733</c:v>
              </c:pt>
              <c:pt idx="4">
                <c:v>0.253591336198019</c:v>
              </c:pt>
              <c:pt idx="5">
                <c:v>0.3084942496785164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0.0225383075558926</c:v>
              </c:pt>
              <c:pt idx="2">
                <c:v>0.1478667482986454</c:v>
              </c:pt>
              <c:pt idx="3">
                <c:v>0.1403255782349483</c:v>
              </c:pt>
              <c:pt idx="4">
                <c:v>0</c:v>
              </c:pt>
              <c:pt idx="5">
                <c:v>5.061082168693914E-05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0.0452554036899924</c:v>
              </c:pt>
              <c:pt idx="1">
                <c:v>0.0014290426740686</c:v>
              </c:pt>
              <c:pt idx="2">
                <c:v>0.0938211651306432</c:v>
              </c:pt>
              <c:pt idx="3">
                <c:v>0.1266642208703755</c:v>
              </c:pt>
              <c:pt idx="4">
                <c:v>0.2292028070380465</c:v>
              </c:pt>
              <c:pt idx="5">
                <c:v>0.0097144159325523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0.0679529812812936</c:v>
              </c:pt>
              <c:pt idx="1">
                <c:v>0.0093365494192045</c:v>
              </c:pt>
              <c:pt idx="2">
                <c:v>0.0435322365450096</c:v>
              </c:pt>
              <c:pt idx="3">
                <c:v>0.0006615413000011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0.0084504260439428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0.0265752299531593</c:v>
              </c:pt>
              <c:pt idx="1">
                <c:v>0.0407324745725011</c:v>
              </c:pt>
              <c:pt idx="2">
                <c:v>0.041430326101634</c:v>
              </c:pt>
              <c:pt idx="3">
                <c:v>0.0163428047472977</c:v>
              </c:pt>
              <c:pt idx="4">
                <c:v>0.006670926137507</c:v>
              </c:pt>
              <c:pt idx="5">
                <c:v>0.0543763088929269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0.3859616853035125</c:v>
              </c:pt>
              <c:pt idx="1">
                <c:v>0.188336941366163</c:v>
              </c:pt>
              <c:pt idx="2">
                <c:v>0.2466092951847047</c:v>
              </c:pt>
              <c:pt idx="3">
                <c:v>0.2518978769172617</c:v>
              </c:pt>
              <c:pt idx="4">
                <c:v>0.0646548691339009</c:v>
              </c:pt>
              <c:pt idx="5">
                <c:v>0.1217412105220637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0.0500957774921574</c:v>
              </c:pt>
              <c:pt idx="1">
                <c:v>0.0012525299906187</c:v>
              </c:pt>
              <c:pt idx="2">
                <c:v>0.2535264495160129</c:v>
              </c:pt>
              <c:pt idx="3">
                <c:v>0.0462427868594103</c:v>
              </c:pt>
              <c:pt idx="4">
                <c:v>0.2758716420451991</c:v>
              </c:pt>
              <c:pt idx="5">
                <c:v>0.3233036682243127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0.0469523725398685</c:v>
              </c:pt>
              <c:pt idx="1">
                <c:v>0.0225383075558926</c:v>
              </c:pt>
              <c:pt idx="2">
                <c:v>0.0909821352025632</c:v>
              </c:pt>
              <c:pt idx="3">
                <c:v>0.1379781899976271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0.0019669412013587</c:v>
              </c:pt>
              <c:pt idx="1">
                <c:v>0.0007064267423984</c:v>
              </c:pt>
              <c:pt idx="2">
                <c:v>0.0510761668947442</c:v>
              </c:pt>
              <c:pt idx="3">
                <c:v>0.0481316360628852</c:v>
              </c:pt>
              <c:pt idx="4">
                <c:v>0.1937323312865176</c:v>
              </c:pt>
              <c:pt idx="5">
                <c:v>0.2251967686157905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0.0220612214253641</c:v>
              </c:pt>
              <c:pt idx="1">
                <c:v>0</c:v>
              </c:pt>
              <c:pt idx="2">
                <c:v>0.0733873168779346</c:v>
              </c:pt>
              <c:pt idx="3">
                <c:v>0.1081333878129026</c:v>
              </c:pt>
              <c:pt idx="4">
                <c:v>0.0942677758415833</c:v>
              </c:pt>
              <c:pt idx="5">
                <c:v>0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0.006031214274127</c:v>
              </c:pt>
              <c:pt idx="1">
                <c:v>0.2254820036895443</c:v>
              </c:pt>
              <c:pt idx="2">
                <c:v>0.0044598510745928</c:v>
              </c:pt>
              <c:pt idx="3">
                <c:v>0.0024475116853231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0.0450847430474019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0.0205891110813994</c:v>
              </c:pt>
              <c:pt idx="1">
                <c:v>0.0353488694975699</c:v>
              </c:pt>
              <c:pt idx="2">
                <c:v>0.0103281819969092</c:v>
              </c:pt>
              <c:pt idx="3">
                <c:v>0.0170236300688781</c:v>
              </c:pt>
              <c:pt idx="4">
                <c:v>0.0213932153161958</c:v>
              </c:pt>
              <c:pt idx="5">
                <c:v>0.0588066657932295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0.0124160176066826</c:v>
              </c:pt>
              <c:pt idx="1">
                <c:v>0</c:v>
              </c:pt>
              <c:pt idx="2">
                <c:v>0.0921407401194705</c:v>
              </c:pt>
              <c:pt idx="3">
                <c:v>0.0070214132164745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0.0056678347405107</c:v>
              </c:pt>
              <c:pt idx="1">
                <c:v>0.0058311829957581</c:v>
              </c:pt>
              <c:pt idx="2">
                <c:v>0.072361729110744</c:v>
              </c:pt>
              <c:pt idx="3">
                <c:v>0.0067039718840054</c:v>
              </c:pt>
              <c:pt idx="4">
                <c:v>0.0020264986777547</c:v>
              </c:pt>
              <c:pt idx="5">
                <c:v>0.0059850887644436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0.0081687112550485</c:v>
              </c:pt>
              <c:pt idx="1">
                <c:v>0.0031211412936085</c:v>
              </c:pt>
              <c:pt idx="2">
                <c:v>0.0018544989739266</c:v>
              </c:pt>
              <c:pt idx="3">
                <c:v>0.0644142962449783</c:v>
              </c:pt>
              <c:pt idx="4">
                <c:v>0.0996900292425515</c:v>
              </c:pt>
              <c:pt idx="5">
                <c:v>0.0090591090265077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0.7803731753534665</c:v>
              </c:pt>
              <c:pt idx="1">
                <c:v>0.7049428932208924</c:v>
              </c:pt>
              <c:pt idx="2">
                <c:v>0.3287800173132373</c:v>
              </c:pt>
              <c:pt idx="3">
                <c:v>0.5619031761675151</c:v>
              </c:pt>
              <c:pt idx="4">
                <c:v>0.3130185075901977</c:v>
              </c:pt>
              <c:pt idx="5">
                <c:v>0.3775980887540289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94589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0.0005928799826141</c:v>
              </c:pt>
              <c:pt idx="1">
                <c:v>0.0007766450137169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5.061082168693914E-05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0.1385988512304118</c:v>
              </c:pt>
              <c:pt idx="1">
                <c:v>0.0027057827718041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0.3313177990979622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0.1110650498414056</c:v>
              </c:pt>
              <c:pt idx="1">
                <c:v>0.6759912968773222</c:v>
              </c:pt>
              <c:pt idx="2">
                <c:v>0.0451499232981444</c:v>
              </c:pt>
              <c:pt idx="3">
                <c:v>0.0382941953359548</c:v>
              </c:pt>
              <c:pt idx="4">
                <c:v>0.0500143231646444</c:v>
              </c:pt>
              <c:pt idx="5">
                <c:v>0.1184983159999287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0.0367401725104139</c:v>
              </c:pt>
              <c:pt idx="1">
                <c:v>0.0271351448333965</c:v>
              </c:pt>
              <c:pt idx="2">
                <c:v>0.1734502780656785</c:v>
              </c:pt>
              <c:pt idx="3">
                <c:v>0.0746723052215733</c:v>
              </c:pt>
              <c:pt idx="4">
                <c:v>0.254399426087156</c:v>
              </c:pt>
              <c:pt idx="5">
                <c:v>0.3092763527579982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0.0901371033135809</c:v>
              </c:pt>
              <c:pt idx="1">
                <c:v>0.0060998187147488</c:v>
              </c:pt>
              <c:pt idx="2">
                <c:v>0.0338901250913308</c:v>
              </c:pt>
              <c:pt idx="3">
                <c:v>0.1662834134085645</c:v>
              </c:pt>
              <c:pt idx="4">
                <c:v>0.1003776283557518</c:v>
              </c:pt>
              <c:pt idx="5">
                <c:v>0.0466955779633413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0.0170780158717631</c:v>
              </c:pt>
              <c:pt idx="2">
                <c:v>0.1117385096852637</c:v>
              </c:pt>
              <c:pt idx="3">
                <c:v>0.1399668200066018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0.0341699412912885</c:v>
              </c:pt>
              <c:pt idx="1">
                <c:v>0.0014290426740686</c:v>
              </c:pt>
              <c:pt idx="2">
                <c:v>0.0924387555066889</c:v>
              </c:pt>
              <c:pt idx="3">
                <c:v>0.1266642208703755</c:v>
              </c:pt>
              <c:pt idx="4">
                <c:v>0.1377649003513394</c:v>
              </c:pt>
              <c:pt idx="5">
                <c:v>0.0097144159325523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0.0766621333152516</c:v>
              </c:pt>
              <c:pt idx="1">
                <c:v>0.0001847303014918</c:v>
              </c:pt>
              <c:pt idx="2">
                <c:v>1.9023858238375103E-05</c:v>
              </c:pt>
              <c:pt idx="3">
                <c:v>0.0013441224672684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0.0529133378830142</c:v>
              </c:pt>
              <c:pt idx="1">
                <c:v>0.0093365494192045</c:v>
              </c:pt>
              <c:pt idx="2">
                <c:v>0.0171026340935401</c:v>
              </c:pt>
              <c:pt idx="3">
                <c:v>0.0006615413000011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0.0084504260439428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0.3241701231603555</c:v>
              </c:pt>
              <c:pt idx="1">
                <c:v>0.2115480334239259</c:v>
              </c:pt>
              <c:pt idx="2">
                <c:v>0.160647830710761</c:v>
              </c:pt>
              <c:pt idx="3">
                <c:v>0.2568686718762569</c:v>
              </c:pt>
              <c:pt idx="4">
                <c:v>0.1673666661701728</c:v>
              </c:pt>
              <c:pt idx="5">
                <c:v>0.1759965013825875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94589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0.0107877735261191</c:v>
              </c:pt>
              <c:pt idx="1">
                <c:v>0.0133588055747116</c:v>
              </c:pt>
              <c:pt idx="2">
                <c:v>0.0679878224541797</c:v>
              </c:pt>
              <c:pt idx="3">
                <c:v>0.0017690852507729</c:v>
              </c:pt>
              <c:pt idx="4">
                <c:v>0.0001010078479461</c:v>
              </c:pt>
              <c:pt idx="5">
                <c:v>5.061082168693914E-05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0.08029197080291971</c:v>
              </c:pt>
              <c:pt idx="1">
                <c:v>0.007770190722863198</c:v>
              </c:pt>
              <c:pt idx="2">
                <c:v>0.8102189781021898</c:v>
              </c:pt>
              <c:pt idx="3">
                <c:v>0.009182952672474688</c:v>
              </c:pt>
              <c:pt idx="4">
                <c:v>0.07558276430421473</c:v>
              </c:pt>
              <c:pt idx="5">
                <c:v>0.016953143395337884</c:v>
              </c:pt>
            </c:numLit>
          </c:val>
        </c:ser>
        <c:ser>
          <c:idx val="1"/>
          <c:order val="1"/>
          <c:tx>
            <c:v>% 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0.3566815952743106</c:v>
              </c:pt>
              <c:pt idx="1">
                <c:v>0.025023574308591645</c:v>
              </c:pt>
              <c:pt idx="2">
                <c:v>0.5461799583736618</c:v>
              </c:pt>
              <c:pt idx="3">
                <c:v>0.008546199474819226</c:v>
              </c:pt>
              <c:pt idx="4">
                <c:v>0.051578174945170883</c:v>
              </c:pt>
              <c:pt idx="5">
                <c:v>0.011990497623445616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95,4 bi
1.009 · R$ 95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116,9 bi
1.473 · R$ 79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65,5 bi
771 · R$ 85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7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2024</c:v>
          </c:tx>
          <c:spPr>
            <a:ln xmlns:a="http://schemas.openxmlformats.org/drawingml/2006/main"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yVal>
        </c:ser>
        <c:ser>
          <c:idx val="1"/>
          <c:order val="1"/>
          <c:tx>
            <c:v>2025</c:v>
          </c:tx>
          <c:spPr>
            <a:ln xmlns:a="http://schemas.openxmlformats.org/drawingml/2006/main"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yVal>
        </c:ser>
        <c:ser>
          <c:idx val="2"/>
          <c:order val="2"/>
          <c:tx>
            <c:v>2026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9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0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953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xmlns:a="http://schemas.openxmlformats.org/drawingml/2006/main" w="953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0.6782283246807754</c:v>
              </c:pt>
              <c:pt idx="1">
                <c:v>0.2831240514453489</c:v>
              </c:pt>
              <c:pt idx="2">
                <c:v>0.1191594010470072</c:v>
              </c:pt>
              <c:pt idx="3">
                <c:v>0.0555263851137853</c:v>
              </c:pt>
              <c:pt idx="4">
                <c:v>0.0691691486679832</c:v>
              </c:pt>
              <c:pt idx="5">
                <c:v>0.0383225339956283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0.2264353570509752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0.1116763306350601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0.0085369657675623</c:v>
              </c:pt>
              <c:pt idx="1">
                <c:v>0</c:v>
              </c:pt>
              <c:pt idx="2">
                <c:v>0.3313177990979622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0.1390963456785791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0.0466955779633413</c:v>
              </c:pt>
              <c:pt idx="3">
                <c:v>0.1003776283557518</c:v>
              </c:pt>
              <c:pt idx="4">
                <c:v>0.0518572977986845</c:v>
              </c:pt>
              <c:pt idx="5">
                <c:v>0.1576375144502833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0.2191987728818734</c:v>
              </c:pt>
              <c:pt idx="10">
                <c:v>0.0851975999676302</c:v>
              </c:pt>
              <c:pt idx="11">
                <c:v>0.0775017988341624</c:v>
              </c:pt>
              <c:pt idx="12">
                <c:v>0.0561734532046676</c:v>
              </c:pt>
              <c:pt idx="13">
                <c:v>0.0840999608667202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0.009628795711521</c:v>
              </c:pt>
              <c:pt idx="1">
                <c:v>0.210187707644898</c:v>
              </c:pt>
              <c:pt idx="2">
                <c:v>0.3084942496785164</c:v>
              </c:pt>
              <c:pt idx="3">
                <c:v>0.253591336198019</c:v>
              </c:pt>
              <c:pt idx="4">
                <c:v>0</c:v>
              </c:pt>
              <c:pt idx="5">
                <c:v>0.0746723052215733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0.0533268146890519</c:v>
              </c:pt>
              <c:pt idx="13">
                <c:v>0.0146265486635242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5.061082168693914E-05</c:v>
              </c:pt>
              <c:pt idx="3">
                <c:v>0</c:v>
              </c:pt>
              <c:pt idx="4">
                <c:v>0.4931230015075811</c:v>
              </c:pt>
              <c:pt idx="5">
                <c:v>0.1403255782349483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0.0089665861260677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0.0097144159325523</c:v>
              </c:pt>
              <c:pt idx="3">
                <c:v>0.2292028070380465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0.0947363671905799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0.0452554036899924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0.0679529812812936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0.0719893561435586</c:v>
              </c:pt>
              <c:pt idx="2">
                <c:v>0.0084504260439428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0.0407324745725011</c:v>
              </c:pt>
              <c:pt idx="1">
                <c:v>0.0052736633265841</c:v>
              </c:pt>
              <c:pt idx="2">
                <c:v>0.0543763088929269</c:v>
              </c:pt>
              <c:pt idx="3">
                <c:v>0.006670926137507</c:v>
              </c:pt>
              <c:pt idx="4">
                <c:v>0</c:v>
              </c:pt>
              <c:pt idx="5">
                <c:v>0.0163428047472977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0.088274982113552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0.0265752299531593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0.188336941366163</c:v>
              </c:pt>
              <c:pt idx="1">
                <c:v>0.1786693066876506</c:v>
              </c:pt>
              <c:pt idx="2">
                <c:v>0.1217412105220637</c:v>
              </c:pt>
              <c:pt idx="3">
                <c:v>0.0646548691339009</c:v>
              </c:pt>
              <c:pt idx="4">
                <c:v>0.3650060218993778</c:v>
              </c:pt>
              <c:pt idx="5">
                <c:v>0.2518978769172617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0.1411084314958586</c:v>
              </c:pt>
              <c:pt idx="10">
                <c:v>0.2848443838437823</c:v>
              </c:pt>
              <c:pt idx="11">
                <c:v>0.6847170379852451</c:v>
              </c:pt>
              <c:pt idx="12">
                <c:v>0.286555225457034</c:v>
              </c:pt>
              <c:pt idx="13">
                <c:v>0.3859616853035125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36085691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3400999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0.0012525299906187</c:v>
              </c:pt>
              <c:pt idx="1">
                <c:v>0</c:v>
              </c:pt>
              <c:pt idx="2">
                <c:v>0.3233036682243127</c:v>
              </c:pt>
              <c:pt idx="3">
                <c:v>0.2758716420451991</c:v>
              </c:pt>
              <c:pt idx="4">
                <c:v>0</c:v>
              </c:pt>
              <c:pt idx="5">
                <c:v>0.0462427868594103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0.0112782861788371</c:v>
              </c:pt>
              <c:pt idx="10">
                <c:v>0.0314890119720234</c:v>
              </c:pt>
              <c:pt idx="11">
                <c:v>0.0048931980001534</c:v>
              </c:pt>
              <c:pt idx="12">
                <c:v>0.0726718301479003</c:v>
              </c:pt>
              <c:pt idx="13">
                <c:v>0.0500957774921574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0.1379781899976271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0.0295771875973997</c:v>
              </c:pt>
              <c:pt idx="11">
                <c:v>0</c:v>
              </c:pt>
              <c:pt idx="12">
                <c:v>0.0089665861260677</c:v>
              </c:pt>
              <c:pt idx="13">
                <c:v>0.0469523725398685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2433569168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0.0007064267423984</c:v>
              </c:pt>
              <c:pt idx="1">
                <c:v>0.0399878754183617</c:v>
              </c:pt>
              <c:pt idx="2">
                <c:v>0.2251967686157905</c:v>
              </c:pt>
              <c:pt idx="3">
                <c:v>0.1937323312865176</c:v>
              </c:pt>
              <c:pt idx="4">
                <c:v>0</c:v>
              </c:pt>
              <c:pt idx="5">
                <c:v>0.0481316360628852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0.0029567138086895</c:v>
              </c:pt>
              <c:pt idx="10">
                <c:v>0.0090278528000783</c:v>
              </c:pt>
              <c:pt idx="11">
                <c:v>0</c:v>
              </c:pt>
              <c:pt idx="12">
                <c:v>0.0319409306110538</c:v>
              </c:pt>
              <c:pt idx="13">
                <c:v>0.0019669412013587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0398527386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0.0942677758415833</c:v>
              </c:pt>
              <c:pt idx="4">
                <c:v>0</c:v>
              </c:pt>
              <c:pt idx="5">
                <c:v>0.1081333878129026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0.005450294547657</c:v>
              </c:pt>
              <c:pt idx="10">
                <c:v>0</c:v>
              </c:pt>
              <c:pt idx="11">
                <c:v>0</c:v>
              </c:pt>
              <c:pt idx="12">
                <c:v>0.0014030424128084</c:v>
              </c:pt>
              <c:pt idx="13">
                <c:v>0.0220612214253641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0.2254820036895443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0.0024475116853231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0.0115869717776985</c:v>
              </c:pt>
              <c:pt idx="11">
                <c:v>0</c:v>
              </c:pt>
              <c:pt idx="12">
                <c:v>0</c:v>
              </c:pt>
              <c:pt idx="13">
                <c:v>0.006031214274127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0.1004163448849682</c:v>
              </c:pt>
              <c:pt idx="10">
                <c:v>0</c:v>
              </c:pt>
              <c:pt idx="11">
                <c:v>0</c:v>
              </c:pt>
              <c:pt idx="12">
                <c:v>0.0258977954276094</c:v>
              </c:pt>
              <c:pt idx="13">
                <c:v>0.0450847430474019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.01498145723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0.0353488694975699</c:v>
              </c:pt>
              <c:pt idx="1">
                <c:v>0</c:v>
              </c:pt>
              <c:pt idx="2">
                <c:v>0.0588066657932295</c:v>
              </c:pt>
              <c:pt idx="3">
                <c:v>0.0213932153161958</c:v>
              </c:pt>
              <c:pt idx="4">
                <c:v>0</c:v>
              </c:pt>
              <c:pt idx="5">
                <c:v>0.0170236300688781</c:v>
              </c:pt>
              <c:pt idx="6">
                <c:v>0</c:v>
              </c:pt>
              <c:pt idx="7">
                <c:v>0.0103281819969092</c:v>
              </c:pt>
              <c:pt idx="8">
                <c:v>0.0471192664026394</c:v>
              </c:pt>
              <c:pt idx="9">
                <c:v>0</c:v>
              </c:pt>
              <c:pt idx="10">
                <c:v>0.0047678128094529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0.0205891110813994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565772027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0.0070214132164745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0.0111310339707986</c:v>
              </c:pt>
              <c:pt idx="11">
                <c:v>0</c:v>
              </c:pt>
              <c:pt idx="12">
                <c:v>0.0642625485190267</c:v>
              </c:pt>
              <c:pt idx="13">
                <c:v>0.0124160176066826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0.0058311829957581</c:v>
              </c:pt>
              <c:pt idx="1">
                <c:v>0</c:v>
              </c:pt>
              <c:pt idx="2">
                <c:v>0.0059850887644436</c:v>
              </c:pt>
              <c:pt idx="3">
                <c:v>0.0020264986777547</c:v>
              </c:pt>
              <c:pt idx="4">
                <c:v>0.3970784801516897</c:v>
              </c:pt>
              <c:pt idx="5">
                <c:v>0.0067039718840054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0.0056678347405107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0.0031211412936085</c:v>
              </c:pt>
              <c:pt idx="1">
                <c:v>0</c:v>
              </c:pt>
              <c:pt idx="2">
                <c:v>0.0090591090265077</c:v>
              </c:pt>
              <c:pt idx="3">
                <c:v>0.0996900292425515</c:v>
              </c:pt>
              <c:pt idx="4">
                <c:v>0.0012378025558711</c:v>
              </c:pt>
              <c:pt idx="5">
                <c:v>0.0644142962449783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0.0081687112550485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0.7049428932208924</c:v>
              </c:pt>
              <c:pt idx="1">
                <c:v>0.7576131187514845</c:v>
              </c:pt>
              <c:pt idx="2">
                <c:v>0.3775980887540289</c:v>
              </c:pt>
              <c:pt idx="3">
                <c:v>0.3130185075901977</c:v>
              </c:pt>
              <c:pt idx="4">
                <c:v>0.190064041154758</c:v>
              </c:pt>
              <c:pt idx="5">
                <c:v>0.5619031761675151</c:v>
              </c:pt>
              <c:pt idx="6">
                <c:v>0.7921503174998235</c:v>
              </c:pt>
              <c:pt idx="7">
                <c:v>0.3287800173132373</c:v>
              </c:pt>
              <c:pt idx="8">
                <c:v>0.6875028892220143</c:v>
              </c:pt>
              <c:pt idx="9">
                <c:v>0.803030339883502</c:v>
              </c:pt>
              <c:pt idx="10">
                <c:v>0.9024201290725482</c:v>
              </c:pt>
              <c:pt idx="11">
                <c:v>0.9948561124641392</c:v>
              </c:pt>
              <c:pt idx="12">
                <c:v>0.7941948271502433</c:v>
              </c:pt>
              <c:pt idx="13">
                <c:v>0.7803731753534665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94589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0.0007766450137169</c:v>
              </c:pt>
              <c:pt idx="1">
                <c:v>0</c:v>
              </c:pt>
              <c:pt idx="2">
                <c:v>5.061082168693914E-05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0.076868020696346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0.0005928799826141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.01024538675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0.0027057827718041</c:v>
              </c:pt>
              <c:pt idx="1">
                <c:v>0</c:v>
              </c:pt>
              <c:pt idx="2">
                <c:v>0.3313177990979622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0.1385988512304118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0.6759912968773222</c:v>
              </c:pt>
              <c:pt idx="1">
                <c:v>0.2831240514453489</c:v>
              </c:pt>
              <c:pt idx="2">
                <c:v>0.1184983159999287</c:v>
              </c:pt>
              <c:pt idx="3">
                <c:v>0.0500143231646444</c:v>
              </c:pt>
              <c:pt idx="4">
                <c:v>0.0691691486679832</c:v>
              </c:pt>
              <c:pt idx="5">
                <c:v>0.0382941953359548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0.1510800867413979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0.1110650498414056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0.0271351448333965</c:v>
              </c:pt>
              <c:pt idx="1">
                <c:v>0.2481574168942679</c:v>
              </c:pt>
              <c:pt idx="2">
                <c:v>0.3092763527579982</c:v>
              </c:pt>
              <c:pt idx="3">
                <c:v>0.254399426087156</c:v>
              </c:pt>
              <c:pt idx="4">
                <c:v>0.014041110348548</c:v>
              </c:pt>
              <c:pt idx="5">
                <c:v>0.0746723052215733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0.0285286777700744</c:v>
              </c:pt>
              <c:pt idx="13">
                <c:v>0.0367401725104139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0.0466955779633413</c:v>
              </c:pt>
              <c:pt idx="3">
                <c:v>0.1003776283557518</c:v>
              </c:pt>
              <c:pt idx="4">
                <c:v>0.0518572977986845</c:v>
              </c:pt>
              <c:pt idx="5">
                <c:v>0.1662834134085645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0.2191987728818734</c:v>
              </c:pt>
              <c:pt idx="10">
                <c:v>0.1894161385363026</c:v>
              </c:pt>
              <c:pt idx="11">
                <c:v>0.0775017988341624</c:v>
              </c:pt>
              <c:pt idx="12">
                <c:v>0.0561734532046676</c:v>
              </c:pt>
              <c:pt idx="13">
                <c:v>0.0901371033135809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0.0170780158717631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0.1399668200066018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0.0337647230450451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0.0097144159325523</c:v>
              </c:pt>
              <c:pt idx="3">
                <c:v>0.1377649003513394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0.0932236168038112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0.0341699412912885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0.0001847303014918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0.0013441224672684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0.0446982964925705</c:v>
              </c:pt>
              <c:pt idx="12">
                <c:v>0.0475501029412941</c:v>
              </c:pt>
              <c:pt idx="13">
                <c:v>0.0766621333152516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0.0529133378830142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0.0724628706745208</c:v>
              </c:pt>
              <c:pt idx="2">
                <c:v>0.0084504260439428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0.2115480334239259</c:v>
              </c:pt>
              <c:pt idx="1">
                <c:v>0.1454997462339026</c:v>
              </c:pt>
              <c:pt idx="2">
                <c:v>0.1759965013825875</c:v>
              </c:pt>
              <c:pt idx="3">
                <c:v>0.1673666661701728</c:v>
              </c:pt>
              <c:pt idx="4">
                <c:v>0.3509649115508297</c:v>
              </c:pt>
              <c:pt idx="5">
                <c:v>0.2568686718762569</c:v>
              </c:pt>
              <c:pt idx="6">
                <c:v>0.3249582640332574</c:v>
              </c:pt>
              <c:pt idx="7">
                <c:v>0.160647830710761</c:v>
              </c:pt>
              <c:pt idx="8">
                <c:v>0.3273090934316863</c:v>
              </c:pt>
              <c:pt idx="9">
                <c:v>0.1411084314958586</c:v>
              </c:pt>
              <c:pt idx="10">
                <c:v>0.2666485455225821</c:v>
              </c:pt>
              <c:pt idx="11">
                <c:v>0.6402694310283819</c:v>
              </c:pt>
              <c:pt idx="12">
                <c:v>0.2391091484443289</c:v>
              </c:pt>
              <c:pt idx="13">
                <c:v>0.3241701231603555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94589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738590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0.0133588055747116</c:v>
              </c:pt>
              <c:pt idx="1">
                <c:v>0</c:v>
              </c:pt>
              <c:pt idx="2">
                <c:v>5.061082168693914E-05</c:v>
              </c:pt>
              <c:pt idx="3">
                <c:v>0.0001010078479461</c:v>
              </c:pt>
              <c:pt idx="4">
                <c:v>0</c:v>
              </c:pt>
              <c:pt idx="5">
                <c:v>0.0017690852507729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0.076868020696346</c:v>
              </c:pt>
              <c:pt idx="10">
                <c:v>0.0022522818660797</c:v>
              </c:pt>
              <c:pt idx="11">
                <c:v>0</c:v>
              </c:pt>
              <c:pt idx="12">
                <c:v>0.0005584136767011</c:v>
              </c:pt>
              <c:pt idx="13">
                <c:v>0.0107877735261191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BC21E9-E7A5-481B-83DB-B8B895CF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166090-0F2B-4816-95EB-EF53D159E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5E2D15-5B27-4C22-A5AC-0AE74983F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B419C6-8C24-4C51-A646-4FDA49B97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9D98D5-8C87-48BF-9D6A-82BA44DE3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F810A0-4E4C-4E1B-9813-D5286555E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encerradas até 30 de junho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91B37D-DB26-428B-8501-CC7CF19F1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p:txBody>
      </p:sp>
    </p:spTree>
    <p:extLst>
      <p:ext uri="{BB962C8B-B14F-4D97-AF65-F5344CB8AC3E}">
        <p14:creationId xmlns:p14="http://schemas.microsoft.com/office/powerpoint/2010/main" val="45609900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E4CF12-306F-496E-BBDF-DED0416DB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GRANDES NÚMEROS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4E12B7-3EE7-4BBC-8062-5EC4AB4A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80323D-C070-4687-A01E-426B1F34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DDCF69-7D32-49F0-B864-7C62DF4D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9F5CD0-D471-406A-AFED-72CC89FF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jun/26, salvo ofertas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25F839-F77F-4700-B09D-66059BF4F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D0338A-863F-4D5D-A834-E69E20BCC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8EC41F-1F14-474B-9208-E570F395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C763A5-3A7C-43A8-B41D-B7F3FE08C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10,7× 2015; FIC-FIDC: R$ 81,1 bi.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8F627C-163E-4772-A79E-B03B3DB3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AE16E0-0586-4915-B1C1-9131F2377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A8F43B-F8D5-4C44-A780-25677FA58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acima de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C0540C-A13F-4854-B64C-76746339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60,7% do PL no recorte de R$ 733,9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2ACA32-22AC-4B68-A8AD-DB4C95D0D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A91F79-834C-46F2-9DA5-C36522740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1341E5-434D-4497-890F-22ED2AD37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B093D1-02C3-48AD-9961-5C715CFFD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Cap: R$ 14,6 bi; Top 10: 57,4%.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1D6865-F253-4BEC-82DE-51297A098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7EB095-B4FF-43AB-A5E1-9153DB248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35,7%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A21649-91D9-41C4-B134-63B384DE0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5696B4-9728-4437-9F1E-0E5FEDC35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Administração, gestão e custódia no mesmo conglomerado.</a:t>
            </a:r>
          </a:p>
        </p:txBody>
      </p:sp>
    </p:spTree>
    <p:extLst>
      <p:ext uri="{BB962C8B-B14F-4D97-AF65-F5344CB8AC3E}">
        <p14:creationId xmlns:p14="http://schemas.microsoft.com/office/powerpoint/2010/main" val="10247491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F725232-E79D-4350-B6B2-FFE811D5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4918-F7FF-4737-A6FF-F2DE86A29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somam R$ 880 bi de PL ex-FIC; a carteira representa parte relevante da securitização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7743E5-2816-45DE-A3C9-8DBB14B07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266936-16E8-4452-AF20-B2A946DB8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9C7B3C-0EAB-41E1-8CAF-04D51ADF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mai/26).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4CF451-043F-4BEF-BF80-544E5F0FD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E737F6-CFD1-45E5-AA27-84FCB40D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66825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· EX-FIC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878ABC-FE7B-4587-8ABF-0C70AC950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33525"/>
            <a:ext cx="5191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9" name="Chart"/>
          <p:cNvGraphicFramePr/>
          <p:nvPr/>
        </p:nvGraphicFramePr>
        <p:xfrm>
          <a:off xmlns:a="http://schemas.openxmlformats.org/drawingml/2006/main" x="523875" y="1571625"/>
          <a:ext xmlns:a="http://schemas.openxmlformats.org/drawingml/2006/main" cx="528637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b273106ac5e4aa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02D5D7-FD37-41F1-85C8-F07F235AF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364906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3A8A3A-A24C-42EB-AD7F-062781ACB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218" y="4340352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91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2DEDBA-EC65-468F-B6C4-028F9AEEB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9111" y="4285581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0C977D-3298-4E89-8BC7-6D3123A94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6005" y="4225617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131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182DFC-5322-47DB-A008-F1F42782C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898" y="3943396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3D165F-B46A-4F51-9937-56B5D5B50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9791" y="4003103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209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6FB4AB-8FB3-41B9-8757-61A417810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6684" y="3747621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298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143A49-D9A8-47C6-9D40-F4CC04775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577" y="3554899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366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5465C2-5BFB-4AD7-8AC9-86A7CEA2A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0470" y="3281106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462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4DB675-DD97-4565-B3F7-64C3FB7CD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7364" y="2649197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683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892874-EAF5-41AE-B7BC-3C2568826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4257" y="2219657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833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B725B3-69EC-4C63-B032-9401149A0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084902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A5B3DF-6685-4ADD-A524-ABB40C022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2020/19 -9,1%   ·   2022/21 +22,6%   ·   2023/22 +26,2%   ·   2024/23 +47,9%   ·   2025/24 +22,0%   ·   2026 YTD +5,7%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CCC4A7-4A78-48AF-80D1-93E338753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266825"/>
            <a:ext cx="5476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117C9E-E7B2-4252-AC58-706DD7DAC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533525"/>
            <a:ext cx="5476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75" name="Chart"/>
          <p:cNvGraphicFramePr/>
          <p:nvPr/>
        </p:nvGraphicFramePr>
        <p:xfrm>
          <a:off xmlns:a="http://schemas.openxmlformats.org/drawingml/2006/main" x="6048375" y="1571625"/>
          <a:ext xmlns:a="http://schemas.openxmlformats.org/drawingml/2006/main" cx="557212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d62ce06b3c2457c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811974-358C-461B-9D1E-F3CD0813D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5479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5.748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478AFF-5356-43BF-9C0F-91B8DB04A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3784" y="3418096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5.419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6735F7-B219-4701-8F73-1D8B9F79C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1068" y="3397195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5.527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7558D8-D9A6-4DE4-8B61-8F3F00B4B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352" y="330266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6.020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4DF3DB-B9F8-43EE-9DFE-0C073A0A8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5636" y="3202155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6.544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E52C55-5AC3-4E23-9DE8-EFD090198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2920" y="300066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7.594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242AD90-B0D1-4590-BC28-4DC8C2C8B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205" y="2769834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8.797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AA5202-9686-418E-9E88-09364F277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7489" y="258531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9.759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FF43E68-8D26-4151-A010-901D4EEAB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773" y="2443126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10.500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2A560D0-E47C-45EB-BC7B-B79A9F84D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2057" y="208323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12.376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950B3DB-D743-4BE0-AFA2-76C7BA71F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9341" y="189297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13.368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9FCB04D-2AD8-4929-8324-A7AAFEC5E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1834556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13.672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FC81224-A967-4EDC-937C-60641CAEA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962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666DB1F-D362-4794-AF23-99AC79267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1490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Empréstimos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E5DC326-6D51-40CE-A254-9948187B0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4962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5C51496-EFEA-4787-9502-DD968AA2D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491490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Tít. privados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557C34D-C570-499C-A14D-27822583E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9000" y="4962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652B487-1E97-41DD-9660-A2FD6751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491490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FIDCs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B304FC0-940C-4DC1-85E0-8EFD47D21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5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C680B25-2A85-4C49-9D67-E68B1053A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01015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Outras securitizações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8E80E02-BCAB-4146-8816-3E43EEA6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05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9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378A91A-CECE-46AE-AA1E-76E18D6B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01015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Dívida externa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80B45E6-1405-488A-A61B-E7D5F2A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53025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+2,3%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B0F07B6-B20B-4608-8A07-B467C20AB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435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Mai/26: total privado R$ 13.672 bi; securitização R$ 1.157 bi; carteira FIDC R$ 670 bi. O total BCB de R$ 21.513 bi inclui R$ 7.841 bi de títulos públicos e permanece no export para reconciliação.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023869D-579D-4AE5-A270-76D9175AD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ex-FIC e carteira privada têm perímetros contábeis distintos.</a:t>
            </a:r>
          </a:p>
        </p:txBody>
      </p:sp>
    </p:spTree>
    <p:extLst>
      <p:ext uri="{BB962C8B-B14F-4D97-AF65-F5344CB8AC3E}">
        <p14:creationId xmlns:p14="http://schemas.microsoft.com/office/powerpoint/2010/main" val="11250531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81042BC-FEA3-4939-9378-736FAB415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RENDA FIXA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0E2E3C-E8A9-4752-8224-EF95ABAD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98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Volume de FIDCs cresceu 260,4% em 2024; a ponte restrita ao rito automático cresceu 264,5%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0FD68D-DB97-45A0-A5CE-212421A9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40A604-1199-4FA0-8A30-7DD97212C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488B72-73F3-475D-91C7-99B616C44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Sistema de Registro de Ofertas (SRE), base pública de Ofertas Públicas de Distribuição; consulta em 24/jul/26. Ofertas primárias encerradas, todos os ritos, com volume registrado positivo.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ADDE78-C903-4854-9B1B-749BFDA71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0CC57A-D9A4-45F9-A6F8-7703B32DD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7D28CE-01C0-434B-B826-5A52058C6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4" name="Chart"/>
          <p:cNvGraphicFramePr/>
          <p:nvPr/>
        </p:nvGraphicFramePr>
        <p:xfrm>
          <a:off xmlns:a="http://schemas.openxmlformats.org/drawingml/2006/main" x="571500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b15bcf39cc349c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2F3EA4-DA3E-4F9C-B0C8-43A331816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INSTRUMENTOS MAIS EMITIDOS EM 2025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19F5AB-4A9D-4C30-B2F5-867358F21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7" name="Chart"/>
          <p:cNvGraphicFramePr/>
          <p:nvPr/>
        </p:nvGraphicFramePr>
        <p:xfrm>
          <a:off xmlns:a="http://schemas.openxmlformats.org/drawingml/2006/main" x="6334125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afc55feafde4921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ABD7C5-6B32-4F52-AF03-08AD09EE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DAAFEF-FAB7-4E83-BC49-5B5BD612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81525"/>
            <a:ext cx="407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Instrumento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14C874-C399-4FA8-872E-4586F4045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581525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5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2024 YoY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71E386-587A-487C-B0B0-FBC1118FD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581525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5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2025 YoY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6EB39E-6276-476C-A676-55347B90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581525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5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1S26 YoY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AA513F-CCC9-4DFF-BB06-64AB50642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76800"/>
            <a:ext cx="1104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F16486-F8A3-4A74-99B2-E6D693038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387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2191C5-71A6-4FAC-8E08-7E0491B6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05375"/>
            <a:ext cx="4076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0A1271-203A-4F07-A52B-6E25A289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90537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5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+260,4%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0C53FC-785A-4C86-93EB-09AB45A1E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90537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+22,5%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58AC6C-75E5-4A19-96FA-E370E3C0A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90537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+14,6%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BDDF54-35EE-4967-972B-CEB31D5CE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82BC48-C2FF-406F-A5B3-86DBF4C3A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01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D16193-8B7D-4085-BC1F-6F904512B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76825"/>
            <a:ext cx="4076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Demais elegíveis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739B79-7E17-4AA6-A573-BAFDA37CA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507682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+77,9%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936C62-6020-41AE-8195-43BCF809D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07682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+4,4%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6986C3-6BA4-4B2A-A33F-7EBD8CF96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07682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-7,8%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47C96C-DE50-4A19-8258-44E4A75B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9700"/>
            <a:ext cx="1104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BB34DC3-F5CD-4BAE-9BC3-879F94E26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816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2FDFD0A-B3BC-4C8C-9221-FA99A0F45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48275"/>
            <a:ext cx="4076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8E258A1-BB49-4284-B097-FEF7D392E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524827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+106,2%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74BC9CD-A076-425F-B19A-036ED68BB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24827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-4,1%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FFD8336-3A85-42F1-B161-0581C7D5A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24827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-21,8%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0CE5E46-38B2-4BDC-9859-3D57F5517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91150"/>
            <a:ext cx="1104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A617524-EF38-4F08-8082-B6B2B2BB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530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D0E2236-FAA9-4A32-B44D-6D3895131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19725"/>
            <a:ext cx="4076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8AF8BCE-5B58-4F8B-BE75-42B0B96C6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541972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+21,8%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6000034-7784-46D0-A540-A063429D1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41972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-5,8%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516AE24-5467-46B3-B36A-02FDE1E8E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41972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-18,4%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2BC0B6D-9395-4454-B604-B5BDE6AC6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1104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38047EF-FFC6-48D0-89F9-05B666E11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245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B08FF45-503E-497F-9671-FEC79A8F1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91175"/>
            <a:ext cx="4076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Notas comerciais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88379D2-AE73-45DA-9EC9-D490C2B40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559117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+80,1%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23E20C-9187-4141-8CB1-9109BD32C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59117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+17,1%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270EE25-FC95-4185-8526-8A4B262E0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59117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-7,8%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03FF26F-B2CD-4404-A93E-916815D6B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34050"/>
            <a:ext cx="1104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797D2BB-A6DA-42EA-90A2-017B3C5BD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959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B367FF5-0A51-4FA3-9904-BBC12A1D3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62625"/>
            <a:ext cx="4076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CRA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181B34F-C605-44BC-9449-0DC33E6F0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576262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-18,2%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77D514A-EA3F-4EC6-8D89-252CFA6AB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76262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+12,8%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E438E8C-FC79-4141-B01A-D59EF7709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762625"/>
            <a:ext cx="21717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65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-44,5%</a:t>
            </a:r>
          </a:p>
        </p:txBody>
      </p:sp>
      <p:graphicFrame>
        <p:nvGraphicFramePr>
          <p:cNvPr id="109" name=""/>
          <p:cNvGraphicFramePr/>
          <p:nvPr/>
        </p:nvGraphicFramePr>
        <p:xfrm>
          <a:off xmlns:a="http://schemas.openxmlformats.org/drawingml/2006/main" x="12382500" y="6667500"/>
          <a:ext xmlns:a="http://schemas.openxmlformats.org/drawingml/2006/main" cx="95250" cy="4191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Tabela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Comparativo YoY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8DF1087-F9D3-4BA7-B3B3-CEDF70246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9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2023–2026 usam todos os ritos e volume registrado positivo. O recorte automático cobre 98,9% do volume de 2023 e 100% de 2024; a cobertura não explica mecanicamente a alta. A base não separa crescimento econômico de efeitos comportamentais do rito. 2022 contém sete registros legados e é parcial, sem comparação anual.</a:t>
            </a:r>
          </a:p>
        </p:txBody>
      </p:sp>
    </p:spTree>
    <p:extLst>
      <p:ext uri="{BB962C8B-B14F-4D97-AF65-F5344CB8AC3E}">
        <p14:creationId xmlns:p14="http://schemas.microsoft.com/office/powerpoint/2010/main" val="190449897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D4A02F-DD25-4C59-9FEE-7B4CD56F4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C2A1BB-8365-45BE-B0DD-136C25AA3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1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atingiu 461,2 mil contas em 4.252 veículos; uma pessoa pode aparecer em mais de uma classe ou série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C5FEA2-D598-4193-A498-80E2896F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8414ED-D847-434D-8962-951F281FF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423F4F-375E-4400-A7DB-8B441F2D6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jun/26. Contas podem se repetir por classe ou 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B02397-B1B6-4F13-9E49-F0732AE6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BC3AF9-3910-438E-A020-41BD6BC19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057A79-9E03-44F8-88E0-3D1B291BA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ea412b1870c4a9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B02E3E-1866-418A-A624-CF920BC9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D2B8B8-AF99-44B4-B99A-EB4B1E24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DC7631-F22E-4A6B-8F01-5A5287827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0D4C42-EFF9-4256-8588-39D8429D7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738E36-F031-426B-BC07-CC973199B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575CB7-E4F7-4BC4-81D1-EA0AA1569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REPORTANTES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279604-C624-45F2-88F9-56BCF4C80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b02f7361db04eda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A42058-FC73-44F3-AA60-42233C0C6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BAC1CB-85F6-4429-A7E6-DD5750BCB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289EC1-3768-4CD0-A352-C85A6260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480B04-BCC1-4E6C-9A96-8C04DCB9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B38558-EE82-463A-8DB1-0476A4381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3898FC-D76C-4E09-99FB-9A6C2774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45F907-278D-482B-8919-D9C4B70DE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e5a0036adea4317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12A0C1-44D7-4E42-B72C-205A8C7C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Composição reconciliada: 461.228 contas; 0 sem tipo identificado.</a:t>
            </a:r>
          </a:p>
        </p:txBody>
      </p:sp>
    </p:spTree>
    <p:extLst>
      <p:ext uri="{BB962C8B-B14F-4D97-AF65-F5344CB8AC3E}">
        <p14:creationId xmlns:p14="http://schemas.microsoft.com/office/powerpoint/2010/main" val="10274271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514991-151B-4CFF-A20E-C4B983794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9C2435-A406-4956-88B9-182EBABA6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C274C5-29A4-43C9-BCBF-CE5436286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B58F48-785B-4CAC-A415-3C9E9C7B9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9DC822-EE82-444A-BA25-60910496F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00A8D5-F39D-4AC5-8412-C59B15086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5B48E1-F5E6-49D3-86F7-93ECD4B98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447B01-A4E1-4BF5-8331-ECFEA250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F7CC9C-27AB-4252-AD07-9E88E856E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9D1BFE-E639-4A8D-8472-9392AF3C7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CA5483-B777-4DF3-8B7D-3D0990507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B13354-CB2F-421F-8DFD-06456F39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d3f2265caea4d58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BF4798-9EE0-434A-B473-FA7C8C09B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A546EC-117F-4C87-9219-03784B28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506bf2dcf024466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9B8D42-DE19-4714-BD6B-BB9114A00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FBBFB1-E187-44A0-97F3-579976339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1b0e3bb5d4f4fe1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5702BC-F0BB-4679-A046-3F8CAAAFC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BEC729-3576-42F3-A060-E959E0DD3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2E4027-BF99-46FB-A457-603243CA4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0f1ea3f9ae1488d"/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D310FF-DA3A-4080-9F7C-45FBB8773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C5CAE8-FF7D-4E45-A232-D69EF1A94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53734063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0EDC8D-621A-4827-AEA7-F49702DBE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VIGENTE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0E9F8C-F40E-45CA-81F7-0EB2A37AB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+ Outros = 68,7% do PL ex-FIC ·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43B681-343F-4C09-92C5-D6EF5D7C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DDD1E2-0A15-446F-8F0F-09CEFA74A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DE9E70-522C-4120-986F-7B7DBD62D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 + Informe Mensal CVM (jun/26).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CE97C-C40F-4E41-9DE4-F8E7AD42F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2660AB-7CAD-462F-B158-CB6A3A489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18190C-E8DB-447C-ABEA-1850EA095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a68fafbb6ac417a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29245E-4BDB-4D99-8159-CC02D77F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8B6D1F-CD1F-4FD1-AD06-8224965E2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c3574c2e245469c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D733A8-E4C6-4DEF-9550-B836D3F62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7B1666-31CC-416B-AB0D-5C18CEBA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31C78B-2868-4E72-ABEE-65D8128D4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7E8FB9-B098-4E6A-9075-A1C6A44DD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1F755E-1F82-4076-93A1-20B15A465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40BC5B-728C-4B8A-AFF1-B913C8A85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F52B03-AE6D-4C81-9BB5-8F113B8EC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B13E46-DD5B-4184-A697-9E5EA6182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7A0DAF-FF12-4A30-B59A-EFDF56FA0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388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As quatro categorias somam R$ 880,4 bi, equivalentes a 100% do PL ex-FIC de jun/26.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0B9A8A-D1F2-432E-A8FC-1F2A89FB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7692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Fomento Mercantil: recebíveis comerciais de empresas. Agro/Indústria/Comércio: agro, cadeia produtiva, crédito corporativo e infraestrutura. Financeiro: pessoal, consignado, imobiliário e veículos. Outros: multicarteira, poder público, recuperação e N/D. Curadoria documental: 5 fundos e R$ 34,4 bi podem sair de Outros, sujeitos a validação manual; o gráfico mantém a taxonomia vigente.</a:t>
            </a:r>
          </a:p>
        </p:txBody>
      </p:sp>
    </p:spTree>
    <p:extLst>
      <p:ext uri="{BB962C8B-B14F-4D97-AF65-F5344CB8AC3E}">
        <p14:creationId xmlns:p14="http://schemas.microsoft.com/office/powerpoint/2010/main" val="190364719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3FD7B0-B288-43AC-AA2F-037D69F36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FA2F4B-FBD9-4294-9B67-2D97BE2DA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11,3%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E5E921-059A-4C85-B92F-D0AA52503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6734C9-87A3-496D-A1B7-AA492214B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0B8304-671E-464A-B6B7-BB2B623A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E36389-B77A-44A6-8E0E-401A674F7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7596E6-81E4-464A-AAF6-158E83115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C04C94-C553-4EE2-9624-E0B0D9C6E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0bcee03f42f4c2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1EAC4A-4E78-4A6A-BA5D-754B602E0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33E641-0E00-40EC-B6FC-4F628EF52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460d11824994283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D14971-E2B8-40AD-8488-3EFAF4610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B0120F-5972-48F4-986C-86F9EDA1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3C1275-0119-4E6B-9EAE-5497A0266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33F105-571C-443F-BF4B-1132E3732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62152D-6FFC-455B-B1C4-F1CD6A6BD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pendentes. Em jun/26, 31 dos 33 CNPJs selecionados têm reporte ativo; 2 não reportam.</a:t>
            </a:r>
          </a:p>
        </p:txBody>
      </p:sp>
    </p:spTree>
    <p:extLst>
      <p:ext uri="{BB962C8B-B14F-4D97-AF65-F5344CB8AC3E}">
        <p14:creationId xmlns:p14="http://schemas.microsoft.com/office/powerpoint/2010/main" val="74410034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44B81F-C96F-49B6-AE10-AEDE54546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FE8F9B-057A-4FDD-9570-1A8C89609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67% do crescimento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D3C94B-C199-459D-AE69-3523B6276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57B771-AFC2-4D66-AD67-4B02D1558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EBDF62-130F-4BF1-A62A-FF6FDE328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77D697-C366-4BD6-8433-A595F68F5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B161EA-C1BF-4EAC-BFC5-90F5D6034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B889CD-9DD9-421B-BD9F-C774F05E3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eba533fff524fb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22FEBE-22DB-4F22-8DA6-3E20E648B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8D23F2-805C-4BA1-9C8B-27E8C1799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d568e71054d4111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9D36F3-0457-4C73-A0D8-2A196F864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C9F4FB-349F-463A-996D-79030563E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02A79B-C220-4BA5-AA61-87399F360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DCFF01-FC41-476A-A841-7A564F46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CF3355-AA4F-434B-9C52-C3C4CC38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043A10-FEED-48C6-9E50-15C42F96B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4429884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34C134C-4B54-418E-99B4-2FF0FA9BB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413A6E-7090-4E81-8419-A1B085511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71BA1B-6895-42F3-A0E2-1E153F73F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78EC10-31F9-42FF-9023-CFBC71BB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73B2FE-E4BF-4998-8D63-F0B03E9AC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34CCFC-17BE-426D-9FB2-D66F9375E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560A52-8AC2-49A9-8306-68AC594C4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EC73EA-DADB-4A98-82F2-03BF5B07C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0b661412df9488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C85BCF-09D5-491B-8F3F-0D8BC4A87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7CBE1C-B584-4FF7-A04D-C3A98AFBE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958192-4F30-4413-8B98-4B0248D54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9044A1-09C0-47E7-9CC5-DAF4FD921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31CB3C-671A-4C5B-8A3D-F7AF3D49F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56D934-334D-4C35-BBDA-64FAD2F47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986713-7E1D-480F-9573-1BDBB5328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277BFA-E87A-47FE-AA23-E81702500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44D356-A33C-40CA-9A2A-274108F24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B1409D-3111-417A-80DB-E19F8C70F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098D4F-DB11-482D-937D-709EE8F85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F0E694-97B5-4974-9C94-3A9C2949F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275B85-208A-4A57-B479-E6B51952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DB69EF-206D-41BA-9157-95746A9F6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0AAD73-A747-4826-89CE-0FD950B20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9DFFC9-8004-4675-A006-32D3BAD59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431A00-FB9F-47B7-B22A-493DCF8E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803DC7-737E-45B2-A387-457361287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171997-DA0E-4B4E-8794-AA76EB822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3D9A59-6958-495E-8233-CF5F6EC9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4A75585-2AFE-4AA0-BB3E-D69DE0E4E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Ex-360 publicável: 4,9% ajustada. O antigo excesso de R$ 6,89 bi era a parcela vincenda ligada a créditos inadimplentes, prevista na Tabela I e omitida do comparador; 555 veículos reportam o campo.</a:t>
            </a:r>
          </a:p>
        </p:txBody>
      </p:sp>
    </p:spTree>
    <p:extLst>
      <p:ext uri="{BB962C8B-B14F-4D97-AF65-F5344CB8AC3E}">
        <p14:creationId xmlns:p14="http://schemas.microsoft.com/office/powerpoint/2010/main" val="13968721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763CA73-530A-44C9-8C7C-9620CACE0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EVOLUÇÃO E QUEBRA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6D2737-F995-43CA-9309-FCE61E00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38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monotipo cobrem 69,1% do PL; Financeiro e Agro marcam 6,5% e 6,6% de inadimplência/PL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0F2924-0FFE-470F-AE5A-3A8AA1A5B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7C30E8-E3A7-4FC7-9357-D673B0B6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0CAD8B-A37A-48D1-A143-07F68C550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Série com cap por veículo; quadro monotipo exclui casos acima da carteira e usa PL como denominador.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AB9286-4782-4B17-8413-C24F89AEA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522571-876F-4425-816C-F94E96BF7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00423F-ABA6-4063-93B4-6E5B4C63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7d00a407cdb436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9A47F9-39BA-4FE3-BDA0-B93E1D649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29EBDD-689C-409D-B0E0-A007A7457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8402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B912C4-C13E-4734-A40A-3A9A79D84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27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0A3234-06A3-4098-AFBA-510D45121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704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07/24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A96D58-AEE3-4CEA-8E7B-A59508264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5571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E5E535-A565-41DB-8C78-EBC43675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3873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09/25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8827E2-AC44-47BF-AF0A-DEC89B437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2AE96F-2302-4660-BE70-80E7E609D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DFDB51-A6D2-4446-9798-C7709975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Bruta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F2E7D7-140E-41E0-9CC8-4761DCAB8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976A7F-AE61-46A1-8980-BDFCDA5DB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Ajustada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13CCAB-DC01-4ED7-8466-272A8917F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4AD769-749A-4516-A554-E8C1B6589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incl.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212347-9AA4-4AE1-B84F-600C336EA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43B8FF-41CF-44C7-B96F-809BAADCF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Monotipo: 2.066 fundos e R$ 608,7 bi. Fora: 948 multitipo (R$ 190,2 bi), 126 acima da carteira (R$ 6,1 bi) e 486 sem tipo (R$ 75,4 bi).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C62584-4900-47EB-9F2C-8FFC6BBC4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Atlântico explica R$ 16,69 bi da redução do excesso; a série ajustada não repete a queda. Caso no apêndice.</a:t>
            </a:r>
          </a:p>
        </p:txBody>
      </p:sp>
    </p:spTree>
    <p:extLst>
      <p:ext uri="{BB962C8B-B14F-4D97-AF65-F5344CB8AC3E}">
        <p14:creationId xmlns:p14="http://schemas.microsoft.com/office/powerpoint/2010/main" val="33891884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1726F02-54FE-493E-8A3B-26062DD8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C344CE-196E-41C9-90A7-965834ECA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jun/26 em 7,2%; a coorte fixa soma R$ 608,7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8BF487-08B5-49A6-8540-D220408D9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F2BFC8-3CED-48D2-8BD5-8258E566F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2E24FC-6804-42DB-A8DF-8551F367E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monotipo em jun/26 aplicados ao histórico; laranja = mercado ajustado. Há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6D163D-AE79-4EBC-8579-EF1D5F968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CE0834-34FD-4907-922C-C7F652F73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DEC851-6B43-42E6-8982-4AB27DCA4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495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31dad17c8424cf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6A7092-0EAF-44DD-A5B2-3EC23C5E0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BBFB85-26EE-451D-99C3-0A2D2EC7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623518-010D-470E-A338-9940871EE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84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698336-F9B5-4BC4-BFF9-B48F11CAD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758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5A16D3-1859-494A-9E30-97550DB77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74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006756-BEF1-4288-A29B-ADC5F5E0B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32CD42-3267-4826-B788-42233B918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0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A0A0BE-294F-4FF5-A930-BEE7AEB2F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8BC160-32AB-4317-BEF8-08FD0DD9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0C4C3F-5EF9-491D-9955-2B7C1322F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JUN/26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92493D-8A55-4DC4-89E2-5623E0147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5DD11D-95F9-4929-91FC-78610FF88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007BFE-3F2E-4835-B9CE-BA1147DFE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D61228-A97A-4355-9107-9CA010B0E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EDC5F4-C110-441C-B2C6-25BCFE8CD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Cartão de crédito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53B2C1-A4E0-4621-8B31-FC83C1A7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4A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50291E-37C2-471B-B6B9-F58935FA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Comercial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C80F2A-5AE1-463C-BDDF-95D23BED9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0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1E22F7-5440-44EE-A8F5-D503E09A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Industrial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6CE97B1-2C4A-4016-AE23-AC0F15E11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7EC606-ECF6-49BC-8AC4-EF1731E79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Serviços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F6B109-4212-42F5-AD20-B2BF5E464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9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D7CCE5C-D254-48A2-9209-750B2AE0C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Setor público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480443D-EE21-4BED-A7CC-3F1602AAF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C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AA6D9E-ADBA-4614-BD9E-AF10CB049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Ações judiciais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AC5172B-77DB-4826-A864-BE55D404D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3B1295D-4011-477E-8271-A4845B26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Agronegócio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69C9A9A-C5D1-4526-9AD2-F38261161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6C7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49760A8-F6D1-4A69-B923-DFDE682AE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Imobiliário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D31C0E9-6C98-410D-8114-42502A45F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979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3827A10-93E4-4F23-BBE1-D09F9D8D2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Factoring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D7E0D34-91B4-4EC6-8261-AFA97875E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9DA0CE8-2096-4973-8996-04C4AE241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Consolidado ajustado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CB7E520-D95B-4E3F-A932-9905B2D54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Coorte: 2.066 fundos e R$ 608,7 bi; consolidado ajustado 5,9%. Factoring e Imobiliário têm base pequena.</a:t>
            </a:r>
          </a:p>
        </p:txBody>
      </p:sp>
    </p:spTree>
    <p:extLst>
      <p:ext uri="{BB962C8B-B14F-4D97-AF65-F5344CB8AC3E}">
        <p14:creationId xmlns:p14="http://schemas.microsoft.com/office/powerpoint/2010/main" val="84591485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7F3A6F-EBDF-405A-947A-09C19596F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7A04C9-2AEF-4FD6-892F-0E85F7211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36,4%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514A39-68AB-4C3D-AED1-C648A35F9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D92A6C-90F7-41CC-8369-A999DEB68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3C6576-DD92-43BF-80D2-41A5D160B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FFED29-6BCF-4369-B9E1-BDE8484BC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6CA91B-E128-4973-9475-91873181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9FE9C0-6AE0-42A6-9CA5-7845C804A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bdd871d51614dd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14524C-F98F-4714-BFCD-7E7E8CF7E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520C83-D899-4542-B161-1F1F86FB5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9F6E36-053B-4F5E-B2E4-E8AD593CB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0294e70785e4af4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6C73C0-F917-4B10-ACFA-435CCEDC3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C16881-A23F-4D95-95EB-E08EB8C6C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A2273E-9880-4B84-A7AB-F92F18CCC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99,0% → 99,8%; custódia 97,7% → 98,6%.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63494B-17C8-47A8-8114-B02FDBA13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EB1D47-473F-41EC-924C-97D5BFE5A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A32924-F3CB-423D-9049-AB83D0143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5F9EE5-3DC4-4BEE-B700-A105518B8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604708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AB85CDD-926A-45F9-B7E9-327103E4A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E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7C0E70-5C9E-49C7-8DBE-664AFB1DA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 no ranking geral de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E0A936-CF65-49F2-8A66-A00E4D195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8014C3-6F35-4CB7-9168-67F28A1E9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9C821C-91BE-4CF5-8B5B-810307B85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C51AC0-3FD2-4E83-B177-F5268057E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DE5D1D-5318-4AF4-BCAD-23A9EF076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68AF18-08B7-4B0E-881C-0514022E1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41E9E4-FCDE-43EA-89A8-C562C0F25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0286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D1FEF0-51BB-49B8-9514-AA4C8B8DA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2686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2D46CC-844E-4AEF-99B5-BABE99095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6571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1F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7B1B8E-BD3F-4ED6-8226-69479E6DA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971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924287-6C2E-4E29-B051-B34BCBEEF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2857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5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B38C9F-8A49-4906-820A-01C956097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57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F2F0D3-14A2-4F28-9FAF-DAC8BD5F7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9143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C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C72005-EBEA-4ACF-BE30-E4646B66B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1543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8C02F4-0F06-4F04-AAC8-8DE30206A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5429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C6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9F55FD-BEA7-4289-8DA5-226E4E701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7829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CBSF / REAG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EDBC18-AD44-455D-B1CC-63E1A7BA7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714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2B647C-7AAD-4C92-9039-E9523021A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4114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Demais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52D306-675F-4959-AF8A-D697057F2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CEF571-ED5C-4A89-A537-5F975808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38871A-89CA-46AD-960C-2EB5D2E38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p:txBody>
      </p:sp>
      <p:graphicFrame>
        <p:nvGraphicFramePr>
          <p:cNvPr id="58" name="Chart"/>
          <p:cNvGraphicFramePr/>
          <p:nvPr/>
        </p:nvGraphicFramePr>
        <p:xfrm>
          <a:off xmlns:a="http://schemas.openxmlformats.org/drawingml/2006/main" x="571500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7808a8f24e943d9"/>
          </a:graphicData>
        </a:graphic>
      </p:graphicFrame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F5FD45-D3E1-4271-8BAF-10E4B346E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p:txBody>
      </p:sp>
      <p:graphicFrame>
        <p:nvGraphicFramePr>
          <p:cNvPr id="60" name="Chart"/>
          <p:cNvGraphicFramePr/>
          <p:nvPr/>
        </p:nvGraphicFramePr>
        <p:xfrm>
          <a:off xmlns:a="http://schemas.openxmlformats.org/drawingml/2006/main" x="6334125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cc0ebc9d86b4709"/>
          </a:graphicData>
        </a:graphic>
      </p:graphicFrame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7BAD06-CB01-4500-94CD-E7B2B37B2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p:txBody>
      </p:sp>
      <p:graphicFrame>
        <p:nvGraphicFramePr>
          <p:cNvPr id="62" name="Chart"/>
          <p:cNvGraphicFramePr/>
          <p:nvPr/>
        </p:nvGraphicFramePr>
        <p:xfrm>
          <a:off xmlns:a="http://schemas.openxmlformats.org/drawingml/2006/main" x="571500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c852747b0dd4c76"/>
          </a:graphicData>
        </a:graphic>
      </p:graphicFrame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F9DEB4D-A97A-4BDD-96B8-714C84120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p:txBody>
      </p:sp>
      <p:graphicFrame>
        <p:nvGraphicFramePr>
          <p:cNvPr id="64" name="Chart"/>
          <p:cNvGraphicFramePr/>
          <p:nvPr/>
        </p:nvGraphicFramePr>
        <p:xfrm>
          <a:off xmlns:a="http://schemas.openxmlformats.org/drawingml/2006/main" x="6334125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9ea3d4ff95f418e"/>
          </a:graphicData>
        </a:graphic>
      </p:graphicFrame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541771-35FD-4AD7-A3E7-8BB98CC89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p:txBody>
      </p:sp>
      <p:graphicFrame>
        <p:nvGraphicFramePr>
          <p:cNvPr id="66" name="Chart"/>
          <p:cNvGraphicFramePr/>
          <p:nvPr/>
        </p:nvGraphicFramePr>
        <p:xfrm>
          <a:off xmlns:a="http://schemas.openxmlformats.org/drawingml/2006/main" x="571500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69425b08e2c414e"/>
          </a:graphicData>
        </a:graphic>
      </p:graphicFrame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54766C8-A537-4FE1-907B-E184E5617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p:txBody>
      </p:sp>
      <p:graphicFrame>
        <p:nvGraphicFramePr>
          <p:cNvPr id="68" name="Chart"/>
          <p:cNvGraphicFramePr/>
          <p:nvPr/>
        </p:nvGraphicFramePr>
        <p:xfrm>
          <a:off xmlns:a="http://schemas.openxmlformats.org/drawingml/2006/main" x="6334125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61dfdf2275f48e9"/>
          </a:graphicData>
        </a:graphic>
      </p:graphicFrame>
    </p:spTree>
    <p:extLst>
      <p:ext uri="{BB962C8B-B14F-4D97-AF65-F5344CB8AC3E}">
        <p14:creationId xmlns:p14="http://schemas.microsoft.com/office/powerpoint/2010/main" val="130040472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B0FBB1-0A77-4693-903A-1679758BC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4C2D48-F670-4067-9C44-15EA4C4D9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727E6B-B099-4182-BEA6-4C44390F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4C246F-1C8C-4DAC-8C29-B4D43D40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BFDEF5-186E-4D72-864F-CF40C0D1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FundosNet e conglomerados prudenciais do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DB0DCD-7AA3-408C-BDBF-712C12CDE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2A5753-776D-4B75-9F0D-129D1A9B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6A0ABE-4AA7-42AD-BAC2-793C7B87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38d2d523d7a4f11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82E525-56CA-4E6C-AA4A-D44A743B6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A831FB-F03D-4FF0-8032-6664A369B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A5DE75-D107-4F45-9492-2C58C431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0414DC-F76D-4B2B-83E9-951C6ABA0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p:txBody>
      </p:sp>
    </p:spTree>
    <p:extLst>
      <p:ext uri="{BB962C8B-B14F-4D97-AF65-F5344CB8AC3E}">
        <p14:creationId xmlns:p14="http://schemas.microsoft.com/office/powerpoint/2010/main" val="124748570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E1CCE4-F7E8-430A-A124-F01881D34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022780-8919-4D31-8D01-A978E000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BE2B27-DF71-4712-B067-AC5E4D96A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3B115E-530C-44DF-A20B-7B94974E8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8745A0-2161-4146-B98E-DA9E3E90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coorte bancária curada a partir dos conglomerados prudenciais.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8BFD6E-4155-44AC-A7C8-94484AB7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0A11F8-1ADD-42D1-9CF0-45790F088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272C51-9674-4993-9C92-8062A28FA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aaffc963f7a44b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72B154-E991-4E66-9939-A8261680D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B18012-E7BB-49B3-8497-F14B3353F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3E51A9-96E6-4764-99AA-756B6A58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D3EC92-26E3-489A-A570-918D75AA1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7493769f4b1467f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ABDC59-262C-4423-BF2A-C059A7180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90559C-45E3-4B30-B1AE-77E4837EB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64,8% do PL gerido pelo BTG está nos 22 FIDCs da coorte com o BTG como gestor. A exclusão leva o banco de #1 a #3.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01C2D4-618F-483F-8320-07684DEB9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 coorte bancária curada lista 32 raízes do BTG; 30 tinham PL observado em jun/26, somando R$ 52,2 bi. O recorte não atribui controle societário sem evidência documental.</a:t>
            </a:r>
          </a:p>
        </p:txBody>
      </p:sp>
    </p:spTree>
    <p:extLst>
      <p:ext uri="{BB962C8B-B14F-4D97-AF65-F5344CB8AC3E}">
        <p14:creationId xmlns:p14="http://schemas.microsoft.com/office/powerpoint/2010/main" val="188580922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00057D-FDBD-40B4-8654-5403D7430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17AB02-8FA9-4E83-A8E3-25D17FBB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9F2EB2-B76F-473E-ADFD-AC21E5468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CD4784-DF76-47A2-8301-F915344E4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2D7943-CCC9-45E5-842D-7F3A1E79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D9921C-8625-495B-A21B-E9A3D9363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b5359bf021346c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8EC907-5A68-4F08-8E3E-CF7E2882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206179477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FC53AC-0B8E-4109-8037-B7847072E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3B656D-BC67-4C60-8512-C47D281D8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6123BE-0A10-437E-9457-F8960000B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7FB3C7-51C9-49A1-AB63-32EB6C76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790F2A-CFCE-4BB7-AF7E-929B32A68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EDC854-AC34-4E1B-B351-9C9C1AFBB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bb82074e1f94eb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7C539E-2E5F-4872-894C-CA1D8F788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120649154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76E894-9E09-44C8-939C-46E4DE43D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01CB0D-9F8C-475F-B36A-A8E2A97AC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8F57E1-DC9D-4FE8-B2B2-058CE54E6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7A4FF2-C647-4526-9063-58FEA4E42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805966-DBB0-4365-833A-185257560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360DE8-2EEA-4703-A4A7-4DA5E4034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fd25005a6494e97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45C715-9576-4224-999E-77369681D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191641052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8E702C91-EC3A-48F8-8DCB-4ECA21A2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49309E-0A7B-4B7D-8825-A6F118229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25,7% do PL ex-FIC; Petrobras e TAPSO são 45,3%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E25CED-D153-4113-91C9-3EC1B0856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718CBA-BAD9-4BF8-9247-F529483B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755869-949B-4EAA-8FC9-D5F45E555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jun/26.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C0726D-D233-4AE5-BC5E-405BAACD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F57E46-D670-4119-9D5A-C3EAA95FF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BE5828-8447-4371-851C-ADCC9D0B7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B71601-03F2-483B-BA87-2D1E07877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9D7EF6-B4BF-42D4-A647-0DE6F8A3A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63F6BB-D610-4DB8-8E71-2D02AF625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2B0E2B-7EDE-4B94-8810-865041692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FB5B52-C562-450B-8B08-C05377B45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BFB024-06A3-4E7E-B800-050CD4D98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D08888-BF8D-4B45-B88F-BBE31B656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D423C2-218A-40E2-8397-C663065EB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9D7BD3-9F64-4C19-95A4-247D35D6E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462D8D-02E0-4821-B268-42B9B5A2A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712D62-E80F-4EFB-8FB7-1C5F09C3A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D67711-D793-488B-8A68-35BAB5F90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909EA6-1985-4BE9-9AEA-C632DF9C3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D7008F-BD31-49DB-9E85-B0E07EA57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B5E92D-7457-4480-A5AF-CA8B1E86E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7DFF21-95A9-420A-9C33-78829FFE0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60B4AA-0DCD-4933-8A93-52F1C6EEF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E5F777-2F4D-4931-AD3B-701FD5BE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41,5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8584CA-3A6C-4E77-A1AA-4BD22008E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4,7%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43E410-4CB3-4C37-9BEF-3DF07B70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B60615-C590-45B2-91F2-18C46EF8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B0CB461-8618-4640-A2BF-D2DDA6AEE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62AF6C3-BCEB-45B5-969A-D39651C36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3630488-5C98-44F7-A6BC-C7FBA47B5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75ED970-CB33-49A1-8B6D-B1F343E9F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2E01A3D-B075-4A6E-8F50-FC8599C0F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18,0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A6E3E3D-CE2E-45B1-8CBA-AE563D4DA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2,0%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15E3953-5C39-4B22-8DCC-3103BACF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59819E6-DE7B-4605-8917-370E84038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C080A71-0AEE-4417-BDA1-3E22CC5B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7BA416F-1ED2-41BB-AF8F-16874FEC6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2273B5E-B9D2-48C1-AF66-F89D71FA8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1A19EE5-9AB9-4724-8D13-3F6C871D3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F006166-76A8-4695-8C6B-A1AA43BB1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832BD7C-C032-4E72-B5AA-0A6653065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8FFF399-BCD8-40A8-97E4-41D2EDEF6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088FC93-3C42-4489-AEE6-B6E0B070A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5FDF897-4633-49F5-99D7-40093C5D1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31E5D7A-187F-455A-90DD-C27B9B659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0511D87-A33F-477C-A21A-3F4917C5F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42233D7-ED94-4882-AF2E-18ED9B37C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MT Global · Consignado Privado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6D03E54-3D64-4E48-8F56-B66E488A5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6D3127D-DC3C-4356-94FA-F9793E6B2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7F10AC7-6D17-4A65-A71C-A1AFCF6A4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Consignado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E3CC8C1-62EB-46E9-AFD7-B7EF729FD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87E1CD8-63A3-4ECC-B4A6-FE7A0FC3E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3E68CBA-BA4B-4B35-8061-57BF0C30D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C1CFF63-73A1-4F06-A7B8-B2F143BE3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EA9C4F4-8A2E-4755-AEB7-85F4CD579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EBD14DF-FC76-406E-9FD7-B1D855912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E704136-C334-466B-A119-C3F4D3D91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89A91A2-BCFC-4600-B2DC-C97B39B1D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C5A2C27-530F-448F-A27D-6DD5A39D3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9BFAF1A-6396-4BAE-B4C8-25DBB10D8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D08F86C-A101-496E-8D87-CC9C80947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677011E-EEAB-4F5C-A69C-1A81A09D7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57B6BE3-6B13-4AF1-B342-447F67972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 II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DE14682-5E68-46C8-8272-9A7E87C72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8,0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928D323-31A4-41BE-84CE-A8E4B710E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F5446B1-11DB-4D82-9B21-436F561BC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8AB296A-E874-4E1F-92E2-F63880693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8574990-C077-47DC-B8C7-90250C63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4BEE45D-4955-4539-9E25-81FCC6F10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5E5B104-2A47-4B1B-A0F2-8B425D5B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521CDAF-6E0D-495A-B0B2-DC09462AF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Aetos Energia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CC62E60-4352-408E-AD53-E3AB5557D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7,4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0D8439E-677B-4C3E-8343-3118223FB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FA63DD0-464A-43A6-ABB9-1D8F4C4AD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472EC56-32CF-431A-8DCE-9BEE40353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F2EB927-45D9-4974-932E-7951BA922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8F2B123-0FAC-4DC9-80EA-26A018CE7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5958414-9240-415D-86B8-5F132341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494D30E-0E41-42EB-94C4-8E460B417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A340F5F-A4CF-4AF7-9307-F9EACDDA2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6,5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DE603A9-AA0D-477C-A2E1-3E773478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3049156-A7B0-400C-BBA5-CFD5D3573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1F00FA0-9A9C-41C9-A3EF-E1CBF5F42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6AA171D7-C1E6-4725-8342-6B52A8B71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026FD969-CA16-4BD8-9E8F-2C0873AE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5E66477-57C1-4573-94FC-7FDEF0C96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E86CFFC-D827-4082-8D0F-ECB28DDDE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89B31972-E5D6-4D5A-91E4-99FABF596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08326F0-59BB-4EA2-8F0E-C17959473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E3E0F75-5867-4CFB-BC69-08401BE3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BA9B007E-9CCB-4611-B637-F7BD65A7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5494388E-9E88-4A8F-BDD1-5A5470E0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60C9580-6B2B-4AA3-B455-A8EA396AC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265398B4-046A-4A4E-9F14-32C313846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5426C079-E274-4D5D-89BC-AF7A2D733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ED0565F-549B-4561-A448-DD2A55FB0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D13FC9D6-931F-4762-820C-801332A3B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DE337C18-B445-41E6-9208-71CF3E4B8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0348F94F-1091-48BB-AD6C-63240B0D6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013C2CA9-55DB-4C18-BCCA-1603A1CC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D54D3CD7-58A5-454E-BA83-BBF34B875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B1F25955-D663-4964-9D71-F37806ADC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C7354217-D814-4676-928D-C7945A51C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F2F71D6B-F7A8-4A31-9011-0D566C968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920DF9F5-D491-4F91-87EA-50C487230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11BC7A5D-AC26-4B2D-A3EF-59B3E2D92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1A726D7F-9DA9-48A4-822E-9C6313B8F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EF48812F-9C83-44A9-84A1-15A0F7687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0D1CEE77-4175-42BF-AB49-8171FF5B8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F5A28358-A2FB-4924-8582-289BE60B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3FBD838F-4B6F-4F0F-9AB7-4FB079FA8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6,0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2991DF2F-7B25-4578-B3FC-4274492C4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6DD4E1A2-5FE9-4F68-9788-CEB3A560D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88525DA0-8BF7-461B-BAAF-0933CFACE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0CAD8FC8-7DD2-4966-91E2-5BFC48C5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EE3CCC59-A5AF-41C6-A213-86B91B147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9257E26C-9932-4004-9B5D-D97CD8513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203CF4F1-DC9F-4A19-B42C-1C27BB086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89E8A07E-C22A-4913-BB0B-B642CE064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1AB27979-932A-427C-BFAA-AF6906E6C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D8FB3337-DD97-455A-9B05-11936E765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54B667E1-FEA7-4482-9E57-0D166938C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4E968376-3EFA-489B-B34E-0392AC72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44463B04-0280-4AC5-BA7A-FC62105C4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9D284A7B-23EF-4FC3-8922-18FEEB011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3E6B7EDE-4BAB-4DC2-AA5E-70495ECA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D4C61A3-09C3-4B42-A463-EECC63AE3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350AB7E1-887E-4517-AB69-E9B3A203A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BB9518CA-BABA-4325-B7D1-0CA2D65F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3F1D184C-E0FA-4ED8-9FE0-B9924943B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80CEB3E4-71AB-466A-A64E-546EB58E6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F521BACE-C51D-41AF-A3FC-5365A64D4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E2A7DEEC-C2AE-4D35-8CC5-78B89A89D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F97A4EE0-8655-4501-849D-396CC89C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 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096D1E38-B5E4-4FDE-9171-7897A4001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4,8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49D6EADC-1D4B-4A1D-94D2-E14C8D7D2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DDCAD0BB-14DB-4894-82E0-BC9666F2E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E3320219-A3E2-4C4C-9649-7A42A1D1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8EF6C802-8AFF-4D98-B7CC-858441BCC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6B9C7366-9F37-48A7-9676-2B2B91212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AE67794F-159F-43D7-A438-A97CB608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28B48415-00F6-406B-BB79-03CC152BD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Master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D690F3B7-6C1A-4007-B122-29661D418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672ECB56-8613-4EA8-BD0C-B158459DD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6619935D-434E-4647-ABE3-A6D70EF45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DA085781-230F-4427-AD65-5717A0605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257CC2D4-F866-4191-94C4-673A40EC6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702AE037-AC44-4FB6-B37F-B442C580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15B9769C-C3E0-4EE0-BED1-8C606D8A3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87092C1B-D428-440E-A988-EE7A6471F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4840D4AE-F813-4EA8-BFF8-1AC6988F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142BABBD-120D-4A53-AD26-CAB993E03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9B308648-0F34-4551-8556-0800734F0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B359E0DF-6FCB-4DAD-98B2-40022BD59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3528EFE9-06ED-4830-9B89-92F7AF0C1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258605AB-1D73-4DB8-86E6-FB6F682A0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FD935A47-E50A-4E44-BF88-FF3FF5DB0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A6612E8C-5A22-4B21-A224-1E1E819D5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Venda de Veículos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B98BB0EE-5493-4985-ABC8-21B518BC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4,2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799F5DC4-1945-4749-946F-0B32EEF12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EDF60A27-2513-4F33-99EE-6313981BE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Financiamento de Veículos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78AE9FA8-F5D2-4B7B-ACC9-5E2A427C6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95C8ECDD-DC8D-4A32-9536-5C19CD1B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A4867C0E-910D-4E0B-968C-95F908499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B983F67A-5124-40F3-B39A-284FE5772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9801A896-0417-4EDB-92A6-CB15C13AC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1E5DDDDD-D9A7-4C55-83E5-8FE5E63D2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3E926787-F9AB-4E88-A8B5-09A90C59B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12F4699B-D0E8-43EC-8D60-A7B47867D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C66FE3F7-8E31-483C-9F84-ACD1666D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05F00174-825F-4D66-B1E5-3FFE82229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BA5A0B64-7ED4-4CDB-959E-F1E5E2B24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2D3F5C6D-8666-4375-AAD3-CCADA1420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BC0A4D1C-B280-46C4-B06B-692381659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ACR BEM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98EB7956-DD6D-4950-8EBF-F70D8825D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93B6F91F-B139-42A8-882E-FCE131EB2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0,4%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8AFE92ED-A137-4B7D-917C-BC1F96A0D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F3CFD97A-FF06-4E34-B462-3EB0901B1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</p:spTree>
    <p:extLst>
      <p:ext uri="{BB962C8B-B14F-4D97-AF65-F5344CB8AC3E}">
        <p14:creationId xmlns:p14="http://schemas.microsoft.com/office/powerpoint/2010/main" val="143112134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8153A812-40EA-4324-9764-069B395AB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5C49AA-16C6-4471-9B45-8B868B85E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 candidatos somam R$ 34,4 bi · 10,0% de Outros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0B5205-3905-496D-ADF1-57EA7D59E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41678E-415F-4E10-AE43-8B6201E87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947AC4-1F00-4A61-AB3B-1A735A24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FundosNet; ranking em jun/26. Regulamento público vigente mais recente, leitura automatizada por pypdf; links e limitações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3052E7-BA86-4859-99B5-50CE1D99E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C56270-B3E8-44D5-A900-C3BBD603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E50D94-F9BD-4EC6-A88B-AE7B88E60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8DB760-66E0-4493-AE6A-A92A981B0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581AFC-C837-43C9-9723-831D37917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6EB371-7201-4485-92C7-C8BB0AA52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Cedente / originador expresso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D72D6A-FAF6-441A-9627-1B8BF81F5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Categoria proposta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F073B9-82EF-40A5-BAF5-F1B207DD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3E7BD0-45A1-472E-8F38-D5C6F9DF8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4531C9-8AA8-41B8-8F97-D1C08F84A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E9031E-F5C4-40C6-8377-39EED0832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4E92B3-5087-4D0B-8451-4273B7DD5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FF5DD6-9210-4CDE-AAF5-A7BC65434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F740B4-BC04-455B-990F-29DCBF29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15697F-3A9B-439A-8510-106B5C7E2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45ECA7-AB92-44D8-87C9-5798F94D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Candidato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4E16B6-0437-4BCE-A1E7-BBB4EFF8C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3BAE38-EAE5-4872-92CF-159B1685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77CEB1-1B3B-4CB1-9F7D-F533B75E3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F47892-0827-4AD9-94B2-CD6E58B18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C430BD-2B0B-47D4-83D4-9F6622B6A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D22203-DFA8-450B-A412-B86760120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Ausência de cedente ou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DC2582-2032-4E2B-9A7B-8A287779C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—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2CA2FD2-5815-427A-848D-769992A5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Candidato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2222C1-DF4F-4FC7-8E94-95C8EAC4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B2502E9-9BF0-422A-8167-DD05E3145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2A02253-4CFF-472B-8325-887B11F36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8E1EBDC-A0F2-44A2-B820-85790D0AC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CBBAE47-38EA-457A-98D4-1F2D4341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8B4F073-2124-4B57-9B08-0B005D9C6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46EF5EC-D4AB-4290-8085-4C0107773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77577FE-98FA-4C29-929A-A034915DE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6133885-C14D-4401-8058-C8801C04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DF5A7CF-9AB7-411E-810E-E5875DC13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3B3F4DF-9E2E-4E44-B4EA-B0439FCB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484E10B-5557-48A9-A691-38897884A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C6EDDB8-B51B-48E9-9A53-B54E3CCAE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21D376B-DBD8-4342-AE6C-9235B46D7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D140795-7918-4198-A966-C9DBBA37F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—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4EB8499-98E3-4FF9-99E9-2CC44749A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Candidato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0D8DC60-AD0D-4510-80D1-5B10DDECB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2EC91E2-FE24-44B4-BB11-757ABEF2F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23ADF60-B74E-4FE3-B573-17E143950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722D0B2-8E75-4DFB-876E-0A6FD7548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37B8EF0-4B52-4944-8BD3-D126E2B4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26562EE-01BC-4815-909D-3BEF1CCAF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E746356-E6AC-45AE-AC54-3701BDDE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4740533-57A6-46E3-81AA-AC06D4F6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3C66BCC-0306-454A-8181-C7978B7EF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CC0FD78-5C6C-4D34-A295-DE32B9FC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8023BD0-296E-4212-9A25-24547DA86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E7969E7-D0F7-4C08-97E8-60EA6A0C6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4F24698-CFB9-4D7C-9995-15E4BD75B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7B665F3-32CA-4404-8644-29E83A45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A65160E-3072-4C3E-8E91-4D960FB2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—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4C72ADB-E1B4-4372-A40C-4B6AFDC1B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Candidato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F89F911-A5C4-4564-9DA0-C585B04D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1443A28-EA1D-4843-8CA6-11881B169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D84C3E9-A076-4B69-A82B-DDDABD5D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E338E77-5C1E-409B-9090-C7EA9D57B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C394AE9-D248-41F1-AFEA-CA09DE41A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440AB6B-B910-4793-90CA-032F35E4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Ausência de originador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FC7FB2D-3C99-4E67-BDE5-2796262F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6B67309-AD62-4B5C-A7D7-C93F0EAAB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C7FEF81-24A4-4DBE-BE22-7C16480D9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2CB98B1-C6A2-4F8D-BD70-2559BCA3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E22A0F6-958F-4059-B3D6-95C41B3AD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3197097-BFA9-493E-9E89-41721084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89EC73C-CE9D-4936-A42A-202985E47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D8E49EE-E3E4-44A0-B52B-40E06A472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F414FD0-8674-4F6B-9B0C-6882B93DB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5034B4C-80E9-4A79-B7BA-3C11BF514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Validação manual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311E694-D3E7-4BD6-9E0F-0D3728C7B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2BA6C25-82FA-4E41-B981-5F340BB7E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BEC72E8-F39C-442F-AB0E-184F0624D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9EE3BA0-46F5-4DEA-A1F0-B815CCB25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ECONÔMICO, FINANCEIRO E COMERCIAL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33B3CED-9536-490C-8E27-5D4A41F4A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947F7B4-AEDC-4D1D-869C-7C553773A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S.A. (cedente) e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1748DA3-7EAD-477E-B81D-F52CF6AC0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3BFF56F-6F5F-4DE1-BDBE-17F15828F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Candidato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A8C820E-894E-4BA3-96B5-4951FD255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54621B2-50E4-445C-AB81-162D5226A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C584C99-2420-401C-960C-120843513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983214C-5A40-49AC-93B0-DC8031959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RSCRED MULTIESTRÉGIA - NÃO-PADRONIZADOS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EFC60C4-9589-4005-80F6-E1719D69A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7E0DC96-F619-45D1-958A-56D4BCA8D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Múltiplos cedentes;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19EFE69-BB64-4C76-8B26-6C70BE2B0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79FCC887-8BB1-409D-999F-4AFD0D4FE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AA2B84F-869D-43FA-8BDD-CABF3D1E5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3C03487-9C04-4F67-A0AB-A289C01FF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A874520D-9683-4612-B976-A4B424376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46387572-A0AA-4D7F-ACB3-418CED655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09BB28E-F285-4BC7-BFDB-0D1B5C478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Cedente / originador expresso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3A2D2964-7716-44A4-A602-6903D9ECF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Categoria proposta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C60CCDB6-7515-4B8B-B96F-9627B7F9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71F7D0D6-5022-4712-8AA8-81F4944C8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6138EC1-FFE1-423C-8E37-89F827E74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AF3C2242-1CE3-4C58-8BB9-812B6D7C8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32D5C96C-4391-4BFC-BD67-C4288FAE3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EXPERT III ILIMITADA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144104E3-32BF-4C79-8CCD-64289806B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FA17B849-1EE2-4E49-952E-877BACE65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Regulamento não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C537730D-4604-4B86-A40C-ECEE05323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6F760DF4-71EC-48D8-98DE-59E5B9315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Validação manual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D196A243-6F6F-439E-A8FB-3A1B53CA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7DC13E27-42EC-417E-90D0-08FC41AA5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AD50A475-7280-4EED-B3C7-4F821F979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A9753688-3E10-4AA4-A622-C6BE93219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OCCAM CRÉDITO CORPORATIVO 30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A874C38C-DC9A-47C9-B2C8-8F859E54D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BEBA0C96-6B14-40D8-A64C-36F47DEA0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Ausência de originador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E2275995-01A2-4AD1-8607-9BD300159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23261DD6-015E-44CF-AA67-45E1A0625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Validação manual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57EB2955-F72F-428C-A571-EF18A0198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77D1D050-A91B-462F-9444-1FC2963B0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EF01B865-DD15-425F-9DD6-43D2E2D8F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ED43D002-89C7-4E4F-87A1-09B6B86AE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1D8B9626-C1F3-4F4F-96E9-94CF0299F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B208031F-9AAE-47A3-947B-669BE4710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Múltiplos cedentes;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E6D5172B-2F56-47AA-9664-2FCEC6D2D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BEC505D9-8D10-4846-967E-65CB3222D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Validação manual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72E01356-0693-49B9-9DE1-70E72DF75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73C6537A-7BD5-45AD-BBBA-9A027AE1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1FBD46B1-041E-4756-8FA6-D938B8683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442078F-1238-4398-BF29-CF03E31F0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42BA6A2A-6A59-4B3F-9C9F-2787D9F2A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E4DA7437-CB9D-463B-A5BF-2205FD2E2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C958225E-0506-429C-BA9C-0AE471BA2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1B9E0E85-9F9F-47E9-BAF4-775B8ED9B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Validação manual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E2C92FFC-46B6-411D-829B-DBBD441F7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8478633E-727E-4602-A715-F73C37CF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179005C6-3B48-4910-8F90-6E488D4B3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E3911587-1F73-4E20-B8BF-EFEAA1A1A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PCG - BRASIL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1AC390F6-54AA-4BC2-8F51-AF9BA9113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657AC4CF-641A-41A6-937C-A124391E8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Entidades distintas;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9BBE889B-C609-49D2-A5C8-DE68783C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B465EFE8-F170-49A5-AA6C-A95507270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B7ADDD93-032E-4928-90DD-37E9743FD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32527369-2710-408E-A88F-19D051C9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3A3096B5-C382-442A-A406-F65BA9EBB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CE2902BA-25CF-4B6C-AFE3-36E74996C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CARNIVAL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D4E23FDB-698A-40EE-A6AE-1F70FE59B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10A7ADFA-6B87-41DC-BACD-6BB6F888A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em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FEAFF0CA-9DC9-43D4-9121-7E6F3FA78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8C21945C-F556-4E35-B247-5760C19FF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DCE75CA3-62D9-4AD6-8B24-54C43F64B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23890B4E-AB2E-423F-A622-F7C2E004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9E2FE73D-044F-4947-BAEF-460D4CEDB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B1D08A5C-3DD0-423C-8CA6-75406F7E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3C247C44-7A4B-49B2-A35D-580C0BFEE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4C7B129E-1F56-4804-A7D4-897C5F62F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C519FA79-A8D2-447F-9BCA-61D5C438B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00C9F179-A08A-4550-BEBF-60104D0C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8528E263-6900-49B6-98C9-D0FBF5689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92C56C9F-3DCE-4E52-B902-C02D9FDC0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E1D10C78-13F0-4297-B445-133CB7E06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EFF4922D-638C-424B-B46E-0CA5647B7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GSR NÃO PADRONIZADOS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6C031ED6-A005-4292-A540-BC6DF5E5C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2,9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0495ECF6-935A-455E-BF97-9E007C489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Aquele que realiza a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5862C87F-0AC5-41CC-9AF2-16BD51C44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3EBD22D1-A059-4B90-8F57-A89D04C60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Validação manual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292B3F98-119D-45C1-8D09-97473826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E6528E66-4BD6-4698-8D3B-FCA969267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C1573385-06B7-4914-861F-25E8E370D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A9D26FEA-FBC9-4A8F-881E-8855219F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MULTISEGMENTOS NPL IPANEMA VI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6EB23DBE-6468-41BA-A672-005C0E350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2,6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D5FEC964-02B7-4B17-8A4A-FA0CE9DD9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3BDC2D47-D3BA-44FE-8EBD-E09A5E247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36D09810-AE9C-4540-AB51-AB30AEECB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72D4F3D6-0570-414D-B148-FD364FD19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E36BB0DD-AF3A-4185-9CCA-EC79623B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16E40E3A-CAF3-4C11-8E26-AC7E76FA9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8248DB42-13DD-4BB2-8F53-2227CCA38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CRÉDITO PRIVADO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CFCC71C1-4D1E-446A-B22E-420216FB3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2,5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281C4DC6-529E-4383-9CEF-6BA2653FE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9DDAEF64-1CE0-42D3-B6EB-CF67C779A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—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CDD4FACD-833A-45E2-8DCB-0B3335A65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Manter em Outros</a:t>
            </a:r>
          </a:p>
        </p:txBody>
      </p:sp>
    </p:spTree>
    <p:extLst>
      <p:ext uri="{BB962C8B-B14F-4D97-AF65-F5344CB8AC3E}">
        <p14:creationId xmlns:p14="http://schemas.microsoft.com/office/powerpoint/2010/main" val="24309998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DA039D-ED07-4A12-9320-62650EFA0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11936F-E197-48C3-B98C-6848B5E57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8,0% dos fundos e 35,7%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7B1725-DE93-43B4-B258-4ECDE06F2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630AF4-1FA0-4EF3-9015-2638483EB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322BC8-58DF-4013-BF1C-56D8DBDAB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Definição mono: mesmo conglomerado normalizado em administração, gestão e custódia.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9F5E1D-65A9-4CA8-B319-5DAAE914A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a37c39a190e40a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694B67-D341-45F9-A769-AA84E2F2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03786E-8739-432F-9A8B-D36DAE6C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0430B4-5CBD-462F-8206-8C9633F49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59287F-4AA0-4683-AE2D-B6215B8EB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A80B55-6410-4B86-9A9B-C7AF4A106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341 · R$ 342,9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316496-21C0-4CFE-BB1B-A97A2ADBD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44F867-2C77-4E34-AA8E-188372D9B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178F32-C99B-41B4-B5A6-9A71555C8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 · R$ 24,1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BB97A9-6A67-44DB-8F36-A4049B18E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394AA4-1D74-46A3-9DC6-B6021473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B8F2DB-1A6E-450C-A392-17FE417E3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3.441 · R$ 525,1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62D271-FBC9-40A9-82CD-CA96F752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866ECF-72DE-494B-9DF2-C9EE2B4C4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3D7BAC-5F05-4002-9014-A1E668FF0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39 · R$ 8,2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B1B025-D21B-4BBC-A8CC-3EF2C1215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D18837-C6BB-4C8E-AAAC-78591D77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B79972-56C1-4B91-B23D-E3D607D1B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321 · R$ 49,6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5251B8-AC63-43E8-A20F-9536EBCC0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91405F-EEB6-4A9F-AFD7-34523F7F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ABF34B-B02F-41BA-85F2-E13A04F52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72 · R$ 11,5 bi</a:t>
            </a:r>
          </a:p>
        </p:txBody>
      </p:sp>
    </p:spTree>
    <p:extLst>
      <p:ext uri="{BB962C8B-B14F-4D97-AF65-F5344CB8AC3E}">
        <p14:creationId xmlns:p14="http://schemas.microsoft.com/office/powerpoint/2010/main" val="33061262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2047F3E-188D-4F59-AF07-7250ECB3D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1868B3-DF37-4501-AA60-9A0351B1A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FF8FAF-3EDA-4B80-B919-7DA2818F2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F93AC9-B026-488D-88F8-E668050F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F29CA8-1027-4AFD-A125-34A3688B6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Preço, propostas e contratos não integram a base.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CC8D7F-2691-4202-BD24-74D5DC7C6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EAF2E4-7C90-4B7F-81AC-544111A57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8292DE-61E4-4A8A-9551-396F446E3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92F046-FD52-4ED8-A9AA-6BE67E11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350711-1D7C-4D2E-A451-57CEF0E2E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BFE550-E97A-4FBA-AA98-36B43DBC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CF2881-E0B8-4ADE-A119-9029D4F4B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167D8F-5A8D-43B7-88F1-50396472A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009063-69D9-442B-AF97-951D3905F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3BA957-3D48-46D6-854C-2663F58B3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DB390D-8B89-41A7-969E-1185D4F9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8618B4-F378-4049-9DAD-0CFE93BC5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78D589-883D-4D0A-9A12-9E507CF86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81,0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82F72D-E493-4DD5-838B-027275256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895A7B-E0FA-4FCA-AB01-ADB72003A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8FBB29-CBB5-4040-88A2-DCF942D6D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22,2%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46F5CC-D021-4DEA-BF6D-432520A15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43,7%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1A3421-149C-4DA3-8C09-D3DC92D1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923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FE5539-9ABC-409F-97CC-0EF2F1DE7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4681BD-DC3D-43CF-B222-6D5411CF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179606-F261-42C9-BE47-008ED4C0D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57A6E8-C1D5-4603-98DB-D447ECE2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76,7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246758-FEEE-47F1-BBD0-FBFB6C47C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18F5EFE-4173-4B2B-A79A-3CB2EB4F3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A94FFF-3EE9-45E6-97D1-A2F41A772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54,1%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C6E7175-2A0F-4A70-90C1-C3E20485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8942EE-27A5-47FC-A050-85E6C09B7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3.056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894D01-7600-4C73-9194-C40FDA0A1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4F91352-DD30-46A2-95A7-61AC36586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921CCF9-BC92-4613-936A-102680277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BA25663-D203-4BBD-B5AB-1EB8071FA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BC54AD-72D2-411F-9664-B2461339F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336B1A1-9653-4316-9162-A4EDF0DA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5E29A1C-DA43-47A8-9F4C-AE650BD41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91A8A4-E8E3-4C3E-91BB-63D573BC5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F778BBF-6EE2-46C3-AAF2-B4A3710EB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10.000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30E1A7F-8403-4961-9274-AE9AB4420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4F6FE49-DD52-4C29-91E7-658F86243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7192E23-73B4-4A85-A780-56408FED3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3E52767-F5F5-4C35-B99C-A89BE0D8B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39,3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6AD0BEC-A34C-4E48-80EA-59637C75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2B3243A-4949-410E-9506-D1DD2DA7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B3AE6B5-47A2-48A2-9A8D-0A28A3D3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41F7488-1B27-4C92-BEE1-AD2C4E07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4120C8F-7C6B-4A93-8F60-5B241B93A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1.196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41EA4D9-A343-4DF7-805B-65FD9FB0D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4D82C20-5309-4A99-8138-A6BE5606C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26AF5A3-2E5A-47A9-989D-AC071EEBA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74E5DC5-2343-44D7-B479-36525A573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51B6372-9E91-4221-B52C-FDA54D98B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836720B-7D52-445B-94D3-BC9C60DB4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35D65BF-CFAC-4C8B-8940-68CFA55FE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1AE7CF8-1FA5-48C8-A90B-FD83B727F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2D41694-6EB1-4331-8FC2-F7C82EA15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1.111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9B3C1C1-1694-42BC-A806-811B4E70D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1CE0BE0-C956-4FBB-AEF3-57CD004F5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C4FB1B5-5E88-433F-A7E8-6B5259D1C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E9BD84B-3C3B-4DB8-915B-A8CF3DE63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18,9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A8577D2-F7FF-4C41-AC39-3F3DF4C6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ED2AB5B-8651-4366-8F89-FD6A22084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BDCAC14-B63E-4116-94AE-0381B608C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46,0%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F6AB262-3E7C-4C3D-8D46-9D5E40D54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57,6%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8DC4F30-E225-497A-8D22-DCE5526EE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2.290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8D4EC62-DBE7-4295-8DCF-1E679267C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7850"/>
            <a:ext cx="7000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HHI em pontos de 0 a 10.000; 10.000 corresponde a um único fundo.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EBBC890-EA22-49C2-97D7-99F89D31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5EF56D5-82AA-40A7-ABFB-28EF769D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D0692B7-7E1D-485A-A4DF-15D5EF5D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839A7A9-1A3C-4D3F-9A85-4342530FB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FB55EC7-638D-4C1A-88EE-1E4618FDC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500564D-D037-4EE2-8BDA-C2C3A133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CD9754F-6C36-4008-8331-0FF4FC41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328DEF9-9F2E-4E90-B2CA-3AD4589C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3A90125-8C12-4F67-9185-213F6567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87D456A-47A7-4BC2-AA8C-FCE951E0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47 fundos; TAPSO = 54,1% do PL mono.</a:t>
            </a:r>
          </a:p>
        </p:txBody>
      </p:sp>
    </p:spTree>
    <p:extLst>
      <p:ext uri="{BB962C8B-B14F-4D97-AF65-F5344CB8AC3E}">
        <p14:creationId xmlns:p14="http://schemas.microsoft.com/office/powerpoint/2010/main" val="19818807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2665679-94D7-4690-B3CC-E37624113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D397F0-D185-4E60-A2A9-E6A4A0CC8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2025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87F5AE-D092-4990-A5D2-9A427059A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1E271D-4D49-46C1-A1F2-D1849C8FE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AB8849-F7E6-48DB-A271-9FFD0CC3B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SRE — Ofertas Públicas de Distribuição (consulta 24/jul/26). Cotas de FIDC; ofertas primárias encerradas, todos os ritos, volume registrado &gt; 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2633B4-D030-4FB3-88BE-62D674A4B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225450-3148-4743-A2BE-233C6A77C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801161-4CAF-4D37-BF85-A3FCFAB33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5c1292b2469456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F67E0F-E31C-4D37-8017-CFC890228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E3F9B9-5FDF-4994-9716-BB9B892F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1621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c5817fbae2a4776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8B41AE-E86C-4F75-8181-AE28E3E5E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97BC7F-18F3-47B3-9327-953B44F8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159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FBDD8B-D8F5-4C77-BBB7-721047AA3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5968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784A40-B5BF-44A6-8E10-15AC573C2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9873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EA6737-0620-402D-9E93-6652B46A0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7682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963B99-71AD-4418-A1B7-9FEE2904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5491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B215B0-ADE9-4A94-8377-6AF2DF7B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E1A11F-1EC0-4C52-B548-25E1438F3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28EAA8-D187-4A98-AB06-9840FA8BD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B28F5C-BB53-41BF-B9C5-3E77F4303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450353-C790-4786-AFFF-92802FA6B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40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55FEF1-4594-408C-94F5-479BC79F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87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387E25-8BA5-4A5D-B947-8382ED421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11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A193A3-A4E0-4D0A-A9F7-771C0704F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19575"/>
            <a:ext cx="523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p:txBody>
      </p:sp>
      <p:graphicFrame>
        <p:nvGraphicFramePr>
          <p:cNvPr id="55" name=""/>
          <p:cNvGraphicFramePr/>
          <p:nvPr/>
        </p:nvGraphicFramePr>
        <p:xfrm>
          <a:off xmlns:a="http://schemas.openxmlformats.org/drawingml/2006/main" x="571500" y="4438650"/>
          <a:ext xmlns:a="http://schemas.openxmlformats.org/drawingml/2006/main" cx="11049000" cy="1428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98,0%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EA02F7-23A6-4305-87B3-640724C3E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de volume colocado; a cobertura por quantidade colocada equivale a 97,3% do valor registrado.</a:t>
            </a:r>
          </a:p>
        </p:txBody>
      </p:sp>
    </p:spTree>
    <p:extLst>
      <p:ext uri="{BB962C8B-B14F-4D97-AF65-F5344CB8AC3E}">
        <p14:creationId xmlns:p14="http://schemas.microsoft.com/office/powerpoint/2010/main" val="167811429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B730F1A-EC41-4BE9-8840-FB3024964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B1BFF7-57DB-42FA-89B9-CF00CB40B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≥ R$ 500 mi concentram 42,2%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205FF1-BD48-4937-A38D-BC5DC3926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A1DCC6-AF67-4D18-A513-B75DC8D6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2327C0-F386-4B12-A88A-2F2E59C3F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CVM; mesma coorte do slide anterior. 2024/2025 = ano completo;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C1FA42-6871-4082-890E-372D4DC3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A66F0C-8E46-4F41-9504-70E2BCE69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08101D-F9BB-4B8E-88AB-B5816A79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7f29193b0b04b4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E32CDA-D39C-4781-AD2F-ADCB353E8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DA3790-4FC7-445F-AFD8-FBC328422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428625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6b8d9a3584c4aed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CD12D6-120B-4A2E-B545-4A105E999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2BB64B-3DCB-436B-A2E4-3E0356999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47825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8001000" y="1743075"/>
          <a:ext xmlns:a="http://schemas.openxmlformats.org/drawingml/2006/main" cx="361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e0fbfca32cc41fb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D5A338-DB19-4A1B-8C4E-5FF8466ED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0C35E7-27A2-4D66-8F77-E076581C4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45A37E-0070-439E-ADC6-A5803800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37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CD4FF9-7FB0-46CA-8715-6146DDCFC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577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D2A506-D287-4DF8-9612-54559DA8E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862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79082A-84AD-441A-845A-9DCB613D6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02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2B7C87-FE13-4A32-A705-DAB294C0C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851850-54AD-4360-BC18-0017F7CA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912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135327-F92C-4AA7-B15D-E9FD74002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81025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317690-9D59-4F5A-93F0-87604FA4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8102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4A5B1E-3B14-426D-8DE3-62A35254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9912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B1706D-2DB2-4044-AE91-0AF88191D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81025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236450D-C036-46B0-9338-C75B499F1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8102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A91AF4-B57F-4E36-A7AA-91C32C7DB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9912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p:txBody>
      </p:sp>
    </p:spTree>
    <p:extLst>
      <p:ext uri="{BB962C8B-B14F-4D97-AF65-F5344CB8AC3E}">
        <p14:creationId xmlns:p14="http://schemas.microsoft.com/office/powerpoint/2010/main" val="210594768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333477-F650-4A6B-84D5-FEDE93C0C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1870B1-86F7-4D0A-8D4C-88170EE97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Melhores esforços concentram 96% das ofertas e 69%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F8499A-50D2-41CA-8130-E90A51A9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80C878-8607-44F0-8E22-E7519547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594EC3-B962-4701-ADFD-AA4C873D6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SRE — Ofertas Públicas de Distribuição (consulta 24/jul/26). Regime conforme informado; ritos sem abertura = Não informado.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4E7644-77E4-4887-A45B-D04D9DFC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5AF7C5-F7DB-4014-A0AD-FB0C1A38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56BAA-582E-4306-B3E0-AD2799ACA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8fe6c4cf6134a3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4B2ECE-714B-488C-BF69-6E7E07C87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7E53EC-2D79-4EEE-9084-9098EC6F4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6334125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c21404405f04660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F1F186-BE15-4488-8D5C-28C333A04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600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DAE181-5B2A-4E67-BE26-270D6D98A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552825"/>
            <a:ext cx="98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B817DA-369D-4F8D-AF71-680C35EB9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8625" y="3600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9A0077-B78F-4E87-91B5-D4CFEBFF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1025" y="3552825"/>
            <a:ext cx="98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FAA0D0-E967-4934-9972-8114BDC7D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375" y="3600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C3B1B3-DB3A-4308-B940-59156B3B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5775" y="3552825"/>
            <a:ext cx="98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32567D-6BA2-4737-9C4E-F70DB10A6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528637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B81BC9-9E3D-4591-B860-84A5A37BD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33049E-D5AD-4820-8315-CF4C07B00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7" name="Chart"/>
          <p:cNvGraphicFramePr/>
          <p:nvPr/>
        </p:nvGraphicFramePr>
        <p:xfrm>
          <a:off xmlns:a="http://schemas.openxmlformats.org/drawingml/2006/main" x="571500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28e8cef536c4a7b"/>
          </a:graphicData>
        </a:graphic>
      </p:graphicFrame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718344-A58B-4103-B6CC-7743B4B0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7732A7-FCE8-448A-9FDB-3E297E593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0" name="Chart"/>
          <p:cNvGraphicFramePr/>
          <p:nvPr/>
        </p:nvGraphicFramePr>
        <p:xfrm>
          <a:off xmlns:a="http://schemas.openxmlformats.org/drawingml/2006/main" x="6334125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c7c4f814f0045cd"/>
          </a:graphicData>
        </a:graphic>
      </p:graphicFrame>
    </p:spTree>
    <p:extLst>
      <p:ext uri="{BB962C8B-B14F-4D97-AF65-F5344CB8AC3E}">
        <p14:creationId xmlns:p14="http://schemas.microsoft.com/office/powerpoint/2010/main" val="48896077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8" name="">
            <a:extLst xmlns:a="http://schemas.openxmlformats.org/drawingml/2006/main">
              <a:ext uri="{FF2B5EF4-FFF2-40B4-BE49-F238E27FC236}">
                <a16:creationId xmlns:a16="http://schemas.microsoft.com/office/drawing/2014/main" id="{CDEB61F6-E43B-40D9-9FB2-425FC7556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OFERTAS ENCERRADAS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65C6F1-7BE8-4686-ACE3-AD3F46790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participou de 8 das 15 maiores em jan–jun/26; liderou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5710A0-A723-4AA3-89A7-F032ADA11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678FCF-01EC-41D1-9498-E02D2EE81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0C4ADC-1E7F-46AE-9959-81FF9D9FF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FundosNet; ratings conciliados por oferta, emissão, série ou subclasse. Ausência de vínculo documental = N/D.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3FDC3D-C007-4053-B815-886DB366B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AEFDCE-009C-4A40-9B21-0618B07E7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49BA24-0627-4855-8A99-A38EE687B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66CDA4-6E08-43F7-8079-14B0ABF5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57350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5E1DB6-3B32-4385-9C59-29AD2512E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85925"/>
            <a:ext cx="9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1826A7-55C8-4C3D-B54B-286555AD7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859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FIDC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749BFC-E2A0-468D-83A6-3B28C765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68592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Originador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99543E-A5DE-4FD5-AD18-BD2B74795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85925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DF1D15-C9AC-4BD1-B74F-7B1E548B8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168592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Coord. líder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A12FB5-4FAA-4669-9531-D0A319C3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6859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IBBA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341582-C86D-4A17-A139-9F603839C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1685925"/>
            <a:ext cx="133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00C1AE-F3E4-470B-8464-455220A09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1685925"/>
            <a:ext cx="314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Público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865D20-3893-4695-B909-83C42705A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85925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Agência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43CBF4-8A74-4A19-826D-2C489CC46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85925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Rating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9828D5-4051-41AA-B79A-816384FBD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812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D69040-1EB8-4CC6-9C26-A41921E2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294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93295F-2C62-4371-9B91-035550241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0977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3F3687-773E-4119-8755-E4FD24466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977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99F6B8-1277-4A3D-86C8-A983B640B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20097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520281-A4C2-474E-A28E-814EE229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00977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5,50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102EE9-19A4-424A-BA55-43AA3A801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0097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BC48A6-B563-4A0E-9231-359FC0B0D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00977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930C4F-2E88-4864-A665-7C7A96C92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00977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D1D2B2-477E-48B3-89A8-52A8B9294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00977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DC00048-55FF-4A5D-BC19-AAFD1B81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097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46E5692-BA33-435C-9227-8C0B4E003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0977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(P) AAA.br(sf)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(P) AA+.br(sf)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(P) BBB.br(sf)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7D2E34-0A52-4846-BBF6-2CD37EF6D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390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F5C80E6-EC61-4569-BE97-C97E5B62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872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36EB8D-1BA7-4D12-BE5C-ACF452B39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758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AC0FE7E-3DDA-4CE1-A251-098395DE7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6758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VTK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1A1873-A478-426A-9702-7FE3962BD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22675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99C01AA-C4B5-410E-A76F-CE9F63F21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26758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2,85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80DA1B5-EB17-4330-85BD-DA3114B3E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2675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D8B1C52-0D4B-4625-A836-1BE771ED3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26758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A011EC5-D205-4E8D-AC01-9E774CDA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26758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59339CD-3874-45C7-917B-F85F75DC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26758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B40C2C9-06A5-4195-A7FE-519502B8C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675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E6DEFB9-93A4-4DE1-91CF-F047EEC0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6758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037889A-2ACD-43A9-8BD6-0B3E2700E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968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E28AA85-F4E1-4991-A704-132F20ACC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51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0AF9A7B-7A8A-4ABA-A186-016C85B2F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2539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5D2E489-37B5-42E3-8D6B-375E499A4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2539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AGIBANK II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FE6E370-F768-4455-821B-62D42BB98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25253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Agibank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4E236A7-79BE-44D2-B49B-E319A786E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52539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2,50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2933D95-EF6E-41FA-B3C6-03D6E6224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5253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2210304-E3A8-4DEE-AC90-339A98669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52539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C8C281B-C8EA-4307-AE01-93F2171C9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52539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43A8DD3-94B0-4943-B8DC-E5B5F5A82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52539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D34BDF7-ADC5-4FE4-9BE2-66F5573C9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5253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499FF1C-8C6B-40FC-B2EA-C15B69620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2539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AAA.br(sf)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50ECD08-7626-40DB-9D05-397475BE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546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67FC1DB-00D6-447A-8335-298D44AF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29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DCE4939-B510-4569-9CB2-E0FBFEE22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320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C839925-FC0F-4367-9D7F-302E0899B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320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DRIVER BRASIL SIX BANCO VOLKSWAGEN FINANCIAMENTO VEÍCULOS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00E74FE-AFA7-4CE1-8677-CE53C8F81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27832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Volkswagen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94F8DDE-4DEC-4FB1-A0D5-ED06E7671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78320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66D4BD1-D0AC-4CE5-A5A8-56F0E3EFE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7832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2A8A8DC-0ECC-4217-B4E0-17E42834A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78320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718D8B9-8D1C-4BD8-9AB3-D0DB0F60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78320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9B1955B-C468-4FEB-8EE4-156972B4F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278320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1035962-548E-4A75-B621-B9984F0FB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32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EB4EF11-9620-4B12-AC05-CEAE36F0F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78320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AAA.br(sf)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71D0187-9E05-4D93-8B7B-F25DB5FDD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124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F72C0E8-47AF-4617-8294-9D4883AA0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607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CCF5592-FA70-4994-A502-F0A5D2E1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4101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A519DAA-A34B-49E6-B6BE-04D7B7A4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101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SELLER 3 MEIOS PAGAMENTO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89ECD50-B399-44EF-A331-A31EA515A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30410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Mercado Pago / Mercado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28B848E-81AA-420C-A717-E5D5B72D8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04101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85AE233-F2A3-4B27-A3FD-9FD119771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0410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UBS BB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71963C0-0C64-4672-B26C-E005F678C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04101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BC9BCFE-4DD7-479A-8331-8C7AC4BAB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04101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3C81487-24D4-4684-9F99-B1DBE3911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04101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4F4DABD-73EC-4F61-84FA-900ED526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410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Austin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8FD769D-C02D-453F-88DF-0CC2E0215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04101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brAAA(sf)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F9AE5FF-62C1-4785-ABC1-49285BE81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7025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42BC1C9-A347-4E94-9EC7-459041C1E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1853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1F51A2F-52DE-41A8-B8DD-DD58C86A5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9882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F1D34B7-9141-425C-9AD3-FCFAE57DB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882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Pine INSS III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DCDD0FE-A2A1-4FD3-9CBE-42CE5D246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329882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Pine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1AD4A12-61F7-42A7-99A2-C9E816394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29882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2A79531-9B45-4C7F-82BB-B9C8FFCCE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29882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5DAA3AB-9B15-42CF-B06A-368DF8CDC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29882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ADC49E1-6145-4B0E-B71A-75592C151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29882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15260B2-1B1D-4126-BEAA-236D45E34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29882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81364CCF-0AE6-49BD-B133-0B5580AF4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9882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EF8D542-1663-4228-9A8E-1BC7B4A15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29882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7E2C716-7E66-41D8-BAB6-A33059457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806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6D276954-13B3-4EE8-8293-95AE906E1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7634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BF850CE-B962-4C56-800A-7B9AEB6AD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5663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258EEA2-CD2F-4245-B5DE-3508A597E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5663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INVESTIMENTOS PICPAY FGTS II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2FA2A6F9-164B-482D-B049-029CE1CFE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355663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E09A9E99-DFAF-4CF3-86F6-53CB5689E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55663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A85DF47-2832-47D5-BCC2-1EF9B0B0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55663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ABC BRASIL S.A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9E9C49A4-8811-4305-A074-6949533F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55663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CD8FFA93-E16D-4C80-BFF5-67C2B3507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55663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C80E2D9E-DFC5-480A-BA29-8353D1FF2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55663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985E627A-49DD-42D1-9C18-D6FA24639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55663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9ED5C131-C81A-411D-AFF2-FA42BA9B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55663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(P) AAA.br(sf)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FCE84452-7A5C-460B-A14A-BD3EB05CB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8587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E67E6542-E787-4F53-91D6-4B5562C5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3415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9F68863D-C92D-42FD-81D0-BFF990A91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1444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AE94BB2D-7B03-4E60-BD4B-4D108B001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1444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ICRED INSS II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2D521FAC-CE4D-4CDB-9A77-E71B3D29E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381444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ICred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26B626F8-DBB2-41E2-AD34-1536AAEF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81444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1,02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BBB2C85E-E3F1-4657-84DB-176F0A448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81444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D2EE3723-7B57-491E-8A10-7A7940044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81444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1070ADF0-A22F-46AB-8C4F-DF4EB5974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81444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71B7F93B-54E7-4670-948D-273331C9B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81444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7D44DCE5-EDD9-4D11-8F57-C3FD90840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1444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C62ADBD8-BC10-4ADF-A0F8-1F221D2F3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81444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5855E3EF-45AE-4DCA-9AC3-6CAE1D36B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4368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510D9607-EE70-4D92-8374-7B23F0349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9196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92AF10BF-0F1F-45CB-9942-50B8A9CF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7225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013CFEE6-A613-44AD-A619-757EF20FD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7225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JIVEMAUÁ BOSSANOVA CRÉDITO SECURITIZADO II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684D58FB-411E-481E-AB48-1B8A8E393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07225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283894F3-195B-490F-822E-401331FE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07225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C4D52143-C0C0-4DAA-B848-62F08130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07225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7BD3C17C-2207-449C-9A8A-90A9FD496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07225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6AFE6C22-B00F-4763-BE92-D075AF2EB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07225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80AFA27-38B8-4005-A25F-981CF2170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07225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Qualif.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B540F8D6-9ADE-46E1-B91C-2CA7C8EBD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7225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10FD7CAB-2847-4C95-93AF-B302A8745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07225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DDFE22DB-2E25-4C65-B249-37A5561DF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149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83E0D674-143E-40F4-962B-9E0B8E6BE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4977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C45F47A2-5D09-48E8-8D3F-CA3C8A3D7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3006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3EB20894-40F2-4BE3-933A-0387D7285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3006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COMERCIAIS MEDICI I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41409565-A1F6-4EC6-B141-47D458677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33006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Fornecedores de BRF e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9BD375C2-8A67-47AF-8998-DBF88631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33006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A175CAC1-599F-439D-94D1-4027338E8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33006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BRADESCO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30DFB5CC-B6D8-4CA1-8FB5-9DD7F79BA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33006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7CEA36C6-9CD3-4307-AEE3-F1BABE95C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33006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590AAB05-C44A-47C8-8260-37FB5387C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33006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1008B59A-B52A-446C-9682-F2B1FAF68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3006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Fitch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1728F565-917E-47B2-AB1B-1794217FB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3006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AAAsf(bra)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032F117E-89CC-4B3E-9CA5-0C08FFD53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93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8559E0BF-2515-4105-89AC-28496030A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075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BE0543AC-8AB9-4247-828A-1F3B014BA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8787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39A5A58D-E4CF-4FC3-98E2-E0F2297AB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8787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F6A68A53-B90E-45B8-B431-3D39964F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5878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1B188BDD-A2B7-4C26-A224-728BCCFC5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58787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D5DC6C86-1C3C-4A8E-B935-84DF9915F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5878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0290FEF5-F080-4ED7-AAF1-38A36BA65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58787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1D3EAF3A-1875-4D3D-9C01-E8A5B04B8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58787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8F1362CB-19E6-4732-85C2-4B1245C4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58787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39990BC0-87D2-43BC-B237-8934EE54A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5878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C27A1599-BF5E-481E-9104-44B59EB15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58787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C891BC4E-E98B-44F4-82CE-F3107343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71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9971367B-1B12-44AF-90A2-3C9B93FFB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53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0927ACCE-7548-4C7B-B7BF-3116C23F1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4568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B80DD448-0FB4-4BE1-9B32-F16666BE6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4568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IS GREEN SOLFACIL VII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2C4DFEAE-6E42-4B18-824B-41F20556A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8456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Solfácil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7382DCEB-AE0E-4D6F-B188-4551BD2B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84568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0,77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EF994F00-2D4D-4361-A17D-477942D6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8456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AC274B97-F51E-4AB5-BEB2-1DF093B59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84568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00B88781-4067-4CD1-A396-FCBFD22B2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84568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699A3E5B-F844-4700-B4ED-3A1173E7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84568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02D42CA0-5DD6-4FE6-A26F-D127791A1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456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C6098C44-E7DF-431D-B38F-EA493BBB1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84568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br_Aa (AA)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E4F2C6AC-C999-4150-9B89-54E35B972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749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95833DA0-BEB7-4AE9-A9B4-725A599AE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232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23BEF8D5-06F6-4248-8566-1B7633AB1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0349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FBC1B9D1-05CA-4FC2-8FEB-7B2E3E4D5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0349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DAYCOVAL D413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2404A54F-968C-43F1-B70C-BE73E9C49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51034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FAE03603-7EAB-4D6E-BC76-7ED99A2BF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10349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0,75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5A28D4AF-18D4-4285-98ED-4FD680B7B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1034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F8D33470-9AB8-4CC9-BF92-99C6092C3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10349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A8EC1C9E-2A25-418C-9D56-40DAAA53A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510349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9E51AF41-50B3-41A6-9C87-C4D6B9A20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10349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9B861508-3348-42A8-9955-6F1C28C16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034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Fitch</a:t>
            </a:r>
          </a:p>
        </p:txBody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5EFEC8B8-8479-4BEC-B4DA-F00B445DC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10349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AAA(EXP)sf(bra)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AA+(EXP)sf(bra)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C8C9FEB9-C66B-4502-8BF5-C7E0E1300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27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7C81F9FA-A45C-4ADD-9A58-A96829402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810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D61893AD-0131-4A35-B16C-CBE145A5F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6130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30E46382-063F-43AB-AD99-F7E091978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6130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LAVORO FORNECEDORES DO AGRONEGÓCIO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B25FFAC3-6616-4E9D-82A0-484D158B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53613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Lavoro</a:t>
            </a:r>
          </a:p>
        </p:txBody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3962B21D-D579-4E99-945A-C1F1D9950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36130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0,73</a:t>
            </a: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BCE9EE7D-CD0E-4B7C-A954-49F04237C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3613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6CB964EC-3AE9-4A9E-912E-54CD6E5C4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36130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A10BF046-7ACB-4127-A4D3-C824781E0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536130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B129DB35-3ABB-45ED-B9F6-F1FFCA182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36130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378101E7-45EC-4CC3-8F28-65CC9B689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3613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80ABF726-D40A-4B7D-A6E8-B4AAFF7C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36130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C54CD27E-17CE-4623-81AA-C2CF55CA2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905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91EF9A73-3B9B-4ECE-BF29-ADAD31137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388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37332A3B-6AF2-479F-87A3-0BC7316E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11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77A2D12F-FF96-4841-ABAC-979A83BF9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11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AGRO CITI-BAYER</a:t>
            </a:r>
          </a:p>
        </p:txBody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6A7A3F25-7F28-4782-862E-B96AFD2D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56191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Bayer</a:t>
            </a:r>
          </a:p>
        </p:txBody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54C1EF42-02D5-4DA0-A7AF-820EDB0C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61911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0,70</a:t>
            </a:r>
          </a:p>
        </p:txBody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7380A9DB-2A40-4AAA-B869-D27B6670D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6191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VORTX</a:t>
            </a:r>
          </a:p>
        </p:txBody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6E0EC005-20ED-4988-BDEF-A6CBDA210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61911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E763F0AE-FCFE-4D26-9B6D-C6AD4A58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561911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40C6F773-D4C6-435B-B3A1-61455B772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61911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50AD3338-B75B-4FEE-B20F-B14ADE1E8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6191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B85765B9-BF60-4D7E-BE42-BE7F20F44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61911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91FF22B7-2CBD-409C-B61C-2AC84F3FA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p:txBody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2A9D12CF-28D2-4B99-ADCE-2FE0E951F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2CBF6763-50DA-4F7C-9DDF-3036775D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57350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7D2832BA-132F-44C5-8CDF-D49D43551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85925"/>
            <a:ext cx="9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F2D51554-5155-4245-A993-6F41D1D0A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859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FIDC</a:t>
            </a:r>
          </a:p>
        </p:txBody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D202EBA5-8DDB-4B82-B2DB-C98BB511E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68592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Originador</a:t>
            </a:r>
          </a:p>
        </p:txBody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74364257-25E4-4D52-9B40-1D993DA1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1685925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15693499-CCB9-42AF-96B9-420AE33E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68592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Coord. líder</a:t>
            </a:r>
          </a:p>
        </p:txBody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FF687128-A436-42CF-AFE3-C2CB2B8E5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6859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IBBA</a:t>
            </a:r>
          </a:p>
        </p:txBody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8E6B026C-48C0-495A-96D8-2D65A0C0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685925"/>
            <a:ext cx="133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GF</a:t>
            </a:r>
          </a:p>
        </p:txBody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6B571632-92DA-419A-9A9C-C19D18FFA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1685925"/>
            <a:ext cx="314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Público</a:t>
            </a:r>
          </a:p>
        </p:txBody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0F19F053-C425-4246-ADF0-F97A4B127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1685925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Agência</a:t>
            </a:r>
          </a:p>
        </p:txBody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4314CB44-4CBD-4453-8143-26890AB14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1685925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Rating</a:t>
            </a:r>
          </a:p>
        </p:txBody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E16B8440-F299-4EE4-BA58-55B698EA0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812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7C42ED11-168A-4775-A807-E6F5FB974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294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97F01EB8-B358-4DF8-99C8-EF5A94066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0977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92FE1FCA-B943-4BCC-BEFF-B0B628E50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0977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FLEX</a:t>
            </a:r>
          </a:p>
        </p:txBody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78E84CA4-21F1-4FBF-89B9-2DE6527D7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097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agro</a:t>
            </a:r>
          </a:p>
        </p:txBody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921BF4A8-630F-4070-ABA4-566F53514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00977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3,40</a:t>
            </a:r>
          </a:p>
        </p:txBody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76AD0BD8-6A7D-4689-ADC4-D627A998E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0097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FF7A5EEC-5F26-43F8-B928-9379D64E1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00977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6F9B6B5C-18DC-4BB4-9C78-8ED4AB3D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00977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716582D8-CB01-471B-8EF7-5D619A236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00977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EED69753-4017-47D1-921C-B00AC445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0097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BD58F4C0-835D-485C-8C68-A1FA8594E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00977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4AD8988D-3DF8-42C1-90EC-3E5B94C45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390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BD00B2F0-A8DD-4239-BB24-39A281740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872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A8C75077-E017-4AE5-932A-FFD2B32CC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6758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467C1980-0B0F-45E2-A754-9F38EB31B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26758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CW PI</a:t>
            </a:r>
          </a:p>
        </p:txBody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19BC393B-9E06-44E2-BAF0-80EAC42F7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2675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</a:t>
            </a:r>
          </a:p>
        </p:txBody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226E2823-733E-4643-B1C9-5B4CEBA09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26758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3,14</a:t>
            </a:r>
          </a:p>
        </p:txBody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9AEE1B7F-35E6-4825-9F06-97D0C3B1B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675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EF3D6F06-EFD5-4315-9E0C-7D4BE8A7D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6758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CFDD57A9-13B2-4CB0-8EAF-9FC38B76A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26758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DC0438C2-A0EF-488C-9BC5-856CEB3FA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26758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5D96097B-CE74-4468-B0C5-7AF74D95D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2675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D4D5008F-206F-48EF-9E5C-A7A9234E9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26758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AAA.br(sf)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AA+.br(sf)</a:t>
            </a:r>
          </a:p>
        </p:txBody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246EEE4E-00E0-4400-A4A6-DC13593BE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968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3AAA8A5F-FD6A-4D98-98F5-A10BFE9AA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451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066D8371-2F3F-4CC4-83C8-3BF3C4559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2539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3C586C58-188E-44A0-BF71-78AD30EDC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52539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SANTANDER AUTO LOANS I FINANCEIRO</a:t>
            </a:r>
          </a:p>
        </p:txBody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D9C60105-5FA3-4F53-8A8B-2636B5409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5253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21B24902-28A0-490C-A898-0FF33472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52539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3,00</a:t>
            </a:r>
          </a:p>
        </p:txBody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6B34BDE9-D44B-440E-81A3-5A3781573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5253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5490DD2A-1ACE-49C3-A827-EC9CF5329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52539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FB467E6A-8549-4440-8D47-1714178C3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52539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F3A5CA65-D63B-4E27-A75A-C8D3F3965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52539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D544E46B-3C30-493F-8201-C62FB3A8C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5253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60A3BDE3-C035-4163-958D-6263F097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52539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E58A3F5F-DA44-4759-8266-8C8EC3FF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546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E84B15A9-FC46-4D9B-A432-A961E109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29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508EACD5-3544-44C0-A134-35B2BA8E3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8320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40501516-DBD9-479A-B0B8-AA2FF785E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8320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AGIBANK I</a:t>
            </a:r>
          </a:p>
        </p:txBody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A33C472B-7ABE-4005-AFF3-A7ACA2D5B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7832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Agibank</a:t>
            </a:r>
          </a:p>
        </p:txBody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DB4249FB-9873-49B2-82B9-82237329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78320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2,00</a:t>
            </a:r>
          </a:p>
        </p:txBody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5816B68A-5E81-4DAC-BEF4-050865E8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7832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326D4422-A9FD-4DCE-979B-69037E91B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78320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8BEED1DF-F3A9-4AC7-BC2D-A84BE6644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78320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C1B7E7C7-2354-41FF-B8D6-1209761A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78320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5AA763F6-B642-4424-B4AC-2207CA97D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7832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18E2EF78-12BA-4630-ADC5-83BCDE45D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78320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AAA.br(sf)</a:t>
            </a:r>
          </a:p>
        </p:txBody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DBB30953-DFC1-451A-9328-F543D6038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124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3F1BBFBA-16E3-4BB4-AFE7-8AA84F34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607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71DE9F91-109E-452A-9C05-D45AFC9FA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04101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D827170B-0603-4703-8D7D-0D184ABBE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4101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ER - ENERGIA</a:t>
            </a:r>
          </a:p>
        </p:txBody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4BE72115-198C-4DD2-9069-84A19CC19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0410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</a:t>
            </a:r>
          </a:p>
        </p:txBody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CFAC62D8-593C-486A-8ACD-A8359378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04101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1,90</a:t>
            </a:r>
          </a:p>
        </p:txBody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E398F0F8-8FD9-448D-B6B9-3C942CD6B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0410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AE2F65BA-B85C-4A14-9D41-3F0ABA0DA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04101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E9002C8B-C03A-4646-A893-A8DFFD848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04101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6A31EF15-4F01-4C9F-93A3-3935A3F90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04101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E4592BE6-8650-4863-B320-35DAD0B13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0410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8C6F76BD-03D7-4B38-A4E4-3CC9C431E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04101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164751EC-99DF-4604-BDA7-A6197465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7025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6A966E93-6E60-4F15-B9DE-A1CDEE009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1853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6C82E6E4-9D16-4BAD-80AE-442AC6AD2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9882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5A934105-41E5-45E4-8510-92B2F3B88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29882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 LP II COTAS LIM</a:t>
            </a:r>
          </a:p>
        </p:txBody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BDCE398B-B98B-41FA-95AE-9C2712397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29882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aplicável ·</a:t>
            </a:r>
          </a:p>
        </p:txBody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CC8886AE-BC4B-4E99-BC1D-B45743A12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29882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1,54</a:t>
            </a:r>
          </a:p>
        </p:txBody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69105B99-164D-4677-BB53-0FC751707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29882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SINGULARE S.A</a:t>
            </a:r>
          </a:p>
        </p:txBody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A5847554-2C02-4699-9D01-F86164629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29882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E514683C-6DDC-4A5C-8EBC-CE30269FE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29882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02186F6A-B217-4C41-804D-F3A2F5F9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29882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Qualif.</a:t>
            </a:r>
          </a:p>
        </p:txBody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6A14EBCF-A0CC-46F8-8A8B-E54BA8DDC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29882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BC43ABC5-527C-4B0C-8606-E2C31B47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29882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C07A2211-64E9-4C55-8CC3-191EB27BE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2806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82E3C789-3285-441A-BE09-04DAC89FE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7634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D9AE7A79-5F43-4248-9DF7-A7C492F0F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55663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A1E7FCB1-B321-4051-B586-3D3962810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55663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FLEX</a:t>
            </a:r>
          </a:p>
        </p:txBody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15FA092A-AE95-4156-8B6E-5764DFE78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55663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agro</a:t>
            </a:r>
          </a:p>
        </p:txBody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2C9E6BBC-4841-42BA-AA05-F6DBA9E06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55663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86815FE2-D804-453F-B3DC-3D2A51E20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55663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EF84DDB2-4A36-48E8-9337-1A51E1A10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55663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93" name="">
            <a:extLst xmlns:a="http://schemas.openxmlformats.org/drawingml/2006/main">
              <a:ext uri="{FF2B5EF4-FFF2-40B4-BE49-F238E27FC236}">
                <a16:creationId xmlns:a16="http://schemas.microsoft.com/office/drawing/2014/main" id="{638C412F-3771-4AED-9A82-45CB3B13F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55663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294" name="">
            <a:extLst xmlns:a="http://schemas.openxmlformats.org/drawingml/2006/main">
              <a:ext uri="{FF2B5EF4-FFF2-40B4-BE49-F238E27FC236}">
                <a16:creationId xmlns:a16="http://schemas.microsoft.com/office/drawing/2014/main" id="{17E5F364-BD38-4CBB-9798-F21AE3B5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55663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295" name="">
            <a:extLst xmlns:a="http://schemas.openxmlformats.org/drawingml/2006/main">
              <a:ext uri="{FF2B5EF4-FFF2-40B4-BE49-F238E27FC236}">
                <a16:creationId xmlns:a16="http://schemas.microsoft.com/office/drawing/2014/main" id="{EA61A137-0F17-4644-A290-9C7BA0DFB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55663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96" name="">
            <a:extLst xmlns:a="http://schemas.openxmlformats.org/drawingml/2006/main">
              <a:ext uri="{FF2B5EF4-FFF2-40B4-BE49-F238E27FC236}">
                <a16:creationId xmlns:a16="http://schemas.microsoft.com/office/drawing/2014/main" id="{DEB5F214-773D-4C5E-AA44-987C6BD26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55663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297" name="">
            <a:extLst xmlns:a="http://schemas.openxmlformats.org/drawingml/2006/main">
              <a:ext uri="{FF2B5EF4-FFF2-40B4-BE49-F238E27FC236}">
                <a16:creationId xmlns:a16="http://schemas.microsoft.com/office/drawing/2014/main" id="{F042F880-867C-49FD-B7C2-63C7F6AB4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8587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" name="">
            <a:extLst xmlns:a="http://schemas.openxmlformats.org/drawingml/2006/main">
              <a:ext uri="{FF2B5EF4-FFF2-40B4-BE49-F238E27FC236}">
                <a16:creationId xmlns:a16="http://schemas.microsoft.com/office/drawing/2014/main" id="{A8F6B1C0-B054-4973-B3BF-4E9E55F8E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3415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" name="">
            <a:extLst xmlns:a="http://schemas.openxmlformats.org/drawingml/2006/main">
              <a:ext uri="{FF2B5EF4-FFF2-40B4-BE49-F238E27FC236}">
                <a16:creationId xmlns:a16="http://schemas.microsoft.com/office/drawing/2014/main" id="{A2F6B8B0-34AE-4611-BAEA-0A793F5E3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81444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300" name="">
            <a:extLst xmlns:a="http://schemas.openxmlformats.org/drawingml/2006/main">
              <a:ext uri="{FF2B5EF4-FFF2-40B4-BE49-F238E27FC236}">
                <a16:creationId xmlns:a16="http://schemas.microsoft.com/office/drawing/2014/main" id="{4013FD04-C1D7-4B48-9D1F-40260CDC1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81444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 FLEX</a:t>
            </a:r>
          </a:p>
        </p:txBody>
      </p:sp>
      <p:sp>
        <p:nvSpPr>
          <p:cNvPr id="301" name="">
            <a:extLst xmlns:a="http://schemas.openxmlformats.org/drawingml/2006/main">
              <a:ext uri="{FF2B5EF4-FFF2-40B4-BE49-F238E27FC236}">
                <a16:creationId xmlns:a16="http://schemas.microsoft.com/office/drawing/2014/main" id="{C6F1D542-004B-429E-B0F5-4D4BFCF1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81444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agro</a:t>
            </a:r>
          </a:p>
        </p:txBody>
      </p:sp>
      <p:sp>
        <p:nvSpPr>
          <p:cNvPr id="302" name="">
            <a:extLst xmlns:a="http://schemas.openxmlformats.org/drawingml/2006/main">
              <a:ext uri="{FF2B5EF4-FFF2-40B4-BE49-F238E27FC236}">
                <a16:creationId xmlns:a16="http://schemas.microsoft.com/office/drawing/2014/main" id="{CA67C41D-6849-4B89-B037-1B00B3716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81444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303" name="">
            <a:extLst xmlns:a="http://schemas.openxmlformats.org/drawingml/2006/main">
              <a:ext uri="{FF2B5EF4-FFF2-40B4-BE49-F238E27FC236}">
                <a16:creationId xmlns:a16="http://schemas.microsoft.com/office/drawing/2014/main" id="{50A01D71-A910-403E-8361-1A79CD2DA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81444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SANTANDER</a:t>
            </a:r>
          </a:p>
        </p:txBody>
      </p:sp>
      <p:sp>
        <p:nvSpPr>
          <p:cNvPr id="304" name="">
            <a:extLst xmlns:a="http://schemas.openxmlformats.org/drawingml/2006/main">
              <a:ext uri="{FF2B5EF4-FFF2-40B4-BE49-F238E27FC236}">
                <a16:creationId xmlns:a16="http://schemas.microsoft.com/office/drawing/2014/main" id="{43A0EC22-3FF7-41C2-906B-E9364B352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81444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05" name="">
            <a:extLst xmlns:a="http://schemas.openxmlformats.org/drawingml/2006/main">
              <a:ext uri="{FF2B5EF4-FFF2-40B4-BE49-F238E27FC236}">
                <a16:creationId xmlns:a16="http://schemas.microsoft.com/office/drawing/2014/main" id="{11C339D6-8011-48F6-A577-959E6322D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81444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06" name="">
            <a:extLst xmlns:a="http://schemas.openxmlformats.org/drawingml/2006/main">
              <a:ext uri="{FF2B5EF4-FFF2-40B4-BE49-F238E27FC236}">
                <a16:creationId xmlns:a16="http://schemas.microsoft.com/office/drawing/2014/main" id="{092A4726-A6D1-42E9-B531-D068AA0F1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81444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07" name="">
            <a:extLst xmlns:a="http://schemas.openxmlformats.org/drawingml/2006/main">
              <a:ext uri="{FF2B5EF4-FFF2-40B4-BE49-F238E27FC236}">
                <a16:creationId xmlns:a16="http://schemas.microsoft.com/office/drawing/2014/main" id="{1FF40983-52FD-4DA7-9FDF-2E439B2ED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81444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08" name="">
            <a:extLst xmlns:a="http://schemas.openxmlformats.org/drawingml/2006/main">
              <a:ext uri="{FF2B5EF4-FFF2-40B4-BE49-F238E27FC236}">
                <a16:creationId xmlns:a16="http://schemas.microsoft.com/office/drawing/2014/main" id="{AD0CD353-9747-4E4F-B68D-7A08841DA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81444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09" name="">
            <a:extLst xmlns:a="http://schemas.openxmlformats.org/drawingml/2006/main">
              <a:ext uri="{FF2B5EF4-FFF2-40B4-BE49-F238E27FC236}">
                <a16:creationId xmlns:a16="http://schemas.microsoft.com/office/drawing/2014/main" id="{998CBC67-3E32-4AAC-9216-D5BCC10F5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4368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" name="">
            <a:extLst xmlns:a="http://schemas.openxmlformats.org/drawingml/2006/main">
              <a:ext uri="{FF2B5EF4-FFF2-40B4-BE49-F238E27FC236}">
                <a16:creationId xmlns:a16="http://schemas.microsoft.com/office/drawing/2014/main" id="{8ED41BAF-D5C2-4213-9963-DCE9F682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9196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" name="">
            <a:extLst xmlns:a="http://schemas.openxmlformats.org/drawingml/2006/main">
              <a:ext uri="{FF2B5EF4-FFF2-40B4-BE49-F238E27FC236}">
                <a16:creationId xmlns:a16="http://schemas.microsoft.com/office/drawing/2014/main" id="{2D61D72C-9902-413E-A4DF-68C7EF125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7225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312" name="">
            <a:extLst xmlns:a="http://schemas.openxmlformats.org/drawingml/2006/main">
              <a:ext uri="{FF2B5EF4-FFF2-40B4-BE49-F238E27FC236}">
                <a16:creationId xmlns:a16="http://schemas.microsoft.com/office/drawing/2014/main" id="{6C7A2E99-1625-41CE-9814-B20B8E969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07225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Sellers I</a:t>
            </a:r>
          </a:p>
        </p:txBody>
      </p:sp>
      <p:sp>
        <p:nvSpPr>
          <p:cNvPr id="313" name="">
            <a:extLst xmlns:a="http://schemas.openxmlformats.org/drawingml/2006/main">
              <a:ext uri="{FF2B5EF4-FFF2-40B4-BE49-F238E27FC236}">
                <a16:creationId xmlns:a16="http://schemas.microsoft.com/office/drawing/2014/main" id="{8D9A7E78-5F01-4871-B6C8-6F80C7E9F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07225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Mercado Pago / Mercado</a:t>
            </a:r>
          </a:p>
        </p:txBody>
      </p:sp>
      <p:sp>
        <p:nvSpPr>
          <p:cNvPr id="314" name="">
            <a:extLst xmlns:a="http://schemas.openxmlformats.org/drawingml/2006/main">
              <a:ext uri="{FF2B5EF4-FFF2-40B4-BE49-F238E27FC236}">
                <a16:creationId xmlns:a16="http://schemas.microsoft.com/office/drawing/2014/main" id="{0A098760-6791-4460-BB0A-ACAA00E0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407225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315" name="">
            <a:extLst xmlns:a="http://schemas.openxmlformats.org/drawingml/2006/main">
              <a:ext uri="{FF2B5EF4-FFF2-40B4-BE49-F238E27FC236}">
                <a16:creationId xmlns:a16="http://schemas.microsoft.com/office/drawing/2014/main" id="{D5A04AF0-4EB3-4CD2-A579-9FEA7AB1C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07225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UBS BB</a:t>
            </a:r>
          </a:p>
        </p:txBody>
      </p:sp>
      <p:sp>
        <p:nvSpPr>
          <p:cNvPr id="316" name="">
            <a:extLst xmlns:a="http://schemas.openxmlformats.org/drawingml/2006/main">
              <a:ext uri="{FF2B5EF4-FFF2-40B4-BE49-F238E27FC236}">
                <a16:creationId xmlns:a16="http://schemas.microsoft.com/office/drawing/2014/main" id="{09EB72F0-7A83-415E-A574-EE9F37C1D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07225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17" name="">
            <a:extLst xmlns:a="http://schemas.openxmlformats.org/drawingml/2006/main">
              <a:ext uri="{FF2B5EF4-FFF2-40B4-BE49-F238E27FC236}">
                <a16:creationId xmlns:a16="http://schemas.microsoft.com/office/drawing/2014/main" id="{6BA91DF0-E642-4B00-AD84-219721668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07225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18" name="">
            <a:extLst xmlns:a="http://schemas.openxmlformats.org/drawingml/2006/main">
              <a:ext uri="{FF2B5EF4-FFF2-40B4-BE49-F238E27FC236}">
                <a16:creationId xmlns:a16="http://schemas.microsoft.com/office/drawing/2014/main" id="{784573E2-AF49-4BC7-9F4E-5DBABF9A5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07225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19" name="">
            <a:extLst xmlns:a="http://schemas.openxmlformats.org/drawingml/2006/main">
              <a:ext uri="{FF2B5EF4-FFF2-40B4-BE49-F238E27FC236}">
                <a16:creationId xmlns:a16="http://schemas.microsoft.com/office/drawing/2014/main" id="{EBBA430C-C5D9-4BBA-B7E4-3086A54DC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07225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Austin</a:t>
            </a:r>
          </a:p>
        </p:txBody>
      </p:sp>
      <p:sp>
        <p:nvSpPr>
          <p:cNvPr id="320" name="">
            <a:extLst xmlns:a="http://schemas.openxmlformats.org/drawingml/2006/main">
              <a:ext uri="{FF2B5EF4-FFF2-40B4-BE49-F238E27FC236}">
                <a16:creationId xmlns:a16="http://schemas.microsoft.com/office/drawing/2014/main" id="{852C6152-CD86-4106-B3F2-F042A7D2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07225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brAAA(sf)</a:t>
            </a:r>
          </a:p>
        </p:txBody>
      </p:sp>
      <p:sp>
        <p:nvSpPr>
          <p:cNvPr id="321" name="">
            <a:extLst xmlns:a="http://schemas.openxmlformats.org/drawingml/2006/main">
              <a:ext uri="{FF2B5EF4-FFF2-40B4-BE49-F238E27FC236}">
                <a16:creationId xmlns:a16="http://schemas.microsoft.com/office/drawing/2014/main" id="{DDCB2283-779D-485C-BC17-DDEB22E59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0149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" name="">
            <a:extLst xmlns:a="http://schemas.openxmlformats.org/drawingml/2006/main">
              <a:ext uri="{FF2B5EF4-FFF2-40B4-BE49-F238E27FC236}">
                <a16:creationId xmlns:a16="http://schemas.microsoft.com/office/drawing/2014/main" id="{AA028AE8-BB79-4719-9FFE-2DEEF3100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4977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">
            <a:extLst xmlns:a="http://schemas.openxmlformats.org/drawingml/2006/main">
              <a:ext uri="{FF2B5EF4-FFF2-40B4-BE49-F238E27FC236}">
                <a16:creationId xmlns:a16="http://schemas.microsoft.com/office/drawing/2014/main" id="{A222FACA-CDA3-4DD9-AE49-0461BE877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3006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24" name="">
            <a:extLst xmlns:a="http://schemas.openxmlformats.org/drawingml/2006/main">
              <a:ext uri="{FF2B5EF4-FFF2-40B4-BE49-F238E27FC236}">
                <a16:creationId xmlns:a16="http://schemas.microsoft.com/office/drawing/2014/main" id="{C21D57C8-E968-4DB4-860F-34BDE43D4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33006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BV AUTO II FINANCEIRO</a:t>
            </a:r>
          </a:p>
        </p:txBody>
      </p:sp>
      <p:sp>
        <p:nvSpPr>
          <p:cNvPr id="325" name="">
            <a:extLst xmlns:a="http://schemas.openxmlformats.org/drawingml/2006/main">
              <a:ext uri="{FF2B5EF4-FFF2-40B4-BE49-F238E27FC236}">
                <a16:creationId xmlns:a16="http://schemas.microsoft.com/office/drawing/2014/main" id="{AF25726A-B9DB-4C56-B101-4BC45746F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33006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BV</a:t>
            </a:r>
          </a:p>
        </p:txBody>
      </p:sp>
      <p:sp>
        <p:nvSpPr>
          <p:cNvPr id="326" name="">
            <a:extLst xmlns:a="http://schemas.openxmlformats.org/drawingml/2006/main">
              <a:ext uri="{FF2B5EF4-FFF2-40B4-BE49-F238E27FC236}">
                <a16:creationId xmlns:a16="http://schemas.microsoft.com/office/drawing/2014/main" id="{E5CD242C-B473-418B-A31B-23557CD44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433006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327" name="">
            <a:extLst xmlns:a="http://schemas.openxmlformats.org/drawingml/2006/main">
              <a:ext uri="{FF2B5EF4-FFF2-40B4-BE49-F238E27FC236}">
                <a16:creationId xmlns:a16="http://schemas.microsoft.com/office/drawing/2014/main" id="{02EF41F5-1E17-4D29-9659-B8ECBB8A8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33006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</a:t>
            </a:r>
          </a:p>
        </p:txBody>
      </p:sp>
      <p:sp>
        <p:nvSpPr>
          <p:cNvPr id="328" name="">
            <a:extLst xmlns:a="http://schemas.openxmlformats.org/drawingml/2006/main">
              <a:ext uri="{FF2B5EF4-FFF2-40B4-BE49-F238E27FC236}">
                <a16:creationId xmlns:a16="http://schemas.microsoft.com/office/drawing/2014/main" id="{DD644346-74C7-4EAE-B4D0-40B44750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33006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29" name="">
            <a:extLst xmlns:a="http://schemas.openxmlformats.org/drawingml/2006/main">
              <a:ext uri="{FF2B5EF4-FFF2-40B4-BE49-F238E27FC236}">
                <a16:creationId xmlns:a16="http://schemas.microsoft.com/office/drawing/2014/main" id="{F74BD0D3-CE78-4444-B7E8-57FD8CC55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33006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30" name="">
            <a:extLst xmlns:a="http://schemas.openxmlformats.org/drawingml/2006/main">
              <a:ext uri="{FF2B5EF4-FFF2-40B4-BE49-F238E27FC236}">
                <a16:creationId xmlns:a16="http://schemas.microsoft.com/office/drawing/2014/main" id="{3DDBF9CA-48D9-4D4F-A23C-9B35958DC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33006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31" name="">
            <a:extLst xmlns:a="http://schemas.openxmlformats.org/drawingml/2006/main">
              <a:ext uri="{FF2B5EF4-FFF2-40B4-BE49-F238E27FC236}">
                <a16:creationId xmlns:a16="http://schemas.microsoft.com/office/drawing/2014/main" id="{D78AF35A-4C2D-4B8C-A06D-EA424DC9F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33006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32" name="">
            <a:extLst xmlns:a="http://schemas.openxmlformats.org/drawingml/2006/main">
              <a:ext uri="{FF2B5EF4-FFF2-40B4-BE49-F238E27FC236}">
                <a16:creationId xmlns:a16="http://schemas.microsoft.com/office/drawing/2014/main" id="{9516E6F0-BFB2-46EB-B18C-8063DFB18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33006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33" name="">
            <a:extLst xmlns:a="http://schemas.openxmlformats.org/drawingml/2006/main">
              <a:ext uri="{FF2B5EF4-FFF2-40B4-BE49-F238E27FC236}">
                <a16:creationId xmlns:a16="http://schemas.microsoft.com/office/drawing/2014/main" id="{E888906E-1142-48C5-8514-466952054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5930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" name="">
            <a:extLst xmlns:a="http://schemas.openxmlformats.org/drawingml/2006/main">
              <a:ext uri="{FF2B5EF4-FFF2-40B4-BE49-F238E27FC236}">
                <a16:creationId xmlns:a16="http://schemas.microsoft.com/office/drawing/2014/main" id="{3A4B5D4D-616D-45BF-BF2A-07A66CD7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0758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" name="">
            <a:extLst xmlns:a="http://schemas.openxmlformats.org/drawingml/2006/main">
              <a:ext uri="{FF2B5EF4-FFF2-40B4-BE49-F238E27FC236}">
                <a16:creationId xmlns:a16="http://schemas.microsoft.com/office/drawing/2014/main" id="{53E1D1F4-8F74-47E8-A784-2FBA92E1C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8787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36" name="">
            <a:extLst xmlns:a="http://schemas.openxmlformats.org/drawingml/2006/main">
              <a:ext uri="{FF2B5EF4-FFF2-40B4-BE49-F238E27FC236}">
                <a16:creationId xmlns:a16="http://schemas.microsoft.com/office/drawing/2014/main" id="{1B092349-90A6-4ED7-B1EB-9B9F308AA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8787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PINE INSS II</a:t>
            </a:r>
          </a:p>
        </p:txBody>
      </p:sp>
      <p:sp>
        <p:nvSpPr>
          <p:cNvPr id="337" name="">
            <a:extLst xmlns:a="http://schemas.openxmlformats.org/drawingml/2006/main">
              <a:ext uri="{FF2B5EF4-FFF2-40B4-BE49-F238E27FC236}">
                <a16:creationId xmlns:a16="http://schemas.microsoft.com/office/drawing/2014/main" id="{FD3F16BA-A492-4869-BDE8-6BD14DECA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878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Pine</a:t>
            </a:r>
          </a:p>
        </p:txBody>
      </p:sp>
      <p:sp>
        <p:nvSpPr>
          <p:cNvPr id="338" name="">
            <a:extLst xmlns:a="http://schemas.openxmlformats.org/drawingml/2006/main">
              <a:ext uri="{FF2B5EF4-FFF2-40B4-BE49-F238E27FC236}">
                <a16:creationId xmlns:a16="http://schemas.microsoft.com/office/drawing/2014/main" id="{E5192FC9-38C2-443E-BA6A-8BEDBD3B8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458787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1,25</a:t>
            </a:r>
          </a:p>
        </p:txBody>
      </p:sp>
      <p:sp>
        <p:nvSpPr>
          <p:cNvPr id="339" name="">
            <a:extLst xmlns:a="http://schemas.openxmlformats.org/drawingml/2006/main">
              <a:ext uri="{FF2B5EF4-FFF2-40B4-BE49-F238E27FC236}">
                <a16:creationId xmlns:a16="http://schemas.microsoft.com/office/drawing/2014/main" id="{78046983-964C-465C-B034-7F606ED4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58787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</a:t>
            </a:r>
          </a:p>
        </p:txBody>
      </p:sp>
      <p:sp>
        <p:nvSpPr>
          <p:cNvPr id="340" name="">
            <a:extLst xmlns:a="http://schemas.openxmlformats.org/drawingml/2006/main">
              <a:ext uri="{FF2B5EF4-FFF2-40B4-BE49-F238E27FC236}">
                <a16:creationId xmlns:a16="http://schemas.microsoft.com/office/drawing/2014/main" id="{305D400B-7A4C-442B-B6D3-749C42339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58787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41" name="">
            <a:extLst xmlns:a="http://schemas.openxmlformats.org/drawingml/2006/main">
              <a:ext uri="{FF2B5EF4-FFF2-40B4-BE49-F238E27FC236}">
                <a16:creationId xmlns:a16="http://schemas.microsoft.com/office/drawing/2014/main" id="{F42BA64F-FEB1-4B8F-A950-E95F4AA5C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58787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42" name="">
            <a:extLst xmlns:a="http://schemas.openxmlformats.org/drawingml/2006/main">
              <a:ext uri="{FF2B5EF4-FFF2-40B4-BE49-F238E27FC236}">
                <a16:creationId xmlns:a16="http://schemas.microsoft.com/office/drawing/2014/main" id="{A7E43553-2FD6-407B-BD2C-44FD78FA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58787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43" name="">
            <a:extLst xmlns:a="http://schemas.openxmlformats.org/drawingml/2006/main">
              <a:ext uri="{FF2B5EF4-FFF2-40B4-BE49-F238E27FC236}">
                <a16:creationId xmlns:a16="http://schemas.microsoft.com/office/drawing/2014/main" id="{AD235D12-E731-4702-A2F4-3F1226A7B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58787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Moody's</a:t>
            </a:r>
          </a:p>
        </p:txBody>
      </p:sp>
      <p:sp>
        <p:nvSpPr>
          <p:cNvPr id="344" name="">
            <a:extLst xmlns:a="http://schemas.openxmlformats.org/drawingml/2006/main">
              <a:ext uri="{FF2B5EF4-FFF2-40B4-BE49-F238E27FC236}">
                <a16:creationId xmlns:a16="http://schemas.microsoft.com/office/drawing/2014/main" id="{C5F0FDB5-1A3A-4253-B6CD-1929897FB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58787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AAA(br)</a:t>
            </a:r>
          </a:p>
        </p:txBody>
      </p:sp>
      <p:sp>
        <p:nvSpPr>
          <p:cNvPr id="345" name="">
            <a:extLst xmlns:a="http://schemas.openxmlformats.org/drawingml/2006/main">
              <a:ext uri="{FF2B5EF4-FFF2-40B4-BE49-F238E27FC236}">
                <a16:creationId xmlns:a16="http://schemas.microsoft.com/office/drawing/2014/main" id="{1306CAF9-4BC4-4B27-ADE1-E2A1A45B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711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" name="">
            <a:extLst xmlns:a="http://schemas.openxmlformats.org/drawingml/2006/main">
              <a:ext uri="{FF2B5EF4-FFF2-40B4-BE49-F238E27FC236}">
                <a16:creationId xmlns:a16="http://schemas.microsoft.com/office/drawing/2014/main" id="{BC97803B-F7D7-45C6-A3C7-4FF5188DA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6539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" name="">
            <a:extLst xmlns:a="http://schemas.openxmlformats.org/drawingml/2006/main">
              <a:ext uri="{FF2B5EF4-FFF2-40B4-BE49-F238E27FC236}">
                <a16:creationId xmlns:a16="http://schemas.microsoft.com/office/drawing/2014/main" id="{2AC6F0EC-5DA2-42C5-A33F-54C7C1FF6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4568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48" name="">
            <a:extLst xmlns:a="http://schemas.openxmlformats.org/drawingml/2006/main">
              <a:ext uri="{FF2B5EF4-FFF2-40B4-BE49-F238E27FC236}">
                <a16:creationId xmlns:a16="http://schemas.microsoft.com/office/drawing/2014/main" id="{FFEB49E3-F4ED-4F83-B875-F3A8E42B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4568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44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VOLKSWAGEN TERA RECEBIVEIS COMERCIAIS</a:t>
            </a:r>
          </a:p>
        </p:txBody>
      </p:sp>
      <p:sp>
        <p:nvSpPr>
          <p:cNvPr id="349" name="">
            <a:extLst xmlns:a="http://schemas.openxmlformats.org/drawingml/2006/main">
              <a:ext uri="{FF2B5EF4-FFF2-40B4-BE49-F238E27FC236}">
                <a16:creationId xmlns:a16="http://schemas.microsoft.com/office/drawing/2014/main" id="{55CFDAD5-0B29-4D30-88C6-5BA5F83FC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456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Volkswagen /</a:t>
            </a:r>
          </a:p>
        </p:txBody>
      </p:sp>
      <p:sp>
        <p:nvSpPr>
          <p:cNvPr id="350" name="">
            <a:extLst xmlns:a="http://schemas.openxmlformats.org/drawingml/2006/main">
              <a:ext uri="{FF2B5EF4-FFF2-40B4-BE49-F238E27FC236}">
                <a16:creationId xmlns:a16="http://schemas.microsoft.com/office/drawing/2014/main" id="{8131105F-363C-48A3-817F-112826499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484568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351" name="">
            <a:extLst xmlns:a="http://schemas.openxmlformats.org/drawingml/2006/main">
              <a:ext uri="{FF2B5EF4-FFF2-40B4-BE49-F238E27FC236}">
                <a16:creationId xmlns:a16="http://schemas.microsoft.com/office/drawing/2014/main" id="{DFC818E7-542C-47CF-AFB7-CD0ADBBC6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84568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BBA</a:t>
            </a:r>
          </a:p>
        </p:txBody>
      </p:sp>
      <p:sp>
        <p:nvSpPr>
          <p:cNvPr id="352" name="">
            <a:extLst xmlns:a="http://schemas.openxmlformats.org/drawingml/2006/main">
              <a:ext uri="{FF2B5EF4-FFF2-40B4-BE49-F238E27FC236}">
                <a16:creationId xmlns:a16="http://schemas.microsoft.com/office/drawing/2014/main" id="{7B383743-791A-48BF-A48A-C73C405C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84568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Sim</a:t>
            </a:r>
          </a:p>
        </p:txBody>
      </p:sp>
      <p:sp>
        <p:nvSpPr>
          <p:cNvPr id="353" name="">
            <a:extLst xmlns:a="http://schemas.openxmlformats.org/drawingml/2006/main">
              <a:ext uri="{FF2B5EF4-FFF2-40B4-BE49-F238E27FC236}">
                <a16:creationId xmlns:a16="http://schemas.microsoft.com/office/drawing/2014/main" id="{45A95D90-5C35-4461-B124-8830749C0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84568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54" name="">
            <a:extLst xmlns:a="http://schemas.openxmlformats.org/drawingml/2006/main">
              <a:ext uri="{FF2B5EF4-FFF2-40B4-BE49-F238E27FC236}">
                <a16:creationId xmlns:a16="http://schemas.microsoft.com/office/drawing/2014/main" id="{6B2E43AE-3E6B-46CB-938E-974F7216E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84568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55" name="">
            <a:extLst xmlns:a="http://schemas.openxmlformats.org/drawingml/2006/main">
              <a:ext uri="{FF2B5EF4-FFF2-40B4-BE49-F238E27FC236}">
                <a16:creationId xmlns:a16="http://schemas.microsoft.com/office/drawing/2014/main" id="{A87643C9-F8CA-4248-8C06-F108FC031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84568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56" name="">
            <a:extLst xmlns:a="http://schemas.openxmlformats.org/drawingml/2006/main">
              <a:ext uri="{FF2B5EF4-FFF2-40B4-BE49-F238E27FC236}">
                <a16:creationId xmlns:a16="http://schemas.microsoft.com/office/drawing/2014/main" id="{5EF05ADD-6AE4-4ECF-953A-46054EA86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84568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57" name="">
            <a:extLst xmlns:a="http://schemas.openxmlformats.org/drawingml/2006/main">
              <a:ext uri="{FF2B5EF4-FFF2-40B4-BE49-F238E27FC236}">
                <a16:creationId xmlns:a16="http://schemas.microsoft.com/office/drawing/2014/main" id="{B5935DFE-6B88-4DC2-9BEA-ADDE3F43D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7492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8" name="">
            <a:extLst xmlns:a="http://schemas.openxmlformats.org/drawingml/2006/main">
              <a:ext uri="{FF2B5EF4-FFF2-40B4-BE49-F238E27FC236}">
                <a16:creationId xmlns:a16="http://schemas.microsoft.com/office/drawing/2014/main" id="{7102369F-2CC0-4EF4-A892-854EF271F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2320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9" name="">
            <a:extLst xmlns:a="http://schemas.openxmlformats.org/drawingml/2006/main">
              <a:ext uri="{FF2B5EF4-FFF2-40B4-BE49-F238E27FC236}">
                <a16:creationId xmlns:a16="http://schemas.microsoft.com/office/drawing/2014/main" id="{15603F80-9B22-4372-91D2-F3459F217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0349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60" name="">
            <a:extLst xmlns:a="http://schemas.openxmlformats.org/drawingml/2006/main">
              <a:ext uri="{FF2B5EF4-FFF2-40B4-BE49-F238E27FC236}">
                <a16:creationId xmlns:a16="http://schemas.microsoft.com/office/drawing/2014/main" id="{BD426DED-3D71-4502-91CE-677E16479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10349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BYX MOZART - CRÉDITO CONSIGNADO .</a:t>
            </a:r>
          </a:p>
        </p:txBody>
      </p:sp>
      <p:sp>
        <p:nvSpPr>
          <p:cNvPr id="361" name="">
            <a:extLst xmlns:a="http://schemas.openxmlformats.org/drawingml/2006/main">
              <a:ext uri="{FF2B5EF4-FFF2-40B4-BE49-F238E27FC236}">
                <a16:creationId xmlns:a16="http://schemas.microsoft.com/office/drawing/2014/main" id="{263ECEA1-6A25-4D97-AD92-095A04E3B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034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</a:t>
            </a:r>
          </a:p>
        </p:txBody>
      </p:sp>
      <p:sp>
        <p:nvSpPr>
          <p:cNvPr id="362" name="">
            <a:extLst xmlns:a="http://schemas.openxmlformats.org/drawingml/2006/main">
              <a:ext uri="{FF2B5EF4-FFF2-40B4-BE49-F238E27FC236}">
                <a16:creationId xmlns:a16="http://schemas.microsoft.com/office/drawing/2014/main" id="{AF8B4202-0DD0-4C61-A4BA-4EF322CCD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510349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363" name="">
            <a:extLst xmlns:a="http://schemas.openxmlformats.org/drawingml/2006/main">
              <a:ext uri="{FF2B5EF4-FFF2-40B4-BE49-F238E27FC236}">
                <a16:creationId xmlns:a16="http://schemas.microsoft.com/office/drawing/2014/main" id="{210AF995-4300-46DF-9081-75C9B2FEC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510349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VERT</a:t>
            </a:r>
          </a:p>
        </p:txBody>
      </p:sp>
      <p:sp>
        <p:nvSpPr>
          <p:cNvPr id="364" name="">
            <a:extLst xmlns:a="http://schemas.openxmlformats.org/drawingml/2006/main">
              <a:ext uri="{FF2B5EF4-FFF2-40B4-BE49-F238E27FC236}">
                <a16:creationId xmlns:a16="http://schemas.microsoft.com/office/drawing/2014/main" id="{F65FFFB8-AEA1-4531-86FF-CC0478806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510349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65" name="">
            <a:extLst xmlns:a="http://schemas.openxmlformats.org/drawingml/2006/main">
              <a:ext uri="{FF2B5EF4-FFF2-40B4-BE49-F238E27FC236}">
                <a16:creationId xmlns:a16="http://schemas.microsoft.com/office/drawing/2014/main" id="{B039CB2E-1FA1-41BD-8C66-3313BD0A5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10349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66" name="">
            <a:extLst xmlns:a="http://schemas.openxmlformats.org/drawingml/2006/main">
              <a:ext uri="{FF2B5EF4-FFF2-40B4-BE49-F238E27FC236}">
                <a16:creationId xmlns:a16="http://schemas.microsoft.com/office/drawing/2014/main" id="{965170A0-47E7-410D-8207-1FBD8586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510349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67" name="">
            <a:extLst xmlns:a="http://schemas.openxmlformats.org/drawingml/2006/main">
              <a:ext uri="{FF2B5EF4-FFF2-40B4-BE49-F238E27FC236}">
                <a16:creationId xmlns:a16="http://schemas.microsoft.com/office/drawing/2014/main" id="{7EFBBA97-B0B3-4B9D-B40D-31247A400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10349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68" name="">
            <a:extLst xmlns:a="http://schemas.openxmlformats.org/drawingml/2006/main">
              <a:ext uri="{FF2B5EF4-FFF2-40B4-BE49-F238E27FC236}">
                <a16:creationId xmlns:a16="http://schemas.microsoft.com/office/drawing/2014/main" id="{E0732735-2F7F-4990-A4F9-EC4C03D28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510349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69" name="">
            <a:extLst xmlns:a="http://schemas.openxmlformats.org/drawingml/2006/main">
              <a:ext uri="{FF2B5EF4-FFF2-40B4-BE49-F238E27FC236}">
                <a16:creationId xmlns:a16="http://schemas.microsoft.com/office/drawing/2014/main" id="{4454D5FB-02DB-486B-B595-523D95296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3273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0" name="">
            <a:extLst xmlns:a="http://schemas.openxmlformats.org/drawingml/2006/main">
              <a:ext uri="{FF2B5EF4-FFF2-40B4-BE49-F238E27FC236}">
                <a16:creationId xmlns:a16="http://schemas.microsoft.com/office/drawing/2014/main" id="{7E961718-8AD3-46A7-ADCC-7E99EACE6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8101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1" name="">
            <a:extLst xmlns:a="http://schemas.openxmlformats.org/drawingml/2006/main">
              <a:ext uri="{FF2B5EF4-FFF2-40B4-BE49-F238E27FC236}">
                <a16:creationId xmlns:a16="http://schemas.microsoft.com/office/drawing/2014/main" id="{E18E36A0-9565-455B-BC63-13C3C600D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36130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72" name="">
            <a:extLst xmlns:a="http://schemas.openxmlformats.org/drawingml/2006/main">
              <a:ext uri="{FF2B5EF4-FFF2-40B4-BE49-F238E27FC236}">
                <a16:creationId xmlns:a16="http://schemas.microsoft.com/office/drawing/2014/main" id="{0C250D82-0CEC-4127-8E14-7052FA7EB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36130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PINE INSS FINANCEIRO</a:t>
            </a:r>
          </a:p>
        </p:txBody>
      </p:sp>
      <p:sp>
        <p:nvSpPr>
          <p:cNvPr id="373" name="">
            <a:extLst xmlns:a="http://schemas.openxmlformats.org/drawingml/2006/main">
              <a:ext uri="{FF2B5EF4-FFF2-40B4-BE49-F238E27FC236}">
                <a16:creationId xmlns:a16="http://schemas.microsoft.com/office/drawing/2014/main" id="{BCA63CDF-04FC-4536-ABDC-9AC1077C4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3613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Banco Pine</a:t>
            </a:r>
          </a:p>
        </p:txBody>
      </p:sp>
      <p:sp>
        <p:nvSpPr>
          <p:cNvPr id="374" name="">
            <a:extLst xmlns:a="http://schemas.openxmlformats.org/drawingml/2006/main">
              <a:ext uri="{FF2B5EF4-FFF2-40B4-BE49-F238E27FC236}">
                <a16:creationId xmlns:a16="http://schemas.microsoft.com/office/drawing/2014/main" id="{CECB6BAF-05E9-446A-9B9D-3057D84D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536130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375" name="">
            <a:extLst xmlns:a="http://schemas.openxmlformats.org/drawingml/2006/main">
              <a:ext uri="{FF2B5EF4-FFF2-40B4-BE49-F238E27FC236}">
                <a16:creationId xmlns:a16="http://schemas.microsoft.com/office/drawing/2014/main" id="{60B8F6BA-3D9D-4577-8FBD-6E681750C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536130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VERT</a:t>
            </a:r>
          </a:p>
        </p:txBody>
      </p:sp>
      <p:sp>
        <p:nvSpPr>
          <p:cNvPr id="376" name="">
            <a:extLst xmlns:a="http://schemas.openxmlformats.org/drawingml/2006/main">
              <a:ext uri="{FF2B5EF4-FFF2-40B4-BE49-F238E27FC236}">
                <a16:creationId xmlns:a16="http://schemas.microsoft.com/office/drawing/2014/main" id="{01F981E1-27AC-414F-8BE9-6A724DEFA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536130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77" name="">
            <a:extLst xmlns:a="http://schemas.openxmlformats.org/drawingml/2006/main">
              <a:ext uri="{FF2B5EF4-FFF2-40B4-BE49-F238E27FC236}">
                <a16:creationId xmlns:a16="http://schemas.microsoft.com/office/drawing/2014/main" id="{581C769B-5FCA-42D4-A8A9-8FC8EFFA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36130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78" name="">
            <a:extLst xmlns:a="http://schemas.openxmlformats.org/drawingml/2006/main">
              <a:ext uri="{FF2B5EF4-FFF2-40B4-BE49-F238E27FC236}">
                <a16:creationId xmlns:a16="http://schemas.microsoft.com/office/drawing/2014/main" id="{38D6972A-38DA-4EBB-831F-DDAE49FB3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536130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79" name="">
            <a:extLst xmlns:a="http://schemas.openxmlformats.org/drawingml/2006/main">
              <a:ext uri="{FF2B5EF4-FFF2-40B4-BE49-F238E27FC236}">
                <a16:creationId xmlns:a16="http://schemas.microsoft.com/office/drawing/2014/main" id="{35E3F813-C93E-4B6C-B59C-33608ED2E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36130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80" name="">
            <a:extLst xmlns:a="http://schemas.openxmlformats.org/drawingml/2006/main">
              <a:ext uri="{FF2B5EF4-FFF2-40B4-BE49-F238E27FC236}">
                <a16:creationId xmlns:a16="http://schemas.microsoft.com/office/drawing/2014/main" id="{ACF2415A-94D5-47FD-9CA9-A24B1175A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536130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81" name="">
            <a:extLst xmlns:a="http://schemas.openxmlformats.org/drawingml/2006/main">
              <a:ext uri="{FF2B5EF4-FFF2-40B4-BE49-F238E27FC236}">
                <a16:creationId xmlns:a16="http://schemas.microsoft.com/office/drawing/2014/main" id="{BFE7750C-1DBD-4E42-9620-B213CCC3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90540"/>
            <a:ext cx="5334000" cy="257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2" name="">
            <a:extLst xmlns:a="http://schemas.openxmlformats.org/drawingml/2006/main">
              <a:ext uri="{FF2B5EF4-FFF2-40B4-BE49-F238E27FC236}">
                <a16:creationId xmlns:a16="http://schemas.microsoft.com/office/drawing/2014/main" id="{C322033F-3937-4C4A-AE59-B292B9027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838825"/>
            <a:ext cx="5334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3" name="">
            <a:extLst xmlns:a="http://schemas.openxmlformats.org/drawingml/2006/main">
              <a:ext uri="{FF2B5EF4-FFF2-40B4-BE49-F238E27FC236}">
                <a16:creationId xmlns:a16="http://schemas.microsoft.com/office/drawing/2014/main" id="{F7F50C2D-5BA0-4750-9488-CE038A22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619115"/>
            <a:ext cx="952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84" name="">
            <a:extLst xmlns:a="http://schemas.openxmlformats.org/drawingml/2006/main">
              <a:ext uri="{FF2B5EF4-FFF2-40B4-BE49-F238E27FC236}">
                <a16:creationId xmlns:a16="http://schemas.microsoft.com/office/drawing/2014/main" id="{83BFAC72-0A84-478C-A1A8-1CCDD46C1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619115"/>
            <a:ext cx="8858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385" name="">
            <a:extLst xmlns:a="http://schemas.openxmlformats.org/drawingml/2006/main">
              <a:ext uri="{FF2B5EF4-FFF2-40B4-BE49-F238E27FC236}">
                <a16:creationId xmlns:a16="http://schemas.microsoft.com/office/drawing/2014/main" id="{B5712D82-FBED-4F8C-B0E6-649F63744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6191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386" name="">
            <a:extLst xmlns:a="http://schemas.openxmlformats.org/drawingml/2006/main">
              <a:ext uri="{FF2B5EF4-FFF2-40B4-BE49-F238E27FC236}">
                <a16:creationId xmlns:a16="http://schemas.microsoft.com/office/drawing/2014/main" id="{B088C9CB-1145-46F7-8876-EA85FE64D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5619115"/>
            <a:ext cx="2857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1,00</a:t>
            </a:r>
          </a:p>
        </p:txBody>
      </p:sp>
      <p:sp>
        <p:nvSpPr>
          <p:cNvPr id="387" name="">
            <a:extLst xmlns:a="http://schemas.openxmlformats.org/drawingml/2006/main">
              <a:ext uri="{FF2B5EF4-FFF2-40B4-BE49-F238E27FC236}">
                <a16:creationId xmlns:a16="http://schemas.microsoft.com/office/drawing/2014/main" id="{D0D9BC28-CB68-4C84-8F2A-F20E41DAA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5619115"/>
            <a:ext cx="4572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FINAXIS S.A</a:t>
            </a:r>
          </a:p>
        </p:txBody>
      </p:sp>
      <p:sp>
        <p:nvSpPr>
          <p:cNvPr id="388" name="">
            <a:extLst xmlns:a="http://schemas.openxmlformats.org/drawingml/2006/main">
              <a:ext uri="{FF2B5EF4-FFF2-40B4-BE49-F238E27FC236}">
                <a16:creationId xmlns:a16="http://schemas.microsoft.com/office/drawing/2014/main" id="{65AD86AA-E9BE-4BE7-AFB0-7384CA4A9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5619115"/>
            <a:ext cx="1714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89" name="">
            <a:extLst xmlns:a="http://schemas.openxmlformats.org/drawingml/2006/main">
              <a:ext uri="{FF2B5EF4-FFF2-40B4-BE49-F238E27FC236}">
                <a16:creationId xmlns:a16="http://schemas.microsoft.com/office/drawing/2014/main" id="{AF750F6B-2A88-4B55-8A05-3CEA183F3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619115"/>
            <a:ext cx="1333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</a:t>
            </a:r>
          </a:p>
        </p:txBody>
      </p:sp>
      <p:sp>
        <p:nvSpPr>
          <p:cNvPr id="390" name="">
            <a:extLst xmlns:a="http://schemas.openxmlformats.org/drawingml/2006/main">
              <a:ext uri="{FF2B5EF4-FFF2-40B4-BE49-F238E27FC236}">
                <a16:creationId xmlns:a16="http://schemas.microsoft.com/office/drawing/2014/main" id="{3BA5D3C4-1570-4034-BBEC-D9B4D6E05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5619115"/>
            <a:ext cx="314325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Prof.</a:t>
            </a:r>
          </a:p>
        </p:txBody>
      </p:sp>
      <p:sp>
        <p:nvSpPr>
          <p:cNvPr id="391" name="">
            <a:extLst xmlns:a="http://schemas.openxmlformats.org/drawingml/2006/main">
              <a:ext uri="{FF2B5EF4-FFF2-40B4-BE49-F238E27FC236}">
                <a16:creationId xmlns:a16="http://schemas.microsoft.com/office/drawing/2014/main" id="{2B683336-8612-428B-A7F9-7C7A9F902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619115"/>
            <a:ext cx="59055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92" name="">
            <a:extLst xmlns:a="http://schemas.openxmlformats.org/drawingml/2006/main">
              <a:ext uri="{FF2B5EF4-FFF2-40B4-BE49-F238E27FC236}">
                <a16:creationId xmlns:a16="http://schemas.microsoft.com/office/drawing/2014/main" id="{7184B36D-DCEB-4B31-A843-22E733A0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5619115"/>
            <a:ext cx="800100" cy="200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4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44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393" name="">
            <a:extLst xmlns:a="http://schemas.openxmlformats.org/drawingml/2006/main">
              <a:ext uri="{FF2B5EF4-FFF2-40B4-BE49-F238E27FC236}">
                <a16:creationId xmlns:a16="http://schemas.microsoft.com/office/drawing/2014/main" id="{B31B3801-FC76-4367-8D48-829194E76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p:txBody>
      </p:sp>
      <p:sp>
        <p:nvSpPr>
          <p:cNvPr id="394" name="">
            <a:extLst xmlns:a="http://schemas.openxmlformats.org/drawingml/2006/main">
              <a:ext uri="{FF2B5EF4-FFF2-40B4-BE49-F238E27FC236}">
                <a16:creationId xmlns:a16="http://schemas.microsoft.com/office/drawing/2014/main" id="{BD4DC8A7-43B3-4624-840B-269EEB334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22,4% do período</a:t>
            </a:r>
          </a:p>
        </p:txBody>
      </p:sp>
      <p:sp>
        <p:nvSpPr>
          <p:cNvPr id="395" name="">
            <a:extLst xmlns:a="http://schemas.openxmlformats.org/drawingml/2006/main">
              <a:ext uri="{FF2B5EF4-FFF2-40B4-BE49-F238E27FC236}">
                <a16:creationId xmlns:a16="http://schemas.microsoft.com/office/drawing/2014/main" id="{6673E443-4FA3-4E48-976B-3C0B53DA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59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9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Coord. líder = coordenador líder informado no requerimento. GF = garantia firme. Agência e Rating referem-se à emissão/série/subclasse conciliada; N/D indica ausência de documento aplicável. O workbook contém todos os períodos e a trilha documental.</a:t>
            </a:r>
          </a:p>
        </p:txBody>
      </p:sp>
      <p:graphicFrame>
        <p:nvGraphicFramePr>
          <p:cNvPr id="793" name=""/>
          <p:cNvGraphicFramePr/>
          <p:nvPr/>
        </p:nvGraphicFramePr>
        <p:xfrm>
          <a:off xmlns:a="http://schemas.openxmlformats.org/drawingml/2006/main" x="12382500" y="6667500"/>
          <a:ext xmlns:a="http://schemas.openxmlformats.org/drawingml/2006/main" cx="95250" cy="4191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Tabela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Jan–jun/26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94" name=""/>
          <p:cNvGraphicFramePr/>
          <p:nvPr/>
        </p:nvGraphicFramePr>
        <p:xfrm>
          <a:off xmlns:a="http://schemas.openxmlformats.org/drawingml/2006/main" x="12496800" y="6667500"/>
          <a:ext xmlns:a="http://schemas.openxmlformats.org/drawingml/2006/main" cx="95250" cy="4191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Tabela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r>
                        <a:rPr sz="10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74704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EF5B07-6F19-4706-B5AF-4E3E01003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247647-7E1C-4054-A0BC-7E59E6D75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0D9D1A-146C-490F-9DFD-AAC43F32C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622BB6-C1A1-4ECD-8DAB-F19100F6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3A3153-7D18-4533-A408-F4EA38714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76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inclui FIC-FIDC; Top 10 ex-Petrobras/TAPSO. BTG: 30/32 raízes observadas; ofertas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59C23D-CFD5-4065-9D30-18B4FF926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DB3961-1D1B-47C6-96BC-83126F7EC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CE8BA0-70D7-4BC2-88AF-003E0679B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91CEB0-F418-48C7-AF48-BEE0F62B1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36B6D3-E37D-4B1E-9FEB-43442D08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963466-0F28-4CEA-9CCB-D6E51534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90,3% do PL: nove em cada dez reais da indústria.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35,7% do PL.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79C096-0480-45CC-A77E-88EAC5C4D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0EA50F-C6EC-4AC3-9850-3E8930A0A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29805D-7F94-490F-9BF5-9F2C5D83A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35,0% do PL continuante já havia migrado de administrador até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0AE5C5-11AA-4685-ABBE-246AC81E3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4E73DD-88CC-4347-98C2-4E6F5F1D7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AF53D3-A1BD-426F-9761-267A1EB6D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7,2% do PL comparável trocou de administrador entre dez/24 e dez/25: R$ 33,0 bi em 257 fundos.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27% do volume migrado, com R$ 8,9 bi transferidos de Oliveira Trust para Bradesco.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3E6AEA-895F-4510-BE4A-BAE70AA4B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2EDB3C-C588-44F9-87EE-11A00D2F0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E8EBDB-B687-47C1-AE96-AB216D0B9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36,4% do PL ex-FIC; a líder, BTG, tem 10,2%.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71,8% e 72,8% do PL nos dez maiores grupos, praticamente o dobro da concentração em gestão.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50F857-62E8-494B-9964-D05FC6F00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D9BD12-A12C-4C5D-8D68-3383CB640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34BAE1-DBDB-48C8-AD97-5A94CAB38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Essa carteira responde por 66% de todo o PL atendido pelo BTG no combo completo, indicando forte ancoragem nos veículos da coorte bancária.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B4AA00-0959-4315-AB12-6EC8269F2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89370E-4F1F-4649-B7A2-3A6CED66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DDA2B6-379C-4A39-A72B-2114E2E4C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2025 e 60% sobre 2024.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2025; na sensibilidade sem essa oferta, o mercado teria avançado 5,0%.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627BA5-EDC7-48F8-B250-03414DA1A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2122213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91DB2D1-4016-447F-B9BA-198EBCB7C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9701F9-EF51-439F-9519-A81581E93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33FF70-EF29-4404-AB60-E864456C4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1AFDA0-7C4E-4602-A991-808142D77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6E6A8F-FC6D-494B-8FA8-D7E53130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CVM, ANBIMA Data e FundosNet.  Ofertas consultadas em 24/jul/26.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F37D14-1BFE-446F-8005-E5571E3F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56B113-73B2-4D32-8C1A-1D080EBEA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510B0C-3D95-4BF0-9C82-D9A34C248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89E627-8BD9-4E37-B620-24EF9084B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53DCA2-0563-4E68-9B79-A066E6477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CC9C67-06B9-474A-89E0-28292D477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BB59AE-51E5-4AC8-A135-A01A0A92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33D447-32CD-4625-B1A4-AA96D4306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679972-626F-417A-B489-B2F74B07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2EB718-4F0E-4338-A5F6-89A9FC2CB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C2E273-974F-472F-BA49-366F37E40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DE24A9-EBB9-44B6-B298-99675032E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F07F57-3BB2-478D-B5DF-1D00EA150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31E444-1B11-42AF-A378-F7F0C2D0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479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89,85% oficial; 1,07% evidência; 7,89% proxy; 1,19%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B1AB41-72AD-470D-BEA8-42F282CBC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4479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Gestor e custodiante históricos usam o cadastro vigente; a base não observa a troca ao longo do tempo.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0595D2-FB50-4825-9776-E9CC244D9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3372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974D92-BD4B-4710-81DE-947E5F1F8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2C2B54-FBFF-45C6-8BF4-06CD9907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8DDAE4-9130-46C9-A2FF-359F0982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6230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B3DB44-0FBD-4FC6-B456-8394CAEDA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= ausência de reporte. Aging reconciliado à Tabela I completa; ex-360 ajustada = 4,9%.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C44E63-6DDF-41C0-8851-D84F0165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1A22EE-7617-4A42-AF3F-50DF6EB8C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27309B-089A-4D42-A2FE-891C777BB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66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FF05E8-2A9E-4AB0-B9F4-7DFC56FD5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7667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20430A-A3D1-43A8-81D4-5B71A5927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7667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subtipo. Top 10 fixo por função; Outros identificados e prestador não informado separados. PL negativo consta no QA.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BDA6AA-FEE1-460B-B79B-8B37DC573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1EE1AD3-7F2A-473B-B77E-2D1D9E45C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DFA664B-0574-4ECE-8074-F6B8501E5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9063481-02B5-4AEA-BCC4-18AA71AA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5910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4.247 fundos;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9AF28EC-F08D-49F8-A869-87652A7F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5910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Mesma entidade econômica normalizada nas três funções. Preço, propostas e contratos não integram a base.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ED34AF5-AA07-4E47-80AB-258620515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9C5520B-8549-447C-BE55-F02D652EF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3A14C7B-1801-4436-88DD-08DCA3DD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054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encerradas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0ACEFF1-7FF5-4766-9B9A-7376EDB1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054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até 30/jun/26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9687FB4-E7BA-462D-AD81-D9C06E566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054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de FIDC, ofertas públicas primárias encerradas e valor registrado positivo. Automático: Número do Requerimento; ordinário/legado: registro + emissor + data + instrumento.</a:t>
            </a:r>
          </a:p>
        </p:txBody>
      </p:sp>
    </p:spTree>
    <p:extLst>
      <p:ext uri="{BB962C8B-B14F-4D97-AF65-F5344CB8AC3E}">
        <p14:creationId xmlns:p14="http://schemas.microsoft.com/office/powerpoint/2010/main" val="82431248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179EC32-1805-444A-83D1-8C1A3611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C273DF-DA0F-4526-A1CE-4E8CC038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2C52A0-E998-4AC9-B29D-6064E650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B98C2B-0577-4123-B8A9-1B975EFC1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E1A950-C312-49CA-80E1-EE3E6E21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B37018-FA46-487E-97FA-771050D4F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528F60-A78A-479B-A803-3DD54626A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A2DE95-A8BE-41FA-BD55-F5A91762F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AAE546-555E-47CF-B789-B5B4336A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07BB23-EEB0-43E1-8B7A-315769C4A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446B83-AA5A-4E43-AE6C-536B6837B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603B73-E743-49A8-BE70-623673AC8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18B083-70D5-457F-B2A8-B5F4663B8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2F28C7-8F6B-4E7A-9419-9A214DD2B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3A3A19-3A6B-4DF1-913A-68223D98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498136-3CFF-4755-94C9-F55ABDD7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A3CF24-545C-46F9-94F6-39E311F28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8D33BF-677F-4B07-94CD-56F37F706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9C5AE2-3813-4A27-A58A-A40E2925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0A097B-ED73-4510-91E1-CAA0203AD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78E519-89FB-4EBA-8781-55FCF6E58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FB0396-E641-4C8C-ABE8-95368D5E3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DB283A-B60E-4EC6-A520-5B3F1C944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0EA806-CD58-4ADA-8A75-4F199DDA3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8D1CA5-9BE7-4E00-804E-25D476F60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F0A612-6757-4653-BD51-9676B8503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3C0371-E678-486B-A4EA-4749D1E29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1FADD4-EF19-4E6D-86AE-14836A4CC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AA27BF-3691-4227-87C4-BCA524E0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https://fnet.bmfbovespa.com.br/fnet/publico/abrirGerenciadorDocumentosCVM?cnpjFundo=09195235000150. 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155525525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5811E3-DCF1-4632-AE5A-65B97E84B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77F0FE-1042-431C-89B2-EFAD79B63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4,7%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4D8CEC-CF5F-4626-97BF-028F9FD70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32AEB7-C3D2-4233-992A-09EAD6C35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94BA50-E6F9-4E11-A3F1-85CDA2C23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535B2D-E922-4AE9-BBBF-7D34E8F42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C5C17E-6466-455B-B0DE-1E6E5E638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09F25C-E760-4CA1-A95B-4C0FC85A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DE6FBB-95B4-4AC6-958B-7F8CAC42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7BEF05-40C2-4030-A29C-7BDC42369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53BFBF-0DCE-441F-94D3-949F11BEF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37F10C-C959-48DC-8DD7-23824D780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35C3B8-776C-4648-9C0A-D79C696D6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2A9EC6-6DE4-4664-8C03-F8BDC3E0E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36E879-A759-45EF-9E82-70A67786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DBEF93-9A6D-4731-8ECC-19430DF63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F90EC4-0CAD-4598-8F7A-71C307E24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D0C01E-8F2A-4152-8B50-10E83ABC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59189B-5833-4303-8CF6-57B27E74B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2FEBA1-E94A-4926-9B97-69B6AA120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0A8C89-BEF6-48D3-AFEE-7D5C9800D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EC0CEB-ED2B-4A60-AF6B-2D97BF4C0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5EC2F3-A9A6-4F85-84CA-70459F750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F36204-695C-43A4-91D7-1FC5BCA69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A4BEE4-F055-4409-AFF7-3256FB638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39D7DF-9EAF-4861-8723-993028CA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E1FBCBA-8974-47BF-8CEF-A6087D6CA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1A3545-7B13-49A2-8A6A-AA939E757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420AC61-0C5A-44BC-9BDF-C335C4FB3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https://fnet.bmfbovespa.com.br/fnet/publico/abrirGerenciadorDocumentosCVM?cnpjFundo=26287464000114. 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85105333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6FDDA42-94D4-426F-B8AB-0F292CAB8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0B5DBA-39A1-4919-878B-5B247A12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5D88A5-A2C8-4F10-9973-9D462C598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177212-A678-4C20-9F4A-4F8818470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976C45-1A76-4285-8935-1B21F5FE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60FF25-DA6E-4F1C-BB4D-41AABF13C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AD75F8-D916-4973-9D6E-E1D8F7BC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D4CB68-6639-458D-8283-85DA05CCF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29D7A9-8321-4C5B-A1E5-B62B0FE54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2F6FC1-2BBD-44BE-A1F9-7E9F6009E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3A5297-7A0A-4A42-B90A-A01C3E833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955951-6773-4B5A-96E4-2E18F7993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900100-14F0-4044-BA74-57C58C91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0F1770-1B58-42DC-BDBC-9E8F94348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CDE6EA-110E-4A8E-A3C8-6671B00D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408D2A-8DA2-4832-814B-9EE00541E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6603F5-2D2F-49F1-9027-12708FD9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5F1C78-F19F-471E-B00B-2C10746FF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EA25D0-0277-4CF8-8796-1DB2FD29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280E97-37D7-4B39-9C43-AB61904F2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A54C39-1E38-4E69-8C48-5946B154C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5C223B-99C4-4614-8D3D-1F9A3E230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97F593-C82F-4026-AA43-741888D44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755ECC-D5A6-461D-9324-A524AAEAF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51A8F6-E8A9-467E-926E-B5FF979C4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888F74-BA08-42AE-BA4D-8542F84CD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371445-1F79-44E6-81B2-66B34FBF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Proxy CVM; validar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F83D8A1-590C-4F53-AEE8-D0DC96F0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F1B254F-5CCD-4B96-8494-846BF669D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https://fnet.bmfbovespa.com.br/fnet/publico/abrirGerenciadorDocumentosCVM?cnpjFundo=65473848000183. 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1518877122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C727D1-4FD2-4EF1-81BB-D7933C7E0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EBE9D1-EC6C-43FF-9634-DE28B8C85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AB9E1F-1BD5-48C6-B8A2-2B58ED607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BEFA6D-CE4C-4B56-8239-563D9457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550E4F-A0CF-4310-823B-F64D04B75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2CCDB7-64EC-4FC0-982B-2E109A4DD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84DFA5-006C-4BE4-AB6C-3B470E04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41D7B3-E6AD-49EE-8D36-6F4A04790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C065EB-75E4-4C47-8132-14C084804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6D3D1F-CA94-4E95-AC8E-CE6983997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A01794-6255-4EF9-96D6-D036EBA0A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1C9DA4-D38D-46C7-8017-30E87A9FF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CC1027-DF52-4C35-89CB-2F98EE12F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E5D843-A949-4591-A2C8-CCFEB017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2D86E3-8898-4125-8B0E-F4F359474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EFF903-ABEF-4FC6-9C0F-0C2F60054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2240D0-47B4-4B3A-BBE5-42688E62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B80633-DC1B-44CB-8BFB-2D89366C4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75AE4E-1046-455A-AE2D-E30879F1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B2FEEB-4239-4302-A739-931980546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CAD6AF-7C76-47A3-96F3-33CE4C2E0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R$ 5.500 bi | doc. 1166893 || 2025-09-16 | encerramento de oferta secundária da 1ª série | R$ 4.200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7F87BA-4A99-405A-8DCC-DA3CD7B46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094BBB-7117-43A9-B482-CF2F905C5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161ADB-5D18-428D-9171-E9EDBEA45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E65377-8928-40C4-825F-9C02AF523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9A0A28-4BAA-475E-9A4D-F5AD003E3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0A1A1B-F1FC-42B4-9B98-23186CE5A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EF7A73-5421-41DF-B108-9CEE743E5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032829-2B49-457C-BE77-332406971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https://fnet.bmfbovespa.com.br/fnet/publico/abrirGerenciadorDocumentosCVM?cnpjFundo=62393679000183.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47607897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347007-A0CC-4517-B47C-62671B01C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8A7DB4-53E9-4622-91E2-58B44754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96B570-8425-4183-A9A6-06E6FBBBC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B89E8B-A38A-48E7-B3C7-651AC739C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CAF5D6-B9DC-4462-B776-ACC21FFC2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5832AA-C3CF-43E8-9446-23A2613C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0AA0BF-3ACD-45C7-9521-966D7239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1C3FC5-8F5B-43D3-8C9C-C8A7300F4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0337E0-559C-413C-BD17-EAF2C7E5B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10838A-C46C-4B1E-B486-78526840F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43BEEB-E67D-4253-A9D7-437F834F2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S.A., como originadora e endossante das CCBs.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6B9388-16D4-42CC-BF0D-05D988D31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E8E052-C39C-4F49-8970-907E9F86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por empresas privadas, devedoras dos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3A1BD1-BCE7-4A21-990B-1823B5B0B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30CC90-C7E5-466F-A7F1-66646252D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CCBs de empréstimo consignado privado, processadas na infraestrutura Dataprev e Caixa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48AF1C-8294-4B4A-9498-10089AFC3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3DA60D-3AE3-467F-B191-6223C9F10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as CCBs à classe;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56CB07-390D-4B67-9CAB-08F426414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EF87B0-B936-41C9-852C-17DA93A1F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2A0383-C3A7-4C7D-98E8-BDED2FC80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3B37E9-1247-4CF3-BD11-BBAFBA6CE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08/01/2026, aprovação de colocação privada de cotas sênior em vasos comunicantes, com limite agregado de R$ 15 bi, e R$ 7 mi de cotas subordinadas; aprovação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45617B-AD94-4088-BD20-0DA2267B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A450B7-1881-4658-818A-D916A3EA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índice mínimo de subordinação de 1% do PL e índice-alvo de 10%. Garantias: Desconto consignado em folha; cessão ou endosso definitivo, sem coobrigação geral da Parati.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C67B80-3519-484D-BDA3-F25F5795D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FFBB55-DBD2-4D21-ACF2-8D2F78425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92CF35-5654-4137-851A-21D2BC07D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48CC55-C2BD-460C-8A89-EFE9CF7D1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Consignado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Evidência documental primária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632808-61CB-4E94-8E64-4BAEF4937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551D20-7921-4E0D-96C1-A0DDCD8F8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1222855 de 02/06/2026, páginas 3 e 15; deliberação id 1087883 de 08/01/2026.. Evidência: O regulamento declara Tipo Financeiro e Foco Créditos Consignados para a Classe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201492656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5CA18C-B911-4658-A7C1-B25A297CA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71C5E9-77D0-47C8-9A30-12A2B9EBC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AEA1CB-EF7B-4B2B-809E-7F32D9130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107568-94C5-4D0B-B844-7E197F502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1E9C65-F088-4B46-92FF-80CDB8436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51743B-58BC-4759-9158-CA71EFDF9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7F7764-FC6F-44D5-9EA4-E5F2F74F5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AEB09C-74FA-4254-B198-06D7BC7A1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C77E77-1A4F-489A-BD38-0C82EDDC1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540B25-07ED-4B8C-AA19-5E3BDF90D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C9388D-7D83-44B5-A076-DAC3E0AE0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documentos não apontam uma entidade cedente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9A94A7-25D8-403D-81B5-051F8FA9F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75C475-1782-4932-962D-C575C5EB5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0E55ED-9DC9-4EC7-96DC-CB2344801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3E5BC8-0202-472D-874B-98D5C6FBF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489597-2269-4B03-90B9-BA850D657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0312AB-5E7A-4C4A-ABB7-BA241522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61A03D-1080-495D-8471-903E8F95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1310C3-5CCB-4E78-9F84-4CB6ED15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8D469F-EDB3-4E4E-A654-5120F6D3A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EF0A30-C5B4-4C4C-BB89-09AB36F53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B5DD1A-9B6E-4637-9528-E4D614B91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96F6E4-6CF5-417E-82EA-F1E5F6F0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07D1F6-E96A-406B-BA4D-004D675CD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435393-D877-45C4-9FDD-C0B5C6E70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7DC18E-3B77-44D5-A3B6-1875A3D4D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3EE067-194D-4144-A074-389E43826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DC8213-275C-4B3D-9608-D1EFFFB38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14E1D5-5D6D-48A3-B37A-B6EE8DD4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https://fnet.bmfbovespa.com.br/fnet/publico/abrirGerenciadorDocumentosCVM?cnpjFundo=53286499000101. 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48644694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4990C5-6A16-4ABE-B9C5-31945527B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CA1F62-5901-45B9-AECB-9F65DFDBA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870855-42CB-44FC-AA40-34976BC96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03657F-3601-4373-BC34-969F4E562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A91E14-5D13-489D-A205-263A28CC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59EE09-2217-4A4E-9242-194FBFDA2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291493-2470-440E-94EC-69A0BBCD6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CFCAD9-1BFE-470A-A7F4-E2650B4AF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2DC950-8265-409B-A35F-DBE50B54D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B542A5-A896-43BB-9A50-67E428406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AF083F-A407-4A19-BCCB-C7B684E7A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C9E25B-FB95-4158-8C2A-4B03DA134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D65513-21B8-4477-A833-E0DCDC084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37AE37-52AF-4B2D-A3AA-0067BD1E3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8C1385-F45A-4CDD-972D-C211B70A0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C32A58-AE28-404E-A3E5-E9A18614B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E7FA78-B58A-442C-A5A3-A662649D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B9AADA-0E9E-4436-80BE-45933228C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E24819-8E06-4C07-8A4F-977FADCD8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D8D65B-F2D0-46C0-83B8-09130707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A1B8B9-655D-4F9F-8720-D620F106D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R$ 2.500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FF9572-2108-48E7-805B-DBB761509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0D24C6-FCC7-4544-8062-40A3F23DC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A42BF2-76EF-4184-BAE0-CA663A0AA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44C187-CCE0-4A23-A177-75EEE0269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1B4C8E-799E-49B9-BC4A-A2CFEC7F1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BFFC5E-9EAD-458A-9880-B96BF06DE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03ED99-E7D0-4034-AC7C-FA2DC7155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224E659-F6D2-4ABF-8184-F74A93D94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https://fnet.bmfbovespa.com.br/fnet/publico/abrirGerenciadorDocumentosCVM?cnpjFundo=52242420000188. 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40665112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90BDE8A-894A-433B-88A9-55CE5C09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6884D3-C3BF-46AD-97B4-4FF57A72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8334C5-CFEF-4CA4-9331-9673E0201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0093DF-1C68-4A6D-9956-FB88B9287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1B37DE-376D-4D88-91B0-E7DB0F2DE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27E584-C804-45DA-8EB3-1C7ACA07B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E39844-8440-47C6-8514-4E744A12D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8DD53B-3B3A-4527-8303-A901CC54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5BFDF3-188B-47EA-952F-2074AEDDE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1D532B-34BE-456B-98FD-63576B6A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CB56B9-A2F6-4B32-87E7-245BC4622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6AD7F7-81F5-46E5-BE4B-65BCA0D59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0A949A-30A5-40D4-BA9B-C2DD7626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2ACBEA-D1D1-415C-AFD6-9D6C67ADD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A50AA5-AECE-41AA-A950-4BC421644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8D02CF-05A4-4064-81A4-23277E5B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1B7EFD-ADAD-4504-9EA8-7818522C7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AD32C3-B05D-4C75-A7C4-4666CE4C4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F47210-4C43-4E8A-8D69-24E3C82B9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09BA6F-128C-47A9-BC25-2DB700C38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602026-2401-4C9B-AA67-54C2F6C5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140B43-2A37-4E5F-BEC7-8B038F5B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1D294C-B9EB-4C43-AF3C-A21942F2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60B24A-825C-4A91-B27C-BACDA4BD7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F8195F-1658-491D-A754-2425A09EA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96AFB0-2A2C-40A2-BEEE-17F90B99C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C19ABF-0F84-4AE9-9E2E-023850A2E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E567C18-6FF2-4AFC-B07C-AC8DF63FF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3114C2-4BC8-4272-9F42-E298A816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https://fnet.bmfbovespa.com.br/fnet/publico/abrirGerenciadorDocumentosCVM?cnpjFundo=52610624000124. 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1889616871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5AB5C65-C5C5-4E34-85D6-C213152A9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AD8E00-61C7-4CCC-ACB2-2EC813E4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1B34FA-6441-4D04-8831-B8586A865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2DE710-A1E4-43FC-A356-233A44137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7857D9-8E8F-4F09-A94B-D4B3671DA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DDA803-A30D-4596-8570-D93727548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0512BA-676D-4ACD-8638-EDC9DEDEF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7591F3-A666-4D1B-930D-92691459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FD91BC-D3EF-463A-B8E8-23AA43F09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E28E2F-4DD0-4391-97C0-6F01CB19B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100784-9578-41BA-9DFD-9A7973CF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A23914-89AD-45B0-A74B-FD1696E01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BE66D5-88F6-47EB-94E5-BAB8554C2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F58417-46AC-4F33-9235-D93C6F85B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10449D-A695-4492-82E1-B3BB79456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8B2A76-51C2-4109-982C-F03981D10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196813-C3E6-4B8A-8C57-BF3AFF5A0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351964-C026-457A-B6A5-89178226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2C4884-DFE7-4252-AE43-AFD5F09E1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AE1C6B-57AF-43C1-ABAF-800F2D275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D12FC8-A5ED-4981-8C9F-428BD3AB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R$ 1.000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CE77C9-3ADB-4DBC-898E-4C8689BA5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4E4A9D-E8F3-4EA7-A127-0C4721CD2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368462-A469-48D2-A446-285762E3C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D75299-4C32-486F-A1E2-D4D26EA09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B35ED8-00DC-4789-A4E1-7B491D51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5D248A-A742-4122-88FD-E497CEE83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CCB8F9-4520-4495-86E4-2F440C6BB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722A85-B1E4-430F-83D9-9FE9977ED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https://fnet.bmfbovespa.com.br/fnet/publico/abrirGerenciadorDocumentosCVM?cnpjFundo=26286939000158.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325053175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5D577C-F638-4ED8-BF82-F8F8A20E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A2CDFE-1798-462E-8E3D-BE0B08391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A1AF92-3E24-450A-B6E9-0A2760F9F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1B34FB-34E6-414C-AEE1-1218E9794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B8B96C-48B5-4915-AFE0-A0E63725B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5C8E3C-BD52-4B3C-A22E-40D3A5A5A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40698D-A6BE-4EBE-BA53-1FE08BD0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702FEA-02AD-4644-8975-EAFB1FECB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1C72F3-2327-46A3-9465-BAFA69E15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B54A1D-66CC-4C9D-A73E-98C1DBE1D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D07274-9D1F-4B37-B8CE-61B706214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6C2DF-5D0A-4CAF-905C-00015310A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11C6D4-72E8-4D55-93A1-BD15A4F81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3CABEA-AD7D-48F3-ABB2-9AF744BD0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C35640-8C30-4389-8598-9496B3F45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A9D604-B205-4712-BBCF-9C27EB436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2558A2-62E2-4CD9-9E5A-E075CFDD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F92A69-4A3A-4F95-9156-48CB25C18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C64869-6543-4861-9D93-B331CF25E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3DB2B5-0F89-44E7-A973-51892C3FD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D0DFBF-BF4D-4852-92F9-B6C7EEDA0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E28898-BB2D-4FB0-AE94-3C68B054B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D47DC0-4FE0-435D-95E6-6888BDAA2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44C182-35C5-40B0-9F28-4302E898E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4071A2-45FA-4C0C-96BA-12223A82D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9454A8-49F6-4AB3-B48A-5AE2FB3A9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6DE90F-38F5-4C36-8D16-7DB3A3667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075000-ADAE-466D-90AB-4654E4BBB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657A40-BF24-4637-8171-4A1FE7198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https://fnet.bmfbovespa.com.br/fnet/publico/abrirGerenciadorDocumentosCVM?cnpjFundo=53216449000158. 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2013124391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B9F22EF-CF6E-45C9-9349-BA9E2B5E8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449927-7228-426A-8663-E8CE2EBDD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D93DAA-A2E5-4BD3-BF31-30FC2D876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24261C-E358-4A0F-BA01-04D81DCF1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ADEFD3-18D1-4334-993C-A9506DAE7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28F2BB-DC1C-4535-8D07-050E0D230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7B998F-B2D5-4F64-A148-82495D1D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85549C-1BFF-4727-AAD3-D26F91DBC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F4EA31-3BAA-4E00-B076-B1F7CCC9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83BC15-B1DD-4B2C-B6EC-24F9336F0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F8A6A8-A6B1-4483-8AA1-E8503FD98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9956B8-AE6A-4C53-8FBF-CCAD5C463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C387D0-7EB6-4B2E-AB17-40C214F91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7111B5-CEDB-4BAF-B370-A5A222A5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7F953A-250A-415E-99C4-CF4EF432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38B4C9-A19C-4CCF-BFD3-A69024BA5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18D078-8C8E-4D1D-B640-6D9A2D2A8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B356BA-0DDA-454E-8684-D65A3DFC7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8B62D9-42E9-403E-B002-DDA9199F4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0B02F2-89F6-4F65-A8B7-8C293A9A8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7E300B-38E3-42F9-AEF7-51C35010E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R$ 1.000 bi | doc. 1148251; Valor ofertado; o anúncio de início não comprova colocação. || 2024-11-06 | encerramento da oferta da 3ª série sênior | R$ 1.000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6AE1AE-F7BA-4512-B356-07F4E088A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52B800-3FD1-4231-8FE4-809F9464D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3A9482-42D0-44B4-9500-23630374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B0B2CB-281D-40CF-9D0D-5AE9277C9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EA825E-42FC-4CCF-A11B-7E2ACB881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9A307B-71C4-4867-BDA8-D43FF3D9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C4770C-B51B-4C57-978A-35DC20EFE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C75D08-30BF-4078-BCD8-A27BDF585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https://fnet.bmfbovespa.com.br/fnet/publico/abrirGerenciadorDocumentosCVM?cnpjFundo=28169275000172.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211837903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EB2F865-5A5B-4326-8FDC-DC19262D4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1A3715-4E8E-4857-8DC3-8C0BF7035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58B4D3-BA64-4760-8349-F2D725122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9DAD71-56D5-44A9-9A24-1025221E1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F989AE-2723-4902-BE6F-3949C055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C7DAEE-721D-4090-9A0B-DE968FBA9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E5F104-718C-4F0A-9455-5771B91E2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17C723-FCF4-4D24-B04B-C2F0F5C0B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8814F4-6E8C-4C6E-A801-D1407B42A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0AB164-8CD1-43CF-8A27-6B9D3706B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DB1FE7-5E2A-4936-B549-995522D8E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EE153A-142F-4C90-8DAD-A1FF68DF2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312BAD-4F1B-474D-9382-9868B22D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DE5F70-1FD7-4669-AA6E-3884A24AD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714BF-F72D-4C95-9E27-234C30913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8D35E3-572F-428A-8700-95EFCFA5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723924-3DF7-45B4-B6BE-0E5E508C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3BDFB2-F1B2-4EC2-AFD8-C3637DA1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118D3B-D82F-4308-AF30-97DAEAB5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C9B986-DBF0-405C-8A2F-278C50B38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D2A839-4599-41C5-891E-CF38ED08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R$ 11.000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0091AB-1848-4D4D-88B3-D03E64C4F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0D044B-1ACB-4636-B074-0E974DC78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02F066-0E77-45A1-B49D-6B62C73DF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E40BDE-CA0E-4AD1-A565-A6D9D79FC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641A17-723F-4D38-852D-2AAAAA574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C245F9-40ED-43DD-B870-0326BD20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6C8D73-4DB8-438F-8915-496A084B8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0918A8-21AC-45E7-8788-D2640B8DA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https://fnet.bmfbovespa.com.br/fnet/publico/abrirGerenciadorDocumentosCVM?cnpjFundo=50906397000153. 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379925467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57EA685-06BF-4964-AC03-5747F1AF0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4FA6B0-90F8-47DF-9B6E-77429AFF6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A62705-7B2E-4429-A399-B3108B3DA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C57064-C0F2-4F95-9BDF-3E83D4BAF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7B9906-373A-4B07-94DA-A814C940D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1641BB-0C47-49C8-AF43-889E68B13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0F8834-FE1A-48A6-B3EF-8396C208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2F64A6-38AC-4B45-B67A-28D423A13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6CB715-4C6F-4446-8225-13C84AA3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1A8321-2488-4699-B1B0-BB1572C7B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C7D610-A101-4531-B23D-38BB32A12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278765-2070-4F43-8123-A9197FCB8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DABBE9-97A3-4A69-A619-81586836E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02AF8B-D8BB-4AE4-8A55-28F5B1E65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97FA18-5BF7-41F2-9ACF-3EA6FF8AA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C85C95-2BA5-417D-8886-5FB5E2BB4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3E0802-EAF4-429D-89F9-304CDFC6C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B8C3D3-4C51-43A6-9597-457668391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30E971-2032-465F-8B12-38856CFF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1FB6D6-187C-47FD-8528-899D0C50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F1AC9C-8D3D-4A21-B79C-8834B0480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66AA13-6E73-4555-A6B8-1D4FF3C1E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B88604-172A-40B3-9133-42DCBD4C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6F6364-5960-4D9F-B3C5-ED87DAB6A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089004-B7A4-4B62-BB68-5556F19B6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0B6BC1-A0F9-4946-AB7F-AC97E3B8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28BAEF-0901-464A-B4C7-C12FD17C0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DDCEB9-60F1-4D9D-ACF6-0ACB60F33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5C4487-EFBF-478C-82AA-58D81A7AF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https://fnet.bmfbovespa.com.br/fnet/publico/abrirGerenciadorDocumentosCVM?cnpjFundo=29225241000110. 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1497280133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2EB8CD-F73E-4C80-9AB4-7B93BB790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05F250-7A6C-4F5B-BAA7-DACD414D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91C3B5-7DA5-47E0-AB51-1F89636B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19D55A-4CD2-4217-8FEE-4DEC0CBC5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41495A-AF7A-4005-B7EC-5AEF99FF0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86D99E-14C8-40DB-A76D-1C2324CD2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B6D75B-2F2A-4773-9848-481D1EE69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E297E4-8B74-4823-806F-CB1FB0FD4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0ADF1E-053B-4199-AD83-146F8C06E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D22AEF-83D7-4AB3-A4B1-C58ADF99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304DED-E176-4011-80B8-3C41B941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DB1FE3-69BE-4BFE-B4D1-242618959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5CBDEC-3E8B-4E45-BE8B-C95ADE5D2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D25FD1-0106-4E0F-B70D-609C7B270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66C237-5E66-4850-83FE-271787E5E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3E8117-4BB6-476F-9BE2-301F447B8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013487-3F77-42E3-A881-316600DA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B55960-7F0B-4F08-BBD7-89489EC87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963A33-2FCB-41F6-A02A-408C83F80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B39832-5372-4F50-8C2E-C08424B3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F84503-B1EF-4416-8507-1A678D96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000918-20F1-4C95-B7C3-D9503482C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44F0DB-07A7-42FE-BBEF-2F45F35EA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D8C7C6-CFE7-4493-A682-9CF4619FF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8317EF-E235-46BA-8E14-71D6F2DD4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794FEE-B8DC-40F7-B6E9-BA623AB03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8C4B98-A1E6-47C4-B1BB-D8E125DC2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71DE6F1-9B77-4B67-A5FD-769F39D1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1E1B52-F4DE-4EC3-A8F8-A9E71FEB5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https://fnet.bmfbovespa.com.br/fnet/publico/abrirGerenciadorDocumentosCVM?cnpjFundo=42922136000107. 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60743061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1758B1-126C-412C-BF32-9B3221F31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19E246-F93C-4B2B-A593-54F48B74D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E28A7C-54F3-4526-A7D5-A0126938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CB379E-780A-4814-A25F-473A7183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584A5C-C5CC-4856-92EA-3956A0DDD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A6453-22E8-4F20-A5A3-2CD5CA96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CC7975-A5D5-470C-B5CC-380649A6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813ED1-4361-458F-AFE5-2171F7C49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4DC9B1-6034-40FD-A6A7-2F616E63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E7547B-611D-40B3-87E7-C42454E11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1EEDB9-E4B1-4867-A592-4CC381B5E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830799-CE9E-454F-9D0D-809ADF5DC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7A76F8-3D27-4874-884D-27C36FEC1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5535E5-F84A-43C0-9742-AA19ADE37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AACD59-F777-4FBB-B0CA-4299690E8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66744A-F6B7-480B-A0BC-F8E5C9A1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6170FF-3BC6-436D-BA04-A86448F7B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886DA7-EF4C-4EDA-B6ED-411173DD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A5EB34-5FF4-41AE-A3B4-D26BE9CD9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1168D3-D987-49EC-9F92-48BFEE149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7D5A22-D34C-4DF6-8FE5-BC97CF23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69A19F-CB28-4B8F-81F4-328C292D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A56922-8BCB-43FD-9682-30325DE64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54A95A-16C1-43B5-A29F-28472EF48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30F846-32E2-4169-8D10-16B000BF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D15ECC-B3F6-420B-82A9-2A95307C4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2B66FA-DAC1-48D5-B975-4E6D2F192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5C42D9-A5FE-41CC-AABB-B05EF04B7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220371-5913-49E1-BC87-33D965DE3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https://fnet.bmfbovespa.com.br/fnet/publico/abrirGerenciadorDocumentosCVM?cnpjFundo=32527650000186.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618986163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15BB09-F2EC-418D-B113-5C4925C5E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37ABBC-CFA5-43E0-9F20-D1AFCCD4E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Artesanal Master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6BDF00-65B2-498A-BBD8-244B75E1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74FB63-C3F2-4F7E-B679-383AE1B73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DB825A-A424-411B-84A0-E66AAD46F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BE9DFF-CC1F-4181-91F8-8F932B11A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6E1CE6-E3FE-46C6-8D31-C1003726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61579F-CD2A-4D30-A322-65F1FAD3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51B532-7268-456E-99A7-BD66CEE2A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C4557F-B34F-4FF6-ACE5-648B6253D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D946C8-DA33-4FF5-A4CA-DEFAF4EE7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2ABAD0-3019-4E77-B6E4-FC7AA4F14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0B0FC2-7C36-4ED3-B193-7210B140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1D045D-973C-4815-98B4-67EC72FE0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8CB02C-9DA2-496D-B6E5-2F4349B16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4DF94C-AF43-4E74-B0D6-C16D72E7F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D3659F-60D7-4263-86B9-AE25C253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7A776A-BA59-4E0F-A38D-502A08F43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987D5A-83D5-445B-9C2E-23BA88E2B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948D6C-62CD-4044-9D82-978699BB4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04E9D8-5619-4553-AF99-73AFB6848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1FF3BC-6A17-4DA8-800C-4E0BF41C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38CF61-618B-4EDB-92AE-DB2F770A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B1DC5F-6025-4DC1-BFBD-3EFCF7EFD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B8C256-D63D-492E-A73D-8A93FC3C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A109FE-54FE-4558-87F3-9A8AE6FEC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1795DD-0482-45AB-906C-43B9AF6D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D88878-57B9-454E-9CE8-D2C1740F7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D1C004-2EA0-44B8-BF2E-CF9AD1980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https://fnet.bmfbovespa.com.br/fnet/publico/abrirGerenciadorDocumentosCVM?cnpjFundo=30576260000170. 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74478345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A29893-8CD1-4149-9B84-4B79FBE81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B9A2A5-B7D7-4F0D-8822-64521D328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Marobá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D61472-C958-4A30-B648-EE53B9F6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584271-88B5-487A-83B7-2F40C0B1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FB831D-FCE3-48AF-86D3-131E14819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89B2F5-BACF-4692-B052-4F3AC39ED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1D5763-F063-47FC-AE38-3E8B0EBD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658BD5-2FD4-4FDD-B87B-8A3023FA1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2B250D-5278-4F36-901F-B213A615C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0046F4-A076-4E71-9305-109961367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163801-AA07-45A6-88BC-F336E743F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9F7727-BB61-4130-A6EE-63F120349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74B80E-1743-43C7-87A7-F20919CFE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ou perfil de devedores não localizado nas fontes consultadas.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F56B6B-87C5-4136-B66B-502178F00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D9D3A9-15C7-4E02-A3EC-C4B9B3DEE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 não localizada nas fontes consultadas.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427999-362C-4A75-8FF1-90563E20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7D4783-9F34-4172-A614-80B688296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 não localizada nas fontes consultadas.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0057B3-5B97-4015-8C35-C6AC044C4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74F01A-FE11-4B9B-A5A2-E7B06395F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927E68-08F9-441C-BEA7-A80DA6731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3C0DF4-FD92-421E-927D-FFE8AFA1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56EDB0-0023-47B5-8328-E07EB173E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93CB09-1608-4562-8280-C2D105B4A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 e subordinação não localizadas nas fontes consultadas. Garantias: Garantias não localizadas nas fontes consultadas.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43FEDB-43AB-4F7D-949D-13985BEEE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B9C446-59CD-4C0F-AEAF-F0592521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16EFF2-4959-49F1-A1BC-17DA8A1F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A443A0-CB9C-405B-A6FE-485AD1BD1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B5E0F1-8286-4A3A-A144-8F508DE00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74EE009-E8C0-4355-A43D-90B58337F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0/6 campos documentais preenchidos; cadastro e prestadores disponíveis. Fonte: FundosNet e CVM SRE consultados em 24/07/2026; regulamento, suplemento e informe de encerramento não foram localizados no corpus acessível.. Evidência: Classificação cadastral ANBIMA disponível; documentação primária da operação não localizada.</a:t>
            </a:r>
          </a:p>
        </p:txBody>
      </p:sp>
    </p:spTree>
    <p:extLst>
      <p:ext uri="{BB962C8B-B14F-4D97-AF65-F5344CB8AC3E}">
        <p14:creationId xmlns:p14="http://schemas.microsoft.com/office/powerpoint/2010/main" val="1616455808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3F8B956-CE11-4B9E-8C1D-A95108148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255AAF-BEEE-4EAB-9F2E-A84C56440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Venda de Veículos — R$ 4,2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AA7297-E4CC-4E8C-8CC3-A9B967D79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BB32BD-C221-49A9-9D39-C053FC4BE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90F995-54A7-4A9A-8783-8D40766CD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83B033-7670-48BF-A573-C6C28E309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8106F4-C5C1-41CE-AF38-614D70FF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4665C0-6D9B-49E4-9FA4-70F0984DE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094886-7122-4516-AB02-E9BA1200F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903137-33D5-431E-BCEE-904FDD047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FF9B32-1AEE-42A4-AB7D-1D51466E6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do Brasil Automóveis Ltda. e Renault do Brasil Ltda.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F3D120-E194-497A-B92F-5CF71FF9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8A9847-5FB4-4CE9-89F0-52BB68370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Locadoras de veículos e concessionárias que compram veículos novos com pagamento diferido.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9F99A3-A2E9-4D5A-88F4-6A1422735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1474C6-FA36-44AC-8656-7D446D9FA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decorrentes da venda direta e da venda a prazo de veículos novos.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22B1AD-CCF5-4153-8130-D5D89BBDC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C3309C-EB00-4A32-B593-1DAAAA33C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e Renault cedem ao fundo créditos contra locadoras e concessionárias; a liquidação segue as condições comerciais e garantias previstas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6A8DA0-CFEA-4E65-BAC4-A6A97A64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D9BA02-D7D4-430B-8B88-0BA0B8BF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BE53A0-A808-4D70-A6DD-CFE89EBF1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EC358C-20A0-4AB1-825A-63AA091D8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 ou informe de encerramento não localizado no corpus consultado.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AC545F-4BC2-4735-8F4D-7C699D21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9A83BD-9755-4689-B111-0D7E6300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o regulamento disciplina índices de subordinação e eventos de avaliação. Garantias: Seguro de crédito, penhor de estoque, cessão fiduciária de recebíveis e garantias bancárias ou fidejussórias, conforme a operação.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14DC11-BEDE-4100-B485-0FFB3751C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EC643E-C275-4303-A391-14C59A7C0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6523DA-DC4E-4152-B7FB-D5E034574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16F585-0727-4892-9101-B677339E3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0B4AAAD-1DBB-4FB1-9180-7F9D68A97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019CE02-8BFA-467F-8B96-F7553C5D1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preenchidos; emissão não localizada. Fonte: FundosNet, Regulamento id 1230588, 26/06/2026.. Evidência: O regulamento identifica cedentes, devedores, natureza econômica e garantias da carteira.</a:t>
            </a:r>
          </a:p>
        </p:txBody>
      </p:sp>
    </p:spTree>
    <p:extLst>
      <p:ext uri="{BB962C8B-B14F-4D97-AF65-F5344CB8AC3E}">
        <p14:creationId xmlns:p14="http://schemas.microsoft.com/office/powerpoint/2010/main" val="528208630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57E243-554D-4019-88CC-91FDC9CE2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739A0B-5ABB-46BE-BC39-64C724952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Day Maxx 2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6637CD-1B84-48D8-B817-CF653A52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929C9D-7DC3-4325-9C6A-864AA7362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820956-2621-4A82-8149-C1C2D810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A11058-A4B7-40A7-9F4F-E20E0018F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47C534-6FD2-4835-8EA0-95B4F6F3A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F19F5A-8AD1-434A-A8B5-D9F7D9FAE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834537-A8F1-44EB-8C6E-CF4B48E42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1540E9-737B-48F6-BEFA-B0CF459D5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21EB8-B7A1-4064-A4B6-558E0BAF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C7A93E-D6BD-4ED5-95DB-4D69FB884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E23F7F-578D-47C3-BCD4-6804A414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6A762A-F92E-4C46-AA4C-993502C7D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D59B1D-CD7D-4DEF-BB9C-D5F495FE4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BCB01B-BD24-4C95-8EE1-8744842F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574490-F001-4DB3-A880-22FEB3483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8AB74F-B838-4B14-8216-B41A68AA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DD7B1C-5056-4263-8F13-B886170DC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8324D0-65F8-476E-B291-5D87D5111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5D5AFF-7FC6-46A9-B74C-607492AB4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F833FA-3FBF-4297-84F0-2DE5BFA63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5F78BE-FB7A-4E6E-AB26-F6DD4D263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9E079E-6D3F-402B-BEC8-C2ABB35E4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30F2A4-F52A-4BAC-8C2D-C1E1939C6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2598CD-AED4-4789-AC99-B19E7C635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C4D2CA-1C0E-4F56-B77A-2673F3E75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C730D9-37DE-4ACA-BB4F-F549AA47C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DA6082-1E72-4D85-B0AE-6E578AD32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https://fnet.bmfbovespa.com.br/fnet/publico/abrirGerenciadorDocumentosCVM?cnpjFundo=34197588000137. 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294571485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7A3577-11F1-4B35-920D-AEA110C1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77F3A5-0237-43F4-AB1B-A243849DA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ACR BEM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E76F23-D9AD-40FC-A7B5-E4DF6B79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6E7E98-E430-41D8-BF7B-B47AAD463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794703-32FF-4A3B-BFAC-CE79203C3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B0CC30-1B5A-4D99-A05B-A7832402B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C1D707-EF71-4009-9FAE-0EF644795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C978A9-07EA-49EF-A506-173A5FC16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E1F531-0A1D-478E-9DFF-156984BFA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08FB48-7426-41A6-8031-7A44E9AA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EC4345-247B-41C6-8736-2DA952988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 Instituição de Pagamento S.A., como originadora e cedente dos recebíveis.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A495AB-F6BF-4ACF-A6F2-FABAA980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832FE4-1C14-44D0-9CE9-E9FC730F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de cartões e demais instituições financeiras responsáveis pela liquidação das transações.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0D45B6-0BDB-4279-8520-7FA175A8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4952FF-3413-429C-AD04-47A6580D8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oriundos de transações de pagamento processadas no sistema Stone.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5115BB-EB23-4E29-92DE-6BF5BB008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054B75-D348-48A8-9679-C023C3A8B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Stone cede ao fundo recebíveis de liquidação de transações de pagamento; os devedores são os bancos emissores dos cartões.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697451-9B0B-41F9-8463-C49B1B6FD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95B714-3F2B-46C5-840B-957F5906B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67DFDF-4072-45C4-88BF-3717D1815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553F90-82A6-459E-9551-7B754E988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2024, duas ofertas encerradas: R$ 3,5 bi em garantia firme e R$ 108,25 mi em melhores esforços; coordenador líder Bradesco BBI.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0BA32B-D692-4A7F-8B86-5F2954093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6F461F-836F-439B-9D6B-7F6FE4BD7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regras de subordinação e eventos constam do regulamento. Garantias: Mecanismos de elegibilidade, concentração e subordinação previstos no regulamento; garantia uniforme adicional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C40246-CE9B-4EDA-9DEB-EE7ACD28B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06B8E1-B5A1-4F1C-8E97-1C945698D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1843F7-E7D9-44BE-9536-87F6A8667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109449-EB92-496E-9B71-70E7F2A23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792BA2-4E33-4756-9B75-E0277184D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F023CB-17CB-49D7-A321-45E060367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656484 de 09/05/2024 e Informe de Encerramento id 664301 de 15/05/2024.. Evidência: A documentação identifica a cadeia de pagamentos, os emissores de cartão como devedores e as ofertas encerradas.</a:t>
            </a:r>
          </a:p>
        </p:txBody>
      </p:sp>
    </p:spTree>
    <p:extLst>
      <p:ext uri="{BB962C8B-B14F-4D97-AF65-F5344CB8AC3E}">
        <p14:creationId xmlns:p14="http://schemas.microsoft.com/office/powerpoint/2010/main" val="209645769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D118C0-D1AF-43F2-A1C5-A9D1DA43D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F121AC-19BE-48F1-B39B-6B953533A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0BE70D-8FF2-4764-BEA8-736A1FBD1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E15FE6-C06B-4A78-B926-79AA079D0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CA311D-ECFC-4C28-A363-079CB7527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001E51-3F58-4C4E-B8B8-E318A204D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c37cbf059a649f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A88A2E-6579-4BE2-ACF5-761153D42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62F0AF-74E0-464D-A128-B7533B170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836384511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D2E9CC-2608-4A3F-B6E4-DE9C2BBE4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556F8C-B6CD-4371-A519-D8CD8CACB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CA43C-3F06-44E9-B706-BF04D87ED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DC4405-F63E-4C20-B55C-5C4BBD37E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C72D47-1624-49A7-A8B5-3C3D9C0B3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94897F-2860-46ED-AD0A-FB4166BD4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8c52e5b6a4c424d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8F2955-366D-4134-8F9A-84826E0D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6D3877-CAE6-40C4-BBA8-B3A328188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704682471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2AE674-939E-4329-A118-4807C4F9B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019C56-3961-4AA8-9E64-CC1DF4F6E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D1A96-4B56-4D49-9690-9330F6170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4440D-0F76-41E7-8E8D-985AE6C4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CF0348-B322-40C0-92B2-163E0304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89CE68-DF81-44DC-894C-34F7D2032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d6d6f9e023241a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C45028-959F-4FCC-B955-037A28571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924A6A-E3F8-492F-A5AD-BD8990849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486447911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545B333-E20C-47AF-9634-214C20B2F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40546E-2B6A-496A-A234-33825A37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89EE06-7114-4A0D-AC2C-87B69250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B424F4-8C57-4CAC-B816-60FE3C3CD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2362E9-13DE-4058-9797-2E1F1291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BB3291-C13B-4F2F-B5D3-DC4F7AED0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75DB8B-23C1-4E4D-B95A-40D22A5A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86EE3F-E4CB-4D19-8F60-A1BE17FB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F7C16C-ADC9-4DA8-9F6D-B8DE2D28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9B051A-0F4D-45C6-84DF-397A4B05C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E4F51C-C83F-48C4-8881-0A525F027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C17CE4-72AC-4586-B70C-CA1AB8AB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432C09-EF7C-4D2A-8F07-7FED9798F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4F6A5E-81BB-4551-B63A-2F08A3431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EFE06F-32DC-4019-9A56-107733762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9E9972-CEB5-4413-8CF7-4697013C9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9AE878-FC5F-42D2-B032-007B22BE0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R$ 143,6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48C8B8-714A-4C34-9E0E-2050C184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4B1890-DAD9-4F3B-A077-E57664B3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3239A0-7953-477F-AF84-E40CA4ADD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R$ 155,6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DB250F-FC19-4FF6-A039-EE57F1535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584C0D-B4AD-4935-85EC-55DF58CF2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B4EF6B-3538-4D88-9F3B-78FD3E843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98,8%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4EA565-3929-4342-BF09-D9581A33D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B0CB44-10FC-4658-8FBA-BB19AA235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84F47C-735D-4898-8739-8D36FC06E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100,00%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B3A9FD-82A7-4627-B63E-B81D467E6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99%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138FA5-BCED-46E5-83BA-4FCB6A6E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491030-01A6-4404-87A0-8A2A1E59C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FC635E-294A-43C6-A7E9-B6C862AE7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6C9787-AAAD-4759-AFAA-72F4B52E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86F6E41-8B24-45BB-80DC-0173D0604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3939734-BAF5-4EF3-B39A-18988E90E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FEB7E11-0E04-45BE-9F0B-3E60DCCE0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BCB7E3-5DB4-447C-93C9-EC865982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2A04E4E-2583-4EAA-9A43-C8C33E9D4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A399484-7EAE-4168-91E1-CF6F8C159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83AF225-261B-4CC9-A4D0-75D137DE6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E468C06-6F8F-4657-92F9-2A6ED49F0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26147DB-217E-4AF3-9DF9-0BE1A231B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CCCEBE-040F-46A9-84E2-6A2FD6432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207D321-A90E-436E-98FC-F98C7ABF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B1BAEF6-94D8-4D74-BA66-91B020AA5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81DD609-017C-4BDD-A91E-D6122FEB4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1332530-C572-429B-8D86-53B3C3136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A464B9C-4CA7-4B41-868B-AFF23216B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264DFCC-AE90-45F2-878E-C9995FA74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A20886-A221-4DBF-B7A4-0E45E27B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4ED7686-AC8D-4207-99D8-04C5D008E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0292658-CF3F-4AC5-B629-907B90D1A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4EB58F2-FAAF-43EF-B95A-31CA97DC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7D0BDC4-A85F-4965-92F4-68A1ADE99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4392A23-F591-4F62-86AA-E828A0C60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B276A26-E1BE-4188-89ED-34A31909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quebra no bruto coincide com a troca de administrador, sem evidência de recuperação em caixa. As DFs têm opinião modificada para 01/01–19/07/24 por inconsistências de lastro e posição; a série usa bases de reporte distintas.</a:t>
            </a:r>
          </a:p>
        </p:txBody>
      </p:sp>
    </p:spTree>
    <p:extLst>
      <p:ext uri="{BB962C8B-B14F-4D97-AF65-F5344CB8AC3E}">
        <p14:creationId xmlns:p14="http://schemas.microsoft.com/office/powerpoint/2010/main" val="1958877722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2026-07-27T17:20:44.7010000Z</dcterms:created>
  <dcterms:modified xsi:type="dcterms:W3CDTF">2026-07-27T17:20:44.7010000Z</dcterms:modified>
</coreProperties>
</file>