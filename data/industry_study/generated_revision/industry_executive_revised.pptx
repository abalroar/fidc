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3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4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7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8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9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25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26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27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28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29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ab15c9f7df4e04" /><Relationship Type="http://schemas.openxmlformats.org/officeDocument/2006/relationships/extended-properties" Target="/docProps/app.xml" Id="Re3035c06f40a40fd" /><Relationship Type="http://schemas.openxmlformats.org/officeDocument/2006/relationships/officeDocument" Target="/ppt/presentation.xml" Id="R6ac1dcd8c8b741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cec79017e1c4df5"/>
  </p:sldMasterIdLst>
  <p:notesMasterIdLst>
    <p:notesMasterId xmlns:r="http://schemas.openxmlformats.org/officeDocument/2006/relationships" r:id="R8cc92578b2f94932"/>
  </p:notesMasterIdLst>
  <p:sldIdLst>
    <p:sldId xmlns:r="http://schemas.openxmlformats.org/officeDocument/2006/relationships" id="256" r:id="Reef652d60cf940d9"/>
    <p:sldId xmlns:r="http://schemas.openxmlformats.org/officeDocument/2006/relationships" id="257" r:id="R76471efc95874b63"/>
    <p:sldId xmlns:r="http://schemas.openxmlformats.org/officeDocument/2006/relationships" id="258" r:id="R158d0fd42aeb4b27"/>
    <p:sldId xmlns:r="http://schemas.openxmlformats.org/officeDocument/2006/relationships" id="259" r:id="Rf2320647df414afe"/>
    <p:sldId xmlns:r="http://schemas.openxmlformats.org/officeDocument/2006/relationships" id="260" r:id="Rc58e8326ce8b4ec2"/>
    <p:sldId xmlns:r="http://schemas.openxmlformats.org/officeDocument/2006/relationships" id="261" r:id="Rb83f6c22deb347f2"/>
    <p:sldId xmlns:r="http://schemas.openxmlformats.org/officeDocument/2006/relationships" id="262" r:id="R573280eb3136485e"/>
    <p:sldId xmlns:r="http://schemas.openxmlformats.org/officeDocument/2006/relationships" id="263" r:id="Rd708b355a630479d"/>
    <p:sldId xmlns:r="http://schemas.openxmlformats.org/officeDocument/2006/relationships" id="264" r:id="R1f9e97c55e3e4b17"/>
    <p:sldId xmlns:r="http://schemas.openxmlformats.org/officeDocument/2006/relationships" id="265" r:id="Rcce6af3661c247b3"/>
    <p:sldId xmlns:r="http://schemas.openxmlformats.org/officeDocument/2006/relationships" id="266" r:id="Rcdfb1ba40a4c4d8e"/>
    <p:sldId xmlns:r="http://schemas.openxmlformats.org/officeDocument/2006/relationships" id="267" r:id="R54140924c45f423b"/>
    <p:sldId xmlns:r="http://schemas.openxmlformats.org/officeDocument/2006/relationships" id="268" r:id="Rbad44d6a9a7542c4"/>
    <p:sldId xmlns:r="http://schemas.openxmlformats.org/officeDocument/2006/relationships" id="269" r:id="R9a340d737f34482d"/>
    <p:sldId xmlns:r="http://schemas.openxmlformats.org/officeDocument/2006/relationships" id="270" r:id="R38080cfcc11544de"/>
    <p:sldId xmlns:r="http://schemas.openxmlformats.org/officeDocument/2006/relationships" id="271" r:id="R3982bd13b4f04845"/>
    <p:sldId xmlns:r="http://schemas.openxmlformats.org/officeDocument/2006/relationships" id="272" r:id="Rcf47dbb20a674965"/>
    <p:sldId xmlns:r="http://schemas.openxmlformats.org/officeDocument/2006/relationships" id="273" r:id="Rc01c3b8bc4174055"/>
    <p:sldId xmlns:r="http://schemas.openxmlformats.org/officeDocument/2006/relationships" id="274" r:id="Rf54bc7a9016d4afc"/>
    <p:sldId xmlns:r="http://schemas.openxmlformats.org/officeDocument/2006/relationships" id="275" r:id="Rf48bae87e0e14f4f"/>
    <p:sldId xmlns:r="http://schemas.openxmlformats.org/officeDocument/2006/relationships" id="276" r:id="Ra9b5d4360a3f4f43"/>
    <p:sldId xmlns:r="http://schemas.openxmlformats.org/officeDocument/2006/relationships" id="277" r:id="Rc24c36a0abda4bd7"/>
    <p:sldId xmlns:r="http://schemas.openxmlformats.org/officeDocument/2006/relationships" id="278" r:id="R477c9385f3d94100"/>
    <p:sldId xmlns:r="http://schemas.openxmlformats.org/officeDocument/2006/relationships" id="279" r:id="Rf182cf9d5d9c45ae"/>
    <p:sldId xmlns:r="http://schemas.openxmlformats.org/officeDocument/2006/relationships" id="280" r:id="R68909877409a43ac"/>
    <p:sldId xmlns:r="http://schemas.openxmlformats.org/officeDocument/2006/relationships" id="281" r:id="R171d78009a8740ed"/>
    <p:sldId xmlns:r="http://schemas.openxmlformats.org/officeDocument/2006/relationships" id="282" r:id="R28edcd10e3344c91"/>
    <p:sldId xmlns:r="http://schemas.openxmlformats.org/officeDocument/2006/relationships" id="283" r:id="R1097e56f71e94b09"/>
    <p:sldId xmlns:r="http://schemas.openxmlformats.org/officeDocument/2006/relationships" id="284" r:id="R7c0bfe187b6f466e"/>
    <p:sldId xmlns:r="http://schemas.openxmlformats.org/officeDocument/2006/relationships" id="285" r:id="R5cd1e85010fb49cc"/>
    <p:sldId xmlns:r="http://schemas.openxmlformats.org/officeDocument/2006/relationships" id="286" r:id="R52bfceaf14b141dd"/>
    <p:sldId xmlns:r="http://schemas.openxmlformats.org/officeDocument/2006/relationships" id="287" r:id="Rb131abca7cdf450e"/>
    <p:sldId xmlns:r="http://schemas.openxmlformats.org/officeDocument/2006/relationships" id="288" r:id="Rcc8a560a5d484e83"/>
    <p:sldId xmlns:r="http://schemas.openxmlformats.org/officeDocument/2006/relationships" id="289" r:id="R7513514703474288"/>
    <p:sldId xmlns:r="http://schemas.openxmlformats.org/officeDocument/2006/relationships" id="290" r:id="Rcf970ed8ebbe4b39"/>
    <p:sldId xmlns:r="http://schemas.openxmlformats.org/officeDocument/2006/relationships" id="291" r:id="Rc4028c23b3f04187"/>
    <p:sldId xmlns:r="http://schemas.openxmlformats.org/officeDocument/2006/relationships" id="292" r:id="Ra26fd8d91d7e496b"/>
    <p:sldId xmlns:r="http://schemas.openxmlformats.org/officeDocument/2006/relationships" id="293" r:id="R9a281e1775c34a98"/>
    <p:sldId xmlns:r="http://schemas.openxmlformats.org/officeDocument/2006/relationships" id="294" r:id="Rab6b4d5c8e9a446d"/>
    <p:sldId xmlns:r="http://schemas.openxmlformats.org/officeDocument/2006/relationships" id="295" r:id="Rcb1f51e2ac9a43ea"/>
    <p:sldId xmlns:r="http://schemas.openxmlformats.org/officeDocument/2006/relationships" id="296" r:id="Re746ee363767424f"/>
    <p:sldId xmlns:r="http://schemas.openxmlformats.org/officeDocument/2006/relationships" id="297" r:id="Rd03f556d268b47af"/>
    <p:sldId xmlns:r="http://schemas.openxmlformats.org/officeDocument/2006/relationships" id="298" r:id="R4815b23a6dff4436"/>
    <p:sldId xmlns:r="http://schemas.openxmlformats.org/officeDocument/2006/relationships" id="299" r:id="Rf00f0724e91541d9"/>
    <p:sldId xmlns:r="http://schemas.openxmlformats.org/officeDocument/2006/relationships" id="300" r:id="Rc5acddc684524743"/>
    <p:sldId xmlns:r="http://schemas.openxmlformats.org/officeDocument/2006/relationships" id="301" r:id="R521abcc24f724b0c"/>
    <p:sldId xmlns:r="http://schemas.openxmlformats.org/officeDocument/2006/relationships" id="302" r:id="R335fc36c1cf7431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02693b82cf46aa" /><Relationship Type="http://schemas.openxmlformats.org/officeDocument/2006/relationships/slideMaster" Target="/ppt/slideMasters/slideMaster1.xml" Id="R2cec79017e1c4df5" /><Relationship Type="http://schemas.openxmlformats.org/officeDocument/2006/relationships/notesMaster" Target="/ppt/notesMasters/notesMaster1.xml" Id="R8cc92578b2f94932" /><Relationship Type="http://schemas.openxmlformats.org/officeDocument/2006/relationships/presProps" Target="/ppt/presProps.xml" Id="R428579a89cbf4db5" /><Relationship Type="http://schemas.openxmlformats.org/officeDocument/2006/relationships/tableStyles" Target="/ppt/tableStyles.xml" Id="R99c497b7ff924499" /><Relationship Type="http://schemas.openxmlformats.org/officeDocument/2006/relationships/slide" Target="/ppt/slides/slide1.xml" Id="Reef652d60cf940d9" /><Relationship Type="http://schemas.openxmlformats.org/officeDocument/2006/relationships/slide" Target="/ppt/slides/slide2.xml" Id="R76471efc95874b63" /><Relationship Type="http://schemas.openxmlformats.org/officeDocument/2006/relationships/slide" Target="/ppt/slides/slide3.xml" Id="R158d0fd42aeb4b27" /><Relationship Type="http://schemas.openxmlformats.org/officeDocument/2006/relationships/slide" Target="/ppt/slides/slide4.xml" Id="Rf2320647df414afe" /><Relationship Type="http://schemas.openxmlformats.org/officeDocument/2006/relationships/slide" Target="/ppt/slides/slide5.xml" Id="Rc58e8326ce8b4ec2" /><Relationship Type="http://schemas.openxmlformats.org/officeDocument/2006/relationships/slide" Target="/ppt/slides/slide6.xml" Id="Rb83f6c22deb347f2" /><Relationship Type="http://schemas.openxmlformats.org/officeDocument/2006/relationships/slide" Target="/ppt/slides/slide7.xml" Id="R573280eb3136485e" /><Relationship Type="http://schemas.openxmlformats.org/officeDocument/2006/relationships/slide" Target="/ppt/slides/slide8.xml" Id="Rd708b355a630479d" /><Relationship Type="http://schemas.openxmlformats.org/officeDocument/2006/relationships/slide" Target="/ppt/slides/slide9.xml" Id="R1f9e97c55e3e4b17" /><Relationship Type="http://schemas.openxmlformats.org/officeDocument/2006/relationships/slide" Target="/ppt/slides/slide10.xml" Id="Rcce6af3661c247b3" /><Relationship Type="http://schemas.openxmlformats.org/officeDocument/2006/relationships/slide" Target="/ppt/slides/slide11.xml" Id="Rcdfb1ba40a4c4d8e" /><Relationship Type="http://schemas.openxmlformats.org/officeDocument/2006/relationships/slide" Target="/ppt/slides/slide12.xml" Id="R54140924c45f423b" /><Relationship Type="http://schemas.openxmlformats.org/officeDocument/2006/relationships/slide" Target="/ppt/slides/slide13.xml" Id="Rbad44d6a9a7542c4" /><Relationship Type="http://schemas.openxmlformats.org/officeDocument/2006/relationships/slide" Target="/ppt/slides/slide14.xml" Id="R9a340d737f34482d" /><Relationship Type="http://schemas.openxmlformats.org/officeDocument/2006/relationships/slide" Target="/ppt/slides/slide15.xml" Id="R38080cfcc11544de" /><Relationship Type="http://schemas.openxmlformats.org/officeDocument/2006/relationships/slide" Target="/ppt/slides/slide16.xml" Id="R3982bd13b4f04845" /><Relationship Type="http://schemas.openxmlformats.org/officeDocument/2006/relationships/slide" Target="/ppt/slides/slide17.xml" Id="Rcf47dbb20a674965" /><Relationship Type="http://schemas.openxmlformats.org/officeDocument/2006/relationships/slide" Target="/ppt/slides/slide18.xml" Id="Rc01c3b8bc4174055" /><Relationship Type="http://schemas.openxmlformats.org/officeDocument/2006/relationships/slide" Target="/ppt/slides/slide19.xml" Id="Rf54bc7a9016d4afc" /><Relationship Type="http://schemas.openxmlformats.org/officeDocument/2006/relationships/slide" Target="/ppt/slides/slide20.xml" Id="Rf48bae87e0e14f4f" /><Relationship Type="http://schemas.openxmlformats.org/officeDocument/2006/relationships/slide" Target="/ppt/slides/slide21.xml" Id="Ra9b5d4360a3f4f43" /><Relationship Type="http://schemas.openxmlformats.org/officeDocument/2006/relationships/slide" Target="/ppt/slides/slide22.xml" Id="Rc24c36a0abda4bd7" /><Relationship Type="http://schemas.openxmlformats.org/officeDocument/2006/relationships/slide" Target="/ppt/slides/slide23.xml" Id="R477c9385f3d94100" /><Relationship Type="http://schemas.openxmlformats.org/officeDocument/2006/relationships/slide" Target="/ppt/slides/slide24.xml" Id="Rf182cf9d5d9c45ae" /><Relationship Type="http://schemas.openxmlformats.org/officeDocument/2006/relationships/slide" Target="/ppt/slides/slide25.xml" Id="R68909877409a43ac" /><Relationship Type="http://schemas.openxmlformats.org/officeDocument/2006/relationships/slide" Target="/ppt/slides/slide26.xml" Id="R171d78009a8740ed" /><Relationship Type="http://schemas.openxmlformats.org/officeDocument/2006/relationships/slide" Target="/ppt/slides/slide27.xml" Id="R28edcd10e3344c91" /><Relationship Type="http://schemas.openxmlformats.org/officeDocument/2006/relationships/slide" Target="/ppt/slides/slide28.xml" Id="R1097e56f71e94b09" /><Relationship Type="http://schemas.openxmlformats.org/officeDocument/2006/relationships/slide" Target="/ppt/slides/slide29.xml" Id="R7c0bfe187b6f466e" /><Relationship Type="http://schemas.openxmlformats.org/officeDocument/2006/relationships/slide" Target="/ppt/slides/slide30.xml" Id="R5cd1e85010fb49cc" /><Relationship Type="http://schemas.openxmlformats.org/officeDocument/2006/relationships/slide" Target="/ppt/slides/slide31.xml" Id="R52bfceaf14b141dd" /><Relationship Type="http://schemas.openxmlformats.org/officeDocument/2006/relationships/slide" Target="/ppt/slides/slide32.xml" Id="Rb131abca7cdf450e" /><Relationship Type="http://schemas.openxmlformats.org/officeDocument/2006/relationships/slide" Target="/ppt/slides/slide33.xml" Id="Rcc8a560a5d484e83" /><Relationship Type="http://schemas.openxmlformats.org/officeDocument/2006/relationships/slide" Target="/ppt/slides/slide34.xml" Id="R7513514703474288" /><Relationship Type="http://schemas.openxmlformats.org/officeDocument/2006/relationships/slide" Target="/ppt/slides/slide35.xml" Id="Rcf970ed8ebbe4b39" /><Relationship Type="http://schemas.openxmlformats.org/officeDocument/2006/relationships/slide" Target="/ppt/slides/slide36.xml" Id="Rc4028c23b3f04187" /><Relationship Type="http://schemas.openxmlformats.org/officeDocument/2006/relationships/slide" Target="/ppt/slides/slide37.xml" Id="Ra26fd8d91d7e496b" /><Relationship Type="http://schemas.openxmlformats.org/officeDocument/2006/relationships/slide" Target="/ppt/slides/slide38.xml" Id="R9a281e1775c34a98" /><Relationship Type="http://schemas.openxmlformats.org/officeDocument/2006/relationships/slide" Target="/ppt/slides/slide39.xml" Id="Rab6b4d5c8e9a446d" /><Relationship Type="http://schemas.openxmlformats.org/officeDocument/2006/relationships/slide" Target="/ppt/slides/slide40.xml" Id="Rcb1f51e2ac9a43ea" /><Relationship Type="http://schemas.openxmlformats.org/officeDocument/2006/relationships/slide" Target="/ppt/slides/slide41.xml" Id="Re746ee363767424f" /><Relationship Type="http://schemas.openxmlformats.org/officeDocument/2006/relationships/slide" Target="/ppt/slides/slide42.xml" Id="Rd03f556d268b47af" /><Relationship Type="http://schemas.openxmlformats.org/officeDocument/2006/relationships/slide" Target="/ppt/slides/slide43.xml" Id="R4815b23a6dff4436" /><Relationship Type="http://schemas.openxmlformats.org/officeDocument/2006/relationships/slide" Target="/ppt/slides/slide44.xml" Id="Rf00f0724e91541d9" /><Relationship Type="http://schemas.openxmlformats.org/officeDocument/2006/relationships/slide" Target="/ppt/slides/slide45.xml" Id="Rc5acddc684524743" /><Relationship Type="http://schemas.openxmlformats.org/officeDocument/2006/relationships/slide" Target="/ppt/slides/slide46.xml" Id="R521abcc24f724b0c" /><Relationship Type="http://schemas.openxmlformats.org/officeDocument/2006/relationships/slide" Target="/ppt/slides/slide47.xml" Id="R335fc36c1cf7431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3309cf4c4e54c1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211a9ed9a714056" /><Relationship Type="http://schemas.openxmlformats.org/officeDocument/2006/relationships/notesMaster" Target="/ppt/notesMasters/notesMaster1.xml" Id="R60067c72e66441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09877f66a140d9" /><Relationship Type="http://schemas.openxmlformats.org/officeDocument/2006/relationships/notesMaster" Target="/ppt/notesMasters/notesMaster1.xml" Id="R8e9b4681eea24e0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8d42f58c2364f19" /><Relationship Type="http://schemas.openxmlformats.org/officeDocument/2006/relationships/notesMaster" Target="/ppt/notesMasters/notesMaster1.xml" Id="Re94c22d54581467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dfae7d8edd54bdf" /><Relationship Type="http://schemas.openxmlformats.org/officeDocument/2006/relationships/notesMaster" Target="/ppt/notesMasters/notesMaster1.xml" Id="R561cab881730432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e42ca6e24974431" /><Relationship Type="http://schemas.openxmlformats.org/officeDocument/2006/relationships/notesMaster" Target="/ppt/notesMasters/notesMaster1.xml" Id="R4b044d356da64b4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076bba3ac50446f" /><Relationship Type="http://schemas.openxmlformats.org/officeDocument/2006/relationships/notesMaster" Target="/ppt/notesMasters/notesMaster1.xml" Id="R44d6659932c8468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2f4ec0960cb4168" /><Relationship Type="http://schemas.openxmlformats.org/officeDocument/2006/relationships/notesMaster" Target="/ppt/notesMasters/notesMaster1.xml" Id="Rc91bfac802d647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c0ecf47e464d39" /><Relationship Type="http://schemas.openxmlformats.org/officeDocument/2006/relationships/notesMaster" Target="/ppt/notesMasters/notesMaster1.xml" Id="Rc34924f3e92647f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e3b5a886b27494e" /><Relationship Type="http://schemas.openxmlformats.org/officeDocument/2006/relationships/notesMaster" Target="/ppt/notesMasters/notesMaster1.xml" Id="R2e6e36d047c84bc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43ada4e42594086" /><Relationship Type="http://schemas.openxmlformats.org/officeDocument/2006/relationships/notesMaster" Target="/ppt/notesMasters/notesMaster1.xml" Id="R86af925bbc1d4c5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22ec59eadc1460b" /><Relationship Type="http://schemas.openxmlformats.org/officeDocument/2006/relationships/notesMaster" Target="/ppt/notesMasters/notesMaster1.xml" Id="R7c4f12e48b5b4fe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d7b3e2590644610" /><Relationship Type="http://schemas.openxmlformats.org/officeDocument/2006/relationships/notesMaster" Target="/ppt/notesMasters/notesMaster1.xml" Id="Rec68d8ede0f54dc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e61c56a471545fa" /><Relationship Type="http://schemas.openxmlformats.org/officeDocument/2006/relationships/notesMaster" Target="/ppt/notesMasters/notesMaster1.xml" Id="R2fa7a8adc9ef4e4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4f857c1d4b04673" /><Relationship Type="http://schemas.openxmlformats.org/officeDocument/2006/relationships/notesMaster" Target="/ppt/notesMasters/notesMaster1.xml" Id="R6ec60e27614242e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1ebe0f2af2b4517" /><Relationship Type="http://schemas.openxmlformats.org/officeDocument/2006/relationships/notesMaster" Target="/ppt/notesMasters/notesMaster1.xml" Id="R9a9611703cbf418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51efd9e972b4940" /><Relationship Type="http://schemas.openxmlformats.org/officeDocument/2006/relationships/notesMaster" Target="/ppt/notesMasters/notesMaster1.xml" Id="R69f978ada7e7482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8a524b4298f4de9" /><Relationship Type="http://schemas.openxmlformats.org/officeDocument/2006/relationships/notesMaster" Target="/ppt/notesMasters/notesMaster1.xml" Id="R9ff557dbc9cc47b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632e9d383ef47c5" /><Relationship Type="http://schemas.openxmlformats.org/officeDocument/2006/relationships/notesMaster" Target="/ppt/notesMasters/notesMaster1.xml" Id="R79294bcff0c7465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7520059db96440d" /><Relationship Type="http://schemas.openxmlformats.org/officeDocument/2006/relationships/notesMaster" Target="/ppt/notesMasters/notesMaster1.xml" Id="R5fc29a106b0d421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9fc948d90804da0" /><Relationship Type="http://schemas.openxmlformats.org/officeDocument/2006/relationships/notesMaster" Target="/ppt/notesMasters/notesMaster1.xml" Id="R8c9d7872c3c344b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beac1e058734e24" /><Relationship Type="http://schemas.openxmlformats.org/officeDocument/2006/relationships/notesMaster" Target="/ppt/notesMasters/notesMaster1.xml" Id="R86fb1997a29b4bd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3bda267075c4810" /><Relationship Type="http://schemas.openxmlformats.org/officeDocument/2006/relationships/notesMaster" Target="/ppt/notesMasters/notesMaster1.xml" Id="Rb9e6a2190ee349c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0c8f60e599b49ee" /><Relationship Type="http://schemas.openxmlformats.org/officeDocument/2006/relationships/notesMaster" Target="/ppt/notesMasters/notesMaster1.xml" Id="R6eb2e951c4344a5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5866fd9587842d5" /><Relationship Type="http://schemas.openxmlformats.org/officeDocument/2006/relationships/notesMaster" Target="/ppt/notesMasters/notesMaster1.xml" Id="R08cda6a6e3694c4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786465cba014eaf" /><Relationship Type="http://schemas.openxmlformats.org/officeDocument/2006/relationships/notesMaster" Target="/ppt/notesMasters/notesMaster1.xml" Id="Re12c2e6d9afb473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9fc4200e2f54e97" /><Relationship Type="http://schemas.openxmlformats.org/officeDocument/2006/relationships/notesMaster" Target="/ppt/notesMasters/notesMaster1.xml" Id="R9354910856a0467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4124cf6fd7145b8" /><Relationship Type="http://schemas.openxmlformats.org/officeDocument/2006/relationships/notesMaster" Target="/ppt/notesMasters/notesMaster1.xml" Id="R944c5f2dc22145c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2610f4cefba46b1" /><Relationship Type="http://schemas.openxmlformats.org/officeDocument/2006/relationships/notesMaster" Target="/ppt/notesMasters/notesMaster1.xml" Id="R2cc04ea4bc424f1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6d30282f92f4cf7" /><Relationship Type="http://schemas.openxmlformats.org/officeDocument/2006/relationships/notesMaster" Target="/ppt/notesMasters/notesMaster1.xml" Id="R92bed73114b140e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3237ef8fd334c9e" /><Relationship Type="http://schemas.openxmlformats.org/officeDocument/2006/relationships/notesMaster" Target="/ppt/notesMasters/notesMaster1.xml" Id="R8fe3916ebbe0411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082b35c49bc4f17" /><Relationship Type="http://schemas.openxmlformats.org/officeDocument/2006/relationships/notesMaster" Target="/ppt/notesMasters/notesMaster1.xml" Id="R503e1f487aae43c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1d5deeba7e104d55" /><Relationship Type="http://schemas.openxmlformats.org/officeDocument/2006/relationships/notesMaster" Target="/ppt/notesMasters/notesMaster1.xml" Id="R5ff39d936d424926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0ec0af5637d3499e" /><Relationship Type="http://schemas.openxmlformats.org/officeDocument/2006/relationships/notesMaster" Target="/ppt/notesMasters/notesMaster1.xml" Id="R199a137617134c8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d907afd5e80d4dcd" /><Relationship Type="http://schemas.openxmlformats.org/officeDocument/2006/relationships/notesMaster" Target="/ppt/notesMasters/notesMaster1.xml" Id="R61f2527453e54c04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a0537e63fc44fab" /><Relationship Type="http://schemas.openxmlformats.org/officeDocument/2006/relationships/notesMaster" Target="/ppt/notesMasters/notesMaster1.xml" Id="R559f3669026a4be8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abfc926d158842c0" /><Relationship Type="http://schemas.openxmlformats.org/officeDocument/2006/relationships/notesMaster" Target="/ppt/notesMasters/notesMaster1.xml" Id="R2fc59584696645fc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a6f9048f390f4ef4" /><Relationship Type="http://schemas.openxmlformats.org/officeDocument/2006/relationships/notesMaster" Target="/ppt/notesMasters/notesMaster1.xml" Id="Rb55d1acb759b4a0a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ac107e64c8cd4ca9" /><Relationship Type="http://schemas.openxmlformats.org/officeDocument/2006/relationships/notesMaster" Target="/ppt/notesMasters/notesMaster1.xml" Id="Rb87dd957e7034d1a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5f53cebf783a4ba2" /><Relationship Type="http://schemas.openxmlformats.org/officeDocument/2006/relationships/notesMaster" Target="/ppt/notesMasters/notesMaster1.xml" Id="Rdfe6b959d70f4eea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88f84d31c6944ecb" /><Relationship Type="http://schemas.openxmlformats.org/officeDocument/2006/relationships/notesMaster" Target="/ppt/notesMasters/notesMaster1.xml" Id="R4b8294d8fc1a4dbd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3a7214a519c44c2b" /><Relationship Type="http://schemas.openxmlformats.org/officeDocument/2006/relationships/notesMaster" Target="/ppt/notesMasters/notesMaster1.xml" Id="R4d296205a96c4a20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4febb1fe19dd40d0" /><Relationship Type="http://schemas.openxmlformats.org/officeDocument/2006/relationships/notesMaster" Target="/ppt/notesMasters/notesMaster1.xml" Id="Rc5692593545d4bc9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f6f69ce137e94037" /><Relationship Type="http://schemas.openxmlformats.org/officeDocument/2006/relationships/notesMaster" Target="/ppt/notesMasters/notesMaster1.xml" Id="R3a6ac8c300e5403b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175713a568824122" /><Relationship Type="http://schemas.openxmlformats.org/officeDocument/2006/relationships/notesMaster" Target="/ppt/notesMasters/notesMaster1.xml" Id="R8c0b30b59f5d4f78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99457156152c4905" /><Relationship Type="http://schemas.openxmlformats.org/officeDocument/2006/relationships/notesMaster" Target="/ppt/notesMasters/notesMaster1.xml" Id="Rf4a141a7a4e3455e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ada113a0135e4e57" /><Relationship Type="http://schemas.openxmlformats.org/officeDocument/2006/relationships/notesMaster" Target="/ppt/notesMasters/notesMaster1.xml" Id="R03ebf9f18c3a40ec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9fc1126fb1d649d0" /><Relationship Type="http://schemas.openxmlformats.org/officeDocument/2006/relationships/notesMaster" Target="/ppt/notesMasters/notesMaster1.xml" Id="R936bd455fa664a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dcffa57c724e1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20572f574974e3d" /><Relationship Type="http://schemas.openxmlformats.org/officeDocument/2006/relationships/slideLayout" Target="/ppt/slideLayouts/slideLayout1.xml" Id="R8cb58204a3de43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b58204a3de43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84c137e62646d2" /><Relationship Type="http://schemas.openxmlformats.org/officeDocument/2006/relationships/notesSlide" Target="/ppt/notesSlides/notesSlide1.xml" Id="R0fe0be5f667e4a2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55a0f2e151416c" /><Relationship Type="http://schemas.openxmlformats.org/officeDocument/2006/relationships/notesSlide" Target="/ppt/notesSlides/notesSlide2.xml" Id="R332c09b9989c4d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8bd6def36941ef" /><Relationship Type="http://schemas.openxmlformats.org/officeDocument/2006/relationships/chart" Target="/ppt/slides/charts/chart1.xml" Id="R809ed3fd54a54c88" /><Relationship Type="http://schemas.openxmlformats.org/officeDocument/2006/relationships/notesSlide" Target="/ppt/notesSlides/notesSlide3.xml" Id="R663de8748cb2495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65b099670f40e7" /><Relationship Type="http://schemas.openxmlformats.org/officeDocument/2006/relationships/chart" Target="/ppt/slides/charts/chart2.xml" Id="Rbc87d3e8ac4a4c9b" /><Relationship Type="http://schemas.openxmlformats.org/officeDocument/2006/relationships/chart" Target="/ppt/slides/charts/chart3.xml" Id="R4bd9ecd458034df8" /><Relationship Type="http://schemas.openxmlformats.org/officeDocument/2006/relationships/chart" Target="/ppt/slides/charts/chart4.xml" Id="Rbffd32937f5c446a" /><Relationship Type="http://schemas.openxmlformats.org/officeDocument/2006/relationships/notesSlide" Target="/ppt/notesSlides/notesSlide4.xml" Id="R4b671212033047f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2ccae1a0264e19" /><Relationship Type="http://schemas.openxmlformats.org/officeDocument/2006/relationships/chart" Target="/ppt/slides/charts/chart5.xml" Id="Rc3ec8e3bebf341c4" /><Relationship Type="http://schemas.openxmlformats.org/officeDocument/2006/relationships/chart" Target="/ppt/slides/charts/chart6.xml" Id="R11dee9bc98684945" /><Relationship Type="http://schemas.openxmlformats.org/officeDocument/2006/relationships/chart" Target="/ppt/slides/charts/chart7.xml" Id="R8abddca4f4f44b15" /><Relationship Type="http://schemas.openxmlformats.org/officeDocument/2006/relationships/chart" Target="/ppt/slides/charts/chart8.xml" Id="R909ffe189a034750" /><Relationship Type="http://schemas.openxmlformats.org/officeDocument/2006/relationships/notesSlide" Target="/ppt/notesSlides/notesSlide5.xml" Id="Rb2836adfedcf49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47eb43757c4951" /><Relationship Type="http://schemas.openxmlformats.org/officeDocument/2006/relationships/chart" Target="/ppt/slides/charts/chart9.xml" Id="R29b1027de4674068" /><Relationship Type="http://schemas.openxmlformats.org/officeDocument/2006/relationships/chart" Target="/ppt/slides/charts/chart10.xml" Id="R9ec5c178c0114992" /><Relationship Type="http://schemas.openxmlformats.org/officeDocument/2006/relationships/notesSlide" Target="/ppt/notesSlides/notesSlide6.xml" Id="R6aac409670f8492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44ae3f11704f48" /><Relationship Type="http://schemas.openxmlformats.org/officeDocument/2006/relationships/chart" Target="/ppt/slides/charts/chart11.xml" Id="R211f27c8135b4ceb" /><Relationship Type="http://schemas.openxmlformats.org/officeDocument/2006/relationships/chart" Target="/ppt/slides/charts/chart12.xml" Id="R1fd4083617e14db1" /><Relationship Type="http://schemas.openxmlformats.org/officeDocument/2006/relationships/notesSlide" Target="/ppt/notesSlides/notesSlide7.xml" Id="Rf84f5b74e0cd40e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f5082ea7d0485e" /><Relationship Type="http://schemas.openxmlformats.org/officeDocument/2006/relationships/chart" Target="/ppt/slides/charts/chart13.xml" Id="R205a145d736e40eb" /><Relationship Type="http://schemas.openxmlformats.org/officeDocument/2006/relationships/notesSlide" Target="/ppt/notesSlides/notesSlide8.xml" Id="R570a10b6db2a459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77e9d49ff42e8" /><Relationship Type="http://schemas.openxmlformats.org/officeDocument/2006/relationships/chart" Target="/ppt/slides/charts/chart14.xml" Id="R1cb73adbe50745a2" /><Relationship Type="http://schemas.openxmlformats.org/officeDocument/2006/relationships/notesSlide" Target="/ppt/notesSlides/notesSlide9.xml" Id="Rbedbecd9989443a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9ea5e3c8be49c4" /><Relationship Type="http://schemas.openxmlformats.org/officeDocument/2006/relationships/chart" Target="/ppt/slides/charts/chart15.xml" Id="Ra9aee1b1cb804654" /><Relationship Type="http://schemas.openxmlformats.org/officeDocument/2006/relationships/chart" Target="/ppt/slides/charts/chart16.xml" Id="Rfb26fc04a0934bda" /><Relationship Type="http://schemas.openxmlformats.org/officeDocument/2006/relationships/notesSlide" Target="/ppt/notesSlides/notesSlide10.xml" Id="Rc8ff27e148a7450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af642238e94800" /><Relationship Type="http://schemas.openxmlformats.org/officeDocument/2006/relationships/chart" Target="/ppt/slides/charts/chart17.xml" Id="R24a8d0f33d954a60" /><Relationship Type="http://schemas.openxmlformats.org/officeDocument/2006/relationships/notesSlide" Target="/ppt/notesSlides/notesSlide11.xml" Id="Rcff3077204e14ec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88e77b92c48fc" /><Relationship Type="http://schemas.openxmlformats.org/officeDocument/2006/relationships/chart" Target="/ppt/slides/charts/chart18.xml" Id="R3a025bcc6c214c7c" /><Relationship Type="http://schemas.openxmlformats.org/officeDocument/2006/relationships/notesSlide" Target="/ppt/notesSlides/notesSlide12.xml" Id="Rad60b67082a64de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c49f6960254d43" /><Relationship Type="http://schemas.openxmlformats.org/officeDocument/2006/relationships/chart" Target="/ppt/slides/charts/chart19.xml" Id="Ra335708604804450" /><Relationship Type="http://schemas.openxmlformats.org/officeDocument/2006/relationships/notesSlide" Target="/ppt/notesSlides/notesSlide13.xml" Id="Rcda0370295004ce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273e10cda34183" /><Relationship Type="http://schemas.openxmlformats.org/officeDocument/2006/relationships/chart" Target="/ppt/slides/charts/chart20.xml" Id="Ra43fa528397b4986" /><Relationship Type="http://schemas.openxmlformats.org/officeDocument/2006/relationships/chart" Target="/ppt/slides/charts/chart21.xml" Id="Rbb5b202366ca48b5" /><Relationship Type="http://schemas.openxmlformats.org/officeDocument/2006/relationships/chart" Target="/ppt/slides/charts/chart22.xml" Id="R4377e56e8240418b" /><Relationship Type="http://schemas.openxmlformats.org/officeDocument/2006/relationships/notesSlide" Target="/ppt/notesSlides/notesSlide14.xml" Id="Rb5c096972ee3408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24df8d4e504433" /><Relationship Type="http://schemas.openxmlformats.org/officeDocument/2006/relationships/chart" Target="/ppt/slides/charts/chart23.xml" Id="R1669a96f07df4922" /><Relationship Type="http://schemas.openxmlformats.org/officeDocument/2006/relationships/chart" Target="/ppt/slides/charts/chart24.xml" Id="R9f2379f4ff3e4777" /><Relationship Type="http://schemas.openxmlformats.org/officeDocument/2006/relationships/notesSlide" Target="/ppt/notesSlides/notesSlide15.xml" Id="Rcf11272488db4cc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a4f8d273eb46b9" /><Relationship Type="http://schemas.openxmlformats.org/officeDocument/2006/relationships/notesSlide" Target="/ppt/notesSlides/notesSlide16.xml" Id="R6d07b0ed131e4a7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bba323c2404d00" /><Relationship Type="http://schemas.openxmlformats.org/officeDocument/2006/relationships/notesSlide" Target="/ppt/notesSlides/notesSlide17.xml" Id="Ra32bb21813a44b7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65d2c11869485a" /><Relationship Type="http://schemas.openxmlformats.org/officeDocument/2006/relationships/notesSlide" Target="/ppt/notesSlides/notesSlide18.xml" Id="Rf263d75a2657451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1ba8f3cf1d4445" /><Relationship Type="http://schemas.openxmlformats.org/officeDocument/2006/relationships/notesSlide" Target="/ppt/notesSlides/notesSlide19.xml" Id="R0ecf7f35d3f24b2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63c5f01b4b4401" /><Relationship Type="http://schemas.openxmlformats.org/officeDocument/2006/relationships/chart" Target="/ppt/slides/charts/chart25.xml" Id="Rcfa9afb10c894868" /><Relationship Type="http://schemas.openxmlformats.org/officeDocument/2006/relationships/notesSlide" Target="/ppt/notesSlides/notesSlide20.xml" Id="R061d479b58d84a3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5bf74b225c45b6" /><Relationship Type="http://schemas.openxmlformats.org/officeDocument/2006/relationships/notesSlide" Target="/ppt/notesSlides/notesSlide21.xml" Id="R9cc689a7a8814cd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5c63f27b4f4b21" /><Relationship Type="http://schemas.openxmlformats.org/officeDocument/2006/relationships/chart" Target="/ppt/slides/charts/chart26.xml" Id="R16014c917e5e4a10" /><Relationship Type="http://schemas.openxmlformats.org/officeDocument/2006/relationships/notesSlide" Target="/ppt/notesSlides/notesSlide22.xml" Id="R976038af32e1426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521adcb13e45de" /><Relationship Type="http://schemas.openxmlformats.org/officeDocument/2006/relationships/notesSlide" Target="/ppt/notesSlides/notesSlide23.xml" Id="Rb1ee805767aa40b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5fa3e53cea46d9" /><Relationship Type="http://schemas.openxmlformats.org/officeDocument/2006/relationships/chart" Target="/ppt/slides/charts/chart27.xml" Id="Ra7ab1eda77aa4283" /><Relationship Type="http://schemas.openxmlformats.org/officeDocument/2006/relationships/notesSlide" Target="/ppt/notesSlides/notesSlide24.xml" Id="R2d75204d0c0e47a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5667a60dbf410f" /><Relationship Type="http://schemas.openxmlformats.org/officeDocument/2006/relationships/chart" Target="/ppt/slides/charts/chart28.xml" Id="R15510a024595477e" /><Relationship Type="http://schemas.openxmlformats.org/officeDocument/2006/relationships/notesSlide" Target="/ppt/notesSlides/notesSlide25.xml" Id="Rb0a47d32eaaf471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83c5262eb549d2" /><Relationship Type="http://schemas.openxmlformats.org/officeDocument/2006/relationships/chart" Target="/ppt/slides/charts/chart29.xml" Id="Rdc5fdf26b5774287" /><Relationship Type="http://schemas.openxmlformats.org/officeDocument/2006/relationships/notesSlide" Target="/ppt/notesSlides/notesSlide26.xml" Id="R1b4d00d3637f437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2451d1e7294e00" /><Relationship Type="http://schemas.openxmlformats.org/officeDocument/2006/relationships/notesSlide" Target="/ppt/notesSlides/notesSlide27.xml" Id="R2b843099370b477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531fc694f2490b" /><Relationship Type="http://schemas.openxmlformats.org/officeDocument/2006/relationships/notesSlide" Target="/ppt/notesSlides/notesSlide28.xml" Id="Re3dc94895bbe4f9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eb757bda544fea" /><Relationship Type="http://schemas.openxmlformats.org/officeDocument/2006/relationships/notesSlide" Target="/ppt/notesSlides/notesSlide29.xml" Id="R4d61c5d19b1446d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9acbaa0bfd4360" /><Relationship Type="http://schemas.openxmlformats.org/officeDocument/2006/relationships/notesSlide" Target="/ppt/notesSlides/notesSlide30.xml" Id="R0de291960cbe494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c5658ea13542cc" /><Relationship Type="http://schemas.openxmlformats.org/officeDocument/2006/relationships/notesSlide" Target="/ppt/notesSlides/notesSlide31.xml" Id="Rfee0f651885f4e84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bef9cb05ed4be1" /><Relationship Type="http://schemas.openxmlformats.org/officeDocument/2006/relationships/notesSlide" Target="/ppt/notesSlides/notesSlide32.xml" Id="Rcd91bcefa7ec4ba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916beaa6bd4d17" /><Relationship Type="http://schemas.openxmlformats.org/officeDocument/2006/relationships/notesSlide" Target="/ppt/notesSlides/notesSlide33.xml" Id="Reed57a87c172478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1eaa3d58504579" /><Relationship Type="http://schemas.openxmlformats.org/officeDocument/2006/relationships/notesSlide" Target="/ppt/notesSlides/notesSlide34.xml" Id="Rfe46ab3b28894b6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4df8d3614b46dc" /><Relationship Type="http://schemas.openxmlformats.org/officeDocument/2006/relationships/notesSlide" Target="/ppt/notesSlides/notesSlide35.xml" Id="Rd34a0790da1341b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346a15a2f54ef2" /><Relationship Type="http://schemas.openxmlformats.org/officeDocument/2006/relationships/notesSlide" Target="/ppt/notesSlides/notesSlide36.xml" Id="Rc82fd15bf05344c9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db73ca8aa54597" /><Relationship Type="http://schemas.openxmlformats.org/officeDocument/2006/relationships/notesSlide" Target="/ppt/notesSlides/notesSlide37.xml" Id="R35ec7d66fa6d48c5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851a4bcc4e49c3" /><Relationship Type="http://schemas.openxmlformats.org/officeDocument/2006/relationships/notesSlide" Target="/ppt/notesSlides/notesSlide38.xml" Id="Rb5b39877833f4b17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e43ed6f6784515" /><Relationship Type="http://schemas.openxmlformats.org/officeDocument/2006/relationships/notesSlide" Target="/ppt/notesSlides/notesSlide39.xml" Id="R6538a54563cb4b3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8e2bd453a749d0" /><Relationship Type="http://schemas.openxmlformats.org/officeDocument/2006/relationships/notesSlide" Target="/ppt/notesSlides/notesSlide40.xml" Id="R78971160d8124b68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a2490481f84ac1" /><Relationship Type="http://schemas.openxmlformats.org/officeDocument/2006/relationships/notesSlide" Target="/ppt/notesSlides/notesSlide41.xml" Id="R76a127f7572d44ea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b4c14392d4e96" /><Relationship Type="http://schemas.openxmlformats.org/officeDocument/2006/relationships/notesSlide" Target="/ppt/notesSlides/notesSlide42.xml" Id="Ra29dc0f64e414300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d640916f6444cd" /><Relationship Type="http://schemas.openxmlformats.org/officeDocument/2006/relationships/notesSlide" Target="/ppt/notesSlides/notesSlide43.xml" Id="Rb847628dc4b64f64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db81043a934f7f" /><Relationship Type="http://schemas.openxmlformats.org/officeDocument/2006/relationships/notesSlide" Target="/ppt/notesSlides/notesSlide44.xml" Id="Ra98ce883c7624fa8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80f49244934972" /><Relationship Type="http://schemas.openxmlformats.org/officeDocument/2006/relationships/notesSlide" Target="/ppt/notesSlides/notesSlide45.xml" Id="Rc829d4dae22f48a7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bf05ae1c56455d" /><Relationship Type="http://schemas.openxmlformats.org/officeDocument/2006/relationships/notesSlide" Target="/ppt/notesSlides/notesSlide46.xml" Id="Rb66c7aaee6ef47aa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a9353a00874156" /><Relationship Type="http://schemas.openxmlformats.org/officeDocument/2006/relationships/notesSlide" Target="/ppt/notesSlides/notesSlide47.xml" Id="R6da6c2ba374f4eda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R$ 0 "bi"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880.0902938555801</c:v>
              </c:pt>
            </c:numLit>
          </c:val>
        </c:ser>
        <c:ser>
          <c:idx val="1"/>
          <c:order val="1"/>
          <c:tx>
            <c:v>FIC-FIDC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94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237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218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379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732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919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959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R$ 0 "bi"</c:formatCode>
              <c:ptCount val="12"/>
              <c:pt idx="0">
                <c:v>2.21705534786</c:v>
              </c:pt>
              <c:pt idx="1">
                <c:v>2.73660182632</c:v>
              </c:pt>
              <c:pt idx="2">
                <c:v>5.014084339129999</c:v>
              </c:pt>
              <c:pt idx="3">
                <c:v>10.35147572571</c:v>
              </c:pt>
              <c:pt idx="4">
                <c:v>7.459670380239999</c:v>
              </c:pt>
              <c:pt idx="5">
                <c:v>8.676012592049998</c:v>
              </c:pt>
              <c:pt idx="6">
                <c:v>10.4495380832</c:v>
              </c:pt>
              <c:pt idx="7">
                <c:v>12.957632591489999</c:v>
              </c:pt>
              <c:pt idx="8">
                <c:v>23.60292220748</c:v>
              </c:pt>
              <c:pt idx="9">
                <c:v>48.94008080363</c:v>
              </c:pt>
              <c:pt idx="10">
                <c:v>85.90039630022</c:v>
              </c:pt>
              <c:pt idx="11">
                <c:v>78.61281392618</c:v>
              </c:pt>
            </c:numLit>
          </c:val>
        </c:ser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445.677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4227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6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  <c:pt idx="5">
                <c:v>Não classificado</c:v>
              </c:pt>
            </c:strLit>
          </c:cat>
          <c:val>
            <c:numLit>
              <c:formatCode>0.0%</c:formatCode>
              <c:ptCount val="6"/>
              <c:pt idx="0">
                <c:v>0.44344895518503313</c:v>
              </c:pt>
              <c:pt idx="1">
                <c:v>0.253151946364744</c:v>
              </c:pt>
              <c:pt idx="2">
                <c:v>0.21658061780168147</c:v>
              </c:pt>
              <c:pt idx="3">
                <c:v>0.08595013877763492</c:v>
              </c:pt>
              <c:pt idx="4">
                <c:v>0.0007965409926920169</c:v>
              </c:pt>
              <c:pt idx="5">
                <c:v>7.180087821449166E-05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1</c:v>
              </c:pt>
              <c:pt idx="1">
                <c:v>186</c:v>
              </c:pt>
              <c:pt idx="2">
                <c:v>124</c:v>
              </c:pt>
              <c:pt idx="3">
                <c:v>148</c:v>
              </c:pt>
              <c:pt idx="4">
                <c:v>126</c:v>
              </c:pt>
              <c:pt idx="5">
                <c:v>193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0.5495960022699999</c:v>
              </c:pt>
              <c:pt idx="1">
                <c:v>184.81479596079998</c:v>
              </c:pt>
              <c:pt idx="2">
                <c:v>88.72399138631</c:v>
              </c:pt>
              <c:pt idx="3">
                <c:v>171.16402364894</c:v>
              </c:pt>
              <c:pt idx="4">
                <c:v>77.21175767653</c:v>
              </c:pt>
              <c:pt idx="5">
                <c:v>211.4223398025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0.0012853470437017994</c:v>
              </c:pt>
              <c:pt idx="1">
                <c:v>0.2390745501285347</c:v>
              </c:pt>
              <c:pt idx="2">
                <c:v>0.15938303341902313</c:v>
              </c:pt>
              <c:pt idx="3">
                <c:v>0.19023136246786632</c:v>
              </c:pt>
              <c:pt idx="4">
                <c:v>0.16195372750642673</c:v>
              </c:pt>
              <c:pt idx="5">
                <c:v>0.2480719794344473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0.0007488841924697938</c:v>
              </c:pt>
              <c:pt idx="1">
                <c:v>0.2518302146629867</c:v>
              </c:pt>
              <c:pt idx="2">
                <c:v>0.12089606614240213</c:v>
              </c:pt>
              <c:pt idx="3">
                <c:v>0.23322955607534634</c:v>
              </c:pt>
              <c:pt idx="4">
                <c:v>0.1052093984634827</c:v>
              </c:pt>
              <c:pt idx="5">
                <c:v>0.28808588046331235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167.28018582326</c:v>
              </c:pt>
              <c:pt idx="1">
                <c:v>120.08809595328</c:v>
              </c:pt>
              <c:pt idx="2">
                <c:v>118.90601280922</c:v>
              </c:pt>
              <c:pt idx="3">
                <c:v>50.88905009467</c:v>
              </c:pt>
              <c:pt idx="4">
                <c:v>4.5929586136900005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367.43677886158</c:v>
              </c:pt>
              <c:pt idx="1">
                <c:v>234.07845143214</c:v>
              </c:pt>
              <c:pt idx="2">
                <c:v>173.49802700684</c:v>
              </c:pt>
              <c:pt idx="3">
                <c:v>88.01637854215</c:v>
              </c:pt>
              <c:pt idx="4">
                <c:v>17.06065801287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0.3622694149054406</c:v>
              </c:pt>
              <c:pt idx="1">
                <c:v>0.26006812488878744</c:v>
              </c:pt>
              <c:pt idx="2">
                <c:v>0.2575081530256485</c:v>
              </c:pt>
              <c:pt idx="3">
                <c:v>0.11020759160542687</c:v>
              </c:pt>
              <c:pt idx="4">
                <c:v>0.00994671557469671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0.4174989559899353</c:v>
              </c:pt>
              <c:pt idx="1">
                <c:v>0.2659709498745495</c:v>
              </c:pt>
              <c:pt idx="2">
                <c:v>0.19713662134229887</c:v>
              </c:pt>
              <c:pt idx="3">
                <c:v>0.10000835045749659</c:v>
              </c:pt>
              <c:pt idx="4">
                <c:v>0.019385122335719793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312.05045657159997</c:v>
              </c:pt>
              <c:pt idx="1">
                <c:v>116.43114710328999</c:v>
              </c:pt>
              <c:pt idx="2">
                <c:v>77.84961525946001</c:v>
              </c:pt>
              <c:pt idx="3">
                <c:v>74.12660807569</c:v>
              </c:pt>
              <c:pt idx="4">
                <c:v>70.06538925120002</c:v>
              </c:pt>
              <c:pt idx="5">
                <c:v>38.784257866059995</c:v>
              </c:pt>
              <c:pt idx="6">
                <c:v>27.315528831659996</c:v>
              </c:pt>
              <c:pt idx="7">
                <c:v>9.08208747866</c:v>
              </c:pt>
              <c:pt idx="8">
                <c:v>3.1408293285699997</c:v>
              </c:pt>
              <c:pt idx="9">
                <c:v>0.08783373547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0.4280916545194519</c:v>
              </c:pt>
              <c:pt idx="1">
                <c:v>0.15972802266869487</c:v>
              </c:pt>
              <c:pt idx="2">
                <c:v>0.106799300876774</c:v>
              </c:pt>
              <c:pt idx="3">
                <c:v>0.10169183100604105</c:v>
              </c:pt>
              <c:pt idx="4">
                <c:v>0.09612037982137488</c:v>
              </c:pt>
              <c:pt idx="5">
                <c:v>0.05320683488691222</c:v>
              </c:pt>
              <c:pt idx="6">
                <c:v>0.03747326653545861</c:v>
              </c:pt>
              <c:pt idx="7">
                <c:v>0.012459414089457879</c:v>
              </c:pt>
              <c:pt idx="8">
                <c:v>0.004308799412130456</c:v>
              </c:pt>
              <c:pt idx="9">
                <c:v>0.0001204961837040243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0.0802740222867937</c:v>
              </c:pt>
              <c:pt idx="1">
                <c:v>0.0585303345939064</c:v>
              </c:pt>
              <c:pt idx="2">
                <c:v>0.0581799790131143</c:v>
              </c:pt>
              <c:pt idx="3">
                <c:v>0.048395735178671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0.0802740222867937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0.0585303345939064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0.7183131045712461</c:v>
              </c:pt>
              <c:pt idx="1">
                <c:v>0.3567294541524492</c:v>
              </c:pt>
              <c:pt idx="2">
                <c:v>0.7280980440364134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0.503901550605627</c:v>
              </c:pt>
              <c:pt idx="1">
                <c:v>0.24232087001181668</c:v>
              </c:pt>
              <c:pt idx="2">
                <c:v>0.5288054576797567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0.0990264248232046</c:v>
              </c:pt>
              <c:pt idx="1">
                <c:v>0.6611870074822579</c:v>
              </c:pt>
              <c:pt idx="2">
                <c:v>0.0414481143203419</c:v>
              </c:pt>
              <c:pt idx="3">
                <c:v>0.0521489342892355</c:v>
              </c:pt>
              <c:pt idx="4">
                <c:v>0.0567572663282072</c:v>
              </c:pt>
              <c:pt idx="5">
                <c:v>0.2136203543533293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0.128212506976499</c:v>
              </c:pt>
              <c:pt idx="1">
                <c:v>0.0096806367055208</c:v>
              </c:pt>
              <c:pt idx="2">
                <c:v>0.1137488845128169</c:v>
              </c:pt>
              <c:pt idx="3">
                <c:v>0.1601130774154732</c:v>
              </c:pt>
              <c:pt idx="4">
                <c:v>0.2987017997195839</c:v>
              </c:pt>
              <c:pt idx="5">
                <c:v>0.241155891421021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0.0140116005534091</c:v>
              </c:pt>
              <c:pt idx="1">
                <c:v>0.0094527897804782</c:v>
              </c:pt>
              <c:pt idx="2">
                <c:v>0.0975132700060647</c:v>
              </c:pt>
              <c:pt idx="3">
                <c:v>0.0620957844585563</c:v>
              </c:pt>
              <c:pt idx="4">
                <c:v>0.2386922325581826</c:v>
              </c:pt>
              <c:pt idx="5">
                <c:v>0.0528015720604226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0.075505515120115</c:v>
              </c:pt>
              <c:pt idx="1">
                <c:v>0.005650213947542</c:v>
              </c:pt>
              <c:pt idx="2">
                <c:v>0.1110519536793041</c:v>
              </c:pt>
              <c:pt idx="3">
                <c:v>0.014768115843443</c:v>
              </c:pt>
              <c:pt idx="4">
                <c:v>0.1056482624842525</c:v>
              </c:pt>
              <c:pt idx="5">
                <c:v>0.0743239223341259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41254623940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0.0555376438055603</c:v>
              </c:pt>
              <c:pt idx="1">
                <c:v>0.0218624310503035</c:v>
              </c:pt>
              <c:pt idx="2">
                <c:v>0.1441403762734957</c:v>
              </c:pt>
              <c:pt idx="3">
                <c:v>0.1675256950501003</c:v>
              </c:pt>
              <c:pt idx="4">
                <c:v>0</c:v>
              </c:pt>
              <c:pt idx="5">
                <c:v>0.0091459098495054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205376131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0.0431588576073536</c:v>
              </c:pt>
              <c:pt idx="1">
                <c:v>0.0014143975904966</c:v>
              </c:pt>
              <c:pt idx="2">
                <c:v>0.1282934257881305</c:v>
              </c:pt>
              <c:pt idx="3">
                <c:v>0.1124159134008817</c:v>
              </c:pt>
              <c:pt idx="4">
                <c:v>0.2219096503793298</c:v>
              </c:pt>
              <c:pt idx="5">
                <c:v>0.0100687880387016</c:v>
              </c:pt>
            </c:numLit>
          </c:val>
        </c:ser>
        <c:ser>
          <c:idx val="6"/>
          <c:order val="6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0.1222860396106066</c:v>
              </c:pt>
              <c:pt idx="1">
                <c:v>0.0215818662038886</c:v>
              </c:pt>
              <c:pt idx="2">
                <c:v>0.0012651187619958</c:v>
              </c:pt>
              <c:pt idx="3">
                <c:v>2.2729500657420742E-05</c:v>
              </c:pt>
              <c:pt idx="4">
                <c:v>0</c:v>
              </c:pt>
              <c:pt idx="5">
                <c:v>0.0328418092712618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0636667798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0.0703673776854007</c:v>
              </c:pt>
              <c:pt idx="1">
                <c:v>0.0091226305520816</c:v>
              </c:pt>
              <c:pt idx="2">
                <c:v>0.0006705493289052</c:v>
              </c:pt>
              <c:pt idx="3">
                <c:v>0.0509084621156352</c:v>
              </c:pt>
              <c:pt idx="4">
                <c:v>0</c:v>
              </c:pt>
              <c:pt idx="5">
                <c:v>0.0196753475958024</c:v>
              </c:pt>
            </c:numLit>
          </c:val>
        </c:ser>
        <c:ser>
          <c:idx val="8"/>
          <c:order val="8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0.03615203126776</c:v>
              </c:pt>
              <c:pt idx="1">
                <c:v>0.0299300898256725</c:v>
              </c:pt>
              <c:pt idx="2">
                <c:v>0.0003817965185774</c:v>
              </c:pt>
              <c:pt idx="3">
                <c:v>0.0452350377070635</c:v>
              </c:pt>
              <c:pt idx="4">
                <c:v>0.0032891441904342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0.0240515940768077</c:v>
              </c:pt>
              <c:pt idx="1">
                <c:v>0.0014712290879408</c:v>
              </c:pt>
              <c:pt idx="2">
                <c:v>0.0861419194953894</c:v>
              </c:pt>
              <c:pt idx="3">
                <c:v>0.0032775916620824</c:v>
              </c:pt>
              <c:pt idx="4">
                <c:v>0.0005295626945933</c:v>
              </c:pt>
              <c:pt idx="5">
                <c:v>0.0895063986320403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0.3316904084732829</c:v>
              </c:pt>
              <c:pt idx="1">
                <c:v>0.2286467077738171</c:v>
              </c:pt>
              <c:pt idx="2">
                <c:v>0.275344591314978</c:v>
              </c:pt>
              <c:pt idx="3">
                <c:v>0.331488658556871</c:v>
              </c:pt>
              <c:pt idx="4">
                <c:v>0.0744720816454161</c:v>
              </c:pt>
              <c:pt idx="5">
                <c:v>0.2568600064437893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4784283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0.0458089085133664</c:v>
              </c:pt>
              <c:pt idx="1">
                <c:v>0.0010431433080663</c:v>
              </c:pt>
              <c:pt idx="2">
                <c:v>0.0476979191106428</c:v>
              </c:pt>
              <c:pt idx="3">
                <c:v>0.1612643199454508</c:v>
              </c:pt>
              <c:pt idx="4">
                <c:v>0.2879172705646674</c:v>
              </c:pt>
              <c:pt idx="5">
                <c:v>0.0445222159437067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80256411667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0.0435787128216393</c:v>
              </c:pt>
              <c:pt idx="1">
                <c:v>0.0218624310503035</c:v>
              </c:pt>
              <c:pt idx="2">
                <c:v>0.1416344579115185</c:v>
              </c:pt>
              <c:pt idx="3">
                <c:v>0.0988373717941237</c:v>
              </c:pt>
              <c:pt idx="4">
                <c:v>0</c:v>
              </c:pt>
              <c:pt idx="5">
                <c:v>0.0091459098495054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0.0022422931404634</c:v>
              </c:pt>
              <c:pt idx="1">
                <c:v>0.0006138459364985</c:v>
              </c:pt>
              <c:pt idx="2">
                <c:v>0.0749544808439372</c:v>
              </c:pt>
              <c:pt idx="3">
                <c:v>0.0346788102765514</c:v>
              </c:pt>
              <c:pt idx="4">
                <c:v>0.1779321795935377</c:v>
              </c:pt>
              <c:pt idx="5">
                <c:v>0.0315432619313249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0.0221725257014319</c:v>
              </c:pt>
              <c:pt idx="1">
                <c:v>0</c:v>
              </c:pt>
              <c:pt idx="2">
                <c:v>0.1092199950973199</c:v>
              </c:pt>
              <c:pt idx="3">
                <c:v>0.0823597948755415</c:v>
              </c:pt>
              <c:pt idx="4">
                <c:v>0.0932577416285109</c:v>
              </c:pt>
              <c:pt idx="5">
                <c:v>0.0014288577438735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-5.55111512313e-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0.0055435920253086</c:v>
              </c:pt>
              <c:pt idx="1">
                <c:v>0.2212588608018581</c:v>
              </c:pt>
              <c:pt idx="2">
                <c:v>0.0021820525999263</c:v>
              </c:pt>
              <c:pt idx="3">
                <c:v>0.0048604745270052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0.0586752184843061</c:v>
              </c:pt>
              <c:pt idx="1">
                <c:v>0.0215818662038886</c:v>
              </c:pt>
              <c:pt idx="2">
                <c:v>0.0001817325630543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0.0544619859653589</c:v>
              </c:pt>
              <c:pt idx="1">
                <c:v>0</c:v>
              </c:pt>
              <c:pt idx="2">
                <c:v>0.000679199356909</c:v>
              </c:pt>
              <c:pt idx="3">
                <c:v>0</c:v>
              </c:pt>
              <c:pt idx="4">
                <c:v>0</c:v>
              </c:pt>
              <c:pt idx="5">
                <c:v>0.0328418092712618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0.0412484428841916</c:v>
              </c:pt>
              <c:pt idx="1">
                <c:v>0</c:v>
              </c:pt>
              <c:pt idx="2">
                <c:v>0</c:v>
              </c:pt>
              <c:pt idx="3">
                <c:v>0.0196685284996068</c:v>
              </c:pt>
              <c:pt idx="4">
                <c:v>0</c:v>
              </c:pt>
              <c:pt idx="5">
                <c:v>0.0259737742764902</c:v>
              </c:pt>
            </c:numLit>
          </c:val>
        </c:ser>
        <c:ser>
          <c:idx val="8"/>
          <c:order val="8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.02599508542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0.0193437048109999</c:v>
              </c:pt>
              <c:pt idx="1">
                <c:v>0.0344936681835347</c:v>
              </c:pt>
              <c:pt idx="2">
                <c:v>0.0141059127113014</c:v>
              </c:pt>
              <c:pt idx="3">
                <c:v>0.0116493245680644</c:v>
              </c:pt>
              <c:pt idx="4">
                <c:v>0.0219114699406215</c:v>
              </c:pt>
              <c:pt idx="5">
                <c:v>0.0007285216184997</c:v>
              </c:pt>
            </c:numLit>
          </c:val>
        </c:ser>
        <c:ser>
          <c:idx val="9"/>
          <c:order val="9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.015665977291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0.0115970386379531</c:v>
              </c:pt>
              <c:pt idx="1">
                <c:v>0</c:v>
              </c:pt>
              <c:pt idx="2">
                <c:v>0.0089160887169426</c:v>
              </c:pt>
              <c:pt idx="3">
                <c:v>0.1103711874874502</c:v>
              </c:pt>
              <c:pt idx="4">
                <c:v>0</c:v>
              </c:pt>
              <c:pt idx="5">
                <c:v>0.0660942165481527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0.6951518050425334</c:v>
              </c:pt>
              <c:pt idx="1">
                <c:v>0.6983799241362908</c:v>
              </c:pt>
              <c:pt idx="2">
                <c:v>0.600417311600118</c:v>
              </c:pt>
              <c:pt idx="3">
                <c:v>0.4698135654200273</c:v>
              </c:pt>
              <c:pt idx="4">
                <c:v>0.4189813382726622</c:v>
              </c:pt>
              <c:pt idx="5">
                <c:v>0.7877214328171848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5"/>
                  <c:y val="-0.019912114013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9616869810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-0.019994575255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675168869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0.0001757719724468</c:v>
              </c:pt>
              <c:pt idx="1">
                <c:v>0.0007662603795592</c:v>
              </c:pt>
              <c:pt idx="2">
                <c:v>1.0849488329413316E-05</c:v>
              </c:pt>
              <c:pt idx="3">
                <c:v>0.0064966226061782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0.0987009938453259</c:v>
              </c:pt>
              <c:pt idx="1">
                <c:v>0.6560004771902346</c:v>
              </c:pt>
              <c:pt idx="2">
                <c:v>0.041426253610816</c:v>
              </c:pt>
              <c:pt idx="3">
                <c:v>0.0518817821355781</c:v>
              </c:pt>
              <c:pt idx="4">
                <c:v>0.0510814780348981</c:v>
              </c:pt>
              <c:pt idx="5">
                <c:v>0.209321755829712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0.1277549900044911</c:v>
              </c:pt>
              <c:pt idx="1">
                <c:v>0.0025226456325374</c:v>
              </c:pt>
              <c:pt idx="2">
                <c:v>0.1137488845128169</c:v>
              </c:pt>
              <c:pt idx="3">
                <c:v>0.1645238454260667</c:v>
              </c:pt>
              <c:pt idx="4">
                <c:v>0.2987017997195839</c:v>
              </c:pt>
              <c:pt idx="5">
                <c:v>0.2411558914210211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0.0327733739005585</c:v>
              </c:pt>
              <c:pt idx="1">
                <c:v>0.0270516797938475</c:v>
              </c:pt>
              <c:pt idx="2">
                <c:v>0.1009891858114575</c:v>
              </c:pt>
              <c:pt idx="3">
                <c:v>0.1817324636579589</c:v>
              </c:pt>
              <c:pt idx="4">
                <c:v>0.23956474396316</c:v>
              </c:pt>
              <c:pt idx="5">
                <c:v>0.0281081386502681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0.0809487716581075</c:v>
              </c:pt>
              <c:pt idx="1">
                <c:v>0.005650213947542</c:v>
              </c:pt>
              <c:pt idx="2">
                <c:v>0.1194570293861305</c:v>
              </c:pt>
              <c:pt idx="3">
                <c:v>0.0404370516427307</c:v>
              </c:pt>
              <c:pt idx="4">
                <c:v>0.1056482624842525</c:v>
              </c:pt>
              <c:pt idx="5">
                <c:v>0.0743239223341259</c:v>
              </c:pt>
            </c:numLit>
          </c:val>
        </c:ser>
        <c:ser>
          <c:idx val="4"/>
          <c:order val="4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0.14038080593539</c:v>
              </c:pt>
              <c:pt idx="1">
                <c:v>0.0215818662038886</c:v>
              </c:pt>
              <c:pt idx="2">
                <c:v>0.0012651187619958</c:v>
              </c:pt>
              <c:pt idx="3">
                <c:v>2.2729500657420742E-05</c:v>
              </c:pt>
              <c:pt idx="4">
                <c:v>0</c:v>
              </c:pt>
              <c:pt idx="5">
                <c:v>0.0484882936067297</c:v>
              </c:pt>
            </c:numLit>
          </c:val>
        </c:ser>
        <c:ser>
          <c:idx val="5"/>
          <c:order val="5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0.0555376438055603</c:v>
              </c:pt>
              <c:pt idx="1">
                <c:v>0.0182205848015808</c:v>
              </c:pt>
              <c:pt idx="2">
                <c:v>0.1437676770818388</c:v>
              </c:pt>
              <c:pt idx="3">
                <c:v>0.1235060587467477</c:v>
              </c:pt>
              <c:pt idx="4">
                <c:v>0</c:v>
              </c:pt>
              <c:pt idx="5">
                <c:v>0.0338393432596599</c:v>
              </c:pt>
            </c:numLit>
          </c:val>
        </c:ser>
        <c:ser>
          <c:idx val="6"/>
          <c:order val="6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0.0329520502592444</c:v>
              </c:pt>
              <c:pt idx="1">
                <c:v>0.0014143975904966</c:v>
              </c:pt>
              <c:pt idx="2">
                <c:v>0.1282934257881305</c:v>
              </c:pt>
              <c:pt idx="3">
                <c:v>0.1063549107852659</c:v>
              </c:pt>
              <c:pt idx="4">
                <c:v>0.1345238572052303</c:v>
              </c:pt>
              <c:pt idx="5">
                <c:v>0.0100687880387016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0.03615203126776</c:v>
              </c:pt>
              <c:pt idx="1">
                <c:v>0.0293876981486142</c:v>
              </c:pt>
              <c:pt idx="2">
                <c:v>0.0003817965185774</c:v>
              </c:pt>
              <c:pt idx="3">
                <c:v>0.0452350377070635</c:v>
              </c:pt>
              <c:pt idx="4">
                <c:v>0.0032891441904342</c:v>
              </c:pt>
              <c:pt idx="5">
                <c:v>0</c:v>
              </c:pt>
            </c:numLit>
          </c:val>
        </c:ser>
        <c:ser>
          <c:idx val="8"/>
          <c:order val="8"/>
          <c:tx>
            <c:v>Limine Trust</c:v>
          </c:tx>
          <c:spPr>
            <a:solidFill>
              <a:srgbClr val="A7ACB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0.0372259116486354</c:v>
              </c:pt>
              <c:pt idx="1">
                <c:v>0.0258844589270298</c:v>
              </c:pt>
              <c:pt idx="2">
                <c:v>0.0062089418936455</c:v>
              </c:pt>
              <c:pt idx="3">
                <c:v>0.0588516441861489</c:v>
              </c:pt>
              <c:pt idx="4">
                <c:v>0.0361947972578764</c:v>
              </c:pt>
              <c:pt idx="5">
                <c:v>0.0001885623105163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0.023451517330568</c:v>
              </c:pt>
              <c:pt idx="1">
                <c:v>0.0041128018022995</c:v>
              </c:pt>
              <c:pt idx="2">
                <c:v>0.0861419194953894</c:v>
              </c:pt>
              <c:pt idx="3">
                <c:v>0.0032775916620824</c:v>
              </c:pt>
              <c:pt idx="4">
                <c:v>0.0005295626945933</c:v>
              </c:pt>
              <c:pt idx="5">
                <c:v>0.0895063986320403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0.3245295358095095</c:v>
              </c:pt>
              <c:pt idx="1">
                <c:v>0.1952952214070387</c:v>
              </c:pt>
              <c:pt idx="2">
                <c:v>0.256717713385141</c:v>
              </c:pt>
              <c:pt idx="3">
                <c:v>0.1404751731853252</c:v>
              </c:pt>
              <c:pt idx="4">
                <c:v>0.1304204514597114</c:v>
              </c:pt>
              <c:pt idx="5">
                <c:v>0.26443415946581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520381273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-0.01356102272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-0.01919897312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770485049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717626774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0.0095923745348489</c:v>
              </c:pt>
              <c:pt idx="1">
                <c:v>0.0128779545548899</c:v>
              </c:pt>
              <c:pt idx="2">
                <c:v>0.0016020537540602</c:v>
              </c:pt>
              <c:pt idx="3">
                <c:v>0.0837017113643743</c:v>
              </c:pt>
              <c:pt idx="4">
                <c:v>4.5902990259467114E-05</c:v>
              </c:pt>
              <c:pt idx="5">
                <c:v>0.0005647464514148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Daycoval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30.503652120020003</c:v>
              </c:pt>
              <c:pt idx="1">
                <c:v>49.791555930259996</c:v>
              </c:pt>
              <c:pt idx="2">
                <c:v>50.02522483326</c:v>
              </c:pt>
              <c:pt idx="3">
                <c:v>54.205320400379996</c:v>
              </c:pt>
              <c:pt idx="4">
                <c:v>55.848683708799996</c:v>
              </c:pt>
              <c:pt idx="5">
                <c:v>109.74781118374001</c:v>
              </c:pt>
              <c:pt idx="6">
                <c:v>122.50570171086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73C6A1"/>
              </a:solidFill>
            </c:spPr>
          </c:dPt>
          <c:dPt>
            <c:idx val="2"/>
            <c:spPr>
              <a:solidFill xmlns:a="http://schemas.openxmlformats.org/drawingml/2006/main">
                <a:srgbClr val="8D9399"/>
              </a:solidFill>
            </c:spPr>
          </c:dPt>
          <c:dPt>
            <c:idx val="3"/>
            <c:spPr>
              <a:solidFill xmlns:a="http://schemas.openxmlformats.org/drawingml/2006/main">
                <a:srgbClr val="6EC5E9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73787D"/>
              </a:solidFill>
            </c:spPr>
          </c:dPt>
          <c:dPt>
            <c:idx val="6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CBSF</c:v>
              </c:pt>
              <c:pt idx="2">
                <c:v>Tercon Investimentos</c:v>
              </c:pt>
              <c:pt idx="3">
                <c:v>Genial</c:v>
              </c:pt>
              <c:pt idx="4">
                <c:v>Oliveira Trust</c:v>
              </c:pt>
              <c:pt idx="5">
                <c:v>Bradesco</c:v>
              </c:pt>
              <c:pt idx="6">
                <c:v>BTG Pactual</c:v>
              </c:pt>
            </c:strLit>
          </c:cat>
          <c:val>
            <c:numLit>
              <c:formatCode>0.0</c:formatCode>
              <c:ptCount val="7"/>
              <c:pt idx="0">
                <c:v>18.295029832140003</c:v>
              </c:pt>
              <c:pt idx="1">
                <c:v>20.98235935844</c:v>
              </c:pt>
              <c:pt idx="2">
                <c:v>22.01425002545</c:v>
              </c:pt>
              <c:pt idx="3">
                <c:v>26.694370669599998</c:v>
              </c:pt>
              <c:pt idx="4">
                <c:v>34.007826304160005</c:v>
              </c:pt>
              <c:pt idx="5">
                <c:v>40.313986110689996</c:v>
              </c:pt>
              <c:pt idx="6">
                <c:v>65.63818920692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Bradesco</c:v>
              </c:pt>
              <c:pt idx="2">
                <c:v>REAG</c:v>
              </c:pt>
              <c:pt idx="3">
                <c:v>Daycoval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21.328667657280008</c:v>
              </c:pt>
              <c:pt idx="1">
                <c:v>48.781716176079996</c:v>
              </c:pt>
              <c:pt idx="2">
                <c:v>49.18187183748001</c:v>
              </c:pt>
              <c:pt idx="3">
                <c:v>60.3404601286</c:v>
              </c:pt>
              <c:pt idx="4">
                <c:v>72.34396085720999</c:v>
              </c:pt>
              <c:pt idx="5">
                <c:v>109.27981553644001</c:v>
              </c:pt>
              <c:pt idx="6">
                <c:v>120.57656814432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ex-6 controlados</c:v>
              </c:pt>
            </c:strLit>
          </c:cat>
          <c:val>
            <c:numLit>
              <c:formatCode>0.0</c:formatCode>
              <c:ptCount val="3"/>
              <c:pt idx="0">
                <c:v>65.63818920692</c:v>
              </c:pt>
              <c:pt idx="1">
                <c:v>40.313986110689996</c:v>
              </c:pt>
              <c:pt idx="2">
                <c:v>36.99760712574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0.0783988630980578</c:v>
              </c:pt>
              <c:pt idx="1">
                <c:v>0.00994789199431549</c:v>
              </c:pt>
              <c:pt idx="2">
                <c:v>0.7984367598294647</c:v>
              </c:pt>
              <c:pt idx="3">
                <c:v>0.010421601136901942</c:v>
              </c:pt>
              <c:pt idx="4">
                <c:v>0.08408337280909521</c:v>
              </c:pt>
              <c:pt idx="5">
                <c:v>0.018711511132164852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0.3401555639274464</c:v>
              </c:pt>
              <c:pt idx="1">
                <c:v>0.03632358129979824</c:v>
              </c:pt>
              <c:pt idx="2">
                <c:v>0.533550356635145</c:v>
              </c:pt>
              <c:pt idx="3">
                <c:v>0.019980720583593427</c:v>
              </c:pt>
              <c:pt idx="4">
                <c:v>0.058027674260146406</c:v>
              </c:pt>
              <c:pt idx="5">
                <c:v>0.011962103293870421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EC7000"/>
              </a:solidFill>
            </c:spPr>
          </c:dPt>
          <c:cat>
            <c:numLit>
              <c:formatCode>General</c:formatCode>
              <c:ptCount val="3"/>
              <c:pt idx="0">
                <c:v>2024</c:v>
              </c:pt>
              <c:pt idx="1">
                <c:v>2025</c:v>
              </c:pt>
              <c:pt idx="2">
                <c:v>2026</c:v>
              </c:pt>
            </c:numLit>
          </c:cat>
          <c:val>
            <c:numLit>
              <c:formatCode>0.0</c:formatCode>
              <c:ptCount val="3"/>
              <c:pt idx="0">
                <c:v>51.51551577195</c:v>
              </c:pt>
              <c:pt idx="1">
                <c:v>68.9158113135</c:v>
              </c:pt>
              <c:pt idx="2">
                <c:v>75.14765624728999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0.6611870074822579</c:v>
              </c:pt>
              <c:pt idx="1">
                <c:v>0.3065550509629137</c:v>
              </c:pt>
              <c:pt idx="2">
                <c:v>0.1384886862758975</c:v>
              </c:pt>
              <c:pt idx="3">
                <c:v>0.0567572663282072</c:v>
              </c:pt>
              <c:pt idx="4">
                <c:v>0.0748397996820013</c:v>
              </c:pt>
              <c:pt idx="5">
                <c:v>0.0414481143203419</c:v>
              </c:pt>
              <c:pt idx="6">
                <c:v>0</c:v>
              </c:pt>
              <c:pt idx="7">
                <c:v>0.0521489342892355</c:v>
              </c:pt>
              <c:pt idx="8">
                <c:v>0</c:v>
              </c:pt>
              <c:pt idx="9">
                <c:v>0.2605841370684867</c:v>
              </c:pt>
              <c:pt idx="10">
                <c:v>0.0951979889117662</c:v>
              </c:pt>
              <c:pt idx="11">
                <c:v>0.0515483285980513</c:v>
              </c:pt>
              <c:pt idx="12">
                <c:v>0.2136203543533293</c:v>
              </c:pt>
              <c:pt idx="13">
                <c:v>0.0990264248232046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58226892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5578793495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0.0096806367055208</c:v>
              </c:pt>
              <c:pt idx="1">
                <c:v>0</c:v>
              </c:pt>
              <c:pt idx="2">
                <c:v>0.1723637321299062</c:v>
              </c:pt>
              <c:pt idx="3">
                <c:v>0.2987017997195839</c:v>
              </c:pt>
              <c:pt idx="4">
                <c:v>0.0216782388311303</c:v>
              </c:pt>
              <c:pt idx="5">
                <c:v>0.1137488845128169</c:v>
              </c:pt>
              <c:pt idx="6">
                <c:v>0.010283546215548</c:v>
              </c:pt>
              <c:pt idx="7">
                <c:v>0.1601130774154732</c:v>
              </c:pt>
              <c:pt idx="8">
                <c:v>0.0088424130081329</c:v>
              </c:pt>
              <c:pt idx="9">
                <c:v>0.0650570577377896</c:v>
              </c:pt>
              <c:pt idx="10">
                <c:v>0.034867787265154</c:v>
              </c:pt>
              <c:pt idx="11">
                <c:v>0.0386763249777689</c:v>
              </c:pt>
              <c:pt idx="12">
                <c:v>0.241155891421021</c:v>
              </c:pt>
              <c:pt idx="13">
                <c:v>0.128212506976499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0.0094527897804782</c:v>
              </c:pt>
              <c:pt idx="1">
                <c:v>0.2340357556865194</c:v>
              </c:pt>
              <c:pt idx="2">
                <c:v>0.3835604510065076</c:v>
              </c:pt>
              <c:pt idx="3">
                <c:v>0.2386922325581826</c:v>
              </c:pt>
              <c:pt idx="4">
                <c:v>0</c:v>
              </c:pt>
              <c:pt idx="5">
                <c:v>0.0975132700060647</c:v>
              </c:pt>
              <c:pt idx="6">
                <c:v>0.2056251377166127</c:v>
              </c:pt>
              <c:pt idx="7">
                <c:v>0.0620957844585563</c:v>
              </c:pt>
              <c:pt idx="8">
                <c:v>0.4268975722865307</c:v>
              </c:pt>
              <c:pt idx="9">
                <c:v>0.0299889329892</c:v>
              </c:pt>
              <c:pt idx="10">
                <c:v>0.0968713149591156</c:v>
              </c:pt>
              <c:pt idx="11">
                <c:v>0</c:v>
              </c:pt>
              <c:pt idx="12">
                <c:v>0.0528015720604226</c:v>
              </c:pt>
              <c:pt idx="13">
                <c:v>0.0140116005534091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0.005650213947542</c:v>
              </c:pt>
              <c:pt idx="1">
                <c:v>0.0339495695667946</c:v>
              </c:pt>
              <c:pt idx="2">
                <c:v>0.0599764711599138</c:v>
              </c:pt>
              <c:pt idx="3">
                <c:v>0.1056482624842525</c:v>
              </c:pt>
              <c:pt idx="4">
                <c:v>0.0554049149913933</c:v>
              </c:pt>
              <c:pt idx="5">
                <c:v>0.1110519536793041</c:v>
              </c:pt>
              <c:pt idx="6">
                <c:v>0.058882728248978</c:v>
              </c:pt>
              <c:pt idx="7">
                <c:v>0.014768115843443</c:v>
              </c:pt>
              <c:pt idx="8">
                <c:v>0.119866476718708</c:v>
              </c:pt>
              <c:pt idx="9">
                <c:v>0.2175764336860203</c:v>
              </c:pt>
              <c:pt idx="10">
                <c:v>0.0850940839033368</c:v>
              </c:pt>
              <c:pt idx="11">
                <c:v>0.0733115187257639</c:v>
              </c:pt>
              <c:pt idx="12">
                <c:v>0.0743239223341259</c:v>
              </c:pt>
              <c:pt idx="13">
                <c:v>0.075505515120115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41254623940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0.0218624310503035</c:v>
              </c:pt>
              <c:pt idx="1">
                <c:v>0</c:v>
              </c:pt>
              <c:pt idx="2">
                <c:v>6.281556998813609E-05</c:v>
              </c:pt>
              <c:pt idx="3">
                <c:v>0</c:v>
              </c:pt>
              <c:pt idx="4">
                <c:v>0.5171854935971928</c:v>
              </c:pt>
              <c:pt idx="5">
                <c:v>0.1441403762734957</c:v>
              </c:pt>
              <c:pt idx="6">
                <c:v>0</c:v>
              </c:pt>
              <c:pt idx="7">
                <c:v>0.1675256950501003</c:v>
              </c:pt>
              <c:pt idx="8">
                <c:v>0</c:v>
              </c:pt>
              <c:pt idx="9">
                <c:v>0</c:v>
              </c:pt>
              <c:pt idx="10">
                <c:v>0.0293999059712772</c:v>
              </c:pt>
              <c:pt idx="11">
                <c:v>0.001224536929653</c:v>
              </c:pt>
              <c:pt idx="12">
                <c:v>0.0091459098495054</c:v>
              </c:pt>
              <c:pt idx="13">
                <c:v>0.0555376438055603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.00205376131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0.0014143975904966</c:v>
              </c:pt>
              <c:pt idx="1">
                <c:v>0.1050350765144157</c:v>
              </c:pt>
              <c:pt idx="2">
                <c:v>0.0118370206161566</c:v>
              </c:pt>
              <c:pt idx="3">
                <c:v>0.2219096503793298</c:v>
              </c:pt>
              <c:pt idx="4">
                <c:v>0</c:v>
              </c:pt>
              <c:pt idx="5">
                <c:v>0.1282934257881305</c:v>
              </c:pt>
              <c:pt idx="6">
                <c:v>0.0820968236937576</c:v>
              </c:pt>
              <c:pt idx="7">
                <c:v>0.1124159134008817</c:v>
              </c:pt>
              <c:pt idx="8">
                <c:v>0.0274252954275441</c:v>
              </c:pt>
              <c:pt idx="9">
                <c:v>0.0653384865149628</c:v>
              </c:pt>
              <c:pt idx="10">
                <c:v>0.0519432171691935</c:v>
              </c:pt>
              <c:pt idx="11">
                <c:v>0.0161874270129937</c:v>
              </c:pt>
              <c:pt idx="12">
                <c:v>0.0100687880387016</c:v>
              </c:pt>
              <c:pt idx="13">
                <c:v>0.0431588576073536</c:v>
              </c:pt>
            </c:numLit>
          </c:val>
        </c:ser>
        <c:ser>
          <c:idx val="6"/>
          <c:order val="6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</c:v>
              </c:pt>
              <c:pt idx="6">
                <c:v>0</c:v>
              </c:pt>
              <c:pt idx="7">
                <c:v>2.2729500657420742E-05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0.0446554095032045</c:v>
              </c:pt>
              <c:pt idx="12">
                <c:v>0.0328418092712618</c:v>
              </c:pt>
              <c:pt idx="13">
                <c:v>0.1222860396106066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-0.018"/>
                  <c:y val="0.000636667798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0.0091226305520816</c:v>
              </c:pt>
              <c:pt idx="1">
                <c:v>0.0622568638776309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0.0006705493289052</c:v>
              </c:pt>
              <c:pt idx="6">
                <c:v>0.0815048018193664</c:v>
              </c:pt>
              <c:pt idx="7">
                <c:v>0.0509084621156352</c:v>
              </c:pt>
              <c:pt idx="8">
                <c:v>0.0063526004800165</c:v>
              </c:pt>
              <c:pt idx="9">
                <c:v>0.1060388872397302</c:v>
              </c:pt>
              <c:pt idx="10">
                <c:v>0</c:v>
              </c:pt>
              <c:pt idx="11">
                <c:v>0</c:v>
              </c:pt>
              <c:pt idx="12">
                <c:v>0.0196753475958024</c:v>
              </c:pt>
              <c:pt idx="13">
                <c:v>0.0703673776854007</c:v>
              </c:pt>
            </c:numLit>
          </c:val>
        </c:ser>
        <c:ser>
          <c:idx val="8"/>
          <c:order val="8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0.0299300898256725</c:v>
              </c:pt>
              <c:pt idx="1">
                <c:v>0.0012950121619806</c:v>
              </c:pt>
              <c:pt idx="2">
                <c:v>0</c:v>
              </c:pt>
              <c:pt idx="3">
                <c:v>0.0032891441904342</c:v>
              </c:pt>
              <c:pt idx="4">
                <c:v>0</c:v>
              </c:pt>
              <c:pt idx="5">
                <c:v>0.0003817965185774</c:v>
              </c:pt>
              <c:pt idx="6">
                <c:v>0</c:v>
              </c:pt>
              <c:pt idx="7">
                <c:v>0.0452350377070635</c:v>
              </c:pt>
              <c:pt idx="8">
                <c:v>0</c:v>
              </c:pt>
              <c:pt idx="9">
                <c:v>0.1185221016978889</c:v>
              </c:pt>
              <c:pt idx="10">
                <c:v>0.1696255142228581</c:v>
              </c:pt>
              <c:pt idx="11">
                <c:v>0</c:v>
              </c:pt>
              <c:pt idx="12">
                <c:v>0</c:v>
              </c:pt>
              <c:pt idx="13">
                <c:v>0.03615203126776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0.0014712290879408</c:v>
              </c:pt>
              <c:pt idx="1">
                <c:v>0.0866620254832727</c:v>
              </c:pt>
              <c:pt idx="2">
                <c:v>0.0104903023035456</c:v>
              </c:pt>
              <c:pt idx="3">
                <c:v>0.0005295626945933</c:v>
              </c:pt>
              <c:pt idx="4">
                <c:v>0.0016187625060064</c:v>
              </c:pt>
              <c:pt idx="5">
                <c:v>0.0861419194953894</c:v>
              </c:pt>
              <c:pt idx="6">
                <c:v>0.0736717709890082</c:v>
              </c:pt>
              <c:pt idx="7">
                <c:v>0.0032775916620824</c:v>
              </c:pt>
              <c:pt idx="8">
                <c:v>0.0698786005800293</c:v>
              </c:pt>
              <c:pt idx="9">
                <c:v>0.0082255331037107</c:v>
              </c:pt>
              <c:pt idx="10">
                <c:v>0.0566945158955612</c:v>
              </c:pt>
              <c:pt idx="11">
                <c:v>0.1346563668780915</c:v>
              </c:pt>
              <c:pt idx="12">
                <c:v>0.0895063986320403</c:v>
              </c:pt>
              <c:pt idx="13">
                <c:v>0.0240515940768077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0.2286467077738171</c:v>
              </c:pt>
              <c:pt idx="1">
                <c:v>0.1702106457464722</c:v>
              </c:pt>
              <c:pt idx="2">
                <c:v>0.2232205209380841</c:v>
              </c:pt>
              <c:pt idx="3">
                <c:v>0.0744720816454161</c:v>
              </c:pt>
              <c:pt idx="4">
                <c:v>0.3292727903922756</c:v>
              </c:pt>
              <c:pt idx="5">
                <c:v>0.275344591314978</c:v>
              </c:pt>
              <c:pt idx="6">
                <c:v>0.4879351913167288</c:v>
              </c:pt>
              <c:pt idx="7">
                <c:v>0.331488658556871</c:v>
              </c:pt>
              <c:pt idx="8">
                <c:v>0.3370335397849319</c:v>
              </c:pt>
              <c:pt idx="9">
                <c:v>0.1286684299622103</c:v>
              </c:pt>
              <c:pt idx="10">
                <c:v>0.3803056717017374</c:v>
              </c:pt>
              <c:pt idx="11">
                <c:v>0.6397400873744729</c:v>
              </c:pt>
              <c:pt idx="12">
                <c:v>0.2568600064437893</c:v>
              </c:pt>
              <c:pt idx="13">
                <c:v>0.3316904084732829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4784283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585313058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757749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0.0010431433080663</c:v>
              </c:pt>
              <c:pt idx="1">
                <c:v>0</c:v>
              </c:pt>
              <c:pt idx="2">
                <c:v>0.1620819157782274</c:v>
              </c:pt>
              <c:pt idx="3">
                <c:v>0.2879172705646674</c:v>
              </c:pt>
              <c:pt idx="4">
                <c:v>0</c:v>
              </c:pt>
              <c:pt idx="5">
                <c:v>0.0476979191106428</c:v>
              </c:pt>
              <c:pt idx="6">
                <c:v>0</c:v>
              </c:pt>
              <c:pt idx="7">
                <c:v>0.1612643199454508</c:v>
              </c:pt>
              <c:pt idx="8">
                <c:v>0</c:v>
              </c:pt>
              <c:pt idx="9">
                <c:v>0.0108293738831371</c:v>
              </c:pt>
              <c:pt idx="10">
                <c:v>0.0311258560003973</c:v>
              </c:pt>
              <c:pt idx="11">
                <c:v>0.0048848450101991</c:v>
              </c:pt>
              <c:pt idx="12">
                <c:v>0.0445222159437067</c:v>
              </c:pt>
              <c:pt idx="13">
                <c:v>0.0458089085133664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80256411667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0.0218624310503035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0.4427778819644692</c:v>
              </c:pt>
              <c:pt idx="5">
                <c:v>0.1416344579115185</c:v>
              </c:pt>
              <c:pt idx="6">
                <c:v>0</c:v>
              </c:pt>
              <c:pt idx="7">
                <c:v>0.0988373717941237</c:v>
              </c:pt>
              <c:pt idx="8">
                <c:v>0</c:v>
              </c:pt>
              <c:pt idx="9">
                <c:v>0</c:v>
              </c:pt>
              <c:pt idx="10">
                <c:v>0.0293999059712772</c:v>
              </c:pt>
              <c:pt idx="11">
                <c:v>0</c:v>
              </c:pt>
              <c:pt idx="12">
                <c:v>0.0091459098495054</c:v>
              </c:pt>
              <c:pt idx="13">
                <c:v>0.0435787128216393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700390505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0.0006138459364985</c:v>
              </c:pt>
              <c:pt idx="1">
                <c:v>0.0442126454698642</c:v>
              </c:pt>
              <c:pt idx="2">
                <c:v>0.2811942809310054</c:v>
              </c:pt>
              <c:pt idx="3">
                <c:v>0.1779321795935377</c:v>
              </c:pt>
              <c:pt idx="4">
                <c:v>0</c:v>
              </c:pt>
              <c:pt idx="5">
                <c:v>0.0749544808439372</c:v>
              </c:pt>
              <c:pt idx="6">
                <c:v>0.1256325612690352</c:v>
              </c:pt>
              <c:pt idx="7">
                <c:v>0.0346788102765514</c:v>
              </c:pt>
              <c:pt idx="8">
                <c:v>0.060618362683471</c:v>
              </c:pt>
              <c:pt idx="9">
                <c:v>0.0029404712225746</c:v>
              </c:pt>
              <c:pt idx="10">
                <c:v>0.0089787950009705</c:v>
              </c:pt>
              <c:pt idx="11">
                <c:v>0</c:v>
              </c:pt>
              <c:pt idx="12">
                <c:v>0.0315432619313249</c:v>
              </c:pt>
              <c:pt idx="13">
                <c:v>0.0022422931404634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6046075655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0.0119282578190441</c:v>
              </c:pt>
              <c:pt idx="2">
                <c:v>0</c:v>
              </c:pt>
              <c:pt idx="3">
                <c:v>0.0932577416285109</c:v>
              </c:pt>
              <c:pt idx="4">
                <c:v>0</c:v>
              </c:pt>
              <c:pt idx="5">
                <c:v>0.1092199950973199</c:v>
              </c:pt>
              <c:pt idx="6">
                <c:v>0</c:v>
              </c:pt>
              <c:pt idx="7">
                <c:v>0.0823597948755415</c:v>
              </c:pt>
              <c:pt idx="8">
                <c:v>0.0002117687649444</c:v>
              </c:pt>
              <c:pt idx="9">
                <c:v>0.0052510946575456</c:v>
              </c:pt>
              <c:pt idx="10">
                <c:v>0</c:v>
              </c:pt>
              <c:pt idx="11">
                <c:v>0</c:v>
              </c:pt>
              <c:pt idx="12">
                <c:v>0.0014288577438735</c:v>
              </c:pt>
              <c:pt idx="13">
                <c:v>0.0221725257014319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5.55111512313e-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0.2212588608018581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0.0021820525999263</c:v>
              </c:pt>
              <c:pt idx="6">
                <c:v>0</c:v>
              </c:pt>
              <c:pt idx="7">
                <c:v>0.0048604745270052</c:v>
              </c:pt>
              <c:pt idx="8">
                <c:v>0.015033560571567</c:v>
              </c:pt>
              <c:pt idx="9">
                <c:v>0</c:v>
              </c:pt>
              <c:pt idx="10">
                <c:v>0.0115120249960094</c:v>
              </c:pt>
              <c:pt idx="11">
                <c:v>0</c:v>
              </c:pt>
              <c:pt idx="12">
                <c:v>0</c:v>
              </c:pt>
              <c:pt idx="13">
                <c:v>0.0055435920253086</c:v>
              </c:pt>
            </c:numLit>
          </c:val>
        </c:ser>
        <c:ser>
          <c:idx val="5"/>
          <c:order val="5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0.0001817325630543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0.0410644229302643</c:v>
              </c:pt>
              <c:pt idx="12">
                <c:v>0</c:v>
              </c:pt>
              <c:pt idx="13">
                <c:v>0.0586752184843061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0.000679199356909</c:v>
              </c:pt>
              <c:pt idx="6">
                <c:v>0</c:v>
              </c:pt>
              <c:pt idx="7">
                <c:v>0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0.0035909865729401</c:v>
              </c:pt>
              <c:pt idx="12">
                <c:v>0.0328418092712618</c:v>
              </c:pt>
              <c:pt idx="13">
                <c:v>0.0544619859653589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0.0547197874056144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0.0815048018193664</c:v>
              </c:pt>
              <c:pt idx="7">
                <c:v>0.0196685284996068</c:v>
              </c:pt>
              <c:pt idx="8">
                <c:v>0</c:v>
              </c:pt>
              <c:pt idx="9">
                <c:v>0.0999317479213442</c:v>
              </c:pt>
              <c:pt idx="10">
                <c:v>0</c:v>
              </c:pt>
              <c:pt idx="11">
                <c:v>0</c:v>
              </c:pt>
              <c:pt idx="12">
                <c:v>0.0259737742764902</c:v>
              </c:pt>
              <c:pt idx="13">
                <c:v>0.0412484428841916</c:v>
              </c:pt>
            </c:numLit>
          </c:val>
        </c:ser>
        <c:ser>
          <c:idx val="8"/>
          <c:order val="8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2599508542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0.0344936681835347</c:v>
              </c:pt>
              <c:pt idx="1">
                <c:v>0</c:v>
              </c:pt>
              <c:pt idx="2">
                <c:v>0.0707778035816525</c:v>
              </c:pt>
              <c:pt idx="3">
                <c:v>0.0219114699406215</c:v>
              </c:pt>
              <c:pt idx="4">
                <c:v>0</c:v>
              </c:pt>
              <c:pt idx="5">
                <c:v>0.0141059127113014</c:v>
              </c:pt>
              <c:pt idx="6">
                <c:v>0</c:v>
              </c:pt>
              <c:pt idx="7">
                <c:v>0.0116493245680644</c:v>
              </c:pt>
              <c:pt idx="8">
                <c:v>0.058622173425719</c:v>
              </c:pt>
              <c:pt idx="9">
                <c:v>0</c:v>
              </c:pt>
              <c:pt idx="10">
                <c:v>0.0047005873098373</c:v>
              </c:pt>
              <c:pt idx="11">
                <c:v>0.000271393290433</c:v>
              </c:pt>
              <c:pt idx="12">
                <c:v>0.0007285216184997</c:v>
              </c:pt>
              <c:pt idx="13">
                <c:v>0.0193437048109999</c:v>
              </c:pt>
            </c:numLit>
          </c:val>
        </c:ser>
        <c:ser>
          <c:idx val="9"/>
          <c:order val="9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.015665977291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4620599530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0.0947597191319019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0.0089160887169426</c:v>
              </c:pt>
              <c:pt idx="6">
                <c:v>0</c:v>
              </c:pt>
              <c:pt idx="7">
                <c:v>0.1103711874874502</c:v>
              </c:pt>
              <c:pt idx="8">
                <c:v>0</c:v>
              </c:pt>
              <c:pt idx="9">
                <c:v>0</c:v>
              </c:pt>
              <c:pt idx="10">
                <c:v>0.0116718604811848</c:v>
              </c:pt>
              <c:pt idx="11">
                <c:v>0</c:v>
              </c:pt>
              <c:pt idx="12">
                <c:v>0.0660942165481527</c:v>
              </c:pt>
              <c:pt idx="13">
                <c:v>0.0115970386379531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0.6983799241362908</c:v>
              </c:pt>
              <c:pt idx="1">
                <c:v>0.7943795901735753</c:v>
              </c:pt>
              <c:pt idx="2">
                <c:v>0.4858831841391264</c:v>
              </c:pt>
              <c:pt idx="3">
                <c:v>0.4189813382726622</c:v>
              </c:pt>
              <c:pt idx="4">
                <c:v>0.5572221180355307</c:v>
              </c:pt>
              <c:pt idx="5">
                <c:v>0.600417311600118</c:v>
              </c:pt>
              <c:pt idx="6">
                <c:v>0.7928626369115981</c:v>
              </c:pt>
              <c:pt idx="7">
                <c:v>0.4698135654200273</c:v>
              </c:pt>
              <c:pt idx="8">
                <c:v>0.8618106328401921</c:v>
              </c:pt>
              <c:pt idx="9">
                <c:v>0.8042631706928404</c:v>
              </c:pt>
              <c:pt idx="10">
                <c:v>0.9026109702403236</c:v>
              </c:pt>
              <c:pt idx="11">
                <c:v>0.950188352196163</c:v>
              </c:pt>
              <c:pt idx="12">
                <c:v>0.7877214328171848</c:v>
              </c:pt>
              <c:pt idx="13">
                <c:v>0.6951518050425334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616869810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-0.019968592215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-0.019994575255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-0.01675168869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-0.019912114013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0.0007662603795592</c:v>
              </c:pt>
              <c:pt idx="1">
                <c:v>0</c:v>
              </c:pt>
              <c:pt idx="2">
                <c:v>6.281556998813609E-05</c:v>
              </c:pt>
              <c:pt idx="3">
                <c:v>0</c:v>
              </c:pt>
              <c:pt idx="4">
                <c:v>0</c:v>
              </c:pt>
              <c:pt idx="5">
                <c:v>1.0849488329413316E-05</c:v>
              </c:pt>
              <c:pt idx="6">
                <c:v>0</c:v>
              </c:pt>
              <c:pt idx="7">
                <c:v>0.0064966226061782</c:v>
              </c:pt>
              <c:pt idx="8">
                <c:v>0</c:v>
              </c:pt>
              <c:pt idx="9">
                <c:v>0.0767841416225579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0.0001757719724468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0.6560004771902346</c:v>
              </c:pt>
              <c:pt idx="1">
                <c:v>0.3065550509629137</c:v>
              </c:pt>
              <c:pt idx="2">
                <c:v>0.1443388986280784</c:v>
              </c:pt>
              <c:pt idx="3">
                <c:v>0.0510814780348981</c:v>
              </c:pt>
              <c:pt idx="4">
                <c:v>0.0748397996820013</c:v>
              </c:pt>
              <c:pt idx="5">
                <c:v>0.041426253610816</c:v>
              </c:pt>
              <c:pt idx="6">
                <c:v>0</c:v>
              </c:pt>
              <c:pt idx="7">
                <c:v>0.0518817821355781</c:v>
              </c:pt>
              <c:pt idx="8">
                <c:v>0</c:v>
              </c:pt>
              <c:pt idx="9">
                <c:v>0.1853089860888031</c:v>
              </c:pt>
              <c:pt idx="10">
                <c:v>0.0951979889117662</c:v>
              </c:pt>
              <c:pt idx="11">
                <c:v>0.0515483285980513</c:v>
              </c:pt>
              <c:pt idx="12">
                <c:v>0.209321755829712</c:v>
              </c:pt>
              <c:pt idx="13">
                <c:v>0.0987009938453259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58226892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5578793495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0.0025226456325374</c:v>
              </c:pt>
              <c:pt idx="1">
                <c:v>0</c:v>
              </c:pt>
              <c:pt idx="2">
                <c:v>0.1723637321299062</c:v>
              </c:pt>
              <c:pt idx="3">
                <c:v>0.2987017997195839</c:v>
              </c:pt>
              <c:pt idx="4">
                <c:v>0.0216782388311303</c:v>
              </c:pt>
              <c:pt idx="5">
                <c:v>0.1137488845128169</c:v>
              </c:pt>
              <c:pt idx="6">
                <c:v>0.010283546215548</c:v>
              </c:pt>
              <c:pt idx="7">
                <c:v>0.1645238454260667</c:v>
              </c:pt>
              <c:pt idx="8">
                <c:v>0.0088424130081329</c:v>
              </c:pt>
              <c:pt idx="9">
                <c:v>0.0650570577377896</c:v>
              </c:pt>
              <c:pt idx="10">
                <c:v>0.034867787265154</c:v>
              </c:pt>
              <c:pt idx="11">
                <c:v>0.0386763249777689</c:v>
              </c:pt>
              <c:pt idx="12">
                <c:v>0.2411558914210211</c:v>
              </c:pt>
              <c:pt idx="13">
                <c:v>0.1277549900044911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0.0270516797938475</c:v>
              </c:pt>
              <c:pt idx="1">
                <c:v>0.2717322646373472</c:v>
              </c:pt>
              <c:pt idx="2">
                <c:v>0.3843394735701309</c:v>
              </c:pt>
              <c:pt idx="3">
                <c:v>0.23956474396316</c:v>
              </c:pt>
              <c:pt idx="4">
                <c:v>0.0136993357098014</c:v>
              </c:pt>
              <c:pt idx="5">
                <c:v>0.1009891858114575</c:v>
              </c:pt>
              <c:pt idx="6">
                <c:v>0.2337807539485041</c:v>
              </c:pt>
              <c:pt idx="7">
                <c:v>0.1817324636579589</c:v>
              </c:pt>
              <c:pt idx="8">
                <c:v>0.4268975722865307</c:v>
              </c:pt>
              <c:pt idx="9">
                <c:v>0.0299889329892</c:v>
              </c:pt>
              <c:pt idx="10">
                <c:v>0.0968713149591156</c:v>
              </c:pt>
              <c:pt idx="11">
                <c:v>0</c:v>
              </c:pt>
              <c:pt idx="12">
                <c:v>0.0281081386502681</c:v>
              </c:pt>
              <c:pt idx="13">
                <c:v>0.0327733739005585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0.005650213947542</c:v>
              </c:pt>
              <c:pt idx="1">
                <c:v>0.0339495695667946</c:v>
              </c:pt>
              <c:pt idx="2">
                <c:v>0.0599764711599138</c:v>
              </c:pt>
              <c:pt idx="3">
                <c:v>0.1056482624842525</c:v>
              </c:pt>
              <c:pt idx="4">
                <c:v>0.0554049149913933</c:v>
              </c:pt>
              <c:pt idx="5">
                <c:v>0.1194570293861305</c:v>
              </c:pt>
              <c:pt idx="6">
                <c:v>0.058882728248978</c:v>
              </c:pt>
              <c:pt idx="7">
                <c:v>0.0404370516427307</c:v>
              </c:pt>
              <c:pt idx="8">
                <c:v>0.116864520710458</c:v>
              </c:pt>
              <c:pt idx="9">
                <c:v>0.2175764336860203</c:v>
              </c:pt>
              <c:pt idx="10">
                <c:v>0.1886924315296011</c:v>
              </c:pt>
              <c:pt idx="11">
                <c:v>0.0733115187257639</c:v>
              </c:pt>
              <c:pt idx="12">
                <c:v>0.0743239223341259</c:v>
              </c:pt>
              <c:pt idx="13">
                <c:v>0.0809487716581075</c:v>
              </c:pt>
            </c:numLit>
          </c:val>
        </c:ser>
        <c:ser>
          <c:idx val="4"/>
          <c:order val="4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</c:v>
              </c:pt>
              <c:pt idx="6">
                <c:v>0</c:v>
              </c:pt>
              <c:pt idx="7">
                <c:v>2.2729500657420742E-05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0.0446554095032045</c:v>
              </c:pt>
              <c:pt idx="12">
                <c:v>0.0484882936067297</c:v>
              </c:pt>
              <c:pt idx="13">
                <c:v>0.14038080593539</c:v>
              </c:pt>
            </c:numLit>
          </c:val>
        </c:ser>
        <c:ser>
          <c:idx val="5"/>
          <c:order val="5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0.0182205848015808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0.5171854935971928</c:v>
              </c:pt>
              <c:pt idx="5">
                <c:v>0.1437676770818388</c:v>
              </c:pt>
              <c:pt idx="6">
                <c:v>0.1302282787238085</c:v>
              </c:pt>
              <c:pt idx="7">
                <c:v>0.1235060587467477</c:v>
              </c:pt>
              <c:pt idx="8">
                <c:v>0.0030019560082499</c:v>
              </c:pt>
              <c:pt idx="9">
                <c:v>0</c:v>
              </c:pt>
              <c:pt idx="10">
                <c:v>0.0293999059712772</c:v>
              </c:pt>
              <c:pt idx="11">
                <c:v>0.001224536929653</c:v>
              </c:pt>
              <c:pt idx="12">
                <c:v>0.0338393432596599</c:v>
              </c:pt>
              <c:pt idx="13">
                <c:v>0.0555376438055603</c:v>
              </c:pt>
            </c:numLit>
          </c:val>
        </c:ser>
        <c:ser>
          <c:idx val="6"/>
          <c:order val="6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0.0014143975904966</c:v>
              </c:pt>
              <c:pt idx="1">
                <c:v>0.1050350765144157</c:v>
              </c:pt>
              <c:pt idx="2">
                <c:v>0.0118370206161566</c:v>
              </c:pt>
              <c:pt idx="3">
                <c:v>0.1345238572052303</c:v>
              </c:pt>
              <c:pt idx="4">
                <c:v>0</c:v>
              </c:pt>
              <c:pt idx="5">
                <c:v>0.1282934257881305</c:v>
              </c:pt>
              <c:pt idx="6">
                <c:v>0.0820968236937576</c:v>
              </c:pt>
              <c:pt idx="7">
                <c:v>0.1063549107852659</c:v>
              </c:pt>
              <c:pt idx="8">
                <c:v>0.0274252954275441</c:v>
              </c:pt>
              <c:pt idx="9">
                <c:v>0.0638294958720886</c:v>
              </c:pt>
              <c:pt idx="10">
                <c:v>0.0519432171691935</c:v>
              </c:pt>
              <c:pt idx="11">
                <c:v>0.0161874270129937</c:v>
              </c:pt>
              <c:pt idx="12">
                <c:v>0.0100687880387016</c:v>
              </c:pt>
              <c:pt idx="13">
                <c:v>0.0329520502592444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0.0293876981486142</c:v>
              </c:pt>
              <c:pt idx="1">
                <c:v>0.0012950121619806</c:v>
              </c:pt>
              <c:pt idx="2">
                <c:v>0</c:v>
              </c:pt>
              <c:pt idx="3">
                <c:v>0.0032891441904342</c:v>
              </c:pt>
              <c:pt idx="4">
                <c:v>0</c:v>
              </c:pt>
              <c:pt idx="5">
                <c:v>0.0003817965185774</c:v>
              </c:pt>
              <c:pt idx="6">
                <c:v>0</c:v>
              </c:pt>
              <c:pt idx="7">
                <c:v>0.0452350377070635</c:v>
              </c:pt>
              <c:pt idx="8">
                <c:v>0</c:v>
              </c:pt>
              <c:pt idx="9">
                <c:v>0.1185221016978889</c:v>
              </c:pt>
              <c:pt idx="10">
                <c:v>0.1696255142228581</c:v>
              </c:pt>
              <c:pt idx="11">
                <c:v>0</c:v>
              </c:pt>
              <c:pt idx="12">
                <c:v>0</c:v>
              </c:pt>
              <c:pt idx="13">
                <c:v>0.03615203126776</c:v>
              </c:pt>
            </c:numLit>
          </c:val>
        </c:ser>
        <c:ser>
          <c:idx val="8"/>
          <c:order val="8"/>
          <c:tx>
            <c:v>Limine Trust</c:v>
          </c:tx>
          <c:spPr>
            <a:solidFill>
              <a:srgbClr val="A7ACB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0.0258844589270298</c:v>
              </c:pt>
              <c:pt idx="1">
                <c:v>0.0259876479550446</c:v>
              </c:pt>
              <c:pt idx="2">
                <c:v>0.0038513441818396</c:v>
              </c:pt>
              <c:pt idx="3">
                <c:v>0.0361947972578764</c:v>
              </c:pt>
              <c:pt idx="4">
                <c:v>0.0228848438659473</c:v>
              </c:pt>
              <c:pt idx="5">
                <c:v>0.0062089418936455</c:v>
              </c:pt>
              <c:pt idx="6">
                <c:v>0</c:v>
              </c:pt>
              <c:pt idx="7">
                <c:v>0.0588516441861489</c:v>
              </c:pt>
              <c:pt idx="8">
                <c:v>0.0298022404971431</c:v>
              </c:pt>
              <c:pt idx="9">
                <c:v>0.0128304663626766</c:v>
              </c:pt>
              <c:pt idx="10">
                <c:v>0.0067169555656875</c:v>
              </c:pt>
              <c:pt idx="11">
                <c:v>0</c:v>
              </c:pt>
              <c:pt idx="12">
                <c:v>0.0001885623105163</c:v>
              </c:pt>
              <c:pt idx="13">
                <c:v>0.0372259116486354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0.0041128018022995</c:v>
              </c:pt>
              <c:pt idx="1">
                <c:v>0.087195517913098</c:v>
              </c:pt>
              <c:pt idx="2">
                <c:v>0.0104903023035456</c:v>
              </c:pt>
              <c:pt idx="3">
                <c:v>0.0005295626945933</c:v>
              </c:pt>
              <c:pt idx="4">
                <c:v>0.0016187625060064</c:v>
              </c:pt>
              <c:pt idx="5">
                <c:v>0.0861419194953894</c:v>
              </c:pt>
              <c:pt idx="6">
                <c:v>0.0736717709890082</c:v>
              </c:pt>
              <c:pt idx="7">
                <c:v>0.0032775916620824</c:v>
              </c:pt>
              <c:pt idx="8">
                <c:v>0.0698786005800293</c:v>
              </c:pt>
              <c:pt idx="9">
                <c:v>0.0082255331037107</c:v>
              </c:pt>
              <c:pt idx="10">
                <c:v>0.0566945158955612</c:v>
              </c:pt>
              <c:pt idx="11">
                <c:v>0.1362491351604199</c:v>
              </c:pt>
              <c:pt idx="12">
                <c:v>0.0895063986320403</c:v>
              </c:pt>
              <c:pt idx="13">
                <c:v>0.023451517330568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0.1952952214070387</c:v>
              </c:pt>
              <c:pt idx="1">
                <c:v>0.1682498602884054</c:v>
              </c:pt>
              <c:pt idx="2">
                <c:v>0.2127399418404404</c:v>
              </c:pt>
              <c:pt idx="3">
                <c:v>0.1304204514597114</c:v>
              </c:pt>
              <c:pt idx="4">
                <c:v>0.2926886108165267</c:v>
              </c:pt>
              <c:pt idx="5">
                <c:v>0.256717713385141</c:v>
              </c:pt>
              <c:pt idx="6">
                <c:v>0.4101144099982526</c:v>
              </c:pt>
              <c:pt idx="7">
                <c:v>0.1404751731853252</c:v>
              </c:pt>
              <c:pt idx="8">
                <c:v>0.3135838997678053</c:v>
              </c:pt>
              <c:pt idx="9">
                <c:v>0.2218768508392639</c:v>
              </c:pt>
              <c:pt idx="10">
                <c:v>0.2677637195878389</c:v>
              </c:pt>
              <c:pt idx="11">
                <c:v>0.6381473190921444</c:v>
              </c:pt>
              <c:pt idx="12">
                <c:v>0.26443415946581</c:v>
              </c:pt>
              <c:pt idx="13">
                <c:v>0.3245295358095095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18"/>
                  <c:y val="-0.01356102272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-0.019968592215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770485049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9897312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9155908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-0.01888667553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17626774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520381273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0.0128779545548899</c:v>
              </c:pt>
              <c:pt idx="1">
                <c:v>0</c:v>
              </c:pt>
              <c:pt idx="2">
                <c:v>6.281556998813609E-05</c:v>
              </c:pt>
              <c:pt idx="3">
                <c:v>4.5902990259467114E-05</c:v>
              </c:pt>
              <c:pt idx="4">
                <c:v>0</c:v>
              </c:pt>
              <c:pt idx="5">
                <c:v>0.0016020537540602</c:v>
              </c:pt>
              <c:pt idx="6">
                <c:v>0.0009416881821426</c:v>
              </c:pt>
              <c:pt idx="7">
                <c:v>0.0837017113643743</c:v>
              </c:pt>
              <c:pt idx="8">
                <c:v>0</c:v>
              </c:pt>
              <c:pt idx="9">
                <c:v>0.0767841416225579</c:v>
              </c:pt>
              <c:pt idx="10">
                <c:v>0.0022266489219465</c:v>
              </c:pt>
              <c:pt idx="11">
                <c:v>0</c:v>
              </c:pt>
              <c:pt idx="12">
                <c:v>0.0005647464514148</c:v>
              </c:pt>
              <c:pt idx="13">
                <c:v>0.0095923745348489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B448D6-BFE0-41CF-AA35-DD83F80D5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F42AA6-E6A3-4811-9B22-6CF97FBB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041D7A-321C-4768-B93C-53E16090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782801-A8DA-495C-89D3-AD393A80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A83EF9-428E-435B-AFF0-D26A092FF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31 de maio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66BF5E-CFEA-47BD-93DF-98770EAB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Ofertas: registros até 16 de julho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64E7F4-3277-4FDB-BCE1-3D344511E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Julho de 2026</a:t>
            </a:r>
          </a:p>
        </p:txBody>
      </p:sp>
    </p:spTree>
    <p:extLst>
      <p:ext uri="{BB962C8B-B14F-4D97-AF65-F5344CB8AC3E}">
        <p14:creationId xmlns:p14="http://schemas.microsoft.com/office/powerpoint/2010/main" val="11726634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C54B44-620E-45C6-A9C7-137BFDBF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8A2FCC-3A07-4006-9534-82B4B6E9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331F78-CBB0-4D98-983B-AE9FD8BD3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90E84D-4039-44F1-9ABC-A7A74B05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70F424-9121-4814-8DDB-2BA04040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mai/26, salvo ofertas até 16/jul/26.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BA95FE-2076-4A5C-8FAE-868003F4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1ECE03-87D4-4492-9B48-E2F658677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01A76B-6D10-4058-BE6A-EC32AC8D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523AC7-CAD5-4D08-AD34-FFAE2326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 vezes o nível de 2015; FIC-FIDC adiciona R$ 78,6 bi ao PL bruto.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27113B-2CA6-4614-B9CC-035B1EF44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60A140-388C-4984-9D7D-49253A7C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FF625B-2B42-41A2-88AA-1C785E99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C4B5AC-CA65-4771-AAF3-5A6AD96E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Esse recorte concentra 60,7% do PL do universo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0B91C8-2BBA-4D9B-972A-ECD6F95F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65E3E0-7CAA-4416-B302-3746E9BA5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197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E2C448-65BA-4C1E-BADE-1158EF3F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FD429A-96F3-434F-BDF3-FADC6330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 cap remove R$ 14,6 bi; os 10 maiores casos explicam 52,6%.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C039E9-C22E-4A3C-BB29-408998914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6519B6-8E2B-4281-8B9E-A96F0906C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34,0%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F6B774-8EDF-4607-8969-F0C1455A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796AB2-26E5-48BC-BE05-B1B06183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Trust.</a:t>
            </a:r>
          </a:p>
        </p:txBody>
      </p:sp>
    </p:spTree>
    <p:extLst>
      <p:ext uri="{BB962C8B-B14F-4D97-AF65-F5344CB8AC3E}">
        <p14:creationId xmlns:p14="http://schemas.microsoft.com/office/powerpoint/2010/main" val="8629060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1B33BD-60F0-433B-A20F-1BAAFFA78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4063E7-088D-4964-920C-7EFC18C3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PL ex-FIC chegou a R$ 880 bi; FIC-FIDC adiciona R$ 79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F17673-1919-4C6D-B1B0-07CE72BE3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56298C-4B1A-4A42-875E-9A88C068C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6383BE-0B43-44C4-8753-AF5898409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FIDC. PL bruto = PL ex-FIC + PL de FIC-FIDC;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3A7DAC-E2FB-4DB3-B33B-301CB0C9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790575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09ed3fd54a54c8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75BE46-32F3-424C-A17A-7E10F1C4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3" y="4758186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4D7ED4-B39D-470E-9D77-8C28F3AE8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2588" y="472390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750B13-AA39-49F4-8706-885C302D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2663" y="464321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C74ED4-F74F-498A-801D-1EBFE88E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738" y="4544185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AD0904-0DE0-43F6-B8ED-8BD798FFF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418347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AF6D50-DA72-4F4C-80A6-A2071C96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888" y="4257511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18DB7F-0AA3-45E6-8A98-C0DF9F7B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391445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79783E-979E-4734-A89C-FD9D8724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365126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4CF4B8-8000-4FB1-98C1-523F3DB91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25072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CBE181-D4F5-4AC5-91D0-186687ABC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32337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027B0D-3EF1-4464-9597-EE523B476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61875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EC4AD8-D209-4379-828E-5D36007E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38" y="1485900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9874E8-75F0-4AE7-A721-636F0FFB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3AB954-BB9D-49FA-8098-E3F8020C9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287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A93D2D-D236-49B8-A0D1-CD4499974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954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79736B-951B-4561-AA70-1FBF0C1BF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C113FE-070D-440D-94B3-685EDAAC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5D8F9E-B516-4626-A273-3EB746706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95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10,7x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AC29B5-A1E1-404D-BBB1-85716702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crescimento sobre 2015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860201-23B6-4E5E-BBAE-B654ED36A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R$ 79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9F0374-87CB-4CE4-85C2-51513980B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5772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de FIC-FIDC, sem dupla contagem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D4DBBC-8B63-4B48-BB28-83CAACAA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6197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O total no topo da coluna é o PL bruto.</a:t>
            </a:r>
          </a:p>
        </p:txBody>
      </p:sp>
    </p:spTree>
    <p:extLst>
      <p:ext uri="{BB962C8B-B14F-4D97-AF65-F5344CB8AC3E}">
        <p14:creationId xmlns:p14="http://schemas.microsoft.com/office/powerpoint/2010/main" val="9003444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32C6B5-56A5-4BAF-BA56-5F666F8E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848427-6894-4333-9F37-8B267A55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445,7 mil contas em 4.227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F31EE0-97E5-478B-9C23-667C648E7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37D042-C9A2-4CB6-B4FB-4506713A1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D128FD-3C2E-4212-BDD4-D90F8630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mai/26.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EFE998-CD0E-4F59-B7E8-616F03863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CAE057-E09A-409A-91BF-508F2BCE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BE7EAF-1A69-4AD2-9D50-16AC66C3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87d3e8ac4a4c9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9D9122-E1DA-4C03-8EB9-7E182CA49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10F61C-96A2-4C24-ADF6-89DE956F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19BB8A-E7D9-4871-924D-108DDA95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71CC99-FE2E-4D57-B3E8-5FC17E65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AD88DD-1F69-4A94-847C-3E4E88291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85EC70-F638-4E00-A849-BEF41C8DE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E6F039-5495-4B1B-9260-152333A8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bd9ecd458034df8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49A2FC-9AA3-4ECC-8D3D-2EA99F1C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C2C95D-D04A-407E-8EB0-A249DBE6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990746-E919-4D71-B3C7-D83690063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16A6EA-2EB7-4E16-87E2-E78177B5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1B83D1-08C5-4E1E-B1FA-9E921913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564252-FAAE-450A-A20A-8AB35272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MAI/26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F6082B-D857-4EC7-8D83-CA18B2DB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ffd32937f5c446a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CFE00A-3F3F-48D8-990F-A8A445B5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445.677 contas; 32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20102527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55797D-B7AE-4176-8705-E5336E1A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A4FE2D-297B-46F3-853C-4D49DA1F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10,4 p.p. do universo e 9,4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A3FB72-4EFF-467D-A3B2-A87300E30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49C8DA-018A-4A39-ADBE-FBF10DE1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112EB2-DD79-4C30-9065-B0223E816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mai/26. Ex-FIC com PL ≥ R$ 200 mi: 409 → 778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B33792-D3F1-44D4-A905-8606C11A1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A9B562-C02B-478C-8881-9ACFDEDDC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1F36A2-1531-4B88-AFE6-DD69024B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5C4840-3BEE-4B76-85D2-4DDA726D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55AF21-91B1-4A78-97CC-294DFC307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791BA3-0731-42C9-8EBA-A2E90C2EC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4F14AC-7B2C-416F-B351-639BAA5C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3ec8e3bebf341c4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8B661E-2350-49FE-A360-EF239DC9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FB536B-ABBE-490F-B9BA-4FCCECCD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1dee9bc98684945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547796-27A5-491A-B240-A0C36AC6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44FFC-09E1-4C80-A1AC-C80C8F9F2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abddca4f4f44b15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D59CD6-B30A-49C3-B4BE-17C31BBB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5C191B-B45C-4B04-BF0E-3205B212D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C47814-F832-4DA9-BA2D-2E294B3B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09ffe189a034750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A049D0-26C2-47B5-8DFB-5829B57D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7DE929-A090-4A8D-9EB2-6274AAFC7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4307036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537875-8952-481D-9967-051731D3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6D95AB-6909-40BA-BA6A-54030260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Na taxonomia vigente, Outros ganhou 5,5 p.p. do PL ex-FIC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D7BF14-6A4A-41FB-B9B9-2E500013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0BC718-5883-4836-8F1F-952E9E73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08315D-CFF3-4255-A733-95ABD0B5F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CVM/ANBIMA; dez/23 e mai/26. Tipo/Foco classifica o fundo; fotografia cadastral de dez/25 aplicada ao histórico. Não comparar categoria a categoria com a Tabela II.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A7FCC5-0B8C-406C-A8DB-8DCB01B6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C444E7-80C5-45FF-B3A7-C2698C848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MAI/26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302D6B-BE2E-4CF5-B420-ACEBCA05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b1027de467406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AB3EF4-7264-4290-B26E-4723BA82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C577ED-EB1B-4E24-8D87-087ED4973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ec5c178c0114992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411B53-15E0-4B57-B5C4-9852DC2B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5638800"/>
            <a:ext cx="1952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Cada período fecha em 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D349FC-72D3-4273-8DA1-E57540E1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62575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9264FC-520C-406D-B2B6-1C47A1652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Mai/26: Outros 41,7%; Financeiro 26,6%. ANBIMA enquadra o fundo inteiro, não cada direito creditório.</a:t>
            </a:r>
          </a:p>
        </p:txBody>
      </p:sp>
    </p:spTree>
    <p:extLst>
      <p:ext uri="{BB962C8B-B14F-4D97-AF65-F5344CB8AC3E}">
        <p14:creationId xmlns:p14="http://schemas.microsoft.com/office/powerpoint/2010/main" val="1157235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A9F24F-5E9C-48FE-8771-526E8DD12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EF8AFA-19D2-40E3-9726-56BBA7AA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15,9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0F37C9-85FE-461E-94E0-4CC19C25E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BBB71E-AD99-46F6-9AD7-12BABA7F2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76CF58-9917-4097-BE50-C15CC94F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Tabela II, dez/23 e mai/26. Classifica o estoque mensal; percentuais fecham sobre a Tabela II. Soma segmentada supera a Tabela I em 13,3% e 8,7%.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B4A649-8033-4AE0-AAAF-A55E9702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417764-CEF2-4B46-8FE9-1CE81C619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1EC362-6203-4A78-BECB-4867025A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11f27c8135b4ce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38F87C-95F6-4A32-8484-8D0C9DE3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AFED05-9000-41D6-B0DB-CDED09075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fd4083617e14db1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8A024D-5619-495D-9CB1-8BC272CC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78BB92-5BD6-4816-A7D4-315E7B3D4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Manual CVM: adquirência com cartão usa o campo mais específico, II.g Cartão. Em mai/26, três CloudWalk declararam R$ 5,24 bi em Comercial; o gráfico mantém o reporte, sem reclassificar.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D53D19-5031-4F4B-86E9-C5B465E6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F20A0D-8B76-41CE-A004-C8DF3983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51491B-E759-4781-995E-9501CB95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337D91-2B5E-47D1-B988-398D601F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C0A528-7D84-462F-ADC4-521EE54B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D72893-3D7C-43F1-880C-E6A7237C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591F5D-3256-48E6-892B-2BD95C17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A6B217-DBEB-41B3-9143-035551FB3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</p:spTree>
    <p:extLst>
      <p:ext uri="{BB962C8B-B14F-4D97-AF65-F5344CB8AC3E}">
        <p14:creationId xmlns:p14="http://schemas.microsoft.com/office/powerpoint/2010/main" val="13790763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82A2B0-D553-4746-83BD-81521CC9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C7A5AC-CD26-4645-9D1E-DC59B181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197 veículos; 10 casos explicam 52,6%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499A1B-7F46-4010-8999-904F0B34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FC6A39-68FE-40CE-8220-05DB5115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E71502-FDFF-4DC3-83F4-532C35ACE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8A6EBD-376D-4039-85E4-2432D46C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073FCC-847E-4F39-B81F-B5E4D4B1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4E822C-9A4F-4A6B-AD6C-AE8F7844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05a145d736e40e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9BA1BB-B9C8-409E-B9C0-D3E680F2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67797E-E917-4099-AF3C-86A5642BB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8299B8-D5C4-4932-9724-E3FA7773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753ABB-0A11-4614-9FB6-33966586E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4C9815-308D-4173-A438-B1F738E35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 / 4.222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972AF4-8947-4EEB-BA1A-772EDE8A2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FF1982-45A7-4CB2-85E3-60E7EA5A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989B01-E380-4842-868D-8B2D75A8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3.119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717E6A-88CC-4F1D-9A95-909D65B01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E38E59-59F1-4D37-926A-7890D21FF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E7536A-4C5E-4090-A0A5-B7837BF0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39C6A0-A642-408A-A6D8-B39A2CCF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6F6C85-0ACE-4D64-BF67-7A9CCDCE8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1161D2-881F-4DD0-AE03-F1345D6AF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42A7E2-35E9-40E9-8B8C-FB7EA84F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7875A2-E317-4F58-A625-71051BCF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DF0E69-9167-4AD1-A1E0-EDF5B0D4C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197 · 1,02%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D536C9-357F-4077-B79C-DA3DF34E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A7527D-FE52-45CD-BC40-981D4E35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5704BD-74C1-4EEC-AE02-6C2CA885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9,8% / 37,1% / 52,6%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2AF8FC-8C0F-4E67-8914-0D4D6888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Visão ex-360 bloqueada: o aging soma 112,1% da Tabela I e não reconcilia; gap de R$ 6,52 bi no workbook.</a:t>
            </a:r>
          </a:p>
        </p:txBody>
      </p:sp>
    </p:spTree>
    <p:extLst>
      <p:ext uri="{BB962C8B-B14F-4D97-AF65-F5344CB8AC3E}">
        <p14:creationId xmlns:p14="http://schemas.microsoft.com/office/powerpoint/2010/main" val="185812337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F95EC91-5463-469E-B3A0-B711B092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10F15-F0FD-4010-B1E5-0E19D417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responde por R$ 16,7 bi da quebra de reporte entre jun e jul/24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3CA835-5F60-4A46-A849-5489029E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E33070-C47B-400C-9638-1C51FD17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421E4C-7923-4BC8-A9F7-DE92BC9D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painel CVM, regulamento, AGE e DFs. A troca Sefer→ID coincide com mudança de apresentação; a série não é like-for-like.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FF16D5-3525-40D8-9A12-666EE11E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28289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b73adbe50745a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898191-EFFF-41F7-80F7-33FB1C7C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988CF7-F8E3-49B0-AC10-547B195C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786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EB3A9E-7428-4824-B1BB-C4B97AF3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1243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377A03-7E7C-46CB-867F-314CAA83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471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BB250A-D301-4BA8-89C1-B5BEF797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1929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C9DF32-12BD-4B96-AF96-A5DAA3F72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614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42F783-110E-4233-BF35-1B084417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05/26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4F4AC3-E596-40D3-8C59-1B8F6DD2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62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381D09-7F52-4D97-BA01-5F2519E6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514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4110D7-C63E-4D8A-B8BE-8B599F3D1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62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5E7AEB-4CFC-4CF9-9422-58231135E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14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C4D275-C540-47C4-A57A-AD9C4EE5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533900"/>
            <a:ext cx="319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EC7000"/>
                </a:solidFill>
                <a:latin typeface="Arial"/>
                <a:ea typeface="Arial"/>
                <a:cs typeface="Arial"/>
              </a:rPr>
              <a:t>Caso Atlântico detalhado no apêndice · slide 47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FCDFA5-A50A-4874-AC48-61CF8D395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A9D4EC-8DD6-49E8-A7F0-93D3EB7C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33950"/>
            <a:ext cx="3695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Bridge jun→jul/24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57E686-1C0D-477B-A41C-8E6FC2F2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339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Veículos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522530-23C8-4687-883D-B972BB829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9339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inad. bruta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0606F7-B9E1-413B-A86D-797AF880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339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ajustada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E2BED7-0BEF-4CE1-AB2F-FDB1F0A6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33950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excesso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1BC248-278C-4D0B-BB4B-CB028BF28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922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9A5600-CE3E-4C5A-B680-0C4AC306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927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052D2C-04A9-4E7E-BD5E-B8657C73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780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Atlântico FIDC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B47D49-A0DC-4995-A107-389447C4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5780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772CB4-4892-4572-A7ED-13CBADE8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2578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-16,6 bi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EFB305-C220-43C2-AAAA-B5923923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2578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R$ 0,1 bi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784177B-E0A4-4A11-9874-36A1A2834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25780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-16,7 bi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0E3100-DF92-43F1-90BA-DBE29A3C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0227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190A9FC-BBBA-44A3-B984-E5A10E7BE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658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04E084-30EE-401D-913C-B2171D889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3085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continuantes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ED934B4-3294-43C6-9362-6642BC70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53085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2.656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CCE495A-608D-4D14-B0DF-449454109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53085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-4,3 bi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715163B-034A-4B2A-962F-205BD96A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53085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-1,9 bi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FB00A4A-C9D1-4BD8-9F7D-57580F5C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53085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-2,4 bi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BC337A9-A7C2-4F94-ADD8-782D5AF7B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532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256E493-1D41-4A30-825B-8436E7C4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38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AF1DE7B-A162-41B0-A404-D24170F7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0390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Entradas / saídas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5ECAFC-5964-41EB-9AC3-E433EB693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80390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87 / 25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F4895D3-BD7D-4BAE-ABCE-5765FA7A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8039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FC3B735-AA86-4891-BA44-FA2E3B0C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8039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1D38372-3930-4354-BD39-4095C385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80390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</p:spTree>
    <p:extLst>
      <p:ext uri="{BB962C8B-B14F-4D97-AF65-F5344CB8AC3E}">
        <p14:creationId xmlns:p14="http://schemas.microsoft.com/office/powerpoint/2010/main" val="1057857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DF529A-CF11-43E1-B025-7E0ABB2FE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D12917-F3BF-4C1F-985A-D79CE708F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35,7%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133E7F-3C8D-418D-8A19-DF0B5516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CCD83B-6ADB-420F-84FB-E42691B8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BC5E80-E3DB-4BEE-99C7-7B169D6C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mai/26.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B54CBF-4A33-4210-A7A9-F32D4F60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8DFE22-292F-4871-A0F4-4737EF24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A0738D-EE97-44AB-8F2B-EE83F130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9aee1b1cb80465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DDB124-9C8A-4D67-A83C-44F5BE47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05725B-1FD0-4B14-99A5-67D7547F4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9AFCD8-5A3F-4330-8C60-B9B0B8A41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26fc04a0934bda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0A6D5F-6D52-4F30-AF7B-D3709AAC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9F889B-18B3-4B5E-B094-CB3849EA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CA8CDE-A6A1-4BF4-AF6A-718C7F2D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Mai/26: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37C995-E5FA-4F61-AF5C-E6B1BE97D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537FC8-7D95-43A5-89D5-DDB6D8DB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80077C-0167-4DC9-9567-DABC4A08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CFAC3C-67B2-4932-BF76-70DCE4CE5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</p:spTree>
    <p:extLst>
      <p:ext uri="{BB962C8B-B14F-4D97-AF65-F5344CB8AC3E}">
        <p14:creationId xmlns:p14="http://schemas.microsoft.com/office/powerpoint/2010/main" val="10424032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358C68-0EEC-4591-997A-4C51DC9C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E541D1-D751-4E21-87BA-8C269A5E0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9C9FBF-A4B5-4034-9C10-7CE22578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BBC724-732A-4764-8170-4921AE34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B8C32A-C8D1-4D7C-9BCF-4A621083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6CF74D-D623-4BB6-B568-10F52235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4a8d0f33d954a6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D4B1EC-9722-4993-A809-EEAA1A1D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211217396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7B2D23-B67B-49D0-8E27-226E25C61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9090D6-E550-44F0-8E68-B03EDDC7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9E84B0-8654-412A-94E8-74583C38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D20B6B-6A64-4343-9D6D-F1BE0553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ABE8B1-8246-420A-9512-4F301E11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33D9F8-ECFD-45EA-92E5-DF03C9E1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a025bcc6c214c7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63B68B-7751-45CE-AB30-6D0211AC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210983333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A88045-B5C5-48C7-9BFC-FBECFCAF6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B5CE2B-553E-4CF8-9F12-2F1506F1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911F0C-7BA3-4E94-8467-0D204F875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A599FF-DA7F-4641-BB77-E31698468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8873CE-2F19-46D3-8D60-9A691409D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0ADBA9-3B2F-4CEB-BD23-EDE117A8C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33570860480445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51EF33-9CFD-4BBE-AA34-762CB750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151626078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0E29F9-654B-4A01-85C2-A1A08891A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DO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EE380-EFED-4416-97DA-B71720865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herdou a escala da Singulare; veículos controlados sustentam o BTG em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1801E4-E4CB-424D-AD6D-EDACA37C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E36071-1BD6-4D6A-AF85-A5C8B074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3557E8-1916-48D8-A426-70C288C2F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DF BTG 1T26. PL ex-FIC; Sistema Petrobras e TAPSO excluídos. Administração observada; gestão e 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E3C6D0-1C01-471C-91C6-626FB9CDE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20E0C-D11E-4F60-9DC4-3E475091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8F5F32-E30B-4861-9CB7-90AA14679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200150"/>
            <a:ext cx="2619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109,7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48,8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55,8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39,1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25,2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45,5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50,0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44,3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 · 10,7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28,5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30,5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3C85DC-DF9B-4998-A03C-E757910E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43fa528397b4986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68A227-BDA5-4EF7-AD93-8DFE0557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E02190-1A75-4408-87F5-5BBAA7DBB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05125"/>
            <a:ext cx="2619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39,2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46,3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65,6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26,7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34,2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40,3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34,0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23,7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19,9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26,3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32,5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21,0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 · 10,2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18,1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18,3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9605DD-4DA7-43C6-93AA-65B792C33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b5b202366ca48b5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335A84-BBEC-48DC-A2DE-949BEF35B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7C2890-9F3A-4886-813B-DF03A031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610100"/>
            <a:ext cx="2619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78,2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114,4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120,6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109,3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46,8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64,2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72,3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45,5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60,3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49,9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62,2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41,8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 · 11,6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20,6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 · 21,3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0CCE2A-7B4F-480D-9FF8-B75EF152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77e56e8240418b"/>
          </a:graphicData>
        </a:graphic>
      </p:graphicFrame>
    </p:spTree>
    <p:extLst>
      <p:ext uri="{BB962C8B-B14F-4D97-AF65-F5344CB8AC3E}">
        <p14:creationId xmlns:p14="http://schemas.microsoft.com/office/powerpoint/2010/main" val="13745254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3CBD9C-00D8-4EED-91AB-BB28052FB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165060-E906-4F67-A971-322B73F01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explica a escala da QI; seis FIDCs controlados explicam o #1 do BTG em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4BE926-D511-4AB8-8B7B-F5E15FC0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049C64-11FF-49E4-9AD4-8A8C7C9C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917F00-F06C-4A59-9BAE-EEA5B306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DF consolidada do BTG 1T26, pp. 18–19.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66AF49-8542-4359-9741-B70C22FF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530EA3-A756-43CC-86CA-7FBA4429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BAC1F1-A6BC-42DD-81C6-323F159E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669a96f07df492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3CAE5E-FC44-4866-B529-5AB8A34F7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1542E5-D139-4BCC-98B5-D04914752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54F033-935A-4F33-8BA4-D4E1DC02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MAI/26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D44EA5-69EB-4483-90EB-12C66300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2379f4ff3e4777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C128F2-7C69-4783-954D-5BB2CF01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R$ 28,6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876F4B-5AF7-4555-A3C1-0E00BD4A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43,6% do PL gerido pelo BTG. Sem os seis fundos nominalmente reconciliados à DF, o BTG cairia para #2.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1CBC56-0BF0-4FBF-9361-80BC6709F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Seis reconciliados: BTGP Consignados I/II, Alternative Assets I/III, MT Consignado I e Consignado Delta. No caso Meu Tudo, o FIDC é controlado pelo BTG, mas a originação/operação do crédito é externa, via Parati e meutudo.</a:t>
            </a:r>
          </a:p>
        </p:txBody>
      </p:sp>
    </p:spTree>
    <p:extLst>
      <p:ext uri="{BB962C8B-B14F-4D97-AF65-F5344CB8AC3E}">
        <p14:creationId xmlns:p14="http://schemas.microsoft.com/office/powerpoint/2010/main" val="92003442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9949FD-87BC-4C43-91CD-874415E30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CBSF / REAG · DESTINO DOS FUNDOS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48C7E-1102-4A80-B4A4-2B719DC1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Master e Planner receberam R$ 10,1 bi; 19% do PL continuante migrou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62CA53-D135-4171-A3CD-339859AB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F478A1-108F-427D-BFA8-F46259F97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551D2A-C207-4BB3-A216-51C058CB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Mensal; BCB, Ato 1.375, liquidação em 15/01/26. Cohort do CNPJ 34.829.992/0001-86 em dez/25; destino em mai/26. PL ex-FIC, sem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9A8429-9454-4836-B16B-A2E56C3E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537E1B-B7FC-40C1-8F77-B30A4837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A15D07-398C-42B2-BC1B-8350334D8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381125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9ECA35-C42C-4789-9648-8E7D17CD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1952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C6A1"/>
          </a:solidFill>
          <a:ln xmlns:a="http://schemas.openxmlformats.org/drawingml/2006/main" w="5715">
            <a:solidFill>
              <a:srgbClr val="73C6A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86B5A5-8C6D-41C1-9FAC-EF4FDBB6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714625"/>
            <a:ext cx="18192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7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CBSF / Reag Trust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131 fundos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R$ 66,3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0E68CD-CCB3-4D3F-B8CE-5FC3C5A9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1145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C6A1"/>
          </a:solidFill>
          <a:ln xmlns:a="http://schemas.openxmlformats.org/drawingml/2006/main" w="5715">
            <a:solidFill>
              <a:srgbClr val="73C6A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8B2613-875F-47CB-A222-9184C450A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162175"/>
            <a:ext cx="224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6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6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CBSF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6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6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70 fundos · R$ 42,7 bi em mai/26</a:t>
            </a:r>
          </a:p>
        </p:txBody>
      </p:sp>
      <p:cxnSp>
        <p:nvCxnSpPr>
          <p:cNvPr id="44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rot="5400000">
            <a:off x="5419725" y="-390525"/>
            <a:ext cx="847725" cy="6410325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190500" cap="rnd">
            <a:solidFill>
              <a:srgbClr val="E7E9EB"/>
            </a:solidFill>
            <a:prstDash val="solid"/>
            <a:round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BA3474-ED58-4CBA-8753-F44269DD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003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5715">
            <a:solidFill>
              <a:srgbClr val="8D939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297069-6277-42AF-95D7-017E4635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847975"/>
            <a:ext cx="224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Saída / sem reporte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16 fundos · R$ 14,2 bi em dez/25</a:t>
            </a:r>
          </a:p>
        </p:txBody>
      </p:sp>
      <p:cxnSp>
        <p:nvCxnSpPr>
          <p:cNvPr id="47" name=""/>
          <p:cNvCxnSpPr>
            <a:stCxn xmlns:a="http://schemas.openxmlformats.org/drawingml/2006/main" id="9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 rot="5400000">
            <a:off x="5762625" y="-47625"/>
            <a:ext cx="161925" cy="6410325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118774" cap="rnd">
            <a:solidFill>
              <a:srgbClr val="8D9399"/>
            </a:solidFill>
            <a:prstDash val="solid"/>
            <a:round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64C015-281A-4A0E-B901-2019EB315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4861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5715">
            <a:solidFill>
              <a:srgbClr val="A7ACB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247FD2-A7F5-409F-891A-5136CB5C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3533775"/>
            <a:ext cx="224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Banco Master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 fundos · R$ 6,5 bi em mai/26</a:t>
            </a:r>
          </a:p>
        </p:txBody>
      </p:sp>
      <p:cxnSp>
        <p:nvCxnSpPr>
          <p:cNvPr id="50" name=""/>
          <p:cNvCxnSpPr>
            <a:stCxn xmlns:a="http://schemas.openxmlformats.org/drawingml/2006/main" id="9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rot="16200000" flipH="1">
            <a:off x="5581650" y="295275"/>
            <a:ext cx="523875" cy="6410325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86006" cap="rnd">
            <a:solidFill>
              <a:srgbClr val="A7ACB0"/>
            </a:solidFill>
            <a:prstDash val="solid"/>
            <a:round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C2C619-8009-448D-891F-9036F956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719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5715">
            <a:solidFill>
              <a:srgbClr val="8D939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C78BEC-FB24-4A82-8C09-D864FABC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4219575"/>
            <a:ext cx="224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Planner Corretora De Valores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31 fundos · R$ 3,7 bi em mai/26</a:t>
            </a:r>
          </a:p>
        </p:txBody>
      </p:sp>
      <p:cxnSp>
        <p:nvCxnSpPr>
          <p:cNvPr id="53" name=""/>
          <p:cNvCxnSpPr>
            <a:stCxn xmlns:a="http://schemas.openxmlformats.org/drawingml/2006/main" id="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 rot="16200000" flipH="1">
            <a:off x="5238750" y="638175"/>
            <a:ext cx="1209675" cy="6410325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70344" cap="rnd">
            <a:solidFill>
              <a:srgbClr val="8D9399"/>
            </a:solidFill>
            <a:prstDash val="solid"/>
            <a:round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CFC145-D148-4131-BFDF-0811A39F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8577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5715">
            <a:solidFill>
              <a:srgbClr val="8D939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C70EC4-FE0C-47F4-A4A6-011FB0DF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4905375"/>
            <a:ext cx="224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Outros migrados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6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 fundos · R$ 0,1 bi em mai/26</a:t>
            </a:r>
          </a:p>
        </p:txBody>
      </p:sp>
      <p:cxnSp>
        <p:nvCxnSpPr>
          <p:cNvPr id="56" name=""/>
          <p:cNvCxnSpPr>
            <a:stCxn xmlns:a="http://schemas.openxmlformats.org/drawingml/2006/main" id="9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 rot="16200000" flipH="1">
            <a:off x="4895850" y="981075"/>
            <a:ext cx="1895475" cy="6410325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28789" cap="rnd">
            <a:solidFill>
              <a:srgbClr val="8D9399"/>
            </a:solidFill>
            <a:prstDash val="solid"/>
            <a:round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C9A5FE-BDED-42B0-A2A1-4708259C3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95262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R$ 10,2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48C055-F8B8-426C-80E0-F1A754AA3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71725"/>
            <a:ext cx="447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migraram entre os fundos que continuaram reportando. Master Corretora recebeu 8 fundos; Planner, 31.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51319E-3C38-4766-96FD-8873E3F53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385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R$ 14,2 bi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CA8023-6A0E-4314-8421-54085C33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57650"/>
            <a:ext cx="4476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estavam em 16 fundos que saíram do universo ou não reportavam em mai/26.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F5F38A-2E30-4BB1-B45A-C2FB0F93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05375"/>
            <a:ext cx="5810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055B7C-3B9C-4066-9EB1-A36E9C37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00625"/>
            <a:ext cx="5429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 ainda declara CBSF como administradora em 70 fundos; isso mede cadastro reportado, não continuidade operacional. Gestão vigente do cohort: CBSF Trust R$ 21,0 bi, outras REAG R$ 18,7 bi e Smart Agro R$ 4,7 bi. Custódia: Reag/CBSF R$ 49,1 bi e Planner R$ 3,7 bi. Sem snapshot anterior por fundo, essas duas funções não formam um antes/depois.</a:t>
            </a:r>
          </a:p>
        </p:txBody>
      </p:sp>
    </p:spTree>
    <p:extLst>
      <p:ext uri="{BB962C8B-B14F-4D97-AF65-F5344CB8AC3E}">
        <p14:creationId xmlns:p14="http://schemas.microsoft.com/office/powerpoint/2010/main" val="120347285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8E1CE20-D0FA-4B5D-95A5-14FAE003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ROUBA-MONTE OBSERVADO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0BB31-F872-483F-9AE0-99161564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257 FIDCs trocaram de administrador; 7,2% do estoque comparável mudou de mãos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E1B645-30BF-4453-9274-999560AC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735DA9-C547-4863-916C-EABAF89E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1F5FB1-5C5E-45CA-BD50-8A6D08CB2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presentes em dez/24 e dez/25; largura = menor PL entre as duas datas. Ex-FIC e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B58386-821C-4C5F-B9B3-AED5C6D0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BD5187-EBF7-4F5E-946C-686436A7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66875"/>
            <a:ext cx="20478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1F3D"/>
          </a:solidFill>
          <a:ln xmlns:a="http://schemas.openxmlformats.org/drawingml/2006/main" w="5715">
            <a:solidFill>
              <a:srgbClr val="7A1F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AD4AB6-EE5F-47C3-97B8-5395B0DCE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1914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Oliveira Trust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R$ 8,9 bi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DE02E3-BF6C-47A9-BCB9-2C01DB57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6470"/>
            <a:ext cx="20478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5715">
            <a:solidFill>
              <a:srgbClr val="454A4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9DE517-2F8E-4B7D-B7E7-45FE36381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284095"/>
            <a:ext cx="1914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Banvox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R$ 4,3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E3D36-9CAF-4964-8218-06E46983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6065"/>
            <a:ext cx="20478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C6A1"/>
          </a:solidFill>
          <a:ln xmlns:a="http://schemas.openxmlformats.org/drawingml/2006/main" w="5715">
            <a:solidFill>
              <a:srgbClr val="73C6A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020859-C3C7-457B-9F4A-47F6AD89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853690"/>
            <a:ext cx="1914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3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3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CBSF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3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3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R$ 3,1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15CAB7-FC12-4BC1-A6F2-788053C1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5660"/>
            <a:ext cx="20478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5715">
            <a:solidFill>
              <a:srgbClr val="A7AC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FCA5BF-379B-417C-B18B-37B8A954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23285"/>
            <a:ext cx="1914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Banco Master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R$ 1,8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D47534-3F47-43A9-8CAB-B76B57FE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45255"/>
            <a:ext cx="20478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065"/>
          </a:solidFill>
          <a:ln xmlns:a="http://schemas.openxmlformats.org/drawingml/2006/main" w="5715">
            <a:solidFill>
              <a:srgbClr val="5B606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DDD0A4-DF3C-4E90-9AFF-EA4E626C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992880"/>
            <a:ext cx="1914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Finvest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R$ 1,3 bi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F4B0B4-E748-4EB6-9B58-58895DBD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20478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5715">
            <a:solidFill>
              <a:srgbClr val="8D939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43FF75-6C98-46ED-A55F-32EF27F9D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562475"/>
            <a:ext cx="1914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Trustee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R$ 1,2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C9AA49-FEF7-451E-A035-307FB70BC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2047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DEZ/24 · CEDENTES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973A80-EDC7-48BC-9BCB-AD552BE8A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1666875"/>
            <a:ext cx="2047875" cy="2771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5715">
            <a:solidFill>
              <a:srgbClr val="73787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7CC16E-DDBF-4F30-A9A1-648D8043B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1714500"/>
            <a:ext cx="1914525" cy="181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Bradesco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63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R$ 8,9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C7F937-BBE3-4EC3-9A97-D2A222A6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001203"/>
            <a:ext cx="2047875" cy="2771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5715">
            <a:solidFill>
              <a:srgbClr val="BEC2C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379037-A702-4512-96E7-92CD5041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048828"/>
            <a:ext cx="1914525" cy="181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Daycoval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63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R$ 2,1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2EF090-C99D-4645-B2B9-AE9B4977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335530"/>
            <a:ext cx="2047875" cy="2771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6D6"/>
          </a:solidFill>
          <a:ln xmlns:a="http://schemas.openxmlformats.org/drawingml/2006/main" w="5715">
            <a:solidFill>
              <a:srgbClr val="2456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D61333-6830-4649-B1AF-E76C76C3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383155"/>
            <a:ext cx="1914525" cy="181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QI Tech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63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R$ 1,4 bi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2213F6-FAF8-4A1A-B435-DA2C6879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669858"/>
            <a:ext cx="2047875" cy="2771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5715">
            <a:solidFill>
              <a:srgbClr val="30353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01F710-0043-4EEE-A088-770FD0B5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717483"/>
            <a:ext cx="1914525" cy="181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Oslo Capital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63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R$ 0,8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36AFA3-9770-4EC0-AD0E-54B6790EA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004185"/>
            <a:ext cx="2047875" cy="2771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5715">
            <a:solidFill>
              <a:srgbClr val="454A4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CF9C48-D3E4-4C30-968A-8B6E4BE8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051810"/>
            <a:ext cx="1914525" cy="181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63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R$ 2,1 bi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C35366-2DB7-41F9-A769-8226240C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338513"/>
            <a:ext cx="2047875" cy="2771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5715">
            <a:solidFill>
              <a:srgbClr val="454A4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8A937E-B406-48F6-BB5C-A96205F6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386138"/>
            <a:ext cx="1914525" cy="181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BRL Trust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63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R$ 1,0 bi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D62F5B-6EB5-44A5-8D44-6400434FA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672840"/>
            <a:ext cx="2047875" cy="2771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5715">
            <a:solidFill>
              <a:srgbClr val="A7ACB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4623F8B-87F1-46D7-BD65-0EC6D8F2C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720465"/>
            <a:ext cx="1914525" cy="181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Limine Trust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63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R$ 0,9 bi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F484927-5323-4E6B-ADFB-EC10A1A55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007168"/>
            <a:ext cx="2047875" cy="2771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5715">
            <a:solidFill>
              <a:srgbClr val="BEC2C5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7D5022-A095-482E-86BE-A08B0AD32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054793"/>
            <a:ext cx="1914525" cy="181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Qore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63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R$ 0,9 bi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E198ED6-288F-4002-AECA-183C809C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341495"/>
            <a:ext cx="2047875" cy="2771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C6A1"/>
          </a:solidFill>
          <a:ln xmlns:a="http://schemas.openxmlformats.org/drawingml/2006/main" w="5715">
            <a:solidFill>
              <a:srgbClr val="73C6A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9551260-145C-4240-B16D-2CC9A78A7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389120"/>
            <a:ext cx="1914525" cy="181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3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CBSF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63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3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R$ 1,3 bi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256A911-9A0F-4E56-A80F-6E4002856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675823"/>
            <a:ext cx="2047875" cy="2771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5715">
            <a:solidFill>
              <a:srgbClr val="8D939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0324B2-E364-45EA-A7FA-0A6CB9AF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723448"/>
            <a:ext cx="1914525" cy="181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Planner Corretora De Valores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63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R$ 1,2 bi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F9FA08A-D3DF-4F2F-A5F9-D60DD118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1381125"/>
            <a:ext cx="2047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RECEBEDORES</a:t>
            </a:r>
          </a:p>
        </p:txBody>
      </p:sp>
      <p:cxnSp>
        <p:nvCxnSpPr>
          <p:cNvPr id="97" name=""/>
          <p:cNvCxnSpPr>
            <a:stCxn xmlns:a="http://schemas.openxmlformats.org/drawingml/2006/main" id="7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 flipV="1">
            <a:off x="2619375" y="1647825"/>
            <a:ext cx="6953250" cy="238125"/>
          </a:xfrm>
          <a:prstGeom xmlns:a="http://schemas.openxmlformats.org/drawingml/2006/main" prst="curvedConnector4">
            <a:avLst/>
          </a:prstGeom>
          <a:ln xmlns:a="http://schemas.openxmlformats.org/drawingml/2006/main" w="190500" cap="rnd">
            <a:solidFill>
              <a:srgbClr val="EC7000"/>
            </a:solidFill>
            <a:prstDash val="solid"/>
            <a:round/>
          </a:ln>
        </p:spPr>
      </p:cxn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09101CB-3B9D-4308-ACD6-3215057C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762125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 fundos · R$ 8,9 bi</a:t>
            </a:r>
          </a:p>
        </p:txBody>
      </p:sp>
      <p:cxnSp>
        <p:nvCxnSpPr>
          <p:cNvPr id="99" name=""/>
          <p:cNvCxnSpPr>
            <a:stCxn xmlns:a="http://schemas.openxmlformats.org/drawingml/2006/main" id="9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 rot="5400000">
            <a:off x="5938124" y="-1178956"/>
            <a:ext cx="315753" cy="6953250"/>
          </a:xfrm>
          <a:prstGeom xmlns:a="http://schemas.openxmlformats.org/drawingml/2006/main" prst="curvedConnector3">
            <a:avLst>
              <a:gd name="adj1" fmla="val 26644"/>
            </a:avLst>
          </a:prstGeom>
          <a:ln xmlns:a="http://schemas.openxmlformats.org/drawingml/2006/main" w="103067" cap="rnd">
            <a:solidFill>
              <a:srgbClr val="BEC2C5"/>
            </a:solidFill>
            <a:prstDash val="solid"/>
            <a:round/>
          </a:ln>
        </p:spPr>
      </p:cxn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A4970E9-3E92-46A3-BA4E-1082457A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52675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 fundos · R$ 2,1 bi</a:t>
            </a:r>
          </a:p>
        </p:txBody>
      </p:sp>
      <p:cxnSp>
        <p:nvCxnSpPr>
          <p:cNvPr id="101" name=""/>
          <p:cNvCxnSpPr>
            <a:stCxn xmlns:a="http://schemas.openxmlformats.org/drawingml/2006/main" id="11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2619375" y="3025140"/>
            <a:ext cx="6953250" cy="241935"/>
          </a:xfrm>
          <a:prstGeom xmlns:a="http://schemas.openxmlformats.org/drawingml/2006/main" prst="curvedConnector4">
            <a:avLst/>
          </a:prstGeom>
          <a:ln xmlns:a="http://schemas.openxmlformats.org/drawingml/2006/main" w="102925" cap="rnd">
            <a:solidFill>
              <a:srgbClr val="454A4F"/>
            </a:solidFill>
            <a:prstDash val="solid"/>
            <a:round/>
          </a:ln>
        </p:spPr>
      </p:cxn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F3D6D58-BA5F-4F6F-97F1-377A706DB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43225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 fundos · R$ 2,1 bi</a:t>
            </a:r>
          </a:p>
        </p:txBody>
      </p:sp>
      <p:cxnSp>
        <p:nvCxnSpPr>
          <p:cNvPr id="103" name=""/>
          <p:cNvCxnSpPr>
            <a:stCxn xmlns:a="http://schemas.openxmlformats.org/drawingml/2006/main" id="9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2619375" y="2455545"/>
            <a:ext cx="6953250" cy="220980"/>
          </a:xfrm>
          <a:prstGeom xmlns:a="http://schemas.openxmlformats.org/drawingml/2006/main" prst="curvedConnector4">
            <a:avLst/>
          </a:prstGeom>
          <a:ln xmlns:a="http://schemas.openxmlformats.org/drawingml/2006/main" w="87359" cap="rnd">
            <a:solidFill>
              <a:srgbClr val="2456D6"/>
            </a:solidFill>
            <a:prstDash val="solid"/>
            <a:round/>
          </a:ln>
        </p:spPr>
      </p:cxnSp>
      <p:cxnSp>
        <p:nvCxnSpPr>
          <p:cNvPr id="104" name=""/>
          <p:cNvCxnSpPr>
            <a:stCxn xmlns:a="http://schemas.openxmlformats.org/drawingml/2006/main" id="15" idx="3"/>
            <a:endCxn xmlns:a="http://schemas.openxmlformats.org/drawingml/2006/main" id="36" idx="1"/>
          </p:cNvCxnSpPr>
          <p:nvPr/>
        </p:nvCxnSpPr>
        <p:spPr>
          <a:xfrm xmlns:a="http://schemas.openxmlformats.org/drawingml/2006/main" rot="16200000" flipH="1">
            <a:off x="5938123" y="845582"/>
            <a:ext cx="315754" cy="6953250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84750" cap="rnd">
            <a:solidFill>
              <a:srgbClr val="73C6A1"/>
            </a:solidFill>
            <a:prstDash val="solid"/>
            <a:round/>
          </a:ln>
        </p:spPr>
      </p:cxnSp>
      <p:cxnSp>
        <p:nvCxnSpPr>
          <p:cNvPr id="105" name=""/>
          <p:cNvCxnSpPr>
            <a:stCxn xmlns:a="http://schemas.openxmlformats.org/drawingml/2006/main" id="17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2619375" y="4648200"/>
            <a:ext cx="6953250" cy="166212"/>
          </a:xfrm>
          <a:prstGeom xmlns:a="http://schemas.openxmlformats.org/drawingml/2006/main" prst="curvedConnector4">
            <a:avLst/>
          </a:prstGeom>
          <a:ln xmlns:a="http://schemas.openxmlformats.org/drawingml/2006/main" w="83148" cap="rnd">
            <a:solidFill>
              <a:srgbClr val="8D9399"/>
            </a:solidFill>
            <a:prstDash val="solid"/>
            <a:round/>
          </a:ln>
        </p:spPr>
      </p:cxnSp>
      <p:cxnSp>
        <p:nvCxnSpPr>
          <p:cNvPr id="106" name=""/>
          <p:cNvCxnSpPr>
            <a:stCxn xmlns:a="http://schemas.openxmlformats.org/drawingml/2006/main" id="11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 rot="16200000" flipH="1">
            <a:off x="5870019" y="-225504"/>
            <a:ext cx="451962" cy="6953250"/>
          </a:xfrm>
          <a:prstGeom xmlns:a="http://schemas.openxmlformats.org/drawingml/2006/main" prst="curvedConnector3">
            <a:avLst>
              <a:gd name="adj1" fmla="val 26644"/>
            </a:avLst>
          </a:prstGeom>
          <a:ln xmlns:a="http://schemas.openxmlformats.org/drawingml/2006/main" w="75794" cap="rnd">
            <a:solidFill>
              <a:srgbClr val="454A4F"/>
            </a:solidFill>
            <a:prstDash val="solid"/>
            <a:round/>
          </a:ln>
        </p:spPr>
      </p:cxnSp>
      <p:cxnSp>
        <p:nvCxnSpPr>
          <p:cNvPr id="107" name=""/>
          <p:cNvCxnSpPr>
            <a:stCxn xmlns:a="http://schemas.openxmlformats.org/drawingml/2006/main" id="13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 rot="16200000" flipH="1">
            <a:off x="5987653" y="226457"/>
            <a:ext cx="216694" cy="6953250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74619" cap="rnd">
            <a:solidFill>
              <a:srgbClr val="A7ACB0"/>
            </a:solidFill>
            <a:prstDash val="solid"/>
            <a:round/>
          </a:ln>
        </p:spPr>
      </p:cxnSp>
      <p:cxnSp>
        <p:nvCxnSpPr>
          <p:cNvPr id="108" name=""/>
          <p:cNvCxnSpPr>
            <a:stCxn xmlns:a="http://schemas.openxmlformats.org/drawingml/2006/main" id="13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 rot="16200000" flipH="1">
            <a:off x="5820489" y="393621"/>
            <a:ext cx="551022" cy="6953250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73669" cap="rnd">
            <a:solidFill>
              <a:srgbClr val="BEC2C5"/>
            </a:solidFill>
            <a:prstDash val="solid"/>
            <a:round/>
          </a:ln>
        </p:spPr>
      </p:cxnSp>
      <p:cxnSp>
        <p:nvCxnSpPr>
          <p:cNvPr id="109" name=""/>
          <p:cNvCxnSpPr>
            <a:stCxn xmlns:a="http://schemas.openxmlformats.org/drawingml/2006/main" id="9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 rot="16200000" flipH="1">
            <a:off x="5919549" y="-844629"/>
            <a:ext cx="352902" cy="6953250"/>
          </a:xfrm>
          <a:prstGeom xmlns:a="http://schemas.openxmlformats.org/drawingml/2006/main" prst="curvedConnector3">
            <a:avLst>
              <a:gd name="adj1" fmla="val 26644"/>
            </a:avLst>
          </a:prstGeom>
          <a:ln xmlns:a="http://schemas.openxmlformats.org/drawingml/2006/main" w="68924" cap="rnd">
            <a:solidFill>
              <a:srgbClr val="30353A"/>
            </a:solidFill>
            <a:prstDash val="solid"/>
            <a:round/>
          </a:ln>
        </p:spPr>
      </p:cxn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BBCD3F7-CC49-497C-8D5B-A65D521D4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76250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Os 10 maiores fluxos acima representam 62,8% dos R$ 33,0 bi que trocaram de grupo administrador.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314BA8C-8C80-472B-9A6B-C4AACEBE4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314950"/>
            <a:ext cx="581025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3A856E3-1B52-4DED-92C4-B151BBCD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467350"/>
            <a:ext cx="542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e custódia não são exibidas: o pipeline atual aplica o cadastro vigente às duas datas. O resultado de zero trocas é um artefato; faltam snapshots cadastrais versionados de dez/24 e dez/25.</a:t>
            </a:r>
          </a:p>
        </p:txBody>
      </p:sp>
    </p:spTree>
    <p:extLst>
      <p:ext uri="{BB962C8B-B14F-4D97-AF65-F5344CB8AC3E}">
        <p14:creationId xmlns:p14="http://schemas.microsoft.com/office/powerpoint/2010/main" val="199139562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9D6EAD84-7866-46BA-B6AD-4B9B85EB8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73B7A7-2898-4122-A70D-701EEC5ED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24,8% do PL ex-FIC; Petrobras e TAPSO são 46,5%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060143-DD98-46F8-AA8D-D08DA69BC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725290-0B25-44AB-AA9D-ACD93296E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195BB7-74C1-4F92-9F32-2C3999CF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mai/26.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83FE73-02F7-44F6-93DC-D9B1445E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341B34-8979-4897-8BE1-5EBEF7ED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15C869-8DAF-42DA-9866-2A72C245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0D6E89-934D-4B62-B98E-5D342C62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26CF0F-0146-4ABD-A8BB-71DDEA152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036185-F83D-457D-BAE9-96E95CC3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2D3439-260D-4EC5-9CA5-0B28A5FC6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72D31C-47AE-42FB-82AB-C641E003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65AB0E-C8BB-47D5-8B73-0C0F3BEF4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E4BE52-ADA5-416C-AEA7-277FF717B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FB2415-4A97-490C-83E9-9A0E881B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031DD5-4295-4671-B327-E5C00020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780451-EE2C-4256-A5F6-8E00E597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99A927-0A2A-4993-A093-9F47CD6E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6,9%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D22CAA-A294-446B-9C1F-A7A4F986C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CBD387-620D-467D-9626-55F90AE69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3B1455-08D6-4F44-93DE-ED4334AE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328BF0-BFD7-42D5-98C6-7023C22A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D7C7EB-01BF-4041-A980-AB91724FC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9821E8-6726-4CBC-B9C7-84D9E7734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A62E15-4FD9-4683-8780-C2BD7FC8F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40,7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D28F6F-B25D-4BC9-90D7-8A0A41F7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2E4712-C1CD-4803-821E-6CA1F082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F9BC90-8017-4583-8A63-7562FB1E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5314B3-87D7-4980-9710-FB4EA3E70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09F2D2-6EE8-4CDC-AC22-C90160E0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75EF1B-73C4-4C5B-8446-B6CEA97A5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A079F5-332D-4ACD-A2B3-81A1DAE4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9784BE5-FD65-4A70-960C-3929B729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D6D73A-FDEA-49A0-9744-994E99F8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6887D23-054D-4EBD-BDF8-4ACD7F32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230036D-22A8-4CC0-8D8B-C6AD5C7EE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BB81DC8-22F0-46CD-9DC8-1180CED0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83E2B17-D888-42A2-B83F-08057461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5E1E957-E2ED-4D7A-A80F-91DB050B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B642F3-BEA8-459D-ADDF-30D45888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32412B-6157-4FE8-9E1E-F4A87718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3AA9FF6-3477-49A9-A357-12D38D3F8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6078190-71A5-45F6-B80F-89D8FDEF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2CD42D6-5EA7-470E-B55C-D223C480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A782EA1-793C-41A9-B868-D9E3B3BE5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888539-4B40-4465-850F-1595BA3A6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2BCB55A-A017-41EC-A4B6-46950DD2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48A226A-C754-4799-8B75-935BE15FE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5116F7F-36FA-4B49-A8B2-79D2DF0C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A888E00-0419-40BB-B55E-C0C074EED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73A0BB6-8CE4-4907-A26F-27E591321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21E2138-C2D9-4418-AD96-9A192695C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737FEF3-9CE1-4C64-8D9D-10CA7997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76505CE-2FB7-43D8-9071-5C613E8A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C7E9E3F-9226-442D-B6EB-98ACD6EE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CF9D16E-2C45-4591-8B1F-6C2F4916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B78B9E5-D517-4162-8E04-DB706A29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7,9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0C1E597-4532-4D84-80BA-2EE694C7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05395A6-CB7C-4ABC-ACFE-ADAC4EF0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4978DD6-E04D-4F57-BFB5-DFEF6038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3E95B58-F285-46C5-8093-A2C3EF565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F388E43-41A2-46DC-BFFD-1CB16040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CF06007-2724-4220-9259-E3662E1FB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A3C63C1-7F10-4867-881B-448E54E1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5D44AC9-CBD9-4E2C-97BA-2D415D1D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7,8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AA83749-E167-4D45-BFFD-DFAA76DD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E73EE43-B065-4626-97A4-E6BFD2CD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2D045EF-D407-446E-AF5B-4E55F6F6A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C04F1D3-5A52-4C3D-B543-1BDC07FE8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244A6D9-1222-4BCD-927D-2E552071A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4BCA632-549D-4E99-BF57-F394A35D7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C4D5D80-562E-43A6-AD13-B3845F6F6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2256D63-F824-4BD2-ABEE-59DAA9252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7,7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1153D30-ED79-4FBA-83CB-74074130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9C8889E-FCFE-4E58-BE91-0672D017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41E77AC-23D4-4D69-A761-2C2769D4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A5FCEC1-3C5D-4946-B53F-AC194951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076E43B-1A9A-4301-ABB8-744A67F9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F5E57B7-F69E-40A0-BF61-D9D7DCE7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F71307B-B5CE-49FD-B9DE-3E017A0BE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A79DA49-721A-425C-A29B-EF472D9C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1D4085D-FF43-466B-B95C-5FEEC6C2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FA492A7-EEAB-475B-A02F-AF478FF5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F014F82-3C80-4DE2-945F-CB5A315E3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E42DA83-438A-482A-81E8-BAA33619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30171C8-76DC-4EDF-A3B6-A44B5BB2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C9656C6-4668-4D46-BFF4-6CAA39DE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1A379ED-E273-4852-B39A-15044AD8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94C44DD-7506-4154-B4BC-9853C3A2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F4A644A-A5F8-4C08-92BA-C43D5515A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C10DC0E-176A-45C8-97CC-0CE0BFD44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7B81125-0284-422B-9721-E6395FFC9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A81BCAD-1B2E-4980-A5CF-922D9FB2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7958156-781F-43C1-B537-355E91CB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BA8283F-5F9C-4AE2-9A00-4F39A43F4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874EE41-583B-4431-BB9C-AA03CB33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83EBE20-52AE-468C-A2A9-9095EC48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AB364E2-02F1-460D-BB8A-208B9445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65412B73-889F-4B81-9551-7C42FCB0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96D22DB-24C8-4DB9-8FAF-3AEDDD4F0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C912FE9-A1F4-47E7-9312-30B2B250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0186A488-5BBA-4F59-850F-9E974435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E1838F45-4E87-4EDB-9B72-B2345D8A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DB1CAA50-18BC-4F56-9E55-A02DF9B0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CF2BF87-9361-4B43-8B12-3319ED00F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9A1366A2-08C7-4C3D-8CC0-C45D77EFA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68075460-7B4E-4B44-963C-2CF649F9E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D6271990-82DB-4711-A07A-047542632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78F15208-CB33-4516-82AF-C6E4FBB5B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29D8E6E0-829F-443B-BBFC-F6A01719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2C0968D2-A122-4B45-A909-996F2975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74D07E62-2EE1-4A25-99F1-FB0984A32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6929A4D1-240E-43EC-AF96-6B1F4DD5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9441ABD0-8D00-43A7-85B2-EE5CE137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5C7C4D4D-C88A-4561-8419-5E90A188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737083FC-80B5-45C4-9AA6-A8BEE9A6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7DCC6C50-CEFA-4071-8840-E991344C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B3242D85-6FF3-4EDF-A348-FCFA0A73F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A8C0C439-59A6-4613-A4E1-5CAB0111B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EEB78548-F50B-4703-8EF0-79811A0FF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F395E3F7-7B11-461B-ACB1-5C33A633E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E4A08BF7-2B86-4A9F-892B-256D302C4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F189CFFC-063C-4D4F-9FBB-E01ABDC1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381FF5CD-99A4-46AB-A333-EDDF0F7C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FDB074D-35BD-4425-B5A2-BEF8685AF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8AD4905-AC74-42B6-B4E4-7D96F945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D826236B-931D-465F-BF7F-CED963DB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7E77EBF7-11B9-483B-829B-641D57AA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CA5A866E-6852-4849-8E51-D1F224704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7D57F7B4-D79B-4CBC-9AE8-F85588EF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5426DDF8-057D-4923-8BC4-9F7E0FFEF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08235566-D495-41F5-8444-73E9FDB4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94AF0AEE-B8DA-45B8-9E0D-7F3240E0F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1126EC20-15C6-455B-878F-BEA476EC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D3C14E79-8401-40C5-8E24-2EAB4DF2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C1102924-4BD7-48C9-8CC4-8DC278C1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DD4A2C89-672A-4E60-816C-3A6B1D2F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D6000345-8D26-4A8A-ADF2-6BC68484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AF128027-D421-43EC-9CDC-A104159B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B8AB3197-93BC-43BF-9CAA-EFC7B210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F6CD7736-5364-45C5-8FA8-D068AE4D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FBF1CB8B-28E3-43A6-BF29-11292FFA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B98076DA-94DD-42B0-8356-05EA77C2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8207D61A-D75E-4A04-ACD7-E9333457F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8E26A4EB-37B5-40FD-83BC-FE93B48EB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E1FFCD27-5AD7-4044-ADCF-01423D46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577071B5-FD73-4E86-B07D-A6C39ABDB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4F4F3918-1EE9-44D7-929E-4A64D4DAB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73E71FF0-86B4-4B9B-8718-D3306B77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90E633CB-F5F9-4E08-AE26-623B2F94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B281C68E-53DA-4252-98D0-41C62F38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659D3F5-2E30-4DCC-A8CC-C4CB512A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5F55809E-8AA6-45C1-8103-62EDF8B1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8E2F4BC6-134A-4B33-AB94-00B050BF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F4A4E2F2-AD3D-4766-AE5F-E09362E37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B765A6FC-33E4-4FA9-BED6-D95757B0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9E654A22-861B-40BB-8DDF-0EDB50C7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B94AA9AE-77CF-45DF-B3E1-72D5CD36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6407DAC8-D5BB-4389-B538-C90B19A73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CCA78579-F362-461C-9CC8-8B7D3462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4,3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945DCCB4-3DBA-41E6-84F5-70576875B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08B2BF11-48AE-4BBC-A209-AB2FFFC1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D5FE2907-2A8D-445F-A232-3F035C96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DF1CC1BA-FF00-4014-A000-0DB60BE0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4C2A548B-9223-4C83-8B4A-40C2A12B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515A1B0C-72D7-46D8-A35E-E95C9F64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DDB909B2-C1EF-463E-88FC-FAD83C0E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20B99283-4F3B-4297-8E32-A5027E05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D1AC53F9-5787-48CE-A607-09ADA7A6B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850DF947-B887-4CE0-B750-02C72C9FA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A80B3D56-C718-48A9-8094-1788A4BF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C88EA1A3-D99B-4ED7-A8E0-15A3891B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8D2F38B5-5CEB-4C60-A414-F285FCDA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040B7B4D-D921-4B07-8AAD-C4691013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41EDF3C6-26D7-4D47-9140-716F7CBF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82951AE4-5E48-4F46-BD86-15FF3CE6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0DF2CFBC-CE37-4A0D-BA29-4D34D4752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0C18848E-2C37-40B6-A0EA-177E2A07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87C3CA4A-AA98-42A7-9A50-3620E498C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132598501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6C9CE73B-80FB-4E6D-8714-2508044F4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BB0CAF-2947-44C0-909D-1E48A94F6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26,5%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87751C-21DB-4ADB-8F2D-D4B0EE76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6F9B5D-C35C-43DB-981D-CF68E381E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9DEB30-F76C-473C-972A-B89895F3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e documentos primários locais, mai/26.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A809C2-57CC-42F5-BF93-DB4CCDAD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484789-D839-4E44-BDDD-B968E53C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44EDB4-37E3-425B-B8BB-05AD182B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8D6146-19DB-4B27-8FF2-4FD889F1A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C4208B-0234-44F5-B686-DFB23490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39488B-5E5E-4716-8A78-97D452E3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135627-1010-4374-9093-AB178B25A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7DBDE1-789C-4FE8-97A9-04C91DBF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AD3CDE-7B02-453B-A5D5-F4CE74540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C3A208-51F2-447F-9E1E-EA353C9B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62E4B2-963B-4A66-BDFC-72332D0A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67C1FB-3CE2-423F-A89D-3C49776A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E150FC-FDFA-477F-9CEC-CBC7E3A0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B1EBFE-9007-4395-8D33-58AB41D1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80AEE9-EA12-4124-90A5-3F556B784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440E15-FB95-4A84-9337-573902BE7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6C1FCD-93EE-4CF1-BD12-5E7FD944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0B5D46-3CE9-429E-9547-7AEDFF96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A580AD-808B-48F0-BF54-E3C5F9D5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AB0CA3-60E6-4F32-A8C7-0E5911FBF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6B2CD1-5CC7-4AF6-A430-72AC93F63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3F7699-AA88-42AA-9CD3-F7949CC8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F418D5-8DF8-422A-A98B-A18CFB77F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05F06D-77F6-4C24-94A2-F6D6D79BE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49F6CF-F895-41B8-9ED4-447C7739A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EDA198-348E-40E0-8F65-89CF7B3C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B41784-F5B7-47BE-838E-47D52E88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9517D1-A03A-4CD1-AD6A-9E929B68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A33F45C-7BD4-47C9-9BDC-C23963644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7C9D18E-303C-45DE-A31A-3B23DBC1E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E930E7-5391-4A9A-89D1-29B2CFC98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3CCC049-C453-4E1A-866C-44849BBC7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4138FA1-DC58-4C8E-8522-A5CF45F47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2F700D0-53D7-431D-9247-3816C23B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8E40F80-833A-44AB-A6F0-CF9F37CD6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182BBCC-370D-4163-A807-E6CCCC46F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64E9B79-A608-4542-B0F3-87D75B6B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6B85080-9F32-419F-BE8A-FEE5ABBC7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C93E4EA-2AD2-499E-B179-F0C780B80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B9A1A18-3174-4442-AD9E-C462990A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425DC3-0912-480D-B33E-A991F153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8F6FC76-1616-43F7-9675-752691A16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24056B-3E70-4E9C-9DB1-ED234731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CE36378-4955-4EFD-B44A-E95B0E554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402DEC3-E100-43CF-8C95-78710B0E0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99E01B4-530D-4A0A-828A-314F1E742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04CCDDF-9B2D-47F9-BE07-D79795CB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B500ED8-4EDF-481D-957C-8A8C669D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D5BD738-C8EC-4433-929A-2094B560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F73C95C-3D1B-492F-9F1C-46037E2A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E18E8D3-E22E-48F1-8F7F-35E85CF0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2CC7758-F8A9-4E90-9C59-71ABC5C6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DE5A35E-FA79-4129-9403-EFFDF701B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F7FBA2C-6D20-4DFD-858D-860C8A952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CBB56C4-8F89-4EE4-BF08-C32EE81E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F2A1A35-3E64-46F1-9AE7-8F1E20EB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F2580FB-7C69-46B4-888D-690A7309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6124AFF-CFCA-4255-ABA4-A528EBC99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009CC7C-8849-4645-AD4E-0DBB5693A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4956482-F613-480D-A7D9-89A00D4F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99360D9-F618-437E-AF4C-27556BB7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9DA6582-A62A-4101-BCC7-8E4181BC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A17C5B9-A3A6-482C-B734-F8CA1BC4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Multissetorial / Outros —…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51CD083-4AAA-4BC5-BF3D-3F3F46B3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UNDO E CLASSIFICADO COMO UM FUNDO DE…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2C8D055-1206-4373-937D-B8C558D92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080AC16-EAA8-4733-B884-15CE5E956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EDE7B57-69D5-4737-8A1C-742BC895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F58556E-4AD3-4E3A-B5F0-F9E1D156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31EE35C-315F-48E8-B11E-92387CCF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85C17B7-67B0-4A3E-B48B-3D26740B6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AE089E8-EB4B-4831-ABB4-258D2078D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FF5F4CC-02CE-4EEA-840B-AF581D98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32E53E9-0D9A-4898-888E-9A90165CA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B5F3296-98F9-41BA-B69E-AE4FBBCD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D8A0B99-F3C7-4991-9713-2C7CF222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6678842-880C-4D05-926F-9BE705D37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097AF90-B5C1-4624-AFFA-C97E7CF6B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373AE52-EF0D-4E09-A02A-B54B98B6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86B16F0-CEB2-4440-B8EF-D738315FB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76C3D9A-2991-4365-9656-A6BDF25A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C506325-A65D-4871-A180-886E68B5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2412E7F-063E-4D23-BDF7-D7A05A4C9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1E399A8-F4FB-4C67-BBD8-328C7287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4EC9CC9-E0DA-43DE-806E-742E566A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D6EAF98-1D9B-4F99-8747-9A7ED47B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F8C2842-DC0C-457E-886B-9F2E98C0F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6E902DD-F28B-4F9E-B5DD-59932F9B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0210972-73A6-4D30-ACE3-D5B04877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7B6FA83-39DF-4F7F-B025-70DE2910B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C066330-772F-45F9-BACA-9E2CFA69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1105951-8963-4AFF-A82D-603B78AB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D18CF18-BF29-459C-8D21-960D37F50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831663BB-9D59-417E-8CD6-C1D2A657F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380B7BC-39E1-4052-BD82-0D0C429B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74EBC15-88AC-4C11-82B5-7E5C5632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F17115A-430F-41ED-9EDF-4F525DD5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8ADD7447-DDD7-4935-8F30-55DB5FE4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05E67123-0FCF-46BB-B8BF-7B5964EF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9DB73450-A80E-4F2C-A766-C8C44750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EDB14E51-00FA-4BC3-84F8-45CD6CF8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E8F70D16-E773-4300-B605-E606F42A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C13F0A7C-1696-4338-B949-0821F37F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539D050F-BDC1-45BD-8CB5-6CEBF949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340B60B-F71D-45A8-B241-BE0E19DB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8C652A69-6170-44F1-893E-72F01092D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FDB1A1D0-485E-4DC8-8479-E1DB4D40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5C80DA59-D196-4FD1-84B8-4822C87C8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F2479D3A-7F59-4F65-A9D8-B37D54A2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EF6AF53D-3EAC-43B6-A442-195DE510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D8AC2A8-0D25-4FD5-A786-332C3F9BE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047CAEF2-7B7F-44A8-B0E7-E9C100DA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5597EAA5-71E4-4F0E-88E3-E512B3C1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8978979B-C8C1-449C-ABFC-A113FD2B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50A7A2A4-A65E-4CA8-AE10-EB7B4B9A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79EBC843-83C2-401E-A216-C9C5648FD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175C6EBF-57A4-40E0-817B-8DE4CBA3A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7001BD03-39BC-4E3A-9669-E2A9872AA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502DDE1D-F908-47E7-A171-93689B81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42FC4708-4793-446F-B13D-93E4A9D4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E326B3A-85AD-4688-B60F-8AC0B0DD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BA50E7D-2481-4840-AFBE-0DC9D0D9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8B276241-5A89-4CCE-9CE1-603660C34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46428796-47AC-4507-9C60-679B5828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D45A58C-F2C7-4EC4-95C4-4C2C1574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D10660F-108C-4BB5-8715-95B08A0E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762B9419-5E86-4CFD-B812-4F68143C4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AFFC44A7-7227-433A-BFBE-4A556C4C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70B1E39E-BFCE-49EB-8CC6-70538157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E0BEC14B-C329-4A21-8A71-D5349BF42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C61DB5E3-D06F-4536-8342-D41E7EA7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FF537391-8DBA-4E20-B138-1557FD03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49B81BB2-5124-4B4C-9391-2621FA67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3,3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99109A14-2B28-495B-80DB-E2621170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90D4A540-2C45-44CC-8A42-34DB1D71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FF8028AA-F6F4-48E9-8043-916C6D17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3F6A3895-D69A-4C94-B32C-42C90F21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B07D3CFF-471B-4C78-84A9-BFF294332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9B437775-EAB0-403E-9604-D34CC20A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999B34FA-C073-4205-BE87-1BD676D9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8AF14541-E2FC-42DA-AB84-7C7E49EB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3,2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7A89D038-038C-45DB-947B-3B61CF4F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132AB398-A2B0-4D45-A042-9F4921FE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B9E50FBF-0399-423B-9A3E-66F86A1D9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03A305E9-5CA7-46B2-8FB1-F7FCCCD8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E069C3C0-6CEF-419F-9E96-E476082E0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CB34D5D8-3792-4297-A2EB-5DE876350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FB550827-008A-40C3-9D17-DFBCB617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2AB7F47-7DD4-43E5-87A5-0FEFCD4F2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4EE50AD6-4407-421C-A0F7-F2C6DDCE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5CEAB395-7E37-406A-BE3E-E2699B02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45675090-E5C0-410A-8F47-74FDB640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4496B164-8090-46B4-81D9-DBC153E14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F218F56C-1686-4F3E-BB25-926E89B0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9F5A4213-0CC4-4D4F-88AD-9D831DFF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53076017-4AB4-4449-8CFE-2BDA24B5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4C3930E2-9C69-4313-87A4-AA42CD70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7AF8D79E-30E4-4A56-A4C8-A85B2B1E0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333EC24F-376E-4F29-B860-941EE587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00DBA1B4-CFCD-41DA-8B6E-04DD5D03D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B023E179-1BA5-4B85-BF50-77C61634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AF62B871-242B-45DE-87DF-289C022A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6C3ACAF6-7FB4-4C9E-8367-C160C5132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3E8C4D09-384E-4C7D-A189-5B6EBB5C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88AD210C-1D12-4171-991A-FE1EDC22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D66883D1-006A-4485-B27A-93220CBF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B0F8A5C4-BE2F-4762-B002-F0BF7EE97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4A0F0AC1-3F81-4E94-A6AB-8CEFE8B94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2C95DBB0-72E9-44A4-A6C1-777F088D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CAF27CAC-7A1C-4F67-9DEA-A1E531117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E982E989-3FAD-414C-8FAC-23BB76C8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2C701E77-B8DA-4370-923C-4CD912E9D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E3411CBC-2BD6-4D70-AD50-BCB841FBA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C8CE16FB-9319-4EA8-B1D1-A48C9F17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150A9CB5-AF8A-4654-900B-9EE09FC9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E59860AF-202B-4FAF-AB60-45C67675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201868813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463F23-8FF6-4063-AF03-710B5960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1A8F13-E15D-4BC4-B68D-AE8BF01B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7,8% dos fundos e 34,0%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79B7FA-C318-4FAA-98B7-F28DD513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01A1B0-904E-4967-8D39-9A264EB54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5A4077-1AB0-4167-8FA5-53A3CC6EC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mai/26.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F80647-9633-4800-80F7-1894A097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fa9afb10c89486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2968C5-4E80-4AC5-932C-FE507351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24DF16-3954-4D40-9CEC-C4FB4570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643E6D-622A-4686-95AA-989DB81B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A9B836-F07B-4390-9D96-CEEA0379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8A05E5-DD5D-48EE-8128-389195DC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331 · R$ 326,1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63D4EF-2749-43F6-8D4D-517D9AAF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7C16E2-B684-4510-85B0-1E4A6301F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769D03-C7EE-4412-A8BB-C490046CE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42 · R$ 34,8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8B559C-73B8-4F43-8AFE-9F29BA15E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E127CB-8941-4048-83BB-39D6514A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7FB4DE-8717-4412-A5C5-C75CCDF7A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3.371 · R$ 511,5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52D5EE-7557-4E09-B768-FE0A2770C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90A224-A9C0-4E0B-80F5-2AFFB822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5FCEDD-4553-4343-9B05-36B0595ED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44 · R$ 19,2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B8A990-9EB9-46CD-94AF-4F21EF7C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8E72BE-F2C9-4766-BFA4-5B7F51E3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79BC8A-63B3-4E94-840F-64827581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355 · R$ 55,6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D3B0CD-05E7-4778-A1AC-605111C98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A85621-83D6-4AD8-844F-08E971D2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5E41C0-D0DA-4DA4-AD31-E086543B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79 · R$ 11,5 bi</a:t>
            </a:r>
          </a:p>
        </p:txBody>
      </p:sp>
    </p:spTree>
    <p:extLst>
      <p:ext uri="{BB962C8B-B14F-4D97-AF65-F5344CB8AC3E}">
        <p14:creationId xmlns:p14="http://schemas.microsoft.com/office/powerpoint/2010/main" val="9895075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170A680-4F8E-4FA1-B39B-F0CBE75CC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DCE0DC-A9CB-4035-B3AB-45A31A50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886C9A-554A-49E2-84E5-CF61818BD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CF0FCE-FFB2-4EBA-B9D0-781B4E03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C900C6-5751-4C10-BEB9-E5C75C11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6CDFA9-FDF3-4030-AFD6-40E68218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7DCAF4-0FC7-42A4-9CA3-89D0AA01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FC21FE-A9B1-447E-AAD5-974291BC5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76D5B6-0400-4A03-9107-2A8840E3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209524-F912-4FEE-BF4B-385A1210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861A6B-F28B-4F48-80D6-8B15065B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2D4845-217B-4647-944B-F1CC551A1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93EA73-3463-4D96-AFDA-0CBDAC55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E4D1A8-9F82-4AA7-8DC0-23EC28562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2C1012-8F26-4C0F-82B1-2BEE7825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FA579B-3F2E-428E-A8FF-1842174D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60FB34-942A-4299-B486-4958E92B6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43757B-94F8-4603-BA07-1E0070D21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74,8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6ACF06-637F-4525-A4DF-B39B36401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9075C3-F7FB-4E47-BE27-B3312ED8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E1736B-B2A4-4BE3-AB45-43B5CDA60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54,4%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1271FC-EF62-4DBD-AAE2-686851D80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63,3%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510FF6-D87B-4731-BE26-B9F1E673E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C280A2-2679-4328-87F4-50310064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111190-CD5E-4D75-AA0C-DF92DB40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DC1195-DF6C-4244-9EF5-0606E615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24F016-218C-4069-90AE-E646A31F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67,7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BF2272-0BAD-4939-995E-B41DAD54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8FB8BB-B1F8-4563-BE78-F5E2C0F84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CONSIGNADOS II…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6971C0-C6D7-4370-8351-1E135AB4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11,7%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DBE570-7F53-4A6A-8E6D-538E70AE6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34,6%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9EF6C5F-5061-4D36-A30E-B2EC479A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72B430-F04F-47D9-A80C-65AE4FB9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17832D-5008-408E-9FC0-D35FE5BC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8B3417C-7EB2-445A-AAA1-244FE92F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18F7565-8690-41CC-89FB-04726788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8220258-D75B-4876-A668-8A85B731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030EEE2-9138-483C-8717-B0EFBA85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F3CCAC3-5A8A-4CFD-B455-836AE8DD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0BE997-F5DC-4490-8CEF-B3BB08626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D1A58EE-C256-4CC5-8B93-97ABC465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436DBCD-A9AC-498A-BA06-612CCAAD8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D55F981-B9BC-402D-B265-4F427BDA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1A5CE6E-89C7-4D3F-818B-FB24829A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9ADACDA-1A21-4F22-BFE7-FBB19463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39,4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71080A9-61F1-4FB3-959B-A44A1CB1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6C0EEC1-26D2-4F7C-9391-017BC2D4B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14096DD-8AB1-4E33-A24E-B7ABCB8F8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D7754E4-BCA3-49E3-ACE5-7005CB425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51,0%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DAAE14B-BE2E-4BA6-B297-97F5B875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6C11331-7B7B-413D-BE7A-DCEB1B5C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3ED6648-6A3B-4012-9BDD-DFAD3542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B0C36A8-1F92-450E-9F39-9151765B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B313DA5-F50B-4467-BCB0-D70508C6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26,7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1EDC2FA-52AF-4CA0-B9E5-F8923003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9CD4011-815A-4A90-9199-5CDA5210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40BE164-36EA-4DFB-84B9-F8138332B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25,1%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EBEFB6F-6DEE-461D-9DD5-464AAB1DE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1DEB1F8-671E-4906-A7E1-7BB2967F6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10F5223-FDFF-46B3-BAD1-641C0993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ED9A6E4-C9AB-437F-B0BA-CB5FC56C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BF0E6C4-2DEA-4827-9BB1-A05FA1BB4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C92DFDE-423D-4CA6-8603-2BC466DE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18,4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8E2558E-1F67-448A-9815-EDF432B0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311B94B-C48D-4F85-A4BE-FDB84890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B2938A9-5C3B-4E95-8AA7-AC7FDFBC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46,8%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A2A90AD-DF5A-4A88-9C82-F90C85C0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58,7%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EE5D431-0173-4BBD-B9B9-FDB4DC2B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DD1EEBD-4CF9-468E-85CF-57DC7F5E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426DE7D-4BAB-4AAE-9571-4FE50C64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765C2F9-88BC-439B-AE99-2CB318B6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2D57EB4-ADC4-44EE-BEDC-56D4DE93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287A906-5BFD-4F46-824E-499EB4BE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R$ 60,8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5CCB2DC-7089-41E4-A644-2A55906A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7A4F5D7-B11D-4624-9FDB-CE8BC71DF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7C9A78F-8164-4E05-B58C-3F651CC6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B8765C1-5153-4766-8A99-953DDE263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R$ 40,7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BA3C2E4-7730-4ED3-9038-ECE99C2D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48 fundos; TAPSO = 54,4% do PL mono.</a:t>
            </a:r>
          </a:p>
        </p:txBody>
      </p:sp>
    </p:spTree>
    <p:extLst>
      <p:ext uri="{BB962C8B-B14F-4D97-AF65-F5344CB8AC3E}">
        <p14:creationId xmlns:p14="http://schemas.microsoft.com/office/powerpoint/2010/main" val="31646332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DB6B94B-CA6D-4320-AFCE-4BC12707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OFERTAS, CAPTAÇÃO E ORIGINAÇÃO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D1DF99-A83D-4392-B1EA-9D2048F5F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Ofertas somam R$ 75,1 bi até 16/jul/26, 9,0% acima de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CB95B8-4629-4EAC-9D82-E3D87C89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DF1239-A65D-4721-AA8E-9ABBE3951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F0D8A6-AA22-45ED-820B-52491C95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Públicas. Comparação YTD até 16/jul/26 em 2024–2026; PL do restante do deck em 31 de maio de 2026.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3AFCBC-61F6-40B9-BBBD-D9D9A804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36E5A1-EF07-48C3-B37A-648FB77D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NO MESMO PERÍODO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A09BA7-3A93-4F0A-95F1-5A07C3D13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6858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6014c917e5e4a1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ACE98D-CC29-4EDC-9736-C7F9BAD4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593 ofertas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44D2B1-75E7-43C7-906E-B97AC151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862 ofertas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63647C-42BE-4E70-91C6-3485D8C2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868 ofertas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A3731E-CB72-4376-8E73-FAFC13A96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428750"/>
            <a:ext cx="3667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ORIGINADORES NOMINÁVEIS ·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20F9D0-6890-49DE-B825-C8A605CE8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95450"/>
            <a:ext cx="366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C61400-C95F-4C52-A0F6-E59F6BAB1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6215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5BDA4F-5749-4CB3-97EA-50F9B8A5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196215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R$ 5,50 bi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EA43FE-A77F-470F-B8C5-FCE22A34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447925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C76B11-DEC7-424D-904F-52373C9EF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05075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BV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ECFD9F-66D3-4110-BC50-C19ADB1A5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2505075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R$ 3,35 bi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76F300-F36E-4E6C-BAE9-2B99BC49B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990850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43F462-376F-43A7-A08C-F1C31E88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04800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Agibank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4492A8-63F5-41A0-B659-CD68E20FA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304800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R$ 2,50 bi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1FB455-E9EB-428B-82C1-AB3EF57CA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33775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7E2C08-7457-4402-B1B2-6D3C7E417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90925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Volkswagen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368D60-D4C0-4297-87CD-955748C02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3590925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R$ 2,00 bi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D5C93F-0BAC-4B9D-8962-9026250A0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076700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8C6692-B4FC-4843-BF1C-4630968D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13385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Solfácil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5D5D13-4FE7-424F-AED2-F60E6D46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413385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R$ 1,51 bi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F65AC0-2257-408B-98B7-7907AAE2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953000"/>
            <a:ext cx="3667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32,7%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20FAC8-F49E-4388-BDEB-2BB44512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72100"/>
            <a:ext cx="36671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volume tem originador nominal identificado; não há base para chamar a originação de pulverizada.</a:t>
            </a:r>
          </a:p>
        </p:txBody>
      </p:sp>
    </p:spTree>
    <p:extLst>
      <p:ext uri="{BB962C8B-B14F-4D97-AF65-F5344CB8AC3E}">
        <p14:creationId xmlns:p14="http://schemas.microsoft.com/office/powerpoint/2010/main" val="157192590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446B3B7-AA5F-48F3-AD02-264DCAFF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81115C-9954-4070-992A-B1DDCCDE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9CB289-0569-4EBF-9361-25FFD2F6E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D22106-D15C-411C-BAB1-B025B072A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5E1F5D-5C02-4C96-AE73-483AF40A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Fontes primárias: CVM, ANBIMA Data e FundosNet. Dados consultados até 16/jul/26.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24FDD4-D780-4A01-8D8D-5D956339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691854-E150-402C-BBFC-68B9514B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6718DA-E1BE-44B5-8A04-C7F6EBA4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180CA1-8887-45D2-A623-BC386B1A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48B9E3-384C-416E-8775-46CDF6BC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6C5A0D-029F-4984-9B72-8B465FAE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C5D84A-FAB4-4596-9F15-F592B432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A5E3D2-B3F2-4AC9-B194-C85C4BB7B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76FBFB-CF36-4BCB-A5AE-0E42C84FE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4.222 fundos; 31 de maio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8917B7-2F70-4E71-9F35-AF32F819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3E224C-3938-4B37-9474-0DF933C97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AD1332-C100-4615-90F8-E1BE4731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769B72-9B16-4507-95CA-7E617695C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99EA3A-3D04-42FD-B8B3-C271804C1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91,55% oficial; 0,64% evidência; 5,87% proxy; 1,94%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3F1A51-2F62-4A39-805A-81E48C66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89A2BD-7F4B-4457-B676-379E7A95C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78C58B-6D87-466A-9921-8D98B4BF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BB57BF-DB7F-469B-BBD4-7B92211D5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1A82EA-07B7-40D9-A02E-79D55F5A6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79B4D3-0F4C-4811-A159-918329624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não é zero. Aging &gt;360 existe na norma, mas não reconcilia com a Tabela I; visão ex-360 bloqueada.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F99E92-0335-415C-BD56-0F87EECD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4FCE73-827C-4E06-80ED-7A3425A49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7B91CA-8A1C-4202-8AB8-80AACDC32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C69775-008E-48EB-9F2F-C8026014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mai/26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E89C21-275F-43F2-8EB4-50524F1C6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5B8A57-5F67-4929-A9DA-87D6722E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4675E6-3ECB-4CEA-9534-964CA6330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BF1D4D-C90A-4F18-BEEE-6E4D0B74A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7924AB-16F6-47A8-8E78-91EA2F4BE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4.222 fundos; mai/26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814EABD-2985-43CA-BCDD-E6D35252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909461F-AED7-45C1-9142-6F0B3883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3A2656-112F-4604-B7AD-A010D2F8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0FB667F-7C0F-4EB8-81CC-D932E5BD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D4BC8C2-DAC3-4ED6-BEB1-8941A512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Registros até 16/jul/26 em 2024–2026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83807D8-5668-4EE3-8E36-F7A777CE8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Comparação YTD contra mesmo período. Anúncio ou aprovação não equivale a volume integralizado.</a:t>
            </a:r>
          </a:p>
        </p:txBody>
      </p:sp>
    </p:spTree>
    <p:extLst>
      <p:ext uri="{BB962C8B-B14F-4D97-AF65-F5344CB8AC3E}">
        <p14:creationId xmlns:p14="http://schemas.microsoft.com/office/powerpoint/2010/main" val="69448340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13D051-9884-479D-B354-1980E7D1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94FA98-07F0-45C3-8558-C007C440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0EA9BE-99D7-4D24-8B10-1A3CCC826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13EF22-A74B-4724-9D47-F896DF34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AB9778-15AF-4D28-990F-BBF5D635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C7D839-6E81-420D-9641-861C430E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7ab1eda77aa428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2EE615-205C-47C3-9BCF-8FCB0334E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25C842-2D12-47D4-BCF6-CDF12CD4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1734013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762C02-D1F4-405F-8812-2CF1D4A6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0EEEA5-DC01-4C41-AEF6-BAF0FB6AD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A9D766-4B79-4444-8892-E8CEEC9D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CE8AC6-D3AB-4FA6-99F6-6A8FC9D2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C7BCDB-478B-463B-94B8-662306423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8F4A81-B5CE-49E8-8510-9D224BAEE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5510a024595477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B5FCCB-72AD-40BC-BBA3-ED8FC70C8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2D5A01-1271-45AC-9014-EA454CAF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25159226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E65924-1FAE-4128-A7C2-AF7C44EB8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6CFF23-8989-426F-B563-918E0F74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DD5977-5A3D-4872-8026-93B3BD9D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B9454C-7210-4441-9218-978F3E54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97D348-1D83-436E-A9B2-78F08E632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05FD08-FE34-473D-983C-08C32804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c5fdf26b577428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D2A25-A732-4F49-A125-2D513966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F0BEAC-2637-42DA-8346-B89E6F44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110106025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7132DE-611A-4D03-8BA0-FB02401B6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4E7699-1040-44CD-A348-AEA0280FB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R$ 60,8 bi e 6,9%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B35956-C26C-4450-A2C5-557620FE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068A78-BA96-46EB-A11D-202FCAB8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C02EFE-6F3F-4E8A-A7E9-57887E882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C80EF6-1C37-4105-8E6F-B4CDBC0C9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035925-4175-4604-B9AC-B73C41648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023B6E-DF88-41A8-B2C5-44C25868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5DC828-CA07-40F2-9094-54F57C809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8AD2B6-DC67-47DA-817C-C4781191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9D4712-97DE-4D38-A8CE-1717D0C3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3ACE08-C240-438A-8A3E-E9014376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CA685E-53F1-4DBE-B589-1A4F752D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29AB43-6D3E-4A0F-BF49-A9E40767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6B55A5-21E3-4185-9F55-14CACA9CA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B89997-2566-40DD-9C76-4B28B1616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C9469B-D958-4E4F-AB5E-F0A7491E5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E723D2-A08F-4567-9C97-4D9077205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95BE74-E9B2-4091-A5F8-B78B56018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013133-1DC8-43AB-AAEE-75CB82B95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581AB8-BAF8-46B3-AED2-2AEB9B0D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BD3B6C-A850-4DBC-92B9-42ED7444E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1A1346-F1A0-49C0-A230-7A343E7E8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7F4B7E-2F6C-43A4-BD04-ED786A26F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302533-5A58-488E-8F48-2B2BB928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C8FCF0-D83F-4FAC-A117-DC1017AD7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3AFE1F-29EB-499F-ABEC-D2E50025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2C27BE-363D-47A4-9FC0-B85E6171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89A2B2-C05B-4E55-ACB8-6A00E3A6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65864738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98F85D-0570-4239-9E1B-26224183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865783-898C-48B3-9CDB-661A04F20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R$ 40,7 bi e 4,6%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6A662B-C5EE-488C-9839-EBD922D6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FCD133-BCFB-41BA-9DA6-E62D4AF5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B1BDB2-1FB9-41D9-AF7B-C11FF085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98CF4C-C2AE-44F8-BF83-1EF231C1C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A415F4-1004-413C-B11F-7C4AC980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20E98-8BBE-4B9D-B7BC-79DA3925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BDE979-7BAA-436F-9B92-63231DE0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E8CC6E-D626-4C34-8C5A-C681E372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F81113-F061-47BD-86FA-D22841925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DA1292-039D-4C16-BA6C-FAC986D4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4C07D2-7902-438B-8392-42879E0E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035793-36B4-4737-A056-7EC2D21C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EAFBE3-69AC-4C44-882E-3303E1F3C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29EDE0-A5BA-4BE8-BD19-3D9EC941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1BD5C0-AEC2-49F4-8C36-7D68E997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BD218D-61C0-40DF-9F04-F6F9B9D0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FFDF1B-4878-45E4-ACFF-1FA87909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8D0950-31C5-4AD8-9584-FA34B1C9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520EBF-2581-44FB-A2B5-3C711E148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769878-C633-4822-A9B9-05BC0731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9C61C6-D399-414C-AA98-2EE08169D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06E871-224C-482F-9DDE-D6A528E6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8676A1-332B-4822-AAF5-03B5DD504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D3AE85-43B5-4950-BC72-034A95FCD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3AA762-ACF0-4395-B06A-77BA89524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FC5587-9D38-4E4B-8205-6213C5DC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D9036F-C3D8-475F-80F5-CCCCDC4A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210885676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270104-8607-4DF9-95CF-7B428D29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27BEAD-2CEC-4149-A3FC-44376913A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3C2EE4-6A3E-4C40-B06E-9556C9C8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B662E2-623C-4136-964F-3ACB2C01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6DA2D4-011D-4CB0-BB6A-F26C1419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1BB113-4EF7-4423-B998-CC5FA55E9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2C3F58-CC39-4F7F-804A-A7CBACCE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382965-8886-49D8-91ED-71839F890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114AC9-3044-479F-8AEF-8FC7A50A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568A26-185B-44A0-B835-82344166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93CE03-8252-425A-90C3-FBF1A9A4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0C9E06-7327-43A0-BAFF-9B712952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94AACB-5817-4E25-A6D8-A03E955A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F1D310-8613-4B46-9669-D47AC516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A5D1EC-CE45-407C-8DC6-792F25DB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F00DC8-F547-444D-BAF1-8FFC3280D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6DB5E5-51BC-449D-B80E-FCE52615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AAA628-3292-41E5-ABF6-79EE9508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F316FF-03FC-4C8D-BF5C-3B280585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04548F-C381-41AA-9051-929475734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F9BF4C-F7FC-4E8F-8B6C-3DF8FDE8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20FA0A-4FF3-467D-9887-C57E30AB1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AD859B-9EF3-4E87-A253-F2762BDA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16F5CF-49DC-4A1E-B089-CABA39DE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C6B7F4-F4D8-4B0A-891B-F65ACA8E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B3CF89-086C-494B-8C24-3EA14E1A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7A7E2D-972B-4CEC-B374-C61B96E6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9995A8-AF31-4B3D-A7E1-661B35643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B32C68-53B0-45FA-9941-104D4943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6409884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3D4BDF-D577-460B-940B-C6AA3B5F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4284AE-AD5B-4647-B453-46B7CF06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Itaú Crédito Privado — R$ 8,6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AE9732-345F-409B-918F-2496F7AE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CD0133-DBFE-464F-8392-C7D318021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EC206E-F923-4831-AE71-153B1B87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6698E9-0D1F-4409-963D-C5479BEA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7C5E7D-3891-4D27-9FEC-57D5036C5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CC5E65-9C65-40E6-8305-443B85E2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9B895F-8B49-44C2-B9E6-183C5C52D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146826-9475-47D5-BD8B-CF1634AE5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8A83EE-B93C-42AA-B61B-2056FD5B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A73E48-F24C-4683-A08D-46F482EF4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4AC3A0-E413-48B1-9757-808BA0FA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0CC4C4-CEF8-4932-8FDE-2DCCC315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D31D8F-6A8D-4DF4-AAB5-CF6210B90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A25493-32BC-4524-AEE0-CF6D29A3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9A4118-39A2-4E87-91D5-D5ED42B1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58C5D9-6D5A-475C-AB92-C23A061F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AA133A-5A9D-4796-941A-104D5A037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151CB8-CC2C-4264-8BA4-71410377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1075A8-3474-45F0-B096-B3CD46E6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BEC29F-8A21-4934-988D-95366EA8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3C5CA5-1856-4040-A3A0-DF54B8CB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3BD38C-3315-4D03-B829-0EEE06B4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A357FD-F17A-4186-BF19-13FADAF2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9EEC15-5315-4B98-A118-D2B4EBA87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A0BD11-A358-45DC-BA96-B25EC123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48855E-F2F6-4D7D-803E-DF139F76D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99D972-9EE4-4CC3-95B9-72BEF08F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67515870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DE0CC2-E21E-4C87-B224-BBC850000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3942DC-2EE8-43FF-86ED-C11500F2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Esperanza — R$ 8,4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CBE4D9-2009-4423-B2EE-FEE8E0B0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D34EC5-D6D5-4D55-B044-BAF17201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15904-64D8-4B64-94C0-FD3AA7DE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https://fnet.bmfbovespa.com.br/fnet/publico/abrirGerenciadorDocumentosCVM?cnpjFundo=53263761000100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D40B54-6F0B-42E9-8771-1D734542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FEE550-1BB6-49BF-A763-F2AC32C70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53.263.761/0001-00 · ESPERANZA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1E20AD-EDEC-4174-B5CF-5903D91A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126AD4-F150-4145-ADE3-F944BE4B9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29F259-2035-40AD-BB76-FBFAC412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B910DB-B6F7-42F7-99C4-16CBA8C43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443428-D5BF-4AD0-958D-69F480B1C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38B8CE-5E80-4241-8DC8-EB43D927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União, estados, municípios, autarquias, fundações e demais devedores de créditos vencidos ou litigiosos, conforme o direito adquirido.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4377C5-D1F8-458F-81ED-B55B4CA1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43A4F7-6EEA-4870-88EC-3E7C7609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em litígio, penhorados ou dados em garantia; direitos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B228E2-5FE7-424F-AECD-B6CE2C3C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CD570A-C029-4693-BAAF-4B3AC00F9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gestor seleciona direitos judiciais/NPL e outros créditos não padronizados. O regulamento permite aquisição com ou sem coobrigação do cedente.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8219C1-7099-4D4F-BC46-59902248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B0DCB2-81BF-4664-ABED-7D18783B9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66BC87-283E-4767-9687-2F38B023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1D866D-7F41-45C4-83F9-16CFB6038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C190B4-8ACA-46B7-B6B4-D7CA5CF6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61A027-1567-4640-BB68-75E46A40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prevê subclasses e apêndice de cotas subordinadas; eventual índice deve constar do apêndice/suplemento e não foi identificado com segurança. Garantias: Podem existir no direito adquirido; não há garantia uniforme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FD0A1F-F363-49AD-A5A8-8E56D9FB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B4F6F1-8358-43FE-AEB0-A409ADFB2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REAG JUS GESTÃO DE ATIVOS JUDICIAIS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3509C3-5532-450B-9691-78985E5B1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07621B-9EC3-419F-BC89-629DE2BF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E4EDCC-8554-4092-AB41-4D92E86FA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D8B096-C8DE-45C5-965F-15091C06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permite carteira judicial/NPL ampla.</a:t>
            </a:r>
          </a:p>
        </p:txBody>
      </p:sp>
    </p:spTree>
    <p:extLst>
      <p:ext uri="{BB962C8B-B14F-4D97-AF65-F5344CB8AC3E}">
        <p14:creationId xmlns:p14="http://schemas.microsoft.com/office/powerpoint/2010/main" val="119035257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751618-FD9C-4DD3-98A6-B01CA76ED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329B79-333E-45F0-BF16-CE5C15C0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BTG Consignados II — R$ 7,9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67B14E-A914-44BD-9CD4-39FEF2BE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950A2E-49F6-4BE1-AE5E-CF7C2E2B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A5BF92-869F-4F60-9ED3-7709163F6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99B2FA-25AC-4C6E-9FCB-EE69AE67F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0E004D-51D0-4AF1-B4BB-A42B98FE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43CBA7-E585-47C2-9EBD-A59D973F2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CECA5B-103B-4C42-A444-33658B62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3972DF-C04E-4A1F-9C1E-920BE4F1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048AC6-7FA5-481B-97D7-CB49EC50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1779C8-8DAC-4043-8F46-B092D045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8CB165-06BC-4632-A7BA-2E7C3F06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6524A4-6C5B-4C34-A428-E72761F1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785502-1471-4FB4-8D16-46041EAC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F216AB-5509-4276-92AF-A8C628E7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7BC60C-0A49-4DF7-9D41-F57F5840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0BB2CC-A798-4488-A64F-465357CE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A02E6B-E5BC-49FE-A8F6-D8807E8C9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1DF58B-639D-41E9-B70F-A999A7DC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A91ABB-385A-45CD-8ED5-B64439C1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4CC3F0-8E27-44E0-93B1-9C83EA2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2C137B-23A3-4CCA-AB1D-BB801B58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EE97CB-71BA-4789-A0D4-1E95C526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F0034B-BC29-4A74-A72F-759C053A0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9EB183-0335-4A7E-8F31-5DCE6953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077B3C-6A8E-4E66-BE73-08FD6A8D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DCABD9-D99B-4181-8D0C-8824E9A84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022932-F211-42DF-8EC8-2BC94BA3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77981543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F155D5-69C8-4E1A-BE19-A69519AB5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9267BE-228F-4A11-9BBC-B00F89DB9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MT Global · Consignado Privado — R$ 7,8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003DA5-37F5-45BB-B0BB-253B8F2D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F21CC4-F6F2-483B-BD78-DBABD036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1B41B2-9A6A-4D54-9E05-ACCBA372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EC7E45-781E-44A3-B1A9-EE0FE5992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BE30BF-5CCE-44B5-9BA9-65BA5713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FE251F-BA9E-49D9-9ACD-75FC2BA7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E8086E-FBB8-4B21-BDD3-5D1B6889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98E348-2EAE-4A1F-B15D-BDDD7B2E2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8573EB-8E53-4240-91FB-7CC017E44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49437F-1AB6-4A6C-BE79-044390CBE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8719DC-8942-4ACD-87B9-C428BEA7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E6D9C3-0F41-4584-A9C2-4D72DF78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FAF1D2-EA76-4CCE-A44B-08AE7A297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786AE6-4907-4AC8-B133-88B747BD9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0C97B7-483D-4577-9045-012C4159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7F917E-B139-44A9-B5F0-D17DE10A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99D4DF-E315-4175-AB9D-3278C3C7C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7E627F-EEE5-4806-954E-B5477F55F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B4F84B-BE0E-45A0-BCE9-7770D43B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DDD5F3-99EE-4FB1-8028-464B99AF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9ADCAA-B53E-404B-94BC-6A78245D9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A7A36B-75BA-4843-89CE-2C9B8A96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81D2D8-9BEC-4C54-8595-E9F2A2A2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413DD3-2A92-4246-82DD-FFFB679F1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47663B-83DC-432B-9238-C6E6339F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ED337C-A1DD-4FDD-8195-E1FF5E3C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80FEFB-F595-4190-8A32-828F21B5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61476916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48AD76-4759-494F-B693-830D201C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8A7F28-FCC4-46DF-9F3A-974B273E9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PAN Auto — R$ 7,7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476D3D-17C8-468E-AA58-FBB885041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F28F17-1AEC-4570-8325-8524A5BB2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367889-A3C4-42A4-83ED-2A739743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21C893-A83F-4953-8676-E8C9ABE6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158451-ED81-4A77-A9B7-8F9B71B5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ABDF20-61F9-4BD3-AAF0-F8FD3E51F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0668C8-AD6F-4D60-BE75-53A8EA89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1B13C2-C170-45FF-B44D-7314203A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D4307A-52E5-460C-BB09-19DCE32F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B89054-E009-4273-B705-7C6C9B106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766DF9-2C6E-4045-B2C8-C16ED2562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8F4D15-5C74-4DAB-9C01-6917DCBC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0F932D-33CB-4432-BC92-B6075A59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DE7A8C-A819-40D8-8BE9-3D43770B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5EBD2C-E8DB-4BDE-8FE6-58358895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04B898-507C-4C6F-AA94-19DE701CD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364A48-A78C-4CC9-B34F-F5E1AFE8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5494DF-4A64-46A8-8B9E-3FF72BEFD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3BF17D-5442-4245-929C-E1D477B6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4BEF36-E3A5-45A6-95A0-3004DD4F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A9A7F0-5AC3-4686-9CEF-BF1DF8E7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637CA9-063B-4799-9507-3A052587B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01CF1D-7DEF-4D05-BD23-7976B96E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FCCA49-1D2A-4153-98F7-588DA108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5AA320-4B14-45B0-9A90-77934005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00074F-D145-4E26-98C2-C0B12561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3C5345-DCC3-4139-AF3B-E5791F3A6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634434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FAF893-9B74-4714-BAF6-D7A0BEBEC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20C7B9-C970-46D1-857D-8A90BA663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EC1178-EB69-4373-97D7-62465C0F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DDB7D1-5881-4F08-90DB-DCF0F50D4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15592C-56F3-4789-95B3-99F481AB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CD35ED-481A-4B11-9C15-265BF7B4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1C8FDD-D9CE-45AE-AF9B-CC4424976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DF6CFA-9895-407B-A3D7-296E836A8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6404BD-FFA8-4310-A549-241077E19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DDAD48-A3D8-4F20-91E0-881AA9AD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F30058-377D-49AD-98C7-6F85D713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8531BD-7AFE-4808-A07C-77FE0A1D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3E0BF3-7C40-46CF-90A6-5B5C3952E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00434E-A701-4E5D-AC01-075345D6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700296-E8C9-487F-9D26-BC785C31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5B2F2B-A44D-44F7-A7F5-F1F3D3D6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5F1855-9DE5-4E5E-B84B-03C012CC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A6DD96-986B-48D8-8DF5-D46D6ECE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95ABD8-8DCC-4987-A176-16770E53E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0069C5-D363-4367-AB7F-FE9CFF99D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62AA56-B5A9-44B3-AE09-500089CB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E939BA-A344-4746-BD18-45BDFBCD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07D37A-BE25-4A3E-9045-64F303230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598C9D-5051-4C7E-B814-1E493671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C210D5-DF20-4DB2-8AC8-0CE2593D6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1370E9-669C-4D11-891B-6FB897AC2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BFF79D-B740-4C64-8F0F-85AA3C6F3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C0764E-71B4-43C9-A4DF-81CCFDC8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8FD51E-A0E8-45CB-862C-660E2A7C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763366298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828979-BEEE-4C73-9A22-B63DA33E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02BBDD-7AA7-480D-BE3A-88E1504A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PagSeguro I — R$ 6,7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985CA9-B8EC-4DA8-8E8D-EED27BDB2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2F832-0CAB-4F43-BD6A-80E33E97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25FAD1-732C-481F-96CA-C6794B2D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C23956-8298-444F-94D9-0CDEE7AF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BE5B28-4AD5-448C-9C35-C186CAD7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B8DA68-3C7F-4623-9297-26069F4F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B0A660-A789-4013-B302-E12C2BFC5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AF4C74-01C8-4814-8C74-159B2881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DB59C9-090D-4A94-9D08-5478D8EB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6CAC24-A56C-46EE-9B3C-EE6C056E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DD27BC-3668-4271-BC50-742FEE83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552294-F43C-465D-8554-F6EF30F3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223300-6269-4AA8-B3FD-96801888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64ADBB-69F2-479F-AAA3-97B6171E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EA9C88-A63F-45FA-A576-6D41F127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67E03B-40F9-4993-B231-24DD521A6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431F07-2779-490D-9A87-DA38C6246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062620-946F-43FF-9B2D-944BC21E3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AD3163-9C9C-4E18-BBC2-E5745B8C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49E6CB-B3D5-441A-B445-69B34B39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3BB1CA-0271-4A2D-BAF4-25AAB25A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380B3F-4FF5-4E3C-8E64-5BF693E9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FAED74-D5EF-436B-9710-928AC9F8F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561697-6A1E-441F-B7F0-98DE89D5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CA8455-4757-4997-8975-84927323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4852DD-C9EF-4AAA-8989-8A700D3E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500868-9DA8-4196-A719-4E42B166E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424839648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AFFF5D-0C69-4EC6-8E28-EAE0E61B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DCD6FE-EA3A-4924-844C-DABB4929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B42307-BB43-4181-8EE1-BF60D3A5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E34586-E772-4BBE-B607-BEB84E179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A3BF46-B6BB-4D65-9837-EF0E7B1AF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5FC52A-DD35-4B9D-A3D7-01C2FA4AB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2A0424-06FD-4D9B-AB14-AA20B15B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01EF46-1B74-40EC-8897-38A3EDB1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43E056-27E5-4194-9C89-AEB575B1A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775600-E5D1-47AB-816C-E36BFEE9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86AEF4-A2A5-44A7-BDFC-A6913370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54EB18-B904-4162-A088-EC933A1D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57EC15-5B97-4A2F-B248-843BF281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A35547-BAEE-4A12-AC13-44701C28B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9DCDAF-0AAA-46BD-B5AA-AC6F929B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78356B-48EF-4B37-8604-0C6CE9BB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81332D-B040-466C-99FC-3CE76710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27DDFD-578E-4FA3-85DA-AE93C6D3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7D1D4B-E4CE-4D97-BF9C-97CAD65B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AB6522-6758-4497-8995-7A1F04C4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AD9972-7AAA-4D8E-870B-EF30A4123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111EB3-4CA5-408E-A601-C986947E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A0F70D-A8A7-4AB1-B39D-A3C4BB8C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155E09-6DA2-498C-A06E-650FAE855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599CF7-66B1-4A0E-80D6-5841F039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C72D1C-D5AD-4097-8291-4AC635B7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414E8C-B8AA-442B-B06D-AB8B157E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C92E7E-3979-4EF2-ABEC-5F535E80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7DAEB6-2649-4C54-89A6-94913CBC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76234040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CF1B73-8319-4A1E-8BE5-0BF817DD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2E8D0A-BDA8-4BB0-9A4C-0C6A0B27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87D524-6BBA-493E-BA77-40153B1E3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EEEA85-9871-408F-B3DA-E5C3616D4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A97F50-27EE-4600-A415-24381121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E6268B-9F0A-41D7-BD38-E2388F5E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66D999-44B5-4FBC-B85F-F74BEA44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3CDADC-981C-4C70-9AF0-73C59F85B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C62535-4C7C-495C-96D1-B86868E5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329324-1E7C-4229-BD5D-7E4CD651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FCE77B-BC08-4076-9A5B-6620CFF4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6742EE-18F9-49C9-8B30-CD245DB4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7EE0A0-7F6D-4894-B2B2-8D37ECC0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DC791C-C4F1-45DA-95C5-6601CD76B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C6AFA-13FF-44C0-AC70-500C390E2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EA9588-D715-430E-A161-E7BD2D53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502BCF-D6A6-4862-A504-31931F9F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D3868B-CD84-4A9D-9FC6-F52C75BE0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245A38-A1C1-493E-9D7F-284BE18C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99B82C-7A51-4B9D-B985-CF790AB0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5915F6-CC72-4AF8-9150-80FDC2163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580219-8E13-4E5B-AF4F-9DC914AB4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567910-ACD7-4FFB-B0BD-35608F45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2EC2D5-9473-4D3C-A8A2-8088BE4D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14794B-BF14-412C-A1FD-6D6EDBC1B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DE327B-CD7C-4BAD-B01F-3C33E2B1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A1527A-149A-4DE9-9016-31A7D7C4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357BD1-F19C-4F83-A792-04077C1F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574670C-6A94-4889-944F-9CA06BDC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2131332893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6D69880-A122-486A-A898-5EA8E674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98AEA9-A623-41C5-BB96-4BC13147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BTG Consignados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EF8E46-4E39-496B-84AB-595B2A716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127AAD-8257-4702-8AE7-1D4B0276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CCB767-EC9F-4808-B884-8F067D6F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4F8C5A-F06E-425C-A0B7-B3B582BC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853ED2-83FF-4811-925A-F6455EE0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701AC6-C9FA-41D5-B9E5-0814554E0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2BA7AE-D1A2-4C24-BE30-9B9DB7E8B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81E3D2-FBCE-4991-9763-7CBD6CCA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26B1AC-8EB7-4244-874D-94E77BF12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1A5E8C-3CE6-4CDA-80D9-EC85E7F1A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5EC015-6354-4434-8796-609DE9C46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00A0C9-2ED1-41BE-AC16-B82BBF43E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05B2E2-C27D-4D61-8C76-298070CF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1A3ABB-B097-4B8A-993A-06C983B4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3C7D46-C61B-4654-922D-3320F9B6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97DC2B-3DDB-4DC8-85B6-4AEFB1AC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0E5AEE-A45C-4D5F-9FEE-E7C314F2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ADBE48-294A-4A6E-9592-9E3EAA9CA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AEF79D-E8C8-4897-9186-DC11A87CF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10D103-D08B-4348-A6DB-7E8E48E3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5BE306-A3E2-4DFA-A5EB-86354E60C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428577-E78D-4E96-9539-21446CC61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75C16C-A24B-4D9E-9E35-FC16F2299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E8E9FB-3F3B-4EED-B223-437005287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3D4841-E747-452A-95BF-8B07E766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3B1FA8-B61F-4B41-B06C-403484E55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F8C18F-399E-4EB6-AD61-F437E01F5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61813655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B07975E-AB34-46D5-9433-9E815A30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757C4B-2292-468C-839A-2A48ECE6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Alternative Assets III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3CC754-1272-477B-B658-B7FE715A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C818E-E05E-4AE0-BD0E-3690639DC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D6D3E7-AA03-4A89-BFC4-472D37F6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273FA6-7A0C-4982-AB31-A28637392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F76A5D-D6D4-4DCE-ABDE-A6F5D371F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B1C1FE-216A-47D5-9DDE-CF9EA1EDA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0555BC-CB8F-47F4-9B56-AB8861EC1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EAA2A2-E053-4E62-9FC5-59304616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4E2AC2-1554-43EA-B98E-8AFEC670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C24439-77DB-469C-B650-12D64075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5C2014-5918-49A9-BAD4-B5E51D67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CF65AC-3CB8-4967-B336-C762C1B1C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186497-3188-4964-A6EF-325EFEE06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4A06C4-1B48-48ED-8FB9-A421A72C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D861F8-4058-4C9F-B289-DDC8B42A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B5B969-6D0E-4827-818B-62CDD041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008B58-A8A7-4FBB-AFBE-5D455336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3C2D1D-7FB8-4E5F-9999-DEC8BEBC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737B09-AFB5-42EE-B44A-5F992470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FC3746-52FB-45D8-A3C1-91662D512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4282F6-3550-4C2D-B7CC-978C2C58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E9ED60-E0E3-4702-B7AD-DDE777D7E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AD4B0C-F303-418E-A2AD-44582466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2A18EA-1F56-4536-9CE9-5492B120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6CF4A7-1403-489D-A0D8-616B36D8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0F16CD-36CA-4ADE-8F34-660DFE777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A3BBBF-9415-4ACC-9B1A-F6387A59D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121837104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9F9885-9F26-446F-8ED2-BC51C04D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FE9CEA-14BC-4FA7-B78F-C8BA1B1A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NC 2025 I — R$ 5,7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D3435E-26E7-4ECE-9E0E-0A8F34B8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055E85-B185-4FDF-8919-7A9AF3859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EEC922-D5C2-4445-9676-286FFA5E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https://fnet.bmfbovespa.com.br/fnet/publico/abrirGerenciadorDocumentosCVM?cnpjFundo=63700113000110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7C4DB7-0CE4-420A-9C3D-48D1DF94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DBC10B-74E9-4DEA-8229-C7DAEE81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63.700.113/0001-10 · NC 2025 I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1F2F6B-0565-43DD-AFE2-95854C1E2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A7A9F3-F57A-4FF4-A027-0C8996ABA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2BE899-403F-4A45-8170-C3082E2E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20F0D0-A73B-455E-A26C-4DCA4B93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há cedente único nomeado; o gestor pode adquirir direitos nos mercados primário e secundário.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D1313D-B962-4ECE-9625-01DC7D98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8F23F7-B7A8-4754-BD89-1F655103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Devedores/emissores dos instrumentos selecionados;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7C25BA-7D98-4BD4-BE93-A2114E09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54B916-9C55-4162-8D9F-055826FCF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permitidos pelo art. 2º, XII, do Anexo II da RCVM 175, em qualquer setor; o regulamento exclui os direitos não padronizados do inciso XIII.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CAB5BE-B156-4E1A-BE4F-CE7247AF6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1D02AF-BD25-4D89-9408-CAB100F11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concentração setorial contratual e com possibilidade de concentração em um mesmo devedor dentro das condições do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92505A-9524-430B-A08E-51CD115F2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FC3AC7-9130-4BD7-9F0E-CAED3370F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B2F4ED-C677-4243-AE23-F6654FAB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57D5C2-58D4-467F-B2F3-FCC31B8C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2025-12-09 | incorporação decorrente de cisão parcial do NC 2025 | R$ 5.300 bi | doc. 1057972; Foram incorporadas 4.953.498,00000167 cotas; não foi captação em dinheiro.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CD2D74-FA28-4F6A-A684-33C021812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671511-9ACC-4566-B2A8-242C9EA8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única; o regulamento declara que não observa índice de subordinação.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20D466-EF83-4C21-A3FD-7DD080B4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AFD7C3-3E79-4E53-8892-BC9EE9338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9B2556-7973-4E0F-800F-9857A118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81BD7F-224B-4B68-894F-7561CD576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Multicarteiras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evidencia_documental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18C00C-8381-474C-8F57-06BE8793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C5AB75-DC56-4897-A1BE-52D7995C0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Não está no snapshot ANBIMA; o regulamento declara Tipo Outros/Foco Multicarteiras Outros. Tratar como evidência documental, não cadastro oficial da fotografia.</a:t>
            </a:r>
          </a:p>
        </p:txBody>
      </p:sp>
    </p:spTree>
    <p:extLst>
      <p:ext uri="{BB962C8B-B14F-4D97-AF65-F5344CB8AC3E}">
        <p14:creationId xmlns:p14="http://schemas.microsoft.com/office/powerpoint/2010/main" val="1284687702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E06C63-2B72-487E-9F77-FEE706B2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09BE78-61CB-4B22-AF17-2EDB6C6E6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Monee I — R$ 5,0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9B27C9-3536-4D96-A974-8506CF07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1CC8F6-6E3D-423E-AD5D-2541A9B7F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2BD1D4-7086-4F0A-8AB4-16D8EAAC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A0EAE7-7588-47C6-B1C6-A6B7EE6B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3E61F3-6A92-42C0-AB41-CB8BEF49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2E4494-C9D7-416E-A4DE-7A1CA0A4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32BE4A-55C6-4193-812D-7888FDA7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52B1E6-762E-4700-9AA8-6B831349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D0BCED-BFCB-4BAB-B744-A1F3DC52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BB27D0-9FB1-489D-9744-3E4C4BCC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490ACE-8D69-41A7-BB90-24340241C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E939E6-873D-4BBE-8CE8-CFAF1C25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2E967C-D68B-454A-BF50-E45D35546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0BBC68-6B56-4D0A-AED1-A25865770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C1D32D-CE32-43F8-8DBC-13C1F7B1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D44D3A-D344-4A69-8BFE-7B4377EF9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3DB72C-39AB-440D-B908-CAE6BAF76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8F200B-868D-4C55-AA17-6F1D799A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9AF5EB-F8F8-45E3-AD4B-DD0A949F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CAB505-CF6E-4CFD-BA62-2C5CC35A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2E6AAF-7CF0-40FC-8533-FDD188BF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587808-94DF-4BA1-8519-E7B6F557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935622-6B71-48CF-9EE9-8CBB46087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A73539-1AE6-4F8E-B541-D3BCC874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75A53D-D644-42E0-834D-1B6E4649E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57C27C-0D32-4D1E-AD4F-7BA1486CE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72CDCF-6DB5-4582-8DFF-CF2007AE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466908472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FA1B9F-8FF5-488F-943C-0A501A6A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A15DF8-FA65-4334-B58E-56F25C2F8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PicPay I — R$ 4,6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A6A129-5EA0-4908-9577-8B8C34EC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2A9267-D20D-4CB3-A22A-1B8797C9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B91D17-866C-4B52-BDF5-8D78F1CB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BBBBDA-FACF-4B76-B378-B54E29FF7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0E2E38-1943-4F9D-91AD-BC33B7CB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3DEF30-0EEA-4940-95F3-4BFCF625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9A9ABA-5A86-42E7-8EB3-390E7B1E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47878E-B40F-4296-AA63-5FFF2977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E85947-5B62-4C9D-AAEC-D74F6B568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841885-8803-4184-8C89-365B3F40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837E59-3E8D-4F22-8AD6-2AAD9C2B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9BE8E1-B9DB-4DF0-BBC6-5163FD0F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F1BBC6-E6B1-4794-A7AC-393F44AE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3B93A8-A90F-462F-8CB9-852AAAE0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CC2190-EF8C-449E-B479-7A95633F0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E7A770-52D7-477D-B00A-CB633F399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0642DA-4CC3-4EDB-88E8-868389E6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440F8-8030-490E-9830-A588F64B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323F05-30EB-4816-BD92-CF8DDD96A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EEF02A-C883-4827-822B-D4B89C4C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DD73FA-979E-4A00-923A-8ECD12AA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C4326A-1C59-457E-87F0-6A55A9ADD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A0D122-F7C0-4656-A963-1246E27D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4D4951-F402-4103-8861-82BA0078F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4CB76B-BC53-4836-AC46-9CD5F906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96154A-60C0-4557-BF58-6F8BD6C5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45C6DB-1488-4AAE-B941-FF8B5398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37654875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A1F622-F70F-44E9-A941-AEF68D97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0BFCDE-4CF7-45CA-B69E-8A8AE671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Artesanal Master — R$ 4,3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47164A-DB08-4AE4-BBCA-03A4029B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0C47C5-36E3-4F23-AF67-75BCB5497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243B33-FC64-4C45-AD59-82F01918E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E3A19A-1154-4BBF-910B-ADFEB9C5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21AA9A-9654-47E9-908D-4EABA1A52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11AC7-69B3-4229-966D-0052E36CC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AF2E94-A746-4F8F-979C-44335BA9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80ACFC-DBBD-4FC4-A5FC-8871E56DF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0FB0BE-D944-4115-97C0-F517263F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FB63A3-BCD0-46FC-A5BD-32965720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0A397B-0A9B-4D20-864B-A123EAD36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98A07C-E398-4665-8FB7-ABE888F7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5A2078-0D2C-4F48-993A-5BFAD1ED4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C1517D-B1AB-4B22-960E-07F362D3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0124E8-05A1-4C59-8E27-F05DA339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A3738C-EF42-4B09-ACB1-97FF20FC8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2B1C71-F0AC-4C97-A506-F9339CFBA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D42D53-69AE-4FDD-B55F-80EF0B3E7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641FC3-6882-4978-9B92-374FC607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F9BF69-0AC5-4FF0-8215-C7B32CCD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4F5AFD-2508-4A3D-82AD-0C29C5CF3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4F966D-78BF-4135-98A6-BA946FA7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7FE40C-55A3-49B3-A392-93E28605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3B6BBF-60F1-4C61-A51E-F1EBD6B7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4DC8F2-7E55-4CE3-99F0-0E030280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036F14-8DAC-41DB-BBEE-56F5417F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FC7700-EF6F-4F85-A729-8F37AF2F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1428565663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2784BD-BAF4-4A38-B373-FBB6C441B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E3A29F-6D66-4B61-9A1F-6C7E5A91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High Tower NP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B77442-B0E0-49BF-92ED-13547512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A52D7F-5CB9-4B09-85D7-3AD27CE9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FB14B2-5C04-4860-96F9-D541ED53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https://fnet.bmfbovespa.com.br/fnet/publico/abrirGerenciadorDocumentosCVM?cnpjFundo=51152102000163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28B7B1-7ECE-4A81-A636-6682BB3F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F44130-0624-4C46-B213-666FF9AB9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51.152.102/0001-63 · HIGH TOWER FUNDO DE INVESTIMENTO EM DIREITOS CREDITÓRIOS NÃO-PADRONIZADOS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256B07-E871-488C-9476-BC89EC0E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314206-2C34-4260-8E29-99238C2D2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BB9B92-C530-4AEC-859C-ABA65DDEF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de diferentes setores, em recuperação judicial ou não;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Clientes/sacados das cedentes e demais devedores dos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Política ampla de direitos financeiros, comerciais, industriais, imobiliários, de serviços, leasing e contratos de performance futura, inclusive não padronizados. Warrants não foram listados por haver conflito interno entre itens do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compra carteiras de cedentes distintos e setores diversos, sob critérios de elegibilidade e cobrança próprios.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90CC16-DEA9-4CB9-9516-D1DC8C10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3EEEEF-92D8-48E9-9247-97F356AEC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FBF2C7-92AA-42C3-B195-385EC7B1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2023-06-22 | lançamento da primeira oferta | R$ 0.100 bi | doc. 487085; Valor máximo; distribuição parcial permitida e colocação integral não comprovada.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subordinação mínima de 5% do PL após emissão de cotas sênior. Garantias: Variam por direito; não há garantia uniforme identificada.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422C79-E431-48AC-9012-9868C05FE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0714C0-30F4-4139-92BD-C727EF4F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Outros, com direitos não padronizados amplos. Ata de 06/05/2026 identifica cotista único e administradora em liquidação extrajudicial; reconciliar a denominação dos prestadores com o cadastro CVM.</a:t>
            </a:r>
          </a:p>
        </p:txBody>
      </p:sp>
    </p:spTree>
    <p:extLst>
      <p:ext uri="{BB962C8B-B14F-4D97-AF65-F5344CB8AC3E}">
        <p14:creationId xmlns:p14="http://schemas.microsoft.com/office/powerpoint/2010/main" val="16582786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A5266B-B5C8-4897-83CF-CF687B160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6360AE-BF8E-43DF-AEB3-480B9EC48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Day Maxx 2 — R$ 3,9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6FBBCA-4935-4997-9AE6-508879D4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74887-2FDC-4A70-92AA-24BC9834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A498D9-559E-4588-B193-84708EE73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92AE2B-150A-46AB-A1BA-F3402CE0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3F397E-F63D-4E85-BA27-F82BEE09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B93700-2CF4-40AE-9159-47E0CC7B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883126-0066-448F-A6C2-19F11480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775916-7F92-41AD-AFEF-72F18AC2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81B7B1-62C7-449D-957D-F16A2BFB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7D078C-1085-4775-85E4-68D7D45B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4D9235-FDDD-42D1-AAC1-CA111084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3B1E67-52A6-499D-B4E8-85AE367A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3420A7-2964-4FAF-95E5-E9B8AD690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3B2567-761D-44D2-9F81-FB77DAD8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228DAF-4CCD-4CA4-935A-D5A1A7AED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F42689-0A16-40FC-8FDB-D68A5168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E62318-7954-4A5C-9FF0-6C5C960D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554890-08E1-42DB-8EE5-DA015053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D09DBC-8054-49B9-84A6-AB57D2504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1CF1BC-F00A-41BB-B1BF-1A6331AD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C91038-065C-4FA3-9EBF-80860F25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CB43B7-FE19-4F44-AAD9-D195D1CDA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D28D19-CAC5-4E53-AC50-B4BB69D0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08E3DB-0C82-4930-959E-1D1E4FFFF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A9AF90-E147-428A-814D-E32212AF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83D191-4437-43EC-A00D-6B20FCDC7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A46877-7E74-4D4B-B178-4E966851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24957572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24D1F87-0785-491B-A5B9-9EDBD3E53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7A75E6-7FA0-47E6-979B-23A8ADBA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0E7C3D-0D85-40C2-A805-9C2E9AF03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E16F9A-7238-42C5-9C19-704852744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291BD3-BDE6-4212-BB6C-C05FB4454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FFFDCB-9883-41A6-8297-5EEFFC61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F7D8C1-2B9F-46A7-82D3-2EC43058E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18FF9B-BC1C-45EB-9EBC-51D3D301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9E2938-5EA7-45C6-BC29-1E628B88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D7424-BDAD-449B-B9E0-F3B62FFC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8DCBEB-E5F1-4A26-8800-4DD268FA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C0A938-0ECB-4E33-BD4B-C502B668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E066AD-A68C-413E-9789-7D527C053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167B41-E3A9-4E1A-A339-7D2DD576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MAI/26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1BB57B-649E-432B-BBE6-8C0EC14CC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042510-0DED-4EC8-863C-74E7D43D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81BC36-B5D9-4684-B4EA-DD0BE3C29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R$ 142,2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6FAFAB-B585-4EF3-A151-394ECB60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CD10F0-2C6B-4BF5-83C1-9DC17A8ED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8E6ED4-4129-4AE9-82F1-DC246EFA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R$ 155,0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7B77A3-0DB3-454E-9CDD-8CA937FCD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356603-86CE-4F3C-81F0-B2D217CE7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049555-1DA3-46C0-BC4D-F127EA73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R$ 153,9 mi · 99,3%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E3B54A-B451-45C3-9CF8-065B1FEB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06F110-6496-4CE6-BC38-EC946841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28EF2E-7BBE-469C-8214-5DD85F0B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R$ 153,9 mi · 99,95%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D2683B-4D4F-413C-BA85-C327320E9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5BB0C3-7D77-45EE-83AC-373F1D25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CC693D-664B-479C-A174-B10C569A3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855824-AA54-4DA5-872F-2FCFD0E4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222C34-C193-4597-809F-254D8D72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FD33FC-8B64-4FF3-A200-6FA4D687F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F2FA2B-A77D-497C-9548-6B8458CE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35AE36-5BEA-4E3F-90B6-E5D21D89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288A008-AAEE-47E4-A2FC-B5C2B047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36CB55E-C28E-4857-A7F7-AFF3C5D8E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E1117ED-18EF-494A-ADA5-C5BA9EDB9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D4715A2-A11C-44E3-8326-8B5E9F50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A9FB64-1793-4C7D-89C2-538CCFC1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5D807B-B83B-489E-AAC6-EB09BBA4C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1C7B725-0FC6-4085-919B-81DFC2AE3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22EDBC8-0FFC-442E-B8C2-F512CFE9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0C6B820-9FC7-4CBD-AB07-4B3116165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89982C0-971E-40C2-9E9E-7178A723D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1B8A08-CBDB-4116-BA28-F8821D9C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EED84F1-37CE-4CB4-BB52-5CB95EDC3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BBD4C06-FB03-4B80-9B1B-F7247954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CCCEFBF-1303-4A48-82A4-0D60EC48C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13867EA-2597-40D8-82A1-AA3284E2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EE8232F-0E02-49F3-A83F-DFB1863E0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9E6F7F6-71B3-4908-B7CE-E029CD5FD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C804430-AA13-4920-8DD4-7511FA8B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29026FE-5A70-4B3C-A211-2054E4EA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80C9263-B426-4A0D-9B5F-2889CF3E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queda de R$ 16,6 bi no bruto não foi recuperação em caixa: coincide com troca de administrador e mudança de apresentação/mensuração. As DFs registram opinião modificada para 01/01–19/07/24 por inconsistências de lastro e posição. A série não é like-for-like; a subclasse atual também diverge entre DFs e informe mensal.</a:t>
            </a:r>
          </a:p>
        </p:txBody>
      </p:sp>
    </p:spTree>
    <p:extLst>
      <p:ext uri="{BB962C8B-B14F-4D97-AF65-F5344CB8AC3E}">
        <p14:creationId xmlns:p14="http://schemas.microsoft.com/office/powerpoint/2010/main" val="1879995750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2026-07-17T22:47:40.8840000Z</dcterms:created>
  <dcterms:modified xsi:type="dcterms:W3CDTF">2026-07-17T22:47:40.8840000Z</dcterms:modified>
</coreProperties>
</file>