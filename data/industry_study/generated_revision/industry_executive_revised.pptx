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beaca176b34d54" /><Relationship Type="http://schemas.openxmlformats.org/officeDocument/2006/relationships/extended-properties" Target="/docProps/app.xml" Id="R9c70b8ca912a4567" /><Relationship Type="http://schemas.openxmlformats.org/officeDocument/2006/relationships/officeDocument" Target="/ppt/presentation.xml" Id="R1cdeb3b18a8f49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f5cb2de11945bd"/>
  </p:sldMasterIdLst>
  <p:notesMasterIdLst>
    <p:notesMasterId xmlns:r="http://schemas.openxmlformats.org/officeDocument/2006/relationships" r:id="Ra89e49cf07504ede"/>
  </p:notesMasterIdLst>
  <p:sldIdLst>
    <p:sldId xmlns:r="http://schemas.openxmlformats.org/officeDocument/2006/relationships" id="256" r:id="R3cccf7fac3324ede"/>
    <p:sldId xmlns:r="http://schemas.openxmlformats.org/officeDocument/2006/relationships" id="257" r:id="Rf49529c46cfe43d1"/>
    <p:sldId xmlns:r="http://schemas.openxmlformats.org/officeDocument/2006/relationships" id="258" r:id="R012e5218ddad4f35"/>
    <p:sldId xmlns:r="http://schemas.openxmlformats.org/officeDocument/2006/relationships" id="259" r:id="Rbb78aa0b060b43f1"/>
    <p:sldId xmlns:r="http://schemas.openxmlformats.org/officeDocument/2006/relationships" id="260" r:id="R1630c37ead164209"/>
    <p:sldId xmlns:r="http://schemas.openxmlformats.org/officeDocument/2006/relationships" id="261" r:id="R3be7a88fe5194d86"/>
    <p:sldId xmlns:r="http://schemas.openxmlformats.org/officeDocument/2006/relationships" id="262" r:id="R8ff7289ce62d4bea"/>
    <p:sldId xmlns:r="http://schemas.openxmlformats.org/officeDocument/2006/relationships" id="263" r:id="Reafa510be39446d6"/>
    <p:sldId xmlns:r="http://schemas.openxmlformats.org/officeDocument/2006/relationships" id="264" r:id="R519c30dec9e641b7"/>
    <p:sldId xmlns:r="http://schemas.openxmlformats.org/officeDocument/2006/relationships" id="265" r:id="R572a29d8914e4a36"/>
    <p:sldId xmlns:r="http://schemas.openxmlformats.org/officeDocument/2006/relationships" id="266" r:id="R0a90f23cb88b43a2"/>
    <p:sldId xmlns:r="http://schemas.openxmlformats.org/officeDocument/2006/relationships" id="267" r:id="R5aa053a775734862"/>
    <p:sldId xmlns:r="http://schemas.openxmlformats.org/officeDocument/2006/relationships" id="268" r:id="R1e5bb98cf91448ff"/>
    <p:sldId xmlns:r="http://schemas.openxmlformats.org/officeDocument/2006/relationships" id="269" r:id="R211c6a8bb9354486"/>
    <p:sldId xmlns:r="http://schemas.openxmlformats.org/officeDocument/2006/relationships" id="270" r:id="R58d56977be8242a8"/>
    <p:sldId xmlns:r="http://schemas.openxmlformats.org/officeDocument/2006/relationships" id="271" r:id="Rf379f0fda8284a47"/>
    <p:sldId xmlns:r="http://schemas.openxmlformats.org/officeDocument/2006/relationships" id="272" r:id="Rcfaef9beb2194b4d"/>
    <p:sldId xmlns:r="http://schemas.openxmlformats.org/officeDocument/2006/relationships" id="273" r:id="Rf7cd8fd90e9947af"/>
    <p:sldId xmlns:r="http://schemas.openxmlformats.org/officeDocument/2006/relationships" id="274" r:id="R09c7feb48aa347e2"/>
    <p:sldId xmlns:r="http://schemas.openxmlformats.org/officeDocument/2006/relationships" id="275" r:id="Rc6baeed3912847a9"/>
    <p:sldId xmlns:r="http://schemas.openxmlformats.org/officeDocument/2006/relationships" id="276" r:id="R14e2425662214eb4"/>
    <p:sldId xmlns:r="http://schemas.openxmlformats.org/officeDocument/2006/relationships" id="277" r:id="R2792ed3ea0184d0b"/>
    <p:sldId xmlns:r="http://schemas.openxmlformats.org/officeDocument/2006/relationships" id="278" r:id="R66c49b195a9d4a8c"/>
    <p:sldId xmlns:r="http://schemas.openxmlformats.org/officeDocument/2006/relationships" id="279" r:id="Rfe606dc451414c3a"/>
    <p:sldId xmlns:r="http://schemas.openxmlformats.org/officeDocument/2006/relationships" id="280" r:id="R305f8876bbe84a1f"/>
    <p:sldId xmlns:r="http://schemas.openxmlformats.org/officeDocument/2006/relationships" id="281" r:id="R5eed03d353b44e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e3313e4ac94841" /><Relationship Type="http://schemas.openxmlformats.org/officeDocument/2006/relationships/slideMaster" Target="/ppt/slideMasters/slideMaster1.xml" Id="R9cf5cb2de11945bd" /><Relationship Type="http://schemas.openxmlformats.org/officeDocument/2006/relationships/notesMaster" Target="/ppt/notesMasters/notesMaster1.xml" Id="Ra89e49cf07504ede" /><Relationship Type="http://schemas.openxmlformats.org/officeDocument/2006/relationships/presProps" Target="/ppt/presProps.xml" Id="R8266e1f379634d03" /><Relationship Type="http://schemas.openxmlformats.org/officeDocument/2006/relationships/tableStyles" Target="/ppt/tableStyles.xml" Id="Rb27974fec3674cf2" /><Relationship Type="http://schemas.openxmlformats.org/officeDocument/2006/relationships/slide" Target="/ppt/slides/slide1.xml" Id="R3cccf7fac3324ede" /><Relationship Type="http://schemas.openxmlformats.org/officeDocument/2006/relationships/slide" Target="/ppt/slides/slide2.xml" Id="Rf49529c46cfe43d1" /><Relationship Type="http://schemas.openxmlformats.org/officeDocument/2006/relationships/slide" Target="/ppt/slides/slide3.xml" Id="R012e5218ddad4f35" /><Relationship Type="http://schemas.openxmlformats.org/officeDocument/2006/relationships/slide" Target="/ppt/slides/slide4.xml" Id="Rbb78aa0b060b43f1" /><Relationship Type="http://schemas.openxmlformats.org/officeDocument/2006/relationships/slide" Target="/ppt/slides/slide5.xml" Id="R1630c37ead164209" /><Relationship Type="http://schemas.openxmlformats.org/officeDocument/2006/relationships/slide" Target="/ppt/slides/slide6.xml" Id="R3be7a88fe5194d86" /><Relationship Type="http://schemas.openxmlformats.org/officeDocument/2006/relationships/slide" Target="/ppt/slides/slide7.xml" Id="R8ff7289ce62d4bea" /><Relationship Type="http://schemas.openxmlformats.org/officeDocument/2006/relationships/slide" Target="/ppt/slides/slide8.xml" Id="Reafa510be39446d6" /><Relationship Type="http://schemas.openxmlformats.org/officeDocument/2006/relationships/slide" Target="/ppt/slides/slide9.xml" Id="R519c30dec9e641b7" /><Relationship Type="http://schemas.openxmlformats.org/officeDocument/2006/relationships/slide" Target="/ppt/slides/slide10.xml" Id="R572a29d8914e4a36" /><Relationship Type="http://schemas.openxmlformats.org/officeDocument/2006/relationships/slide" Target="/ppt/slides/slide11.xml" Id="R0a90f23cb88b43a2" /><Relationship Type="http://schemas.openxmlformats.org/officeDocument/2006/relationships/slide" Target="/ppt/slides/slide12.xml" Id="R5aa053a775734862" /><Relationship Type="http://schemas.openxmlformats.org/officeDocument/2006/relationships/slide" Target="/ppt/slides/slide13.xml" Id="R1e5bb98cf91448ff" /><Relationship Type="http://schemas.openxmlformats.org/officeDocument/2006/relationships/slide" Target="/ppt/slides/slide14.xml" Id="R211c6a8bb9354486" /><Relationship Type="http://schemas.openxmlformats.org/officeDocument/2006/relationships/slide" Target="/ppt/slides/slide15.xml" Id="R58d56977be8242a8" /><Relationship Type="http://schemas.openxmlformats.org/officeDocument/2006/relationships/slide" Target="/ppt/slides/slide16.xml" Id="Rf379f0fda8284a47" /><Relationship Type="http://schemas.openxmlformats.org/officeDocument/2006/relationships/slide" Target="/ppt/slides/slide17.xml" Id="Rcfaef9beb2194b4d" /><Relationship Type="http://schemas.openxmlformats.org/officeDocument/2006/relationships/slide" Target="/ppt/slides/slide18.xml" Id="Rf7cd8fd90e9947af" /><Relationship Type="http://schemas.openxmlformats.org/officeDocument/2006/relationships/slide" Target="/ppt/slides/slide19.xml" Id="R09c7feb48aa347e2" /><Relationship Type="http://schemas.openxmlformats.org/officeDocument/2006/relationships/slide" Target="/ppt/slides/slide20.xml" Id="Rc6baeed3912847a9" /><Relationship Type="http://schemas.openxmlformats.org/officeDocument/2006/relationships/slide" Target="/ppt/slides/slide21.xml" Id="R14e2425662214eb4" /><Relationship Type="http://schemas.openxmlformats.org/officeDocument/2006/relationships/slide" Target="/ppt/slides/slide22.xml" Id="R2792ed3ea0184d0b" /><Relationship Type="http://schemas.openxmlformats.org/officeDocument/2006/relationships/slide" Target="/ppt/slides/slide23.xml" Id="R66c49b195a9d4a8c" /><Relationship Type="http://schemas.openxmlformats.org/officeDocument/2006/relationships/slide" Target="/ppt/slides/slide24.xml" Id="Rfe606dc451414c3a" /><Relationship Type="http://schemas.openxmlformats.org/officeDocument/2006/relationships/slide" Target="/ppt/slides/slide25.xml" Id="R305f8876bbe84a1f" /><Relationship Type="http://schemas.openxmlformats.org/officeDocument/2006/relationships/slide" Target="/ppt/slides/slide26.xml" Id="R5eed03d353b44e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df6c03df4d4a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d73a18b7e34821" /><Relationship Type="http://schemas.openxmlformats.org/officeDocument/2006/relationships/notesMaster" Target="/ppt/notesMasters/notesMaster1.xml" Id="R37888262306e4a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3d35736e5e437d" /><Relationship Type="http://schemas.openxmlformats.org/officeDocument/2006/relationships/notesMaster" Target="/ppt/notesMasters/notesMaster1.xml" Id="R8204b31c81f54a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41d37108194b0b" /><Relationship Type="http://schemas.openxmlformats.org/officeDocument/2006/relationships/notesMaster" Target="/ppt/notesMasters/notesMaster1.xml" Id="Rf63b1c36522243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0caa0d08cd4e67" /><Relationship Type="http://schemas.openxmlformats.org/officeDocument/2006/relationships/notesMaster" Target="/ppt/notesMasters/notesMaster1.xml" Id="R5ba72f4ce9034e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2e057b96e2415f" /><Relationship Type="http://schemas.openxmlformats.org/officeDocument/2006/relationships/notesMaster" Target="/ppt/notesMasters/notesMaster1.xml" Id="Rd0c4cd111f1e4f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1fc2dfcb734d6b" /><Relationship Type="http://schemas.openxmlformats.org/officeDocument/2006/relationships/notesMaster" Target="/ppt/notesMasters/notesMaster1.xml" Id="R127a983d5d3044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1a030069b9421f" /><Relationship Type="http://schemas.openxmlformats.org/officeDocument/2006/relationships/notesMaster" Target="/ppt/notesMasters/notesMaster1.xml" Id="R8138c15f19074a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1325b23c9049d5" /><Relationship Type="http://schemas.openxmlformats.org/officeDocument/2006/relationships/notesMaster" Target="/ppt/notesMasters/notesMaster1.xml" Id="R54dd98b492c345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c20ec00fab4bf4" /><Relationship Type="http://schemas.openxmlformats.org/officeDocument/2006/relationships/notesMaster" Target="/ppt/notesMasters/notesMaster1.xml" Id="R9f6ffda5d5934e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bfff2581ee8495a" /><Relationship Type="http://schemas.openxmlformats.org/officeDocument/2006/relationships/notesMaster" Target="/ppt/notesMasters/notesMaster1.xml" Id="R77dec8fa27f04d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bc03272f0074ab4" /><Relationship Type="http://schemas.openxmlformats.org/officeDocument/2006/relationships/notesMaster" Target="/ppt/notesMasters/notesMaster1.xml" Id="R5fe83a6ab0484f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ed9e92ad32c45ce" /><Relationship Type="http://schemas.openxmlformats.org/officeDocument/2006/relationships/notesMaster" Target="/ppt/notesMasters/notesMaster1.xml" Id="R467cc4fc36ec488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bd41d7902e4ff9" /><Relationship Type="http://schemas.openxmlformats.org/officeDocument/2006/relationships/notesMaster" Target="/ppt/notesMasters/notesMaster1.xml" Id="Rbb318350b302477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c23cd6a5dd4e31" /><Relationship Type="http://schemas.openxmlformats.org/officeDocument/2006/relationships/notesMaster" Target="/ppt/notesMasters/notesMaster1.xml" Id="R1960d79b5c1c429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3ed561ac50b4d06" /><Relationship Type="http://schemas.openxmlformats.org/officeDocument/2006/relationships/notesMaster" Target="/ppt/notesMasters/notesMaster1.xml" Id="R17ebef85199849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dcb0eb1c7a40f4" /><Relationship Type="http://schemas.openxmlformats.org/officeDocument/2006/relationships/notesMaster" Target="/ppt/notesMasters/notesMaster1.xml" Id="Rd78f15a56a90464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fe6163d54a6466c" /><Relationship Type="http://schemas.openxmlformats.org/officeDocument/2006/relationships/notesMaster" Target="/ppt/notesMasters/notesMaster1.xml" Id="R53bd824a925d46d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d713e87dc2c4080" /><Relationship Type="http://schemas.openxmlformats.org/officeDocument/2006/relationships/notesMaster" Target="/ppt/notesMasters/notesMaster1.xml" Id="Rf0ca4302e9ba44c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cda0bd869db4bdd" /><Relationship Type="http://schemas.openxmlformats.org/officeDocument/2006/relationships/notesMaster" Target="/ppt/notesMasters/notesMaster1.xml" Id="R697b1e3408cf44a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b5703f946a74dfa" /><Relationship Type="http://schemas.openxmlformats.org/officeDocument/2006/relationships/notesMaster" Target="/ppt/notesMasters/notesMaster1.xml" Id="R88c89b2054de492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1e23b9b60b24e42" /><Relationship Type="http://schemas.openxmlformats.org/officeDocument/2006/relationships/notesMaster" Target="/ppt/notesMasters/notesMaster1.xml" Id="R8588eafe590c4e8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1a8a1c2f40d48ea" /><Relationship Type="http://schemas.openxmlformats.org/officeDocument/2006/relationships/notesMaster" Target="/ppt/notesMasters/notesMaster1.xml" Id="R072ace53c4394a5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3b899008c3f4102" /><Relationship Type="http://schemas.openxmlformats.org/officeDocument/2006/relationships/notesMaster" Target="/ppt/notesMasters/notesMaster1.xml" Id="R6a430b39c0e5447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a02d1388e04423c" /><Relationship Type="http://schemas.openxmlformats.org/officeDocument/2006/relationships/notesMaster" Target="/ppt/notesMasters/notesMaster1.xml" Id="R12db92f30c894ad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ff48d03041542d5" /><Relationship Type="http://schemas.openxmlformats.org/officeDocument/2006/relationships/notesMaster" Target="/ppt/notesMasters/notesMaster1.xml" Id="Rc1bcf7717391480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abe5af5613e4c86" /><Relationship Type="http://schemas.openxmlformats.org/officeDocument/2006/relationships/notesMaster" Target="/ppt/notesMasters/notesMaster1.xml" Id="Rc25320e34ad14b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mai/26, aba 02-02-Vlr. Valor encerrado; 2026 = jan–mai.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 (snapshot mai/26, aba 02-02-Vlr); composição não observada escalada pela composição CVM.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CNPJ. A presença compara os sete tipos já usados na curadoria flagship; N/D não é convertido em zero.</a:t>
            </a:r>
          </a:p>
          <a:p xmlns:a="http://schemas.openxmlformats.org/drawingml/2006/main">
            <a:r>
              <a:t>- Mínimo estrutural inclui mínimo júnior e, com asterisco, suporte total/combinado documentado.</a:t>
            </a:r>
          </a:p>
          <a:p xmlns:a="http://schemas.openxmlformats.org/drawingml/2006/main">
            <a:r>
              <a:t>- Documento, página, fórmula, natureza e motivo de comparabilidade constam na aba Risco estrutural ativos.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Carteira I e flagships usam subordinação total atual sobre PL reconciliado por CNPJ; a comparação não mistura mínimo júnior com suporte total.</a:t>
            </a:r>
          </a:p>
          <a:p xmlns:a="http://schemas.openxmlformats.org/drawingml/2006/main">
            <a:r>
              <a:t>- Tolerância de leitura: ±2 p.p.; grupos com menos de cinco pares ficam sem posição relativa.</a:t>
            </a:r>
          </a:p>
          <a:p xmlns:a="http://schemas.openxmlformats.org/drawingml/2006/main">
            <a:r>
              <a:t>- PL pondera o tamanho do veículo. Valor encarteirado por ativo não está disponível na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Capacidade de absorção até o gatilho = (subordinação atual − mínimo) / (1 − mínimo).</a:t>
            </a:r>
          </a:p>
          <a:p xmlns:a="http://schemas.openxmlformats.org/drawingml/2006/main">
            <a:r>
              <a:t>- Realce laranja identifica situação regulatória abaixo do mínimo ou em folga estreita. A posição relativa ao mercado usa setas no slide anterior.</a:t>
            </a:r>
          </a:p>
          <a:p xmlns:a="http://schemas.openxmlformats.org/drawingml/2006/main">
            <a:r>
              <a:t>- A lista mostra até 12 casos mensuráveis; a aba Risco estrutural ativos preserva os 101 CNPJs e todas as lacunas.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0ffce73e941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4285258cc748bb" /><Relationship Type="http://schemas.openxmlformats.org/officeDocument/2006/relationships/slideLayout" Target="/ppt/slideLayouts/slideLayout1.xml" Id="R20014daa032147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014daa032147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7eabe4c21f43e3" /><Relationship Type="http://schemas.openxmlformats.org/officeDocument/2006/relationships/notesSlide" Target="/ppt/notesSlides/notesSlide1.xml" Id="Rb0a505fdcea24c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cef0963814c23" /><Relationship Type="http://schemas.openxmlformats.org/officeDocument/2006/relationships/chart" Target="/ppt/slides/charts/chart1.xml" Id="R0e9524c95ff8433c" /><Relationship Type="http://schemas.openxmlformats.org/officeDocument/2006/relationships/chart" Target="/ppt/slides/charts/chart2.xml" Id="R3a9770cad57045c3" /><Relationship Type="http://schemas.openxmlformats.org/officeDocument/2006/relationships/chart" Target="/ppt/slides/charts/chart3.xml" Id="R732e913686a247b0" /><Relationship Type="http://schemas.openxmlformats.org/officeDocument/2006/relationships/notesSlide" Target="/ppt/notesSlides/notesSlide2.xml" Id="R547808e76d114f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a3bbb42fd43cc" /><Relationship Type="http://schemas.openxmlformats.org/officeDocument/2006/relationships/chart" Target="/ppt/slides/charts/chart4.xml" Id="R1e576f046f3540c1" /><Relationship Type="http://schemas.openxmlformats.org/officeDocument/2006/relationships/chart" Target="/ppt/slides/charts/chart5.xml" Id="R327a5af45a7d48f4" /><Relationship Type="http://schemas.openxmlformats.org/officeDocument/2006/relationships/notesSlide" Target="/ppt/notesSlides/notesSlide3.xml" Id="Re03f4d25e41248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c7e8502b04f89" /><Relationship Type="http://schemas.openxmlformats.org/officeDocument/2006/relationships/chart" Target="/ppt/slides/charts/chart6.xml" Id="Ra1c448caaf884b29" /><Relationship Type="http://schemas.openxmlformats.org/officeDocument/2006/relationships/chart" Target="/ppt/slides/charts/chart7.xml" Id="Rcf4d155ef5594168" /><Relationship Type="http://schemas.openxmlformats.org/officeDocument/2006/relationships/chart" Target="/ppt/slides/charts/chart8.xml" Id="R5b03dfa117bb4656" /><Relationship Type="http://schemas.openxmlformats.org/officeDocument/2006/relationships/chart" Target="/ppt/slides/charts/chart9.xml" Id="R02303e5fed544da8" /><Relationship Type="http://schemas.openxmlformats.org/officeDocument/2006/relationships/notesSlide" Target="/ppt/notesSlides/notesSlide4.xml" Id="R63d556ba7c3a45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91c691b314baf" /><Relationship Type="http://schemas.openxmlformats.org/officeDocument/2006/relationships/chart" Target="/ppt/slides/charts/chart10.xml" Id="R34c30da1d7424761" /><Relationship Type="http://schemas.openxmlformats.org/officeDocument/2006/relationships/chart" Target="/ppt/slides/charts/chart11.xml" Id="R00e02a58d92e4ce1" /><Relationship Type="http://schemas.openxmlformats.org/officeDocument/2006/relationships/notesSlide" Target="/ppt/notesSlides/notesSlide5.xml" Id="R63bc4987b4cb47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71a55487b4382" /><Relationship Type="http://schemas.openxmlformats.org/officeDocument/2006/relationships/chart" Target="/ppt/slides/charts/chart12.xml" Id="R0ba5f579032a4fd0" /><Relationship Type="http://schemas.openxmlformats.org/officeDocument/2006/relationships/chart" Target="/ppt/slides/charts/chart13.xml" Id="R7193c58c264449c5" /><Relationship Type="http://schemas.openxmlformats.org/officeDocument/2006/relationships/chart" Target="/ppt/slides/charts/chart14.xml" Id="R77fcfaa6153c411b" /><Relationship Type="http://schemas.openxmlformats.org/officeDocument/2006/relationships/notesSlide" Target="/ppt/notesSlides/notesSlide6.xml" Id="R456ddb4f9e8e42f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47b36f7894a96" /><Relationship Type="http://schemas.openxmlformats.org/officeDocument/2006/relationships/chart" Target="/ppt/slides/charts/chart15.xml" Id="Ra36468eb324e4591" /><Relationship Type="http://schemas.openxmlformats.org/officeDocument/2006/relationships/chart" Target="/ppt/slides/charts/chart16.xml" Id="Rfc36f761f9bc403e" /><Relationship Type="http://schemas.openxmlformats.org/officeDocument/2006/relationships/chart" Target="/ppt/slides/charts/chart17.xml" Id="Rca1e66d6b87d4a36" /><Relationship Type="http://schemas.openxmlformats.org/officeDocument/2006/relationships/notesSlide" Target="/ppt/notesSlides/notesSlide7.xml" Id="R38d810dedeeb44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955ce4c4c48e7" /><Relationship Type="http://schemas.openxmlformats.org/officeDocument/2006/relationships/chart" Target="/ppt/slides/charts/chart18.xml" Id="Rf69aa07953db4e2b" /><Relationship Type="http://schemas.openxmlformats.org/officeDocument/2006/relationships/chart" Target="/ppt/slides/charts/chart19.xml" Id="Rabeca7a592cf4cde" /><Relationship Type="http://schemas.openxmlformats.org/officeDocument/2006/relationships/chart" Target="/ppt/slides/charts/chart20.xml" Id="Rc794287b40574928" /><Relationship Type="http://schemas.openxmlformats.org/officeDocument/2006/relationships/notesSlide" Target="/ppt/notesSlides/notesSlide8.xml" Id="R1f7b9e84a26c43c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90279ecbe4538" /><Relationship Type="http://schemas.openxmlformats.org/officeDocument/2006/relationships/notesSlide" Target="/ppt/notesSlides/notesSlide9.xml" Id="R4b65516ddc3140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5ebed7655c42b5" /><Relationship Type="http://schemas.openxmlformats.org/officeDocument/2006/relationships/notesSlide" Target="/ppt/notesSlides/notesSlide10.xml" Id="R0d00713c90be44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019bf229e4616" /><Relationship Type="http://schemas.openxmlformats.org/officeDocument/2006/relationships/notesSlide" Target="/ppt/notesSlides/notesSlide11.xml" Id="Ra29652eb2c4043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06dea74fa4f21" /><Relationship Type="http://schemas.openxmlformats.org/officeDocument/2006/relationships/notesSlide" Target="/ppt/notesSlides/notesSlide12.xml" Id="R3a66516d2b4c4ed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de9caceb64745" /><Relationship Type="http://schemas.openxmlformats.org/officeDocument/2006/relationships/notesSlide" Target="/ppt/notesSlides/notesSlide13.xml" Id="R327cd72f0a3b462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f14a740734fe1" /><Relationship Type="http://schemas.openxmlformats.org/officeDocument/2006/relationships/notesSlide" Target="/ppt/notesSlides/notesSlide14.xml" Id="R260408f0d59f429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cd15bd2214597" /><Relationship Type="http://schemas.openxmlformats.org/officeDocument/2006/relationships/notesSlide" Target="/ppt/notesSlides/notesSlide15.xml" Id="Rab2c2a32171046d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c4395280d452b" /><Relationship Type="http://schemas.openxmlformats.org/officeDocument/2006/relationships/notesSlide" Target="/ppt/notesSlides/notesSlide16.xml" Id="R1ddeab7df46346f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36e081e164ee3" /><Relationship Type="http://schemas.openxmlformats.org/officeDocument/2006/relationships/chart" Target="/ppt/slides/charts/chart21.xml" Id="R0b883c6bf880428e" /><Relationship Type="http://schemas.openxmlformats.org/officeDocument/2006/relationships/chart" Target="/ppt/slides/charts/chart22.xml" Id="Rbd589fb139dd49bb" /><Relationship Type="http://schemas.openxmlformats.org/officeDocument/2006/relationships/chart" Target="/ppt/slides/charts/chart23.xml" Id="R48209567a10143fc" /><Relationship Type="http://schemas.openxmlformats.org/officeDocument/2006/relationships/notesSlide" Target="/ppt/notesSlides/notesSlide17.xml" Id="Reccfaf33663e480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65dbd1ae04295" /><Relationship Type="http://schemas.openxmlformats.org/officeDocument/2006/relationships/chart" Target="/ppt/slides/charts/chart24.xml" Id="R9e3c4c01565f4f9d" /><Relationship Type="http://schemas.openxmlformats.org/officeDocument/2006/relationships/chart" Target="/ppt/slides/charts/chart25.xml" Id="Rcea7dda405be4ff6" /><Relationship Type="http://schemas.openxmlformats.org/officeDocument/2006/relationships/chart" Target="/ppt/slides/charts/chart26.xml" Id="R03a03a02810c4d4d" /><Relationship Type="http://schemas.openxmlformats.org/officeDocument/2006/relationships/chart" Target="/ppt/slides/charts/chart27.xml" Id="R94122b1dbd3243f8" /><Relationship Type="http://schemas.openxmlformats.org/officeDocument/2006/relationships/notesSlide" Target="/ppt/notesSlides/notesSlide18.xml" Id="Rb852fa1937e14c1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e9e669ae24126" /><Relationship Type="http://schemas.openxmlformats.org/officeDocument/2006/relationships/chart" Target="/ppt/slides/charts/chart28.xml" Id="R49932583c4b740cd" /><Relationship Type="http://schemas.openxmlformats.org/officeDocument/2006/relationships/chart" Target="/ppt/slides/charts/chart29.xml" Id="Re7e8c51bc7874e66" /><Relationship Type="http://schemas.openxmlformats.org/officeDocument/2006/relationships/chart" Target="/ppt/slides/charts/chart30.xml" Id="R0597d17dfead4e4e" /><Relationship Type="http://schemas.openxmlformats.org/officeDocument/2006/relationships/chart" Target="/ppt/slides/charts/chart31.xml" Id="Reafe2418c68e4c4e" /><Relationship Type="http://schemas.openxmlformats.org/officeDocument/2006/relationships/chart" Target="/ppt/slides/charts/chart32.xml" Id="R9728d3aab3944f3a" /><Relationship Type="http://schemas.openxmlformats.org/officeDocument/2006/relationships/notesSlide" Target="/ppt/notesSlides/notesSlide19.xml" Id="R2f774a8007f0471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85514eac241bb" /><Relationship Type="http://schemas.openxmlformats.org/officeDocument/2006/relationships/notesSlide" Target="/ppt/notesSlides/notesSlide20.xml" Id="R69f070dfca6d419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fd79ee2a34d05" /><Relationship Type="http://schemas.openxmlformats.org/officeDocument/2006/relationships/notesSlide" Target="/ppt/notesSlides/notesSlide21.xml" Id="Rdf5869bcc7e7458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e319e6dbe047ca" /><Relationship Type="http://schemas.openxmlformats.org/officeDocument/2006/relationships/notesSlide" Target="/ppt/notesSlides/notesSlide22.xml" Id="R21fcd636c82f4f1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bf2a0b0f14334" /><Relationship Type="http://schemas.openxmlformats.org/officeDocument/2006/relationships/chart" Target="/ppt/slides/charts/chart33.xml" Id="R7b813035a1f6423c" /><Relationship Type="http://schemas.openxmlformats.org/officeDocument/2006/relationships/chart" Target="/ppt/slides/charts/chart34.xml" Id="R90ebcf2e66464701" /><Relationship Type="http://schemas.openxmlformats.org/officeDocument/2006/relationships/chart" Target="/ppt/slides/charts/chart35.xml" Id="R561e857e970c4213" /><Relationship Type="http://schemas.openxmlformats.org/officeDocument/2006/relationships/chart" Target="/ppt/slides/charts/chart36.xml" Id="R426e6a82b10545f5" /><Relationship Type="http://schemas.openxmlformats.org/officeDocument/2006/relationships/chart" Target="/ppt/slides/charts/chart37.xml" Id="R86cb599b31b2493e" /><Relationship Type="http://schemas.openxmlformats.org/officeDocument/2006/relationships/chart" Target="/ppt/slides/charts/chart38.xml" Id="Rd91969499a2c4cb9" /><Relationship Type="http://schemas.openxmlformats.org/officeDocument/2006/relationships/chart" Target="/ppt/slides/charts/chart39.xml" Id="Rf20bea4f0d7647ab" /><Relationship Type="http://schemas.openxmlformats.org/officeDocument/2006/relationships/notesSlide" Target="/ppt/notesSlides/notesSlide23.xml" Id="R6b5933aacb6244c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aed48d5ec4424d" /><Relationship Type="http://schemas.openxmlformats.org/officeDocument/2006/relationships/chart" Target="/ppt/slides/charts/chart40.xml" Id="Refcd518213b94368" /><Relationship Type="http://schemas.openxmlformats.org/officeDocument/2006/relationships/chart" Target="/ppt/slides/charts/chart41.xml" Id="R2c9fa2ff870547b0" /><Relationship Type="http://schemas.openxmlformats.org/officeDocument/2006/relationships/notesSlide" Target="/ppt/notesSlides/notesSlide24.xml" Id="R77516c1e50744f3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492a44e9c45aa" /><Relationship Type="http://schemas.openxmlformats.org/officeDocument/2006/relationships/chart" Target="/ppt/slides/charts/chart42.xml" Id="R2c4430999ec0492d" /><Relationship Type="http://schemas.openxmlformats.org/officeDocument/2006/relationships/chart" Target="/ppt/slides/charts/chart43.xml" Id="R9858994cfffc419f" /><Relationship Type="http://schemas.openxmlformats.org/officeDocument/2006/relationships/chart" Target="/ppt/slides/charts/chart44.xml" Id="R57735def95cc403a" /><Relationship Type="http://schemas.openxmlformats.org/officeDocument/2006/relationships/notesSlide" Target="/ppt/notesSlides/notesSlide25.xml" Id="R319e702b85f9466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21b35ad804f2e" /><Relationship Type="http://schemas.openxmlformats.org/officeDocument/2006/relationships/chart" Target="/ppt/slides/charts/chart45.xml" Id="R02da428e711e4e6f" /><Relationship Type="http://schemas.openxmlformats.org/officeDocument/2006/relationships/chart" Target="/ppt/slides/charts/chart46.xml" Id="R7e2fc8d4e52f47a5" /><Relationship Type="http://schemas.openxmlformats.org/officeDocument/2006/relationships/chart" Target="/ppt/slides/charts/chart47.xml" Id="R00f09629ad3441cd" /><Relationship Type="http://schemas.openxmlformats.org/officeDocument/2006/relationships/chart" Target="/ppt/slides/charts/chart48.xml" Id="Ree5d91e9963b4940" /><Relationship Type="http://schemas.openxmlformats.org/officeDocument/2006/relationships/chart" Target="/ppt/slides/charts/chart49.xml" Id="R0c8df925a39942c1" /><Relationship Type="http://schemas.openxmlformats.org/officeDocument/2006/relationships/notesSlide" Target="/ppt/notesSlides/notesSlide26.xml" Id="R2e29f7a892df4643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15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368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39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4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25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375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4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25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42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 lang="pt-BR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4E1B51FE-538D-4311-B65B-205915A6FA8A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8CCE7C57-E368-4416-9E65-214D086B5A2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BF622F3-FE14-438D-90DE-5360191D804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C6FFD93-8396-4710-9096-68AB44B25404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B9972E46-2253-4CB7-8087-8DB26B8A2C17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73727CB-910E-4511-8B8F-74A718AA8653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ns0:txBody>
      </ns0:sp>
    </ns0:spTree>
    <ns0:extLst>
      <ns0:ext uri="{BB962C8B-B14F-4D97-AF65-F5344CB8AC3E}">
        <ns3:creationId val="268686368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0" name="">
            <a:extLst>
              <a:ext uri="{FF2B5EF4-FFF2-40B4-BE49-F238E27FC236}">
                <ns2:creationId id="{405A9D38-0B11-470A-8E5B-E03057F27A1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506BE25-8981-4C44-B136-AE6741B9C95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D52BE41-E472-4872-9EDE-ADBB7C1E2C1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E4ED6B2-3534-4D9B-A865-9DC767F1F24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E023794-6E9B-4663-8994-C13E68E71CD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B2FCF08-1F1F-4016-AFA9-19B98E1620C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7D00356-C6A1-4E2F-8367-DCA00BB1C29C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A34E194-E2F5-4C78-A304-2885213E89D7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0e9524c95ff8433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C5D12A1-828A-44E6-8D91-6AC0E95EDEB0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FDAB67A-1DAC-4B7E-994F-EACEFCA8AE1E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80ECBF5-DAB1-4888-BCBA-3D9957F1C969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3a9770cad57045c3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3BE5F21-2336-485E-AB95-20458DB0820D}"/>
              </a:ext>
            </a:extLst>
          </ns0:cNvPr>
          <ns0:cNvSpPr>
            <a:spLocks noGrp="1"/>
          </ns0:cNvSpPr>
          <ns0:nvPr/>
        </ns0:nvSpPr>
        <ns0:spPr>
          <a:xfrm>
            <a:off x="9315450" y="1676400"/>
            <a:ext cx="2095500" cy="4191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D72E0598-0596-436E-B849-8CF2BC19355B}"/>
              </a:ext>
            </a:extLst>
          </ns0:cNvPr>
          <ns0:cNvSpPr>
            <a:spLocks noGrp="1"/>
          </ns0:cNvSpPr>
          <ns0:nvPr/>
        </ns0:nvSpPr>
        <ns0:spPr>
          <a:xfrm>
            <a:off x="9410700" y="1752600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TOTAL · R$ 13,780 tri</a:t>
            </a:r>
          </a:p>
        </ns0:txBody>
      </ns0:sp>
      <ns0:graphicFrame>
        <ns0:nvGraphicFramePr>
          <ns0:cNvPr id="35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732e913686a247b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4266BA75-3F27-431C-B407-7D94AAA34EDF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E826594-067C-457B-B72E-7F338DEA586C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862E45E-C6A9-4973-8130-168A5C5695F9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523659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020C8A7B-5C8C-4987-9AF9-627C62C60F2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93858DC-7479-4F72-82D5-C23BF2DDB5C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E5BC7CD-6FF7-4D44-8997-9685716C7DC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B28A2C9-DD79-49DD-B38C-5417442DB18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12FB00B-FB9E-466D-BCD7-F157D6F8FEA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No 1S26, FIDCs cresceram 14,6%; demais instrumentos recuaram 7,8%. Fontes: CVM/SRE, snapshot 24/jul/26; ANBIMA Data, snapshot 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D5C4CF4-1D6C-4485-A81C-3F03D5521E7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135A0CF-B25E-4356-9CDB-C5BE215FE5E4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E3539CF-6093-4DF7-9832-F375F8B46304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1e576f046f3540c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EA896FE-16DD-457F-956F-CB3E0D04928F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27778E2-5930-497B-8AC6-0CBE1FD3B764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327a5af45a7d48f4"/>
          </a:graphicData>
        </a:graphic>
      </ns0:graphicFrame>
      <ns0:sp>
        <ns0:nvSpPr>
          <ns0:cNvPr id="13" name="">
            <a:extLst>
              <a:ext uri="{FF2B5EF4-FFF2-40B4-BE49-F238E27FC236}">
                <ns2:creationId id="{3D0BC2AB-2AEC-46F3-B047-39AA12AFABA0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1B5F087-1F86-4C01-95D0-9C90F48FEF80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667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60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460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460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60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60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60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08583926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6AC6AAC2-68F9-4C6F-BFC3-C13D49DA912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101A851-33F6-4250-8882-0CB6C5FBF37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F1DCA92-B6C2-4297-A1BF-70CDFC9149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A73EC55-CB7B-46E6-B23A-813D5131DE5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C30AE22-2052-4CD5-A2FF-4B46E856552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R$ 6,2 bi (10,0%).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52DEBC7-1A5B-419E-876D-7D3FBE80BDF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896BEDC-ABFD-4225-BF17-A05A0C5C61B4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D04E84E-1F00-428E-84D0-7EFA1F4D2B59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a1c448caaf884b2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3B284F9-418B-44F8-9F41-F26C70CA498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B6818C8-06D8-451C-9379-7A99F60219D4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cf4d155ef559416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D5304621-9C53-49C4-8496-C231F408C94A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EDD8540E-D6A9-40D8-B390-640A625F2C8D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9187E54-3291-4918-A7A6-37906480DEF6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0EF602B0-28AC-44EC-9A98-BE3FEAC29A3F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99ADA93-1F5E-4624-B006-27849EBA37D3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6FA579F0-3A1F-4C07-BA69-9E381C8FBE76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1E66718-7C49-4571-A42A-2D97A07FBC00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442419B2-1516-43CB-ABAE-59E9C9E89E4D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FC56079-BBF4-447F-BF79-013A055EC7CC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931055CE-C573-447C-A95F-0FB954D495B5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6F555D3F-E459-4C19-8599-EF2082F70482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3817C063-8A38-4E3C-9BB0-C7C72052ADD5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96A10E-CCB2-418D-AB9E-EB20316BB410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08445FEB-B89D-42F6-8E67-F4D9ABAC2DE0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0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0E355F4-B548-4478-B1B3-5272A45A2E5E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E4A49173-D49A-4C77-A5C7-622E2020D618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5b03dfa117bb4656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49C9514-D438-4713-8C57-6E6A0A8A7E6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085DDF6E-F5B7-4D45-BC3E-4AC377DDEE53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02303e5fed544da8"/>
          </a:graphicData>
        </a:graphic>
      </ns0:graphicFrame>
    </ns0:spTree>
    <ns0:extLst>
      <ns0:ext uri="{BB962C8B-B14F-4D97-AF65-F5344CB8AC3E}">
        <ns5:creationId val="100356316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8A8FDB53-FC7B-4DBA-9FAD-AB509518A1D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CD3B932-967C-485B-BBAA-44C0206D0E0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62,7%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E68ED55-0F65-4F57-A5EF-ACF90A15573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2E5AA00-F38F-41DD-9330-1494E9B5FB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8EF8EF6-71BF-4686-8736-C1515AF74F8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C2B20F9-86CC-40E7-AAF6-29AE1CB0774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F285158-9D09-4C1F-AA14-6379338690A1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B2716BD-F090-4B24-87C9-5A776E26EF2A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34c30da1d742476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3A51948-6D80-4ADC-AEB6-C7CDE3F9D881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F9171CD-4EDA-4F2B-B22D-3227B1EABC29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00e02a58d92e4ce1"/>
          </a:graphicData>
        </a:graphic>
      </ns0:graphicFrame>
      <ns0:sp>
        <ns0:nvSpPr>
          <ns0:cNvPr id="13" name="">
            <a:extLst>
              <a:ext uri="{FF2B5EF4-FFF2-40B4-BE49-F238E27FC236}">
                <ns2:creationId id="{6EB539A6-A666-4C9B-9A8A-FFA65711FEF2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1526E0E-51B6-4329-BB80-44D3C00120D4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00250"/>
                <a:gridCol w="809625"/>
                <a:gridCol w="495300"/>
                <a:gridCol w="809625"/>
                <a:gridCol w="495300"/>
                <a:gridCol w="809625"/>
                <a:gridCol w="495300"/>
                <a:gridCol w="952500"/>
                <a:gridCol w="590550"/>
                <a:gridCol w="952500"/>
                <a:gridCol w="590550"/>
              </a:tblGrid>
              <a:tr h="2857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37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12,1%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24,3%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27,0%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37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50,5%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48,0%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37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· quatro tipos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037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FIC-FIDC · reconciliação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37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226A-5F30-4656-B622-14107DB3730C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651F0940-94B6-413F-84D4-43F4EBFD2FC4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82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82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101 · Outros oficial: 6 CNPJs e R$ 7,3 bi. Outros analítico: 0 CNPJs e R$ 0,0 bi após decisões aprovadas no ledger (5 Agro; 1 Financeiro).</a:t>
            </a:r>
          </a:p>
        </ns0:txBody>
      </ns0:sp>
    </ns0:spTree>
    <ns0:extLst>
      <ns0:ext uri="{BB962C8B-B14F-4D97-AF65-F5344CB8AC3E}">
        <ns5:creationId val="1344271483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EA391A0F-B888-482F-A77B-B3ADE4F7C33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B6E3183-EBED-4427-A5D5-9E401857CF6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EDD5C85-7261-4CB2-BF26-437BB93681C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3FC8ED1-8F9A-4C46-8FDE-34FC7E3F0A8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7A4F136-80AF-499D-9AA4-5E2B0B7F52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C1CF6F-FE9C-4B70-B48F-8A53BCACF6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586C4A-11AD-450A-9B6B-C8DDF16C6DC8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7AB34AF-ADA0-4EF3-B126-36310EB44058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0ba5f579032a4fd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107BFF2-625D-479A-8B36-1C7E1085AA4A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D8F26A8-CC59-4091-8C6B-D927CB5E876A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7193c58c264449c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77fcfaa6153c411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EC38EAC-0098-451D-B725-B8284EC38E4C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144FF52-AE4C-4A53-85B5-A5540ACAC0C8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N/D permanece como residual observado. Tipo/Foco oficial e evidências seguem no workbook.</a:t>
            </a:r>
          </a:p>
        </ns0:txBody>
      </ns0:sp>
    </ns0:spTree>
    <ns0:extLst>
      <ns0:ext uri="{BB962C8B-B14F-4D97-AF65-F5344CB8AC3E}">
        <ns5:creationId val="1983236678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3D6023D3-554E-4347-ADE9-B0B5B140137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CA5A0D4-4634-4C0A-9212-C86F1E353B1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9CE803-B3D1-4D1C-B72D-D532A814A88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F20C062-0123-493C-B74E-A8FD80CFA3F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81F70BB-7A6C-4F04-8390-CE12EE0C8E9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2EC036C-1448-4694-BE3F-D7008A80CCD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96E6234-A377-4160-BAD8-5DEE11083F2A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274AA8D-5382-44DB-AC5F-785E6C05C3F0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a36468eb324e459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E0FCF8A-C166-430C-9E45-60D5256EC1A3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E4EBC17-146B-4C8B-BB06-3A52D232FC1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fc36f761f9bc403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ca1e66d6b87d4a3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030823F-A897-409A-AE46-CDC2F76CBBA8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353917420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51223278-E170-4B56-8319-3EB77569729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214D259-8FC8-47F3-8F93-0C2B518D627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9239018-3A97-4F57-8142-95A6C3A4E8F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6A4E8C2-9514-45A2-9E17-0CE1900C7A9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D6FE810-A994-4D84-B20E-E89297C0E53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50C8986-A4FE-47B9-853B-8BE5473E7D6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76D7742-9A05-4DDB-91BF-8B05D115F072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D17585E-5B79-40E8-9D31-6355F2D15953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f69aa07953db4e2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A6D63BC-BC28-4C5F-B132-4885E42001F3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81EE7E4-3927-49A2-85C7-A6FB4F66336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abeca7a592cf4cde"/>
          </a:graphicData>
        </a:graphic>
      </ns0:graphicFrame>
      <ns0:sp>
        <ns0:nvSpPr>
          <ns0:cNvPr id="13" name="">
            <a:extLst>
              <a:ext uri="{FF2B5EF4-FFF2-40B4-BE49-F238E27FC236}">
                <ns2:creationId id="{DFCCC2E9-76E1-4E0C-AADD-9B8A689A4322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98AC5C8-5D98-4952-9408-3F08FBB558A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c794287b40574928"/>
          </a:graphicData>
        </a:graphic>
      </ns0:graphicFrame>
    </ns0:spTree>
    <ns0:extLst>
      <ns0:ext uri="{BB962C8B-B14F-4D97-AF65-F5344CB8AC3E}">
        <ns5:creationId val="827714351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6298BAC2-B161-4308-886D-9AE90675F1D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FEF93DE-A009-4488-AFBD-F378DB4F66F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A7DD142-30C9-4B21-9E4A-66B0FF4A992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7FD123C-D5FB-4705-A928-E2FD5FAC9B7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2A5DDAE-4E3D-4065-B2CF-8D684EDAEEB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CEE14F9-8EE3-4A64-AC71-E65C09225D9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666750"/>
                <a:gridCol w="619125"/>
                <a:gridCol w="1619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6" name=""/>
          <ns0:cNvGraphicFramePr/>
          <ns0:nvPr/>
        </ns0:nvGraphicFramePr>
        <ns0:xfrm>
          <a:off x="619125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666750"/>
                <a:gridCol w="619125"/>
                <a:gridCol w="1619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2088179002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A612DD76-9081-478E-84FF-97DE5992BC1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4A7B77-86E9-4A68-8C6E-FC1E7708317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D457871-C026-4E3B-8282-A1054BD7469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73C5E1-FD37-4991-82BE-1163321F87B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C02050A-81F0-492D-B584-2677D236AEF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Top 15: R$ 30,4 bi em dez/25 e R$ 31,9 bi em jun/26. Fonte: CVM, Informe Mensal e ledger documental aprovado;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B60865C-6FA5-4F92-9E61-C901382AF6B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D6550F3-2673-41F0-B46E-82CA1F96D413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B693816-C0C4-4E55-943F-E2CA38210FDF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Multicedentes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E67E834-240B-4CDB-A6AA-591E6F724420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R$ 31,9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FDD348C-75A2-44EC-A33E-AABB0897C3A7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B024447-9955-459E-B4BD-6A6D4286B0E5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Multicedentes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22946C39-8D39-48F5-96FC-2CA5C566FB29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R$ 30,4 bi</a:t>
            </a:r>
          </a:p>
        </ns0:txBody>
      </ns0:sp>
    </ns0:spTree>
    <ns0:extLst>
      <ns0:ext uri="{BB962C8B-B14F-4D97-AF65-F5344CB8AC3E}">
        <ns3:creationId val="1729634387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EFE332BC-148A-48DB-9361-31FBF7EAE4C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D98B8BD-8997-497E-93BE-3AB8BF61F91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2D996F3-2276-4D59-9C4C-77187B68B9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1A153D6-053F-426B-9A84-A1E6CD2AE98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0E3615E-C417-47A4-8FF6-3CE877FFC72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Top 15: R$ 94,0 bi em dez/25 e R$ 112,2 bi em jun/26. Fonte: CVM, Informe Mensal e ledger documental aprovado;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39C9F70-33A2-4BF0-9098-6F00C2FC118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37824A2-A95F-4B6F-AF51-58A96F7BB819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3A49435-CDCB-4B96-9906-1792B65DBA1C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ÂMBAR ENERGIA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9EFEA5F-FB2B-48C8-8130-EDB1D9BC8902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R$ 112,2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A5E3669-71F1-431D-BB64-C71B30E24965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4AB7425-C49D-478E-A5F2-081BA7C3289E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ÂMBAR ENERGIA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B42A6087-D32E-46BD-B2F6-11384A194AF4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R$ 94,0 bi</a:t>
            </a:r>
          </a:p>
        </ns0:txBody>
      </ns0:sp>
    </ns0:spTree>
    <ns0:extLst>
      <ns0:ext uri="{BB962C8B-B14F-4D97-AF65-F5344CB8AC3E}">
        <ns3:creationId val="99259014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8E489A2B-FB35-4496-99D4-15E8DEA63D1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9F906E7-B79F-4DA9-953D-EF7C2BA4058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8584C0E-3828-42E9-A5C4-82514EEB8CE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0063BB8-213D-4E8E-8FCF-C87EA1A719B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5EF34C0-E3EA-4648-9E4C-EFCBBAC4BFF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Top 15: R$ 106,3 bi em dez/25 e R$ 121,1 bi em jun/26. Fonte: CVM, Informe Mensal e ledger documental aprovado;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C8B4073-5B4A-4D9D-8D15-0FFA4CA6E61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E3EDBC9-897D-4E4B-8BCB-CEF588193384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5DFFDEA-1C07-47BB-A796-63992D9F17A6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Mercado Livre*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9603483-8179-4786-8025-645FD05C5D0B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R$ 121,1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4194092-2D35-485B-B3A9-28A51DB7BCA8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18592B6-30C5-4C9A-8B82-427860BDC347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Mercado Livre*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Parati Crédito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5,0%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010CC552-C04F-4388-87B7-0F5122349D7D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R$ 106,3 bi</a:t>
            </a:r>
          </a:p>
        </ns0:txBody>
      </ns0:sp>
    </ns0:spTree>
    <ns0:extLst>
      <ns0:ext uri="{BB962C8B-B14F-4D97-AF65-F5344CB8AC3E}">
        <ns3:creationId val="87125039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38209996-2D71-4D6F-B9F5-01F1B51CF0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67452FB-CEBF-4503-B584-49D73F97FD8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D8DF85B-C375-4A27-81EB-C1D8256016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90C939B-36BE-4B33-B8F5-8EAFBAEA053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079559C-78E1-4EA7-8B5C-9D8ED14B574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Top 15: R$ 60,9 bi em dez/25 e R$ 55,1 bi em jun/26. Fonte: CVM, Informe Mensal e ledger documental aprovado;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27E62C8-0C98-4C9B-99DB-FE4EA44641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6BE7357-FB24-4BC7-AEDD-7EBEC1558B88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4C88239-9394-4586-BB16-CE12C4B61A56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1E846440-4770-4471-807E-C00C553BBD67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R$ 55,1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236ADB-93E9-47E6-A721-5FA586F1E99B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6362BE7-221E-48AB-B1A1-6CC9E1BA241C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2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CABFDB4F-93A6-48C1-BF69-DBB59E4E2BCE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R$ 60,9 bi</a:t>
            </a:r>
          </a:p>
        </ns0:txBody>
      </ns0:sp>
    </ns0:spTree>
    <ns0:extLst>
      <ns0:ext uri="{BB962C8B-B14F-4D97-AF65-F5344CB8AC3E}">
        <ns3:creationId val="111038888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5" name="">
            <a:extLst>
              <a:ext uri="{FF2B5EF4-FFF2-40B4-BE49-F238E27FC236}">
                <ns2:creationId id="{27F23F58-9E1D-4013-A4A8-E982B34228A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COBERTURA POR TAXONOMIA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CA2F86A-0CA5-4DD1-90CD-6D4A851D0F4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Veículos tem 8 pares com subordinação e permanece sem PL mensurável na Carteira 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1827865-67B8-41CA-9627-51D08BB396B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30A4881-DF52-48C0-A2B2-FECA67702EB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5B7E5E9-99E2-4753-A1E9-4103DFA078E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 FundosNet/B3 lidos por CNPJ. Lacunas permanecem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34BA56-6E11-4332-9EB4-55DC1D7AA26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CAAEF9C-675A-493E-82A5-53A48D43BD32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352425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D960A84B-629B-47FC-8C60-64F685BFCEE2}"/>
              </a:ext>
            </a:extLst>
          </ns0:cNvPr>
          <ns0:cNvSpPr>
            <a:spLocks noGrp="1"/>
          </ns0:cNvSpPr>
          <ns0:nvPr/>
        </ns0:nvSpPr>
        <ns0:spPr>
          <a:xfrm>
            <a:off x="685800" y="132397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MÍNIMO JÚNIOR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1BFE13B-4FEA-49CC-B713-F863485B5582}"/>
              </a:ext>
            </a:extLst>
          </ns0:cNvPr>
          <ns0:cNvSpPr>
            <a:spLocks noGrp="1"/>
          </ns0:cNvSpPr>
          <ns0:nvPr/>
        </ns0:nvSpPr>
        <ns0:spPr>
          <a:xfrm>
            <a:off x="2095500" y="13049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83/101 · 82,2%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A9881423-DBB3-44EF-9575-6A20E06FF70F}"/>
              </a:ext>
            </a:extLst>
          </ns0:cNvPr>
          <ns0:cNvSpPr>
            <a:spLocks noGrp="1"/>
          </ns0:cNvSpPr>
          <ns0:nvPr/>
        </ns0:nvSpPr>
        <ns0:spPr>
          <a:xfrm>
            <a:off x="4286250" y="1257300"/>
            <a:ext cx="3524250" cy="5143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6EDC85D7-72DC-48E8-B145-90B8DEF2720F}"/>
              </a:ext>
            </a:extLst>
          </ns0:cNvPr>
          <ns0:cNvSpPr>
            <a:spLocks noGrp="1"/>
          </ns0:cNvSpPr>
          <ns0:nvPr/>
        </ns0:nvSpPr>
        <ns0:spPr>
          <a:xfrm>
            <a:off x="4400550" y="132397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MÍNIMO ESTRUTURAL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54A1AD0-9851-47F7-BE7B-4D080B13AD87}"/>
              </a:ext>
            </a:extLst>
          </ns0:cNvPr>
          <ns0:cNvSpPr>
            <a:spLocks noGrp="1"/>
          </ns0:cNvSpPr>
          <ns0:nvPr/>
        </ns0:nvSpPr>
        <ns0:spPr>
          <a:xfrm>
            <a:off x="5810250" y="13049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1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99/101 · 98,0%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635F8F1A-2E2D-4DC8-B8A0-9902C631ECA1}"/>
              </a:ext>
            </a:extLst>
          </ns0:cNvPr>
          <ns0:cNvSpPr>
            <a:spLocks noGrp="1"/>
          </ns0:cNvSpPr>
          <ns0:nvPr/>
        </ns0:nvSpPr>
        <ns0:spPr>
          <a:xfrm>
            <a:off x="8001000" y="1257300"/>
            <a:ext cx="352425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F0251B03-D993-46B2-BD8C-C97BE5411D31}"/>
              </a:ext>
            </a:extLst>
          </ns0:cNvPr>
          <ns0:cNvSpPr>
            <a:spLocks noGrp="1"/>
          </ns0:cNvSpPr>
          <ns0:nvPr/>
        </ns0:nvSpPr>
        <ns0:spPr>
          <a:xfrm>
            <a:off x="8115300" y="132397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FOLGA COMPARÁVEL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81CF06D-1B29-4114-8253-28C0E88148B3}"/>
              </a:ext>
            </a:extLst>
          </ns0:cNvPr>
          <ns0:cNvSpPr>
            <a:spLocks noGrp="1"/>
          </ns0:cNvSpPr>
          <ns0:nvPr/>
        </ns0:nvSpPr>
        <ns0:spPr>
          <a:xfrm>
            <a:off x="9525000" y="13049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23/101 CNPJs</a:t>
            </a:r>
          </a:p>
        </ns0:txBody>
      </ns0:sp>
      <ns0:graphicFrame>
        <ns0:nvGraphicFramePr>
          <ns0:cNvPr id="40" name=""/>
          <ns0:cNvGraphicFramePr/>
          <ns0:nvPr/>
        </ns0:nvGraphicFramePr>
        <ns0:xfrm>
          <a:off x="619125" y="1943100"/>
          <a:ext cx="11001375" cy="3714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1190625"/>
                <a:gridCol w="1381125"/>
                <a:gridCol w="1381125"/>
                <a:gridCol w="2095500"/>
                <a:gridCol w="1571625"/>
                <a:gridCol w="1714500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 · 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dos veículos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47 flagships · 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Presença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localizado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estrutural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37/54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42/54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53/54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15/15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INSS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8/8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CNPJ no escopo; PL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7" name="">
            <a:extLst>
              <a:ext uri="{FF2B5EF4-FFF2-40B4-BE49-F238E27FC236}">
                <ns2:creationId id="{6A7FE9A8-9D34-4CFF-94E0-22E43C1B3E2E}"/>
              </a:ext>
            </a:extLst>
          </ns0:cNvPr>
          <ns0:cNvSpPr>
            <a:spLocks noGrp="1"/>
          </ns0:cNvSpPr>
          <ns0:nvPr/>
        </ns0:nvSpPr>
        <ns0:spPr>
          <a:xfrm>
            <a:off x="571500" y="2200275"/>
            <a:ext cx="47625" cy="493939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4EB3ED82-0524-45ED-9C30-9187F13D82D2}"/>
              </a:ext>
            </a:extLst>
          </ns0:cNvPr>
          <ns0:cNvSpPr>
            <a:spLocks noGrp="1"/>
          </ns0:cNvSpPr>
          <ns0:nvPr/>
        </ns0:nvSpPr>
        <ns0:spPr>
          <a:xfrm>
            <a:off x="571500" y="2694214"/>
            <a:ext cx="47625" cy="493939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A52D2A27-11D3-428E-8299-78DA7A7CB0DF}"/>
              </a:ext>
            </a:extLst>
          </ns0:cNvPr>
          <ns0:cNvSpPr>
            <a:spLocks noGrp="1"/>
          </ns0:cNvSpPr>
          <ns0:nvPr/>
        </ns0:nvSpPr>
        <ns0:spPr>
          <a:xfrm>
            <a:off x="571500" y="3188154"/>
            <a:ext cx="47625" cy="493939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2ABC5C7D-829F-42F3-96BD-5AD2DC7E4FDB}"/>
              </a:ext>
            </a:extLst>
          </ns0:cNvPr>
          <ns0:cNvSpPr>
            <a:spLocks noGrp="1"/>
          </ns0:cNvSpPr>
          <ns0:nvPr/>
        </ns0:nvSpPr>
        <ns0:spPr>
          <a:xfrm>
            <a:off x="571500" y="3682093"/>
            <a:ext cx="47625" cy="493939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9D6FDCE7-BA30-4BD3-91FC-1B1F8039CC4F}"/>
              </a:ext>
            </a:extLst>
          </ns0:cNvPr>
          <ns0:cNvSpPr>
            <a:spLocks noGrp="1"/>
          </ns0:cNvSpPr>
          <ns0:nvPr/>
        </ns0:nvSpPr>
        <ns0:spPr>
          <a:xfrm>
            <a:off x="571500" y="4176032"/>
            <a:ext cx="47625" cy="493939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28E2D7F7-C1E4-482C-851F-C84BC1461C5E}"/>
              </a:ext>
            </a:extLst>
          </ns0:cNvPr>
          <ns0:cNvSpPr>
            <a:spLocks noGrp="1"/>
          </ns0:cNvSpPr>
          <ns0:nvPr/>
        </ns0:nvSpPr>
        <ns0:spPr>
          <a:xfrm>
            <a:off x="571500" y="4669971"/>
            <a:ext cx="47625" cy="493939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DB467650-ECA8-4A5B-89CB-1A93CBA2EC71}"/>
              </a:ext>
            </a:extLst>
          </ns0:cNvPr>
          <ns0:cNvSpPr>
            <a:spLocks noGrp="1"/>
          </ns0:cNvSpPr>
          <ns0:nvPr/>
        </ns0:nvSpPr>
        <ns0:spPr>
          <a:xfrm>
            <a:off x="571500" y="5163911"/>
            <a:ext cx="47625" cy="493939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643E20E-E598-4E4E-9D14-C258AB03933F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suporte total, combinado, calculado ou ajustado; a natureza está indicada por linha. PL é o patrimônio do veículo; o valor encarteirado por ativo não está disponível nesta base.</a:t>
            </a:r>
          </a:p>
        </ns0:txBody>
      </ns0:sp>
    </ns0:spTree>
    <ns0:extLst>
      <ns0:ext uri="{BB962C8B-B14F-4D97-AF65-F5344CB8AC3E}">
        <ns3:creationId val="910705550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585F8D09-4023-4492-8AFF-D404149834D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VS. PARES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89890F-988B-4F79-899C-37B728A979E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Subordinação atual da Carteira I por tipo, com referência aos 47 CNPJs flagship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AA6AA6-8217-428D-9E64-FB93B2A30AA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ECBD493-0FF9-4CAF-A9FD-3F559F1829D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0EBF2F8-30DB-441A-BC82-42E1CEB15E2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medianas usam somente CNPJs com subordinação atual calculável.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7D4F517-36ED-4BAF-8F95-5D0BF2B57F9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D4AE424-6DA6-4BD2-8E35-F4E8606275C8}"/>
              </a:ext>
            </a:extLst>
          </ns0:cNvPr>
          <ns0:cNvSpPr>
            <a:spLocks noGrp="1"/>
          </ns0:cNvSpPr>
          <ns0:nvPr/>
        </ns0:nvSpPr>
        <ns0:spPr>
          <a:xfrm>
            <a:off x="571500" y="121920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seta mostra a distância para a mediana dos pares. A cor lateral identifica a taxonomia; situação regulatória é tratada no slide seguinte.</a:t>
            </a:r>
          </a:p>
        </ns0:txBody>
      </ns0:sp>
      <ns0:graphicFrame>
        <ns0:nvGraphicFramePr>
          <ns0:cNvPr id="24" name=""/>
          <ns0:cNvGraphicFramePr/>
          <ns0:nvPr/>
        </ns0:nvGraphicFramePr>
        <ns0:xfrm>
          <a:off x="619125" y="1619250"/>
          <a:ext cx="11001375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09750"/>
                <a:gridCol w="1428750"/>
                <a:gridCol w="1476375"/>
                <a:gridCol w="1524000"/>
                <a:gridCol w="1190625"/>
                <a:gridCol w="1285875"/>
                <a:gridCol w="2286000"/>
              </a:tblGrid>
              <a:tr h="2762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 ·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 · pond. 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Flagships ·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Diferença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Pares com dado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+35,8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15/15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↑ acima dos pares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INSS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-1,2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→ em linha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+1,2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→ em linha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8/8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+1,0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→ em linha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E0287296-8B22-4CDE-B717-B08915BC88FA}"/>
              </a:ext>
            </a:extLst>
          </ns0:cNvPr>
          <ns0:cNvSpPr>
            <a:spLocks noGrp="1"/>
          </ns0:cNvSpPr>
          <ns0:nvPr/>
        </ns0:nvSpPr>
        <ns0:spPr>
          <a:xfrm>
            <a:off x="571500" y="1895475"/>
            <a:ext cx="47625" cy="545646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676F8AC0-E132-4498-B583-74378E740C56}"/>
              </a:ext>
            </a:extLst>
          </ns0:cNvPr>
          <ns0:cNvSpPr>
            <a:spLocks noGrp="1"/>
          </ns0:cNvSpPr>
          <ns0:nvPr/>
        </ns0:nvSpPr>
        <ns0:spPr>
          <a:xfrm>
            <a:off x="571500" y="2441121"/>
            <a:ext cx="47625" cy="545646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1E38376E-AFC2-4CAF-9467-45624F770673}"/>
              </a:ext>
            </a:extLst>
          </ns0:cNvPr>
          <ns0:cNvSpPr>
            <a:spLocks noGrp="1"/>
          </ns0:cNvSpPr>
          <ns0:nvPr/>
        </ns0:nvSpPr>
        <ns0:spPr>
          <a:xfrm>
            <a:off x="571500" y="2986768"/>
            <a:ext cx="47625" cy="545646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666DA783-10CD-4094-B02F-7934AD8F1B7F}"/>
              </a:ext>
            </a:extLst>
          </ns0:cNvPr>
          <ns0:cNvSpPr>
            <a:spLocks noGrp="1"/>
          </ns0:cNvSpPr>
          <ns0:nvPr/>
        </ns0:nvSpPr>
        <ns0:spPr>
          <a:xfrm>
            <a:off x="571500" y="3532414"/>
            <a:ext cx="47625" cy="545646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6E355410-7831-4E35-86D8-1035A116988B}"/>
              </a:ext>
            </a:extLst>
          </ns0:cNvPr>
          <ns0:cNvSpPr>
            <a:spLocks noGrp="1"/>
          </ns0:cNvSpPr>
          <ns0:nvPr/>
        </ns0:nvSpPr>
        <ns0:spPr>
          <a:xfrm>
            <a:off x="571500" y="4078061"/>
            <a:ext cx="47625" cy="545646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FCB5A88-598B-42BB-ABBF-2E574C31C289}"/>
              </a:ext>
            </a:extLst>
          </ns0:cNvPr>
          <ns0:cNvSpPr>
            <a:spLocks noGrp="1"/>
          </ns0:cNvSpPr>
          <ns0:nvPr/>
        </ns0:nvSpPr>
        <ns0:spPr>
          <a:xfrm>
            <a:off x="571500" y="4623707"/>
            <a:ext cx="47625" cy="545646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555E9929-EBD3-4006-9F54-19FA1151D6C5}"/>
              </a:ext>
            </a:extLst>
          </ns0:cNvPr>
          <ns0:cNvSpPr>
            <a:spLocks noGrp="1"/>
          </ns0:cNvSpPr>
          <ns0:nvPr/>
        </ns0:nvSpPr>
        <ns0:spPr>
          <a:xfrm>
            <a:off x="571500" y="5169354"/>
            <a:ext cx="47625" cy="545646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DFE62CBB-9115-4C54-AA9F-E822A560FB7B}"/>
              </a:ext>
            </a:extLst>
          </ns0:cNvPr>
          <ns0:cNvSpPr>
            <a:spLocks noGrp="1"/>
          </ns0:cNvSpPr>
          <ns0:nvPr/>
        </ns0:nvSpPr>
        <ns0:spPr>
          <a:xfrm>
            <a:off x="571500" y="58293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3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Mediana descreve o ativo típico; média ponderada pelo PL descreve onde está o patrimônio dos veículos. Grupos com menos de cinco pares ficam sem benchmark confiável.</a:t>
            </a:r>
          </a:p>
        </ns0:txBody>
      </ns0:sp>
    </ns0:spTree>
    <ns0:extLst>
      <ns0:ext uri="{BB962C8B-B14F-4D97-AF65-F5344CB8AC3E}">
        <ns3:creationId val="1746382392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610FBAAA-269B-47FC-AE02-C915B38E88B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ATIVOS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28F7224-1E98-4B31-B554-76B2415BDDA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836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23 CNPJs têm folga calculável; a tabela prioriza menor capacidade de absorção e maior PL do veículo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F01735C-C42B-430E-AA82-7215484EA1D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8512092-F8E1-4384-9B6D-F7F9B597593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CC57B1C-BA58-46E2-B134-0715EDA19DE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 FundosNet/B3. Folga e absorção ficam N/D quando a tranche ou o denominador não são comparáveis.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2A0D746-B4DD-4F0D-909D-76EF5E9167D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314450"/>
          <a:ext cx="11049000" cy="44958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381250"/>
                <a:gridCol w="1190625"/>
                <a:gridCol w="1047750"/>
                <a:gridCol w="1000125"/>
                <a:gridCol w="1047750"/>
                <a:gridCol w="952500"/>
                <a:gridCol w="952500"/>
                <a:gridCol w="1000125"/>
                <a:gridCol w="14763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Ativo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veículo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Mínimo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Absorção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MCPO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R$ 113,3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-20,0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abaixo do mínimo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SOTREQ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R$ 205,2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-1,4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abaixo do mínimo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MAQNELSON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R$ 100,0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-0,8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abaixo do mínimo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+0,5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DESBRAVA UNO ARTIGOS ESPORTIVOS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R$ 343,6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+0,4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PERNAMBUCANAS FIDC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R$ 226,6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+0,9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SOULPAY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R$ 78,4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+1,0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WORKCAP AGRO FUNDO DE INVESTIMENTO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R$ 443,2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+1,6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AKIRA I FUNDO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R$ 308,2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+2,3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AGRO CAPITAL FINANCE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R$ 522,1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+2,2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acima do mínimo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NATURA PAY FUNDO DE INVESTIMENTO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25,26%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+3,1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acima do mínimo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SOLO FUNDO DE INVESTIMENTO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R$ 378,1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4,76%*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 calc.*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+5,4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acima do mínimo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8" name="">
            <a:extLst>
              <a:ext uri="{FF2B5EF4-FFF2-40B4-BE49-F238E27FC236}">
                <ns2:creationId id="{F54F0FB9-A9B8-4BA3-883E-5FD22FAA8C66}"/>
              </a:ext>
            </a:extLst>
          </ns0:cNvPr>
          <ns0:cNvSpPr>
            <a:spLocks noGrp="1"/>
          </ns0:cNvSpPr>
          <ns0:nvPr/>
        </ns0:nvSpPr>
        <ns0:spPr>
          <a:xfrm>
            <a:off x="571500" y="5886450"/>
            <a:ext cx="11049000" cy="304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suporte total, combinado, calculado ou ajustado; a natureza está indicada por linha. PL é o patrimônio do veículo; o valor encarteirado por ativo não está disponível nesta base.</a:t>
            </a:r>
          </a:p>
        </ns0:txBody>
      </ns0:sp>
    </ns0:spTree>
    <ns0:extLst>
      <ns0:ext uri="{BB962C8B-B14F-4D97-AF65-F5344CB8AC3E}">
        <ns3:creationId val="846077031"/>
      </ns0:ext>
    </ns0:extLst>
  </ns0:cSld>
</ns0:sld>
</file>

<file path=ppt/slides/slide1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6604D67-07DD-4C60-B039-B37D06548CF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652791B-7F13-4912-B61A-82E7C959EDB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2D48440-968A-4B06-A02D-3C77C9BF5F1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0D84C48-6063-497C-8197-36CBD8736D5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4847E5E-FF64-48BE-A801-B0697FD338F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0BEE4D-3AAA-4722-840F-C555EE573F2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75B37CB-3A2B-4763-8DF3-C503FADB3251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33110C-D435-42AB-A690-E5756F57B098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0b883c6bf880428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F858AF7-9D15-4F6B-BD23-F2BD2DBB4DD4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74A77DA-015B-40A4-9C30-71F94F8CAB88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bd589fb139dd49bb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48209567a10143f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6FE7387-6F86-4626-B6C7-688DD85F2057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438650"/>
          <a:ext cx="11049000" cy="1428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249B7F77-1EE1-4205-A996-990CC78AFDE9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947922215"/>
      </ns0:ext>
    </ns0:extLst>
  </ns0:cSld>
</ns0:sld>
</file>

<file path=ppt/slides/slide1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5E13724E-B91C-4637-A4EF-7FFEC52FFAD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AF378BA-5B49-46E3-ACB3-F9BE9F0CDD5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E9D3734-6B44-4412-AD30-D3FCE39D963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0868469-DEF2-44A7-863A-DA7EFE92593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E09FC3A-8BE7-48FC-9488-B6F40656E24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B287623-9B4F-4DAC-94BE-BEBEE41E0F8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CA2F84F-583B-454C-A630-F6F24A5539F4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D6DB7F5-5588-46A6-B1B7-3054D311CDB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9e3c4c01565f4f9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6D47169-77AD-49C3-BE6F-0D49145A7180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AA035E1-9504-469F-BAF9-3FFD276DF11C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cea7dda405be4ff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75B6CDE3-BD5B-46BB-B5E2-DCD027864DF7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9E8EF6A-6A62-4813-BE3C-0A87050FA619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03a03a02810c4d4d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4122b1dbd3243f8"/>
          </a:graphicData>
        </a:graphic>
      </ns0:graphicFrame>
      <ns0:sp>
        <ns0:nvSpPr>
          <ns0:cNvPr id="17" name="">
            <a:extLst>
              <a:ext uri="{FF2B5EF4-FFF2-40B4-BE49-F238E27FC236}">
                <ns2:creationId id="{F3F5BF82-81B9-40AB-9062-95B32BBC0893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59BBBD3-E554-4E1F-935F-EB91FABF8DDF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0DC5624-9D83-42FA-9A11-79C0D7B0D6AA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97548D15-3969-4851-8C83-9D23D6B00F3E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44F0AF18-9D21-4036-93B0-A7C94E4C3D8B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2D33D41-764C-406F-AD5D-1A1D5078762E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2CBC5A74-873E-47F2-99FD-85520F3EF137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33DD7ED8-2510-41B6-9C19-940B63578C4A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F760683A-7440-4D16-8D69-65242F635754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839011953"/>
      </ns0:ext>
    </ns0:extLst>
  </ns0:cSld>
</ns0:sld>
</file>

<file path=ppt/slides/slide1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4A063740-9243-40DA-ACAA-1E4B58F7525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559B9D1-9B06-4166-A962-10AEAA58347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8CD57CC-8CA4-44D2-9CC6-CC0F4A9C8FE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D33B50C-9D97-49EA-8508-03AD09989A8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B33D261-2F7D-4675-A7F2-3177C8DA052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7E14B66-97A1-4E25-8900-BA8F1D38EBC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CD4AD6C-68CF-4AE5-A37D-F64822DBB171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70%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8B15ADF-86A9-49AB-B81F-5F945DF80DD5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CD30087-FD76-4F8C-8E9B-2BCE56BBC16C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49932583c4b740cd"/>
          </a:graphicData>
        </a:graphic>
      </ns0:graphicFrame>
      <ns0:sp>
        <ns0:nvSpPr>
          <ns0:cNvPr id="11" name="">
            <a:extLst>
              <a:ext uri="{FF2B5EF4-FFF2-40B4-BE49-F238E27FC236}">
                <ns2:creationId id="{F84D9E05-8278-46EB-BBEF-16DF664BC9BB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1B16EBB-FA0D-4E66-A2EE-22C104EC9DD7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e7e8c51bc7874e66"/>
          </a:graphicData>
        </a:graphic>
      </ns0:graphicFrame>
      <ns0:graphicFrame>
        <ns0:nvGraphicFramePr>
          <ns0:cNvPr id="35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0597d17dfead4e4e"/>
          </a:graphicData>
        </a:graphic>
      </ns0:graphicFrame>
      <ns0:sp>
        <ns0:nvSpPr>
          <ns0:cNvPr id="15" name="">
            <a:extLst>
              <a:ext uri="{FF2B5EF4-FFF2-40B4-BE49-F238E27FC236}">
                <ns2:creationId id="{DA9CAE3B-B639-4D8C-BB07-5D8DA0BF85BA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D344A1EE-53B1-47E4-AE8D-CF7624A5E4B0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BF3E575-7532-4D80-A5F4-4880709CB0F4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eafe2418c68e4c4e"/>
          </a:graphicData>
        </a:graphic>
      </ns0:graphicFrame>
      <ns0:sp>
        <ns0:nvSpPr>
          <ns0:cNvPr id="19" name="">
            <a:extLst>
              <a:ext uri="{FF2B5EF4-FFF2-40B4-BE49-F238E27FC236}">
                <ns2:creationId id="{853A3893-3977-4F5C-B314-62CAB346EBE4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4FA917F7-9259-442A-B884-17B08A0CDC30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9728d3aab3944f3a"/>
          </a:graphicData>
        </a:graphic>
      </ns0:graphicFrame>
    </ns0:spTree>
    <ns0:extLst>
      <ns0:ext uri="{BB962C8B-B14F-4D97-AF65-F5344CB8AC3E}">
        <ns5:creationId val="762513487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A62EF86-D748-4DE4-AC19-C1888EAE60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4B5A943-88A5-4B4D-A5D8-F6455067397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635CCF-E8EF-4C99-BDC2-21C4DA4D1D6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F3BAB81-8213-408B-8A52-9E3153DD21B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D8BE37F-851C-4210-96EB-86B1C6B7DB4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5D42052-592D-4F27-939F-C29CA04A4BF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820738B-B27E-4ABF-AEA0-7BA8DCA75511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B0CB058-BA09-4B5F-AA6E-0F95DDBE89B8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24947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22244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62.588.266/0001-54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25826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65.976.848/0001-04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Agibank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24712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50.114.948/0001-46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Volkswagen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24433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63.572.282/0001-11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25379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63.546.406/0001-94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1,5% inicial;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26277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65.839.682/0001-76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23614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63.733.796/0001-01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ICred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24212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64.118.207/0001-48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24371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62.393.829/0001-59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Fornecedores de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25708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PagSeguro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24266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63.505.455/0001-89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26532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66.226.355/0001-01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23529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61.669.748/0001-76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Lavoro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23032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44.302.112/0001-72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Bayer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9E003DCB-85AD-4B9C-9E09-1988361C6D8E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A5EDFB3-305B-46CE-BC1E-4F9344BA1A58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17862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20185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60.356.171/0001-80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23734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63.662.224/0001-89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Santander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20351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60.528.786/0001-46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Agibank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19640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59.356.753/0001-87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21258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56.924.942/0001-10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aplicável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18230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20365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20694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50.473.039/0001-02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21550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60.598.366/0001-36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BV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22987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63.321.684/0001-43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19298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58.349.979/0001-98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Volkswagen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21006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61.188.091/0001-25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21036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61.271.872/0001-89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21208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17.250.006/0001-10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8B05A511-386C-4F19-BFF6-F02A1008F3E9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AB4F5EF-0143-47B9-BDB7-77D18ED925C3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DD0D655-0ED2-45C7-938E-99118B121ADD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O = originador; C = cedente; S = subordinação mínima; P = preço de emissão por tipo de cota. CNPJ e emissão formam a chave de cada linha; N/D indica lacuna documental.</a:t>
            </a:r>
          </a:p>
        </ns0:txBody>
      </ns0:sp>
    </ns0:spTree>
    <ns0:extLst>
      <ns0:ext uri="{BB962C8B-B14F-4D97-AF65-F5344CB8AC3E}">
        <ns3:creationId val="1802002407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52C38AAD-47DB-4CEF-8CF5-1C47B67FD99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7DC5660-C8D1-4D1E-84D8-E27B89265B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campos documentais por CNPJ e emissão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9532A2E-FE15-454D-8B01-5811884F7CB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C918E80-03BD-468F-92A9-2076F8A839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F6CE08-BE11-4D6B-88E8-F85731B417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78058F7-3EC9-4305-838E-B3C072540A9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29306B4-F4ED-42AD-B41F-CBC3155721CD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6BA6DB0-3A3B-400D-89BC-F7DC44060CFE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18162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57.532.556/0001-46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BV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15612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54.979.779/0001-68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3627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3794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32.321.307/0001-80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4203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52.256.912/0001-22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17739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57.609.282/0001-46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15753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54.810.968/0001-02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15714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18270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46.450.551/0001-58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D365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16416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55.471.753/0001-77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33,3%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18027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PagSeguro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3687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46.073.195/0001-09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18122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57.028.406/0001-08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Solfácil SCD*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14966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54.218.673/0001-41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15820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55.070.804/0001-59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C247868-43F1-4D09-90B7-95EEC48536A6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48C2CF0-241E-4F4B-A5C5-3A3F383B6ECB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AAC0977-221E-4673-884F-627E0B3EDB8A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1758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50.473.039/0001-02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Mercado Livre*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3483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51.983.832/0001-06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816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48.905.593/0001-61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3468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52.720.932/0001-02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1744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50.114.948/0001-46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2925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51.957.370/0001-52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578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49.306.883/0001-51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3491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47.936.340/0001-92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3865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34.850.088/0001-52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2036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49.920.525/0001-34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2004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50.098.465/0001-03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1131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24.761.946/0001-39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3138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50.988.212/0001-05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1519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50.440.392/0001-88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1433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35.159.296/0001-72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019FB7AE-72A3-40FA-BE71-D2D5BC82D4B8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0D29346-F40A-4EC6-9C33-0A41A36D4EDD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O = originador; C = cedente; S = subordinação mínima; P = preço de emissão por tipo de cota. Cada linha usa CNPJ e emissão como chave; lacuna documental permanece N/D.</a:t>
            </a:r>
          </a:p>
        </ns0:txBody>
      </ns0:sp>
    </ns0:spTree>
    <ns0:extLst>
      <ns0:ext uri="{BB962C8B-B14F-4D97-AF65-F5344CB8AC3E}">
        <ns3:creationId val="1845822287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2A0DB6B5-56A0-4782-8840-26B42F9693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8CA1C39-C299-4CFB-B158-F59EF0A2882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DCEC6E8-28C5-4C5B-8279-C7BAE1DE077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5D39F73-DB2C-4EF9-A375-74DD3DE34FD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014B3C0-D546-4F75-B6D5-6EEA399591C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6879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B86AA7-DE4D-4BE1-AF12-EBC8F1F49FE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5AEFB4F-CF10-4433-BF90-D6A27B053269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406E7C4-99E9-4986-B016-3AC30994C58B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DF83D177-3FDD-437F-932E-940E99E3BCF7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347A2860-61B1-4FD1-AF32-860B34A6806C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543C300-8D9D-4EEC-AAAB-1BAAF3FDDAD4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17592FF-0970-42A7-A787-F2FFA4F35552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BD3938FB-77C5-47C7-B5BF-BD031F434917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CD419B5-17D5-45EC-B8D8-82655F15005F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AF1CD0A-FC50-41C5-8116-B46AA3E5164D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4F8F5CC-3025-4671-8D88-EB271FCC57A5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1ECDD3B-F6A8-40DE-8957-68C6295EAC4B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8EB80697-5BF4-447C-80C5-ACA48B9C1AB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57E086FF-FDB1-4474-8764-8A778F9A2A41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89D51534-6A40-4F6B-8542-DCA856F116E8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7453D21-3779-4BD2-AF37-F80D4458E3D2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980B8CBA-8554-4E83-A784-4B48579CFFAE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6E2DD8BC-03D3-4178-8D68-EC035428B04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88EB2738-999C-4CD6-95CD-DF2801F9373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FCDA7BA4-67DA-47A0-908E-A9778CD9C696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FB9B9333-C34A-4558-ACBF-10802B05741D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4396BD96-C276-4D16-A631-1DAFA6055D97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48868273"/>
      </ns0:ext>
    </ns0:extLst>
  </ns0:cSld>
</ns0:sld>
</file>

<file path=ppt/slides/slide2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59C1D890-DAD4-4BF5-8B70-6E3102A3113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48971C6-DD95-44AE-91D5-E62D159A8DE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3BEF703-4D68-4A58-875E-BEC22B46603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D8D452C-D531-41F7-9D6B-D1CA81312AF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734A7CF-F950-4505-B454-738D6512E6C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CFB2AA4-16F2-4425-90F2-A2853C6F611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7b813035a1f6423c"/>
          </a:graphicData>
        </a:graphic>
      </ns0:graphicFrame>
      <ns0:sp>
        <ns0:nvSpPr>
          <ns0:cNvPr id="8" name="">
            <a:extLst>
              <a:ext uri="{FF2B5EF4-FFF2-40B4-BE49-F238E27FC236}">
                <ns2:creationId id="{06DB9845-A949-4395-B8AD-6323C34D79FD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1778083-C258-4973-B1B0-873C4A9A346A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D5A360A7-2C8E-464C-BFC6-099F6B2AB07E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90ebcf2e664647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269FED4A-F4CD-4542-95CE-7DA228DE4271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561e857e970c4213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99985F3-444D-47A0-BD87-DC4E2516EE6C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426e6a82b10545f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6E7DD853-9A34-4B7C-B08D-E4A752FA8F2C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86cb599b31b2493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2EFBAC2-DCD4-4765-B734-30389FEFCBAD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d91969499a2c4cb9"/>
          </a:graphicData>
        </a:graphic>
      </ns0:graphicFrame>
      <ns0:sp>
        <ns0:nvSpPr>
          <ns0:cNvPr id="20" name="">
            <a:extLst>
              <a:ext uri="{FF2B5EF4-FFF2-40B4-BE49-F238E27FC236}">
                <ns2:creationId id="{9CB99CB2-1042-49E4-A8AE-B0CEA6E937BF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f20bea4f0d7647ab"/>
          </a:graphicData>
        </a:graphic>
      </ns0:graphicFrame>
    </ns0:spTree>
    <ns0:extLst>
      <ns0:ext uri="{BB962C8B-B14F-4D97-AF65-F5344CB8AC3E}">
        <ns5:creationId val="859750146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C849E126-8910-424D-AA9D-518988B818C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676C4C2-9C28-4986-B884-51A3A0321FF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3B4CAF6-3478-46CD-81FF-714CC593597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BBAD874-E949-4D8E-9748-EBF61E4C841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4279F3F-76F8-4CB7-ABEE-F2BEA7FD4C9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3FD771D-0D0C-499D-991A-5B5F44EDCDD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E9E4E7D-ED45-4280-9A86-37F9B76DCF6A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B0D465A-E3A5-4727-A247-C932EF2215CC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efcd518213b9436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232CD4-9196-495D-9ADD-51EDF93C1121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B6F8150E-03AE-4E8B-B8C8-F61C12DA86AA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D8C2B1A-D77C-454C-A84F-6D3551BCB7D6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2c9fa2ff870547b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40AE908-0293-46B2-B00F-7A17537D633C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726937D-74CA-467B-8710-E617467A7BC4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DCF78DC4-2519-49D2-B38B-F2AC5E36BE9F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BDBF2D3-F7AC-4597-90E6-B3A693F19DB6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6E30E846-FED8-454A-8348-28825B84E64F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38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1A85AEEE-7277-4542-8A34-59DFC74AD3A5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AADD98DF-B17D-4AFF-999A-5D1FF75353CC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38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1586658403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1FB0F8AE-1F42-4741-B38D-D46C6FE13F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975E420-2F66-4334-A03F-F132B800421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DF8159E-055A-490D-BFBA-A7FE41E6207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FED87B-C00D-4A79-9CBE-656927E119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F5A036-46FF-4995-BD2E-DA1FF36B689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720C693-ABF2-4A57-97A4-C4337E7F886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62DFA28-587D-4C02-A380-7DEFDF42622A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9871E47-12C5-4324-8CC3-D971DB9C54C6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2c4430999ec0492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1448F34-AE54-423E-861C-9806AB9943AC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B3CFBFC-42CF-41F0-97CE-C62C0C93ACB9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9858994cfffc419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4A0ED44-732F-4390-9202-415F182A9589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C75933B-3104-46F8-8A2D-DFF1EA96AC78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57735def95cc403a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501B238-1C6E-4D8E-940C-29B0658F9EDE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8841508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F0EA4C40-6081-449C-BB1E-6A4900625FE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55769B3-281E-4EBD-9ACD-C9262BD6DF0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D844ED6-6E59-4951-9802-00B22DABF06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B6E656F-5F6F-4982-8F55-CF4120DCBE8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31BC909-9FC8-437D-924A-7DD48F98F7A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00C2E6D-79CC-4966-A990-7F8EE63BF2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02da428e711e4e6f"/>
          </a:graphicData>
        </a:graphic>
      </ns0:graphicFrame>
      <ns0:sp>
        <ns0:nvSpPr>
          <ns0:cNvPr id="8" name="">
            <a:extLst>
              <a:ext uri="{FF2B5EF4-FFF2-40B4-BE49-F238E27FC236}">
                <ns2:creationId id="{B63F22FE-89E3-4D83-92BB-6540CB8C3ED4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0F2FD60-D0C6-4326-9098-CE268780EBC2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7e2fc8d4e52f47a5"/>
          </a:graphicData>
        </a:graphic>
      </ns0:graphicFrame>
      <ns0:sp>
        <ns0:nvSpPr>
          <ns0:cNvPr id="11" name="">
            <a:extLst>
              <a:ext uri="{FF2B5EF4-FFF2-40B4-BE49-F238E27FC236}">
                <ns2:creationId id="{813DF103-8623-4729-8861-5E9659316A1C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2CED8BC-E94C-4289-9CD5-DEE031236CC4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00f09629ad3441c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397123B-BD0A-4307-8CFE-14E8320EE0AD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D74A8FF-CE50-43D7-9243-2503D83AD8AA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ee5d91e9963b494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5F2E0983-E74C-453B-A49F-A93F82C3F6B7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D52B3013-48E5-4660-A038-771042C1720A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A965708-0611-4807-924C-4FFC3C94EFD7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0c8df925a39942c1"/>
          </a:graphicData>
        </a:graphic>
      </ns0:graphicFrame>
      <ns0:sp>
        <ns0:nvSpPr>
          <ns0:cNvPr id="21" name="">
            <a:extLst>
              <a:ext uri="{FF2B5EF4-FFF2-40B4-BE49-F238E27FC236}">
                <ns2:creationId id="{0549E2D3-9814-4862-B9BC-65466F3BAA04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C2BC17F-B140-4BBA-94E8-520CA886600C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794198173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2026-08-01T18:10:31.5310000Z</dcterms:created>
  <dcterms:modified xsi:type="dcterms:W3CDTF">2026-08-01T18:10:31.5310000Z</dcterms:modified>
</coreProperties>
</file>