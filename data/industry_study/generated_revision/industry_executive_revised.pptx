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7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8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9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0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3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4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15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16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17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18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19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820e66815846ce" /><Relationship Type="http://schemas.openxmlformats.org/officeDocument/2006/relationships/extended-properties" Target="/docProps/app.xml" Id="R359b124b5ba249d0" /><Relationship Type="http://schemas.openxmlformats.org/officeDocument/2006/relationships/officeDocument" Target="/ppt/presentation.xml" Id="Rf5417cabc9714b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40b060107a4b2d"/>
  </p:sldMasterIdLst>
  <p:notesMasterIdLst>
    <p:notesMasterId xmlns:r="http://schemas.openxmlformats.org/officeDocument/2006/relationships" r:id="Re508b29847fa48e9"/>
  </p:notesMasterIdLst>
  <p:sldIdLst>
    <p:sldId xmlns:r="http://schemas.openxmlformats.org/officeDocument/2006/relationships" id="256" r:id="R261d51cb1e90415e"/>
    <p:sldId xmlns:r="http://schemas.openxmlformats.org/officeDocument/2006/relationships" id="257" r:id="Ra555f33913584dac"/>
    <p:sldId xmlns:r="http://schemas.openxmlformats.org/officeDocument/2006/relationships" id="258" r:id="Rfc5b4d19464349f2"/>
    <p:sldId xmlns:r="http://schemas.openxmlformats.org/officeDocument/2006/relationships" id="259" r:id="R44e1a159e2794f18"/>
    <p:sldId xmlns:r="http://schemas.openxmlformats.org/officeDocument/2006/relationships" id="260" r:id="R42603c6679134ea6"/>
    <p:sldId xmlns:r="http://schemas.openxmlformats.org/officeDocument/2006/relationships" id="261" r:id="Rdff7acb8838247ca"/>
    <p:sldId xmlns:r="http://schemas.openxmlformats.org/officeDocument/2006/relationships" id="262" r:id="R86f0eca31b184041"/>
    <p:sldId xmlns:r="http://schemas.openxmlformats.org/officeDocument/2006/relationships" id="263" r:id="R191abe3df0954cad"/>
    <p:sldId xmlns:r="http://schemas.openxmlformats.org/officeDocument/2006/relationships" id="264" r:id="Re7860f346ee74605"/>
    <p:sldId xmlns:r="http://schemas.openxmlformats.org/officeDocument/2006/relationships" id="265" r:id="R681456fa01594126"/>
    <p:sldId xmlns:r="http://schemas.openxmlformats.org/officeDocument/2006/relationships" id="266" r:id="Rb2551a6f40b54d33"/>
    <p:sldId xmlns:r="http://schemas.openxmlformats.org/officeDocument/2006/relationships" id="267" r:id="R93dcef46c94c40b0"/>
    <p:sldId xmlns:r="http://schemas.openxmlformats.org/officeDocument/2006/relationships" id="268" r:id="R68f9b3f18bc2474b"/>
    <p:sldId xmlns:r="http://schemas.openxmlformats.org/officeDocument/2006/relationships" id="269" r:id="R442da2a7767b43d1"/>
    <p:sldId xmlns:r="http://schemas.openxmlformats.org/officeDocument/2006/relationships" id="270" r:id="Rbf5e84eb1f914d2a"/>
    <p:sldId xmlns:r="http://schemas.openxmlformats.org/officeDocument/2006/relationships" id="271" r:id="Rf53c8e58b8a3481e"/>
    <p:sldId xmlns:r="http://schemas.openxmlformats.org/officeDocument/2006/relationships" id="272" r:id="Ra807f173c28c4595"/>
    <p:sldId xmlns:r="http://schemas.openxmlformats.org/officeDocument/2006/relationships" id="273" r:id="Rd9ac5329d25d42c7"/>
    <p:sldId xmlns:r="http://schemas.openxmlformats.org/officeDocument/2006/relationships" id="274" r:id="R84bbe4d8f54940fc"/>
    <p:sldId xmlns:r="http://schemas.openxmlformats.org/officeDocument/2006/relationships" id="275" r:id="R8217d60ec2da4951"/>
    <p:sldId xmlns:r="http://schemas.openxmlformats.org/officeDocument/2006/relationships" id="276" r:id="R2848a0566a7e410c"/>
    <p:sldId xmlns:r="http://schemas.openxmlformats.org/officeDocument/2006/relationships" id="277" r:id="R41571d73b1d54ef0"/>
    <p:sldId xmlns:r="http://schemas.openxmlformats.org/officeDocument/2006/relationships" id="278" r:id="R648b8ad3ad074ada"/>
    <p:sldId xmlns:r="http://schemas.openxmlformats.org/officeDocument/2006/relationships" id="279" r:id="R44c915a42a0e4876"/>
    <p:sldId xmlns:r="http://schemas.openxmlformats.org/officeDocument/2006/relationships" id="280" r:id="Rf00c3830dc854173"/>
    <p:sldId xmlns:r="http://schemas.openxmlformats.org/officeDocument/2006/relationships" id="281" r:id="Rcc45b00ce6fa4dbc"/>
    <p:sldId xmlns:r="http://schemas.openxmlformats.org/officeDocument/2006/relationships" id="282" r:id="R92cf0253aff34ef9"/>
    <p:sldId xmlns:r="http://schemas.openxmlformats.org/officeDocument/2006/relationships" id="283" r:id="R7f69e882e3674b30"/>
    <p:sldId xmlns:r="http://schemas.openxmlformats.org/officeDocument/2006/relationships" id="284" r:id="Rca55dfb9dd154dfa"/>
    <p:sldId xmlns:r="http://schemas.openxmlformats.org/officeDocument/2006/relationships" id="285" r:id="Rb4441edf23b0414d"/>
    <p:sldId xmlns:r="http://schemas.openxmlformats.org/officeDocument/2006/relationships" id="286" r:id="Rd5261de3dcfc42f2"/>
    <p:sldId xmlns:r="http://schemas.openxmlformats.org/officeDocument/2006/relationships" id="287" r:id="Rf6cbe6c7217040df"/>
    <p:sldId xmlns:r="http://schemas.openxmlformats.org/officeDocument/2006/relationships" id="288" r:id="R13360343331a4abf"/>
    <p:sldId xmlns:r="http://schemas.openxmlformats.org/officeDocument/2006/relationships" id="289" r:id="Rd6d0393493af4585"/>
    <p:sldId xmlns:r="http://schemas.openxmlformats.org/officeDocument/2006/relationships" id="290" r:id="R186ae82c824f456f"/>
    <p:sldId xmlns:r="http://schemas.openxmlformats.org/officeDocument/2006/relationships" id="291" r:id="R3ea2771031924b48"/>
    <p:sldId xmlns:r="http://schemas.openxmlformats.org/officeDocument/2006/relationships" id="292" r:id="R82dea3215b9049ad"/>
    <p:sldId xmlns:r="http://schemas.openxmlformats.org/officeDocument/2006/relationships" id="293" r:id="R2fa6f1c580b14347"/>
    <p:sldId xmlns:r="http://schemas.openxmlformats.org/officeDocument/2006/relationships" id="294" r:id="R10586a0ae3834a52"/>
    <p:sldId xmlns:r="http://schemas.openxmlformats.org/officeDocument/2006/relationships" id="295" r:id="R8a30c1df2b714c5d"/>
    <p:sldId xmlns:r="http://schemas.openxmlformats.org/officeDocument/2006/relationships" id="296" r:id="R75cb68c3fe46422e"/>
    <p:sldId xmlns:r="http://schemas.openxmlformats.org/officeDocument/2006/relationships" id="297" r:id="R15e10f32d089479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e6e6c79b744919" /><Relationship Type="http://schemas.openxmlformats.org/officeDocument/2006/relationships/slideMaster" Target="/ppt/slideMasters/slideMaster1.xml" Id="R9540b060107a4b2d" /><Relationship Type="http://schemas.openxmlformats.org/officeDocument/2006/relationships/notesMaster" Target="/ppt/notesMasters/notesMaster1.xml" Id="Re508b29847fa48e9" /><Relationship Type="http://schemas.openxmlformats.org/officeDocument/2006/relationships/presProps" Target="/ppt/presProps.xml" Id="R434b1f3081e24686" /><Relationship Type="http://schemas.openxmlformats.org/officeDocument/2006/relationships/tableStyles" Target="/ppt/tableStyles.xml" Id="R7a43a588a13f41e9" /><Relationship Type="http://schemas.openxmlformats.org/officeDocument/2006/relationships/slide" Target="/ppt/slides/slide1.xml" Id="R261d51cb1e90415e" /><Relationship Type="http://schemas.openxmlformats.org/officeDocument/2006/relationships/slide" Target="/ppt/slides/slide2.xml" Id="Ra555f33913584dac" /><Relationship Type="http://schemas.openxmlformats.org/officeDocument/2006/relationships/slide" Target="/ppt/slides/slide3.xml" Id="Rfc5b4d19464349f2" /><Relationship Type="http://schemas.openxmlformats.org/officeDocument/2006/relationships/slide" Target="/ppt/slides/slide4.xml" Id="R44e1a159e2794f18" /><Relationship Type="http://schemas.openxmlformats.org/officeDocument/2006/relationships/slide" Target="/ppt/slides/slide5.xml" Id="R42603c6679134ea6" /><Relationship Type="http://schemas.openxmlformats.org/officeDocument/2006/relationships/slide" Target="/ppt/slides/slide6.xml" Id="Rdff7acb8838247ca" /><Relationship Type="http://schemas.openxmlformats.org/officeDocument/2006/relationships/slide" Target="/ppt/slides/slide7.xml" Id="R86f0eca31b184041" /><Relationship Type="http://schemas.openxmlformats.org/officeDocument/2006/relationships/slide" Target="/ppt/slides/slide8.xml" Id="R191abe3df0954cad" /><Relationship Type="http://schemas.openxmlformats.org/officeDocument/2006/relationships/slide" Target="/ppt/slides/slide9.xml" Id="Re7860f346ee74605" /><Relationship Type="http://schemas.openxmlformats.org/officeDocument/2006/relationships/slide" Target="/ppt/slides/slide10.xml" Id="R681456fa01594126" /><Relationship Type="http://schemas.openxmlformats.org/officeDocument/2006/relationships/slide" Target="/ppt/slides/slide11.xml" Id="Rb2551a6f40b54d33" /><Relationship Type="http://schemas.openxmlformats.org/officeDocument/2006/relationships/slide" Target="/ppt/slides/slide12.xml" Id="R93dcef46c94c40b0" /><Relationship Type="http://schemas.openxmlformats.org/officeDocument/2006/relationships/slide" Target="/ppt/slides/slide13.xml" Id="R68f9b3f18bc2474b" /><Relationship Type="http://schemas.openxmlformats.org/officeDocument/2006/relationships/slide" Target="/ppt/slides/slide14.xml" Id="R442da2a7767b43d1" /><Relationship Type="http://schemas.openxmlformats.org/officeDocument/2006/relationships/slide" Target="/ppt/slides/slide15.xml" Id="Rbf5e84eb1f914d2a" /><Relationship Type="http://schemas.openxmlformats.org/officeDocument/2006/relationships/slide" Target="/ppt/slides/slide16.xml" Id="Rf53c8e58b8a3481e" /><Relationship Type="http://schemas.openxmlformats.org/officeDocument/2006/relationships/slide" Target="/ppt/slides/slide17.xml" Id="Ra807f173c28c4595" /><Relationship Type="http://schemas.openxmlformats.org/officeDocument/2006/relationships/slide" Target="/ppt/slides/slide18.xml" Id="Rd9ac5329d25d42c7" /><Relationship Type="http://schemas.openxmlformats.org/officeDocument/2006/relationships/slide" Target="/ppt/slides/slide19.xml" Id="R84bbe4d8f54940fc" /><Relationship Type="http://schemas.openxmlformats.org/officeDocument/2006/relationships/slide" Target="/ppt/slides/slide20.xml" Id="R8217d60ec2da4951" /><Relationship Type="http://schemas.openxmlformats.org/officeDocument/2006/relationships/slide" Target="/ppt/slides/slide21.xml" Id="R2848a0566a7e410c" /><Relationship Type="http://schemas.openxmlformats.org/officeDocument/2006/relationships/slide" Target="/ppt/slides/slide22.xml" Id="R41571d73b1d54ef0" /><Relationship Type="http://schemas.openxmlformats.org/officeDocument/2006/relationships/slide" Target="/ppt/slides/slide23.xml" Id="R648b8ad3ad074ada" /><Relationship Type="http://schemas.openxmlformats.org/officeDocument/2006/relationships/slide" Target="/ppt/slides/slide24.xml" Id="R44c915a42a0e4876" /><Relationship Type="http://schemas.openxmlformats.org/officeDocument/2006/relationships/slide" Target="/ppt/slides/slide25.xml" Id="Rf00c3830dc854173" /><Relationship Type="http://schemas.openxmlformats.org/officeDocument/2006/relationships/slide" Target="/ppt/slides/slide26.xml" Id="Rcc45b00ce6fa4dbc" /><Relationship Type="http://schemas.openxmlformats.org/officeDocument/2006/relationships/slide" Target="/ppt/slides/slide27.xml" Id="R92cf0253aff34ef9" /><Relationship Type="http://schemas.openxmlformats.org/officeDocument/2006/relationships/slide" Target="/ppt/slides/slide28.xml" Id="R7f69e882e3674b30" /><Relationship Type="http://schemas.openxmlformats.org/officeDocument/2006/relationships/slide" Target="/ppt/slides/slide29.xml" Id="Rca55dfb9dd154dfa" /><Relationship Type="http://schemas.openxmlformats.org/officeDocument/2006/relationships/slide" Target="/ppt/slides/slide30.xml" Id="Rb4441edf23b0414d" /><Relationship Type="http://schemas.openxmlformats.org/officeDocument/2006/relationships/slide" Target="/ppt/slides/slide31.xml" Id="Rd5261de3dcfc42f2" /><Relationship Type="http://schemas.openxmlformats.org/officeDocument/2006/relationships/slide" Target="/ppt/slides/slide32.xml" Id="Rf6cbe6c7217040df" /><Relationship Type="http://schemas.openxmlformats.org/officeDocument/2006/relationships/slide" Target="/ppt/slides/slide33.xml" Id="R13360343331a4abf" /><Relationship Type="http://schemas.openxmlformats.org/officeDocument/2006/relationships/slide" Target="/ppt/slides/slide34.xml" Id="Rd6d0393493af4585" /><Relationship Type="http://schemas.openxmlformats.org/officeDocument/2006/relationships/slide" Target="/ppt/slides/slide35.xml" Id="R186ae82c824f456f" /><Relationship Type="http://schemas.openxmlformats.org/officeDocument/2006/relationships/slide" Target="/ppt/slides/slide36.xml" Id="R3ea2771031924b48" /><Relationship Type="http://schemas.openxmlformats.org/officeDocument/2006/relationships/slide" Target="/ppt/slides/slide37.xml" Id="R82dea3215b9049ad" /><Relationship Type="http://schemas.openxmlformats.org/officeDocument/2006/relationships/slide" Target="/ppt/slides/slide38.xml" Id="R2fa6f1c580b14347" /><Relationship Type="http://schemas.openxmlformats.org/officeDocument/2006/relationships/slide" Target="/ppt/slides/slide39.xml" Id="R10586a0ae3834a52" /><Relationship Type="http://schemas.openxmlformats.org/officeDocument/2006/relationships/slide" Target="/ppt/slides/slide40.xml" Id="R8a30c1df2b714c5d" /><Relationship Type="http://schemas.openxmlformats.org/officeDocument/2006/relationships/slide" Target="/ppt/slides/slide41.xml" Id="R75cb68c3fe46422e" /><Relationship Type="http://schemas.openxmlformats.org/officeDocument/2006/relationships/slide" Target="/ppt/slides/slide42.xml" Id="R15e10f32d08947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b84fcb62c94f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a7203646a5466a" /><Relationship Type="http://schemas.openxmlformats.org/officeDocument/2006/relationships/notesMaster" Target="/ppt/notesMasters/notesMaster1.xml" Id="Rbba1d072601245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3456923ddb4d42" /><Relationship Type="http://schemas.openxmlformats.org/officeDocument/2006/relationships/notesMaster" Target="/ppt/notesMasters/notesMaster1.xml" Id="R2643714eb69142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28ad879b954685" /><Relationship Type="http://schemas.openxmlformats.org/officeDocument/2006/relationships/notesMaster" Target="/ppt/notesMasters/notesMaster1.xml" Id="Rf4050fd020684a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cd5a9abd604ed9" /><Relationship Type="http://schemas.openxmlformats.org/officeDocument/2006/relationships/notesMaster" Target="/ppt/notesMasters/notesMaster1.xml" Id="R67623bcf4c694c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7af3e7ab1d4676" /><Relationship Type="http://schemas.openxmlformats.org/officeDocument/2006/relationships/notesMaster" Target="/ppt/notesMasters/notesMaster1.xml" Id="Reb626e97329b456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34d0f353e44c49" /><Relationship Type="http://schemas.openxmlformats.org/officeDocument/2006/relationships/notesMaster" Target="/ppt/notesMasters/notesMaster1.xml" Id="R0ff772e36d1743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1795790c814991" /><Relationship Type="http://schemas.openxmlformats.org/officeDocument/2006/relationships/notesMaster" Target="/ppt/notesMasters/notesMaster1.xml" Id="R52ec7589c9a4450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8a0e5bc8b3a4628" /><Relationship Type="http://schemas.openxmlformats.org/officeDocument/2006/relationships/notesMaster" Target="/ppt/notesMasters/notesMaster1.xml" Id="Rf3ac1ceb6173495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fe54e3a29764c9d" /><Relationship Type="http://schemas.openxmlformats.org/officeDocument/2006/relationships/notesMaster" Target="/ppt/notesMasters/notesMaster1.xml" Id="R006495c007cd4c9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4ad7e8773694386" /><Relationship Type="http://schemas.openxmlformats.org/officeDocument/2006/relationships/notesMaster" Target="/ppt/notesMasters/notesMaster1.xml" Id="Rd9703c157b59426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32e6ad66d9a452c" /><Relationship Type="http://schemas.openxmlformats.org/officeDocument/2006/relationships/notesMaster" Target="/ppt/notesMasters/notesMaster1.xml" Id="Rd70dc1c71e74499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39080144da54103" /><Relationship Type="http://schemas.openxmlformats.org/officeDocument/2006/relationships/notesMaster" Target="/ppt/notesMasters/notesMaster1.xml" Id="Rc97c2a8c8354430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4feefca558c45f1" /><Relationship Type="http://schemas.openxmlformats.org/officeDocument/2006/relationships/notesMaster" Target="/ppt/notesMasters/notesMaster1.xml" Id="R8ecc3efcd8d0404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b9b566370bb45b9" /><Relationship Type="http://schemas.openxmlformats.org/officeDocument/2006/relationships/notesMaster" Target="/ppt/notesMasters/notesMaster1.xml" Id="Rd698cd9f225b45d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8474df399fd40f4" /><Relationship Type="http://schemas.openxmlformats.org/officeDocument/2006/relationships/notesMaster" Target="/ppt/notesMasters/notesMaster1.xml" Id="Re76b9045609d496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125571279d7440c" /><Relationship Type="http://schemas.openxmlformats.org/officeDocument/2006/relationships/notesMaster" Target="/ppt/notesMasters/notesMaster1.xml" Id="R607ac3c3b41149a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a7b622997dd4817" /><Relationship Type="http://schemas.openxmlformats.org/officeDocument/2006/relationships/notesMaster" Target="/ppt/notesMasters/notesMaster1.xml" Id="R8eaf09c57b64470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53a612c8bd9497b" /><Relationship Type="http://schemas.openxmlformats.org/officeDocument/2006/relationships/notesMaster" Target="/ppt/notesMasters/notesMaster1.xml" Id="R030a539a697542e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9ee6109bde94345" /><Relationship Type="http://schemas.openxmlformats.org/officeDocument/2006/relationships/notesMaster" Target="/ppt/notesMasters/notesMaster1.xml" Id="Rb5bba85ed8284e3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d2ea07ac6d840bd" /><Relationship Type="http://schemas.openxmlformats.org/officeDocument/2006/relationships/notesMaster" Target="/ppt/notesMasters/notesMaster1.xml" Id="R2e7b88c24e15416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850c9d751204879" /><Relationship Type="http://schemas.openxmlformats.org/officeDocument/2006/relationships/notesMaster" Target="/ppt/notesMasters/notesMaster1.xml" Id="R0be76eb211384ce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879a1256a804919" /><Relationship Type="http://schemas.openxmlformats.org/officeDocument/2006/relationships/notesMaster" Target="/ppt/notesMasters/notesMaster1.xml" Id="R63ca6453b77541f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ac807182ad140d4" /><Relationship Type="http://schemas.openxmlformats.org/officeDocument/2006/relationships/notesMaster" Target="/ppt/notesMasters/notesMaster1.xml" Id="R612eefab99d6402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262476f311f4a67" /><Relationship Type="http://schemas.openxmlformats.org/officeDocument/2006/relationships/notesMaster" Target="/ppt/notesMasters/notesMaster1.xml" Id="R9a3b88a15b42452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518ed259d14432a" /><Relationship Type="http://schemas.openxmlformats.org/officeDocument/2006/relationships/notesMaster" Target="/ppt/notesMasters/notesMaster1.xml" Id="R8160238ba575483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b5930117164462d" /><Relationship Type="http://schemas.openxmlformats.org/officeDocument/2006/relationships/notesMaster" Target="/ppt/notesMasters/notesMaster1.xml" Id="Rf29a6124e00a449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7148fc8bfb94217" /><Relationship Type="http://schemas.openxmlformats.org/officeDocument/2006/relationships/notesMaster" Target="/ppt/notesMasters/notesMaster1.xml" Id="Rd0e2ecbb438a440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7a950310df04e91" /><Relationship Type="http://schemas.openxmlformats.org/officeDocument/2006/relationships/notesMaster" Target="/ppt/notesMasters/notesMaster1.xml" Id="Rc6e16e129ecf408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299719de6c944e6" /><Relationship Type="http://schemas.openxmlformats.org/officeDocument/2006/relationships/notesMaster" Target="/ppt/notesMasters/notesMaster1.xml" Id="R9249d875516648b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34aa65855144e35" /><Relationship Type="http://schemas.openxmlformats.org/officeDocument/2006/relationships/notesMaster" Target="/ppt/notesMasters/notesMaster1.xml" Id="Rb86121664d6c4a7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d3d0e5339434691" /><Relationship Type="http://schemas.openxmlformats.org/officeDocument/2006/relationships/notesMaster" Target="/ppt/notesMasters/notesMaster1.xml" Id="Rd63a33655c66457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9e600b9de2c4075" /><Relationship Type="http://schemas.openxmlformats.org/officeDocument/2006/relationships/notesMaster" Target="/ppt/notesMasters/notesMaster1.xml" Id="Rf8b1c0bb74de479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f81034c531a4056" /><Relationship Type="http://schemas.openxmlformats.org/officeDocument/2006/relationships/notesMaster" Target="/ppt/notesMasters/notesMaster1.xml" Id="Rb6e02037a55d4d0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7e0e017833642c0" /><Relationship Type="http://schemas.openxmlformats.org/officeDocument/2006/relationships/notesMaster" Target="/ppt/notesMasters/notesMaster1.xml" Id="R5a3978b43a764f0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08bf88514e54e2d" /><Relationship Type="http://schemas.openxmlformats.org/officeDocument/2006/relationships/notesMaster" Target="/ppt/notesMasters/notesMaster1.xml" Id="Rd90aff6ae55e48f0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382ce5d465643f4" /><Relationship Type="http://schemas.openxmlformats.org/officeDocument/2006/relationships/notesMaster" Target="/ppt/notesMasters/notesMaster1.xml" Id="R5b7d1fcfd82b467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75b7e9c51284e8b" /><Relationship Type="http://schemas.openxmlformats.org/officeDocument/2006/relationships/notesMaster" Target="/ppt/notesMasters/notesMaster1.xml" Id="R30cd546a8a964f2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5917f86343748df" /><Relationship Type="http://schemas.openxmlformats.org/officeDocument/2006/relationships/notesMaster" Target="/ppt/notesMasters/notesMaster1.xml" Id="Rd080967b20e043c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614f665d3914d15" /><Relationship Type="http://schemas.openxmlformats.org/officeDocument/2006/relationships/notesMaster" Target="/ppt/notesMasters/notesMaster1.xml" Id="Rf4de7f89da6d494b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92919241b454ef2" /><Relationship Type="http://schemas.openxmlformats.org/officeDocument/2006/relationships/notesMaster" Target="/ppt/notesMasters/notesMaster1.xml" Id="R436bb28a5bca43c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a1259eba2a84073" /><Relationship Type="http://schemas.openxmlformats.org/officeDocument/2006/relationships/notesMaster" Target="/ppt/notesMasters/notesMaster1.xml" Id="R39c53f58cb794c76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0f136dc5d344b8a" /><Relationship Type="http://schemas.openxmlformats.org/officeDocument/2006/relationships/notesMaster" Target="/ppt/notesMasters/notesMaster1.xml" Id="R7938f7621a904d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98f527293643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8c5c29245745b6" /><Relationship Type="http://schemas.openxmlformats.org/officeDocument/2006/relationships/slideLayout" Target="/ppt/slideLayouts/slideLayout1.xml" Id="Rc5293d3f1a9e48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293d3f1a9e48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7ff097c2da47b0" /><Relationship Type="http://schemas.openxmlformats.org/officeDocument/2006/relationships/notesSlide" Target="/ppt/notesSlides/notesSlide1.xml" Id="R8aa3ee2e53ba4c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2891e6df9a408f" /><Relationship Type="http://schemas.openxmlformats.org/officeDocument/2006/relationships/notesSlide" Target="/ppt/notesSlides/notesSlide2.xml" Id="R126a2eb2c34645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e7ef0819a4d34" /><Relationship Type="http://schemas.openxmlformats.org/officeDocument/2006/relationships/chart" Target="/ppt/slides/charts/chart1.xml" Id="R2653ea396cf9438a" /><Relationship Type="http://schemas.openxmlformats.org/officeDocument/2006/relationships/notesSlide" Target="/ppt/notesSlides/notesSlide3.xml" Id="Ra0b699dbfb5c45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c5d87020324651" /><Relationship Type="http://schemas.openxmlformats.org/officeDocument/2006/relationships/chart" Target="/ppt/slides/charts/chart2.xml" Id="R08eab979ea784abe" /><Relationship Type="http://schemas.openxmlformats.org/officeDocument/2006/relationships/chart" Target="/ppt/slides/charts/chart3.xml" Id="R4b7c86362ecc4eee" /><Relationship Type="http://schemas.openxmlformats.org/officeDocument/2006/relationships/chart" Target="/ppt/slides/charts/chart4.xml" Id="R90187064f47f46fc" /><Relationship Type="http://schemas.openxmlformats.org/officeDocument/2006/relationships/notesSlide" Target="/ppt/notesSlides/notesSlide4.xml" Id="R1a39e3b5fa8348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35545ca3ec47e7" /><Relationship Type="http://schemas.openxmlformats.org/officeDocument/2006/relationships/chart" Target="/ppt/slides/charts/chart5.xml" Id="R58f6e1068a3e467c" /><Relationship Type="http://schemas.openxmlformats.org/officeDocument/2006/relationships/chart" Target="/ppt/slides/charts/chart6.xml" Id="R284e6fef0db5469d" /><Relationship Type="http://schemas.openxmlformats.org/officeDocument/2006/relationships/notesSlide" Target="/ppt/notesSlides/notesSlide5.xml" Id="R512253c894734b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357cbb8114ab0" /><Relationship Type="http://schemas.openxmlformats.org/officeDocument/2006/relationships/chart" Target="/ppt/slides/charts/chart7.xml" Id="R10b8b56ec3334c35" /><Relationship Type="http://schemas.openxmlformats.org/officeDocument/2006/relationships/notesSlide" Target="/ppt/notesSlides/notesSlide6.xml" Id="Rc856983bad304c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58e9f0ab6e42fe" /><Relationship Type="http://schemas.openxmlformats.org/officeDocument/2006/relationships/chart" Target="/ppt/slides/charts/chart8.xml" Id="R2f9f41ff773b4a8a" /><Relationship Type="http://schemas.openxmlformats.org/officeDocument/2006/relationships/notesSlide" Target="/ppt/notesSlides/notesSlide7.xml" Id="R47cde007144e4cf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1d5098fd24d15" /><Relationship Type="http://schemas.openxmlformats.org/officeDocument/2006/relationships/chart" Target="/ppt/slides/charts/chart9.xml" Id="Re149f79e1a8e4eb9" /><Relationship Type="http://schemas.openxmlformats.org/officeDocument/2006/relationships/notesSlide" Target="/ppt/notesSlides/notesSlide8.xml" Id="R1fc3a517262f483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7ebf276cec4109" /><Relationship Type="http://schemas.openxmlformats.org/officeDocument/2006/relationships/chart" Target="/ppt/slides/charts/chart10.xml" Id="Rfcc5727edfe741bc" /><Relationship Type="http://schemas.openxmlformats.org/officeDocument/2006/relationships/notesSlide" Target="/ppt/notesSlides/notesSlide9.xml" Id="R82c28434439c45a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d2c7940a0b42fe" /><Relationship Type="http://schemas.openxmlformats.org/officeDocument/2006/relationships/chart" Target="/ppt/slides/charts/chart11.xml" Id="Rdde6b046a40f4d5a" /><Relationship Type="http://schemas.openxmlformats.org/officeDocument/2006/relationships/notesSlide" Target="/ppt/notesSlides/notesSlide10.xml" Id="R3e426999686f4e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b2b0cbc301441e" /><Relationship Type="http://schemas.openxmlformats.org/officeDocument/2006/relationships/chart" Target="/ppt/slides/charts/chart12.xml" Id="R22f77a6d1be74846" /><Relationship Type="http://schemas.openxmlformats.org/officeDocument/2006/relationships/notesSlide" Target="/ppt/notesSlides/notesSlide11.xml" Id="Rc6443f5639f8455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e9a9d1d6a34546" /><Relationship Type="http://schemas.openxmlformats.org/officeDocument/2006/relationships/chart" Target="/ppt/slides/charts/chart13.xml" Id="R23b3d355996845bd" /><Relationship Type="http://schemas.openxmlformats.org/officeDocument/2006/relationships/notesSlide" Target="/ppt/notesSlides/notesSlide12.xml" Id="R8b30f4adc970432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8d8896862a4e02" /><Relationship Type="http://schemas.openxmlformats.org/officeDocument/2006/relationships/chart" Target="/ppt/slides/charts/chart14.xml" Id="Rd1e7c3f907bd437e" /><Relationship Type="http://schemas.openxmlformats.org/officeDocument/2006/relationships/notesSlide" Target="/ppt/notesSlides/notesSlide13.xml" Id="R662e0bb47228411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bf06de519e4c10" /><Relationship Type="http://schemas.openxmlformats.org/officeDocument/2006/relationships/notesSlide" Target="/ppt/notesSlides/notesSlide14.xml" Id="Ra404148653b84c0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f3efa1d994439b" /><Relationship Type="http://schemas.openxmlformats.org/officeDocument/2006/relationships/notesSlide" Target="/ppt/notesSlides/notesSlide15.xml" Id="Rf4672e47332e4af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abd8cd84dc47cc" /><Relationship Type="http://schemas.openxmlformats.org/officeDocument/2006/relationships/chart" Target="/ppt/slides/charts/chart15.xml" Id="R4528a6a020264300" /><Relationship Type="http://schemas.openxmlformats.org/officeDocument/2006/relationships/notesSlide" Target="/ppt/notesSlides/notesSlide16.xml" Id="R0a969c43c68f481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a944a3ae4847ab" /><Relationship Type="http://schemas.openxmlformats.org/officeDocument/2006/relationships/notesSlide" Target="/ppt/notesSlides/notesSlide17.xml" Id="Redc61bf8b5eb476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6bc69fdae4052" /><Relationship Type="http://schemas.openxmlformats.org/officeDocument/2006/relationships/chart" Target="/ppt/slides/charts/chart16.xml" Id="Rb1de19d0b67c4960" /><Relationship Type="http://schemas.openxmlformats.org/officeDocument/2006/relationships/notesSlide" Target="/ppt/notesSlides/notesSlide18.xml" Id="Ra4b8d487ce48422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86145b77c442e7" /><Relationship Type="http://schemas.openxmlformats.org/officeDocument/2006/relationships/notesSlide" Target="/ppt/notesSlides/notesSlide19.xml" Id="R902b325d599d465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14f1f5eb934732" /><Relationship Type="http://schemas.openxmlformats.org/officeDocument/2006/relationships/chart" Target="/ppt/slides/charts/chart17.xml" Id="Rfd7dfd536c7146ab" /><Relationship Type="http://schemas.openxmlformats.org/officeDocument/2006/relationships/notesSlide" Target="/ppt/notesSlides/notesSlide20.xml" Id="Rcfa6273e25bb48d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53b3130e5a46a2" /><Relationship Type="http://schemas.openxmlformats.org/officeDocument/2006/relationships/chart" Target="/ppt/slides/charts/chart18.xml" Id="R560fd4bca77e4dd3" /><Relationship Type="http://schemas.openxmlformats.org/officeDocument/2006/relationships/notesSlide" Target="/ppt/notesSlides/notesSlide21.xml" Id="R5be700951d98422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23378a67654733" /><Relationship Type="http://schemas.openxmlformats.org/officeDocument/2006/relationships/chart" Target="/ppt/slides/charts/chart19.xml" Id="R0139ce61f00947f0" /><Relationship Type="http://schemas.openxmlformats.org/officeDocument/2006/relationships/notesSlide" Target="/ppt/notesSlides/notesSlide22.xml" Id="R70630e4765ff471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98fc35aa9448b3" /><Relationship Type="http://schemas.openxmlformats.org/officeDocument/2006/relationships/notesSlide" Target="/ppt/notesSlides/notesSlide23.xml" Id="R538c13ea59e94c5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df09bf929c42fc" /><Relationship Type="http://schemas.openxmlformats.org/officeDocument/2006/relationships/notesSlide" Target="/ppt/notesSlides/notesSlide24.xml" Id="R557f0ee521584c7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e91198c02e4b71" /><Relationship Type="http://schemas.openxmlformats.org/officeDocument/2006/relationships/notesSlide" Target="/ppt/notesSlides/notesSlide25.xml" Id="R3e7e0d2412fa426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798c61bf84bee" /><Relationship Type="http://schemas.openxmlformats.org/officeDocument/2006/relationships/notesSlide" Target="/ppt/notesSlides/notesSlide26.xml" Id="R3c80768ad0f1481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87f9140fa4043" /><Relationship Type="http://schemas.openxmlformats.org/officeDocument/2006/relationships/notesSlide" Target="/ppt/notesSlides/notesSlide27.xml" Id="R01b6af5b74ea490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046dc028c04cd0" /><Relationship Type="http://schemas.openxmlformats.org/officeDocument/2006/relationships/notesSlide" Target="/ppt/notesSlides/notesSlide28.xml" Id="Rc9b724aa314a465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c992cbbf64adb" /><Relationship Type="http://schemas.openxmlformats.org/officeDocument/2006/relationships/notesSlide" Target="/ppt/notesSlides/notesSlide29.xml" Id="Rfbf2b13d1707481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3bb74cb050410e" /><Relationship Type="http://schemas.openxmlformats.org/officeDocument/2006/relationships/notesSlide" Target="/ppt/notesSlides/notesSlide30.xml" Id="R0ef2e7188905455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a907bd63ab4b46" /><Relationship Type="http://schemas.openxmlformats.org/officeDocument/2006/relationships/notesSlide" Target="/ppt/notesSlides/notesSlide31.xml" Id="R6837001ce722456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e10d9ed0ef4f20" /><Relationship Type="http://schemas.openxmlformats.org/officeDocument/2006/relationships/notesSlide" Target="/ppt/notesSlides/notesSlide32.xml" Id="R836e2fc067c746a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d46099cc34989" /><Relationship Type="http://schemas.openxmlformats.org/officeDocument/2006/relationships/notesSlide" Target="/ppt/notesSlides/notesSlide33.xml" Id="Rcb8064dad7f7420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d8a35483bf4730" /><Relationship Type="http://schemas.openxmlformats.org/officeDocument/2006/relationships/notesSlide" Target="/ppt/notesSlides/notesSlide34.xml" Id="Rbb310d85ec554a5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af207109584e27" /><Relationship Type="http://schemas.openxmlformats.org/officeDocument/2006/relationships/notesSlide" Target="/ppt/notesSlides/notesSlide35.xml" Id="R1ac24dbcdd2e4a3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6632e694764bdf" /><Relationship Type="http://schemas.openxmlformats.org/officeDocument/2006/relationships/notesSlide" Target="/ppt/notesSlides/notesSlide36.xml" Id="R64d171327d0e4f3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b97c8d0dc4476" /><Relationship Type="http://schemas.openxmlformats.org/officeDocument/2006/relationships/notesSlide" Target="/ppt/notesSlides/notesSlide37.xml" Id="R7374abf3618d4e84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a6943b64bb45d3" /><Relationship Type="http://schemas.openxmlformats.org/officeDocument/2006/relationships/notesSlide" Target="/ppt/notesSlides/notesSlide38.xml" Id="R9b6d0ec5f7904f1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fb057bb1344848" /><Relationship Type="http://schemas.openxmlformats.org/officeDocument/2006/relationships/notesSlide" Target="/ppt/notesSlides/notesSlide39.xml" Id="R80761e18ff9b46c2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453fb26cf64a1c" /><Relationship Type="http://schemas.openxmlformats.org/officeDocument/2006/relationships/notesSlide" Target="/ppt/notesSlides/notesSlide40.xml" Id="R1885f5ebf7d14c92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2d3554921a4144" /><Relationship Type="http://schemas.openxmlformats.org/officeDocument/2006/relationships/notesSlide" Target="/ppt/notesSlides/notesSlide41.xml" Id="Rbcf495fe574147b4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ac80354343482b" /><Relationship Type="http://schemas.openxmlformats.org/officeDocument/2006/relationships/notesSlide" Target="/ppt/notesSlides/notesSlide42.xml" Id="R23b73f9860b14748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880.0902938555801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78.61281392618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445.677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4227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6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  <c:pt idx="5">
                <c:v>Não classificado</c:v>
              </c:pt>
            </c:strLit>
          </c:cat>
          <c:val>
            <c:numLit>
              <c:formatCode>0.0%</c:formatCode>
              <c:ptCount val="6"/>
              <c:pt idx="0">
                <c:v>0.44344895518503313</c:v>
              </c:pt>
              <c:pt idx="1">
                <c:v>0.253151946364744</c:v>
              </c:pt>
              <c:pt idx="2">
                <c:v>0.21658061780168147</c:v>
              </c:pt>
              <c:pt idx="3">
                <c:v>0.08595013877763492</c:v>
              </c:pt>
              <c:pt idx="4">
                <c:v>0.0007965409926920169</c:v>
              </c:pt>
              <c:pt idx="5">
                <c:v>7.180087821449166E-05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Fundos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1</c:v>
              </c:pt>
              <c:pt idx="1">
                <c:v>186</c:v>
              </c:pt>
              <c:pt idx="2">
                <c:v>124</c:v>
              </c:pt>
              <c:pt idx="3">
                <c:v>148</c:v>
              </c:pt>
              <c:pt idx="4">
                <c:v>126</c:v>
              </c:pt>
              <c:pt idx="5">
                <c:v>193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R$ 0 "bi"</c:formatCode>
              <c:ptCount val="6"/>
              <c:pt idx="0">
                <c:v>0.5495960022699999</c:v>
              </c:pt>
              <c:pt idx="1">
                <c:v>184.81479596079998</c:v>
              </c:pt>
              <c:pt idx="2">
                <c:v>88.72399138631</c:v>
              </c:pt>
              <c:pt idx="3">
                <c:v>171.16402364894</c:v>
              </c:pt>
              <c:pt idx="4">
                <c:v>77.21175767653</c:v>
              </c:pt>
              <c:pt idx="5">
                <c:v>211.4223398025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Indústria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General</c:formatCode>
              <c:ptCount val="5"/>
              <c:pt idx="0">
                <c:v>367.43677886158</c:v>
              </c:pt>
              <c:pt idx="1">
                <c:v>234.07845143214</c:v>
              </c:pt>
              <c:pt idx="2">
                <c:v>173.49802700684</c:v>
              </c:pt>
              <c:pt idx="3">
                <c:v>88.01637854215</c:v>
              </c:pt>
              <c:pt idx="4">
                <c:v>17.06065801287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Valor reportado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dPt>
            <c:idx val="6"/>
            <c:spPr>
              <a:solidFill xmlns:a="http://schemas.openxmlformats.org/drawingml/2006/main">
                <a:srgbClr val="30353A"/>
              </a:solidFill>
            </c:spPr>
          </c:dPt>
          <c:dPt>
            <c:idx val="7"/>
            <c:spPr>
              <a:solidFill xmlns:a="http://schemas.openxmlformats.org/drawingml/2006/main">
                <a:srgbClr val="30353A"/>
              </a:solidFill>
            </c:spPr>
          </c:dPt>
          <c:dPt>
            <c:idx val="8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9"/>
              <c:pt idx="0">
                <c:v>Financeiro</c:v>
              </c:pt>
              <c:pt idx="1">
                <c:v>Comercial</c:v>
              </c:pt>
              <c:pt idx="2">
                <c:v>Cartao de credito</c:v>
              </c:pt>
              <c:pt idx="3">
                <c:v>Industrial</c:v>
              </c:pt>
              <c:pt idx="4">
                <c:v>Servicos</c:v>
              </c:pt>
              <c:pt idx="5">
                <c:v>Setor publico</c:v>
              </c:pt>
              <c:pt idx="6">
                <c:v>Acoes judiciais</c:v>
              </c:pt>
              <c:pt idx="7">
                <c:v>Agronegocio</c:v>
              </c:pt>
              <c:pt idx="8">
                <c:v>Imobiliario</c:v>
              </c:pt>
            </c:strLit>
          </c:cat>
          <c:val>
            <c:numLit>
              <c:formatCode>General</c:formatCode>
              <c:ptCount val="9"/>
              <c:pt idx="0">
                <c:v>312.05045657159997</c:v>
              </c:pt>
              <c:pt idx="1">
                <c:v>116.43114710328999</c:v>
              </c:pt>
              <c:pt idx="2">
                <c:v>77.84961525946001</c:v>
              </c:pt>
              <c:pt idx="3">
                <c:v>74.12660807569</c:v>
              </c:pt>
              <c:pt idx="4">
                <c:v>70.06538925120002</c:v>
              </c:pt>
              <c:pt idx="5">
                <c:v>38.784257866059995</c:v>
              </c:pt>
              <c:pt idx="6">
                <c:v>27.315528831659996</c:v>
              </c:pt>
              <c:pt idx="7">
                <c:v>9.08208747866</c:v>
              </c:pt>
              <c:pt idx="8">
                <c:v>3.1408293285699997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0.0802740222867937</c:v>
              </c:pt>
              <c:pt idx="1">
                <c:v>0.0585303345939064</c:v>
              </c:pt>
              <c:pt idx="2">
                <c:v>0.0581799790131143</c:v>
              </c:pt>
              <c:pt idx="3">
                <c:v>0.048395735178671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0.0802740222867937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0.0585303345939064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18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Top 5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3"/>
              <c:pt idx="0">
                <c:v>Administração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0.523547087184585</c:v>
              </c:pt>
              <c:pt idx="1">
                <c:v>0.24303935417442177</c:v>
              </c:pt>
              <c:pt idx="2">
                <c:v>0.5531603906078207</c:v>
              </c:pt>
            </c:numLit>
          </c:val>
        </c:ser>
        <c:ser>
          <c:idx val="1"/>
          <c:order val="1"/>
          <c:tx>
            <c:v>Top 10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Administração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0.7126127734453221</c:v>
              </c:pt>
              <c:pt idx="1">
                <c:v>0.36112079218460374</c:v>
              </c:pt>
              <c:pt idx="2">
                <c:v>0.7530532223036185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0.09903585787610279</c:v>
              </c:pt>
              <c:pt idx="1">
                <c:v>0.027616163909249546</c:v>
              </c:pt>
              <c:pt idx="2">
                <c:v>0.034637637777836565</c:v>
              </c:pt>
              <c:pt idx="3">
                <c:v>0.6611874223633714</c:v>
              </c:pt>
              <c:pt idx="4">
                <c:v>0.0414481143203419</c:v>
              </c:pt>
              <c:pt idx="5">
                <c:v>0.21362035435332932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0.12822788655998077</c:v>
              </c:pt>
              <c:pt idx="1">
                <c:v>0.08479001632892023</c:v>
              </c:pt>
              <c:pt idx="2">
                <c:v>0.18229075168007017</c:v>
              </c:pt>
              <c:pt idx="3">
                <c:v>0.0096806427799193</c:v>
              </c:pt>
              <c:pt idx="4">
                <c:v>0.11374888451281695</c:v>
              </c:pt>
              <c:pt idx="5">
                <c:v>0.241155891421021</c:v>
              </c:pt>
            </c:numLit>
          </c:val>
        </c:ser>
        <c:ser>
          <c:idx val="2"/>
          <c:order val="2"/>
          <c:tx>
            <c:v>Oliveira Trust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0.01401328129880209</c:v>
              </c:pt>
              <c:pt idx="1">
                <c:v>0.03288365112448517</c:v>
              </c:pt>
              <c:pt idx="2">
                <c:v>0.5353956121353679</c:v>
              </c:pt>
              <c:pt idx="3">
                <c:v>0.009452795711907486</c:v>
              </c:pt>
              <c:pt idx="4">
                <c:v>0.09751327000606472</c:v>
              </c:pt>
              <c:pt idx="5">
                <c:v>0.05280157206042264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0.470446115533561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0.07551457229714482</c:v>
              </c:pt>
              <c:pt idx="1">
                <c:v>0.007820652776934972</c:v>
              </c:pt>
              <c:pt idx="2">
                <c:v>0.06447467407303031</c:v>
              </c:pt>
              <c:pt idx="3">
                <c:v>0.005650217492933909</c:v>
              </c:pt>
              <c:pt idx="4">
                <c:v>0.11105195367930412</c:v>
              </c:pt>
              <c:pt idx="5">
                <c:v>0.07432392233412591</c:v>
              </c:pt>
            </c:numLit>
          </c:val>
        </c:ser>
        <c:ser>
          <c:idx val="5"/>
          <c:order val="5"/>
          <c:tx>
            <c:v>Bradesco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0.055544305759603875</c:v>
              </c:pt>
              <c:pt idx="1">
                <c:v>0.08871546689439254</c:v>
              </c:pt>
              <c:pt idx="2">
                <c:v>0</c:v>
              </c:pt>
              <c:pt idx="3">
                <c:v>0.02186244476852497</c:v>
              </c:pt>
              <c:pt idx="4">
                <c:v>0.14414037627349577</c:v>
              </c:pt>
              <c:pt idx="5">
                <c:v>0.009145909849505437</c:v>
              </c:pt>
            </c:numLit>
          </c:val>
        </c:ser>
        <c:ser>
          <c:idx val="6"/>
          <c:order val="6"/>
          <c:tx>
            <c:v>Genial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0.04316403467836799</c:v>
              </c:pt>
              <c:pt idx="1">
                <c:v>0.05953134676287288</c:v>
              </c:pt>
              <c:pt idx="2">
                <c:v>0.1354222794660779</c:v>
              </c:pt>
              <c:pt idx="3">
                <c:v>0.0014143984780017323</c:v>
              </c:pt>
              <c:pt idx="4">
                <c:v>0.12829342578813055</c:v>
              </c:pt>
              <c:pt idx="5">
                <c:v>0.01006878803870165</c:v>
              </c:pt>
            </c:numLit>
          </c:val>
        </c:ser>
        <c:ser>
          <c:idx val="7"/>
          <c:order val="7"/>
          <c:tx>
            <c:v>CBSF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0.12229945521599841</c:v>
              </c:pt>
              <c:pt idx="1">
                <c:v>7.168820062739688E-06</c:v>
              </c:pt>
              <c:pt idx="2">
                <c:v>0</c:v>
              </c:pt>
              <c:pt idx="3">
                <c:v>0.02158187974606139</c:v>
              </c:pt>
              <c:pt idx="4">
                <c:v>0.001265118761995852</c:v>
              </c:pt>
              <c:pt idx="5">
                <c:v>0.03284180927126185</c:v>
              </c:pt>
            </c:numLit>
          </c:val>
        </c:ser>
        <c:ser>
          <c:idx val="8"/>
          <c:order val="8"/>
          <c:tx>
            <c:v>Itaú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0.07037581852307735</c:v>
              </c:pt>
              <c:pt idx="1">
                <c:v>0.02695925531968936</c:v>
              </c:pt>
              <c:pt idx="2">
                <c:v>0</c:v>
              </c:pt>
              <c:pt idx="3">
                <c:v>0.00912263627634282</c:v>
              </c:pt>
              <c:pt idx="4">
                <c:v>0.0006705493289052445</c:v>
              </c:pt>
              <c:pt idx="5">
                <c:v>0.01967534759580247</c:v>
              </c:pt>
            </c:numLit>
          </c:val>
        </c:ser>
        <c:ser>
          <c:idx val="9"/>
          <c:order val="9"/>
          <c:tx>
            <c:v>Finaxis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0.03615636784299774</c:v>
              </c:pt>
              <c:pt idx="1">
                <c:v>0.023954817730900604</c:v>
              </c:pt>
              <c:pt idx="2">
                <c:v>0.0020072880960920487</c:v>
              </c:pt>
              <c:pt idx="3">
                <c:v>0.02993010860618225</c:v>
              </c:pt>
              <c:pt idx="4">
                <c:v>0.0003817965185774057</c:v>
              </c:pt>
              <c:pt idx="5">
                <c:v>0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0.3556684199479241</c:v>
              </c:pt>
              <c:pt idx="1">
                <c:v>0.177275344798931</c:v>
              </c:pt>
              <c:pt idx="2">
                <c:v>0.045771756771525146</c:v>
              </c:pt>
              <c:pt idx="3">
                <c:v>0.23011745377675477</c:v>
              </c:pt>
              <c:pt idx="4">
                <c:v>0.3614865108103675</c:v>
              </c:pt>
              <c:pt idx="5">
                <c:v>0.34636640507582966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Oliveira Trust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0.002242562112152404</c:v>
              </c:pt>
              <c:pt idx="1">
                <c:v>0.018364626656861456</c:v>
              </c:pt>
              <c:pt idx="2">
                <c:v>0.498315166897194</c:v>
              </c:pt>
              <c:pt idx="3">
                <c:v>0.0006138463216740936</c:v>
              </c:pt>
              <c:pt idx="4">
                <c:v>0.0749544808439373</c:v>
              </c:pt>
              <c:pt idx="5">
                <c:v>0.03154326193132497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0.04581440346818252</c:v>
              </c:pt>
              <c:pt idx="1">
                <c:v>0.08539967217022329</c:v>
              </c:pt>
              <c:pt idx="2">
                <c:v>0.1757092047057602</c:v>
              </c:pt>
              <c:pt idx="3">
                <c:v>0.0010431439626170636</c:v>
              </c:pt>
              <c:pt idx="4">
                <c:v>0.04769791911064288</c:v>
              </c:pt>
              <c:pt idx="5">
                <c:v>0.04452221594370676</c:v>
              </c:pt>
            </c:numLit>
          </c:val>
        </c:ser>
        <c:ser>
          <c:idx val="2"/>
          <c:order val="2"/>
          <c:tx>
            <c:v>Banco do Brasil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0.47044611553356097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0.04358394025590201</c:v>
              </c:pt>
              <c:pt idx="1">
                <c:v>0.05234064889393871</c:v>
              </c:pt>
              <c:pt idx="2">
                <c:v>0</c:v>
              </c:pt>
              <c:pt idx="3">
                <c:v>0.02186244476852497</c:v>
              </c:pt>
              <c:pt idx="4">
                <c:v>0.14163445791151857</c:v>
              </c:pt>
              <c:pt idx="5">
                <c:v>0.009145909849505437</c:v>
              </c:pt>
            </c:numLit>
          </c:val>
        </c:ser>
        <c:ser>
          <c:idx val="4"/>
          <c:order val="4"/>
          <c:tx>
            <c:v>Genial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0.022093044160997583</c:v>
              </c:pt>
              <c:pt idx="1">
                <c:v>0.04361472819751594</c:v>
              </c:pt>
              <c:pt idx="2">
                <c:v>0.05690901582562128</c:v>
              </c:pt>
              <c:pt idx="3">
                <c:v>0</c:v>
              </c:pt>
              <c:pt idx="4">
                <c:v>0.10921999509731997</c:v>
              </c:pt>
              <c:pt idx="5">
                <c:v>0.0014288577438735935</c:v>
              </c:pt>
            </c:numLit>
          </c:val>
        </c:ser>
        <c:ser>
          <c:idx val="5"/>
          <c:order val="5"/>
          <c:tx>
            <c:v>Tercon Investimentos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0.005542310561087736</c:v>
              </c:pt>
              <c:pt idx="1">
                <c:v>0.0025739291328569992</c:v>
              </c:pt>
              <c:pt idx="2">
                <c:v>0</c:v>
              </c:pt>
              <c:pt idx="3">
                <c:v>0.22125837215796879</c:v>
              </c:pt>
              <c:pt idx="4">
                <c:v>0.002182052599926365</c:v>
              </c:pt>
              <c:pt idx="5">
                <c:v>0</c:v>
              </c:pt>
            </c:numLit>
          </c:val>
        </c:ser>
        <c:ser>
          <c:idx val="6"/>
          <c:order val="6"/>
          <c:tx>
            <c:v>CBSF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0.05868225680250354</c:v>
              </c:pt>
              <c:pt idx="1">
                <c:v>0</c:v>
              </c:pt>
              <c:pt idx="2">
                <c:v>0</c:v>
              </c:pt>
              <c:pt idx="3">
                <c:v>0.02158187974606139</c:v>
              </c:pt>
              <c:pt idx="4">
                <c:v>0.00018173256305436804</c:v>
              </c:pt>
              <c:pt idx="5">
                <c:v>0</c:v>
              </c:pt>
            </c:numLit>
          </c:val>
        </c:ser>
        <c:ser>
          <c:idx val="7"/>
          <c:order val="7"/>
          <c:tx>
            <c:v>REAG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0.054467807244361385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0.0006791993569090867</c:v>
              </c:pt>
              <c:pt idx="5">
                <c:v>0.03284180927126185</c:v>
              </c:pt>
            </c:numLit>
          </c:val>
        </c:ser>
        <c:ser>
          <c:idx val="8"/>
          <c:order val="8"/>
          <c:tx>
            <c:v>Itaú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0.04125339079361007</c:v>
              </c:pt>
              <c:pt idx="1">
                <c:v>0.01041573167893111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0.025973774276490218</c:v>
              </c:pt>
            </c:numLit>
          </c:val>
        </c:ser>
        <c:ser>
          <c:idx val="9"/>
          <c:order val="9"/>
          <c:tx>
            <c:v>Solis Investimentos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0.019346025162812742</c:v>
              </c:pt>
              <c:pt idx="1">
                <c:v>0.006169055247023951</c:v>
              </c:pt>
              <c:pt idx="2">
                <c:v>0.013372059792210478</c:v>
              </c:pt>
              <c:pt idx="3">
                <c:v>0.034493689827595056</c:v>
              </c:pt>
              <c:pt idx="4">
                <c:v>0.01410591271130141</c:v>
              </c:pt>
              <c:pt idx="5">
                <c:v>0.0007285216184997913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0.7068138110118435</c:v>
              </c:pt>
              <c:pt idx="1">
                <c:v>0.3072387437273598</c:v>
              </c:pt>
              <c:pt idx="2">
                <c:v>0.25569455277921393</c:v>
              </c:pt>
              <c:pt idx="3">
                <c:v>0.698380362355187</c:v>
              </c:pt>
              <c:pt idx="4">
                <c:v>0.6093334003170607</c:v>
              </c:pt>
              <c:pt idx="5">
                <c:v>0.8538156493653374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0.00016044842654654585</c:v>
              </c:pt>
              <c:pt idx="1">
                <c:v>0.003436748761727782</c:v>
              </c:pt>
              <c:pt idx="2">
                <c:v>0</c:v>
              </c:pt>
              <c:pt idx="3">
                <c:v>0.0007662608603716966</c:v>
              </c:pt>
              <c:pt idx="4">
                <c:v>1.0849488329413318E-05</c:v>
              </c:pt>
              <c:pt idx="5">
                <c:v>0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0.09871038786152628</c:v>
              </c:pt>
              <c:pt idx="1">
                <c:v>0.027474689922011502</c:v>
              </c:pt>
              <c:pt idx="2">
                <c:v>0.03117383637009289</c:v>
              </c:pt>
              <c:pt idx="3">
                <c:v>0.656000888816908</c:v>
              </c:pt>
              <c:pt idx="4">
                <c:v>0.041426253610816026</c:v>
              </c:pt>
              <c:pt idx="5">
                <c:v>0.209321755829712</c:v>
              </c:pt>
            </c:numLit>
          </c:val>
        </c:ser>
        <c:ser>
          <c:idx val="1"/>
          <c:order val="1"/>
          <c:tx>
            <c:v>Oliveira Trust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0.032777305192846364</c:v>
              </c:pt>
              <c:pt idx="1">
                <c:v>0.09623885075338706</c:v>
              </c:pt>
              <c:pt idx="2">
                <c:v>0.5359280855252573</c:v>
              </c:pt>
              <c:pt idx="3">
                <c:v>0.027051696768214718</c:v>
              </c:pt>
              <c:pt idx="4">
                <c:v>0.10098918581145755</c:v>
              </c:pt>
              <c:pt idx="5">
                <c:v>0.02810813865026815</c:v>
              </c:pt>
            </c:numLit>
          </c:val>
        </c:ser>
        <c:ser>
          <c:idx val="2"/>
          <c:order val="2"/>
          <c:tx>
            <c:v>BTG Pactual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0.12777031470705189</c:v>
              </c:pt>
              <c:pt idx="1">
                <c:v>0.08712579737615378</c:v>
              </c:pt>
              <c:pt idx="2">
                <c:v>0.18229075168007014</c:v>
              </c:pt>
              <c:pt idx="3">
                <c:v>0.0025226472154451962</c:v>
              </c:pt>
              <c:pt idx="4">
                <c:v>0.11374888451281695</c:v>
              </c:pt>
              <c:pt idx="5">
                <c:v>0.2411558914210211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0.4704461155335609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0.0809584817747009</c:v>
              </c:pt>
              <c:pt idx="1">
                <c:v>0.02141398019715528</c:v>
              </c:pt>
              <c:pt idx="2">
                <c:v>0.0644746740730303</c:v>
              </c:pt>
              <c:pt idx="3">
                <c:v>0.005650217492933909</c:v>
              </c:pt>
              <c:pt idx="4">
                <c:v>0.11945702938613052</c:v>
              </c:pt>
              <c:pt idx="5">
                <c:v>0.07432392233412591</c:v>
              </c:pt>
            </c:numLit>
          </c:val>
        </c:ser>
        <c:ser>
          <c:idx val="5"/>
          <c:order val="5"/>
          <c:tx>
            <c:v>REAG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0.14039639207761814</c:v>
              </c:pt>
              <c:pt idx="1">
                <c:v>7.168820062739686E-06</c:v>
              </c:pt>
              <c:pt idx="2">
                <c:v>0</c:v>
              </c:pt>
              <c:pt idx="3">
                <c:v>0.02158187974606139</c:v>
              </c:pt>
              <c:pt idx="4">
                <c:v>0.001265118761995852</c:v>
              </c:pt>
              <c:pt idx="5">
                <c:v>0.04848829360672972</c:v>
              </c:pt>
            </c:numLit>
          </c:val>
        </c:ser>
        <c:ser>
          <c:idx val="6"/>
          <c:order val="6"/>
          <c:tx>
            <c:v>Bradesco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0.05554430575960388</c:v>
              </c:pt>
              <c:pt idx="1">
                <c:v>0.06540428119237003</c:v>
              </c:pt>
              <c:pt idx="2">
                <c:v>0</c:v>
              </c:pt>
              <c:pt idx="3">
                <c:v>0.01822059623461933</c:v>
              </c:pt>
              <c:pt idx="4">
                <c:v>0.14376767708183888</c:v>
              </c:pt>
              <c:pt idx="5">
                <c:v>0.033839343259659926</c:v>
              </c:pt>
            </c:numLit>
          </c:val>
        </c:ser>
        <c:ser>
          <c:idx val="7"/>
          <c:order val="7"/>
          <c:tx>
            <c:v>Genial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0.0329560029844489</c:v>
              </c:pt>
              <c:pt idx="1">
                <c:v>0.056321661963584714</c:v>
              </c:pt>
              <c:pt idx="2">
                <c:v>0.08209276508477789</c:v>
              </c:pt>
              <c:pt idx="3">
                <c:v>0.0014143984780017323</c:v>
              </c:pt>
              <c:pt idx="4">
                <c:v>0.12829342578813055</c:v>
              </c:pt>
              <c:pt idx="5">
                <c:v>0.01006878803870165</c:v>
              </c:pt>
            </c:numLit>
          </c:val>
        </c:ser>
        <c:ser>
          <c:idx val="8"/>
          <c:order val="8"/>
          <c:tx>
            <c:v>Finaxis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0.03615636784299775</c:v>
              </c:pt>
              <c:pt idx="1">
                <c:v>0.023954817730900597</c:v>
              </c:pt>
              <c:pt idx="2">
                <c:v>0.0020072880960920487</c:v>
              </c:pt>
              <c:pt idx="3">
                <c:v>0.02938771658878437</c:v>
              </c:pt>
              <c:pt idx="4">
                <c:v>0.0003817965185774057</c:v>
              </c:pt>
              <c:pt idx="5">
                <c:v>0</c:v>
              </c:pt>
            </c:numLit>
          </c:val>
        </c:ser>
        <c:ser>
          <c:idx val="9"/>
          <c:order val="9"/>
          <c:tx>
            <c:v>Limine Trust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0.03723037703995639</c:v>
              </c:pt>
              <c:pt idx="1">
                <c:v>0.031165673360826523</c:v>
              </c:pt>
              <c:pt idx="2">
                <c:v>0.022088841798878028</c:v>
              </c:pt>
              <c:pt idx="3">
                <c:v>0.025884475168990163</c:v>
              </c:pt>
              <c:pt idx="4">
                <c:v>0.006208941893645588</c:v>
              </c:pt>
              <c:pt idx="5">
                <c:v>0.00018856231051638396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0.34790662809489536</c:v>
              </c:pt>
              <c:pt idx="1">
                <c:v>0.07612522958781971</c:v>
              </c:pt>
              <c:pt idx="2">
                <c:v>0.07991574384591492</c:v>
              </c:pt>
              <c:pt idx="3">
                <c:v>0.19940752085450217</c:v>
              </c:pt>
              <c:pt idx="4">
                <c:v>0.3428596328805304</c:v>
              </c:pt>
              <c:pt idx="5">
                <c:v>0.3539405580978503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0.009593436664354341</c:v>
              </c:pt>
              <c:pt idx="1">
                <c:v>0.04432173356216704</c:v>
              </c:pt>
              <c:pt idx="2">
                <c:v>2.801352588640792E-05</c:v>
              </c:pt>
              <c:pt idx="3">
                <c:v>0.012877962635538961</c:v>
              </c:pt>
              <c:pt idx="4">
                <c:v>0.0016020537540602194</c:v>
              </c:pt>
              <c:pt idx="5">
                <c:v>0.0005647464514148762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0.0783988630980578</c:v>
              </c:pt>
              <c:pt idx="1">
                <c:v>0.00994789199431549</c:v>
              </c:pt>
              <c:pt idx="2">
                <c:v>0.7984367598294647</c:v>
              </c:pt>
              <c:pt idx="3">
                <c:v>0.010421601136901942</c:v>
              </c:pt>
              <c:pt idx="4">
                <c:v>0.08408337280909521</c:v>
              </c:pt>
              <c:pt idx="5">
                <c:v>0.018711511132164852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0.3401555639274464</c:v>
              </c:pt>
              <c:pt idx="1">
                <c:v>0.03632358129979824</c:v>
              </c:pt>
              <c:pt idx="2">
                <c:v>0.533550356635145</c:v>
              </c:pt>
              <c:pt idx="3">
                <c:v>0.019980720583593427</c:v>
              </c:pt>
              <c:pt idx="4">
                <c:v>0.058027674260146406</c:v>
              </c:pt>
              <c:pt idx="5">
                <c:v>0.011962103293870421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EC7000"/>
              </a:solidFill>
            </c:spPr>
          </c:dPt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51.51551577195</c:v>
              </c:pt>
              <c:pt idx="1">
                <c:v>68.9158113135</c:v>
              </c:pt>
              <c:pt idx="2">
                <c:v>75.14765624728999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0.6611874223633714</c:v>
              </c:pt>
              <c:pt idx="1">
                <c:v>0.3065550509629137</c:v>
              </c:pt>
              <c:pt idx="2">
                <c:v>0.13849018082595674</c:v>
              </c:pt>
              <c:pt idx="3">
                <c:v>0.034637637777836565</c:v>
              </c:pt>
              <c:pt idx="4">
                <c:v>0.07483979968200132</c:v>
              </c:pt>
              <c:pt idx="5">
                <c:v>0.0414481143203419</c:v>
              </c:pt>
              <c:pt idx="6">
                <c:v>0</c:v>
              </c:pt>
              <c:pt idx="7">
                <c:v>0.027616163909249546</c:v>
              </c:pt>
              <c:pt idx="8">
                <c:v>0</c:v>
              </c:pt>
              <c:pt idx="9">
                <c:v>0.26072989426098264</c:v>
              </c:pt>
              <c:pt idx="10">
                <c:v>0.09519798891176616</c:v>
              </c:pt>
              <c:pt idx="11">
                <c:v>0.0515490070093137</c:v>
              </c:pt>
              <c:pt idx="12">
                <c:v>0.21362035435332932</c:v>
              </c:pt>
              <c:pt idx="13">
                <c:v>0.09903585787610279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0.0096806427799193</c:v>
              </c:pt>
              <c:pt idx="1">
                <c:v>0</c:v>
              </c:pt>
              <c:pt idx="2">
                <c:v>0.17236559225460651</c:v>
              </c:pt>
              <c:pt idx="3">
                <c:v>0.18229075168007017</c:v>
              </c:pt>
              <c:pt idx="4">
                <c:v>0.02167823883113039</c:v>
              </c:pt>
              <c:pt idx="5">
                <c:v>0.11374888451281695</c:v>
              </c:pt>
              <c:pt idx="6">
                <c:v>0.010283546215548054</c:v>
              </c:pt>
              <c:pt idx="7">
                <c:v>0.08479001632892023</c:v>
              </c:pt>
              <c:pt idx="8">
                <c:v>0.008891099378144043</c:v>
              </c:pt>
              <c:pt idx="9">
                <c:v>0.06509344726707784</c:v>
              </c:pt>
              <c:pt idx="10">
                <c:v>0.03486778726515402</c:v>
              </c:pt>
              <c:pt idx="11">
                <c:v>0.03867683398465943</c:v>
              </c:pt>
              <c:pt idx="12">
                <c:v>0.241155891421021</c:v>
              </c:pt>
              <c:pt idx="13">
                <c:v>0.12822788655998077</c:v>
              </c:pt>
            </c:numLit>
          </c:val>
        </c:ser>
        <c:ser>
          <c:idx val="2"/>
          <c:order val="2"/>
          <c:tx>
            <c:v>Oliveira Trust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0.009452795711907486</c:v>
              </c:pt>
              <c:pt idx="1">
                <c:v>0.23403575568651946</c:v>
              </c:pt>
              <c:pt idx="2">
                <c:v>0.383564590335937</c:v>
              </c:pt>
              <c:pt idx="3">
                <c:v>0.5353956121353679</c:v>
              </c:pt>
              <c:pt idx="4">
                <c:v>0</c:v>
              </c:pt>
              <c:pt idx="5">
                <c:v>0.09751327000606472</c:v>
              </c:pt>
              <c:pt idx="6">
                <c:v>0.20562513771661284</c:v>
              </c:pt>
              <c:pt idx="7">
                <c:v>0.03288365112448517</c:v>
              </c:pt>
              <c:pt idx="8">
                <c:v>0.42924807244322455</c:v>
              </c:pt>
              <c:pt idx="9">
                <c:v>0.030005707236196156</c:v>
              </c:pt>
              <c:pt idx="10">
                <c:v>0.09687131495911563</c:v>
              </c:pt>
              <c:pt idx="11">
                <c:v>0</c:v>
              </c:pt>
              <c:pt idx="12">
                <c:v>0.05280157206042264</c:v>
              </c:pt>
              <c:pt idx="13">
                <c:v>0.01401328129880209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0.000941688182142641</c:v>
              </c:pt>
              <c:pt idx="7">
                <c:v>0.470446115533561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0.005650217492933909</c:v>
              </c:pt>
              <c:pt idx="1">
                <c:v>0.03394956956679466</c:v>
              </c:pt>
              <c:pt idx="2">
                <c:v>0.059977118417396995</c:v>
              </c:pt>
              <c:pt idx="3">
                <c:v>0.06447467407303031</c:v>
              </c:pt>
              <c:pt idx="4">
                <c:v>0.05540491499139333</c:v>
              </c:pt>
              <c:pt idx="5">
                <c:v>0.11105195367930412</c:v>
              </c:pt>
              <c:pt idx="6">
                <c:v>0.05888272824897803</c:v>
              </c:pt>
              <c:pt idx="7">
                <c:v>0.007820652776934972</c:v>
              </c:pt>
              <c:pt idx="8">
                <c:v>0.12052646213582008</c:v>
              </c:pt>
              <c:pt idx="9">
                <c:v>0.21769813460950752</c:v>
              </c:pt>
              <c:pt idx="10">
                <c:v>0.08509408390333681</c:v>
              </c:pt>
              <c:pt idx="11">
                <c:v>0.0733124835554939</c:v>
              </c:pt>
              <c:pt idx="12">
                <c:v>0.07432392233412591</c:v>
              </c:pt>
              <c:pt idx="13">
                <c:v>0.07551457229714482</c:v>
              </c:pt>
            </c:numLit>
          </c:val>
        </c:ser>
        <c:ser>
          <c:idx val="5"/>
          <c:order val="5"/>
          <c:tx>
            <c:v>Bradesco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0.02186244476852497</c:v>
              </c:pt>
              <c:pt idx="1">
                <c:v>0</c:v>
              </c:pt>
              <c:pt idx="2">
                <c:v>6.281624788476697E-05</c:v>
              </c:pt>
              <c:pt idx="3">
                <c:v>0</c:v>
              </c:pt>
              <c:pt idx="4">
                <c:v>0.5171854935971929</c:v>
              </c:pt>
              <c:pt idx="5">
                <c:v>0.14414037627349577</c:v>
              </c:pt>
              <c:pt idx="6">
                <c:v>0</c:v>
              </c:pt>
              <c:pt idx="7">
                <c:v>0.08871546689439254</c:v>
              </c:pt>
              <c:pt idx="8">
                <c:v>0</c:v>
              </c:pt>
              <c:pt idx="9">
                <c:v>0</c:v>
              </c:pt>
              <c:pt idx="10">
                <c:v>0.029399905971277233</c:v>
              </c:pt>
              <c:pt idx="11">
                <c:v>0.0012245530453966088</c:v>
              </c:pt>
              <c:pt idx="12">
                <c:v>0.009145909849505437</c:v>
              </c:pt>
              <c:pt idx="13">
                <c:v>0.055544305759603875</c:v>
              </c:pt>
            </c:numLit>
          </c:val>
        </c:ser>
        <c:ser>
          <c:idx val="6"/>
          <c:order val="6"/>
          <c:tx>
            <c:v>Genial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0.0014143984780017323</c:v>
              </c:pt>
              <c:pt idx="1">
                <c:v>0.10503507651441571</c:v>
              </c:pt>
              <c:pt idx="2">
                <c:v>0.011837148359587123</c:v>
              </c:pt>
              <c:pt idx="3">
                <c:v>0.1354222794660779</c:v>
              </c:pt>
              <c:pt idx="4">
                <c:v>0</c:v>
              </c:pt>
              <c:pt idx="5">
                <c:v>0.12829342578813055</c:v>
              </c:pt>
              <c:pt idx="6">
                <c:v>0.08209682369375762</c:v>
              </c:pt>
              <c:pt idx="7">
                <c:v>0.05953134676287288</c:v>
              </c:pt>
              <c:pt idx="8">
                <c:v>0.027576299240600646</c:v>
              </c:pt>
              <c:pt idx="9">
                <c:v>0.06537503346084945</c:v>
              </c:pt>
              <c:pt idx="10">
                <c:v>0.051943217169193555</c:v>
              </c:pt>
              <c:pt idx="11">
                <c:v>0.016187640050605127</c:v>
              </c:pt>
              <c:pt idx="12">
                <c:v>0.01006878803870165</c:v>
              </c:pt>
              <c:pt idx="13">
                <c:v>0.04316403467836799</c:v>
              </c:pt>
            </c:numLit>
          </c:val>
        </c:ser>
        <c:ser>
          <c:idx val="7"/>
          <c:order val="7"/>
          <c:tx>
            <c:v>CBSF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0.02158187974606139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0.001265118761995852</c:v>
              </c:pt>
              <c:pt idx="6">
                <c:v>0</c:v>
              </c:pt>
              <c:pt idx="7">
                <c:v>7.168820062739688E-06</c:v>
              </c:pt>
              <c:pt idx="8">
                <c:v>0.0037238932129679274</c:v>
              </c:pt>
              <c:pt idx="9">
                <c:v>0</c:v>
              </c:pt>
              <c:pt idx="10">
                <c:v>0</c:v>
              </c:pt>
              <c:pt idx="11">
                <c:v>0.044655997198937</c:v>
              </c:pt>
              <c:pt idx="12">
                <c:v>0.03284180927126185</c:v>
              </c:pt>
              <c:pt idx="13">
                <c:v>0.12229945521599841</c:v>
              </c:pt>
            </c:numLit>
          </c:val>
        </c:ser>
        <c:ser>
          <c:idx val="8"/>
          <c:order val="8"/>
          <c:tx>
            <c:v>Itaú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0.00912263627634282</c:v>
              </c:pt>
              <c:pt idx="1">
                <c:v>0.06225686387763095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0.0006705493289052445</c:v>
              </c:pt>
              <c:pt idx="6">
                <c:v>0.08150480181936648</c:v>
              </c:pt>
              <c:pt idx="7">
                <c:v>0.02695925531968936</c:v>
              </c:pt>
              <c:pt idx="8">
                <c:v>0.006387577929861786</c:v>
              </c:pt>
              <c:pt idx="9">
                <c:v>0.10609819986970585</c:v>
              </c:pt>
              <c:pt idx="10">
                <c:v>0</c:v>
              </c:pt>
              <c:pt idx="11">
                <c:v>0</c:v>
              </c:pt>
              <c:pt idx="12">
                <c:v>0.01967534759580247</c:v>
              </c:pt>
              <c:pt idx="13">
                <c:v>0.07037581852307735</c:v>
              </c:pt>
            </c:numLit>
          </c:val>
        </c:ser>
        <c:ser>
          <c:idx val="9"/>
          <c:order val="9"/>
          <c:tx>
            <c:v>Finaxis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0.02993010860618225</c:v>
              </c:pt>
              <c:pt idx="1">
                <c:v>0.0012950121619806155</c:v>
              </c:pt>
              <c:pt idx="2">
                <c:v>0</c:v>
              </c:pt>
              <c:pt idx="3">
                <c:v>0.0020072880960920487</c:v>
              </c:pt>
              <c:pt idx="4">
                <c:v>0</c:v>
              </c:pt>
              <c:pt idx="5">
                <c:v>0.0003817965185774057</c:v>
              </c:pt>
              <c:pt idx="6">
                <c:v>0</c:v>
              </c:pt>
              <c:pt idx="7">
                <c:v>0.023954817730900604</c:v>
              </c:pt>
              <c:pt idx="8">
                <c:v>0</c:v>
              </c:pt>
              <c:pt idx="9">
                <c:v>0.11858839678778403</c:v>
              </c:pt>
              <c:pt idx="10">
                <c:v>0.16962551422285804</c:v>
              </c:pt>
              <c:pt idx="11">
                <c:v>0</c:v>
              </c:pt>
              <c:pt idx="12">
                <c:v>0</c:v>
              </c:pt>
              <c:pt idx="13">
                <c:v>0.03615636784299774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0.23011745377675477</c:v>
              </c:pt>
              <c:pt idx="1">
                <c:v>0.2568726712297449</c:v>
              </c:pt>
              <c:pt idx="2">
                <c:v>0.23370255355863087</c:v>
              </c:pt>
              <c:pt idx="3">
                <c:v>0.045771756771525146</c:v>
              </c:pt>
              <c:pt idx="4">
                <c:v>0.33089155289828215</c:v>
              </c:pt>
              <c:pt idx="5">
                <c:v>0.3614865108103675</c:v>
              </c:pt>
              <c:pt idx="6">
                <c:v>0.5606652741235945</c:v>
              </c:pt>
              <c:pt idx="7">
                <c:v>0.177275344798931</c:v>
              </c:pt>
              <c:pt idx="8">
                <c:v>0.4036465956593809</c:v>
              </c:pt>
              <c:pt idx="9">
                <c:v>0.13641118650789652</c:v>
              </c:pt>
              <c:pt idx="10">
                <c:v>0.4370001875972985</c:v>
              </c:pt>
              <c:pt idx="11">
                <c:v>0.7743934851555943</c:v>
              </c:pt>
              <c:pt idx="12">
                <c:v>0.34636640507582966</c:v>
              </c:pt>
              <c:pt idx="13">
                <c:v>0.3556684199479241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Oliveira Trust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0.0006138463216740936</c:v>
              </c:pt>
              <c:pt idx="1">
                <c:v>0.044212645469864253</c:v>
              </c:pt>
              <c:pt idx="2">
                <c:v>0.28119731553939475</c:v>
              </c:pt>
              <c:pt idx="3">
                <c:v>0.498315166897194</c:v>
              </c:pt>
              <c:pt idx="4">
                <c:v>0</c:v>
              </c:pt>
              <c:pt idx="5">
                <c:v>0.0749544808439373</c:v>
              </c:pt>
              <c:pt idx="6">
                <c:v>0.1256325612690353</c:v>
              </c:pt>
              <c:pt idx="7">
                <c:v>0.018364626656861456</c:v>
              </c:pt>
              <c:pt idx="8">
                <c:v>0</c:v>
              </c:pt>
              <c:pt idx="9">
                <c:v>0.0029421159690079094</c:v>
              </c:pt>
              <c:pt idx="10">
                <c:v>0.008978795000970525</c:v>
              </c:pt>
              <c:pt idx="11">
                <c:v>0</c:v>
              </c:pt>
              <c:pt idx="12">
                <c:v>0.03154326193132497</c:v>
              </c:pt>
              <c:pt idx="13">
                <c:v>0.002242562112152404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0.0010431439626170636</c:v>
              </c:pt>
              <c:pt idx="1">
                <c:v>0</c:v>
              </c:pt>
              <c:pt idx="2">
                <c:v>0.16208366494303886</c:v>
              </c:pt>
              <c:pt idx="3">
                <c:v>0.1757092047057602</c:v>
              </c:pt>
              <c:pt idx="4">
                <c:v>0</c:v>
              </c:pt>
              <c:pt idx="5">
                <c:v>0.04769791911064288</c:v>
              </c:pt>
              <c:pt idx="6">
                <c:v>0</c:v>
              </c:pt>
              <c:pt idx="7">
                <c:v>0.08539967217022329</c:v>
              </c:pt>
              <c:pt idx="8">
                <c:v>0</c:v>
              </c:pt>
              <c:pt idx="9">
                <c:v>0.010835431270787257</c:v>
              </c:pt>
              <c:pt idx="10">
                <c:v>0.03112585600039729</c:v>
              </c:pt>
              <c:pt idx="11">
                <c:v>0.004884909298100636</c:v>
              </c:pt>
              <c:pt idx="12">
                <c:v>0.04452221594370676</c:v>
              </c:pt>
              <c:pt idx="13">
                <c:v>0.04581440346818252</c:v>
              </c:pt>
            </c:numLit>
          </c:val>
        </c:ser>
        <c:ser>
          <c:idx val="2"/>
          <c:order val="2"/>
          <c:tx>
            <c:v>Banco do Brasil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0.47044611553356097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0.02186244476852497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0.4427778819644693</c:v>
              </c:pt>
              <c:pt idx="5">
                <c:v>0.14163445791151857</c:v>
              </c:pt>
              <c:pt idx="6">
                <c:v>0</c:v>
              </c:pt>
              <c:pt idx="7">
                <c:v>0.05234064889393871</c:v>
              </c:pt>
              <c:pt idx="8">
                <c:v>0</c:v>
              </c:pt>
              <c:pt idx="9">
                <c:v>0</c:v>
              </c:pt>
              <c:pt idx="10">
                <c:v>0.029399905971277233</c:v>
              </c:pt>
              <c:pt idx="11">
                <c:v>0</c:v>
              </c:pt>
              <c:pt idx="12">
                <c:v>0.009145909849505437</c:v>
              </c:pt>
              <c:pt idx="13">
                <c:v>0.04358394025590201</c:v>
              </c:pt>
            </c:numLit>
          </c:val>
        </c:ser>
        <c:ser>
          <c:idx val="4"/>
          <c:order val="4"/>
          <c:tx>
            <c:v>Genial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0.01192825781904415</c:v>
              </c:pt>
              <c:pt idx="2">
                <c:v>0</c:v>
              </c:pt>
              <c:pt idx="3">
                <c:v>0.05690901582562128</c:v>
              </c:pt>
              <c:pt idx="4">
                <c:v>0</c:v>
              </c:pt>
              <c:pt idx="5">
                <c:v>0.10921999509731997</c:v>
              </c:pt>
              <c:pt idx="6">
                <c:v>0</c:v>
              </c:pt>
              <c:pt idx="7">
                <c:v>0.04361472819751594</c:v>
              </c:pt>
              <c:pt idx="8">
                <c:v>0</c:v>
              </c:pt>
              <c:pt idx="9">
                <c:v>0.005254031846368565</c:v>
              </c:pt>
              <c:pt idx="10">
                <c:v>0</c:v>
              </c:pt>
              <c:pt idx="11">
                <c:v>0</c:v>
              </c:pt>
              <c:pt idx="12">
                <c:v>0.0014288577438735935</c:v>
              </c:pt>
              <c:pt idx="13">
                <c:v>0.022093044160997583</c:v>
              </c:pt>
            </c:numLit>
          </c:val>
        </c:ser>
        <c:ser>
          <c:idx val="5"/>
          <c:order val="5"/>
          <c:tx>
            <c:v>Tercon Investimentos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0.22125837215796879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0.002182052599926365</c:v>
              </c:pt>
              <c:pt idx="6">
                <c:v>0</c:v>
              </c:pt>
              <c:pt idx="7">
                <c:v>0.0025739291328569992</c:v>
              </c:pt>
              <c:pt idx="8">
                <c:v>0</c:v>
              </c:pt>
              <c:pt idx="9">
                <c:v>0</c:v>
              </c:pt>
              <c:pt idx="10">
                <c:v>0.011512024996009442</c:v>
              </c:pt>
              <c:pt idx="11">
                <c:v>0</c:v>
              </c:pt>
              <c:pt idx="12">
                <c:v>0</c:v>
              </c:pt>
              <c:pt idx="13">
                <c:v>0.005542310561087736</c:v>
              </c:pt>
            </c:numLit>
          </c:val>
        </c:ser>
        <c:ser>
          <c:idx val="6"/>
          <c:order val="6"/>
          <c:tx>
            <c:v>CBSF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0.02158187974606139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0.00018173256305436804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0.041064963366157364</c:v>
              </c:pt>
              <c:pt idx="12">
                <c:v>0</c:v>
              </c:pt>
              <c:pt idx="13">
                <c:v>0.05868225680250354</c:v>
              </c:pt>
            </c:numLit>
          </c:val>
        </c:ser>
        <c:ser>
          <c:idx val="7"/>
          <c:order val="7"/>
          <c:tx>
            <c:v>REAG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0.0006791993569090867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0.003591033832779635</c:v>
              </c:pt>
              <c:pt idx="12">
                <c:v>0.03284180927126185</c:v>
              </c:pt>
              <c:pt idx="13">
                <c:v>0.054467807244361385</c:v>
              </c:pt>
            </c:numLit>
          </c:val>
        </c:ser>
        <c:ser>
          <c:idx val="8"/>
          <c:order val="8"/>
          <c:tx>
            <c:v>Itaú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0.05471978740561447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0.08150480181936648</c:v>
              </c:pt>
              <c:pt idx="7">
                <c:v>0.01041573167893111</c:v>
              </c:pt>
              <c:pt idx="8">
                <c:v>0</c:v>
              </c:pt>
              <c:pt idx="9">
                <c:v>0.09998764453570486</c:v>
              </c:pt>
              <c:pt idx="10">
                <c:v>0</c:v>
              </c:pt>
              <c:pt idx="11">
                <c:v>0</c:v>
              </c:pt>
              <c:pt idx="12">
                <c:v>0.025973774276490218</c:v>
              </c:pt>
              <c:pt idx="13">
                <c:v>0.04125339079361007</c:v>
              </c:pt>
            </c:numLit>
          </c:val>
        </c:ser>
        <c:ser>
          <c:idx val="9"/>
          <c:order val="9"/>
          <c:tx>
            <c:v>Solis Investimentos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0.034493689827595056</c:v>
              </c:pt>
              <c:pt idx="1">
                <c:v>0</c:v>
              </c:pt>
              <c:pt idx="2">
                <c:v>0.0707785674055675</c:v>
              </c:pt>
              <c:pt idx="3">
                <c:v>0.013372059792210478</c:v>
              </c:pt>
              <c:pt idx="4">
                <c:v>0</c:v>
              </c:pt>
              <c:pt idx="5">
                <c:v>0.01410591271130141</c:v>
              </c:pt>
              <c:pt idx="6">
                <c:v>0</c:v>
              </c:pt>
              <c:pt idx="7">
                <c:v>0.006169055247023951</c:v>
              </c:pt>
              <c:pt idx="8">
                <c:v>0</c:v>
              </c:pt>
              <c:pt idx="9">
                <c:v>0</c:v>
              </c:pt>
              <c:pt idx="10">
                <c:v>0.004700587309837359</c:v>
              </c:pt>
              <c:pt idx="11">
                <c:v>0.00027139686215441733</c:v>
              </c:pt>
              <c:pt idx="12">
                <c:v>0.0007285216184997913</c:v>
              </c:pt>
              <c:pt idx="13">
                <c:v>0.019346025162812742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0.698380362355187</c:v>
              </c:pt>
              <c:pt idx="1">
                <c:v>0.8891393093054771</c:v>
              </c:pt>
              <c:pt idx="2">
                <c:v>0.4858776358641141</c:v>
              </c:pt>
              <c:pt idx="3">
                <c:v>0.25569455277921393</c:v>
              </c:pt>
              <c:pt idx="4">
                <c:v>0.5572221180355307</c:v>
              </c:pt>
              <c:pt idx="5">
                <c:v>0.6093334003170607</c:v>
              </c:pt>
              <c:pt idx="6">
                <c:v>0.7928626369115982</c:v>
              </c:pt>
              <c:pt idx="7">
                <c:v>0.3072387437273598</c:v>
              </c:pt>
              <c:pt idx="8">
                <c:v>0</c:v>
              </c:pt>
              <c:pt idx="9">
                <c:v>0.8041536857064218</c:v>
              </c:pt>
              <c:pt idx="10">
                <c:v>0.9142828307215082</c:v>
              </c:pt>
              <c:pt idx="11">
                <c:v>0.9501876966408079</c:v>
              </c:pt>
              <c:pt idx="12">
                <c:v>0.8538156493653374</c:v>
              </c:pt>
              <c:pt idx="13">
                <c:v>0.7068138110118435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0.0007662608603716966</c:v>
              </c:pt>
              <c:pt idx="1">
                <c:v>0</c:v>
              </c:pt>
              <c:pt idx="2">
                <c:v>6.281624788476696E-05</c:v>
              </c:pt>
              <c:pt idx="3">
                <c:v>0</c:v>
              </c:pt>
              <c:pt idx="4">
                <c:v>0</c:v>
              </c:pt>
              <c:pt idx="5">
                <c:v>1.0849488329413318E-05</c:v>
              </c:pt>
              <c:pt idx="6">
                <c:v>0</c:v>
              </c:pt>
              <c:pt idx="7">
                <c:v>0.003436748761727782</c:v>
              </c:pt>
              <c:pt idx="8">
                <c:v>0</c:v>
              </c:pt>
              <c:pt idx="9">
                <c:v>0.07682709067170966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0.00016044842654654585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0.656000888816908</c:v>
              </c:pt>
              <c:pt idx="1">
                <c:v>0.30655505096291374</c:v>
              </c:pt>
              <c:pt idx="2">
                <c:v>0.144340456312791</c:v>
              </c:pt>
              <c:pt idx="3">
                <c:v>0.03117383637009289</c:v>
              </c:pt>
              <c:pt idx="4">
                <c:v>0.07483979968200132</c:v>
              </c:pt>
              <c:pt idx="5">
                <c:v>0.041426253610816026</c:v>
              </c:pt>
              <c:pt idx="6">
                <c:v>0</c:v>
              </c:pt>
              <c:pt idx="7">
                <c:v>0.027474689922011502</c:v>
              </c:pt>
              <c:pt idx="8">
                <c:v>0</c:v>
              </c:pt>
              <c:pt idx="9">
                <c:v>0.18541263828290985</c:v>
              </c:pt>
              <c:pt idx="10">
                <c:v>0.09519798891176616</c:v>
              </c:pt>
              <c:pt idx="11">
                <c:v>0.0515490070093137</c:v>
              </c:pt>
              <c:pt idx="12">
                <c:v>0.209321755829712</c:v>
              </c:pt>
              <c:pt idx="13">
                <c:v>0.09871038786152628</c:v>
              </c:pt>
            </c:numLit>
          </c:val>
        </c:ser>
        <c:ser>
          <c:idx val="1"/>
          <c:order val="1"/>
          <c:tx>
            <c:v>Oliveira Trust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0.027051696768214718</c:v>
              </c:pt>
              <c:pt idx="1">
                <c:v>0.2717322646373472</c:v>
              </c:pt>
              <c:pt idx="2">
                <c:v>0.38434362130666005</c:v>
              </c:pt>
              <c:pt idx="3">
                <c:v>0.5359280855252573</c:v>
              </c:pt>
              <c:pt idx="4">
                <c:v>0.01369933570980149</c:v>
              </c:pt>
              <c:pt idx="5">
                <c:v>0.10098918581145755</c:v>
              </c:pt>
              <c:pt idx="6">
                <c:v>0.23378075394850414</c:v>
              </c:pt>
              <c:pt idx="7">
                <c:v>0.09623885075338706</c:v>
              </c:pt>
              <c:pt idx="8">
                <c:v>0</c:v>
              </c:pt>
              <c:pt idx="9">
                <c:v>0.03000570723619616</c:v>
              </c:pt>
              <c:pt idx="10">
                <c:v>0.09687131495911563</c:v>
              </c:pt>
              <c:pt idx="11">
                <c:v>0</c:v>
              </c:pt>
              <c:pt idx="12">
                <c:v>0.02810813865026815</c:v>
              </c:pt>
              <c:pt idx="13">
                <c:v>0.032777305192846364</c:v>
              </c:pt>
            </c:numLit>
          </c:val>
        </c:ser>
        <c:ser>
          <c:idx val="2"/>
          <c:order val="2"/>
          <c:tx>
            <c:v>BTG Pactual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0.0025226472154451962</c:v>
              </c:pt>
              <c:pt idx="1">
                <c:v>0</c:v>
              </c:pt>
              <c:pt idx="2">
                <c:v>0.1723655922546065</c:v>
              </c:pt>
              <c:pt idx="3">
                <c:v>0.18229075168007014</c:v>
              </c:pt>
              <c:pt idx="4">
                <c:v>0.02167823883113039</c:v>
              </c:pt>
              <c:pt idx="5">
                <c:v>0.11374888451281695</c:v>
              </c:pt>
              <c:pt idx="6">
                <c:v>0.010283546215548051</c:v>
              </c:pt>
              <c:pt idx="7">
                <c:v>0.08712579737615378</c:v>
              </c:pt>
              <c:pt idx="8">
                <c:v>0</c:v>
              </c:pt>
              <c:pt idx="9">
                <c:v>0.06509344726707786</c:v>
              </c:pt>
              <c:pt idx="10">
                <c:v>0.03486778726515402</c:v>
              </c:pt>
              <c:pt idx="11">
                <c:v>0.03867683398465943</c:v>
              </c:pt>
              <c:pt idx="12">
                <c:v>0.2411558914210211</c:v>
              </c:pt>
              <c:pt idx="13">
                <c:v>0.12777031470705189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0.4704461155335609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0.005650217492933909</c:v>
              </c:pt>
              <c:pt idx="1">
                <c:v>0.03394956956679466</c:v>
              </c:pt>
              <c:pt idx="2">
                <c:v>0.05997711841739698</c:v>
              </c:pt>
              <c:pt idx="3">
                <c:v>0.0644746740730303</c:v>
              </c:pt>
              <c:pt idx="4">
                <c:v>0.05540491499139333</c:v>
              </c:pt>
              <c:pt idx="5">
                <c:v>0.11945702938613052</c:v>
              </c:pt>
              <c:pt idx="6">
                <c:v>0.058882728248978014</c:v>
              </c:pt>
              <c:pt idx="7">
                <c:v>0.02141398019715528</c:v>
              </c:pt>
              <c:pt idx="8">
                <c:v>0</c:v>
              </c:pt>
              <c:pt idx="9">
                <c:v>0.21769813460950754</c:v>
              </c:pt>
              <c:pt idx="10">
                <c:v>0.18869243152960105</c:v>
              </c:pt>
              <c:pt idx="11">
                <c:v>0.0733124835554939</c:v>
              </c:pt>
              <c:pt idx="12">
                <c:v>0.07432392233412591</c:v>
              </c:pt>
              <c:pt idx="13">
                <c:v>0.0809584817747009</c:v>
              </c:pt>
            </c:numLit>
          </c:val>
        </c:ser>
        <c:ser>
          <c:idx val="5"/>
          <c:order val="5"/>
          <c:tx>
            <c:v>REAG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0.02158187974606139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0.001265118761995852</c:v>
              </c:pt>
              <c:pt idx="6">
                <c:v>0</c:v>
              </c:pt>
              <c:pt idx="7">
                <c:v>7.168820062739686E-06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0.044655997198937</c:v>
              </c:pt>
              <c:pt idx="12">
                <c:v>0.04848829360672972</c:v>
              </c:pt>
              <c:pt idx="13">
                <c:v>0.14039639207761814</c:v>
              </c:pt>
            </c:numLit>
          </c:val>
        </c:ser>
        <c:ser>
          <c:idx val="6"/>
          <c:order val="6"/>
          <c:tx>
            <c:v>Bradesco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0.01822059623461933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0.5171854935971929</c:v>
              </c:pt>
              <c:pt idx="5">
                <c:v>0.14376767708183888</c:v>
              </c:pt>
              <c:pt idx="6">
                <c:v>0.13022827872380854</c:v>
              </c:pt>
              <c:pt idx="7">
                <c:v>0.06540428119237003</c:v>
              </c:pt>
              <c:pt idx="8">
                <c:v>0</c:v>
              </c:pt>
              <c:pt idx="9">
                <c:v>0</c:v>
              </c:pt>
              <c:pt idx="10">
                <c:v>0.029399905971277233</c:v>
              </c:pt>
              <c:pt idx="11">
                <c:v>0.0012245530453966088</c:v>
              </c:pt>
              <c:pt idx="12">
                <c:v>0.033839343259659926</c:v>
              </c:pt>
              <c:pt idx="13">
                <c:v>0.05554430575960388</c:v>
              </c:pt>
            </c:numLit>
          </c:val>
        </c:ser>
        <c:ser>
          <c:idx val="7"/>
          <c:order val="7"/>
          <c:tx>
            <c:v>Genial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0.0014143984780017323</c:v>
              </c:pt>
              <c:pt idx="1">
                <c:v>0.10503507651441574</c:v>
              </c:pt>
              <c:pt idx="2">
                <c:v>0.011837148359587121</c:v>
              </c:pt>
              <c:pt idx="3">
                <c:v>0.08209276508477789</c:v>
              </c:pt>
              <c:pt idx="4">
                <c:v>0</c:v>
              </c:pt>
              <c:pt idx="5">
                <c:v>0.12829342578813055</c:v>
              </c:pt>
              <c:pt idx="6">
                <c:v>0.0820968236937576</c:v>
              </c:pt>
              <c:pt idx="7">
                <c:v>0.056321661963584714</c:v>
              </c:pt>
              <c:pt idx="8">
                <c:v>0</c:v>
              </c:pt>
              <c:pt idx="9">
                <c:v>0.06386519876721265</c:v>
              </c:pt>
              <c:pt idx="10">
                <c:v>0.051943217169193555</c:v>
              </c:pt>
              <c:pt idx="11">
                <c:v>0.016187640050605127</c:v>
              </c:pt>
              <c:pt idx="12">
                <c:v>0.01006878803870165</c:v>
              </c:pt>
              <c:pt idx="13">
                <c:v>0.0329560029844489</c:v>
              </c:pt>
            </c:numLit>
          </c:val>
        </c:ser>
        <c:ser>
          <c:idx val="8"/>
          <c:order val="8"/>
          <c:tx>
            <c:v>Finaxis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0.02938771658878437</c:v>
              </c:pt>
              <c:pt idx="1">
                <c:v>0.0012950121619806157</c:v>
              </c:pt>
              <c:pt idx="2">
                <c:v>0</c:v>
              </c:pt>
              <c:pt idx="3">
                <c:v>0.0020072880960920487</c:v>
              </c:pt>
              <c:pt idx="4">
                <c:v>0</c:v>
              </c:pt>
              <c:pt idx="5">
                <c:v>0.0003817965185774057</c:v>
              </c:pt>
              <c:pt idx="6">
                <c:v>0</c:v>
              </c:pt>
              <c:pt idx="7">
                <c:v>0.023954817730900597</c:v>
              </c:pt>
              <c:pt idx="8">
                <c:v>0</c:v>
              </c:pt>
              <c:pt idx="9">
                <c:v>0.11858839678778405</c:v>
              </c:pt>
              <c:pt idx="10">
                <c:v>0.16962551422285804</c:v>
              </c:pt>
              <c:pt idx="11">
                <c:v>0</c:v>
              </c:pt>
              <c:pt idx="12">
                <c:v>0</c:v>
              </c:pt>
              <c:pt idx="13">
                <c:v>0.03615636784299775</c:v>
              </c:pt>
            </c:numLit>
          </c:val>
        </c:ser>
        <c:ser>
          <c:idx val="9"/>
          <c:order val="9"/>
          <c:tx>
            <c:v>Limine Trust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0.025884475168990163</c:v>
              </c:pt>
              <c:pt idx="1">
                <c:v>0.02598764795504468</c:v>
              </c:pt>
              <c:pt idx="2">
                <c:v>0.003851385744994227</c:v>
              </c:pt>
              <c:pt idx="3">
                <c:v>0.022088841798878028</c:v>
              </c:pt>
              <c:pt idx="4">
                <c:v>0.02288484386594737</c:v>
              </c:pt>
              <c:pt idx="5">
                <c:v>0.006208941893645588</c:v>
              </c:pt>
              <c:pt idx="6">
                <c:v>0</c:v>
              </c:pt>
              <c:pt idx="7">
                <c:v>0.031165673360826523</c:v>
              </c:pt>
              <c:pt idx="8">
                <c:v>0</c:v>
              </c:pt>
              <c:pt idx="9">
                <c:v>0.012837643057223302</c:v>
              </c:pt>
              <c:pt idx="10">
                <c:v>0.0067169555656875525</c:v>
              </c:pt>
              <c:pt idx="11">
                <c:v>0</c:v>
              </c:pt>
              <c:pt idx="12">
                <c:v>0.00018856231051638396</c:v>
              </c:pt>
              <c:pt idx="13">
                <c:v>0.03723037703995639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0.19940752085450217</c:v>
              </c:pt>
              <c:pt idx="1">
                <c:v>0.25544537820150354</c:v>
              </c:pt>
              <c:pt idx="2">
                <c:v>0.2232218613560792</c:v>
              </c:pt>
              <c:pt idx="3">
                <c:v>0.07991574384591492</c:v>
              </c:pt>
              <c:pt idx="4">
                <c:v>0.29430737332253326</c:v>
              </c:pt>
              <c:pt idx="5">
                <c:v>0.3428596328805304</c:v>
              </c:pt>
              <c:pt idx="6">
                <c:v>0.48378618098726084</c:v>
              </c:pt>
              <c:pt idx="7">
                <c:v>0.07612522958781971</c:v>
              </c:pt>
              <c:pt idx="8">
                <c:v>0</c:v>
              </c:pt>
              <c:pt idx="9">
                <c:v>0.2296717433203791</c:v>
              </c:pt>
              <c:pt idx="10">
                <c:v>0.3244582354834001</c:v>
              </c:pt>
              <c:pt idx="11">
                <c:v>0.7743934851555943</c:v>
              </c:pt>
              <c:pt idx="12">
                <c:v>0.3539405580978503</c:v>
              </c:pt>
              <c:pt idx="13">
                <c:v>0.34790662809489536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0.012877962635538961</c:v>
              </c:pt>
              <c:pt idx="1">
                <c:v>0</c:v>
              </c:pt>
              <c:pt idx="2">
                <c:v>6.281624788476696E-05</c:v>
              </c:pt>
              <c:pt idx="3">
                <c:v>2.801352588640792E-05</c:v>
              </c:pt>
              <c:pt idx="4">
                <c:v>0</c:v>
              </c:pt>
              <c:pt idx="5">
                <c:v>0.0016020537540602194</c:v>
              </c:pt>
              <c:pt idx="6">
                <c:v>0.0009416881821426408</c:v>
              </c:pt>
              <c:pt idx="7">
                <c:v>0.04432173356216704</c:v>
              </c:pt>
              <c:pt idx="8">
                <c:v>0</c:v>
              </c:pt>
              <c:pt idx="9">
                <c:v>0.07682709067170967</c:v>
              </c:pt>
              <c:pt idx="10">
                <c:v>0.0022266489219465906</c:v>
              </c:pt>
              <c:pt idx="11">
                <c:v>0</c:v>
              </c:pt>
              <c:pt idx="12">
                <c:v>0.0005647464514148762</c:v>
              </c:pt>
              <c:pt idx="13">
                <c:v>0.009593436664354341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42981F-A074-4380-B1F9-76A7CF4F1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65B80D-B092-4C5B-80B8-E2DAE31E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C18B90-8420-42B5-97DA-D1494E4F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22E42E-2AE8-49B5-B6DD-F9B2D3075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04D6BD-F2C1-451E-BC66-5C4D8209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31 de maio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CD2333-AD6F-4061-BB79-972634F2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Ofertas: registros até 16 de julho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8CBECC-16CE-432C-AEF1-D44800E53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Julho de 2026</a:t>
            </a:r>
          </a:p>
        </p:txBody>
      </p:sp>
    </p:spTree>
    <p:extLst>
      <p:ext uri="{BB962C8B-B14F-4D97-AF65-F5344CB8AC3E}">
        <p14:creationId xmlns:p14="http://schemas.microsoft.com/office/powerpoint/2010/main" val="21140461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4C5B60-747D-439A-869D-C1EFCAC9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01782A-29F4-414A-85C0-5BC418C2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C27651-8B3A-44AD-A6D4-6C3100EF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3B9AA7-0656-454B-B43D-9E4CC791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3A5F36-3DFD-4A29-BDAA-AB7F92EE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mai/26, salvo ofertas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6C513B-DDC5-4275-9CB8-5130A427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CF12AC-32AD-458E-9F3C-A7CA3D2E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D6D3AE-9901-4318-BEBB-B1674F46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7AA0F7-C2C4-4C91-8718-AC4645B7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R$ 78,6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8D53A8-1793-4EEE-9651-D1150069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4EAE6B-4750-495B-8E49-5DEA9315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A58590-729B-49C9-95CC-F8FA109F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29191A-877D-4D7C-9E66-56E7E2D2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27AC26-4403-4C78-B1DD-08A4F3B5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C9FC4E-F23A-4835-A338-36A4D501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DA65D5-3BE0-43B6-A0B4-58E846E1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C034B2-FF60-486A-A648-7FDC4B78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52,6%.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DEE2C2-2071-4889-A4C3-62015079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AF9244-D9FD-44E8-BB08-2749849C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34,0%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EE8AD1-529F-4929-AE1E-44ADC32A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0C8E0A-3794-4EE8-BD7A-BDE43CE4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1978499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31A4BF-1112-487B-8FBF-28D1CD69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93D406-8C68-4582-BC7F-3E22E6BD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R$ 79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21699-3C85-493F-95FB-5AB3D678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3FECC-9668-4785-9A1F-98FC3509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12DDFA-F17F-470C-9955-CA80D132C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2EDE7-93CB-49DF-844A-0EE904A6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53ea396cf9438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FD7802-8FC3-4383-BB3C-38B52BD4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581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7309B7-1112-4DBD-A975-37B57F35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2390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0D89E0-C487-4171-BE2A-F42A3BCF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4321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682DEE-8199-4FF1-9960-B58B8D78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4418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B06BA1-5B5E-4813-8236-8900ECAF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18347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138962-1CE9-4CB1-91EF-E5170AE8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25751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8491AD-A22E-4210-9AE6-67E81087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391445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9742A5-CF9B-41FB-85E8-3FED503A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65126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2423E9-CA25-4CC4-8346-8E70EA04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25072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B8AD81-9B03-42CE-83A3-C5B94745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32337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0623B5-EF1D-4101-AEEB-3C37A456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61875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53E6C1-8C14-4940-867D-FB28BB78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4859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60E840-2FA7-4323-81BC-5FFC3AE7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47DE6E-1182-4298-95C1-24777EC8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83E31E-1C60-4F14-90C8-04E69ECD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4BC3F7-C629-4C12-9D1D-01F1404D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B4241F-902E-42F5-AFAD-A1F22528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FE0302-8EA5-43FC-85C8-214BE883B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375BE6-841B-4836-BC9B-2323678B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3D39C1-E9AF-44C8-A9E8-CE8CCEB1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R$ 79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C6E75D-DF26-4A2D-BD2D-16A3786B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2CA9E6-1D72-49D6-9A4D-B8020964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197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O total no topo da coluna é o PL bruto.</a:t>
            </a:r>
          </a:p>
        </p:txBody>
      </p:sp>
    </p:spTree>
    <p:extLst>
      <p:ext uri="{BB962C8B-B14F-4D97-AF65-F5344CB8AC3E}">
        <p14:creationId xmlns:p14="http://schemas.microsoft.com/office/powerpoint/2010/main" val="12885817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002264-9B17-4252-983E-B1F110AB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0C6F69-8742-46D1-8484-293C574B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445,7 mil contas em 4.227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241E2B-6556-4177-ACC5-45FD666DF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FBC3B-5399-4986-B214-837CD66A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9AC383-FAE4-43D8-90F6-E97DB3F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mai/26.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9EC82B-0FCD-4324-B7B0-4EEA80E7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F2C0A7-DF64-4980-85DC-EEF57FE7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A40C06-9973-4EDA-BF3A-CD7DBCE8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eab979ea784ab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0641D7-AA49-4500-B638-BC183056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163638-90AA-4E12-B33F-5E69E613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1890D6-9CF8-4842-AEFF-F518D2AA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5812BF-C50C-4DF7-B2D5-B4309C28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21790A-01D4-473C-89A7-FC308FB7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A56608-2AAB-4965-8C96-26213936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85AFD-F59D-494F-88D3-B7D2F4D80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7c86362ecc4eee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C0369E-1BB1-4DE2-80D2-2C27E7F0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55B6E3-4908-48FC-A173-8102A909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EEE9C-03E2-45BC-A7D3-E5BB4FB2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1F1F7E-0382-4B8E-BF6D-5E93BEE8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8DBF1B-C077-466B-83F2-B3A25192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331468-7EBB-4CDF-BE1E-E201D83C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MAI/26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DEF80D-EDC9-4FEC-8F45-B9A0BC53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187064f47f46fc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3C6AA8-10B7-4BCA-A78F-512E893D1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445.677 contas; 32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7565901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64F3BD-F93C-450C-A2C3-31FE3194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D971D0-B2AB-40BA-A3F9-12BDC6CA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 dos fundos acima de R$ 200 mi têm até 10 contas e concentram 61% do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FB692C-620C-4BC8-A9E9-9979F881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D18505-ABD8-416E-B752-A24E1E6D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1709A1-1B6B-4C81-8B10-12FDEF1D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Universo: 778 fundos e R$ 733,9 bi de PL; contas por classe/série.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B8BA47-7F64-41CB-B498-BB57D5E1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426E0-9990-4097-871A-192966BA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B52D30-B047-4BD0-8CAF-D708FD14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86375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8f6e1068a3e467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871B63-C1F6-41A2-9850-B18B5B6A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50200B-F2D6-48CF-AC8B-9562D8D6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334125" y="1714500"/>
          <a:ext xmlns:a="http://schemas.openxmlformats.org/drawingml/2006/main" cx="5286375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84e6fef0db5469d"/>
          </a:graphicData>
        </a:graphic>
      </p:graphicFrame>
    </p:spTree>
    <p:extLst>
      <p:ext uri="{BB962C8B-B14F-4D97-AF65-F5344CB8AC3E}">
        <p14:creationId xmlns:p14="http://schemas.microsoft.com/office/powerpoint/2010/main" val="17103578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146119-608E-4E23-8A6B-9ADF2C2D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C940B-FEDF-45E3-A013-6E9D23BC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reúne 41,7% do PL ex-FIC; 8,5% não vem da fotografia oficial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48AE1-49F7-4407-AFEF-1CE7367B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E2CD5A-617F-4A40-A54B-FFD2B7B4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320A0-BEE6-4FD0-9EAB-987DFA83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evidência documental e CVM; mai/26. Tipo e Foco são campos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51ABDF-8012-448F-9350-D0FC6C64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6905625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b8b56ec3334c3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9293C5-8B57-449E-8384-267B1B25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7637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 DA CLASSIFICAÇÃO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15DFFA-4B3C-4B56-B287-4B7F0076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4307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DECBF-CE8A-490D-8042-D013F2AC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09775"/>
            <a:ext cx="1918335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3AD9BA-9D1C-4C5E-BAB5-E5883BA1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7920" y="2009775"/>
            <a:ext cx="1592580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0,64%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ACB00A-63A8-4456-A13C-C684BBFF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00313"/>
            <a:ext cx="36195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352399-FF37-44CA-B673-07C90F6E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57463"/>
            <a:ext cx="1918335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373141-AFD9-435C-A9B3-D259AF93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7920" y="2557463"/>
            <a:ext cx="1592580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1,94%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EFEF22-36CD-4CBA-91CF-C42B3D55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48000"/>
            <a:ext cx="36195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FB617B-D3AF-4BA0-93FC-9CE2C6325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05150"/>
            <a:ext cx="1918335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Oficial ANBIMA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9DEE56-F995-45C5-A8E7-780D2DAA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7920" y="3105150"/>
            <a:ext cx="1592580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91,55%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F5FBE1-829E-44B4-8DCC-8970D9C1F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95688"/>
            <a:ext cx="36195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79B8E5-7F10-47EF-8B14-FFCEF077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52838"/>
            <a:ext cx="1918335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Proxy CVM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46C33-D98D-4F4C-8C32-09F5240F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7920" y="3652838"/>
            <a:ext cx="1592580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5,87%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990C5D-1A76-4644-8906-62A485E8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524375"/>
            <a:ext cx="361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classificação de mai/26 combina fotografia cadastral ANBIMA, evidência documental, proxy CVM e registros N/D. A origem permanece visível por fundo.</a:t>
            </a:r>
          </a:p>
        </p:txBody>
      </p:sp>
    </p:spTree>
    <p:extLst>
      <p:ext uri="{BB962C8B-B14F-4D97-AF65-F5344CB8AC3E}">
        <p14:creationId xmlns:p14="http://schemas.microsoft.com/office/powerpoint/2010/main" val="17575656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9D394-F1C8-4FEC-8A2E-BD1A934A8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9C872-CEAF-45B8-AB59-6DF0CC47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abertura por recebível soma R$ 728,9 bi, R$ 58,5 bi acima da carteira da Tabela 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D2564-C6F4-4BC0-B50A-04EBE148E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884119-2F7C-47BB-B56D-364EF1AA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A2686-231C-4149-95AC-96994878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Tabelas I e II, mai/26. Categorias não foram forçadas a reconciliar.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12485-2601-430D-8332-C962ADA4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714375" y="1428750"/>
          <a:ext xmlns:a="http://schemas.openxmlformats.org/drawingml/2006/main" cx="10620375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9f41ff773b4a8a"/>
          </a:graphicData>
        </a:graphic>
      </p:graphicFrame>
    </p:spTree>
    <p:extLst>
      <p:ext uri="{BB962C8B-B14F-4D97-AF65-F5344CB8AC3E}">
        <p14:creationId xmlns:p14="http://schemas.microsoft.com/office/powerpoint/2010/main" val="6913815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AFBFC5-54C6-4631-89CF-0FA052D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49FE2B-8E4F-4777-91B7-6A29DF82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197 veículos; 10 casos explicam 52,6%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62035D-CC5B-4CA6-AF59-65B78D09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C466EE-C542-4B87-BABC-5B8602A3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D11CBA-BF22-4B53-9576-226FEAB5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C82C20-7F20-4C36-82AE-9192D89C8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1415D2-2D85-43BA-9268-00D18E07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D5BCF8-ACA6-42BE-BDF5-5B5BA328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49f79e1a8e4eb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9FF74-7E87-4FEE-9A7C-C6BEF1D4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D1364B-AE4D-499A-B16A-9453173C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AF758F-AE7B-4A4F-B0E1-E8CA2F7C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FCB38C-A651-4B5C-9F41-51205951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F0B827-72AB-4A2C-A389-2067A5F6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 / 4.222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68B2CE-AB9D-4CE4-99D7-13C547C1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F74525-924C-4A28-A620-6A4FA33F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3314AA-06E0-43E6-8538-601EB204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3.119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4162BF-B911-4BCA-A41E-2E3DFFD7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8DBAD0-F83D-4D49-8CFD-074738F6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D74B4C-DD31-4552-855E-B391AD6B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D621C7-93BC-4CA6-99EC-0758355F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BD2CA6-FC0D-41CB-B9E6-5C70395B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0C57DA-26BF-4EC6-9BE8-46F2CD045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44BE8A-93EC-4CC7-939B-92FD9C41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211097-B3CE-490E-8C39-91C8B4810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17A19A-70F9-4304-99F7-B07B152E4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197 · 1,02%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593935-C493-4A66-A939-058B5142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2EDEE0-C0A7-41F7-AF17-B91347BC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273F3A-1AFC-4498-848C-A763D6CB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9,8% / 37,1% / 52,6%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D4DA0B-1E2B-4BA4-92B3-673D4CB8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112,1% da Tabela I e não reconcilia; gap de R$ 6,52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18634942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8C6BE60-4AFF-4EE1-AD98-01FE6B01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7567DE-C797-4055-B253-3192D143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explica R$ 16,7 bi da queda de excesso entre jun e jul/24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470D1D-0C34-41F2-BD18-C79EED5F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C3E6AE-9EBA-4E70-932B-AD31EF7E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7D3485-8B21-4727-8764-E41816BE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painel CVM versionado. Jun/24 e jul/24 não preservam flags brutas de campo; mudança de reporte não é separável.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58D5F4-1328-4A1A-9CFC-862EF725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52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28289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c5727edfe741b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57994D-4DB0-4C66-89A0-8A7BAFEA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24268C-3A56-428D-B716-93303F31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786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843823-D822-4F06-A05C-1DF0BC5C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D0138B-AD87-492F-A135-F7C03700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471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638808-2D31-4878-8179-C31B52ED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1929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16497E-6066-482B-93CB-16BA451B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614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335812-3387-4CFB-9885-53C15F57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05/26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18D5F3-37A5-4A38-8C6F-EE3E4F47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4E454B-50C3-44C4-BE59-1020DF17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D8D753-914F-4E4F-BC6D-A8BEED55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BA9F7A-DA4F-4F59-A8FE-1387703F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FC5697-95F6-4D9B-B696-C20E2A4D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285291-7FAB-4E79-AC28-E8FA41CD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Bridge jun→jul/24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B3E4DD-6FB8-4F55-BE87-A3529D95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339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Veículos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1FB6E6-8638-4906-9002-7D482784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inad. bruta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48D3E2-BEA8-4FCF-A4F9-06AE44D2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ajustada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34C3A5-11B9-42C4-8BF1-5CC4F4CB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3395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excesso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1AF0F4-A5FA-48B2-A726-3D2131CF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92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A23280-C4B6-40F3-87A2-2383BFB4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927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C90FAC-91C8-4F44-9987-C0170946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78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Atlântico FIDC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7ECF8D-04AB-472E-9A26-E0AC58D2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578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5C7290-EDE0-4E01-A375-DEAFDEE6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-16,6 bi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E5E328-AFA0-42FA-AB06-576C0FB6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R$ 0,1 bi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E4FA34-600A-4B94-B352-EC6ABB5B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2578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-16,7 bi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55E30E-7CF5-48D0-8746-9F363054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0227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7FC9A3-10A2-4657-BFE0-7A7EFC43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58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8DD67F-485A-41D8-ADF4-200BEF5E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3085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continuantes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2BF2AC-3D5F-4491-B089-D83CF93F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3085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1181AB-946F-452B-8E76-41CFCD1A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-4,3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AC613A8-C61E-4768-9684-94672F17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-1,9 bi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958C66-2A77-4247-88D3-1393556D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53085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-2,4 bi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4D2216-90CC-42F6-800C-57DFF49D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53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32CF58-0D0C-4439-B5D9-6B6CF3E0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38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8B13D65-7DA7-4AD6-87CB-C557AB82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039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Entradas / saídas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AD34C9F-DA36-4BD4-8014-2F0B5F93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8039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87 / 25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75225D-E82F-4AB4-B87B-7F9FD46E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D93BE75-5B62-448C-B6FC-663C6310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CB33D76-D5BC-4471-A4A1-1D0098AD3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8039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</p:spTree>
    <p:extLst>
      <p:ext uri="{BB962C8B-B14F-4D97-AF65-F5344CB8AC3E}">
        <p14:creationId xmlns:p14="http://schemas.microsoft.com/office/powerpoint/2010/main" val="1668422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F255826-7FFB-4C09-A6C3-E37573DE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95931-C67C-401C-8038-03810BE2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10: 36% em gestão, 71% em administração e 75% em custódia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C9854D-586F-4D6E-8496-E511594E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0E297-9FC6-4978-A294-50E8F953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A17E60-D8F4-4BBE-9948-790CA0AB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mai/26. Shares sobre PL total; prestador não informado permanece no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84F414-4B23-44C6-B9C3-293E9E56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60960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e6b046a40f4d5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15FAF1-C1A0-44E4-B49A-ADD058ED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57750"/>
            <a:ext cx="542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3874AC-3A54-42C7-A096-811BFD64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763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MAIORES POR FUNÇÃO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1F6C70-6446-46FB-A627-B2AD1C54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4307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FABB6B-063A-4090-8A94-FF78B2BF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57375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AB3835-BE3A-4B6A-B8EB-3F574AF7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885950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DFD531-DFB5-4885-9A1E-41A0C63D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85950"/>
            <a:ext cx="245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Prestador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FEEEAF-99C2-47C9-B248-746C211C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1885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B8AD15-A61C-48B8-B8A1-0644DD21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81225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76E264-7F14-4211-B96A-52493074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47938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E0F987-8F5B-44AF-B874-BF415A7D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09800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CE97AB-35A6-4381-A4E2-15A0FDBA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09800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9E2951-ADDA-467A-ABCA-1B06CBE9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09800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15,3%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C23A1E-6630-43BE-930E-0B51CAC9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57463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A62C33-3AFF-47FA-86AD-456CE540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24175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2F6A80-CF3A-4BE1-BD4C-80794A2E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586038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433BC7-7B9B-48E1-9611-22CCDB9B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86038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QI S.A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BA4C38-1EE4-49AD-A68B-A0B988AD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586038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14,5%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F7E0FB-9B74-4724-96CB-B087D770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33700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A9849A-FBAC-4FA3-9772-EFB51A3F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00413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015562-827D-4D5C-B882-F1B8BA4B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62275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73F95C-CF99-4E63-8CF5-4CA0FACA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62275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 S.A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3ACF90-FF57-42F3-9FE9-F01794DE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962275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10,2%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2A9879-0252-4A2F-9BF0-AA178074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09938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6D3382-23E3-4B4E-8D6E-51E7DDE4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76650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BF7350-3BD4-4EFF-8741-2D6C370C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338513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BA4EE2-1EDF-43B1-8CA2-37E4A67D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8513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 SERVICER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3B7041-D85F-4BA8-A8DF-68D927F21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338513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7,8%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5147EF-A039-400C-8AD4-29DFD0C1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86175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5A57A3F-2A40-4940-ABD6-0B3C8E16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52888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95D579-CB05-450D-9E57-6D6BD1DC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714750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4480B6-1A70-466C-8517-56F07612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14750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BB GESTAO DE RECURSOS S.A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493D1D-52DA-43A1-9148-E65EEDB7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714750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7AC2087-B692-4EE2-8381-BB65B029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62413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33E05C-C6A7-4114-88A8-32AA1630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29125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3E7D7A-8BEC-414C-BC22-42D54EB6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90988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6B5AB2-6FE3-40AC-A02D-88199352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90988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 S.A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661281-BB3A-4052-BB4F-1B8B87EB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90988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8768BF7-D53F-4404-92C2-622A70E4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38650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AFE1028-D51C-4155-BA7A-9DFF0DBD0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05363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1C6463A-D411-451D-A71D-B575B09E8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67225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F3D6B1F-232B-477A-84CE-3FAD59F3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467225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 PACTUAL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89E9DF3-F54F-4405-9B6E-66003B86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467225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15,4%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A4966BA-575F-42B8-BFD0-52A4CB074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14888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356422F-C463-4DB3-B064-B999ADE5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81600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6DD0024-8F24-4F52-B25E-B09E8B24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843463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2B630F7-41CD-4B4E-A7F4-053E0F85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43463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QI S.A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6592460-5B74-431F-881A-7756DCC9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843463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14,5%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5FC80B1-2F5C-4CE1-92CB-8B92587EE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91125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A4480BB-7381-4E3E-BB63-962DE199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557838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220C053-1558-4E98-899F-318F0F12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219700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B761259-221D-4604-90FD-A41EA479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19700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 S.A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660B929-36D3-4DC2-BA7D-83FDC44F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219700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12,3%</a:t>
            </a:r>
          </a:p>
        </p:txBody>
      </p:sp>
    </p:spTree>
    <p:extLst>
      <p:ext uri="{BB962C8B-B14F-4D97-AF65-F5344CB8AC3E}">
        <p14:creationId xmlns:p14="http://schemas.microsoft.com/office/powerpoint/2010/main" val="66160985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D87F4E-BE9E-4809-AC01-E894AB7F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6D94BE-C1CD-4CF6-9031-8E2EECC5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BB tem 47% de Recebíveis Comerciais; QI tem 66% em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F5556B-4BF8-4148-9785-91BCDA81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89E8DD-0A85-40B7-A339-7B8DAACC8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274874-7B86-40EE-A3A6-73A54DF9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C5AF41-B986-47EE-A953-F3C081FC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2f77a6d1be7484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0546BB-FE5B-457A-BF5E-A70E4ECD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91152C-8742-43C5-A59B-BAC4022C0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D364F3-6C22-4C91-814A-A82C6016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703AAF-8A50-484D-B267-53DF4E05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591F70-374E-4723-89BD-DBFD13E9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2FB865-B979-4BD3-9C70-287B3829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0F2BAF-520E-4A27-9FAC-FCECF293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4857D1-5375-4A6C-BAD8-CF060A10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8E3208-F33E-442F-8035-2813D07E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8B0598-CCEA-4278-B4DE-9ACB40D2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443108-F087-4F11-BB61-975D248B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A5BF15-AF87-493D-A2B7-808922DB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21E91F-4971-40A2-8229-48B477C9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1C31A9-B4B7-4EBC-A080-8269F753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91CB0A-9223-4577-B68F-69E3862B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B675F0-8FF9-492D-AA13-1D755080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73429F-2FD3-404A-B803-E9DA06BE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1679AD-0A90-4C83-81E0-BBA9DD36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311E51-139B-4D6F-921A-276FEC3E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FAB73B-9553-4CCC-B22D-1D64A8CB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67F451-327B-470C-9F95-8CD8054B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3845E8-AB04-44B9-B2AD-F678FDB9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BB9B80-A02F-4EC4-8331-A3F6DFBC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B389BB-895A-4D94-9266-6E55424C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68B3DD-CB09-424E-B782-55076D75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87,3%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1810203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D7776A-C296-4147-9D70-89212D30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CB6460-7E17-418F-8786-933DF5B80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Top 10 cobre 15% de Poder Público e 30% de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BBCABD-A60D-4D2B-973A-DE72D541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BCF473-54F3-4379-B096-A70DFF32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E96989-8564-4F2C-A8E8-6718B335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82EA45-ED63-4342-B11F-2DFB2972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b3d355996845b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440E5-34A5-4393-8789-F3EF0576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964495-78EE-4EED-B05E-AADE44B7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6A7E4B-41CD-4A81-97E7-0F4C72659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D7A7C5-DBA8-4ABD-B5E7-AD820BD8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245537-1A7A-4BD1-AB22-F55DF976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C25F8F-C5B6-46D1-92F6-1D619F0F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5FBB12-6757-47CE-BAF0-95C6F055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CE741F-AB52-4063-B09E-D6FDFB6E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71EBBD-8E81-47FF-8CF4-198AE49F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A6E91E-6E6E-4898-AE0F-CF50AE19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5688C8-D933-4C60-AA25-34256107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E025B4-A010-4D7C-8C0D-19144692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Tercon Investimentos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4D6379-E589-4C40-8F5A-ABFC0392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6C6626-FD2B-4D40-B423-E4B820E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FE11C7-A80E-464C-99BC-6BF9EFDC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9B2E4D-2738-4914-ADCF-AA114EAA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32C860-6463-491E-846B-733DA99A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52CE97-908A-4556-B636-05A1F6F7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EDA705-3F3E-4FF5-A2EB-CB118A26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F5D166-5B07-4150-80F5-B36F2C4F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Solis Investimentos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CF60F4-2141-4A5C-AA18-CC43FA9F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C6FDB4-29B6-4585-ADFA-C3F0D781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86232A-A466-471A-8AF0-D4F0A7E2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AB3FB1-4A66-4506-AA2A-F73F4B25E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6F7EE8-F61B-4B5D-97E9-B5D4257D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87,3%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7688519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30DC9D-42DC-46E2-9024-9700E7CA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AB5B0-D43F-4EA8-A2AC-19BDB56B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Oliveira Trust tem 54% de Crédito Pessoal; QI tem 66% em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EBE7C9-48C3-4C24-800E-BEE83ADD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31B501-B5D5-43B6-AF2D-FCEB2BD71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08708B-B128-431E-BC0A-AA0C62A4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B1F7B7-B9CD-49E2-A155-D12FEA22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1e7c3f907bd437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DFBEB7-A04A-435C-928D-578292E6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C218D1-D333-419E-A079-2DCEBF81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1922A-9160-42D5-89B9-202B0BD3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27DEFD-B828-4762-820F-22FB9EBFD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805F49-2FC2-4FB5-859A-308D2089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D1FE7F-3E82-43F1-8100-A7897194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1BF739-B007-4BDB-B21A-64EA8966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810568-6CA9-4D4A-BE51-CEE8C883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471ACB-4441-4C70-8452-5B0AA2368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90675A-EBC4-40D5-B74E-AE3169E5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03D780-D0C0-4769-883D-6D3FA64D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A9A9FF-41CB-4B96-A0D4-4BD0483F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EA2EDA-5A4E-4435-BED5-EFDEC149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152154-98BD-4AF8-99C2-91DB81F4A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BEA0F9-CD0D-49E0-A2A4-E4FA942C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BB96FE-090B-4473-A9A1-472C4057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A89CEB-ABDF-4472-8438-0EF22CAA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A27303-A168-4A0A-8679-7EEB007F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62D407-2AD1-4B65-8FEA-92A0CF31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BAF9CB-AA76-418C-938D-9B084563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Limine Trust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FE1E6F-5EA6-4229-BAED-C41B629C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974553-F777-4D44-932B-9D5F11C7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D3D9F2-9785-406A-8321-7B8B4AAA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65A33D-D2D0-4536-80F4-2EE1CAB2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01EF65-6FAC-4F99-85B3-E3EC3B14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87,3%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5144833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A0769405-175B-43F4-8BD5-E741FBD8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8F7FC9-D236-4DD9-B5B5-F14377C6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24,8% do PL ex-FIC; Petrobras e TAPSO são 46,5%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D56DE0-0C7C-40C9-AB74-842C1C8F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E9D662-D16A-42DF-B0A4-08B73F98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EC889-3756-4047-97BC-1D8D8CCBC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mai/26.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D5622D-4C91-4250-8457-848BC0A7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970FB-693C-449D-A53D-66F0778A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3A14B8-E82D-4BCA-B02D-E55D2709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1E6848-E129-4F26-BB44-76F334BA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B9F347-9B6F-497E-A02F-9BF2F8C9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946B73-FCFD-4BE6-BCB5-0AD7FD5F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4B61C0-8934-4418-BF80-C43CA093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052CF0-F65E-4DED-94E8-BF9DABCA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3E6746-3684-491E-97BE-2029C8B3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B8EEFE-20EC-4CB3-AEAE-8B02E2F1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61C25B-94CB-4EC4-B7FE-C1CAA196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4B4BC6-CA15-48EE-8529-127C4B8C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D7C761-1E3B-49B8-A115-DFEC14AA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B95875-C61C-49F8-B78E-8647F167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6,9%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6DAC83-9232-44AB-95E5-11F06B6E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DD4088-437C-4B20-8D3B-FCDE6FF4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02E7AA-DC42-4D08-B572-356E4783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26CACD-7465-4081-9254-C2554D89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A40230-35B4-472F-B303-90EB5D79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ADBD27-9EE2-4990-980F-81C2B6AA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D69B2E-2742-4BBB-B8CB-BA0CAEB2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40,7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2F7486-4599-41BF-96D7-6317C5CB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BECDCD-D3D0-4E15-9999-8F70031C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F6184A-32BC-486D-A8D6-CD0FD10F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CB3A60-DCB2-45A2-896D-9940D6D8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32242E-51AE-41E9-9936-A4AD6772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1E092A-DBEF-4FDB-BDBA-D356F027E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4B741C-A8DF-46BC-BDA2-6ECC5CCE4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99ABC7-BDB1-4236-BB6A-5207EB174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32F1A1-50F3-435F-9694-926E8CD1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CDC02C-0CA2-4E4A-B766-CEF84EB2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D48B01-AAAB-40BF-9CE4-DC2C3AED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77D8D4-8FBA-4112-ADD4-DD6F8E9E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03B3B5C-F9DD-4ECD-9D89-E82B9471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2CA170-5E4A-417B-8DDA-9CFBD537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E579C1A-6F57-45CE-9A6C-4CF60A9C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47D98C-DE6C-4C88-883D-5CDD09CC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4B6C4D4-D07F-4F39-BD53-DBEAB9FB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E7C0305-0364-4A1C-8719-56C8DBCC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55F4BE5-C5A6-457F-A899-48A84F05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CA7248E-3455-4AA2-BFB3-5A5E60F4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28A71F6-997B-4C34-8865-33372BDD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C370D94-C4C0-49AA-A340-5EEA8CD5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8150A05-3E49-4685-AD3F-7DAEBADD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AF70451-556F-4038-A848-912BC778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53B4F8C-A864-4D2F-B607-05B4C5F2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44769A5-1BCF-45BC-B92E-7A72D644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5D4B52E-85C6-484D-8D40-6160FBE1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01BC9C7-71F3-4DE2-A6A0-3E289158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EA564DA-FA1D-4A54-86AE-7DF62D37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BED8460-B206-44BA-B7A7-32183712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81A077D-F732-4B10-9B6C-6CBD221A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63B9B55-031B-445D-BB37-EF3D1DC1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7,9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43713E3-B01D-4D43-84B8-CA23E756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AC40376-8746-4ACE-9F74-C01A267B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816D9DF-76AC-4C6E-BDBC-57DE3888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738B1D4-89D9-4651-9927-3A4621210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FE6E0F9-230E-46F6-AB7D-F2F121E5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14C5352-61E8-4608-8942-0C58A781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B6F2ED3-4AA3-4CC8-94DB-04A102BC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A96B321-9DE7-4345-BE7E-1050F2FB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7,8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497D593-ABA4-48BC-BA48-470ED709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0D5FC59-EF4A-4A26-AF39-8C4355AB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D21852C-A810-4EE7-A5CF-4191FB70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76E988A-58F3-4F70-B585-82FB6CEA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613E855-673B-44BB-8542-AE720D1E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9D8503D-8471-42D7-A167-64F1E613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188C40E-36DF-451B-8DE0-9CBFC8E0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4216ACB-DD93-4590-A126-D6712EED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7,7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6B792CE-DCBF-498A-BAF3-9112ECE1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5D91F8E-89C8-4035-8FC3-22989927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38DAE13-89A2-4E40-BB49-F2A2BEC4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8D77255-3CA8-4D6B-9651-E3BD62DD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37EDC5A-C7DD-4D4E-8A6C-A27B11B3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A4D31D8-A412-4138-8AAD-078436C2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A8563AD-5D96-4184-9E64-CDB36A21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F336BDF-C483-48F7-B751-23E20DE6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48E3148-2272-49FD-90A7-7342314A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639A9D8-386B-4E8D-8A35-1F3F394E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3AE9E0B-B875-4619-9CD5-E27E9C24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7AF28BC-3C16-4C6F-AD77-7B762C90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918D179-797D-4714-9C5B-F5CC8130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657D156-74E3-4FEA-A479-9B075D73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BC5B5D5-EF18-43D5-AA6C-041D1EC3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2E6EC81-128D-48B2-828C-DECAD040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88AF29D-DE15-41F1-A5A7-44B41E67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A164D63-284E-4D51-AC40-6B2FAB5C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30EF071-8072-402A-BB5F-545A46AA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CD0A9A7-471E-4BF2-A6C8-86E8B234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4C5C4DB-7D9A-4D7D-BEEC-54B21EC6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E42DF8B-C343-4E6E-8B7E-48116B9F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D5B9B68-FB6D-4405-8EE9-8B0E0147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9711302-F05F-4671-A3F9-A907DE5DD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B61A05C-1456-40CD-81E0-E3CCC2F6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519A72F-63D1-42B8-8911-ABCCEEDC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93CF7C8-9E88-431B-BB8C-E1F6A4B0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E369061-D58B-4C03-974C-3A3EE845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0C34C0E-F543-42A3-9EB9-FF27B6AF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F6696C6-8E86-4AE1-979E-5AD702A2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FEDA9D3A-11AA-46C1-98AC-04A19A64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8BDF8C60-0439-40D2-81E8-5ECD0761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BDA389A9-73F3-45FE-A55C-3290C252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7B6E31A1-9C0C-4F6E-A079-2123970E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72ABD9BC-D2C7-48D5-85EB-1340282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4F748311-E4A1-42E8-ACC4-C628C4F7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32506C5C-C2D0-42D8-85D6-CDC9DFF7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59C68088-F5B2-4C58-878D-0BE7A55A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538561A3-9D03-4F1D-9A02-55C912BA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FED7DE56-7ECF-41B8-BA02-654D3585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DE2BDCAF-CC26-4256-9EA4-94B12AC0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48648A18-766F-45D4-9E70-18ED772B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DAA28315-8FE7-4D71-942B-D33A445F3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F593E294-5804-42E3-8E9C-6E1934F7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9B5E8914-5662-4D92-8E97-5F33A0CD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5D4856E-9907-4F77-A401-31D6F810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F421A67E-D484-49B3-8984-2A2819FC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ADCC149A-CE34-4522-A377-E7F292DF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64C8F42A-2A01-4656-9CB5-EF1255371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CF6E576-8421-4286-AE9C-F15B39EF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DAEF8AC1-2BFF-42DE-A516-5F4B3A4E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335A8F1-9E1B-457C-9C5B-0B3C062A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5F3DB47-8730-4E0C-8D41-FC17B4AFF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A51B4EFF-A434-42EE-B425-7DC49D2D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0698F87D-D1D9-4AA7-9313-85B94903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BF8A89D3-551F-4147-A766-3C32AE4A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B26B8F9-A5FB-4A83-9EEE-BFF8E1D3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B3EE5548-A76A-4D91-8575-C25B999E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9A5A5BF7-DF59-44DC-B942-6F95ECEB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ECC3BAAE-9BFE-4BBC-8AB2-3B4F179E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E132C9EA-B828-481D-BE2A-DEF62FF4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87E1C9C-2CDE-46D3-AEDE-D1D7A57A9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F5E2168C-118E-49FE-95FF-C5B32C62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04823865-F52D-41FF-82A0-4CB1B2D5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5E62871C-5BE8-4CC3-B506-9C46C24F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36FB4B0C-A7FB-4961-9075-C7F3C30D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38BD1EC5-708F-4F1C-8DAE-E3B3A084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157663E7-9A66-4104-8A17-56426EB0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C1B92AA1-5262-4524-8CD0-A6F6FAD1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5D88EAD-8563-4BE2-9D94-3A5BF300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D63385D6-1277-43D7-A384-7F1ED8B9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E2E4E35B-DCC2-4108-B0EA-5FFE70F6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45BFA47E-1F3B-4157-A6E0-DC00A068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D975D3E-73C1-491D-9E36-877AECA0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E4684B98-BFC8-4F72-8FB0-D4A8A5E6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93B7EAA8-53CF-46ED-A09D-5ED58579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E4CDEC4-9C24-427E-B8F5-688A6AED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E6D7BF44-45B0-4B0B-8B64-F0FA307A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BEEBDA6F-0AB5-47AB-A95F-D22D7899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A303CF28-C74C-450C-8D39-D0786CCC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F76BDDCD-9D15-435E-82D0-B766B2CA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367D587-6E03-4D8E-AC20-A806FD18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64A72291-106A-4327-9F12-56883B9A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05101C6-D9E0-4D6F-B174-47B390A4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6C0D82F9-B52B-43AF-9BF3-9ECFC2EA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D62A3D0E-C2E0-48EE-9537-8F2ADD56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E9AF66E4-EDC7-4C07-B199-CC7C105A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4,3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100CE9B0-334A-4750-A2AA-867D3D51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7357FEFF-91ED-4D3B-AD1B-F9156871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0DC914CD-05BD-41A8-9D21-ED34DE65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C1E95A8B-8231-4A94-9046-4C8A4EDD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4D03058D-4267-42B9-9C34-EF98F2AC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E04B3E4B-7F31-41DB-9215-4F70F8CA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3F4F1826-1B1F-49C0-A2B8-F332D41E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1BF16ED2-8E54-4E1D-A122-A1F4302E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D2D0B10E-DA02-4C6F-94BE-14B567110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99D740B2-FDBD-4CCA-9AAA-B3324005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426BFB0F-5937-4D30-8B84-F00051F8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5E6F533D-F669-447C-824A-5115912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D60562C0-41C6-476E-8EF1-344125EF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2E48C322-2084-4123-B07C-FC413B7B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D5D7C56F-ED7B-42F8-8BF6-60EA8128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B662E312-0274-4FED-A4E7-7F75ACE2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8F156197-35E5-4AF6-BC13-4C763754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31AAEA4F-59E6-41EB-9DEB-9C3E58CE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EDE0BEAA-A182-4494-BD07-283E4705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21335397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5C1B45EC-43B6-4A01-9F01-C7BD2418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F970BA-6975-4521-933D-F82601AC8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26,5%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3C2DE2-468C-4C97-B33C-D501BAEE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0D90E0-41E6-4B23-8651-36EDFE32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5F200C-A561-4D82-BB2B-4B965F3F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locais, mai/26.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7DE2A6-7E23-4820-87C7-4493D611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FC110A-4084-4873-BD28-D3E18555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A70DD3-D70B-4FD9-89A4-D146FE8E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7D8BED-BF92-418E-9EAF-A158F302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18CB72-4D9E-4007-9DAB-88F5779B6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FD34E9-F423-43F1-A02F-939CF672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BE4690-0161-4F79-BDA8-8AC1AA20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050FF2-80B8-46E4-A540-89A7E1DF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4B1F10-04F8-4B88-8D1E-A7806A15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A231C8-CD54-46D1-B242-196EC787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0E14BE-40FE-4705-B0F8-18D14993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6DCB8A-3050-41D7-9818-D3B90679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BF9CF0-7CAA-4078-AE7A-00491CD2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FF4732-5699-48EC-8FE9-C68AC784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C451FA-56A6-40DC-A4D2-09B7B76B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66D0CC-7635-44FE-BFC5-DC7B6D44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040E68-C7B8-4F8E-8FDD-852AE3D1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08ACC1-B1D7-4CDA-B201-09289718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FD8BED-E06F-4F0C-9D6E-630C47D1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9D467C-96FC-4E31-B0FE-59D1A166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DC3F53-6D72-4360-98FC-99E26D70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8F2D8A-D1D8-4B03-98C5-5BB8E4AE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D4DBFA-01AA-4136-88AE-9BC874A3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78A707-4B0B-4F8F-81B8-1C7CF916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3D3621-0E3E-434F-8B90-A58B13F3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CE0CEC-C0E5-43E9-BD55-4159370F0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6F0CC9-4E5A-4D6B-AFF1-95B88AA7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BF49AA-0239-4517-9F71-5F796CAC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14AB66-A868-4181-8263-5778A41B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4F3A0C-EDF4-4846-A565-79B207EB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F314AB-5629-4DF8-B3BC-E66E42D59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251794-7BC0-47E9-B308-A6008E62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25107FB-B95A-47F3-B05C-0C34C7FF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2CB810-7F86-4A97-9654-4774F09C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75054C-D1B3-466B-BF39-DB5A1171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B6B088-888F-4C54-8EDF-D43F2DD6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2581351-DB39-47BC-B8C5-3DDC5CA7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D205084-07D5-493D-B478-983DE31E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AB5C197-8A9E-4A40-85C0-CC345BC1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55A7E74-DB93-41FD-94F6-94DAF4AE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0FE6D0-21FB-40F8-B598-F8298796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C1066BE-09B6-4132-8BBB-7EBF1B74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1D75597-E379-40FD-8820-41C6CB38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A457328-DAB2-402C-B72B-0FDD262B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8298BDC-11F5-4C43-A340-67154776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9D4A3CD-AABA-4C9E-978F-C2599A78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6BFBD10-4D2F-403C-85C8-5F17E069D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42F3A68-64B5-4D42-A4CC-F711E818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BA7BE93-31D5-4F3E-9658-49A93E3E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1FA9E27-BB25-47B4-B6EA-2DEBFDCF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1C142C0-3092-4C26-81FA-6D15F8A5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CE9AD09-A8CF-4940-B831-228B95D7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97F3C72-9CC0-45CA-9635-FF252429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FA86C11-A87E-47ED-90A0-A6852CBC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590335C-FEF9-420C-9DE7-D4134643D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496B40A-A1B8-4444-A871-91516651C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364D0E2-0B8B-4C22-9242-C9712570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8704D9C-B14D-4714-BDFE-EC6FFDED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3A4DB18-1403-45A2-9D83-CA6C2240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7E22673-FDDF-494B-ADE9-28146367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CBFC41A-8056-4E33-88B7-2E6712D8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4EEE6E8-C608-4875-ACE5-24436C72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A88E390-8B79-4323-A342-E95221A0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Multissetorial / Outros —…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D9E1FB1-0651-4464-A360-D4919D79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UNDO E CLASSIFICADO COMO UM FUNDO DE…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791DBE6-3042-475E-B9E9-A5908C79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1350411-27CE-4B3E-9C72-807C35A9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CE0F222-464F-4838-97FF-33DCAEF0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B230B09-8DFD-4BDB-A341-0FF139B9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CA869FF-1074-4639-996F-A8EE1F7A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47FA7AA-4C27-4998-8781-CA34B882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D2229D1-B395-44F1-B358-2825B225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F4BA522-C1E9-4472-BADB-70321AA9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402168F-EDFD-4B1B-8BA9-958E7D53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4479B57-B02C-4EF3-A0B5-D45791EB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E4828A3-A127-47CE-B9B6-70709E9B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C9EA814-F7CB-4876-8ADC-2ED77B1F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D833B61-4568-45C5-B7F6-1FCC4AAF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12D7BC4-86AE-4A4D-91EA-585422C7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D580C66-36A3-499A-82BA-A8DECB9A7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D770317-7B3B-4D3C-BAA1-6DC9DDFA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C3E6BA9-BD3C-48CB-9C28-02CE1930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DFB0496-97E3-4EA8-B686-C043E4DC3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9E09FFD-94AC-474B-B4E7-AD5C4772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8B7DA01-14D0-46FC-8DE9-C9637D4D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C600259-193D-4818-94BD-BF61CFF4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4578584-4D4E-4119-B728-CA161C5D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5C0B06E-663E-4120-BDA9-FFFE7422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05D6BB1-F1B2-4307-A957-A7BADC6D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D5B2EAD-08C0-4261-8EB6-BBA4C3DA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2AEFBBC-87E1-48AB-953E-0689E789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95C0171-AFA0-4A8F-9D39-0A9293114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38FCFF2-9F3A-468D-A6AD-C12D283C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A4F0AB8-4FB2-4573-9D6B-E0818C94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AD944DA-740B-4130-8295-F425D902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4A8C507-7B55-4FCD-916F-59724EAE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27D63CE-D7C2-4FE0-BB68-E74C6E96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3B7A26F-7461-49F5-91C4-DCC9C3E0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B07093D-974C-4041-8773-766614DD3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B9948E5-9149-44FE-93A9-AF8A8BAD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67F28FF-B63B-4AB5-B96F-33E97DD5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676C6CF-2138-426E-9EC7-BCC2F083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BB6AD15B-B448-4917-8BEF-349623BE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44A88B2A-3861-45B4-AFDC-0258AA73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FA4B6C9-9219-45BB-8D1B-CC066258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4C7B232-2ECE-400A-9240-633AFD00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D996FB8-D4FA-4A27-B16A-3E6D4F47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5AC8901-1023-4E5A-8A0F-BA232205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F600578A-1896-4346-A7E3-AB1E6F58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3BE290A-0CAB-4DE5-B43F-9AD4703F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CBFF0BE3-221A-4248-BF2C-045F1529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44137DF-0376-42FF-B0B9-1C97CEFF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ED035214-493F-4555-8DA3-8A3BECA6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BC5C4043-A6FE-460F-870C-691DA2929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3FB2C87A-17F1-4BFE-97A6-C73DA7AA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541AD8E5-F781-4B44-8B90-8775B471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41C4EA4-DD35-4621-BF50-F5984A08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53498CA-7A81-47F5-ADB2-6A5CFDA5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5FB9B3D8-6304-47FC-9A1A-0C82246AE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8E7D02A6-44A4-467F-BC3D-ED95C6A0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C4177550-E194-4B9E-8285-1E509113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F40B0D67-3E1B-464B-88BE-00FD1CC5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9022B188-FEC1-45C4-BA8F-5AFC9862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BEF3E55D-9A3C-4091-88B4-2C0EEA98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327D9304-F407-441B-AA9C-09E80980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8D3C18DB-D5E9-4E40-986E-B76DB822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6041BEFF-9C68-4C95-8197-34CEA21C4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D923F10F-5FDE-495E-BC8D-48FA20D1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B5DBFD51-5239-40BD-9976-F72FF99E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64F03AED-44AB-4EB3-89AC-7829F9C6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A3D417D0-F0CA-467E-9164-F9683243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00F1A51F-1494-4C4C-A37F-E64A43F9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671946E3-A4E7-448E-B41A-7E2DDA06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3,3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6680DE48-A5C4-4221-83B6-CCF3CF4B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2438C298-998A-426D-829B-9656C4C0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A98DD586-FDAB-480F-9152-8000EBB7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8298273F-E606-4653-B802-CE0BC63A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439F24A6-748E-4EA3-B14A-0B3E4E3D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64E09BF2-A6AC-45F6-B7D4-B704A69E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4398DE3F-D87A-42F1-B99C-45E9DE8F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365DB1D0-A308-4D4E-A148-A36A3457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3,2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F2FA9314-F6FE-491A-8AA5-B9A16FF4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C7A9708A-BC3A-4FF3-BD0D-6272DF2F4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E03D394F-A716-41BB-8535-1D9D817E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119C9104-5980-4896-91E4-98C8BF24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696E1DBF-9E96-4DA4-AD22-4C43EF0B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E775B4BB-BED6-4397-B35E-A20A25B3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410CD3B1-52A7-494C-B7DA-7D21DC89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F19610A9-2689-409C-84F2-6649E4A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54DC2F82-5CC9-441D-A877-2D6A03CD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FD9D9609-B68B-4E8E-8475-AACD84C1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2AE8513A-D3CE-45F0-9DAE-DEA847B3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1A01514B-1961-48AC-8583-EC487E04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E53F75DE-0E3C-4E82-B1A1-AB6E10D6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F71249EC-28CC-45C0-90E1-DA3F517E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E8093268-4BD4-4A9B-BF3A-A137369F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87CAC1EA-D093-446B-A0DC-7386E6C9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C3B4989B-DF68-4D68-B728-EE37D82C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07D28D25-C90B-4E5D-A32F-39D6D741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F95FAF1C-569F-4E92-B7B9-B63686D3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A9807312-95DA-44FD-B983-420BD01E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B08FEACA-71DB-4CCA-860D-A0C636C1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0D2D3EB2-7165-4859-ACB0-58D729A52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557D3AA-0A27-4E87-91F9-EE492320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506CE655-C68E-4D1F-93C4-ECE0AB56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5B548279-3D6A-43C1-AA73-DCB014BB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21FEA1BE-6275-413D-9537-E8B9E6145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2727D1EC-015E-417D-A41D-2EC974D7B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4DED9FDE-161B-43CB-85B7-AF672126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DA8C7671-B8D1-4869-AD02-51DD381E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BC7E7093-DD93-455B-ACA3-220EC50B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1B432933-64E8-413F-B1FA-3BBE3989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50093EAF-1D23-4441-9155-5CE6FA84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C9FCED95-8B25-4D74-A086-B6AAF8B7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1E728758-0A34-4DBE-AC1E-BF1F4C21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17608DA4-ECDE-4017-874F-3A86126D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17718600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5CBC8D-5CA7-48A6-B780-865B11DA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A0A4D-188D-4EB9-B1D4-36DF4A90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7,8% dos fundos e 34,0%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9E462F-0B00-42FC-8130-9F7F0C4E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B648F3-CB24-4D80-AE1B-A0007DC9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8ED723-9471-4D30-BCB4-5378898D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mai/26.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CA3A1B-0686-4111-91A4-14A7BE672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528a6a02026430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0D5B8A-3952-413E-9EAA-A2203A98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CC0CD4-55AD-4043-88B9-1CF3A351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A292FB-10C2-4CDC-9584-DED211836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6C6469-6071-4703-9799-39DCB435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544998-B3BB-4728-B2B2-2CB4C35F0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331 · R$ 326,1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B79199-7461-44CF-9279-93E59E3B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9BC7FA-54E1-4A02-8A74-267A8CE1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0E6EF8-BAAB-4019-9BFC-46746D3C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42 · R$ 34,8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EE6C89-D62F-48F3-B6E0-12C4B98C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67B8D9-E5DF-4C3A-A00A-9B0059DA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351288-AF67-4010-88ED-63C78157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3.371 · R$ 511,5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DDB9F3-2C92-4D5B-AFA3-8CDC7A8F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01442F-6201-4256-B5FD-357C18BE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0F2314-8331-4E52-9444-5816DB5C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44 · R$ 19,2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1DBDDF-9B8B-48D2-BA77-A31FD5F0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43884C-EC1F-49B8-808D-B13F80E3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390727-B919-4416-8FD5-5268EEA5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355 · R$ 55,6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96F586-8B24-4AE0-967E-2C0A8564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81B639-ECD3-4183-9BA5-5AAB96F3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DBCD33-C01F-48C0-B574-A750AC5A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79 · R$ 11,5 bi</a:t>
            </a:r>
          </a:p>
        </p:txBody>
      </p:sp>
    </p:spTree>
    <p:extLst>
      <p:ext uri="{BB962C8B-B14F-4D97-AF65-F5344CB8AC3E}">
        <p14:creationId xmlns:p14="http://schemas.microsoft.com/office/powerpoint/2010/main" val="81730808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EB18382-20B2-4541-8AF9-AF400D1D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65274E-194E-49B6-879E-4FA67691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705404-2D7C-40CD-BA4C-DE805CD2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AC5A8A-3296-439D-99F1-AD57D5C1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C5439-6DF8-40D9-9C8A-506F68A9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C91425-BDCF-47FB-878C-F7B17A9B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88FCC1-436D-4D2B-96DA-4202EDF6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2813B0-C2C7-4074-880D-3C05C7F7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6DA344-215D-4C81-9944-2E344ACC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4DCF17-5D0D-4F8F-ABF9-5DA53EC4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632265-0E82-4378-A6C6-50831CB3D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12DE86-B6D7-48C8-8DA3-414C93F5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C203F4-5103-4DF4-B125-16E78031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D2D2CC-807B-41A0-95B9-1CAB5561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A6FEB1-4A8B-4149-98E0-917AF66C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353061-5122-42BA-B21C-540B9089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598B87-6C95-4D90-827A-9197F4CE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FAFED6-208A-4C2F-B061-637B8435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74,8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A5095D-0841-4B69-B886-EB8A9C8A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8ADE9B-FE76-46C2-A9D8-8EE8B880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9B30B4-CE84-4B3D-A379-C056F729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54,4%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ABACF3-E2B4-424A-8166-F022D163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E679E2-FA13-4494-94C9-A31CCB70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E7AF96-E414-453D-A167-B6C75945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F4244F-C0EA-46D0-8E53-EB902C71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70F3F2-21F7-4C1B-86DC-51C56F54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C8FBBD-E6D8-4625-896F-B0D00389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E98512-686B-4C41-8357-CFB88E5F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219BEC-F26A-49CA-8F04-8CAEB4C2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CONSIGNADOS II…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A45D86-2FF2-47BE-A652-2C4C13E7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11,7%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33CBA3-AC51-40F1-85F8-A6CD22E8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34,6%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5E8D64-0D94-4FA4-9F66-BF83E1FA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1EE9EF-6D03-459D-AE90-F677B7594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2F9260-2E95-4A2A-84CC-7E06CAE2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D25AC42-09F7-482B-85C6-D4F8297F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D2CD123-2526-4BEF-ADA6-B933BCE8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4A4C95-1053-4347-88A0-ABD0A192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1463AB-F203-41E8-A00E-07910817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9EF8A81-D0C4-43C0-A628-E2B6FFA8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F58165-1287-45AC-A69C-B278BD07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506EFE0-251B-40AD-A6C7-90094230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6AB7506-7B16-4622-B69A-AAF630B2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46D207-753C-4519-826F-AACD9A600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C26DE70-3FB4-4B36-853A-2919BC6F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5D43F91-250E-4AB0-B307-528ECAC1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39,4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F2CC28C-3294-4270-88A9-1E4B9ADD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9F0A699-9CAD-4769-8011-EBFBDD0A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F98CDED-074E-4ABD-815D-441207AF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5E7FE1D-E4BC-4DD7-929F-97179E6C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51,0%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0E047F-0949-4CDD-8E9D-96AF41E5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03EF98B-099D-4D7E-A3DF-2F0289CDB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5E959F-D051-48A9-84B7-A5259A35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F0CA270-916D-4E50-B752-96BA530E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1ECA0F6-372C-4D06-99BF-EA048AAB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26,7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A20EFE4-9285-489A-97AB-E9EA3AEE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E99DE9E-2A30-4B19-A434-F9F1CDB9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8068837-2A25-412F-B5B4-F66DA268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13423E7-1D93-44FD-A0D5-44FD4A5B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E7A3BB9-380D-40F9-95EA-07708ACE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92F1A15-32A3-41AF-AEFC-2E18D1085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08D352B-31B0-4DDF-A5A4-B5CA7558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CBF2924-6E21-4E99-A995-A0844DA6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01448E1-C782-4285-B9C6-6BB7D276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18,4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5477515-A8CD-48DE-A4C7-69245FBE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895DF1E-9D2C-4D7F-BD58-7224B98E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2DF1409-C0CF-4252-B79E-A74CFCFC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46,8%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DA9446F-1E92-427C-A71F-AED3958A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58,7%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E9EBEA5-2991-4A03-86B2-38AA89D3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21C36BE-B300-41E3-AD1F-75245C23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5BDD1CD-130A-4596-AC6F-CF37584E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8DF03DA-36F8-4DF4-AF9A-0769196E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7CE66E0-57E9-4C06-90F7-D18C4C89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5A8D79B-489C-4933-A8A4-111D5A0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R$ 60,8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45D422D-B96D-46FF-A6F2-9E419630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2C04417-583C-4448-8706-9C0B6B3F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1D675FF-E455-4116-8E57-93FEB51F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0A69AB0-3C52-4A8B-ACA1-3CDEFBF5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R$ 40,7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E88E86E-E6C7-45B5-9E96-BA49F642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48 fundos; TAPSO = 54,4% do PL mono.</a:t>
            </a:r>
          </a:p>
        </p:txBody>
      </p:sp>
    </p:spTree>
    <p:extLst>
      <p:ext uri="{BB962C8B-B14F-4D97-AF65-F5344CB8AC3E}">
        <p14:creationId xmlns:p14="http://schemas.microsoft.com/office/powerpoint/2010/main" val="131831020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138489-F1F7-4930-96AF-6A5F0BF5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OFERTAS, CAPTAÇÃO E ORIGINAÇÃO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9F8D32-05F5-442E-9889-8D47405A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Ofertas somam R$ 75,1 bi até 16/jul/26, 9,0% acima de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719961-D582-4CF7-B65F-6ADF43F2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DF26EC-5A59-4EE9-B3A6-964C56A5A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58999-E2F4-48BF-AAC5-024A1A7B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Públicas. Comparação YTD até 16/jul/26 em 2024–2026; PL do restante do deck em 31 de maio de 2026.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AEEAF5-2161-4353-B147-BCDE2996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346788-DC0A-46DC-8F51-D49D5BF1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NO MESMO PERÍODO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6C79FE-EFA2-498D-8E84-944D941A4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685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de19d0b67c496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877ADF-E3F2-4318-A9BE-ABDCFA3D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593 ofertas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A89CD4-0131-4CD1-BE4C-CABC692D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862 ofertas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8EA279-335A-4803-BEE3-B2633CD7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868 ofertas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9FD905-61A7-4596-918E-EA4C568D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28750"/>
            <a:ext cx="3667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ORIGINADORES NOMINÁVEIS ·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369325-2E62-4083-97D1-EFC928FE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95450"/>
            <a:ext cx="366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0B60E6-AD51-4922-9890-58AFA7E6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621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65E41B-9CCE-42D2-A1A3-2AECBAE0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19621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R$ 5,50 bi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213978-CCDE-4339-87EB-289FAD55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44792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DEB806-9ED9-4290-95C9-96D51FAC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0507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345A39-B8EF-47B5-9948-84C16834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250507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R$ 3,35 bi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C585D6-6609-47EC-AF18-3B115AF0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9085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E0D35A-C326-46B3-8A09-2E8ECB04F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4800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7D1CD8-4089-4C00-A70B-213A2564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04800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R$ 2,50 bi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4F3E55-4218-4649-AEA1-3349D163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3377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7C4DB7-867F-463D-BC87-3A495192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092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E700DE-743D-4020-A4D1-028B050BC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59092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R$ 2,00 bi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C71A4E-849C-4C0C-A46C-48CD2C65E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07670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8DCEDB-F368-4A2D-89A3-8705F481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1338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C77C08-95A2-4739-AD2E-D76E0D55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41338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R$ 1,51 bi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72F456-5E31-4545-BD53-A4F2BDDA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953000"/>
            <a:ext cx="3667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32,7%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9D090C-5390-42DC-B97B-CDABD944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72100"/>
            <a:ext cx="3667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tem originador nominal identificado; não há base para chamar a originação de pulverizada.</a:t>
            </a:r>
          </a:p>
        </p:txBody>
      </p:sp>
    </p:spTree>
    <p:extLst>
      <p:ext uri="{BB962C8B-B14F-4D97-AF65-F5344CB8AC3E}">
        <p14:creationId xmlns:p14="http://schemas.microsoft.com/office/powerpoint/2010/main" val="137061180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A8F65B-2213-4E3E-B7EB-9B983D46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3F9D7E-A747-4DC9-A85A-8CC76FBE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5B4A42-51A7-4D96-895C-327D5C56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48340F-FA71-4E2B-99B7-60A99C2B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5376EC-386A-4146-821E-2EA90616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Fontes primárias: CVM, ANBIMA Data e FundosNet. Dados consultados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DB2D2-3C52-4346-86D2-387A3A8D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B0B883-2FC4-4B03-9768-25B0B5F6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660FC4-5DE2-40A8-AC4B-E1F47B06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018364-B054-4F8D-A080-FDF5A4AF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080C7F-0A97-4BC4-B559-8CE42ED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BD992-8E5A-4C70-859B-7C2E0B41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24C8F-1971-445F-9194-FA1F3B77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95A239-8A64-4C34-B298-8E27DA8E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8ECC70-CC9B-43AC-A322-E9F83BD7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4.222 fundos; 31 de maio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49CD73-F9E5-4CBA-AB25-E5DA5E04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8E82F7-A878-4101-8F2D-FB2CC114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FD05A2-B2C1-49D9-B712-39C354F6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C0527B-1CEE-453D-BE16-314DCC22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0941A9-A840-4E9D-ABB2-D81FAC05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91,55% oficial; 0,64% evidência; 5,87% proxy; 1,94%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C50707-E2B7-4B06-91E3-DB4D4ABE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3EF1AA-922D-470A-875F-106D1B2A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DB1090-4BC7-47D1-A8C2-15E5E26B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093E6A-A2A1-4BED-A8DF-906B2FDF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1238F3-02C0-4C63-978B-438A1FBC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FF9DF2-5827-4D7D-BEFF-01D3328B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C8BEA6-23A7-44BD-B8B5-B73AC8B4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9B9D2A-FB5B-4898-AA1D-4CC9B2CE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EDA0C1-234D-43B2-8635-A6D6CC1D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DD51A1-EAB7-4BAC-A60E-9A1BF65F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mai/26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21F9FC-D664-4D28-9680-837760A4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888AF2-737D-4CB0-BCB7-B0DE4932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3EC6B0-A26D-4885-8C9D-023D4879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7EF612-0633-4D93-924F-E758E317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F5B5C8-252A-4703-918E-4E92206E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4.222 fundos; mai/26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67B256-CB9D-41C1-9C16-3D6EC921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0294CE-9082-4756-AC71-21B40B54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EDE55B-C127-44A4-A6C0-D30652D4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712A51B-D555-4423-A46B-79B07518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07C68C6-0BB0-4743-829E-3B0F63D4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Registros até 16/jul/26 em 2024–2026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DC0ACE5-9D97-4E3D-90EC-496D137B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Comparação YTD contra mesmo período. Anúncio ou aprovação não equivale a volume integralizado.</a:t>
            </a:r>
          </a:p>
        </p:txBody>
      </p:sp>
    </p:spTree>
    <p:extLst>
      <p:ext uri="{BB962C8B-B14F-4D97-AF65-F5344CB8AC3E}">
        <p14:creationId xmlns:p14="http://schemas.microsoft.com/office/powerpoint/2010/main" val="85573512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21D2F7-EBC1-41D6-911B-922738F8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82290B-4D29-400A-B766-710FC3FB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2C0559-D5C0-46AE-8300-221FF1E9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6E44BF-7F1E-4281-9C26-7AA43B6F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46C430-F2E3-4075-8B91-5C48441A1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1BEBB-B762-4229-BAE1-742985C0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d7dfd536c7146a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FD2297-A20D-440A-983F-E43509E1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A3E333-FB47-4810-8FF2-F31ADEC2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0F1C5D-C0D9-4D05-9E30-9E6E8CCB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AE78C8-5055-47CF-9909-5AF424A8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93B6EF-60A8-4A0C-AD5E-1D90D664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48BE32-E168-4DB8-A104-73856D6F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33CDFA-9D20-46C1-A1DD-D9CB67D5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CF70BC-81C3-4AD1-8D9A-5B145480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194E5-F0A6-4679-ACDC-9A431E12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33EEAA-7AB1-4A2E-836F-DB48BA2C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6D53C4-3D65-4CE0-8311-FAD6AED7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655569-5195-423C-9D24-E2DA1646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D5E70A-ED6B-489B-8B15-D39F6A04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948559-DD44-41A8-941E-8BA5A3DB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52819B-DAD0-4F5E-AB7A-78549ABF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7A4AAE-C2DA-4E39-9EA1-34751754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AA4999-1CAF-4A65-8321-10917A6C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54FA82-0CFD-41F5-9184-A6699735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2E6E5B-B74A-4FF6-8C86-0078DA56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D4FDE2-2CB5-4694-BA7A-24BE21F7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5CA8B4-59D9-4574-B4FB-E33815B43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A134F9-39BD-4ADB-8B01-E721DD03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CC4303-04F8-4802-B651-73858CF9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DE3FAB-5DA4-484A-96C2-211792CF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55FF0C-71AD-42F8-BD16-6ACB2E61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 registros com PL negativo (R$ 69,3 mi) foram excluídos da normalização positiva e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91205520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B55BD5-BA6D-4796-9A23-C465D01E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8FB1F7-CBA5-4C2C-BB1A-F3ECB8FF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6DEC8-1451-4C6D-A2C2-0419C215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9C5A67-2132-4353-A40B-7B544239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4BC62E-93DB-492F-B69A-DF402FE7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9A9AE-8B18-48E8-B341-DB87743A9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0fd4bca77e4dd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E8E8BC-A2C0-416E-93AE-4C22DB9B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40732F-8D1F-477A-BCB3-B00F3494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75AF20-15A2-44B6-B3F6-4B890CE0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001387-A934-43CA-8174-FB9DCF69F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6B7DAB-266F-4955-8739-C72A159E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8C2BFC-D757-45D9-91A3-AB15499F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4664CF-4F0D-423A-BFCF-84921C5C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E1DFFF-8E12-448B-AF07-BF1E816F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6E2685-2ABE-417F-9961-F08A0FB7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D3FC98-6476-4B1F-B22B-BFBA1498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A23BE8-850F-4879-9000-75FAEC4B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28A912-4506-4DB8-AC93-E247E53F1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Tercon Investimentos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9040A3-2F03-4A74-BE84-C03C288D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55C055-6868-4250-9A11-81153119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8D10F9-2ECF-42BD-BAA1-E5AD5E41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495C09-65A0-448A-9B40-26A20F42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5187C8-CFD8-4F43-93EB-2BBB99A6D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C12E10-A837-4B95-9D8B-7AA4EE41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403100-442A-4531-9EA1-9568F29A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2EB623-5BCC-4782-8E54-7DEB4D50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Solis Investimentos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06A86D-EC22-4035-90D8-6F8874D3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2EEA63-2D18-4974-9686-C6623A60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D49507-654F-481B-A6CD-5FF5127F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467646-2C3D-4121-AE8B-5CACF7DC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D86A9E-D8C9-4B01-8D72-491402A6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 combinação(ões) bloqueada(s) por bucket agregado negativo; R$ 69,3 mi de PL negativo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136591607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A86954-9533-4927-9058-C2EBF0F1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87808B-493E-4CF2-9C52-0A26D799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6F3812-E44B-4881-B726-31EC9676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2CD492-466D-49D2-BF19-A3EAC737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ACEB52-6EE5-4806-B5C6-AFD7315B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843077-815D-4633-8F05-C5D8247BE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39ce61f00947f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16FB85-1DA7-4C22-8248-D31F56BF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C12B6A-9A8C-4D55-A87C-F9976B1A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68EC61-1192-4375-9AB6-6730AF77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746450-6617-42C2-B005-C7675BFD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924642-D367-444D-BA6C-E596AE22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D55365-6EDD-470F-8D43-645C9FD6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B88331-46C3-43FF-A248-7405F4289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BC251C-C410-45CF-9C53-F2DB5533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A63044-78C2-43E8-88F9-5903875A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42B7CA-E0F9-4B45-A06C-10CE1FA40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85A941-4D7C-4B25-A038-82F72411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10B15C-6FF6-43AC-BB5B-3A682524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F00D32-79BD-4F68-95AE-EF44469B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0CD00-3AF1-45A7-847B-B354E12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40546E-4E3A-4E4E-8DD3-7B188F81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D515C9-C6D3-4028-84A9-5473819B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2B0F04-E3E7-4D16-BE14-3AB79F95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89D180-8B36-4515-99AB-741ED85F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9A0058-E4B7-473B-94CB-CF18B598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148633-DABF-47E9-8938-888E335D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Limine Trust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3AAD3E-4CEA-4757-A317-C8DC2D10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3E1476-B056-44F4-8965-258FA56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91A7E5-1B39-463E-8848-87AD9C35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782F80-64E1-4A2E-85AF-0FD7ED28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1B4A42-4310-44DD-B44C-8FAE7961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 combinação(ões) bloqueada(s) por bucket agregado negativo; R$ 69,3 mi de PL negativo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177906460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45992B-5D54-495E-B488-EE92CC6B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63B244-E642-41E2-841B-0F07D4F4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R$ 60,8 bi e 6,9%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2D22AE-C070-462B-8BFB-B1A919A2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B3F3A2-9F2A-4153-B987-0AC8A40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17FA22-2BFA-4FE3-8559-87C9B15D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C95D2-7A18-4607-8A5D-705C6361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3AB20-725E-42A3-ABE4-333273E0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4AA0A1-9809-467E-822D-D95BBFB6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37AFA7-3685-4BF8-8F15-377FCEE9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FFC9BB-3E9A-4364-B9D3-4336085A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96D57C-70E1-4B25-8BB0-E505B649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DAEED9-2C50-4826-B7E7-E7DB7B75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9AE613-5B79-4435-8F6A-78A4F269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314553-708D-458D-9BFC-FA2BACB3C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11827B-6AC8-4839-A37E-B2CA3CB9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D0F6F6-3B2E-476F-8576-D6307E56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76121B-D9B1-40F7-A1D5-10249F87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3CB3EF-5CFA-4279-89F9-3063509B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11ED82-857B-40DB-9575-08C8C83F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B4EB78-34E5-47DD-A9FF-806EE4FB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F3B5B7-614E-4E3B-9CC2-F202496E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0DE504-F969-4ECE-BD63-88B69DC4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8548F1-8512-440F-9A19-471D10D1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0E434B-19BA-40E9-A006-83CA1B4C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C3E34A-B8B8-4DB9-8EFD-C435EB1C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B824D5-0D54-4479-AE83-127FF675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FE0DCE-3CFF-4B97-87BE-029D25ED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4F2A36-34C2-4ACF-A5E6-B9076D4D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05D7C0-D1C9-4B51-9C43-E95B7758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68720070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F415E6-2880-4E0D-8CC3-2DBF2516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AA146-3927-4AF6-8F85-A8FEE386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R$ 40,7 bi e 4,6%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FA4E61-0D53-4318-8A00-8C002123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F58659-E44F-41AC-85D6-01B61949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AEB905-A706-4B22-B17B-2D7A6279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A3C98A-AB59-44A9-A09A-1599198E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36D0AA-6382-423F-B3EB-4ACE9479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856363-C3A8-483B-9A1B-CA0A59E7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E3D400-A9D2-4C2A-85AE-8531B631F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3620C5-F612-486E-A8ED-6E100F7F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9AD032-3215-4371-ACD0-D8D04862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49241F-192A-4119-B947-45ADD0ED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158B0A-D546-4D89-82C4-EF474DA5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40D993-CC9F-4881-88C4-AB568893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201705-16B1-47C1-8314-43807310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160B24-1CF1-4372-A27D-18DB295E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6D2A0C-95DD-46CF-95C7-04A85986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38916C-97E6-4FDF-871A-FC341AB6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875D8A-B2B9-4D59-9746-C1E5EA92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D5D654-7D32-43C9-A871-9C34CC31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46503F-F4D2-4071-A3D2-727D8D59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0EF7DB-484A-46F4-AFE5-4F8430F0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6E33B9-78C7-4610-9DEC-D416D2DD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993413-974B-4512-8A64-8F9B36A5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B09FD7-C636-4977-9ADF-6062BCF8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F47293-3FC2-4FAF-83AD-15DDE77D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E4D678-5962-41A3-BCBB-74510BD4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6ABC47-3E7C-485C-AC34-F25155A0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417104-14B7-43C5-B854-9F6F687A8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81939552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F71BD1-9BAE-4B8E-9F8A-DCA00E79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DD31FE-83F4-4BA4-A52B-D1D415D66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438962-9C60-43D3-84E0-4B288FE7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31417A-6CF7-41E8-8BE2-269A7BDD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9666A8-AE34-4137-9C25-465963AA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C58588-DC34-4B52-96CA-F3D756CC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7BD442-BDA5-46CF-9749-57D99479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E73A2A-D81C-416E-8D9E-80367F10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CA12D-B7AE-499C-A5EF-3A49E629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0F3C5E-C7B0-4459-839B-DB67DC6A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397AD9-B21B-4C09-B5F2-811F6E02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CA579C-85EE-4AEF-BCE8-659D7940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E37616-7E30-4AF3-AE9D-09BE1B2C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A875CC-BA77-42F7-8794-3BD999F6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F4FB51-5947-4D4D-A051-C71F17C8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B3ACB1-A2DB-4984-9722-49B2AE42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D2BD89-83A3-4104-90C5-84A0770D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99EA5A-7460-4DA8-8BAE-E98B12D3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6BA65D-C050-4F6F-80C1-774F260E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9C5123-3B20-4B18-92D0-DF09E834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38E00D-7ED1-43ED-B683-556325EE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130E5A-72B9-47EA-B118-97577C16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247228-A865-4E1F-B6BD-F424A436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9E1D60-FE91-4C47-A7E8-CCF7A1AD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2C74B4-0CCE-4C12-8195-D7C61652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106655-B39C-4C8A-B88C-354253B7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4178B6-8725-4528-96DD-133EE9A5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849A45-9ABE-498E-89CB-C9EDBD08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8E4D4D-7793-4A01-AE76-F2679CECC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64645334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26C13D-A110-4F73-8E18-2DD8B6F2E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C9E885-82B8-414E-B4B2-181A659C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Itaú Crédito Privado — R$ 8,6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895627-1790-4C94-A344-1D3C33EF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65C5C-626C-49B3-BD61-988BD3DE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5DBF03-A753-4962-A629-E2F79E64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230DE8-D966-4B24-92C9-0ADF5191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D8856-736C-40A3-AA17-F55570C2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7637EF-504C-460D-899E-B809637A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D73E5D-B96E-49A9-B8C7-82381A4E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6A240E-8D20-4E48-96FA-7F15F725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DF5EF4-2471-4150-A89E-F287057D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E9F085-4B87-4978-9A75-65C5AC23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131961-CEB8-4442-ADE0-C592BD4D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7E2B6D-3B82-4B6E-A7D0-9AC1C21C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EC2E82-457D-47AB-A0A5-B5F64814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C69300-A24B-409A-B46E-8CC0E20F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85CC7D-A6C0-49DC-9A4D-714751A7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262C6B-A6D2-410D-BC84-B93CEBBF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7480BE-B76B-49AA-94F5-61A6CB4D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2DF5DC-3E0B-4779-8F4E-F8731BB1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7E7B21-02DC-483C-9130-CD2A7767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9ABEC8-38D2-4214-9BB0-A0BFA5FA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4B8461-09F9-4C2F-8E66-8207CD8E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07E0E2-A691-485B-9906-4800081F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04F06C-1794-4888-A90E-86B42CFE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E3C4B9-59E6-4304-8A7A-4E53F50B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979B56-9A06-4507-87FF-8E0E04F8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91DF18-F2F5-4157-8DF9-F037A3EC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32EDF6-972D-4048-A769-968B9A15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25015207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1DCA3E-4BF9-48F9-AF60-352A15FE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F7C3E2-7E48-4B29-B8FB-7AF790E0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Esperanza — R$ 8,4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7EEFC6-0F84-4905-B405-A32B8885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12FE6-BA85-46FC-9A04-2B56F6B5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A5511D-BF40-47D3-912D-C32C2328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https://fnet.bmfbovespa.com.br/fnet/publico/abrirGerenciadorDocumentosCVM?cnpjFundo=53263761000100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2C6DD8-217C-4AE2-BED6-45C9D5E5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FF1EE-2E86-4875-BEDF-F1B32A4F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53.263.761/0001-00 · ESPERANZA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5C3A5E-3811-446D-A8BF-98EEB422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459DB0-3B4C-4484-B3B7-1553F340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C3656F-9762-4187-B1E3-7D301F65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2BF201-8CE9-4DD9-ABFD-6D08339D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AE9E1F-24B0-49A2-929C-04272A1B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496EE2-91C5-4CF7-9CA6-E800D80E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União, estados, municípios, autarquias, fundações e demais devedores de créditos vencidos ou litigiosos, conforme o direito adquirido.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2D55AC-7B61-4CBD-A796-FF06D74D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DF93E9-64B7-46A4-8A88-7C9ECE28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em litígio, penhorados ou dados em garantia; direitos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BC684B-8770-4942-B59B-B3C73AD06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9D0FE9-C01F-4610-8925-4121D864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gestor seleciona direitos judiciais/NPL e outros créditos não padronizados. O regulamento permite aquisição com ou sem coobrigação do cedente.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9BD256-A460-4B61-8CD4-E4A75AB6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DF19DE-03BB-4C65-B270-768D0E3A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91CB14-DF96-40D2-B6A7-8A1C9387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750BF7-1E27-4164-9207-EB3AF5BD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43451D-6B35-4659-8B49-9EA517F2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3C4589-EB88-4B6D-B1B7-C685C39E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prevê subclasses e apêndice de cotas subordinadas; eventual índice deve constar do apêndice/suplemento e não foi identificado com segurança. Garantias: Podem existir no direito adquirido; não há garantia uniforme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FEDDEC-369A-4645-944C-5B7A5DBB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FB1FA6-FA21-41BE-B4C1-B4CFA158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REAG JUS GESTÃO DE ATIVOS JUDICIAIS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9D3788-62C6-4E35-92BA-FBDEA158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6ED570-20E5-45D2-9FB2-76F940AA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D61EC0-FC0A-4982-947B-05D7CAA9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E1C7DB-23CD-44D6-9B38-F7097A73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permite carteira judicial/NPL ampla.</a:t>
            </a:r>
          </a:p>
        </p:txBody>
      </p:sp>
    </p:spTree>
    <p:extLst>
      <p:ext uri="{BB962C8B-B14F-4D97-AF65-F5344CB8AC3E}">
        <p14:creationId xmlns:p14="http://schemas.microsoft.com/office/powerpoint/2010/main" val="211785924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3012E6-6458-4307-B438-529749B6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3E641D-6117-4357-A502-766F55A5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BTG Consignados II — R$ 7,9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2F1C5-437E-4090-9BCE-17CF104F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8C05C-50DC-4B3A-A699-B933B46A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75717A-6DD1-408B-B949-286B8F8A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19FEC-F395-4229-80C4-401F2BBC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8D039E-9C0E-4C16-8B8C-4B67BEE6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A4A15F-B713-47E6-B82A-4EF12E26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28D135-BF4A-4E21-A43D-2C56447F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17BF2-40CB-440F-976B-80A74DFE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47680E-9915-421C-97BF-BF76C35A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5FF187-23F8-45CB-9F67-B48B418E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E0C696-3FAD-44B0-9395-31488EE4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F135DA-AAF2-4071-AA52-34B70272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937903-8B2A-4EE0-B23D-80FCEE95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E9D78B-A55C-4A6A-9130-8649E36A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CE5C61-F74F-4E9D-A67F-D1D091BEF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65C4A3-26CC-487D-8BD8-C3607AD9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431A8A-F0B2-4722-9CA2-DB39509D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4011AB-39BB-4EFD-9FE8-F0904BEC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76F9A3-CDAA-47AF-B0D5-C22CED93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298ADF-03E8-4A2D-A2B4-F11BE4BC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37C96D-33CD-40B4-BE79-5EE6E246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41B3AB-076F-4A59-A20D-C8EC7B88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073153-4E14-49F2-B51C-26038CB4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49E792-8EA4-49CC-920C-529EBE3D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28C206-2F11-4649-9B88-36FB8D75C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D1E405-2A01-41D2-A3D3-2BA80261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20A430-1DDF-4C22-BCB8-E41E6B74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206867714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F84379-E995-4F82-8D55-140C242CD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1EF62D-EEB6-4EF3-A8B5-FAF9C908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MT Global · Consignado Privado — R$ 7,8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947E9-8D0A-4F6E-BCBA-9274DE3E8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D39DC-6D07-474B-8B6A-A7D5A2A6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63AF38-14E5-4246-B965-1B9EF0CD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98908D-5E73-4292-8E90-C8EB6E965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445687-C0E3-4E3B-9BB7-60D97C0F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059C30-917F-43C7-9842-9F853AE6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DAD24B-296D-4ECA-B2D2-F3C6E22A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7FE1A3-81AC-4271-9809-D14C43D2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9F1E0E-3CBB-48D1-A978-78C29445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DB1651-9602-4646-8B37-9684C6F8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D74D9F-442B-4A87-BB92-C25D39FE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52E267-1630-458E-87A3-E25C6FDA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D9060B-2A46-4BC9-8FD2-80EAB43F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450728-96FB-469A-9BAE-64E58513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57A829-2EAC-45B5-8A17-B0780EB0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386EEC-C41A-4A11-93BC-892A3C3F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378DC8-13C8-4B85-A0DC-08CC02DF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442F26-6714-4816-8F3B-F789B620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B29FF1-C59F-43FD-A5B4-6D36E64D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BDCCB0-FBC4-4B6C-AE2A-01E2C8A5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F2EC58-7A54-4B30-A439-1CE6EF4A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C5F628-EB20-4808-9393-5EEDBEBC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26D927-6537-4786-9772-D5427A4C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EC4C70-9457-45A6-8DD4-FCF37771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36B904-820E-4DDE-979C-52604DEC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460C51-8FF7-473A-8B4A-D3CD350A4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E9EAF0-DEC6-4B2D-ABBA-EED8753C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61642669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8614E1-6C76-4AAD-9DDB-600B4BF2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4C6105-32BC-4DF9-B1FA-A3FCE6A7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PAN Auto — R$ 7,7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5FB36-7A12-4B57-B2BA-33163BCC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8A4EC9-02D8-4F47-8094-5DAA5760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ACCDAE-0215-4D8D-96DC-2D871C86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6B99B-2AEE-495C-9EEE-0DCDB7DF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0225A0-64DB-4963-8E9C-446EB8B5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147D02-ADC3-4C81-B948-4070B54F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9BFD9D-A9AD-4265-B485-A3AC3674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91335F-AA43-48F1-8CC6-2E215A25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121C39-750A-414F-BE27-EAFEE3D9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5EA60E-837B-4451-BEC2-4C57E1A3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C432E5-21C7-4898-AEE9-AF689547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E04D95-CA87-467A-98EE-05C9B38D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0EA08A-6C81-4054-A8D4-935D7E16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94FFD0-BFEA-48C9-8D63-70C6E88C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E3C642-DCFC-4E12-A1EA-32B00471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10BACD-EB03-4BB1-8A7F-73C0EF0B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3F0464-EFFB-485B-B2DB-BED747D7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8675D0-798B-4859-AA1A-8275A9F1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878541-D440-4FF4-B04A-833BE218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C0A89A-C2AD-4818-8E72-6E46C72E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7686D8-F73D-4B8E-B6DB-B026FFEE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41D31C-9A1C-4533-BA3E-74D5DADD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C47585-3668-4548-8437-FE246E6E5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77D664-66F7-418B-82BC-A6C3A944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3E2139-1832-49DB-961D-6A0992AA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C5837B-5706-4811-9CB2-277F738F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8B7AD6-97FE-4621-819F-33C04677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70765234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C6AFC6-0953-47B3-81D3-E700E667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A4BE2E-7126-4582-B54C-DBCA7AB8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976677-8772-444F-A350-D5EB5207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11EB4A-C0ED-4F16-B84A-B3BD8837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652D18-852A-4D60-977F-FD860EF2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25F866-E8FB-49DE-98CE-C97AA9F4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60607C-03CA-4233-B19F-3150160F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F86639-5635-41CD-AFFC-5E74A39D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9541AD-8C73-42F6-8276-3C427A7D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D57F39-CD6C-469E-BB43-A7131709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354E89-12F3-453A-8EC4-6FDDC758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1EEA95-A92A-4A3B-B315-42692145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74E0CA-8FB8-4C61-8ECF-60BCF625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C09663-B757-47E1-A6D5-F5456BB4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934BD0-5E20-442B-9126-AADE1553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0B40AB-3088-47E9-BC77-F380E7BC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4A0500-352D-4E78-BC0C-FB4A14F9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02EE4C-774F-4F51-9F08-1159B209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26B806-F205-4D74-AEFA-0509C455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480EE6-4EC8-4099-B923-563D165A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381F74-6485-49AC-AE3F-19ABF1AF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544854-E6AE-433F-9169-41A8D9F1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2F69CF-5AB7-4A4A-897F-3D30404B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9FAF60-69CE-4569-A16B-8347220B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C4C8DE-FE21-4FF7-A939-3D9DC590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77C2D5-E521-4E8D-AF5E-3CC64A31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03B880-60B8-406A-BDE4-62D34B03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0A9AFE-1D5A-4B9B-8C3D-37A69DA8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735CED-E691-47FD-86E4-B7627643E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48788114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8973C6-05E8-4EEF-88C4-BEC22EF5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A225B6-C50F-43D5-8EAB-A85C8F81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PagSeguro I — R$ 6,7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E104CB-FF4F-488C-ADDF-F5C0D57D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1F66F6-D392-45A2-9F5D-1FD37033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E31B83-AE78-4CBC-94C8-6749C073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BEEEB-2117-470E-999D-C7C020F2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4A942B-1941-48FB-AE50-092B0D84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DB9046-F5F0-4B3D-8984-934949CB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90E570-A679-41E9-B8F3-2976D9CB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A53D13-F0AB-4C4D-8215-39CD8B1D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8023F2-3DB6-47E0-94E5-ADDBDC53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506329-E368-4695-99E6-4A2CABE0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7B5667-1AE3-4AED-8078-29A2FC06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854722-C388-4096-BEF2-8F34AF1E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1DD3F3-D13F-49C3-9585-A092655A9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2889B7-FCD8-4F29-917D-6C2C0722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EF25FF-44DD-4D30-A6DA-8FEEA9F25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428EAE-B8BB-4C05-B16E-86148667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1E4B0D-A577-4D3C-9998-FE206A5B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CBB3A0-8D9F-4407-A26B-8A1C9FD2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097C17-C2B8-4338-AC82-AD9B0F81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7DFB40-BF47-4072-BF74-A14DD7B4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AFBCB4-FB76-47F8-9BB9-0D8B6F07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EE22FD-689E-45FD-9D9B-95FA8133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96689D-0ADD-4144-97F1-359995F9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BDC377-3097-4039-8ACC-CFE4D109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447776-01C8-4A6A-9E01-2A72C754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541AEF-FCA1-4B42-B013-9298BBC9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7B272B-75DA-4B56-AB86-83E8B200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13709670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7A50D5-91EF-448E-BEDA-8612CE53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3A75D4-D946-4ED2-BE02-6E7614CC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AD2EE-14AF-4111-BF9A-0EF35599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139209-0448-423F-B5DC-62859BCD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957AC-503A-4A88-B81C-C903325C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DADA6D-8198-4E20-98EB-15ACA252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F0E13C-8782-4EAE-AEB0-C9445C00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BE7B10-2311-4AA6-A5CA-B23772E2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80DD2-B826-477C-92E4-6ADD0E05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79A314-0286-4AD3-A172-B548A7D3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AACDC7-A92A-4E24-AA01-CBA20FEE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7206EC-DA3A-4420-8DE3-3D98B4FF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F90C6D-9DEA-48CB-915F-1D6991A0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E06C09-84D9-4041-B958-DB561B9E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C94A8D-C605-4B86-909C-45484E9E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6C436-5FF1-481E-B1D9-481DDB97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DAA23-21FE-4E4C-BD8F-7B1E66C8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D99E48-3678-4FF4-B922-BF2CAAC2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0344E5-0DD0-46A1-BA2F-78D3C48A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076C07-1711-4AC4-B71B-47A8DEB6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3CE406-17F5-478F-88D8-A357046F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6A7744-6174-4189-A547-B25E2B57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067D5B-C926-4B48-A00A-EB769067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2CD1C6-7970-47E8-9874-1DAD7C155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B3C1AF-CF7F-4124-8E8F-477E2F7B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351726-3EA1-4BFC-8954-750F9D64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E4BCB8-4C54-4ADE-934C-88F37616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9DA8EA-B6FD-4E03-808E-AF829779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A1FC6B-4129-42E9-9BB5-2A868CBAC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38939867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87A011-1572-45DB-A7D3-16BD8416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3121A1-42E8-4046-8424-67992721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28AE9C-C4C4-4F3D-9C1C-247A713B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81DFC5-B750-4181-978F-2D885BBB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BAE228-D392-45F3-8CA0-96710873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C543B-9492-447A-88BE-19864E38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F7FBBC-5984-4F29-8473-4F79678B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E07D41-5BB1-4C59-BB23-7F6DD826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56BB2-CD8D-4CCC-B8A1-4CDF2F1AF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4EAF6D-47CA-43CC-BA7C-A70A0BB0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5D1A4A-211A-48B6-8753-85E89066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69C015-FD1C-49CE-82D9-3147CB059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C33AE1-7583-4763-A99E-DD7817D9D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A96243-9306-4359-B952-E0FA08EA0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D94EA1-D2AD-4AE4-8A58-A76A729D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21C9CD-90E1-484D-8C43-DB0DBD99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086700-4010-4906-B924-86369D8C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833153-0C5F-4B9D-BECD-6499E591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322D7F-C898-4225-BDF2-B232FDA3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1756C9-EB23-4610-BE44-20EB8BBD3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C4D5DD-379E-457C-847B-B521212C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9CA656-7717-4B6A-A583-951BA754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1FD612-EFDE-47D0-8A22-DC063216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89E438-908C-4736-B19B-7E3EC79C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6F6B94-576F-4A5D-BE35-6E55C1B7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60AD77-E654-4B6D-890E-30429493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5A9C5C-2940-4C1D-85DE-C95A1D17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71B516-E625-4B13-AC0B-BD491B52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531324-88A4-4A96-9201-AD71F3AE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15261994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2AF390-617B-4244-B4FF-2485F0D2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F53DF6-A99F-4F57-AB49-A6B2466D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BTG Consignados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F7B7DD-352A-4D94-BB28-91E54890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A7F33A-DBF8-45B5-9768-41CE1B1D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470620-C762-4F23-9408-C8A63A45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B572D6-52CC-4867-892F-7205D053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CCB1-679D-47C7-BB70-BDBBC456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AE6E09-86ED-4744-A579-53F852D2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513B83-D5A0-455C-8ECD-3F0BA116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E46FED-07BD-457B-B718-811EF7B2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434D53-1991-41AC-8B53-2FF6A1EE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9F4E5-D88A-4103-B9AD-C1B573CF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5DC262-068B-489B-B47C-937A799F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25F241-4757-46CA-A0CF-99DDAF28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32112C-4E9B-47ED-A725-B8AA3481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8FEBD3-C315-4E0B-A344-98EC30C8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94C7C6-197C-4ACE-9D7A-E4AEE20E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144839-F94B-4983-83EB-4289B94A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339AAE-BDC1-43B7-A104-2BD36104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44E0BA-4070-4466-8A33-C5E47031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6C02F6-4692-48D6-9DDE-938B0BAD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060D3D-4330-4CC3-B061-F71FB975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E5C726-D58D-49C8-BC2C-521635A94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AC7FC1-04B4-4A95-ABC3-7276FFD6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7C116F-4D05-4877-BB20-50FCDA2A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C3B52A-3033-42E5-BC38-186E3153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11AD16-56E1-4011-8A47-C408D4ED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023826-D5EF-448F-961C-CB2889E6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D282E2-13C7-4AB0-BEA9-868FAEED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17826038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F72F6D-690C-45D9-A9D4-919E8280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93B161-9DA2-47F0-9BCD-9982652A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Alternative Assets III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E3257C-F50F-46B3-A177-A8021604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E92731-FF22-4493-BC5A-7416F27B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26EBE-E32C-4F72-B749-15A6902D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4FF50C-A624-47FC-97D5-018C9303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6453F5-A2B1-4F65-806E-50C3903E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3B2837-79DD-450F-A6E9-46E1CDD6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307962-F800-470F-B421-561B6314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758F06-AEAE-403D-AED8-30AE39AE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33567B-33CE-4855-86AA-79C7E78A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EA59A7-FC2E-4059-9722-33ABE90A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EF8248-5535-4465-861A-74202E5B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5ACF19-C85D-4424-BAAA-0311C0D7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5A443A-BA66-42AA-9761-BFE4FE5F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329A4B-0D17-4A68-AB84-AB8E9198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F78A54-E642-4967-913A-266C7AA8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C0A388-511C-4A9C-A535-5DB1CAE4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EF7926-44C0-4071-8BDF-497A03F0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D7BADF-BFE4-4DFC-A622-E08FACD12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E59D9A-F605-4118-B553-647E97AB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D3A17B-D3D0-4292-B52E-CEF1B1D5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806A5E-F746-4D55-A41C-59A0A4AC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6800D7-A996-4BF9-BCFE-B252D679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B29438-D8D4-4F2C-8033-6545F8C8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83F1DB-543E-427D-B352-50D8B6EC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DF24AE-8D41-4253-A5C0-9D8ED10C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7EE00B-7370-45D3-9A0D-6BDA1671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9CC33A-8AE6-4216-A463-6B8F1822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00968383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AADEBC-2863-4811-8A06-F6587E1B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E12E25-1862-4519-AC4B-D5007671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NC 2025 I — R$ 5,7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354D0-5BEA-438C-8FCB-5A3E0465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B3DC74-97A9-45D3-A4FE-65C871DF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712F4F-E87C-4A9C-851D-C8BF7E23C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https://fnet.bmfbovespa.com.br/fnet/publico/abrirGerenciadorDocumentosCVM?cnpjFundo=63700113000110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209231-9568-459A-89DE-AB456FF4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C6CCB-A550-49F1-B466-50020676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63.700.113/0001-10 · NC 2025 I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6D0915-DFEE-4C1A-A988-DB45F240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56F1DF-CF9F-4BCA-B1C5-E9EE9BDB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3CE06-6EAC-44F6-BCCC-3F6E0C3A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DD3AA5-58BE-4DDA-9899-2C92B601A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há cedente único nomeado; o gestor pode adquirir direitos nos mercados primário e secundário.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36C53A-BB09-4AFD-BB33-A69720A3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EE16D4-E6E1-42FF-8FA2-F5F4C90A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Devedores/emissores dos instrumentos selecionados;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6185AD-DCE5-41C4-A5A9-BB1F8917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99DE0E-7A97-4E54-9736-28D4E5D3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permitidos pelo art. 2º, XII, do Anexo II da RCVM 175, em qualquer setor; o regulamento exclui os direitos não padronizados do inciso XIII.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E18775-9ED0-45CF-95AD-4FB0A77D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9E67EB-C5DD-4CD9-9D4D-EEED0BCD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concentração setorial contratual e com possibilidade de concentração em um mesmo devedor dentro das condições do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F0D8FB-A39B-4B67-A05C-91C17D9B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CD4E4D-7979-48C6-9CE3-7DCABC16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8EB04F-D94D-413D-8572-B26450F1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8EEF8C-7DA9-4C97-A210-F9C9CD8C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2025-12-09 | incorporação decorrente de cisão parcial do NC 2025 | R$ 5.300 bi | doc. 1057972; Foram incorporadas 4.953.498,00000167 cotas; não foi captação em dinheiro.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074E9D-936D-4B28-A3A6-111A1FAE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72B68D-0886-4620-A37C-E98AEDA1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única; o regulamento declara que não observa índice de subordinação.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56F520-96FD-40A6-9C91-0C1091A0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3471EC-F111-48D5-A73E-AB7D434F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46FCFB-D99D-4D3B-B418-6332E605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21D087-63CD-428D-9700-ECDB4970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Multicarteiras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evidencia_documental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AFBACE-E59F-4C97-8191-E1DE4687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FBDA79-27E0-4D4F-9BBD-2C7F641E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Não está no snapshot ANBIMA; o regulamento declara Tipo Outros/Foco Multicarteiras Outros. Tratar como evidência documental, não cadastro oficial da fotografia.</a:t>
            </a:r>
          </a:p>
        </p:txBody>
      </p:sp>
    </p:spTree>
    <p:extLst>
      <p:ext uri="{BB962C8B-B14F-4D97-AF65-F5344CB8AC3E}">
        <p14:creationId xmlns:p14="http://schemas.microsoft.com/office/powerpoint/2010/main" val="34723682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F4A61D-634E-4717-9A76-6375C0DC9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84AF86-6047-4CC8-8A0C-C1D80281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Monee I — R$ 5,0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24F2B2-562B-44C9-B3BD-175B3904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4E633-D352-442A-9F5D-F711FA38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CB7336-89BC-4811-97A0-4BC9ADA3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257955-0E78-4B47-8CB0-F6E31AA2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CA1B32-9B69-4F66-BF6C-D56BA8A4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8EB36-8A73-4E92-B104-5EA3F427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9F533F-0FEB-46AA-AB2D-AD6D0422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452E31-D21E-4348-B9F2-5526CA61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CA0F71-8645-4475-9E7E-9947F358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B1D363-3B20-4A13-9312-4FD8E49C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6B1182-8D11-4129-B286-8BCEFD36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4A7C10-4E6E-49E1-8960-F0695F39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810A10-CB24-4698-8CEE-B0A6A4DA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1DC31B-39ED-42A3-B010-6736203C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2301BE-BDBE-4F2D-A5FD-0C3206BC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590BAA-7289-4F29-8BA4-1CE3D2302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ACB697-8627-4FE6-8907-D0D4846B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4B6C49-7EDE-4F7C-AB5A-2D38C96D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7FEEE0-9409-472C-8989-9121A907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C42B23-D1B2-4EB2-9968-8E2D8409D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95356D-4196-4F60-BCB9-3B063D77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90483A-6DA9-41E3-AA46-C7395AF1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A8CA5E-B3BA-42C8-A568-09974A238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242250-3C2E-424B-9F52-A1FFD5D4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8B5023-C660-4BE8-BFF5-25FFB626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A40AA2-99E1-4628-BCE1-BBC3964A5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5E4ED4-9AC1-4878-8581-44D607F1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95672093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7CF153-1606-4016-A511-E7F81B17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5DA516-9E22-463C-8BEC-5DE1E11D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PicPay I — R$ 4,6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0E214A-046C-46B7-BEB7-ED1993B8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814DE8-EFB2-4317-B01A-324B1529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BE662B-142D-4D06-A46A-6FA6F820B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B17712-06DC-4763-8474-C8D3A509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4862C1-D61F-428C-82FB-13F24611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90828-BC47-4EB5-9D43-C66DE157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5180B1-5B6A-4D7C-BD5E-62130930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F51A88-0552-4E11-892F-77698E913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E18A4B-EDA1-4314-A1A7-415AF37F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4F8ABE-BDDD-4581-B585-CA9CE539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554712-99BD-4E97-BDC8-CA336DEB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552CB6-A302-4A3F-A41E-ABE2278B3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6750D8-8079-45B1-8ECC-6FDAC8D1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0A8BDD-52C5-42BD-9FD8-474C5433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49595-448E-4812-BB2E-56B13DCA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B06DF4-B6AF-407F-B5E2-8D185AC6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17D05E-17BB-4C58-A1B3-0D6126EC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51ED3F-D2C3-4CDB-9961-06997A3B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9953C3-6D3B-4BF2-BFEF-813ADA0A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C7F936-FDAB-4DCE-B791-937F4F87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69B2B3-70AE-41AC-8AD9-1CEF534F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46F4CE-F27C-4D19-8580-25AD12FA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5C9D11-AD6B-4A14-B81A-74FF038C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E6CD09-4D71-49F7-8598-8A63E3F5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BD0BEF-C5F3-482C-BA45-DC24A293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227DCF-B8A0-4A08-9E0B-06B913E1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F2453B-00AC-4316-93DA-94CCD8E2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79515482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6691BD-C4C0-4335-AAE8-4E7CAC693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345B7-B70D-4D64-B952-B0258DF9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Artesanal Master — R$ 4,3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8E9658-01F1-4E50-A00A-31C4EFC8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ED6901-5896-4B24-A27B-8F01DDCF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7E99FA-9566-4C40-95D3-5AEE1CD7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09D1D0-63D5-4119-9891-C7D52399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D816FD-B040-495E-8257-55FDE360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82B6F1-508C-42DB-8EC4-D1882A4F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932E05-5B61-4D62-9498-D1E8D9BF1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40934B-28C9-4818-B83E-2726F859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9383C7-2C56-43AF-BCF8-0CBEB9CC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CC1023-34A4-48C2-AA8C-FB3D032F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3F9F24-56C9-4673-9CC8-19396E38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A4C0EE-20B0-4E62-8F1D-FEC10AFD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C19B6A-B49C-4074-B368-EE0E05DF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6C2C48-6573-413A-9757-F37AB5A5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BC45F7-B6C5-4F02-BBA3-C414494F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92A36-E8B4-439C-A6EC-6C27A8FF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B0E4EE-39FB-425C-8483-762EA833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073A7B-9EBC-4932-82AF-677E7C38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2090F0-72A9-430B-896D-B2BD06EA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90D8D5-76BF-4512-B655-845EB6E3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62251D-7A97-4655-9CF6-4712E5F3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F6A753-E717-4E3A-9A9D-8CABAF34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CC3D0E-5939-4865-8A7E-5DA17436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7068ED-8BF1-4404-A041-AB2BC3A1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E5CD1B-7B5D-4E5E-874D-B3EDD9EE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A93191-2CD8-4490-B259-3BC8B83B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1204F6-95CC-46A3-9CA5-3628E83C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31797156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AF322C-3DBB-4104-87C6-B266DC06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888615-715C-4165-A619-6FAC960B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High Tower NP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0E379-9353-4A0D-A05B-80B22202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18D9F-41E0-4CCB-9C88-061A7ABF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EBDE77-2D8D-40AD-A719-F17AEAE4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https://fnet.bmfbovespa.com.br/fnet/publico/abrirGerenciadorDocumentosCVM?cnpjFundo=51152102000163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A5A046-5E11-4FB0-878B-19A76E32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F50710-A82E-4DE0-A69D-4F9BF91E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51.152.102/0001-63 · HIGH TOWER FUNDO DE INVESTIMENTO EM DIREITOS CREDITÓRIOS NÃO-PADRONIZADOS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1FF7DE-B5B8-4192-802A-F2CDF11A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19048D-13BC-440D-AA01-F141AF8D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CD253F-0CE8-46AA-AEA5-C03AC66B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de diferentes setores, em recuperação judicial ou não;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Clientes/sacados das cedentes e demais devedores dos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Política ampla de direitos financeiros, comerciais, industriais, imobiliários, de serviços, leasing e contratos de performance futura, inclusive não padronizados. Warrants não foram listados por haver conflito interno entre itens do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compra carteiras de cedentes distintos e setores diversos, sob critérios de elegibilidade e cobrança próprios.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8ED6C4-9ED2-4C8B-8AD4-49949D5E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3271D2-CDD3-42DA-82AB-1FF40945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706E0A-05B2-4D60-A555-C6EB664D3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2023-06-22 | lançamento da primeira oferta | R$ 0.100 bi | doc. 487085; Valor máximo; distribuição parcial permitida e colocação integral não comprovada.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subordinação mínima de 5% do PL após emissão de cotas sênior. Garantias: Variam por direito; não há garantia uniforme identificada.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78DBA1-4BD7-42CB-9DCC-A28AA8F4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E328F4-64F7-40EC-A7DA-8FB2707E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Outros, com direitos não padronizados amplos. Ata de 06/05/2026 identifica cotista único e administradora em liquidação extrajudicial; reconciliar a denominação dos prestadores com o cadastro CVM.</a:t>
            </a:r>
          </a:p>
        </p:txBody>
      </p:sp>
    </p:spTree>
    <p:extLst>
      <p:ext uri="{BB962C8B-B14F-4D97-AF65-F5344CB8AC3E}">
        <p14:creationId xmlns:p14="http://schemas.microsoft.com/office/powerpoint/2010/main" val="306801906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C5226F-A055-4DF5-8205-10A6D3E6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4F2D6F-8F8A-4BE0-A799-ADD0A6A2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Day Maxx 2 — R$ 3,9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A360D-61DB-4094-9E83-D1164302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E2830-A957-4C5B-B559-47BD64B0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CA80C3-0E6E-4C0B-BD76-DABCE7EA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F06813-DFCA-4E23-8150-6C34630F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948038-2DF4-465F-BB92-14DC38E7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4978FC-FD99-4ADF-8D9C-7A9D726E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3E00A7-1C8E-40A5-9C32-AFAF51B4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78FDE0-F4D2-4B97-9257-C376B82B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8B4B9-7278-48DA-922B-DC8A88A8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5B1749-0B37-4581-A7B8-94CBC283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BE40E0-6D95-4C29-B63F-C0C0CB16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257853-ACBE-47C4-AA45-0B3BF2E6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EDBA1E-1F70-4D05-8F3E-FECA17F2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BB9A5B-2080-437E-80B4-0FFE5276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850B28-BD7E-4969-946F-25EEFE9C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39744F-C515-4EEC-A3B7-A6362A58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1C1261-0C73-4514-9D99-7BD06F20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A6DDFF-DA4A-427D-9C3A-E9814CFE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9DAAC5-6CE5-4F44-9C8B-D2CF9985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B5415B-9DAF-4B99-8C42-52EE0354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88A1F1-DABC-4303-81F2-F7254A52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8739AC-A02C-4BE4-9F6A-B8149EA5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565B06-1185-4718-BC64-E756AEA2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EA51BB-C45E-47BC-88C6-38B39E3A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2EE673-C0D4-4301-B0C1-61FC0575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4998D3-877B-4920-99F2-213B817F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547AB7-1905-46D8-945F-9E0BAA0C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187713450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2026-07-17T00:37:34.9930000Z</dcterms:created>
  <dcterms:modified xsi:type="dcterms:W3CDTF">2026-07-17T00:37:34.9930000Z</dcterms:modified>
</coreProperties>
</file>