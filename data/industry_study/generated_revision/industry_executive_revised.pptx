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6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0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24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9.xml" ContentType="application/vnd.openxmlformats-officedocument.drawingml.chart+xml"/>
  <Override PartName="/ppt/slides/charts/chart30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charts/chart34.xml" ContentType="application/vnd.openxmlformats-officedocument.drawingml.chart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slides/charts/chart46.xml" ContentType="application/vnd.openxmlformats-officedocument.drawingml.chart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slides/charts/chart47.xml" ContentType="application/vnd.openxmlformats-officedocument.drawingml.chart+xml"/>
  <Override PartName="/ppt/slides/charts/chart48.xml" ContentType="application/vnd.openxmlformats-officedocument.drawingml.chart+xml"/>
  <Override PartName="/ppt/slides/charts/chart49.xml" ContentType="application/vnd.openxmlformats-officedocument.drawingml.chart+xml"/>
  <Override PartName="/ppt/slides/charts/chart50.xml" ContentType="application/vnd.openxmlformats-officedocument.drawingml.chart+xml"/>
  <Override PartName="/ppt/slides/charts/chart51.xml" ContentType="application/vnd.openxmlformats-officedocument.drawingml.chart+xml"/>
  <Override PartName="/ppt/slides/charts/chart52.xml" ContentType="application/vnd.openxmlformats-officedocument.drawingml.chart+xml"/>
  <Override PartName="/ppt/slides/charts/chart53.xml" ContentType="application/vnd.openxmlformats-officedocument.drawingml.chart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slides/charts/chart54.xml" ContentType="application/vnd.openxmlformats-officedocument.drawingml.chart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slides/charts/chart55.xml" ContentType="application/vnd.openxmlformats-officedocument.drawingml.chart+xml"/>
  <Override PartName="/ppt/slides/charts/chart56.xml" ContentType="application/vnd.openxmlformats-officedocument.drawingml.chart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slides/charts/chart57.xml" ContentType="application/vnd.openxmlformats-officedocument.drawingml.chart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slides/charts/chart58.xml" ContentType="application/vnd.openxmlformats-officedocument.drawingml.chart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slides/charts/chart59.xml" ContentType="application/vnd.openxmlformats-officedocument.drawingml.chart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slides/charts/chart60.xml" ContentType="application/vnd.openxmlformats-officedocument.drawingml.chart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slides/charts/chart61.xml" ContentType="application/vnd.openxmlformats-officedocument.drawingml.chart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slides/charts/chart62.xml" ContentType="application/vnd.openxmlformats-officedocument.drawingml.chart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ad61193fc394550" /><Relationship Type="http://schemas.openxmlformats.org/officeDocument/2006/relationships/extended-properties" Target="/docProps/app.xml" Id="R111142cf9c2640b7" /><Relationship Type="http://schemas.openxmlformats.org/officeDocument/2006/relationships/officeDocument" Target="/ppt/presentation.xml" Id="R9f6f2e57ebeb48b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2df4c112b9845b1"/>
  </p:sldMasterIdLst>
  <p:notesMasterIdLst>
    <p:notesMasterId xmlns:r="http://schemas.openxmlformats.org/officeDocument/2006/relationships" r:id="R0e85217b98c447dd"/>
  </p:notesMasterIdLst>
  <p:sldIdLst>
    <p:sldId xmlns:r="http://schemas.openxmlformats.org/officeDocument/2006/relationships" id="256" r:id="R2510d28a52b545cd"/>
    <p:sldId xmlns:r="http://schemas.openxmlformats.org/officeDocument/2006/relationships" id="257" r:id="R40162ff53d91437e"/>
    <p:sldId xmlns:r="http://schemas.openxmlformats.org/officeDocument/2006/relationships" id="258" r:id="Rc81f909a766f4a49"/>
    <p:sldId xmlns:r="http://schemas.openxmlformats.org/officeDocument/2006/relationships" id="259" r:id="R9fc706c42fbf4ed4"/>
    <p:sldId xmlns:r="http://schemas.openxmlformats.org/officeDocument/2006/relationships" id="260" r:id="Rb4c397d2d25a406f"/>
    <p:sldId xmlns:r="http://schemas.openxmlformats.org/officeDocument/2006/relationships" id="261" r:id="R0dbdfd2ff0964f7c"/>
    <p:sldId xmlns:r="http://schemas.openxmlformats.org/officeDocument/2006/relationships" id="262" r:id="R7a27a99d8c2744a8"/>
    <p:sldId xmlns:r="http://schemas.openxmlformats.org/officeDocument/2006/relationships" id="263" r:id="R6ce78201f59a4921"/>
    <p:sldId xmlns:r="http://schemas.openxmlformats.org/officeDocument/2006/relationships" id="264" r:id="R4021ea51b60e4961"/>
    <p:sldId xmlns:r="http://schemas.openxmlformats.org/officeDocument/2006/relationships" id="265" r:id="R10b7056d9521453d"/>
    <p:sldId xmlns:r="http://schemas.openxmlformats.org/officeDocument/2006/relationships" id="266" r:id="Racb9b75f729243d6"/>
    <p:sldId xmlns:r="http://schemas.openxmlformats.org/officeDocument/2006/relationships" id="267" r:id="R640a3b4685044b0e"/>
    <p:sldId xmlns:r="http://schemas.openxmlformats.org/officeDocument/2006/relationships" id="268" r:id="R23e9d6ff808747d1"/>
    <p:sldId xmlns:r="http://schemas.openxmlformats.org/officeDocument/2006/relationships" id="269" r:id="R7eecb10e01794766"/>
    <p:sldId xmlns:r="http://schemas.openxmlformats.org/officeDocument/2006/relationships" id="270" r:id="Re68e182aaf8c4139"/>
    <p:sldId xmlns:r="http://schemas.openxmlformats.org/officeDocument/2006/relationships" id="271" r:id="R6a15d94668fe49d8"/>
    <p:sldId xmlns:r="http://schemas.openxmlformats.org/officeDocument/2006/relationships" id="272" r:id="R795c88f1767b49c9"/>
    <p:sldId xmlns:r="http://schemas.openxmlformats.org/officeDocument/2006/relationships" id="273" r:id="Rf2eec6c22aa4481d"/>
    <p:sldId xmlns:r="http://schemas.openxmlformats.org/officeDocument/2006/relationships" id="274" r:id="Rb5f52916fa434a5c"/>
    <p:sldId xmlns:r="http://schemas.openxmlformats.org/officeDocument/2006/relationships" id="275" r:id="Rca810bb640924239"/>
    <p:sldId xmlns:r="http://schemas.openxmlformats.org/officeDocument/2006/relationships" id="276" r:id="Rb917d35302994380"/>
    <p:sldId xmlns:r="http://schemas.openxmlformats.org/officeDocument/2006/relationships" id="277" r:id="Rae9edf9e9f554104"/>
    <p:sldId xmlns:r="http://schemas.openxmlformats.org/officeDocument/2006/relationships" id="278" r:id="R02fffcb982ef4189"/>
    <p:sldId xmlns:r="http://schemas.openxmlformats.org/officeDocument/2006/relationships" id="279" r:id="Rc3834b7726d84ec0"/>
    <p:sldId xmlns:r="http://schemas.openxmlformats.org/officeDocument/2006/relationships" id="280" r:id="R984d1389f9604ccd"/>
    <p:sldId xmlns:r="http://schemas.openxmlformats.org/officeDocument/2006/relationships" id="281" r:id="R9712d774253e40ac"/>
    <p:sldId xmlns:r="http://schemas.openxmlformats.org/officeDocument/2006/relationships" id="282" r:id="R8926e6c11d0149bf"/>
    <p:sldId xmlns:r="http://schemas.openxmlformats.org/officeDocument/2006/relationships" id="283" r:id="R943bab56a0794666"/>
    <p:sldId xmlns:r="http://schemas.openxmlformats.org/officeDocument/2006/relationships" id="284" r:id="Ra6029a3886324343"/>
    <p:sldId xmlns:r="http://schemas.openxmlformats.org/officeDocument/2006/relationships" id="285" r:id="R0e82b56ded9c482b"/>
    <p:sldId xmlns:r="http://schemas.openxmlformats.org/officeDocument/2006/relationships" id="286" r:id="R481b2711190d40e9"/>
    <p:sldId xmlns:r="http://schemas.openxmlformats.org/officeDocument/2006/relationships" id="287" r:id="Rfaed0a4c035c46fc"/>
    <p:sldId xmlns:r="http://schemas.openxmlformats.org/officeDocument/2006/relationships" id="288" r:id="R6faa5194b3c84bc4"/>
    <p:sldId xmlns:r="http://schemas.openxmlformats.org/officeDocument/2006/relationships" id="289" r:id="Rd569a22df1824167"/>
    <p:sldId xmlns:r="http://schemas.openxmlformats.org/officeDocument/2006/relationships" id="290" r:id="R6241d44143314330"/>
    <p:sldId xmlns:r="http://schemas.openxmlformats.org/officeDocument/2006/relationships" id="291" r:id="Re5e6aa746c604d2d"/>
    <p:sldId xmlns:r="http://schemas.openxmlformats.org/officeDocument/2006/relationships" id="292" r:id="R3bdd7a76c1414573"/>
    <p:sldId xmlns:r="http://schemas.openxmlformats.org/officeDocument/2006/relationships" id="293" r:id="Rf8828b9dbd6e4714"/>
    <p:sldId xmlns:r="http://schemas.openxmlformats.org/officeDocument/2006/relationships" id="294" r:id="Rb21aeaed76504d68"/>
    <p:sldId xmlns:r="http://schemas.openxmlformats.org/officeDocument/2006/relationships" id="295" r:id="R09b3e1f02f3b4feb"/>
    <p:sldId xmlns:r="http://schemas.openxmlformats.org/officeDocument/2006/relationships" id="296" r:id="Rff0b2c72b17e4157"/>
    <p:sldId xmlns:r="http://schemas.openxmlformats.org/officeDocument/2006/relationships" id="297" r:id="R31b6276f82ab41d4"/>
    <p:sldId xmlns:r="http://schemas.openxmlformats.org/officeDocument/2006/relationships" id="298" r:id="R8cfb1da6b1d54346"/>
    <p:sldId xmlns:r="http://schemas.openxmlformats.org/officeDocument/2006/relationships" id="299" r:id="Ra07c410be09e4e77"/>
    <p:sldId xmlns:r="http://schemas.openxmlformats.org/officeDocument/2006/relationships" id="300" r:id="R496a53eb5ef94f94"/>
    <p:sldId xmlns:r="http://schemas.openxmlformats.org/officeDocument/2006/relationships" id="301" r:id="Rb91b2717c7e640b2"/>
    <p:sldId xmlns:r="http://schemas.openxmlformats.org/officeDocument/2006/relationships" id="302" r:id="R5bce327685bc4af4"/>
    <p:sldId xmlns:r="http://schemas.openxmlformats.org/officeDocument/2006/relationships" id="303" r:id="R74980910cb8c4c34"/>
    <p:sldId xmlns:r="http://schemas.openxmlformats.org/officeDocument/2006/relationships" id="304" r:id="Rb13c37ce89544597"/>
    <p:sldId xmlns:r="http://schemas.openxmlformats.org/officeDocument/2006/relationships" id="305" r:id="R573d52cae7cd4166"/>
    <p:sldId xmlns:r="http://schemas.openxmlformats.org/officeDocument/2006/relationships" id="306" r:id="Rcbf81117ea12407b"/>
    <p:sldId xmlns:r="http://schemas.openxmlformats.org/officeDocument/2006/relationships" id="307" r:id="Rbfe148c2d9a64c0a"/>
    <p:sldId xmlns:r="http://schemas.openxmlformats.org/officeDocument/2006/relationships" id="308" r:id="Raad6a62edbbe44df"/>
    <p:sldId xmlns:r="http://schemas.openxmlformats.org/officeDocument/2006/relationships" id="309" r:id="R827c9171f1e44216"/>
    <p:sldId xmlns:r="http://schemas.openxmlformats.org/officeDocument/2006/relationships" id="310" r:id="Rd044ed5b26d546d8"/>
    <p:sldId xmlns:r="http://schemas.openxmlformats.org/officeDocument/2006/relationships" id="311" r:id="Rf3e4364a3c314727"/>
    <p:sldId xmlns:r="http://schemas.openxmlformats.org/officeDocument/2006/relationships" id="312" r:id="R58a1f9e6d00e427d"/>
    <p:sldId xmlns:r="http://schemas.openxmlformats.org/officeDocument/2006/relationships" id="313" r:id="Rb8a599fe7b3a43c7"/>
    <p:sldId xmlns:r="http://schemas.openxmlformats.org/officeDocument/2006/relationships" id="314" r:id="R546443b7d6f54e68"/>
    <p:sldId xmlns:r="http://schemas.openxmlformats.org/officeDocument/2006/relationships" id="315" r:id="R1bd7f6d691c342b6"/>
    <p:sldId xmlns:r="http://schemas.openxmlformats.org/officeDocument/2006/relationships" id="316" r:id="Rf1fb60e46abe4577"/>
    <p:sldId xmlns:r="http://schemas.openxmlformats.org/officeDocument/2006/relationships" id="317" r:id="Ra3512e5e3988489d"/>
    <p:sldId xmlns:r="http://schemas.openxmlformats.org/officeDocument/2006/relationships" id="318" r:id="R74be114172704f7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dbadcfbe5664dd8" /><Relationship Type="http://schemas.openxmlformats.org/officeDocument/2006/relationships/slideMaster" Target="/ppt/slideMasters/slideMaster1.xml" Id="Rb2df4c112b9845b1" /><Relationship Type="http://schemas.openxmlformats.org/officeDocument/2006/relationships/notesMaster" Target="/ppt/notesMasters/notesMaster1.xml" Id="R0e85217b98c447dd" /><Relationship Type="http://schemas.openxmlformats.org/officeDocument/2006/relationships/presProps" Target="/ppt/presProps.xml" Id="Rdce792c6cca34653" /><Relationship Type="http://schemas.openxmlformats.org/officeDocument/2006/relationships/tableStyles" Target="/ppt/tableStyles.xml" Id="R1356598fd1e5453e" /><Relationship Type="http://schemas.openxmlformats.org/officeDocument/2006/relationships/slide" Target="/ppt/slides/slide1.xml" Id="R2510d28a52b545cd" /><Relationship Type="http://schemas.openxmlformats.org/officeDocument/2006/relationships/slide" Target="/ppt/slides/slide2.xml" Id="R40162ff53d91437e" /><Relationship Type="http://schemas.openxmlformats.org/officeDocument/2006/relationships/slide" Target="/ppt/slides/slide3.xml" Id="Rc81f909a766f4a49" /><Relationship Type="http://schemas.openxmlformats.org/officeDocument/2006/relationships/slide" Target="/ppt/slides/slide4.xml" Id="R9fc706c42fbf4ed4" /><Relationship Type="http://schemas.openxmlformats.org/officeDocument/2006/relationships/slide" Target="/ppt/slides/slide5.xml" Id="Rb4c397d2d25a406f" /><Relationship Type="http://schemas.openxmlformats.org/officeDocument/2006/relationships/slide" Target="/ppt/slides/slide6.xml" Id="R0dbdfd2ff0964f7c" /><Relationship Type="http://schemas.openxmlformats.org/officeDocument/2006/relationships/slide" Target="/ppt/slides/slide7.xml" Id="R7a27a99d8c2744a8" /><Relationship Type="http://schemas.openxmlformats.org/officeDocument/2006/relationships/slide" Target="/ppt/slides/slide8.xml" Id="R6ce78201f59a4921" /><Relationship Type="http://schemas.openxmlformats.org/officeDocument/2006/relationships/slide" Target="/ppt/slides/slide9.xml" Id="R4021ea51b60e4961" /><Relationship Type="http://schemas.openxmlformats.org/officeDocument/2006/relationships/slide" Target="/ppt/slides/slide10.xml" Id="R10b7056d9521453d" /><Relationship Type="http://schemas.openxmlformats.org/officeDocument/2006/relationships/slide" Target="/ppt/slides/slide11.xml" Id="Racb9b75f729243d6" /><Relationship Type="http://schemas.openxmlformats.org/officeDocument/2006/relationships/slide" Target="/ppt/slides/slide12.xml" Id="R640a3b4685044b0e" /><Relationship Type="http://schemas.openxmlformats.org/officeDocument/2006/relationships/slide" Target="/ppt/slides/slide13.xml" Id="R23e9d6ff808747d1" /><Relationship Type="http://schemas.openxmlformats.org/officeDocument/2006/relationships/slide" Target="/ppt/slides/slide14.xml" Id="R7eecb10e01794766" /><Relationship Type="http://schemas.openxmlformats.org/officeDocument/2006/relationships/slide" Target="/ppt/slides/slide15.xml" Id="Re68e182aaf8c4139" /><Relationship Type="http://schemas.openxmlformats.org/officeDocument/2006/relationships/slide" Target="/ppt/slides/slide16.xml" Id="R6a15d94668fe49d8" /><Relationship Type="http://schemas.openxmlformats.org/officeDocument/2006/relationships/slide" Target="/ppt/slides/slide17.xml" Id="R795c88f1767b49c9" /><Relationship Type="http://schemas.openxmlformats.org/officeDocument/2006/relationships/slide" Target="/ppt/slides/slide18.xml" Id="Rf2eec6c22aa4481d" /><Relationship Type="http://schemas.openxmlformats.org/officeDocument/2006/relationships/slide" Target="/ppt/slides/slide19.xml" Id="Rb5f52916fa434a5c" /><Relationship Type="http://schemas.openxmlformats.org/officeDocument/2006/relationships/slide" Target="/ppt/slides/slide20.xml" Id="Rca810bb640924239" /><Relationship Type="http://schemas.openxmlformats.org/officeDocument/2006/relationships/slide" Target="/ppt/slides/slide21.xml" Id="Rb917d35302994380" /><Relationship Type="http://schemas.openxmlformats.org/officeDocument/2006/relationships/slide" Target="/ppt/slides/slide22.xml" Id="Rae9edf9e9f554104" /><Relationship Type="http://schemas.openxmlformats.org/officeDocument/2006/relationships/slide" Target="/ppt/slides/slide23.xml" Id="R02fffcb982ef4189" /><Relationship Type="http://schemas.openxmlformats.org/officeDocument/2006/relationships/slide" Target="/ppt/slides/slide24.xml" Id="Rc3834b7726d84ec0" /><Relationship Type="http://schemas.openxmlformats.org/officeDocument/2006/relationships/slide" Target="/ppt/slides/slide25.xml" Id="R984d1389f9604ccd" /><Relationship Type="http://schemas.openxmlformats.org/officeDocument/2006/relationships/slide" Target="/ppt/slides/slide26.xml" Id="R9712d774253e40ac" /><Relationship Type="http://schemas.openxmlformats.org/officeDocument/2006/relationships/slide" Target="/ppt/slides/slide27.xml" Id="R8926e6c11d0149bf" /><Relationship Type="http://schemas.openxmlformats.org/officeDocument/2006/relationships/slide" Target="/ppt/slides/slide28.xml" Id="R943bab56a0794666" /><Relationship Type="http://schemas.openxmlformats.org/officeDocument/2006/relationships/slide" Target="/ppt/slides/slide29.xml" Id="Ra6029a3886324343" /><Relationship Type="http://schemas.openxmlformats.org/officeDocument/2006/relationships/slide" Target="/ppt/slides/slide30.xml" Id="R0e82b56ded9c482b" /><Relationship Type="http://schemas.openxmlformats.org/officeDocument/2006/relationships/slide" Target="/ppt/slides/slide31.xml" Id="R481b2711190d40e9" /><Relationship Type="http://schemas.openxmlformats.org/officeDocument/2006/relationships/slide" Target="/ppt/slides/slide32.xml" Id="Rfaed0a4c035c46fc" /><Relationship Type="http://schemas.openxmlformats.org/officeDocument/2006/relationships/slide" Target="/ppt/slides/slide33.xml" Id="R6faa5194b3c84bc4" /><Relationship Type="http://schemas.openxmlformats.org/officeDocument/2006/relationships/slide" Target="/ppt/slides/slide34.xml" Id="Rd569a22df1824167" /><Relationship Type="http://schemas.openxmlformats.org/officeDocument/2006/relationships/slide" Target="/ppt/slides/slide35.xml" Id="R6241d44143314330" /><Relationship Type="http://schemas.openxmlformats.org/officeDocument/2006/relationships/slide" Target="/ppt/slides/slide36.xml" Id="Re5e6aa746c604d2d" /><Relationship Type="http://schemas.openxmlformats.org/officeDocument/2006/relationships/slide" Target="/ppt/slides/slide37.xml" Id="R3bdd7a76c1414573" /><Relationship Type="http://schemas.openxmlformats.org/officeDocument/2006/relationships/slide" Target="/ppt/slides/slide38.xml" Id="Rf8828b9dbd6e4714" /><Relationship Type="http://schemas.openxmlformats.org/officeDocument/2006/relationships/slide" Target="/ppt/slides/slide39.xml" Id="Rb21aeaed76504d68" /><Relationship Type="http://schemas.openxmlformats.org/officeDocument/2006/relationships/slide" Target="/ppt/slides/slide40.xml" Id="R09b3e1f02f3b4feb" /><Relationship Type="http://schemas.openxmlformats.org/officeDocument/2006/relationships/slide" Target="/ppt/slides/slide41.xml" Id="Rff0b2c72b17e4157" /><Relationship Type="http://schemas.openxmlformats.org/officeDocument/2006/relationships/slide" Target="/ppt/slides/slide42.xml" Id="R31b6276f82ab41d4" /><Relationship Type="http://schemas.openxmlformats.org/officeDocument/2006/relationships/slide" Target="/ppt/slides/slide43.xml" Id="R8cfb1da6b1d54346" /><Relationship Type="http://schemas.openxmlformats.org/officeDocument/2006/relationships/slide" Target="/ppt/slides/slide44.xml" Id="Ra07c410be09e4e77" /><Relationship Type="http://schemas.openxmlformats.org/officeDocument/2006/relationships/slide" Target="/ppt/slides/slide45.xml" Id="R496a53eb5ef94f94" /><Relationship Type="http://schemas.openxmlformats.org/officeDocument/2006/relationships/slide" Target="/ppt/slides/slide46.xml" Id="Rb91b2717c7e640b2" /><Relationship Type="http://schemas.openxmlformats.org/officeDocument/2006/relationships/slide" Target="/ppt/slides/slide47.xml" Id="R5bce327685bc4af4" /><Relationship Type="http://schemas.openxmlformats.org/officeDocument/2006/relationships/slide" Target="/ppt/slides/slide48.xml" Id="R74980910cb8c4c34" /><Relationship Type="http://schemas.openxmlformats.org/officeDocument/2006/relationships/slide" Target="/ppt/slides/slide49.xml" Id="Rb13c37ce89544597" /><Relationship Type="http://schemas.openxmlformats.org/officeDocument/2006/relationships/slide" Target="/ppt/slides/slide50.xml" Id="R573d52cae7cd4166" /><Relationship Type="http://schemas.openxmlformats.org/officeDocument/2006/relationships/slide" Target="/ppt/slides/slide51.xml" Id="Rcbf81117ea12407b" /><Relationship Type="http://schemas.openxmlformats.org/officeDocument/2006/relationships/slide" Target="/ppt/slides/slide52.xml" Id="Rbfe148c2d9a64c0a" /><Relationship Type="http://schemas.openxmlformats.org/officeDocument/2006/relationships/slide" Target="/ppt/slides/slide53.xml" Id="Raad6a62edbbe44df" /><Relationship Type="http://schemas.openxmlformats.org/officeDocument/2006/relationships/slide" Target="/ppt/slides/slide54.xml" Id="R827c9171f1e44216" /><Relationship Type="http://schemas.openxmlformats.org/officeDocument/2006/relationships/slide" Target="/ppt/slides/slide55.xml" Id="Rd044ed5b26d546d8" /><Relationship Type="http://schemas.openxmlformats.org/officeDocument/2006/relationships/slide" Target="/ppt/slides/slide56.xml" Id="Rf3e4364a3c314727" /><Relationship Type="http://schemas.openxmlformats.org/officeDocument/2006/relationships/slide" Target="/ppt/slides/slide57.xml" Id="R58a1f9e6d00e427d" /><Relationship Type="http://schemas.openxmlformats.org/officeDocument/2006/relationships/slide" Target="/ppt/slides/slide58.xml" Id="Rb8a599fe7b3a43c7" /><Relationship Type="http://schemas.openxmlformats.org/officeDocument/2006/relationships/slide" Target="/ppt/slides/slide59.xml" Id="R546443b7d6f54e68" /><Relationship Type="http://schemas.openxmlformats.org/officeDocument/2006/relationships/slide" Target="/ppt/slides/slide60.xml" Id="R1bd7f6d691c342b6" /><Relationship Type="http://schemas.openxmlformats.org/officeDocument/2006/relationships/slide" Target="/ppt/slides/slide61.xml" Id="Rf1fb60e46abe4577" /><Relationship Type="http://schemas.openxmlformats.org/officeDocument/2006/relationships/slide" Target="/ppt/slides/slide62.xml" Id="Ra3512e5e3988489d" /><Relationship Type="http://schemas.openxmlformats.org/officeDocument/2006/relationships/slide" Target="/ppt/slides/slide63.xml" Id="R74be114172704f7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22b864073654d2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19da2eaad26455f" /><Relationship Type="http://schemas.openxmlformats.org/officeDocument/2006/relationships/notesMaster" Target="/ppt/notesMasters/notesMaster1.xml" Id="Rdeeabba6a67d415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fd5946bacab4738" /><Relationship Type="http://schemas.openxmlformats.org/officeDocument/2006/relationships/notesMaster" Target="/ppt/notesMasters/notesMaster1.xml" Id="R798033b97f934c9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fd882828e614095" /><Relationship Type="http://schemas.openxmlformats.org/officeDocument/2006/relationships/notesMaster" Target="/ppt/notesMasters/notesMaster1.xml" Id="Rdff1fb82d14a40d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7df5fd88f1d4151" /><Relationship Type="http://schemas.openxmlformats.org/officeDocument/2006/relationships/notesMaster" Target="/ppt/notesMasters/notesMaster1.xml" Id="Rb52d2fea442b4bb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5bfab39402c46fe" /><Relationship Type="http://schemas.openxmlformats.org/officeDocument/2006/relationships/notesMaster" Target="/ppt/notesMasters/notesMaster1.xml" Id="R1aaa3ac821dc485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a023556bb1b4632" /><Relationship Type="http://schemas.openxmlformats.org/officeDocument/2006/relationships/notesMaster" Target="/ppt/notesMasters/notesMaster1.xml" Id="R33de5a88647f44b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60b193a9ab341ef" /><Relationship Type="http://schemas.openxmlformats.org/officeDocument/2006/relationships/notesMaster" Target="/ppt/notesMasters/notesMaster1.xml" Id="R961e911859d6451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29e7ba836ea4604" /><Relationship Type="http://schemas.openxmlformats.org/officeDocument/2006/relationships/notesMaster" Target="/ppt/notesMasters/notesMaster1.xml" Id="R883d232051844b3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7169a3c68724c66" /><Relationship Type="http://schemas.openxmlformats.org/officeDocument/2006/relationships/notesMaster" Target="/ppt/notesMasters/notesMaster1.xml" Id="R88bea3bf551d401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1de60dd54164eda" /><Relationship Type="http://schemas.openxmlformats.org/officeDocument/2006/relationships/notesMaster" Target="/ppt/notesMasters/notesMaster1.xml" Id="R0b24aff83f7b493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e0092c3c9264293" /><Relationship Type="http://schemas.openxmlformats.org/officeDocument/2006/relationships/notesMaster" Target="/ppt/notesMasters/notesMaster1.xml" Id="R9fd1fcf44c9a4e9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71d21c089424686" /><Relationship Type="http://schemas.openxmlformats.org/officeDocument/2006/relationships/notesMaster" Target="/ppt/notesMasters/notesMaster1.xml" Id="R146f77eff356413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aca7615d4bf4be1" /><Relationship Type="http://schemas.openxmlformats.org/officeDocument/2006/relationships/notesMaster" Target="/ppt/notesMasters/notesMaster1.xml" Id="R20aff03de67045a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ba5373c9c02445f" /><Relationship Type="http://schemas.openxmlformats.org/officeDocument/2006/relationships/notesMaster" Target="/ppt/notesMasters/notesMaster1.xml" Id="Rce2a04ac8583489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ac290445fc54727" /><Relationship Type="http://schemas.openxmlformats.org/officeDocument/2006/relationships/notesMaster" Target="/ppt/notesMasters/notesMaster1.xml" Id="R34be7fd4e2cf4fe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b6fedc0189c4456" /><Relationship Type="http://schemas.openxmlformats.org/officeDocument/2006/relationships/notesMaster" Target="/ppt/notesMasters/notesMaster1.xml" Id="R1a935360736243e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97f1bddd788453a" /><Relationship Type="http://schemas.openxmlformats.org/officeDocument/2006/relationships/notesMaster" Target="/ppt/notesMasters/notesMaster1.xml" Id="R5249af0b87024c1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3acdac09b0a422e" /><Relationship Type="http://schemas.openxmlformats.org/officeDocument/2006/relationships/notesMaster" Target="/ppt/notesMasters/notesMaster1.xml" Id="R244846de252f4ce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475b0ba9eca4728" /><Relationship Type="http://schemas.openxmlformats.org/officeDocument/2006/relationships/notesMaster" Target="/ppt/notesMasters/notesMaster1.xml" Id="R06f44102d5f3408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c23b3ecbe4e4292" /><Relationship Type="http://schemas.openxmlformats.org/officeDocument/2006/relationships/notesMaster" Target="/ppt/notesMasters/notesMaster1.xml" Id="Rd1ff6895a27d4f5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9f54be940464806" /><Relationship Type="http://schemas.openxmlformats.org/officeDocument/2006/relationships/notesMaster" Target="/ppt/notesMasters/notesMaster1.xml" Id="Rf290dd321fff4c7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47573c537aa438f" /><Relationship Type="http://schemas.openxmlformats.org/officeDocument/2006/relationships/notesMaster" Target="/ppt/notesMasters/notesMaster1.xml" Id="R005efb4a40c3450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f86fff0210db44c2" /><Relationship Type="http://schemas.openxmlformats.org/officeDocument/2006/relationships/notesMaster" Target="/ppt/notesMasters/notesMaster1.xml" Id="R98caa0d694124e3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0c7b12bfd3a4642" /><Relationship Type="http://schemas.openxmlformats.org/officeDocument/2006/relationships/notesMaster" Target="/ppt/notesMasters/notesMaster1.xml" Id="R5214c2999a1c4e9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73a907532434b56" /><Relationship Type="http://schemas.openxmlformats.org/officeDocument/2006/relationships/notesMaster" Target="/ppt/notesMasters/notesMaster1.xml" Id="R52379fa020bc4de0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d17a083c1d24e4c" /><Relationship Type="http://schemas.openxmlformats.org/officeDocument/2006/relationships/notesMaster" Target="/ppt/notesMasters/notesMaster1.xml" Id="Rb98ae8366ef542a6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9816536b302645d9" /><Relationship Type="http://schemas.openxmlformats.org/officeDocument/2006/relationships/notesMaster" Target="/ppt/notesMasters/notesMaster1.xml" Id="Rc99ea2d5dc8a4d2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58f6367aa5a8492e" /><Relationship Type="http://schemas.openxmlformats.org/officeDocument/2006/relationships/notesMaster" Target="/ppt/notesMasters/notesMaster1.xml" Id="Rd6a4aeee5d894263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4d9e5dfcd3574171" /><Relationship Type="http://schemas.openxmlformats.org/officeDocument/2006/relationships/notesMaster" Target="/ppt/notesMasters/notesMaster1.xml" Id="Rbd795aab9ddd4f55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3d942fa0cc124666" /><Relationship Type="http://schemas.openxmlformats.org/officeDocument/2006/relationships/notesMaster" Target="/ppt/notesMasters/notesMaster1.xml" Id="Rff7742882d9e4963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04a5457d67094b19" /><Relationship Type="http://schemas.openxmlformats.org/officeDocument/2006/relationships/notesMaster" Target="/ppt/notesMasters/notesMaster1.xml" Id="R8cca099d27504c69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70b1124c8e6d4c78" /><Relationship Type="http://schemas.openxmlformats.org/officeDocument/2006/relationships/notesMaster" Target="/ppt/notesMasters/notesMaster1.xml" Id="Re7acdcae04f84905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014a5f81e0be499c" /><Relationship Type="http://schemas.openxmlformats.org/officeDocument/2006/relationships/notesMaster" Target="/ppt/notesMasters/notesMaster1.xml" Id="Rf97840b6f7df44b8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2a293bc86d474c3c" /><Relationship Type="http://schemas.openxmlformats.org/officeDocument/2006/relationships/notesMaster" Target="/ppt/notesMasters/notesMaster1.xml" Id="R67f7b23c116e42ea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2017e4c195164d3c" /><Relationship Type="http://schemas.openxmlformats.org/officeDocument/2006/relationships/notesMaster" Target="/ppt/notesMasters/notesMaster1.xml" Id="R1b3f006298304436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9deccadc5273435c" /><Relationship Type="http://schemas.openxmlformats.org/officeDocument/2006/relationships/notesMaster" Target="/ppt/notesMasters/notesMaster1.xml" Id="Rd66092ab01a64629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3c053ab37412400d" /><Relationship Type="http://schemas.openxmlformats.org/officeDocument/2006/relationships/notesMaster" Target="/ppt/notesMasters/notesMaster1.xml" Id="Rac96b39705f947f3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05ec9a2e76d54a3f" /><Relationship Type="http://schemas.openxmlformats.org/officeDocument/2006/relationships/notesMaster" Target="/ppt/notesMasters/notesMaster1.xml" Id="R5f484afd6bd04413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52657e440fef435e" /><Relationship Type="http://schemas.openxmlformats.org/officeDocument/2006/relationships/notesMaster" Target="/ppt/notesMasters/notesMaster1.xml" Id="R43a4eb17aced4f64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8addaa80572242fa" /><Relationship Type="http://schemas.openxmlformats.org/officeDocument/2006/relationships/notesMaster" Target="/ppt/notesMasters/notesMaster1.xml" Id="R4dd5202794564b23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0cd052b13fe6439e" /><Relationship Type="http://schemas.openxmlformats.org/officeDocument/2006/relationships/notesMaster" Target="/ppt/notesMasters/notesMaster1.xml" Id="R674d0063f03149b2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bfa10b3171774c90" /><Relationship Type="http://schemas.openxmlformats.org/officeDocument/2006/relationships/notesMaster" Target="/ppt/notesMasters/notesMaster1.xml" Id="R1cd91dd805c64567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c428d829e5f64b41" /><Relationship Type="http://schemas.openxmlformats.org/officeDocument/2006/relationships/notesMaster" Target="/ppt/notesMasters/notesMaster1.xml" Id="R4c52614bce98408c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61a1820056b342c9" /><Relationship Type="http://schemas.openxmlformats.org/officeDocument/2006/relationships/notesMaster" Target="/ppt/notesMasters/notesMaster1.xml" Id="Ref607aceac4a4e53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ade73f2cc62b4c0e" /><Relationship Type="http://schemas.openxmlformats.org/officeDocument/2006/relationships/notesMaster" Target="/ppt/notesMasters/notesMaster1.xml" Id="R007f9757d5424b18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44cca690a00c47bf" /><Relationship Type="http://schemas.openxmlformats.org/officeDocument/2006/relationships/notesMaster" Target="/ppt/notesMasters/notesMaster1.xml" Id="R112dc69ba4284458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376c0b7331044af9" /><Relationship Type="http://schemas.openxmlformats.org/officeDocument/2006/relationships/notesMaster" Target="/ppt/notesMasters/notesMaster1.xml" Id="R85eb20a2bdb24562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ce7218415174438b" /><Relationship Type="http://schemas.openxmlformats.org/officeDocument/2006/relationships/notesMaster" Target="/ppt/notesMasters/notesMaster1.xml" Id="R6410a0aa3ac8470c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9c3e7a47c5ad4f29" /><Relationship Type="http://schemas.openxmlformats.org/officeDocument/2006/relationships/notesMaster" Target="/ppt/notesMasters/notesMaster1.xml" Id="R11c31056bc2d46fe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c5330af17f0a4e44" /><Relationship Type="http://schemas.openxmlformats.org/officeDocument/2006/relationships/notesMaster" Target="/ppt/notesMasters/notesMaster1.xml" Id="R828c3cd2e61d4fb8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6e82652969ee4645" /><Relationship Type="http://schemas.openxmlformats.org/officeDocument/2006/relationships/notesMaster" Target="/ppt/notesMasters/notesMaster1.xml" Id="R6f11b6beb99144bb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794e5e51ba0440da" /><Relationship Type="http://schemas.openxmlformats.org/officeDocument/2006/relationships/notesMaster" Target="/ppt/notesMasters/notesMaster1.xml" Id="R504658279bf84ced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bf54b975254b4c76" /><Relationship Type="http://schemas.openxmlformats.org/officeDocument/2006/relationships/notesMaster" Target="/ppt/notesMasters/notesMaster1.xml" Id="R9745dbde60f243ec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2eef21812b8742c5" /><Relationship Type="http://schemas.openxmlformats.org/officeDocument/2006/relationships/notesMaster" Target="/ppt/notesMasters/notesMaster1.xml" Id="R56749b5e8a8c48b3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704c18ea91a04620" /><Relationship Type="http://schemas.openxmlformats.org/officeDocument/2006/relationships/notesMaster" Target="/ppt/notesMasters/notesMaster1.xml" Id="Rfd13e32338e14861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d45d3638152a4d3d" /><Relationship Type="http://schemas.openxmlformats.org/officeDocument/2006/relationships/notesMaster" Target="/ppt/notesMasters/notesMaster1.xml" Id="Rf590ff9a9a8349f6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c02de055d26d4f9e" /><Relationship Type="http://schemas.openxmlformats.org/officeDocument/2006/relationships/notesMaster" Target="/ppt/notesMasters/notesMaster1.xml" Id="Rf25952edb17b459d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21a4dfe30531448c" /><Relationship Type="http://schemas.openxmlformats.org/officeDocument/2006/relationships/notesMaster" Target="/ppt/notesMasters/notesMaster1.xml" Id="Rbab6b86590374682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96d3f4f49d8c4dd8" /><Relationship Type="http://schemas.openxmlformats.org/officeDocument/2006/relationships/notesMaster" Target="/ppt/notesMasters/notesMaster1.xml" Id="Rf10d215e5e36414e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50f43353031545b3" /><Relationship Type="http://schemas.openxmlformats.org/officeDocument/2006/relationships/notesMaster" Target="/ppt/notesMasters/notesMaster1.xml" Id="R1eec1f89c99c4591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74af0f2b363d462d" /><Relationship Type="http://schemas.openxmlformats.org/officeDocument/2006/relationships/notesMaster" Target="/ppt/notesMasters/notesMaster1.xml" Id="R05f29632d7b4435b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3de714d4f3414c3a" /><Relationship Type="http://schemas.openxmlformats.org/officeDocument/2006/relationships/notesMaster" Target="/ppt/notesMasters/notesMaster1.xml" Id="Rb65429bf21d441c5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4bf1de9a51ce421e" /><Relationship Type="http://schemas.openxmlformats.org/officeDocument/2006/relationships/notesMaster" Target="/ppt/notesMasters/notesMaster1.xml" Id="Rd5d46db5f6284f3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 — Informe Mensal de FIDC e cadastro de fundos para PL, cotistas e prestadores.</a:t>
            </a:r>
          </a:p>
          <a:p xmlns:a="http://schemas.openxmlformats.org/drawingml/2006/main">
            <a:r>
              <a:t>- CVM/SRE — ofertas granulares até jun/26: https://dados.cvm.gov.br/dataset/oferta-distrib</a:t>
            </a:r>
          </a:p>
          <a:p xmlns:a="http://schemas.openxmlformats.org/drawingml/2006/main">
            <a:r>
              <a:t>- ANBIMA Data — comparativo de mercado por valor encerrado até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FundosNet/B3 — documentos públicos usados nas análises documentais.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Metodologia: ofertas públicas primárias, status Oferta Encerrada, data de encerramento no período e Valor_Total_Registrado positivo; snapshot 24/jul/26.</a:t>
            </a:r>
          </a:p>
          <a:p xmlns:a="http://schemas.openxmlformats.org/drawingml/2006/main">
            <a:r>
              <a:t>- Limitação: volume registrado pode diferir do valor efetivamente encerrado; taxonomia CVM declarada preservada.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Anexo oficial XLSX, aba 02-02-Vlr e Anexo - Doméstico: https://data-strapi.prd.anbima.com.br/uploads/Boletim_MK_Anexo_8_33b8963678.xlsx</a:t>
            </a:r>
          </a:p>
          <a:p xmlns:a="http://schemas.openxmlformats.org/drawingml/2006/main">
            <a:r>
              <a:t>- Métrica: Valor Encerrado por data de encerramento das ofertas públicas; 2026 considera jan–mai. Debêntures incluem debêntures de securitização.</a:t>
            </a:r>
          </a:p>
          <a:p xmlns:a="http://schemas.openxmlformats.org/drawingml/2006/main">
            <a:r>
              <a:t>- Limitação: o anexo não segrega sistematicamente ofertas primárias e secundárias para renda fixa e fundos e está sujeito a retificações.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Tabelas I, II e IV, 2026-06</a:t>
            </a:r>
          </a:p>
          <a:p xmlns:a="http://schemas.openxmlformats.org/drawingml/2006/main">
            <a:r>
              <a:t>- coorte atual ex-FIC, PL positivo e um único tipo Tabela II; concentração calculada somente entre fundos com inadimplência ajustada positiva</a:t>
            </a:r>
          </a:p>
          <a:p xmlns:a="http://schemas.openxmlformats.org/drawingml/2006/main">
            <a:r>
              <a:t>- fundos com zero, ausência de reporte, atraso de reporte ou inconsistência carteira/inadimplência ficam fora da dispersão; HHI e Gini medem concentração do valor reportado e não causalidade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Tabelas I, II e IV, 2026-06</a:t>
            </a:r>
          </a:p>
          <a:p xmlns:a="http://schemas.openxmlformats.org/drawingml/2006/main">
            <a:r>
              <a:t>- coorte atual ex-FIC, PL positivo e um único tipo Tabela II; concentração calculada somente entre fundos com inadimplência ajustada positiva</a:t>
            </a:r>
          </a:p>
          <a:p xmlns:a="http://schemas.openxmlformats.org/drawingml/2006/main">
            <a:r>
              <a:t>- fundos com zero, ausência de reporte, atraso de reporte ou inconsistência carteira/inadimplência ficam fora da dispersão; HHI e Gini medem concentração do valor reportado e não causalidade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ANBIMA Data, fotografia cadastral de dez/25</a:t>
            </a:r>
          </a:p>
          <a:p xmlns:a="http://schemas.openxmlformats.org/drawingml/2006/main">
            <a:r>
              <a:t>- classificação atual preservada</a:t>
            </a:r>
          </a:p>
          <a:p xmlns:a="http://schemas.openxmlformats.org/drawingml/2006/main">
            <a:r>
              <a:t>- Ranking ordenado pelo PL do universo ex-FIC; a taxonomia não altera a posição do fundo.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ANBIMA Data, fotografia cadastral de dez/25</a:t>
            </a:r>
          </a:p>
          <a:p xmlns:a="http://schemas.openxmlformats.org/drawingml/2006/main">
            <a:r>
              <a:t>- classificação atual preservada</a:t>
            </a:r>
          </a:p>
          <a:p xmlns:a="http://schemas.openxmlformats.org/drawingml/2006/main">
            <a:r>
              <a:t>- Ranking ordenado pelo PL do universo ex-FIC; a taxonomia não altera a posição do fundo.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Tabela II, 2026-06</a:t>
            </a:r>
          </a:p>
          <a:p xmlns:a="http://schemas.openxmlformats.org/drawingml/2006/main">
            <a:r>
              <a:t>- classificação atual preservada</a:t>
            </a:r>
          </a:p>
          <a:p xmlns:a="http://schemas.openxmlformats.org/drawingml/2006/main">
            <a:r>
              <a:t>- Ranking ordenado pelo PL do universo ex-FIC; a taxonomia não altera a posição do fundo.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Tabela II, 2026-06</a:t>
            </a:r>
          </a:p>
          <a:p xmlns:a="http://schemas.openxmlformats.org/drawingml/2006/main">
            <a:r>
              <a:t>- somente CNPJs com decisão Incluído em Adquirência são exibidos em Adquirência; Tabela II original preservada na visão reportada</a:t>
            </a:r>
          </a:p>
          <a:p xmlns:a="http://schemas.openxmlformats.org/drawingml/2006/main">
            <a:r>
              <a:t>- Ranking ordenado pelo PL do universo ex-FIC; a taxonomia não altera a posição do fundo.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regime de colocação conforme declarado na oferta; campo ausente nos arquivos consultados = Não informado.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Limitação: a base pública recuperada contém sete ofertas legadas encerradas em 2022; o período é parcial e não sustenta Top 15 anual completo.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Data — comparativo de mercado por valor encerrado, snapshot mai/26; 2026 = jan–mai: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ANBIMA — anexo oficial XLSX: https://data-strapi.prd.anbima.com.br/uploads/Boletim_MK_Anexo_8_33b8963678.xlsx</a:t>
            </a:r>
          </a:p>
          <a:p xmlns:a="http://schemas.openxmlformats.org/drawingml/2006/main">
            <a:r>
              <a:t>- FundosNet/B3 — documentos públicos usados na conciliação de ratings.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628703f3ea477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c48af16fe1f4730" /><Relationship Type="http://schemas.openxmlformats.org/officeDocument/2006/relationships/slideLayout" Target="/ppt/slideLayouts/slideLayout1.xml" Id="R0ed3f3b6352042d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ed3f3b6352042d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b0311741944f5b" /><Relationship Type="http://schemas.openxmlformats.org/officeDocument/2006/relationships/notesSlide" Target="/ppt/notesSlides/notesSlide1.xml" Id="Rbfee7785466f4af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b09017555e48a0" /><Relationship Type="http://schemas.openxmlformats.org/officeDocument/2006/relationships/notesSlide" Target="/ppt/notesSlides/notesSlide2.xml" Id="Rb5a10de4466a46f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6adb827eec4b0c" /><Relationship Type="http://schemas.openxmlformats.org/officeDocument/2006/relationships/chart" Target="/ppt/slides/charts/chart1.xml" Id="R0b250f842d724ee2" /><Relationship Type="http://schemas.openxmlformats.org/officeDocument/2006/relationships/chart" Target="/ppt/slides/charts/chart2.xml" Id="R91842523232c419e" /><Relationship Type="http://schemas.openxmlformats.org/officeDocument/2006/relationships/chart" Target="/ppt/slides/charts/chart3.xml" Id="R616ef20344f04d48" /><Relationship Type="http://schemas.openxmlformats.org/officeDocument/2006/relationships/notesSlide" Target="/ppt/notesSlides/notesSlide3.xml" Id="R0ac32fc70dc3486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63532df5714079" /><Relationship Type="http://schemas.openxmlformats.org/officeDocument/2006/relationships/chart" Target="/ppt/slides/charts/chart4.xml" Id="R8283a7643f204dd5" /><Relationship Type="http://schemas.openxmlformats.org/officeDocument/2006/relationships/chart" Target="/ppt/slides/charts/chart5.xml" Id="R73f0f0852e0e4fef" /><Relationship Type="http://schemas.openxmlformats.org/officeDocument/2006/relationships/notesSlide" Target="/ppt/notesSlides/notesSlide4.xml" Id="R716f57f1d7c1440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6aec4d9c67453a" /><Relationship Type="http://schemas.openxmlformats.org/officeDocument/2006/relationships/chart" Target="/ppt/slides/charts/chart6.xml" Id="R632723d0d945461b" /><Relationship Type="http://schemas.openxmlformats.org/officeDocument/2006/relationships/notesSlide" Target="/ppt/notesSlides/notesSlide5.xml" Id="Ra808ecfe540341f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13468e5c564ab3" /><Relationship Type="http://schemas.openxmlformats.org/officeDocument/2006/relationships/chart" Target="/ppt/slides/charts/chart7.xml" Id="Rada955a495244c87" /><Relationship Type="http://schemas.openxmlformats.org/officeDocument/2006/relationships/chart" Target="/ppt/slides/charts/chart8.xml" Id="Re5dcc229798e45c1" /><Relationship Type="http://schemas.openxmlformats.org/officeDocument/2006/relationships/chart" Target="/ppt/slides/charts/chart9.xml" Id="R35ccda164c3142b4" /><Relationship Type="http://schemas.openxmlformats.org/officeDocument/2006/relationships/notesSlide" Target="/ppt/notesSlides/notesSlide6.xml" Id="Rf12705fec637469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00e9b03d3a4691" /><Relationship Type="http://schemas.openxmlformats.org/officeDocument/2006/relationships/chart" Target="/ppt/slides/charts/chart10.xml" Id="R3e058689fffc4b5f" /><Relationship Type="http://schemas.openxmlformats.org/officeDocument/2006/relationships/chart" Target="/ppt/slides/charts/chart11.xml" Id="Re7d3a1f9ef3e407b" /><Relationship Type="http://schemas.openxmlformats.org/officeDocument/2006/relationships/chart" Target="/ppt/slides/charts/chart12.xml" Id="R274976b5f2f34141" /><Relationship Type="http://schemas.openxmlformats.org/officeDocument/2006/relationships/chart" Target="/ppt/slides/charts/chart13.xml" Id="Rc89cc1e8810c4734" /><Relationship Type="http://schemas.openxmlformats.org/officeDocument/2006/relationships/chart" Target="/ppt/slides/charts/chart14.xml" Id="R651b46f396084688" /><Relationship Type="http://schemas.openxmlformats.org/officeDocument/2006/relationships/notesSlide" Target="/ppt/notesSlides/notesSlide7.xml" Id="Raa93bb94184f455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16f29682124ee6" /><Relationship Type="http://schemas.openxmlformats.org/officeDocument/2006/relationships/chart" Target="/ppt/slides/charts/chart15.xml" Id="R1994f2a2d5544050" /><Relationship Type="http://schemas.openxmlformats.org/officeDocument/2006/relationships/chart" Target="/ppt/slides/charts/chart16.xml" Id="R5cc87f14bb24427f" /><Relationship Type="http://schemas.openxmlformats.org/officeDocument/2006/relationships/chart" Target="/ppt/slides/charts/chart17.xml" Id="R6f3d12d84d2a447e" /><Relationship Type="http://schemas.openxmlformats.org/officeDocument/2006/relationships/notesSlide" Target="/ppt/notesSlides/notesSlide8.xml" Id="R1620f348d739493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4cdcd3a71f4ea0" /><Relationship Type="http://schemas.openxmlformats.org/officeDocument/2006/relationships/chart" Target="/ppt/slides/charts/chart18.xml" Id="R02652cd7752349b1" /><Relationship Type="http://schemas.openxmlformats.org/officeDocument/2006/relationships/chart" Target="/ppt/slides/charts/chart19.xml" Id="Rd0c1b5a3d6a34f28" /><Relationship Type="http://schemas.openxmlformats.org/officeDocument/2006/relationships/chart" Target="/ppt/slides/charts/chart20.xml" Id="Rd5a6093867fc4776" /><Relationship Type="http://schemas.openxmlformats.org/officeDocument/2006/relationships/notesSlide" Target="/ppt/notesSlides/notesSlide9.xml" Id="R56995074c1034f6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218c1bf5cb4a00" /><Relationship Type="http://schemas.openxmlformats.org/officeDocument/2006/relationships/chart" Target="/ppt/slides/charts/chart21.xml" Id="R7ad8869c18014f24" /><Relationship Type="http://schemas.openxmlformats.org/officeDocument/2006/relationships/chart" Target="/ppt/slides/charts/chart22.xml" Id="Rf72c7ef9a56647ee" /><Relationship Type="http://schemas.openxmlformats.org/officeDocument/2006/relationships/chart" Target="/ppt/slides/charts/chart23.xml" Id="Rab162ff543a24c9e" /><Relationship Type="http://schemas.openxmlformats.org/officeDocument/2006/relationships/notesSlide" Target="/ppt/notesSlides/notesSlide10.xml" Id="R4872fa7fb3a54ed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0ac12c509e44fd" /><Relationship Type="http://schemas.openxmlformats.org/officeDocument/2006/relationships/chart" Target="/ppt/slides/charts/chart24.xml" Id="R44bdbaebc2d94174" /><Relationship Type="http://schemas.openxmlformats.org/officeDocument/2006/relationships/notesSlide" Target="/ppt/notesSlides/notesSlide11.xml" Id="R2223ebd983ae4ef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592baee05d4b73" /><Relationship Type="http://schemas.openxmlformats.org/officeDocument/2006/relationships/chart" Target="/ppt/slides/charts/chart25.xml" Id="R4a824e98214341d2" /><Relationship Type="http://schemas.openxmlformats.org/officeDocument/2006/relationships/chart" Target="/ppt/slides/charts/chart26.xml" Id="R328b44de75c6430f" /><Relationship Type="http://schemas.openxmlformats.org/officeDocument/2006/relationships/notesSlide" Target="/ppt/notesSlides/notesSlide12.xml" Id="Rb8766e23c2384cc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6abad3ac034802" /><Relationship Type="http://schemas.openxmlformats.org/officeDocument/2006/relationships/chart" Target="/ppt/slides/charts/chart27.xml" Id="R697d38730ffd4d38" /><Relationship Type="http://schemas.openxmlformats.org/officeDocument/2006/relationships/chart" Target="/ppt/slides/charts/chart28.xml" Id="R43c27f91f99348e4" /><Relationship Type="http://schemas.openxmlformats.org/officeDocument/2006/relationships/notesSlide" Target="/ppt/notesSlides/notesSlide13.xml" Id="R44c97626bc234c3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d606e23f194a4c" /><Relationship Type="http://schemas.openxmlformats.org/officeDocument/2006/relationships/chart" Target="/ppt/slides/charts/chart29.xml" Id="Rf05d8631aa144713" /><Relationship Type="http://schemas.openxmlformats.org/officeDocument/2006/relationships/chart" Target="/ppt/slides/charts/chart30.xml" Id="R812f7af7095c4be9" /><Relationship Type="http://schemas.openxmlformats.org/officeDocument/2006/relationships/notesSlide" Target="/ppt/notesSlides/notesSlide14.xml" Id="R5816e3178d574b5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19f7f3d0da400b" /><Relationship Type="http://schemas.openxmlformats.org/officeDocument/2006/relationships/notesSlide" Target="/ppt/notesSlides/notesSlide15.xml" Id="R3f34c30a1dd34dd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6093a859ef4918" /><Relationship Type="http://schemas.openxmlformats.org/officeDocument/2006/relationships/notesSlide" Target="/ppt/notesSlides/notesSlide16.xml" Id="Re87d119cd209493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d449208db74c67" /><Relationship Type="http://schemas.openxmlformats.org/officeDocument/2006/relationships/chart" Target="/ppt/slides/charts/chart31.xml" Id="R458d0a561ec04195" /><Relationship Type="http://schemas.openxmlformats.org/officeDocument/2006/relationships/chart" Target="/ppt/slides/charts/chart32.xml" Id="R59816e6080a940ce" /><Relationship Type="http://schemas.openxmlformats.org/officeDocument/2006/relationships/chart" Target="/ppt/slides/charts/chart33.xml" Id="Re2c72a74df344cbc" /><Relationship Type="http://schemas.openxmlformats.org/officeDocument/2006/relationships/notesSlide" Target="/ppt/notesSlides/notesSlide17.xml" Id="R1f96facb782541c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33a8a472ef49f3" /><Relationship Type="http://schemas.openxmlformats.org/officeDocument/2006/relationships/notesSlide" Target="/ppt/notesSlides/notesSlide18.xml" Id="R752755c798de42e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2d124887d34830" /><Relationship Type="http://schemas.openxmlformats.org/officeDocument/2006/relationships/notesSlide" Target="/ppt/notesSlides/notesSlide19.xml" Id="R30317fc6a9474c3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d819705fe74b2e" /><Relationship Type="http://schemas.openxmlformats.org/officeDocument/2006/relationships/notesSlide" Target="/ppt/notesSlides/notesSlide20.xml" Id="R3029d2197fd84c8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9e259696914cad" /><Relationship Type="http://schemas.openxmlformats.org/officeDocument/2006/relationships/notesSlide" Target="/ppt/notesSlides/notesSlide21.xml" Id="R1aff8607a2cd4e3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3a0e4adf4f4208" /><Relationship Type="http://schemas.openxmlformats.org/officeDocument/2006/relationships/notesSlide" Target="/ppt/notesSlides/notesSlide22.xml" Id="Rf0c1ff51a4a8402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a6be35adbd4e2d" /><Relationship Type="http://schemas.openxmlformats.org/officeDocument/2006/relationships/notesSlide" Target="/ppt/notesSlides/notesSlide23.xml" Id="R66eb6a26c8774e3a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53471f694a46a8" /><Relationship Type="http://schemas.openxmlformats.org/officeDocument/2006/relationships/chart" Target="/ppt/slides/charts/chart34.xml" Id="R3aaed9a74d114a94" /><Relationship Type="http://schemas.openxmlformats.org/officeDocument/2006/relationships/notesSlide" Target="/ppt/notesSlides/notesSlide24.xml" Id="Rcacb1d3b07e44c35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06111bfed54452" /><Relationship Type="http://schemas.openxmlformats.org/officeDocument/2006/relationships/notesSlide" Target="/ppt/notesSlides/notesSlide25.xml" Id="R1cf6175e1418406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7472b5ca8e4d8f" /><Relationship Type="http://schemas.openxmlformats.org/officeDocument/2006/relationships/chart" Target="/ppt/slides/charts/chart35.xml" Id="R42d68c51a2ee4ffb" /><Relationship Type="http://schemas.openxmlformats.org/officeDocument/2006/relationships/chart" Target="/ppt/slides/charts/chart36.xml" Id="R07f1469f23734fe1" /><Relationship Type="http://schemas.openxmlformats.org/officeDocument/2006/relationships/chart" Target="/ppt/slides/charts/chart37.xml" Id="R49ca4e6aa04d49b9" /><Relationship Type="http://schemas.openxmlformats.org/officeDocument/2006/relationships/notesSlide" Target="/ppt/notesSlides/notesSlide26.xml" Id="R4fdad485ab434d8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1cbab4306548c0" /><Relationship Type="http://schemas.openxmlformats.org/officeDocument/2006/relationships/chart" Target="/ppt/slides/charts/chart38.xml" Id="Rd8191c01b9b74768" /><Relationship Type="http://schemas.openxmlformats.org/officeDocument/2006/relationships/chart" Target="/ppt/slides/charts/chart39.xml" Id="Rdf3984eb62e1453e" /><Relationship Type="http://schemas.openxmlformats.org/officeDocument/2006/relationships/chart" Target="/ppt/slides/charts/chart40.xml" Id="R9660547327684eff" /><Relationship Type="http://schemas.openxmlformats.org/officeDocument/2006/relationships/chart" Target="/ppt/slides/charts/chart41.xml" Id="R39bca2e30aeb48b1" /><Relationship Type="http://schemas.openxmlformats.org/officeDocument/2006/relationships/notesSlide" Target="/ppt/notesSlides/notesSlide27.xml" Id="R1a55087b365f4f71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a34b77dde1465d" /><Relationship Type="http://schemas.openxmlformats.org/officeDocument/2006/relationships/chart" Target="/ppt/slides/charts/chart42.xml" Id="Ree42c32007a54d98" /><Relationship Type="http://schemas.openxmlformats.org/officeDocument/2006/relationships/chart" Target="/ppt/slides/charts/chart43.xml" Id="R6fb93f9b1a8c40c6" /><Relationship Type="http://schemas.openxmlformats.org/officeDocument/2006/relationships/chart" Target="/ppt/slides/charts/chart44.xml" Id="R4414ee0c2132438f" /><Relationship Type="http://schemas.openxmlformats.org/officeDocument/2006/relationships/chart" Target="/ppt/slides/charts/chart45.xml" Id="R290acccdceb044bd" /><Relationship Type="http://schemas.openxmlformats.org/officeDocument/2006/relationships/chart" Target="/ppt/slides/charts/chart46.xml" Id="Rec7ab8e0ff0d44aa" /><Relationship Type="http://schemas.openxmlformats.org/officeDocument/2006/relationships/notesSlide" Target="/ppt/notesSlides/notesSlide28.xml" Id="R061ecea17c0546e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84d59998d042bc" /><Relationship Type="http://schemas.openxmlformats.org/officeDocument/2006/relationships/notesSlide" Target="/ppt/notesSlides/notesSlide29.xml" Id="Ra878ba4f3f2c4ea3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d938fbed6b45f9" /><Relationship Type="http://schemas.openxmlformats.org/officeDocument/2006/relationships/notesSlide" Target="/ppt/notesSlides/notesSlide30.xml" Id="Rf35226dacff943b9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f5c6734d1a4652" /><Relationship Type="http://schemas.openxmlformats.org/officeDocument/2006/relationships/notesSlide" Target="/ppt/notesSlides/notesSlide31.xml" Id="R4bc292fc819a436b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ad51f6a2104ac2" /><Relationship Type="http://schemas.openxmlformats.org/officeDocument/2006/relationships/notesSlide" Target="/ppt/notesSlides/notesSlide32.xml" Id="R7aed4067321a4815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a8434bf4dd4cb9" /><Relationship Type="http://schemas.openxmlformats.org/officeDocument/2006/relationships/notesSlide" Target="/ppt/notesSlides/notesSlide33.xml" Id="R25ae20f479e74dab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fdb265db3d482f" /><Relationship Type="http://schemas.openxmlformats.org/officeDocument/2006/relationships/notesSlide" Target="/ppt/notesSlides/notesSlide34.xml" Id="R38811bb66c184437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ee44f73c284f72" /><Relationship Type="http://schemas.openxmlformats.org/officeDocument/2006/relationships/notesSlide" Target="/ppt/notesSlides/notesSlide35.xml" Id="Rbb5c64965144482a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bc8249a54d4a71" /><Relationship Type="http://schemas.openxmlformats.org/officeDocument/2006/relationships/notesSlide" Target="/ppt/notesSlides/notesSlide36.xml" Id="R3f7ebd5dacba441c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ba1a74e067411a" /><Relationship Type="http://schemas.openxmlformats.org/officeDocument/2006/relationships/notesSlide" Target="/ppt/notesSlides/notesSlide37.xml" Id="R5895e6c595364c75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d32434de474e7e" /><Relationship Type="http://schemas.openxmlformats.org/officeDocument/2006/relationships/notesSlide" Target="/ppt/notesSlides/notesSlide38.xml" Id="Ra62cf783b5804198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500d045f9c4071" /><Relationship Type="http://schemas.openxmlformats.org/officeDocument/2006/relationships/notesSlide" Target="/ppt/notesSlides/notesSlide39.xml" Id="Rfc82a0fc61c2418b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2984f8484940b1" /><Relationship Type="http://schemas.openxmlformats.org/officeDocument/2006/relationships/notesSlide" Target="/ppt/notesSlides/notesSlide40.xml" Id="Rc6b9d510b87b454b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07e19893ca41a0" /><Relationship Type="http://schemas.openxmlformats.org/officeDocument/2006/relationships/notesSlide" Target="/ppt/notesSlides/notesSlide41.xml" Id="R7d5324db68ee47fc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d1eb3db7d446fd" /><Relationship Type="http://schemas.openxmlformats.org/officeDocument/2006/relationships/notesSlide" Target="/ppt/notesSlides/notesSlide42.xml" Id="R9607df0b2fcf4d6e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fbf01eb71044cc" /><Relationship Type="http://schemas.openxmlformats.org/officeDocument/2006/relationships/notesSlide" Target="/ppt/notesSlides/notesSlide43.xml" Id="R6dce9daf5b0d4878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ac55ed7f1445d7" /><Relationship Type="http://schemas.openxmlformats.org/officeDocument/2006/relationships/notesSlide" Target="/ppt/notesSlides/notesSlide44.xml" Id="R6f2ff79016344690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17334d96d04840" /><Relationship Type="http://schemas.openxmlformats.org/officeDocument/2006/relationships/notesSlide" Target="/ppt/notesSlides/notesSlide45.xml" Id="R6151ab9fd32a4385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658da5e5b54c0d" /><Relationship Type="http://schemas.openxmlformats.org/officeDocument/2006/relationships/notesSlide" Target="/ppt/notesSlides/notesSlide46.xml" Id="Re4cf3e1262ac466a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a6abfdded2405a" /><Relationship Type="http://schemas.openxmlformats.org/officeDocument/2006/relationships/notesSlide" Target="/ppt/notesSlides/notesSlide47.xml" Id="R99078a398ffa4dd5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48a196e2a44357" /><Relationship Type="http://schemas.openxmlformats.org/officeDocument/2006/relationships/notesSlide" Target="/ppt/notesSlides/notesSlide48.xml" Id="R233d3a063c5848e4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c300dfc6564a45" /><Relationship Type="http://schemas.openxmlformats.org/officeDocument/2006/relationships/notesSlide" Target="/ppt/notesSlides/notesSlide49.xml" Id="R4d7f6a0ce1c14c3f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d040736cbd45d7" /><Relationship Type="http://schemas.openxmlformats.org/officeDocument/2006/relationships/notesSlide" Target="/ppt/notesSlides/notesSlide50.xml" Id="R07d60673e50e4f9f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698b19c5764c96" /><Relationship Type="http://schemas.openxmlformats.org/officeDocument/2006/relationships/notesSlide" Target="/ppt/notesSlides/notesSlide51.xml" Id="R1b2e5d73f1474a55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9d737bf33c4429" /><Relationship Type="http://schemas.openxmlformats.org/officeDocument/2006/relationships/notesSlide" Target="/ppt/notesSlides/notesSlide52.xml" Id="Raf83019c0a204c5f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96b46bceda46f9" /><Relationship Type="http://schemas.openxmlformats.org/officeDocument/2006/relationships/notesSlide" Target="/ppt/notesSlides/notesSlide53.xml" Id="R147049b6adfb4c0a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b2a2e5610d47d0" /><Relationship Type="http://schemas.openxmlformats.org/officeDocument/2006/relationships/chart" Target="/ppt/slides/charts/chart47.xml" Id="Rd31d04504427436b" /><Relationship Type="http://schemas.openxmlformats.org/officeDocument/2006/relationships/chart" Target="/ppt/slides/charts/chart48.xml" Id="Re446f73e00d24dff" /><Relationship Type="http://schemas.openxmlformats.org/officeDocument/2006/relationships/chart" Target="/ppt/slides/charts/chart49.xml" Id="Rfbf870d2860046c5" /><Relationship Type="http://schemas.openxmlformats.org/officeDocument/2006/relationships/chart" Target="/ppt/slides/charts/chart50.xml" Id="R88f6a18941bd4b5f" /><Relationship Type="http://schemas.openxmlformats.org/officeDocument/2006/relationships/chart" Target="/ppt/slides/charts/chart51.xml" Id="R53d464c0534040b6" /><Relationship Type="http://schemas.openxmlformats.org/officeDocument/2006/relationships/chart" Target="/ppt/slides/charts/chart52.xml" Id="Rda2c963c7ed04261" /><Relationship Type="http://schemas.openxmlformats.org/officeDocument/2006/relationships/chart" Target="/ppt/slides/charts/chart53.xml" Id="Rf22b3f8494824e9f" /><Relationship Type="http://schemas.openxmlformats.org/officeDocument/2006/relationships/notesSlide" Target="/ppt/notesSlides/notesSlide54.xml" Id="R46dfff0647b54ef4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af86bb257645a1" /><Relationship Type="http://schemas.openxmlformats.org/officeDocument/2006/relationships/chart" Target="/ppt/slides/charts/chart54.xml" Id="R97c5198dd0074d8e" /><Relationship Type="http://schemas.openxmlformats.org/officeDocument/2006/relationships/notesSlide" Target="/ppt/notesSlides/notesSlide55.xml" Id="R007ae3cdbbc14ac6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47b939d912463d" /><Relationship Type="http://schemas.openxmlformats.org/officeDocument/2006/relationships/chart" Target="/ppt/slides/charts/chart55.xml" Id="R8ae1bf34be41489e" /><Relationship Type="http://schemas.openxmlformats.org/officeDocument/2006/relationships/chart" Target="/ppt/slides/charts/chart56.xml" Id="R7bd8faa39a7945d9" /><Relationship Type="http://schemas.openxmlformats.org/officeDocument/2006/relationships/notesSlide" Target="/ppt/notesSlides/notesSlide56.xml" Id="R698025b262de4222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0f8dbe11b44651" /><Relationship Type="http://schemas.openxmlformats.org/officeDocument/2006/relationships/chart" Target="/ppt/slides/charts/chart57.xml" Id="R5b438e4735d546b7" /><Relationship Type="http://schemas.openxmlformats.org/officeDocument/2006/relationships/notesSlide" Target="/ppt/notesSlides/notesSlide57.xml" Id="R41caa126855c438e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25b76ec9a34c97" /><Relationship Type="http://schemas.openxmlformats.org/officeDocument/2006/relationships/chart" Target="/ppt/slides/charts/chart58.xml" Id="R4ed556d05b55470b" /><Relationship Type="http://schemas.openxmlformats.org/officeDocument/2006/relationships/notesSlide" Target="/ppt/notesSlides/notesSlide58.xml" Id="R9a59a97aca6f43f4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9a8295741a4d77" /><Relationship Type="http://schemas.openxmlformats.org/officeDocument/2006/relationships/chart" Target="/ppt/slides/charts/chart59.xml" Id="Rff4e22c3c04e4140" /><Relationship Type="http://schemas.openxmlformats.org/officeDocument/2006/relationships/notesSlide" Target="/ppt/notesSlides/notesSlide59.xml" Id="R0f03b4d3025b4e2c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6da7dfe1bf43da" /><Relationship Type="http://schemas.openxmlformats.org/officeDocument/2006/relationships/chart" Target="/ppt/slides/charts/chart60.xml" Id="R95676eace7464ff5" /><Relationship Type="http://schemas.openxmlformats.org/officeDocument/2006/relationships/notesSlide" Target="/ppt/notesSlides/notesSlide60.xml" Id="Rc2ab3697da82442b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da50cfd58c46d6" /><Relationship Type="http://schemas.openxmlformats.org/officeDocument/2006/relationships/chart" Target="/ppt/slides/charts/chart61.xml" Id="R96721d78539e4009" /><Relationship Type="http://schemas.openxmlformats.org/officeDocument/2006/relationships/notesSlide" Target="/ppt/notesSlides/notesSlide61.xml" Id="R7d0504b4f85048f5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4f857ec58e419b" /><Relationship Type="http://schemas.openxmlformats.org/officeDocument/2006/relationships/chart" Target="/ppt/slides/charts/chart62.xml" Id="R08ba564ee2264593" /><Relationship Type="http://schemas.openxmlformats.org/officeDocument/2006/relationships/notesSlide" Target="/ppt/notesSlides/notesSlide62.xml" Id="R9c2c71470ce144c3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273bff09e14805" /><Relationship Type="http://schemas.openxmlformats.org/officeDocument/2006/relationships/notesSlide" Target="/ppt/notesSlides/notesSlide63.xml" Id="R234af4a46f4b4f34" 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PL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[&gt;=1000]#\.##0;0</c:formatCode>
              <c:ptCount val="12"/>
              <c:pt idx="0">
                <c:v>82.47394622656002</c:v>
              </c:pt>
              <c:pt idx="1">
                <c:v>91.06663976073001</c:v>
              </c:pt>
              <c:pt idx="2">
                <c:v>110.23395407848999</c:v>
              </c:pt>
              <c:pt idx="3">
                <c:v>131.21875156630003</c:v>
              </c:pt>
              <c:pt idx="4">
                <c:v>229.98374932763</c:v>
              </c:pt>
              <c:pt idx="5">
                <c:v>209.08922654930998</c:v>
              </c:pt>
              <c:pt idx="6">
                <c:v>298.49643822765995</c:v>
              </c:pt>
              <c:pt idx="7">
                <c:v>365.94088087975</c:v>
              </c:pt>
              <c:pt idx="8">
                <c:v>461.75630329412</c:v>
              </c:pt>
              <c:pt idx="9">
                <c:v>682.8970336474498</c:v>
              </c:pt>
              <c:pt idx="10">
                <c:v>833.21732156482</c:v>
              </c:pt>
              <c:pt idx="11">
                <c:v>880.3753465023101</c:v>
              </c:pt>
            </c:numLit>
          </c:val>
        </c:ser>
        <c:gapWidth val="52"/>
        <c:axId val="48650112"/>
        <c:axId val="48672768"/>
      </c:barChart>
      <c:lineChart>
        <c:grouping val="standard"/>
        <c:varyColors val="0"/>
        <c:ser>
          <c:idx val="1"/>
          <c:order val="1"/>
          <c:tx>
            <c:strLit>
              <c:ptCount val="1"/>
              <c:pt idx="0">
                <c:v>Total</c:v>
              </c:pt>
            </c:strLit>
          </c:tx>
          <c:spPr>
            <a:ln>
              <a:noFill/>
            </a:ln>
          </c:spPr>
          <c:marker>
            <c:symbol val="none"/>
            <c:size val="2"/>
          </c:marke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</c:formatCode>
              <c:ptCount val="12"/>
              <c:pt idx="0">
                <c:v>82.4739462266</c:v>
              </c:pt>
              <c:pt idx="1">
                <c:v>91.0666397607</c:v>
              </c:pt>
              <c:pt idx="2">
                <c:v>110.233954078</c:v>
              </c:pt>
              <c:pt idx="3">
                <c:v>131.218751566</c:v>
              </c:pt>
              <c:pt idx="4">
                <c:v>229.983749328</c:v>
              </c:pt>
              <c:pt idx="5">
                <c:v>209.089226549</c:v>
              </c:pt>
              <c:pt idx="6">
                <c:v>298.496438228</c:v>
              </c:pt>
              <c:pt idx="7">
                <c:v>365.94088088</c:v>
              </c:pt>
              <c:pt idx="8">
                <c:v>461.756303294</c:v>
              </c:pt>
              <c:pt idx="9">
                <c:v>682.897033647</c:v>
              </c:pt>
              <c:pt idx="10">
                <c:v>833.217321565</c:v>
              </c:pt>
              <c:pt idx="11">
                <c:v>880.375346502</c:v>
              </c:pt>
            </c:numLit>
          </c:val>
          <c:dLbls>
            <c:dLblPos val="inEnd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850" b="1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7617.175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1533.136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70.86095119410001</c:v>
              </c:pt>
              <c:pt idx="1">
                <c:v>82.19072984</c:v>
              </c:pt>
              <c:pt idx="2">
                <c:v>95.75352406850999</c:v>
              </c:pt>
              <c:pt idx="3">
                <c:v>106.12068752539999</c:v>
              </c:pt>
              <c:pt idx="4">
                <c:v>182.22866537173002</c:v>
              </c:pt>
              <c:pt idx="5">
                <c:v>160.17258675028998</c:v>
              </c:pt>
              <c:pt idx="6">
                <c:v>250.02515732651</c:v>
              </c:pt>
              <c:pt idx="7">
                <c:v>304.88729907795</c:v>
              </c:pt>
              <c:pt idx="8">
                <c:v>387.7969193108501</c:v>
              </c:pt>
              <c:pt idx="9">
                <c:v>549.9166688619099</c:v>
              </c:pt>
              <c:pt idx="10">
                <c:v>641.37597886001</c:v>
              </c:pt>
              <c:pt idx="11">
                <c:v>670.4811522614399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72.64204880589999</c:v>
              </c:pt>
              <c:pt idx="1">
                <c:v>91.52627016</c:v>
              </c:pt>
              <c:pt idx="2">
                <c:v>112.90947593149001</c:v>
              </c:pt>
              <c:pt idx="3">
                <c:v>121.5283124746</c:v>
              </c:pt>
              <c:pt idx="4">
                <c:v>128.34033462827</c:v>
              </c:pt>
              <c:pt idx="5">
                <c:v>127.67341324971002</c:v>
              </c:pt>
              <c:pt idx="6">
                <c:v>183.94284267349</c:v>
              </c:pt>
              <c:pt idx="7">
                <c:v>261.46670092205</c:v>
              </c:pt>
              <c:pt idx="8">
                <c:v>334.0110806891499</c:v>
              </c:pt>
              <c:pt idx="9">
                <c:v>444.7183311380901</c:v>
              </c:pt>
              <c:pt idx="10">
                <c:v>452.00202113999</c:v>
              </c:pt>
              <c:pt idx="11">
                <c:v>486.4528477385601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3364.88</c:v>
              </c:pt>
            </c:numLit>
          </c:val>
        </c:ser>
        <c:dLbls>
          <c:txPr>
            <a:bodyPr anchorCtr="1"/>
            <a:lstStyle/>
            <a:p>
              <a:pPr>
                <a:defRPr sz="435" b="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strLit>
              <c:ptCount val="1"/>
              <c:pt idx="0">
                <c:v>Total</c:v>
              </c:pt>
            </c:strLit>
          </c:tx>
          <c:spPr>
            <a:ln>
              <a:noFill/>
            </a:ln>
          </c:spPr>
          <c:marker>
            <c:symbol val="none"/>
            <c:size val="2"/>
          </c:marke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13672.125</c:v>
              </c:pt>
            </c:numLit>
          </c:val>
          <c:dLbls>
            <c:dLblPos val="inEnd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850" b="1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securitizações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Dívida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26.47628619356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50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26.47628619356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229.291431673</c:v>
              </c:pt>
              <c:pt idx="1">
                <c:v>472.8632475001801</c:v>
              </c:pt>
              <c:pt idx="2">
                <c:v>453.66557470805</c:v>
              </c:pt>
              <c:pt idx="3">
                <c:v>148.028583447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47.3460402706</c:v>
              </c:pt>
              <c:pt idx="1">
                <c:v>57.687766747050006</c:v>
              </c:pt>
              <c:pt idx="2">
                <c:v>54.329561267269995</c:v>
              </c:pt>
              <c:pt idx="3">
                <c:v>22.11693260334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25.407368005</c:v>
              </c:pt>
              <c:pt idx="1">
                <c:v>45.7676395</c:v>
              </c:pt>
              <c:pt idx="2">
                <c:v>53.583946853</c:v>
              </c:pt>
              <c:pt idx="3">
                <c:v>28.60619646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51.149282621699996</c:v>
              </c:pt>
              <c:pt idx="1">
                <c:v>41.832471</c:v>
              </c:pt>
              <c:pt idx="2">
                <c:v>47.202138266949994</c:v>
              </c:pt>
              <c:pt idx="3">
                <c:v>7.291704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146.3144924010112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41.64812990194184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15.66562156942634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17.089791033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5.36268</c:v>
              </c:pt>
            </c:numLit>
          </c:val>
        </c:ser>
        <c:dLbls>
          <c:txPr>
            <a:bodyPr anchorCtr="1"/>
            <a:lstStyle/>
            <a:p>
              <a:pPr>
                <a:defRPr sz="54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90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/>
              </c:pt>
              <c:pt idx="2">
                <c:v/>
              </c:pt>
              <c:pt idx="3">
                <c:v>2018</c:v>
              </c:pt>
              <c:pt idx="4">
                <c:v/>
              </c:pt>
              <c:pt idx="5">
                <c:v/>
              </c:pt>
              <c:pt idx="6">
                <c:v>2021</c:v>
              </c:pt>
              <c:pt idx="7">
                <c:v/>
              </c:pt>
              <c:pt idx="8">
                <c:v/>
              </c:pt>
              <c:pt idx="9">
                <c:v>2024</c:v>
              </c:pt>
              <c:pt idx="10">
                <c:v/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dLbls>
          <c:txPr>
            <a:bodyPr anchorCtr="1"/>
            <a:lstStyle/>
            <a:p>
              <a:pPr>
                <a:defRPr sz="563" b="1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50.88905009467</c:v>
              </c:pt>
              <c:pt idx="1">
                <c:v>65.33776656658</c:v>
              </c:pt>
              <c:pt idx="2">
                <c:v>81.70753862344999</c:v>
              </c:pt>
              <c:pt idx="3">
                <c:v>86.65656370392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119.06650336766</c:v>
              </c:pt>
              <c:pt idx="1">
                <c:v>187.83835901057998</c:v>
              </c:pt>
              <c:pt idx="2">
                <c:v>166.6673864538</c:v>
              </c:pt>
              <c:pt idx="3">
                <c:v>189.2379048169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119.92760539484</c:v>
              </c:pt>
              <c:pt idx="1">
                <c:v>168.15979170238</c:v>
              </c:pt>
              <c:pt idx="2">
                <c:v>213.62236975357</c:v>
              </c:pt>
              <c:pt idx="3">
                <c:v>248.7758374328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171.87314443695</c:v>
              </c:pt>
              <c:pt idx="1">
                <c:v>261.56111636791</c:v>
              </c:pt>
              <c:pt idx="2">
                <c:v>371.220026734</c:v>
              </c:pt>
              <c:pt idx="3">
                <c:v>355.70504054869</c:v>
              </c:pt>
            </c:numLit>
          </c:val>
        </c:ser>
        <c:dLbls>
          <c:txPr>
            <a:bodyPr anchorCtr="1"/>
            <a:lstStyle/>
            <a:p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0.11020759160542684</c:v>
              </c:pt>
              <c:pt idx="1">
                <c:v>0.09567733252200807</c:v>
              </c:pt>
              <c:pt idx="2">
                <c:v>0.09806269806057262</c:v>
              </c:pt>
              <c:pt idx="3">
                <c:v>0.09843138389574681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0.25785571852133327</c:v>
              </c:pt>
              <c:pt idx="1">
                <c:v>0.2750610264146392</c:v>
              </c:pt>
              <c:pt idx="2">
                <c:v>0.2000287105659194</c:v>
              </c:pt>
              <c:pt idx="3">
                <c:v>0.21495139041402433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0.25972055939310257</c:v>
              </c:pt>
              <c:pt idx="1">
                <c:v>0.2462447241924814</c:v>
              </c:pt>
              <c:pt idx="2">
                <c:v>0.25638253577395326</c:v>
              </c:pt>
              <c:pt idx="3">
                <c:v>0.2825792866885411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0.37221613048013724</c:v>
              </c:pt>
              <c:pt idx="1">
                <c:v>0.3830169168708714</c:v>
              </c:pt>
              <c:pt idx="2">
                <c:v>0.4455260555995546</c:v>
              </c:pt>
              <c:pt idx="3">
                <c:v>0.40403793900168766</c:v>
              </c:pt>
            </c:numLit>
          </c:val>
        </c:ser>
        <c:dLbls>
          <c:txPr>
            <a:bodyPr anchorCtr="1"/>
            <a:lstStyle/>
            <a:p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Outros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19.32368071792</c:v>
              </c:pt>
              <c:pt idx="5">
                <c:v>24.163748261490003</c:v>
              </c:pt>
              <c:pt idx="6">
                <c:v>25.154517560259997</c:v>
              </c:pt>
              <c:pt idx="7">
                <c:v>27.32144595605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336.84039317390994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84.83552289799</c:v>
              </c:pt>
              <c:pt idx="5">
                <c:v>57.4323241591</c:v>
              </c:pt>
              <c:pt idx="6">
                <c:v>43.107876023699994</c:v>
              </c:pt>
              <c:pt idx="7">
                <c:v>27.72682732234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0.2443576468091428</c:v>
              </c:pt>
              <c:pt idx="1">
                <c:v>0.2239249230379844</c:v>
              </c:pt>
              <c:pt idx="2">
                <c:v>0.1120133185506395</c:v>
              </c:pt>
              <c:pt idx="3">
                <c:v>0.1050330610627478</c:v>
              </c:pt>
              <c:pt idx="4">
                <c:v>0.0418482229263941</c:v>
              </c:pt>
              <c:pt idx="5">
                <c:v>0.052330088596752</c:v>
              </c:pt>
              <c:pt idx="6">
                <c:v>0.054475742682472</c:v>
              </c:pt>
              <c:pt idx="7">
                <c:v>0.0591685392514227</c:v>
              </c:pt>
              <c:pt idx="8">
                <c:v>0.0374748785753291</c:v>
              </c:pt>
              <c:pt idx="9">
                <c:v>0.0659560563556205</c:v>
              </c:pt>
              <c:pt idx="10">
                <c:v>0.0029555790750964</c:v>
              </c:pt>
              <c:pt idx="11">
                <c:v>0.0004619430763983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0.3826099793822727</c:v>
              </c:pt>
              <c:pt idx="1">
                <c:v>0.1342859349537224</c:v>
              </c:pt>
              <c:pt idx="2">
                <c:v>0.1127320768832201</c:v>
              </c:pt>
              <c:pt idx="3">
                <c:v>0.097307191075273</c:v>
              </c:pt>
              <c:pt idx="4">
                <c:v>0.0963629016135419</c:v>
              </c:pt>
              <c:pt idx="5">
                <c:v>0.0652361795310102</c:v>
              </c:pt>
              <c:pt idx="6">
                <c:v>0.0489653375630809</c:v>
              </c:pt>
              <c:pt idx="7">
                <c:v>0.0314943250427188</c:v>
              </c:pt>
              <c:pt idx="8">
                <c:v>0.0137189178295649</c:v>
              </c:pt>
              <c:pt idx="9">
                <c:v>0.0125019897184627</c:v>
              </c:pt>
              <c:pt idx="10">
                <c:v>0.0046674430987479</c:v>
              </c:pt>
              <c:pt idx="11">
                <c:v>0.000117723308384</c:v>
              </c:pt>
            </c:numLit>
          </c:val>
        </c:ser>
        <c:dLbls>
          <c:txPr>
            <a:bodyPr anchorCtr="1"/>
            <a:lstStyle/>
            <a:p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EC7000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0.0809058933465922</c:v>
              </c:pt>
              <c:pt idx="1">
                <c:v>0.0593323376099488</c:v>
              </c:pt>
              <c:pt idx="2">
                <c:v>0.0564665522840033</c:v>
              </c:pt>
              <c:pt idx="3">
                <c:v>0.0531719041163333</c:v>
              </c:pt>
            </c:numLit>
          </c:val>
        </c:ser>
        <c:dLbls>
          <c:txPr>
            <a:bodyPr anchorCtr="1"/>
            <a:lstStyle/>
            <a:p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Original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5"/>
              <c:pt idx="0">
                <c:v>03/23</c:v>
              </c:pt>
              <c:pt idx="1">
                <c:v/>
              </c:pt>
              <c:pt idx="2">
                <c:v/>
              </c:pt>
              <c:pt idx="3">
                <c:v>12/23</c:v>
              </c:pt>
              <c:pt idx="4">
                <c:v/>
              </c:pt>
              <c:pt idx="5">
                <c:v>06/24</c:v>
              </c:pt>
              <c:pt idx="6">
                <c:v>07/24</c:v>
              </c:pt>
              <c:pt idx="7">
                <c:v/>
              </c:pt>
              <c:pt idx="8">
                <c:v>12/24</c:v>
              </c:pt>
              <c:pt idx="9">
                <c:v/>
              </c:pt>
              <c:pt idx="10">
                <c:v/>
              </c:pt>
              <c:pt idx="11">
                <c:v>09/25</c:v>
              </c:pt>
              <c:pt idx="12">
                <c:v/>
              </c:pt>
              <c:pt idx="13">
                <c:v/>
              </c:pt>
              <c:pt idx="14">
                <c:v>06/26</c:v>
              </c:pt>
            </c:strLit>
          </c:cat>
          <c:val>
            <c:numLit>
              <c:formatCode>0.0%</c:formatCode>
              <c:ptCount val="15"/>
              <c:pt idx="0">
                <c:v>0.0699308402198136</c:v>
              </c:pt>
              <c:pt idx="1">
                <c:v>0.0413858663474672</c:v>
              </c:pt>
              <c:pt idx="2">
                <c:v>0.054182184519671</c:v>
              </c:pt>
              <c:pt idx="3">
                <c:v>0.0505714352102012</c:v>
              </c:pt>
              <c:pt idx="4">
                <c:v>0.042351603441698</c:v>
              </c:pt>
              <c:pt idx="5">
                <c:v>0.0526925150205596</c:v>
              </c:pt>
              <c:pt idx="6">
                <c:v>0.044853704491093</c:v>
              </c:pt>
              <c:pt idx="7">
                <c:v>0.0450892919500813</c:v>
              </c:pt>
              <c:pt idx="8">
                <c:v>0.0426046633548847</c:v>
              </c:pt>
              <c:pt idx="9">
                <c:v>0.0429438146622243</c:v>
              </c:pt>
              <c:pt idx="10">
                <c:v>0.0434223533702834</c:v>
              </c:pt>
              <c:pt idx="11">
                <c:v>0.045821513745815</c:v>
              </c:pt>
              <c:pt idx="12">
                <c:v>0.0344698393971271</c:v>
              </c:pt>
              <c:pt idx="13">
                <c:v>0.0371508338701136</c:v>
              </c:pt>
              <c:pt idx="14">
                <c:v>0.0443052791285222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2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03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Original · inclui zeros no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Ex-zeros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4"/>
              <c:pt idx="0">
                <c:v>03/23</c:v>
              </c:pt>
              <c:pt idx="1">
                <c:v/>
              </c:pt>
              <c:pt idx="2">
                <c:v/>
              </c:pt>
              <c:pt idx="3">
                <c:v>12/23</c:v>
              </c:pt>
              <c:pt idx="4">
                <c:v/>
              </c:pt>
              <c:pt idx="5">
                <c:v/>
              </c:pt>
              <c:pt idx="6">
                <c:v/>
              </c:pt>
              <c:pt idx="7">
                <c:v>12/24</c:v>
              </c:pt>
              <c:pt idx="8">
                <c:v/>
              </c:pt>
              <c:pt idx="9">
                <c:v/>
              </c:pt>
              <c:pt idx="10">
                <c:v/>
              </c:pt>
              <c:pt idx="11">
                <c:v>12/25</c:v>
              </c:pt>
              <c:pt idx="12">
                <c:v/>
              </c:pt>
              <c:pt idx="13">
                <c:v>06/26</c:v>
              </c:pt>
            </c:strLit>
          </c:cat>
          <c:val>
            <c:numLit>
              <c:formatCode>0.0%</c:formatCode>
              <c:ptCount val="14"/>
              <c:pt idx="0">
                <c:v>0.2783291289680555</c:v>
              </c:pt>
              <c:pt idx="1">
                <c:v>0.2077700326589613</c:v>
              </c:pt>
              <c:pt idx="2">
                <c:v>0.2428538731040054</c:v>
              </c:pt>
              <c:pt idx="3">
                <c:v>0.2255418250857552</c:v>
              </c:pt>
              <c:pt idx="4">
                <c:v>0.1869990785556627</c:v>
              </c:pt>
              <c:pt idx="5">
                <c:v>0.2064251881930608</c:v>
              </c:pt>
              <c:pt idx="6">
                <c:v>0.2003357975731442</c:v>
              </c:pt>
              <c:pt idx="7">
                <c:v>0.192391885697197</c:v>
              </c:pt>
              <c:pt idx="8">
                <c:v>0.1699260324814649</c:v>
              </c:pt>
              <c:pt idx="9">
                <c:v>0.1635302800243923</c:v>
              </c:pt>
              <c:pt idx="10">
                <c:v>0.1564418768603019</c:v>
              </c:pt>
              <c:pt idx="11">
                <c:v>0.1177679199516296</c:v>
              </c:pt>
              <c:pt idx="12">
                <c:v>0.1158555107970783</c:v>
              </c:pt>
              <c:pt idx="13">
                <c:v>0.1352132567320641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Ex-zeros · denominador restrito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Financeiro</c:v>
          </c:tx>
          <c:spPr>
            <a:ln w="19050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0.0721933056522929</c:v>
              </c:pt>
              <c:pt idx="1">
                <c:v>0.0724527089960241</c:v>
              </c:pt>
              <c:pt idx="2">
                <c:v>0.0730804465099311</c:v>
              </c:pt>
              <c:pt idx="3">
                <c:v>0.0632503901979427</c:v>
              </c:pt>
              <c:pt idx="4">
                <c:v>0.0641912171142307</c:v>
              </c:pt>
              <c:pt idx="5">
                <c:v>0.0657546480281713</c:v>
              </c:pt>
              <c:pt idx="6">
                <c:v>0.0634494475619897</c:v>
              </c:pt>
              <c:pt idx="7">
                <c:v>0.0646543625808829</c:v>
              </c:pt>
              <c:pt idx="8">
                <c:v>0.0673111027113792</c:v>
              </c:pt>
              <c:pt idx="9">
                <c:v>0.0656328096378168</c:v>
              </c:pt>
              <c:pt idx="10">
                <c:v>0.0620757208077272</c:v>
              </c:pt>
              <c:pt idx="11">
                <c:v>0.0736017938293535</c:v>
              </c:pt>
              <c:pt idx="12">
                <c:v>0.0635557109295464</c:v>
              </c:pt>
              <c:pt idx="13">
                <c:v>0.0542417392216208</c:v>
              </c:pt>
              <c:pt idx="14">
                <c:v>0.0538538517691906</c:v>
              </c:pt>
              <c:pt idx="15">
                <c:v>0.0521482823676041</c:v>
              </c:pt>
              <c:pt idx="16">
                <c:v>0.0536968054360994</c:v>
              </c:pt>
              <c:pt idx="17">
                <c:v>0.0518963049039671</c:v>
              </c:pt>
              <c:pt idx="18">
                <c:v>0.0510546702744202</c:v>
              </c:pt>
              <c:pt idx="19">
                <c:v>0.0529196484159213</c:v>
              </c:pt>
              <c:pt idx="20">
                <c:v>0.046013836733936</c:v>
              </c:pt>
              <c:pt idx="21">
                <c:v>0.0550382677231159</c:v>
              </c:pt>
              <c:pt idx="22">
                <c:v>0.0485909630112604</c:v>
              </c:pt>
              <c:pt idx="23">
                <c:v>0.0574955025459674</c:v>
              </c:pt>
              <c:pt idx="24">
                <c:v>0.0468319400175989</c:v>
              </c:pt>
              <c:pt idx="25">
                <c:v>0.0539850839306449</c:v>
              </c:pt>
              <c:pt idx="26">
                <c:v>0.0548524033756501</c:v>
              </c:pt>
              <c:pt idx="27">
                <c:v>0.057384795173174</c:v>
              </c:pt>
              <c:pt idx="28">
                <c:v>0.0561998841914902</c:v>
              </c:pt>
              <c:pt idx="29">
                <c:v>0.0601770065333058</c:v>
              </c:pt>
              <c:pt idx="30">
                <c:v>0.0716771622807513</c:v>
              </c:pt>
            </c:numLit>
          </c:val>
        </c:ser>
        <c:ser>
          <c:idx val="1"/>
          <c:order val="1"/>
          <c:tx>
            <c:v>Cartão de crédito</c:v>
          </c:tx>
          <c:spPr>
            <a:ln w="19050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0.0080429968986406</c:v>
              </c:pt>
              <c:pt idx="1">
                <c:v>0.0103555534057833</c:v>
              </c:pt>
              <c:pt idx="2">
                <c:v>0.0101297396700234</c:v>
              </c:pt>
              <c:pt idx="3">
                <c:v>0.0104827854323463</c:v>
              </c:pt>
              <c:pt idx="4">
                <c:v>0.0111237663607328</c:v>
              </c:pt>
              <c:pt idx="5">
                <c:v>0.0106422727689357</c:v>
              </c:pt>
              <c:pt idx="6">
                <c:v>0.0079913813375405</c:v>
              </c:pt>
              <c:pt idx="7">
                <c:v>0.007890065967714</c:v>
              </c:pt>
              <c:pt idx="8">
                <c:v>0.0079420973656034</c:v>
              </c:pt>
              <c:pt idx="9">
                <c:v>0.0079557633987717</c:v>
              </c:pt>
              <c:pt idx="10">
                <c:v>0.0069164043062772</c:v>
              </c:pt>
              <c:pt idx="11">
                <c:v>0.0064863829417569</c:v>
              </c:pt>
              <c:pt idx="12">
                <c:v>0.0058804822095036</c:v>
              </c:pt>
              <c:pt idx="13">
                <c:v>0.0062984134661783</c:v>
              </c:pt>
              <c:pt idx="14">
                <c:v>0.0068137312399075</c:v>
              </c:pt>
              <c:pt idx="15">
                <c:v>0.0067604454995235</c:v>
              </c:pt>
              <c:pt idx="16">
                <c:v>0.0089037082329132</c:v>
              </c:pt>
              <c:pt idx="17">
                <c:v>0.0085557990476181</c:v>
              </c:pt>
              <c:pt idx="18">
                <c:v>0.0089308937706528</c:v>
              </c:pt>
              <c:pt idx="19">
                <c:v>0.0096799935000471</c:v>
              </c:pt>
              <c:pt idx="20">
                <c:v>0.0097012956016713</c:v>
              </c:pt>
              <c:pt idx="21">
                <c:v>0.0094978815130768</c:v>
              </c:pt>
              <c:pt idx="22">
                <c:v>0.009838827534266</c:v>
              </c:pt>
              <c:pt idx="23">
                <c:v>0.009638514605356</c:v>
              </c:pt>
              <c:pt idx="24">
                <c:v>0.010345169549131</c:v>
              </c:pt>
              <c:pt idx="25">
                <c:v>0.0101429214599004</c:v>
              </c:pt>
              <c:pt idx="26">
                <c:v>0.0106021535752052</c:v>
              </c:pt>
              <c:pt idx="27">
                <c:v>0.0103961681274984</c:v>
              </c:pt>
              <c:pt idx="28">
                <c:v>0.0111458074735555</c:v>
              </c:pt>
              <c:pt idx="29">
                <c:v>0.0112389411589637</c:v>
              </c:pt>
              <c:pt idx="30">
                <c:v>0.0117604400025326</c:v>
              </c:pt>
            </c:numLit>
          </c:val>
        </c:ser>
        <c:ser>
          <c:idx val="2"/>
          <c:order val="2"/>
          <c:tx>
            <c:v>Comercial</c:v>
          </c:tx>
          <c:spPr>
            <a:ln w="19050">
              <a:solidFill>
                <a:srgbClr val="454A4F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0.1082012781222687</c:v>
              </c:pt>
              <c:pt idx="1">
                <c:v>0.1161592735371424</c:v>
              </c:pt>
              <c:pt idx="2">
                <c:v>0.1194716541232022</c:v>
              </c:pt>
              <c:pt idx="3">
                <c:v>0.110340097661799</c:v>
              </c:pt>
              <c:pt idx="4">
                <c:v>0.1101662641871065</c:v>
              </c:pt>
              <c:pt idx="5">
                <c:v>0.1149075978008279</c:v>
              </c:pt>
              <c:pt idx="6">
                <c:v>0.1124919560057237</c:v>
              </c:pt>
              <c:pt idx="7">
                <c:v>0.098567530605085</c:v>
              </c:pt>
              <c:pt idx="8">
                <c:v>0.1000404253970929</c:v>
              </c:pt>
              <c:pt idx="9">
                <c:v>0.0874582451638325</c:v>
              </c:pt>
              <c:pt idx="10">
                <c:v>0.0856747977502285</c:v>
              </c:pt>
              <c:pt idx="11">
                <c:v>0.0877889765268387</c:v>
              </c:pt>
              <c:pt idx="12">
                <c:v>0.0885286227670983</c:v>
              </c:pt>
              <c:pt idx="13">
                <c:v>0.1431704813182423</c:v>
              </c:pt>
              <c:pt idx="14">
                <c:v>0.1427519812637698</c:v>
              </c:pt>
              <c:pt idx="15">
                <c:v>0.1104294687674457</c:v>
              </c:pt>
              <c:pt idx="16">
                <c:v>0.1092444441783367</c:v>
              </c:pt>
              <c:pt idx="17">
                <c:v>0.1020185080892119</c:v>
              </c:pt>
              <c:pt idx="18">
                <c:v>0.0819808141756463</c:v>
              </c:pt>
              <c:pt idx="19">
                <c:v>0.0739784925005875</c:v>
              </c:pt>
              <c:pt idx="20">
                <c:v>0.0776869622102317</c:v>
              </c:pt>
              <c:pt idx="21">
                <c:v>0.0812227396177681</c:v>
              </c:pt>
              <c:pt idx="22">
                <c:v>0.0778389474752357</c:v>
              </c:pt>
              <c:pt idx="23">
                <c:v>0.0619370973852018</c:v>
              </c:pt>
              <c:pt idx="24">
                <c:v>0.0638211406580486</c:v>
              </c:pt>
              <c:pt idx="25">
                <c:v>0.0615357509303453</c:v>
              </c:pt>
              <c:pt idx="26">
                <c:v>0.0511457130166931</c:v>
              </c:pt>
              <c:pt idx="27">
                <c:v>0.0505787700495826</c:v>
              </c:pt>
              <c:pt idx="28">
                <c:v>0.0485661426696369</c:v>
              </c:pt>
              <c:pt idx="29">
                <c:v>0.0473808964121762</c:v>
              </c:pt>
              <c:pt idx="30">
                <c:v>0.0383198312904363</c:v>
              </c:pt>
            </c:numLit>
          </c:val>
        </c:ser>
        <c:ser>
          <c:idx val="3"/>
          <c:order val="3"/>
          <c:tx>
            <c:v>Industrial</c:v>
          </c:tx>
          <c:spPr>
            <a:ln w="12859">
              <a:solidFill>
                <a:srgbClr val="5B606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0.0025995750477537</c:v>
              </c:pt>
              <c:pt idx="1">
                <c:v>0.0027073175458643</c:v>
              </c:pt>
              <c:pt idx="2">
                <c:v>0.0032142957243589</c:v>
              </c:pt>
              <c:pt idx="3">
                <c:v>0.0034097015354183</c:v>
              </c:pt>
              <c:pt idx="4">
                <c:v>0.0021054729286722</c:v>
              </c:pt>
              <c:pt idx="5">
                <c:v>0.0047362923216476</c:v>
              </c:pt>
              <c:pt idx="6">
                <c:v>0.0055366129638028</c:v>
              </c:pt>
              <c:pt idx="7">
                <c:v>0.0024131461675404</c:v>
              </c:pt>
              <c:pt idx="8">
                <c:v>0.0019877205669721</c:v>
              </c:pt>
              <c:pt idx="9">
                <c:v>0.0046091003151197</c:v>
              </c:pt>
              <c:pt idx="10">
                <c:v>0.003757986185218</c:v>
              </c:pt>
              <c:pt idx="11">
                <c:v>0.003791079854629</c:v>
              </c:pt>
              <c:pt idx="12">
                <c:v>0.004061108957977</c:v>
              </c:pt>
              <c:pt idx="13">
                <c:v>0.0036679242090174</c:v>
              </c:pt>
              <c:pt idx="14">
                <c:v>0.0037228807818014</c:v>
              </c:pt>
              <c:pt idx="15">
                <c:v>0.0041390501391543</c:v>
              </c:pt>
              <c:pt idx="16">
                <c:v>0.0043238466007108</c:v>
              </c:pt>
              <c:pt idx="17">
                <c:v>0.0040579403197648</c:v>
              </c:pt>
              <c:pt idx="18">
                <c:v>0.0070527663617381</c:v>
              </c:pt>
              <c:pt idx="19">
                <c:v>0.0067700063530923</c:v>
              </c:pt>
              <c:pt idx="20">
                <c:v>0.0070438224934519</c:v>
              </c:pt>
              <c:pt idx="21">
                <c:v>0.0085456396251194</c:v>
              </c:pt>
              <c:pt idx="22">
                <c:v>0.0091884370424081</c:v>
              </c:pt>
              <c:pt idx="23">
                <c:v>0.0062620305712928</c:v>
              </c:pt>
              <c:pt idx="24">
                <c:v>0.0070617642492158</c:v>
              </c:pt>
              <c:pt idx="25">
                <c:v>0.0063200695172949</c:v>
              </c:pt>
              <c:pt idx="26">
                <c:v>0.0059848905077144</c:v>
              </c:pt>
              <c:pt idx="27">
                <c:v>0.0063789170386723</c:v>
              </c:pt>
              <c:pt idx="28">
                <c:v>0.006420463309229</c:v>
              </c:pt>
              <c:pt idx="29">
                <c:v>0.0096784901416031</c:v>
              </c:pt>
              <c:pt idx="30">
                <c:v>0.0106470085607881</c:v>
              </c:pt>
            </c:numLit>
          </c:val>
        </c:ser>
        <c:ser>
          <c:idx val="4"/>
          <c:order val="4"/>
          <c:tx>
            <c:v>Serviços</c:v>
          </c:tx>
          <c:spPr>
            <a:ln w="12859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0.002761753511805</c:v>
              </c:pt>
              <c:pt idx="1">
                <c:v>0.0027082086002623</c:v>
              </c:pt>
              <c:pt idx="2">
                <c:v>0.0030878238406748</c:v>
              </c:pt>
              <c:pt idx="3">
                <c:v>0.0038134279430219</c:v>
              </c:pt>
              <c:pt idx="4">
                <c:v>0.0047264073090607</c:v>
              </c:pt>
              <c:pt idx="5">
                <c:v>0.0053374101483992</c:v>
              </c:pt>
              <c:pt idx="6">
                <c:v>0.0048777594375193</c:v>
              </c:pt>
              <c:pt idx="7">
                <c:v>0.0060579729890402</c:v>
              </c:pt>
              <c:pt idx="8">
                <c:v>0.0057354615135486</c:v>
              </c:pt>
              <c:pt idx="9">
                <c:v>0.0065809960074512</c:v>
              </c:pt>
              <c:pt idx="10">
                <c:v>0.011011195532876</c:v>
              </c:pt>
              <c:pt idx="11">
                <c:v>0.011019621516894</c:v>
              </c:pt>
              <c:pt idx="12">
                <c:v>0.011761078041623</c:v>
              </c:pt>
              <c:pt idx="13">
                <c:v>0.0052755069921239</c:v>
              </c:pt>
              <c:pt idx="14">
                <c:v>0.0050888290074184</c:v>
              </c:pt>
              <c:pt idx="15">
                <c:v>0.0058759615026774</c:v>
              </c:pt>
              <c:pt idx="16">
                <c:v>0.0061558874072902</c:v>
              </c:pt>
              <c:pt idx="17">
                <c:v>0.0064786730545633</c:v>
              </c:pt>
              <c:pt idx="18">
                <c:v>0.0067141159294199</c:v>
              </c:pt>
              <c:pt idx="19">
                <c:v>0.006201689312099</c:v>
              </c:pt>
              <c:pt idx="20">
                <c:v>0.0058260498006329</c:v>
              </c:pt>
              <c:pt idx="21">
                <c:v>0.006571374774792</c:v>
              </c:pt>
              <c:pt idx="22">
                <c:v>0.0066587917472255</c:v>
              </c:pt>
              <c:pt idx="23">
                <c:v>0.0072842278339582</c:v>
              </c:pt>
              <c:pt idx="24">
                <c:v>0.0081006571546639</c:v>
              </c:pt>
              <c:pt idx="25">
                <c:v>0.0117685005784751</c:v>
              </c:pt>
              <c:pt idx="26">
                <c:v>0.0123753954145278</c:v>
              </c:pt>
              <c:pt idx="27">
                <c:v>0.0140555053054944</c:v>
              </c:pt>
              <c:pt idx="28">
                <c:v>0.0144069916246104</c:v>
              </c:pt>
              <c:pt idx="29">
                <c:v>0.0157044040571552</c:v>
              </c:pt>
              <c:pt idx="30">
                <c:v>0.0155258929379865</c:v>
              </c:pt>
            </c:numLit>
          </c:val>
        </c:ser>
        <c:ser>
          <c:idx val="5"/>
          <c:order val="5"/>
          <c:tx>
            <c:v>Setor público</c:v>
          </c:tx>
          <c:spPr>
            <a:ln w="12859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0.1854216092153828</c:v>
              </c:pt>
              <c:pt idx="1">
                <c:v>0.1884788306642439</c:v>
              </c:pt>
              <c:pt idx="2">
                <c:v>0.1881706191809939</c:v>
              </c:pt>
              <c:pt idx="3">
                <c:v>0.0598179826329479</c:v>
              </c:pt>
              <c:pt idx="4">
                <c:v>0.2317110731792012</c:v>
              </c:pt>
              <c:pt idx="5">
                <c:v>0.2307453092491834</c:v>
              </c:pt>
              <c:pt idx="6">
                <c:v>0.231820743559852</c:v>
              </c:pt>
              <c:pt idx="7">
                <c:v>0.2276967726779469</c:v>
              </c:pt>
              <c:pt idx="8">
                <c:v>0.2228561784834045</c:v>
              </c:pt>
              <c:pt idx="9">
                <c:v>0.2601261710594481</c:v>
              </c:pt>
              <c:pt idx="10">
                <c:v>0.2226853028361558</c:v>
              </c:pt>
              <c:pt idx="11">
                <c:v>0.2187278941356636</c:v>
              </c:pt>
              <c:pt idx="12">
                <c:v>0.2021675560835505</c:v>
              </c:pt>
              <c:pt idx="13">
                <c:v>0.2127286140116034</c:v>
              </c:pt>
              <c:pt idx="14">
                <c:v>0.2136774816817553</c:v>
              </c:pt>
              <c:pt idx="15">
                <c:v>0.2116474567427985</c:v>
              </c:pt>
              <c:pt idx="16">
                <c:v>0.2182492714737423</c:v>
              </c:pt>
              <c:pt idx="17">
                <c:v>0.2305949573703942</c:v>
              </c:pt>
              <c:pt idx="18">
                <c:v>0.2170184839875787</c:v>
              </c:pt>
              <c:pt idx="19">
                <c:v>0.2066235198492703</c:v>
              </c:pt>
              <c:pt idx="20">
                <c:v>0.204642946005455</c:v>
              </c:pt>
              <c:pt idx="21">
                <c:v>0.2046761144659297</c:v>
              </c:pt>
              <c:pt idx="22">
                <c:v>0.1950570873721957</c:v>
              </c:pt>
              <c:pt idx="23">
                <c:v>0.1838076625569173</c:v>
              </c:pt>
              <c:pt idx="24">
                <c:v>0.0320722949695946</c:v>
              </c:pt>
              <c:pt idx="25">
                <c:v>0.0267519834548788</c:v>
              </c:pt>
              <c:pt idx="26">
                <c:v>0.0254709221093874</c:v>
              </c:pt>
              <c:pt idx="27">
                <c:v>0.0286391392387492</c:v>
              </c:pt>
              <c:pt idx="28">
                <c:v>0.0278719164478153</c:v>
              </c:pt>
              <c:pt idx="29">
                <c:v>0.0310941253039807</c:v>
              </c:pt>
              <c:pt idx="30">
                <c:v>0.0269677990830523</c:v>
              </c:pt>
            </c:numLit>
          </c:val>
        </c:ser>
        <c:ser>
          <c:idx val="6"/>
          <c:order val="6"/>
          <c:tx>
            <c:v>Ações judiciais</c:v>
          </c:tx>
          <c:spPr>
            <a:ln w="12859">
              <a:solidFill>
                <a:srgbClr val="A7ACB0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0.0417142491781317</c:v>
              </c:pt>
              <c:pt idx="1">
                <c:v>0.0423201793463372</c:v>
              </c:pt>
              <c:pt idx="2">
                <c:v>0.0422821490121826</c:v>
              </c:pt>
              <c:pt idx="3">
                <c:v>0.0418197489706348</c:v>
              </c:pt>
              <c:pt idx="4">
                <c:v>0.013868015487937</c:v>
              </c:pt>
              <c:pt idx="5">
                <c:v>0.0161057915619758</c:v>
              </c:pt>
              <c:pt idx="6">
                <c:v>0.0460301180426334</c:v>
              </c:pt>
              <c:pt idx="7">
                <c:v>0.0156646355220548</c:v>
              </c:pt>
              <c:pt idx="8">
                <c:v>0.0127402436285298</c:v>
              </c:pt>
              <c:pt idx="9">
                <c:v>0.0146633705519831</c:v>
              </c:pt>
              <c:pt idx="10">
                <c:v>0.0148839095437175</c:v>
              </c:pt>
              <c:pt idx="11">
                <c:v>0.0145553054107453</c:v>
              </c:pt>
              <c:pt idx="12">
                <c:v>0.0129260058421569</c:v>
              </c:pt>
              <c:pt idx="13">
                <c:v>0.0133275954599381</c:v>
              </c:pt>
              <c:pt idx="14">
                <c:v>0.0135276953704358</c:v>
              </c:pt>
              <c:pt idx="15">
                <c:v>0.0133137511967988</c:v>
              </c:pt>
              <c:pt idx="16">
                <c:v>0.0132286727585075</c:v>
              </c:pt>
              <c:pt idx="17">
                <c:v>0.0129521393419009</c:v>
              </c:pt>
              <c:pt idx="18">
                <c:v>0.0125611054439207</c:v>
              </c:pt>
              <c:pt idx="19">
                <c:v>0.0125414517133714</c:v>
              </c:pt>
              <c:pt idx="20">
                <c:v>0.012167116656769</c:v>
              </c:pt>
              <c:pt idx="21">
                <c:v>0.0116434513520777</c:v>
              </c:pt>
              <c:pt idx="22">
                <c:v>0.0114818559290975</c:v>
              </c:pt>
              <c:pt idx="23">
                <c:v>0.0117198804644548</c:v>
              </c:pt>
              <c:pt idx="24">
                <c:v>0.0521667521091537</c:v>
              </c:pt>
              <c:pt idx="25">
                <c:v>0.0134295528242896</c:v>
              </c:pt>
              <c:pt idx="26">
                <c:v>0.0195114019773375</c:v>
              </c:pt>
              <c:pt idx="27">
                <c:v>0.0176558617875715</c:v>
              </c:pt>
              <c:pt idx="28">
                <c:v>0.0181866201777597</c:v>
              </c:pt>
              <c:pt idx="29">
                <c:v>0.0301063967497122</c:v>
              </c:pt>
              <c:pt idx="30">
                <c:v>0.0276212038505898</c:v>
              </c:pt>
            </c:numLit>
          </c:val>
        </c:ser>
        <c:ser>
          <c:idx val="7"/>
          <c:order val="7"/>
          <c:tx>
            <c:v>Agronegócio</c:v>
          </c:tx>
          <c:spPr>
            <a:ln w="12859">
              <a:solidFill>
                <a:srgbClr val="BEC2C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0.0193848320803037</c:v>
              </c:pt>
              <c:pt idx="1">
                <c:v>0.0074534188133573</c:v>
              </c:pt>
              <c:pt idx="2">
                <c:v>0.0073692353757936</c:v>
              </c:pt>
              <c:pt idx="3">
                <c:v>0.0275878340521066</c:v>
              </c:pt>
              <c:pt idx="4">
                <c:v>0.0699173713403787</c:v>
              </c:pt>
              <c:pt idx="5">
                <c:v>0.1071495886627592</c:v>
              </c:pt>
              <c:pt idx="6">
                <c:v>0.081170617074055</c:v>
              </c:pt>
              <c:pt idx="7">
                <c:v>0.0592144502484672</c:v>
              </c:pt>
              <c:pt idx="8">
                <c:v>0.068794386861829</c:v>
              </c:pt>
              <c:pt idx="9">
                <c:v>0.0804965019363218</c:v>
              </c:pt>
              <c:pt idx="10">
                <c:v>0.0568105669235579</c:v>
              </c:pt>
              <c:pt idx="11">
                <c:v>0.0539414905307017</c:v>
              </c:pt>
              <c:pt idx="12">
                <c:v>0.0456547393457803</c:v>
              </c:pt>
              <c:pt idx="13">
                <c:v>0.0938023365883941</c:v>
              </c:pt>
              <c:pt idx="14">
                <c:v>0.0318554027571156</c:v>
              </c:pt>
              <c:pt idx="15">
                <c:v>0.0513104257372555</c:v>
              </c:pt>
              <c:pt idx="16">
                <c:v>0.0844147829421874</c:v>
              </c:pt>
              <c:pt idx="17">
                <c:v>0.1096583784966358</c:v>
              </c:pt>
              <c:pt idx="18">
                <c:v>0.0834970570681469</c:v>
              </c:pt>
              <c:pt idx="19">
                <c:v>0.0543135517074533</c:v>
              </c:pt>
              <c:pt idx="20">
                <c:v>0.0397669344769683</c:v>
              </c:pt>
              <c:pt idx="21">
                <c:v>0.0839122035225489</c:v>
              </c:pt>
              <c:pt idx="22">
                <c:v>0.062508468287794</c:v>
              </c:pt>
              <c:pt idx="23">
                <c:v>0.0403071668157024</c:v>
              </c:pt>
              <c:pt idx="24">
                <c:v>0.0356597059135657</c:v>
              </c:pt>
              <c:pt idx="25">
                <c:v>0.0295211680001266</c:v>
              </c:pt>
              <c:pt idx="26">
                <c:v>0.0252043134620647</c:v>
              </c:pt>
              <c:pt idx="27">
                <c:v>0.1089245109690359</c:v>
              </c:pt>
              <c:pt idx="28">
                <c:v>0.0634141693348424</c:v>
              </c:pt>
              <c:pt idx="29">
                <c:v>0.0985406452471582</c:v>
              </c:pt>
              <c:pt idx="30">
                <c:v>0.0982584113424741</c:v>
              </c:pt>
            </c:numLit>
          </c:val>
        </c:ser>
        <c:ser>
          <c:idx val="8"/>
          <c:order val="8"/>
          <c:tx>
            <c:v>Imobiliário</c:v>
          </c:tx>
          <c:spPr>
            <a:ln w="12859">
              <a:solidFill>
                <a:srgbClr val="676C71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0.0301544002992957</c:v>
              </c:pt>
              <c:pt idx="1">
                <c:v>0.0327276152039929</c:v>
              </c:pt>
              <c:pt idx="2">
                <c:v>0.0335433779934722</c:v>
              </c:pt>
              <c:pt idx="3">
                <c:v>0.0348421491235876</c:v>
              </c:pt>
              <c:pt idx="4">
                <c:v>0.0428001212242425</c:v>
              </c:pt>
              <c:pt idx="5">
                <c:v>0.0418805697277656</c:v>
              </c:pt>
              <c:pt idx="6">
                <c:v>0.0445162804581016</c:v>
              </c:pt>
              <c:pt idx="7">
                <c:v>0.0450750205215238</c:v>
              </c:pt>
              <c:pt idx="8">
                <c:v>0.0433137428852005</c:v>
              </c:pt>
              <c:pt idx="9">
                <c:v>0.0368120139814974</c:v>
              </c:pt>
              <c:pt idx="10">
                <c:v>0.0370727339192215</c:v>
              </c:pt>
              <c:pt idx="11">
                <c:v>0.0383168676299335</c:v>
              </c:pt>
              <c:pt idx="12">
                <c:v>0.0411647909984821</c:v>
              </c:pt>
              <c:pt idx="13">
                <c:v>0.0420544170094409</c:v>
              </c:pt>
              <c:pt idx="14">
                <c:v>0.0452665646472693</c:v>
              </c:pt>
              <c:pt idx="15">
                <c:v>0.0471589020247165</c:v>
              </c:pt>
              <c:pt idx="16">
                <c:v>0.0479186023653569</c:v>
              </c:pt>
              <c:pt idx="17">
                <c:v>0.0497283898045638</c:v>
              </c:pt>
              <c:pt idx="18">
                <c:v>0.0513562669687059</c:v>
              </c:pt>
              <c:pt idx="19">
                <c:v>0.0524041751673811</c:v>
              </c:pt>
              <c:pt idx="20">
                <c:v>0.0549718365574653</c:v>
              </c:pt>
              <c:pt idx="21">
                <c:v>0.0467619519887603</c:v>
              </c:pt>
              <c:pt idx="22">
                <c:v>0.0529296618834481</c:v>
              </c:pt>
              <c:pt idx="23">
                <c:v>0.0555227271204206</c:v>
              </c:pt>
              <c:pt idx="24">
                <c:v>0.0469577659285627</c:v>
              </c:pt>
              <c:pt idx="25">
                <c:v>0.0508181998171366</c:v>
              </c:pt>
              <c:pt idx="26">
                <c:v>0.0563587832928188</c:v>
              </c:pt>
              <c:pt idx="27">
                <c:v>0.0610793382898068</c:v>
              </c:pt>
              <c:pt idx="28">
                <c:v>0.0669949830191097</c:v>
              </c:pt>
              <c:pt idx="29">
                <c:v>0.0721630638324931</c:v>
              </c:pt>
              <c:pt idx="30">
                <c:v>0.0727874220270115</c:v>
              </c:pt>
            </c:numLit>
          </c:val>
        </c:ser>
        <c:ser>
          <c:idx val="9"/>
          <c:order val="9"/>
          <c:tx>
            <c:v>Factoring</c:v>
          </c:tx>
          <c:spPr>
            <a:ln w="12859">
              <a:solidFill>
                <a:srgbClr val="92979C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0.0514225192354148</c:v>
              </c:pt>
              <c:pt idx="1">
                <c:v>0.0393907988792837</c:v>
              </c:pt>
              <c:pt idx="2">
                <c:v>0.0204599118110216</c:v>
              </c:pt>
              <c:pt idx="3">
                <c:v>0.0279020955222049</c:v>
              </c:pt>
              <c:pt idx="4">
                <c:v>0.045435158542933</c:v>
              </c:pt>
              <c:pt idx="5">
                <c:v>0.0634913799648424</c:v>
              </c:pt>
              <c:pt idx="6">
                <c:v>0.1018834022199954</c:v>
              </c:pt>
              <c:pt idx="7">
                <c:v>0.053226641038248</c:v>
              </c:pt>
              <c:pt idx="8">
                <c:v>0.0409999642734494</c:v>
              </c:pt>
              <c:pt idx="9">
                <c:v>0.0221743137151051</c:v>
              </c:pt>
              <c:pt idx="10">
                <c:v>0.1189436323844374</c:v>
              </c:pt>
              <c:pt idx="11">
                <c:v>0.0430677893077643</c:v>
              </c:pt>
              <c:pt idx="12">
                <c:v>0.0533502127430201</c:v>
              </c:pt>
              <c:pt idx="13">
                <c:v>0.0375148600614609</c:v>
              </c:pt>
              <c:pt idx="14">
                <c:v>0.0437092853950481</c:v>
              </c:pt>
              <c:pt idx="15">
                <c:v>0.064103135977939</c:v>
              </c:pt>
              <c:pt idx="16">
                <c:v>0.1479488771622266</c:v>
              </c:pt>
              <c:pt idx="17">
                <c:v>0.1174497699924641</c:v>
              </c:pt>
              <c:pt idx="18">
                <c:v>0.1305527242748713</c:v>
              </c:pt>
              <c:pt idx="19">
                <c:v>0.1254080720493426</c:v>
              </c:pt>
              <c:pt idx="20">
                <c:v>0.1486477723764485</c:v>
              </c:pt>
              <c:pt idx="21">
                <c:v>0.1354996954025546</c:v>
              </c:pt>
              <c:pt idx="22">
                <c:v>0.1660000913704232</c:v>
              </c:pt>
              <c:pt idx="23">
                <c:v>0.1605724609434834</c:v>
              </c:pt>
              <c:pt idx="24">
                <c:v>0.2853726896283449</c:v>
              </c:pt>
              <c:pt idx="25">
                <c:v>0.1950978271794026</c:v>
              </c:pt>
              <c:pt idx="26">
                <c:v>0.1466190664090744</c:v>
              </c:pt>
              <c:pt idx="27">
                <c:v>0.1741072914672736</c:v>
              </c:pt>
              <c:pt idx="28">
                <c:v>0.1697199730374612</c:v>
              </c:pt>
              <c:pt idx="29">
                <c:v>0.1549286072994427</c:v>
              </c:pt>
              <c:pt idx="30">
                <c:v>0.1391390506699004</c:v>
              </c:pt>
            </c:numLit>
          </c:val>
        </c:ser>
        <c:ser>
          <c:idx val="10"/>
          <c:order val="10"/>
          <c:tx>
            <c:v>Consolidado ajustado</c:v>
          </c:tx>
          <c:spPr>
            <a:ln w="30480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0.0752028516325915</c:v>
              </c:pt>
              <c:pt idx="1">
                <c:v>0.0778801838724332</c:v>
              </c:pt>
              <c:pt idx="2">
                <c:v>0.0776383095992151</c:v>
              </c:pt>
              <c:pt idx="3">
                <c:v>0.0704152514172544</c:v>
              </c:pt>
              <c:pt idx="4">
                <c:v>0.0797565578705756</c:v>
              </c:pt>
              <c:pt idx="5">
                <c:v>0.0817150208465515</c:v>
              </c:pt>
              <c:pt idx="6">
                <c:v>0.0770053144630339</c:v>
              </c:pt>
              <c:pt idx="7">
                <c:v>0.0671417034451458</c:v>
              </c:pt>
              <c:pt idx="8">
                <c:v>0.0676408843500004</c:v>
              </c:pt>
              <c:pt idx="9">
                <c:v>0.0698999145821442</c:v>
              </c:pt>
              <c:pt idx="10">
                <c:v>0.0684744868137109</c:v>
              </c:pt>
              <c:pt idx="11">
                <c:v>0.0699014101098718</c:v>
              </c:pt>
              <c:pt idx="12">
                <c:v>0.0630090651293403</c:v>
              </c:pt>
              <c:pt idx="13">
                <c:v>0.0614757676630931</c:v>
              </c:pt>
              <c:pt idx="14">
                <c:v>0.0598205980738471</c:v>
              </c:pt>
              <c:pt idx="15">
                <c:v>0.0592500474459332</c:v>
              </c:pt>
              <c:pt idx="16">
                <c:v>0.0624601047334936</c:v>
              </c:pt>
              <c:pt idx="17">
                <c:v>0.0629482537447055</c:v>
              </c:pt>
              <c:pt idx="18">
                <c:v>0.0623234995475539</c:v>
              </c:pt>
              <c:pt idx="19">
                <c:v>0.0601553151901788</c:v>
              </c:pt>
              <c:pt idx="20">
                <c:v>0.0569486394732615</c:v>
              </c:pt>
              <c:pt idx="21">
                <c:v>0.0628881535366592</c:v>
              </c:pt>
              <c:pt idx="22">
                <c:v>0.0584216214864171</c:v>
              </c:pt>
              <c:pt idx="23">
                <c:v>0.0606320127168131</c:v>
              </c:pt>
              <c:pt idx="24">
                <c:v>0.0502587784704449</c:v>
              </c:pt>
              <c:pt idx="25">
                <c:v>0.0507331353304028</c:v>
              </c:pt>
              <c:pt idx="26">
                <c:v>0.0503146572806492</c:v>
              </c:pt>
              <c:pt idx="27">
                <c:v>0.0536913823719812</c:v>
              </c:pt>
              <c:pt idx="28">
                <c:v>0.0520334873726198</c:v>
              </c:pt>
              <c:pt idx="29">
                <c:v>0.0585303345939064</c:v>
              </c:pt>
              <c:pt idx="30">
                <c:v>0.0593323376099488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1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0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Financeiro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Cartão de crédito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Comercial</c:v>
          </c:tx>
          <c:spPr>
            <a:ln w="28575">
              <a:solidFill>
                <a:srgbClr val="454A4F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Industrial</c:v>
          </c:tx>
          <c:spPr>
            <a:ln w="28575">
              <a:solidFill>
                <a:srgbClr val="5B606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Serviços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Setor público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Ações judiciais</c:v>
          </c:tx>
          <c:spPr>
            <a:ln w="28575">
              <a:solidFill>
                <a:srgbClr val="A7ACB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7"/>
          <c:order val="7"/>
          <c:tx>
            <c:v>Agronegócio</c:v>
          </c:tx>
          <c:spPr>
            <a:ln w="28575">
              <a:solidFill>
                <a:srgbClr val="BEC2C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8"/>
          <c:order val="8"/>
          <c:tx>
            <c:v>Imobiliário</c:v>
          </c:tx>
          <c:spPr>
            <a:ln w="28575">
              <a:solidFill>
                <a:srgbClr val="676C7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9"/>
          <c:order val="9"/>
          <c:tx>
            <c:v>Factoring</c:v>
          </c:tx>
          <c:spPr>
            <a:ln w="28575">
              <a:solidFill>
                <a:srgbClr val="92979C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0"/>
          <c:order val="10"/>
          <c:tx>
            <c:v>Consolidado ajustado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0.7240103045302964</c:v>
              </c:pt>
              <c:pt idx="1">
                <c:v>0.33762443171818396</c:v>
              </c:pt>
              <c:pt idx="2">
                <c:v>0.7144041928735754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0.7177319262894483</c:v>
              </c:pt>
              <c:pt idx="1">
                <c:v>0.3640830858142464</c:v>
              </c:pt>
              <c:pt idx="2">
                <c:v>0.7281455649767723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0.5047535938429641</c:v>
              </c:pt>
              <c:pt idx="1">
                <c:v>0.22309371585883164</c:v>
              </c:pt>
              <c:pt idx="2">
                <c:v>0.5254792759228104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0.5320851575861103</c:v>
              </c:pt>
              <c:pt idx="1">
                <c:v>0.2617042615232217</c:v>
              </c:pt>
              <c:pt idx="2">
                <c:v>0.5578650737236776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Dez/25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0.08029197080291971</c:v>
              </c:pt>
              <c:pt idx="1">
                <c:v>0.007770190722863198</c:v>
              </c:pt>
              <c:pt idx="2">
                <c:v>0.8102189781021898</c:v>
              </c:pt>
              <c:pt idx="3">
                <c:v>0.009182952672474688</c:v>
              </c:pt>
              <c:pt idx="4">
                <c:v>0.07558276430421473</c:v>
              </c:pt>
              <c:pt idx="5">
                <c:v>0.016953143395337884</c:v>
              </c:pt>
            </c:numLit>
          </c:val>
        </c:ser>
        <c:ser>
          <c:idx val="1"/>
          <c:order val="1"/>
          <c:tx>
            <c:v>% PL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0.3566815952743106</c:v>
              </c:pt>
              <c:pt idx="1">
                <c:v>0.025023574308591645</c:v>
              </c:pt>
              <c:pt idx="2">
                <c:v>0.5461799583736618</c:v>
              </c:pt>
              <c:pt idx="3">
                <c:v>0.008546199474819226</c:v>
              </c:pt>
              <c:pt idx="4">
                <c:v>0.051578174945170883</c:v>
              </c:pt>
              <c:pt idx="5">
                <c:v>0.011990497623445616</c:v>
              </c:pt>
            </c:numLit>
          </c:val>
        </c:ser>
        <c:dLbls>
          <c:txPr>
            <a:bodyPr anchorCtr="1"/>
            <a:lstStyle/>
            <a:p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6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dLbls>
          <c:txPr>
            <a:bodyPr anchorCtr="1"/>
            <a:lstStyle/>
            <a:p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dLbls>
          <c:txPr>
            <a:bodyPr anchorCtr="1"/>
            <a:lstStyle/>
            <a:p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dLbls>
          <c:txPr>
            <a:bodyPr anchorCtr="1"/>
            <a:lstStyle/>
            <a:p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NÚMERO DE OFERTAS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</c:formatCode>
              <c:ptCount val="3"/>
              <c:pt idx="0">
                <c:v>1009</c:v>
              </c:pt>
              <c:pt idx="1">
                <c:v>1473</c:v>
              </c:pt>
              <c:pt idx="2">
                <c:v>771</c:v>
              </c:pt>
            </c:numLit>
          </c:val>
        </c:ser>
        <c:dLbls>
          <c:txPr>
            <a:bodyPr anchorCtr="1"/>
            <a:lstStyle/>
            <a:p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 · R$ BI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0.0,,,</c:formatCode>
              <c:ptCount val="3"/>
              <c:pt idx="0">
                <c:v>95416726133.75</c:v>
              </c:pt>
              <c:pt idx="1">
                <c:v>116921319054.77</c:v>
              </c:pt>
              <c:pt idx="2">
                <c:v>65488118983.56</c:v>
              </c:pt>
            </c:numLit>
          </c:val>
        </c:ser>
        <c:dLbls>
          <c:txPr>
            <a:bodyPr anchorCtr="1"/>
            <a:lstStyle/>
            <a:p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12</c:v>
              </c:pt>
              <c:pt idx="1">
                <c:v>22</c:v>
              </c:pt>
              <c:pt idx="2">
                <c:v>737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21</c:v>
              </c:pt>
              <c:pt idx="1">
                <c:v>50</c:v>
              </c:pt>
              <c:pt idx="2">
                <c:v>1399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26</c:v>
              </c:pt>
              <c:pt idx="1">
                <c:v>38</c:v>
              </c:pt>
              <c:pt idx="2">
                <c:v>945</c:v>
              </c:pt>
            </c:numLit>
          </c:val>
        </c:ser>
        <c:dLbls>
          <c:txPr>
            <a:bodyPr anchorCtr="1"/>
            <a:lstStyle/>
            <a:p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"/>
        <c:majorTickMark val="none"/>
        <c:minorTickMark val="none"/>
        <c:spPr>
          <a:ln w="953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5854000000</c:v>
              </c:pt>
              <c:pt idx="1">
                <c:v>14299992000</c:v>
              </c:pt>
              <c:pt idx="2">
                <c:v>45334126983.56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10114776653</c:v>
              </c:pt>
              <c:pt idx="1">
                <c:v>18248092653.59</c:v>
              </c:pt>
              <c:pt idx="2">
                <c:v>87985449748.18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12379296999.96</c:v>
              </c:pt>
              <c:pt idx="1">
                <c:v>13696583000</c:v>
              </c:pt>
              <c:pt idx="2">
                <c:v>69340846133.79001</c:v>
              </c:pt>
            </c:numLit>
          </c:val>
        </c:ser>
        <c:dLbls>
          <c:txPr>
            <a:bodyPr anchorCtr="1"/>
            <a:lstStyle/>
            <a:p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.0,,,"/>
        <c:majorTickMark val="none"/>
        <c:minorTickMark val="none"/>
        <c:spPr>
          <a:ln w="953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A1F3D"/>
              </a:solidFill>
            </c:spPr>
          </c:dPt>
          <c:dPt>
            <c:idx val="2"/>
            <c:invertIfNegative val="0"/>
            <c:spPr>
              <a:solidFill>
                <a:srgbClr val="BEC2C5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Oliveira Trust</c:v>
              </c:pt>
              <c:pt idx="2">
                <c:v>Daycoval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28.577477955880003</c:v>
              </c:pt>
              <c:pt idx="1">
                <c:v>57.205822956949994</c:v>
              </c:pt>
              <c:pt idx="2">
                <c:v>58.07994111931001</c:v>
              </c:pt>
              <c:pt idx="3">
                <c:v>123.34891855075</c:v>
              </c:pt>
              <c:pt idx="4">
                <c:v>124.12592647323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21.117364064860002</c:v>
              </c:pt>
              <c:pt idx="1">
                <c:v>21.71761716544</c:v>
              </c:pt>
              <c:pt idx="2">
                <c:v>22.40761845837</c:v>
              </c:pt>
              <c:pt idx="3">
                <c:v>57.205822956949994</c:v>
              </c:pt>
              <c:pt idx="4">
                <c:v>124.12592647323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18.875169440439997</c:v>
              </c:pt>
              <c:pt idx="1">
                <c:v>26.891086880550002</c:v>
              </c:pt>
              <c:pt idx="2">
                <c:v>35.02222544035998</c:v>
              </c:pt>
              <c:pt idx="3">
                <c:v>40.32919650402</c:v>
              </c:pt>
              <c:pt idx="4">
                <c:v>79.11922838494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A7ACB0"/>
              </a:solidFill>
            </c:spPr>
          </c:dPt>
          <c:dPt>
            <c:idx val="2"/>
            <c:invertIfNegative val="0"/>
            <c:spPr>
              <a:solidFill>
                <a:srgbClr val="BEC2C5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Integral Investimentos</c:v>
              </c:pt>
              <c:pt idx="2">
                <c:v>Solis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14.95203415536</c:v>
              </c:pt>
              <c:pt idx="2">
                <c:v>16.12591261212</c:v>
              </c:pt>
              <c:pt idx="3">
                <c:v>22.14586346137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2456D6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QI Tech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21.926715321429995</c:v>
              </c:pt>
              <c:pt idx="1">
                <c:v>64.38995086032001</c:v>
              </c:pt>
              <c:pt idx="2">
                <c:v>74.73806249444</c:v>
              </c:pt>
              <c:pt idx="3">
                <c:v>122.32123834260001</c:v>
              </c:pt>
              <c:pt idx="4">
                <c:v>122.70207078867999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21.72075588213</c:v>
              </c:pt>
              <c:pt idx="1">
                <c:v>22.40761845837</c:v>
              </c:pt>
              <c:pt idx="2">
                <c:v>25.148795168550002</c:v>
              </c:pt>
              <c:pt idx="3">
                <c:v>74.73806249444</c:v>
              </c:pt>
              <c:pt idx="4">
                <c:v>122.32123834260001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31.16523551990001</c:v>
              </c:pt>
              <c:pt idx="1">
                <c:v>33.64749310927</c:v>
              </c:pt>
              <c:pt idx="2">
                <c:v>34.188413197189995</c:v>
              </c:pt>
              <c:pt idx="3">
                <c:v>52.201104080029985</c:v>
              </c:pt>
            </c:numLit>
          </c:val>
        </c:ser>
        <c:ser>
          <c:idx val="1"/>
          <c:order val="1"/>
          <c:tx>
            <c:v>Itaú</c:v>
          </c:tx>
          <c:spPr>
            <a:solidFill>
              <a:srgbClr val="FF55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4.3629141675</c:v>
              </c:pt>
              <c:pt idx="1">
                <c:v>4.96984899401</c:v>
              </c:pt>
              <c:pt idx="2">
                <c:v>14.07980603803</c:v>
              </c:pt>
              <c:pt idx="3">
                <c:v>11.74979193425</c:v>
              </c:pt>
            </c:numLit>
          </c:val>
        </c:ser>
        <c:ser>
          <c:idx val="2"/>
          <c:order val="2"/>
          <c:tx>
            <c:v>Santander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9.341118916700001</c:v>
              </c:pt>
              <c:pt idx="1">
                <c:v>13.862349673500002</c:v>
              </c:pt>
              <c:pt idx="2">
                <c:v>13.358226244070002</c:v>
              </c:pt>
              <c:pt idx="3">
                <c:v>13.835289126020001</c:v>
              </c:pt>
            </c:numLit>
          </c:val>
        </c:ser>
        <c:ser>
          <c:idx val="3"/>
          <c:order val="3"/>
          <c:tx>
            <c:v>Bradesco</c:v>
          </c:tx>
          <c:spPr>
            <a:solidFill>
              <a:srgbClr val="454A4F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0.6403486231000001</c:v>
              </c:pt>
              <c:pt idx="1">
                <c:v>1.11949597452</c:v>
              </c:pt>
              <c:pt idx="2">
                <c:v>1.66454381844</c:v>
              </c:pt>
              <c:pt idx="3">
                <c:v>1.88389156603</c:v>
              </c:pt>
            </c:numLit>
          </c:val>
        </c:ser>
        <c:ser>
          <c:idx val="4"/>
          <c:order val="4"/>
          <c:tx>
            <c:v>Banco do Brasil</c:v>
          </c:tx>
          <c:spPr>
            <a:solidFill>
              <a:srgbClr val="D6A8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0.05108505535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>
              <a:srgbClr val="2456D6"/>
            </a:solidFill>
          </c:spPr>
          <c:dPt>
            <c:idx val="0"/>
            <c:invertIfNegative val="0"/>
            <c:spPr>
              <a:solidFill>
                <a:srgbClr val="2456D6"/>
              </a:solidFill>
            </c:spPr>
          </c:dPt>
          <c:dPt>
            <c:idx val="1"/>
            <c:invertIfNegative val="0"/>
            <c:spPr>
              <a:solidFill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83.49494764802999</c:v>
              </c:pt>
              <c:pt idx="1">
                <c:v>3.5498953478999997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>
              <a:srgbClr val="1D4080"/>
            </a:solidFill>
          </c:spPr>
          <c:dPt>
            <c:idx val="0"/>
            <c:invertIfNegative val="0"/>
            <c:spPr>
              <a:solidFill>
                <a:srgbClr val="1D408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sem coorte bancária</c:v>
              </c:pt>
            </c:strLit>
          </c:cat>
          <c:val>
            <c:numLit>
              <c:formatCode>0.0</c:formatCode>
              <c:ptCount val="3"/>
              <c:pt idx="0">
                <c:v>79.11922838494</c:v>
              </c:pt>
              <c:pt idx="1">
                <c:v>40.32919650402</c:v>
              </c:pt>
              <c:pt idx="2">
                <c:v>27.842201097290015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0.1116763306350601</c:v>
              </c:pt>
              <c:pt idx="1">
                <c:v>0.6782283246807754</c:v>
              </c:pt>
              <c:pt idx="2">
                <c:v>0.0450938092637845</c:v>
              </c:pt>
              <c:pt idx="3">
                <c:v>0.0383225339956283</c:v>
              </c:pt>
              <c:pt idx="4">
                <c:v>0.0555263851137853</c:v>
              </c:pt>
              <c:pt idx="5">
                <c:v>0.1191594010470072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0.1390963456785791</c:v>
              </c:pt>
              <c:pt idx="1">
                <c:v>0.0085369657675623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0.3313177990979622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0.0840999608667202</c:v>
              </c:pt>
              <c:pt idx="1">
                <c:v>0.0060998187147488</c:v>
              </c:pt>
              <c:pt idx="2">
                <c:v>0.0121996377120526</c:v>
              </c:pt>
              <c:pt idx="3">
                <c:v>0.1576375144502833</c:v>
              </c:pt>
              <c:pt idx="4">
                <c:v>0.1003776283557518</c:v>
              </c:pt>
              <c:pt idx="5">
                <c:v>0.0466955779633413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0.0146265486635242</c:v>
              </c:pt>
              <c:pt idx="1">
                <c:v>0.009628795711521</c:v>
              </c:pt>
              <c:pt idx="2">
                <c:v>0.0718716845273516</c:v>
              </c:pt>
              <c:pt idx="3">
                <c:v>0.0746723052215733</c:v>
              </c:pt>
              <c:pt idx="4">
                <c:v>0.253591336198019</c:v>
              </c:pt>
              <c:pt idx="5">
                <c:v>0.3084942496785164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0.0225383075558926</c:v>
              </c:pt>
              <c:pt idx="2">
                <c:v>0.1478667482986454</c:v>
              </c:pt>
              <c:pt idx="3">
                <c:v>0.1403255782349483</c:v>
              </c:pt>
              <c:pt idx="4">
                <c:v>0</c:v>
              </c:pt>
              <c:pt idx="5">
                <c:v>5.061082168693914E-05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0.0452554036899924</c:v>
              </c:pt>
              <c:pt idx="1">
                <c:v>0.0014290426740686</c:v>
              </c:pt>
              <c:pt idx="2">
                <c:v>0.0938211651306432</c:v>
              </c:pt>
              <c:pt idx="3">
                <c:v>0.1266642208703755</c:v>
              </c:pt>
              <c:pt idx="4">
                <c:v>0.2292028070380465</c:v>
              </c:pt>
              <c:pt idx="5">
                <c:v>0.0097144159325523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0.0679529812812936</c:v>
              </c:pt>
              <c:pt idx="1">
                <c:v>0.0093365494192045</c:v>
              </c:pt>
              <c:pt idx="2">
                <c:v>0.0435322365450096</c:v>
              </c:pt>
              <c:pt idx="3">
                <c:v>0.0006615413000011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0.0084504260439428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0.0265752299531593</c:v>
              </c:pt>
              <c:pt idx="1">
                <c:v>0.0407324745725011</c:v>
              </c:pt>
              <c:pt idx="2">
                <c:v>0.041430326101634</c:v>
              </c:pt>
              <c:pt idx="3">
                <c:v>0.0163428047472977</c:v>
              </c:pt>
              <c:pt idx="4">
                <c:v>0.006670926137507</c:v>
              </c:pt>
              <c:pt idx="5">
                <c:v>0.0543763088929269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0.3859616853035125</c:v>
              </c:pt>
              <c:pt idx="1">
                <c:v>0.188336941366163</c:v>
              </c:pt>
              <c:pt idx="2">
                <c:v>0.2466092951847047</c:v>
              </c:pt>
              <c:pt idx="3">
                <c:v>0.2518978769172617</c:v>
              </c:pt>
              <c:pt idx="4">
                <c:v>0.0646548691339009</c:v>
              </c:pt>
              <c:pt idx="5">
                <c:v>0.1217412105220637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0.0500957774921574</c:v>
              </c:pt>
              <c:pt idx="1">
                <c:v>0.0012525299906187</c:v>
              </c:pt>
              <c:pt idx="2">
                <c:v>0.2535264495160129</c:v>
              </c:pt>
              <c:pt idx="3">
                <c:v>0.0462427868594103</c:v>
              </c:pt>
              <c:pt idx="4">
                <c:v>0.2758716420451991</c:v>
              </c:pt>
              <c:pt idx="5">
                <c:v>0.3233036682243127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0.0469523725398685</c:v>
              </c:pt>
              <c:pt idx="1">
                <c:v>0.0225383075558926</c:v>
              </c:pt>
              <c:pt idx="2">
                <c:v>0.0909821352025632</c:v>
              </c:pt>
              <c:pt idx="3">
                <c:v>0.1379781899976271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0.0019669412013587</c:v>
              </c:pt>
              <c:pt idx="1">
                <c:v>0.0007064267423984</c:v>
              </c:pt>
              <c:pt idx="2">
                <c:v>0.0510761668947442</c:v>
              </c:pt>
              <c:pt idx="3">
                <c:v>0.0481316360628852</c:v>
              </c:pt>
              <c:pt idx="4">
                <c:v>0.1937323312865176</c:v>
              </c:pt>
              <c:pt idx="5">
                <c:v>0.2251967686157905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0.0220612214253641</c:v>
              </c:pt>
              <c:pt idx="1">
                <c:v>0</c:v>
              </c:pt>
              <c:pt idx="2">
                <c:v>0.0733873168779346</c:v>
              </c:pt>
              <c:pt idx="3">
                <c:v>0.1081333878129026</c:v>
              </c:pt>
              <c:pt idx="4">
                <c:v>0.0942677758415833</c:v>
              </c:pt>
              <c:pt idx="5">
                <c:v>0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0.006031214274127</c:v>
              </c:pt>
              <c:pt idx="1">
                <c:v>0.2254820036895443</c:v>
              </c:pt>
              <c:pt idx="2">
                <c:v>0.0044598510745928</c:v>
              </c:pt>
              <c:pt idx="3">
                <c:v>0.0024475116853231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0.0450847430474019</c:v>
              </c:pt>
              <c:pt idx="1">
                <c:v>0</c:v>
              </c:pt>
              <c:pt idx="2">
                <c:v>0.0171026340935401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0.0205891110813994</c:v>
              </c:pt>
              <c:pt idx="1">
                <c:v>0.0353488694975699</c:v>
              </c:pt>
              <c:pt idx="2">
                <c:v>0.0103281819969092</c:v>
              </c:pt>
              <c:pt idx="3">
                <c:v>0.0170236300688781</c:v>
              </c:pt>
              <c:pt idx="4">
                <c:v>0.0213932153161958</c:v>
              </c:pt>
              <c:pt idx="5">
                <c:v>0.0588066657932295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0.0124160176066826</c:v>
              </c:pt>
              <c:pt idx="1">
                <c:v>0</c:v>
              </c:pt>
              <c:pt idx="2">
                <c:v>0.0921407401194705</c:v>
              </c:pt>
              <c:pt idx="3">
                <c:v>0.0070214132164745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0.0056678347405107</c:v>
              </c:pt>
              <c:pt idx="1">
                <c:v>0.0058311829957581</c:v>
              </c:pt>
              <c:pt idx="2">
                <c:v>0.072361729110744</c:v>
              </c:pt>
              <c:pt idx="3">
                <c:v>0.0067039718840054</c:v>
              </c:pt>
              <c:pt idx="4">
                <c:v>0.0020264986777547</c:v>
              </c:pt>
              <c:pt idx="5">
                <c:v>0.0059850887644436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5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0.0081687112550485</c:v>
              </c:pt>
              <c:pt idx="1">
                <c:v>0.0031211412936085</c:v>
              </c:pt>
              <c:pt idx="2">
                <c:v>0.0018544989739266</c:v>
              </c:pt>
              <c:pt idx="3">
                <c:v>0.0644142962449783</c:v>
              </c:pt>
              <c:pt idx="4">
                <c:v>0.0996900292425515</c:v>
              </c:pt>
              <c:pt idx="5">
                <c:v>0.0090591090265077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0.7803731753534665</c:v>
              </c:pt>
              <c:pt idx="1">
                <c:v>0.7049428932208924</c:v>
              </c:pt>
              <c:pt idx="2">
                <c:v>0.3287800173132373</c:v>
              </c:pt>
              <c:pt idx="3">
                <c:v>0.5619031761675151</c:v>
              </c:pt>
              <c:pt idx="4">
                <c:v>0.3130185075901977</c:v>
              </c:pt>
              <c:pt idx="5">
                <c:v>0.3775980887540289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94589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0.0005928799826141</c:v>
              </c:pt>
              <c:pt idx="1">
                <c:v>0.0007766450137169</c:v>
              </c:pt>
              <c:pt idx="2">
                <c:v>0.0040002788263241</c:v>
              </c:pt>
              <c:pt idx="3">
                <c:v>0</c:v>
              </c:pt>
              <c:pt idx="4">
                <c:v>0</c:v>
              </c:pt>
              <c:pt idx="5">
                <c:v>5.061082168693914E-05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0.1385988512304118</c:v>
              </c:pt>
              <c:pt idx="1">
                <c:v>0.0027057827718041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0.3313177990979622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0.1110650498414056</c:v>
              </c:pt>
              <c:pt idx="1">
                <c:v>0.6759912968773222</c:v>
              </c:pt>
              <c:pt idx="2">
                <c:v>0.0451499232981444</c:v>
              </c:pt>
              <c:pt idx="3">
                <c:v>0.0382941953359548</c:v>
              </c:pt>
              <c:pt idx="4">
                <c:v>0.0500143231646444</c:v>
              </c:pt>
              <c:pt idx="5">
                <c:v>0.1184983159999287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0.0367401725104139</c:v>
              </c:pt>
              <c:pt idx="1">
                <c:v>0.0271351448333965</c:v>
              </c:pt>
              <c:pt idx="2">
                <c:v>0.1734502780656785</c:v>
              </c:pt>
              <c:pt idx="3">
                <c:v>0.0746723052215733</c:v>
              </c:pt>
              <c:pt idx="4">
                <c:v>0.254399426087156</c:v>
              </c:pt>
              <c:pt idx="5">
                <c:v>0.3092763527579982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0.0901371033135809</c:v>
              </c:pt>
              <c:pt idx="1">
                <c:v>0.0060998187147488</c:v>
              </c:pt>
              <c:pt idx="2">
                <c:v>0.0338901250913308</c:v>
              </c:pt>
              <c:pt idx="3">
                <c:v>0.1662834134085645</c:v>
              </c:pt>
              <c:pt idx="4">
                <c:v>0.1003776283557518</c:v>
              </c:pt>
              <c:pt idx="5">
                <c:v>0.0466955779633413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0.0170780158717631</c:v>
              </c:pt>
              <c:pt idx="2">
                <c:v>0.1117385096852637</c:v>
              </c:pt>
              <c:pt idx="3">
                <c:v>0.1399668200066018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0.0341699412912885</c:v>
              </c:pt>
              <c:pt idx="1">
                <c:v>0.0014290426740686</c:v>
              </c:pt>
              <c:pt idx="2">
                <c:v>0.0924387555066889</c:v>
              </c:pt>
              <c:pt idx="3">
                <c:v>0.1266642208703755</c:v>
              </c:pt>
              <c:pt idx="4">
                <c:v>0.1377649003513394</c:v>
              </c:pt>
              <c:pt idx="5">
                <c:v>0.0097144159325523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133506669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0.0766621333152516</c:v>
              </c:pt>
              <c:pt idx="1">
                <c:v>0.0001847303014918</c:v>
              </c:pt>
              <c:pt idx="2">
                <c:v>1.9023858238375103E-05</c:v>
              </c:pt>
              <c:pt idx="3">
                <c:v>0.0013441224672684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0.0529133378830142</c:v>
              </c:pt>
              <c:pt idx="1">
                <c:v>0.0093365494192045</c:v>
              </c:pt>
              <c:pt idx="2">
                <c:v>0.0171026340935401</c:v>
              </c:pt>
              <c:pt idx="3">
                <c:v>0.0006615413000011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0.0084504260439428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0.3241701231603555</c:v>
              </c:pt>
              <c:pt idx="1">
                <c:v>0.2115480334239259</c:v>
              </c:pt>
              <c:pt idx="2">
                <c:v>0.160647830710761</c:v>
              </c:pt>
              <c:pt idx="3">
                <c:v>0.2568686718762569</c:v>
              </c:pt>
              <c:pt idx="4">
                <c:v>0.1673666661701728</c:v>
              </c:pt>
              <c:pt idx="5">
                <c:v>0.1759965013825875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-0.01994949607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94589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0.0107877735261191</c:v>
              </c:pt>
              <c:pt idx="1">
                <c:v>0.0133588055747116</c:v>
              </c:pt>
              <c:pt idx="2">
                <c:v>0.0679878224541797</c:v>
              </c:pt>
              <c:pt idx="3">
                <c:v>0.0017690852507729</c:v>
              </c:pt>
              <c:pt idx="4">
                <c:v>0.0001010078479461</c:v>
              </c:pt>
              <c:pt idx="5">
                <c:v>5.061082168693914E-05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0.6782283246807754</c:v>
              </c:pt>
              <c:pt idx="1">
                <c:v>0.2831240514453489</c:v>
              </c:pt>
              <c:pt idx="2">
                <c:v>0.1191594010470072</c:v>
              </c:pt>
              <c:pt idx="3">
                <c:v>0.0555263851137853</c:v>
              </c:pt>
              <c:pt idx="4">
                <c:v>0.0691691486679832</c:v>
              </c:pt>
              <c:pt idx="5">
                <c:v>0.0383225339956283</c:v>
              </c:pt>
              <c:pt idx="6">
                <c:v>0</c:v>
              </c:pt>
              <c:pt idx="7">
                <c:v>0.0450938092637845</c:v>
              </c:pt>
              <c:pt idx="8">
                <c:v>0</c:v>
              </c:pt>
              <c:pt idx="9">
                <c:v>0.2264353570509752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0.1116763306350601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0.0085369657675623</c:v>
              </c:pt>
              <c:pt idx="1">
                <c:v>0</c:v>
              </c:pt>
              <c:pt idx="2">
                <c:v>0.3313177990979622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0.1390963456785791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0.0466955779633413</c:v>
              </c:pt>
              <c:pt idx="3">
                <c:v>0.1003776283557518</c:v>
              </c:pt>
              <c:pt idx="4">
                <c:v>0.0518572977986845</c:v>
              </c:pt>
              <c:pt idx="5">
                <c:v>0.1576375144502833</c:v>
              </c:pt>
              <c:pt idx="6">
                <c:v>0.0563502288601275</c:v>
              </c:pt>
              <c:pt idx="7">
                <c:v>0.0121996377120526</c:v>
              </c:pt>
              <c:pt idx="8">
                <c:v>0.0953592279385335</c:v>
              </c:pt>
              <c:pt idx="9">
                <c:v>0.2191987728818734</c:v>
              </c:pt>
              <c:pt idx="10">
                <c:v>0.0851975999676302</c:v>
              </c:pt>
              <c:pt idx="11">
                <c:v>0.0775017988341624</c:v>
              </c:pt>
              <c:pt idx="12">
                <c:v>0.0561734532046676</c:v>
              </c:pt>
              <c:pt idx="13">
                <c:v>0.0840999608667202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0.009628795711521</c:v>
              </c:pt>
              <c:pt idx="1">
                <c:v>0.210187707644898</c:v>
              </c:pt>
              <c:pt idx="2">
                <c:v>0.3084942496785164</c:v>
              </c:pt>
              <c:pt idx="3">
                <c:v>0.253591336198019</c:v>
              </c:pt>
              <c:pt idx="4">
                <c:v>0</c:v>
              </c:pt>
              <c:pt idx="5">
                <c:v>0.0746723052215733</c:v>
              </c:pt>
              <c:pt idx="6">
                <c:v>0.2170108713330027</c:v>
              </c:pt>
              <c:pt idx="7">
                <c:v>0.0718716845273516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0.0533268146890519</c:v>
              </c:pt>
              <c:pt idx="13">
                <c:v>0.0146265486635242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5.061082168693914E-05</c:v>
              </c:pt>
              <c:pt idx="3">
                <c:v>0</c:v>
              </c:pt>
              <c:pt idx="4">
                <c:v>0.4931230015075811</c:v>
              </c:pt>
              <c:pt idx="5">
                <c:v>0.1403255782349483</c:v>
              </c:pt>
              <c:pt idx="6">
                <c:v>0</c:v>
              </c:pt>
              <c:pt idx="7">
                <c:v>0.1478667482986454</c:v>
              </c:pt>
              <c:pt idx="8">
                <c:v>0.1537184307008739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0.0089665861260677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0.0097144159325523</c:v>
              </c:pt>
              <c:pt idx="3">
                <c:v>0.2292028070380465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0.0938211651306432</c:v>
              </c:pt>
              <c:pt idx="8">
                <c:v>0.0222904487757394</c:v>
              </c:pt>
              <c:pt idx="9">
                <c:v>0.0947363671905799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0.0452554036899924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0.0435322365450096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0.0679529812812936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0.0719893561435586</c:v>
              </c:pt>
              <c:pt idx="2">
                <c:v>0.0084504260439428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0.0407324745725011</c:v>
              </c:pt>
              <c:pt idx="1">
                <c:v>0.0052736633265841</c:v>
              </c:pt>
              <c:pt idx="2">
                <c:v>0.0543763088929269</c:v>
              </c:pt>
              <c:pt idx="3">
                <c:v>0.006670926137507</c:v>
              </c:pt>
              <c:pt idx="4">
                <c:v>0</c:v>
              </c:pt>
              <c:pt idx="5">
                <c:v>0.0163428047472977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0.088274982113552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0.0265752299531593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0.188336941366163</c:v>
              </c:pt>
              <c:pt idx="1">
                <c:v>0.1786693066876506</c:v>
              </c:pt>
              <c:pt idx="2">
                <c:v>0.1217412105220637</c:v>
              </c:pt>
              <c:pt idx="3">
                <c:v>0.0646548691339009</c:v>
              </c:pt>
              <c:pt idx="4">
                <c:v>0.3650060218993778</c:v>
              </c:pt>
              <c:pt idx="5">
                <c:v>0.2518978769172617</c:v>
              </c:pt>
              <c:pt idx="6">
                <c:v>0.4796422511001229</c:v>
              </c:pt>
              <c:pt idx="7">
                <c:v>0.2466092951847047</c:v>
              </c:pt>
              <c:pt idx="8">
                <c:v>0.2655837740268318</c:v>
              </c:pt>
              <c:pt idx="9">
                <c:v>0.1411084314958586</c:v>
              </c:pt>
              <c:pt idx="10">
                <c:v>0.2848443838437823</c:v>
              </c:pt>
              <c:pt idx="11">
                <c:v>0.6847170379852451</c:v>
              </c:pt>
              <c:pt idx="12">
                <c:v>0.286555225457034</c:v>
              </c:pt>
              <c:pt idx="13">
                <c:v>0.3859616853035125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360856910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53400999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0.0012525299906187</c:v>
              </c:pt>
              <c:pt idx="1">
                <c:v>0</c:v>
              </c:pt>
              <c:pt idx="2">
                <c:v>0.3233036682243127</c:v>
              </c:pt>
              <c:pt idx="3">
                <c:v>0.2758716420451991</c:v>
              </c:pt>
              <c:pt idx="4">
                <c:v>0</c:v>
              </c:pt>
              <c:pt idx="5">
                <c:v>0.0462427868594103</c:v>
              </c:pt>
              <c:pt idx="6">
                <c:v>0</c:v>
              </c:pt>
              <c:pt idx="7">
                <c:v>0.2535264495160129</c:v>
              </c:pt>
              <c:pt idx="8">
                <c:v>0.1537184307008739</c:v>
              </c:pt>
              <c:pt idx="9">
                <c:v>0.0112782861788371</c:v>
              </c:pt>
              <c:pt idx="10">
                <c:v>0.0314890119720234</c:v>
              </c:pt>
              <c:pt idx="11">
                <c:v>0.0048931980001534</c:v>
              </c:pt>
              <c:pt idx="12">
                <c:v>0.0726718301479003</c:v>
              </c:pt>
              <c:pt idx="13">
                <c:v>0.0500957774921574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0.4116196761376808</c:v>
              </c:pt>
              <c:pt idx="5">
                <c:v>0.1379781899976271</c:v>
              </c:pt>
              <c:pt idx="6">
                <c:v>0</c:v>
              </c:pt>
              <c:pt idx="7">
                <c:v>0.0909821352025632</c:v>
              </c:pt>
              <c:pt idx="8">
                <c:v>0</c:v>
              </c:pt>
              <c:pt idx="9">
                <c:v>0</c:v>
              </c:pt>
              <c:pt idx="10">
                <c:v>0.0295771875973997</c:v>
              </c:pt>
              <c:pt idx="11">
                <c:v>0</c:v>
              </c:pt>
              <c:pt idx="12">
                <c:v>0.0089665861260677</c:v>
              </c:pt>
              <c:pt idx="13">
                <c:v>0.0469523725398685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72433569168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0.0007064267423984</c:v>
              </c:pt>
              <c:pt idx="1">
                <c:v>0.0399878754183617</c:v>
              </c:pt>
              <c:pt idx="2">
                <c:v>0.2251967686157905</c:v>
              </c:pt>
              <c:pt idx="3">
                <c:v>0.1937323312865176</c:v>
              </c:pt>
              <c:pt idx="4">
                <c:v>0</c:v>
              </c:pt>
              <c:pt idx="5">
                <c:v>0.0481316360628852</c:v>
              </c:pt>
              <c:pt idx="6">
                <c:v>0.126791509057339</c:v>
              </c:pt>
              <c:pt idx="7">
                <c:v>0.0510761668947442</c:v>
              </c:pt>
              <c:pt idx="8">
                <c:v>0.046663448988578</c:v>
              </c:pt>
              <c:pt idx="9">
                <c:v>0.0029567138086895</c:v>
              </c:pt>
              <c:pt idx="10">
                <c:v>0.0090278528000783</c:v>
              </c:pt>
              <c:pt idx="11">
                <c:v>0</c:v>
              </c:pt>
              <c:pt idx="12">
                <c:v>0.0319409306110538</c:v>
              </c:pt>
              <c:pt idx="13">
                <c:v>0.0019669412013587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30398527386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0.0106586751100265</c:v>
              </c:pt>
              <c:pt idx="2">
                <c:v>0</c:v>
              </c:pt>
              <c:pt idx="3">
                <c:v>0.0942677758415833</c:v>
              </c:pt>
              <c:pt idx="4">
                <c:v>0</c:v>
              </c:pt>
              <c:pt idx="5">
                <c:v>0.1081333878129026</c:v>
              </c:pt>
              <c:pt idx="6">
                <c:v>0</c:v>
              </c:pt>
              <c:pt idx="7">
                <c:v>0.0733873168779346</c:v>
              </c:pt>
              <c:pt idx="8">
                <c:v>0.0001522837473257</c:v>
              </c:pt>
              <c:pt idx="9">
                <c:v>0.005450294547657</c:v>
              </c:pt>
              <c:pt idx="10">
                <c:v>0</c:v>
              </c:pt>
              <c:pt idx="11">
                <c:v>0</c:v>
              </c:pt>
              <c:pt idx="12">
                <c:v>0.0014030424128084</c:v>
              </c:pt>
              <c:pt idx="13">
                <c:v>0.0220612214253641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0.2254820036895443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0.0024475116853231</c:v>
              </c:pt>
              <c:pt idx="6">
                <c:v>0</c:v>
              </c:pt>
              <c:pt idx="7">
                <c:v>0.0044598510745928</c:v>
              </c:pt>
              <c:pt idx="8">
                <c:v>0.0089359813995084</c:v>
              </c:pt>
              <c:pt idx="9">
                <c:v>0</c:v>
              </c:pt>
              <c:pt idx="10">
                <c:v>0.0115869717776985</c:v>
              </c:pt>
              <c:pt idx="11">
                <c:v>0</c:v>
              </c:pt>
              <c:pt idx="12">
                <c:v>0</c:v>
              </c:pt>
              <c:pt idx="13">
                <c:v>0.006031214274127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0.1028786530413462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0.1004163448849682</c:v>
              </c:pt>
              <c:pt idx="10">
                <c:v>0</c:v>
              </c:pt>
              <c:pt idx="11">
                <c:v>0</c:v>
              </c:pt>
              <c:pt idx="12">
                <c:v>0.0258977954276094</c:v>
              </c:pt>
              <c:pt idx="13">
                <c:v>0.0450847430474019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.01498145723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0.0353488694975699</c:v>
              </c:pt>
              <c:pt idx="1">
                <c:v>0</c:v>
              </c:pt>
              <c:pt idx="2">
                <c:v>0.0588066657932295</c:v>
              </c:pt>
              <c:pt idx="3">
                <c:v>0.0213932153161958</c:v>
              </c:pt>
              <c:pt idx="4">
                <c:v>0</c:v>
              </c:pt>
              <c:pt idx="5">
                <c:v>0.0170236300688781</c:v>
              </c:pt>
              <c:pt idx="6">
                <c:v>0</c:v>
              </c:pt>
              <c:pt idx="7">
                <c:v>0.0103281819969092</c:v>
              </c:pt>
              <c:pt idx="8">
                <c:v>0.0471192664026394</c:v>
              </c:pt>
              <c:pt idx="9">
                <c:v>0</c:v>
              </c:pt>
              <c:pt idx="10">
                <c:v>0.0047678128094529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0.0205891110813994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8565772027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0.0888616776787807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0.0070214132164745</c:v>
              </c:pt>
              <c:pt idx="6">
                <c:v>0</c:v>
              </c:pt>
              <c:pt idx="7">
                <c:v>0.0921407401194705</c:v>
              </c:pt>
              <c:pt idx="8">
                <c:v>0</c:v>
              </c:pt>
              <c:pt idx="9">
                <c:v>0</c:v>
              </c:pt>
              <c:pt idx="10">
                <c:v>0.0111310339707986</c:v>
              </c:pt>
              <c:pt idx="11">
                <c:v>0</c:v>
              </c:pt>
              <c:pt idx="12">
                <c:v>0.0642625485190267</c:v>
              </c:pt>
              <c:pt idx="13">
                <c:v>0.0124160176066826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0.0058311829957581</c:v>
              </c:pt>
              <c:pt idx="1">
                <c:v>0</c:v>
              </c:pt>
              <c:pt idx="2">
                <c:v>0.0059850887644436</c:v>
              </c:pt>
              <c:pt idx="3">
                <c:v>0.0020264986777547</c:v>
              </c:pt>
              <c:pt idx="4">
                <c:v>0.3970784801516897</c:v>
              </c:pt>
              <c:pt idx="5">
                <c:v>0.0067039718840054</c:v>
              </c:pt>
              <c:pt idx="6">
                <c:v>0</c:v>
              </c:pt>
              <c:pt idx="7">
                <c:v>0.072361729110744</c:v>
              </c:pt>
              <c:pt idx="8">
                <c:v>0.0559076995390602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0.0056678347405107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0.0031211412936085</c:v>
              </c:pt>
              <c:pt idx="1">
                <c:v>0</c:v>
              </c:pt>
              <c:pt idx="2">
                <c:v>0.0090591090265077</c:v>
              </c:pt>
              <c:pt idx="3">
                <c:v>0.0996900292425515</c:v>
              </c:pt>
              <c:pt idx="4">
                <c:v>0.0012378025558711</c:v>
              </c:pt>
              <c:pt idx="5">
                <c:v>0.0644142962449783</c:v>
              </c:pt>
              <c:pt idx="6">
                <c:v>0</c:v>
              </c:pt>
              <c:pt idx="7">
                <c:v>0.0018544989739266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0.0081687112550485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0.7049428932208924</c:v>
              </c:pt>
              <c:pt idx="1">
                <c:v>0.7576131187514845</c:v>
              </c:pt>
              <c:pt idx="2">
                <c:v>0.3775980887540289</c:v>
              </c:pt>
              <c:pt idx="3">
                <c:v>0.3130185075901977</c:v>
              </c:pt>
              <c:pt idx="4">
                <c:v>0.190064041154758</c:v>
              </c:pt>
              <c:pt idx="5">
                <c:v>0.5619031761675151</c:v>
              </c:pt>
              <c:pt idx="6">
                <c:v>0.7921503174998235</c:v>
              </c:pt>
              <c:pt idx="7">
                <c:v>0.3287800173132373</c:v>
              </c:pt>
              <c:pt idx="8">
                <c:v>0.6875028892220143</c:v>
              </c:pt>
              <c:pt idx="9">
                <c:v>0.803030339883502</c:v>
              </c:pt>
              <c:pt idx="10">
                <c:v>0.9024201290725482</c:v>
              </c:pt>
              <c:pt idx="11">
                <c:v>0.9948561124641392</c:v>
              </c:pt>
              <c:pt idx="12">
                <c:v>0.7941948271502433</c:v>
              </c:pt>
              <c:pt idx="13">
                <c:v>0.7803731753534665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18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94589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0.0007766450137169</c:v>
              </c:pt>
              <c:pt idx="1">
                <c:v>0</c:v>
              </c:pt>
              <c:pt idx="2">
                <c:v>5.061082168693914E-05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0.0040002788263241</c:v>
              </c:pt>
              <c:pt idx="8">
                <c:v>0</c:v>
              </c:pt>
              <c:pt idx="9">
                <c:v>0.076868020696346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0.0005928799826141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.01024538675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0.0027057827718041</c:v>
              </c:pt>
              <c:pt idx="1">
                <c:v>0</c:v>
              </c:pt>
              <c:pt idx="2">
                <c:v>0.3313177990979622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0.1385988512304118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0.6759912968773222</c:v>
              </c:pt>
              <c:pt idx="1">
                <c:v>0.2831240514453489</c:v>
              </c:pt>
              <c:pt idx="2">
                <c:v>0.1184983159999287</c:v>
              </c:pt>
              <c:pt idx="3">
                <c:v>0.0500143231646444</c:v>
              </c:pt>
              <c:pt idx="4">
                <c:v>0.0691691486679832</c:v>
              </c:pt>
              <c:pt idx="5">
                <c:v>0.0382941953359548</c:v>
              </c:pt>
              <c:pt idx="6">
                <c:v>0</c:v>
              </c:pt>
              <c:pt idx="7">
                <c:v>0.0451499232981444</c:v>
              </c:pt>
              <c:pt idx="8">
                <c:v>0</c:v>
              </c:pt>
              <c:pt idx="9">
                <c:v>0.1510800867413979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0.1110650498414056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0.0271351448333965</c:v>
              </c:pt>
              <c:pt idx="1">
                <c:v>0.2481574168942679</c:v>
              </c:pt>
              <c:pt idx="2">
                <c:v>0.3092763527579982</c:v>
              </c:pt>
              <c:pt idx="3">
                <c:v>0.254399426087156</c:v>
              </c:pt>
              <c:pt idx="4">
                <c:v>0.014041110348548</c:v>
              </c:pt>
              <c:pt idx="5">
                <c:v>0.0746723052215733</c:v>
              </c:pt>
              <c:pt idx="6">
                <c:v>0.2448971414342989</c:v>
              </c:pt>
              <c:pt idx="7">
                <c:v>0.1734502780656785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0.0285286777700744</c:v>
              </c:pt>
              <c:pt idx="13">
                <c:v>0.0367401725104139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0.0466955779633413</c:v>
              </c:pt>
              <c:pt idx="3">
                <c:v>0.1003776283557518</c:v>
              </c:pt>
              <c:pt idx="4">
                <c:v>0.0518572977986845</c:v>
              </c:pt>
              <c:pt idx="5">
                <c:v>0.1662834134085645</c:v>
              </c:pt>
              <c:pt idx="6">
                <c:v>0.0563502288601275</c:v>
              </c:pt>
              <c:pt idx="7">
                <c:v>0.0338901250913308</c:v>
              </c:pt>
              <c:pt idx="8">
                <c:v>0.0925444086270469</c:v>
              </c:pt>
              <c:pt idx="9">
                <c:v>0.2191987728818734</c:v>
              </c:pt>
              <c:pt idx="10">
                <c:v>0.1894161385363026</c:v>
              </c:pt>
              <c:pt idx="11">
                <c:v>0.0775017988341624</c:v>
              </c:pt>
              <c:pt idx="12">
                <c:v>0.0561734532046676</c:v>
              </c:pt>
              <c:pt idx="13">
                <c:v>0.0901371033135809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0.0170780158717631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0.4931230015075811</c:v>
              </c:pt>
              <c:pt idx="5">
                <c:v>0.1399668200066018</c:v>
              </c:pt>
              <c:pt idx="6">
                <c:v>0.1284482453683068</c:v>
              </c:pt>
              <c:pt idx="7">
                <c:v>0.1117385096852637</c:v>
              </c:pt>
              <c:pt idx="8">
                <c:v>0.1565332500123605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0.0337647230450451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0.0097144159325523</c:v>
              </c:pt>
              <c:pt idx="3">
                <c:v>0.1377649003513394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0.0924387555066889</c:v>
              </c:pt>
              <c:pt idx="8">
                <c:v>0.0222904487757394</c:v>
              </c:pt>
              <c:pt idx="9">
                <c:v>0.0932236168038112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0.0341699412912885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"/>
                  <c:y val="0.0133506669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0.0001847303014918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0.0013441224672684</c:v>
              </c:pt>
              <c:pt idx="6">
                <c:v>0</c:v>
              </c:pt>
              <c:pt idx="7">
                <c:v>1.9023858238375103E-05</c:v>
              </c:pt>
              <c:pt idx="8">
                <c:v>0.0029359315231281</c:v>
              </c:pt>
              <c:pt idx="9">
                <c:v>0</c:v>
              </c:pt>
              <c:pt idx="10">
                <c:v>0</c:v>
              </c:pt>
              <c:pt idx="11">
                <c:v>0.0446982964925705</c:v>
              </c:pt>
              <c:pt idx="12">
                <c:v>0.0475501029412941</c:v>
              </c:pt>
              <c:pt idx="13">
                <c:v>0.0766621333152516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0.0529133378830142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0.0724628706745208</c:v>
              </c:pt>
              <c:pt idx="2">
                <c:v>0.0084504260439428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0.2115480334239259</c:v>
              </c:pt>
              <c:pt idx="1">
                <c:v>0.1454997462339026</c:v>
              </c:pt>
              <c:pt idx="2">
                <c:v>0.1759965013825875</c:v>
              </c:pt>
              <c:pt idx="3">
                <c:v>0.1673666661701728</c:v>
              </c:pt>
              <c:pt idx="4">
                <c:v>0.3509649115508297</c:v>
              </c:pt>
              <c:pt idx="5">
                <c:v>0.2568686718762569</c:v>
              </c:pt>
              <c:pt idx="6">
                <c:v>0.3249582640332574</c:v>
              </c:pt>
              <c:pt idx="7">
                <c:v>0.160647830710761</c:v>
              </c:pt>
              <c:pt idx="8">
                <c:v>0.3273090934316863</c:v>
              </c:pt>
              <c:pt idx="9">
                <c:v>0.1411084314958586</c:v>
              </c:pt>
              <c:pt idx="10">
                <c:v>0.2666485455225821</c:v>
              </c:pt>
              <c:pt idx="11">
                <c:v>0.6402694310283819</c:v>
              </c:pt>
              <c:pt idx="12">
                <c:v>0.2391091484443289</c:v>
              </c:pt>
              <c:pt idx="13">
                <c:v>0.3241701231603555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94589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-0.01994949607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-0.019520967498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-0.0188738590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20793161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0.0133588055747116</c:v>
              </c:pt>
              <c:pt idx="1">
                <c:v>0</c:v>
              </c:pt>
              <c:pt idx="2">
                <c:v>5.061082168693914E-05</c:v>
              </c:pt>
              <c:pt idx="3">
                <c:v>0.0001010078479461</c:v>
              </c:pt>
              <c:pt idx="4">
                <c:v>0</c:v>
              </c:pt>
              <c:pt idx="5">
                <c:v>0.0017690852507729</c:v>
              </c:pt>
              <c:pt idx="6">
                <c:v>0.0009580650024143</c:v>
              </c:pt>
              <c:pt idx="7">
                <c:v>0.0679878224541797</c:v>
              </c:pt>
              <c:pt idx="8">
                <c:v>0</c:v>
              </c:pt>
              <c:pt idx="9">
                <c:v>0.076868020696346</c:v>
              </c:pt>
              <c:pt idx="10">
                <c:v>0.0022522818660797</c:v>
              </c:pt>
              <c:pt idx="11">
                <c:v>0</c:v>
              </c:pt>
              <c:pt idx="12">
                <c:v>0.0005584136767011</c:v>
              </c:pt>
              <c:pt idx="13">
                <c:v>0.0107877735261191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A91A04-5B4A-48DF-AC1D-32B95AD2F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B3199A-E0BC-41E0-9D63-529A20C9B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2039C9-267A-4314-9D9B-139668F32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DCAF8B-AF95-40D4-ADB9-25C6767D8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F226A3-3BC9-43C4-AD37-21BCA0AB9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30 de junho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8D2012-0E7E-4E45-B30F-AA9AEC583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até 30 de junho de 2026; comparativo ANBIMA até 31 de maio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D518B1-6AB3-4437-BCB9-CD5807056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Junho de 2026</a:t>
            </a:r>
          </a:p>
        </p:txBody>
      </p:sp>
    </p:spTree>
    <p:extLst>
      <p:ext uri="{BB962C8B-B14F-4D97-AF65-F5344CB8AC3E}">
        <p14:creationId xmlns:p14="http://schemas.microsoft.com/office/powerpoint/2010/main" val="11810898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D1DA28-8A3A-47FA-9FEC-A9E999BC5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GRANDES NÚMEROS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2B1773-3064-47FF-96F5-46FE685B4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R$ 880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339947-B94A-497F-A543-95CA1898D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91FD4F-7BE3-4E98-ABCD-3FAF84AA8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36C1F1-F864-4B4B-B796-4966F463A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jun/26. Ofertas CVM até jun/26; ANBIMA até mai/26.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D6FB3C-D5CB-438D-85B2-7E9B6771C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43D189-99A4-4F6E-BAC0-D95B9ADA8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6484BE-ED1C-4945-8035-EB2006B07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jun/26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3D40D2-7C2C-4F56-88D0-7651CA70F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10,7× 2015; FIC-FIDC: R$ 81,1 bi.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F6ECCC-0273-4E57-BD3F-08491E17F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75ED3C-442C-42CE-88B9-D6EB30741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59%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F864B1-7F27-4A7F-A3E1-DEEBE9DCD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acima de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10574A-EF3A-4FB1-A958-30EABDD8A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60,7% do PL no recorte de R$ 733,9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90A0BE-1FA5-4F1F-88E2-A5FFD9486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412D86-F469-4CB1-B8F6-68945DBCB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178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1A847E-2227-49F1-8151-E9B75FB13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262D9E-45BA-4496-8C12-73C9773D9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Cap: R$ 14,6 bi; Top 10: 57,4%.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40E8B1-3B47-425A-BE03-2FE7EB7E8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A31BE5-D8AB-4942-9EBB-0CD2180AA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35,7%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47ADFF-5C6D-4C7B-949A-46DAFDDA2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226712-A4A7-4F8A-92BF-045F18E3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Administração, gestão e custódia no mesmo conglomerado.</a:t>
            </a:r>
          </a:p>
        </p:txBody>
      </p:sp>
    </p:spTree>
    <p:extLst>
      <p:ext uri="{BB962C8B-B14F-4D97-AF65-F5344CB8AC3E}">
        <p14:creationId xmlns:p14="http://schemas.microsoft.com/office/powerpoint/2010/main" val="145224049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665239-3612-4CA4-AAF4-9EE90CEC5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54B6C2-3EF2-4D8E-892D-FA9BDA317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somam R$ 880 bi de PL ex-FIC; a carteira representa parte relevante da securitização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5BAC6E-F1C2-4FD3-B25F-A0C3AD60A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40DFDF-75A7-4DD5-BEDF-329867546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7638A7-B88E-4C4E-BFC1-6B43EF36A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mai/26).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B8F9D9-B49E-4392-8058-51E71E312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E9CF99-B6F4-4ABB-A77D-FB960B9B7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66825"/>
            <a:ext cx="519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· EX-FIC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2154B9-4B2D-4A36-A29E-FBBABC2D1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33525"/>
            <a:ext cx="5191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23875" y="1571625"/>
          <a:ext xmlns:a="http://schemas.openxmlformats.org/drawingml/2006/main" cx="528637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b250f842d724ee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841FBE-BB46-4EE5-BA08-F8DDACB09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73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2020/19 -9,1%   ·   2022/21 +22,6%   ·   2023/22 +26,2%   ·   2024/23 +47,9%   ·   2025/24 +22,0%   ·   2026 YTD +5,7%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AAC944-D32F-4049-8544-A4A9B409A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266825"/>
            <a:ext cx="5476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EAD4BD-6B1A-4016-ACB6-C9EE8F438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533525"/>
            <a:ext cx="5476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048375" y="1571625"/>
          <a:ext xmlns:a="http://schemas.openxmlformats.org/drawingml/2006/main" cx="557212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1842523232c419e"/>
          </a:graphicData>
        </a:graphic>
      </p:graphicFrame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096000" y="4914900"/>
          <a:ext xmlns:a="http://schemas.openxmlformats.org/drawingml/2006/main" cx="5524500" cy="19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16ef20344f04d48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7C5191-7379-4A9B-A895-94D5534FB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153025"/>
            <a:ext cx="552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+2,3%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D3D160-AAE3-4F6D-B250-F96655BFE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54355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Mai/26: total privado R$ 13.672 bi; securitização R$ 1.157 bi; carteira FIDC R$ 670 bi. O total BCB de R$ 21.513 bi inclui R$ 7.841 bi de títulos públicos e permanece no export para reconciliação.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D1C41D-F0F1-4BC7-ACE8-1661F9614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ex-FIC e carteira privada têm perímetros contábeis distintos.</a:t>
            </a:r>
          </a:p>
        </p:txBody>
      </p:sp>
    </p:spTree>
    <p:extLst>
      <p:ext uri="{BB962C8B-B14F-4D97-AF65-F5344CB8AC3E}">
        <p14:creationId xmlns:p14="http://schemas.microsoft.com/office/powerpoint/2010/main" val="104806281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B68432-0A5C-4CD7-AA4A-07A9391F3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SÉRIE CVM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326A5D-17CE-4F60-96EB-ADE922570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série CVM preserva o volume registrado e a granularidade por oferta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A258A7-CDEE-42F8-90AC-D3815D02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7006A7-D9F7-4194-ABF2-A55E03BFC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993759-8865-4430-91BF-00CCCE91A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bases do rito automático e de distribuição, snapshot 24/jul/26.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D72D6E-FB6A-4118-8F5E-6B521C5E2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5629CA-B402-4C8B-B139-9C8244EC0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53B3E5-13EC-4D2E-B44A-D5D77F248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571500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283a7643f204dd5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BDD744-CA10-4E26-951E-76788C7A9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INSTRUMENTOS MAIS EMITIDOS EM 2025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04C685-CA43-4896-91A2-EF8C1375C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6334125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3f0f0852e0e4fef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905808-585D-44B9-BC3D-02F272DB2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3DAF38-CBD5-4903-95EB-FFCD7B8E3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5EE2DC-1743-40BE-9C83-AB00B331D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total registrado, informado à CVM.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7B48CE-0B8F-4136-909F-40329DCEB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648200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454054-89DE-4B82-84E7-D915259DA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BE06EB-ABA6-4077-B072-7FFF80E35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275E53-A82C-41D0-971E-FA56DE2F6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 públicas primárias encerradas; rito automático da RCVM 160, ordinário e regimes legados disponíveis.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4D8DB5-4B91-40C3-AE55-A82818EB2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648200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CF49C2-DD28-41E1-A563-EC268054A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CORTE E LIMITAÇÃO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941C7A-AB9E-429F-AE63-25F8A86E8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7B41F0-1496-4159-AC6E-0EB55ED36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Data de encerramento no período; volume positivo. O valor registrado pode diferir do valor encerrado e a taxonomia declarada mantém Outros títulos de securitização separado.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746450-1BE0-496B-9EF5-BECA105A4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Perímetro aplicado aos slides granulares de emissões, inclusive público-alvo, tickets, regime de colocação e Top 15.</a:t>
            </a:r>
          </a:p>
        </p:txBody>
      </p:sp>
    </p:spTree>
    <p:extLst>
      <p:ext uri="{BB962C8B-B14F-4D97-AF65-F5344CB8AC3E}">
        <p14:creationId xmlns:p14="http://schemas.microsoft.com/office/powerpoint/2010/main" val="6430475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A6B98F-2109-4745-BE1C-B1C9F5021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SÉRIE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ED0A2F-6551-417C-B8BF-959B8FAF4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valor encerrado oferece a referência comparável do mercado por instrumento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27BF79-7A14-4342-8BF9-76D8ED443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481F70-38B4-42A9-8DCB-5E07DE3B1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5DB1C9-4682-451F-9AEC-D48723648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Data, Boletim de Mercado de Capitais, snapshot mai/26. Valor encerrado; 2026 = jan–mai.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1FCFA9-1D84-4F51-AD7E-C9907D3D4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A1D96C-F33F-437B-95B2-AC184D09B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95400"/>
            <a:ext cx="600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7BA47F-9DB6-479C-8046-2F9608A41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62100"/>
            <a:ext cx="600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6000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32723d0d945461b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79EEDB-3273-455A-9B06-9A4FD48E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29540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DEBÊNTURES · PONTE TAXONÔMICA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70D137-82FA-4CD9-B670-35DDCC9C2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533525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2025: CVM R$ 453,7 bi + R$ 38,8 bi em Outros títulos de securitização = R$ 492,4 bi, ante R$ 493,4 bi na ANBIMA. Jan–mai/26: R$ 148,4 bi ante R$ 146,3 bi.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CC00C6-DE8A-4CD8-A135-7B4BE2961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43150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DBEE2F-558F-4FB1-80FE-1BA42CF3C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466975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· MÉTRICA E COBERTURA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168605-B00E-4C10-BAE1-42565C4D0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05100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2025, a CVM registra R$ 116,9 bi e a ANBIMA encerra R$ 91,0 bi. A diferença combina valor registrado versus encerrado, cobertura e presença de ofertas secundárias na ANBIMA; a causa individual exige reconciliação por oferta.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6334DD-1619-4FF0-A37C-31701F3A7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514725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AA6176-EB40-4511-AAF5-631B3B972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63855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CRI E NOTAS COMERCIAIS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48F8A5-1191-4418-91DC-AA7FA2333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76675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CRI: CVM 10,0% em 2025 e 9,8% em jan–mai/26 versus ANBIMA. Notas comerciais: 10,2% em jan–mai/26. O residual pode refletir métrica, rito, retificações e data do snapshot.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FCB380-1B08-4854-A549-78A04F6BD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686300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E610CA-A3F7-40E9-9551-23047A79D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810125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CRA · PONTO PENDENTE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FC23EC-12D0-46F1-936C-09043BF98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048250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CVM ficou 18,1% acima da ANBIMA em 2023. De 2024 a jan–mai/26, o desvio ficou em até 2,7%. A causa de 2023 permanece sem comprovação oferta a oferta.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F0EB1-1F55-4873-B20D-2DC3E8075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4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Debêntures incluem debêntures de securitização. O anexo não segrega sistematicamente ofertas primárias e secundárias para renda fixa e fundos. Série sujeita a retificações.</a:t>
            </a:r>
          </a:p>
        </p:txBody>
      </p:sp>
    </p:spTree>
    <p:extLst>
      <p:ext uri="{BB962C8B-B14F-4D97-AF65-F5344CB8AC3E}">
        <p14:creationId xmlns:p14="http://schemas.microsoft.com/office/powerpoint/2010/main" val="157027751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BA8BA6-F3A9-4547-AC9E-1BF5AC13D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7E0727-E91C-4AC1-AA0E-350BD87CC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786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Entre 92,8% e 96,8% do volume anual foi destinado ao público profissional; a classificação mede elegibilidade, não alocação final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08CEE7-F1CD-4E3B-A5E9-69F0EFE86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E9A78F-81E7-4470-9EB1-2820C2EF2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75A2B6-2A01-4A69-B401-C26A7BD02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E923A3-C538-4F61-A3E4-7B21A1BFE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D104A5-4722-47D2-91A8-15021D10E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AB009E-8C70-4537-A5C7-6BF72AA9F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da955a495244c8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5BCC5C-D47A-4D7E-917C-3D1461D8A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D64FF0-C84A-4F2E-9A69-F0C1AB337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5dcc229798e45c1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418228-470A-43A7-BBCD-AC341F162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55DA9E-3135-4F19-B236-14C35BFEC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5ccda164c3142b4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22EA9C-EEAE-42A3-A127-27B98CCE9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p:txBody>
      </p:sp>
    </p:spTree>
    <p:extLst>
      <p:ext uri="{BB962C8B-B14F-4D97-AF65-F5344CB8AC3E}">
        <p14:creationId xmlns:p14="http://schemas.microsoft.com/office/powerpoint/2010/main" val="68381994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887442-29D6-4CC6-88D8-67E9672A2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FBEA49-0396-4EF5-A2D5-964CBAF18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97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D4CC41-67E9-46D6-B516-C7AA40357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E3D7DB-4E77-4088-83E7-D7F37AAB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907BCF-1587-40BD-8727-9D31491FB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94828F-3EDE-4E18-A246-318D911BB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e058689fffc4b5f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6CE814-AEE6-4583-B37B-DF0DC1C33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594049-1FF3-403B-A7BD-7A2C375E2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7d3a1f9ef3e407b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AE1E1F-58B7-4B13-8A9E-C5AF13556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13D443-0F38-4F11-8168-2840A0A0F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74976b5f2f34141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82881A-9297-40E2-A840-58F52CB3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CC18BB-B1FB-4798-94F9-AAA5CFC4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89cc1e8810c4734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79F4E0-7130-49AB-A9EF-579C214A0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33AAED-AF16-43CD-B80D-BE1B9677A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040ACB-A851-4E3F-A281-F32FFAAE5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51b46f396084688"/>
          </a:graphicData>
        </a:graphic>
      </p:graphicFrame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3A8A5A-5718-405E-90FB-11879EDC4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B44DB2-3603-4D5B-BFA2-10A358C83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119925206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B7C24A-BE7E-4E95-A3E4-6E4F5D7DA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VIGENTE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A38C84-0753-40E3-8332-C54060B0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+ Outros = 68,7% do PL ex-FIC ·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E768BC-375A-4B77-ACF1-C0930F934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343EB6-DB8B-4485-923D-A85FACF4C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71B6CC-7176-4FCD-8146-45902C524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 + Informe Mensal CVM (jun/26).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4D9858-D9FD-4A51-93CB-0C2DF1242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544354-2691-41BA-AE39-605A3C48A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09F4E2-BCAA-4A45-A330-DB8CBF566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994f2a2d5544050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695C91-EE3C-4C7D-95EC-2398F98C3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B21D4A-402D-4114-9447-4C3701B2F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cc87f14bb24427f"/>
          </a:graphicData>
        </a:graphic>
      </p:graphicFrame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2095500" y="5295900"/>
          <a:ext xmlns:a="http://schemas.openxmlformats.org/drawingml/2006/main" cx="8001000" cy="266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f3d12d84d2a447e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F2F804-B870-412C-9732-C3CA2D7FB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3880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As quatro categorias somam R$ 880,4 bi, equivalentes a 100% do PL ex-FIC de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1906B6-9B88-48AF-BC89-8767DA994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7692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82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Fomento Mercantil: recebíveis comerciais de empresas. Agro/Indústria/Comércio: agro, cadeia produtiva, crédito corporativo e infraestrutura. Financeiro: pessoal, consignado, imobiliário e veículos. Outros: multicarteira, poder público, recuperação e N/D. Curadoria documental: 5 fundos e R$ 34,4 bi podem sair de Outros, sujeitos a validação manual; o gráfico mantém a taxonomia vigente.</a:t>
            </a:r>
          </a:p>
        </p:txBody>
      </p:sp>
    </p:spTree>
    <p:extLst>
      <p:ext uri="{BB962C8B-B14F-4D97-AF65-F5344CB8AC3E}">
        <p14:creationId xmlns:p14="http://schemas.microsoft.com/office/powerpoint/2010/main" val="209091485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4E475A-63B4-4C9C-B945-29FE60693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CVM · RECLASSIFICAÇÃO DE ADQUIRÊNCIA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2A3312-AB7B-4272-BE69-8AA4DB28D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Os 33 CNPJs selecionados formam Adquirência; R$ 99,2 bi e 11,3% do PL ex-FIC em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D0CEE5-BE29-40CA-A2CA-B0002A340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1C8F50-CA01-4C0E-BD9B-E95F5998B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98089C-A484-498E-BEEF-09E34FB7B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D59240-4DB4-42ED-863F-B2AA94B1B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70B68A-99CB-4EDA-8A33-A88C2EF9C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5E8AF0-8666-404A-AAAF-9B19CEDA6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2652cd7752349b1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C9A765-76E3-4AC3-B9BB-089E6D9F1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D9BDAB-FC73-4F15-ADDA-543DFA48A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0c1b5a3d6a34f28"/>
          </a:graphicData>
        </a:graphic>
      </p:graphicFrame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8858250" y="1200150"/>
          <a:ext xmlns:a="http://schemas.openxmlformats.org/drawingml/2006/main" cx="2762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5a6093867fc4776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18C2A7-C796-4D02-8348-EDE4A2C2D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0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1 pendentes. Em jun/26, 31 dos 33 CNPJs selecionados têm reporte ativo; 2 não reportam.</a:t>
            </a:r>
          </a:p>
        </p:txBody>
      </p:sp>
    </p:spTree>
    <p:extLst>
      <p:ext uri="{BB962C8B-B14F-4D97-AF65-F5344CB8AC3E}">
        <p14:creationId xmlns:p14="http://schemas.microsoft.com/office/powerpoint/2010/main" val="147563643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D2DE9F-9240-4690-AD7F-74C9A502F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A26A8C-0011-408B-A767-90276423F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17,5 p.p. e explicou 67% do crescimento segmentado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1AAA1A-3373-4C20-A947-CF2C361B8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8F0FF3-B014-4994-BEDD-41A7BA32E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D08B99-4F81-45EB-A083-94C47A0A4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BA6B14-1D9A-48B1-A39E-BDFB5ED15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22B230-B65E-4C8F-BE3B-250E211D3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A52529-2CD3-4C05-ABE6-0D9BCC055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ad8869c18014f2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77974F-6594-432B-B0AE-A0AD9CC9C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D0B7FD-8C1A-4BFF-82DF-2451408CC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72c7ef9a56647ee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006B42-05B9-4C86-9DDC-3AB84F817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85B694-5B7D-4B6F-92CD-10E1794DE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b162ff543a24c9e"/>
          </a:graphicData>
        </a:graphic>
      </p:graphicFrame>
    </p:spTree>
    <p:extLst>
      <p:ext uri="{BB962C8B-B14F-4D97-AF65-F5344CB8AC3E}">
        <p14:creationId xmlns:p14="http://schemas.microsoft.com/office/powerpoint/2010/main" val="158033252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C5DF45-E51B-4050-9612-4FAB007DC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32C152-2789-4974-B044-17716384C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178 veículos; 10 casos explicam 57,4%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0FFC93-F1DF-40B0-9EF1-9CE6E6F4D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529EEC-2094-42C9-A3BF-35B263E30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EBA786-257A-44CD-9552-FCFA880AD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7F4367-6C29-4151-9C0B-BA4957A38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CBE827-B6AF-4400-A9E7-DCA59AE44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C1C49A-52ED-443C-945B-8ADF7F045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4bdbaebc2d9417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1606BA-001B-4C56-9B13-21A2BA954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D7A7AC-AEF1-4653-B88F-7530B8ACF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ED2161-4BE5-42E3-847D-62D2F08A9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C8F6D4-D8EE-46C5-B1EE-42E0EAFF9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663610-0832-4D8C-A86E-50543E7E9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 / 4.247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7A214D-F740-44E2-9698-2A9C7629D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EC44F5-165F-477B-BABD-7403B887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02465E-A794-40F8-B909-F91CE1920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3.130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7C0C27-DCBD-489E-AD9B-9AA70A58E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6EE3F1-58B3-40E7-9BFB-915D53797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B12331-DBDA-4B2B-867A-F0773ED9E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59B44A-0F92-427C-BB86-CAD4AE7E7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006860-5A4F-4CB2-A0CA-9F57C25B4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BDC30F-DA2C-4741-BE0A-94A31E3C9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F52CB1-08EE-4BB2-BFB4-F42582E09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C7ED73-7834-456B-80E5-767D1264C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CF0FA31-E4C3-4BAA-B211-BF5B1A64E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178 · 1,04%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EF8BBF4-FEA4-4F48-942F-200799DDA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9D3F81-DFAE-4A39-93B3-62FE01307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23F336-3CF5-4D6A-B60F-D7BD31063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14,2% / 42,0% / 57,4%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FA8B248-EF46-47F5-B55B-FE98C8C26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Ex-360 publicável: 4,9% ajustada. O antigo excesso de R$ 6,89 bi era a parcela vincenda ligada a créditos inadimplentes, prevista na Tabela I e omitida do comparador; 555 veículos reportam o campo.</a:t>
            </a:r>
          </a:p>
        </p:txBody>
      </p:sp>
    </p:spTree>
    <p:extLst>
      <p:ext uri="{BB962C8B-B14F-4D97-AF65-F5344CB8AC3E}">
        <p14:creationId xmlns:p14="http://schemas.microsoft.com/office/powerpoint/2010/main" val="79856775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3CD754-2D67-4AD8-B315-B36016109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BASE ORIGINAL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1EB08A-1223-4C8D-8C54-D09E416AC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50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Coorte atual monotipo: 4,4% da carteira em jun/26; fundos com zero permanecem no denominador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CF106B-3283-48F3-A46A-564FF970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944F36-7CC0-438A-A7C6-8DBD6093D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0C5995-245D-4A9C-B45B-F036A41C3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Tabelas I, II e IV. Coorte e subtipo congelados em jun/26; ex-FIC, PL positivo, campos reportados e inadimplência ≤ carteira.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8AB5E4-F531-4DF7-80F2-77C2A1DA4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26766F-55F8-4B02-90B5-0D507C95E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AGREGADA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AE9601-61AC-4E0B-B696-AAAEAD1D9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219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a824e98214341d2"/>
          </a:graphicData>
        </a:graphic>
      </p:graphicFrame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1762125" y="4848225"/>
          <a:ext xmlns:a="http://schemas.openxmlformats.org/drawingml/2006/main" cx="3619500" cy="2286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28b44de75c6430f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04B993-C4ED-4904-B362-93360E096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COM UM ÚNICO TIPO NA TABELA II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1BF00C-CE79-4647-9EB3-A29540AB0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0"/>
                <a:gridCol w="714375"/>
                <a:gridCol w="1000125"/>
                <a:gridCol w="10477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76,4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73,2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48C2D4-F310-4FA7-9643-8B4F76005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C71FBD-EF92-4494-8843-A5901E0CD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Monotipo: 2.066 fundos e R$ 608,7 bi. Fora: 948 multitipo (R$ 190,2 bi), 126 acima da carteira (R$ 6,1 bi) e 486 sem tipo (R$ 75,4 bi).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42E3F8-138E-491E-A738-76A459519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Base original: fundos elegíveis com inadimplência reportada igual a zero permanecem no denominador. A linha histórica usa a coorte atual e, portanto, está sujeita a viés de sobrevivência.</a:t>
            </a:r>
          </a:p>
        </p:txBody>
      </p:sp>
    </p:spTree>
    <p:extLst>
      <p:ext uri="{BB962C8B-B14F-4D97-AF65-F5344CB8AC3E}">
        <p14:creationId xmlns:p14="http://schemas.microsoft.com/office/powerpoint/2010/main" val="89056551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EB1FDE-CF9B-4549-A727-B321AB9E7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EX-ZEROS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26035F-AD34-41AE-8C0A-B46C61FF5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exclusão dos zeros eleva a métrica para 13,5% em jun/26, variação de 9,1 p.p.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37D372-7E86-4DEB-AA20-BD6326CD0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1A7D3F-8B19-4155-806F-B242CA44E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57627F-E7BD-47F4-A684-D39BE64FE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Tabelas I, II e IV; mesma coorte da base original. Método completo no export.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221D65-79FE-45DA-84D9-0246C5F52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72C46B-74F7-4851-8A09-6F6FB1628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EX-ZEROS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615F8F-48BA-46AE-8B1F-56DFE21F7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219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97d38730ffd4d38"/>
          </a:graphicData>
        </a:graphic>
      </p:graphicFrame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1762125" y="4848225"/>
          <a:ext xmlns:a="http://schemas.openxmlformats.org/drawingml/2006/main" cx="3619500" cy="2286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3c27f91f99348e4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9E9546-4A9E-4655-8D0E-8E9944922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MONOTIPO · SENSIBILIDADE POR CLASSIFICAÇÃO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3910B9-ECFE-42FA-B23E-7FC653012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666875"/>
                <a:gridCol w="571500"/>
                <a:gridCol w="904875"/>
                <a:gridCol w="90487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Δ p.p.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54320A-63B9-44C7-8A65-826E2779C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21C81A-F40C-416F-A7CE-60ECEBC8F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jun/26, 956 de 2.066 fundos da coorte histórica permanecem na sensibilidade; a carteira do denominador cai de R$ 524,8 bi para R$ 171,9 bi.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FFDD25-E4CF-450C-8A20-5E5E36B98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direção é necessariamente de alta ou estabilidade, pois o numerador removido é zero e o denominador diminui. A magnitude por classificação está na última coluna.</a:t>
            </a:r>
          </a:p>
        </p:txBody>
      </p:sp>
    </p:spTree>
    <p:extLst>
      <p:ext uri="{BB962C8B-B14F-4D97-AF65-F5344CB8AC3E}">
        <p14:creationId xmlns:p14="http://schemas.microsoft.com/office/powerpoint/2010/main" val="35879657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EBA79F-0CDC-434C-9D22-3F26268F5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COORTE ATUAL POR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98BE62-5266-4FA1-B10E-0AB78A70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encerra jun/26 em 7,2%; a coorte fixa soma R$ 608,7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15D403-50DD-4CFE-A2C1-9E6A8F16C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2D199C-F99A-402B-9D21-95C6AC50D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9F5B47-2C26-4E82-8C12-5DE6C7772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CNPJs monotipo em jun/26 aplicados ao histórico; laranja = mercado ajustado. Há viés de sobrevivência.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713250-40CC-443D-97A4-37D8DEDC1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CC12C3-72A6-487E-9ED7-951CB7CE7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 CARTEIRA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180F0C-7A2C-4DD5-8E11-637CAA66D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638300"/>
          <a:ext xmlns:a="http://schemas.openxmlformats.org/drawingml/2006/main" cx="74295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05d8631aa14471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BEBD2E-2D7B-4BAF-B98C-9D63C38C6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304925"/>
            <a:ext cx="338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FOTOGRAFIA ·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74A060-7134-4482-91F1-82205014C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71625"/>
            <a:ext cx="338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8239125" y="1638300"/>
          <a:ext xmlns:a="http://schemas.openxmlformats.org/drawingml/2006/main" cx="3381375" cy="3667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428750"/>
                <a:gridCol w="523875"/>
                <a:gridCol w="61912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Tabela II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571500" y="5429250"/>
          <a:ext xmlns:a="http://schemas.openxmlformats.org/drawingml/2006/main" cx="11049000" cy="495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12f7af7095c4be9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370FD0-ECB6-4E02-B1C6-9873CA2A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Coorte: 2.066 fundos e R$ 608,7 bi; consolidado ajustado 5,9%. Factoring e Imobiliário têm base pequena.</a:t>
            </a:r>
          </a:p>
        </p:txBody>
      </p:sp>
    </p:spTree>
    <p:extLst>
      <p:ext uri="{BB962C8B-B14F-4D97-AF65-F5344CB8AC3E}">
        <p14:creationId xmlns:p14="http://schemas.microsoft.com/office/powerpoint/2010/main" val="13995630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317F06-5D62-4C13-8C77-DB906D30A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DISPERSÃO ENTRE REPORTANTES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BFF709-AAAF-417B-8F91-D5CE977FD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Concentração do valor reportado por subcategoria da Tabela II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A4CAA7-C87E-4B8B-857A-0F9DF72F8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CD1955-67C6-40EE-9A2B-3A0DD3B12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EB87C5-6449-41B0-834F-8DCFCC148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 FIDC, Tabelas I, II e IV, 2026-06. Somente fundos da coorte tipo único com inadimplência ajustada positiva.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B74D86-5892-4983-B8D6-72710EE26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7625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952625"/>
                <a:gridCol w="571500"/>
                <a:gridCol w="1000125"/>
                <a:gridCol w="1285875"/>
                <a:gridCol w="1285875"/>
                <a:gridCol w="1285875"/>
                <a:gridCol w="666750"/>
                <a:gridCol w="666750"/>
                <a:gridCol w="2333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1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3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HHI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Gini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Leitura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16,67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1,41 bi · 8,5%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3,61 bi · 21,6%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5,46 bi · 32,7%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Dispersa entre reportantes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1,38 bi · 49,2%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1,94 bi · 69,1%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2,10 bi · 74,8%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0,34 bi · 37,6%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0,69 bi · 76,9%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0,84 bi · 93,6%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 bi · 75,9%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0,57 bi · 85,7%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0,59 bi · 89,0%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 bi · 31,9%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0,46 bi · 70,6%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0,53 bi · 81,6%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0,22 bi · 39,6%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 bi · 80,7%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0,49 bi · 89,8%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0,251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0,12 bi · 25,2%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 bi · 42,3%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0,25 bi · 51,6%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0,093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Concentração intermediária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0,13 bi · 27,8%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 bi · 57,7%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 bi · 77,8%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0,02 bi · 42,2%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0,04 bi · 79,6%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0,05 bi · 93,7%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F9DD35-9D9A-43A4-B624-702D5746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53150"/>
            <a:ext cx="1104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Regra analítica: concentrada se HHI ≥ 0,25 ou Top 5 ≥ 70%; dispersa se HHI &lt; 0,10 e Top 5 &lt; 40%; demais casos intermediários. HHI e Gini medem concentração do valor reportado.</a:t>
            </a:r>
          </a:p>
        </p:txBody>
      </p:sp>
    </p:spTree>
    <p:extLst>
      <p:ext uri="{BB962C8B-B14F-4D97-AF65-F5344CB8AC3E}">
        <p14:creationId xmlns:p14="http://schemas.microsoft.com/office/powerpoint/2010/main" val="58751090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025378-B431-4994-A2CB-87E22E050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SÍNTESE EXECUTIVA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887395-2CD6-482F-A8DB-E638666C1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956 fundos com inadimplência positiva representam 22,0% do PL ex-FIC positivo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8C72B6-5F46-40C8-B986-9C1D5B5EB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0F7C96-7F65-4B2D-AC5B-919BB9C5F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BAA138-8AE2-49A1-97C4-041BECE87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 FIDC, Tabelas I, II e IV, 2026-06. Universo: 3.626 fundos e R$ 880,4 bi; amostra positiva: R$ 193,4 bi.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176F2C-40BF-4C77-A2B0-DE9611B14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37A8D8-C6AC-42B2-AC3F-D958180FB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525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SUBCATEGORIAS PRIORITÁRIAS POR VALOR REPORTADO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DA32EE-6FB2-465C-BC5B-312706FEC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11049000" cy="30956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666750"/>
                <a:gridCol w="1952625"/>
                <a:gridCol w="1190625"/>
                <a:gridCol w="666750"/>
                <a:gridCol w="809625"/>
                <a:gridCol w="2095500"/>
                <a:gridCol w="36671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Prioridade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Inadimplência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Leitura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Interpretação cautelar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R$ 16,67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32,7%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Dispersa entre reportantes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distribuído no subsetor reportante; não comprova risco sistêmico.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R$ 2,81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74,8%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R$ 0,90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89,0%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R$ 0,65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1D01A5-815B-4F6F-8F65-36A7A0D8E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F50EF0-3724-4AA4-A3CA-0F6E40609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970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Cobertura: 2.066 fundos na coorte tipo único (R$ 608,7 bi); 956 reportam valor positivo. A comparação com o universo de R$ 880,4 bi delimita a amostra.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F0FC72-D21A-4590-B9AB-BD76AA866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340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Limitações: zeros e ausências de reporte ficam fora da dispersão; atrasos e inconsistências podem reduzir a cobertura. Concentração sugere prioridade de validação e não identifica causalidade nem risco sistêmico por si só.</a:t>
            </a:r>
          </a:p>
        </p:txBody>
      </p:sp>
    </p:spTree>
    <p:extLst>
      <p:ext uri="{BB962C8B-B14F-4D97-AF65-F5344CB8AC3E}">
        <p14:creationId xmlns:p14="http://schemas.microsoft.com/office/powerpoint/2010/main" val="63188587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3B1EA6-39FA-4334-AB31-B67D9EEEF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FCF029-93DB-4A2E-B556-2C02B4B80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36,4%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ECD06B-2501-4227-BDA0-AD96B83EE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DDFEA8-2052-4D63-950C-3E874177B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496364-B738-4963-85B8-A18952870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AA9C30-464B-4E06-A69C-B44AB3CF2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47C531-D92F-4530-B280-1E60E03EE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F1EB7A-29A6-4594-8764-17D05061B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58d0a561ec04195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B86CD1-2230-46C5-8016-682ED1789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194C25-50E9-4E1A-AB98-389A17695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5CF0DA-149B-4FC0-833B-A04BFCF9E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9816e6080a940ce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077F73-7D35-48A4-B9A7-FC3208391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06AAD3-946A-4094-AB0B-EADA4479E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53A99F-BD5A-4173-A0E6-6421A5B43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99,0% → 99,8%; custódia 97,7% → 98,6%.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2c72a74df344cbc"/>
          </a:graphicData>
        </a:graphic>
      </p:graphicFrame>
    </p:spTree>
    <p:extLst>
      <p:ext uri="{BB962C8B-B14F-4D97-AF65-F5344CB8AC3E}">
        <p14:creationId xmlns:p14="http://schemas.microsoft.com/office/powerpoint/2010/main" val="52659961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BDC906-BFCB-4958-AB84-38C64C213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F0B5D4-4E3D-4245-9427-EF5961581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25,7% do PL ex-FIC; Petrobras e TAPSO são 45,3%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A3509C-E77B-45AA-8E92-7E5ECD0C5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CAB58A-FE13-4712-8B1F-F933D928E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687877-192F-4E85-88F1-8F78F4581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ANBIMA, jun/26.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B75104-5722-4D7D-AC97-A36F6172E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666875"/>
                <a:gridCol w="552450"/>
                <a:gridCol w="523875"/>
                <a:gridCol w="1238250"/>
                <a:gridCol w="11620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"/>
          <p:cNvGraphicFramePr/>
          <p:nvPr/>
        </p:nvGraphicFramePr>
        <p:xfrm>
          <a:off xmlns:a="http://schemas.openxmlformats.org/drawingml/2006/main" x="619125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666875"/>
                <a:gridCol w="552450"/>
                <a:gridCol w="523875"/>
                <a:gridCol w="1238250"/>
                <a:gridCol w="11620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 Master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Três prestadores distintos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Três prestadores distintos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Financiamento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22844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61DD38-6F9F-41F9-A4E9-5F143718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OUTROS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D17B32-5A48-4B72-B4CF-0C9E42320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 candidatos somam R$ 34,4 bi · 10,0% de Outros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BF0D7A-E3A4-4DFC-ACAC-871D598E0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0AEEBB-73E0-4950-AD14-194285716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2CB3C9-4B1C-4740-A9C4-651AB9461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FundosNet; ranking em jun/26. Regulamento público vigente mais recente, leitura automatizada por pypdf; links e limitações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043273-B0AD-41F4-93BB-547554205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66700"/>
                <a:gridCol w="1352550"/>
                <a:gridCol w="523875"/>
                <a:gridCol w="904875"/>
                <a:gridCol w="1000125"/>
                <a:gridCol w="13811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 proposta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Status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Instituição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cedente 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Estabelecimentos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jurídicas ou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SHPP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originador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S.A. (cedente) 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Múltiplos cedentes;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"/>
          <p:cNvGraphicFramePr/>
          <p:nvPr/>
        </p:nvGraphicFramePr>
        <p:xfrm>
          <a:off xmlns:a="http://schemas.openxmlformats.org/drawingml/2006/main" x="619125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66700"/>
                <a:gridCol w="1352550"/>
                <a:gridCol w="523875"/>
                <a:gridCol w="904875"/>
                <a:gridCol w="1000125"/>
                <a:gridCol w="13811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 proposta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Status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EXPERT III ILIMITADA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Regulamento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 CORPORATIVO 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originador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Múltiplos cedentes;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Entidades distintas;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Empresas 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Aquele que realiza 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MULTISEGMENTOS NPL IPANEMA VI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0022288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A4BDA2-6566-4A4D-B238-BC8237EE5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15 POR TAXONOMIA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0D0CD5-4B59-4C50-904F-1312675DF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Tipo ANBIMA · maiores FIDCs por PL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CECBAD-6E00-48BD-AEC3-2752466B2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F6AB08-2DEC-47BD-BA8B-147D329F7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33B544-A13A-4CE1-B0C4-18C07E029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ANBIMA Data, fotografia cadastral de dez/25. Competência jun/26. Classificação atual preservada.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140DE6-6954-4937-A0DB-8A9A2E41B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10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4619625"/>
                <a:gridCol w="1762125"/>
                <a:gridCol w="2952750"/>
                <a:gridCol w="1190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Taxonomia atual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09.195.235/0001-50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 FUNDO DE INVESTIMENTO EM DIREITOS CREDITÓRIOS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26.287.464/0001-14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 FUNDO DE INVESTIMENTO EM DIREITOS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65.473.848/0001-83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 FUNDO DE INVESTIMENTO EM DIREITOS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62.393.679/0001-83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CONSIGNADO PRIVADO DO MT GLOBAL FUNDO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63.953.619/0001-30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 FUNDO DE INVESTIMENTO 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53.286.499/0001-01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 II FUNDO DE INVESTIMENTO 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52.242.420/0001-88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 FUNDO DE INVESTIMENTO EM DIREITOS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52.610.624/0001-24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FUNDO DE INVESTIMENTO EM DIREITOS CREDITÓRIOS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26.286.939/0001-58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FUNDO DE INVESTIMENTO EM DIREITOS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53.216.449/0001-58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 DE INVESTIMENTO EM DIREITOS CREDITÓRIOS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28.169.275/0001-72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 FUNDO DE INVESTIMENTO 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50.906.397/0001-53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 DE INVESTIMENTO EM DIREITOS CREDITÓRIOS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29.225.241/0001-10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 DE INVESTIMENTO EM DIREITOS CREDITÓRIOS MONEE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42.922.136/0001-07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 DE INVESTIMENTO EM DIREITOS CREDITÓRIOS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32.527.650/0001-86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163839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0E45B9-9849-4740-B228-B5AD266B1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15 POR TAXONOMIA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2A0D02-81E1-411B-9D3F-C78A16BD9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Foco ANBIMA · maiores FIDCs por PL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07EE6C-B372-4E29-A73D-CA39E1D52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D16FE2-D81A-4691-BBCF-D67629FFE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98A0B1-E51A-47CD-A07A-F135542A8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ANBIMA Data, fotografia cadastral de dez/25. Competência jun/26. Classificação atual preservada.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B3A428-75B9-487B-BA65-0002AB78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10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4619625"/>
                <a:gridCol w="1762125"/>
                <a:gridCol w="2952750"/>
                <a:gridCol w="1190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Taxonomia atual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09.195.235/0001-50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 FUNDO DE INVESTIMENTO EM DIREITOS CREDITÓRIOS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26.287.464/0001-14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 FUNDO DE INVESTIMENTO EM DIREITOS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65.473.848/0001-83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 FUNDO DE INVESTIMENTO EM DIREITOS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62.393.679/0001-83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CONSIGNADO PRIVADO DO MT GLOBAL FUNDO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63.953.619/0001-30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 FUNDO DE INVESTIMENTO 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53.286.499/0001-01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 II FUNDO DE INVESTIMENTO 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52.242.420/0001-88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 FUNDO DE INVESTIMENTO EM DIREITOS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52.610.624/0001-24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FUNDO DE INVESTIMENTO EM DIREITOS CREDITÓRIOS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26.286.939/0001-58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FUNDO DE INVESTIMENTO EM DIREITOS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53.216.449/0001-58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 DE INVESTIMENTO EM DIREITOS CREDITÓRIOS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28.169.275/0001-72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 FUNDO DE INVESTIMENTO 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50.906.397/0001-53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 DE INVESTIMENTO EM DIREITOS CREDITÓRIOS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29.225.241/0001-10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 DE INVESTIMENTO EM DIREITOS CREDITÓRIOS MONEE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42.922.136/0001-07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 DE INVESTIMENTO EM DIREITOS CREDITÓRIOS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32.527.650/0001-86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117955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DBA155-BCD1-4CEB-B583-072564495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15 POR TAXONOMIA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ADC63C-DC9D-4A83-8AFF-E39E93E8D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Tabela II reportada · maiores FIDCs por PL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A0C56D-DD7B-4617-86C7-C25A7F4AD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B55E41-FDDF-4482-82FF-DAAA8DA6B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04CD2C-AFB2-48D4-9775-78FCECE1F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 FIDC, Tabela II, 2026-06. Competência jun/26. Classificação atual preservada.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145980-51D2-48C6-95A6-055DD5990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10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4619625"/>
                <a:gridCol w="1762125"/>
                <a:gridCol w="2952750"/>
                <a:gridCol w="1190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Taxonomia atual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09.195.235/0001-50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 FUNDO DE INVESTIMENTO EM DIREITOS CREDITÓRIOS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26.287.464/0001-14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Cartao de credito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 FUNDO DE INVESTIMENTO EM DIREITOS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65.473.848/0001-83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 FUNDO DE INVESTIMENTO EM DIREITOS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62.393.679/0001-83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Cartao de credito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CONSIGNADO PRIVADO DO MT GLOBAL FUNDO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63.953.619/0001-30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 FUNDO DE INVESTIMENTO 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53.286.499/0001-01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Servicos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 II FUNDO DE INVESTIMENTO 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52.242.420/0001-88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 FUNDO DE INVESTIMENTO EM DIREITOS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52.610.624/0001-24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FUNDO DE INVESTIMENTO EM DIREITOS CREDITÓRIOS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26.286.939/0001-58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Cartao de credito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FUNDO DE INVESTIMENTO EM DIREITOS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53.216.449/0001-58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 DE INVESTIMENTO EM DIREITOS CREDITÓRIOS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28.169.275/0001-72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Cartao de credito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 FUNDO DE INVESTIMENTO 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50.906.397/0001-53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 DE INVESTIMENTO EM DIREITOS CREDITÓRIOS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29.225.241/0001-10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publico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 DE INVESTIMENTO EM DIREITOS CREDITÓRIOS MONEE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42.922.136/0001-07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 DE INVESTIMENTO EM DIREITOS CREDITÓRIOS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32.527.650/0001-86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Cartao de credito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16843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929AE4-22D1-4661-B416-FF994277D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15 POR TAXONOMIA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24393B-1548-4B57-992C-E3CB45FC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Tabela II reclassificada · maiores FIDCs por PL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EA017A-2A91-4681-8D48-CF9CD1940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A475EE-E7DC-414A-9F7B-56C7E299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B8D895-FF16-405A-81D5-1FC33D6DF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 FIDC, Tabela II, 2026-06. Competência jun/26. Reclassificação analítica; categoria reportada preservada na visão anterior.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D8D2F0-0B56-48A2-BEDD-B1D1E1C59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10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4619625"/>
                <a:gridCol w="1762125"/>
                <a:gridCol w="2952750"/>
                <a:gridCol w="1190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Taxonomia atual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09.195.235/0001-50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 FUNDO DE INVESTIMENTO EM DIREITOS CREDITÓRIOS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26.287.464/0001-14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 FUNDO DE INVESTIMENTO EM DIREITOS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65.473.848/0001-83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 FUNDO DE INVESTIMENTO EM DIREITOS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62.393.679/0001-83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CONSIGNADO PRIVADO DO MT GLOBAL FUNDO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63.953.619/0001-30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 FUNDO DE INVESTIMENTO 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53.286.499/0001-01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Servicos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 II FUNDO DE INVESTIMENTO 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52.242.420/0001-88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 FUNDO DE INVESTIMENTO EM DIREITOS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52.610.624/0001-24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FUNDO DE INVESTIMENTO EM DIREITOS CREDITÓRIOS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26.286.939/0001-58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FUNDO DE INVESTIMENTO EM DIREITOS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53.216.449/0001-58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 DE INVESTIMENTO EM DIREITOS CREDITÓRIOS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28.169.275/0001-72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 FUNDO DE INVESTIMENTO 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50.906.397/0001-53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 DE INVESTIMENTO EM DIREITOS CREDITÓRIOS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29.225.241/0001-10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publico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 DE INVESTIMENTO EM DIREITOS CREDITÓRIOS MONEE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42.922.136/0001-07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 DE INVESTIMENTO EM DIREITOS CREDITÓRIOS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32.527.650/0001-86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480467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1234E9-B86D-42B7-AC11-7897D06C5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9F080F-FB5F-401B-9C31-876C4295A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8,0% dos fundos e 35,7% do PL; dados incompletos cobrem 1,2%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88FE1F-8CD4-43F0-B794-B21956A02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68D89B-1337-4F8C-865D-FD2653082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381276-C8BF-41D7-860F-8DDF12BC0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jun/26. Definição mono: mesmo conglomerado normalizado em administração, gestão e custódia.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ED2B5A-AEED-4EA8-9ABD-8859A5124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aaed9a74d114a94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3B3B0F-3E7D-4E10-AB56-FEB4EC7A6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432E0C-4855-4DC3-86AC-C4594056D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7E4674-8D34-4DF5-85A8-4FE6FF51E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35D57B-DB2E-4F52-B8F9-970993D69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B7749B-0C5E-4336-AD00-882C554B5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341 · R$ 342,9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E1309A-FE03-49B8-9374-F9AB43B50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1948CC-3261-4CEE-BF29-B9555636F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179793-BFF9-4207-AE21-A25EAA728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33 · R$ 24,1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4927F4-8CE7-47FD-88EB-DF1FA7523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EFCDA0-2DCE-4455-B857-72AA9D50A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D38BF7-102D-450C-B533-13AB51226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3.441 · R$ 525,1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69F938-9424-4E46-8F43-92F2B2DCA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7713C2-16E4-4DF4-A5A3-61C2D17FB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B576B0-EB36-4A17-8645-163A838E2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39 · R$ 8,2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BBBE4E-4E87-4C46-9FF5-A0DC85A24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EE8FED-9DD1-49C5-947D-C4F516DDF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679C6B-035B-4D74-8D10-C1631CD06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321 · R$ 49,6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1B3AB5-67E0-4A26-8A4E-88D93CC45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5472BFD-9AF4-4B1D-96A9-312823924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CE8454-846A-4C7C-B8DE-F39E8369F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72 · R$ 11,5 bi</a:t>
            </a:r>
          </a:p>
        </p:txBody>
      </p:sp>
    </p:spTree>
    <p:extLst>
      <p:ext uri="{BB962C8B-B14F-4D97-AF65-F5344CB8AC3E}">
        <p14:creationId xmlns:p14="http://schemas.microsoft.com/office/powerpoint/2010/main" val="832209711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F444593-92EC-47D5-AD14-C09969D0D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176FC8-844C-48F4-B77C-EF6650C7D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3563FF-89E5-4928-8279-2EBF08F95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89BBC9-59E0-4CC1-99F3-84E0CFEC8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9D15CD-19FF-4078-8DBF-21D93EAAA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Preço, propostas e contratos não integram a base.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1FEB01-5841-4592-9580-C173F8E88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27FD71-96D7-46E9-ACB6-1F7876EFA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BC98CF-CE2D-4A0B-A534-B714DECBF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FD020A-73BD-4F67-BFA2-80877F9D2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9E401B-DF31-4B01-8043-E888412B0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CAABE8-AE36-4610-BE4D-5D826B799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FCD812-E1CB-41E2-BFA1-F6CD8457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A1CD17-F055-47EB-8F5C-8996D8385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328BFD-F321-4A0A-A0A1-536BE1A93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7971DC-74BE-4823-98FC-8D26D5629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8C054C-741B-45ED-8D26-768661649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1A2964-82CF-4851-8089-49FF92BC2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44C3FF-7B78-41C4-B253-49E03D30E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81,0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B1FC52-EFC7-4467-9DE6-3DEC99987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14A33E-9CC8-40BC-BBFF-3A1D2925D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9807F0-8138-4C35-BCBC-3F59E5C15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22,2%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20A578-9D6C-4281-81EB-D70B74DBE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43,7%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E93C46-FEBE-44D2-B789-9117FE9D7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923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F82952-9D11-45F0-BA27-8E38B3D0F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A0736E-E2DB-4764-8336-B66BED723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13BC09-D204-4B33-A38F-34FE4E957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5D272FB-5D44-4941-BF40-61929BF84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76,7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D941E7A-CA1A-4F51-9456-258899960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5728F2-30CC-4E50-8DA1-004E945E3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75772F-A6B6-4883-B052-E2C223C56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54,1%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A62670-2E58-451D-8AD1-B176A5897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62,9%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023CF45-FCF6-4CD8-8100-EBC42AC4D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3.056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EBAACF5-5826-4F93-83F3-66A8D43AA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EC41EFD-2701-4EE1-B785-C71AC493D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47DAE24-3BB0-4E3B-867B-D9714D878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3BA2965-17A1-4DA5-ACA6-D8D15DD2D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97F9D93-7A9E-4475-887F-A32945137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E1E2837-A0DC-4E8D-8EE9-69CD38A7E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B81F1A8-1AAE-46DD-A8C7-E15D8FB2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03BCF27-0273-45AD-ABC5-140E1CDF2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68CB9F4-B6C0-4DA1-B96C-EDDA0F149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10.000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8683A1A-3237-432A-B83D-D6908D0E6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FE4B261-895B-452D-83BC-21B380A86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CE96D4F-F7CB-469A-96B0-6835E07DC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949CCDC-3DF9-4414-AA0A-F0F63FBC9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39,3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75303CA-6482-4926-A7D7-81F48F24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EF1C70B-2B2D-420C-9FA9-42B005ECE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D3D1329-C5FD-4866-AE0E-36D2813F7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25,4%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F336CF9-2FB5-4834-8B26-4D4084E3B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51,3%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E2245E4-DE32-4AF2-B0FE-C80DA12F0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1.196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EEB65BE-57F1-4CD3-B4AE-417823512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58DD5AF-CC7F-4058-9205-B95BF699E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8EDA1DA-0F80-4FF3-8237-A16A93962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4C67DDB-7481-4B31-BC80-18AC13B3F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26,9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8F62E3A-F896-4C7C-BE04-9D65CF730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EF870E6-4A28-48D7-B4EB-2CAF8DA41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872D0D2-27E4-42AC-9DE2-B183611D2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23,2%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F42E0D1-0920-47D9-A747-059C12280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50,1%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F8A18FF-84FA-4A17-9640-547CDDB3B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1.111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E4CD34F-4063-4EB3-B291-25E59BE4D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58B1E30-DFED-45F6-B9FA-026249066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2CE0C03-F0BA-4E43-A921-7CAF21758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78FF029-3D51-4A53-9D94-8F0F2EF57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18,9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9E77DC3-371A-4FDE-921D-EF012CF6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685E8DF-22E9-47D1-8428-8DB2B11BC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333DA79-9766-468C-9B22-132E0DDE4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46,0%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4D38CFB-2825-495F-B64D-76D816336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57,6%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198CC4B-5D51-4B83-9755-B589BDB6C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2.290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6C5BD7E-B28A-4EE9-9553-EBEA474C4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7850"/>
            <a:ext cx="7000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HHI em pontos de 0 a 10.000; 10.000 corresponde a um único fundo.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CCCE162-3817-4ED9-96DF-46F3359CC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7A3094A-86D4-4E9A-AF82-14CFBACFC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678A0F8-276D-453D-B6D0-029D62840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8128F69-72B4-472C-9613-5E3FE9526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35ABD97-5174-4580-8B92-4240A83D5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R$ 61,3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38228E2-B7AB-4B0B-B3ED-68C52019F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5363926-A986-4B3A-A5CF-BC4397E6D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D34E08A-3D7F-481E-B79A-11DE9F210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971E03EF-D210-4A8A-85D5-00A2939EB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R$ 41,5 bi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93925FC-7143-4799-9E37-BF96BE6BE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47 fundos; TAPSO = 54,1% do PL mono.</a:t>
            </a:r>
          </a:p>
        </p:txBody>
      </p:sp>
    </p:spTree>
    <p:extLst>
      <p:ext uri="{BB962C8B-B14F-4D97-AF65-F5344CB8AC3E}">
        <p14:creationId xmlns:p14="http://schemas.microsoft.com/office/powerpoint/2010/main" val="121003783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010BDD-F848-42C6-B93D-093F0D3F0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VOLUME E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D7305A-D21D-4FB0-A3E5-3B2747A65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Jan–jun/26 somou R$ 65,5 bi em 771 ofertas, alta de 14,6% sobre 2025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58466E-DAEC-47E0-8462-7A315A2B5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ADA94A-B1C7-4737-AD08-D81F95D6C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C8B63D-4F51-430D-A055-836DF26D2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DF2679-AA9E-4A57-829D-207D7E59A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7DAFDA-6ED9-4F8D-B933-CF64AC366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9DCE10-F66A-423F-85FD-AAE1508F7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2d68c51a2ee4ffb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E5698B-854E-47D7-B203-262D6A4C8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EAD4C6-B00A-4ABF-BF07-1A627969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638175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7f1469f23734fe1"/>
          </a:graphicData>
        </a:graphic>
      </p:graphicFrame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7715250" y="4000500"/>
          <a:ext xmlns:a="http://schemas.openxmlformats.org/drawingml/2006/main" cx="3905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9ca4e6aa04d49b9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394359-38EE-4666-A45B-096BEDF8D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19575"/>
            <a:ext cx="523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p:txBody>
      </p:sp>
      <p:graphicFrame>
        <p:nvGraphicFramePr>
          <p:cNvPr id="31" name=""/>
          <p:cNvGraphicFramePr/>
          <p:nvPr/>
        </p:nvGraphicFramePr>
        <p:xfrm>
          <a:off xmlns:a="http://schemas.openxmlformats.org/drawingml/2006/main" x="571500" y="4438650"/>
          <a:ext xmlns:a="http://schemas.openxmlformats.org/drawingml/2006/main" cx="11049000" cy="1428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98,0%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jan–jun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EA1FDA-897E-4CA5-BD52-06A86093C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de volume colocado; a cobertura por quantidade colocada equivale a 97,3% do valor registrado.</a:t>
            </a:r>
          </a:p>
        </p:txBody>
      </p:sp>
    </p:spTree>
    <p:extLst>
      <p:ext uri="{BB962C8B-B14F-4D97-AF65-F5344CB8AC3E}">
        <p14:creationId xmlns:p14="http://schemas.microsoft.com/office/powerpoint/2010/main" val="209054171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8AEDB9-649E-4F7B-9DC5-C8D0AD55B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DISTRIBUIÇÃO DO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8F12B8-2CBE-4A43-AB65-09E7FB57E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≥ R$ 500 mi concentram 42,2%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F15DC6-C412-4093-8BC3-6E615A4B9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224E03-ED85-43C9-9B4E-C42FE0D42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451641-755C-44D4-A413-06BFFEF27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7A5067-DDE6-4693-AF88-DC11D3F1C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DE4974-81D6-4AFF-BB4B-054C28358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D5AD00-B0E1-4701-8FF6-A870C7C2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8191c01b9b74768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7BB985-626B-46F2-B655-6469D17D2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823078-5F7F-44DE-AA9B-59555113B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428625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f3984eb62e1453e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828D6D-5735-4245-8322-4B4BAA82A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381125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3D2ED9-258A-4C9E-9430-65F6B00AD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47825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8001000" y="1743075"/>
          <a:ext xmlns:a="http://schemas.openxmlformats.org/drawingml/2006/main" cx="36195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660547327684eff"/>
          </a:graphicData>
        </a:graphic>
      </p:graphicFrame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4048125" y="5524500"/>
          <a:ext xmlns:a="http://schemas.openxmlformats.org/drawingml/2006/main" cx="40957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9bca2e30aeb48b1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FCB372-C18A-489B-9858-55F9DC58D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A5DCBF-8057-465F-AE0C-6E7DCCBC7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912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D139CB-4F27-4FAD-9085-17B2A7A66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581025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EEFB1B-809F-47EE-9E1E-4A4A753D8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8102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803EAD-2D5C-4C79-8CF2-35E13A9BA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9912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642C32-E0BF-4466-8F95-C834E7A82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81025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99A6B7-F672-4A26-9FD2-BB8C2CDF5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8102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9353FB-0B3C-4D42-8C49-9C37DE704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9912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p:txBody>
      </p:sp>
    </p:spTree>
    <p:extLst>
      <p:ext uri="{BB962C8B-B14F-4D97-AF65-F5344CB8AC3E}">
        <p14:creationId xmlns:p14="http://schemas.microsoft.com/office/powerpoint/2010/main" val="935668632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FE2648-2E8D-4867-A5BA-4069F6EFE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81AAB1-4016-44E9-98F6-EE2042448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Melhores esforços concentram 96% das ofertas e 69%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678C84-41B8-46F1-A564-A3F467456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ADC6B2-E917-4EE8-B715-55299C3E3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9D9CE0-AA82-4FDD-923E-BA5B43C5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5FBEDF-89A7-48A6-8F64-C970A0A46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D58240-947F-40A3-8C9C-0EAE8F687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NÚMERO DE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FC75DC-AF55-4F88-99DA-793EE76BD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e42c32007a54d98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CD191F-F5BA-4605-AAEF-656C800F2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264F86-6029-44C8-9EEE-828BC2304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6334125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fb93f9b1a8c40c6"/>
          </a:graphicData>
        </a:graphic>
      </p:graphicFrame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4333875" y="3552825"/>
          <a:ext xmlns:a="http://schemas.openxmlformats.org/drawingml/2006/main" cx="3524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414ee0c2132438f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2D9EF9-A4D3-47D8-B0A9-16BCE3E8E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24275"/>
            <a:ext cx="528637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% do período (Melhores esforços / Garantia firme / Misto) · 2024FY: 94 / 4 / 3%   ·   2025FY: 95 / 3 / 1%   ·   2026 jan–jun: 96 / 3 / 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04EBCB-5B83-4C5D-8C42-DB0DD7AD3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NÚMERO DE OFERTAS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D24815-8281-47D2-A687-547ACA86D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571500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90acccdceb044bd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9B648F-FA79-436D-A913-1341484EF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VOLUME · R$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F6E803-B626-4280-A506-23C5D62FD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6334125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c7ab8e0ff0d44aa"/>
          </a:graphicData>
        </a:graphic>
      </p:graphicFrame>
    </p:spTree>
    <p:extLst>
      <p:ext uri="{BB962C8B-B14F-4D97-AF65-F5344CB8AC3E}">
        <p14:creationId xmlns:p14="http://schemas.microsoft.com/office/powerpoint/2010/main" val="2051681377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8" name="">
            <a:extLst xmlns:a="http://schemas.openxmlformats.org/drawingml/2006/main">
              <a:ext uri="{FF2B5EF4-FFF2-40B4-BE49-F238E27FC236}">
                <a16:creationId xmlns:a16="http://schemas.microsoft.com/office/drawing/2014/main" id="{14788221-0829-4B2A-8CD3-4769BFF4D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OFERTAS ENCERRADAS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C46612-4FAE-40A5-BCD8-66E3D7666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participou de 8 das 15 maiores em jan–jun/26; liderou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6AF5D3-77B8-4F9A-A8D1-A803DB2B9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2FF0C6-1DC6-4C00-909A-DE29DBFA8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F7BAA3-B6DD-4DC7-9580-BB9865A5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91B282-D4FD-4DDD-8EDE-FB9892D90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A291BB-2235-4AA8-86DA-5C5363711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B3575B-4DCB-4281-A61D-0EA3EE517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4C042E-431D-40B1-B942-89378A782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57350"/>
            <a:ext cx="533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D40DB0-DFF0-46EB-9AA0-491A63320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85925"/>
            <a:ext cx="9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0D8972-C43F-4321-833B-8860DD0C3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859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FIDC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661F17-F54E-4AE4-9CEC-CA459F3D8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168592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Originador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D41131-326B-45DA-A4E0-51E6F26D3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85925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0AEA55-2E02-4D26-856F-39A97511D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168592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Coord. líder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F4E290-AAF4-4140-856B-F5F4D062E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6859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IBBA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54A319-AAC2-483F-A09E-76CCE60B1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1685925"/>
            <a:ext cx="133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C61D22-A735-4595-A611-3A87554D6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1685925"/>
            <a:ext cx="314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Público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8E022B-8632-4AB7-B913-7810B8F68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685925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Agência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28A306-BA43-4419-94DA-49BAE7147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85925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Rating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433B70-344C-47E8-801A-E6F620DE5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812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C87CE5-85A3-4841-875C-E457524C2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294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C0050B-333E-44AE-867B-0651252E2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0977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D8D84E-D872-4BCF-95E6-272746C4B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977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F8710E-B332-4E72-8841-6A64BBB24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20097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87296A-77D5-4C7A-A9C8-087CA3083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00977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5,50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4FA3DD-5F30-484B-BF43-84905593B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0097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F63A7D-B3DB-44F9-A9CB-89A32B5BF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00977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FC20BD-7310-4441-B009-6058E77BB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00977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A3B7B1-8C3F-4DE7-A5DB-EC761925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200977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FD8C7E-CF77-42A7-BEB8-473867C9B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0977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1833C04-196E-46AF-A361-33E9F8338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00977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(P) AAA.br(sf)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(P) AA+.br(sf)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(P) BBB.br(sf)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CA4C1E8-5307-436B-99BF-4A55CD9A2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390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4BBA9BC-6E9C-4B4E-B7E2-6A8BCAE6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872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45127A4-9A51-4ED4-ABD8-4F5D8BE3E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6758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9B928F6-6DA7-49D0-9979-1BE0D3FFF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6758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VTK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30B796-F918-43D4-9F28-8A57F4B27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22675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BA43A76-0F70-4242-A9A3-2A80545E1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26758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2,85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DAA9122-F746-4149-B9CB-37AEFAA5F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2675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321D11F-FD2E-4EA0-8B65-E800D3914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26758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518F191-9D1F-46CD-8701-8274CC3C7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26758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193777D-38A5-4361-99FC-E32E3BD1D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226758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5F8FB31-2AC9-4E08-B818-9077E47BD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26758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82C84C8-C201-425D-BD5B-B640B399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26758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13CAD04-A7E5-46F3-B9E3-12B77FDA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968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C3129D5-80A5-438B-A9D0-FC533A62F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51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8C3C360-8D15-4A29-A860-D53EA3D16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2539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26816A5-2A75-422D-934C-8C68E128C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2539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AGIBANK II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EADD165-1EF9-4DC7-9CFA-DE742A2DE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25253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Agibank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EB0EA40-7023-40FF-B022-D3D517A3D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52539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2,50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E5DB833-3F4B-4752-94C3-484923F73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5253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9BF68CB-0D9B-4398-B27D-91DD374D5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52539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C5AABD3-3E2F-4E14-AC23-7E61B2BDB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52539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56A663A-85B7-4EF4-AE9A-648F6A68A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252539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5D1B60D-9531-4C36-9009-2D8631C88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52539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6741A0C-D909-4C13-86BC-D2BE9F82E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2539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AAA.br(sf)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6EFB480-6631-4E59-A534-04C8E584C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546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D97E5FF-D74C-4CF4-A414-55D56FA47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29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251755B-5525-41B4-81D4-A74BAA44F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8320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ADEBF87-3254-4CF4-9362-9809303EC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8320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DRIVER BRASIL SIX BANCO VOLKSWAGEN FINANCIAMENTO VEÍCULOS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BB9AB56-EF3E-49A0-8533-D96E2BB85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27832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Volkswagen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B7A1BCA-184F-42E1-9A23-1516D20A7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78320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AEAD918-8248-466D-85DA-A794EA89D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7832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EF2F9B5-9434-4864-946A-9A77D558A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78320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6931206-F598-472E-A775-0EB53599E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78320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A3463E5-5A9A-44EE-AF90-A532B4599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278320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2FB24A2-831A-40F0-A226-E79055A90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320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BBFC6BC-D0F7-4A02-BC2B-A53D999B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78320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AAA.br(sf)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946BD7B-C1F6-4863-8A2B-09D6D71CF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124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8D0A3E5-ED5E-4444-BCB5-B7E19982C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607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1ABEEBF-9B77-40BF-ADDA-4E1A836D1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4101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DAE5256-FDBB-40E8-BCD8-2EF50FCD4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101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SELLER 3 MEIOS PAGAMENTO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1FEC3ED-D182-4FB8-B206-64ACD76B7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30410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Mercado Pago / Mercado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14E94CB-5823-4089-9E10-4AD999242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04101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A17382E-48D8-4A12-833D-DA04EF884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0410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UBS BB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FE0F1CA-2B64-4DA1-8581-2A890980F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04101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DD6C911-C060-4718-9F98-4442A2859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04101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87F0A6C-F0A3-4C3A-95BF-791F7FF3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04101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0CF20CE7-8A7A-49D4-A8F0-33F07EEAA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4101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Austin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EAC4AC9-F73E-4664-9A41-8F49A5444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04101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brAAA(sf)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B1ED669-F318-4DC7-834D-A7E2A2AB8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7025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AF3A6F2-B4D3-48BE-9C93-B6EF8CA59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1853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8A077B66-4BC8-43C0-AAB3-C9493FDBB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9882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4EAEB75-F584-4FBA-84FC-AF1C8E456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9882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Pine INSS III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93AFC90A-2C13-4E24-895A-8052C75AF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329882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Pine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FB132FE-3091-485C-866D-6F414AE95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29882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A56C392-082D-4377-811B-797666FDE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29882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D6FF553C-18F9-4295-A702-5B85B11C8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29882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A9508A50-E358-4AE4-98B2-F3977C673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29882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2D7BEB9B-9896-4749-8740-4A913D405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29882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B4FAFBD7-8C0B-44A9-AEF4-7211806E8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29882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C226A866-1EAB-4BB3-8B33-D23D85CA6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29882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03B56658-81E5-4D12-B9B8-7646F984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2806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524AF58-64D5-4EC7-83CF-7A38E26EB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7634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01CCF378-D657-4C56-9A4B-E11079BBD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5663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D610951E-3C1A-4F99-A8F8-0AF64E6D1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5663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INVESTIMENTOS PICPAY FGTS II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88792900-6F9D-429C-9CFB-6E5D1BE90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355663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3D4F4922-C209-403B-995D-4D21D4B6F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55663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0FA09F59-A91E-4755-8641-6CA891E7E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55663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ABC BRASIL S.A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A4CC00E8-FB86-4DE3-BF42-468419F3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55663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09B29476-15ED-4691-A200-0783DE788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55663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1719170C-B17B-404C-BE59-FC2D1E468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55663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10A52D5E-21BA-4258-8B89-F4C798C71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55663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4F225155-AF77-4EFF-865A-1F82F34AC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55663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(P) AAA.br(sf)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8C83BAF9-98E2-4998-A3E3-A1D1D8DD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8587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0819BB55-9113-417C-A809-555B57DBC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3415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D88E16A3-8343-4B69-9643-B2C2D9E44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1444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A9A68DDA-3D4B-4E92-904A-98CE3443E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1444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ICRED INSS II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31E6FD3F-C02D-4F56-8A18-2FBE97EB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381444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ICred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2D2D24F2-DBD9-4283-95FE-291961747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81444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1,02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E0E5549E-782A-4630-A80A-A02BACDCD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81444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48A2A0C2-BDBD-4F22-AD96-9979D4F68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81444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3D48E5BE-803F-484C-8DD9-82FFFF530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81444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44C2C2F3-E365-49C7-A942-BE5A86C8F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81444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8E990CE9-C13C-4167-955E-5AAFC7B90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81444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C0595EE5-6BD1-4F12-A6D4-1E445AB3D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81444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41C1567E-B54A-4A6F-95F5-88F624735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4368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F186F013-BD22-42BA-807E-58FE59CF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9196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74A7AD0D-9F81-47C4-9F1C-3EDD9F6E0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7225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5197EA11-B511-412B-867E-BE0F76224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7225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JIVEMAUÁ BOSSANOVA CRÉDITO SECURITIZADO II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DC93F78E-B123-430D-8470-85F75083D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07225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8DA34CCC-3175-4E89-A164-8E98AB5D7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07225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ECB5CB2F-1F36-4D72-B9CC-A6A95D139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07225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45BAD135-F02C-412C-A3E2-1CA062397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07225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EB391082-86F6-489F-AA02-DB9A82629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07225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C559CF61-3409-4CE9-BF67-DD3E0CDE3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07225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Qualif.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D3310E59-9CFD-4700-80D7-C34821E53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07225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31B8C3E7-7D5E-4DB0-AB6F-CFE0EE3B9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07225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A8B8A653-1701-441B-88E9-D1DA8C301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149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D52017DF-AB24-483B-A5CA-2E748CD3D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4977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AE5C8D94-5F77-4484-BD57-40554B851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3006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AFB7099A-4674-4A01-AF82-0B44DCB66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3006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COMERCIAIS MEDICI I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55A2189F-8FDD-44D9-890F-8D9E061C1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33006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Fornecedores de BRF e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3924F069-565A-48E5-A8B3-62BB21C6F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33006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0B2612F7-0B8E-4681-A677-819D68A92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33006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F0527C81-A031-46F0-8448-9BE33B319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33006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D1AB4ECA-1E6B-4D9D-B269-214A984D3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33006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C549A843-B490-4CCC-AAAF-6256F8CC4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33006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1D3748E9-C430-4D11-98CE-5D710475E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33006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Fitch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8D941FE9-AD55-44F7-947A-77FEC5353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33006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AAAsf(bra)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B0292D2F-5A2B-4638-AD7D-73D7D75E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93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DEFE69BB-533D-4027-95B8-95B9556A5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075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053AB175-D47F-4043-9B23-AD0F9764A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8787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CCD0B264-743A-4D87-B8AD-7E12C6B18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8787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5E85F210-38EA-4B27-B660-1DAC59F80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5878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91F18E8D-1D3F-4BAF-8BD4-E99EDF50B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58787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6729E5A3-DAE0-46E5-A018-2DA615D89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5878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70DCCBB9-D319-4871-99A6-8223F3D7F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58787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D52AAB33-3CA5-440A-A46E-2F2A5B86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58787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5E3F8A91-DE76-4034-A593-83B1A5F06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58787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89289C9B-09DA-4780-B32E-9B26253C1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58787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EE5F9B67-0E24-400D-BE19-E67740810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58787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51C6C0D9-6FAB-43E1-AD0B-1EC732C33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71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7664BDFA-0F0C-4593-A7D4-ACBF4C33C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53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0F2BE9A3-973F-4041-8614-6B552D039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4568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7BC54CCD-E30A-491D-ACE6-7C5424B84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4568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IS GREEN SOLFACIL VII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0778D943-4F33-49AD-9C77-E74B1840F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8456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Solfácil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ECC2071B-0C11-43BF-9847-CA428EB7B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84568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0,77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A3BBB54A-0FC9-43F6-AF9A-D9F912B33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8456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CA57F280-542C-4354-9430-E4FDFB946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84568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AC486B9D-874E-4B89-B8B4-923429096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84568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8E293E14-19EB-4F79-A829-E3B2F8FC4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84568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A6EC2773-6D5B-4A18-8E81-0AFC72115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84568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B4122F47-3104-4DBF-9E71-4068E1E28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84568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br_Aa (AA)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437BEA5C-CFF1-4E3E-84B7-A08FD0C09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749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15462067-C8C0-4A66-9565-16EB67823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232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BC85612D-8B7D-4556-B452-6FF2C3355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0349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9D921B53-E879-4BB1-A1E7-AFA4F8ECC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0349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DAYCOVAL D413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07F16CB7-B736-45CE-870B-7055FE4DB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51034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8630C9FA-EAE6-4D3D-9652-577CF52FD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510349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0,75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F4E9826B-49C4-4784-8089-E68FC23BB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51034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475BDB91-EA64-44C2-9885-F12437A6A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10349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D9014C29-35C9-4B73-A86F-9B2F56E34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510349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B7B72C4A-AAAD-492B-8A59-FEAAE401C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10349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30744C05-1E01-4741-9FAE-8955FA630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10349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Fitch</a:t>
            </a:r>
          </a:p>
        </p:txBody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572C4DEC-D332-461B-A120-39CF6094C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10349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AAA(EXP)sf(bra)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AA+(EXP)sf(bra)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C9FEEB37-F10B-4E15-BA09-6B32352A6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27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E15EE51C-52EA-4FCD-85A1-4CC675308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810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F1F96495-4582-4B52-8F47-7E8BF6AFC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6130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807656B3-B59C-4F29-AE02-5D406F599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6130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LAVORO FORNECEDORES DO AGRONEGÓCIO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CFF8E9A2-57C6-4665-BEFD-F4C59CB9B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53613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Lavoro</a:t>
            </a:r>
          </a:p>
        </p:txBody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923A28F0-AD10-4238-9524-DDDF6F9FD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536130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0,73</a:t>
            </a:r>
          </a:p>
        </p:txBody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D40AE5EA-FEB8-4969-803D-756D6D8DF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53613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42BF269A-A445-4D4A-85FF-F6A4C798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36130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32485760-81E9-4776-9982-6727E98A7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536130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2D2E5ED9-0FEF-4570-A34D-9C61C180B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36130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8557454B-C03F-4CF7-A74C-A091C1358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36130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D6B61101-C225-422F-8900-95F03D9E9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36130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7F1A64D8-DE3A-470B-9939-A24002A67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905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6544CF2D-C054-4561-A248-AAED13353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388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5F1867E6-3BFB-4CE6-9792-F01DB3E5F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1911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E521BEEF-2C2F-486C-8441-EA323AF55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1911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AGRO CITI-BAYER</a:t>
            </a:r>
          </a:p>
        </p:txBody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4D1B0DE2-C159-412A-8852-A5A8CF6A0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56191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Bayer</a:t>
            </a:r>
          </a:p>
        </p:txBody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01F1186D-0833-40E8-A0CF-BAEDFF73E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561911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0,70</a:t>
            </a:r>
          </a:p>
        </p:txBody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75894671-A8E5-4C0D-860C-E149C4CEA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56191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VORTX</a:t>
            </a:r>
          </a:p>
        </p:txBody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8841ED12-67AD-4F43-95E1-26C6DE469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61911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503C958F-98AC-41C5-8363-23932E6A1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561911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E8E44573-86EF-4764-AECF-A45EA38D5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61911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AC73886A-0D61-45A5-9211-48D49E59A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61911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D358236B-CD21-41FB-A503-71857E93F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61911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C84C5394-0544-4A6B-B0D1-AE2107B8D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TOP 15</a:t>
            </a:r>
          </a:p>
        </p:txBody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F45EB189-BDFC-47E0-BCEB-67E778D1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2CAC7EE1-58EB-445E-A0AA-991DE11C6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57350"/>
            <a:ext cx="533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B23C14CC-8A97-4944-AD85-2892996D2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85925"/>
            <a:ext cx="9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12EE9821-A739-4F79-827B-4FEEDFEE1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859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FIDC</a:t>
            </a:r>
          </a:p>
        </p:txBody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C726B87D-0BD5-4CD7-B383-63A8920D4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68592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Originador</a:t>
            </a:r>
          </a:p>
        </p:txBody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D2C9E033-D387-4883-A805-F819A000B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1685925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A0AEF8AF-4A9B-477D-BA2B-5DBA06550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68592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Coord. líder</a:t>
            </a:r>
          </a:p>
        </p:txBody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4E9B98CD-051D-4B8A-AC39-110A8979F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6859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IBBA</a:t>
            </a:r>
          </a:p>
        </p:txBody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4AD0B0E9-771F-4C65-A559-8C8F4217F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1685925"/>
            <a:ext cx="133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GF</a:t>
            </a:r>
          </a:p>
        </p:txBody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64F31CDA-07E7-4E7A-98F6-D10C7BDA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1685925"/>
            <a:ext cx="314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Público</a:t>
            </a:r>
          </a:p>
        </p:txBody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C9AA4FEB-C72A-48C3-9C9F-A4FFCA6D0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1685925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Agência</a:t>
            </a:r>
          </a:p>
        </p:txBody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59D6ECB0-2C79-41A4-9D9F-6F357C358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1685925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Rating</a:t>
            </a:r>
          </a:p>
        </p:txBody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D6725CBB-9886-411F-A0E2-C7A0CB4B1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812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23613327-33F6-406D-A86A-383B7BA60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294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27205C2E-50A7-45DE-9EA3-99B7CE18E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0977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4BEA5F0A-E561-415F-AD4A-9E168015B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00977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 FLEX</a:t>
            </a:r>
          </a:p>
        </p:txBody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AC48C1EF-BB0F-4857-8697-B96ADF131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097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agro</a:t>
            </a:r>
          </a:p>
        </p:txBody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567F04D2-97CC-4D22-82AD-618663B3F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00977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3,40</a:t>
            </a:r>
          </a:p>
        </p:txBody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EB8B2AA0-EADD-4822-9F62-C7DF1F4D2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0097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74C89D31-BA4C-494A-AC03-E437CBA75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00977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E0E851DB-C68B-44F8-8004-D4B83700B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00977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3E0B13E6-C931-4C25-BD59-E900D998B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200977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23" name="">
            <a:extLst xmlns:a="http://schemas.openxmlformats.org/drawingml/2006/main">
              <a:ext uri="{FF2B5EF4-FFF2-40B4-BE49-F238E27FC236}">
                <a16:creationId xmlns:a16="http://schemas.microsoft.com/office/drawing/2014/main" id="{4AE44A08-18AA-48B2-AA42-4194548D1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00977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42DAE6AB-3404-4899-A89E-C4952062B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00977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25" name="">
            <a:extLst xmlns:a="http://schemas.openxmlformats.org/drawingml/2006/main">
              <a:ext uri="{FF2B5EF4-FFF2-40B4-BE49-F238E27FC236}">
                <a16:creationId xmlns:a16="http://schemas.microsoft.com/office/drawing/2014/main" id="{256B8B3D-C2B2-4723-A066-60CBB6E4C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390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B04B1297-A749-49DB-BAFF-90B46C9CD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872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F27CA610-DA49-425A-A9DB-8B52BD9DB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6758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83B912F2-57D8-4CE4-969C-D3E649F5E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26758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CW PI</a:t>
            </a:r>
          </a:p>
        </p:txBody>
      </p:sp>
      <p:sp>
        <p:nvSp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033BBBC3-76CE-43BC-B858-2AFBBB4A4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2675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</a:t>
            </a:r>
          </a:p>
        </p:txBody>
      </p:sp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14E0C58E-E623-423B-9B04-0F67F7EA2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26758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3,14</a:t>
            </a:r>
          </a:p>
        </p:txBody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8FE3CB19-8774-4E24-BD9C-53F35A0C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2675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B016DEB4-7802-4B00-BB46-71A5E6824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26758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15A931C2-24D5-42D8-AF66-823E3154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26758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1D2D2019-B30A-45F9-9788-EB4A1B63C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226758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8969C2A6-46D2-4FA2-9567-4945DE5A8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26758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436F098C-3F05-40F3-89D2-73FA34099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26758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AAA.br(sf)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AA+.br(sf)</a:t>
            </a:r>
          </a:p>
        </p:txBody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DF45C9EB-5709-428E-ACF2-44E7077D3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968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5CF269D9-DA3A-4BF4-A888-EF7BC360F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451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DFB2697B-1B92-4EB7-B914-631D9731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52539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CE804310-CC99-4930-BED8-EC5C4AA3B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52539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SANTANDER AUTO LOANS I FINANCEIRO</a:t>
            </a:r>
          </a:p>
        </p:txBody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9CD21440-9AB0-40C9-9D44-B2D06909F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5253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7722568E-3AD9-48C1-B0FA-C9527F33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52539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3,00</a:t>
            </a:r>
          </a:p>
        </p:txBody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EB5BCD6F-BEBC-4466-AE31-7E814E4B2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5253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3AB14536-23DC-40E6-ACBC-4EAF2B809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52539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26E487CD-F5DC-4531-A94B-E555087E8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52539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BE981CF2-DF47-4F04-848D-6AFCCA27E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252539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25AC4F61-F260-4E72-B2B2-C45F5D13C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52539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5ABD36E8-8D61-4DFA-895E-CF0ECBAF9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52539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DB707857-5776-46BD-BE08-867476807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546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FA6ED7FA-749F-4BAF-AF32-E80850820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29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" name="">
            <a:extLst xmlns:a="http://schemas.openxmlformats.org/drawingml/2006/main">
              <a:ext uri="{FF2B5EF4-FFF2-40B4-BE49-F238E27FC236}">
                <a16:creationId xmlns:a16="http://schemas.microsoft.com/office/drawing/2014/main" id="{F4E52439-7420-4125-ABBE-80F277879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78320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77217927-C85A-4E8D-BF29-0F26D6247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8320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AGIBANK I</a:t>
            </a:r>
          </a:p>
        </p:txBody>
      </p:sp>
      <p:sp>
        <p:nvSpPr>
          <p:cNvPr id="253" name="">
            <a:extLst xmlns:a="http://schemas.openxmlformats.org/drawingml/2006/main">
              <a:ext uri="{FF2B5EF4-FFF2-40B4-BE49-F238E27FC236}">
                <a16:creationId xmlns:a16="http://schemas.microsoft.com/office/drawing/2014/main" id="{5E5E0A55-46B7-4714-8DD9-D3F881A64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7832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Agibank</a:t>
            </a:r>
          </a:p>
        </p:txBody>
      </p:sp>
      <p:sp>
        <p:nvSpPr>
          <p:cNvPr id="254" name="">
            <a:extLst xmlns:a="http://schemas.openxmlformats.org/drawingml/2006/main">
              <a:ext uri="{FF2B5EF4-FFF2-40B4-BE49-F238E27FC236}">
                <a16:creationId xmlns:a16="http://schemas.microsoft.com/office/drawing/2014/main" id="{958DBA63-14D1-4429-978F-09309D176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78320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2,00</a:t>
            </a:r>
          </a:p>
        </p:txBody>
      </p:sp>
      <p:sp>
        <p:nvSpPr>
          <p:cNvPr id="255" name="">
            <a:extLst xmlns:a="http://schemas.openxmlformats.org/drawingml/2006/main">
              <a:ext uri="{FF2B5EF4-FFF2-40B4-BE49-F238E27FC236}">
                <a16:creationId xmlns:a16="http://schemas.microsoft.com/office/drawing/2014/main" id="{6E666471-421E-40C7-ABC5-B6C47591C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7832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256" name="">
            <a:extLst xmlns:a="http://schemas.openxmlformats.org/drawingml/2006/main">
              <a:ext uri="{FF2B5EF4-FFF2-40B4-BE49-F238E27FC236}">
                <a16:creationId xmlns:a16="http://schemas.microsoft.com/office/drawing/2014/main" id="{4CE50299-2AFE-4C29-A571-5EC872346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78320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57" name="">
            <a:extLst xmlns:a="http://schemas.openxmlformats.org/drawingml/2006/main">
              <a:ext uri="{FF2B5EF4-FFF2-40B4-BE49-F238E27FC236}">
                <a16:creationId xmlns:a16="http://schemas.microsoft.com/office/drawing/2014/main" id="{BAEE0009-1B8C-4632-92A4-F65FB1909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78320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58" name="">
            <a:extLst xmlns:a="http://schemas.openxmlformats.org/drawingml/2006/main">
              <a:ext uri="{FF2B5EF4-FFF2-40B4-BE49-F238E27FC236}">
                <a16:creationId xmlns:a16="http://schemas.microsoft.com/office/drawing/2014/main" id="{A51B3C6C-239C-41B2-947B-1E8EB8E91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278320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59" name="">
            <a:extLst xmlns:a="http://schemas.openxmlformats.org/drawingml/2006/main">
              <a:ext uri="{FF2B5EF4-FFF2-40B4-BE49-F238E27FC236}">
                <a16:creationId xmlns:a16="http://schemas.microsoft.com/office/drawing/2014/main" id="{6223437D-A3DC-46EE-8182-59AA6118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78320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260" name="">
            <a:extLst xmlns:a="http://schemas.openxmlformats.org/drawingml/2006/main">
              <a:ext uri="{FF2B5EF4-FFF2-40B4-BE49-F238E27FC236}">
                <a16:creationId xmlns:a16="http://schemas.microsoft.com/office/drawing/2014/main" id="{F2B93A23-ABF0-4838-971A-9AA431CC7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78320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AAA.br(sf)</a:t>
            </a:r>
          </a:p>
        </p:txBody>
      </p:sp>
      <p:sp>
        <p:nvSpPr>
          <p:cNvPr id="261" name="">
            <a:extLst xmlns:a="http://schemas.openxmlformats.org/drawingml/2006/main">
              <a:ext uri="{FF2B5EF4-FFF2-40B4-BE49-F238E27FC236}">
                <a16:creationId xmlns:a16="http://schemas.microsoft.com/office/drawing/2014/main" id="{3C0ABE87-C7BC-4D7A-B098-EFF33D30E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124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" name="">
            <a:extLst xmlns:a="http://schemas.openxmlformats.org/drawingml/2006/main">
              <a:ext uri="{FF2B5EF4-FFF2-40B4-BE49-F238E27FC236}">
                <a16:creationId xmlns:a16="http://schemas.microsoft.com/office/drawing/2014/main" id="{64C684AE-D70D-4974-8CE2-F0054AD53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607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86B05640-B504-4E45-9D2F-FA8C76FA5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04101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64" name="">
            <a:extLst xmlns:a="http://schemas.openxmlformats.org/drawingml/2006/main">
              <a:ext uri="{FF2B5EF4-FFF2-40B4-BE49-F238E27FC236}">
                <a16:creationId xmlns:a16="http://schemas.microsoft.com/office/drawing/2014/main" id="{8BC91AB7-31AE-437E-90E0-59E419EA9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4101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ER - ENERGIA</a:t>
            </a:r>
          </a:p>
        </p:txBody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B08159A6-382E-486F-A1D3-89EF11E5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0410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</a:t>
            </a:r>
          </a:p>
        </p:txBody>
      </p:sp>
      <p:sp>
        <p:nvSpPr>
          <p:cNvPr id="266" name="">
            <a:extLst xmlns:a="http://schemas.openxmlformats.org/drawingml/2006/main">
              <a:ext uri="{FF2B5EF4-FFF2-40B4-BE49-F238E27FC236}">
                <a16:creationId xmlns:a16="http://schemas.microsoft.com/office/drawing/2014/main" id="{D56F0A26-22DA-4ACB-BA06-ADF80FE56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04101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1,90</a:t>
            </a:r>
          </a:p>
        </p:txBody>
      </p:sp>
      <p:sp>
        <p:nvSpPr>
          <p:cNvPr id="267" name="">
            <a:extLst xmlns:a="http://schemas.openxmlformats.org/drawingml/2006/main">
              <a:ext uri="{FF2B5EF4-FFF2-40B4-BE49-F238E27FC236}">
                <a16:creationId xmlns:a16="http://schemas.microsoft.com/office/drawing/2014/main" id="{2718A387-E952-47C7-8409-C2BF61EEF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0410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</a:t>
            </a:r>
          </a:p>
        </p:txBody>
      </p:sp>
      <p:sp>
        <p:nvSpPr>
          <p:cNvPr id="268" name="">
            <a:extLst xmlns:a="http://schemas.openxmlformats.org/drawingml/2006/main">
              <a:ext uri="{FF2B5EF4-FFF2-40B4-BE49-F238E27FC236}">
                <a16:creationId xmlns:a16="http://schemas.microsoft.com/office/drawing/2014/main" id="{235DBC68-FECB-4D35-9B6D-50D65F01B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04101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69" name="">
            <a:extLst xmlns:a="http://schemas.openxmlformats.org/drawingml/2006/main">
              <a:ext uri="{FF2B5EF4-FFF2-40B4-BE49-F238E27FC236}">
                <a16:creationId xmlns:a16="http://schemas.microsoft.com/office/drawing/2014/main" id="{B57A9630-5E7F-42FF-A65E-01DB0DEC5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04101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70" name="">
            <a:extLst xmlns:a="http://schemas.openxmlformats.org/drawingml/2006/main">
              <a:ext uri="{FF2B5EF4-FFF2-40B4-BE49-F238E27FC236}">
                <a16:creationId xmlns:a16="http://schemas.microsoft.com/office/drawing/2014/main" id="{A07EFD33-273C-437E-BFBF-EE175A5E2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304101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71" name="">
            <a:extLst xmlns:a="http://schemas.openxmlformats.org/drawingml/2006/main">
              <a:ext uri="{FF2B5EF4-FFF2-40B4-BE49-F238E27FC236}">
                <a16:creationId xmlns:a16="http://schemas.microsoft.com/office/drawing/2014/main" id="{BB022694-24B4-4253-AAF1-6DF961D42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04101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72" name="">
            <a:extLst xmlns:a="http://schemas.openxmlformats.org/drawingml/2006/main">
              <a:ext uri="{FF2B5EF4-FFF2-40B4-BE49-F238E27FC236}">
                <a16:creationId xmlns:a16="http://schemas.microsoft.com/office/drawing/2014/main" id="{A1FD713F-32E4-44F9-B366-9F02CE2E9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04101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73" name="">
            <a:extLst xmlns:a="http://schemas.openxmlformats.org/drawingml/2006/main">
              <a:ext uri="{FF2B5EF4-FFF2-40B4-BE49-F238E27FC236}">
                <a16:creationId xmlns:a16="http://schemas.microsoft.com/office/drawing/2014/main" id="{A1927059-E023-4900-A609-AC321DDE7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7025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" name="">
            <a:extLst xmlns:a="http://schemas.openxmlformats.org/drawingml/2006/main">
              <a:ext uri="{FF2B5EF4-FFF2-40B4-BE49-F238E27FC236}">
                <a16:creationId xmlns:a16="http://schemas.microsoft.com/office/drawing/2014/main" id="{EE309480-5F44-441E-A9B5-FE56E946B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1853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" name="">
            <a:extLst xmlns:a="http://schemas.openxmlformats.org/drawingml/2006/main">
              <a:ext uri="{FF2B5EF4-FFF2-40B4-BE49-F238E27FC236}">
                <a16:creationId xmlns:a16="http://schemas.microsoft.com/office/drawing/2014/main" id="{56EAF1A2-9830-4C96-A85E-803F389DD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9882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76" name="">
            <a:extLst xmlns:a="http://schemas.openxmlformats.org/drawingml/2006/main">
              <a:ext uri="{FF2B5EF4-FFF2-40B4-BE49-F238E27FC236}">
                <a16:creationId xmlns:a16="http://schemas.microsoft.com/office/drawing/2014/main" id="{34B46B2C-99E8-4D06-91C8-E0B7BB1A3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29882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ASA LP II COTAS LIM</a:t>
            </a:r>
          </a:p>
        </p:txBody>
      </p:sp>
      <p:sp>
        <p:nvSpPr>
          <p:cNvPr id="277" name="">
            <a:extLst xmlns:a="http://schemas.openxmlformats.org/drawingml/2006/main">
              <a:ext uri="{FF2B5EF4-FFF2-40B4-BE49-F238E27FC236}">
                <a16:creationId xmlns:a16="http://schemas.microsoft.com/office/drawing/2014/main" id="{CD4E4898-D942-4B99-A5B1-F56AEE29C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29882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aplicável ·</a:t>
            </a:r>
          </a:p>
        </p:txBody>
      </p:sp>
      <p:sp>
        <p:nvSpPr>
          <p:cNvPr id="278" name="">
            <a:extLst xmlns:a="http://schemas.openxmlformats.org/drawingml/2006/main">
              <a:ext uri="{FF2B5EF4-FFF2-40B4-BE49-F238E27FC236}">
                <a16:creationId xmlns:a16="http://schemas.microsoft.com/office/drawing/2014/main" id="{9E83F30F-25F2-45A1-966A-2EC8BB05E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29882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1,54</a:t>
            </a:r>
          </a:p>
        </p:txBody>
      </p:sp>
      <p:sp>
        <p:nvSpPr>
          <p:cNvPr id="279" name="">
            <a:extLst xmlns:a="http://schemas.openxmlformats.org/drawingml/2006/main">
              <a:ext uri="{FF2B5EF4-FFF2-40B4-BE49-F238E27FC236}">
                <a16:creationId xmlns:a16="http://schemas.microsoft.com/office/drawing/2014/main" id="{BD5C7473-2891-4036-A1FE-368F9F094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29882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SINGULARE S.A</a:t>
            </a:r>
          </a:p>
        </p:txBody>
      </p:sp>
      <p:sp>
        <p:nvSpPr>
          <p:cNvPr id="280" name="">
            <a:extLst xmlns:a="http://schemas.openxmlformats.org/drawingml/2006/main">
              <a:ext uri="{FF2B5EF4-FFF2-40B4-BE49-F238E27FC236}">
                <a16:creationId xmlns:a16="http://schemas.microsoft.com/office/drawing/2014/main" id="{7083AA8E-DED5-430F-AC5B-0BA90CEF4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29882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81" name="">
            <a:extLst xmlns:a="http://schemas.openxmlformats.org/drawingml/2006/main">
              <a:ext uri="{FF2B5EF4-FFF2-40B4-BE49-F238E27FC236}">
                <a16:creationId xmlns:a16="http://schemas.microsoft.com/office/drawing/2014/main" id="{1DFE098C-B229-4C19-AD74-3F3D13F95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29882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82" name="">
            <a:extLst xmlns:a="http://schemas.openxmlformats.org/drawingml/2006/main">
              <a:ext uri="{FF2B5EF4-FFF2-40B4-BE49-F238E27FC236}">
                <a16:creationId xmlns:a16="http://schemas.microsoft.com/office/drawing/2014/main" id="{F76399B7-4E0A-47D4-8A2F-D52D7E71D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329882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Qualif.</a:t>
            </a:r>
          </a:p>
        </p:txBody>
      </p:sp>
      <p:sp>
        <p:nvSpPr>
          <p:cNvPr id="283" name="">
            <a:extLst xmlns:a="http://schemas.openxmlformats.org/drawingml/2006/main">
              <a:ext uri="{FF2B5EF4-FFF2-40B4-BE49-F238E27FC236}">
                <a16:creationId xmlns:a16="http://schemas.microsoft.com/office/drawing/2014/main" id="{3CAA4E3D-2B8A-4BAE-9A03-C0DD7611D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29882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84" name="">
            <a:extLst xmlns:a="http://schemas.openxmlformats.org/drawingml/2006/main">
              <a:ext uri="{FF2B5EF4-FFF2-40B4-BE49-F238E27FC236}">
                <a16:creationId xmlns:a16="http://schemas.microsoft.com/office/drawing/2014/main" id="{20E9755E-9E32-4209-8C7E-759E55E0D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29882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85" name="">
            <a:extLst xmlns:a="http://schemas.openxmlformats.org/drawingml/2006/main">
              <a:ext uri="{FF2B5EF4-FFF2-40B4-BE49-F238E27FC236}">
                <a16:creationId xmlns:a16="http://schemas.microsoft.com/office/drawing/2014/main" id="{BDF57D0A-4A7C-4AE5-ABCF-5606402D9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2806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" name="">
            <a:extLst xmlns:a="http://schemas.openxmlformats.org/drawingml/2006/main">
              <a:ext uri="{FF2B5EF4-FFF2-40B4-BE49-F238E27FC236}">
                <a16:creationId xmlns:a16="http://schemas.microsoft.com/office/drawing/2014/main" id="{B12EFE28-ED4B-4953-ADE5-F9E9DECF5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7634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" name="">
            <a:extLst xmlns:a="http://schemas.openxmlformats.org/drawingml/2006/main">
              <a:ext uri="{FF2B5EF4-FFF2-40B4-BE49-F238E27FC236}">
                <a16:creationId xmlns:a16="http://schemas.microsoft.com/office/drawing/2014/main" id="{B7BE1472-BEA5-4FF2-9B62-2C0DEA2CF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55663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88" name="">
            <a:extLst xmlns:a="http://schemas.openxmlformats.org/drawingml/2006/main">
              <a:ext uri="{FF2B5EF4-FFF2-40B4-BE49-F238E27FC236}">
                <a16:creationId xmlns:a16="http://schemas.microsoft.com/office/drawing/2014/main" id="{1E62C3B7-E900-4D67-B48F-DFFD7B984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55663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 FLEX</a:t>
            </a:r>
          </a:p>
        </p:txBody>
      </p:sp>
      <p:sp>
        <p:nvSpPr>
          <p:cNvPr id="289" name="">
            <a:extLst xmlns:a="http://schemas.openxmlformats.org/drawingml/2006/main">
              <a:ext uri="{FF2B5EF4-FFF2-40B4-BE49-F238E27FC236}">
                <a16:creationId xmlns:a16="http://schemas.microsoft.com/office/drawing/2014/main" id="{6DFD1A42-5632-43A4-A188-0731B4FED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55663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agro</a:t>
            </a:r>
          </a:p>
        </p:txBody>
      </p:sp>
      <p:sp>
        <p:nvSpPr>
          <p:cNvPr id="290" name="">
            <a:extLst xmlns:a="http://schemas.openxmlformats.org/drawingml/2006/main">
              <a:ext uri="{FF2B5EF4-FFF2-40B4-BE49-F238E27FC236}">
                <a16:creationId xmlns:a16="http://schemas.microsoft.com/office/drawing/2014/main" id="{EA84CFE1-8C28-4380-86F6-AD71C85F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55663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291" name="">
            <a:extLst xmlns:a="http://schemas.openxmlformats.org/drawingml/2006/main">
              <a:ext uri="{FF2B5EF4-FFF2-40B4-BE49-F238E27FC236}">
                <a16:creationId xmlns:a16="http://schemas.microsoft.com/office/drawing/2014/main" id="{C835E19A-0938-494A-8A1E-E93D7973D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55663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292" name="">
            <a:extLst xmlns:a="http://schemas.openxmlformats.org/drawingml/2006/main">
              <a:ext uri="{FF2B5EF4-FFF2-40B4-BE49-F238E27FC236}">
                <a16:creationId xmlns:a16="http://schemas.microsoft.com/office/drawing/2014/main" id="{313D0E72-254E-48A7-B040-48EBBC59A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55663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93" name="">
            <a:extLst xmlns:a="http://schemas.openxmlformats.org/drawingml/2006/main">
              <a:ext uri="{FF2B5EF4-FFF2-40B4-BE49-F238E27FC236}">
                <a16:creationId xmlns:a16="http://schemas.microsoft.com/office/drawing/2014/main" id="{E9DDDD55-1F2B-4CA0-A87A-7D441E3E2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55663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94" name="">
            <a:extLst xmlns:a="http://schemas.openxmlformats.org/drawingml/2006/main">
              <a:ext uri="{FF2B5EF4-FFF2-40B4-BE49-F238E27FC236}">
                <a16:creationId xmlns:a16="http://schemas.microsoft.com/office/drawing/2014/main" id="{1F98C23A-C9C3-457F-BFAE-FE0E9856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355663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95" name="">
            <a:extLst xmlns:a="http://schemas.openxmlformats.org/drawingml/2006/main">
              <a:ext uri="{FF2B5EF4-FFF2-40B4-BE49-F238E27FC236}">
                <a16:creationId xmlns:a16="http://schemas.microsoft.com/office/drawing/2014/main" id="{CA22D82C-3523-413E-8254-6FEA35F8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55663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96" name="">
            <a:extLst xmlns:a="http://schemas.openxmlformats.org/drawingml/2006/main">
              <a:ext uri="{FF2B5EF4-FFF2-40B4-BE49-F238E27FC236}">
                <a16:creationId xmlns:a16="http://schemas.microsoft.com/office/drawing/2014/main" id="{1B2A953B-6A65-44EC-BC51-91A56FA5C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55663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97" name="">
            <a:extLst xmlns:a="http://schemas.openxmlformats.org/drawingml/2006/main">
              <a:ext uri="{FF2B5EF4-FFF2-40B4-BE49-F238E27FC236}">
                <a16:creationId xmlns:a16="http://schemas.microsoft.com/office/drawing/2014/main" id="{9745CD56-F1A2-4E51-B489-05328CAEE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8587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" name="">
            <a:extLst xmlns:a="http://schemas.openxmlformats.org/drawingml/2006/main">
              <a:ext uri="{FF2B5EF4-FFF2-40B4-BE49-F238E27FC236}">
                <a16:creationId xmlns:a16="http://schemas.microsoft.com/office/drawing/2014/main" id="{F6C2F532-03CD-4F85-BA00-478A09B89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3415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" name="">
            <a:extLst xmlns:a="http://schemas.openxmlformats.org/drawingml/2006/main">
              <a:ext uri="{FF2B5EF4-FFF2-40B4-BE49-F238E27FC236}">
                <a16:creationId xmlns:a16="http://schemas.microsoft.com/office/drawing/2014/main" id="{AC11FB5A-AE2D-41BC-BDD1-2DEA2156B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81444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300" name="">
            <a:extLst xmlns:a="http://schemas.openxmlformats.org/drawingml/2006/main">
              <a:ext uri="{FF2B5EF4-FFF2-40B4-BE49-F238E27FC236}">
                <a16:creationId xmlns:a16="http://schemas.microsoft.com/office/drawing/2014/main" id="{332C0487-797A-4568-B1DE-A7C5B48A4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81444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 FLEX</a:t>
            </a:r>
          </a:p>
        </p:txBody>
      </p:sp>
      <p:sp>
        <p:nvSpPr>
          <p:cNvPr id="301" name="">
            <a:extLst xmlns:a="http://schemas.openxmlformats.org/drawingml/2006/main">
              <a:ext uri="{FF2B5EF4-FFF2-40B4-BE49-F238E27FC236}">
                <a16:creationId xmlns:a16="http://schemas.microsoft.com/office/drawing/2014/main" id="{1B5BA4A8-6873-4363-9F89-69E4B0DF5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81444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agro</a:t>
            </a:r>
          </a:p>
        </p:txBody>
      </p:sp>
      <p:sp>
        <p:nvSpPr>
          <p:cNvPr id="302" name="">
            <a:extLst xmlns:a="http://schemas.openxmlformats.org/drawingml/2006/main">
              <a:ext uri="{FF2B5EF4-FFF2-40B4-BE49-F238E27FC236}">
                <a16:creationId xmlns:a16="http://schemas.microsoft.com/office/drawing/2014/main" id="{2091D8EF-6A72-42CA-A103-82CA3B124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81444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303" name="">
            <a:extLst xmlns:a="http://schemas.openxmlformats.org/drawingml/2006/main">
              <a:ext uri="{FF2B5EF4-FFF2-40B4-BE49-F238E27FC236}">
                <a16:creationId xmlns:a16="http://schemas.microsoft.com/office/drawing/2014/main" id="{7FE4C155-1720-4D45-AD3F-43937C066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81444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304" name="">
            <a:extLst xmlns:a="http://schemas.openxmlformats.org/drawingml/2006/main">
              <a:ext uri="{FF2B5EF4-FFF2-40B4-BE49-F238E27FC236}">
                <a16:creationId xmlns:a16="http://schemas.microsoft.com/office/drawing/2014/main" id="{E6FFBC56-BDF1-4424-B982-B392FA66B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81444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05" name="">
            <a:extLst xmlns:a="http://schemas.openxmlformats.org/drawingml/2006/main">
              <a:ext uri="{FF2B5EF4-FFF2-40B4-BE49-F238E27FC236}">
                <a16:creationId xmlns:a16="http://schemas.microsoft.com/office/drawing/2014/main" id="{14FBA9F8-71B6-4E82-A8B0-D5789DD71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81444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06" name="">
            <a:extLst xmlns:a="http://schemas.openxmlformats.org/drawingml/2006/main">
              <a:ext uri="{FF2B5EF4-FFF2-40B4-BE49-F238E27FC236}">
                <a16:creationId xmlns:a16="http://schemas.microsoft.com/office/drawing/2014/main" id="{DDD0C83D-60A4-40FC-B955-A41A604D9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381444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07" name="">
            <a:extLst xmlns:a="http://schemas.openxmlformats.org/drawingml/2006/main">
              <a:ext uri="{FF2B5EF4-FFF2-40B4-BE49-F238E27FC236}">
                <a16:creationId xmlns:a16="http://schemas.microsoft.com/office/drawing/2014/main" id="{1023D340-CF0A-4872-B3D5-236733C7F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81444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08" name="">
            <a:extLst xmlns:a="http://schemas.openxmlformats.org/drawingml/2006/main">
              <a:ext uri="{FF2B5EF4-FFF2-40B4-BE49-F238E27FC236}">
                <a16:creationId xmlns:a16="http://schemas.microsoft.com/office/drawing/2014/main" id="{5804FC6B-A986-4E25-BAD7-5B6940FEB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81444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09" name="">
            <a:extLst xmlns:a="http://schemas.openxmlformats.org/drawingml/2006/main">
              <a:ext uri="{FF2B5EF4-FFF2-40B4-BE49-F238E27FC236}">
                <a16:creationId xmlns:a16="http://schemas.microsoft.com/office/drawing/2014/main" id="{A79CBD64-DBA0-4CE6-8874-6554E2E13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4368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0" name="">
            <a:extLst xmlns:a="http://schemas.openxmlformats.org/drawingml/2006/main">
              <a:ext uri="{FF2B5EF4-FFF2-40B4-BE49-F238E27FC236}">
                <a16:creationId xmlns:a16="http://schemas.microsoft.com/office/drawing/2014/main" id="{A4338A6E-43AF-4D68-BC65-61EF6EC3F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9196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" name="">
            <a:extLst xmlns:a="http://schemas.openxmlformats.org/drawingml/2006/main">
              <a:ext uri="{FF2B5EF4-FFF2-40B4-BE49-F238E27FC236}">
                <a16:creationId xmlns:a16="http://schemas.microsoft.com/office/drawing/2014/main" id="{1A27684B-4E42-4234-A827-C1A662A51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7225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312" name="">
            <a:extLst xmlns:a="http://schemas.openxmlformats.org/drawingml/2006/main">
              <a:ext uri="{FF2B5EF4-FFF2-40B4-BE49-F238E27FC236}">
                <a16:creationId xmlns:a16="http://schemas.microsoft.com/office/drawing/2014/main" id="{078307FD-7177-4440-8730-C3760936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07225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Sellers I</a:t>
            </a:r>
          </a:p>
        </p:txBody>
      </p:sp>
      <p:sp>
        <p:nvSpPr>
          <p:cNvPr id="313" name="">
            <a:extLst xmlns:a="http://schemas.openxmlformats.org/drawingml/2006/main">
              <a:ext uri="{FF2B5EF4-FFF2-40B4-BE49-F238E27FC236}">
                <a16:creationId xmlns:a16="http://schemas.microsoft.com/office/drawing/2014/main" id="{E1D23667-19F7-442F-A45D-1ADB43C9B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07225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Mercado Pago / Mercado</a:t>
            </a:r>
          </a:p>
        </p:txBody>
      </p:sp>
      <p:sp>
        <p:nvSpPr>
          <p:cNvPr id="314" name="">
            <a:extLst xmlns:a="http://schemas.openxmlformats.org/drawingml/2006/main">
              <a:ext uri="{FF2B5EF4-FFF2-40B4-BE49-F238E27FC236}">
                <a16:creationId xmlns:a16="http://schemas.microsoft.com/office/drawing/2014/main" id="{7B755200-21E5-4D2A-9BE6-6C790A069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407225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315" name="">
            <a:extLst xmlns:a="http://schemas.openxmlformats.org/drawingml/2006/main">
              <a:ext uri="{FF2B5EF4-FFF2-40B4-BE49-F238E27FC236}">
                <a16:creationId xmlns:a16="http://schemas.microsoft.com/office/drawing/2014/main" id="{27FE08E8-C299-48B9-9B83-AE0410FA9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07225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UBS BB</a:t>
            </a:r>
          </a:p>
        </p:txBody>
      </p:sp>
      <p:sp>
        <p:nvSpPr>
          <p:cNvPr id="316" name="">
            <a:extLst xmlns:a="http://schemas.openxmlformats.org/drawingml/2006/main">
              <a:ext uri="{FF2B5EF4-FFF2-40B4-BE49-F238E27FC236}">
                <a16:creationId xmlns:a16="http://schemas.microsoft.com/office/drawing/2014/main" id="{B09EF303-449E-4FE0-BF83-FC71866C2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07225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317" name="">
            <a:extLst xmlns:a="http://schemas.openxmlformats.org/drawingml/2006/main">
              <a:ext uri="{FF2B5EF4-FFF2-40B4-BE49-F238E27FC236}">
                <a16:creationId xmlns:a16="http://schemas.microsoft.com/office/drawing/2014/main" id="{1DD62331-19CD-420D-B1F4-74590ECFF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07225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318" name="">
            <a:extLst xmlns:a="http://schemas.openxmlformats.org/drawingml/2006/main">
              <a:ext uri="{FF2B5EF4-FFF2-40B4-BE49-F238E27FC236}">
                <a16:creationId xmlns:a16="http://schemas.microsoft.com/office/drawing/2014/main" id="{EDFB53AF-60DB-42EB-A92D-1537B3A0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07225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19" name="">
            <a:extLst xmlns:a="http://schemas.openxmlformats.org/drawingml/2006/main">
              <a:ext uri="{FF2B5EF4-FFF2-40B4-BE49-F238E27FC236}">
                <a16:creationId xmlns:a16="http://schemas.microsoft.com/office/drawing/2014/main" id="{36722BBE-FC1C-4424-94E5-E64FE5293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07225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Austin</a:t>
            </a:r>
          </a:p>
        </p:txBody>
      </p:sp>
      <p:sp>
        <p:nvSpPr>
          <p:cNvPr id="320" name="">
            <a:extLst xmlns:a="http://schemas.openxmlformats.org/drawingml/2006/main">
              <a:ext uri="{FF2B5EF4-FFF2-40B4-BE49-F238E27FC236}">
                <a16:creationId xmlns:a16="http://schemas.microsoft.com/office/drawing/2014/main" id="{454E11C1-C407-43F9-AADC-41F71211B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07225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brAAA(sf)</a:t>
            </a:r>
          </a:p>
        </p:txBody>
      </p:sp>
      <p:sp>
        <p:nvSpPr>
          <p:cNvPr id="321" name="">
            <a:extLst xmlns:a="http://schemas.openxmlformats.org/drawingml/2006/main">
              <a:ext uri="{FF2B5EF4-FFF2-40B4-BE49-F238E27FC236}">
                <a16:creationId xmlns:a16="http://schemas.microsoft.com/office/drawing/2014/main" id="{9B70C2D9-1778-4851-997C-C349499EF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0149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" name="">
            <a:extLst xmlns:a="http://schemas.openxmlformats.org/drawingml/2006/main">
              <a:ext uri="{FF2B5EF4-FFF2-40B4-BE49-F238E27FC236}">
                <a16:creationId xmlns:a16="http://schemas.microsoft.com/office/drawing/2014/main" id="{1739877C-7221-4E05-A142-714B061D7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4977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" name="">
            <a:extLst xmlns:a="http://schemas.openxmlformats.org/drawingml/2006/main">
              <a:ext uri="{FF2B5EF4-FFF2-40B4-BE49-F238E27FC236}">
                <a16:creationId xmlns:a16="http://schemas.microsoft.com/office/drawing/2014/main" id="{14BBDBEC-CDA6-4BE6-9A8E-6C053D081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33006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24" name="">
            <a:extLst xmlns:a="http://schemas.openxmlformats.org/drawingml/2006/main">
              <a:ext uri="{FF2B5EF4-FFF2-40B4-BE49-F238E27FC236}">
                <a16:creationId xmlns:a16="http://schemas.microsoft.com/office/drawing/2014/main" id="{1121BA01-3CF6-4FC8-B5AE-E7A4E29DD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33006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BV AUTO II FINANCEIRO</a:t>
            </a:r>
          </a:p>
        </p:txBody>
      </p:sp>
      <p:sp>
        <p:nvSpPr>
          <p:cNvPr id="325" name="">
            <a:extLst xmlns:a="http://schemas.openxmlformats.org/drawingml/2006/main">
              <a:ext uri="{FF2B5EF4-FFF2-40B4-BE49-F238E27FC236}">
                <a16:creationId xmlns:a16="http://schemas.microsoft.com/office/drawing/2014/main" id="{154E1A9A-B147-4569-99FC-44EBA6787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33006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BV</a:t>
            </a:r>
          </a:p>
        </p:txBody>
      </p:sp>
      <p:sp>
        <p:nvSpPr>
          <p:cNvPr id="326" name="">
            <a:extLst xmlns:a="http://schemas.openxmlformats.org/drawingml/2006/main">
              <a:ext uri="{FF2B5EF4-FFF2-40B4-BE49-F238E27FC236}">
                <a16:creationId xmlns:a16="http://schemas.microsoft.com/office/drawing/2014/main" id="{05A83BB5-0A41-4A3C-8865-62A6382BF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433006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327" name="">
            <a:extLst xmlns:a="http://schemas.openxmlformats.org/drawingml/2006/main">
              <a:ext uri="{FF2B5EF4-FFF2-40B4-BE49-F238E27FC236}">
                <a16:creationId xmlns:a16="http://schemas.microsoft.com/office/drawing/2014/main" id="{A8AC640B-D1D5-48A5-947C-AA925CBCE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33006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</a:t>
            </a:r>
          </a:p>
        </p:txBody>
      </p:sp>
      <p:sp>
        <p:nvSpPr>
          <p:cNvPr id="328" name="">
            <a:extLst xmlns:a="http://schemas.openxmlformats.org/drawingml/2006/main">
              <a:ext uri="{FF2B5EF4-FFF2-40B4-BE49-F238E27FC236}">
                <a16:creationId xmlns:a16="http://schemas.microsoft.com/office/drawing/2014/main" id="{26FCA661-65E2-40C9-9647-1EC441C3B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33006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29" name="">
            <a:extLst xmlns:a="http://schemas.openxmlformats.org/drawingml/2006/main">
              <a:ext uri="{FF2B5EF4-FFF2-40B4-BE49-F238E27FC236}">
                <a16:creationId xmlns:a16="http://schemas.microsoft.com/office/drawing/2014/main" id="{CFD18FE7-6044-4E44-B82A-EA1428465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33006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30" name="">
            <a:extLst xmlns:a="http://schemas.openxmlformats.org/drawingml/2006/main">
              <a:ext uri="{FF2B5EF4-FFF2-40B4-BE49-F238E27FC236}">
                <a16:creationId xmlns:a16="http://schemas.microsoft.com/office/drawing/2014/main" id="{E5FA048B-1AC9-49FB-BF7B-D5033D960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33006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31" name="">
            <a:extLst xmlns:a="http://schemas.openxmlformats.org/drawingml/2006/main">
              <a:ext uri="{FF2B5EF4-FFF2-40B4-BE49-F238E27FC236}">
                <a16:creationId xmlns:a16="http://schemas.microsoft.com/office/drawing/2014/main" id="{F08D30E9-CA4F-473D-888D-66C2DB557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33006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32" name="">
            <a:extLst xmlns:a="http://schemas.openxmlformats.org/drawingml/2006/main">
              <a:ext uri="{FF2B5EF4-FFF2-40B4-BE49-F238E27FC236}">
                <a16:creationId xmlns:a16="http://schemas.microsoft.com/office/drawing/2014/main" id="{BBE4BEC4-26FC-4655-BA10-4A71D30C8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33006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33" name="">
            <a:extLst xmlns:a="http://schemas.openxmlformats.org/drawingml/2006/main">
              <a:ext uri="{FF2B5EF4-FFF2-40B4-BE49-F238E27FC236}">
                <a16:creationId xmlns:a16="http://schemas.microsoft.com/office/drawing/2014/main" id="{7CF63926-CF46-4BAF-85DD-2148DB4CA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593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" name="">
            <a:extLst xmlns:a="http://schemas.openxmlformats.org/drawingml/2006/main">
              <a:ext uri="{FF2B5EF4-FFF2-40B4-BE49-F238E27FC236}">
                <a16:creationId xmlns:a16="http://schemas.microsoft.com/office/drawing/2014/main" id="{B8683A01-EDCA-4C32-83FD-930A4B37B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075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" name="">
            <a:extLst xmlns:a="http://schemas.openxmlformats.org/drawingml/2006/main">
              <a:ext uri="{FF2B5EF4-FFF2-40B4-BE49-F238E27FC236}">
                <a16:creationId xmlns:a16="http://schemas.microsoft.com/office/drawing/2014/main" id="{A0F30B89-2DA8-493E-A1B3-CACEA9BC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58787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36" name="">
            <a:extLst xmlns:a="http://schemas.openxmlformats.org/drawingml/2006/main">
              <a:ext uri="{FF2B5EF4-FFF2-40B4-BE49-F238E27FC236}">
                <a16:creationId xmlns:a16="http://schemas.microsoft.com/office/drawing/2014/main" id="{E64B5DB1-1DC9-42F6-8195-D22352332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8787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PINE INSS II</a:t>
            </a:r>
          </a:p>
        </p:txBody>
      </p:sp>
      <p:sp>
        <p:nvSpPr>
          <p:cNvPr id="337" name="">
            <a:extLst xmlns:a="http://schemas.openxmlformats.org/drawingml/2006/main">
              <a:ext uri="{FF2B5EF4-FFF2-40B4-BE49-F238E27FC236}">
                <a16:creationId xmlns:a16="http://schemas.microsoft.com/office/drawing/2014/main" id="{A5BB8BAA-7DBB-48E2-BAA9-99D7763F8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878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Pine</a:t>
            </a:r>
          </a:p>
        </p:txBody>
      </p:sp>
      <p:sp>
        <p:nvSpPr>
          <p:cNvPr id="338" name="">
            <a:extLst xmlns:a="http://schemas.openxmlformats.org/drawingml/2006/main">
              <a:ext uri="{FF2B5EF4-FFF2-40B4-BE49-F238E27FC236}">
                <a16:creationId xmlns:a16="http://schemas.microsoft.com/office/drawing/2014/main" id="{A83103EE-BDB5-47E5-ABDA-4BF2957F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458787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1,25</a:t>
            </a:r>
          </a:p>
        </p:txBody>
      </p:sp>
      <p:sp>
        <p:nvSpPr>
          <p:cNvPr id="339" name="">
            <a:extLst xmlns:a="http://schemas.openxmlformats.org/drawingml/2006/main">
              <a:ext uri="{FF2B5EF4-FFF2-40B4-BE49-F238E27FC236}">
                <a16:creationId xmlns:a16="http://schemas.microsoft.com/office/drawing/2014/main" id="{EA77F843-AEA9-4222-997B-4D18E1688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5878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</a:t>
            </a:r>
          </a:p>
        </p:txBody>
      </p:sp>
      <p:sp>
        <p:nvSpPr>
          <p:cNvPr id="340" name="">
            <a:extLst xmlns:a="http://schemas.openxmlformats.org/drawingml/2006/main">
              <a:ext uri="{FF2B5EF4-FFF2-40B4-BE49-F238E27FC236}">
                <a16:creationId xmlns:a16="http://schemas.microsoft.com/office/drawing/2014/main" id="{2F4AAC6C-1A52-4F80-8E60-41489497B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58787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341" name="">
            <a:extLst xmlns:a="http://schemas.openxmlformats.org/drawingml/2006/main">
              <a:ext uri="{FF2B5EF4-FFF2-40B4-BE49-F238E27FC236}">
                <a16:creationId xmlns:a16="http://schemas.microsoft.com/office/drawing/2014/main" id="{67AC1F05-7F8D-4073-8726-AF2D86D95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58787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42" name="">
            <a:extLst xmlns:a="http://schemas.openxmlformats.org/drawingml/2006/main">
              <a:ext uri="{FF2B5EF4-FFF2-40B4-BE49-F238E27FC236}">
                <a16:creationId xmlns:a16="http://schemas.microsoft.com/office/drawing/2014/main" id="{2912ED35-FA80-4223-88D2-F5C1F57F6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58787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43" name="">
            <a:extLst xmlns:a="http://schemas.openxmlformats.org/drawingml/2006/main">
              <a:ext uri="{FF2B5EF4-FFF2-40B4-BE49-F238E27FC236}">
                <a16:creationId xmlns:a16="http://schemas.microsoft.com/office/drawing/2014/main" id="{D3557C49-0D90-4C73-9D36-67C6B1FC4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58787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344" name="">
            <a:extLst xmlns:a="http://schemas.openxmlformats.org/drawingml/2006/main">
              <a:ext uri="{FF2B5EF4-FFF2-40B4-BE49-F238E27FC236}">
                <a16:creationId xmlns:a16="http://schemas.microsoft.com/office/drawing/2014/main" id="{443292A2-3462-4E0B-909C-0CB86858E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58787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AAA(br)</a:t>
            </a:r>
          </a:p>
        </p:txBody>
      </p:sp>
      <p:sp>
        <p:nvSpPr>
          <p:cNvPr id="345" name="">
            <a:extLst xmlns:a="http://schemas.openxmlformats.org/drawingml/2006/main">
              <a:ext uri="{FF2B5EF4-FFF2-40B4-BE49-F238E27FC236}">
                <a16:creationId xmlns:a16="http://schemas.microsoft.com/office/drawing/2014/main" id="{86BC4AD7-A9A5-4350-9198-FEA627EE5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71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" name="">
            <a:extLst xmlns:a="http://schemas.openxmlformats.org/drawingml/2006/main">
              <a:ext uri="{FF2B5EF4-FFF2-40B4-BE49-F238E27FC236}">
                <a16:creationId xmlns:a16="http://schemas.microsoft.com/office/drawing/2014/main" id="{B8920240-DA29-410D-BA23-BFAD231A7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653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" name="">
            <a:extLst xmlns:a="http://schemas.openxmlformats.org/drawingml/2006/main">
              <a:ext uri="{FF2B5EF4-FFF2-40B4-BE49-F238E27FC236}">
                <a16:creationId xmlns:a16="http://schemas.microsoft.com/office/drawing/2014/main" id="{C8E2DAD2-692A-4087-9B4F-7EE7D8063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4568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48" name="">
            <a:extLst xmlns:a="http://schemas.openxmlformats.org/drawingml/2006/main">
              <a:ext uri="{FF2B5EF4-FFF2-40B4-BE49-F238E27FC236}">
                <a16:creationId xmlns:a16="http://schemas.microsoft.com/office/drawing/2014/main" id="{F943835B-26A5-4BAC-9B92-E7DA2F047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84568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VOLKSWAGEN TERA RECEBIVEIS COMERCIAIS</a:t>
            </a:r>
          </a:p>
        </p:txBody>
      </p:sp>
      <p:sp>
        <p:nvSpPr>
          <p:cNvPr id="349" name="">
            <a:extLst xmlns:a="http://schemas.openxmlformats.org/drawingml/2006/main">
              <a:ext uri="{FF2B5EF4-FFF2-40B4-BE49-F238E27FC236}">
                <a16:creationId xmlns:a16="http://schemas.microsoft.com/office/drawing/2014/main" id="{0E42370A-8539-411E-B34E-A4F81823F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456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Volkswagen /</a:t>
            </a:r>
          </a:p>
        </p:txBody>
      </p:sp>
      <p:sp>
        <p:nvSpPr>
          <p:cNvPr id="350" name="">
            <a:extLst xmlns:a="http://schemas.openxmlformats.org/drawingml/2006/main">
              <a:ext uri="{FF2B5EF4-FFF2-40B4-BE49-F238E27FC236}">
                <a16:creationId xmlns:a16="http://schemas.microsoft.com/office/drawing/2014/main" id="{61911D73-4963-4498-BB88-0F41C0B80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484568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351" name="">
            <a:extLst xmlns:a="http://schemas.openxmlformats.org/drawingml/2006/main">
              <a:ext uri="{FF2B5EF4-FFF2-40B4-BE49-F238E27FC236}">
                <a16:creationId xmlns:a16="http://schemas.microsoft.com/office/drawing/2014/main" id="{B67A81C1-32CC-418B-9044-CC9631B82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8456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352" name="">
            <a:extLst xmlns:a="http://schemas.openxmlformats.org/drawingml/2006/main">
              <a:ext uri="{FF2B5EF4-FFF2-40B4-BE49-F238E27FC236}">
                <a16:creationId xmlns:a16="http://schemas.microsoft.com/office/drawing/2014/main" id="{774A83E5-DF50-47A2-ABCF-3343A3C09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84568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353" name="">
            <a:extLst xmlns:a="http://schemas.openxmlformats.org/drawingml/2006/main">
              <a:ext uri="{FF2B5EF4-FFF2-40B4-BE49-F238E27FC236}">
                <a16:creationId xmlns:a16="http://schemas.microsoft.com/office/drawing/2014/main" id="{933A2E6E-25EC-4D42-8434-E176CD9EE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84568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54" name="">
            <a:extLst xmlns:a="http://schemas.openxmlformats.org/drawingml/2006/main">
              <a:ext uri="{FF2B5EF4-FFF2-40B4-BE49-F238E27FC236}">
                <a16:creationId xmlns:a16="http://schemas.microsoft.com/office/drawing/2014/main" id="{720183BB-35D0-4BA8-8867-E32F37CDB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84568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55" name="">
            <a:extLst xmlns:a="http://schemas.openxmlformats.org/drawingml/2006/main">
              <a:ext uri="{FF2B5EF4-FFF2-40B4-BE49-F238E27FC236}">
                <a16:creationId xmlns:a16="http://schemas.microsoft.com/office/drawing/2014/main" id="{220845FF-FAB4-4CF0-AA5D-A19706EFD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84568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56" name="">
            <a:extLst xmlns:a="http://schemas.openxmlformats.org/drawingml/2006/main">
              <a:ext uri="{FF2B5EF4-FFF2-40B4-BE49-F238E27FC236}">
                <a16:creationId xmlns:a16="http://schemas.microsoft.com/office/drawing/2014/main" id="{07D8E5B6-76EF-4EEB-AF87-5C160D1C3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84568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57" name="">
            <a:extLst xmlns:a="http://schemas.openxmlformats.org/drawingml/2006/main">
              <a:ext uri="{FF2B5EF4-FFF2-40B4-BE49-F238E27FC236}">
                <a16:creationId xmlns:a16="http://schemas.microsoft.com/office/drawing/2014/main" id="{6B84CC2D-F8B3-4254-9451-C965BD352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749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8" name="">
            <a:extLst xmlns:a="http://schemas.openxmlformats.org/drawingml/2006/main">
              <a:ext uri="{FF2B5EF4-FFF2-40B4-BE49-F238E27FC236}">
                <a16:creationId xmlns:a16="http://schemas.microsoft.com/office/drawing/2014/main" id="{9BF75DF5-8624-4DCF-A1A1-95E91DDAD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3232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9" name="">
            <a:extLst xmlns:a="http://schemas.openxmlformats.org/drawingml/2006/main">
              <a:ext uri="{FF2B5EF4-FFF2-40B4-BE49-F238E27FC236}">
                <a16:creationId xmlns:a16="http://schemas.microsoft.com/office/drawing/2014/main" id="{37C12D95-5422-477F-8E6D-354FD7375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0349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60" name="">
            <a:extLst xmlns:a="http://schemas.openxmlformats.org/drawingml/2006/main">
              <a:ext uri="{FF2B5EF4-FFF2-40B4-BE49-F238E27FC236}">
                <a16:creationId xmlns:a16="http://schemas.microsoft.com/office/drawing/2014/main" id="{45A6B0D9-F290-4ADA-B187-842FAC89D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10349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BYX MOZART - CRÉDITO CONSIGNADO .</a:t>
            </a:r>
          </a:p>
        </p:txBody>
      </p:sp>
      <p:sp>
        <p:nvSpPr>
          <p:cNvPr id="361" name="">
            <a:extLst xmlns:a="http://schemas.openxmlformats.org/drawingml/2006/main">
              <a:ext uri="{FF2B5EF4-FFF2-40B4-BE49-F238E27FC236}">
                <a16:creationId xmlns:a16="http://schemas.microsoft.com/office/drawing/2014/main" id="{FA08905A-C2E8-4D07-8A7D-B10262F4C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034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</a:t>
            </a:r>
          </a:p>
        </p:txBody>
      </p:sp>
      <p:sp>
        <p:nvSpPr>
          <p:cNvPr id="362" name="">
            <a:extLst xmlns:a="http://schemas.openxmlformats.org/drawingml/2006/main">
              <a:ext uri="{FF2B5EF4-FFF2-40B4-BE49-F238E27FC236}">
                <a16:creationId xmlns:a16="http://schemas.microsoft.com/office/drawing/2014/main" id="{F8554460-F59B-41E6-AB85-3E85B6D13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510349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363" name="">
            <a:extLst xmlns:a="http://schemas.openxmlformats.org/drawingml/2006/main">
              <a:ext uri="{FF2B5EF4-FFF2-40B4-BE49-F238E27FC236}">
                <a16:creationId xmlns:a16="http://schemas.microsoft.com/office/drawing/2014/main" id="{052D339A-7C72-464B-838C-A1EEFA60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51034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VERT</a:t>
            </a:r>
          </a:p>
        </p:txBody>
      </p:sp>
      <p:sp>
        <p:nvSpPr>
          <p:cNvPr id="364" name="">
            <a:extLst xmlns:a="http://schemas.openxmlformats.org/drawingml/2006/main">
              <a:ext uri="{FF2B5EF4-FFF2-40B4-BE49-F238E27FC236}">
                <a16:creationId xmlns:a16="http://schemas.microsoft.com/office/drawing/2014/main" id="{D2161988-B3BC-4CB9-8F0A-35F55134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510349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65" name="">
            <a:extLst xmlns:a="http://schemas.openxmlformats.org/drawingml/2006/main">
              <a:ext uri="{FF2B5EF4-FFF2-40B4-BE49-F238E27FC236}">
                <a16:creationId xmlns:a16="http://schemas.microsoft.com/office/drawing/2014/main" id="{59AF0930-6A07-4DE1-90CF-EBE61645C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10349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66" name="">
            <a:extLst xmlns:a="http://schemas.openxmlformats.org/drawingml/2006/main">
              <a:ext uri="{FF2B5EF4-FFF2-40B4-BE49-F238E27FC236}">
                <a16:creationId xmlns:a16="http://schemas.microsoft.com/office/drawing/2014/main" id="{16E2130B-C35E-490F-A893-7EB8E4FA4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510349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67" name="">
            <a:extLst xmlns:a="http://schemas.openxmlformats.org/drawingml/2006/main">
              <a:ext uri="{FF2B5EF4-FFF2-40B4-BE49-F238E27FC236}">
                <a16:creationId xmlns:a16="http://schemas.microsoft.com/office/drawing/2014/main" id="{9649FA35-4090-4DB1-B603-2FA26E78D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10349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68" name="">
            <a:extLst xmlns:a="http://schemas.openxmlformats.org/drawingml/2006/main">
              <a:ext uri="{FF2B5EF4-FFF2-40B4-BE49-F238E27FC236}">
                <a16:creationId xmlns:a16="http://schemas.microsoft.com/office/drawing/2014/main" id="{603C9E16-0995-4C3B-86FC-3E2914C1D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510349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69" name="">
            <a:extLst xmlns:a="http://schemas.openxmlformats.org/drawingml/2006/main">
              <a:ext uri="{FF2B5EF4-FFF2-40B4-BE49-F238E27FC236}">
                <a16:creationId xmlns:a16="http://schemas.microsoft.com/office/drawing/2014/main" id="{39642810-EAF3-412D-9DD1-8E1BB6C40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3327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0" name="">
            <a:extLst xmlns:a="http://schemas.openxmlformats.org/drawingml/2006/main">
              <a:ext uri="{FF2B5EF4-FFF2-40B4-BE49-F238E27FC236}">
                <a16:creationId xmlns:a16="http://schemas.microsoft.com/office/drawing/2014/main" id="{ABF5F9D0-6AD4-40BC-B2B8-8F8AA6DD4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5810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1" name="">
            <a:extLst xmlns:a="http://schemas.openxmlformats.org/drawingml/2006/main">
              <a:ext uri="{FF2B5EF4-FFF2-40B4-BE49-F238E27FC236}">
                <a16:creationId xmlns:a16="http://schemas.microsoft.com/office/drawing/2014/main" id="{98FC9595-9317-4202-8351-D19031CB8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36130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372" name="">
            <a:extLst xmlns:a="http://schemas.openxmlformats.org/drawingml/2006/main">
              <a:ext uri="{FF2B5EF4-FFF2-40B4-BE49-F238E27FC236}">
                <a16:creationId xmlns:a16="http://schemas.microsoft.com/office/drawing/2014/main" id="{796DF2D3-A6E6-4138-AF34-C38DBB3D8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36130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PINE INSS FINANCEIRO</a:t>
            </a:r>
          </a:p>
        </p:txBody>
      </p:sp>
      <p:sp>
        <p:nvSpPr>
          <p:cNvPr id="373" name="">
            <a:extLst xmlns:a="http://schemas.openxmlformats.org/drawingml/2006/main">
              <a:ext uri="{FF2B5EF4-FFF2-40B4-BE49-F238E27FC236}">
                <a16:creationId xmlns:a16="http://schemas.microsoft.com/office/drawing/2014/main" id="{2A1D874E-1EFF-48EA-8251-7E70BE1FE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3613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Pine</a:t>
            </a:r>
          </a:p>
        </p:txBody>
      </p:sp>
      <p:sp>
        <p:nvSpPr>
          <p:cNvPr id="374" name="">
            <a:extLst xmlns:a="http://schemas.openxmlformats.org/drawingml/2006/main">
              <a:ext uri="{FF2B5EF4-FFF2-40B4-BE49-F238E27FC236}">
                <a16:creationId xmlns:a16="http://schemas.microsoft.com/office/drawing/2014/main" id="{E3375E91-E1A3-4F56-AA0B-5C9882AA2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536130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375" name="">
            <a:extLst xmlns:a="http://schemas.openxmlformats.org/drawingml/2006/main">
              <a:ext uri="{FF2B5EF4-FFF2-40B4-BE49-F238E27FC236}">
                <a16:creationId xmlns:a16="http://schemas.microsoft.com/office/drawing/2014/main" id="{9ABF4F8E-7CEB-4A1F-9F2E-60003825D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53613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VERT</a:t>
            </a:r>
          </a:p>
        </p:txBody>
      </p:sp>
      <p:sp>
        <p:nvSpPr>
          <p:cNvPr id="376" name="">
            <a:extLst xmlns:a="http://schemas.openxmlformats.org/drawingml/2006/main">
              <a:ext uri="{FF2B5EF4-FFF2-40B4-BE49-F238E27FC236}">
                <a16:creationId xmlns:a16="http://schemas.microsoft.com/office/drawing/2014/main" id="{A6F4DB54-24DE-4A93-9BF4-A8555F607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536130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77" name="">
            <a:extLst xmlns:a="http://schemas.openxmlformats.org/drawingml/2006/main">
              <a:ext uri="{FF2B5EF4-FFF2-40B4-BE49-F238E27FC236}">
                <a16:creationId xmlns:a16="http://schemas.microsoft.com/office/drawing/2014/main" id="{6C3706BB-12EC-4359-A0C3-003C9C237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36130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78" name="">
            <a:extLst xmlns:a="http://schemas.openxmlformats.org/drawingml/2006/main">
              <a:ext uri="{FF2B5EF4-FFF2-40B4-BE49-F238E27FC236}">
                <a16:creationId xmlns:a16="http://schemas.microsoft.com/office/drawing/2014/main" id="{D48B0388-51AF-4311-8657-FB7FE4820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536130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79" name="">
            <a:extLst xmlns:a="http://schemas.openxmlformats.org/drawingml/2006/main">
              <a:ext uri="{FF2B5EF4-FFF2-40B4-BE49-F238E27FC236}">
                <a16:creationId xmlns:a16="http://schemas.microsoft.com/office/drawing/2014/main" id="{71294EE8-8566-4939-8465-1DEF7AD6F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36130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80" name="">
            <a:extLst xmlns:a="http://schemas.openxmlformats.org/drawingml/2006/main">
              <a:ext uri="{FF2B5EF4-FFF2-40B4-BE49-F238E27FC236}">
                <a16:creationId xmlns:a16="http://schemas.microsoft.com/office/drawing/2014/main" id="{B092514A-2234-42DB-86E7-4958791C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536130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81" name="">
            <a:extLst xmlns:a="http://schemas.openxmlformats.org/drawingml/2006/main">
              <a:ext uri="{FF2B5EF4-FFF2-40B4-BE49-F238E27FC236}">
                <a16:creationId xmlns:a16="http://schemas.microsoft.com/office/drawing/2014/main" id="{C8719A78-2D79-4A62-98C3-46ABB854F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5905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2" name="">
            <a:extLst xmlns:a="http://schemas.openxmlformats.org/drawingml/2006/main">
              <a:ext uri="{FF2B5EF4-FFF2-40B4-BE49-F238E27FC236}">
                <a16:creationId xmlns:a16="http://schemas.microsoft.com/office/drawing/2014/main" id="{6B1A4342-EFAB-4761-B32B-0C9FEFCC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8388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3" name="">
            <a:extLst xmlns:a="http://schemas.openxmlformats.org/drawingml/2006/main">
              <a:ext uri="{FF2B5EF4-FFF2-40B4-BE49-F238E27FC236}">
                <a16:creationId xmlns:a16="http://schemas.microsoft.com/office/drawing/2014/main" id="{34D88969-1E27-49D9-B983-38F14218B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61911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384" name="">
            <a:extLst xmlns:a="http://schemas.openxmlformats.org/drawingml/2006/main">
              <a:ext uri="{FF2B5EF4-FFF2-40B4-BE49-F238E27FC236}">
                <a16:creationId xmlns:a16="http://schemas.microsoft.com/office/drawing/2014/main" id="{1ABDE3B4-7875-4B8C-809A-E35145B22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61911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RED REAL LP</a:t>
            </a:r>
          </a:p>
        </p:txBody>
      </p:sp>
      <p:sp>
        <p:nvSpPr>
          <p:cNvPr id="385" name="">
            <a:extLst xmlns:a="http://schemas.openxmlformats.org/drawingml/2006/main">
              <a:ext uri="{FF2B5EF4-FFF2-40B4-BE49-F238E27FC236}">
                <a16:creationId xmlns:a16="http://schemas.microsoft.com/office/drawing/2014/main" id="{1BF7790B-AEF9-4875-9BB7-E375F19F5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6191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86" name="">
            <a:extLst xmlns:a="http://schemas.openxmlformats.org/drawingml/2006/main">
              <a:ext uri="{FF2B5EF4-FFF2-40B4-BE49-F238E27FC236}">
                <a16:creationId xmlns:a16="http://schemas.microsoft.com/office/drawing/2014/main" id="{39D3EA2B-6517-4F00-931C-9B6F99658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561911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387" name="">
            <a:extLst xmlns:a="http://schemas.openxmlformats.org/drawingml/2006/main">
              <a:ext uri="{FF2B5EF4-FFF2-40B4-BE49-F238E27FC236}">
                <a16:creationId xmlns:a16="http://schemas.microsoft.com/office/drawing/2014/main" id="{54A5E039-3EFC-4FDB-AFE4-80B12FC03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56191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FINAXIS S.A</a:t>
            </a:r>
          </a:p>
        </p:txBody>
      </p:sp>
      <p:sp>
        <p:nvSpPr>
          <p:cNvPr id="388" name="">
            <a:extLst xmlns:a="http://schemas.openxmlformats.org/drawingml/2006/main">
              <a:ext uri="{FF2B5EF4-FFF2-40B4-BE49-F238E27FC236}">
                <a16:creationId xmlns:a16="http://schemas.microsoft.com/office/drawing/2014/main" id="{AA7ED06E-F007-4691-919C-7F329CF3B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561911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89" name="">
            <a:extLst xmlns:a="http://schemas.openxmlformats.org/drawingml/2006/main">
              <a:ext uri="{FF2B5EF4-FFF2-40B4-BE49-F238E27FC236}">
                <a16:creationId xmlns:a16="http://schemas.microsoft.com/office/drawing/2014/main" id="{4EA7D952-59D6-447E-B317-B447FF7C8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61911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90" name="">
            <a:extLst xmlns:a="http://schemas.openxmlformats.org/drawingml/2006/main">
              <a:ext uri="{FF2B5EF4-FFF2-40B4-BE49-F238E27FC236}">
                <a16:creationId xmlns:a16="http://schemas.microsoft.com/office/drawing/2014/main" id="{28833D17-18D2-4810-B629-C82EFA73F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561911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91" name="">
            <a:extLst xmlns:a="http://schemas.openxmlformats.org/drawingml/2006/main">
              <a:ext uri="{FF2B5EF4-FFF2-40B4-BE49-F238E27FC236}">
                <a16:creationId xmlns:a16="http://schemas.microsoft.com/office/drawing/2014/main" id="{523F13E2-3AB9-4C49-8A38-6F3C04E29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61911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92" name="">
            <a:extLst xmlns:a="http://schemas.openxmlformats.org/drawingml/2006/main">
              <a:ext uri="{FF2B5EF4-FFF2-40B4-BE49-F238E27FC236}">
                <a16:creationId xmlns:a16="http://schemas.microsoft.com/office/drawing/2014/main" id="{9B38EB04-E701-4CF9-9084-00F21DD0C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561911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93" name="">
            <a:extLst xmlns:a="http://schemas.openxmlformats.org/drawingml/2006/main">
              <a:ext uri="{FF2B5EF4-FFF2-40B4-BE49-F238E27FC236}">
                <a16:creationId xmlns:a16="http://schemas.microsoft.com/office/drawing/2014/main" id="{2CF06785-D3F5-46B9-BC85-17FD6B7D5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R$ 23,82 bi · 36,4% do período</a:t>
            </a:r>
          </a:p>
        </p:txBody>
      </p:sp>
      <p:sp>
        <p:nvSpPr>
          <p:cNvPr id="394" name="">
            <a:extLst xmlns:a="http://schemas.openxmlformats.org/drawingml/2006/main">
              <a:ext uri="{FF2B5EF4-FFF2-40B4-BE49-F238E27FC236}">
                <a16:creationId xmlns:a16="http://schemas.microsoft.com/office/drawing/2014/main" id="{B2BE963A-A660-49DD-B735-BC1175E74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R$ 26,23 bi · 22,4% do período</a:t>
            </a:r>
          </a:p>
        </p:txBody>
      </p:sp>
      <p:sp>
        <p:nvSpPr>
          <p:cNvPr id="395" name="">
            <a:extLst xmlns:a="http://schemas.openxmlformats.org/drawingml/2006/main">
              <a:ext uri="{FF2B5EF4-FFF2-40B4-BE49-F238E27FC236}">
                <a16:creationId xmlns:a16="http://schemas.microsoft.com/office/drawing/2014/main" id="{77026DA1-A234-459E-8903-ECE4DA052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05525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59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9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Coord. líder = coordenador líder informado no requerimento. GF = garantia firme. Agência e Rating referem-se à emissão/série/subclasse conciliada; N/D indica ausência de documento aplicável. O workbook contém todos os períodos e a trilha documental.</a:t>
            </a:r>
          </a:p>
        </p:txBody>
      </p:sp>
      <p:graphicFrame>
        <p:nvGraphicFramePr>
          <p:cNvPr id="793" name=""/>
          <p:cNvGraphicFramePr/>
          <p:nvPr/>
        </p:nvGraphicFramePr>
        <p:xfrm>
          <a:off xmlns:a="http://schemas.openxmlformats.org/drawingml/2006/main" x="12382500" y="6667500"/>
          <a:ext xmlns:a="http://schemas.openxmlformats.org/drawingml/2006/main" cx="95250" cy="4191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r>
                        <a:rPr sz="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Tabela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r>
                        <a:rPr sz="1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Jan–jun/26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94" name=""/>
          <p:cNvGraphicFramePr/>
          <p:nvPr/>
        </p:nvGraphicFramePr>
        <p:xfrm>
          <a:off xmlns:a="http://schemas.openxmlformats.org/drawingml/2006/main" x="12496800" y="6667500"/>
          <a:ext xmlns:a="http://schemas.openxmlformats.org/drawingml/2006/main" cx="95250" cy="4191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r>
                        <a:rPr sz="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Tabela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r>
                        <a:rPr sz="1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49723230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4" name="">
            <a:extLst xmlns:a="http://schemas.openxmlformats.org/drawingml/2006/main">
              <a:ext uri="{FF2B5EF4-FFF2-40B4-BE49-F238E27FC236}">
                <a16:creationId xmlns:a16="http://schemas.microsoft.com/office/drawing/2014/main" id="{93778A08-0B4A-49FB-B4F2-C9016761B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741DA7-4BC4-4498-B5AA-6CD4EFB52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2024FY e 2023FY com agência e rating em colunas separadas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D0DCD9-19EE-4660-8B13-2F2E36419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65D51F-75C0-433A-A233-B93FF749D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AB33FF-0E33-4F37-B876-D5B772420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BA179A-59D7-4B02-8118-CA1DB2E9F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49A08C-E8A9-4248-9806-4C6CF73DD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4AE58C-7F0B-40C8-9F97-AFF9582A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F96B02-D368-4E32-B453-FAEF8BE80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57350"/>
            <a:ext cx="533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65B21A-7160-48AF-B581-1E6BFA273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85925"/>
            <a:ext cx="114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76D193-396E-4A93-82E8-E4435551C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85925"/>
            <a:ext cx="1076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FIDC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B78142-450F-45BD-B766-6A4DCE2B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1685925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Originador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CBF28F-8A9F-4B8F-AF8D-62650490C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1685925"/>
            <a:ext cx="333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05EDE4-5875-4E16-AA31-F05B76C5F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859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Coord.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AB991C-DB32-4684-9EBA-140C25499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685925"/>
            <a:ext cx="19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E93092-EB16-4BBF-97F1-2700B8F61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16859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Público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739C6E-AC84-45AF-BFBE-81227F5E9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16859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140C8F-EF3A-402F-83BB-3C7D17BA3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1685925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Rating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34FB98-2637-4869-952C-F8568CB3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812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28BF01-5815-42A9-B4F3-B1C623652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294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FEC0DC-BE55-4EB1-A9E7-6759E6EE0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0977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47866C-1929-48F0-89D3-13E920657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0977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A DO BV AUTO I FINANCEIRO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801F0D-9587-4B96-B7A4-04F785CBD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200977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BV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F39EE2-91D7-4FCD-B9D8-FB992B33E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00977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8A756C-BFFF-4243-9AE6-BD9B86FF1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00977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300BA2B-8499-4D77-AAD8-BF8955BE6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00977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6D65B4-E4AD-4D68-956F-2B95C0B6E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00977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569E68-8FEF-408D-9DD6-22FE3279F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00977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687B8D5-457C-46AC-8D53-EF950410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00977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601A93-E362-4BE5-BCB5-015D5FAC3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390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3BFBCC4-08AF-42B9-B055-C72784955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872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20193CB-4842-4058-A716-73C1075B0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6758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73AE1EE-A69D-410A-B62B-133C92561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758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ACR BEM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2B472C7-F290-4D58-A19C-F926547D7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226758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F8BE7CB-9B82-4C1E-8302-82A67DCA0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26758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1E85717-3203-4A10-A47F-8544F1C93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26758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CB5B405-E7FA-4544-8EA9-5465D1036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26758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288771A-C552-4FDF-BF01-CD1A246B4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26758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BE526DE-8DC1-4638-A622-30B23513D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6758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S&amp;P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A293D7B-E448-4BCC-A6CB-06AAC1B2D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26758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brAAA (sf)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2978D81-B7C0-4E1B-A5AD-990898151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968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A7B092E-F697-471A-92D5-17C4102E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51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06ED62E-EEE9-4931-9106-6EF931B1E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2539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71486EF-E2D2-48C9-BF82-502B74882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2539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 FLEX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22417A7-3F0C-4165-BDA7-FE2372A99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252539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AA5DD30-B4E7-4AE7-80F2-CF0B32D56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52539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3A401D3-B3AE-44CB-AC5F-C36DFDA3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2539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F6699E1-2B33-413C-A040-B9E17D976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2539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D83559C-056E-4E4B-83AF-BB96A8C2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52539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151F792-4751-471E-BC32-12AB6184B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2539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6FF361D-A903-4CE9-887C-9B7C90FD8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52539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847DCB9-A1C1-4CDA-ADBD-16552AF4E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546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EBA96F0-DCAB-482D-9F2D-0ACA4909F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29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8C1F06A-D4B3-4DBE-BF58-B6775246D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8320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2D1C22E-5FA0-4574-B9A5-317945E5C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8320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CITY - 02 NÃO-PADRONIZADOS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10D7027-5413-40B8-8895-BFE57DFB7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278320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07F9FC3-FAA5-4CD5-AF7A-E584B63BA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78320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3,00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F4DC26E-EFBE-4A04-83C7-F275597EE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78320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INDIGO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1F6149B-4D60-41C3-A0CA-AFDAC0179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78320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2939631-C466-4F1B-ABAD-E5734D0C4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78320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87FD838-6836-45BB-87AF-9B5639667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8320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Liberum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D6BD716-6974-4BBE-A011-3526C4506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78320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CCC(FE)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46756A5-0E17-4DE4-A22E-DCE04CA71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124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FB51309-A099-4B71-86DF-4FE9863EF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607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E1598EE-52A9-428C-ABEE-60A3CC4BE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4101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8195179-609D-4928-A701-EFB2B7984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4101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ACR 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998D0E6-6525-4872-BAAF-A859EE234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04101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DA06A9C-4E77-4907-8F8A-FB4046E59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04101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2,78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0565AB6-F2FF-4560-9AB3-15BFD3813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04101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ABC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43E1C4C-99D0-42DA-90F0-6A3DA0AB5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4101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EB253BB-DB14-46D9-AEE4-2FACC90D8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04101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A6A209E-157C-4DE1-BBB3-F81E4F6DD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04101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Austin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155E57B-6BC2-453E-B379-E50F838AD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04101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brAAA(sf)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5D4EB66-50FA-4CB2-AA38-B26DF5C42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7025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1406E81-5934-4207-A7E0-735628937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1853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57D7E58-8E52-49B1-9392-45CBFDD90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9882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915B07F-E05F-44B3-8AE2-92906A1F1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9882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AGI MEIOS PAGAMENTO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E16D21D-54F2-46EE-B2B6-E6830CD9B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29882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435F7BF-D95C-43DE-B432-0CDD0CDA5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29882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2,59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AC15DFC3-EFA9-4492-9D9B-DF560BCCF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29882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2860D3D0-AA73-4344-BC04-737E0C707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29882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38E9894D-F484-4A2E-B853-DEFD90E8F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29882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62283A41-A6B8-4F04-A43A-ED4A94977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29882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132F9BD3-183D-426D-9DBC-CAEFF64D3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29882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AAA.br(sf)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BBB.br(sf)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8A91ED97-1EE4-476C-985D-412CC05F2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2806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F9A2657D-A371-4636-AF9D-C4F6767FF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7634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8855EF95-576B-403A-83C5-88FCC1D5C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5663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88C3E262-256A-46FC-A8AE-7A838253C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5663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Angá FGTS III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D72C03B9-B52A-409B-900F-B5EC62282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55663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7BEBA459-61E6-452C-883F-B7C5B6853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55663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1,52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8EECCAA3-0334-4C9F-AC4E-1353AE475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55663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ITAU BBA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E596092D-D252-41BE-9F11-7C5717497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55663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08C903B8-72AA-4F7C-BE04-54F4B7EEC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55663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BE203A39-C11D-494B-B0BD-AE1A8EF11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55663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48F0A223-FA83-4F68-BCF5-1BBD48F24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55663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A91B354D-816A-4C86-B5D9-E332728E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8587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DC337F30-B9A9-4B1D-A366-5EED82B01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3415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B9F07639-E339-4B06-ABB1-ADDDCF6CB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1444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39BB4776-1B8F-4EED-9B59-3DCC188E8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444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 FLEX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66FA2F91-56B5-40BE-BBC7-75566FEA5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81444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17B1CB6B-34D8-4350-B8DC-BCFF75CA0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81444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367582AC-1CC2-44AD-BCCE-795F5E580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81444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0EB60ABD-A326-4E69-8D6A-359C48985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81444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DA2A228C-FCB9-4BD7-A1C5-59D39A260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81444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1A261018-4091-4590-81D7-0BEB2B0C9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1444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399A102C-2548-4C2D-869F-A9584C82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81444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CBFA6163-9C67-4862-B1A5-627132AD4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4368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F4B0372C-01D5-4641-A856-F3925987E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9196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B783B3C8-45F0-43EF-8E32-0119EAE28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7225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B9E54976-91FE-4922-8F96-1F3973C8D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7225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D365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8D24ABEB-4572-42A1-99D8-19BC97872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07225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D365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9B79DC45-D287-45AE-859D-E35C5BF78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407225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8EACB404-6981-4F2B-9B01-FA6C91F20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07225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7B94816E-F6E7-4CE4-B8DB-31D196F13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07225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E5C056AE-3DA4-4490-8CD2-C22A90054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07225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C8F454D6-B82C-4A48-AD8C-46DC1B72F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7225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EC15E0B6-A134-4DE9-9400-8F2CBCFCF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07225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C90BA5E8-AFB0-472B-B193-6E4EB5787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149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D5DAA058-490B-4F20-BD94-79913ED84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4977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DD4F8A4E-8664-419F-844E-2CEC0F0F9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3006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04B980A5-7255-4A8D-B130-ACE589C4B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3006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SELLER II MEIOS PAGAMENTO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5E04A75F-4156-41EA-9D85-B1CC43969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33006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Mercado Pago / Mercado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668EF9BD-24DE-41A8-BAD7-CF73D6EB2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433006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F486D06B-7331-411A-B8D1-77992211E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33006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55ECF6A9-CBE1-433A-8453-1F97D14D7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33006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D6326665-9794-4F1C-AF1B-CB1E2FF7F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33006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D4B98A04-CB90-42E2-98C0-98175C9AF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33006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S&amp;P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726F4B7F-92EC-4725-8FD3-386123D3A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33006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brAAA (sf)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E5521029-A8A9-4E08-BBE8-7971ECDD3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93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251CEA6E-9563-437F-BA4F-030A38A75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075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EAFA49BB-4F2C-4DE4-B14C-7D5E41901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8787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ECB4C1BF-72E7-4F41-B7E8-3E328CB77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8787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459F2EEB-598C-42B9-858F-047A03F06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58787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333751A5-8197-47EF-9D3E-390413AE1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458787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CBC010A7-1073-4622-85F7-D9B3E09FB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58787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ABB12B3D-9D71-4A71-AE65-4E0F7FD09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58787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701C260A-9702-4855-BD2A-8066DB211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58787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45F4FD06-984B-487A-9952-A86AF67E0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58787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65DB3633-658C-4B04-877A-87319A749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58787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A617AB16-4B78-4A34-9F4C-BDC671A24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71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C87F26CC-6A46-4BE3-B012-D46E1CE66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53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21AB7C6B-9E4E-426E-BD5C-E714FA585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4568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44DBF47B-FC12-4B57-81D7-518B84795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4568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 CITI-SYNGENTA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70567E7B-B84C-40C3-9303-ED27B3788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84568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3F38D102-95B3-4711-AA1D-08704E8E5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484568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0,90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36933601-5142-4DBF-AB0F-BEB681DEB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84568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INTEGRAL ACCESS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170C0109-9939-4BCA-A1C5-786888AEA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84568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8826BD70-88AB-42B1-82D9-FF99C052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84568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74327974-F5B2-482C-81D4-95E590305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84568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E73E3FFC-61FD-49BF-9DF3-976DAE3E8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84568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D11A9775-DC39-4135-900E-EE00B69B7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749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BDF89ACD-42E1-4A7D-9700-197723EBC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232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F964A294-51C1-4EA9-9339-200D3CCC3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0349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262C3E96-4D78-4C92-8469-AACE408B9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0349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IS GREEN SOLFACIL VI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E4276531-DA2C-4031-93BF-FD2999C3B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510349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Solfácil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E64C5DE5-9B28-4714-819E-D225A15B9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510349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0,90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3D209032-5FEE-419D-9E56-CB9D1E467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10349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MODAL S.A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DE4D35AD-1FBE-4F0C-B717-DC750D328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10349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193957DF-2779-482C-AE9C-7E4D1EF57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10349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5C2BAC97-AAB7-4A26-81F8-1E525672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510349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Austin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037D94E3-CE75-4A0F-89F4-DCD8A8AD4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510349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brAA(sf)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4709789B-0795-4272-89D1-5AFB5B34E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27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0CF16E5B-566D-42D6-86F7-7E71FFF26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810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FFAFB2E1-D4A2-4022-8F42-2A37F952D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6130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0FC18AFF-C4B3-4DA5-83CD-A524B245F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6130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CW Big Pic. I</a:t>
            </a:r>
          </a:p>
        </p:txBody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74B0C667-CD7A-4C85-BD0C-F4DFB0ADF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536130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</a:t>
            </a: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EF7DF5AD-B557-43B0-9D3E-A75842765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536130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0,88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BECBB76A-3482-4788-81B9-C70E8F4D6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36130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ITAU BBA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1DEB6500-CA7F-41D2-8253-D62A21F86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36130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30B6645E-1DEF-41E1-9E2A-9565F58CA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36130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650BAEBF-6F98-4811-B2FF-30FC0D645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536130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FF82A8DA-3763-48C5-9F21-377BADE7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536130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AAA.br(sf)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30375917-BFF0-43A6-BE1E-D0D1A5740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905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E34E4217-2559-4D1D-8863-90F39352F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388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EF8E3725-7C55-4051-822A-14E786493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1911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0B796A90-A178-4CDA-B070-48F767925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1911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Estrat. Vinc. II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5E286E51-DEF3-43D9-BE52-9B135C64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561911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FEF2C3FD-2ADA-49ED-824D-12DBCAC9E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561911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0,85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D31C8F77-2059-408B-9431-6E6606A51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61911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ITAU BBA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8A10114F-806B-4EB2-B18B-A2744F0B2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61911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ED7361EE-871C-4EA1-8D70-24AE8C602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61911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9DFC62E4-524D-49FB-8D8C-8D032FA9B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561911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58772388-5D4F-4A01-A3BB-94AE722FA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561911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26522076-5B8E-4BA5-A532-9F76B36D5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R$ 28,93 bi · 30,3% do período</a:t>
            </a:r>
          </a:p>
        </p:txBody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F24EFE82-0380-46B0-833A-F31E2D008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2023FY · TOP 15</a:t>
            </a:r>
          </a:p>
        </p:txBody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75507F73-5568-41A5-B305-C8770816E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5D043EBA-34D8-4E48-A569-48A1CE761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57350"/>
            <a:ext cx="533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79FC0C5A-8A79-43FC-92E6-4EF5BEBE3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85925"/>
            <a:ext cx="114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6613D2AE-CC9A-4F01-9CDC-DC112460B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85925"/>
            <a:ext cx="1076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FIDC</a:t>
            </a:r>
          </a:p>
        </p:txBody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B81A86D1-6941-495D-B6FC-C20FF1F9B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685925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Originador</a:t>
            </a:r>
          </a:p>
        </p:txBody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0E646C58-2579-4F94-B0BF-A8B407691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1685925"/>
            <a:ext cx="333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A59474FB-1F9D-4FC4-921A-A9144516D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6859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Coord.</a:t>
            </a:r>
          </a:p>
        </p:txBody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79CAB6C4-C284-497E-AEF0-C39847380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1685925"/>
            <a:ext cx="19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GF</a:t>
            </a:r>
          </a:p>
        </p:txBody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2531873A-5942-473B-A49D-12DC934A5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6859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Público</a:t>
            </a:r>
          </a:p>
        </p:txBody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B8BAB432-A538-4265-B505-B452DAFD4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16859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Agência</a:t>
            </a:r>
          </a:p>
        </p:txBody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B110BE5A-916B-4032-A09D-296E2760A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1685925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Rating</a:t>
            </a:r>
          </a:p>
        </p:txBody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5C9C1886-9895-457A-9658-F3EA3BD7B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812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753913A5-D839-4AAC-B65C-23602A0FC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294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BD717FBC-098E-49B3-99B6-7FE5C9CAB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0977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A9060588-61AF-4773-8EEA-2B276DB79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0977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SELLER</a:t>
            </a:r>
          </a:p>
        </p:txBody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36A041AE-5ED8-4C83-BA06-2C1BA73A1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00977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50350B42-0B27-4BA1-B9EC-CEDB3C7B1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00977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6A95D505-835A-4C1F-A305-6D2CED0B7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00977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ITAU BBA</a:t>
            </a:r>
          </a:p>
        </p:txBody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CCFF51B2-E6E7-4966-BCD4-624176CC2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00977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BF8E6179-D26E-404A-A1CC-7B077C580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00977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AEC13BA4-4F1E-45EB-9B6D-B1B834DA6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00977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5948C150-A98F-4637-9CA9-29F41A011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200977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2B9F6D92-D558-4B4C-9F11-75EAC574D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390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00EB98E6-A65B-46C8-8B0C-1BA78AD36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872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F07EB998-7583-4052-8B45-565406A1E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6758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D46FA752-9DD7-4E1A-BAFC-76EA32830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6758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ACR IV</a:t>
            </a:r>
          </a:p>
        </p:txBody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D0CF88D0-4FA8-4E79-AF79-75AA884AC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26758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4BF1AA9A-BD65-442E-A481-A186BF9AA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26758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1,03</a:t>
            </a:r>
          </a:p>
        </p:txBody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5DF0BBA8-3090-44F1-9219-9E6FC1FD6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26758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CAIXA ECONOMICA</a:t>
            </a:r>
          </a:p>
        </p:txBody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B2C3B5DC-1CDC-47F7-B336-32980E08B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26758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0EED4620-15E0-4B85-BFAE-34019001E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26758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11318C34-4A7B-48E7-9ED4-3DF04C9F2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26758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S&amp;P</a:t>
            </a:r>
          </a:p>
        </p:txBody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0D29A4DA-E9D0-4783-B59E-6393545AD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226758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brAAA (sf)</a:t>
            </a:r>
          </a:p>
        </p:txBody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B073A1AB-588C-4DF3-A11E-F1322BD7F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968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C51D760C-8E2F-4FEE-ABA6-ACBCA152E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451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B254F4A3-1EE8-43A4-A83E-F21164BF3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52539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CE01F6DE-E212-4CD0-9108-350FB003F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2539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PÁTRIA INFRA CRÉDITO I</a:t>
            </a:r>
          </a:p>
        </p:txBody>
      </p:sp>
      <p:sp>
        <p:nvSpPr>
          <p:cNvPr id="223" name="">
            <a:extLst xmlns:a="http://schemas.openxmlformats.org/drawingml/2006/main">
              <a:ext uri="{FF2B5EF4-FFF2-40B4-BE49-F238E27FC236}">
                <a16:creationId xmlns:a16="http://schemas.microsoft.com/office/drawing/2014/main" id="{82E118CE-25CD-495F-96B7-EFB65E440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52539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23BBAC24-B7E7-43ED-AF6E-0C232CE86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52539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0,98</a:t>
            </a:r>
          </a:p>
        </p:txBody>
      </p:sp>
      <p:sp>
        <p:nvSpPr>
          <p:cNvPr id="225" name="">
            <a:extLst xmlns:a="http://schemas.openxmlformats.org/drawingml/2006/main">
              <a:ext uri="{FF2B5EF4-FFF2-40B4-BE49-F238E27FC236}">
                <a16:creationId xmlns:a16="http://schemas.microsoft.com/office/drawing/2014/main" id="{D3CF4E54-C631-4FFB-922C-DB890194B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52539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PÁTRIA</a:t>
            </a:r>
          </a:p>
        </p:txBody>
      </p:sp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7936CB64-ED42-4AAD-91D1-CC14F129D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52539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3A8756D8-4B0E-487B-8D3C-FC5822406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52539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50344C66-3872-483C-A6CE-AE64885BC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52539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A94DE138-39EA-4185-A196-524AD3402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252539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AC9DF22D-39CC-46E3-8301-569AA0989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546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14B9ACAA-9B0B-4F22-A620-F1B5C3BF8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29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3EA9BA8E-F761-4FC5-AC1E-7A922AF08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78320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EF49498F-6C75-48E2-85E3-9F2B5864B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8320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CLIENTES BRF II</a:t>
            </a:r>
          </a:p>
        </p:txBody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B822B8BE-90EC-48B7-B6F3-136ACDDD9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78320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6472D3B1-90FD-4E8D-B7E8-D8DE1CDE3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78320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0,94</a:t>
            </a:r>
          </a:p>
        </p:txBody>
      </p:sp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F9A127E4-E27C-4439-90ED-B0B94752A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78320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UBS BRASIL</a:t>
            </a:r>
          </a:p>
        </p:txBody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0F402B98-33A2-4ADE-AF21-3B5062C24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78320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0E4D2C56-6B23-4F0D-BCCC-A8DFC9A7F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78320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D9B68F83-9BA0-433B-8C92-FEBCC2C2C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78320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C4C08C2A-FCB6-4E7E-A0AD-6FA8E926A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278320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6A5FF4A5-4DF7-4F96-B8DF-F764E851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124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D02DF031-BB87-4A6B-8902-4A56F265E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607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45ED9042-8F47-460D-85E2-71B1936C1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04101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2C95B3F1-741A-4266-9907-6998A86A2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4101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DRIVER BRASIL SIX BANCO VOLKSWAGEN FINANCIAMENTO VEÍCULOS</a:t>
            </a:r>
          </a:p>
        </p:txBody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8FE4E9AE-AE1E-41ED-B228-4FF66EBC8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04101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08A6C44C-F817-478B-B9D7-E0BD09CFB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304101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0,70</a:t>
            </a:r>
          </a:p>
        </p:txBody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3C149277-A2BC-4261-BFE7-DCAE6D353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04101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ITAU BBA</a:t>
            </a:r>
          </a:p>
        </p:txBody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04C871B7-4A44-4875-BE35-4687E2C6B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04101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D341C9D7-A052-4349-953E-FFA083F54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04101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C88BCD3E-69B1-4EB4-9A7C-6BBDBFBD8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04101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51" name="">
            <a:extLst xmlns:a="http://schemas.openxmlformats.org/drawingml/2006/main">
              <a:ext uri="{FF2B5EF4-FFF2-40B4-BE49-F238E27FC236}">
                <a16:creationId xmlns:a16="http://schemas.microsoft.com/office/drawing/2014/main" id="{92860F89-CBEE-4565-8CB8-E8F66D744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304101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B2895872-92C5-467F-AE67-30CF4C9DD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7025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" name="">
            <a:extLst xmlns:a="http://schemas.openxmlformats.org/drawingml/2006/main">
              <a:ext uri="{FF2B5EF4-FFF2-40B4-BE49-F238E27FC236}">
                <a16:creationId xmlns:a16="http://schemas.microsoft.com/office/drawing/2014/main" id="{7236A068-0032-411D-8D07-25006BF56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1853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" name="">
            <a:extLst xmlns:a="http://schemas.openxmlformats.org/drawingml/2006/main">
              <a:ext uri="{FF2B5EF4-FFF2-40B4-BE49-F238E27FC236}">
                <a16:creationId xmlns:a16="http://schemas.microsoft.com/office/drawing/2014/main" id="{AEC4625C-9BFE-4E28-BD97-3131534D8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9882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55" name="">
            <a:extLst xmlns:a="http://schemas.openxmlformats.org/drawingml/2006/main">
              <a:ext uri="{FF2B5EF4-FFF2-40B4-BE49-F238E27FC236}">
                <a16:creationId xmlns:a16="http://schemas.microsoft.com/office/drawing/2014/main" id="{1B5FD61B-381D-45DD-932B-37BD219C4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9882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Angá FGTS I</a:t>
            </a:r>
          </a:p>
        </p:txBody>
      </p:sp>
      <p:sp>
        <p:nvSpPr>
          <p:cNvPr id="256" name="">
            <a:extLst xmlns:a="http://schemas.openxmlformats.org/drawingml/2006/main">
              <a:ext uri="{FF2B5EF4-FFF2-40B4-BE49-F238E27FC236}">
                <a16:creationId xmlns:a16="http://schemas.microsoft.com/office/drawing/2014/main" id="{71C4A492-357A-4CFA-B365-859077482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29882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57" name="">
            <a:extLst xmlns:a="http://schemas.openxmlformats.org/drawingml/2006/main">
              <a:ext uri="{FF2B5EF4-FFF2-40B4-BE49-F238E27FC236}">
                <a16:creationId xmlns:a16="http://schemas.microsoft.com/office/drawing/2014/main" id="{43F859BA-B209-48D3-9742-B7F07A4EC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329882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0,61</a:t>
            </a:r>
          </a:p>
        </p:txBody>
      </p:sp>
      <p:sp>
        <p:nvSpPr>
          <p:cNvPr id="258" name="">
            <a:extLst xmlns:a="http://schemas.openxmlformats.org/drawingml/2006/main">
              <a:ext uri="{FF2B5EF4-FFF2-40B4-BE49-F238E27FC236}">
                <a16:creationId xmlns:a16="http://schemas.microsoft.com/office/drawing/2014/main" id="{FC0B6AC9-990F-4849-BE77-CF036DEC1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29882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</a:t>
            </a:r>
          </a:p>
        </p:txBody>
      </p:sp>
      <p:sp>
        <p:nvSpPr>
          <p:cNvPr id="259" name="">
            <a:extLst xmlns:a="http://schemas.openxmlformats.org/drawingml/2006/main">
              <a:ext uri="{FF2B5EF4-FFF2-40B4-BE49-F238E27FC236}">
                <a16:creationId xmlns:a16="http://schemas.microsoft.com/office/drawing/2014/main" id="{C9D2B771-B9B5-465A-BD9E-F0398CDA4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29882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60" name="">
            <a:extLst xmlns:a="http://schemas.openxmlformats.org/drawingml/2006/main">
              <a:ext uri="{FF2B5EF4-FFF2-40B4-BE49-F238E27FC236}">
                <a16:creationId xmlns:a16="http://schemas.microsoft.com/office/drawing/2014/main" id="{4232EA95-62EE-44BB-B9DE-FBDA05491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29882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61" name="">
            <a:extLst xmlns:a="http://schemas.openxmlformats.org/drawingml/2006/main">
              <a:ext uri="{FF2B5EF4-FFF2-40B4-BE49-F238E27FC236}">
                <a16:creationId xmlns:a16="http://schemas.microsoft.com/office/drawing/2014/main" id="{C87AE387-2EC0-4161-B03B-B1D4BD3A1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29882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Austin</a:t>
            </a:r>
          </a:p>
        </p:txBody>
      </p:sp>
      <p:sp>
        <p:nvSpPr>
          <p:cNvPr id="262" name="">
            <a:extLst xmlns:a="http://schemas.openxmlformats.org/drawingml/2006/main">
              <a:ext uri="{FF2B5EF4-FFF2-40B4-BE49-F238E27FC236}">
                <a16:creationId xmlns:a16="http://schemas.microsoft.com/office/drawing/2014/main" id="{E7F82475-3E8C-4089-9071-F2A3FB034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329882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brAA+(sf)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brA(sf)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brBBB-(sf)</a:t>
            </a:r>
          </a:p>
        </p:txBody>
      </p:sp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88EB7A42-D78D-4FBF-A739-5D6F5334E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2806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" name="">
            <a:extLst xmlns:a="http://schemas.openxmlformats.org/drawingml/2006/main">
              <a:ext uri="{FF2B5EF4-FFF2-40B4-BE49-F238E27FC236}">
                <a16:creationId xmlns:a16="http://schemas.microsoft.com/office/drawing/2014/main" id="{B3C45207-BA4D-4A26-91BE-E920DAB6B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7634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065E7F91-8FF8-4449-9FAF-64AD4A34A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55663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66" name="">
            <a:extLst xmlns:a="http://schemas.openxmlformats.org/drawingml/2006/main">
              <a:ext uri="{FF2B5EF4-FFF2-40B4-BE49-F238E27FC236}">
                <a16:creationId xmlns:a16="http://schemas.microsoft.com/office/drawing/2014/main" id="{7C237C6D-AF5C-4804-A7E2-7D5EB864B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5663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TERRAMAR</a:t>
            </a:r>
          </a:p>
        </p:txBody>
      </p:sp>
      <p:sp>
        <p:nvSpPr>
          <p:cNvPr id="267" name="">
            <a:extLst xmlns:a="http://schemas.openxmlformats.org/drawingml/2006/main">
              <a:ext uri="{FF2B5EF4-FFF2-40B4-BE49-F238E27FC236}">
                <a16:creationId xmlns:a16="http://schemas.microsoft.com/office/drawing/2014/main" id="{C58B9C22-24F9-497C-A891-9C68C5857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55663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68" name="">
            <a:extLst xmlns:a="http://schemas.openxmlformats.org/drawingml/2006/main">
              <a:ext uri="{FF2B5EF4-FFF2-40B4-BE49-F238E27FC236}">
                <a16:creationId xmlns:a16="http://schemas.microsoft.com/office/drawing/2014/main" id="{2A491B90-D0F2-4506-8C8A-A08A98718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355663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0,51</a:t>
            </a:r>
          </a:p>
        </p:txBody>
      </p:sp>
      <p:sp>
        <p:nvSpPr>
          <p:cNvPr id="269" name="">
            <a:extLst xmlns:a="http://schemas.openxmlformats.org/drawingml/2006/main">
              <a:ext uri="{FF2B5EF4-FFF2-40B4-BE49-F238E27FC236}">
                <a16:creationId xmlns:a16="http://schemas.microsoft.com/office/drawing/2014/main" id="{A65395AF-E11D-4E24-A9C8-1DC29787E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55663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270" name="">
            <a:extLst xmlns:a="http://schemas.openxmlformats.org/drawingml/2006/main">
              <a:ext uri="{FF2B5EF4-FFF2-40B4-BE49-F238E27FC236}">
                <a16:creationId xmlns:a16="http://schemas.microsoft.com/office/drawing/2014/main" id="{72CAF4EC-9DBE-49F8-A81F-A27B947CA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55663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71" name="">
            <a:extLst xmlns:a="http://schemas.openxmlformats.org/drawingml/2006/main">
              <a:ext uri="{FF2B5EF4-FFF2-40B4-BE49-F238E27FC236}">
                <a16:creationId xmlns:a16="http://schemas.microsoft.com/office/drawing/2014/main" id="{6A4F0F1C-AC08-466D-AC42-FDF56F968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55663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72" name="">
            <a:extLst xmlns:a="http://schemas.openxmlformats.org/drawingml/2006/main">
              <a:ext uri="{FF2B5EF4-FFF2-40B4-BE49-F238E27FC236}">
                <a16:creationId xmlns:a16="http://schemas.microsoft.com/office/drawing/2014/main" id="{A6FEC5D4-F9AB-48D5-AE7A-BC96F09CA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55663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73" name="">
            <a:extLst xmlns:a="http://schemas.openxmlformats.org/drawingml/2006/main">
              <a:ext uri="{FF2B5EF4-FFF2-40B4-BE49-F238E27FC236}">
                <a16:creationId xmlns:a16="http://schemas.microsoft.com/office/drawing/2014/main" id="{122536E9-45DC-48C2-813E-FA32C489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355663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74" name="">
            <a:extLst xmlns:a="http://schemas.openxmlformats.org/drawingml/2006/main">
              <a:ext uri="{FF2B5EF4-FFF2-40B4-BE49-F238E27FC236}">
                <a16:creationId xmlns:a16="http://schemas.microsoft.com/office/drawing/2014/main" id="{0B6B0F5A-3EBD-4FB7-8EA6-B389202CE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8587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" name="">
            <a:extLst xmlns:a="http://schemas.openxmlformats.org/drawingml/2006/main">
              <a:ext uri="{FF2B5EF4-FFF2-40B4-BE49-F238E27FC236}">
                <a16:creationId xmlns:a16="http://schemas.microsoft.com/office/drawing/2014/main" id="{A2483E32-8149-44DE-8D33-5B9DADF82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3415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" name="">
            <a:extLst xmlns:a="http://schemas.openxmlformats.org/drawingml/2006/main">
              <a:ext uri="{FF2B5EF4-FFF2-40B4-BE49-F238E27FC236}">
                <a16:creationId xmlns:a16="http://schemas.microsoft.com/office/drawing/2014/main" id="{98CFB6EE-715A-4940-A66D-800675A59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81444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77" name="">
            <a:extLst xmlns:a="http://schemas.openxmlformats.org/drawingml/2006/main">
              <a:ext uri="{FF2B5EF4-FFF2-40B4-BE49-F238E27FC236}">
                <a16:creationId xmlns:a16="http://schemas.microsoft.com/office/drawing/2014/main" id="{15CFF827-D0A9-438F-9D37-B39A6E1FD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1444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OPEA AGRO INSUMOS</a:t>
            </a:r>
          </a:p>
        </p:txBody>
      </p:sp>
      <p:sp>
        <p:nvSpPr>
          <p:cNvPr id="278" name="">
            <a:extLst xmlns:a="http://schemas.openxmlformats.org/drawingml/2006/main">
              <a:ext uri="{FF2B5EF4-FFF2-40B4-BE49-F238E27FC236}">
                <a16:creationId xmlns:a16="http://schemas.microsoft.com/office/drawing/2014/main" id="{A56E6D5C-BAE0-499A-A235-8C4FB60ED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81444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79" name="">
            <a:extLst xmlns:a="http://schemas.openxmlformats.org/drawingml/2006/main">
              <a:ext uri="{FF2B5EF4-FFF2-40B4-BE49-F238E27FC236}">
                <a16:creationId xmlns:a16="http://schemas.microsoft.com/office/drawing/2014/main" id="{EFADD972-D770-4305-8D5B-422DDAAAF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381444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0,50</a:t>
            </a:r>
          </a:p>
        </p:txBody>
      </p:sp>
      <p:sp>
        <p:nvSpPr>
          <p:cNvPr id="280" name="">
            <a:extLst xmlns:a="http://schemas.openxmlformats.org/drawingml/2006/main">
              <a:ext uri="{FF2B5EF4-FFF2-40B4-BE49-F238E27FC236}">
                <a16:creationId xmlns:a16="http://schemas.microsoft.com/office/drawing/2014/main" id="{E8FB02D7-40A8-4DAA-898F-3B8FD39E5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81444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ITAU BBA</a:t>
            </a:r>
          </a:p>
        </p:txBody>
      </p:sp>
      <p:sp>
        <p:nvSpPr>
          <p:cNvPr id="281" name="">
            <a:extLst xmlns:a="http://schemas.openxmlformats.org/drawingml/2006/main">
              <a:ext uri="{FF2B5EF4-FFF2-40B4-BE49-F238E27FC236}">
                <a16:creationId xmlns:a16="http://schemas.microsoft.com/office/drawing/2014/main" id="{0ED0B414-AC85-46EE-A361-4490B17AA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81444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82" name="">
            <a:extLst xmlns:a="http://schemas.openxmlformats.org/drawingml/2006/main">
              <a:ext uri="{FF2B5EF4-FFF2-40B4-BE49-F238E27FC236}">
                <a16:creationId xmlns:a16="http://schemas.microsoft.com/office/drawing/2014/main" id="{65869864-6B6A-4785-989A-687E04278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81444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83" name="">
            <a:extLst xmlns:a="http://schemas.openxmlformats.org/drawingml/2006/main">
              <a:ext uri="{FF2B5EF4-FFF2-40B4-BE49-F238E27FC236}">
                <a16:creationId xmlns:a16="http://schemas.microsoft.com/office/drawing/2014/main" id="{68418C2C-6296-4E67-90E4-995C82207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81444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84" name="">
            <a:extLst xmlns:a="http://schemas.openxmlformats.org/drawingml/2006/main">
              <a:ext uri="{FF2B5EF4-FFF2-40B4-BE49-F238E27FC236}">
                <a16:creationId xmlns:a16="http://schemas.microsoft.com/office/drawing/2014/main" id="{963A1415-868C-44F1-94ED-99B90B1B6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381444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85" name="">
            <a:extLst xmlns:a="http://schemas.openxmlformats.org/drawingml/2006/main">
              <a:ext uri="{FF2B5EF4-FFF2-40B4-BE49-F238E27FC236}">
                <a16:creationId xmlns:a16="http://schemas.microsoft.com/office/drawing/2014/main" id="{06AD134E-7E4C-4B80-AE6C-02B1FB614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4368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" name="">
            <a:extLst xmlns:a="http://schemas.openxmlformats.org/drawingml/2006/main">
              <a:ext uri="{FF2B5EF4-FFF2-40B4-BE49-F238E27FC236}">
                <a16:creationId xmlns:a16="http://schemas.microsoft.com/office/drawing/2014/main" id="{F416DA35-CA6F-4573-AD1B-3CF1673D4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9196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" name="">
            <a:extLst xmlns:a="http://schemas.openxmlformats.org/drawingml/2006/main">
              <a:ext uri="{FF2B5EF4-FFF2-40B4-BE49-F238E27FC236}">
                <a16:creationId xmlns:a16="http://schemas.microsoft.com/office/drawing/2014/main" id="{860B75D8-1A1D-4DF3-B6F2-65CC63390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7225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288" name="">
            <a:extLst xmlns:a="http://schemas.openxmlformats.org/drawingml/2006/main">
              <a:ext uri="{FF2B5EF4-FFF2-40B4-BE49-F238E27FC236}">
                <a16:creationId xmlns:a16="http://schemas.microsoft.com/office/drawing/2014/main" id="{E4ED781F-3777-479D-838E-34D30CCCE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7225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SUMUP I MEIOS PAGAMENTO</a:t>
            </a:r>
          </a:p>
        </p:txBody>
      </p:sp>
      <p:sp>
        <p:nvSpPr>
          <p:cNvPr id="289" name="">
            <a:extLst xmlns:a="http://schemas.openxmlformats.org/drawingml/2006/main">
              <a:ext uri="{FF2B5EF4-FFF2-40B4-BE49-F238E27FC236}">
                <a16:creationId xmlns:a16="http://schemas.microsoft.com/office/drawing/2014/main" id="{6357CC6B-D5FE-4A97-A017-A60EECB51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07225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90" name="">
            <a:extLst xmlns:a="http://schemas.openxmlformats.org/drawingml/2006/main">
              <a:ext uri="{FF2B5EF4-FFF2-40B4-BE49-F238E27FC236}">
                <a16:creationId xmlns:a16="http://schemas.microsoft.com/office/drawing/2014/main" id="{5CEAE299-B55E-4A13-A4D2-8543960DF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407225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0,50</a:t>
            </a:r>
          </a:p>
        </p:txBody>
      </p:sp>
      <p:sp>
        <p:nvSpPr>
          <p:cNvPr id="291" name="">
            <a:extLst xmlns:a="http://schemas.openxmlformats.org/drawingml/2006/main">
              <a:ext uri="{FF2B5EF4-FFF2-40B4-BE49-F238E27FC236}">
                <a16:creationId xmlns:a16="http://schemas.microsoft.com/office/drawing/2014/main" id="{1B25CB96-35BE-493E-ACDA-FF313965E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07225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</a:t>
            </a:r>
          </a:p>
        </p:txBody>
      </p:sp>
      <p:sp>
        <p:nvSpPr>
          <p:cNvPr id="292" name="">
            <a:extLst xmlns:a="http://schemas.openxmlformats.org/drawingml/2006/main">
              <a:ext uri="{FF2B5EF4-FFF2-40B4-BE49-F238E27FC236}">
                <a16:creationId xmlns:a16="http://schemas.microsoft.com/office/drawing/2014/main" id="{55EE18F1-A386-4492-9EC0-AD861A79B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07225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93" name="">
            <a:extLst xmlns:a="http://schemas.openxmlformats.org/drawingml/2006/main">
              <a:ext uri="{FF2B5EF4-FFF2-40B4-BE49-F238E27FC236}">
                <a16:creationId xmlns:a16="http://schemas.microsoft.com/office/drawing/2014/main" id="{C5B0CBF4-383B-4CF1-B02C-0D2684794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07225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94" name="">
            <a:extLst xmlns:a="http://schemas.openxmlformats.org/drawingml/2006/main">
              <a:ext uri="{FF2B5EF4-FFF2-40B4-BE49-F238E27FC236}">
                <a16:creationId xmlns:a16="http://schemas.microsoft.com/office/drawing/2014/main" id="{5CFC5A72-99CB-4C03-A380-F7078E8BF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07225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S&amp;P</a:t>
            </a:r>
          </a:p>
        </p:txBody>
      </p:sp>
      <p:sp>
        <p:nvSpPr>
          <p:cNvPr id="295" name="">
            <a:extLst xmlns:a="http://schemas.openxmlformats.org/drawingml/2006/main">
              <a:ext uri="{FF2B5EF4-FFF2-40B4-BE49-F238E27FC236}">
                <a16:creationId xmlns:a16="http://schemas.microsoft.com/office/drawing/2014/main" id="{A0A035F9-1B97-4623-939C-D209D0712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07225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brAAA (sf)</a:t>
            </a:r>
          </a:p>
        </p:txBody>
      </p:sp>
      <p:sp>
        <p:nvSpPr>
          <p:cNvPr id="296" name="">
            <a:extLst xmlns:a="http://schemas.openxmlformats.org/drawingml/2006/main">
              <a:ext uri="{FF2B5EF4-FFF2-40B4-BE49-F238E27FC236}">
                <a16:creationId xmlns:a16="http://schemas.microsoft.com/office/drawing/2014/main" id="{D1E7E4B2-DFBB-41B1-AFAE-5D55898AB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0149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" name="">
            <a:extLst xmlns:a="http://schemas.openxmlformats.org/drawingml/2006/main">
              <a:ext uri="{FF2B5EF4-FFF2-40B4-BE49-F238E27FC236}">
                <a16:creationId xmlns:a16="http://schemas.microsoft.com/office/drawing/2014/main" id="{13CDC6BB-036A-41AE-9BAC-839071DEA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4977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" name="">
            <a:extLst xmlns:a="http://schemas.openxmlformats.org/drawingml/2006/main">
              <a:ext uri="{FF2B5EF4-FFF2-40B4-BE49-F238E27FC236}">
                <a16:creationId xmlns:a16="http://schemas.microsoft.com/office/drawing/2014/main" id="{C6A00B1E-60EC-4E9E-B478-1230B1AF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33006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99" name="">
            <a:extLst xmlns:a="http://schemas.openxmlformats.org/drawingml/2006/main">
              <a:ext uri="{FF2B5EF4-FFF2-40B4-BE49-F238E27FC236}">
                <a16:creationId xmlns:a16="http://schemas.microsoft.com/office/drawing/2014/main" id="{09584B13-D85A-4471-96C5-AF7C55797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3006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GREEN SOLFÁCIL III</a:t>
            </a:r>
          </a:p>
        </p:txBody>
      </p:sp>
      <p:sp>
        <p:nvSpPr>
          <p:cNvPr id="300" name="">
            <a:extLst xmlns:a="http://schemas.openxmlformats.org/drawingml/2006/main">
              <a:ext uri="{FF2B5EF4-FFF2-40B4-BE49-F238E27FC236}">
                <a16:creationId xmlns:a16="http://schemas.microsoft.com/office/drawing/2014/main" id="{91264EA7-2EBC-49C9-B208-A9FBED758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3006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01" name="">
            <a:extLst xmlns:a="http://schemas.openxmlformats.org/drawingml/2006/main">
              <a:ext uri="{FF2B5EF4-FFF2-40B4-BE49-F238E27FC236}">
                <a16:creationId xmlns:a16="http://schemas.microsoft.com/office/drawing/2014/main" id="{86C5CEB6-48BF-4646-B994-1435352B5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433006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0,48</a:t>
            </a:r>
          </a:p>
        </p:txBody>
      </p:sp>
      <p:sp>
        <p:nvSpPr>
          <p:cNvPr id="302" name="">
            <a:extLst xmlns:a="http://schemas.openxmlformats.org/drawingml/2006/main">
              <a:ext uri="{FF2B5EF4-FFF2-40B4-BE49-F238E27FC236}">
                <a16:creationId xmlns:a16="http://schemas.microsoft.com/office/drawing/2014/main" id="{D55B0DC3-6DFA-47FF-ADE7-EE8668926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33006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ITAU BBA</a:t>
            </a:r>
          </a:p>
        </p:txBody>
      </p:sp>
      <p:sp>
        <p:nvSpPr>
          <p:cNvPr id="303" name="">
            <a:extLst xmlns:a="http://schemas.openxmlformats.org/drawingml/2006/main">
              <a:ext uri="{FF2B5EF4-FFF2-40B4-BE49-F238E27FC236}">
                <a16:creationId xmlns:a16="http://schemas.microsoft.com/office/drawing/2014/main" id="{927B20CD-903F-4F84-BE5A-12E4A56E5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33006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04" name="">
            <a:extLst xmlns:a="http://schemas.openxmlformats.org/drawingml/2006/main">
              <a:ext uri="{FF2B5EF4-FFF2-40B4-BE49-F238E27FC236}">
                <a16:creationId xmlns:a16="http://schemas.microsoft.com/office/drawing/2014/main" id="{36881EA7-5ADD-4A9A-B9D6-D6F0D0795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33006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05" name="">
            <a:extLst xmlns:a="http://schemas.openxmlformats.org/drawingml/2006/main">
              <a:ext uri="{FF2B5EF4-FFF2-40B4-BE49-F238E27FC236}">
                <a16:creationId xmlns:a16="http://schemas.microsoft.com/office/drawing/2014/main" id="{95C9D866-C84D-4B07-A158-A971AA732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33006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Fitch</a:t>
            </a:r>
          </a:p>
        </p:txBody>
      </p:sp>
      <p:sp>
        <p:nvSpPr>
          <p:cNvPr id="306" name="">
            <a:extLst xmlns:a="http://schemas.openxmlformats.org/drawingml/2006/main">
              <a:ext uri="{FF2B5EF4-FFF2-40B4-BE49-F238E27FC236}">
                <a16:creationId xmlns:a16="http://schemas.microsoft.com/office/drawing/2014/main" id="{A50A5684-2890-429F-A49C-666F2F9E5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33006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AA+sf(bra)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BBBsf(bra)</a:t>
            </a:r>
          </a:p>
        </p:txBody>
      </p:sp>
      <p:sp>
        <p:nvSpPr>
          <p:cNvPr id="307" name="">
            <a:extLst xmlns:a="http://schemas.openxmlformats.org/drawingml/2006/main">
              <a:ext uri="{FF2B5EF4-FFF2-40B4-BE49-F238E27FC236}">
                <a16:creationId xmlns:a16="http://schemas.microsoft.com/office/drawing/2014/main" id="{FE576C6C-9129-4DF9-A0A8-EC4BD2F70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593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8" name="">
            <a:extLst xmlns:a="http://schemas.openxmlformats.org/drawingml/2006/main">
              <a:ext uri="{FF2B5EF4-FFF2-40B4-BE49-F238E27FC236}">
                <a16:creationId xmlns:a16="http://schemas.microsoft.com/office/drawing/2014/main" id="{2C7A2358-10C4-4B71-A727-94974558F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075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9" name="">
            <a:extLst xmlns:a="http://schemas.openxmlformats.org/drawingml/2006/main">
              <a:ext uri="{FF2B5EF4-FFF2-40B4-BE49-F238E27FC236}">
                <a16:creationId xmlns:a16="http://schemas.microsoft.com/office/drawing/2014/main" id="{2D10D971-E55A-4A9C-B31F-F6DDE3BE5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58787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10" name="">
            <a:extLst xmlns:a="http://schemas.openxmlformats.org/drawingml/2006/main">
              <a:ext uri="{FF2B5EF4-FFF2-40B4-BE49-F238E27FC236}">
                <a16:creationId xmlns:a16="http://schemas.microsoft.com/office/drawing/2014/main" id="{5D016CC6-04EA-4718-A3B6-52D06545B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58787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CHEMICAL XIII - - INDÚSTRIA PETROQUÍMICA</a:t>
            </a:r>
          </a:p>
        </p:txBody>
      </p:sp>
      <p:sp>
        <p:nvSpPr>
          <p:cNvPr id="311" name="">
            <a:extLst xmlns:a="http://schemas.openxmlformats.org/drawingml/2006/main">
              <a:ext uri="{FF2B5EF4-FFF2-40B4-BE49-F238E27FC236}">
                <a16:creationId xmlns:a16="http://schemas.microsoft.com/office/drawing/2014/main" id="{D1366BCF-60B8-468F-9A18-CD8A502D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58787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12" name="">
            <a:extLst xmlns:a="http://schemas.openxmlformats.org/drawingml/2006/main">
              <a:ext uri="{FF2B5EF4-FFF2-40B4-BE49-F238E27FC236}">
                <a16:creationId xmlns:a16="http://schemas.microsoft.com/office/drawing/2014/main" id="{402D8AFC-01C3-4740-9DF2-722989D62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458787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0,44</a:t>
            </a:r>
          </a:p>
        </p:txBody>
      </p:sp>
      <p:sp>
        <p:nvSpPr>
          <p:cNvPr id="313" name="">
            <a:extLst xmlns:a="http://schemas.openxmlformats.org/drawingml/2006/main">
              <a:ext uri="{FF2B5EF4-FFF2-40B4-BE49-F238E27FC236}">
                <a16:creationId xmlns:a16="http://schemas.microsoft.com/office/drawing/2014/main" id="{7FCB6F3B-A293-421B-A329-E3E364FAC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58787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ITAU BBA</a:t>
            </a:r>
          </a:p>
        </p:txBody>
      </p:sp>
      <p:sp>
        <p:nvSpPr>
          <p:cNvPr id="314" name="">
            <a:extLst xmlns:a="http://schemas.openxmlformats.org/drawingml/2006/main">
              <a:ext uri="{FF2B5EF4-FFF2-40B4-BE49-F238E27FC236}">
                <a16:creationId xmlns:a16="http://schemas.microsoft.com/office/drawing/2014/main" id="{70D0EB18-2FD0-4BA2-B75D-5FC6DD137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58787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15" name="">
            <a:extLst xmlns:a="http://schemas.openxmlformats.org/drawingml/2006/main">
              <a:ext uri="{FF2B5EF4-FFF2-40B4-BE49-F238E27FC236}">
                <a16:creationId xmlns:a16="http://schemas.microsoft.com/office/drawing/2014/main" id="{EA6DAF3E-4C6E-4333-959C-3BFAAC7D4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58787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16" name="">
            <a:extLst xmlns:a="http://schemas.openxmlformats.org/drawingml/2006/main">
              <a:ext uri="{FF2B5EF4-FFF2-40B4-BE49-F238E27FC236}">
                <a16:creationId xmlns:a16="http://schemas.microsoft.com/office/drawing/2014/main" id="{06E1389A-32FE-4A40-89AB-EFCEB748B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58787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17" name="">
            <a:extLst xmlns:a="http://schemas.openxmlformats.org/drawingml/2006/main">
              <a:ext uri="{FF2B5EF4-FFF2-40B4-BE49-F238E27FC236}">
                <a16:creationId xmlns:a16="http://schemas.microsoft.com/office/drawing/2014/main" id="{20246193-82A2-4C36-8F07-EFCF2FBC3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58787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18" name="">
            <a:extLst xmlns:a="http://schemas.openxmlformats.org/drawingml/2006/main">
              <a:ext uri="{FF2B5EF4-FFF2-40B4-BE49-F238E27FC236}">
                <a16:creationId xmlns:a16="http://schemas.microsoft.com/office/drawing/2014/main" id="{E55522D6-882D-4D85-A1D7-9F26AE509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71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" name="">
            <a:extLst xmlns:a="http://schemas.openxmlformats.org/drawingml/2006/main">
              <a:ext uri="{FF2B5EF4-FFF2-40B4-BE49-F238E27FC236}">
                <a16:creationId xmlns:a16="http://schemas.microsoft.com/office/drawing/2014/main" id="{4D378BF3-ADA3-4EE9-8BB2-B430DC5CD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653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" name="">
            <a:extLst xmlns:a="http://schemas.openxmlformats.org/drawingml/2006/main">
              <a:ext uri="{FF2B5EF4-FFF2-40B4-BE49-F238E27FC236}">
                <a16:creationId xmlns:a16="http://schemas.microsoft.com/office/drawing/2014/main" id="{1934E02D-EC9F-4388-996F-AB1DC35C4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4568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21" name="">
            <a:extLst xmlns:a="http://schemas.openxmlformats.org/drawingml/2006/main">
              <a:ext uri="{FF2B5EF4-FFF2-40B4-BE49-F238E27FC236}">
                <a16:creationId xmlns:a16="http://schemas.microsoft.com/office/drawing/2014/main" id="{E9F5616A-D3D4-45E5-B508-42577AB14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4568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CREDZ</a:t>
            </a:r>
          </a:p>
        </p:txBody>
      </p:sp>
      <p:sp>
        <p:nvSpPr>
          <p:cNvPr id="322" name="">
            <a:extLst xmlns:a="http://schemas.openxmlformats.org/drawingml/2006/main">
              <a:ext uri="{FF2B5EF4-FFF2-40B4-BE49-F238E27FC236}">
                <a16:creationId xmlns:a16="http://schemas.microsoft.com/office/drawing/2014/main" id="{C42FCDEB-ABF1-4BCE-B6CE-0D7EFC866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84568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23" name="">
            <a:extLst xmlns:a="http://schemas.openxmlformats.org/drawingml/2006/main">
              <a:ext uri="{FF2B5EF4-FFF2-40B4-BE49-F238E27FC236}">
                <a16:creationId xmlns:a16="http://schemas.microsoft.com/office/drawing/2014/main" id="{077AD7E2-3833-4F45-ADC7-0FDEC22A0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484568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0,40</a:t>
            </a:r>
          </a:p>
        </p:txBody>
      </p:sp>
      <p:sp>
        <p:nvSpPr>
          <p:cNvPr id="324" name="">
            <a:extLst xmlns:a="http://schemas.openxmlformats.org/drawingml/2006/main">
              <a:ext uri="{FF2B5EF4-FFF2-40B4-BE49-F238E27FC236}">
                <a16:creationId xmlns:a16="http://schemas.microsoft.com/office/drawing/2014/main" id="{6ED6C32D-3E8D-4B7A-A598-EFD0B63AA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84568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</a:t>
            </a:r>
          </a:p>
        </p:txBody>
      </p:sp>
      <p:sp>
        <p:nvSpPr>
          <p:cNvPr id="325" name="">
            <a:extLst xmlns:a="http://schemas.openxmlformats.org/drawingml/2006/main">
              <a:ext uri="{FF2B5EF4-FFF2-40B4-BE49-F238E27FC236}">
                <a16:creationId xmlns:a16="http://schemas.microsoft.com/office/drawing/2014/main" id="{FF588384-948C-4820-869D-931C9C938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84568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26" name="">
            <a:extLst xmlns:a="http://schemas.openxmlformats.org/drawingml/2006/main">
              <a:ext uri="{FF2B5EF4-FFF2-40B4-BE49-F238E27FC236}">
                <a16:creationId xmlns:a16="http://schemas.microsoft.com/office/drawing/2014/main" id="{BCE97141-9755-4AA7-8841-A8BAE96EB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84568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27" name="">
            <a:extLst xmlns:a="http://schemas.openxmlformats.org/drawingml/2006/main">
              <a:ext uri="{FF2B5EF4-FFF2-40B4-BE49-F238E27FC236}">
                <a16:creationId xmlns:a16="http://schemas.microsoft.com/office/drawing/2014/main" id="{C12D04D8-A0DB-4EA8-9F37-D9D422A7A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84568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28" name="">
            <a:extLst xmlns:a="http://schemas.openxmlformats.org/drawingml/2006/main">
              <a:ext uri="{FF2B5EF4-FFF2-40B4-BE49-F238E27FC236}">
                <a16:creationId xmlns:a16="http://schemas.microsoft.com/office/drawing/2014/main" id="{E6ABE968-5E35-48B4-BEA0-CE33F6EFE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84568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29" name="">
            <a:extLst xmlns:a="http://schemas.openxmlformats.org/drawingml/2006/main">
              <a:ext uri="{FF2B5EF4-FFF2-40B4-BE49-F238E27FC236}">
                <a16:creationId xmlns:a16="http://schemas.microsoft.com/office/drawing/2014/main" id="{34C4D89D-6EFA-4F07-AD54-0A2134EA5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749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" name="">
            <a:extLst xmlns:a="http://schemas.openxmlformats.org/drawingml/2006/main">
              <a:ext uri="{FF2B5EF4-FFF2-40B4-BE49-F238E27FC236}">
                <a16:creationId xmlns:a16="http://schemas.microsoft.com/office/drawing/2014/main" id="{D92512C4-7F4C-4A35-B77F-9D8FE5D77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3232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" name="">
            <a:extLst xmlns:a="http://schemas.openxmlformats.org/drawingml/2006/main">
              <a:ext uri="{FF2B5EF4-FFF2-40B4-BE49-F238E27FC236}">
                <a16:creationId xmlns:a16="http://schemas.microsoft.com/office/drawing/2014/main" id="{FC8AA68B-62AE-431F-BD44-673D51733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0349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32" name="">
            <a:extLst xmlns:a="http://schemas.openxmlformats.org/drawingml/2006/main">
              <a:ext uri="{FF2B5EF4-FFF2-40B4-BE49-F238E27FC236}">
                <a16:creationId xmlns:a16="http://schemas.microsoft.com/office/drawing/2014/main" id="{F4452CCF-2E37-49DB-9A4A-363CC8A58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0349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SUPPLIER</a:t>
            </a:r>
          </a:p>
        </p:txBody>
      </p:sp>
      <p:sp>
        <p:nvSpPr>
          <p:cNvPr id="333" name="">
            <a:extLst xmlns:a="http://schemas.openxmlformats.org/drawingml/2006/main">
              <a:ext uri="{FF2B5EF4-FFF2-40B4-BE49-F238E27FC236}">
                <a16:creationId xmlns:a16="http://schemas.microsoft.com/office/drawing/2014/main" id="{5A35AB0B-1256-4739-9FFE-27F7C537E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10349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34" name="">
            <a:extLst xmlns:a="http://schemas.openxmlformats.org/drawingml/2006/main">
              <a:ext uri="{FF2B5EF4-FFF2-40B4-BE49-F238E27FC236}">
                <a16:creationId xmlns:a16="http://schemas.microsoft.com/office/drawing/2014/main" id="{9B7BFCB2-BB27-4FA5-BD2F-BD0964D45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510349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0,40</a:t>
            </a:r>
          </a:p>
        </p:txBody>
      </p:sp>
      <p:sp>
        <p:nvSpPr>
          <p:cNvPr id="335" name="">
            <a:extLst xmlns:a="http://schemas.openxmlformats.org/drawingml/2006/main">
              <a:ext uri="{FF2B5EF4-FFF2-40B4-BE49-F238E27FC236}">
                <a16:creationId xmlns:a16="http://schemas.microsoft.com/office/drawing/2014/main" id="{A0EE621A-0FFC-4F54-BCCE-EE25097E1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510349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ITAU BBA</a:t>
            </a:r>
          </a:p>
        </p:txBody>
      </p:sp>
      <p:sp>
        <p:nvSpPr>
          <p:cNvPr id="336" name="">
            <a:extLst xmlns:a="http://schemas.openxmlformats.org/drawingml/2006/main">
              <a:ext uri="{FF2B5EF4-FFF2-40B4-BE49-F238E27FC236}">
                <a16:creationId xmlns:a16="http://schemas.microsoft.com/office/drawing/2014/main" id="{8ECA5F6C-EE31-4520-8096-2C88E688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510349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337" name="">
            <a:extLst xmlns:a="http://schemas.openxmlformats.org/drawingml/2006/main">
              <a:ext uri="{FF2B5EF4-FFF2-40B4-BE49-F238E27FC236}">
                <a16:creationId xmlns:a16="http://schemas.microsoft.com/office/drawing/2014/main" id="{3FFB1DD3-B468-43FF-ADFD-5FB574B71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510349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38" name="">
            <a:extLst xmlns:a="http://schemas.openxmlformats.org/drawingml/2006/main">
              <a:ext uri="{FF2B5EF4-FFF2-40B4-BE49-F238E27FC236}">
                <a16:creationId xmlns:a16="http://schemas.microsoft.com/office/drawing/2014/main" id="{7B69887C-9AC2-4E7E-89E3-97AD39C7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510349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39" name="">
            <a:extLst xmlns:a="http://schemas.openxmlformats.org/drawingml/2006/main">
              <a:ext uri="{FF2B5EF4-FFF2-40B4-BE49-F238E27FC236}">
                <a16:creationId xmlns:a16="http://schemas.microsoft.com/office/drawing/2014/main" id="{00A8C7F6-4974-4388-B370-3B69AED8D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510349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40" name="">
            <a:extLst xmlns:a="http://schemas.openxmlformats.org/drawingml/2006/main">
              <a:ext uri="{FF2B5EF4-FFF2-40B4-BE49-F238E27FC236}">
                <a16:creationId xmlns:a16="http://schemas.microsoft.com/office/drawing/2014/main" id="{06B04A9A-931F-4C4F-9891-6E8E24D15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3327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" name="">
            <a:extLst xmlns:a="http://schemas.openxmlformats.org/drawingml/2006/main">
              <a:ext uri="{FF2B5EF4-FFF2-40B4-BE49-F238E27FC236}">
                <a16:creationId xmlns:a16="http://schemas.microsoft.com/office/drawing/2014/main" id="{229CD89D-A55B-4F1A-9110-5A1B5FD37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5810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" name="">
            <a:extLst xmlns:a="http://schemas.openxmlformats.org/drawingml/2006/main">
              <a:ext uri="{FF2B5EF4-FFF2-40B4-BE49-F238E27FC236}">
                <a16:creationId xmlns:a16="http://schemas.microsoft.com/office/drawing/2014/main" id="{4FDB4E40-187C-4EAE-8D35-DAB43DB1C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36130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343" name="">
            <a:extLst xmlns:a="http://schemas.openxmlformats.org/drawingml/2006/main">
              <a:ext uri="{FF2B5EF4-FFF2-40B4-BE49-F238E27FC236}">
                <a16:creationId xmlns:a16="http://schemas.microsoft.com/office/drawing/2014/main" id="{3627E491-FC3B-4730-B900-350580DF8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36130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PLATINUM NÃO-PADRONIZADOS</a:t>
            </a:r>
          </a:p>
        </p:txBody>
      </p:sp>
      <p:sp>
        <p:nvSpPr>
          <p:cNvPr id="344" name="">
            <a:extLst xmlns:a="http://schemas.openxmlformats.org/drawingml/2006/main">
              <a:ext uri="{FF2B5EF4-FFF2-40B4-BE49-F238E27FC236}">
                <a16:creationId xmlns:a16="http://schemas.microsoft.com/office/drawing/2014/main" id="{32258809-FFD4-41D3-B734-7614A72B5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36130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45" name="">
            <a:extLst xmlns:a="http://schemas.openxmlformats.org/drawingml/2006/main">
              <a:ext uri="{FF2B5EF4-FFF2-40B4-BE49-F238E27FC236}">
                <a16:creationId xmlns:a16="http://schemas.microsoft.com/office/drawing/2014/main" id="{00D8E9A1-9E9A-4FF8-83C9-2ACA960B2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536130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0,36</a:t>
            </a:r>
          </a:p>
        </p:txBody>
      </p:sp>
      <p:sp>
        <p:nvSpPr>
          <p:cNvPr id="346" name="">
            <a:extLst xmlns:a="http://schemas.openxmlformats.org/drawingml/2006/main">
              <a:ext uri="{FF2B5EF4-FFF2-40B4-BE49-F238E27FC236}">
                <a16:creationId xmlns:a16="http://schemas.microsoft.com/office/drawing/2014/main" id="{E4911701-4152-45A3-A2F8-CC663BE8A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536130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TRUSTEE</a:t>
            </a:r>
          </a:p>
        </p:txBody>
      </p:sp>
      <p:sp>
        <p:nvSpPr>
          <p:cNvPr id="347" name="">
            <a:extLst xmlns:a="http://schemas.openxmlformats.org/drawingml/2006/main">
              <a:ext uri="{FF2B5EF4-FFF2-40B4-BE49-F238E27FC236}">
                <a16:creationId xmlns:a16="http://schemas.microsoft.com/office/drawing/2014/main" id="{17B0E6F1-8BF6-43A4-9292-78066C856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536130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48" name="">
            <a:extLst xmlns:a="http://schemas.openxmlformats.org/drawingml/2006/main">
              <a:ext uri="{FF2B5EF4-FFF2-40B4-BE49-F238E27FC236}">
                <a16:creationId xmlns:a16="http://schemas.microsoft.com/office/drawing/2014/main" id="{A4978877-106C-4496-B5DE-5B00B7355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536130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49" name="">
            <a:extLst xmlns:a="http://schemas.openxmlformats.org/drawingml/2006/main">
              <a:ext uri="{FF2B5EF4-FFF2-40B4-BE49-F238E27FC236}">
                <a16:creationId xmlns:a16="http://schemas.microsoft.com/office/drawing/2014/main" id="{ABEE9D32-451E-42E8-8699-B24CBE87F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536130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50" name="">
            <a:extLst xmlns:a="http://schemas.openxmlformats.org/drawingml/2006/main">
              <a:ext uri="{FF2B5EF4-FFF2-40B4-BE49-F238E27FC236}">
                <a16:creationId xmlns:a16="http://schemas.microsoft.com/office/drawing/2014/main" id="{DDB8F2A2-76C4-46FA-8D43-1D0270F06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536130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51" name="">
            <a:extLst xmlns:a="http://schemas.openxmlformats.org/drawingml/2006/main">
              <a:ext uri="{FF2B5EF4-FFF2-40B4-BE49-F238E27FC236}">
                <a16:creationId xmlns:a16="http://schemas.microsoft.com/office/drawing/2014/main" id="{1EF66417-8BC8-4BE1-997F-AF096D3DD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5905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2" name="">
            <a:extLst xmlns:a="http://schemas.openxmlformats.org/drawingml/2006/main">
              <a:ext uri="{FF2B5EF4-FFF2-40B4-BE49-F238E27FC236}">
                <a16:creationId xmlns:a16="http://schemas.microsoft.com/office/drawing/2014/main" id="{8DE89517-E5E0-4184-A154-05AB85A5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8388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3" name="">
            <a:extLst xmlns:a="http://schemas.openxmlformats.org/drawingml/2006/main">
              <a:ext uri="{FF2B5EF4-FFF2-40B4-BE49-F238E27FC236}">
                <a16:creationId xmlns:a16="http://schemas.microsoft.com/office/drawing/2014/main" id="{CC8994F3-1037-4A0E-9290-B5B63AE1D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61911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354" name="">
            <a:extLst xmlns:a="http://schemas.openxmlformats.org/drawingml/2006/main">
              <a:ext uri="{FF2B5EF4-FFF2-40B4-BE49-F238E27FC236}">
                <a16:creationId xmlns:a16="http://schemas.microsoft.com/office/drawing/2014/main" id="{3D18A755-3B8C-457E-8A06-50E9E8380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61911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ATRANI NÃO-PADRONIZADOS</a:t>
            </a:r>
          </a:p>
        </p:txBody>
      </p:sp>
      <p:sp>
        <p:nvSpPr>
          <p:cNvPr id="355" name="">
            <a:extLst xmlns:a="http://schemas.openxmlformats.org/drawingml/2006/main">
              <a:ext uri="{FF2B5EF4-FFF2-40B4-BE49-F238E27FC236}">
                <a16:creationId xmlns:a16="http://schemas.microsoft.com/office/drawing/2014/main" id="{65F541E1-39ED-4378-9DFF-9E877A2FE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61911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56" name="">
            <a:extLst xmlns:a="http://schemas.openxmlformats.org/drawingml/2006/main">
              <a:ext uri="{FF2B5EF4-FFF2-40B4-BE49-F238E27FC236}">
                <a16:creationId xmlns:a16="http://schemas.microsoft.com/office/drawing/2014/main" id="{C20E9484-09D8-4A3F-9643-BEE194FAD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561911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0,30</a:t>
            </a:r>
          </a:p>
        </p:txBody>
      </p:sp>
      <p:sp>
        <p:nvSpPr>
          <p:cNvPr id="357" name="">
            <a:extLst xmlns:a="http://schemas.openxmlformats.org/drawingml/2006/main">
              <a:ext uri="{FF2B5EF4-FFF2-40B4-BE49-F238E27FC236}">
                <a16:creationId xmlns:a16="http://schemas.microsoft.com/office/drawing/2014/main" id="{BD709DA4-E775-4582-9FBD-718983792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561911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TRUSTEE</a:t>
            </a:r>
          </a:p>
        </p:txBody>
      </p:sp>
      <p:sp>
        <p:nvSpPr>
          <p:cNvPr id="358" name="">
            <a:extLst xmlns:a="http://schemas.openxmlformats.org/drawingml/2006/main">
              <a:ext uri="{FF2B5EF4-FFF2-40B4-BE49-F238E27FC236}">
                <a16:creationId xmlns:a16="http://schemas.microsoft.com/office/drawing/2014/main" id="{3DB8F26D-0ABB-4750-818F-78575A392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561911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59" name="">
            <a:extLst xmlns:a="http://schemas.openxmlformats.org/drawingml/2006/main">
              <a:ext uri="{FF2B5EF4-FFF2-40B4-BE49-F238E27FC236}">
                <a16:creationId xmlns:a16="http://schemas.microsoft.com/office/drawing/2014/main" id="{2566BF57-7640-46C4-A5E9-48A449188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561911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60" name="">
            <a:extLst xmlns:a="http://schemas.openxmlformats.org/drawingml/2006/main">
              <a:ext uri="{FF2B5EF4-FFF2-40B4-BE49-F238E27FC236}">
                <a16:creationId xmlns:a16="http://schemas.microsoft.com/office/drawing/2014/main" id="{7AA58F5E-77C0-4A34-AD86-EFF8EBCBE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561911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61" name="">
            <a:extLst xmlns:a="http://schemas.openxmlformats.org/drawingml/2006/main">
              <a:ext uri="{FF2B5EF4-FFF2-40B4-BE49-F238E27FC236}">
                <a16:creationId xmlns:a16="http://schemas.microsoft.com/office/drawing/2014/main" id="{8295EDE3-275E-47FC-8268-24218784E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561911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62" name="">
            <a:extLst xmlns:a="http://schemas.openxmlformats.org/drawingml/2006/main">
              <a:ext uri="{FF2B5EF4-FFF2-40B4-BE49-F238E27FC236}">
                <a16:creationId xmlns:a16="http://schemas.microsoft.com/office/drawing/2014/main" id="{0C84C841-7D69-48A8-988E-B67F90129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R$ 9,65 bi · 36,5% do período</a:t>
            </a:r>
          </a:p>
        </p:txBody>
      </p:sp>
      <p:sp>
        <p:nvSpPr>
          <p:cNvPr id="363" name="">
            <a:extLst xmlns:a="http://schemas.openxmlformats.org/drawingml/2006/main">
              <a:ext uri="{FF2B5EF4-FFF2-40B4-BE49-F238E27FC236}">
                <a16:creationId xmlns:a16="http://schemas.microsoft.com/office/drawing/2014/main" id="{DDC56943-EDC5-41FE-8C9B-89CE0B5C1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05525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07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07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GF = garantia firme. Agência e rating são publicados somente quando há documento público verificável conciliado com a emissão; ausência de documento ou vínculo exato = N/D.</a:t>
            </a:r>
          </a:p>
        </p:txBody>
      </p:sp>
    </p:spTree>
    <p:extLst>
      <p:ext uri="{BB962C8B-B14F-4D97-AF65-F5344CB8AC3E}">
        <p14:creationId xmlns:p14="http://schemas.microsoft.com/office/powerpoint/2010/main" val="1877644271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356E75F-55D6-4A9C-81F7-C9B87F941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2022 PARCIAL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A15164-911A-4C9D-AD14-638F8EEC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85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pública recuperada contém 7 ofertas legadas; o período não forma um Top 15 completo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ECDAC3-244E-4ED2-9855-29DDD9056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0EDDE8-EE60-4F8B-B729-D3AEB85DB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EC54E0-D621-46EF-83B7-F00B6FC4B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base de distribuição dos ritos ordinário e legado, e FundosNet. Registros encerrados em 2022; cobertura parcial.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2D5ED0-FE52-44BF-A750-2542BB86B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CF641A-2628-4259-ABB1-B18F8FF1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748F35-5ADA-40EC-B6ED-55FC6AFE5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314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5F6038-67BC-4DF3-A3FE-4896EC55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FIDC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C4C515-EC7C-4990-917F-098D9C15B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150495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D538FA-FE1F-4DFD-877A-898C08E25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CF62D6-A9D6-4D69-BEDD-5841F1DD4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50495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Coordenador líder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6A12D7-1355-4620-888E-11D0BB936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504950"/>
            <a:ext cx="504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6F2D8C-EAF6-4CDB-B589-37C01AF97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04950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Público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281A4B-308D-4173-828D-5B2AACC83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Agência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13DD62-9C35-4EC2-A1A8-55199B51F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504950"/>
            <a:ext cx="1362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Rating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97518F-87FE-4B61-B8E8-0920A3FA7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11049000" cy="4299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F9C56C-CEFA-4E84-9EF6-CE48D7EE1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20686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34C9EE-D099-47EB-88B1-E8BC22F04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3143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0F3D3D-5E14-4579-967F-3C43C3DD1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1828800"/>
            <a:ext cx="23622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Supplier 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AAE3FE-301C-4A12-897D-2381346D7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1828800"/>
            <a:ext cx="1409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994299-9DC7-440F-900F-312CEF4DC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1828800"/>
            <a:ext cx="742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1,68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195C76-7235-4371-A4EE-A87D0D369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828800"/>
            <a:ext cx="1504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BTG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624F6D-8DFD-4509-92CB-EBBD18789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828800"/>
            <a:ext cx="5048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2C8701-9CCD-4B2D-BCD5-B67BBD181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828800"/>
            <a:ext cx="7905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542AED-EA43-47D0-A749-4AE1D2D4A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1828800"/>
            <a:ext cx="1028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9C4E148-2EED-4780-82EA-3478BFCF2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28800"/>
            <a:ext cx="13620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C20A80-C982-4B72-A1C9-2E3D1F6B6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30211"/>
            <a:ext cx="11049000" cy="4299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BB96BC6-6CC5-4297-808F-00387F954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50671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652E84-FF36-437D-8C3F-B8BE28D7B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58786"/>
            <a:ext cx="3143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C730C98-70E5-4CBB-B823-286FB83AA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258786"/>
            <a:ext cx="23622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CRÉDITO AGRÍCOLA COTAS FIAGRO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13B14E4-868A-488F-AA3B-973794EE6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258786"/>
            <a:ext cx="1409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E92D5B8-C336-4E05-9CEE-25318A907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2258786"/>
            <a:ext cx="742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0,30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476636C-F50E-4B68-925C-4220F82C1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258786"/>
            <a:ext cx="1504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BTG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A12D315-01DC-43FC-8B57-B50B57E6E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2258786"/>
            <a:ext cx="5048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51ABB38-A389-4468-9806-6D8C2D794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58786"/>
            <a:ext cx="7905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D5E5CBF-BA3E-4A6E-AA30-B75A4A34B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258786"/>
            <a:ext cx="1028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C632793-DF33-49AB-8DAC-EF11CFAC4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258786"/>
            <a:ext cx="13620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70C5CB7-40BE-4B0B-AA14-6EDF3EF3D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0196"/>
            <a:ext cx="11049000" cy="4299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2AB8C60-22A3-4F85-816B-A3B99990E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80657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AD21B7E-A30F-4E77-B3D4-B313F441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88771"/>
            <a:ext cx="3143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40D25B9-B218-41D2-B531-4F43C3560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688771"/>
            <a:ext cx="23622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CREDITAS AUTO VIII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C64EF4A-10A3-4484-8120-C75A9CB44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688771"/>
            <a:ext cx="1409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E57A72C-ADA5-4904-A138-8C245D590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2688771"/>
            <a:ext cx="742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0,21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A54A8A9-4C95-4DA1-98D8-65D43F96B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688771"/>
            <a:ext cx="1504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7071432-EB35-4A5C-838E-33D404FD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2688771"/>
            <a:ext cx="5048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509D57D-D237-42ED-A93C-CE14A4467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88771"/>
            <a:ext cx="7905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9C1D952-E047-428D-AE61-8842F641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688771"/>
            <a:ext cx="1028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BB4F1A6-E128-4029-852D-EBD396F4D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688771"/>
            <a:ext cx="13620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C97107A-DEB2-4AAE-9A9E-50B6B892D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90182"/>
            <a:ext cx="11049000" cy="4299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17E1BF7-0BCB-4DC7-BA12-048367D2D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10643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CEE0D4A-7F73-4D8B-B259-8FC4A3DAD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18757"/>
            <a:ext cx="3143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B6A9CA3-B25B-4EC1-AAF6-89FF7409A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118757"/>
            <a:ext cx="23622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Supplier I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688C6E8-9222-4533-8763-12B96CE9F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118757"/>
            <a:ext cx="1409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688BF8F-E3C9-477B-9F70-7B9C01C76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3118757"/>
            <a:ext cx="742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0,20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E2D97E7-2DFA-470F-9A03-7D65B057C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3118757"/>
            <a:ext cx="1504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BTG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9F9052F-180D-4557-9BFF-393663FBD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3118757"/>
            <a:ext cx="5048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881D93E-F5D4-4D02-B744-A507735C1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118757"/>
            <a:ext cx="7905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AFC435F-5C55-4BE4-8D51-0BEED9B91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118757"/>
            <a:ext cx="1028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6D7446B-FD7C-41C6-BE1A-11878B2CE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118757"/>
            <a:ext cx="13620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A4B8BEE-29E4-4E95-98D6-5CA9AE9E2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20168"/>
            <a:ext cx="11049000" cy="4299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E48C692-6016-4CE1-8461-6FA35C22A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40629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1C9F0B2-1AB0-4781-9B48-B9EEB5AB4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48743"/>
            <a:ext cx="3143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7FD78C7-E11B-4280-A286-D0B93DA4D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548743"/>
            <a:ext cx="23622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CREDITAS AUTO VIII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AA8921E-61AC-457F-AE51-E04C3450D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548743"/>
            <a:ext cx="1409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9CC41BC-B232-4D1A-A088-9146A8E33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3548743"/>
            <a:ext cx="742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0,15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8A1AA54-F28E-4A22-9846-B769CD8BE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3548743"/>
            <a:ext cx="1504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A1BF9CC-9859-4016-B6BA-4457E9FD8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3548743"/>
            <a:ext cx="5048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53A9E73-D666-4FBA-8190-D20F580CC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548743"/>
            <a:ext cx="7905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0D67A70-6B2D-49F0-B26C-548F14BF7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548743"/>
            <a:ext cx="1028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DEA0419-6086-4D0F-A48B-5CA0B9F2B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548743"/>
            <a:ext cx="13620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0F7CDB3-213C-4184-9F26-E05D1DE01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50154"/>
            <a:ext cx="11049000" cy="4299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E96B871-B204-4018-8EB4-B67A2E52A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70614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744C3C9-693C-4FAD-9940-1C4CE83C2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78729"/>
            <a:ext cx="3143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71509B7-22EB-43B6-B0FE-2B736B2EE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978729"/>
            <a:ext cx="23622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Supplier I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D060A6C-02F4-4F07-918E-738D2F85B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978729"/>
            <a:ext cx="1409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41524A6-56F2-44B1-98CD-64B8CDC46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3978729"/>
            <a:ext cx="742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0,12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53E1C51-F8B6-45C3-B8B9-B963729E1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3978729"/>
            <a:ext cx="1504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BTG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0A09364-980E-4D17-8F79-37F82C2FE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3978729"/>
            <a:ext cx="5048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CD94655E-AF59-44A7-ACA6-A032E15BD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978729"/>
            <a:ext cx="7905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0EE0DE3-8D4E-4FAE-B748-D7A8E72A5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978729"/>
            <a:ext cx="1028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57B43EEC-3C4D-4590-BDB1-43E68DC61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978729"/>
            <a:ext cx="13620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E38ED47-A0E4-4BE1-AA6D-AA0E11677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80139"/>
            <a:ext cx="11049000" cy="4299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FAA71CC8-617C-4BD2-BC9A-5D001CE29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006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FF5AB6B0-B17F-402F-88E7-41BFF6D9C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08714"/>
            <a:ext cx="3143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BC84762C-6590-4B79-A2E8-34CDDA90A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408714"/>
            <a:ext cx="23622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CREDITAS AUTO VIII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D242ACB-0BF6-46E7-B4AE-9E6AD606C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4408714"/>
            <a:ext cx="1409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36D48E7-E4CD-4784-9A84-0F867ABB9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4408714"/>
            <a:ext cx="742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0,09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6F2E7807-C6DF-40B7-96FF-E8FFC7924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4408714"/>
            <a:ext cx="1504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00DBCA0F-52CD-4185-AF99-7489B79F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4408714"/>
            <a:ext cx="5048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82F385F4-E83D-4FB2-AF72-D264E9338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408714"/>
            <a:ext cx="7905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75ADDF9C-D805-42A2-A12B-851B40B32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4408714"/>
            <a:ext cx="1028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CCFEA871-1DB2-4642-9DC1-45E353917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4408714"/>
            <a:ext cx="13620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60B2F378-1E85-4263-B828-D93B54063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958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 observado: R$ 2,75 bi. Limitação: sete linhas legadas não sustentam comparação anual nem inferência sobre o ranking integral de 2022.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6BC77058-F2FB-4A5A-A59E-73FF41EB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9750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Agência e rating são mantidos como N/D quando não há documento público aplicável conciliado com a oferta, emissão, série ou subclasse.</a:t>
            </a:r>
          </a:p>
        </p:txBody>
      </p:sp>
    </p:spTree>
    <p:extLst>
      <p:ext uri="{BB962C8B-B14F-4D97-AF65-F5344CB8AC3E}">
        <p14:creationId xmlns:p14="http://schemas.microsoft.com/office/powerpoint/2010/main" val="114921870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962607-BFAB-4A7C-9C45-81121AD69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PRINCIPAIS CONCLUSÕES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6CC5F3-16E5-41F7-8347-667DEF72F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FCBBA1-4946-4AD3-85C1-123D3CC43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B2CEC4-06B3-4B25-9805-8A901CA2A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A2F664-ACDF-4ADA-8C94-723C1260D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698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inclui FIC-FIDC; Top 10 ex-Petrobras/TAPSO. BTG: 30/32 raízes observadas; ofertas CVM até 30/jun/26 e ANBIMA até 31/mai/26.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26009A-E265-4BCF-A250-3C704FAF5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2F22DB-EA2D-4946-8E72-5B7C19A24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05B99C-2780-4C98-AD58-7F4DA5594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8515B1-B6E8-4AFE-867B-8AA41773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BB7406-B3C1-4F21-B9F7-84CA3BC5C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7179BA-6B7C-46A7-8D6F-8917D74F6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90,3% do PL: nove em cada dez reais da indústria.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35,7% do PL.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9D5888-ACCF-4490-BFC2-F05A462C7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26EE31-7A33-4D90-8EB2-EA0042B71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BC8C5E-E7ED-4941-BE39-4E3AA7F0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35,0% do PL continuante já havia migrado de administrador até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5D871E-5B28-4EF3-A40A-515A98D1C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ECAB5A-1BCB-47CA-9C9E-2064E372E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80ED17-1719-4325-B3BB-6FD4605B6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7,2% do PL comparável trocou de administrador entre dez/24 e dez/25: R$ 33,0 bi em 257 fundos.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27% do volume migrado, com R$ 8,9 bi transferidos de Oliveira Trust para Bradesco.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DFCC80-147B-4B76-9339-F39ECD277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EC6DED-D5E8-4D4F-9EE7-762E24C48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986AB9-D8C8-49CC-9CD0-E8F5EE4CC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36,4% do PL ex-FIC; a líder, BTG, tem 10,2%.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71,8% e 72,8% do PL nos dez maiores grupos, praticamente o dobro da concentração em gestão.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666201-199D-485C-A1A7-307432F1D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907EB0-EBCD-4C89-9070-914357B37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F6D2CD-57F2-4D2F-A011-21BB09306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Essa carteira responde por 66% de todo o PL atendido pelo BTG no combo completo, indicando forte ancoragem nos veículos da coorte bancária.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C475B8-1E46-4417-A9A3-30ADB0F2B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1C5026-46F5-476E-8420-9A0D1E57B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9E0CC5-38CE-4AC7-9995-9966ACEC3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530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2025 e 60% sobre 2024.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2025; na sensibilidade sem essa oferta, o mercado teria avançado 5,0%.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306AF9-5D31-4AC3-B8D7-74E36F0DA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293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13462158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742CB93-FBA8-4BCE-98F9-166DE1FD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C26ECB-A9C6-4D1E-BEDB-368BEC9F7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83E51A-D022-4A31-A0FA-3B0889B54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E8E764-CBF6-45C6-8BE9-256ABB8E6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979008-66FF-488F-800C-BCDE8A7AA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CVM, ANBIMA Data e FundosNet.  Ofertas consultadas em 24/jul/26.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1166A7-96B6-4E35-9152-BDC900785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286ECB-1F89-41F7-824B-57081F405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952131-4F58-4424-98DD-2BD17E577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4BF64A-CABC-43F7-80EF-42CF2B9E0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BCA73B-E9B7-4AF7-B4A1-BFF935BB7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E6190B-963A-413E-81C1-8446BB8C1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2B30FC-5BE6-4457-B9CB-CA51C2BDA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050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A189D8-8FDC-4891-8163-171CEE489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F48CD4-CECA-4203-90BA-4086C37DA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4.247 fundos; 30 de junho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52D981-A288-4854-A345-5A156430E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E0250B-2808-421A-98E9-13897B28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145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1C4411-D7C4-408A-9E1F-7132C75F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146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259D45-6063-4E56-B2E0-B374BDFB4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431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34E48F-B847-4865-AB22-22715B309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3431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89,85% oficial; 1,07% evidência; 7,89% proxy; 1,19%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824867-6E4B-4C1C-A688-A8BF8CC21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3431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Gestor e custodiante históricos usam o cadastro vigente; a base não observa a troca ao longo do tempo.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6B93B6-E997-498A-9A62-0930DB591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241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FD18F7-6A52-425E-ABF5-4EE7B6A73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242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71528B-DC12-4C33-822F-2EA43F3C3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527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8AA762-5A45-4000-B772-2CBC94080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9527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jun/26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FB9A97E-6F1E-46BE-9B6C-5A99F6002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9527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= ausência de reporte. Aging reconciliado à Tabela I completa; ex-360 ajustada = 4,9%.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5ED8E7-555C-4A42-ACB7-6837F206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337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A82C2E-BC8E-4A3B-8758-7B8900586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338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8C7AC0E-6CFF-4B1C-BF0B-0660AD19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623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4BEDA30-7A5F-46A4-9866-30006B97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5623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jun/26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0E664D7-3FAF-46CE-A4FE-87D72EAE9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5623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subtipo. Top 10 fixo por função; Outros identificados e prestador não informado separados. PL negativo consta no QA.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22913FA-C439-421A-A644-FA7212FCB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433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508B66C-9A15-4E72-8A41-DEB946456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434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648EE3E-DD2A-4DAE-ABB1-BE11AFDE1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719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51AE03-603D-463B-AEC6-2230C0656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1719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4.247 fundos; jun/26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FBCFBA-660B-4588-8367-A957ECCB0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1719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Mesma entidade econômica normalizada nas três funções. Preço, propostas e contratos não integram a base.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9C7EBFB-85C3-44DD-854D-F648A7231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529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C3F640D-FB95-449F-8F35-6E589921F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530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123D0F0-E60E-445C-9C0D-3DEE7D6D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815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Comparativo por instrumento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92D42D5-E85E-430A-85FA-EFE72507B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7815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2023–2025 FY; 2026 jan–mai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C0ABA62-52AF-4E22-9806-75A867420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7815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ANBIMA Data, Valor Encerrado por data de encerramento das ofertas públicas. Debêntures incluem debêntures de securitização. O anexo não segrega sistematicamente primárias e secundárias.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E153E42-1480-4276-B2CB-0800F0568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625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FF5B7B3-8447-4508-AEBC-BDECB582E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21A0189-6817-4EC3-8D75-F2172D6C8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911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Análises granulares de ofertas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D12224A-5B91-4701-A4C0-2A4854727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911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2022 parcial; 2023–2025 FY; 2026 jan–jun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0BBF353-B131-4ACB-A8C4-0AD29B480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911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CVM/SRE, Cotas de FIDC, ofertas públicas primárias encerradas, todos os ritos disponíveis e valor registrado positivo. Automático: requerimento; ordinário/legado: registro + emissor + data + instrumento.</a:t>
            </a:r>
          </a:p>
        </p:txBody>
      </p:sp>
    </p:spTree>
    <p:extLst>
      <p:ext uri="{BB962C8B-B14F-4D97-AF65-F5344CB8AC3E}">
        <p14:creationId xmlns:p14="http://schemas.microsoft.com/office/powerpoint/2010/main" val="1723679900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6A80413-73AF-4046-A14B-37A8F4BE2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37F69C-3762-4214-85D6-6398DD66E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R$ 61,3 bi e 7,0%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99E33F-598E-44DC-8C5B-48E6A0499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DF08A6-7D30-445B-8F52-1711CBB8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C5DDB1-3BFD-4714-9B5F-ED9A706E4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9F2780-859F-435D-B842-B325EFF6E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9F0BCA-006C-4413-AE71-37BCBEFC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E3D3CA-9842-4F91-91A8-FFF9E964F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1E8D3D-D9B9-4F55-A266-8539A512D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00E022-D634-4BC5-A12E-848B9B00A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B1F519-9C96-4427-B812-249755A96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6124EE-C213-4A04-81B7-73A9E1519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6E4AE1-A403-4F35-A474-3FA6715DE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0B770B-F075-41FF-A4D6-C9ED984E5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C1D26A-6DDD-4A7A-BE85-5847EEFFE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FEBDFD-35A5-4BBB-A975-691CD9136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675434-CF35-4D5A-9142-F91C87F2F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3980B3-925E-4A42-BC93-4E7C8FAF0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770C26-D17B-4F39-9470-AC9CBE6F4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585D9A-09BF-4CD7-B187-5F871D5BB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155DC4-DFF5-46DC-B5FE-EEA1069B3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5B764B-55F4-4B29-B6A6-2DF18247F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351BAF-718E-4AAC-992C-E7BD64BB1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D0747E-24F8-4316-8D73-215E23030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8AFB3B-2769-4219-85BB-5F6E02E66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D91D53-E4EA-4C33-806D-8A2A9ACF2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3D0730-FAE0-4F4C-AD0D-CF72EAF99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FBFB15E-65B3-4D4A-96C2-5920C8E1C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5A792A6-718A-4AB9-AF08-81A93957B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https://fnet.bmfbovespa.com.br/fnet/publico/abrirGerenciadorDocumentosCVM?cnpjFundo=09195235000150. 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1759679683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42EC582-00A5-4B2A-80EC-C51920995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90A57A-2CFA-4E33-ADB4-BE68DA7BC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R$ 41,5 bi e 4,7%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B94910-1878-4ADC-B561-C5CE218AA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A10674-C793-4668-882A-29380973D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625D13-0578-4F48-B2B5-BC5A4F576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67840C-1A99-44C0-9A31-8247CF0B5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35E198-726E-4A66-B2CD-9F038CFB0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1E3BBD-5D83-446F-9864-3134A916E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C1F783-E5AF-450D-A59C-A2050C909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FA837D-7F23-4869-B2A8-CB32C04C3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357C5B-C687-46B3-BDB4-DFD1D3AC0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93787D-8AAB-4B8E-9684-DEC4B2AB8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CDA6D4-A530-4A76-95A7-47DDE573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5CD7F4-16C3-4B9C-B3DC-B2C0D4752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A59768-1973-4D7E-AEB0-2001C7AC8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DCFCC8-FDDF-4576-B397-386363911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329343-BC20-4680-AEA7-7DC770807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AB196A-1229-41B9-ACA7-1E724FCFA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C457AF-24DB-458A-B34C-9896853A5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217A08-64FE-4AC9-83C5-E127BD999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E3D707-BC14-425D-B989-E88FA69B1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FDA04B-2058-4A03-8111-536E0D0C0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0C708D-86FA-472A-B25E-75390E15B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952350-722A-48DE-9956-16AE3E7A2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3084A3-23F6-4ABB-914C-232C3C24B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AB76B5-67C0-4D80-B643-5C5F35E7B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4A5D6A-662E-4421-B891-B505EE53F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D9EFDDF-82A4-45CF-9C4F-84AE00656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21FF61F-BE98-48FB-99BF-05F2DB79B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https://fnet.bmfbovespa.com.br/fnet/publico/abrirGerenciadorDocumentosCVM?cnpjFundo=26287464000114. 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1932023034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446B824-44E3-4C9F-B376-E50815CE1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0E2B43-724C-4365-83FC-B86749FAA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PAN Auto — R$ 18,0 bi e 2,0%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DE86D9-E089-4466-A197-E9D6EA8DB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F99165-444D-4018-A03C-3ED0A2D3A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C642E6-240C-43C1-BAC2-D4282A5C5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8238C7-F934-4DDD-962E-C68D8E4A0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50389F-1632-457B-8E10-D240F1BEB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129047-A3F9-44A7-9143-1A6E661EF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5F633A-B6AA-43B5-8E0A-D1AA429AD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1546E7-9A5D-4035-B9BB-06D7097DE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DE08B4-2914-417B-8DAC-B3172AD83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256A1C-C164-473D-A66A-91522C7E3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16F147-D5A2-4DD9-BC8D-D863AE440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B2C479-9F4C-48A8-911A-7301CA648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91AD85-B122-4483-B577-72BAE3E24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2AB827-8EEC-4A5C-8812-6DA74AC8E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128BC8-5C62-418E-BED7-B92F9B9E6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D4DD46-8BB8-4DFD-B8AE-E0630BEA9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4F8983-21C3-4D7B-B8F2-91CDAD83C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3F0567-A203-4D61-BAB2-39C665AE3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461D05-AC71-4F4B-B63A-9F81BBA60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2524C9-8DE8-42AE-B46A-8FC0BF4B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F5E8B5-9278-4D58-9333-842CA201E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1F8835-E9D9-4888-A878-8F6EAD151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DB5B60-E475-4D40-9E73-651897E89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E2015A-0778-4D48-AC4C-495CE6001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ACF6B6C-B68E-4FD2-859F-A04CD0D6E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Proxy CVM; validar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2ABF5C-FC96-464A-BC52-D632E5119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98F814-01DA-43FB-8980-54F2019C9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https://fnet.bmfbovespa.com.br/fnet/publico/abrirGerenciadorDocumentosCVM?cnpjFundo=65473848000183. 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1268620448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0953CBB-02B4-434E-85BC-BA84582FC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FC65ED-6047-4CB0-9D56-B20FF727B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CloudWalk Bela — R$ 10,0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EA781D-445C-49A1-A4C6-40805F828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3EA332-0DE3-48E9-AE6D-E19264E50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809DBB-0031-4B4C-AF5C-08E66CF8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3B0CC4-5372-40A8-987E-88DA7F120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E884B3-B9C9-4D79-86E6-33BAFC853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02B3F4-D232-410F-AD26-9E5DECDAA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6BE06A-03C3-44C6-B54E-CF06EE4A4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2F7BAA-140A-4C80-BECF-9748E274D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277445-3187-45F0-9906-14DAE2D46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6AE854-DE42-4114-8418-9921089CE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96E480-44DA-439B-902E-9D1F6A078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EF71B0-9959-4997-A7AA-360A516FD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F75E54-6DA3-49E1-8C61-B56228CCC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5E1F3D-64B2-402C-8CC7-763F482EB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0362C3-AACC-45C5-A558-FC8D2449B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6451D4-EAD8-449A-BFBC-0776F9104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898F1F-C1C8-472B-B7A6-797560094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2E389A-9317-47DE-B47D-F6ACC820B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D6F2B0-90F6-4D43-AD11-B03815052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R$ 5.500 bi | doc. 1166893 || 2025-09-16 | encerramento de oferta secundária da 1ª série | R$ 4.200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EFDED2-BAFE-4839-81EC-C393B0AD4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8434BB-CAA5-4819-A455-2496227A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ACC28B-BA16-47DB-93D1-22667CC9A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460158-0E6E-4DE6-8811-AEEF69B48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D838A7-094C-473A-8A9C-F11705046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C7F232-268A-46C1-9A0D-45629ECD1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0D261B-3876-4067-87B5-CE2005D3A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7C7355-2393-41A8-84FF-D42D83538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https://fnet.bmfbovespa.com.br/fnet/publico/abrirGerenciadorDocumentosCVM?cnpjFundo=62393679000183. 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253921251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731E38-5D62-463D-A0DF-B964CAF8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11F4A9-890C-4064-AC3D-C9A1E57C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MT Global · Consignado Privado — R$ 9,4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BDE5F8-81E3-4C48-A4BE-3336CDE0A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62B84C-B2CB-4E2D-8C58-83590EDA2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A446C3-8EC5-4842-80D6-A858A2B19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146A6F-610F-411C-AD94-A0F6AF0D4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4E00D0-D7E7-4EE6-A0B2-98ECCF29C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824862-71B2-45ED-963E-8FAB873CC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F98F3C-C0A5-4AF8-9405-CD940818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78F79F-95E0-4D00-ABA9-F6FB7B7B4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8BAA15-4A2C-44FE-8BCC-98A581B8A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S.A., como originadora e endossante das CCBs.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D101F6-06E8-454F-BF60-10035491E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152266-6499-4107-903C-C7DDEF6D4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por empresas privadas, devedoras dos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BA81F8-5559-4F08-964F-DB159AD73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C0B92F-2AD9-4563-8B9D-1841F604E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CCBs de empréstimo consignado privado, processadas na infraestrutura Dataprev e Caixa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377074-E047-4C07-8A18-9F70B965C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B26901-455F-4FEC-AB7F-BDDD56873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as CCBs à classe;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D2E3A6-CDEE-44BB-9E8C-33DA69EAC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19E7CF-0323-41A6-9138-7F5A17ABF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EF4E1E-73C4-4FC4-9722-A6B76660A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BFEBBE-ED14-4166-84A7-8B109E9C2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08/01/2026, aprovação de colocação privada de cotas sênior em vasos comunicantes, com limite agregado de R$ 15 bi, e R$ 7 mi de cotas subordinadas; aprovação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997830-42CD-457D-AD86-CF4A2354C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990B73-53B4-4E70-B110-F75F252E9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subordinada; índice mínimo de subordinação de 1% do PL e índice-alvo de 10%. Garantias: Desconto consignado em folha; cessão ou endosso definitivo, sem coobrigação geral da Parati.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3987BC-9DFF-4334-8A35-B84D63ED0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4DB291-1FF1-453F-AAE8-0DD8607FA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0EF08B-4064-48C3-95F1-A69B982C3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599436-8DD5-4CA5-99DE-7F559F988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Consignado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Evidência documental primária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272029-8E6A-432F-86B7-A82A722DD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680DECC-1891-473D-B8FD-6C2E652CC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1222855 de 02/06/2026, páginas 3 e 15; deliberação id 1087883 de 08/01/2026.. Evidência: O regulamento declara Tipo Financeiro e Foco Créditos Consignados para a Classe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2047451893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2F656A2-A628-48A4-BE76-0790E3060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75F130-4DE9-48D4-B44F-EFF2EBC5E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Itaú Crédito Privado — R$ 8,7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240D13-D2D1-41BC-ACEB-92532B11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4D09E0-5AB5-42AB-88A3-564F47428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A442B4-A9B9-4D15-948A-5CC87F157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511FB7-302F-4278-BAAB-E6A1FDF7D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E0F5E0-93BB-4945-B8C6-D590306BC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C7F6D3-4CDD-42C1-85F9-A67F19A1B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C54D70-005F-4FB1-BEE3-77ECE6EF8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EF8D5B-FCB6-4F72-B717-AD8CF8D8C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52AC93-2CC5-42D6-91B7-20463577F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documentos não apontam uma entidade cedente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9E5BB1-1A8E-499F-84EE-05556608A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7774C7-0A25-4766-AAD8-4FDE0C82D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C98080-D3FA-4E41-8E1E-8DFD45BA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DA840E-04FD-4F4C-BBC9-A4AAD0E4F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453749-A009-49D8-8098-834991E57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5598C7-D537-4965-BCF6-2A8B737E6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26EF09-2AD9-4F8D-A7CC-87F7378D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64DCA7-EB60-435D-B24D-0D9A9C4DC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5FE7B4-30A6-4186-9171-DC9F22E4B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CD1671-09D1-443F-9515-F8D243CC5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E46728-BB04-4809-A5E2-A5B52B992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844620-0377-4CF7-A913-430ABE649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436F79-8962-4D21-BCC3-ECE4AA952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3BA8D0-2F30-40B7-BA40-E44B3472D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FB8CFA-680E-4D45-9D51-D71DC7933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2472A4-3B18-4661-8561-7FDF7B30B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5AC1C3-444C-425B-B895-B8ABE4DD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7043EBE-FF36-4AAB-B364-D41CFA602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https://fnet.bmfbovespa.com.br/fnet/publico/abrirGerenciadorDocumentosCVM?cnpjFundo=53286499000101. 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20283491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2BC758C-06DE-440B-AD28-7C583E5D9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DB2B7E-39F6-4AE3-8C1F-61DE4DDC3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BTG Consignados II — R$ 8,0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EFC223-8C59-4F45-9C06-BD26E14DF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66955F-C6ED-4A28-95E2-6275F4238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24CB30-C376-4F54-8E36-4FF67C0F0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8B4A09-DE32-40C3-9CD7-F60116E70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EE0D82-26D0-4DA1-9D42-9DFE1BFC6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DCB998-FCB1-4CC9-928C-D1775EF02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616B62-DA8D-46A9-B3D7-82B39D4ED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6F9388-590B-4B48-9B90-D2872C738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D2586B-B6E2-4952-859D-714BA2D04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0329FC-8DE4-4640-AE4A-F8D7C0DF1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65B818-4156-45A0-B779-BF2844A0A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3980EC-CE8D-4BAF-9B6D-678A36DB2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C08F78-4CF6-40D9-B9F1-DC80B30FC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95FE90-F39F-4BDE-91D7-DD472D3E9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396D50-BA29-4C45-A07D-33DA7E225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2AEA7F-7DC2-468D-91EA-5982430EE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423F05-68EE-4423-9483-FF139EB76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34F4ED-B07D-45BE-87F6-56DB39188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9E1809-E05D-4201-9C97-030A0DF66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R$ 2.500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C914F8-BC20-449E-AA82-E0A153B17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AF7FC8-3DC6-4FF6-8736-C55D84563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761A62-1D23-4E37-80F3-644272864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320B16-1CCB-47AC-92C1-F550AA1C4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167EE8-0EB7-49A7-842B-447355689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C737691-9D1D-43A9-BBAC-70C265F7A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651128D-F371-4978-989B-C5A253369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479C5C-DBF5-4E29-A999-2615F29E1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https://fnet.bmfbovespa.com.br/fnet/publico/abrirGerenciadorDocumentosCVM?cnpjFundo=52242420000188. 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403827142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FA1EF93-9239-44F2-8FA9-4F66CB906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C2E3DF-951E-493C-9852-FB208ABDE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Aetos Energia — R$ 7,4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E8D7A5-9015-40E7-9A84-223C0A775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9E34B1-E2F1-467B-9A60-D8584CD81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A6C70C-BD5A-4B0D-9F85-95A2F5E38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6810B9-22EB-47EC-B0AA-3A5F7652E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0B022B-3069-4FF1-B2AE-8050A180C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1325D6-7FA8-434F-BEF6-F14C13972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E1ED65-58FA-4E70-BBB8-F959E5729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7F09EF-5633-4FF1-9976-BCE6876CB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F19E84-0C5E-4BE2-9571-530E54AC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C5C700-E10B-489D-A90A-ACEC965C9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CB16FF-9A1C-477A-9180-1E7DD8037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F0A86E-2BD2-4D6C-97E6-29C0BFD1C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34F0A6-BDF2-47D9-82E4-BD9124921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DA283B-66F5-47D9-A4C6-D8A911558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BF6D56-4047-41C2-8EEC-0D4D38F97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E864B3-8BD4-4EB9-AA86-CF37BC173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5AD461-AA66-45FE-A63A-788743077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0D6A4F-BAED-418E-A29E-025813295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B5DB71-AC40-46F6-8E3B-098BE60A5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FCD741-5619-44F2-AF5A-03D368AE5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6799E0-033C-495B-9E10-034F1F793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0D50EB-A684-4425-BA56-5AFCC9A0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8428B3-790E-4DDB-9F68-0BAB16F03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83AC47-1CF5-4066-AD11-BE20DAE63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544401-9C04-4BD0-B8E5-4D82AD9A0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1BE4FB-31CD-4185-BCA3-D530BD76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FBE519-C52C-48B4-BA49-25A65B494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https://fnet.bmfbovespa.com.br/fnet/publico/abrirGerenciadorDocumentosCVM?cnpjFundo=52610624000124. 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1282599338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ED974F-5F0A-4480-BE81-9CCA3A67C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807BAC-993F-45B5-A75C-C55DDF21E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Cielo — R$ 6,5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F425D5-0AD2-412E-BBC0-6C468B015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DEC243-EDE5-4149-8096-A0A07C41E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D3A4ED-DF7E-421C-AA91-701AA253B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9C05B7-1822-4FE2-A11D-7E3B299AD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EA6396-6CD9-493D-9650-4A5459F01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D16CB0-E659-4462-AE78-DE8C0643C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6C6206-9EA6-4B7E-9F5A-3D6D20AF8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A481C6-F2A5-409C-82A8-4D5933951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7D3E00-E0C7-4A57-85A0-DE4F90C6F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77A086-4846-4A62-A2AA-88D4B9991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1F79A5-E536-44ED-A73B-E26EF7D43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138770-A679-4D24-8444-D0EAFB66E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0F3B10-B069-414E-BD4A-7F7765A6B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4151E7-6860-4F57-88AB-9FACB4A34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EE658F-4668-4A19-AC52-45308150C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2BCA14-5168-4D83-8B5C-A819E116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718BFF-0033-4DBF-9532-4B5426474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A2D251-2E50-4EA2-8798-971CA5C1B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DD7501-CE4E-45AC-BFB1-67712450E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R$ 1.000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3CC772-77E9-410D-B6B7-6A94EF09C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0304C5-ABDB-4828-B881-53B15266E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5BAFA5-2512-4CE1-B009-4C751CEAD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EF99A3-D1DC-4A21-8656-903152748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497B28-C4E4-4375-AFD2-F2C2B9BA2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29D8BBF-C9F7-42E7-9116-CA0C9AFBA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406970-3086-4C8E-8794-E386CEBAB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8DE294-DCCB-4C09-BB14-69CDC6BE4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https://fnet.bmfbovespa.com.br/fnet/publico/abrirGerenciadorDocumentosCVM?cnpjFundo=26286939000158. 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224304818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9D4EBC-8F8A-49BD-8DBE-0208A94E7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063FE1-CAE0-47FD-87CD-884F286A6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Rio Vermelho NP — R$ 6,4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B1DF7A-1622-46C3-876A-B890A6CB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5A39DB-9A81-4691-9BE0-74564F527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B50DD8-BBEB-4049-9505-22B533FC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49CDF9-87ED-43DE-8D83-761FCBA62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F54492-EFE7-4542-9265-9F356C150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199783-56EB-43F6-B4F5-797864109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70D956-18D0-4A01-AC29-DA2DF7E4C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D4F061-52BE-41FE-8B41-A8D66C68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D999C0-DFF0-4266-B260-9AACD3B7C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79738C-6E44-485D-9CB2-B43FB4DD4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0AF215-830A-4A90-8D10-1AA31C0BF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6DFAEB-9C06-4426-BDB5-5CC5C3F19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045A00-92E7-4F00-A718-2B0C4AE08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8B2F7F-4DDC-4194-9797-380062AAE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A99DE8-64D5-4C8D-B44E-4BAAC9227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A7B583-84BB-407D-967C-C2471C432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F6F797-E487-4232-8A5A-54B324B9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40BF37-35FE-4195-9909-3D0AF6D14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71E1C9-7836-495E-B2B4-B0832FE89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E5884C-6C7C-4DAF-8604-FAF4A8B26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C1AB7C-8B75-4D32-AF94-22481E98F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23D882-717C-47B5-A0E7-CF366F336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304D72-33F1-4AF3-814E-9FD2C22ED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3C62F7-80F3-4D47-999F-40F105D1D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6D7E7E4-C604-47EB-B5D5-D28639008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D407B5-D944-4D98-923F-E9B8B5AC0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68D81B7-0567-4125-9FC7-0ECDCC8B6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https://fnet.bmfbovespa.com.br/fnet/publico/abrirGerenciadorDocumentosCVM?cnpjFundo=53216449000158. 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1786756949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2D9A8A-2E4E-47B2-8D2A-A27BD05E8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1476FF-0BE2-414E-BA9C-C9A548E71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PagSeguro I — R$ 6,2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AF34B8-C461-4C96-9171-0AFA88E87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2A3CAD-3E6C-4C1E-85C0-1FEF00117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6BC772-02A7-4066-8984-7B53C817A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CB1E08-2F36-4D26-B33F-E6FAE0533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573E09-A7AC-48FC-BEC3-A4653AC20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BA28FA-B035-4981-A047-04601CAC9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5E294B-B597-4A37-B311-CF39B8319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4EAB81-D59E-47CE-967A-112FB2388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E1C341-9879-409B-AAFC-5090A10BD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5FBF2A-05F4-430F-BED5-9003BC6FF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3AF72D-3EB1-4F57-883B-3CF96E3FC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F41EB5-2115-4B55-A853-A48003F4A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E877BE-4207-4A6C-8AB7-3392E4D6E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00667C-BC92-4EC3-B1E9-8D99B4DF0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A10437-6B4C-4FE4-89D7-1E9938F19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B3D359-345F-4120-8FF0-52FDD3759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0BDA80-1D29-47D4-BB45-DD101B235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AC9E9D-1B75-4597-AAC4-397EEDC5C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080625-FAB1-4F22-9115-A8626B7B7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R$ 1.000 bi | doc. 1148251; Valor ofertado; o anúncio de início não comprova colocação. || 2024-11-06 | encerramento da oferta da 3ª série sênior | R$ 1.000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0FCDD6-1ACF-4F04-B1B2-C06AF6D30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AC6A5F-65B3-4A84-B9CD-EE13C010C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DD55C6-FB8B-49E1-ADAF-C11FB7BFA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01407B-83F4-4ED6-984F-560F3B1FE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892F26-03A0-4CBF-BCC6-6E1751433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6A0366B-D08C-4547-BDE1-63ADC83D0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1BE6071-C909-4100-A8F1-FDD96A79D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C6AD929-D3B1-4034-B3C3-EEBFAA915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https://fnet.bmfbovespa.com.br/fnet/publico/abrirGerenciadorDocumentosCVM?cnpjFundo=28169275000172. 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877385744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B3855A-F91E-4711-ADA7-CFC385B5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BCA82C-DBDB-4644-9454-1C29ABFBF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BTG Consignados — R$ 6,0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DE45D6-A8DC-4DC0-A7D0-99CF11294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BC5462-6A09-4A86-89C3-AD07EA6C5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DDF844-1B6D-41B9-9610-23CAF3F34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03F7DF-B735-4FAE-9278-554BE0BE9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DA12F4-D2D5-4F68-BD0E-F8DDF05E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EA9795-A72C-4888-8803-7A3371973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C34149-A86E-4AEA-B092-C0936BFF6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6069DF-2E78-43C4-A755-524321584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69D5C5-68CF-4EDC-AAFC-C620B48A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A5D4AB-C3A3-4ED5-8476-01CAF3343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EAC282-1A9E-42AE-9D5D-5701608A7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2C5B01-9C6A-45E4-AE0C-C5626F003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ED70B2-0CFF-4D6A-9069-C803D08E1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518BE6-61CE-40D7-A4F2-9088ECD35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64EC6F-9161-4E9F-A515-9120B031E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96E468-10F2-4A66-B038-8FCF788A7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D8DAF8-9D25-4CE8-B13D-5DCECD87A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E5AB4C-C6C8-48C1-8DAB-99455CDA2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AB30F6-F9CE-4131-94C1-03A3D74B9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R$ 11.000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E6DA07-1E4C-4067-A8CD-4B82D0387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89F233-CB05-47E4-98C6-8833AF39C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4E7105-F555-4B8D-B70A-F624E1265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492346-4A26-4B7E-82AE-C78285D18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B204E1-9737-4E21-B157-B77B16D0D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9980D6D-E5FB-4272-903A-D308D125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447561-F789-4357-AE42-0C1A6FE50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28D76E-8D6E-480F-90D3-791AC5571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https://fnet.bmfbovespa.com.br/fnet/publico/abrirGerenciadorDocumentosCVM?cnpjFundo=50906397000153. 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894490465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38B268E-6424-41D8-BCB6-BED457B14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4DCBD9-5891-4890-B738-A02C5AD8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Alternative Assets III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B00C27-8096-4E66-8F51-82B1D4117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88EFD7-FAA8-4248-9E0F-B1E5C92C2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C05A42-A873-425D-B666-290294BA9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B75D77-D960-425D-98DB-7E03771B4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1C74DD-4519-482F-8747-7D2484DA4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B67764-CAFA-45BD-B967-143D2FC1C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2B94CD-85FE-4453-8860-BEF49391D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A60DA1-734D-42AB-A2F5-EABB76221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E8EDF1-951B-4B4D-9857-BC2BAC457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2CEF0D-6D8D-411F-BB76-49E0683EE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4068E0-E006-4F66-B5F5-ED4807B31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410118-ED40-4D45-8CD5-9B5C48B89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DA77A1-B952-4108-976E-17E8159E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324930-92CC-4C95-8592-F8452BD25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F6BE9F-10DC-456F-820D-A3F6B3BC9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B3963A-86AA-427A-809E-6DB284982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D18E34-3B48-4C17-BCCD-1B329B309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1A0515-0AC7-47C1-AB02-22C36C330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A62381-2478-4A10-B0A2-BF890346A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AAA89A-87EC-4256-A32E-30F9D3DA6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C7785D-1D74-4D55-BBAE-18C3BB8ED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CC55F7-A20C-4CFD-952B-0AD5F6B1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25BD2F-F309-43CB-B54F-6ADA26CF7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E4D261-F002-4693-987B-D058D907E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F09DB6-6069-4134-B8A6-9FD1C38AA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4CFF38-C4C7-4CF4-AFBD-5C531D83E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CBB9185-2A02-4370-9784-4737D147E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https://fnet.bmfbovespa.com.br/fnet/publico/abrirGerenciadorDocumentosCVM?cnpjFundo=29225241000110. 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876860381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BE10888-B8CD-4AB7-A2FB-2897416A8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BB9F42-529D-4DE5-82D1-B648BDF48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Monee 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3F8768-E79B-45CA-A7E9-EA06FE09C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29A7FC-96F2-4012-A431-329DCAA55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712136-04D2-48EF-985D-28CD7AD6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85DD2B-FD54-4547-B001-452515467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DA02BA-71D1-48D4-B7C0-6BF7B49FB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A40FF7-2200-4F02-950C-9882E26A4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71C1FB-2A5D-4904-9304-20EE51126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D012B1-5FBF-44D3-84A3-992606FE0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E7649F-97B2-4A73-8FAC-1BA0938E6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B5F104-3471-4BF9-8150-A49FF06EF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06E435-0792-4CCF-8290-9D55AB024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CBD934-52FF-401D-94BD-4620DC9DF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00AF01-5A6F-47F7-94B7-9896D8F53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7C9A1D-4BB4-4C7C-AE7B-A1EAF81B7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D020A0-BB30-4A7A-A11A-A255E2A3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1261BB-A87F-4033-8BF4-5740B1EF7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96B599-FE29-4A2E-9EA5-2470A5833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45A546-0D35-4618-940B-3FBEB26D7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C49BE1-E4BC-478A-8DA2-A4AF1BC3E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00D27D-0B19-45D9-BA47-F928968F5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0DF5B7-A1EF-4E10-BB94-E3CC43A34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669484-2CE2-42AA-BCFB-CEA69F64B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0CD5C8-4F6F-45F7-8874-13E8D0D3E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A77177-0DBD-4AB7-8B4A-CA28C8B08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51323E-CAF2-43B9-81B0-C45671342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05A490B-67AC-4D84-ABE9-8B2F96A6F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38984A-AF12-43CA-A4EA-789B74B8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https://fnet.bmfbovespa.com.br/fnet/publico/abrirGerenciadorDocumentosCVM?cnpjFundo=42922136000107. 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953422707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C248ED-0F90-49D9-A39F-9672A23B0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AB9212-84EB-46D4-98B3-30A49CF53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PicPay I — R$ 4,8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E26472-F634-40AC-A6E5-7DF000341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ABB332-98A3-4D04-9542-AA9CE6CB9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B217D2-B845-44BC-A918-8FAA2E903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0474D8-2FDF-43E9-B01C-7F3545757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0C7DC3-1F4A-4FAE-99B9-FCD70A2F2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C29605-8E8B-4BB6-893B-F1087BEF2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CC4986-A1EF-46B8-B6C1-3F925302E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5D4155-17C6-4E61-8AF7-C60E10049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23A413-0277-49A3-ACB2-8315AAE48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EBE045-B397-4FCD-87E1-F854DF4ED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6AABBB-6741-493F-923A-390928259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7C4594-15F1-4370-9097-A28DCA2C7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8B440-463F-428F-B8A0-167FBE4D5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60910A-BBC1-46BE-AE1D-743DF85D4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604FB6-0B85-434A-94E5-DDD9F3BE2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F3F16C-171E-45AF-8D86-C57EF251F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3DEE44-C212-419B-8709-1689F72E6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F7C7A8-E575-411B-806E-7B4920FCC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79F776-FFF4-4E32-BEDF-A6E3CD918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958897-6621-47B7-93A0-C13F2E402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B2580F-35E9-444C-8FDD-578983A3B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36CADD-5414-4AA7-9990-361D2E238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6575423-B8B1-4A4E-8790-75E54540C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D7BCB4-F0CE-4EFA-9FE5-3379B1024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11FC689-C60E-43F7-BF3C-F937A893D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91C57F-D6E4-42B8-A1DE-D8A9AAA7D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4C2D06D-510D-4275-888C-2EAE4EAB1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https://fnet.bmfbovespa.com.br/fnet/publico/abrirGerenciadorDocumentosCVM?cnpjFundo=32527650000186. 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617576665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7CDBA2F-4C9C-4E3A-8542-E0C3BFD55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E140A1-5477-4C94-9009-1DA0F3A1B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Artesanal Master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9F4C0C-9144-400D-9668-137C46EB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BE0FDE-AB44-4A39-B923-590CB851B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DFDA23-51B6-4001-A5DC-0576D5178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14C682-9D69-4D34-B983-8C71DD03D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433742-5997-463F-86DD-2661A50DC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30.576.260/0001-70 · ARTESANAL MASTER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76E638-DBC5-4DB2-B568-2EA24A22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0A592B-D4E0-45A5-9F16-400F5CB0F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27E497-0F9D-41AE-9828-562FA0C5D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F88333-3BA1-4D96-803E-9AF92E9DD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titulares dos instrumentos elegíveis; nenhuma entidade única foi identificada.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7D48F9-2D93-4ADE-B9EB-40D2FBACE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3A5088-746B-46D8-B6EC-F031C928E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Emissores/devedores dos instrumentos adquiridos;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AB74AE-F056-449F-84B2-63C0068E6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B6E56A-6F6F-45B8-BAB4-D1C3F1B6E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e títulos de crédito, valores mobiliários de crédito, instrumentos de securitização e cotas de FIDC previstos na política ampla.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6AFA5D-9BC7-44F7-B620-DDF432E17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499F4D-AE9B-4E42-B127-F0F73B7C9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veículo era FIC-FIDC e foi transformado em FIDC direto com vigência em 23/07/2024; desde então a política permite aquisição direta de instrumentos de crédito.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F423C5-E01F-4AE1-88ED-31CE49455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547B47-6F20-4EE9-AB99-1E2C72195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5A01E8-D517-465F-AF92-2378147CF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AA3FE4-DE02-46CF-8BB0-6A694BAE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E3A886-88B7-416D-9CFB-90D9A6ECB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FF5550-F7F1-4D8D-B802-A7C74E7E1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sem preferência, prioridade ou subordinação entre os titulares.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9FE2E5-7AA1-4526-B970-4DD02DA23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2FD8AE-7EB0-455F-8531-5CE30494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GENIAL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ARTESANAL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B3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33DC42-EE7F-41E8-B35F-3F511E6D9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0E3B708-D09F-4710-B954-30E37F932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F644D5-440A-4D51-AD22-8EE83DD15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CCB6567-0B4F-40AA-ADE7-6BEC8CBA7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https://fnet.bmfbovespa.com.br/fnet/publico/abrirGerenciadorDocumentosCVM?cnpjFundo=30576260000170. Evidência: O cadastro ANBIMA traz Financeiro/Crédito Pessoal; a política documental atual é ampla. A quebra histórica FIC→FIDC em julho de 2024 deve ser tratada explicitamente.</a:t>
            </a:r>
          </a:p>
        </p:txBody>
      </p:sp>
    </p:spTree>
    <p:extLst>
      <p:ext uri="{BB962C8B-B14F-4D97-AF65-F5344CB8AC3E}">
        <p14:creationId xmlns:p14="http://schemas.microsoft.com/office/powerpoint/2010/main" val="355958170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ED2250E-6F83-490F-B005-A1FA2DD9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1A33EF-4487-4D24-AFE0-441FF1562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Marobá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561227-8369-4D21-8F9C-DD93A0D54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9AB6E7-E8F2-4F02-A6C7-D31760F69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CA4F95-3142-4072-8A43-39BD90C19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9FCD0C-0F42-420E-871D-814C11146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D6BC73-8DC3-4C2B-A48F-ED00EDD5B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61.285.603/0001-71 · MAROBÁ FUNDO DE INVESTMENTO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2ECD0C-28A1-416E-9DC8-BCAEB955A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AB7F53-30CB-454C-BBA4-84AC6F6F3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DB7D19-625C-49EC-A1B1-F0AEB93E6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4B461E-7D1C-46F9-97BC-AC40054E2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77B67B-4E0C-415C-A2C2-99F062C2C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5A8607-A5E8-427B-9400-52846E1DE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ou perfil de devedores não localizado nas fontes consultadas.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87F346-111A-4BAF-BEF4-D90AD1148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47CC51-FA70-40A0-88AD-709210B3B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 não localizada nas fontes consultadas.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C64636-DE0A-49F6-AAB1-BB6B73CB3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E2B967-74EF-4193-BA9D-A3AFEF6B5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 não localizada nas fontes consultadas.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53CA5D-179B-4185-B3D9-8B6B65A50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644EF8-EE93-41BD-B57C-C303A2773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596FC8-DB98-490D-BA8C-7D0FE2C87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873238-C6DF-4C3A-96CF-B2C110F93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3139A9-2284-4BA2-AA59-410AE1358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FBD12B-3B49-4DF3-835F-07E00BA79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 e subordinação não localizadas nas fontes consultadas. Garantias: Garantias não localizadas nas fontes consultadas.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FBED49-BFDB-4BF8-829A-CD83AA498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F50EDE-09C4-4197-B9CC-8C0B29C87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3A46DF-A517-4261-A4B8-C09E321C3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2586488-5D5F-4738-B88B-EC38D6746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A75BC6-2EE4-4E4B-8318-35CF07895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ED67383-E095-48A9-A5F5-4F32036DB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0/6 campos documentais preenchidos; cadastro e prestadores disponíveis. Fonte: FundosNet e CVM SRE consultados em 24/07/2026; regulamento, suplemento e informe de encerramento não foram localizados no corpus acessível.. Evidência: Classificação cadastral ANBIMA disponível; documentação primária da operação não localizada.</a:t>
            </a:r>
          </a:p>
        </p:txBody>
      </p:sp>
    </p:spTree>
    <p:extLst>
      <p:ext uri="{BB962C8B-B14F-4D97-AF65-F5344CB8AC3E}">
        <p14:creationId xmlns:p14="http://schemas.microsoft.com/office/powerpoint/2010/main" val="1589564503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9C7DEA-7A1A-45E9-8142-E4D8B736E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B32A9F-8509-4B53-82B0-D305A7543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Venda de Veículos — R$ 4,2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698940-9ACB-4426-89E1-9D2DA92C6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3AF72C-2972-4F0A-8337-06390316B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78E466-3ADA-40B6-B50D-FC1B75872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8DDB91-F792-40F9-BA24-5FF00274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F6D457-3AF2-45A1-8A52-DDC2FEEC0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21.126.275/0001-46 · VENDA DE VEÍCULOS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204A2F-9F86-484F-B76E-4FCDA8441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B0E662-88FF-4270-A2FD-816566EFE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F1D06B-3A4B-4D92-AAAD-5BF82A68D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17D50D-5242-46D0-A19D-914D1F042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do Brasil Automóveis Ltda. e Renault do Brasil Ltda.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B4F61C-C3EF-4F80-86CA-BF36421FC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D1A54E-7B57-4960-9394-D082CC5B5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Locadoras de veículos e concessionárias que compram veículos novos com pagamento diferido.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D95913-71BB-40CC-BB8E-1242F10FE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748BD7-772E-41E1-AE49-BA137CB67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decorrentes da venda direta e da venda a prazo de veículos novos.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01F524-A4A1-4A3F-A44F-549FAC89F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58963D-7C75-4803-BB94-B5268D791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e Renault cedem ao fundo créditos contra locadoras e concessionárias; a liquidação segue as condições comerciais e garantias previstas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6706E9-BE0A-431D-9FC6-B6FAB9D3D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BD26BD-2794-460B-ACE9-579F12799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5A9FE9-3C77-47AE-8FEA-75033D4B1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A44317-0EE5-4644-9BA1-CFA4A1317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 ou informe de encerramento não localizado no corpus consultado.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80522F-9487-45B5-8FB8-BB60FA42A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BFA72A-A5E6-424C-B0BE-D2601479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o regulamento disciplina índices de subordinação e eventos de avaliação. Garantias: Seguro de crédito, penhor de estoque, cessão fiduciária de recebíveis e garantias bancárias ou fidejussórias, conforme a operação.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F1EDE3-829B-4D8F-85E3-CF67C4E7F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9B2EF2A-A457-4A75-A0E6-3908DA4EB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5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S3 CACEIS BRASIL DISTRIBUIDORA DE TITULOS E VALORES MOBILIARIOS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INTEGRAL INVESTIMENTOS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S3 CACEIS BRASIL DISTRIBUIDORA DE TITULOS E VALORES MOBILIARIOS S.A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16DB20-24FE-4073-AF34-CAA105457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C7EC07-F1CD-468F-AA69-81C327FE3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Financiamento de Veículos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C074CE-D462-4792-AB4F-C0498C753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633402A-9B43-4A12-8561-EB12915DF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preenchidos; emissão não localizada. Fonte: FundosNet, Regulamento id 1230588, 26/06/2026.. Evidência: O regulamento identifica cedentes, devedores, natureza econômica e garantias da carteira.</a:t>
            </a:r>
          </a:p>
        </p:txBody>
      </p:sp>
    </p:spTree>
    <p:extLst>
      <p:ext uri="{BB962C8B-B14F-4D97-AF65-F5344CB8AC3E}">
        <p14:creationId xmlns:p14="http://schemas.microsoft.com/office/powerpoint/2010/main" val="318349490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DC05AF8-4895-40D6-B864-EF3BADE0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295AD5-0498-47F5-A9C4-2DA3CF792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Day Maxx 2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59BF6F-217C-45FF-8444-FDF582245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C8D140-2195-448B-B729-57C8675E6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4510D0-631B-4F25-892A-3E4AFF89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B04295-EF64-443A-9DD5-2B8A130B1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B07978-7D4F-4639-AA9C-4D038D2F6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FD653A-7ED0-46C2-8586-2F903A4E1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2CFD1C-6933-4DE6-B4DD-69CF0D376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727DF2-A799-4A3A-9E58-13B3D25A9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150A05-87C8-48C7-BCA2-90C766397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5AE565-E78C-4403-BD0D-36A46545F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8CC819-00A2-4228-B155-1F7207DFD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087A63-E423-4A0E-BAAC-E23AE6AEB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905DDE-E075-46F8-B96A-9BBDAABAB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0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9D9C00-7FAB-4976-8F47-733E83075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AA0B82-6083-4BF1-9A53-E6393FF53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224D71-D9E6-48CA-AF26-A4C3AA14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529A58-414D-4218-B502-DD3FC33B1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C2839E-EC72-49D0-8E4B-9F6146A9D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2498E7-DE71-4C71-BAF6-A2286572B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B255FB-3F77-4171-B64B-E7B8F1A26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69DAA4-0739-47B1-BBE9-F972AED5B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B9AA52-B614-4689-91E3-DB717BC68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2AC23B-A460-48E5-92B7-058EFC5F0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BAB46A-90EC-47D5-B77B-584697BA8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D199C9-DB51-48F2-B723-C1C1B83B8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E9BCA16-89CC-44CC-B2F8-B934C086A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173559B-EB3E-4EB1-A90B-031F751C4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https://fnet.bmfbovespa.com.br/fnet/publico/abrirGerenciadorDocumentosCVM?cnpjFundo=34197588000137. 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1773251403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ABE66D7-8938-4B2F-AE94-C044E8751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7E8942-D2AC-4F09-AD09-575687558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ACR BEM — R$ 3,7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3C3E71-8B47-4E30-AFC7-309356AD8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BE042D-2186-4747-8819-A82E5772E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0FA12C-14F6-4007-8BEB-B5491589C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152AE4-8BE5-4C30-982D-5755BEEF7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D813D2-AF59-4922-AF84-019500573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54.979.779/0001-68 · FIDC ACR BEM BANCOS EMISSORES DE CARTÃO DE CRÉDITO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832C15-4BAD-4D75-8976-48B403A11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423DEA-D1E0-4A21-BEA3-29195815C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1F570A-65A9-4EB1-A853-2C893760E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B5E7A5-D633-4268-A028-C26545015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 Instituição de Pagamento S.A., como originadora e cedente dos recebíveis.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BA7E11-F0D4-4378-B95F-8DF29105C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25B7BC-FBC5-41CD-A0A7-B297E06D5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de cartões e demais instituições financeiras responsáveis pela liquidação das transações.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468273-2880-472B-B538-FB82360B0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26598B-E905-4461-8834-F90FE9F3F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oriundos de transações de pagamento processadas no sistema Stone.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FAA878-8CFC-44EE-8508-E416E90ED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3D9DCC-13D2-4C43-9392-50E07E070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Stone cede ao fundo recebíveis de liquidação de transações de pagamento; os devedores são os bancos emissores dos cartões.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3738E1-5467-4081-9501-C23E395B9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0FE948-1742-4F75-B8D9-15B55A2F7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B5D497-FF1D-41D9-8D29-52AB8ADA9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F59EA4-F8CA-4E89-9075-D7C14BA7C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2024, duas ofertas encerradas: R$ 3,5 bi em garantia firme e R$ 108,25 mi em melhores esforços; coordenador líder Bradesco BBI.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4EFF4F-A6B1-403D-B178-E373E0A82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DC391F-C2D6-48B5-852A-72BA616C0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regras de subordinação e eventos constam do regulamento. Garantias: Mecanismos de elegibilidade, concentração e subordinação previstos no regulamento; garantia uniforme adicional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28D190-6D1D-4AB0-8A51-FAF311429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2D9211-2918-46CE-85E3-8A163DBED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365211-0230-409C-A022-85D4BA764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7F8A39-A3F4-4BEB-8E52-6907B2046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81C893-217A-41EA-8057-5EFD1994A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1358625-9AC6-4B63-B083-2C88E7412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656484 de 09/05/2024 e Informe de Encerramento id 664301 de 15/05/2024.. Evidência: A documentação identifica a cadeia de pagamentos, os emissores de cartão como devedores e as ofertas encerradas.</a:t>
            </a:r>
          </a:p>
        </p:txBody>
      </p:sp>
    </p:spTree>
    <p:extLst>
      <p:ext uri="{BB962C8B-B14F-4D97-AF65-F5344CB8AC3E}">
        <p14:creationId xmlns:p14="http://schemas.microsoft.com/office/powerpoint/2010/main" val="290932692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8E1437-C8C7-45FA-97F9-04BEBC439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E 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77E0BD-B90C-4705-A606-763CF124E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 no ranking geral de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EE367D-6A29-498F-AE02-D60457FFE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979EF6-90E0-4E6E-9303-69A9998D9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8D6E8A-34C7-450D-A829-9D390C7D2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5F74CA-D11A-48BF-B1D3-C5EBAAC90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1524000" y="1133475"/>
          <a:ext xmlns:a="http://schemas.openxmlformats.org/drawingml/2006/main" cx="914400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31d04504427436b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76BCA3-F296-4D3B-9C89-D9A98F134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EC4C77-3FE4-4F95-B10D-FDC2D92B6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931E78-3ADD-4A7A-BFED-5E6FB38AB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571500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446f73e00d24dff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397856-B2E3-421E-8A64-DECB73050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334125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bf870d2860046c5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B00C1A-645C-42F2-AAE8-AB18AAF02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571500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8f6a18941bd4b5f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96D395-7631-4555-8771-FC9DF37D5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p:txBody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6334125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3d464c0534040b6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60D4EA-47A2-424E-88A7-CEC3EB07F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p:txBody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571500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a2c963c7ed04261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B42F1D-D336-4E0C-9D73-93FDAA4C0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6334125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22b3f8494824e9f"/>
          </a:graphicData>
        </a:graphic>
      </p:graphicFrame>
    </p:spTree>
    <p:extLst>
      <p:ext uri="{BB962C8B-B14F-4D97-AF65-F5344CB8AC3E}">
        <p14:creationId xmlns:p14="http://schemas.microsoft.com/office/powerpoint/2010/main" val="1632127538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DB876A-256C-41B8-B2BC-1018CB7F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 DOS CINCO BANCOS · COORTE ATUAL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217767-38E2-4BB5-A2F2-50CCA0C65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soma R$ 52,2 bi em jun/26; Consignados I adiciona R$ 7,9 bi ao PL de dez/25*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DE978F-C600-4472-8480-EC459425E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4B2F07-EF01-4986-863F-AA2453DAC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261A35-E41A-4AE6-97D8-412321AE2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FundosNet e conglomerados prudenciais do BCB consultados em jul/26. Coorte fixa das raízes hoje listadas; PL bruto. O histórico não recupera fundos que saíram do conglomerado atual.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B5B4E6-F5C1-4464-9671-A2F448FE5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437B91-8196-485A-8E37-F4C289E4D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 DA COORTE FIXA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8592C5-08B3-4FF6-859F-847B83EE2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68580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7c5198dd0074d8e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BD4D82-5F33-4008-A976-50D63CA64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381125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· CINCO MAIORES EM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6DE2D8-4E79-4A0D-AEBF-C7C9E6E36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47825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7858125" y="1762125"/>
          <a:ext xmlns:a="http://schemas.openxmlformats.org/drawingml/2006/main" cx="3762375" cy="2762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2333625"/>
                <a:gridCol w="904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mi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17.972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8.032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6.007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5.861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3.031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B6727F-8E35-4C8D-A135-E101300A0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7625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79,7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89AE57-9455-4F44-94A2-0B12D4404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219700"/>
            <a:ext cx="33813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5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bruto da coorte dos cinco bancos em jun/26. * Dez/25 usa R$ 7,9 bi do IME v2 Fundos.NET 1100733, confirmado pela DF auditada 1150673; o XML traz competência interna divergente e o parser havia lido zero.</a:t>
            </a:r>
          </a:p>
        </p:txBody>
      </p:sp>
    </p:spTree>
    <p:extLst>
      <p:ext uri="{BB962C8B-B14F-4D97-AF65-F5344CB8AC3E}">
        <p14:creationId xmlns:p14="http://schemas.microsoft.com/office/powerpoint/2010/main" val="442706900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48B348-6C9D-4AD7-9995-3D71F8FCA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270AF6-0BF5-4D5A-A40C-6940477B4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sustenta a escala da QI; sem a coorte bancária, o BTG fica em #3 na gestão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2368E5-740B-4699-8F7B-4FFF719E4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334461-0311-4C37-A825-532B842C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C411EE-9A2A-4AD2-A0E2-5053A3890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coorte bancária curada a partir dos conglomerados prudenciais. PL ex-FIC,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71035A-5F1C-4E0B-BF51-5CBE9D813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EDBAC6-74E8-467F-A721-77DCABA32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09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85D680-C7C1-4B23-B597-F9F0BC7AB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50958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ae1bf34be41489e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211744-540C-4C77-8468-73553D848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4714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95,9%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3018A0-DBFB-4D82-BA86-586D9AA4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4714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A34FBB-661F-4C8C-B46E-AE20D4663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JUN/26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F7A54F-98AD-4D0B-BB37-0604926B0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34125" y="1809750"/>
          <a:ext xmlns:a="http://schemas.openxmlformats.org/drawingml/2006/main" cx="52863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bd8faa39a7945d9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B2BFAF-FF8D-4EDB-A763-38F8591B5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86250"/>
            <a:ext cx="490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R$ 51,3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E33B65-48A0-4AFE-A469-F8DDE8C44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705350"/>
            <a:ext cx="4905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64,8% do PL gerido pelo BTG está nos 22 FIDCs da coorte com o BTG como gestor. A exclusão leva o banco de #1 a #3.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4D1CD8-753C-4EC3-ABE7-32A5896B7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476875"/>
            <a:ext cx="4905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79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 coorte bancária curada lista 32 raízes do BTG; 30 tinham PL observado em jun/26, somando R$ 52,2 bi. O recorte não atribui controle societário sem evidência documental.</a:t>
            </a:r>
          </a:p>
        </p:txBody>
      </p:sp>
    </p:spTree>
    <p:extLst>
      <p:ext uri="{BB962C8B-B14F-4D97-AF65-F5344CB8AC3E}">
        <p14:creationId xmlns:p14="http://schemas.microsoft.com/office/powerpoint/2010/main" val="295846100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981634-2076-41A4-8482-619ECAED4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19966E-EB03-4602-8E5E-74CBB5CDA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873190-260A-4D33-BABD-A518AE346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52D21B-D180-497C-A94E-749E63DFE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3F83F0-F071-4341-8210-1441A0129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6A7E7F-F424-4D60-AEAA-3869A1AEC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57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b438e4735d546b7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644D46-4DC1-418A-BF22-C6ABF729D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274677047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AF43EC-AB5C-4621-9142-49A5CDEBA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46E72F-8D2C-43CC-87F3-CA8F14C15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22FA73-D98E-49D5-9D72-CE350C5EC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99E266-5EB4-4EC7-943B-9E39F194E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35AD34-8B67-440F-9C86-BCC49EFCC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6BF993-4C90-40CB-A25B-D7634EDF2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58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ed556d05b55470b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CAE523-EFB8-433A-A511-A19E57C1D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2012394475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51DDFA-2D49-4219-9BAE-39014B0C4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9A696C-B344-4B77-BBFC-24585C7D5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CE04C1-5AD5-43FC-8538-004FBCBD2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C61775-36CC-4EDE-93F8-B77AECF95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F2C9CE-DA45-49D2-8EB0-A6AE3372D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AA3F54-DC88-4B77-B185-C1F89DD63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59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f4e22c3c04e4140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F2B433-C517-4745-812A-7F1FCEA8F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1107792458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28CF58-4C14-4A6F-A5E9-A25D8651A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597762-C1E1-4774-A154-E4CF57F22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147D57-7E30-4A40-BFA3-DE314BDFE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0EBAA6-3616-49B4-BBC9-145D9137E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DE618A-F0DC-429E-9380-EDD88CD55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DE6C37-C991-47F7-8DCE-78DF3B993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60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5676eace7464ff5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E6E883-0970-42BB-8259-8475016F9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9F2179-88E4-4A67-AEF3-B0B20EC6C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258101757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7CBD6A-89C2-4BCB-B94D-99734DCDD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B7AF11-BB2D-47DA-AEA6-264C6CEC4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BD07E3-AA6B-41EB-887E-FA4E2FBEF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5DB747-4010-415E-9AA2-64699D40D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B5CDE9-39B6-4D98-903C-5A577E78A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817B08-5401-4E95-94BF-20B4EB0D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6721d78539e4009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CF3DEF-63D2-426A-A2C7-307355788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127EE2-7A27-4DD7-9DB9-F9E6B6A2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2046466017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2AEFF1-B68C-4926-9FE0-FF10F988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FEB471-5E3F-4410-B345-45714A454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4B3C2B-77B1-4804-B8EA-D4E46E1DA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55DC5E-F373-4980-AC22-636E9675B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5A6CE4-A16D-4FD4-B231-ECBE54DF6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77EE1C-31A9-4293-B467-298F330B9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8ba564ee2264593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65482B-55C2-4DFE-81B3-FE47358A4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0A474D-365E-4ED6-A117-7C87AB423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2089467294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5D2BAA3-1256-4012-A282-7332ECCAC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CASO ATLÂNTICO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E93EF8-821B-42DB-9F89-8533B4C5D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compra créditos já inadimplidos; jul/24 muda a base de reporte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AF1A76-10D3-4588-B36B-088A9541E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037D87-81C8-4A2E-9A67-A43F26EE1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CACED5-3129-4971-828A-EC372CF00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regulamento de 12/11/24, AGE de 08/07/24 e DFs auditadas de 2024/25. Links completos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23BF6C-58A3-4F5A-9EAA-7C546DCF1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DB958F-6752-4828-92D1-49F81387C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09.194.841/0001-51 · ATLÂNTICO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931D52-7D93-4019-8169-1868F74AC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 QUE É E COMO FUNCIONA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5D177B-5B62-4624-909D-A10202818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ECCA1F-499F-4EE2-A7B3-99142864B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5286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ESTRATÉGIA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 fechado de recuperação. O regulamento descreve as carteiras, em regra, como NP, 100% inadimplidas e já baixadas pelos cedentes.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Compra definitiva em BIDs, com alto deságio e sem originação pelo Fundo. O retorno depende da recuperação agregada; o saldo contábil é valor esperado descontado, não valor de 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CEDENTES E DEVEDORES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 nomina Ativos S.A. (19%) e Carrefour Promotora, carteira legada (11%); 70% não são nominados. Devedores são sobretudo PF pulverizadas, com PJ pontuais.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ATIVOS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Empréstimos, consignado, cheque especial, cartão, CDC, varejo e serviços. Garantias podem existir caso a caso, mas a carteira massificada normalmente não tem garantia real.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974C71-809D-4792-807F-3AC6BFE2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ATUAIS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FDB3A1-3FE1-4E02-8D02-2893818FE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97C0F3-AC03-4CD9-837E-5AD406E9F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Administrador e custodiante: ID S.A · Gestor: HYPERION ASSET MANAGEMENT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Consultoria: MGC Capital · Cobrança: Crediativos · Auditor: BDO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55084E-87A6-4EB8-B8D0-25A0F7283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POR QUE A INADIMPLÊNCIA É ALTA · 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724C14-A13A-4F80-870A-297C0B81D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9C8BC3-27FE-4898-B943-6361232D0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4A5D44-64FD-4EA3-8A5A-30413BB6F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076450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R$ 143,6 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FCB0BB-E21E-4485-B838-25AE68DF5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76488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C93F09-92BF-4237-9AA2-0FC9BE445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33638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DA93A1-43AB-49D5-8CFD-D92E965E1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433638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R$ 155,6 mi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3DE5B4-5A2D-49F4-9669-EE4BC445D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336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470BA3-9916-42E5-90C1-503F16963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90825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C96F0B-0FD1-4217-ADB2-B6D425CD4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790825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98,8%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BFF326-392F-46E1-8F0E-94A1A16D3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90863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1F6088-10BC-4222-8293-63444D7DE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8013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&gt; 1.080 dias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87F618-F2F7-4800-BFBC-29D7C4695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3148013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100,00% da inad.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D490DCC-A1EC-484A-9BD9-1EA4FCE9C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62350"/>
            <a:ext cx="5286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99% é coerente com a estratégia NPL: o fundo compra créditos já vencidos. Aging mede o estado jurídico do crédito; não representa perda adicional de 100% sobre o valor contábil.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C78C04C-86A9-44E7-92B6-6FCD4727A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05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QUEBRA JUN→JUL/24 · R$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5289056-4316-4A96-ABD4-7A9FB61F8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72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4D87266-2D2F-4D56-A7AC-891A6952E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5286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C31540F-08E0-42E7-BFCB-27E7FC7F7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5772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305F3B2-3813-42D6-9FA0-52EA662E3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Jun/24 · Sefer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459B1AD-50C2-4467-8D09-46089AF40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577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Jul/24 · 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FFA3E09-A32B-4F93-8CD0-71ABC87B8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657725"/>
            <a:ext cx="981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61AA7AC-5FBC-4BD7-B029-CF8CFD4FD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1BF8CC6-59BC-48B1-A57F-D05E0B6C2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01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7BEF1A0-46DA-4A57-8053-0176A6DFB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815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bruta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710C74A-00BF-4CF8-8F87-E5092F199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9815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16.722,8 mi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95A246B-5EA6-47EC-BB62-A8DA01455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103,4 mi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AF77810-2E8A-4654-AF20-E85F67B82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9815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-16.619,4 mi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C15F72F-14AB-4547-A090-E3F422CD8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97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0629931-3403-478F-A353-791D24467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768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A618B0A-DAE2-40AD-A2E0-B22003204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2482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B10DD21-46E0-4F5D-BBA8-85372C1BE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482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34,2 mi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A3EFB91-61BE-4045-B812-EDFA70D91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2482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114,2 mi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61F57E5-6B7A-4BC1-B1FD-BC130DB19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2482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80,0 mi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3BD7F05-13FE-4935-9508-283CF670D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864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DAB08E5-C487-429A-B9D1-AADC8E188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7435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E4E5421-146C-466D-8EF0-B7DCEDCA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5149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F12E2A4-1BB7-46F4-80D8-58321BB42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5149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111,8 mi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6398D31-76B1-4FCB-9555-C599E6DBE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5149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125,6 mi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F33E629-3530-4815-B122-601342693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5149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13,8 mi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FA94A3C-196F-443A-92CD-8FB4EDC04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1D194DD-1355-4816-A1F8-0083C3930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quebra no bruto coincide com a troca de administrador, sem evidência de recuperação em caixa. As DFs têm opinião modificada para 01/01–19/07/24 por inconsistências de lastro e posição; a série usa bases de reporte distintas.</a:t>
            </a:r>
          </a:p>
        </p:txBody>
      </p:sp>
    </p:spTree>
    <p:extLst>
      <p:ext uri="{BB962C8B-B14F-4D97-AF65-F5344CB8AC3E}">
        <p14:creationId xmlns:p14="http://schemas.microsoft.com/office/powerpoint/2010/main" val="1728248772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2026-07-27T21:06:40.2340000Z</dcterms:created>
  <dcterms:modified xsi:type="dcterms:W3CDTF">2026-07-27T21:06:40.2340000Z</dcterms:modified>
</coreProperties>
</file>