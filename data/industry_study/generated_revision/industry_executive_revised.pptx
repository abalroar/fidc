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slides/charts/chart1.xml" ContentType="application/vnd.openxmlformats-officedocument.drawingml.chart+xml"/>
  <Override PartName="/ppt/slides/charts/chart2.xml" ContentType="application/vnd.openxmlformats-officedocument.drawingml.chart+xml"/>
  <Override PartName="/ppt/slides/charts/chart3.xml" ContentType="application/vnd.openxmlformats-officedocument.drawingml.chart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slides/charts/chart4.xml" ContentType="application/vnd.openxmlformats-officedocument.drawingml.chart+xml"/>
  <Override PartName="/ppt/slides/charts/chart5.xml" ContentType="application/vnd.openxmlformats-officedocument.drawingml.chart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slides/charts/chart6.xml" ContentType="application/vnd.openxmlformats-officedocument.drawingml.chart+xml"/>
  <Override PartName="/ppt/slides/charts/chart7.xml" ContentType="application/vnd.openxmlformats-officedocument.drawingml.chart+xml"/>
  <Override PartName="/ppt/slides/charts/chart8.xml" ContentType="application/vnd.openxmlformats-officedocument.drawingml.chart+xml"/>
  <Override PartName="/ppt/slides/charts/chart9.xml" ContentType="application/vnd.openxmlformats-officedocument.drawingml.chart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slides/charts/chart10.xml" ContentType="application/vnd.openxmlformats-officedocument.drawingml.chart+xml"/>
  <Override PartName="/ppt/slides/charts/chart11.xml" ContentType="application/vnd.openxmlformats-officedocument.drawingml.chart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slides/charts/chart12.xml" ContentType="application/vnd.openxmlformats-officedocument.drawingml.chart+xml"/>
  <Override PartName="/ppt/slides/charts/chart13.xml" ContentType="application/vnd.openxmlformats-officedocument.drawingml.chart+xml"/>
  <Override PartName="/ppt/slides/charts/chart14.xml" ContentType="application/vnd.openxmlformats-officedocument.drawingml.chart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slides/charts/chart15.xml" ContentType="application/vnd.openxmlformats-officedocument.drawingml.chart+xml"/>
  <Override PartName="/ppt/slides/charts/chart16.xml" ContentType="application/vnd.openxmlformats-officedocument.drawingml.chart+xml"/>
  <Override PartName="/ppt/slides/charts/chart17.xml" ContentType="application/vnd.openxmlformats-officedocument.drawingml.chart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slides/charts/chart18.xml" ContentType="application/vnd.openxmlformats-officedocument.drawingml.chart+xml"/>
  <Override PartName="/ppt/slides/charts/chart19.xml" ContentType="application/vnd.openxmlformats-officedocument.drawingml.chart+xml"/>
  <Override PartName="/ppt/slides/charts/chart20.xml" ContentType="application/vnd.openxmlformats-officedocument.drawingml.chart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slides/charts/chart21.xml" ContentType="application/vnd.openxmlformats-officedocument.drawingml.chart+xml"/>
  <Override PartName="/ppt/slides/charts/chart22.xml" ContentType="application/vnd.openxmlformats-officedocument.drawingml.chart+xml"/>
  <Override PartName="/ppt/slides/charts/chart23.xml" ContentType="application/vnd.openxmlformats-officedocument.drawingml.chart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slides/charts/chart24.xml" ContentType="application/vnd.openxmlformats-officedocument.drawingml.chart+xml"/>
  <Override PartName="/ppt/slides/charts/chart25.xml" ContentType="application/vnd.openxmlformats-officedocument.drawingml.chart+xml"/>
  <Override PartName="/ppt/slides/charts/chart26.xml" ContentType="application/vnd.openxmlformats-officedocument.drawingml.chart+xml"/>
  <Override PartName="/ppt/slides/charts/chart27.xml" ContentType="application/vnd.openxmlformats-officedocument.drawingml.chart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slides/charts/chart28.xml" ContentType="application/vnd.openxmlformats-officedocument.drawingml.chart+xml"/>
  <Override PartName="/ppt/slides/charts/chart29.xml" ContentType="application/vnd.openxmlformats-officedocument.drawingml.chart+xml"/>
  <Override PartName="/ppt/slides/charts/chart30.xml" ContentType="application/vnd.openxmlformats-officedocument.drawingml.chart+xml"/>
  <Override PartName="/ppt/slides/charts/chart31.xml" ContentType="application/vnd.openxmlformats-officedocument.drawingml.chart+xml"/>
  <Override PartName="/ppt/slides/charts/chart32.xml" ContentType="application/vnd.openxmlformats-officedocument.drawingml.chart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27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28.xml" ContentType="application/vnd.openxmlformats-officedocument.presentationml.slide+xml"/>
  <Override PartName="/ppt/notesSlides/notesSlide28.xml" ContentType="application/vnd.openxmlformats-officedocument.presentationml.notesSlide+xml"/>
  <Override PartName="/ppt/slides/slide29.xml" ContentType="application/vnd.openxmlformats-officedocument.presentationml.slide+xml"/>
  <Override PartName="/ppt/notesSlides/notesSlide29.xml" ContentType="application/vnd.openxmlformats-officedocument.presentationml.notesSlide+xml"/>
  <Override PartName="/ppt/slides/slide30.xml" ContentType="application/vnd.openxmlformats-officedocument.presentationml.slide+xml"/>
  <Override PartName="/ppt/notesSlides/notesSlide30.xml" ContentType="application/vnd.openxmlformats-officedocument.presentationml.notesSlide+xml"/>
  <Override PartName="/ppt/slides/slide31.xml" ContentType="application/vnd.openxmlformats-officedocument.presentationml.slide+xml"/>
  <Override PartName="/ppt/notesSlides/notesSlide31.xml" ContentType="application/vnd.openxmlformats-officedocument.presentationml.notesSlide+xml"/>
  <Override PartName="/ppt/slides/slide32.xml" ContentType="application/vnd.openxmlformats-officedocument.presentationml.slide+xml"/>
  <Override PartName="/ppt/notesSlides/notesSlide32.xml" ContentType="application/vnd.openxmlformats-officedocument.presentationml.notesSlide+xml"/>
  <Override PartName="/ppt/slides/slide33.xml" ContentType="application/vnd.openxmlformats-officedocument.presentationml.slide+xml"/>
  <Override PartName="/ppt/slides/charts/chart33.xml" ContentType="application/vnd.openxmlformats-officedocument.drawingml.chart+xml"/>
  <Override PartName="/ppt/slides/charts/chart34.xml" ContentType="application/vnd.openxmlformats-officedocument.drawingml.chart+xml"/>
  <Override PartName="/ppt/slides/charts/chart35.xml" ContentType="application/vnd.openxmlformats-officedocument.drawingml.chart+xml"/>
  <Override PartName="/ppt/slides/charts/chart36.xml" ContentType="application/vnd.openxmlformats-officedocument.drawingml.chart+xml"/>
  <Override PartName="/ppt/slides/charts/chart37.xml" ContentType="application/vnd.openxmlformats-officedocument.drawingml.chart+xml"/>
  <Override PartName="/ppt/slides/charts/chart38.xml" ContentType="application/vnd.openxmlformats-officedocument.drawingml.chart+xml"/>
  <Override PartName="/ppt/slides/charts/chart39.xml" ContentType="application/vnd.openxmlformats-officedocument.drawingml.chart+xml"/>
  <Override PartName="/ppt/notesSlides/notesSlide33.xml" ContentType="application/vnd.openxmlformats-officedocument.presentationml.notesSlide+xml"/>
  <Override PartName="/ppt/slides/slide34.xml" ContentType="application/vnd.openxmlformats-officedocument.presentationml.slide+xml"/>
  <Override PartName="/ppt/slides/charts/chart40.xml" ContentType="application/vnd.openxmlformats-officedocument.drawingml.chart+xml"/>
  <Override PartName="/ppt/slides/charts/chart41.xml" ContentType="application/vnd.openxmlformats-officedocument.drawingml.chart+xml"/>
  <Override PartName="/ppt/notesSlides/notesSlide34.xml" ContentType="application/vnd.openxmlformats-officedocument.presentationml.notesSlide+xml"/>
  <Override PartName="/ppt/slides/slide35.xml" ContentType="application/vnd.openxmlformats-officedocument.presentationml.slide+xml"/>
  <Override PartName="/ppt/slides/charts/chart42.xml" ContentType="application/vnd.openxmlformats-officedocument.drawingml.chart+xml"/>
  <Override PartName="/ppt/slides/charts/chart43.xml" ContentType="application/vnd.openxmlformats-officedocument.drawingml.chart+xml"/>
  <Override PartName="/ppt/slides/charts/chart44.xml" ContentType="application/vnd.openxmlformats-officedocument.drawingml.chart+xml"/>
  <Override PartName="/ppt/notesSlides/notesSlide35.xml" ContentType="application/vnd.openxmlformats-officedocument.presentationml.notesSlide+xml"/>
  <Override PartName="/ppt/slides/slide36.xml" ContentType="application/vnd.openxmlformats-officedocument.presentationml.slide+xml"/>
  <Override PartName="/ppt/slides/charts/chart45.xml" ContentType="application/vnd.openxmlformats-officedocument.drawingml.chart+xml"/>
  <Override PartName="/ppt/slides/charts/chart46.xml" ContentType="application/vnd.openxmlformats-officedocument.drawingml.chart+xml"/>
  <Override PartName="/ppt/slides/charts/chart47.xml" ContentType="application/vnd.openxmlformats-officedocument.drawingml.chart+xml"/>
  <Override PartName="/ppt/slides/charts/chart48.xml" ContentType="application/vnd.openxmlformats-officedocument.drawingml.chart+xml"/>
  <Override PartName="/ppt/slides/charts/chart49.xml" ContentType="application/vnd.openxmlformats-officedocument.drawingml.chart+xml"/>
  <Override PartName="/ppt/notesSlides/notesSlide36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a9d3116738b14d3a" /><Relationship Type="http://schemas.openxmlformats.org/officeDocument/2006/relationships/extended-properties" Target="/docProps/app.xml" Id="R6aa102991ee64d84" /><Relationship Type="http://schemas.openxmlformats.org/officeDocument/2006/relationships/officeDocument" Target="/ppt/presentation.xml" Id="R7080a06b8b5544f4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48a728982b944fe7"/>
  </p:sldMasterIdLst>
  <p:notesMasterIdLst>
    <p:notesMasterId xmlns:r="http://schemas.openxmlformats.org/officeDocument/2006/relationships" r:id="Rcc772069f58a460f"/>
  </p:notesMasterIdLst>
  <p:sldIdLst>
    <p:sldId xmlns:r="http://schemas.openxmlformats.org/officeDocument/2006/relationships" id="256" r:id="R8b586cc370dd45b8"/>
    <p:sldId xmlns:r="http://schemas.openxmlformats.org/officeDocument/2006/relationships" id="257" r:id="R44bfc1b0b6644e19"/>
    <p:sldId xmlns:r="http://schemas.openxmlformats.org/officeDocument/2006/relationships" id="258" r:id="Rec735e4c8430494c"/>
    <p:sldId xmlns:r="http://schemas.openxmlformats.org/officeDocument/2006/relationships" id="259" r:id="R72740588ad914ac9"/>
    <p:sldId xmlns:r="http://schemas.openxmlformats.org/officeDocument/2006/relationships" id="260" r:id="R95216b71c21943b5"/>
    <p:sldId xmlns:r="http://schemas.openxmlformats.org/officeDocument/2006/relationships" id="261" r:id="Re27110812f3a4027"/>
    <p:sldId xmlns:r="http://schemas.openxmlformats.org/officeDocument/2006/relationships" id="262" r:id="R57cdcad840ba4e78"/>
    <p:sldId xmlns:r="http://schemas.openxmlformats.org/officeDocument/2006/relationships" id="263" r:id="R65e27eb76e54443d"/>
    <p:sldId xmlns:r="http://schemas.openxmlformats.org/officeDocument/2006/relationships" id="264" r:id="R410ddfb56aae44d3"/>
    <p:sldId xmlns:r="http://schemas.openxmlformats.org/officeDocument/2006/relationships" id="265" r:id="Re3cd39ddb2ff486e"/>
    <p:sldId xmlns:r="http://schemas.openxmlformats.org/officeDocument/2006/relationships" id="266" r:id="R82b09cdaaba6422c"/>
    <p:sldId xmlns:r="http://schemas.openxmlformats.org/officeDocument/2006/relationships" id="267" r:id="Rc1e312a77d0345c6"/>
    <p:sldId xmlns:r="http://schemas.openxmlformats.org/officeDocument/2006/relationships" id="268" r:id="R6655cb56d374487b"/>
    <p:sldId xmlns:r="http://schemas.openxmlformats.org/officeDocument/2006/relationships" id="269" r:id="Rd409cb026a554b5a"/>
    <p:sldId xmlns:r="http://schemas.openxmlformats.org/officeDocument/2006/relationships" id="270" r:id="R34fb35d0edf0450c"/>
    <p:sldId xmlns:r="http://schemas.openxmlformats.org/officeDocument/2006/relationships" id="271" r:id="R33ddd6d0e9424f33"/>
    <p:sldId xmlns:r="http://schemas.openxmlformats.org/officeDocument/2006/relationships" id="272" r:id="R6dd28e7b95d44aca"/>
    <p:sldId xmlns:r="http://schemas.openxmlformats.org/officeDocument/2006/relationships" id="273" r:id="Rbb90839d74214ae4"/>
    <p:sldId xmlns:r="http://schemas.openxmlformats.org/officeDocument/2006/relationships" id="274" r:id="R2cb0a8f10ba94525"/>
    <p:sldId xmlns:r="http://schemas.openxmlformats.org/officeDocument/2006/relationships" id="275" r:id="R0ca25f3fe3dc42fe"/>
    <p:sldId xmlns:r="http://schemas.openxmlformats.org/officeDocument/2006/relationships" id="276" r:id="Rec3f031e9e14402b"/>
    <p:sldId xmlns:r="http://schemas.openxmlformats.org/officeDocument/2006/relationships" id="277" r:id="Rf554afea347b4b53"/>
    <p:sldId xmlns:r="http://schemas.openxmlformats.org/officeDocument/2006/relationships" id="278" r:id="R4ecf4cb5a29f4c65"/>
    <p:sldId xmlns:r="http://schemas.openxmlformats.org/officeDocument/2006/relationships" id="279" r:id="Rabe52c6e65ba4f2a"/>
    <p:sldId xmlns:r="http://schemas.openxmlformats.org/officeDocument/2006/relationships" id="280" r:id="R61d93201ec1042f1"/>
    <p:sldId xmlns:r="http://schemas.openxmlformats.org/officeDocument/2006/relationships" id="281" r:id="R17c7d58563984117"/>
    <p:sldId xmlns:r="http://schemas.openxmlformats.org/officeDocument/2006/relationships" id="282" r:id="R1639179a08264c15"/>
    <p:sldId xmlns:r="http://schemas.openxmlformats.org/officeDocument/2006/relationships" id="283" r:id="Reb08c1d4352f48c8"/>
    <p:sldId xmlns:r="http://schemas.openxmlformats.org/officeDocument/2006/relationships" id="284" r:id="R0a6a6ce0221e4906"/>
    <p:sldId xmlns:r="http://schemas.openxmlformats.org/officeDocument/2006/relationships" id="285" r:id="R410037ac73184550"/>
    <p:sldId xmlns:r="http://schemas.openxmlformats.org/officeDocument/2006/relationships" id="286" r:id="R7ff5baa005644194"/>
    <p:sldId xmlns:r="http://schemas.openxmlformats.org/officeDocument/2006/relationships" id="287" r:id="R38850c6c792a432f"/>
    <p:sldId xmlns:r="http://schemas.openxmlformats.org/officeDocument/2006/relationships" id="288" r:id="R9787416ee20a471e"/>
    <p:sldId xmlns:r="http://schemas.openxmlformats.org/officeDocument/2006/relationships" id="289" r:id="R33eb69efdea34736"/>
    <p:sldId xmlns:r="http://schemas.openxmlformats.org/officeDocument/2006/relationships" id="290" r:id="R2f0764bcf5dd4089"/>
    <p:sldId xmlns:r="http://schemas.openxmlformats.org/officeDocument/2006/relationships" id="291" r:id="R2e72eb3ac82f4043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50efdb114f364f3b" /><Relationship Type="http://schemas.openxmlformats.org/officeDocument/2006/relationships/slideMaster" Target="/ppt/slideMasters/slideMaster1.xml" Id="R48a728982b944fe7" /><Relationship Type="http://schemas.openxmlformats.org/officeDocument/2006/relationships/notesMaster" Target="/ppt/notesMasters/notesMaster1.xml" Id="Rcc772069f58a460f" /><Relationship Type="http://schemas.openxmlformats.org/officeDocument/2006/relationships/presProps" Target="/ppt/presProps.xml" Id="R3653595cc9734082" /><Relationship Type="http://schemas.openxmlformats.org/officeDocument/2006/relationships/tableStyles" Target="/ppt/tableStyles.xml" Id="R5e0aba70d97c4848" /><Relationship Type="http://schemas.openxmlformats.org/officeDocument/2006/relationships/slide" Target="/ppt/slides/slide1.xml" Id="R8b586cc370dd45b8" /><Relationship Type="http://schemas.openxmlformats.org/officeDocument/2006/relationships/slide" Target="/ppt/slides/slide2.xml" Id="R44bfc1b0b6644e19" /><Relationship Type="http://schemas.openxmlformats.org/officeDocument/2006/relationships/slide" Target="/ppt/slides/slide3.xml" Id="Rec735e4c8430494c" /><Relationship Type="http://schemas.openxmlformats.org/officeDocument/2006/relationships/slide" Target="/ppt/slides/slide4.xml" Id="R72740588ad914ac9" /><Relationship Type="http://schemas.openxmlformats.org/officeDocument/2006/relationships/slide" Target="/ppt/slides/slide5.xml" Id="R95216b71c21943b5" /><Relationship Type="http://schemas.openxmlformats.org/officeDocument/2006/relationships/slide" Target="/ppt/slides/slide6.xml" Id="Re27110812f3a4027" /><Relationship Type="http://schemas.openxmlformats.org/officeDocument/2006/relationships/slide" Target="/ppt/slides/slide7.xml" Id="R57cdcad840ba4e78" /><Relationship Type="http://schemas.openxmlformats.org/officeDocument/2006/relationships/slide" Target="/ppt/slides/slide8.xml" Id="R65e27eb76e54443d" /><Relationship Type="http://schemas.openxmlformats.org/officeDocument/2006/relationships/slide" Target="/ppt/slides/slide9.xml" Id="R410ddfb56aae44d3" /><Relationship Type="http://schemas.openxmlformats.org/officeDocument/2006/relationships/slide" Target="/ppt/slides/slide10.xml" Id="Re3cd39ddb2ff486e" /><Relationship Type="http://schemas.openxmlformats.org/officeDocument/2006/relationships/slide" Target="/ppt/slides/slide11.xml" Id="R82b09cdaaba6422c" /><Relationship Type="http://schemas.openxmlformats.org/officeDocument/2006/relationships/slide" Target="/ppt/slides/slide12.xml" Id="Rc1e312a77d0345c6" /><Relationship Type="http://schemas.openxmlformats.org/officeDocument/2006/relationships/slide" Target="/ppt/slides/slide13.xml" Id="R6655cb56d374487b" /><Relationship Type="http://schemas.openxmlformats.org/officeDocument/2006/relationships/slide" Target="/ppt/slides/slide14.xml" Id="Rd409cb026a554b5a" /><Relationship Type="http://schemas.openxmlformats.org/officeDocument/2006/relationships/slide" Target="/ppt/slides/slide15.xml" Id="R34fb35d0edf0450c" /><Relationship Type="http://schemas.openxmlformats.org/officeDocument/2006/relationships/slide" Target="/ppt/slides/slide16.xml" Id="R33ddd6d0e9424f33" /><Relationship Type="http://schemas.openxmlformats.org/officeDocument/2006/relationships/slide" Target="/ppt/slides/slide17.xml" Id="R6dd28e7b95d44aca" /><Relationship Type="http://schemas.openxmlformats.org/officeDocument/2006/relationships/slide" Target="/ppt/slides/slide18.xml" Id="Rbb90839d74214ae4" /><Relationship Type="http://schemas.openxmlformats.org/officeDocument/2006/relationships/slide" Target="/ppt/slides/slide19.xml" Id="R2cb0a8f10ba94525" /><Relationship Type="http://schemas.openxmlformats.org/officeDocument/2006/relationships/slide" Target="/ppt/slides/slide20.xml" Id="R0ca25f3fe3dc42fe" /><Relationship Type="http://schemas.openxmlformats.org/officeDocument/2006/relationships/slide" Target="/ppt/slides/slide21.xml" Id="Rec3f031e9e14402b" /><Relationship Type="http://schemas.openxmlformats.org/officeDocument/2006/relationships/slide" Target="/ppt/slides/slide22.xml" Id="Rf554afea347b4b53" /><Relationship Type="http://schemas.openxmlformats.org/officeDocument/2006/relationships/slide" Target="/ppt/slides/slide23.xml" Id="R4ecf4cb5a29f4c65" /><Relationship Type="http://schemas.openxmlformats.org/officeDocument/2006/relationships/slide" Target="/ppt/slides/slide24.xml" Id="Rabe52c6e65ba4f2a" /><Relationship Type="http://schemas.openxmlformats.org/officeDocument/2006/relationships/slide" Target="/ppt/slides/slide25.xml" Id="R61d93201ec1042f1" /><Relationship Type="http://schemas.openxmlformats.org/officeDocument/2006/relationships/slide" Target="/ppt/slides/slide26.xml" Id="R17c7d58563984117" /><Relationship Type="http://schemas.openxmlformats.org/officeDocument/2006/relationships/slide" Target="/ppt/slides/slide27.xml" Id="R1639179a08264c15" /><Relationship Type="http://schemas.openxmlformats.org/officeDocument/2006/relationships/slide" Target="/ppt/slides/slide28.xml" Id="Reb08c1d4352f48c8" /><Relationship Type="http://schemas.openxmlformats.org/officeDocument/2006/relationships/slide" Target="/ppt/slides/slide29.xml" Id="R0a6a6ce0221e4906" /><Relationship Type="http://schemas.openxmlformats.org/officeDocument/2006/relationships/slide" Target="/ppt/slides/slide30.xml" Id="R410037ac73184550" /><Relationship Type="http://schemas.openxmlformats.org/officeDocument/2006/relationships/slide" Target="/ppt/slides/slide31.xml" Id="R7ff5baa005644194" /><Relationship Type="http://schemas.openxmlformats.org/officeDocument/2006/relationships/slide" Target="/ppt/slides/slide32.xml" Id="R38850c6c792a432f" /><Relationship Type="http://schemas.openxmlformats.org/officeDocument/2006/relationships/slide" Target="/ppt/slides/slide33.xml" Id="R9787416ee20a471e" /><Relationship Type="http://schemas.openxmlformats.org/officeDocument/2006/relationships/slide" Target="/ppt/slides/slide34.xml" Id="R33eb69efdea34736" /><Relationship Type="http://schemas.openxmlformats.org/officeDocument/2006/relationships/slide" Target="/ppt/slides/slide35.xml" Id="R2f0764bcf5dd4089" /><Relationship Type="http://schemas.openxmlformats.org/officeDocument/2006/relationships/slide" Target="/ppt/slides/slide36.xml" Id="R2e72eb3ac82f4043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e2928a32156648a9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Itau BBA FIDC Editorial">
      <a:dk1>
        <a:srgbClr val="151515"/>
      </a:dk1>
      <a:lt1>
        <a:srgbClr val="FFFFFF"/>
      </a:lt1>
      <a:dk2>
        <a:srgbClr val="30353A"/>
      </a:dk2>
      <a:lt2>
        <a:srgbClr val="E7E9EB"/>
      </a:lt2>
      <a:accent1>
        <a:srgbClr val="EC7000"/>
      </a:accent1>
      <a:accent2>
        <a:srgbClr val="151515"/>
      </a:accent2>
      <a:accent3>
        <a:srgbClr val="30353A"/>
      </a:accent3>
      <a:accent4>
        <a:srgbClr val="73787D"/>
      </a:accent4>
      <a:accent5>
        <a:srgbClr val="8D9399"/>
      </a:accent5>
      <a:accent6>
        <a:srgbClr val="D7DADD"/>
      </a:accent6>
      <a:hlink>
        <a:srgbClr val="EC7000"/>
      </a:hlink>
      <a:folHlink>
        <a:srgbClr val="7378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Itau BBA FIDC Editorial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e57ff9289f864989" /><Relationship Type="http://schemas.openxmlformats.org/officeDocument/2006/relationships/notesMaster" Target="/ppt/notesMasters/notesMaster1.xml" Id="R46ed8ca8bdcb45f8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37b96bf28f2f4c5d" /><Relationship Type="http://schemas.openxmlformats.org/officeDocument/2006/relationships/notesMaster" Target="/ppt/notesMasters/notesMaster1.xml" Id="R8deee0ab7e174105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117e4c226b844f8b" /><Relationship Type="http://schemas.openxmlformats.org/officeDocument/2006/relationships/notesMaster" Target="/ppt/notesMasters/notesMaster1.xml" Id="R1725754cdbf64240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b53876f67850463c" /><Relationship Type="http://schemas.openxmlformats.org/officeDocument/2006/relationships/notesMaster" Target="/ppt/notesMasters/notesMaster1.xml" Id="R9c313a374c654d13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6db88f7b74b143ae" /><Relationship Type="http://schemas.openxmlformats.org/officeDocument/2006/relationships/notesMaster" Target="/ppt/notesMasters/notesMaster1.xml" Id="R4ce9e18cb52e44ca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57e2b612b004405f" /><Relationship Type="http://schemas.openxmlformats.org/officeDocument/2006/relationships/notesMaster" Target="/ppt/notesMasters/notesMaster1.xml" Id="Rfe2ead04db5b476d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9a8eb2dbc6d545f9" /><Relationship Type="http://schemas.openxmlformats.org/officeDocument/2006/relationships/notesMaster" Target="/ppt/notesMasters/notesMaster1.xml" Id="Rd1c24af1ad2b4ed0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c490fcebbbeb4b9c" /><Relationship Type="http://schemas.openxmlformats.org/officeDocument/2006/relationships/notesMaster" Target="/ppt/notesMasters/notesMaster1.xml" Id="R4be4eb5335ec405a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6edce612950242e4" /><Relationship Type="http://schemas.openxmlformats.org/officeDocument/2006/relationships/notesMaster" Target="/ppt/notesMasters/notesMaster1.xml" Id="Rbfd5981b47f443cf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5dafb1891bb7488b" /><Relationship Type="http://schemas.openxmlformats.org/officeDocument/2006/relationships/notesMaster" Target="/ppt/notesMasters/notesMaster1.xml" Id="R0bc759b1e9864734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caf8247e4c524b0e" /><Relationship Type="http://schemas.openxmlformats.org/officeDocument/2006/relationships/notesMaster" Target="/ppt/notesMasters/notesMaster1.xml" Id="Rc608089bb5de47fc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a383318043fd4c5c" /><Relationship Type="http://schemas.openxmlformats.org/officeDocument/2006/relationships/notesMaster" Target="/ppt/notesMasters/notesMaster1.xml" Id="R9d12a91349434dae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a4dc594b14df4f1e" /><Relationship Type="http://schemas.openxmlformats.org/officeDocument/2006/relationships/notesMaster" Target="/ppt/notesMasters/notesMaster1.xml" Id="R57b45850131a4dbc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b921e5d4465f46ad" /><Relationship Type="http://schemas.openxmlformats.org/officeDocument/2006/relationships/notesMaster" Target="/ppt/notesMasters/notesMaster1.xml" Id="Rcac4e7b40dac42c0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c7fce9e087224e4f" /><Relationship Type="http://schemas.openxmlformats.org/officeDocument/2006/relationships/notesMaster" Target="/ppt/notesMasters/notesMaster1.xml" Id="Rd7a28c80956944ba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fbaacb2f5e904a49" /><Relationship Type="http://schemas.openxmlformats.org/officeDocument/2006/relationships/notesMaster" Target="/ppt/notesMasters/notesMaster1.xml" Id="Rc5ee0bbcde074009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961b809a53784170" /><Relationship Type="http://schemas.openxmlformats.org/officeDocument/2006/relationships/notesMaster" Target="/ppt/notesMasters/notesMaster1.xml" Id="R64078796e4964dc4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e38635425565415d" /><Relationship Type="http://schemas.openxmlformats.org/officeDocument/2006/relationships/notesMaster" Target="/ppt/notesMasters/notesMaster1.xml" Id="R35114a41cd9a4166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435f08b8d99341cf" /><Relationship Type="http://schemas.openxmlformats.org/officeDocument/2006/relationships/notesMaster" Target="/ppt/notesMasters/notesMaster1.xml" Id="R9c63210d837a4fef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54430dbfa71c44b9" /><Relationship Type="http://schemas.openxmlformats.org/officeDocument/2006/relationships/notesMaster" Target="/ppt/notesMasters/notesMaster1.xml" Id="Rf2c50e67466a4a68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1b5bc2b742bd4b0a" /><Relationship Type="http://schemas.openxmlformats.org/officeDocument/2006/relationships/notesMaster" Target="/ppt/notesMasters/notesMaster1.xml" Id="R353e7e8133b043e1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e9e4d94ddeae4bed" /><Relationship Type="http://schemas.openxmlformats.org/officeDocument/2006/relationships/notesMaster" Target="/ppt/notesMasters/notesMaster1.xml" Id="R08eb40b328fa48c0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6d4420df7cf04934" /><Relationship Type="http://schemas.openxmlformats.org/officeDocument/2006/relationships/notesMaster" Target="/ppt/notesMasters/notesMaster1.xml" Id="R98e812841f03491c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082c50b647db4446" /><Relationship Type="http://schemas.openxmlformats.org/officeDocument/2006/relationships/notesMaster" Target="/ppt/notesMasters/notesMaster1.xml" Id="R2ffa5715b2cd4ad5" /></Relationships>
</file>

<file path=ppt/notesSlides/_rels/notesSlide25.xml.rels>&#65279;<?xml version="1.0" encoding="utf-8"?><Relationships xmlns="http://schemas.openxmlformats.org/package/2006/relationships"><Relationship Type="http://schemas.openxmlformats.org/officeDocument/2006/relationships/slide" Target="/ppt/slides/slide25.xml" Id="R4041041e88814926" /><Relationship Type="http://schemas.openxmlformats.org/officeDocument/2006/relationships/notesMaster" Target="/ppt/notesMasters/notesMaster1.xml" Id="Rf66573918fda4429" /></Relationships>
</file>

<file path=ppt/notesSlides/_rels/notesSlide26.xml.rels>&#65279;<?xml version="1.0" encoding="utf-8"?><Relationships xmlns="http://schemas.openxmlformats.org/package/2006/relationships"><Relationship Type="http://schemas.openxmlformats.org/officeDocument/2006/relationships/slide" Target="/ppt/slides/slide26.xml" Id="R1040b1e83e614ebd" /><Relationship Type="http://schemas.openxmlformats.org/officeDocument/2006/relationships/notesMaster" Target="/ppt/notesMasters/notesMaster1.xml" Id="Rd9584bb07bc243d1" /></Relationships>
</file>

<file path=ppt/notesSlides/_rels/notesSlide27.xml.rels>&#65279;<?xml version="1.0" encoding="utf-8"?><Relationships xmlns="http://schemas.openxmlformats.org/package/2006/relationships"><Relationship Type="http://schemas.openxmlformats.org/officeDocument/2006/relationships/slide" Target="/ppt/slides/slide27.xml" Id="R1401b70c23894197" /><Relationship Type="http://schemas.openxmlformats.org/officeDocument/2006/relationships/notesMaster" Target="/ppt/notesMasters/notesMaster1.xml" Id="R41a8eb60f91a4899" /></Relationships>
</file>

<file path=ppt/notesSlides/_rels/notesSlide28.xml.rels>&#65279;<?xml version="1.0" encoding="utf-8"?><Relationships xmlns="http://schemas.openxmlformats.org/package/2006/relationships"><Relationship Type="http://schemas.openxmlformats.org/officeDocument/2006/relationships/slide" Target="/ppt/slides/slide28.xml" Id="Rb1729fd9e870480f" /><Relationship Type="http://schemas.openxmlformats.org/officeDocument/2006/relationships/notesMaster" Target="/ppt/notesMasters/notesMaster1.xml" Id="R81cbcc5aefdb4726" /></Relationships>
</file>

<file path=ppt/notesSlides/_rels/notesSlide29.xml.rels>&#65279;<?xml version="1.0" encoding="utf-8"?><Relationships xmlns="http://schemas.openxmlformats.org/package/2006/relationships"><Relationship Type="http://schemas.openxmlformats.org/officeDocument/2006/relationships/slide" Target="/ppt/slides/slide29.xml" Id="R033af146f8224f35" /><Relationship Type="http://schemas.openxmlformats.org/officeDocument/2006/relationships/notesMaster" Target="/ppt/notesMasters/notesMaster1.xml" Id="R7caca88b98b242c9" /></Relationships>
</file>

<file path=ppt/notesSlides/_rels/notesSlide30.xml.rels>&#65279;<?xml version="1.0" encoding="utf-8"?><Relationships xmlns="http://schemas.openxmlformats.org/package/2006/relationships"><Relationship Type="http://schemas.openxmlformats.org/officeDocument/2006/relationships/slide" Target="/ppt/slides/slide30.xml" Id="R3d4ba85da8a34d54" /><Relationship Type="http://schemas.openxmlformats.org/officeDocument/2006/relationships/notesMaster" Target="/ppt/notesMasters/notesMaster1.xml" Id="R75d6fb60fdba4652" /></Relationships>
</file>

<file path=ppt/notesSlides/_rels/notesSlide31.xml.rels>&#65279;<?xml version="1.0" encoding="utf-8"?><Relationships xmlns="http://schemas.openxmlformats.org/package/2006/relationships"><Relationship Type="http://schemas.openxmlformats.org/officeDocument/2006/relationships/slide" Target="/ppt/slides/slide31.xml" Id="R7af2b6e1437d42cb" /><Relationship Type="http://schemas.openxmlformats.org/officeDocument/2006/relationships/notesMaster" Target="/ppt/notesMasters/notesMaster1.xml" Id="Rc2ecdc9374674f23" /></Relationships>
</file>

<file path=ppt/notesSlides/_rels/notesSlide32.xml.rels>&#65279;<?xml version="1.0" encoding="utf-8"?><Relationships xmlns="http://schemas.openxmlformats.org/package/2006/relationships"><Relationship Type="http://schemas.openxmlformats.org/officeDocument/2006/relationships/slide" Target="/ppt/slides/slide32.xml" Id="Rc969277157fb47a0" /><Relationship Type="http://schemas.openxmlformats.org/officeDocument/2006/relationships/notesMaster" Target="/ppt/notesMasters/notesMaster1.xml" Id="Rc71b525f655e4cd3" /></Relationships>
</file>

<file path=ppt/notesSlides/_rels/notesSlide33.xml.rels>&#65279;<?xml version="1.0" encoding="utf-8"?><Relationships xmlns="http://schemas.openxmlformats.org/package/2006/relationships"><Relationship Type="http://schemas.openxmlformats.org/officeDocument/2006/relationships/slide" Target="/ppt/slides/slide33.xml" Id="R964be879afab401b" /><Relationship Type="http://schemas.openxmlformats.org/officeDocument/2006/relationships/notesMaster" Target="/ppt/notesMasters/notesMaster1.xml" Id="Rb8f923a55ccf486b" /></Relationships>
</file>

<file path=ppt/notesSlides/_rels/notesSlide34.xml.rels>&#65279;<?xml version="1.0" encoding="utf-8"?><Relationships xmlns="http://schemas.openxmlformats.org/package/2006/relationships"><Relationship Type="http://schemas.openxmlformats.org/officeDocument/2006/relationships/slide" Target="/ppt/slides/slide34.xml" Id="Ree2767d9f6514955" /><Relationship Type="http://schemas.openxmlformats.org/officeDocument/2006/relationships/notesMaster" Target="/ppt/notesMasters/notesMaster1.xml" Id="Rbe0217462b3e41e5" /></Relationships>
</file>

<file path=ppt/notesSlides/_rels/notesSlide35.xml.rels>&#65279;<?xml version="1.0" encoding="utf-8"?><Relationships xmlns="http://schemas.openxmlformats.org/package/2006/relationships"><Relationship Type="http://schemas.openxmlformats.org/officeDocument/2006/relationships/slide" Target="/ppt/slides/slide35.xml" Id="R982f0a96816e41df" /><Relationship Type="http://schemas.openxmlformats.org/officeDocument/2006/relationships/notesMaster" Target="/ppt/notesMasters/notesMaster1.xml" Id="R32c6a1bb457c4ea9" /></Relationships>
</file>

<file path=ppt/notesSlides/_rels/notesSlide36.xml.rels>&#65279;<?xml version="1.0" encoding="utf-8"?><Relationships xmlns="http://schemas.openxmlformats.org/package/2006/relationships"><Relationship Type="http://schemas.openxmlformats.org/officeDocument/2006/relationships/slide" Target="/ppt/slides/slide36.xml" Id="Rbbf4cc8ac3274303" /><Relationship Type="http://schemas.openxmlformats.org/officeDocument/2006/relationships/notesMaster" Target="/ppt/notesMasters/notesMaster1.xml" Id="Re2cbf882e29c4c37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Ofertas Públicas de Distribuição: https://dados.cvm.gov.br/dataset/oferta-distrib</a:t>
            </a:r>
          </a:p>
          <a:p xmlns:a="http://schemas.openxmlformats.org/drawingml/2006/main">
            <a:r>
              <a:t>- ANBIMA Data — Boletim de Mercado de Capitais, corte em 30/jun/26: https://data.anbima.com.br/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oferta_resolucao_160.csv e oferta_distribuicao.csv: https://dados.cvm.gov.br/dataset/oferta-distrib</a:t>
            </a:r>
          </a:p>
          <a:p xmlns:a="http://schemas.openxmlformats.org/drawingml/2006/main">
            <a:r>
              <a:t>- ANBIMA — Coletiva de Mercado de Capitais 1S26, snapshot jun/26, Anexo · pág. 14, Tabela Jan a jun 25 × Jan a jun 26: https://www.anbima.com.br/data/files/8E/86/DB/07/325AF91098D078F9692BA2A8/Apresentacao%20_%20coletiva%20Mercado%20de%20Capitais%20_%201S26.pdf</a:t>
            </a:r>
          </a:p>
          <a:p xmlns:a="http://schemas.openxmlformats.org/drawingml/2006/main">
            <a:r>
              <a:t>- Perímetros: CVM/SRE mede valor registrado de ofertas primárias encerradas (R$ 65,5 bi em FIDCs); ANBIMA mede valor encerrado (R$ 53,1 bi). Ambos cobrem jan–jun/26.</a:t>
            </a:r>
          </a:p>
          <a:p xmlns:a="http://schemas.openxmlformats.org/drawingml/2006/main">
            <a:r>
              <a:t>- FIDCs 2023 no gráfico CVM: valor encerrado ANBIMA; a correção é idempotente e preserva bundles anteriores à republicação.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Saldo: classificação analítica por CNPJ; Outros é aberto em Precatórios/Ações, Multicedente/Multisacado, Recuperação/NP e N/D.</a:t>
            </a:r>
          </a:p>
          <a:p xmlns:a="http://schemas.openxmlformats.org/drawingml/2006/main">
            <a:r>
              <a:t>- Emissões: quatro tipos ANBIMA reconciliados com FIC-FIDC e total emitido; ausência permanece N/D e não vira zero.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oferta_resolucao_160.csv e oferta_distribuicao.csv: https://dados.cvm.gov.br/dataset/oferta-distrib</a:t>
            </a:r>
          </a:p>
          <a:p xmlns:a="http://schemas.openxmlformats.org/drawingml/2006/main">
            <a:r>
              <a:t>- FIDCs 2023: valor encerrado ANBIMA, preservado da série histórica; composição não observada escalada pela composição CVM. Snapshot vigente: jun/26.</a:t>
            </a:r>
          </a:p>
          <a:p xmlns:a="http://schemas.openxmlformats.org/drawingml/2006/main">
            <a:r>
              <a:t>- Destaque: variação relativa da participação versus o período comparável anterior; verde &gt; +2%, vinho &lt; −2%, sem destaque dentro de ±2%.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Unidade: CNPJ do fundo, com classes agregadas; página jun/26 · Top 15.</a:t>
            </a:r>
          </a:p>
          <a:p xmlns:a="http://schemas.openxmlformats.org/drawingml/2006/main">
            <a:r>
              <a:t>- Originador, cedente, subordinação mínima, preço por cota e sacado usam a mesma curadoria documental flagship; fontes linha a linha na aba Auditoria emissões.</a:t>
            </a:r>
          </a:p>
          <a:p xmlns:a="http://schemas.openxmlformats.org/drawingml/2006/main">
            <a:r>
              <a:t>- Campo ausente, fragmento sem nome explícito ou vínculo documental insuficiente permanece N/D. * = complemento manual transcrito das fotos fornecidas pelo usuário.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Unidade: CNPJ do fundo, com classes agregadas; página dez/25 · Top 15.</a:t>
            </a:r>
          </a:p>
          <a:p xmlns:a="http://schemas.openxmlformats.org/drawingml/2006/main">
            <a:r>
              <a:t>- Originador, cedente, subordinação mínima, preço por cota e sacado usam a mesma curadoria documental flagship; fontes linha a linha na aba Auditoria emissões.</a:t>
            </a:r>
          </a:p>
          <a:p xmlns:a="http://schemas.openxmlformats.org/drawingml/2006/main">
            <a:r>
              <a:t>- Campo ausente, fragmento sem nome explícito ou vínculo documental insuficiente permanece N/D. * = complemento manual transcrito das fotos fornecidas pelo usuário.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Unidade: CNPJ do fundo, com classes agregadas; página jun/26 · Top 15.</a:t>
            </a:r>
          </a:p>
          <a:p xmlns:a="http://schemas.openxmlformats.org/drawingml/2006/main">
            <a:r>
              <a:t>- Originador, cedente, subordinação mínima, preço por cota e sacado usam a mesma curadoria documental flagship; fontes linha a linha na aba Auditoria emissões.</a:t>
            </a:r>
          </a:p>
          <a:p xmlns:a="http://schemas.openxmlformats.org/drawingml/2006/main">
            <a:r>
              <a:t>- Campo ausente, fragmento sem nome explícito ou vínculo documental insuficiente permanece N/D. * = complemento manual transcrito das fotos fornecidas pelo usuário.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Unidade: CNPJ do fundo, com classes agregadas; página dez/25 · Top 15.</a:t>
            </a:r>
          </a:p>
          <a:p xmlns:a="http://schemas.openxmlformats.org/drawingml/2006/main">
            <a:r>
              <a:t>- Originador, cedente, subordinação mínima, preço por cota e sacado usam a mesma curadoria documental flagship; fontes linha a linha na aba Auditoria emissões.</a:t>
            </a:r>
          </a:p>
          <a:p xmlns:a="http://schemas.openxmlformats.org/drawingml/2006/main">
            <a:r>
              <a:t>- Campo ausente, fragmento sem nome explícito ou vínculo documental insuficiente permanece N/D. * = complemento manual transcrito das fotos fornecidas pelo usuário.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Unidade: CNPJ do fundo, com classes agregadas; página jun/26 · Top 15.</a:t>
            </a:r>
          </a:p>
          <a:p xmlns:a="http://schemas.openxmlformats.org/drawingml/2006/main">
            <a:r>
              <a:t>- Originador, cedente, subordinação mínima, preço por cota e sacado usam a mesma curadoria documental flagship; fontes linha a linha na aba Auditoria emissões.</a:t>
            </a:r>
          </a:p>
          <a:p xmlns:a="http://schemas.openxmlformats.org/drawingml/2006/main">
            <a:r>
              <a:t>- Campo ausente, fragmento sem nome explícito ou vínculo documental insuficiente permanece N/D. * = complemento manual transcrito das fotos fornecidas pelo usuário.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Unidade: CNPJ do fundo, com classes agregadas; página dez/25 · Top 15.</a:t>
            </a:r>
          </a:p>
          <a:p xmlns:a="http://schemas.openxmlformats.org/drawingml/2006/main">
            <a:r>
              <a:t>- Originador, cedente, subordinação mínima, preço por cota e sacado usam a mesma curadoria documental flagship; fontes linha a linha na aba Auditoria emissões.</a:t>
            </a:r>
          </a:p>
          <a:p xmlns:a="http://schemas.openxmlformats.org/drawingml/2006/main">
            <a:r>
              <a:t>- Campo ausente, fragmento sem nome explícito ou vínculo documental insuficiente permanece N/D. * = complemento manual transcrito das fotos fornecidas pelo usuário.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Unidade: CNPJ do fundo, com classes agregadas; página jun/26 · Top 15.</a:t>
            </a:r>
          </a:p>
          <a:p xmlns:a="http://schemas.openxmlformats.org/drawingml/2006/main">
            <a:r>
              <a:t>- Originador, cedente, subordinação mínima, preço por cota e sacado usam a mesma curadoria documental flagship; fontes linha a linha na aba Auditoria emissões.</a:t>
            </a:r>
          </a:p>
          <a:p xmlns:a="http://schemas.openxmlformats.org/drawingml/2006/main">
            <a:r>
              <a:t>- Campo ausente, fragmento sem nome explícito ou vínculo documental insuficiente permanece N/D. * = complemento manual transcrito das fotos fornecidas pelo usuário.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Unidade: CNPJ do fundo, com classes agregadas; página dez/25 · Top 15.</a:t>
            </a:r>
          </a:p>
          <a:p xmlns:a="http://schemas.openxmlformats.org/drawingml/2006/main">
            <a:r>
              <a:t>- Originador, cedente, subordinação mínima, preço por cota e sacado usam a mesma curadoria documental flagship; fontes linha a linha na aba Auditoria emissões.</a:t>
            </a:r>
          </a:p>
          <a:p xmlns:a="http://schemas.openxmlformats.org/drawingml/2006/main">
            <a:r>
              <a:t>- Campo ausente, fragmento sem nome explícito ou vínculo documental insuficiente permanece N/D. * = complemento manual transcrito das fotos fornecidas pelo usuário.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Unidade: um cartão por CNPJ elegível da Carteira I; cada cartão é uma única caixa de texto nomeada pelo CNPJ para reorganização manual.</a:t>
            </a:r>
          </a:p>
          <a:p xmlns:a="http://schemas.openxmlformats.org/drawingml/2006/main">
            <a:r>
              <a:t>- Elegibilidade do MVP: Sub/PL atual, piso documental e PL do veículo disponíveis. Casos excluídos permanecem integralmente no workbook e no explorador.</a:t>
            </a:r>
          </a:p>
          <a:p xmlns:a="http://schemas.openxmlformats.org/drawingml/2006/main">
            <a:r>
              <a:t>- O sinal vinho, âmbar ou azul compara Sub/PL atual ao mínimo estrutural somente quando numerador, denominador e tranche são equivalentes; cinza preserva o índice documental sem concluir folga.</a:t>
            </a:r>
          </a:p>
          <a:p xmlns:a="http://schemas.openxmlformats.org/drawingml/2006/main">
            <a:r>
              <a:t>- O asterisco marca categoria editorial, piso total, combinado, calculado, ajustado ou sem equivalência direta; natureza, fórmula, documento e cláusula permanecem por CNPJ no workbook.</a:t>
            </a:r>
          </a:p>
          <a:p xmlns:a="http://schemas.openxmlformats.org/drawingml/2006/main">
            <a:r>
              <a:t>- Benchmark: O grupo Financeiro reúne estruturas distintas; a leitura relativa é direcional.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Unidade: um cartão por CNPJ elegível da Carteira I; cada cartão é uma única caixa de texto nomeada pelo CNPJ para reorganização manual.</a:t>
            </a:r>
          </a:p>
          <a:p xmlns:a="http://schemas.openxmlformats.org/drawingml/2006/main">
            <a:r>
              <a:t>- Elegibilidade do MVP: Sub/PL atual, piso documental e PL do veículo disponíveis. Casos excluídos permanecem integralmente no workbook e no explorador.</a:t>
            </a:r>
          </a:p>
          <a:p xmlns:a="http://schemas.openxmlformats.org/drawingml/2006/main">
            <a:r>
              <a:t>- O sinal vinho, âmbar ou azul compara Sub/PL atual ao mínimo estrutural somente quando numerador, denominador e tranche são equivalentes; cinza preserva o índice documental sem concluir folga.</a:t>
            </a:r>
          </a:p>
          <a:p xmlns:a="http://schemas.openxmlformats.org/drawingml/2006/main">
            <a:r>
              <a:t>- O asterisco marca categoria editorial, piso total, combinado, calculado, ajustado ou sem equivalência direta; natureza, fórmula, documento e cláusula permanecem por CNPJ no workbook.</a:t>
            </a:r>
          </a:p>
          <a:p xmlns:a="http://schemas.openxmlformats.org/drawingml/2006/main">
            <a:r>
              <a:t>- Benchmark: A mediana agregada muda com o subtipo; o slide preserva a ressalva.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Unidade: um cartão por CNPJ elegível da Carteira I; cada cartão é uma única caixa de texto nomeada pelo CNPJ para reorganização manual.</a:t>
            </a:r>
          </a:p>
          <a:p xmlns:a="http://schemas.openxmlformats.org/drawingml/2006/main">
            <a:r>
              <a:t>- Elegibilidade do MVP: Sub/PL atual, piso documental e PL do veículo disponíveis. Casos excluídos permanecem integralmente no workbook e no explorador.</a:t>
            </a:r>
          </a:p>
          <a:p xmlns:a="http://schemas.openxmlformats.org/drawingml/2006/main">
            <a:r>
              <a:t>- O sinal vinho, âmbar ou azul compara Sub/PL atual ao mínimo estrutural somente quando numerador, denominador e tranche são equivalentes; cinza preserva o índice documental sem concluir folga.</a:t>
            </a:r>
          </a:p>
          <a:p xmlns:a="http://schemas.openxmlformats.org/drawingml/2006/main">
            <a:r>
              <a:t>- O asterisco marca categoria editorial, piso total, combinado, calculado, ajustado ou sem equivalência direta; natureza, fórmula, documento e cláusula permanecem por CNPJ no workbook.</a:t>
            </a:r>
          </a:p>
          <a:p xmlns:a="http://schemas.openxmlformats.org/drawingml/2006/main">
            <a:r>
              <a:t>- Benchmark: Amostra abaixo do mínimo configurável de cinco pares.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Unidade: um cartão por CNPJ elegível da Carteira I; cada cartão é uma única caixa de texto nomeada pelo CNPJ para reorganização manual.</a:t>
            </a:r>
          </a:p>
          <a:p xmlns:a="http://schemas.openxmlformats.org/drawingml/2006/main">
            <a:r>
              <a:t>- Elegibilidade do MVP: Sub/PL atual, piso documental e PL do veículo disponíveis. Casos excluídos permanecem integralmente no workbook e no explorador.</a:t>
            </a:r>
          </a:p>
          <a:p xmlns:a="http://schemas.openxmlformats.org/drawingml/2006/main">
            <a:r>
              <a:t>- O sinal vinho, âmbar ou azul compara Sub/PL atual ao mínimo estrutural somente quando numerador, denominador e tranche são equivalentes; cinza preserva o índice documental sem concluir folga.</a:t>
            </a:r>
          </a:p>
          <a:p xmlns:a="http://schemas.openxmlformats.org/drawingml/2006/main">
            <a:r>
              <a:t>- O asterisco marca categoria editorial, piso total, combinado, calculado, ajustado ou sem equivalência direta; natureza, fórmula, documento e cláusula permanecem por CNPJ no workbook.</a:t>
            </a:r>
          </a:p>
          <a:p xmlns:a="http://schemas.openxmlformats.org/drawingml/2006/main">
            <a:r>
              <a:t>- Benchmark: Comparação da Sub/PL atual; mínimos júnior e estrutural permanecem identificados separadamente.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Unidade: um cartão por CNPJ elegível da Carteira I; cada cartão é uma única caixa de texto nomeada pelo CNPJ para reorganização manual.</a:t>
            </a:r>
          </a:p>
          <a:p xmlns:a="http://schemas.openxmlformats.org/drawingml/2006/main">
            <a:r>
              <a:t>- Elegibilidade do MVP: Sub/PL atual, piso documental e PL do veículo disponíveis. Casos excluídos permanecem integralmente no workbook e no explorador.</a:t>
            </a:r>
          </a:p>
          <a:p xmlns:a="http://schemas.openxmlformats.org/drawingml/2006/main">
            <a:r>
              <a:t>- O sinal vinho, âmbar ou azul compara Sub/PL atual ao mínimo estrutural somente quando numerador, denominador e tranche são equivalentes; cinza preserva o índice documental sem concluir folga.</a:t>
            </a:r>
          </a:p>
          <a:p xmlns:a="http://schemas.openxmlformats.org/drawingml/2006/main">
            <a:r>
              <a:t>- O asterisco marca categoria editorial, piso total, combinado, calculado, ajustado ou sem equivalência direta; natureza, fórmula, documento e cláusula permanecem por CNPJ no workbook.</a:t>
            </a:r>
          </a:p>
          <a:p xmlns:a="http://schemas.openxmlformats.org/drawingml/2006/main">
            <a:r>
              <a:t>- Benchmark: Amostra abaixo do mínimo configurável de cinco pares.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oferta_resolucao_160.csv e oferta_distribuicao.csv: https://dados.cvm.gov.br/dataset/oferta-distrib</a:t>
            </a:r>
          </a:p>
          <a:p xmlns:a="http://schemas.openxmlformats.org/drawingml/2006/main">
            <a:r>
              <a:t>- Universo: Cotas de FIDC, ofertas públicas primárias encerradas, todos os ritos disponíveis, valor registrado positivo e data de encerramento no período; 2026 = jan–jun.</a:t>
            </a:r>
          </a:p>
          <a:p xmlns:a="http://schemas.openxmlformats.org/drawingml/2006/main">
            <a:r>
              <a:t>- Métrica: volume = Valor_Total_Registrado; ticket = volume registrado por oferta deduplicada. PF usa quantidade colocada e depende da cobertura do campo.</a:t>
            </a:r>
          </a:p>
          <a:p xmlns:a="http://schemas.openxmlformats.org/drawingml/2006/main">
            <a:r>
              <a:t>- Limitação: valor registrado pode diferir do valor encerrado informado à ANBIMA.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oferta_resolucao_160.csv e oferta_distribuicao.csv: https://dados.cvm.gov.br/dataset/oferta-distrib</a:t>
            </a:r>
          </a:p>
          <a:p xmlns:a="http://schemas.openxmlformats.org/drawingml/2006/main">
            <a:r>
              <a:t>- Universo: Cotas de FIDC, ofertas públicas primárias encerradas, todos os ritos disponíveis, Valor_Total_Registrado positivo e data de encerramento no período; 2024/2025 = FY e 2026 = jan–jun.</a:t>
            </a:r>
          </a:p>
          <a:p xmlns:a="http://schemas.openxmlformats.org/drawingml/2006/main">
            <a:r>
              <a:t>- Limitação: faixas e participações usam o valor registrado, que pode diferir do valor encerrado informado à ANBIMA.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oferta_resolucao_160.csv e oferta_distribuicao.csv: https://dados.cvm.gov.br/dataset/oferta-distrib</a:t>
            </a:r>
          </a:p>
          <a:p xmlns:a="http://schemas.openxmlformats.org/drawingml/2006/main">
            <a:r>
              <a:t>- Universo: Cotas de FIDC, ofertas públicas primárias encerradas, todos os ritos disponíveis, Valor_Total_Registrado positivo e data de encerramento no período; 2026 = jan–jun.</a:t>
            </a:r>
          </a:p>
          <a:p xmlns:a="http://schemas.openxmlformats.org/drawingml/2006/main">
            <a:r>
              <a:t>- Métrica: regime de colocação conforme declarado na oferta; campo ausente nos arquivos consultados = Não informado.</a:t>
            </a:r>
          </a:p>
          <a:p xmlns:a="http://schemas.openxmlformats.org/drawingml/2006/main">
            <a:r>
              <a:t>- Comparação YTD: garantia firme R$ 10,4 bi em jan–jun/25 e R$ 14,3 bi em jan–jun/26; variação 37,3%. Melhores esforços representam 69,2% do volume atual.</a:t>
            </a:r>
          </a:p>
          <a:p xmlns:a="http://schemas.openxmlformats.org/drawingml/2006/main">
            <a:r>
              <a:t>- Limitação: volume registrado pode diferir do valor encerrado informado à ANBIMA.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oferta_resolucao_160.csv e oferta_distribuicao.csv: https://dados.cvm.gov.br/dataset/oferta-distrib</a:t>
            </a:r>
          </a:p>
          <a:p xmlns:a="http://schemas.openxmlformats.org/drawingml/2006/main">
            <a:r>
              <a:t>- FundosNet/B3 — mesma curadoria documental flagship; fontes linha a linha na aba Auditoria emissões.</a:t>
            </a:r>
          </a:p>
          <a:p xmlns:a="http://schemas.openxmlformats.org/drawingml/2006/main">
            <a:r>
              <a:t>- Universo: Cotas de FIDC, ofertas públicas primárias encerradas, todos os ritos disponíveis, Valor_Total_Registrado positivo e data de encerramento no período; snapshot CVM 24/jul/26.</a:t>
            </a:r>
          </a:p>
          <a:p xmlns:a="http://schemas.openxmlformats.org/drawingml/2006/main">
            <a:r>
              <a:t>- Limitação: campo sem vínculo documental suficiente permanece N/D; o volume registrado pode diferir do valor encerrado informado à ANBIMA.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oferta_resolucao_160.csv e oferta_distribuicao.csv: https://dados.cvm.gov.br/dataset/oferta-distrib</a:t>
            </a:r>
          </a:p>
          <a:p xmlns:a="http://schemas.openxmlformats.org/drawingml/2006/main">
            <a:r>
              <a:t>- FundosNet/B3 — mesma curadoria documental flagship; fontes linha a linha na aba Auditoria emissões.</a:t>
            </a:r>
          </a:p>
          <a:p xmlns:a="http://schemas.openxmlformats.org/drawingml/2006/main">
            <a:r>
              <a:t>- Universo: Cotas de FIDC, ofertas públicas primárias encerradas, todos os ritos disponíveis, Valor_Total_Registrado positivo e data de encerramento no período; snapshot CVM 24/jul/26.</a:t>
            </a:r>
          </a:p>
          <a:p xmlns:a="http://schemas.openxmlformats.org/drawingml/2006/main">
            <a:r>
              <a:t>- Limitação: campo sem vínculo documental suficiente permanece N/D; o volume registrado pode diferir do valor encerrado informado à ANBIMA.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oferta_resolucao_160.csv e oferta_distribuicao.csv: https://dados.cvm.gov.br/dataset/oferta-distrib</a:t>
            </a:r>
          </a:p>
          <a:p xmlns:a="http://schemas.openxmlformats.org/drawingml/2006/main">
            <a:r>
              <a:t>- FundosNet/B3 — mesma curadoria documental flagship; fontes linha a linha na aba Auditoria emissões.</a:t>
            </a:r>
          </a:p>
          <a:p xmlns:a="http://schemas.openxmlformats.org/drawingml/2006/main">
            <a:r>
              <a:t>- Universo: Cotas de FIDC, ofertas públicas primárias encerradas, todos os ritos disponíveis, Valor_Total_Registrado positivo e data de encerramento no período; snapshot CVM 24/jul/26.</a:t>
            </a:r>
          </a:p>
          <a:p xmlns:a="http://schemas.openxmlformats.org/drawingml/2006/main">
            <a:r>
              <a:t>- Limitação: rating sem documento público verificável ou sem vínculo exato = N/D.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oferta_resolucao_160.csv e oferta_distribuicao.csv: https://dados.cvm.gov.br/dataset/oferta-distrib</a:t>
            </a:r>
          </a:p>
          <a:p xmlns:a="http://schemas.openxmlformats.org/drawingml/2006/main">
            <a:r>
              <a:t>- FundosNet/B3 — mesma curadoria documental flagship; fontes linha a linha na aba Auditoria emissões.</a:t>
            </a:r>
          </a:p>
          <a:p xmlns:a="http://schemas.openxmlformats.org/drawingml/2006/main">
            <a:r>
              <a:t>- Universo: Cotas de FIDC, ofertas públicas primárias encerradas, todos os ritos disponíveis, Valor_Total_Registrado positivo e data de encerramento no período; snapshot CVM 24/jul/26.</a:t>
            </a:r>
          </a:p>
          <a:p xmlns:a="http://schemas.openxmlformats.org/drawingml/2006/main">
            <a:r>
              <a:t>- Limitação: rating sem documento público verificável ou sem vínculo exato = N/D.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oferta_resolucao_160.csv e oferta_distribuicao.csv: https://dados.cvm.gov.br/dataset/oferta-distrib</a:t>
            </a:r>
          </a:p>
          <a:p xmlns:a="http://schemas.openxmlformats.org/drawingml/2006/main">
            <a:r>
              <a:t>- FundosNet/B3 — mesma curadoria documental flagship; fontes linha a linha na aba Auditoria emissões.</a:t>
            </a:r>
          </a:p>
          <a:p xmlns:a="http://schemas.openxmlformats.org/drawingml/2006/main">
            <a:r>
              <a:t>- Universo: Cotas de FIDC, ofertas públicas primárias encerradas, todos os ritos disponíveis, Valor_Total_Registrado positivo e data de encerramento no período; snapshot CVM 24/jul/26.</a:t>
            </a:r>
          </a:p>
          <a:p xmlns:a="http://schemas.openxmlformats.org/drawingml/2006/main">
            <a:r>
              <a:t>- Limitação: rating sem documento público verificável ou sem vínculo exato = N/D.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oferta_resolucao_160.csv e oferta_distribuicao.csv: https://dados.cvm.gov.br/dataset/oferta-distrib</a:t>
            </a:r>
          </a:p>
          <a:p xmlns:a="http://schemas.openxmlformats.org/drawingml/2006/main">
            <a:r>
              <a:t>- FundosNet/B3 — mesma curadoria documental flagship; fontes linha a linha na aba Auditoria emissões.</a:t>
            </a:r>
          </a:p>
          <a:p xmlns:a="http://schemas.openxmlformats.org/drawingml/2006/main">
            <a:r>
              <a:t>- Universo: Cotas de FIDC, ofertas públicas primárias encerradas, todos os ritos disponíveis, Valor_Total_Registrado positivo e data de encerramento no período; snapshot CVM 24/jul/26.</a:t>
            </a:r>
          </a:p>
          <a:p xmlns:a="http://schemas.openxmlformats.org/drawingml/2006/main">
            <a:r>
              <a:t>- Limitação: rating sem documento público verificável ou sem vínculo exato = N/D.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análises granulares de ofertas públicas primárias encerradas, todos os ritos disponíveis, volume registrado; 2026 = jan–jun: https://dados.cvm.gov.br/dataset/oferta-distrib</a:t>
            </a:r>
          </a:p>
          <a:p xmlns:a="http://schemas.openxmlformats.org/drawingml/2006/main">
            <a:r>
              <a:t>- ANBIMA — Coletiva de Mercado de Capitais 1S26, valor encerrado, snapshot jun/26; 2026 = jan–jun: https://www.anbima.com.br/data/files/8E/86/DB/07/325AF91098D078F9692BA2A8/Apresentacao%20_%20coletiva%20Mercado%20de%20Capitais%20_%201S26.pdf</a:t>
            </a:r>
          </a:p>
          <a:p xmlns:a="http://schemas.openxmlformats.org/drawingml/2006/main">
            <a:r>
              <a:t>- FundosNet/B3 — evidência documental de ratings; rating sem documento público verificável ou sem vínculo exato = N/D.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oferta_resolucao_160.csv e oferta_distribuicao.csv: https://dados.cvm.gov.br/dataset/oferta-distrib</a:t>
            </a:r>
          </a:p>
          <a:p xmlns:a="http://schemas.openxmlformats.org/drawingml/2006/main">
            <a:r>
              <a:t>- Resolução CVM 30 — categorias de investidor profissional e qualificado: https://conteudo.cvm.gov.br/legislacao/resolucoes/resolucao030.html</a:t>
            </a:r>
          </a:p>
          <a:p xmlns:a="http://schemas.openxmlformats.org/drawingml/2006/main">
            <a:r>
              <a:t>- Universo: Cotas de FIDC, ofertas públicas primárias encerradas, todos os ritos disponíveis, valor registrado positivo e data de encerramento no período; 2026 = jan–jun.</a:t>
            </a:r>
          </a:p>
          <a:p xmlns:a="http://schemas.openxmlformats.org/drawingml/2006/main">
            <a:r>
              <a:t>- Limitação: público-alvo mede elegibilidade e não alocação final; não separa pessoa física de pessoa jurídica. Campo ausente em registros legados = N/D.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4ccd26c34d94efd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36924c2188dd4f5f" /><Relationship Type="http://schemas.openxmlformats.org/officeDocument/2006/relationships/slideLayout" Target="/ppt/slideLayouts/slideLayout1.xml" Id="R3c868133a8eb4874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3c868133a8eb4874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Itau BBA FIDC Editorial">
      <a:dk1>
        <a:srgbClr val="151515"/>
      </a:dk1>
      <a:lt1>
        <a:srgbClr val="FFFFFF"/>
      </a:lt1>
      <a:dk2>
        <a:srgbClr val="30353A"/>
      </a:dk2>
      <a:lt2>
        <a:srgbClr val="E7E9EB"/>
      </a:lt2>
      <a:accent1>
        <a:srgbClr val="EC7000"/>
      </a:accent1>
      <a:accent2>
        <a:srgbClr val="151515"/>
      </a:accent2>
      <a:accent3>
        <a:srgbClr val="30353A"/>
      </a:accent3>
      <a:accent4>
        <a:srgbClr val="73787D"/>
      </a:accent4>
      <a:accent5>
        <a:srgbClr val="8D9399"/>
      </a:accent5>
      <a:accent6>
        <a:srgbClr val="D7DADD"/>
      </a:accent6>
      <a:hlink>
        <a:srgbClr val="EC7000"/>
      </a:hlink>
      <a:folHlink>
        <a:srgbClr val="7378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Itau BBA FIDC Editorial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292419d18954fb9" /><Relationship Type="http://schemas.openxmlformats.org/officeDocument/2006/relationships/notesSlide" Target="/ppt/notesSlides/notesSlide1.xml" Id="Rf5f1985f6dfc4d88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c515a29a02b4e67" /><Relationship Type="http://schemas.openxmlformats.org/officeDocument/2006/relationships/chart" Target="/ppt/slides/charts/chart1.xml" Id="Rb1a16e1b5be24b06" /><Relationship Type="http://schemas.openxmlformats.org/officeDocument/2006/relationships/chart" Target="/ppt/slides/charts/chart2.xml" Id="Rf5c2368ac27f4ce1" /><Relationship Type="http://schemas.openxmlformats.org/officeDocument/2006/relationships/chart" Target="/ppt/slides/charts/chart3.xml" Id="R2dcb05b9fd5446d9" /><Relationship Type="http://schemas.openxmlformats.org/officeDocument/2006/relationships/notesSlide" Target="/ppt/notesSlides/notesSlide2.xml" Id="R710f326de3f043b4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1bc33f68dab42aa" /><Relationship Type="http://schemas.openxmlformats.org/officeDocument/2006/relationships/chart" Target="/ppt/slides/charts/chart4.xml" Id="R33ce8e6feaea4573" /><Relationship Type="http://schemas.openxmlformats.org/officeDocument/2006/relationships/chart" Target="/ppt/slides/charts/chart5.xml" Id="Ra8b5631547e44d18" /><Relationship Type="http://schemas.openxmlformats.org/officeDocument/2006/relationships/notesSlide" Target="/ppt/notesSlides/notesSlide3.xml" Id="R05270cc77c914e26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8b39787bddd4744" /><Relationship Type="http://schemas.openxmlformats.org/officeDocument/2006/relationships/chart" Target="/ppt/slides/charts/chart6.xml" Id="Rc5a83a7316014857" /><Relationship Type="http://schemas.openxmlformats.org/officeDocument/2006/relationships/chart" Target="/ppt/slides/charts/chart7.xml" Id="R5788abda985f4e3d" /><Relationship Type="http://schemas.openxmlformats.org/officeDocument/2006/relationships/chart" Target="/ppt/slides/charts/chart8.xml" Id="Rda95daa9683b4ae4" /><Relationship Type="http://schemas.openxmlformats.org/officeDocument/2006/relationships/chart" Target="/ppt/slides/charts/chart9.xml" Id="Ra8d1d50831964378" /><Relationship Type="http://schemas.openxmlformats.org/officeDocument/2006/relationships/notesSlide" Target="/ppt/notesSlides/notesSlide4.xml" Id="Rcd7c3a344c78414d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ba31b0e566c4e7a" /><Relationship Type="http://schemas.openxmlformats.org/officeDocument/2006/relationships/chart" Target="/ppt/slides/charts/chart10.xml" Id="R4dc04051e6184de3" /><Relationship Type="http://schemas.openxmlformats.org/officeDocument/2006/relationships/chart" Target="/ppt/slides/charts/chart11.xml" Id="R12cd0e33555c45bd" /><Relationship Type="http://schemas.openxmlformats.org/officeDocument/2006/relationships/notesSlide" Target="/ppt/notesSlides/notesSlide5.xml" Id="R4baa6463cf4b4182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ecebe23eb9e436e" /><Relationship Type="http://schemas.openxmlformats.org/officeDocument/2006/relationships/chart" Target="/ppt/slides/charts/chart12.xml" Id="R62e26e3e40ea4bb7" /><Relationship Type="http://schemas.openxmlformats.org/officeDocument/2006/relationships/chart" Target="/ppt/slides/charts/chart13.xml" Id="Ra8e40080b9074612" /><Relationship Type="http://schemas.openxmlformats.org/officeDocument/2006/relationships/chart" Target="/ppt/slides/charts/chart14.xml" Id="R7a05ed75d0774a84" /><Relationship Type="http://schemas.openxmlformats.org/officeDocument/2006/relationships/notesSlide" Target="/ppt/notesSlides/notesSlide6.xml" Id="Rb260d6857de94a1d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eb101dfc5d74032" /><Relationship Type="http://schemas.openxmlformats.org/officeDocument/2006/relationships/chart" Target="/ppt/slides/charts/chart15.xml" Id="Rc0153be9e401469f" /><Relationship Type="http://schemas.openxmlformats.org/officeDocument/2006/relationships/chart" Target="/ppt/slides/charts/chart16.xml" Id="Rfffbdb998edf4863" /><Relationship Type="http://schemas.openxmlformats.org/officeDocument/2006/relationships/chart" Target="/ppt/slides/charts/chart17.xml" Id="R2add7a83c889425c" /><Relationship Type="http://schemas.openxmlformats.org/officeDocument/2006/relationships/notesSlide" Target="/ppt/notesSlides/notesSlide7.xml" Id="R6a977c8c3d3e46da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d69d6927d0b4097" /><Relationship Type="http://schemas.openxmlformats.org/officeDocument/2006/relationships/chart" Target="/ppt/slides/charts/chart18.xml" Id="R69287a7a5bb741d8" /><Relationship Type="http://schemas.openxmlformats.org/officeDocument/2006/relationships/chart" Target="/ppt/slides/charts/chart19.xml" Id="R333d5f61a07d44c1" /><Relationship Type="http://schemas.openxmlformats.org/officeDocument/2006/relationships/chart" Target="/ppt/slides/charts/chart20.xml" Id="R85b16bbc40514ae8" /><Relationship Type="http://schemas.openxmlformats.org/officeDocument/2006/relationships/notesSlide" Target="/ppt/notesSlides/notesSlide8.xml" Id="R99cb21aa3b7a4156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5150aa357704ae7" /><Relationship Type="http://schemas.openxmlformats.org/officeDocument/2006/relationships/notesSlide" Target="/ppt/notesSlides/notesSlide9.xml" Id="Rfef67d466c304820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015de0e093e46a2" /><Relationship Type="http://schemas.openxmlformats.org/officeDocument/2006/relationships/notesSlide" Target="/ppt/notesSlides/notesSlide10.xml" Id="R811a2fa7211c4db3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0a1e6b2f9844dba" /><Relationship Type="http://schemas.openxmlformats.org/officeDocument/2006/relationships/notesSlide" Target="/ppt/notesSlides/notesSlide11.xml" Id="Rd0308e0de8c64d0f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05f367a74674997" /><Relationship Type="http://schemas.openxmlformats.org/officeDocument/2006/relationships/notesSlide" Target="/ppt/notesSlides/notesSlide12.xml" Id="R5b9655b32e3c4503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5923ee7010942a5" /><Relationship Type="http://schemas.openxmlformats.org/officeDocument/2006/relationships/notesSlide" Target="/ppt/notesSlides/notesSlide13.xml" Id="R865d06cdb92a497b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d24be89318b456d" /><Relationship Type="http://schemas.openxmlformats.org/officeDocument/2006/relationships/notesSlide" Target="/ppt/notesSlides/notesSlide14.xml" Id="Rb5a143f1a2354ecc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3a4556fd31a4ffb" /><Relationship Type="http://schemas.openxmlformats.org/officeDocument/2006/relationships/notesSlide" Target="/ppt/notesSlides/notesSlide15.xml" Id="Radb55ee075714348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161ed8f7e794dcf" /><Relationship Type="http://schemas.openxmlformats.org/officeDocument/2006/relationships/notesSlide" Target="/ppt/notesSlides/notesSlide16.xml" Id="R46381ef00d724971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3ab214681a346a9" /><Relationship Type="http://schemas.openxmlformats.org/officeDocument/2006/relationships/notesSlide" Target="/ppt/notesSlides/notesSlide17.xml" Id="R42c424663e3b45e8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4e776ef5f294a79" /><Relationship Type="http://schemas.openxmlformats.org/officeDocument/2006/relationships/notesSlide" Target="/ppt/notesSlides/notesSlide18.xml" Id="R00c120b69ca24d9e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602ed370bfe426b" /><Relationship Type="http://schemas.openxmlformats.org/officeDocument/2006/relationships/notesSlide" Target="/ppt/notesSlides/notesSlide19.xml" Id="R588a263615fd4096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4e1acebb77144bf" /><Relationship Type="http://schemas.openxmlformats.org/officeDocument/2006/relationships/notesSlide" Target="/ppt/notesSlides/notesSlide20.xml" Id="Rcedb7c3e3fe34f5d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a191c7e79ea4dfb" /><Relationship Type="http://schemas.openxmlformats.org/officeDocument/2006/relationships/notesSlide" Target="/ppt/notesSlides/notesSlide21.xml" Id="R23333ba5bdeb4035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58fc3d9777b4ced" /><Relationship Type="http://schemas.openxmlformats.org/officeDocument/2006/relationships/notesSlide" Target="/ppt/notesSlides/notesSlide22.xml" Id="R017a07f7033a4a42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e3350a1f91e43ed" /><Relationship Type="http://schemas.openxmlformats.org/officeDocument/2006/relationships/chart" Target="/ppt/slides/charts/chart21.xml" Id="Rdcf68c92a0ee4e86" /><Relationship Type="http://schemas.openxmlformats.org/officeDocument/2006/relationships/chart" Target="/ppt/slides/charts/chart22.xml" Id="Ra499347d92cb4eba" /><Relationship Type="http://schemas.openxmlformats.org/officeDocument/2006/relationships/chart" Target="/ppt/slides/charts/chart23.xml" Id="Rfabaf43058944be0" /><Relationship Type="http://schemas.openxmlformats.org/officeDocument/2006/relationships/notesSlide" Target="/ppt/notesSlides/notesSlide23.xml" Id="R7824728d19bc4dbf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9edbf94db8042cc" /><Relationship Type="http://schemas.openxmlformats.org/officeDocument/2006/relationships/chart" Target="/ppt/slides/charts/chart24.xml" Id="Rf6b911a2a7ae449e" /><Relationship Type="http://schemas.openxmlformats.org/officeDocument/2006/relationships/chart" Target="/ppt/slides/charts/chart25.xml" Id="Rab6bb3d6f41649a3" /><Relationship Type="http://schemas.openxmlformats.org/officeDocument/2006/relationships/chart" Target="/ppt/slides/charts/chart26.xml" Id="R16c8ccc7d78f40ff" /><Relationship Type="http://schemas.openxmlformats.org/officeDocument/2006/relationships/chart" Target="/ppt/slides/charts/chart27.xml" Id="R499b683868e94d28" /><Relationship Type="http://schemas.openxmlformats.org/officeDocument/2006/relationships/notesSlide" Target="/ppt/notesSlides/notesSlide24.xml" Id="R70f70ca64adf4bf5" /></Relationships>
</file>

<file path=ppt/slides/_rels/slide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fb35d55be0a4c09" /><Relationship Type="http://schemas.openxmlformats.org/officeDocument/2006/relationships/chart" Target="/ppt/slides/charts/chart28.xml" Id="R56e933a50e1247e9" /><Relationship Type="http://schemas.openxmlformats.org/officeDocument/2006/relationships/chart" Target="/ppt/slides/charts/chart29.xml" Id="R3490af0ea5b04763" /><Relationship Type="http://schemas.openxmlformats.org/officeDocument/2006/relationships/chart" Target="/ppt/slides/charts/chart30.xml" Id="Rdbe13822f469488f" /><Relationship Type="http://schemas.openxmlformats.org/officeDocument/2006/relationships/chart" Target="/ppt/slides/charts/chart31.xml" Id="Rf5534ed65edd4a81" /><Relationship Type="http://schemas.openxmlformats.org/officeDocument/2006/relationships/chart" Target="/ppt/slides/charts/chart32.xml" Id="Rf86dae36ae94432a" /><Relationship Type="http://schemas.openxmlformats.org/officeDocument/2006/relationships/notesSlide" Target="/ppt/notesSlides/notesSlide25.xml" Id="R4a2e975b16e44eb2" /></Relationships>
</file>

<file path=ppt/slides/_rels/slide2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d3db490b64948e4" /><Relationship Type="http://schemas.openxmlformats.org/officeDocument/2006/relationships/notesSlide" Target="/ppt/notesSlides/notesSlide26.xml" Id="Rdadf7e67b0b040e0" /></Relationships>
</file>

<file path=ppt/slides/_rels/slide2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d9dd233e2644590" /><Relationship Type="http://schemas.openxmlformats.org/officeDocument/2006/relationships/notesSlide" Target="/ppt/notesSlides/notesSlide27.xml" Id="R984e2367f65c4cda" /></Relationships>
</file>

<file path=ppt/slides/_rels/slide2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73ef71805a4455d" /><Relationship Type="http://schemas.openxmlformats.org/officeDocument/2006/relationships/notesSlide" Target="/ppt/notesSlides/notesSlide28.xml" Id="Rb79821bf53d9420d" /></Relationships>
</file>

<file path=ppt/slides/_rels/slide2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f158c69b2b34836" /><Relationship Type="http://schemas.openxmlformats.org/officeDocument/2006/relationships/notesSlide" Target="/ppt/notesSlides/notesSlide29.xml" Id="Rf522b2d296f54884" /></Relationships>
</file>

<file path=ppt/slides/_rels/slide3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d06662d93154a1d" /><Relationship Type="http://schemas.openxmlformats.org/officeDocument/2006/relationships/notesSlide" Target="/ppt/notesSlides/notesSlide30.xml" Id="R00cdcbc060634a38" /></Relationships>
</file>

<file path=ppt/slides/_rels/slide3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d2726c1fca2480d" /><Relationship Type="http://schemas.openxmlformats.org/officeDocument/2006/relationships/notesSlide" Target="/ppt/notesSlides/notesSlide31.xml" Id="R83afccc74be24420" /></Relationships>
</file>

<file path=ppt/slides/_rels/slide3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446c84d288d4159" /><Relationship Type="http://schemas.openxmlformats.org/officeDocument/2006/relationships/notesSlide" Target="/ppt/notesSlides/notesSlide32.xml" Id="R24dc7480c5094f86" /></Relationships>
</file>

<file path=ppt/slides/_rels/slide3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a94edbd39ba445f" /><Relationship Type="http://schemas.openxmlformats.org/officeDocument/2006/relationships/chart" Target="/ppt/slides/charts/chart33.xml" Id="R0c317e23e1314920" /><Relationship Type="http://schemas.openxmlformats.org/officeDocument/2006/relationships/chart" Target="/ppt/slides/charts/chart34.xml" Id="R83be57812f434727" /><Relationship Type="http://schemas.openxmlformats.org/officeDocument/2006/relationships/chart" Target="/ppt/slides/charts/chart35.xml" Id="R53623dea5a4b4829" /><Relationship Type="http://schemas.openxmlformats.org/officeDocument/2006/relationships/chart" Target="/ppt/slides/charts/chart36.xml" Id="Rddcc82ac63004c44" /><Relationship Type="http://schemas.openxmlformats.org/officeDocument/2006/relationships/chart" Target="/ppt/slides/charts/chart37.xml" Id="R83f786b483c24709" /><Relationship Type="http://schemas.openxmlformats.org/officeDocument/2006/relationships/chart" Target="/ppt/slides/charts/chart38.xml" Id="Rd25385c30c3d43f2" /><Relationship Type="http://schemas.openxmlformats.org/officeDocument/2006/relationships/chart" Target="/ppt/slides/charts/chart39.xml" Id="R1fcd74e402e84959" /><Relationship Type="http://schemas.openxmlformats.org/officeDocument/2006/relationships/notesSlide" Target="/ppt/notesSlides/notesSlide33.xml" Id="R9b73b5d9fae1413f" /></Relationships>
</file>

<file path=ppt/slides/_rels/slide3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4d268c14c6b4e76" /><Relationship Type="http://schemas.openxmlformats.org/officeDocument/2006/relationships/chart" Target="/ppt/slides/charts/chart40.xml" Id="Rfbb2b8f489b04721" /><Relationship Type="http://schemas.openxmlformats.org/officeDocument/2006/relationships/chart" Target="/ppt/slides/charts/chart41.xml" Id="R6ef15de0fb65451f" /><Relationship Type="http://schemas.openxmlformats.org/officeDocument/2006/relationships/notesSlide" Target="/ppt/notesSlides/notesSlide34.xml" Id="R3cb6704eb3c542f5" /></Relationships>
</file>

<file path=ppt/slides/_rels/slide3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f0a6fb1b9cb4c83" /><Relationship Type="http://schemas.openxmlformats.org/officeDocument/2006/relationships/chart" Target="/ppt/slides/charts/chart42.xml" Id="R7bb9e8ab16014afd" /><Relationship Type="http://schemas.openxmlformats.org/officeDocument/2006/relationships/chart" Target="/ppt/slides/charts/chart43.xml" Id="R80b45220fe2c43bf" /><Relationship Type="http://schemas.openxmlformats.org/officeDocument/2006/relationships/chart" Target="/ppt/slides/charts/chart44.xml" Id="Rc749c5154dc34b68" /><Relationship Type="http://schemas.openxmlformats.org/officeDocument/2006/relationships/notesSlide" Target="/ppt/notesSlides/notesSlide35.xml" Id="Rfbcfa279ce9a4526" /></Relationships>
</file>

<file path=ppt/slides/_rels/slide3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e6451de013e4e93" /><Relationship Type="http://schemas.openxmlformats.org/officeDocument/2006/relationships/chart" Target="/ppt/slides/charts/chart45.xml" Id="R1de81d0149494fb6" /><Relationship Type="http://schemas.openxmlformats.org/officeDocument/2006/relationships/chart" Target="/ppt/slides/charts/chart46.xml" Id="Rb2604d0cb9d44116" /><Relationship Type="http://schemas.openxmlformats.org/officeDocument/2006/relationships/chart" Target="/ppt/slides/charts/chart47.xml" Id="Rc231eeb3e20d4d89" /><Relationship Type="http://schemas.openxmlformats.org/officeDocument/2006/relationships/chart" Target="/ppt/slides/charts/chart48.xml" Id="R0b4489349bfc4cb9" /><Relationship Type="http://schemas.openxmlformats.org/officeDocument/2006/relationships/chart" Target="/ppt/slides/charts/chart49.xml" Id="Rd949e3930cec4445" /><Relationship Type="http://schemas.openxmlformats.org/officeDocument/2006/relationships/notesSlide" Target="/ppt/notesSlides/notesSlide36.xml" Id="R580b1117ea84479c" /></Relationships>
</file>

<file path=ppt/slides/charts/chart1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clustered"/>
        <c:varyColors val="0"/>
        <c:ser>
          <c:idx val="0"/>
          <c:order val="0"/>
          <c:tx>
            <c:v>FIDCs ex-FIC</c:v>
          </c:tx>
          <c:spPr>
            <a:solidFill>
              <a:srgbClr val="EC7000"/>
            </a:solidFill>
          </c:spPr>
          <c:cat>
            <c:strLit>
              <c:ptCount val="12"/>
              <c:pt idx="0">
                <c:v>2015</c:v>
              </c:pt>
              <c:pt idx="1">
                <c:v>2016</c:v>
              </c:pt>
              <c:pt idx="2">
                <c:v>2017</c:v>
              </c:pt>
              <c:pt idx="3">
                <c:v>2018</c:v>
              </c:pt>
              <c:pt idx="4">
                <c:v>2019</c:v>
              </c:pt>
              <c:pt idx="5">
                <c:v>2020</c:v>
              </c:pt>
              <c:pt idx="6">
                <c:v>2021</c:v>
              </c:pt>
              <c:pt idx="7">
                <c:v>2022</c:v>
              </c:pt>
              <c:pt idx="8">
                <c:v>2023</c:v>
              </c:pt>
              <c:pt idx="9">
                <c:v>2024</c:v>
              </c:pt>
              <c:pt idx="10">
                <c:v>2025</c:v>
              </c:pt>
              <c:pt idx="11">
                <c:v>jun/26</c:v>
              </c:pt>
            </c:strLit>
          </c:cat>
          <c:val>
            <c:numLit>
              <c:formatCode>0.0</c:formatCode>
              <c:ptCount val="12"/>
              <c:pt idx="0">
                <c:v>82.47394622656002</c:v>
              </c:pt>
              <c:pt idx="1">
                <c:v>91.06663976073</c:v>
              </c:pt>
              <c:pt idx="2">
                <c:v>110.17917421320999</c:v>
              </c:pt>
              <c:pt idx="3">
                <c:v>131.15934835309002</c:v>
              </c:pt>
              <c:pt idx="4">
                <c:v>227.71359379045998</c:v>
              </c:pt>
              <c:pt idx="5">
                <c:v>207.20204249441997</c:v>
              </c:pt>
              <c:pt idx="6">
                <c:v>296.00245013669</c:v>
              </c:pt>
              <c:pt idx="7">
                <c:v>361.4746705835</c:v>
              </c:pt>
              <c:pt idx="8">
                <c:v>452.33503972062</c:v>
              </c:pt>
              <c:pt idx="9">
                <c:v>651.4527427988997</c:v>
              </c:pt>
              <c:pt idx="10">
                <c:v>772.1084321980501</c:v>
              </c:pt>
              <c:pt idx="11">
                <c:v>821</c:v>
              </c:pt>
            </c:numLit>
          </c:val>
        </c:ser>
        <c:dLbls>
          <c:txPr>
            <a:bodyPr anchorCtr="1"/>
            <a:lstStyle/>
            <a:p>
              <a:pPr>
                <a:defRPr sz="1200" b="1" lang="pt-BR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2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1000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[&gt;=1000]#\.##0;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200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2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stacked"/>
        <c:varyColors val="0"/>
        <c:ser>
          <c:idx val="0"/>
          <c:order val="0"/>
          <c:tx>
            <c:v>Empréstimos</c:v>
          </c:tx>
          <c:spPr>
            <a:solidFill>
              <a:srgbClr val="30353A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2"/>
              <c:pt idx="0">
                <c:v>2015</c:v>
              </c:pt>
              <c:pt idx="1">
                <c:v>2016</c:v>
              </c:pt>
              <c:pt idx="2">
                <c:v>2017</c:v>
              </c:pt>
              <c:pt idx="3">
                <c:v>2018</c:v>
              </c:pt>
              <c:pt idx="4">
                <c:v>2019</c:v>
              </c:pt>
              <c:pt idx="5">
                <c:v>2020</c:v>
              </c:pt>
              <c:pt idx="6">
                <c:v>2021</c:v>
              </c:pt>
              <c:pt idx="7">
                <c:v>2022</c:v>
              </c:pt>
              <c:pt idx="8">
                <c:v>2023</c:v>
              </c:pt>
              <c:pt idx="9">
                <c:v>2024</c:v>
              </c:pt>
              <c:pt idx="10">
                <c:v>2025</c:v>
              </c:pt>
              <c:pt idx="11">
                <c:v>06/26</c:v>
              </c:pt>
            </c:strLit>
          </c:cat>
          <c:val>
            <c:numLit>
              <c:formatCode>[&gt;=1000]#\.##0;0</c:formatCode>
              <c:ptCount val="12"/>
              <c:pt idx="0">
                <c:v>3362.376</c:v>
              </c:pt>
              <c:pt idx="1">
                <c:v>3266.892</c:v>
              </c:pt>
              <c:pt idx="2">
                <c:v>3270.332</c:v>
              </c:pt>
              <c:pt idx="3">
                <c:v>3455.08</c:v>
              </c:pt>
              <c:pt idx="4">
                <c:v>3677.557</c:v>
              </c:pt>
              <c:pt idx="5">
                <c:v>4239.899</c:v>
              </c:pt>
              <c:pt idx="6">
                <c:v>4906.92</c:v>
              </c:pt>
              <c:pt idx="7">
                <c:v>5628.48</c:v>
              </c:pt>
              <c:pt idx="8">
                <c:v>6088.547</c:v>
              </c:pt>
              <c:pt idx="9">
                <c:v>6758.822</c:v>
              </c:pt>
              <c:pt idx="10">
                <c:v>7454.674</c:v>
              </c:pt>
              <c:pt idx="11">
                <c:v>7666.364</c:v>
              </c:pt>
            </c:numLit>
          </c:val>
        </c:ser>
        <c:ser>
          <c:idx val="1"/>
          <c:order val="1"/>
          <c:tx>
            <c:v>Títulos privados</c:v>
          </c:tx>
          <c:spPr>
            <a:solidFill>
              <a:srgbClr val="8D9399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12"/>
              <c:pt idx="0">
                <c:v>2015</c:v>
              </c:pt>
              <c:pt idx="1">
                <c:v>2016</c:v>
              </c:pt>
              <c:pt idx="2">
                <c:v>2017</c:v>
              </c:pt>
              <c:pt idx="3">
                <c:v>2018</c:v>
              </c:pt>
              <c:pt idx="4">
                <c:v>2019</c:v>
              </c:pt>
              <c:pt idx="5">
                <c:v>2020</c:v>
              </c:pt>
              <c:pt idx="6">
                <c:v>2021</c:v>
              </c:pt>
              <c:pt idx="7">
                <c:v>2022</c:v>
              </c:pt>
              <c:pt idx="8">
                <c:v>2023</c:v>
              </c:pt>
              <c:pt idx="9">
                <c:v>2024</c:v>
              </c:pt>
              <c:pt idx="10">
                <c:v>2025</c:v>
              </c:pt>
              <c:pt idx="11">
                <c:v>06/26</c:v>
              </c:pt>
            </c:strLit>
          </c:cat>
          <c:val>
            <c:numLit>
              <c:formatCode>[&gt;=1000]#\.##0;0</c:formatCode>
              <c:ptCount val="12"/>
              <c:pt idx="0">
                <c:v>245.674</c:v>
              </c:pt>
              <c:pt idx="1">
                <c:v>242.427</c:v>
              </c:pt>
              <c:pt idx="2">
                <c:v>304.747</c:v>
              </c:pt>
              <c:pt idx="3">
                <c:v>354.539</c:v>
              </c:pt>
              <c:pt idx="4">
                <c:v>480.213</c:v>
              </c:pt>
              <c:pt idx="5">
                <c:v>499.564</c:v>
              </c:pt>
              <c:pt idx="6">
                <c:v>635.901</c:v>
              </c:pt>
              <c:pt idx="7">
                <c:v>849.483</c:v>
              </c:pt>
              <c:pt idx="8">
                <c:v>976.105</c:v>
              </c:pt>
              <c:pt idx="9">
                <c:v>1214.121</c:v>
              </c:pt>
              <c:pt idx="10">
                <c:v>1413.637</c:v>
              </c:pt>
              <c:pt idx="11">
                <c:v>1506.688</c:v>
              </c:pt>
            </c:numLit>
          </c:val>
        </c:ser>
        <c:ser>
          <c:idx val="2"/>
          <c:order val="2"/>
          <c:tx>
            <c:v>FIDCs · carteira</c:v>
          </c:tx>
          <c:spPr>
            <a:solidFill>
              <a:srgbClr val="EC7000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2"/>
              <c:pt idx="0">
                <c:v>2015</c:v>
              </c:pt>
              <c:pt idx="1">
                <c:v>2016</c:v>
              </c:pt>
              <c:pt idx="2">
                <c:v>2017</c:v>
              </c:pt>
              <c:pt idx="3">
                <c:v>2018</c:v>
              </c:pt>
              <c:pt idx="4">
                <c:v>2019</c:v>
              </c:pt>
              <c:pt idx="5">
                <c:v>2020</c:v>
              </c:pt>
              <c:pt idx="6">
                <c:v>2021</c:v>
              </c:pt>
              <c:pt idx="7">
                <c:v>2022</c:v>
              </c:pt>
              <c:pt idx="8">
                <c:v>2023</c:v>
              </c:pt>
              <c:pt idx="9">
                <c:v>2024</c:v>
              </c:pt>
              <c:pt idx="10">
                <c:v>2025</c:v>
              </c:pt>
              <c:pt idx="11">
                <c:v>06/26</c:v>
              </c:pt>
            </c:strLit>
          </c:cat>
          <c:val>
            <c:numLit>
              <c:formatCode>[&gt;=1000]#\.##0;0</c:formatCode>
              <c:ptCount val="12"/>
              <c:pt idx="0">
                <c:v>70.69879439891001</c:v>
              </c:pt>
              <c:pt idx="1">
                <c:v>81.9073701812</c:v>
              </c:pt>
              <c:pt idx="2">
                <c:v>95.50993683035</c:v>
              </c:pt>
              <c:pt idx="3">
                <c:v>106.12068752539999</c:v>
              </c:pt>
              <c:pt idx="4">
                <c:v>182.14515826151</c:v>
              </c:pt>
              <c:pt idx="5">
                <c:v>159.9315713704</c:v>
              </c:pt>
              <c:pt idx="6">
                <c:v>250.01323870676</c:v>
              </c:pt>
              <c:pt idx="7">
                <c:v>304.88387968723</c:v>
              </c:pt>
              <c:pt idx="8">
                <c:v>387.79349892013</c:v>
              </c:pt>
              <c:pt idx="9">
                <c:v>549.88571619299</c:v>
              </c:pt>
              <c:pt idx="10">
                <c:v>641.3242789240101</c:v>
              </c:pt>
              <c:pt idx="11">
                <c:v>676.899410153</c:v>
              </c:pt>
            </c:numLit>
          </c:val>
        </c:ser>
        <c:ser>
          <c:idx val="3"/>
          <c:order val="3"/>
          <c:tx>
            <c:v>Outras securitizações</c:v>
          </c:tx>
          <c:spPr>
            <a:solidFill>
              <a:srgbClr val="D7DAD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12"/>
              <c:pt idx="0">
                <c:v>2015</c:v>
              </c:pt>
              <c:pt idx="1">
                <c:v>2016</c:v>
              </c:pt>
              <c:pt idx="2">
                <c:v>2017</c:v>
              </c:pt>
              <c:pt idx="3">
                <c:v>2018</c:v>
              </c:pt>
              <c:pt idx="4">
                <c:v>2019</c:v>
              </c:pt>
              <c:pt idx="5">
                <c:v>2020</c:v>
              </c:pt>
              <c:pt idx="6">
                <c:v>2021</c:v>
              </c:pt>
              <c:pt idx="7">
                <c:v>2022</c:v>
              </c:pt>
              <c:pt idx="8">
                <c:v>2023</c:v>
              </c:pt>
              <c:pt idx="9">
                <c:v>2024</c:v>
              </c:pt>
              <c:pt idx="10">
                <c:v>2025</c:v>
              </c:pt>
              <c:pt idx="11">
                <c:v>06/26</c:v>
              </c:pt>
            </c:strLit>
          </c:cat>
          <c:val>
            <c:numLit>
              <c:formatCode>[&gt;=1000]#\.##0;0</c:formatCode>
              <c:ptCount val="12"/>
              <c:pt idx="0">
                <c:v>72.80420560108999</c:v>
              </c:pt>
              <c:pt idx="1">
                <c:v>91.8096298188</c:v>
              </c:pt>
              <c:pt idx="2">
                <c:v>113.15306316965</c:v>
              </c:pt>
              <c:pt idx="3">
                <c:v>121.5283124746</c:v>
              </c:pt>
              <c:pt idx="4">
                <c:v>128.42384173849</c:v>
              </c:pt>
              <c:pt idx="5">
                <c:v>127.91442862960001</c:v>
              </c:pt>
              <c:pt idx="6">
                <c:v>183.95476129323998</c:v>
              </c:pt>
              <c:pt idx="7">
                <c:v>261.47012031277</c:v>
              </c:pt>
              <c:pt idx="8">
                <c:v>334.01450107987</c:v>
              </c:pt>
              <c:pt idx="9">
                <c:v>444.74928380701</c:v>
              </c:pt>
              <c:pt idx="10">
                <c:v>452.05372107599</c:v>
              </c:pt>
              <c:pt idx="11">
                <c:v>496.839589847</c:v>
              </c:pt>
            </c:numLit>
          </c:val>
        </c:ser>
        <c:ser>
          <c:idx val="4"/>
          <c:order val="4"/>
          <c:tx>
            <c:v>Dívida externa</c:v>
          </c:tx>
          <c:spPr>
            <a:solidFill>
              <a:srgbClr val="E7E9EB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12"/>
              <c:pt idx="0">
                <c:v>2015</c:v>
              </c:pt>
              <c:pt idx="1">
                <c:v>2016</c:v>
              </c:pt>
              <c:pt idx="2">
                <c:v>2017</c:v>
              </c:pt>
              <c:pt idx="3">
                <c:v>2018</c:v>
              </c:pt>
              <c:pt idx="4">
                <c:v>2019</c:v>
              </c:pt>
              <c:pt idx="5">
                <c:v>2020</c:v>
              </c:pt>
              <c:pt idx="6">
                <c:v>2021</c:v>
              </c:pt>
              <c:pt idx="7">
                <c:v>2022</c:v>
              </c:pt>
              <c:pt idx="8">
                <c:v>2023</c:v>
              </c:pt>
              <c:pt idx="9">
                <c:v>2024</c:v>
              </c:pt>
              <c:pt idx="10">
                <c:v>2025</c:v>
              </c:pt>
              <c:pt idx="11">
                <c:v>06/26</c:v>
              </c:pt>
            </c:strLit>
          </c:cat>
          <c:val>
            <c:numLit>
              <c:formatCode>[&gt;=1000]#\.##0;0</c:formatCode>
              <c:ptCount val="12"/>
              <c:pt idx="0">
                <c:v>1996.897</c:v>
              </c:pt>
              <c:pt idx="1">
                <c:v>1735.5</c:v>
              </c:pt>
              <c:pt idx="2">
                <c:v>1743.734</c:v>
              </c:pt>
              <c:pt idx="3">
                <c:v>1982.893</c:v>
              </c:pt>
              <c:pt idx="4">
                <c:v>2075.703</c:v>
              </c:pt>
              <c:pt idx="5">
                <c:v>2566.911</c:v>
              </c:pt>
              <c:pt idx="6">
                <c:v>2820.561</c:v>
              </c:pt>
              <c:pt idx="7">
                <c:v>2714.754</c:v>
              </c:pt>
              <c:pt idx="8">
                <c:v>2713.732</c:v>
              </c:pt>
              <c:pt idx="9">
                <c:v>3408.391</c:v>
              </c:pt>
              <c:pt idx="10">
                <c:v>3405.938</c:v>
              </c:pt>
              <c:pt idx="11">
                <c:v>3432.857</c:v>
              </c:pt>
            </c:numLit>
          </c:val>
        </c:ser>
        <c:gapWidth val="10"/>
        <c:overlap val="100"/>
        <c:axId val="48650112"/>
        <c:axId val="48672768"/>
      </c:barChart>
      <c:lineChart>
        <c:grouping val="standard"/>
        <c:varyColors val="0"/>
        <c:ser>
          <c:idx val="5"/>
          <c:order val="5"/>
          <c:tx>
            <c:v>Total</c:v>
          </c:tx>
          <c:spPr>
            <a:ln>
              <a:noFill/>
            </a:ln>
          </c:spPr>
          <c:marker>
            <c:symbol val="none"/>
            <c:size val="2"/>
          </c:marker>
          <c:dLbls>
            <c:dLblPos val="t"/>
            <c:numFmt formatCode="[&gt;=1000]#\.##0;0" sourceLinked="0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txPr>
              <a:bodyPr/>
              <a:lstStyle/>
              <a:p>
                <a:pPr>
                  <a:defRPr sz="1200" b="1" lang="pt-BR">
                    <a:latin typeface="Arial"/>
                    <a:ea typeface="Arial"/>
                    <a:cs typeface="Arial"/>
                  </a:defRPr>
                </a:pPr>
                <a:endParaRPr lang="pt-BR"/>
              </a:p>
            </c:txPr>
          </c:dLbls>
          <c:cat>
            <c:strLit>
              <c:ptCount val="12"/>
              <c:pt idx="0">
                <c:v>2015</c:v>
              </c:pt>
              <c:pt idx="1">
                <c:v>2016</c:v>
              </c:pt>
              <c:pt idx="2">
                <c:v>2017</c:v>
              </c:pt>
              <c:pt idx="3">
                <c:v>2018</c:v>
              </c:pt>
              <c:pt idx="4">
                <c:v>2019</c:v>
              </c:pt>
              <c:pt idx="5">
                <c:v>2020</c:v>
              </c:pt>
              <c:pt idx="6">
                <c:v>2021</c:v>
              </c:pt>
              <c:pt idx="7">
                <c:v>2022</c:v>
              </c:pt>
              <c:pt idx="8">
                <c:v>2023</c:v>
              </c:pt>
              <c:pt idx="9">
                <c:v>2024</c:v>
              </c:pt>
              <c:pt idx="10">
                <c:v>2025</c:v>
              </c:pt>
              <c:pt idx="11">
                <c:v>06/26</c:v>
              </c:pt>
            </c:strLit>
          </c:cat>
          <c:val>
            <c:numLit>
              <c:formatCode>0</c:formatCode>
              <c:ptCount val="12"/>
              <c:pt idx="0">
                <c:v>5748.45</c:v>
              </c:pt>
              <c:pt idx="1">
                <c:v>5418.536</c:v>
              </c:pt>
              <c:pt idx="2">
                <c:v>5527.476</c:v>
              </c:pt>
              <c:pt idx="3">
                <c:v>6020.161</c:v>
              </c:pt>
              <c:pt idx="4">
                <c:v>6544.042</c:v>
              </c:pt>
              <c:pt idx="5">
                <c:v>7594.22</c:v>
              </c:pt>
              <c:pt idx="6">
                <c:v>8797.35</c:v>
              </c:pt>
              <c:pt idx="7">
                <c:v>9759.071</c:v>
              </c:pt>
              <c:pt idx="8">
                <c:v>10500.192</c:v>
              </c:pt>
              <c:pt idx="9">
                <c:v>12375.969</c:v>
              </c:pt>
              <c:pt idx="10">
                <c:v>13367.627</c:v>
              </c:pt>
              <c:pt idx="11">
                <c:v>13779.648</c:v>
              </c:pt>
            </c:numLit>
          </c:val>
          <c:smooth val="0"/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14000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[&gt;=1000]#\.##0;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5000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3.xml><?xml version="1.0" encoding="utf-8"?>
<c:chartSpace xmlns:a="http://schemas.openxmlformats.org/drawingml/2006/main" xmlns:c="http://schemas.openxmlformats.org/drawingml/2006/chart">
  <c:lang val="pt-BR"/>
  <c:chart>
    <c:plotArea>
      <c:lineChart>
        <c:grouping val="standard"/>
        <c:ser>
          <c:idx val="0"/>
          <c:order val="0"/>
          <c:tx>
            <c:v>Empréstimos</c:v>
          </c:tx>
          <c:spPr>
            <a:ln w="28575">
              <a:solidFill>
                <a:srgbClr val="30353A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1"/>
          <c:order val="1"/>
          <c:tx>
            <c:v>Tít. privados</c:v>
          </c:tx>
          <c:spPr>
            <a:ln w="28575">
              <a:solidFill>
                <a:srgbClr val="8D9399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2"/>
          <c:order val="2"/>
          <c:tx>
            <c:v>FIDCs</c:v>
          </c:tx>
          <c:spPr>
            <a:ln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3"/>
          <c:order val="3"/>
          <c:tx>
            <c:v>Outras securitizações</c:v>
          </c:tx>
          <c:spPr>
            <a:ln w="28575">
              <a:solidFill>
                <a:srgbClr val="D7DADD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4"/>
          <c:order val="4"/>
          <c:tx>
            <c:v>Dívida externa</c:v>
          </c:tx>
          <c:spPr>
            <a:ln w="28575">
              <a:solidFill>
                <a:srgbClr val="E7E9EB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1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1000" lang="pt-BR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4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clustered"/>
        <c:varyColors val="0"/>
        <c:ser>
          <c:idx val="0"/>
          <c:order val="0"/>
          <c:tx>
            <c:v>FIDCs</c:v>
          </c:tx>
          <c:spPr>
            <a:solidFill>
              <a:srgbClr val="EC7000"/>
            </a:solidFill>
          </c:spPr>
          <c:cat>
            <c:strLit>
              <c:ptCount val="4"/>
              <c:pt idx="0">
                <c:v>2023FY</c:v>
              </c:pt>
              <c:pt idx="1">
                <c:v>2024FY</c:v>
              </c:pt>
              <c:pt idx="2">
                <c:v>2025FY</c:v>
              </c:pt>
              <c:pt idx="3">
                <c:v>2026 jan–jun</c:v>
              </c:pt>
            </c:strLit>
          </c:cat>
          <c:val>
            <c:numLit>
              <c:formatCode>0</c:formatCode>
              <c:ptCount val="4"/>
              <c:pt idx="0">
                <c:v>43.74614019622497</c:v>
              </c:pt>
              <c:pt idx="1">
                <c:v>95.41672613375</c:v>
              </c:pt>
              <c:pt idx="2">
                <c:v>116.92131905477001</c:v>
              </c:pt>
              <c:pt idx="3">
                <c:v>65.48811898356</c:v>
              </c:pt>
            </c:numLit>
          </c:val>
        </c:ser>
        <c:ser>
          <c:idx val="1"/>
          <c:order val="1"/>
          <c:tx>
            <c:v>Demais elegíveis</c:v>
          </c:tx>
          <c:spPr>
            <a:solidFill>
              <a:srgbClr val="30353A"/>
            </a:solidFill>
          </c:spPr>
          <c:cat>
            <c:strLit>
              <c:ptCount val="4"/>
              <c:pt idx="0">
                <c:v>2023FY</c:v>
              </c:pt>
              <c:pt idx="1">
                <c:v>2024FY</c:v>
              </c:pt>
              <c:pt idx="2">
                <c:v>2025FY</c:v>
              </c:pt>
              <c:pt idx="3">
                <c:v>2026 jan–jun</c:v>
              </c:pt>
            </c:strLit>
          </c:cat>
          <c:val>
            <c:numLit>
              <c:formatCode>0</c:formatCode>
              <c:ptCount val="4"/>
              <c:pt idx="0">
                <c:v>353.4478795703001</c:v>
              </c:pt>
              <c:pt idx="1">
                <c:v>628.73334224723</c:v>
              </c:pt>
              <c:pt idx="2">
                <c:v>656.0946706342701</c:v>
              </c:pt>
              <c:pt idx="3">
                <c:v>246.82887238694</c:v>
              </c:pt>
            </c:numLit>
          </c:val>
        </c:ser>
        <c:dLbls>
          <c:txPr>
            <a:bodyPr anchorCtr="1"/>
            <a:lstStyle/>
            <a:p>
              <a:pPr>
                <a:defRPr sz="1200" b="1" lang="pt-BR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1000" lang="pt-BR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5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clustered"/>
        <c:varyColors val="0"/>
        <c:ser>
          <c:idx val="0"/>
          <c:order val="0"/>
          <c:tx>
            <c:v>Debêntures</c:v>
          </c:tx>
          <c:spPr>
            <a:solidFill>
              <a:srgbClr val="151515"/>
            </a:solidFill>
          </c:spPr>
          <c:cat>
            <c:strLit>
              <c:ptCount val="4"/>
              <c:pt idx="0">
                <c:v>2023 FY</c:v>
              </c:pt>
              <c:pt idx="1">
                <c:v>2024 FY</c:v>
              </c:pt>
              <c:pt idx="2">
                <c:v>2025 FY</c:v>
              </c:pt>
              <c:pt idx="3">
                <c:v>2026 jan–jun</c:v>
              </c:pt>
            </c:strLit>
          </c:cat>
          <c:val>
            <c:numLit>
              <c:formatCode>0.0</c:formatCode>
              <c:ptCount val="4"/>
              <c:pt idx="0">
                <c:v>236.61663924185</c:v>
              </c:pt>
              <c:pt idx="1">
                <c:v>474.3602899026376</c:v>
              </c:pt>
              <c:pt idx="2">
                <c:v>493.39007310800173</c:v>
              </c:pt>
              <c:pt idx="3">
                <c:v>169.8</c:v>
              </c:pt>
            </c:numLit>
          </c:val>
        </c:ser>
        <c:ser>
          <c:idx val="1"/>
          <c:order val="1"/>
          <c:tx>
            <c:v>FIDCs</c:v>
          </c:tx>
          <c:spPr>
            <a:solidFill>
              <a:srgbClr val="EC7000"/>
            </a:solidFill>
          </c:spPr>
          <c:cat>
            <c:strLit>
              <c:ptCount val="4"/>
              <c:pt idx="0">
                <c:v>2023 FY</c:v>
              </c:pt>
              <c:pt idx="1">
                <c:v>2024 FY</c:v>
              </c:pt>
              <c:pt idx="2">
                <c:v>2025 FY</c:v>
              </c:pt>
              <c:pt idx="3">
                <c:v>2026 jan–jun</c:v>
              </c:pt>
            </c:strLit>
          </c:cat>
          <c:val>
            <c:numLit>
              <c:formatCode>0.0</c:formatCode>
              <c:ptCount val="4"/>
              <c:pt idx="0">
                <c:v>43.74614019622497</c:v>
              </c:pt>
              <c:pt idx="1">
                <c:v>82.86326248207118</c:v>
              </c:pt>
              <c:pt idx="2">
                <c:v>90.98510609270312</c:v>
              </c:pt>
              <c:pt idx="3">
                <c:v>53.1</c:v>
              </c:pt>
            </c:numLit>
          </c:val>
        </c:ser>
        <c:ser>
          <c:idx val="2"/>
          <c:order val="2"/>
          <c:tx>
            <c:v>CRI</c:v>
          </c:tx>
          <c:spPr>
            <a:solidFill>
              <a:srgbClr val="73787D"/>
            </a:solidFill>
          </c:spPr>
          <c:cat>
            <c:strLit>
              <c:ptCount val="4"/>
              <c:pt idx="0">
                <c:v>2023 FY</c:v>
              </c:pt>
              <c:pt idx="1">
                <c:v>2024 FY</c:v>
              </c:pt>
              <c:pt idx="2">
                <c:v>2025 FY</c:v>
              </c:pt>
              <c:pt idx="3">
                <c:v>2026 jan–jun</c:v>
              </c:pt>
            </c:strLit>
          </c:cat>
          <c:val>
            <c:numLit>
              <c:formatCode>0.0</c:formatCode>
              <c:ptCount val="4"/>
              <c:pt idx="0">
                <c:v>47.70970732449912</c:v>
              </c:pt>
              <c:pt idx="1">
                <c:v>61.35438150259683</c:v>
              </c:pt>
              <c:pt idx="2">
                <c:v>49.37089080745136</c:v>
              </c:pt>
              <c:pt idx="3">
                <c:v>20.3</c:v>
              </c:pt>
            </c:numLit>
          </c:val>
        </c:ser>
        <c:ser>
          <c:idx val="3"/>
          <c:order val="3"/>
          <c:tx>
            <c:v>Notas comerciais</c:v>
          </c:tx>
          <c:spPr>
            <a:solidFill>
              <a:srgbClr val="8D9399"/>
            </a:solidFill>
          </c:spPr>
          <c:cat>
            <c:strLit>
              <c:ptCount val="4"/>
              <c:pt idx="0">
                <c:v>2023 FY</c:v>
              </c:pt>
              <c:pt idx="1">
                <c:v>2024 FY</c:v>
              </c:pt>
              <c:pt idx="2">
                <c:v>2025 FY</c:v>
              </c:pt>
              <c:pt idx="3">
                <c:v>2026 jan–jun</c:v>
              </c:pt>
            </c:strLit>
          </c:cat>
          <c:val>
            <c:numLit>
              <c:formatCode>0.0</c:formatCode>
              <c:ptCount val="4"/>
              <c:pt idx="0">
                <c:v>27.907646005</c:v>
              </c:pt>
              <c:pt idx="1">
                <c:v>43.5623695</c:v>
              </c:pt>
              <c:pt idx="2">
                <c:v>51.792395853</c:v>
              </c:pt>
              <c:pt idx="3">
                <c:v>27.1</c:v>
              </c:pt>
            </c:numLit>
          </c:val>
        </c:ser>
        <c:ser>
          <c:idx val="4"/>
          <c:order val="4"/>
          <c:tx>
            <c:v>CRA</c:v>
          </c:tx>
          <c:spPr>
            <a:solidFill>
              <a:srgbClr val="D7DADD"/>
            </a:solidFill>
          </c:spPr>
          <c:cat>
            <c:strLit>
              <c:ptCount val="4"/>
              <c:pt idx="0">
                <c:v>2023 FY</c:v>
              </c:pt>
              <c:pt idx="1">
                <c:v>2024 FY</c:v>
              </c:pt>
              <c:pt idx="2">
                <c:v>2025 FY</c:v>
              </c:pt>
              <c:pt idx="3">
                <c:v>2026 jan–jun</c:v>
              </c:pt>
            </c:strLit>
          </c:cat>
          <c:val>
            <c:numLit>
              <c:formatCode>0.0</c:formatCode>
              <c:ptCount val="4"/>
              <c:pt idx="0">
                <c:v>43.29453785729</c:v>
              </c:pt>
              <c:pt idx="1">
                <c:v>41.564214397</c:v>
              </c:pt>
              <c:pt idx="2">
                <c:v>46.16839518391086</c:v>
              </c:pt>
              <c:pt idx="3">
                <c:v>7.1</c:v>
              </c:pt>
            </c:numLit>
          </c:val>
        </c:ser>
        <c:gapWidth val="34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1000" lang="pt-BR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6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stacked"/>
        <c:varyColors val="0"/>
        <c:ser>
          <c:idx val="0"/>
          <c:order val="0"/>
          <c:tx>
            <c:v>Fomento Mercantil</c:v>
          </c:tx>
          <c:spPr>
            <a:solidFill>
              <a:srgbClr val="73787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56.03754109901</c:v>
              </c:pt>
              <c:pt idx="1">
                <c:v>71.63113667962</c:v>
              </c:pt>
              <c:pt idx="2">
                <c:v>90.9436339225</c:v>
              </c:pt>
              <c:pt idx="3">
                <c:v>95.85624007955</c:v>
              </c:pt>
            </c:numLit>
          </c:val>
        </c:ser>
        <c:ser>
          <c:idx val="1"/>
          <c:order val="1"/>
          <c:tx>
            <c:v>Agro, Indústria e Comércio</c:v>
          </c:tx>
          <c:spPr>
            <a:solidFill>
              <a:srgbClr val="30353A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120.59893179347</c:v>
              </c:pt>
              <c:pt idx="1">
                <c:v>194.42720344778</c:v>
              </c:pt>
              <c:pt idx="2">
                <c:v>185.15696400279998</c:v>
              </c:pt>
              <c:pt idx="3">
                <c:v>209.31443106625</c:v>
              </c:pt>
            </c:numLit>
          </c:val>
        </c:ser>
        <c:ser>
          <c:idx val="2"/>
          <c:order val="2"/>
          <c:tx>
            <c:v>Financeiro</c:v>
          </c:tx>
          <c:spPr>
            <a:solidFill>
              <a:srgbClr val="EC7000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157.14931618562</c:v>
              </c:pt>
              <c:pt idx="1">
                <c:v>215.84746316414999</c:v>
              </c:pt>
              <c:pt idx="2">
                <c:v>277.12147225031</c:v>
              </c:pt>
              <c:pt idx="3">
                <c:v>327.05065731882</c:v>
              </c:pt>
            </c:numLit>
          </c:val>
        </c:ser>
        <c:ser>
          <c:idx val="3"/>
          <c:order val="3"/>
          <c:tx>
            <c:v>Precatórios / ações</c:v>
          </c:tx>
          <c:spPr>
            <a:solidFill>
              <a:srgbClr val="151515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60.250322488660004</c:v>
              </c:pt>
              <c:pt idx="1">
                <c:v>77.69178718646</c:v>
              </c:pt>
              <c:pt idx="2">
                <c:v>99.49780005619</c:v>
              </c:pt>
              <c:pt idx="3">
                <c:v>89.12992821119</c:v>
              </c:pt>
            </c:numLit>
          </c:val>
        </c:ser>
        <c:ser>
          <c:idx val="4"/>
          <c:order val="4"/>
          <c:tx>
            <c:v>Multicedente / multisacado</c:v>
          </c:tx>
          <c:spPr>
            <a:solidFill>
              <a:srgbClr val="8D9399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44.96060014172</c:v>
              </c:pt>
              <c:pt idx="1">
                <c:v>70.64119995794</c:v>
              </c:pt>
              <c:pt idx="2">
                <c:v>98.69731432663</c:v>
              </c:pt>
              <c:pt idx="3">
                <c:v>76.90727390704</c:v>
              </c:pt>
            </c:numLit>
          </c:val>
        </c:ser>
        <c:ser>
          <c:idx val="5"/>
          <c:order val="5"/>
          <c:tx>
            <c:v>Recuperação / NP</c:v>
          </c:tx>
          <c:spPr>
            <a:solidFill>
              <a:srgbClr val="E7E9EB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12.845805303059999</c:v>
              </c:pt>
              <c:pt idx="1">
                <c:v>20.99197649657</c:v>
              </c:pt>
              <c:pt idx="2">
                <c:v>20.60803987316</c:v>
              </c:pt>
              <c:pt idx="3">
                <c:v>21.46433859366</c:v>
              </c:pt>
            </c:numLit>
          </c:val>
        </c:ser>
        <c:ser>
          <c:idx val="6"/>
          <c:order val="6"/>
          <c:tx>
            <c:v>N/D</c:v>
          </c:tx>
          <c:spPr>
            <a:solidFill>
              <a:srgbClr val="D7DAD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0.49252270908</c:v>
              </c:pt>
              <c:pt idx="1">
                <c:v>0.22197586638</c:v>
              </c:pt>
              <c:pt idx="2">
                <c:v>0.08320776646</c:v>
              </c:pt>
              <c:pt idx="3">
                <c:v>1.63869010794</c:v>
              </c:pt>
            </c:numLit>
          </c:val>
        </c:ser>
        <c:dLbls>
          <c:txPr>
            <a:bodyPr anchorCtr="1"/>
            <a:lstStyle/>
            <a:p>
              <a:pPr>
                <a:defRPr sz="1200" lang="pt-BR"/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8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7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percentStacked"/>
        <c:varyColors val="0"/>
        <c:ser>
          <c:idx val="0"/>
          <c:order val="0"/>
          <c:tx>
            <c:v>Fomento Mercantil</c:v>
          </c:tx>
          <c:spPr>
            <a:solidFill>
              <a:srgbClr val="73787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0.12388503250515592</c:v>
              </c:pt>
              <c:pt idx="1">
                <c:v>0.10995599829983699</c:v>
              </c:pt>
              <c:pt idx="2">
                <c:v>0.11778609082612954</c:v>
              </c:pt>
              <c:pt idx="3">
                <c:v>0.11670407385884678</c:v>
              </c:pt>
            </c:numLit>
          </c:val>
        </c:ser>
        <c:ser>
          <c:idx val="1"/>
          <c:order val="1"/>
          <c:tx>
            <c:v>Agro, Indústria e Comércio</c:v>
          </c:tx>
          <c:spPr>
            <a:solidFill>
              <a:srgbClr val="30353A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0.26661417136279486</c:v>
              </c:pt>
              <c:pt idx="1">
                <c:v>0.29845173820658644</c:v>
              </c:pt>
              <c:pt idx="2">
                <c:v>0.23980694457084523</c:v>
              </c:pt>
              <c:pt idx="3">
                <c:v>0.25483835796820054</c:v>
              </c:pt>
            </c:numLit>
          </c:val>
        </c:ser>
        <c:ser>
          <c:idx val="2"/>
          <c:order val="2"/>
          <c:tx>
            <c:v>Financeiro</c:v>
          </c:tx>
          <c:spPr>
            <a:solidFill>
              <a:srgbClr val="EC7000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0.3474179587826794</c:v>
              </c:pt>
              <c:pt idx="1">
                <c:v>0.33133249579514157</c:v>
              </c:pt>
              <c:pt idx="2">
                <c:v>0.35891522575578716</c:v>
              </c:pt>
              <c:pt idx="3">
                <c:v>0.39818110991673206</c:v>
              </c:pt>
            </c:numLit>
          </c:val>
        </c:ser>
        <c:ser>
          <c:idx val="3"/>
          <c:order val="3"/>
          <c:tx>
            <c:v>Precatórios / ações</c:v>
          </c:tx>
          <c:spPr>
            <a:solidFill>
              <a:srgbClr val="151515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0.13319844185821417</c:v>
              </c:pt>
              <c:pt idx="1">
                <c:v>0.11925928326384075</c:v>
              </c:pt>
              <c:pt idx="2">
                <c:v>0.1288650607958498</c:v>
              </c:pt>
              <c:pt idx="3">
                <c:v>0.10851485220325846</c:v>
              </c:pt>
            </c:numLit>
          </c:val>
        </c:ser>
        <c:ser>
          <c:idx val="4"/>
          <c:order val="4"/>
          <c:tx>
            <c:v>Multicedente / multisacado</c:v>
          </c:tx>
          <c:spPr>
            <a:solidFill>
              <a:srgbClr val="8D9399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0.09939667766947581</c:v>
              </c:pt>
              <c:pt idx="1">
                <c:v>0.10843641497990678</c:v>
              </c:pt>
              <c:pt idx="2">
                <c:v>0.1278283078008318</c:v>
              </c:pt>
              <c:pt idx="3">
                <c:v>0.09363388514802144</c:v>
              </c:pt>
            </c:numLit>
          </c:val>
        </c:ser>
        <c:ser>
          <c:idx val="5"/>
          <c:order val="5"/>
          <c:tx>
            <c:v>Recuperação / NP</c:v>
          </c:tx>
          <c:spPr>
            <a:solidFill>
              <a:srgbClr val="E7E9EB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0.028398872904018393</c:v>
              </c:pt>
              <c:pt idx="1">
                <c:v>0.032223329671435756</c:v>
              </c:pt>
              <c:pt idx="2">
                <c:v>0.026690603306186823</c:v>
              </c:pt>
              <c:pt idx="3">
                <c:v>0.02613263105758103</c:v>
              </c:pt>
            </c:numLit>
          </c:val>
        </c:ser>
        <c:ser>
          <c:idx val="6"/>
          <c:order val="6"/>
          <c:tx>
            <c:v>N/D</c:v>
          </c:tx>
          <c:spPr>
            <a:solidFill>
              <a:srgbClr val="D7DAD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0.0010888449176614783</c:v>
              </c:pt>
              <c:pt idx="1">
                <c:v>0.0003407397832516652</c:v>
              </c:pt>
              <c:pt idx="2">
                <c:v>0.00010776694436961769</c:v>
              </c:pt>
              <c:pt idx="3">
                <c:v>0.001995089847359775</c:v>
              </c:pt>
            </c:numLit>
          </c:val>
        </c:ser>
        <c:dLbls>
          <c:txPr>
            <a:bodyPr anchorCtr="1"/>
            <a:lstStyle/>
            <a:p>
              <a:pPr>
                <a:defRPr sz="1200" lang="pt-BR"/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8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1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25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8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stacked"/>
        <c:varyColors val="0"/>
        <c:ser>
          <c:idx val="0"/>
          <c:order val="0"/>
          <c:tx>
            <c:v>Fomento Mercantil</c:v>
          </c:tx>
          <c:spPr>
            <a:solidFill>
              <a:srgbClr val="73787D"/>
            </a:solidFill>
          </c:spPr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</c:formatCode>
              <c:ptCount val="5"/>
              <c:pt idx="0">
                <c:v>4.751893772390955</c:v>
              </c:pt>
              <c:pt idx="1">
                <c:v>10.68514314594</c:v>
              </c:pt>
              <c:pt idx="2">
                <c:v>10.93480114906</c:v>
              </c:pt>
              <c:pt idx="3">
                <c:v>4.1399598732</c:v>
              </c:pt>
              <c:pt idx="4">
                <c:v>7.32031892482</c:v>
              </c:pt>
            </c:numLit>
          </c:val>
        </c:ser>
        <c:ser>
          <c:idx val="1"/>
          <c:order val="1"/>
          <c:tx>
            <c:v>Agro, Indústria e Comércio</c:v>
          </c:tx>
          <c:spPr>
            <a:solidFill>
              <a:srgbClr val="8D9399"/>
            </a:solidFill>
          </c:spPr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</c:formatCode>
              <c:ptCount val="5"/>
              <c:pt idx="0">
                <c:v>10.432998463290515</c:v>
              </c:pt>
              <c:pt idx="1">
                <c:v>21.484603508400003</c:v>
              </c:pt>
              <c:pt idx="2">
                <c:v>28.71965699961</c:v>
              </c:pt>
              <c:pt idx="3">
                <c:v>19.39381267632</c:v>
              </c:pt>
              <c:pt idx="4">
                <c:v>9.78363727233</c:v>
              </c:pt>
            </c:numLit>
          </c:val>
        </c:ser>
        <c:ser>
          <c:idx val="2"/>
          <c:order val="2"/>
          <c:tx>
            <c:v>Financeiro</c:v>
          </c:tx>
          <c:spPr>
            <a:solidFill>
              <a:srgbClr val="EC7000"/>
            </a:solidFill>
          </c:spPr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</c:formatCode>
              <c:ptCount val="5"/>
              <c:pt idx="0">
                <c:v>17.13055294499981</c:v>
              </c:pt>
              <c:pt idx="1">
                <c:v>44.66609152533</c:v>
              </c:pt>
              <c:pt idx="2">
                <c:v>51.12676092368</c:v>
              </c:pt>
              <c:pt idx="3">
                <c:v>21.12168209032</c:v>
              </c:pt>
              <c:pt idx="4">
                <c:v>39.32799902597</c:v>
              </c:pt>
            </c:numLit>
          </c:val>
        </c:ser>
        <c:ser>
          <c:idx val="3"/>
          <c:order val="3"/>
          <c:tx>
            <c:v>Outros</c:v>
          </c:tx>
          <c:spPr>
            <a:solidFill>
              <a:srgbClr val="D7DADD"/>
            </a:solidFill>
          </c:spPr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</c:formatCode>
              <c:ptCount val="5"/>
              <c:pt idx="0">
                <c:v>8.566133770094378</c:v>
              </c:pt>
              <c:pt idx="1">
                <c:v>11.55076395418</c:v>
              </c:pt>
              <c:pt idx="2">
                <c:v>15.6821287893</c:v>
              </c:pt>
              <c:pt idx="3">
                <c:v>7.79214732856</c:v>
              </c:pt>
              <c:pt idx="4">
                <c:v>6.24278421138</c:v>
              </c:pt>
            </c:numLit>
          </c:val>
        </c:ser>
        <c:dLbls>
          <c:txPr>
            <a:bodyPr anchorCtr="1"/>
            <a:lstStyle/>
            <a:p>
              <a:pPr>
                <a:defRPr sz="1200" lang="pt-BR">
                  <a:solidFill>
                    <a:srgbClr val="151515"/>
                  </a:solidFill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1000" lang="pt-BR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9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percentStacked"/>
        <c:varyColors val="0"/>
        <c:ser>
          <c:idx val="0"/>
          <c:order val="0"/>
          <c:tx>
            <c:v>Fomento Mercantil</c:v>
          </c:tx>
          <c:spPr>
            <a:solidFill>
              <a:srgbClr val="73787D"/>
            </a:solidFill>
          </c:spPr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0.0%</c:formatCode>
              <c:ptCount val="5"/>
              <c:pt idx="0">
                <c:v>0.1162355734379187</c:v>
              </c:pt>
              <c:pt idx="1">
                <c:v>0.1208909822074474</c:v>
              </c:pt>
              <c:pt idx="2">
                <c:v>0.1027095368376905</c:v>
              </c:pt>
              <c:pt idx="3">
                <c:v>0.0789351603852994</c:v>
              </c:pt>
              <c:pt idx="4">
                <c:v>0.1167985537852982</c:v>
              </c:pt>
            </c:numLit>
          </c:val>
        </c:ser>
        <c:ser>
          <c:idx val="1"/>
          <c:order val="1"/>
          <c:tx>
            <c:v>Agro, Indústria e Comércio</c:v>
          </c:tx>
          <c:spPr>
            <a:solidFill>
              <a:srgbClr val="8D9399"/>
            </a:solidFill>
          </c:spPr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0.0%</c:formatCode>
              <c:ptCount val="5"/>
              <c:pt idx="0">
                <c:v>0.2552004773556469</c:v>
              </c:pt>
              <c:pt idx="1">
                <c:v>0.2430753416209434</c:v>
              </c:pt>
              <c:pt idx="2">
                <c:v>0.2697609794962622</c:v>
              </c:pt>
              <c:pt idx="3">
                <c:v>0.3697750125545281</c:v>
              </c:pt>
              <c:pt idx="4">
                <c:v>0.1561017622188069</c:v>
              </c:pt>
            </c:numLit>
          </c:val>
        </c:ser>
        <c:ser>
          <c:idx val="2"/>
          <c:order val="2"/>
          <c:tx>
            <c:v>Financeiro</c:v>
          </c:tx>
          <c:spPr>
            <a:solidFill>
              <a:srgbClr val="EC7000"/>
            </a:solidFill>
          </c:spPr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0.0%</c:formatCode>
              <c:ptCount val="5"/>
              <c:pt idx="0">
                <c:v>0.4190286526268034</c:v>
              </c:pt>
              <c:pt idx="1">
                <c:v>0.5053491190631926</c:v>
              </c:pt>
              <c:pt idx="2">
                <c:v>0.4802287543138286</c:v>
              </c:pt>
              <c:pt idx="3">
                <c:v>0.4027196916085114</c:v>
              </c:pt>
              <c:pt idx="4">
                <c:v>0.627493618335196</c:v>
              </c:pt>
            </c:numLit>
          </c:val>
        </c:ser>
        <c:ser>
          <c:idx val="3"/>
          <c:order val="3"/>
          <c:tx>
            <c:v>Outros</c:v>
          </c:tx>
          <c:spPr>
            <a:solidFill>
              <a:srgbClr val="D7DADD"/>
            </a:solidFill>
          </c:spPr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0.0%</c:formatCode>
              <c:ptCount val="5"/>
              <c:pt idx="0">
                <c:v>0.209535296579631</c:v>
              </c:pt>
              <c:pt idx="1">
                <c:v>0.1306845571084164</c:v>
              </c:pt>
              <c:pt idx="2">
                <c:v>0.1473007293522185</c:v>
              </c:pt>
              <c:pt idx="3">
                <c:v>0.1485701354516612</c:v>
              </c:pt>
              <c:pt idx="4">
                <c:v>0.0996060656606988</c:v>
              </c:pt>
            </c:numLit>
          </c:val>
        </c:ser>
        <c:dLbls>
          <c:txPr>
            <a:bodyPr anchorCtr="1"/>
            <a:lstStyle/>
            <a:p>
              <a:pPr>
                <a:defRPr sz="1200" lang="pt-BR">
                  <a:solidFill>
                    <a:srgbClr val="151515"/>
                  </a:solidFill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1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25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1000" lang="pt-BR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10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stacked"/>
        <c:varyColors val="0"/>
        <c:ser>
          <c:idx val="0"/>
          <c:order val="0"/>
          <c:tx>
            <c:v>Fomento Mercantil</c:v>
          </c:tx>
          <c:spPr>
            <a:solidFill>
              <a:srgbClr val="73787D"/>
            </a:solidFill>
          </c:spPr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</c:formatCode>
              <c:ptCount val="5"/>
              <c:pt idx="0">
                <c:v>4.751893772390955</c:v>
              </c:pt>
              <c:pt idx="1">
                <c:v>10.68514314594</c:v>
              </c:pt>
              <c:pt idx="2">
                <c:v>10.93480114906</c:v>
              </c:pt>
              <c:pt idx="3">
                <c:v>4.1399598732</c:v>
              </c:pt>
              <c:pt idx="4">
                <c:v>7.32031892482</c:v>
              </c:pt>
            </c:numLit>
          </c:val>
        </c:ser>
        <c:ser>
          <c:idx val="1"/>
          <c:order val="1"/>
          <c:tx>
            <c:v>Agro, Indústria e Comércio</c:v>
          </c:tx>
          <c:spPr>
            <a:solidFill>
              <a:srgbClr val="8D9399"/>
            </a:solidFill>
          </c:spPr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</c:formatCode>
              <c:ptCount val="5"/>
              <c:pt idx="0">
                <c:v>10.432998463290515</c:v>
              </c:pt>
              <c:pt idx="1">
                <c:v>21.484603508400003</c:v>
              </c:pt>
              <c:pt idx="2">
                <c:v>28.71965699961</c:v>
              </c:pt>
              <c:pt idx="3">
                <c:v>19.39381267632</c:v>
              </c:pt>
              <c:pt idx="4">
                <c:v>9.78363727233</c:v>
              </c:pt>
            </c:numLit>
          </c:val>
        </c:ser>
        <c:ser>
          <c:idx val="2"/>
          <c:order val="2"/>
          <c:tx>
            <c:v>Financeiro</c:v>
          </c:tx>
          <c:spPr>
            <a:solidFill>
              <a:srgbClr val="EC7000"/>
            </a:solidFill>
          </c:spPr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</c:formatCode>
              <c:ptCount val="5"/>
              <c:pt idx="0">
                <c:v>17.13055294499981</c:v>
              </c:pt>
              <c:pt idx="1">
                <c:v>44.66609152533</c:v>
              </c:pt>
              <c:pt idx="2">
                <c:v>51.12676092368</c:v>
              </c:pt>
              <c:pt idx="3">
                <c:v>21.12168209032</c:v>
              </c:pt>
              <c:pt idx="4">
                <c:v>39.32799902597</c:v>
              </c:pt>
            </c:numLit>
          </c:val>
        </c:ser>
        <c:ser>
          <c:idx val="3"/>
          <c:order val="3"/>
          <c:tx>
            <c:v>Outros</c:v>
          </c:tx>
          <c:spPr>
            <a:solidFill>
              <a:srgbClr val="D7DADD"/>
            </a:solidFill>
          </c:spPr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</c:formatCode>
              <c:ptCount val="5"/>
              <c:pt idx="0">
                <c:v>8.566133770094378</c:v>
              </c:pt>
              <c:pt idx="1">
                <c:v>11.55076395418</c:v>
              </c:pt>
              <c:pt idx="2">
                <c:v>15.6821287893</c:v>
              </c:pt>
              <c:pt idx="3">
                <c:v>7.79214732856</c:v>
              </c:pt>
              <c:pt idx="4">
                <c:v>6.24278421138</c:v>
              </c:pt>
            </c:numLit>
          </c:val>
        </c:ser>
        <c:dLbls>
          <c:txPr>
            <a:bodyPr anchorCtr="1"/>
            <a:lstStyle/>
            <a:p>
              <a:pPr>
                <a:defRPr sz="1200" b="0" lang="pt-BR">
                  <a:solidFill>
                    <a:srgbClr val="151515"/>
                  </a:solidFill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1000" lang="pt-BR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11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percentStacked"/>
        <c:varyColors val="0"/>
        <c:ser>
          <c:idx val="0"/>
          <c:order val="0"/>
          <c:tx>
            <c:v>Fomento Mercantil</c:v>
          </c:tx>
          <c:spPr>
            <a:solidFill>
              <a:srgbClr val="73787D"/>
            </a:solidFill>
          </c:spPr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0.0%</c:formatCode>
              <c:ptCount val="5"/>
              <c:pt idx="0">
                <c:v>0.1162355734379187</c:v>
              </c:pt>
              <c:pt idx="1">
                <c:v>0.1208909822074474</c:v>
              </c:pt>
              <c:pt idx="2">
                <c:v>0.1027095368376905</c:v>
              </c:pt>
              <c:pt idx="3">
                <c:v>0.0789351603852994</c:v>
              </c:pt>
              <c:pt idx="4">
                <c:v>0.1167985537852982</c:v>
              </c:pt>
            </c:numLit>
          </c:val>
        </c:ser>
        <c:ser>
          <c:idx val="1"/>
          <c:order val="1"/>
          <c:tx>
            <c:v>Agro, Indústria e Comércio</c:v>
          </c:tx>
          <c:spPr>
            <a:solidFill>
              <a:srgbClr val="8D9399"/>
            </a:solidFill>
          </c:spPr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0.0%</c:formatCode>
              <c:ptCount val="5"/>
              <c:pt idx="0">
                <c:v>0.2552004773556469</c:v>
              </c:pt>
              <c:pt idx="1">
                <c:v>0.2430753416209434</c:v>
              </c:pt>
              <c:pt idx="2">
                <c:v>0.2697609794962622</c:v>
              </c:pt>
              <c:pt idx="3">
                <c:v>0.3697750125545281</c:v>
              </c:pt>
              <c:pt idx="4">
                <c:v>0.1561017622188069</c:v>
              </c:pt>
            </c:numLit>
          </c:val>
        </c:ser>
        <c:ser>
          <c:idx val="2"/>
          <c:order val="2"/>
          <c:tx>
            <c:v>Financeiro</c:v>
          </c:tx>
          <c:spPr>
            <a:solidFill>
              <a:srgbClr val="EC7000"/>
            </a:solidFill>
          </c:spPr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0.0%</c:formatCode>
              <c:ptCount val="5"/>
              <c:pt idx="0">
                <c:v>0.4190286526268034</c:v>
              </c:pt>
              <c:pt idx="1">
                <c:v>0.5053491190631926</c:v>
              </c:pt>
              <c:pt idx="2">
                <c:v>0.4802287543138286</c:v>
              </c:pt>
              <c:pt idx="3">
                <c:v>0.4027196916085114</c:v>
              </c:pt>
              <c:pt idx="4">
                <c:v>0.627493618335196</c:v>
              </c:pt>
            </c:numLit>
          </c:val>
        </c:ser>
        <c:ser>
          <c:idx val="3"/>
          <c:order val="3"/>
          <c:tx>
            <c:v>Outros</c:v>
          </c:tx>
          <c:spPr>
            <a:solidFill>
              <a:srgbClr val="D7DADD"/>
            </a:solidFill>
          </c:spPr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0.0%</c:formatCode>
              <c:ptCount val="5"/>
              <c:pt idx="0">
                <c:v>0.209535296579631</c:v>
              </c:pt>
              <c:pt idx="1">
                <c:v>0.1306845571084164</c:v>
              </c:pt>
              <c:pt idx="2">
                <c:v>0.1473007293522185</c:v>
              </c:pt>
              <c:pt idx="3">
                <c:v>0.1485701354516612</c:v>
              </c:pt>
              <c:pt idx="4">
                <c:v>0.0996060656606988</c:v>
              </c:pt>
            </c:numLit>
          </c:val>
        </c:ser>
        <c:dLbls>
          <c:txPr>
            <a:bodyPr anchorCtr="1"/>
            <a:lstStyle/>
            <a:p>
              <a:pPr>
                <a:defRPr sz="1200" b="0" lang="pt-BR">
                  <a:solidFill>
                    <a:srgbClr val="151515"/>
                  </a:solidFill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1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25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1000" lang="pt-BR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12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stacked"/>
        <c:varyColors val="0"/>
        <c:ser>
          <c:idx val="0"/>
          <c:order val="0"/>
          <c:tx>
            <c:v>Fomento Mercantil</c:v>
          </c:tx>
          <c:spPr>
            <a:solidFill>
              <a:srgbClr val="73787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56.03754109901</c:v>
              </c:pt>
              <c:pt idx="1">
                <c:v>71.63113667962</c:v>
              </c:pt>
              <c:pt idx="2">
                <c:v>90.9436339225</c:v>
              </c:pt>
              <c:pt idx="3">
                <c:v>95.85624007955</c:v>
              </c:pt>
            </c:numLit>
          </c:val>
        </c:ser>
        <c:ser>
          <c:idx val="1"/>
          <c:order val="1"/>
          <c:tx>
            <c:v>Agro, Indústria e Comércio</c:v>
          </c:tx>
          <c:spPr>
            <a:solidFill>
              <a:srgbClr val="30353A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120.59893179347</c:v>
              </c:pt>
              <c:pt idx="1">
                <c:v>194.42720344778</c:v>
              </c:pt>
              <c:pt idx="2">
                <c:v>185.15696400279998</c:v>
              </c:pt>
              <c:pt idx="3">
                <c:v>209.31443106625</c:v>
              </c:pt>
            </c:numLit>
          </c:val>
        </c:ser>
        <c:ser>
          <c:idx val="2"/>
          <c:order val="2"/>
          <c:tx>
            <c:v>Financeiro</c:v>
          </c:tx>
          <c:spPr>
            <a:solidFill>
              <a:srgbClr val="EC7000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157.14931618562</c:v>
              </c:pt>
              <c:pt idx="1">
                <c:v>215.84746316414999</c:v>
              </c:pt>
              <c:pt idx="2">
                <c:v>277.12147225031</c:v>
              </c:pt>
              <c:pt idx="3">
                <c:v>327.05065731882</c:v>
              </c:pt>
            </c:numLit>
          </c:val>
        </c:ser>
        <c:ser>
          <c:idx val="3"/>
          <c:order val="3"/>
          <c:tx>
            <c:v>Precatórios e/ou Ações Judiciais</c:v>
          </c:tx>
          <c:spPr>
            <a:solidFill>
              <a:srgbClr val="151515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60.250322488660004</c:v>
              </c:pt>
              <c:pt idx="1">
                <c:v>77.69178718646</c:v>
              </c:pt>
              <c:pt idx="2">
                <c:v>99.49780005619</c:v>
              </c:pt>
              <c:pt idx="3">
                <c:v>89.12992821119</c:v>
              </c:pt>
            </c:numLit>
          </c:val>
        </c:ser>
        <c:ser>
          <c:idx val="4"/>
          <c:order val="4"/>
          <c:tx>
            <c:v>Multicedente/Multisacado</c:v>
          </c:tx>
          <c:spPr>
            <a:solidFill>
              <a:srgbClr val="8D9399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44.96060014172</c:v>
              </c:pt>
              <c:pt idx="1">
                <c:v>70.64119995794</c:v>
              </c:pt>
              <c:pt idx="2">
                <c:v>98.69731432663</c:v>
              </c:pt>
              <c:pt idx="3">
                <c:v>76.90727390704</c:v>
              </c:pt>
            </c:numLit>
          </c:val>
        </c:ser>
        <c:ser>
          <c:idx val="5"/>
          <c:order val="5"/>
          <c:tx>
            <c:v>Recuperação / FIDCs NP</c:v>
          </c:tx>
          <c:spPr>
            <a:solidFill>
              <a:srgbClr val="E7E9EB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48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48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48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48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12.845805303059999</c:v>
              </c:pt>
              <c:pt idx="1">
                <c:v>20.99197649657</c:v>
              </c:pt>
              <c:pt idx="2">
                <c:v>20.60803987316</c:v>
              </c:pt>
              <c:pt idx="3">
                <c:v>21.46433859366</c:v>
              </c:pt>
            </c:numLit>
          </c:val>
        </c:ser>
        <c:ser>
          <c:idx val="6"/>
          <c:order val="6"/>
          <c:tx>
            <c:v>N/D</c:v>
          </c:tx>
          <c:spPr>
            <a:solidFill>
              <a:srgbClr val="D7DAD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48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48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48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48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0.49252270908</c:v>
              </c:pt>
              <c:pt idx="1">
                <c:v>0.22197586638</c:v>
              </c:pt>
              <c:pt idx="2">
                <c:v>0.08320776646</c:v>
              </c:pt>
              <c:pt idx="3">
                <c:v>1.63869010794</c:v>
              </c:pt>
            </c:numLit>
          </c:val>
        </c:ser>
        <c:dLbls>
          <c:txPr>
            <a:bodyPr anchorCtr="1"/>
            <a:lstStyle/>
            <a:p>
              <a:pPr>
                <a:defRPr sz="1200" lang="pt-BR"/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2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900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13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percentStacked"/>
        <c:varyColors val="0"/>
        <c:ser>
          <c:idx val="0"/>
          <c:order val="0"/>
          <c:tx>
            <c:v>Fomento Mercantil</c:v>
          </c:tx>
          <c:spPr>
            <a:solidFill>
              <a:srgbClr val="73787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0.12388503250515592</c:v>
              </c:pt>
              <c:pt idx="1">
                <c:v>0.10995599829983699</c:v>
              </c:pt>
              <c:pt idx="2">
                <c:v>0.11778609082612954</c:v>
              </c:pt>
              <c:pt idx="3">
                <c:v>0.11670407385884678</c:v>
              </c:pt>
            </c:numLit>
          </c:val>
        </c:ser>
        <c:ser>
          <c:idx val="1"/>
          <c:order val="1"/>
          <c:tx>
            <c:v>Agro, Indústria e Comércio</c:v>
          </c:tx>
          <c:spPr>
            <a:solidFill>
              <a:srgbClr val="30353A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0.26661417136279486</c:v>
              </c:pt>
              <c:pt idx="1">
                <c:v>0.29845173820658644</c:v>
              </c:pt>
              <c:pt idx="2">
                <c:v>0.23980694457084523</c:v>
              </c:pt>
              <c:pt idx="3">
                <c:v>0.25483835796820054</c:v>
              </c:pt>
            </c:numLit>
          </c:val>
        </c:ser>
        <c:ser>
          <c:idx val="2"/>
          <c:order val="2"/>
          <c:tx>
            <c:v>Financeiro</c:v>
          </c:tx>
          <c:spPr>
            <a:solidFill>
              <a:srgbClr val="EC7000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0.3474179587826794</c:v>
              </c:pt>
              <c:pt idx="1">
                <c:v>0.33133249579514157</c:v>
              </c:pt>
              <c:pt idx="2">
                <c:v>0.35891522575578716</c:v>
              </c:pt>
              <c:pt idx="3">
                <c:v>0.39818110991673206</c:v>
              </c:pt>
            </c:numLit>
          </c:val>
        </c:ser>
        <c:ser>
          <c:idx val="3"/>
          <c:order val="3"/>
          <c:tx>
            <c:v>Precatórios e/ou Ações Judiciais</c:v>
          </c:tx>
          <c:spPr>
            <a:solidFill>
              <a:srgbClr val="151515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0.13319844185821417</c:v>
              </c:pt>
              <c:pt idx="1">
                <c:v>0.11925928326384075</c:v>
              </c:pt>
              <c:pt idx="2">
                <c:v>0.1288650607958498</c:v>
              </c:pt>
              <c:pt idx="3">
                <c:v>0.10851485220325846</c:v>
              </c:pt>
            </c:numLit>
          </c:val>
        </c:ser>
        <c:ser>
          <c:idx val="4"/>
          <c:order val="4"/>
          <c:tx>
            <c:v>Multicedente/Multisacado</c:v>
          </c:tx>
          <c:spPr>
            <a:solidFill>
              <a:srgbClr val="8D9399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0.09939667766947581</c:v>
              </c:pt>
              <c:pt idx="1">
                <c:v>0.10843641497990678</c:v>
              </c:pt>
              <c:pt idx="2">
                <c:v>0.1278283078008318</c:v>
              </c:pt>
              <c:pt idx="3">
                <c:v>0.09363388514802144</c:v>
              </c:pt>
            </c:numLit>
          </c:val>
        </c:ser>
        <c:ser>
          <c:idx val="5"/>
          <c:order val="5"/>
          <c:tx>
            <c:v>Recuperação / FIDCs NP</c:v>
          </c:tx>
          <c:spPr>
            <a:solidFill>
              <a:srgbClr val="E7E9EB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48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48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48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48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0.028398872904018393</c:v>
              </c:pt>
              <c:pt idx="1">
                <c:v>0.032223329671435756</c:v>
              </c:pt>
              <c:pt idx="2">
                <c:v>0.026690603306186823</c:v>
              </c:pt>
              <c:pt idx="3">
                <c:v>0.02613263105758103</c:v>
              </c:pt>
            </c:numLit>
          </c:val>
        </c:ser>
        <c:ser>
          <c:idx val="6"/>
          <c:order val="6"/>
          <c:tx>
            <c:v>N/D</c:v>
          </c:tx>
          <c:spPr>
            <a:solidFill>
              <a:srgbClr val="D7DAD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48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48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48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48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0.0010888449176614783</c:v>
              </c:pt>
              <c:pt idx="1">
                <c:v>0.0003407397832516652</c:v>
              </c:pt>
              <c:pt idx="2">
                <c:v>0.00010776694436961769</c:v>
              </c:pt>
              <c:pt idx="3">
                <c:v>0.001995089847359775</c:v>
              </c:pt>
            </c:numLit>
          </c:val>
        </c:ser>
        <c:dLbls>
          <c:txPr>
            <a:bodyPr anchorCtr="1"/>
            <a:lstStyle/>
            <a:p>
              <a:pPr>
                <a:defRPr sz="1200" lang="pt-BR"/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2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1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2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14.xml><?xml version="1.0" encoding="utf-8"?>
<c:chartSpace xmlns:a="http://schemas.openxmlformats.org/drawingml/2006/main" xmlns:c="http://schemas.openxmlformats.org/drawingml/2006/chart">
  <c:lang val="pt-BR"/>
  <c:chart>
    <c:plotArea>
      <c:lineChart>
        <c:grouping val="standard"/>
        <c:ser>
          <c:idx val="0"/>
          <c:order val="0"/>
          <c:tx>
            <c:v>Fomento Mercantil</c:v>
          </c:tx>
          <c:spPr>
            <a:ln w="28575">
              <a:solidFill>
                <a:srgbClr val="73787D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1"/>
          <c:order val="1"/>
          <c:tx>
            <c:v>Agro, Indústria e Comércio</c:v>
          </c:tx>
          <c:spPr>
            <a:ln w="28575">
              <a:solidFill>
                <a:srgbClr val="30353A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2"/>
          <c:order val="2"/>
          <c:tx>
            <c:v>Financeiro</c:v>
          </c:tx>
          <c:spPr>
            <a:ln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3"/>
          <c:order val="3"/>
          <c:tx>
            <c:v>Precatórios e/ou Ações Judiciais</c:v>
          </c:tx>
          <c:spPr>
            <a:ln w="28575">
              <a:solidFill>
                <a:srgbClr val="151515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4"/>
          <c:order val="4"/>
          <c:tx>
            <c:v>Multicedente/Multisacado</c:v>
          </c:tx>
          <c:spPr>
            <a:ln w="28575">
              <a:solidFill>
                <a:srgbClr val="8D9399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5"/>
          <c:order val="5"/>
          <c:tx>
            <c:v>Recuperação / FIDCs NP</c:v>
          </c:tx>
          <c:spPr>
            <a:ln w="28575">
              <a:solidFill>
                <a:srgbClr val="E7E9EB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6"/>
          <c:order val="6"/>
          <c:tx>
            <c:v>N/D</c:v>
          </c:tx>
          <c:spPr>
            <a:ln w="28575">
              <a:solidFill>
                <a:srgbClr val="D7DADD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1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1000" lang="pt-BR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15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Dez/23</c:v>
          </c:tx>
          <c:spPr>
            <a:solidFill>
              <a:srgbClr val="73787D"/>
            </a:solidFill>
          </c:spPr>
          <c:cat>
            <c:strLit>
              <c:ptCount val="12"/>
              <c:pt idx="0">
                <c:v>Financeiro</c:v>
              </c:pt>
              <c:pt idx="1">
                <c:v>Comercial</c:v>
              </c:pt>
              <c:pt idx="2">
                <c:v>Adquirência</c:v>
              </c:pt>
              <c:pt idx="3">
                <c:v>Industrial</c:v>
              </c:pt>
              <c:pt idx="4">
                <c:v>Serviços</c:v>
              </c:pt>
              <c:pt idx="5">
                <c:v>Setor público</c:v>
              </c:pt>
              <c:pt idx="6">
                <c:v>Ações judiciais</c:v>
              </c:pt>
              <c:pt idx="7">
                <c:v>N/D</c:v>
              </c:pt>
              <c:pt idx="8">
                <c:v>Agronegócio</c:v>
              </c:pt>
              <c:pt idx="9">
                <c:v>Cartão</c:v>
              </c:pt>
              <c:pt idx="10">
                <c:v>Imobiliário</c:v>
              </c:pt>
              <c:pt idx="11">
                <c:v>Factoring</c:v>
              </c:pt>
            </c:strLit>
          </c:cat>
          <c:val>
            <c:numLit>
              <c:formatCode>0.0</c:formatCode>
              <c:ptCount val="12"/>
              <c:pt idx="0">
                <c:v>112.83368367224</c:v>
              </c:pt>
              <c:pt idx="1">
                <c:v>103.39874467744</c:v>
              </c:pt>
              <c:pt idx="2">
                <c:v>51.72285589365</c:v>
              </c:pt>
              <c:pt idx="3">
                <c:v>48.499678</c:v>
              </c:pt>
              <c:pt idx="4">
                <c:v>24.163748261490003</c:v>
              </c:pt>
              <c:pt idx="5">
                <c:v>25.154517560259997</c:v>
              </c:pt>
              <c:pt idx="6">
                <c:v>27.32144595605</c:v>
              </c:pt>
              <c:pt idx="7">
                <c:v>9.90241714442</c:v>
              </c:pt>
              <c:pt idx="8">
                <c:v>17.30426139734</c:v>
              </c:pt>
              <c:pt idx="9">
                <c:v>30.455624762630002</c:v>
              </c:pt>
              <c:pt idx="10">
                <c:v>1.36475726781</c:v>
              </c:pt>
              <c:pt idx="11">
                <c:v>0.21330512728999998</c:v>
              </c:pt>
            </c:numLit>
          </c:val>
        </c:ser>
        <c:ser>
          <c:idx val="1"/>
          <c:order val="1"/>
          <c:tx>
            <c:v>Jun/26</c:v>
          </c:tx>
          <c:spPr>
            <a:solidFill>
              <a:srgbClr val="EC7000"/>
            </a:solidFill>
          </c:spPr>
          <c:cat>
            <c:strLit>
              <c:ptCount val="12"/>
              <c:pt idx="0">
                <c:v>Financeiro</c:v>
              </c:pt>
              <c:pt idx="1">
                <c:v>Comercial</c:v>
              </c:pt>
              <c:pt idx="2">
                <c:v>Adquirência</c:v>
              </c:pt>
              <c:pt idx="3">
                <c:v>Industrial</c:v>
              </c:pt>
              <c:pt idx="4">
                <c:v>Serviços</c:v>
              </c:pt>
              <c:pt idx="5">
                <c:v>Setor público</c:v>
              </c:pt>
              <c:pt idx="6">
                <c:v>Ações judiciais</c:v>
              </c:pt>
              <c:pt idx="7">
                <c:v>N/D</c:v>
              </c:pt>
              <c:pt idx="8">
                <c:v>Agronegócio</c:v>
              </c:pt>
              <c:pt idx="9">
                <c:v>Cartão</c:v>
              </c:pt>
              <c:pt idx="10">
                <c:v>Imobiliário</c:v>
              </c:pt>
              <c:pt idx="11">
                <c:v>Factoring</c:v>
              </c:pt>
            </c:strLit>
          </c:cat>
          <c:val>
            <c:numLit>
              <c:formatCode>0.0</c:formatCode>
              <c:ptCount val="12"/>
              <c:pt idx="0">
                <c:v>336.68042868161</c:v>
              </c:pt>
              <c:pt idx="1">
                <c:v>118.22202651527</c:v>
              </c:pt>
              <c:pt idx="2">
                <c:v>99.24654124799001</c:v>
              </c:pt>
              <c:pt idx="3">
                <c:v>85.66685206006</c:v>
              </c:pt>
              <c:pt idx="4">
                <c:v>57.4323241591</c:v>
              </c:pt>
              <c:pt idx="5">
                <c:v>43.107876023699994</c:v>
              </c:pt>
              <c:pt idx="6">
                <c:v>27.72682732234</c:v>
              </c:pt>
              <c:pt idx="7">
                <c:v>25.98170017243</c:v>
              </c:pt>
              <c:pt idx="8">
                <c:v>12.07779703784</c:v>
              </c:pt>
              <c:pt idx="9">
                <c:v>11.00644353036</c:v>
              </c:pt>
              <c:pt idx="10">
                <c:v>4.10910183534</c:v>
              </c:pt>
              <c:pt idx="11">
                <c:v>0.10364069841</c:v>
              </c:pt>
            </c:numLit>
          </c:val>
        </c:ser>
        <c:dLbls>
          <c:txPr>
            <a:bodyPr anchorCtr="1"/>
            <a:lstStyle/>
            <a:p>
              <a:pPr>
                <a:defRPr sz="1200" b="1" lang="pt-BR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16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Dez/23</c:v>
          </c:tx>
          <c:spPr>
            <a:solidFill>
              <a:srgbClr val="73787D"/>
            </a:solidFill>
          </c:spPr>
          <c:cat>
            <c:strLit>
              <c:ptCount val="12"/>
              <c:pt idx="0">
                <c:v>Financeiro</c:v>
              </c:pt>
              <c:pt idx="1">
                <c:v>Comercial</c:v>
              </c:pt>
              <c:pt idx="2">
                <c:v>Adquirência</c:v>
              </c:pt>
              <c:pt idx="3">
                <c:v>Industrial</c:v>
              </c:pt>
              <c:pt idx="4">
                <c:v>Serviços</c:v>
              </c:pt>
              <c:pt idx="5">
                <c:v>Setor público</c:v>
              </c:pt>
              <c:pt idx="6">
                <c:v>Ações judiciais</c:v>
              </c:pt>
              <c:pt idx="7">
                <c:v>N/D</c:v>
              </c:pt>
              <c:pt idx="8">
                <c:v>Agronegócio</c:v>
              </c:pt>
              <c:pt idx="9">
                <c:v>Cartão</c:v>
              </c:pt>
              <c:pt idx="10">
                <c:v>Imobiliário</c:v>
              </c:pt>
              <c:pt idx="11">
                <c:v>Factoring</c:v>
              </c:pt>
            </c:strLit>
          </c:cat>
          <c:val>
            <c:numLit>
              <c:formatCode>0.0%</c:formatCode>
              <c:ptCount val="12"/>
              <c:pt idx="0">
                <c:v>0.2494471437409106</c:v>
              </c:pt>
              <c:pt idx="1">
                <c:v>0.2285888458725266</c:v>
              </c:pt>
              <c:pt idx="2">
                <c:v>0.1143463392214675</c:v>
              </c:pt>
              <c:pt idx="3">
                <c:v>0.1072206964774502</c:v>
              </c:pt>
              <c:pt idx="4">
                <c:v>0.0534200230793848</c:v>
              </c:pt>
              <c:pt idx="5">
                <c:v>0.055610366987701</c:v>
              </c:pt>
              <c:pt idx="6">
                <c:v>0.0604009054282524</c:v>
              </c:pt>
              <c:pt idx="7">
                <c:v>0.0218917755090035</c:v>
              </c:pt>
              <c:pt idx="8">
                <c:v>0.0382554077792155</c:v>
              </c:pt>
              <c:pt idx="9">
                <c:v>0.0673297933793512</c:v>
              </c:pt>
              <c:pt idx="10">
                <c:v>0.0030171380679527</c:v>
              </c:pt>
              <c:pt idx="11">
                <c:v>0.0004715644567835</c:v>
              </c:pt>
            </c:numLit>
          </c:val>
        </c:ser>
        <c:ser>
          <c:idx val="1"/>
          <c:order val="1"/>
          <c:tx>
            <c:v>Jun/26</c:v>
          </c:tx>
          <c:spPr>
            <a:solidFill>
              <a:srgbClr val="EC7000"/>
            </a:solidFill>
          </c:spPr>
          <c:cat>
            <c:strLit>
              <c:ptCount val="12"/>
              <c:pt idx="0">
                <c:v>Financeiro</c:v>
              </c:pt>
              <c:pt idx="1">
                <c:v>Comercial</c:v>
              </c:pt>
              <c:pt idx="2">
                <c:v>Adquirência</c:v>
              </c:pt>
              <c:pt idx="3">
                <c:v>Industrial</c:v>
              </c:pt>
              <c:pt idx="4">
                <c:v>Serviços</c:v>
              </c:pt>
              <c:pt idx="5">
                <c:v>Setor público</c:v>
              </c:pt>
              <c:pt idx="6">
                <c:v>Ações judiciais</c:v>
              </c:pt>
              <c:pt idx="7">
                <c:v>N/D</c:v>
              </c:pt>
              <c:pt idx="8">
                <c:v>Agronegócio</c:v>
              </c:pt>
              <c:pt idx="9">
                <c:v>Cartão</c:v>
              </c:pt>
              <c:pt idx="10">
                <c:v>Imobiliário</c:v>
              </c:pt>
              <c:pt idx="11">
                <c:v>Factoring</c:v>
              </c:pt>
            </c:strLit>
          </c:cat>
          <c:val>
            <c:numLit>
              <c:formatCode>0.0%</c:formatCode>
              <c:ptCount val="12"/>
              <c:pt idx="0">
                <c:v>0.4099052662933455</c:v>
              </c:pt>
              <c:pt idx="1">
                <c:v>0.1439342092150771</c:v>
              </c:pt>
              <c:pt idx="2">
                <c:v>0.1208317337549265</c:v>
              </c:pt>
              <c:pt idx="3">
                <c:v>0.1042985894478563</c:v>
              </c:pt>
              <c:pt idx="4">
                <c:v>0.0699233163640305</c:v>
              </c:pt>
              <c:pt idx="5">
                <c:v>0.0524834350188661</c:v>
              </c:pt>
              <c:pt idx="6">
                <c:v>0.0337571523879141</c:v>
              </c:pt>
              <c:pt idx="7">
                <c:v>0.0316324764395653</c:v>
              </c:pt>
              <c:pt idx="8">
                <c:v>0.0147046046912176</c:v>
              </c:pt>
              <c:pt idx="9">
                <c:v>0.0134002418374053</c:v>
              </c:pt>
              <c:pt idx="10">
                <c:v>0.0050027929708808</c:v>
              </c:pt>
              <c:pt idx="11">
                <c:v>0.0001261815789142</c:v>
              </c:pt>
            </c:numLit>
          </c:val>
        </c:ser>
        <c:dLbls>
          <c:txPr>
            <a:bodyPr anchorCtr="1"/>
            <a:lstStyle/>
            <a:p>
              <a:pPr>
                <a:defRPr sz="1200" b="1" lang="pt-BR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17.xml><?xml version="1.0" encoding="utf-8"?>
<c:chartSpace xmlns:a="http://schemas.openxmlformats.org/drawingml/2006/main" xmlns:c="http://schemas.openxmlformats.org/drawingml/2006/chart">
  <c:lang val="pt-BR"/>
  <c:chart>
    <c:plotArea>
      <c:lineChart>
        <c:grouping val="standard"/>
        <c:ser>
          <c:idx val="0"/>
          <c:order val="0"/>
          <c:tx>
            <c:v>Dez/23</c:v>
          </c:tx>
          <c:spPr>
            <a:ln w="28575">
              <a:solidFill>
                <a:srgbClr val="73787D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1"/>
          <c:order val="1"/>
          <c:tx>
            <c:v>Jun/26</c:v>
          </c:tx>
          <c:spPr>
            <a:ln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1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1000" lang="pt-BR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18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Dez/23</c:v>
          </c:tx>
          <c:spPr>
            <a:solidFill>
              <a:srgbClr val="73787D"/>
            </a:solidFill>
          </c:spPr>
          <c:cat>
            <c:strLit>
              <c:ptCount val="10"/>
              <c:pt idx="0">
                <c:v>Financeiro</c:v>
              </c:pt>
              <c:pt idx="1">
                <c:v>Comercial</c:v>
              </c:pt>
              <c:pt idx="2">
                <c:v>Cartão</c:v>
              </c:pt>
              <c:pt idx="3">
                <c:v>Industrial</c:v>
              </c:pt>
              <c:pt idx="4">
                <c:v>Serviços</c:v>
              </c:pt>
              <c:pt idx="5">
                <c:v>Setor público</c:v>
              </c:pt>
              <c:pt idx="6">
                <c:v>Ações judiciais</c:v>
              </c:pt>
              <c:pt idx="7">
                <c:v>Agronegócio</c:v>
              </c:pt>
              <c:pt idx="8">
                <c:v>Imobiliário</c:v>
              </c:pt>
              <c:pt idx="9">
                <c:v>Factoring</c:v>
              </c:pt>
            </c:strLit>
          </c:cat>
          <c:val>
            <c:numLit>
              <c:formatCode>0.0</c:formatCode>
              <c:ptCount val="10"/>
              <c:pt idx="0">
                <c:v>118.04530398702</c:v>
              </c:pt>
              <c:pt idx="1">
                <c:v>115.89580945848</c:v>
              </c:pt>
              <c:pt idx="2">
                <c:v>77.90442532195</c:v>
              </c:pt>
              <c:pt idx="3">
                <c:v>39.74983932099</c:v>
              </c:pt>
              <c:pt idx="4">
                <c:v>26.373186905759997</c:v>
              </c:pt>
              <c:pt idx="5">
                <c:v>19.27032074904</c:v>
              </c:pt>
              <c:pt idx="6">
                <c:v>26.30715069555</c:v>
              </c:pt>
              <c:pt idx="7">
                <c:v>14.24326332352</c:v>
              </c:pt>
              <c:pt idx="8">
                <c:v>1.5402300008699998</c:v>
              </c:pt>
              <c:pt idx="9">
                <c:v>0.16600309574000002</c:v>
              </c:pt>
            </c:numLit>
          </c:val>
        </c:ser>
        <c:ser>
          <c:idx val="1"/>
          <c:order val="1"/>
          <c:tx>
            <c:v>Jun/26</c:v>
          </c:tx>
          <c:spPr>
            <a:solidFill>
              <a:srgbClr val="EC7000"/>
            </a:solidFill>
          </c:spPr>
          <c:cat>
            <c:strLit>
              <c:ptCount val="10"/>
              <c:pt idx="0">
                <c:v>Financeiro</c:v>
              </c:pt>
              <c:pt idx="1">
                <c:v>Comercial</c:v>
              </c:pt>
              <c:pt idx="2">
                <c:v>Cartão</c:v>
              </c:pt>
              <c:pt idx="3">
                <c:v>Industrial</c:v>
              </c:pt>
              <c:pt idx="4">
                <c:v>Serviços</c:v>
              </c:pt>
              <c:pt idx="5">
                <c:v>Setor público</c:v>
              </c:pt>
              <c:pt idx="6">
                <c:v>Ações judiciais</c:v>
              </c:pt>
              <c:pt idx="7">
                <c:v>Agronegócio</c:v>
              </c:pt>
              <c:pt idx="8">
                <c:v>Imobiliário</c:v>
              </c:pt>
              <c:pt idx="9">
                <c:v>Factoring</c:v>
              </c:pt>
            </c:strLit>
          </c:cat>
          <c:val>
            <c:numLit>
              <c:formatCode>0.0</c:formatCode>
              <c:ptCount val="10"/>
              <c:pt idx="0">
                <c:v>326.76177442545</c:v>
              </c:pt>
              <c:pt idx="1">
                <c:v>123.12261035610001</c:v>
              </c:pt>
              <c:pt idx="2">
                <c:v>78.58984371139</c:v>
              </c:pt>
              <c:pt idx="3">
                <c:v>77.39724903534</c:v>
              </c:pt>
              <c:pt idx="4">
                <c:v>57.591468014120004</c:v>
              </c:pt>
              <c:pt idx="5">
                <c:v>34.27503303086</c:v>
              </c:pt>
              <c:pt idx="6">
                <c:v>27.36423282215</c:v>
              </c:pt>
              <c:pt idx="7">
                <c:v>9.12643607218</c:v>
              </c:pt>
              <c:pt idx="8">
                <c:v>3.0872617298200002</c:v>
              </c:pt>
              <c:pt idx="9">
                <c:v>0.09505420486</c:v>
              </c:pt>
            </c:numLit>
          </c:val>
        </c:ser>
        <c:dLbls>
          <c:txPr>
            <a:bodyPr anchorCtr="1"/>
            <a:lstStyle/>
            <a:p>
              <a:pPr>
                <a:defRPr sz="1200" b="1" lang="pt-BR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8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19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Dez/23</c:v>
          </c:tx>
          <c:spPr>
            <a:solidFill>
              <a:srgbClr val="73787D"/>
            </a:solidFill>
          </c:spPr>
          <c:cat>
            <c:strLit>
              <c:ptCount val="10"/>
              <c:pt idx="0">
                <c:v>Financeiro</c:v>
              </c:pt>
              <c:pt idx="1">
                <c:v>Comercial</c:v>
              </c:pt>
              <c:pt idx="2">
                <c:v>Cartão</c:v>
              </c:pt>
              <c:pt idx="3">
                <c:v>Industrial</c:v>
              </c:pt>
              <c:pt idx="4">
                <c:v>Serviços</c:v>
              </c:pt>
              <c:pt idx="5">
                <c:v>Setor público</c:v>
              </c:pt>
              <c:pt idx="6">
                <c:v>Ações judiciais</c:v>
              </c:pt>
              <c:pt idx="7">
                <c:v>Agronegócio</c:v>
              </c:pt>
              <c:pt idx="8">
                <c:v>Imobiliário</c:v>
              </c:pt>
              <c:pt idx="9">
                <c:v>Factoring</c:v>
              </c:pt>
            </c:strLit>
          </c:cat>
          <c:val>
            <c:numLit>
              <c:formatCode>0.0%</c:formatCode>
              <c:ptCount val="10"/>
              <c:pt idx="0">
                <c:v>0.2685927277101883</c:v>
              </c:pt>
              <c:pt idx="1">
                <c:v>0.26370190546551714</c:v>
              </c:pt>
              <c:pt idx="2">
                <c:v>0.17725874212004258</c:v>
              </c:pt>
              <c:pt idx="3">
                <c:v>0.09044423970004235</c:v>
              </c:pt>
              <c:pt idx="4">
                <c:v>0.06000786113615837</c:v>
              </c:pt>
              <c:pt idx="5">
                <c:v>0.04384645419189245</c:v>
              </c:pt>
              <c:pt idx="6">
                <c:v>0.05985760657092893</c:v>
              </c:pt>
              <c:pt idx="7">
                <c:v>0.032408209546221145</c:v>
              </c:pt>
              <c:pt idx="8">
                <c:v>0.0035045407420885447</c:v>
              </c:pt>
              <c:pt idx="9">
                <c:v>0.00037771281692022964</c:v>
              </c:pt>
            </c:numLit>
          </c:val>
        </c:ser>
        <c:ser>
          <c:idx val="1"/>
          <c:order val="1"/>
          <c:tx>
            <c:v>Jun/26</c:v>
          </c:tx>
          <c:spPr>
            <a:solidFill>
              <a:srgbClr val="EC7000"/>
            </a:solidFill>
          </c:spPr>
          <c:cat>
            <c:strLit>
              <c:ptCount val="10"/>
              <c:pt idx="0">
                <c:v>Financeiro</c:v>
              </c:pt>
              <c:pt idx="1">
                <c:v>Comercial</c:v>
              </c:pt>
              <c:pt idx="2">
                <c:v>Cartão</c:v>
              </c:pt>
              <c:pt idx="3">
                <c:v>Industrial</c:v>
              </c:pt>
              <c:pt idx="4">
                <c:v>Serviços</c:v>
              </c:pt>
              <c:pt idx="5">
                <c:v>Setor público</c:v>
              </c:pt>
              <c:pt idx="6">
                <c:v>Ações judiciais</c:v>
              </c:pt>
              <c:pt idx="7">
                <c:v>Agronegócio</c:v>
              </c:pt>
              <c:pt idx="8">
                <c:v>Imobiliário</c:v>
              </c:pt>
              <c:pt idx="9">
                <c:v>Factoring</c:v>
              </c:pt>
            </c:strLit>
          </c:cat>
          <c:val>
            <c:numLit>
              <c:formatCode>0.0%</c:formatCode>
              <c:ptCount val="10"/>
              <c:pt idx="0">
                <c:v>0.4431203096273956</c:v>
              </c:pt>
              <c:pt idx="1">
                <c:v>0.16696606975849174</c:v>
              </c:pt>
              <c:pt idx="2">
                <c:v>0.10657536653481774</c:v>
              </c:pt>
              <c:pt idx="3">
                <c:v>0.1049580937585254</c:v>
              </c:pt>
              <c:pt idx="4">
                <c:v>0.07809955489189396</c:v>
              </c:pt>
              <c:pt idx="5">
                <c:v>0.046480232505252836</c:v>
              </c:pt>
              <c:pt idx="6">
                <c:v>0.0371085245273501</c:v>
              </c:pt>
              <c:pt idx="7">
                <c:v>0.012376322736066207</c:v>
              </c:pt>
              <c:pt idx="8">
                <c:v>0.004186623040666466</c:v>
              </c:pt>
              <c:pt idx="9">
                <c:v>0.00012890261953990822</c:v>
              </c:pt>
            </c:numLit>
          </c:val>
        </c:ser>
        <c:dLbls>
          <c:txPr>
            <a:bodyPr anchorCtr="1"/>
            <a:lstStyle/>
            <a:p>
              <a:pPr>
                <a:defRPr sz="1200" b="1" lang="pt-BR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8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20.xml><?xml version="1.0" encoding="utf-8"?>
<c:chartSpace xmlns:a="http://schemas.openxmlformats.org/drawingml/2006/main" xmlns:c="http://schemas.openxmlformats.org/drawingml/2006/chart">
  <c:lang val="pt-BR"/>
  <c:chart>
    <c:plotArea>
      <c:lineChart>
        <c:grouping val="standard"/>
        <c:ser>
          <c:idx val="0"/>
          <c:order val="0"/>
          <c:tx>
            <c:v>Dez/23</c:v>
          </c:tx>
          <c:spPr>
            <a:ln w="28575">
              <a:solidFill>
                <a:srgbClr val="73787D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1"/>
          <c:order val="1"/>
          <c:tx>
            <c:v>Jun/26</c:v>
          </c:tx>
          <c:spPr>
            <a:ln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1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1000" lang="pt-BR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21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clustered"/>
        <c:varyColors val="0"/>
        <c:ser>
          <c:idx val="0"/>
          <c:order val="0"/>
          <c:tx>
            <c:v>Volume registrado</c:v>
          </c:tx>
          <c:spPr>
            <a:solidFill>
              <a:srgbClr val="30353A"/>
            </a:solidFill>
          </c:spPr>
          <c:dPt>
            <c:idx val="0"/>
            <c:invertIfNegative val="0"/>
            <c:spPr>
              <a:solidFill>
                <a:srgbClr val="30353A"/>
              </a:solidFill>
            </c:spPr>
          </c:dPt>
          <c:dPt>
            <c:idx val="1"/>
            <c:invertIfNegative val="0"/>
            <c:spPr>
              <a:solidFill>
                <a:srgbClr val="30353A"/>
              </a:solidFill>
            </c:spPr>
          </c:dPt>
          <c:dPt>
            <c:idx val="2"/>
            <c:invertIfNegative val="0"/>
            <c:spPr>
              <a:solidFill>
                <a:srgbClr val="EC7000"/>
              </a:solidFill>
            </c:spPr>
          </c:dPt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3"/>
              <c:pt idx="0">
                <c:v>2024FY</c:v>
              </c:pt>
              <c:pt idx="1">
                <c:v>2025FY</c:v>
              </c:pt>
              <c:pt idx="2">
                <c:v>2026YTD</c:v>
              </c:pt>
            </c:strLit>
          </c:cat>
          <c:val>
            <c:numLit>
              <c:formatCode>0.0</c:formatCode>
              <c:ptCount val="3"/>
              <c:pt idx="0">
                <c:v>95.41672613375</c:v>
              </c:pt>
              <c:pt idx="1">
                <c:v>116.92131905477001</c:v>
              </c:pt>
              <c:pt idx="2">
                <c:v>65.48811898356</c:v>
              </c:pt>
            </c:numLit>
          </c:val>
        </c:ser>
        <c:dLbls>
          <c:txPr>
            <a:bodyPr anchorCtr="1"/>
            <a:lstStyle/>
            <a:p>
              <a:pPr>
                <a:defRPr sz="1200" b="1" lang="pt-BR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22.xml><?xml version="1.0" encoding="utf-8"?>
<c:chartSpace xmlns:a="http://schemas.openxmlformats.org/drawingml/2006/main" xmlns:c="http://schemas.openxmlformats.org/drawingml/2006/chart">
  <c:lang val="pt-BR"/>
  <c:chart>
    <c:plotArea>
      <c:lineChart>
        <c:grouping val="standard"/>
        <c:varyColors val="0"/>
        <c:ser>
          <c:idx val="0"/>
          <c:order val="0"/>
          <c:tx>
            <c:v>2024</c:v>
          </c:tx>
          <c:spPr>
            <a:ln w="19050">
              <a:solidFill>
                <a:srgbClr val="8D9399"/>
              </a:solidFill>
              <a:prstDash val="solid"/>
            </a:ln>
          </c:spPr>
          <c:marker>
            <c:symbol val="none"/>
          </c:marker>
          <c:cat>
            <c:strLit>
              <c:ptCount val="12"/>
              <c:pt idx="0">
                <c:v>Jan</c:v>
              </c:pt>
              <c:pt idx="1">
                <c:v>​​</c:v>
              </c:pt>
              <c:pt idx="2">
                <c:v>Mar</c:v>
              </c:pt>
              <c:pt idx="3">
                <c:v>​​​​</c:v>
              </c:pt>
              <c:pt idx="4">
                <c:v>Mai</c:v>
              </c:pt>
              <c:pt idx="5">
                <c:v>Jun</c:v>
              </c:pt>
              <c:pt idx="6">
                <c:v>​​​​​​​</c:v>
              </c:pt>
              <c:pt idx="7">
                <c:v>Ago</c:v>
              </c:pt>
              <c:pt idx="8">
                <c:v>​​​​​​​​​</c:v>
              </c:pt>
              <c:pt idx="9">
                <c:v>Out</c:v>
              </c:pt>
              <c:pt idx="10">
                <c:v>​​​​​​​​​​​</c:v>
              </c:pt>
              <c:pt idx="11">
                <c:v>Dez</c:v>
              </c:pt>
            </c:strLit>
          </c:cat>
          <c:val>
            <c:numLit>
              <c:formatCode>0.0</c:formatCode>
              <c:ptCount val="12"/>
              <c:pt idx="0">
                <c:v>3.5776889819499997</c:v>
              </c:pt>
              <c:pt idx="1">
                <c:v>6.31697433342</c:v>
              </c:pt>
              <c:pt idx="2">
                <c:v>12.75231637649</c:v>
              </c:pt>
              <c:pt idx="3">
                <c:v>18.982994111559996</c:v>
              </c:pt>
              <c:pt idx="4">
                <c:v>35.57797349489</c:v>
              </c:pt>
              <c:pt idx="5">
                <c:v>40.869510061910006</c:v>
              </c:pt>
              <c:pt idx="6">
                <c:v>49.369269147820006</c:v>
              </c:pt>
              <c:pt idx="7">
                <c:v>54.50517684065001</c:v>
              </c:pt>
              <c:pt idx="8">
                <c:v>59.275357674750005</c:v>
              </c:pt>
              <c:pt idx="9">
                <c:v>68.67479071153001</c:v>
              </c:pt>
              <c:pt idx="10">
                <c:v>80.61445578144</c:v>
              </c:pt>
              <c:pt idx="11">
                <c:v>95.41672613375</c:v>
              </c:pt>
            </c:numLit>
          </c:val>
        </c:ser>
        <c:ser>
          <c:idx val="1"/>
          <c:order val="1"/>
          <c:tx>
            <c:v>2025</c:v>
          </c:tx>
          <c:spPr>
            <a:ln w="20955">
              <a:solidFill>
                <a:srgbClr val="30353A"/>
              </a:solidFill>
              <a:prstDash val="solid"/>
            </a:ln>
          </c:spPr>
          <c:marker>
            <c:symbol val="none"/>
          </c:marker>
          <c:cat>
            <c:strLit>
              <c:ptCount val="12"/>
              <c:pt idx="0">
                <c:v>Jan</c:v>
              </c:pt>
              <c:pt idx="1">
                <c:v>​​</c:v>
              </c:pt>
              <c:pt idx="2">
                <c:v>Mar</c:v>
              </c:pt>
              <c:pt idx="3">
                <c:v>​​​​</c:v>
              </c:pt>
              <c:pt idx="4">
                <c:v>Mai</c:v>
              </c:pt>
              <c:pt idx="5">
                <c:v>Jun</c:v>
              </c:pt>
              <c:pt idx="6">
                <c:v>​​​​​​​</c:v>
              </c:pt>
              <c:pt idx="7">
                <c:v>Ago</c:v>
              </c:pt>
              <c:pt idx="8">
                <c:v>​​​​​​​​​</c:v>
              </c:pt>
              <c:pt idx="9">
                <c:v>Out</c:v>
              </c:pt>
              <c:pt idx="10">
                <c:v>​​​​​​​​​​​</c:v>
              </c:pt>
              <c:pt idx="11">
                <c:v>Dez</c:v>
              </c:pt>
            </c:strLit>
          </c:cat>
          <c:val>
            <c:numLit>
              <c:formatCode>0.0</c:formatCode>
              <c:ptCount val="12"/>
              <c:pt idx="0">
                <c:v>4.69157717423</c:v>
              </c:pt>
              <c:pt idx="1">
                <c:v>13.28230156707</c:v>
              </c:pt>
              <c:pt idx="2">
                <c:v>21.89222074001</c:v>
              </c:pt>
              <c:pt idx="3">
                <c:v>36.243054840190005</c:v>
              </c:pt>
              <c:pt idx="4">
                <c:v>44.91558778326</c:v>
              </c:pt>
              <c:pt idx="5">
                <c:v>57.15870696836</c:v>
              </c:pt>
              <c:pt idx="6">
                <c:v>64.14446989868</c:v>
              </c:pt>
              <c:pt idx="7">
                <c:v>70.52665275716001</c:v>
              </c:pt>
              <c:pt idx="8">
                <c:v>78.53187842665001</c:v>
              </c:pt>
              <c:pt idx="9">
                <c:v>90.04350947167</c:v>
              </c:pt>
              <c:pt idx="10">
                <c:v>100.76052553320001</c:v>
              </c:pt>
              <c:pt idx="11">
                <c:v>116.92131905477002</c:v>
              </c:pt>
            </c:numLit>
          </c:val>
        </c:ser>
        <c:ser>
          <c:idx val="2"/>
          <c:order val="2"/>
          <c:tx>
            <c:v>2026</c:v>
          </c:tx>
          <c:spPr>
            <a:ln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cat>
            <c:strLit>
              <c:ptCount val="12"/>
              <c:pt idx="0">
                <c:v>Jan</c:v>
              </c:pt>
              <c:pt idx="1">
                <c:v>​​</c:v>
              </c:pt>
              <c:pt idx="2">
                <c:v>Mar</c:v>
              </c:pt>
              <c:pt idx="3">
                <c:v>​​​​</c:v>
              </c:pt>
              <c:pt idx="4">
                <c:v>Mai</c:v>
              </c:pt>
              <c:pt idx="5">
                <c:v>Jun</c:v>
              </c:pt>
              <c:pt idx="6">
                <c:v>​​​​​​​</c:v>
              </c:pt>
              <c:pt idx="7">
                <c:v>Ago</c:v>
              </c:pt>
              <c:pt idx="8">
                <c:v>​​​​​​​​​</c:v>
              </c:pt>
              <c:pt idx="9">
                <c:v>Out</c:v>
              </c:pt>
              <c:pt idx="10">
                <c:v>​​​​​​​​​​​</c:v>
              </c:pt>
              <c:pt idx="11">
                <c:v>Dez</c:v>
              </c:pt>
            </c:strLit>
          </c:cat>
          <c:val>
            <c:numLit>
              <c:formatCode>0.0</c:formatCode>
              <c:ptCount val="6"/>
              <c:pt idx="0">
                <c:v>8.415778112109999</c:v>
              </c:pt>
              <c:pt idx="1">
                <c:v>15.828976040429998</c:v>
              </c:pt>
              <c:pt idx="2">
                <c:v>27.564315847659994</c:v>
              </c:pt>
              <c:pt idx="3">
                <c:v>44.609140465989995</c:v>
              </c:pt>
              <c:pt idx="4">
                <c:v>51.475115157089995</c:v>
              </c:pt>
              <c:pt idx="5">
                <c:v>65.48811898356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tickLblPos val="low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  <c:dispBlanksAs val="gap"/>
  </c:chart>
  <c:spPr>
    <a:noFill/>
    <a:ln w="0">
      <a:noFill/>
      <a:prstDash val="solid"/>
    </a:ln>
  </c:spPr>
</c:chartSpace>
</file>

<file path=ppt/slides/charts/chart23.xml><?xml version="1.0" encoding="utf-8"?>
<c:chartSpace xmlns:a="http://schemas.openxmlformats.org/drawingml/2006/main" xmlns:c="http://schemas.openxmlformats.org/drawingml/2006/chart">
  <c:lang val="pt-BR"/>
  <c:chart>
    <c:plotArea>
      <c:lineChart>
        <c:grouping val="standard"/>
        <c:ser>
          <c:idx val="0"/>
          <c:order val="0"/>
          <c:tx>
            <c:v>2024</c:v>
          </c:tx>
          <c:spPr>
            <a:ln w="28575">
              <a:solidFill>
                <a:srgbClr val="8D9399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1"/>
          <c:order val="1"/>
          <c:tx>
            <c:v>2025</c:v>
          </c:tx>
          <c:spPr>
            <a:ln w="28575">
              <a:solidFill>
                <a:srgbClr val="30353A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2"/>
          <c:order val="2"/>
          <c:tx>
            <c:v>2026</c:v>
          </c:tx>
          <c:spPr>
            <a:ln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1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1000" lang="pt-BR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24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clustered"/>
        <c:varyColors val="0"/>
        <c:ser>
          <c:idx val="0"/>
          <c:order val="0"/>
          <c:tx>
            <c:v>2024</c:v>
          </c:tx>
          <c:spPr>
            <a:solidFill>
              <a:srgbClr val="8D9399"/>
            </a:solidFill>
          </c:spPr>
          <c:cat>
            <c:strLit>
              <c:ptCount val="7"/>
              <c:pt idx="0">
                <c:v>&lt;10</c:v>
              </c:pt>
              <c:pt idx="1">
                <c:v>10–25</c:v>
              </c:pt>
              <c:pt idx="2">
                <c:v>25–50</c:v>
              </c:pt>
              <c:pt idx="3">
                <c:v>50–
100</c:v>
              </c:pt>
              <c:pt idx="4">
                <c:v>100–
200</c:v>
              </c:pt>
              <c:pt idx="5">
                <c:v>200–
500</c:v>
              </c:pt>
              <c:pt idx="6">
                <c:v>≥500</c:v>
              </c:pt>
            </c:strLit>
          </c:cat>
          <c:val>
            <c:numLit>
              <c:formatCode>0%</c:formatCode>
              <c:ptCount val="7"/>
              <c:pt idx="0">
                <c:v>0.2289395441030723</c:v>
              </c:pt>
              <c:pt idx="1">
                <c:v>0.2348860257680872</c:v>
              </c:pt>
              <c:pt idx="2">
                <c:v>0.1734390485629336</c:v>
              </c:pt>
              <c:pt idx="3">
                <c:v>0.1565906838453915</c:v>
              </c:pt>
              <c:pt idx="4">
                <c:v>0.0931615460852329</c:v>
              </c:pt>
              <c:pt idx="5">
                <c:v>0.0822596630327056</c:v>
              </c:pt>
              <c:pt idx="6">
                <c:v>0.0307234886025768</c:v>
              </c:pt>
            </c:numLit>
          </c:val>
        </c:ser>
        <c:ser>
          <c:idx val="1"/>
          <c:order val="1"/>
          <c:tx>
            <c:v>2025</c:v>
          </c:tx>
          <c:spPr>
            <a:solidFill>
              <a:srgbClr val="30353A"/>
            </a:solidFill>
          </c:spPr>
          <c:cat>
            <c:strLit>
              <c:ptCount val="7"/>
              <c:pt idx="0">
                <c:v>&lt;10</c:v>
              </c:pt>
              <c:pt idx="1">
                <c:v>10–25</c:v>
              </c:pt>
              <c:pt idx="2">
                <c:v>25–50</c:v>
              </c:pt>
              <c:pt idx="3">
                <c:v>50–
100</c:v>
              </c:pt>
              <c:pt idx="4">
                <c:v>100–
200</c:v>
              </c:pt>
              <c:pt idx="5">
                <c:v>200–
500</c:v>
              </c:pt>
              <c:pt idx="6">
                <c:v>≥500</c:v>
              </c:pt>
            </c:strLit>
          </c:cat>
          <c:val>
            <c:numLit>
              <c:formatCode>0%</c:formatCode>
              <c:ptCount val="7"/>
              <c:pt idx="0">
                <c:v>0.2376103190767141</c:v>
              </c:pt>
              <c:pt idx="1">
                <c:v>0.2545824847250509</c:v>
              </c:pt>
              <c:pt idx="2">
                <c:v>0.1629327902240326</c:v>
              </c:pt>
              <c:pt idx="3">
                <c:v>0.1575016972165648</c:v>
              </c:pt>
              <c:pt idx="4">
                <c:v>0.0950441276306856</c:v>
              </c:pt>
              <c:pt idx="5">
                <c:v>0.0678886625933469</c:v>
              </c:pt>
              <c:pt idx="6">
                <c:v>0.0244399185336048</c:v>
              </c:pt>
            </c:numLit>
          </c:val>
        </c:ser>
        <c:ser>
          <c:idx val="2"/>
          <c:order val="2"/>
          <c:tx>
            <c:v>Jan–jun/26</c:v>
          </c:tx>
          <c:spPr>
            <a:solidFill>
              <a:srgbClr val="EC7000"/>
            </a:solidFill>
          </c:spPr>
          <c:cat>
            <c:strLit>
              <c:ptCount val="7"/>
              <c:pt idx="0">
                <c:v>&lt;10</c:v>
              </c:pt>
              <c:pt idx="1">
                <c:v>10–25</c:v>
              </c:pt>
              <c:pt idx="2">
                <c:v>25–50</c:v>
              </c:pt>
              <c:pt idx="3">
                <c:v>50–
100</c:v>
              </c:pt>
              <c:pt idx="4">
                <c:v>100–
200</c:v>
              </c:pt>
              <c:pt idx="5">
                <c:v>200–
500</c:v>
              </c:pt>
              <c:pt idx="6">
                <c:v>≥500</c:v>
              </c:pt>
            </c:strLit>
          </c:cat>
          <c:val>
            <c:numLit>
              <c:formatCode>0%</c:formatCode>
              <c:ptCount val="7"/>
              <c:pt idx="0">
                <c:v>0.2399481193255512</c:v>
              </c:pt>
              <c:pt idx="1">
                <c:v>0.2684824902723735</c:v>
              </c:pt>
              <c:pt idx="2">
                <c:v>0.1530479896238651</c:v>
              </c:pt>
              <c:pt idx="3">
                <c:v>0.1569390402075227</c:v>
              </c:pt>
              <c:pt idx="4">
                <c:v>0.0933852140077821</c:v>
              </c:pt>
              <c:pt idx="5">
                <c:v>0.059662775616083</c:v>
              </c:pt>
              <c:pt idx="6">
                <c:v>0.0285343709468223</c:v>
              </c:pt>
            </c:numLit>
          </c:val>
        </c:ser>
        <c:gapWidth val="48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25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clustered"/>
        <c:varyColors val="0"/>
        <c:ser>
          <c:idx val="0"/>
          <c:order val="0"/>
          <c:tx>
            <c:v>2024</c:v>
          </c:tx>
          <c:spPr>
            <a:solidFill>
              <a:srgbClr val="8D9399"/>
            </a:solidFill>
          </c:spPr>
          <c:cat>
            <c:strLit>
              <c:ptCount val="7"/>
              <c:pt idx="0">
                <c:v>&lt;10</c:v>
              </c:pt>
              <c:pt idx="1">
                <c:v>10–25</c:v>
              </c:pt>
              <c:pt idx="2">
                <c:v>25–50</c:v>
              </c:pt>
              <c:pt idx="3">
                <c:v>50–
100</c:v>
              </c:pt>
              <c:pt idx="4">
                <c:v>100–
200</c:v>
              </c:pt>
              <c:pt idx="5">
                <c:v>200–
500</c:v>
              </c:pt>
              <c:pt idx="6">
                <c:v>≥500</c:v>
              </c:pt>
            </c:strLit>
          </c:cat>
          <c:val>
            <c:numLit>
              <c:formatCode>0%</c:formatCode>
              <c:ptCount val="7"/>
              <c:pt idx="0">
                <c:v>0.0103321633887131</c:v>
              </c:pt>
              <c:pt idx="1">
                <c:v>0.0361313295137315</c:v>
              </c:pt>
              <c:pt idx="2">
                <c:v>0.0618859371549046</c:v>
              </c:pt>
              <c:pt idx="3">
                <c:v>0.1088463666507672</c:v>
              </c:pt>
              <c:pt idx="4">
                <c:v>0.1257652142029994</c:v>
              </c:pt>
              <c:pt idx="5">
                <c:v>0.2452642827460449</c:v>
              </c:pt>
              <c:pt idx="6">
                <c:v>0.411774706342839</c:v>
              </c:pt>
            </c:numLit>
          </c:val>
        </c:ser>
        <c:ser>
          <c:idx val="1"/>
          <c:order val="1"/>
          <c:tx>
            <c:v>2025</c:v>
          </c:tx>
          <c:spPr>
            <a:solidFill>
              <a:srgbClr val="30353A"/>
            </a:solidFill>
          </c:spPr>
          <c:cat>
            <c:strLit>
              <c:ptCount val="7"/>
              <c:pt idx="0">
                <c:v>&lt;10</c:v>
              </c:pt>
              <c:pt idx="1">
                <c:v>10–25</c:v>
              </c:pt>
              <c:pt idx="2">
                <c:v>25–50</c:v>
              </c:pt>
              <c:pt idx="3">
                <c:v>50–
100</c:v>
              </c:pt>
              <c:pt idx="4">
                <c:v>100–
200</c:v>
              </c:pt>
              <c:pt idx="5">
                <c:v>200–
500</c:v>
              </c:pt>
              <c:pt idx="6">
                <c:v>≥500</c:v>
              </c:pt>
            </c:strLit>
          </c:cat>
          <c:val>
            <c:numLit>
              <c:formatCode>0%</c:formatCode>
              <c:ptCount val="7"/>
              <c:pt idx="0">
                <c:v>0.011730951363519</c:v>
              </c:pt>
              <c:pt idx="1">
                <c:v>0.0474259703898181</c:v>
              </c:pt>
              <c:pt idx="2">
                <c:v>0.0704715892035931</c:v>
              </c:pt>
              <c:pt idx="3">
                <c:v>0.1291117427322091</c:v>
              </c:pt>
              <c:pt idx="4">
                <c:v>0.1527533319156595</c:v>
              </c:pt>
              <c:pt idx="5">
                <c:v>0.2413792875044426</c:v>
              </c:pt>
              <c:pt idx="6">
                <c:v>0.3471271268907585</c:v>
              </c:pt>
            </c:numLit>
          </c:val>
        </c:ser>
        <c:ser>
          <c:idx val="2"/>
          <c:order val="2"/>
          <c:tx>
            <c:v>Jan–jun/26</c:v>
          </c:tx>
          <c:spPr>
            <a:solidFill>
              <a:srgbClr val="EC7000"/>
            </a:solidFill>
          </c:spPr>
          <c:cat>
            <c:strLit>
              <c:ptCount val="7"/>
              <c:pt idx="0">
                <c:v>&lt;10</c:v>
              </c:pt>
              <c:pt idx="1">
                <c:v>10–25</c:v>
              </c:pt>
              <c:pt idx="2">
                <c:v>25–50</c:v>
              </c:pt>
              <c:pt idx="3">
                <c:v>50–
100</c:v>
              </c:pt>
              <c:pt idx="4">
                <c:v>100–
200</c:v>
              </c:pt>
              <c:pt idx="5">
                <c:v>200–
500</c:v>
              </c:pt>
              <c:pt idx="6">
                <c:v>≥500</c:v>
              </c:pt>
            </c:strLit>
          </c:cat>
          <c:val>
            <c:numLit>
              <c:formatCode>0%</c:formatCode>
              <c:ptCount val="7"/>
              <c:pt idx="0">
                <c:v>0.0122362463084512</c:v>
              </c:pt>
              <c:pt idx="1">
                <c:v>0.0464655965907937</c:v>
              </c:pt>
              <c:pt idx="2">
                <c:v>0.0609833624673594</c:v>
              </c:pt>
              <c:pt idx="3">
                <c:v>0.1209441922159701</c:v>
              </c:pt>
              <c:pt idx="4">
                <c:v>0.1441593207615259</c:v>
              </c:pt>
              <c:pt idx="5">
                <c:v>0.1929168497919684</c:v>
              </c:pt>
              <c:pt idx="6">
                <c:v>0.4222944318639312</c:v>
              </c:pt>
            </c:numLit>
          </c:val>
        </c:ser>
        <c:gapWidth val="48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26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clustered"/>
        <c:varyColors val="0"/>
        <c:ser>
          <c:idx val="0"/>
          <c:order val="0"/>
          <c:tx>
            <c:v>2024</c:v>
          </c:tx>
          <c:spPr>
            <a:solidFill>
              <a:srgbClr val="8D9399"/>
            </a:solidFill>
          </c:spPr>
          <c:cat>
            <c:strLit>
              <c:ptCount val="7"/>
              <c:pt idx="0">
                <c:v>&lt;10</c:v>
              </c:pt>
              <c:pt idx="1">
                <c:v>10–25</c:v>
              </c:pt>
              <c:pt idx="2">
                <c:v>25–50</c:v>
              </c:pt>
              <c:pt idx="3">
                <c:v>50–
100</c:v>
              </c:pt>
              <c:pt idx="4">
                <c:v>100–
200</c:v>
              </c:pt>
              <c:pt idx="5">
                <c:v>200–
500</c:v>
              </c:pt>
              <c:pt idx="6">
                <c:v>≥500</c:v>
              </c:pt>
            </c:strLit>
          </c:cat>
          <c:val>
            <c:numLit>
              <c:formatCode>0.0,,,</c:formatCode>
              <c:ptCount val="7"/>
              <c:pt idx="0">
                <c:v>985861204.43</c:v>
              </c:pt>
              <c:pt idx="1">
                <c:v>3447533173.06</c:v>
              </c:pt>
              <c:pt idx="2">
                <c:v>5904953517.04</c:v>
              </c:pt>
              <c:pt idx="3">
                <c:v>10385763957.37</c:v>
              </c:pt>
              <c:pt idx="4">
                <c:v>12000105000.76</c:v>
              </c:pt>
              <c:pt idx="5">
                <c:v>23402314897.17</c:v>
              </c:pt>
              <c:pt idx="6">
                <c:v>39290194383.92</c:v>
              </c:pt>
            </c:numLit>
          </c:val>
        </c:ser>
        <c:ser>
          <c:idx val="1"/>
          <c:order val="1"/>
          <c:tx>
            <c:v>2025</c:v>
          </c:tx>
          <c:spPr>
            <a:solidFill>
              <a:srgbClr val="30353A"/>
            </a:solidFill>
          </c:spPr>
          <c:cat>
            <c:strLit>
              <c:ptCount val="7"/>
              <c:pt idx="0">
                <c:v>&lt;10</c:v>
              </c:pt>
              <c:pt idx="1">
                <c:v>10–25</c:v>
              </c:pt>
              <c:pt idx="2">
                <c:v>25–50</c:v>
              </c:pt>
              <c:pt idx="3">
                <c:v>50–
100</c:v>
              </c:pt>
              <c:pt idx="4">
                <c:v>100–
200</c:v>
              </c:pt>
              <c:pt idx="5">
                <c:v>200–
500</c:v>
              </c:pt>
              <c:pt idx="6">
                <c:v>≥500</c:v>
              </c:pt>
            </c:strLit>
          </c:cat>
          <c:val>
            <c:numLit>
              <c:formatCode>0.0,,,</c:formatCode>
              <c:ptCount val="7"/>
              <c:pt idx="0">
                <c:v>1371598307.19</c:v>
              </c:pt>
              <c:pt idx="1">
                <c:v>5545107015.43</c:v>
              </c:pt>
              <c:pt idx="2">
                <c:v>8239631165.57</c:v>
              </c:pt>
              <c:pt idx="3">
                <c:v>15095915265.71</c:v>
              </c:pt>
              <c:pt idx="4">
                <c:v>17860121057.590004</c:v>
              </c:pt>
              <c:pt idx="5">
                <c:v>28222384687.519997</c:v>
              </c:pt>
              <c:pt idx="6">
                <c:v>40586561555.76</c:v>
              </c:pt>
            </c:numLit>
          </c:val>
        </c:ser>
        <c:ser>
          <c:idx val="2"/>
          <c:order val="2"/>
          <c:tx>
            <c:v>Jan–jun/26</c:v>
          </c:tx>
          <c:spPr>
            <a:solidFill>
              <a:srgbClr val="EC7000"/>
            </a:solidFill>
          </c:spPr>
          <c:cat>
            <c:strLit>
              <c:ptCount val="7"/>
              <c:pt idx="0">
                <c:v>&lt;10</c:v>
              </c:pt>
              <c:pt idx="1">
                <c:v>10–25</c:v>
              </c:pt>
              <c:pt idx="2">
                <c:v>25–50</c:v>
              </c:pt>
              <c:pt idx="3">
                <c:v>50–
100</c:v>
              </c:pt>
              <c:pt idx="4">
                <c:v>100–
200</c:v>
              </c:pt>
              <c:pt idx="5">
                <c:v>200–
500</c:v>
              </c:pt>
              <c:pt idx="6">
                <c:v>≥500</c:v>
              </c:pt>
            </c:strLit>
          </c:cat>
          <c:val>
            <c:numLit>
              <c:formatCode>0.0,,,</c:formatCode>
              <c:ptCount val="7"/>
              <c:pt idx="0">
                <c:v>801328754.1599998</c:v>
              </c:pt>
              <c:pt idx="1">
                <c:v>3042944518.1800003</c:v>
              </c:pt>
              <c:pt idx="2">
                <c:v>3993685697.28</c:v>
              </c:pt>
              <c:pt idx="3">
                <c:v>7920407650.21</c:v>
              </c:pt>
              <c:pt idx="4">
                <c:v>9440722750.62</c:v>
              </c:pt>
              <c:pt idx="5">
                <c:v>12633761613.11</c:v>
              </c:pt>
              <c:pt idx="6">
                <c:v>27655268000</c:v>
              </c:pt>
            </c:numLit>
          </c:val>
        </c:ser>
        <c:gapWidth val="48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.0,,,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27.xml><?xml version="1.0" encoding="utf-8"?>
<c:chartSpace xmlns:a="http://schemas.openxmlformats.org/drawingml/2006/main" xmlns:c="http://schemas.openxmlformats.org/drawingml/2006/chart">
  <c:lang val="pt-BR"/>
  <c:chart>
    <c:plotArea>
      <c:lineChart>
        <c:grouping val="standard"/>
        <c:ser>
          <c:idx val="0"/>
          <c:order val="0"/>
          <c:tx>
            <c:v>2024FY</c:v>
          </c:tx>
          <c:spPr>
            <a:ln w="28575">
              <a:solidFill>
                <a:srgbClr val="8D9399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1"/>
          <c:order val="1"/>
          <c:tx>
            <c:v>2025FY</c:v>
          </c:tx>
          <c:spPr>
            <a:ln w="28575">
              <a:solidFill>
                <a:srgbClr val="30353A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2"/>
          <c:order val="2"/>
          <c:tx>
            <c:v>2026 jan–jun</c:v>
          </c:tx>
          <c:spPr>
            <a:ln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1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1000" lang="pt-BR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28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clustered"/>
        <c:varyColors val="0"/>
        <c:ser>
          <c:idx val="0"/>
          <c:order val="0"/>
          <c:tx>
            <c:v>NÚMERO DE OFERTAS</c:v>
          </c:tx>
          <c:spPr>
            <a:solidFill>
              <a:srgbClr val="30353A"/>
            </a:solidFill>
          </c:spPr>
          <c:dPt>
            <c:idx val="0"/>
            <c:invertIfNegative val="0"/>
            <c:spPr>
              <a:solidFill>
                <a:srgbClr val="8D9399"/>
              </a:solidFill>
            </c:spPr>
          </c:dPt>
          <c:dPt>
            <c:idx val="1"/>
            <c:invertIfNegative val="0"/>
            <c:spPr>
              <a:solidFill>
                <a:srgbClr val="30353A"/>
              </a:solidFill>
            </c:spPr>
          </c:dPt>
          <c:dPt>
            <c:idx val="2"/>
            <c:invertIfNegative val="0"/>
            <c:spPr>
              <a:solidFill>
                <a:srgbClr val="EC7000"/>
              </a:solidFill>
            </c:spPr>
          </c:dPt>
          <c:cat>
            <c:strLit>
              <c:ptCount val="3"/>
              <c:pt idx="0">
                <c:v>2024FY</c:v>
              </c:pt>
              <c:pt idx="1">
                <c:v>2025FY</c:v>
              </c:pt>
              <c:pt idx="2">
                <c:v>2026 jan–jun</c:v>
              </c:pt>
            </c:strLit>
          </c:cat>
          <c:val>
            <c:numLit>
              <c:formatCode>0</c:formatCode>
              <c:ptCount val="3"/>
              <c:pt idx="0">
                <c:v>1009</c:v>
              </c:pt>
              <c:pt idx="1">
                <c:v>1473</c:v>
              </c:pt>
              <c:pt idx="2">
                <c:v>771</c:v>
              </c:pt>
            </c:numLit>
          </c:val>
        </c:ser>
        <c:dLbls>
          <c:txPr>
            <a:bodyPr anchorCtr="1"/>
            <a:lstStyle/>
            <a:p>
              <a:pPr>
                <a:defRPr sz="1200" b="1" lang="pt-BR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8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29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clustered"/>
        <c:varyColors val="0"/>
        <c:ser>
          <c:idx val="0"/>
          <c:order val="0"/>
          <c:tx>
            <c:v>VOLUME REGISTRADO · R$ BI</c:v>
          </c:tx>
          <c:spPr>
            <a:solidFill>
              <a:srgbClr val="30353A"/>
            </a:solidFill>
          </c:spPr>
          <c:dPt>
            <c:idx val="0"/>
            <c:invertIfNegative val="0"/>
            <c:spPr>
              <a:solidFill>
                <a:srgbClr val="8D9399"/>
              </a:solidFill>
            </c:spPr>
          </c:dPt>
          <c:dPt>
            <c:idx val="1"/>
            <c:invertIfNegative val="0"/>
            <c:spPr>
              <a:solidFill>
                <a:srgbClr val="30353A"/>
              </a:solidFill>
            </c:spPr>
          </c:dPt>
          <c:dPt>
            <c:idx val="2"/>
            <c:invertIfNegative val="0"/>
            <c:spPr>
              <a:solidFill>
                <a:srgbClr val="EC7000"/>
              </a:solidFill>
            </c:spPr>
          </c:dPt>
          <c:cat>
            <c:strLit>
              <c:ptCount val="3"/>
              <c:pt idx="0">
                <c:v>2024FY</c:v>
              </c:pt>
              <c:pt idx="1">
                <c:v>2025FY</c:v>
              </c:pt>
              <c:pt idx="2">
                <c:v>2026 jan–jun</c:v>
              </c:pt>
            </c:strLit>
          </c:cat>
          <c:val>
            <c:numLit>
              <c:formatCode>0.0,,,</c:formatCode>
              <c:ptCount val="3"/>
              <c:pt idx="0">
                <c:v>95416726133.75</c:v>
              </c:pt>
              <c:pt idx="1">
                <c:v>116921319054.77</c:v>
              </c:pt>
              <c:pt idx="2">
                <c:v>65488118983.56</c:v>
              </c:pt>
            </c:numLit>
          </c:val>
        </c:ser>
        <c:dLbls>
          <c:txPr>
            <a:bodyPr anchorCtr="1"/>
            <a:lstStyle/>
            <a:p>
              <a:pPr>
                <a:defRPr sz="1200" b="1" lang="pt-BR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8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.0,,,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30.xml><?xml version="1.0" encoding="utf-8"?>
<c:chartSpace xmlns:a="http://schemas.openxmlformats.org/drawingml/2006/main" xmlns:c="http://schemas.openxmlformats.org/drawingml/2006/chart">
  <c:lang val="pt-BR"/>
  <c:chart>
    <c:plotArea>
      <c:lineChart>
        <c:grouping val="standard"/>
        <c:ser>
          <c:idx val="0"/>
          <c:order val="0"/>
          <c:tx>
            <c:v>2024FY</c:v>
          </c:tx>
          <c:spPr>
            <a:ln w="28575">
              <a:solidFill>
                <a:srgbClr val="8D9399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1"/>
          <c:order val="1"/>
          <c:tx>
            <c:v>2025FY</c:v>
          </c:tx>
          <c:spPr>
            <a:ln w="28575">
              <a:solidFill>
                <a:srgbClr val="30353A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2"/>
          <c:order val="2"/>
          <c:tx>
            <c:v>2026 jan–jun</c:v>
          </c:tx>
          <c:spPr>
            <a:ln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1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1000" lang="pt-BR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31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2026 jan–jun</c:v>
          </c:tx>
          <c:spPr>
            <a:solidFill>
              <a:srgbClr val="EC7000"/>
            </a:solidFill>
          </c:spPr>
          <c:cat>
            <c:strLit>
              <c:ptCount val="3"/>
              <c:pt idx="0">
                <c:v>Misto</c:v>
              </c:pt>
              <c:pt idx="1">
                <c:v>Garantia firme</c:v>
              </c:pt>
              <c:pt idx="2">
                <c:v>Melhores esforços</c:v>
              </c:pt>
            </c:strLit>
          </c:cat>
          <c:val>
            <c:numLit>
              <c:formatCode>0</c:formatCode>
              <c:ptCount val="3"/>
              <c:pt idx="0">
                <c:v>12</c:v>
              </c:pt>
              <c:pt idx="1">
                <c:v>22</c:v>
              </c:pt>
              <c:pt idx="2">
                <c:v>737</c:v>
              </c:pt>
            </c:numLit>
          </c:val>
        </c:ser>
        <c:ser>
          <c:idx val="1"/>
          <c:order val="1"/>
          <c:tx>
            <c:v>2025FY</c:v>
          </c:tx>
          <c:spPr>
            <a:solidFill>
              <a:srgbClr val="30353A"/>
            </a:solidFill>
          </c:spPr>
          <c:cat>
            <c:strLit>
              <c:ptCount val="3"/>
              <c:pt idx="0">
                <c:v>Misto</c:v>
              </c:pt>
              <c:pt idx="1">
                <c:v>Garantia firme</c:v>
              </c:pt>
              <c:pt idx="2">
                <c:v>Melhores esforços</c:v>
              </c:pt>
            </c:strLit>
          </c:cat>
          <c:val>
            <c:numLit>
              <c:formatCode>0</c:formatCode>
              <c:ptCount val="3"/>
              <c:pt idx="0">
                <c:v>21</c:v>
              </c:pt>
              <c:pt idx="1">
                <c:v>50</c:v>
              </c:pt>
              <c:pt idx="2">
                <c:v>1399</c:v>
              </c:pt>
            </c:numLit>
          </c:val>
        </c:ser>
        <c:ser>
          <c:idx val="2"/>
          <c:order val="2"/>
          <c:tx>
            <c:v>2024FY</c:v>
          </c:tx>
          <c:spPr>
            <a:solidFill>
              <a:srgbClr val="8D9399"/>
            </a:solidFill>
          </c:spPr>
          <c:cat>
            <c:strLit>
              <c:ptCount val="3"/>
              <c:pt idx="0">
                <c:v>Misto</c:v>
              </c:pt>
              <c:pt idx="1">
                <c:v>Garantia firme</c:v>
              </c:pt>
              <c:pt idx="2">
                <c:v>Melhores esforços</c:v>
              </c:pt>
            </c:strLit>
          </c:cat>
          <c:val>
            <c:numLit>
              <c:formatCode>0</c:formatCode>
              <c:ptCount val="3"/>
              <c:pt idx="0">
                <c:v>26</c:v>
              </c:pt>
              <c:pt idx="1">
                <c:v>38</c:v>
              </c:pt>
              <c:pt idx="2">
                <c:v>945</c:v>
              </c:pt>
            </c:numLit>
          </c:val>
        </c:ser>
        <c:dLbls>
          <c:txPr>
            <a:bodyPr anchorCtr="1"/>
            <a:lstStyle/>
            <a:p>
              <a:pPr>
                <a:defRPr sz="1200" b="0" lang="pt-BR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2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b"/>
        <c:numFmt formatCode="0"/>
        <c:majorTickMark val="none"/>
        <c:minorTickMark val="none"/>
        <c:spPr>
          <a:ln w="571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32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2026 jan–jun</c:v>
          </c:tx>
          <c:spPr>
            <a:solidFill>
              <a:srgbClr val="EC7000"/>
            </a:solidFill>
          </c:spPr>
          <c:cat>
            <c:strLit>
              <c:ptCount val="3"/>
              <c:pt idx="0">
                <c:v>Misto</c:v>
              </c:pt>
              <c:pt idx="1">
                <c:v>Garantia firme</c:v>
              </c:pt>
              <c:pt idx="2">
                <c:v>Melhores esforços</c:v>
              </c:pt>
            </c:strLit>
          </c:cat>
          <c:val>
            <c:numLit>
              <c:formatCode>0.0,,,</c:formatCode>
              <c:ptCount val="3"/>
              <c:pt idx="0">
                <c:v>5854000000</c:v>
              </c:pt>
              <c:pt idx="1">
                <c:v>14299992000</c:v>
              </c:pt>
              <c:pt idx="2">
                <c:v>45334126983.56</c:v>
              </c:pt>
            </c:numLit>
          </c:val>
        </c:ser>
        <c:ser>
          <c:idx val="1"/>
          <c:order val="1"/>
          <c:tx>
            <c:v>2025FY</c:v>
          </c:tx>
          <c:spPr>
            <a:solidFill>
              <a:srgbClr val="30353A"/>
            </a:solidFill>
          </c:spPr>
          <c:cat>
            <c:strLit>
              <c:ptCount val="3"/>
              <c:pt idx="0">
                <c:v>Misto</c:v>
              </c:pt>
              <c:pt idx="1">
                <c:v>Garantia firme</c:v>
              </c:pt>
              <c:pt idx="2">
                <c:v>Melhores esforços</c:v>
              </c:pt>
            </c:strLit>
          </c:cat>
          <c:val>
            <c:numLit>
              <c:formatCode>0.0,,,</c:formatCode>
              <c:ptCount val="3"/>
              <c:pt idx="0">
                <c:v>10114776653</c:v>
              </c:pt>
              <c:pt idx="1">
                <c:v>18248092653.59</c:v>
              </c:pt>
              <c:pt idx="2">
                <c:v>87985449748.18</c:v>
              </c:pt>
            </c:numLit>
          </c:val>
        </c:ser>
        <c:ser>
          <c:idx val="2"/>
          <c:order val="2"/>
          <c:tx>
            <c:v>2024FY</c:v>
          </c:tx>
          <c:spPr>
            <a:solidFill>
              <a:srgbClr val="8D9399"/>
            </a:solidFill>
          </c:spPr>
          <c:cat>
            <c:strLit>
              <c:ptCount val="3"/>
              <c:pt idx="0">
                <c:v>Misto</c:v>
              </c:pt>
              <c:pt idx="1">
                <c:v>Garantia firme</c:v>
              </c:pt>
              <c:pt idx="2">
                <c:v>Melhores esforços</c:v>
              </c:pt>
            </c:strLit>
          </c:cat>
          <c:val>
            <c:numLit>
              <c:formatCode>0.0,,,</c:formatCode>
              <c:ptCount val="3"/>
              <c:pt idx="0">
                <c:v>12379296999.96</c:v>
              </c:pt>
              <c:pt idx="1">
                <c:v>13696583000</c:v>
              </c:pt>
              <c:pt idx="2">
                <c:v>69340846133.79001</c:v>
              </c:pt>
            </c:numLit>
          </c:val>
        </c:ser>
        <c:dLbls>
          <c:txPr>
            <a:bodyPr anchorCtr="1"/>
            <a:lstStyle/>
            <a:p>
              <a:pPr>
                <a:defRPr sz="1200" b="0" lang="pt-BR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2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b"/>
        <c:numFmt formatCode="0.0,,,"/>
        <c:majorTickMark val="none"/>
        <c:minorTickMark val="none"/>
        <c:spPr>
          <a:ln w="571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33.xml><?xml version="1.0" encoding="utf-8"?>
<c:chartSpace xmlns:a="http://schemas.openxmlformats.org/drawingml/2006/main" xmlns:c="http://schemas.openxmlformats.org/drawingml/2006/chart">
  <c:lang val="pt-BR"/>
  <c:chart>
    <c:plotArea>
      <c:lineChart>
        <c:grouping val="standard"/>
        <c:ser>
          <c:idx val="0"/>
          <c:order val="0"/>
          <c:tx>
            <c:v>QI Tech</c:v>
          </c:tx>
          <c:spPr>
            <a:ln w="28575">
              <a:solidFill>
                <a:srgbClr val="2456D6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1"/>
          <c:order val="1"/>
          <c:tx>
            <c:v>BTG Pactual</c:v>
          </c:tx>
          <c:spPr>
            <a:ln w="28575">
              <a:solidFill>
                <a:srgbClr val="1D4080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2"/>
          <c:order val="2"/>
          <c:tx>
            <c:v>Oliveira Trust</c:v>
          </c:tx>
          <c:spPr>
            <a:ln w="28575">
              <a:solidFill>
                <a:srgbClr val="7A1F3D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3"/>
          <c:order val="3"/>
          <c:tx>
            <c:v>Itaú</c:v>
          </c:tx>
          <c:spPr>
            <a:ln w="28575">
              <a:solidFill>
                <a:srgbClr val="FF5500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4"/>
          <c:order val="4"/>
          <c:tx>
            <c:v>Genial</c:v>
          </c:tx>
          <c:spPr>
            <a:ln w="28575">
              <a:solidFill>
                <a:srgbClr val="6EC5E9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5"/>
          <c:order val="5"/>
          <c:tx>
            <c:v>CBSF / REAG</c:v>
          </c:tx>
          <c:spPr>
            <a:ln w="28575">
              <a:solidFill>
                <a:srgbClr val="73C6A1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6"/>
          <c:order val="6"/>
          <c:tx>
            <c:v>Demais</c:v>
          </c:tx>
          <c:spPr>
            <a:ln w="28575">
              <a:solidFill>
                <a:srgbClr val="73787D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1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1000" lang="pt-BR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34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PL jun/26</c:v>
          </c:tx>
          <c:spPr>
            <a:solidFill>
              <a:srgbClr val="30353A"/>
            </a:solidFill>
          </c:spPr>
          <c:dPt>
            <c:idx val="0"/>
            <c:invertIfNegative val="0"/>
            <c:spPr>
              <a:solidFill>
                <a:srgbClr val="FF5500"/>
              </a:solidFill>
            </c:spPr>
          </c:dPt>
          <c:dPt>
            <c:idx val="1"/>
            <c:invertIfNegative val="0"/>
            <c:spPr>
              <a:solidFill>
                <a:srgbClr val="73787D"/>
              </a:solidFill>
            </c:spPr>
          </c:dPt>
          <c:dPt>
            <c:idx val="2"/>
            <c:invertIfNegative val="0"/>
            <c:spPr>
              <a:solidFill>
                <a:srgbClr val="7A1F3D"/>
              </a:solidFill>
            </c:spPr>
          </c:dPt>
          <c:dPt>
            <c:idx val="3"/>
            <c:invertIfNegative val="0"/>
            <c:spPr>
              <a:solidFill>
                <a:srgbClr val="1D4080"/>
              </a:solidFill>
            </c:spPr>
          </c:dPt>
          <c:dPt>
            <c:idx val="4"/>
            <c:invertIfNegative val="0"/>
            <c:spPr>
              <a:solidFill>
                <a:srgbClr val="2456D6"/>
              </a:solidFill>
            </c:spPr>
          </c:dPt>
          <c:cat>
            <c:strLit>
              <c:ptCount val="5"/>
              <c:pt idx="0">
                <c:v>Itaú</c:v>
              </c:pt>
              <c:pt idx="1">
                <c:v>Bradesco</c:v>
              </c:pt>
              <c:pt idx="2">
                <c:v>Oliveira Trust</c:v>
              </c:pt>
              <c:pt idx="3">
                <c:v>BTG Pactual</c:v>
              </c:pt>
              <c:pt idx="4">
                <c:v>QI Tech</c:v>
              </c:pt>
            </c:strLit>
          </c:cat>
          <c:val>
            <c:numLit>
              <c:formatCode>0.0</c:formatCode>
              <c:ptCount val="5"/>
              <c:pt idx="0">
                <c:v>27.05634936661</c:v>
              </c:pt>
              <c:pt idx="1">
                <c:v>49.77770817222</c:v>
              </c:pt>
              <c:pt idx="2">
                <c:v>56.87136007691</c:v>
              </c:pt>
              <c:pt idx="3">
                <c:v>107.91817098489999</c:v>
              </c:pt>
              <c:pt idx="4">
                <c:v>116.97439427594999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1200" b="0" lang="pt-BR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6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35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PL jun/26</c:v>
          </c:tx>
          <c:spPr>
            <a:solidFill>
              <a:srgbClr val="30353A"/>
            </a:solidFill>
          </c:spPr>
          <c:dPt>
            <c:idx val="0"/>
            <c:invertIfNegative val="0"/>
            <c:spPr>
              <a:solidFill>
                <a:srgbClr val="30353A"/>
              </a:solidFill>
            </c:spPr>
          </c:dPt>
          <c:dPt>
            <c:idx val="1"/>
            <c:invertIfNegative val="0"/>
            <c:spPr>
              <a:solidFill>
                <a:srgbClr val="454A4F"/>
              </a:solidFill>
            </c:spPr>
          </c:dPt>
          <c:dPt>
            <c:idx val="2"/>
            <c:invertIfNegative val="0"/>
            <c:spPr>
              <a:solidFill>
                <a:srgbClr val="5B6065"/>
              </a:solidFill>
            </c:spPr>
          </c:dPt>
          <c:dPt>
            <c:idx val="3"/>
            <c:invertIfNegative val="0"/>
            <c:spPr>
              <a:solidFill>
                <a:srgbClr val="7A1F3D"/>
              </a:solidFill>
            </c:spPr>
          </c:dPt>
          <c:dPt>
            <c:idx val="4"/>
            <c:invertIfNegative val="0"/>
            <c:spPr>
              <a:solidFill>
                <a:srgbClr val="2456D6"/>
              </a:solidFill>
            </c:spPr>
          </c:dPt>
          <c:cat>
            <c:strLit>
              <c:ptCount val="5"/>
              <c:pt idx="0">
                <c:v>Hemera</c:v>
              </c:pt>
              <c:pt idx="1">
                <c:v>BRL Trust</c:v>
              </c:pt>
              <c:pt idx="2">
                <c:v>Finaxis</c:v>
              </c:pt>
              <c:pt idx="3">
                <c:v>Oliveira Trust</c:v>
              </c:pt>
              <c:pt idx="4">
                <c:v>QI Tech</c:v>
              </c:pt>
            </c:strLit>
          </c:cat>
          <c:val>
            <c:numLit>
              <c:formatCode>0.0</c:formatCode>
              <c:ptCount val="5"/>
              <c:pt idx="0">
                <c:v>21.00943573536</c:v>
              </c:pt>
              <c:pt idx="1">
                <c:v>21.26060727013</c:v>
              </c:pt>
              <c:pt idx="2">
                <c:v>22.30772786867</c:v>
              </c:pt>
              <c:pt idx="3">
                <c:v>56.87136007691</c:v>
              </c:pt>
              <c:pt idx="4">
                <c:v>116.97439427594999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1200" b="0" lang="pt-BR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6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36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PL jun/26</c:v>
          </c:tx>
          <c:spPr>
            <a:solidFill>
              <a:srgbClr val="30353A"/>
            </a:solidFill>
          </c:spPr>
          <c:dPt>
            <c:idx val="0"/>
            <c:invertIfNegative val="0"/>
            <c:spPr>
              <a:solidFill>
                <a:srgbClr val="FF5500"/>
              </a:solidFill>
            </c:spPr>
          </c:dPt>
          <c:dPt>
            <c:idx val="1"/>
            <c:invertIfNegative val="0"/>
            <c:spPr>
              <a:solidFill>
                <a:srgbClr val="6EC5E9"/>
              </a:solidFill>
            </c:spPr>
          </c:dPt>
          <c:dPt>
            <c:idx val="2"/>
            <c:invertIfNegative val="0"/>
            <c:spPr>
              <a:solidFill>
                <a:srgbClr val="7A1F3D"/>
              </a:solidFill>
            </c:spPr>
          </c:dPt>
          <c:dPt>
            <c:idx val="3"/>
            <c:invertIfNegative val="0"/>
            <c:spPr>
              <a:solidFill>
                <a:srgbClr val="73787D"/>
              </a:solidFill>
            </c:spPr>
          </c:dPt>
          <c:dPt>
            <c:idx val="4"/>
            <c:invertIfNegative val="0"/>
            <c:spPr>
              <a:solidFill>
                <a:srgbClr val="1D4080"/>
              </a:solidFill>
            </c:spPr>
          </c:dPt>
          <c:cat>
            <c:strLit>
              <c:ptCount val="5"/>
              <c:pt idx="0">
                <c:v>Itaú</c:v>
              </c:pt>
              <c:pt idx="1">
                <c:v>Genial</c:v>
              </c:pt>
              <c:pt idx="2">
                <c:v>Oliveira Trust</c:v>
              </c:pt>
              <c:pt idx="3">
                <c:v>Bradesco</c:v>
              </c:pt>
              <c:pt idx="4">
                <c:v>BTG Pactual</c:v>
              </c:pt>
            </c:strLit>
          </c:cat>
          <c:val>
            <c:numLit>
              <c:formatCode>0.0</c:formatCode>
              <c:ptCount val="5"/>
              <c:pt idx="0">
                <c:v>18.57363252764</c:v>
              </c:pt>
              <c:pt idx="1">
                <c:v>26.87573463003</c:v>
              </c:pt>
              <c:pt idx="2">
                <c:v>35.02222544035998</c:v>
              </c:pt>
              <c:pt idx="3">
                <c:v>39.85656848075</c:v>
              </c:pt>
              <c:pt idx="4">
                <c:v>78.74983410723001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1200" b="0" lang="pt-BR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6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37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PL jun/26</c:v>
          </c:tx>
          <c:spPr>
            <a:solidFill>
              <a:srgbClr val="30353A"/>
            </a:solidFill>
          </c:spPr>
          <c:dPt>
            <c:idx val="0"/>
            <c:invertIfNegative val="0"/>
            <c:spPr>
              <a:solidFill>
                <a:srgbClr val="73C6A1"/>
              </a:solidFill>
            </c:spPr>
          </c:dPt>
          <c:dPt>
            <c:idx val="1"/>
            <c:invertIfNegative val="0"/>
            <c:spPr>
              <a:solidFill>
                <a:srgbClr val="BEC2C5"/>
              </a:solidFill>
            </c:spPr>
          </c:dPt>
          <c:dPt>
            <c:idx val="2"/>
            <c:invertIfNegative val="0"/>
            <c:spPr>
              <a:solidFill>
                <a:srgbClr val="A7ACB0"/>
              </a:solidFill>
            </c:spPr>
          </c:dPt>
          <c:dPt>
            <c:idx val="3"/>
            <c:invertIfNegative val="0"/>
            <c:spPr>
              <a:solidFill>
                <a:srgbClr val="8D9399"/>
              </a:solidFill>
            </c:spPr>
          </c:dPt>
          <c:dPt>
            <c:idx val="4"/>
            <c:invertIfNegative val="0"/>
            <c:spPr>
              <a:solidFill>
                <a:srgbClr val="7A1F3D"/>
              </a:solidFill>
            </c:spPr>
          </c:dPt>
          <c:cat>
            <c:strLit>
              <c:ptCount val="5"/>
              <c:pt idx="0">
                <c:v>CBSF</c:v>
              </c:pt>
              <c:pt idx="1">
                <c:v>Solis Investimentos</c:v>
              </c:pt>
              <c:pt idx="2">
                <c:v>Integral Investimentos</c:v>
              </c:pt>
              <c:pt idx="3">
                <c:v>Tercon Investimentos</c:v>
              </c:pt>
              <c:pt idx="4">
                <c:v>Oliveira Trust</c:v>
              </c:pt>
            </c:strLit>
          </c:cat>
          <c:val>
            <c:numLit>
              <c:formatCode>0.0</c:formatCode>
              <c:ptCount val="5"/>
              <c:pt idx="0">
                <c:v>10.17441132442</c:v>
              </c:pt>
              <c:pt idx="1">
                <c:v>14.32953247391</c:v>
              </c:pt>
              <c:pt idx="2">
                <c:v>14.931875223759999</c:v>
              </c:pt>
              <c:pt idx="3">
                <c:v>21.696113631950002</c:v>
              </c:pt>
              <c:pt idx="4">
                <c:v>35.02222544035998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1200" b="0" lang="pt-BR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6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38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PL jun/26</c:v>
          </c:tx>
          <c:spPr>
            <a:solidFill>
              <a:srgbClr val="30353A"/>
            </a:solidFill>
          </c:spPr>
          <c:dPt>
            <c:idx val="0"/>
            <c:invertIfNegative val="0"/>
            <c:spPr>
              <a:solidFill>
                <a:srgbClr val="FF5500"/>
              </a:solidFill>
            </c:spPr>
          </c:dPt>
          <c:dPt>
            <c:idx val="1"/>
            <c:invertIfNegative val="0"/>
            <c:spPr>
              <a:solidFill>
                <a:srgbClr val="BEC2C5"/>
              </a:solidFill>
            </c:spPr>
          </c:dPt>
          <c:dPt>
            <c:idx val="2"/>
            <c:invertIfNegative val="0"/>
            <c:spPr>
              <a:solidFill>
                <a:srgbClr val="7A1F3D"/>
              </a:solidFill>
            </c:spPr>
          </c:dPt>
          <c:dPt>
            <c:idx val="3"/>
            <c:invertIfNegative val="0"/>
            <c:spPr>
              <a:solidFill>
                <a:srgbClr val="1D4080"/>
              </a:solidFill>
            </c:spPr>
          </c:dPt>
          <c:dPt>
            <c:idx val="4"/>
            <c:invertIfNegative val="0"/>
            <c:spPr>
              <a:solidFill>
                <a:srgbClr val="2456D6"/>
              </a:solidFill>
            </c:spPr>
          </c:dPt>
          <c:cat>
            <c:strLit>
              <c:ptCount val="5"/>
              <c:pt idx="0">
                <c:v>Itaú</c:v>
              </c:pt>
              <c:pt idx="1">
                <c:v>Daycoval</c:v>
              </c:pt>
              <c:pt idx="2">
                <c:v>Oliveira Trust</c:v>
              </c:pt>
              <c:pt idx="3">
                <c:v>BTG Pactual</c:v>
              </c:pt>
              <c:pt idx="4">
                <c:v>QI Tech</c:v>
              </c:pt>
            </c:strLit>
          </c:cat>
          <c:val>
            <c:numLit>
              <c:formatCode>0.0</c:formatCode>
              <c:ptCount val="5"/>
              <c:pt idx="0">
                <c:v>20.405586732159996</c:v>
              </c:pt>
              <c:pt idx="1">
                <c:v>55.81924378400999</c:v>
              </c:pt>
              <c:pt idx="2">
                <c:v>71.90092760434999</c:v>
              </c:pt>
              <c:pt idx="3">
                <c:v>107.26541902169001</c:v>
              </c:pt>
              <c:pt idx="4">
                <c:v>115.31244022541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1200" b="0" lang="pt-BR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6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39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PL jun/26</c:v>
          </c:tx>
          <c:spPr>
            <a:solidFill>
              <a:srgbClr val="30353A"/>
            </a:solidFill>
          </c:spPr>
          <c:dPt>
            <c:idx val="0"/>
            <c:invertIfNegative val="0"/>
            <c:spPr>
              <a:solidFill>
                <a:srgbClr val="454A4F"/>
              </a:solidFill>
            </c:spPr>
          </c:dPt>
          <c:dPt>
            <c:idx val="1"/>
            <c:invertIfNegative val="0"/>
            <c:spPr>
              <a:solidFill>
                <a:srgbClr val="5B6065"/>
              </a:solidFill>
            </c:spPr>
          </c:dPt>
          <c:dPt>
            <c:idx val="2"/>
            <c:invertIfNegative val="0"/>
            <c:spPr>
              <a:solidFill>
                <a:srgbClr val="73C6A1"/>
              </a:solidFill>
            </c:spPr>
          </c:dPt>
          <c:dPt>
            <c:idx val="3"/>
            <c:invertIfNegative val="0"/>
            <c:spPr>
              <a:solidFill>
                <a:srgbClr val="7A1F3D"/>
              </a:solidFill>
            </c:spPr>
          </c:dPt>
          <c:dPt>
            <c:idx val="4"/>
            <c:invertIfNegative val="0"/>
            <c:spPr>
              <a:solidFill>
                <a:srgbClr val="2456D6"/>
              </a:solidFill>
            </c:spPr>
          </c:dPt>
          <c:cat>
            <c:strLit>
              <c:ptCount val="5"/>
              <c:pt idx="0">
                <c:v>BRL Trust</c:v>
              </c:pt>
              <c:pt idx="1">
                <c:v>Finaxis</c:v>
              </c:pt>
              <c:pt idx="2">
                <c:v>REAG</c:v>
              </c:pt>
              <c:pt idx="3">
                <c:v>Oliveira Trust</c:v>
              </c:pt>
              <c:pt idx="4">
                <c:v>QI Tech</c:v>
              </c:pt>
            </c:strLit>
          </c:cat>
          <c:val>
            <c:numLit>
              <c:formatCode>0.0</c:formatCode>
              <c:ptCount val="5"/>
              <c:pt idx="0">
                <c:v>21.26374598682</c:v>
              </c:pt>
              <c:pt idx="1">
                <c:v>22.30772786867</c:v>
              </c:pt>
              <c:pt idx="2">
                <c:v>25.04054022159</c:v>
              </c:pt>
              <c:pt idx="3">
                <c:v>71.90092760434999</c:v>
              </c:pt>
              <c:pt idx="4">
                <c:v>115.31244022541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1200" b="0" lang="pt-BR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6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40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Dez/25</c:v>
          </c:tx>
          <c:spPr>
            <a:solidFill>
              <a:srgbClr val="73787D"/>
            </a:solidFill>
          </c:spPr>
          <c:cat>
            <c:strLit>
              <c:ptCount val="3"/>
              <c:pt idx="0">
                <c:v>Admin.</c:v>
              </c:pt>
              <c:pt idx="1">
                <c:v>Gestão</c:v>
              </c:pt>
              <c:pt idx="2">
                <c:v>Custódia</c:v>
              </c:pt>
            </c:strLit>
          </c:cat>
          <c:val>
            <c:numLit>
              <c:formatCode>0.0%</c:formatCode>
              <c:ptCount val="3"/>
              <c:pt idx="0">
                <c:v>0.7168643095519629</c:v>
              </c:pt>
              <c:pt idx="1">
                <c:v>0.35810685850247875</c:v>
              </c:pt>
              <c:pt idx="2">
                <c:v>0.7169086306781982</c:v>
              </c:pt>
            </c:numLit>
          </c:val>
        </c:ser>
        <c:ser>
          <c:idx val="1"/>
          <c:order val="1"/>
          <c:tx>
            <c:v>Jun/26</c:v>
          </c:tx>
          <c:spPr>
            <a:solidFill>
              <a:srgbClr val="EC7000"/>
            </a:solidFill>
          </c:spPr>
          <c:cat>
            <c:strLit>
              <c:ptCount val="3"/>
              <c:pt idx="0">
                <c:v>Admin.</c:v>
              </c:pt>
              <c:pt idx="1">
                <c:v>Gestão</c:v>
              </c:pt>
              <c:pt idx="2">
                <c:v>Custódia</c:v>
              </c:pt>
            </c:strLit>
          </c:cat>
          <c:val>
            <c:numLit>
              <c:formatCode>0.0%</c:formatCode>
              <c:ptCount val="3"/>
              <c:pt idx="0">
                <c:v>0.7150145774372395</c:v>
              </c:pt>
              <c:pt idx="1">
                <c:v>0.3890568914241183</c:v>
              </c:pt>
              <c:pt idx="2">
                <c:v>0.7349339570479368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1200" b="0" lang="pt-BR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4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41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Dez/25</c:v>
          </c:tx>
          <c:spPr>
            <a:solidFill>
              <a:srgbClr val="73787D"/>
            </a:solidFill>
          </c:spPr>
          <c:cat>
            <c:strLit>
              <c:ptCount val="3"/>
              <c:pt idx="0">
                <c:v>Admin.</c:v>
              </c:pt>
              <c:pt idx="1">
                <c:v>Gestão</c:v>
              </c:pt>
              <c:pt idx="2">
                <c:v>Custódia</c:v>
              </c:pt>
            </c:strLit>
          </c:cat>
          <c:val>
            <c:numLit>
              <c:formatCode>0.0%</c:formatCode>
              <c:ptCount val="3"/>
              <c:pt idx="0">
                <c:v>0.497141395134468</c:v>
              </c:pt>
              <c:pt idx="1">
                <c:v>0.23645038550679134</c:v>
              </c:pt>
              <c:pt idx="2">
                <c:v>0.5170349888512263</c:v>
              </c:pt>
            </c:numLit>
          </c:val>
        </c:ser>
        <c:ser>
          <c:idx val="1"/>
          <c:order val="1"/>
          <c:tx>
            <c:v>Jun/26</c:v>
          </c:tx>
          <c:spPr>
            <a:solidFill>
              <a:srgbClr val="EC7000"/>
            </a:solidFill>
          </c:spPr>
          <c:cat>
            <c:strLit>
              <c:ptCount val="3"/>
              <c:pt idx="0">
                <c:v>Admin.</c:v>
              </c:pt>
              <c:pt idx="1">
                <c:v>Gestão</c:v>
              </c:pt>
              <c:pt idx="2">
                <c:v>Custódia</c:v>
              </c:pt>
            </c:strLit>
          </c:cat>
          <c:val>
            <c:numLit>
              <c:formatCode>0.0%</c:formatCode>
              <c:ptCount val="3"/>
              <c:pt idx="0">
                <c:v>0.5306014675789608</c:v>
              </c:pt>
              <c:pt idx="1">
                <c:v>0.2813769971812452</c:v>
              </c:pt>
              <c:pt idx="2">
                <c:v>0.5548653859259784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1200" b="0" lang="pt-BR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4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42.xml><?xml version="1.0" encoding="utf-8"?>
<c:chartSpace xmlns:a="http://schemas.openxmlformats.org/drawingml/2006/main" xmlns:c="http://schemas.openxmlformats.org/drawingml/2006/chart">
  <c:lang val="pt-BR"/>
  <c:chart>
    <c:plotArea>
      <c:lineChart>
        <c:grouping val="standard"/>
        <c:varyColors val="0"/>
        <c:ser>
          <c:idx val="0"/>
          <c:order val="0"/>
          <c:tx>
            <c:v>Contas</c:v>
          </c:tx>
          <c:spPr>
            <a:ln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cat>
            <c:strLit>
              <c:ptCount val="12"/>
              <c:pt idx="0">
                <c:v>2015</c:v>
              </c:pt>
              <c:pt idx="1">
                <c:v>​​</c:v>
              </c:pt>
              <c:pt idx="2">
                <c:v>​​​</c:v>
              </c:pt>
              <c:pt idx="3">
                <c:v>2018</c:v>
              </c:pt>
              <c:pt idx="4">
                <c:v>​​​​​</c:v>
              </c:pt>
              <c:pt idx="5">
                <c:v>​​​​​​</c:v>
              </c:pt>
              <c:pt idx="6">
                <c:v>2021</c:v>
              </c:pt>
              <c:pt idx="7">
                <c:v>​​​​​​​​</c:v>
              </c:pt>
              <c:pt idx="8">
                <c:v>​​​​​​​​​</c:v>
              </c:pt>
              <c:pt idx="9">
                <c:v>2024</c:v>
              </c:pt>
              <c:pt idx="10">
                <c:v>​​​​​​​​​​​</c:v>
              </c:pt>
              <c:pt idx="11">
                <c:v>Jun/26</c:v>
              </c:pt>
            </c:strLit>
          </c:cat>
          <c:val>
            <c:numLit>
              <c:formatCode>0 "mil"</c:formatCode>
              <c:ptCount val="12"/>
              <c:pt idx="0">
                <c:v>12.508</c:v>
              </c:pt>
              <c:pt idx="1">
                <c:v>13.872</c:v>
              </c:pt>
              <c:pt idx="2">
                <c:v>16.049</c:v>
              </c:pt>
              <c:pt idx="3">
                <c:v>17.678</c:v>
              </c:pt>
              <c:pt idx="4">
                <c:v>25.781</c:v>
              </c:pt>
              <c:pt idx="5">
                <c:v>32.936</c:v>
              </c:pt>
              <c:pt idx="6">
                <c:v>31.626</c:v>
              </c:pt>
              <c:pt idx="7">
                <c:v>48.608</c:v>
              </c:pt>
              <c:pt idx="8">
                <c:v>61.735</c:v>
              </c:pt>
              <c:pt idx="9">
                <c:v>148.582</c:v>
              </c:pt>
              <c:pt idx="10">
                <c:v>387.159</c:v>
              </c:pt>
              <c:pt idx="11">
                <c:v>461.222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tickLblPos val="low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 &quot;mil&quot;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43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stacked"/>
        <c:varyColors val="0"/>
        <c:ser>
          <c:idx val="0"/>
          <c:order val="0"/>
          <c:tx>
            <c:v>Profissional</c:v>
          </c:tx>
          <c:spPr>
            <a:solidFill>
              <a:srgbClr val="EC7000"/>
            </a:solidFill>
          </c:spPr>
          <c:cat>
            <c:strLit>
              <c:ptCount val="4"/>
              <c:pt idx="0">
                <c:v>2023FY</c:v>
              </c:pt>
              <c:pt idx="1">
                <c:v>2024FY</c:v>
              </c:pt>
              <c:pt idx="2">
                <c:v>2025FY</c:v>
              </c:pt>
              <c:pt idx="3">
                <c:v>Jan–jun/26</c:v>
              </c:pt>
            </c:strLit>
          </c:cat>
          <c:val>
            <c:numLit>
              <c:formatCode>0.0%</c:formatCode>
              <c:ptCount val="4"/>
              <c:pt idx="0">
                <c:v>0.9684547923581838</c:v>
              </c:pt>
              <c:pt idx="1">
                <c:v>0.9441348233073096</c:v>
              </c:pt>
              <c:pt idx="2">
                <c:v>0.9282664027264255</c:v>
              </c:pt>
              <c:pt idx="3">
                <c:v>0.9378646364463225</c:v>
              </c:pt>
            </c:numLit>
          </c:val>
        </c:ser>
        <c:ser>
          <c:idx val="1"/>
          <c:order val="1"/>
          <c:tx>
            <c:v>Qualificado</c:v>
          </c:tx>
          <c:spPr>
            <a:solidFill>
              <a:srgbClr val="30353A"/>
            </a:solidFill>
          </c:spPr>
          <c:cat>
            <c:strLit>
              <c:ptCount val="4"/>
              <c:pt idx="0">
                <c:v>2023FY</c:v>
              </c:pt>
              <c:pt idx="1">
                <c:v>2024FY</c:v>
              </c:pt>
              <c:pt idx="2">
                <c:v>2025FY</c:v>
              </c:pt>
              <c:pt idx="3">
                <c:v>Jan–jun/26</c:v>
              </c:pt>
            </c:strLit>
          </c:cat>
          <c:val>
            <c:numLit>
              <c:formatCode>0.0%</c:formatCode>
              <c:ptCount val="4"/>
              <c:pt idx="0">
                <c:v>0.020214315409922565</c:v>
              </c:pt>
              <c:pt idx="1">
                <c:v>0.0558127749786242</c:v>
              </c:pt>
              <c:pt idx="2">
                <c:v>0.06683286569927906</c:v>
              </c:pt>
              <c:pt idx="3">
                <c:v>0.057045463199635146</c:v>
              </c:pt>
            </c:numLit>
          </c:val>
        </c:ser>
        <c:ser>
          <c:idx val="2"/>
          <c:order val="2"/>
          <c:tx>
            <c:v>Geral</c:v>
          </c:tx>
          <c:spPr>
            <a:solidFill>
              <a:srgbClr val="73787D"/>
            </a:solidFill>
          </c:spPr>
          <c:cat>
            <c:strLit>
              <c:ptCount val="4"/>
              <c:pt idx="0">
                <c:v>2023FY</c:v>
              </c:pt>
              <c:pt idx="1">
                <c:v>2024FY</c:v>
              </c:pt>
              <c:pt idx="2">
                <c:v>2025FY</c:v>
              </c:pt>
              <c:pt idx="3">
                <c:v>Jan–jun/26</c:v>
              </c:pt>
            </c:strLit>
          </c:cat>
          <c:val>
            <c:numLit>
              <c:formatCode>0.0%</c:formatCode>
              <c:ptCount val="4"/>
              <c:pt idx="0">
                <c:v>0</c:v>
              </c:pt>
              <c:pt idx="1">
                <c:v>5.240171406626623E-05</c:v>
              </c:pt>
              <c:pt idx="2">
                <c:v>0</c:v>
              </c:pt>
              <c:pt idx="3">
                <c:v>0.005089900354042509</c:v>
              </c:pt>
            </c:numLit>
          </c:val>
        </c:ser>
        <c:ser>
          <c:idx val="3"/>
          <c:order val="3"/>
          <c:tx>
            <c:v>N/D</c:v>
          </c:tx>
          <c:spPr>
            <a:solidFill>
              <a:srgbClr val="E7E9EB"/>
            </a:solidFill>
          </c:spPr>
          <c:cat>
            <c:strLit>
              <c:ptCount val="4"/>
              <c:pt idx="0">
                <c:v>2023FY</c:v>
              </c:pt>
              <c:pt idx="1">
                <c:v>2024FY</c:v>
              </c:pt>
              <c:pt idx="2">
                <c:v>2025FY</c:v>
              </c:pt>
              <c:pt idx="3">
                <c:v>Jan–jun/26</c:v>
              </c:pt>
            </c:strLit>
          </c:cat>
          <c:val>
            <c:numLit>
              <c:formatCode>0.0%</c:formatCode>
              <c:ptCount val="4"/>
              <c:pt idx="0">
                <c:v>0.01133089223189357</c:v>
              </c:pt>
              <c:pt idx="1">
                <c:v>0</c:v>
              </c:pt>
              <c:pt idx="2">
                <c:v>0.004900731574295591</c:v>
              </c:pt>
              <c:pt idx="3">
                <c:v>0</c:v>
              </c:pt>
            </c:numLit>
          </c:val>
        </c:ser>
        <c:gapWidth val="45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1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25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1000" lang="pt-BR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44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Contas</c:v>
          </c:tx>
          <c:spPr>
            <a:solidFill>
              <a:srgbClr val="30353A"/>
            </a:solidFill>
          </c:spPr>
          <c:dPt>
            <c:idx val="0"/>
            <c:invertIfNegative val="0"/>
            <c:spPr>
              <a:solidFill>
                <a:srgbClr val="EC7000"/>
              </a:solidFill>
            </c:spPr>
          </c:dPt>
          <c:dPt>
            <c:idx val="1"/>
            <c:invertIfNegative val="0"/>
            <c:spPr>
              <a:solidFill>
                <a:srgbClr val="30353A"/>
              </a:solidFill>
            </c:spPr>
          </c:dPt>
          <c:dPt>
            <c:idx val="2"/>
            <c:invertIfNegative val="0"/>
            <c:spPr>
              <a:solidFill>
                <a:srgbClr val="30353A"/>
              </a:solidFill>
            </c:spPr>
          </c:dPt>
          <c:dPt>
            <c:idx val="3"/>
            <c:invertIfNegative val="0"/>
            <c:spPr>
              <a:solidFill>
                <a:srgbClr val="30353A"/>
              </a:solidFill>
            </c:spPr>
          </c:dPt>
          <c:dPt>
            <c:idx val="4"/>
            <c:invertIfNegative val="0"/>
            <c:spPr>
              <a:solidFill>
                <a:srgbClr val="30353A"/>
              </a:solidFill>
            </c:spPr>
          </c:dPt>
          <c:cat>
            <c:strLit>
              <c:ptCount val="5"/>
              <c:pt idx="0">
                <c:v>Fundos</c:v>
              </c:pt>
              <c:pt idx="1">
                <c:v>Empresas e outros</c:v>
              </c:pt>
              <c:pt idx="2">
                <c:v>Pessoa física</c:v>
              </c:pt>
              <c:pt idx="3">
                <c:v>Instituições financeiras</c:v>
              </c:pt>
              <c:pt idx="4">
                <c:v>Previdência e seguros</c:v>
              </c:pt>
            </c:strLit>
          </c:cat>
          <c:val>
            <c:numLit>
              <c:formatCode>0.0%</c:formatCode>
              <c:ptCount val="5"/>
              <c:pt idx="0">
                <c:v>0.442722471315705</c:v>
              </c:pt>
              <c:pt idx="1">
                <c:v>0.25706375155020944</c:v>
              </c:pt>
              <c:pt idx="2">
                <c:v>0.20520653559627777</c:v>
              </c:pt>
              <c:pt idx="3">
                <c:v>0.09422238025445116</c:v>
              </c:pt>
              <c:pt idx="4">
                <c:v>0.0007848612833566045</c:v>
              </c:pt>
            </c:numLit>
          </c:val>
        </c:ser>
        <c:dLbls>
          <c:txPr>
            <a:bodyPr anchorCtr="1"/>
            <a:lstStyle/>
            <a:p>
              <a:pPr>
                <a:defRPr sz="1200" b="1" lang="pt-BR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2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45.xml><?xml version="1.0" encoding="utf-8"?>
<c:chartSpace xmlns:a="http://schemas.openxmlformats.org/drawingml/2006/main" xmlns:c="http://schemas.openxmlformats.org/drawingml/2006/chart">
  <c:lang val="pt-BR"/>
  <c:chart>
    <c:plotArea>
      <c:lineChart>
        <c:grouping val="standard"/>
        <c:ser>
          <c:idx val="0"/>
          <c:order val="0"/>
          <c:tx>
            <c:v>Dez/23</c:v>
          </c:tx>
          <c:spPr>
            <a:ln w="28575">
              <a:solidFill>
                <a:srgbClr val="73787D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1"/>
          <c:order val="1"/>
          <c:tx>
            <c:v>Jun/26</c:v>
          </c:tx>
          <c:spPr>
            <a:ln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1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1000" lang="pt-BR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46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clustered"/>
        <c:varyColors val="0"/>
        <c:ser>
          <c:idx val="0"/>
          <c:order val="0"/>
          <c:tx>
            <c:v>Dez/23</c:v>
          </c:tx>
          <c:spPr>
            <a:solidFill>
              <a:srgbClr val="73787D"/>
            </a:solidFill>
          </c:spPr>
          <c:cat>
            <c:strLit>
              <c:ptCount val="6"/>
              <c:pt idx="0">
                <c:v>0</c:v>
              </c:pt>
              <c:pt idx="1">
                <c:v>1</c:v>
              </c:pt>
              <c:pt idx="2">
                <c:v>2–3</c:v>
              </c:pt>
              <c:pt idx="3">
                <c:v>4–10</c:v>
              </c:pt>
              <c:pt idx="4">
                <c:v>11–50</c:v>
              </c:pt>
              <c:pt idx="5">
                <c:v>51+</c:v>
              </c:pt>
            </c:strLit>
          </c:cat>
          <c:val>
            <c:numLit>
              <c:formatCode>0</c:formatCode>
              <c:ptCount val="6"/>
              <c:pt idx="0">
                <c:v>3</c:v>
              </c:pt>
              <c:pt idx="1">
                <c:v>106</c:v>
              </c:pt>
              <c:pt idx="2">
                <c:v>104</c:v>
              </c:pt>
              <c:pt idx="3">
                <c:v>71</c:v>
              </c:pt>
              <c:pt idx="4">
                <c:v>50</c:v>
              </c:pt>
              <c:pt idx="5">
                <c:v>75</c:v>
              </c:pt>
            </c:numLit>
          </c:val>
        </c:ser>
        <c:ser>
          <c:idx val="1"/>
          <c:order val="1"/>
          <c:tx>
            <c:v>Jun/26</c:v>
          </c:tx>
          <c:spPr>
            <a:solidFill>
              <a:srgbClr val="EC7000"/>
            </a:solidFill>
          </c:spPr>
          <c:cat>
            <c:strLit>
              <c:ptCount val="6"/>
              <c:pt idx="0">
                <c:v>0</c:v>
              </c:pt>
              <c:pt idx="1">
                <c:v>1</c:v>
              </c:pt>
              <c:pt idx="2">
                <c:v>2–3</c:v>
              </c:pt>
              <c:pt idx="3">
                <c:v>4–10</c:v>
              </c:pt>
              <c:pt idx="4">
                <c:v>11–50</c:v>
              </c:pt>
              <c:pt idx="5">
                <c:v>51+</c:v>
              </c:pt>
            </c:strLit>
          </c:cat>
          <c:val>
            <c:numLit>
              <c:formatCode>0</c:formatCode>
              <c:ptCount val="6"/>
              <c:pt idx="0">
                <c:v>2</c:v>
              </c:pt>
              <c:pt idx="1">
                <c:v>180</c:v>
              </c:pt>
              <c:pt idx="2">
                <c:v>123</c:v>
              </c:pt>
              <c:pt idx="3">
                <c:v>153</c:v>
              </c:pt>
              <c:pt idx="4">
                <c:v>128</c:v>
              </c:pt>
              <c:pt idx="5">
                <c:v>198</c:v>
              </c:pt>
            </c:numLit>
          </c:val>
        </c:ser>
        <c:dLbls>
          <c:txPr>
            <a:bodyPr anchorCtr="1"/>
            <a:lstStyle/>
            <a:p>
              <a:pPr>
                <a:defRPr sz="1200" b="1" lang="pt-BR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47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clustered"/>
        <c:varyColors val="0"/>
        <c:ser>
          <c:idx val="0"/>
          <c:order val="0"/>
          <c:tx>
            <c:v>Dez/23</c:v>
          </c:tx>
          <c:spPr>
            <a:solidFill>
              <a:srgbClr val="73787D"/>
            </a:solidFill>
          </c:spPr>
          <c:cat>
            <c:strLit>
              <c:ptCount val="6"/>
              <c:pt idx="0">
                <c:v>0</c:v>
              </c:pt>
              <c:pt idx="1">
                <c:v>1</c:v>
              </c:pt>
              <c:pt idx="2">
                <c:v>2–3</c:v>
              </c:pt>
              <c:pt idx="3">
                <c:v>4–10</c:v>
              </c:pt>
              <c:pt idx="4">
                <c:v>11–50</c:v>
              </c:pt>
              <c:pt idx="5">
                <c:v>51+</c:v>
              </c:pt>
            </c:strLit>
          </c:cat>
          <c:val>
            <c:numLit>
              <c:formatCode>0</c:formatCode>
              <c:ptCount val="6"/>
              <c:pt idx="0">
                <c:v>4.08011139709</c:v>
              </c:pt>
              <c:pt idx="1">
                <c:v>107.00408055976</c:v>
              </c:pt>
              <c:pt idx="2">
                <c:v>65.98513346480999</c:v>
              </c:pt>
              <c:pt idx="3">
                <c:v>87.13513028292</c:v>
              </c:pt>
              <c:pt idx="4">
                <c:v>27.89580794356</c:v>
              </c:pt>
              <c:pt idx="5">
                <c:v>84.79440519127</c:v>
              </c:pt>
            </c:numLit>
          </c:val>
        </c:ser>
        <c:ser>
          <c:idx val="1"/>
          <c:order val="1"/>
          <c:tx>
            <c:v>Jun/26</c:v>
          </c:tx>
          <c:spPr>
            <a:solidFill>
              <a:srgbClr val="EC7000"/>
            </a:solidFill>
          </c:spPr>
          <c:cat>
            <c:strLit>
              <c:ptCount val="6"/>
              <c:pt idx="0">
                <c:v>0</c:v>
              </c:pt>
              <c:pt idx="1">
                <c:v>1</c:v>
              </c:pt>
              <c:pt idx="2">
                <c:v>2–3</c:v>
              </c:pt>
              <c:pt idx="3">
                <c:v>4–10</c:v>
              </c:pt>
              <c:pt idx="4">
                <c:v>11–50</c:v>
              </c:pt>
              <c:pt idx="5">
                <c:v>51+</c:v>
              </c:pt>
            </c:strLit>
          </c:cat>
          <c:val>
            <c:numLit>
              <c:formatCode>0</c:formatCode>
              <c:ptCount val="6"/>
              <c:pt idx="0">
                <c:v>2.04153385837</c:v>
              </c:pt>
              <c:pt idx="1">
                <c:v>174.97916627078</c:v>
              </c:pt>
              <c:pt idx="2">
                <c:v>85.07690883193</c:v>
              </c:pt>
              <c:pt idx="3">
                <c:v>174.00964091183</c:v>
              </c:pt>
              <c:pt idx="4">
                <c:v>80.62114320047</c:v>
              </c:pt>
              <c:pt idx="5">
                <c:v>216.35550333</c:v>
              </c:pt>
            </c:numLit>
          </c:val>
        </c:ser>
        <c:dLbls>
          <c:txPr>
            <a:bodyPr anchorCtr="1"/>
            <a:lstStyle/>
            <a:p>
              <a:pPr>
                <a:defRPr sz="1200" b="1" lang="pt-BR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48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clustered"/>
        <c:varyColors val="0"/>
        <c:ser>
          <c:idx val="0"/>
          <c:order val="0"/>
          <c:tx>
            <c:v>Dez/23</c:v>
          </c:tx>
          <c:spPr>
            <a:solidFill>
              <a:srgbClr val="73787D"/>
            </a:solidFill>
          </c:spPr>
          <c:cat>
            <c:strLit>
              <c:ptCount val="6"/>
              <c:pt idx="0">
                <c:v>0</c:v>
              </c:pt>
              <c:pt idx="1">
                <c:v>1</c:v>
              </c:pt>
              <c:pt idx="2">
                <c:v>2–3</c:v>
              </c:pt>
              <c:pt idx="3">
                <c:v>4–10</c:v>
              </c:pt>
              <c:pt idx="4">
                <c:v>11–50</c:v>
              </c:pt>
              <c:pt idx="5">
                <c:v>51+</c:v>
              </c:pt>
            </c:strLit>
          </c:cat>
          <c:val>
            <c:numLit>
              <c:formatCode>0%</c:formatCode>
              <c:ptCount val="6"/>
              <c:pt idx="0">
                <c:v>0.007334963325183374</c:v>
              </c:pt>
              <c:pt idx="1">
                <c:v>0.2591687041564792</c:v>
              </c:pt>
              <c:pt idx="2">
                <c:v>0.254278728606357</c:v>
              </c:pt>
              <c:pt idx="3">
                <c:v>0.17359413202933985</c:v>
              </c:pt>
              <c:pt idx="4">
                <c:v>0.12224938875305623</c:v>
              </c:pt>
              <c:pt idx="5">
                <c:v>0.18337408312958436</c:v>
              </c:pt>
            </c:numLit>
          </c:val>
        </c:ser>
        <c:ser>
          <c:idx val="1"/>
          <c:order val="1"/>
          <c:tx>
            <c:v>Jun/26</c:v>
          </c:tx>
          <c:spPr>
            <a:solidFill>
              <a:srgbClr val="EC7000"/>
            </a:solidFill>
          </c:spPr>
          <c:cat>
            <c:strLit>
              <c:ptCount val="6"/>
              <c:pt idx="0">
                <c:v>0</c:v>
              </c:pt>
              <c:pt idx="1">
                <c:v>1</c:v>
              </c:pt>
              <c:pt idx="2">
                <c:v>2–3</c:v>
              </c:pt>
              <c:pt idx="3">
                <c:v>4–10</c:v>
              </c:pt>
              <c:pt idx="4">
                <c:v>11–50</c:v>
              </c:pt>
              <c:pt idx="5">
                <c:v>51+</c:v>
              </c:pt>
            </c:strLit>
          </c:cat>
          <c:val>
            <c:numLit>
              <c:formatCode>0%</c:formatCode>
              <c:ptCount val="6"/>
              <c:pt idx="0">
                <c:v>0.002551020408163265</c:v>
              </c:pt>
              <c:pt idx="1">
                <c:v>0.22959183673469388</c:v>
              </c:pt>
              <c:pt idx="2">
                <c:v>0.1568877551020408</c:v>
              </c:pt>
              <c:pt idx="3">
                <c:v>0.1951530612244898</c:v>
              </c:pt>
              <c:pt idx="4">
                <c:v>0.16326530612244897</c:v>
              </c:pt>
              <c:pt idx="5">
                <c:v>0.25255102040816324</c:v>
              </c:pt>
            </c:numLit>
          </c:val>
        </c:ser>
        <c:dLbls>
          <c:txPr>
            <a:bodyPr anchorCtr="1"/>
            <a:lstStyle/>
            <a:p>
              <a:pPr>
                <a:defRPr sz="1200" b="1" lang="pt-BR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0.35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1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49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clustered"/>
        <c:varyColors val="0"/>
        <c:ser>
          <c:idx val="0"/>
          <c:order val="0"/>
          <c:tx>
            <c:v>Dez/23</c:v>
          </c:tx>
          <c:spPr>
            <a:solidFill>
              <a:srgbClr val="73787D"/>
            </a:solidFill>
          </c:spPr>
          <c:cat>
            <c:strLit>
              <c:ptCount val="6"/>
              <c:pt idx="0">
                <c:v>0</c:v>
              </c:pt>
              <c:pt idx="1">
                <c:v>1</c:v>
              </c:pt>
              <c:pt idx="2">
                <c:v>2–3</c:v>
              </c:pt>
              <c:pt idx="3">
                <c:v>4–10</c:v>
              </c:pt>
              <c:pt idx="4">
                <c:v>11–50</c:v>
              </c:pt>
              <c:pt idx="5">
                <c:v>51+</c:v>
              </c:pt>
            </c:strLit>
          </c:cat>
          <c:val>
            <c:numLit>
              <c:formatCode>0%</c:formatCode>
              <c:ptCount val="6"/>
              <c:pt idx="0">
                <c:v>0.010825601247303616</c:v>
              </c:pt>
              <c:pt idx="1">
                <c:v>0.28390977481656304</c:v>
              </c:pt>
              <c:pt idx="2">
                <c:v>0.1750757941681723</c:v>
              </c:pt>
              <c:pt idx="3">
                <c:v>0.23119226003179993</c:v>
              </c:pt>
              <c:pt idx="4">
                <c:v>0.07401486476171423</c:v>
              </c:pt>
              <c:pt idx="5">
                <c:v>0.22498170497444692</c:v>
              </c:pt>
            </c:numLit>
          </c:val>
        </c:ser>
        <c:ser>
          <c:idx val="1"/>
          <c:order val="1"/>
          <c:tx>
            <c:v>Jun/26</c:v>
          </c:tx>
          <c:spPr>
            <a:solidFill>
              <a:srgbClr val="EC7000"/>
            </a:solidFill>
          </c:spPr>
          <c:cat>
            <c:strLit>
              <c:ptCount val="6"/>
              <c:pt idx="0">
                <c:v>0</c:v>
              </c:pt>
              <c:pt idx="1">
                <c:v>1</c:v>
              </c:pt>
              <c:pt idx="2">
                <c:v>2–3</c:v>
              </c:pt>
              <c:pt idx="3">
                <c:v>4–10</c:v>
              </c:pt>
              <c:pt idx="4">
                <c:v>11–50</c:v>
              </c:pt>
              <c:pt idx="5">
                <c:v>51+</c:v>
              </c:pt>
            </c:strLit>
          </c:cat>
          <c:val>
            <c:numLit>
              <c:formatCode>0%</c:formatCode>
              <c:ptCount val="6"/>
              <c:pt idx="0">
                <c:v>0.002784857051677267</c:v>
              </c:pt>
              <c:pt idx="1">
                <c:v>0.23868914203306626</c:v>
              </c:pt>
              <c:pt idx="2">
                <c:v>0.11605344115363893</c:v>
              </c:pt>
              <c:pt idx="3">
                <c:v>0.23736661215114327</c:v>
              </c:pt>
              <c:pt idx="4">
                <c:v>0.10997532969419936</c:v>
              </c:pt>
              <c:pt idx="5">
                <c:v>0.29513061791627493</c:v>
              </c:pt>
            </c:numLit>
          </c:val>
        </c:ser>
        <c:dLbls>
          <c:txPr>
            <a:bodyPr anchorCtr="1"/>
            <a:lstStyle/>
            <a:p>
              <a:pPr>
                <a:defRPr sz="1200" b="1" lang="pt-BR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0.35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1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slide1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151515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7" name="">
            <a:extLst>
              <a:ext uri="{FF2B5EF4-FFF2-40B4-BE49-F238E27FC236}">
                <ns2:creationId id="{ED56C1F8-606E-41E2-A610-223B0E0E9C79}"/>
              </a:ext>
            </a:extLst>
          </ns0:cNvPr>
          <ns0:cNvSpPr>
            <a:spLocks noGrp="1"/>
          </ns0:cNvSpPr>
          <ns0:nvPr/>
        </ns0:nvSpPr>
        <ns0:spPr>
          <a:xfrm>
            <a:off x="571500" y="1000125"/>
            <a:ext cx="838200" cy="47625"/>
          </a:xfrm>
          <a:prstGeom prst="rect">
            <a:avLst/>
          </a:prstGeom>
          <a:solidFill>
            <a:srgbClr val="EC7000"/>
          </a:solidFill>
          <a:ln w="0">
            <a:noFill/>
            <a:prstDash val="solid"/>
          </a:ln>
        </ns0:spPr>
      </ns0:sp>
      <ns0:sp>
        <ns0:nvSpPr>
          <ns0:cNvPr id="2" name="">
            <a:extLst>
              <a:ext uri="{FF2B5EF4-FFF2-40B4-BE49-F238E27FC236}">
                <ns2:creationId id="{5D58EAD3-5320-47B2-BE3C-24F5D0562A81}"/>
              </a:ext>
            </a:extLst>
          </ns0:cNvPr>
          <ns0:cNvSpPr>
            <a:spLocks noGrp="1"/>
          </ns0:cNvSpPr>
          <ns0:nvPr/>
        </ns0:nvSpPr>
        <ns0:spPr>
          <a:xfrm>
            <a:off x="571500" y="1409700"/>
            <a:ext cx="8572500" cy="8191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3600" b="1" lang="pt-BR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600" b="1" lang="pt-BR">
                <a:solidFill>
                  <a:srgbClr val="FFFFFF"/>
                </a:solidFill>
                <a:latin typeface="Arial"/>
                <a:ea typeface="Arial"/>
                <a:cs typeface="Arial"/>
              </a:rPr>
              <a:t>Indústria de FIDCs — ago-26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765BF137-977A-464E-A242-5169C6F9EA8D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0"/>
            <a:ext cx="11049000" cy="9525"/>
          </a:xfrm>
          <a:prstGeom prst="rect">
            <a:avLst/>
          </a:prstGeom>
          <a:solidFill>
            <a:srgbClr val="4B4F53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5447E3A4-4F16-443B-8DF8-749815EF4245}"/>
              </a:ext>
            </a:extLst>
          </ns0:cNvPr>
          <ns0:cNvSpPr>
            <a:spLocks noGrp="1"/>
          </ns0:cNvSpPr>
          <ns0:nvPr/>
        </ns0:nvSpPr>
        <ns0:spPr>
          <a:xfrm>
            <a:off x="571500" y="5286375"/>
            <a:ext cx="6858000" cy="2667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200" b="0" lang="pt-BR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00" b="0" lang="pt-BR">
                <a:solidFill>
                  <a:srgbClr val="FFFFFF"/>
                </a:solidFill>
                <a:latin typeface="Arial"/>
                <a:ea typeface="Arial"/>
                <a:cs typeface="Arial"/>
              </a:rPr>
              <a:t>Dados de referência: jun-26 · fechamento em 30 de junho de 2026</a:t>
            </a:r>
          </a:p>
        </ns0:txBody>
      </ns0:sp>
      <ns0:sp>
        <ns0:nvSpPr>
          <ns0:cNvPr id="5" name="">
            <a:extLst>
              <a:ext uri="{FF2B5EF4-FFF2-40B4-BE49-F238E27FC236}">
                <ns2:creationId id="{ACEB0EC9-717F-408D-B2EE-259112B550BA}"/>
              </a:ext>
            </a:extLst>
          </ns0:cNvPr>
          <ns0:cNvSpPr>
            <a:spLocks noGrp="1"/>
          </ns0:cNvSpPr>
          <ns0:nvPr/>
        </ns0:nvSpPr>
        <ns0:spPr>
          <a:xfrm>
            <a:off x="571500" y="5610225"/>
            <a:ext cx="6858000" cy="2667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200" b="0" lang="pt-BR">
                <a:solidFill>
                  <a:srgbClr val="E7E9EB"/>
                </a:solidFill>
                <a:latin typeface="Arial"/>
                <a:ea typeface="Arial"/>
                <a:cs typeface="Arial"/>
              </a:defRPr>
            </a:pPr>
            <a:r>
              <a:rPr sz="1200" b="0" lang="pt-BR">
                <a:solidFill>
                  <a:srgbClr val="E7E9EB"/>
                </a:solidFill>
                <a:latin typeface="Arial"/>
                <a:ea typeface="Arial"/>
                <a:cs typeface="Arial"/>
              </a:rPr>
              <a:t>Ofertas CVM e comparativo ANBIMA até 30 de junho de 2026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E587484B-E17F-4BF7-A40B-D427B5863250}"/>
              </a:ext>
            </a:extLst>
          </ns0:cNvPr>
          <ns0:cNvSpPr>
            <a:spLocks noGrp="1"/>
          </ns0:cNvSpPr>
          <ns0:nvPr/>
        </ns0:nvSpPr>
        <ns0:spPr>
          <a:xfrm>
            <a:off x="571500" y="6257925"/>
            <a:ext cx="476250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Itaú BBA · Agosto de 2026</a:t>
            </a:r>
          </a:p>
        </ns0:txBody>
      </ns0:sp>
    </ns0:spTree>
    <ns0:extLst>
      <ns0:ext uri="{BB962C8B-B14F-4D97-AF65-F5344CB8AC3E}">
        <ns3:creationId val="176983925"/>
      </ns0:ext>
    </ns0:extLst>
  </ns0:cSld>
</ns0:sld>
</file>

<file path=ppt/slides/slide2.xml><?xml version="1.0" encoding="utf-8"?>
<ns0:sld xmlns:a="http://schemas.openxmlformats.org/drawingml/2006/main" xmlns:c="http://schemas.openxmlformats.org/drawingml/2006/chart" xmlns:ns0="http://schemas.openxmlformats.org/presentationml/2006/main" xmlns:ns2="http://schemas.microsoft.com/office/drawing/2014/main" xmlns:ns4="http://schemas.openxmlformats.org/officeDocument/2006/relationships" xmlns:ns5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8" name="">
            <a:extLst>
              <a:ext uri="{FF2B5EF4-FFF2-40B4-BE49-F238E27FC236}">
                <ns2:creationId id="{965A5BB5-D4B4-44FD-9701-17E679023A08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ESCALA DA INDÚSTRIA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CD22880C-DB4A-4FD8-8540-ACEBDA00D280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"/>
            <a:ext cx="11049000" cy="4667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FIDCs ex-FIC somam R$ 821,0 bi; o crédito privado ampliado totaliza R$ 13,780 tri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FEEC02FC-03F6-4C18-BE14-7AABDB38659C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F2856F20-206F-48EC-9A3D-6B354F5FF1C6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056E6388-E3C3-422E-B3D1-151E6D48615F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CVM, Informe Mensal de FIDC (jun/26); BCB, SGS 28183–28192 (último mês comum: jun/26).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1DB1D30A-4E5D-429F-A3E1-2BC1A2207022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2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32B1B4E7-63BF-42A6-A83B-6B5BEE8517BF}"/>
              </a:ext>
            </a:extLst>
          </ns0:cNvPr>
          <ns0:cNvSpPr>
            <a:spLocks noGrp="1"/>
          </ns0:cNvSpPr>
          <ns0:nvPr/>
        </ns0:nvSpPr>
        <ns0:spPr>
          <a:xfrm>
            <a:off x="571500" y="1266825"/>
            <a:ext cx="5191125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PL dos FIDCs ex-FIC · R$ bi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DB7B1CE0-46EC-4727-9477-E214C3926008}"/>
              </a:ext>
            </a:extLst>
          </ns0:cNvPr>
          <ns0:cNvSpPr>
            <a:spLocks noGrp="1"/>
          </ns0:cNvSpPr>
          <ns0:nvPr/>
        </ns0:nvSpPr>
        <ns0:spPr>
          <a:xfrm>
            <a:off x="571500" y="1533525"/>
            <a:ext cx="5191125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6" name="Chart"/>
          <ns0:cNvGraphicFramePr/>
          <ns0:nvPr/>
        </ns0:nvGraphicFramePr>
        <ns0:xfrm>
          <a:off x="523875" y="1571625"/>
          <a:ext cx="5286375" cy="3143250"/>
        </ns0:xfrm>
        <a:graphic>
          <a:graphicData uri="http://schemas.openxmlformats.org/drawingml/2006/chart">
            <c:chart ns4:id="Rb1a16e1b5be24b06"/>
          </a:graphicData>
        </a:graphic>
      </ns0:graphicFrame>
      <ns0:sp>
        <ns0:nvSpPr>
          <ns0:cNvPr id="10" name="">
            <a:extLst>
              <a:ext uri="{FF2B5EF4-FFF2-40B4-BE49-F238E27FC236}">
                <ns2:creationId id="{069A25C2-9CA5-4C7A-A996-E149F88FD5BB}"/>
              </a:ext>
            </a:extLst>
          </ns0:cNvPr>
          <ns0:cNvSpPr>
            <a:spLocks noGrp="1"/>
          </ns0:cNvSpPr>
          <ns0:nvPr/>
        </ns0:nvSpPr>
        <ns0:spPr>
          <a:xfrm>
            <a:off x="571500" y="5067300"/>
            <a:ext cx="5238750" cy="2857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93750"/>
          </a:bodyPr>
          <a:lstStyle/>
          <a:p>
            <a:pPr algn="ctr">
              <a:lnSpc>
                <a:spcPct val="100000"/>
              </a:lnSpc>
              <a:buNone/>
              <a:def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CAGR 2015–18 +16,7%   ·   2020/19 -9,0%   ·   2022/21 +22,1%   ·   2023/22 +25,1%   ·   2024/23 +44,0%   ·   2025/24 +18,5%   ·   2026 YTD +6,4%</a:t>
            </a:r>
          </a:p>
        </ns0:txBody>
      </ns0:sp>
      <ns0:sp>
        <ns0:nvSpPr>
          <ns0:cNvPr id="11" name="">
            <a:extLst>
              <a:ext uri="{FF2B5EF4-FFF2-40B4-BE49-F238E27FC236}">
                <ns2:creationId id="{A5A7035E-F44D-497C-BBE6-8FE95B0C8318}"/>
              </a:ext>
            </a:extLst>
          </ns0:cNvPr>
          <ns0:cNvSpPr>
            <a:spLocks noGrp="1"/>
          </ns0:cNvSpPr>
          <ns0:nvPr/>
        </ns0:nvSpPr>
        <ns0:spPr>
          <a:xfrm>
            <a:off x="6143625" y="1266825"/>
            <a:ext cx="5476875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Carteira de crédito privada ampliada · R$ bi</a:t>
            </a:r>
          </a:p>
        </ns0:txBody>
      </ns0:sp>
      <ns0:sp>
        <ns0:nvSpPr>
          <ns0:cNvPr id="12" name="">
            <a:extLst>
              <a:ext uri="{FF2B5EF4-FFF2-40B4-BE49-F238E27FC236}">
                <ns2:creationId id="{B468D8CB-0507-4816-A80A-C9CC181F0E78}"/>
              </a:ext>
            </a:extLst>
          </ns0:cNvPr>
          <ns0:cNvSpPr>
            <a:spLocks noGrp="1"/>
          </ns0:cNvSpPr>
          <ns0:nvPr/>
        </ns0:nvSpPr>
        <ns0:spPr>
          <a:xfrm>
            <a:off x="6143625" y="1533525"/>
            <a:ext cx="5476875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30" name="Chart"/>
          <ns0:cNvGraphicFramePr/>
          <ns0:nvPr/>
        </ns0:nvGraphicFramePr>
        <ns0:xfrm>
          <a:off x="6048375" y="1571625"/>
          <a:ext cx="5572125" cy="3381375"/>
        </ns0:xfrm>
        <a:graphic>
          <a:graphicData uri="http://schemas.openxmlformats.org/drawingml/2006/chart">
            <c:chart ns4:id="Rf5c2368ac27f4ce1"/>
          </a:graphicData>
        </a:graphic>
      </ns0:graphicFrame>
      <ns0:graphicFrame>
        <ns0:nvGraphicFramePr>
          <ns0:cNvPr id="31" name="Chart"/>
          <ns0:cNvGraphicFramePr/>
          <ns0:nvPr/>
        </ns0:nvGraphicFramePr>
        <ns0:xfrm>
          <a:off x="6096000" y="4914900"/>
          <a:ext cx="5524500" cy="190500"/>
        </ns0:xfrm>
        <a:graphic>
          <a:graphicData uri="http://schemas.openxmlformats.org/drawingml/2006/chart">
            <c:chart ns4:id="R2dcb05b9fd5446d9"/>
          </a:graphicData>
        </a:graphic>
      </ns0:graphicFrame>
      <ns0:sp>
        <ns0:nvSpPr>
          <ns0:cNvPr id="15" name="">
            <a:extLst>
              <a:ext uri="{FF2B5EF4-FFF2-40B4-BE49-F238E27FC236}">
                <ns2:creationId id="{57E9D8DC-6F52-4CC6-962D-B5927F2F4310}"/>
              </a:ext>
            </a:extLst>
          </ns0:cNvPr>
          <ns0:cNvSpPr>
            <a:spLocks noGrp="1"/>
          </ns0:cNvSpPr>
          <ns0:nvPr/>
        </ns0:nvSpPr>
        <ns0:spPr>
          <a:xfrm>
            <a:off x="6096000" y="5153025"/>
            <a:ext cx="5524500" cy="3238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CAGR 2015–18 +1,6%   ·   2020/19 +16,0%   ·   2022/21 +10,9%   ·   2023/22 +7,6%   ·   2024/23 +17,9%   ·   2025/24 +8,0%   ·   2026 YTD +3,1%</a:t>
            </a:r>
          </a:p>
        </ns0:txBody>
      </ns0:sp>
      <ns0:sp>
        <ns0:nvSpPr>
          <ns0:cNvPr id="16" name="">
            <a:extLst>
              <a:ext uri="{FF2B5EF4-FFF2-40B4-BE49-F238E27FC236}">
                <ns2:creationId id="{CB58140F-7F12-42B5-937F-CB4A6C4D2C8A}"/>
              </a:ext>
            </a:extLst>
          </ns0:cNvPr>
          <ns0:cNvSpPr>
            <a:spLocks noGrp="1"/>
          </ns0:cNvSpPr>
          <ns0:nvPr/>
        </ns0:nvSpPr>
        <ns0:spPr>
          <a:xfrm>
            <a:off x="6096000" y="5543550"/>
            <a:ext cx="5524500" cy="4000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99956"/>
          </a:bodyPr>
          <a:lstStyle/>
          <a:p>
            <a:pPr algn="ct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Jun/26: total privado R$ 13,780 tri; securitização R$ 1.174 bi; carteira FIDC R$ 677 bi. O total BCB de R$ 21,681 tri inclui R$ 7.901 bi de títulos públicos e permanece no export para reconciliação.</a:t>
            </a:r>
          </a:p>
        </ns0:txBody>
      </ns0:sp>
      <ns0:sp>
        <ns0:nvSpPr>
          <ns0:cNvPr id="17" name="">
            <a:extLst>
              <a:ext uri="{FF2B5EF4-FFF2-40B4-BE49-F238E27FC236}">
                <ns2:creationId id="{E857B552-157C-47FF-B06F-C63647BC794C}"/>
              </a:ext>
            </a:extLst>
          </ns0:cNvPr>
          <ns0:cNvSpPr>
            <a:spLocks noGrp="1"/>
          </ns0:cNvSpPr>
          <ns0:nvPr/>
        </ns0:nvSpPr>
        <ns0:spPr>
          <a:xfrm>
            <a:off x="571500" y="6019800"/>
            <a:ext cx="1104900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83276"/>
          </a:bodyPr>
          <a:lstStyle/>
          <a:p>
            <a:pPr algn="ct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Banco Central do Brasil. Série de carteira de crédito ampliada, excluídos títulos públicos. Securitizações abertas entre FIDCs e demais securitizações (CRIs e CRAs). PL direto e carteira privada têm perímetros contábeis distintos.</a:t>
            </a:r>
          </a:p>
        </ns0:txBody>
      </ns0:sp>
    </ns0:spTree>
    <ns0:extLst>
      <ns0:ext uri="{BB962C8B-B14F-4D97-AF65-F5344CB8AC3E}">
        <ns5:creationId val="320633699"/>
      </ns0:ext>
    </ns0:extLst>
  </ns0:cSld>
</ns0:sld>
</file>

<file path=ppt/slides/slide3.xml><?xml version="1.0" encoding="utf-8"?>
<ns0:sld xmlns:a="http://schemas.openxmlformats.org/drawingml/2006/main" xmlns:c="http://schemas.openxmlformats.org/drawingml/2006/chart" xmlns:ns0="http://schemas.openxmlformats.org/presentationml/2006/main" xmlns:ns2="http://schemas.microsoft.com/office/drawing/2014/main" xmlns:ns4="http://schemas.openxmlformats.org/officeDocument/2006/relationships" xmlns:ns5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6" name="">
            <a:extLst>
              <a:ext uri="{FF2B5EF4-FFF2-40B4-BE49-F238E27FC236}">
                <ns2:creationId id="{9F536724-903D-4071-A9D5-4B617C0CF3BD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4095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Emissões | FIDCs seguem ganhando escala nas emissões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17795849-1FDB-4935-9F5A-4E060BEB45BB}"/>
              </a:ext>
            </a:extLst>
          </ns0:cNvPr>
          <ns0:cNvSpPr>
            <a:spLocks noGrp="1"/>
          </ns0:cNvSpPr>
          <ns0:nvPr/>
        </ns0:nvSpPr>
        <ns0:spPr>
          <a:xfrm>
            <a:off x="571500" y="723900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No 1S26, FIDCs +14,6%; demais instrumentos −7,8%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0B281C8E-B8DA-4548-A4A9-77F2C070D28C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12F671AE-8D90-4E7D-BB39-D2884EAAC7C6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48E98AC1-29E9-4D80-9BCF-F685FF4F3434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CVM/SRE: R$ 65,5 bi registrado primário; ANBIMA: R$ 53,1 bi encerrado. Perímetros distintos; jan–jun/26, snapshot jun/26.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5ED3E854-FAFF-4F6A-BCA7-9E373A72C545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3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D637BC92-C617-46DB-98B1-0E8D9CDB27D5}"/>
              </a:ext>
            </a:extLst>
          </ns0:cNvPr>
          <ns0:cNvSpPr>
            <a:spLocks noGrp="1"/>
          </ns0:cNvSpPr>
          <ns0:nvPr/>
        </ns0:nvSpPr>
        <ns0:spPr>
          <a:xfrm>
            <a:off x="571500" y="1257300"/>
            <a:ext cx="523875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FIDCs e demais instrumentos elegíveis · R$ bi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1C2A547A-69DA-4459-8D47-D8300CEAEB39}"/>
              </a:ext>
            </a:extLst>
          </ns0:cNvPr>
          <ns0:cNvSpPr>
            <a:spLocks noGrp="1"/>
          </ns0:cNvSpPr>
          <ns0:nvPr/>
        </ns0:nvSpPr>
        <ns0:spPr>
          <a:xfrm>
            <a:off x="571500" y="1524000"/>
            <a:ext cx="523875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4" name="Chart"/>
          <ns0:cNvGraphicFramePr/>
          <ns0:nvPr/>
        </ns0:nvGraphicFramePr>
        <ns0:xfrm>
          <a:off x="571500" y="1524000"/>
          <a:ext cx="5238750" cy="2333625"/>
        </ns0:xfrm>
        <a:graphic>
          <a:graphicData uri="http://schemas.openxmlformats.org/drawingml/2006/chart">
            <c:chart ns4:id="R33ce8e6feaea4573"/>
          </a:graphicData>
        </a:graphic>
      </ns0:graphicFrame>
      <ns0:sp>
        <ns0:nvSpPr>
          <ns0:cNvPr id="10" name="">
            <a:extLst>
              <a:ext uri="{FF2B5EF4-FFF2-40B4-BE49-F238E27FC236}">
                <ns2:creationId id="{059C28B2-9246-48FE-8E15-7A268D864C50}"/>
              </a:ext>
            </a:extLst>
          </ns0:cNvPr>
          <ns0:cNvSpPr>
            <a:spLocks noGrp="1"/>
          </ns0:cNvSpPr>
          <ns0:nvPr/>
        </ns0:nvSpPr>
        <ns0:spPr>
          <a:xfrm>
            <a:off x="6381750" y="1257300"/>
            <a:ext cx="523875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Valor encerrado por instrumento · R$ bi</a:t>
            </a:r>
          </a:p>
        </ns0:txBody>
      </ns0:sp>
      <ns0:sp>
        <ns0:nvSpPr>
          <ns0:cNvPr id="11" name="">
            <a:extLst>
              <a:ext uri="{FF2B5EF4-FFF2-40B4-BE49-F238E27FC236}">
                <ns2:creationId id="{92F1014C-76B6-4D14-8517-D4B7CDC9FEC4}"/>
              </a:ext>
            </a:extLst>
          </ns0:cNvPr>
          <ns0:cNvSpPr>
            <a:spLocks noGrp="1"/>
          </ns0:cNvSpPr>
          <ns0:nvPr/>
        </ns0:nvSpPr>
        <ns0:spPr>
          <a:xfrm>
            <a:off x="6381750" y="1524000"/>
            <a:ext cx="523875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7" name="Chart"/>
          <ns0:cNvGraphicFramePr/>
          <ns0:nvPr/>
        </ns0:nvGraphicFramePr>
        <ns0:xfrm>
          <a:off x="6381750" y="1524000"/>
          <a:ext cx="5238750" cy="2333625"/>
        </ns0:xfrm>
        <a:graphic>
          <a:graphicData uri="http://schemas.openxmlformats.org/drawingml/2006/chart">
            <c:chart ns4:id="Ra8b5631547e44d18"/>
          </a:graphicData>
        </a:graphic>
      </ns0:graphicFrame>
      <ns0:sp>
        <ns0:nvSpPr>
          <ns0:cNvPr id="13" name="">
            <a:extLst>
              <a:ext uri="{FF2B5EF4-FFF2-40B4-BE49-F238E27FC236}">
                <ns2:creationId id="{E8C1F35D-6123-4179-BF35-4C785E161934}"/>
              </a:ext>
            </a:extLst>
          </ns0:cNvPr>
          <ns0:cNvSpPr>
            <a:spLocks noGrp="1"/>
          </ns0:cNvSpPr>
          <ns0:nvPr/>
        </ns0:nvSpPr>
        <ns0:spPr>
          <a:xfrm>
            <a:off x="2857500" y="4048125"/>
            <a:ext cx="6477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Crescimento por instrumento</a:t>
            </a:r>
          </a:p>
        </ns0:txBody>
      </ns0:sp>
      <ns0:sp>
        <ns0:nvSpPr>
          <ns0:cNvPr id="14" name="">
            <a:extLst>
              <a:ext uri="{FF2B5EF4-FFF2-40B4-BE49-F238E27FC236}">
                <ns2:creationId id="{935F6710-8886-4B0F-9F7E-EFDA2AEE1628}"/>
              </a:ext>
            </a:extLst>
          </ns0:cNvPr>
          <ns0:cNvSpPr>
            <a:spLocks noGrp="1"/>
          </ns0:cNvSpPr>
          <ns0:nvPr/>
        </ns0:nvSpPr>
        <ns0:spPr>
          <a:xfrm>
            <a:off x="2857500" y="4276725"/>
            <a:ext cx="6477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30" name=""/>
          <ns0:cNvGraphicFramePr/>
          <ns0:nvPr/>
        </ns0:nvGraphicFramePr>
        <ns0:xfrm>
          <a:off x="2857500" y="4286250"/>
          <a:ext cx="6477000" cy="1743075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3429000"/>
                <a:gridCol w="1524000"/>
                <a:gridCol w="1524000"/>
              </a:tblGrid>
              <a:tr h="20002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Emissões por instrumento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2025 YoY %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1S26 YTD YoY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184547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b="1" lang="pt-BR">
                          <a:solidFill>
                            <a:srgbClr val="007A3D"/>
                          </a:solidFill>
                          <a:latin typeface="Arial"/>
                          <a:ea typeface="Arial"/>
                          <a:cs typeface="Arial"/>
                        </a:rPr>
                        <a:t>+22,5%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b="1" lang="pt-BR">
                          <a:solidFill>
                            <a:srgbClr val="007A3D"/>
                          </a:solidFill>
                          <a:latin typeface="Arial"/>
                          <a:ea typeface="Arial"/>
                          <a:cs typeface="Arial"/>
                        </a:rPr>
                        <a:t>+14,6%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184547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Demais Instr.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+4,4%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b="1" lang="pt-BR">
                          <a:solidFill>
                            <a:srgbClr val="7A1F3D"/>
                          </a:solidFill>
                          <a:latin typeface="Arial"/>
                          <a:ea typeface="Arial"/>
                          <a:cs typeface="Arial"/>
                        </a:rPr>
                        <a:t>-7,8%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184547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Debêntures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-4,1%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-21,8%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84547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CRI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-5,8%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-18,4%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184547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Notas comerciais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+17,1%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-7,8%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84547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CRA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+12,8%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b="1" lang="pt-BR">
                          <a:solidFill>
                            <a:srgbClr val="7A1F3D"/>
                          </a:solidFill>
                          <a:latin typeface="Arial"/>
                          <a:ea typeface="Arial"/>
                          <a:cs typeface="Arial"/>
                        </a:rPr>
                        <a:t>-44,5%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</a:tbl>
          </a:graphicData>
        </a:graphic>
      </ns0:graphicFrame>
    </ns0:spTree>
    <ns0:extLst>
      <ns0:ext uri="{BB962C8B-B14F-4D97-AF65-F5344CB8AC3E}">
        <ns5:creationId val="859987029"/>
      </ns0:ext>
    </ns0:extLst>
  </ns0:cSld>
</ns0:sld>
</file>

<file path=ppt/slides/slide4.xml><?xml version="1.0" encoding="utf-8"?>
<ns0:sld xmlns:a="http://schemas.openxmlformats.org/drawingml/2006/main" xmlns:c="http://schemas.openxmlformats.org/drawingml/2006/chart" xmlns:ns0="http://schemas.openxmlformats.org/presentationml/2006/main" xmlns:ns2="http://schemas.microsoft.com/office/drawing/2014/main" xmlns:ns4="http://schemas.openxmlformats.org/officeDocument/2006/relationships" xmlns:ns5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33" name="">
            <a:extLst>
              <a:ext uri="{FF2B5EF4-FFF2-40B4-BE49-F238E27FC236}">
                <ns2:creationId id="{77302F1C-F410-4759-B57E-88C4A7274681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SALDO E TIPOS DE FIDCs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8C803DE9-919F-42F5-B1D2-0905803DC1A8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"/>
            <a:ext cx="11049000" cy="4667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Saldo e Tipos de FIDCs | Financeiros dominam saldo e novas emissões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1A868EDF-E06D-426E-81BA-86EDCE1DC376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BFE2B390-F4E9-4327-A6CC-BDA64474B89A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65DDA11A-AEAD-441C-A54E-323263ACA88B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CVM, Informe Mensal (jun/26) e CVM/SRE, ofertas encerradas jan–jun/26. Outros emitidos: R$ 6,2 bi (10,0%).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57CC31C4-EB93-4439-B842-409DD9F931AE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4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86E83ED2-02B1-4C14-903F-58C632D5F0B0}"/>
              </a:ext>
            </a:extLst>
          </ns0:cNvPr>
          <ns0:cNvSpPr>
            <a:spLocks noGrp="1"/>
          </ns0:cNvSpPr>
          <ns0:nvPr/>
        </ns0:nvSpPr>
        <ns0:spPr>
          <a:xfrm>
            <a:off x="571500" y="1257300"/>
            <a:ext cx="523875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Saldo ex-FIC · R$ bi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4978EA36-7936-4144-994F-F6C5212D6C95}"/>
              </a:ext>
            </a:extLst>
          </ns0:cNvPr>
          <ns0:cNvSpPr>
            <a:spLocks noGrp="1"/>
          </ns0:cNvSpPr>
          <ns0:nvPr/>
        </ns0:nvSpPr>
        <ns0:spPr>
          <a:xfrm>
            <a:off x="571500" y="1485900"/>
            <a:ext cx="523875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41" name="Chart"/>
          <ns0:cNvGraphicFramePr/>
          <ns0:nvPr/>
        </ns0:nvGraphicFramePr>
        <ns0:xfrm>
          <a:off x="571500" y="1495425"/>
          <a:ext cx="5238750" cy="1952625"/>
        </ns0:xfrm>
        <a:graphic>
          <a:graphicData uri="http://schemas.openxmlformats.org/drawingml/2006/chart">
            <c:chart ns4:id="Rc5a83a7316014857"/>
          </a:graphicData>
        </a:graphic>
      </ns0:graphicFrame>
      <ns0:sp>
        <ns0:nvSpPr>
          <ns0:cNvPr id="10" name="">
            <a:extLst>
              <a:ext uri="{FF2B5EF4-FFF2-40B4-BE49-F238E27FC236}">
                <ns2:creationId id="{FA449CEF-BB04-4DC4-9CF2-2C0119D9517B}"/>
              </a:ext>
            </a:extLst>
          </ns0:cNvPr>
          <ns0:cNvSpPr>
            <a:spLocks noGrp="1"/>
          </ns0:cNvSpPr>
          <ns0:nvPr/>
        </ns0:nvSpPr>
        <ns0:spPr>
          <a:xfrm>
            <a:off x="6381750" y="1257300"/>
            <a:ext cx="523875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Participação no saldo</a:t>
            </a:r>
          </a:p>
        </ns0:txBody>
      </ns0:sp>
      <ns0:sp>
        <ns0:nvSpPr>
          <ns0:cNvPr id="11" name="">
            <a:extLst>
              <a:ext uri="{FF2B5EF4-FFF2-40B4-BE49-F238E27FC236}">
                <ns2:creationId id="{9AA5E173-1B6F-461C-A0F6-C26BA5FAD293}"/>
              </a:ext>
            </a:extLst>
          </ns0:cNvPr>
          <ns0:cNvSpPr>
            <a:spLocks noGrp="1"/>
          </ns0:cNvSpPr>
          <ns0:nvPr/>
        </ns0:nvSpPr>
        <ns0:spPr>
          <a:xfrm>
            <a:off x="6381750" y="1485900"/>
            <a:ext cx="523875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44" name="Chart"/>
          <ns0:cNvGraphicFramePr/>
          <ns0:nvPr/>
        </ns0:nvGraphicFramePr>
        <ns0:xfrm>
          <a:off x="6381750" y="1495425"/>
          <a:ext cx="5238750" cy="1952625"/>
        </ns0:xfrm>
        <a:graphic>
          <a:graphicData uri="http://schemas.openxmlformats.org/drawingml/2006/chart">
            <c:chart ns4:id="R5788abda985f4e3d"/>
          </a:graphicData>
        </a:graphic>
      </ns0:graphicFrame>
      <ns0:sp>
        <ns0:nvSpPr>
          <ns0:cNvPr id="13" name="">
            <a:extLst>
              <a:ext uri="{FF2B5EF4-FFF2-40B4-BE49-F238E27FC236}">
                <ns2:creationId id="{F4972DDA-9B7E-4D3D-A265-68C362C07623}"/>
              </a:ext>
            </a:extLst>
          </ns0:cNvPr>
          <ns0:cNvSpPr>
            <a:spLocks noGrp="1"/>
          </ns0:cNvSpPr>
          <ns0:nvPr/>
        </ns0:nvSpPr>
        <ns0:spPr>
          <a:xfrm>
            <a:off x="762000" y="3509963"/>
            <a:ext cx="66675" cy="66675"/>
          </a:xfrm>
          <a:prstGeom prst="rect">
            <a:avLst/>
          </a:prstGeom>
          <a:solidFill>
            <a:srgbClr val="73787D"/>
          </a:solidFill>
          <a:ln w="0">
            <a:noFill/>
            <a:prstDash val="solid"/>
          </a:ln>
        </ns0:spPr>
      </ns0:sp>
      <ns0:sp>
        <ns0:nvSpPr>
          <ns0:cNvPr id="14" name="">
            <a:extLst>
              <a:ext uri="{FF2B5EF4-FFF2-40B4-BE49-F238E27FC236}">
                <ns2:creationId id="{32E50C61-0838-4D56-80C8-4AF3FE73E907}"/>
              </a:ext>
            </a:extLst>
          </ns0:cNvPr>
          <ns0:cNvSpPr>
            <a:spLocks noGrp="1"/>
          </ns0:cNvSpPr>
          <ns0:nvPr/>
        </ns0:nvSpPr>
        <ns0:spPr>
          <a:xfrm>
            <a:off x="876300" y="3476625"/>
            <a:ext cx="2524125" cy="1333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875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Fomento Mercantil</a:t>
            </a:r>
          </a:p>
        </ns0:txBody>
      </ns0:sp>
      <ns0:sp>
        <ns0:nvSpPr>
          <ns0:cNvPr id="15" name="">
            <a:extLst>
              <a:ext uri="{FF2B5EF4-FFF2-40B4-BE49-F238E27FC236}">
                <ns2:creationId id="{48CDE805-8B41-4371-811B-12965F634B56}"/>
              </a:ext>
            </a:extLst>
          </ns0:cNvPr>
          <ns0:cNvSpPr>
            <a:spLocks noGrp="1"/>
          </ns0:cNvSpPr>
          <ns0:nvPr/>
        </ns0:nvSpPr>
        <ns0:spPr>
          <a:xfrm>
            <a:off x="3429000" y="3509963"/>
            <a:ext cx="66675" cy="66675"/>
          </a:xfrm>
          <a:prstGeom prst="rect">
            <a:avLst/>
          </a:prstGeom>
          <a:solidFill>
            <a:srgbClr val="30353A"/>
          </a:solidFill>
          <a:ln w="0">
            <a:noFill/>
            <a:prstDash val="solid"/>
          </a:ln>
        </ns0:spPr>
      </ns0:sp>
      <ns0:sp>
        <ns0:nvSpPr>
          <ns0:cNvPr id="16" name="">
            <a:extLst>
              <a:ext uri="{FF2B5EF4-FFF2-40B4-BE49-F238E27FC236}">
                <ns2:creationId id="{DD9E6B7B-AE98-46AB-BF83-1A5A588971A9}"/>
              </a:ext>
            </a:extLst>
          </ns0:cNvPr>
          <ns0:cNvSpPr>
            <a:spLocks noGrp="1"/>
          </ns0:cNvSpPr>
          <ns0:nvPr/>
        </ns0:nvSpPr>
        <ns0:spPr>
          <a:xfrm>
            <a:off x="3543300" y="3476625"/>
            <a:ext cx="2524125" cy="1333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875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Agro, Indústria e Comércio</a:t>
            </a:r>
          </a:p>
        </ns0:txBody>
      </ns0:sp>
      <ns0:sp>
        <ns0:nvSpPr>
          <ns0:cNvPr id="17" name="">
            <a:extLst>
              <a:ext uri="{FF2B5EF4-FFF2-40B4-BE49-F238E27FC236}">
                <ns2:creationId id="{E90F3AEE-99D2-4199-8DF4-7A79E3D39CB5}"/>
              </a:ext>
            </a:extLst>
          </ns0:cNvPr>
          <ns0:cNvSpPr>
            <a:spLocks noGrp="1"/>
          </ns0:cNvSpPr>
          <ns0:nvPr/>
        </ns0:nvSpPr>
        <ns0:spPr>
          <a:xfrm>
            <a:off x="6096000" y="3509963"/>
            <a:ext cx="66675" cy="66675"/>
          </a:xfrm>
          <a:prstGeom prst="rect">
            <a:avLst/>
          </a:prstGeom>
          <a:solidFill>
            <a:srgbClr val="EC7000"/>
          </a:solidFill>
          <a:ln w="0">
            <a:noFill/>
            <a:prstDash val="solid"/>
          </a:ln>
        </ns0:spPr>
      </ns0:sp>
      <ns0:sp>
        <ns0:nvSpPr>
          <ns0:cNvPr id="18" name="">
            <a:extLst>
              <a:ext uri="{FF2B5EF4-FFF2-40B4-BE49-F238E27FC236}">
                <ns2:creationId id="{2DC340C0-8A6D-474D-9219-EACE8A3ED849}"/>
              </a:ext>
            </a:extLst>
          </ns0:cNvPr>
          <ns0:cNvSpPr>
            <a:spLocks noGrp="1"/>
          </ns0:cNvSpPr>
          <ns0:nvPr/>
        </ns0:nvSpPr>
        <ns0:spPr>
          <a:xfrm>
            <a:off x="6210300" y="3476625"/>
            <a:ext cx="2524125" cy="1333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875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Financeiro</a:t>
            </a:r>
          </a:p>
        </ns0:txBody>
      </ns0:sp>
      <ns0:sp>
        <ns0:nvSpPr>
          <ns0:cNvPr id="19" name="">
            <a:extLst>
              <a:ext uri="{FF2B5EF4-FFF2-40B4-BE49-F238E27FC236}">
                <ns2:creationId id="{1FD349B7-F442-4F7C-A1EB-05CEC1782C70}"/>
              </a:ext>
            </a:extLst>
          </ns0:cNvPr>
          <ns0:cNvSpPr>
            <a:spLocks noGrp="1"/>
          </ns0:cNvSpPr>
          <ns0:nvPr/>
        </ns0:nvSpPr>
        <ns0:spPr>
          <a:xfrm>
            <a:off x="8763000" y="3509963"/>
            <a:ext cx="66675" cy="66675"/>
          </a:xfrm>
          <a:prstGeom prst="rect">
            <a:avLst/>
          </a:prstGeom>
          <a:solidFill>
            <a:srgbClr val="151515"/>
          </a:solidFill>
          <a:ln w="0">
            <a:noFill/>
            <a:prstDash val="solid"/>
          </a:ln>
        </ns0:spPr>
      </ns0:sp>
      <ns0:sp>
        <ns0:nvSpPr>
          <ns0:cNvPr id="20" name="">
            <a:extLst>
              <a:ext uri="{FF2B5EF4-FFF2-40B4-BE49-F238E27FC236}">
                <ns2:creationId id="{9C57FB8A-0E9D-4DEC-8F02-33309A0A24BC}"/>
              </a:ext>
            </a:extLst>
          </ns0:cNvPr>
          <ns0:cNvSpPr>
            <a:spLocks noGrp="1"/>
          </ns0:cNvSpPr>
          <ns0:nvPr/>
        </ns0:nvSpPr>
        <ns0:spPr>
          <a:xfrm>
            <a:off x="8877300" y="3476625"/>
            <a:ext cx="2524125" cy="1333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875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Precatórios / ações</a:t>
            </a:r>
          </a:p>
        </ns0:txBody>
      </ns0:sp>
      <ns0:sp>
        <ns0:nvSpPr>
          <ns0:cNvPr id="21" name="">
            <a:extLst>
              <a:ext uri="{FF2B5EF4-FFF2-40B4-BE49-F238E27FC236}">
                <ns2:creationId id="{6924B720-DFB5-4EAF-86D4-15FAC1EFB9CD}"/>
              </a:ext>
            </a:extLst>
          </ns0:cNvPr>
          <ns0:cNvSpPr>
            <a:spLocks noGrp="1"/>
          </ns0:cNvSpPr>
          <ns0:nvPr/>
        </ns0:nvSpPr>
        <ns0:spPr>
          <a:xfrm>
            <a:off x="762000" y="3643313"/>
            <a:ext cx="66675" cy="66675"/>
          </a:xfrm>
          <a:prstGeom prst="rect">
            <a:avLst/>
          </a:prstGeom>
          <a:solidFill>
            <a:srgbClr val="8D9399"/>
          </a:solidFill>
          <a:ln w="0">
            <a:noFill/>
            <a:prstDash val="solid"/>
          </a:ln>
        </ns0:spPr>
      </ns0:sp>
      <ns0:sp>
        <ns0:nvSpPr>
          <ns0:cNvPr id="22" name="">
            <a:extLst>
              <a:ext uri="{FF2B5EF4-FFF2-40B4-BE49-F238E27FC236}">
                <ns2:creationId id="{0AA71612-5C05-44C2-8BE8-C2EC5CC796DB}"/>
              </a:ext>
            </a:extLst>
          </ns0:cNvPr>
          <ns0:cNvSpPr>
            <a:spLocks noGrp="1"/>
          </ns0:cNvSpPr>
          <ns0:nvPr/>
        </ns0:nvSpPr>
        <ns0:spPr>
          <a:xfrm>
            <a:off x="876300" y="3609975"/>
            <a:ext cx="2524125" cy="1333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875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Multicedente / multisacado</a:t>
            </a:r>
          </a:p>
        </ns0:txBody>
      </ns0:sp>
      <ns0:sp>
        <ns0:nvSpPr>
          <ns0:cNvPr id="23" name="">
            <a:extLst>
              <a:ext uri="{FF2B5EF4-FFF2-40B4-BE49-F238E27FC236}">
                <ns2:creationId id="{D08DEF4C-11D8-46AB-8CAF-7A41A7AAAFF2}"/>
              </a:ext>
            </a:extLst>
          </ns0:cNvPr>
          <ns0:cNvSpPr>
            <a:spLocks noGrp="1"/>
          </ns0:cNvSpPr>
          <ns0:nvPr/>
        </ns0:nvSpPr>
        <ns0:spPr>
          <a:xfrm>
            <a:off x="3429000" y="3643313"/>
            <a:ext cx="66675" cy="66675"/>
          </a:xfrm>
          <a:prstGeom prst="rect">
            <a:avLst/>
          </a:prstGeom>
          <a:solidFill>
            <a:srgbClr val="E7E9EB"/>
          </a:solidFill>
          <a:ln w="0">
            <a:noFill/>
            <a:prstDash val="solid"/>
          </a:ln>
        </ns0:spPr>
      </ns0:sp>
      <ns0:sp>
        <ns0:nvSpPr>
          <ns0:cNvPr id="24" name="">
            <a:extLst>
              <a:ext uri="{FF2B5EF4-FFF2-40B4-BE49-F238E27FC236}">
                <ns2:creationId id="{5444B8A3-D752-47D2-A579-57DD8775A24D}"/>
              </a:ext>
            </a:extLst>
          </ns0:cNvPr>
          <ns0:cNvSpPr>
            <a:spLocks noGrp="1"/>
          </ns0:cNvSpPr>
          <ns0:nvPr/>
        </ns0:nvSpPr>
        <ns0:spPr>
          <a:xfrm>
            <a:off x="3543300" y="3609975"/>
            <a:ext cx="2524125" cy="1333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875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Recuperação / NP</a:t>
            </a:r>
          </a:p>
        </ns0:txBody>
      </ns0:sp>
      <ns0:sp>
        <ns0:nvSpPr>
          <ns0:cNvPr id="25" name="">
            <a:extLst>
              <a:ext uri="{FF2B5EF4-FFF2-40B4-BE49-F238E27FC236}">
                <ns2:creationId id="{C00ABBD4-6A1C-4072-B4E0-41350514C8A7}"/>
              </a:ext>
            </a:extLst>
          </ns0:cNvPr>
          <ns0:cNvSpPr>
            <a:spLocks noGrp="1"/>
          </ns0:cNvSpPr>
          <ns0:nvPr/>
        </ns0:nvSpPr>
        <ns0:spPr>
          <a:xfrm>
            <a:off x="6096000" y="3643313"/>
            <a:ext cx="66675" cy="6667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26" name="">
            <a:extLst>
              <a:ext uri="{FF2B5EF4-FFF2-40B4-BE49-F238E27FC236}">
                <ns2:creationId id="{CC611B64-5269-450F-967D-B85BB7007DBD}"/>
              </a:ext>
            </a:extLst>
          </ns0:cNvPr>
          <ns0:cNvSpPr>
            <a:spLocks noGrp="1"/>
          </ns0:cNvSpPr>
          <ns0:nvPr/>
        </ns0:nvSpPr>
        <ns0:spPr>
          <a:xfrm>
            <a:off x="6210300" y="3609975"/>
            <a:ext cx="2524125" cy="1333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875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N/D</a:t>
            </a:r>
          </a:p>
        </ns0:txBody>
      </ns0:sp>
      <ns0:sp>
        <ns0:nvSpPr>
          <ns0:cNvPr id="27" name="">
            <a:extLst>
              <a:ext uri="{FF2B5EF4-FFF2-40B4-BE49-F238E27FC236}">
                <ns2:creationId id="{6E7EF328-2221-47B4-935E-6819FF34249B}"/>
              </a:ext>
            </a:extLst>
          </ns0:cNvPr>
          <ns0:cNvSpPr>
            <a:spLocks noGrp="1"/>
          </ns0:cNvSpPr>
          <ns0:nvPr/>
        </ns0:nvSpPr>
        <ns0:spPr>
          <a:xfrm>
            <a:off x="571500" y="3829050"/>
            <a:ext cx="523875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Novas emissões por setor · R$ bi</a:t>
            </a:r>
          </a:p>
        </ns0:txBody>
      </ns0:sp>
      <ns0:sp>
        <ns0:nvSpPr>
          <ns0:cNvPr id="28" name="">
            <a:extLst>
              <a:ext uri="{FF2B5EF4-FFF2-40B4-BE49-F238E27FC236}">
                <ns2:creationId id="{A58BF0C7-707A-48E4-8B83-C4208E0C25FA}"/>
              </a:ext>
            </a:extLst>
          </ns0:cNvPr>
          <ns0:cNvSpPr>
            <a:spLocks noGrp="1"/>
          </ns0:cNvSpPr>
          <ns0:nvPr/>
        </ns0:nvSpPr>
        <ns0:spPr>
          <a:xfrm>
            <a:off x="571500" y="4057650"/>
            <a:ext cx="523875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61" name="Chart"/>
          <ns0:cNvGraphicFramePr/>
          <ns0:nvPr/>
        </ns0:nvGraphicFramePr>
        <ns0:xfrm>
          <a:off x="571500" y="4067175"/>
          <a:ext cx="5238750" cy="1809750"/>
        </ns0:xfrm>
        <a:graphic>
          <a:graphicData uri="http://schemas.openxmlformats.org/drawingml/2006/chart">
            <c:chart ns4:id="Rda95daa9683b4ae4"/>
          </a:graphicData>
        </a:graphic>
      </ns0:graphicFrame>
      <ns0:sp>
        <ns0:nvSpPr>
          <ns0:cNvPr id="30" name="">
            <a:extLst>
              <a:ext uri="{FF2B5EF4-FFF2-40B4-BE49-F238E27FC236}">
                <ns2:creationId id="{0C7811D1-A150-4DD0-A80F-21A1D7250B6D}"/>
              </a:ext>
            </a:extLst>
          </ns0:cNvPr>
          <ns0:cNvSpPr>
            <a:spLocks noGrp="1"/>
          </ns0:cNvSpPr>
          <ns0:nvPr/>
        </ns0:nvSpPr>
        <ns0:spPr>
          <a:xfrm>
            <a:off x="6381750" y="3829050"/>
            <a:ext cx="523875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Novas emissões por setor · %</a:t>
            </a:r>
          </a:p>
        </ns0:txBody>
      </ns0:sp>
      <ns0:sp>
        <ns0:nvSpPr>
          <ns0:cNvPr id="31" name="">
            <a:extLst>
              <a:ext uri="{FF2B5EF4-FFF2-40B4-BE49-F238E27FC236}">
                <ns2:creationId id="{60380D33-C12E-483F-A3AF-A78A30C9FF82}"/>
              </a:ext>
            </a:extLst>
          </ns0:cNvPr>
          <ns0:cNvSpPr>
            <a:spLocks noGrp="1"/>
          </ns0:cNvSpPr>
          <ns0:nvPr/>
        </ns0:nvSpPr>
        <ns0:spPr>
          <a:xfrm>
            <a:off x="6381750" y="4057650"/>
            <a:ext cx="523875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64" name="Chart"/>
          <ns0:cNvGraphicFramePr/>
          <ns0:nvPr/>
        </ns0:nvGraphicFramePr>
        <ns0:xfrm>
          <a:off x="6381750" y="4067175"/>
          <a:ext cx="5238750" cy="1809750"/>
        </ns0:xfrm>
        <a:graphic>
          <a:graphicData uri="http://schemas.openxmlformats.org/drawingml/2006/chart">
            <c:chart ns4:id="Ra8d1d50831964378"/>
          </a:graphicData>
        </a:graphic>
      </ns0:graphicFrame>
    </ns0:spTree>
    <ns0:extLst>
      <ns0:ext uri="{BB962C8B-B14F-4D97-AF65-F5344CB8AC3E}">
        <ns5:creationId val="762415386"/>
      </ns0:ext>
    </ns0:extLst>
  </ns0:cSld>
</ns0:sld>
</file>

<file path=ppt/slides/slide5.xml><?xml version="1.0" encoding="utf-8"?>
<ns0:sld xmlns:a="http://schemas.openxmlformats.org/drawingml/2006/main" xmlns:c="http://schemas.openxmlformats.org/drawingml/2006/chart" xmlns:ns0="http://schemas.openxmlformats.org/presentationml/2006/main" xmlns:ns2="http://schemas.microsoft.com/office/drawing/2014/main" xmlns:ns4="http://schemas.openxmlformats.org/officeDocument/2006/relationships" xmlns:ns5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8" name="">
            <a:extLst>
              <a:ext uri="{FF2B5EF4-FFF2-40B4-BE49-F238E27FC236}">
                <ns2:creationId id="{174AFEC8-4D6D-4DBD-B537-E64208AB100D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POR CATEGORIA ANBIMA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9484AC11-464F-4008-998B-D1C7A9138428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"/>
            <a:ext cx="11049000" cy="4667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Emissões por setor | Financeiro respondeu por 62,7% do volume no 1S26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3240B71E-AA2B-4182-8E49-128EF6518E78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9739DBF4-DADC-4D3C-9944-9DEA4E4E0535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82E19E67-A219-4B24-814E-3F969EC0D2CD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CVM/SRE; FIDCs 2023 corrigidos pelo valor encerrado ANBIMA. Quatro tipos + FIC-FIDC reconciliam com o volume emitido.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43DE2B12-5C43-4817-A960-968771314FCC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5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53D426A8-DD44-47FF-9B91-D29579335E0C}"/>
              </a:ext>
            </a:extLst>
          </ns0:cNvPr>
          <ns0:cNvSpPr>
            <a:spLocks noGrp="1"/>
          </ns0:cNvSpPr>
          <ns0:nvPr/>
        </ns0:nvSpPr>
        <ns0:spPr>
          <a:xfrm>
            <a:off x="571500" y="1257300"/>
            <a:ext cx="523875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Emissões por setor · R$ bi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8FEE3D27-EA33-4913-8ED6-321DEDF3C41D}"/>
              </a:ext>
            </a:extLst>
          </ns0:cNvPr>
          <ns0:cNvSpPr>
            <a:spLocks noGrp="1"/>
          </ns0:cNvSpPr>
          <ns0:nvPr/>
        </ns0:nvSpPr>
        <ns0:spPr>
          <a:xfrm>
            <a:off x="571500" y="1524000"/>
            <a:ext cx="523875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6" name="Chart"/>
          <ns0:cNvGraphicFramePr/>
          <ns0:nvPr/>
        </ns0:nvGraphicFramePr>
        <ns0:xfrm>
          <a:off x="571500" y="1562100"/>
          <a:ext cx="5238750" cy="1857375"/>
        </ns0:xfrm>
        <a:graphic>
          <a:graphicData uri="http://schemas.openxmlformats.org/drawingml/2006/chart">
            <c:chart ns4:id="R4dc04051e6184de3"/>
          </a:graphicData>
        </a:graphic>
      </ns0:graphicFrame>
      <ns0:sp>
        <ns0:nvSpPr>
          <ns0:cNvPr id="10" name="">
            <a:extLst>
              <a:ext uri="{FF2B5EF4-FFF2-40B4-BE49-F238E27FC236}">
                <ns2:creationId id="{B6068021-5DE1-4F1E-8D42-C282C3E7C549}"/>
              </a:ext>
            </a:extLst>
          </ns0:cNvPr>
          <ns0:cNvSpPr>
            <a:spLocks noGrp="1"/>
          </ns0:cNvSpPr>
          <ns0:nvPr/>
        </ns0:nvSpPr>
        <ns0:spPr>
          <a:xfrm>
            <a:off x="6381750" y="1257300"/>
            <a:ext cx="523875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Emissões por setor · % do total</a:t>
            </a:r>
          </a:p>
        </ns0:txBody>
      </ns0:sp>
      <ns0:sp>
        <ns0:nvSpPr>
          <ns0:cNvPr id="11" name="">
            <a:extLst>
              <a:ext uri="{FF2B5EF4-FFF2-40B4-BE49-F238E27FC236}">
                <ns2:creationId id="{CAB28568-C3C3-43F7-B300-5077FCC30CFC}"/>
              </a:ext>
            </a:extLst>
          </ns0:cNvPr>
          <ns0:cNvSpPr>
            <a:spLocks noGrp="1"/>
          </ns0:cNvSpPr>
          <ns0:nvPr/>
        </ns0:nvSpPr>
        <ns0:spPr>
          <a:xfrm>
            <a:off x="6381750" y="1524000"/>
            <a:ext cx="523875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9" name="Chart"/>
          <ns0:cNvGraphicFramePr/>
          <ns0:nvPr/>
        </ns0:nvGraphicFramePr>
        <ns0:xfrm>
          <a:off x="6381750" y="1562100"/>
          <a:ext cx="5238750" cy="1857375"/>
        </ns0:xfrm>
        <a:graphic>
          <a:graphicData uri="http://schemas.openxmlformats.org/drawingml/2006/chart">
            <c:chart ns4:id="R12cd0e33555c45bd"/>
          </a:graphicData>
        </a:graphic>
      </ns0:graphicFrame>
      <ns0:sp>
        <ns0:nvSpPr>
          <ns0:cNvPr id="13" name="">
            <a:extLst>
              <a:ext uri="{FF2B5EF4-FFF2-40B4-BE49-F238E27FC236}">
                <ns2:creationId id="{A728F9A1-561F-4FBF-A0CB-688A1C56176C}"/>
              </a:ext>
            </a:extLst>
          </ns0:cNvPr>
          <ns0:cNvSpPr>
            <a:spLocks noGrp="1"/>
          </ns0:cNvSpPr>
          <ns0:nvPr/>
        </ns0:nvSpPr>
        <ns0:spPr>
          <a:xfrm>
            <a:off x="571500" y="3562350"/>
            <a:ext cx="1104900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Emissões por categoria ANBIMA</a:t>
            </a:r>
          </a:p>
        </ns0:txBody>
      </ns0:sp>
      <ns0:sp>
        <ns0:nvSpPr>
          <ns0:cNvPr id="14" name="">
            <a:extLst>
              <a:ext uri="{FF2B5EF4-FFF2-40B4-BE49-F238E27FC236}">
                <ns2:creationId id="{3E62BB90-C79A-4907-B907-812080F9B40B}"/>
              </a:ext>
            </a:extLst>
          </ns0:cNvPr>
          <ns0:cNvSpPr>
            <a:spLocks noGrp="1"/>
          </ns0:cNvSpPr>
          <ns0:nvPr/>
        </ns0:nvSpPr>
        <ns0:spPr>
          <a:xfrm>
            <a:off x="571500" y="377190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32" name=""/>
          <ns0:cNvGraphicFramePr/>
          <ns0:nvPr/>
        </ns0:nvGraphicFramePr>
        <ns0:xfrm>
          <a:off x="571500" y="3810000"/>
          <a:ext cx="11049000" cy="2038350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2190750"/>
                <a:gridCol w="1000125"/>
                <a:gridCol w="1000125"/>
                <a:gridCol w="1000125"/>
                <a:gridCol w="1000125"/>
                <a:gridCol w="1000125"/>
                <a:gridCol w="1524000"/>
                <a:gridCol w="2333625"/>
              </a:tblGrid>
              <a:tr h="214313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Categoria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2023</a:t>
                      </a:r>
                    </a:p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2024</a:t>
                      </a:r>
                    </a:p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2025</a:t>
                      </a:r>
                    </a:p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1S25</a:t>
                      </a:r>
                    </a:p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1S26</a:t>
                      </a:r>
                    </a:p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1S26</a:t>
                      </a:r>
                    </a:p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%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1S26 YoY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26289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Fomento Mercantil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10,7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10,9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7,3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11,7%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b="1" lang="pt-BR">
                          <a:solidFill>
                            <a:srgbClr val="007A3D"/>
                          </a:solidFill>
                          <a:latin typeface="Arial"/>
                          <a:ea typeface="Arial"/>
                          <a:cs typeface="Arial"/>
                        </a:rPr>
                        <a:t>+76,8%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6289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Agro, Indústria e Comércio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10,4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21,5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28,7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19,4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9,8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15,6%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b="1" lang="pt-BR">
                          <a:solidFill>
                            <a:srgbClr val="7A1F3D"/>
                          </a:solidFill>
                          <a:latin typeface="Arial"/>
                          <a:ea typeface="Arial"/>
                          <a:cs typeface="Arial"/>
                        </a:rPr>
                        <a:t>-49,6%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6289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Financeiro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17,1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44,7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51,1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21,1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39,3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62,7%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b="1" lang="pt-BR">
                          <a:solidFill>
                            <a:srgbClr val="007A3D"/>
                          </a:solidFill>
                          <a:latin typeface="Arial"/>
                          <a:ea typeface="Arial"/>
                          <a:cs typeface="Arial"/>
                        </a:rPr>
                        <a:t>+86,2%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6289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Outros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8,6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11,6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15,7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7,8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10,0%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b="1" lang="pt-BR">
                          <a:solidFill>
                            <a:srgbClr val="7A1F3D"/>
                          </a:solidFill>
                          <a:latin typeface="Arial"/>
                          <a:ea typeface="Arial"/>
                          <a:cs typeface="Arial"/>
                        </a:rPr>
                        <a:t>-19,9%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6289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Total emitido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43,7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95,4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116,9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57,2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65,5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100,0%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+14,6%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</a:tbl>
          </a:graphicData>
        </a:graphic>
      </ns0:graphicFrame>
      <ns0:sp>
        <ns0:nvSpPr>
          <ns0:cNvPr id="16" name="">
            <a:extLst>
              <a:ext uri="{FF2B5EF4-FFF2-40B4-BE49-F238E27FC236}">
                <ns2:creationId id="{E4CEE29E-8DF6-476A-A3B9-7D9F52CD04A4}"/>
              </a:ext>
            </a:extLst>
          </ns0:cNvPr>
          <ns0:cNvSpPr>
            <a:spLocks noGrp="1"/>
          </ns0:cNvSpPr>
          <ns0:nvPr/>
        </ns0:nvSpPr>
        <ns0:spPr>
          <a:xfrm>
            <a:off x="571500" y="5905500"/>
            <a:ext cx="11049000" cy="342900"/>
          </a:xfrm>
          <a:prstGeom prst="rect">
            <a:avLst/>
          </a:prstGeom>
          <a:solidFill>
            <a:srgbClr val="F5F6F7"/>
          </a:solidFill>
          <a:ln w="0">
            <a:noFill/>
            <a:prstDash val="solid"/>
          </a:ln>
        </ns0:spPr>
      </ns0:sp>
      <ns0:sp>
        <ns0:nvSpPr>
          <ns0:cNvPr id="17" name="">
            <a:extLst>
              <a:ext uri="{FF2B5EF4-FFF2-40B4-BE49-F238E27FC236}">
                <ns2:creationId id="{D64C8316-8549-469C-8A84-5794C90E3DD3}"/>
              </a:ext>
            </a:extLst>
          </ns0:cNvPr>
          <ns0:cNvSpPr>
            <a:spLocks noGrp="1"/>
          </ns0:cNvSpPr>
          <ns0:nvPr/>
        </ns0:nvSpPr>
        <ns0:spPr>
          <a:xfrm>
            <a:off x="704850" y="5962650"/>
            <a:ext cx="107823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CARTEIRA I · 6 CNPJs oficiais em Outros somam R$ 7,3 bi; o ledger os redistribui em 5 Agro e 1 Financeiro. Nas emissões, Outros permanece positivo: R$ 6,2 bi no 1S26.</a:t>
            </a:r>
          </a:p>
        </ns0:txBody>
      </ns0:sp>
    </ns0:spTree>
    <ns0:extLst>
      <ns0:ext uri="{BB962C8B-B14F-4D97-AF65-F5344CB8AC3E}">
        <ns5:creationId val="1208985259"/>
      </ns0:ext>
    </ns0:extLst>
  </ns0:cSld>
</ns0:sld>
</file>

<file path=ppt/slides/slide6.xml><?xml version="1.0" encoding="utf-8"?>
<ns0:sld xmlns:a="http://schemas.openxmlformats.org/drawingml/2006/main" xmlns:c="http://schemas.openxmlformats.org/drawingml/2006/chart" xmlns:ns0="http://schemas.openxmlformats.org/presentationml/2006/main" xmlns:ns2="http://schemas.microsoft.com/office/drawing/2014/main" xmlns:ns4="http://schemas.openxmlformats.org/officeDocument/2006/relationships" xmlns:ns5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6" name="">
            <a:extLst>
              <a:ext uri="{FF2B5EF4-FFF2-40B4-BE49-F238E27FC236}">
                <ns2:creationId id="{1C4D800E-1CC7-48AB-9A59-7DDFE5F19DC3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4095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Abrir "Outros" revela que 63% do mercado é crédito financeiro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3D170283-0427-400D-B6F7-F0E9D80BA0B8}"/>
              </a:ext>
            </a:extLst>
          </ns0:cNvPr>
          <ns0:cNvSpPr>
            <a:spLocks noGrp="1"/>
          </ns0:cNvSpPr>
          <ns0:nvPr/>
        </ns0:nvSpPr>
        <ns0:spPr>
          <a:xfrm>
            <a:off x="571500" y="723900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Financeiro somado aos componentes de Outros, jun/26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31769217-B833-4EF7-9F0D-8C5F8AC6DD56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206266D5-8195-4041-AF91-59077ECE2A6F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C04A7C6D-5D81-43D5-BBDF-C3C4E7072E5A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ANBIMA Data (Tipo/Foco, dez/25), Informe Mensal CVM (jun/26) e ledger documental aprovado; classificação oficial preservada no workbook.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E1760056-76CE-4F31-939F-0730B8A3610C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6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8CA35375-C693-487E-BA24-FEB7F664F045}"/>
              </a:ext>
            </a:extLst>
          </ns0:cNvPr>
          <ns0:cNvSpPr>
            <a:spLocks noGrp="1"/>
          </ns0:cNvSpPr>
          <ns0:nvPr/>
        </ns0:nvSpPr>
        <ns0:spPr>
          <a:xfrm>
            <a:off x="571500" y="1381125"/>
            <a:ext cx="523875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PL ex-FIC · R$ bilhões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30AC44BB-2A5B-48B8-AAF0-680D832D0647}"/>
              </a:ext>
            </a:extLst>
          </ns0:cNvPr>
          <ns0:cNvSpPr>
            <a:spLocks noGrp="1"/>
          </ns0:cNvSpPr>
          <ns0:nvPr/>
        </ns0:nvSpPr>
        <ns0:spPr>
          <a:xfrm>
            <a:off x="571500" y="1647825"/>
            <a:ext cx="523875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4" name="Chart"/>
          <ns0:cNvGraphicFramePr/>
          <ns0:nvPr/>
        </ns0:nvGraphicFramePr>
        <ns0:xfrm>
          <a:off x="571500" y="1762125"/>
          <a:ext cx="5238750" cy="3381375"/>
        </ns0:xfrm>
        <a:graphic>
          <a:graphicData uri="http://schemas.openxmlformats.org/drawingml/2006/chart">
            <c:chart ns4:id="R62e26e3e40ea4bb7"/>
          </a:graphicData>
        </a:graphic>
      </ns0:graphicFrame>
      <ns0:sp>
        <ns0:nvSpPr>
          <ns0:cNvPr id="10" name="">
            <a:extLst>
              <a:ext uri="{FF2B5EF4-FFF2-40B4-BE49-F238E27FC236}">
                <ns2:creationId id="{A0C14DE5-3CBB-48CB-BD29-25C9542BC9E9}"/>
              </a:ext>
            </a:extLst>
          </ns0:cNvPr>
          <ns0:cNvSpPr>
            <a:spLocks noGrp="1"/>
          </ns0:cNvSpPr>
          <ns0:nvPr/>
        </ns0:nvSpPr>
        <ns0:spPr>
          <a:xfrm>
            <a:off x="6381750" y="1381125"/>
            <a:ext cx="523875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Participação no PL ex-FIC</a:t>
            </a:r>
          </a:p>
        </ns0:txBody>
      </ns0:sp>
      <ns0:sp>
        <ns0:nvSpPr>
          <ns0:cNvPr id="11" name="">
            <a:extLst>
              <a:ext uri="{FF2B5EF4-FFF2-40B4-BE49-F238E27FC236}">
                <ns2:creationId id="{0D03D39F-5795-47A3-89B2-BE199E264651}"/>
              </a:ext>
            </a:extLst>
          </ns0:cNvPr>
          <ns0:cNvSpPr>
            <a:spLocks noGrp="1"/>
          </ns0:cNvSpPr>
          <ns0:nvPr/>
        </ns0:nvSpPr>
        <ns0:spPr>
          <a:xfrm>
            <a:off x="6381750" y="1647825"/>
            <a:ext cx="523875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7" name="Chart"/>
          <ns0:cNvGraphicFramePr/>
          <ns0:nvPr/>
        </ns0:nvGraphicFramePr>
        <ns0:xfrm>
          <a:off x="6381750" y="1762125"/>
          <a:ext cx="5238750" cy="3381375"/>
        </ns0:xfrm>
        <a:graphic>
          <a:graphicData uri="http://schemas.openxmlformats.org/drawingml/2006/chart">
            <c:chart ns4:id="Ra8e40080b9074612"/>
          </a:graphicData>
        </a:graphic>
      </ns0:graphicFrame>
      <ns0:graphicFrame>
        <ns0:nvGraphicFramePr>
          <ns0:cNvPr id="28" name="Chart"/>
          <ns0:cNvGraphicFramePr/>
          <ns0:nvPr/>
        </ns0:nvGraphicFramePr>
        <ns0:xfrm>
          <a:off x="857250" y="5219700"/>
          <a:ext cx="10477500" cy="428625"/>
        </ns0:xfrm>
        <a:graphic>
          <a:graphicData uri="http://schemas.openxmlformats.org/drawingml/2006/chart">
            <c:chart ns4:id="R7a05ed75d0774a84"/>
          </a:graphicData>
        </a:graphic>
      </ns0:graphicFrame>
      <ns0:sp>
        <ns0:nvSpPr>
          <ns0:cNvPr id="14" name="">
            <a:extLst>
              <a:ext uri="{FF2B5EF4-FFF2-40B4-BE49-F238E27FC236}">
                <ns2:creationId id="{2E25CD4E-C01F-4594-B816-925A9673262E}"/>
              </a:ext>
            </a:extLst>
          </ns0:cNvPr>
          <ns0:cNvSpPr>
            <a:spLocks noGrp="1"/>
          </ns0:cNvSpPr>
          <ns0:nvPr/>
        </ns0:nvSpPr>
        <ns0:spPr>
          <a:xfrm>
            <a:off x="1143000" y="5676900"/>
            <a:ext cx="990600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Os sete blocos somam R$ 821,4 bi e fecham 100% do PL ex-FIC de jun/26.</a:t>
            </a:r>
          </a:p>
        </ns0:txBody>
      </ns0:sp>
      <ns0:sp>
        <ns0:nvSpPr>
          <ns0:cNvPr id="15" name="">
            <a:extLst>
              <a:ext uri="{FF2B5EF4-FFF2-40B4-BE49-F238E27FC236}">
                <ns2:creationId id="{D105B288-5CCE-4BBC-883A-42BD59469840}"/>
              </a:ext>
            </a:extLst>
          </ns0:cNvPr>
          <ns0:cNvSpPr>
            <a:spLocks noGrp="1"/>
          </ns0:cNvSpPr>
          <ns0:nvPr/>
        </ns0:nvSpPr>
        <ns0:spPr>
          <a:xfrm>
            <a:off x="666750" y="5905500"/>
            <a:ext cx="10858500" cy="3238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Rótulos de exibição: Poder Público → Precatórios e/ou Ações Judiciais; Multicarteira Outros → Multicedente/Multisacado; Recuperação → Recuperação / FIDCs NP. Recuperação e N/D ficam detalhados no workbook para evitar sobreposição.</a:t>
            </a:r>
          </a:p>
        </ns0:txBody>
      </ns0:sp>
    </ns0:spTree>
    <ns0:extLst>
      <ns0:ext uri="{BB962C8B-B14F-4D97-AF65-F5344CB8AC3E}">
        <ns5:creationId val="406842874"/>
      </ns0:ext>
    </ns0:extLst>
  </ns0:cSld>
</ns0:sld>
</file>

<file path=ppt/slides/slide7.xml><?xml version="1.0" encoding="utf-8"?>
<ns0:sld xmlns:a="http://schemas.openxmlformats.org/drawingml/2006/main" xmlns:c="http://schemas.openxmlformats.org/drawingml/2006/chart" xmlns:ns0="http://schemas.openxmlformats.org/presentationml/2006/main" xmlns:ns2="http://schemas.microsoft.com/office/drawing/2014/main" xmlns:ns4="http://schemas.openxmlformats.org/officeDocument/2006/relationships" xmlns:ns5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5" name="">
            <a:extLst>
              <a:ext uri="{FF2B5EF4-FFF2-40B4-BE49-F238E27FC236}">
                <ns2:creationId id="{ECBD54B9-FAC9-4B99-AB53-208ADF9243CB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4095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Adquirência é R$ 99 bi que a taxonomia oficial não mostra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47F51124-8EEF-4FB4-92C1-FB0FE8755A6E}"/>
              </a:ext>
            </a:extLst>
          </ns0:cNvPr>
          <ns0:cNvSpPr>
            <a:spLocks noGrp="1"/>
          </ns0:cNvSpPr>
          <ns0:nvPr/>
        </ns0:nvSpPr>
        <ns0:spPr>
          <a:xfrm>
            <a:off x="571500" y="723900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33 CNPJs reclassificados, 12,1% do PL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320E437D-FCC5-4641-8368-3A4412643A03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30971E07-E375-4A41-9CD2-89D2B01DDAAF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ED40ABD2-253F-4407-8728-F46759F0C6A0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Informe Mensal e regulamentos no FundosNet. Curadoria em 21/jul/26; a categoria CVM original permanece preservada.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9613B068-BB64-4CAE-A3B5-E4988F51C59B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7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1D2090C2-364D-4462-800F-12845B6D71F4}"/>
              </a:ext>
            </a:extLst>
          </ns0:cNvPr>
          <ns0:cNvSpPr>
            <a:spLocks noGrp="1"/>
          </ns0:cNvSpPr>
          <ns0:nvPr/>
        </ns0:nvSpPr>
        <ns0:spPr>
          <a:xfrm>
            <a:off x="571500" y="1428750"/>
            <a:ext cx="523875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PL ex-FIC · R$ bi · dez/23 → jun/26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A88C8B45-7AAB-4746-81A3-D5AFB47A0BBC}"/>
              </a:ext>
            </a:extLst>
          </ns0:cNvPr>
          <ns0:cNvSpPr>
            <a:spLocks noGrp="1"/>
          </ns0:cNvSpPr>
          <ns0:nvPr/>
        </ns0:nvSpPr>
        <ns0:spPr>
          <a:xfrm>
            <a:off x="571500" y="1695450"/>
            <a:ext cx="523875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3" name="Chart"/>
          <ns0:cNvGraphicFramePr/>
          <ns0:nvPr/>
        </ns0:nvGraphicFramePr>
        <ns0:xfrm>
          <a:off x="571500" y="1762125"/>
          <a:ext cx="5238750" cy="3810000"/>
        </ns0:xfrm>
        <a:graphic>
          <a:graphicData uri="http://schemas.openxmlformats.org/drawingml/2006/chart">
            <c:chart ns4:id="Rc0153be9e401469f"/>
          </a:graphicData>
        </a:graphic>
      </ns0:graphicFrame>
      <ns0:sp>
        <ns0:nvSpPr>
          <ns0:cNvPr id="10" name="">
            <a:extLst>
              <a:ext uri="{FF2B5EF4-FFF2-40B4-BE49-F238E27FC236}">
                <ns2:creationId id="{7683F8EF-4227-42F2-BFD9-5D22C1DDCA16}"/>
              </a:ext>
            </a:extLst>
          </ns0:cNvPr>
          <ns0:cNvSpPr>
            <a:spLocks noGrp="1"/>
          </ns0:cNvSpPr>
          <ns0:nvPr/>
        </ns0:nvSpPr>
        <ns0:spPr>
          <a:xfrm>
            <a:off x="6381750" y="1428750"/>
            <a:ext cx="523875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% do PL ex-FIC · dez/23 → jun/26</a:t>
            </a:r>
          </a:p>
        </ns0:txBody>
      </ns0:sp>
      <ns0:sp>
        <ns0:nvSpPr>
          <ns0:cNvPr id="11" name="">
            <a:extLst>
              <a:ext uri="{FF2B5EF4-FFF2-40B4-BE49-F238E27FC236}">
                <ns2:creationId id="{AE3B7119-8558-4FE0-81A0-E4C88143AE65}"/>
              </a:ext>
            </a:extLst>
          </ns0:cNvPr>
          <ns0:cNvSpPr>
            <a:spLocks noGrp="1"/>
          </ns0:cNvSpPr>
          <ns0:nvPr/>
        </ns0:nvSpPr>
        <ns0:spPr>
          <a:xfrm>
            <a:off x="6381750" y="1695450"/>
            <a:ext cx="523875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6" name="Chart"/>
          <ns0:cNvGraphicFramePr/>
          <ns0:nvPr/>
        </ns0:nvGraphicFramePr>
        <ns0:xfrm>
          <a:off x="6381750" y="1762125"/>
          <a:ext cx="5238750" cy="3810000"/>
        </ns0:xfrm>
        <a:graphic>
          <a:graphicData uri="http://schemas.openxmlformats.org/drawingml/2006/chart">
            <c:chart ns4:id="Rfffbdb998edf4863"/>
          </a:graphicData>
        </a:graphic>
      </ns0:graphicFrame>
      <ns0:graphicFrame>
        <ns0:nvGraphicFramePr>
          <ns0:cNvPr id="27" name="Chart"/>
          <ns0:cNvGraphicFramePr/>
          <ns0:nvPr/>
        </ns0:nvGraphicFramePr>
        <ns0:xfrm>
          <a:off x="8858250" y="1200150"/>
          <a:ext cx="2762250" cy="209550"/>
        </ns0:xfrm>
        <a:graphic>
          <a:graphicData uri="http://schemas.openxmlformats.org/drawingml/2006/chart">
            <c:chart ns4:id="R2add7a83c889425c"/>
          </a:graphicData>
        </a:graphic>
      </ns0:graphicFrame>
      <ns0:sp>
        <ns0:nvSpPr>
          <ns0:cNvPr id="14" name="">
            <a:extLst>
              <a:ext uri="{FF2B5EF4-FFF2-40B4-BE49-F238E27FC236}">
                <ns2:creationId id="{140C27FE-9073-4599-AD4E-E34C5285FA97}"/>
              </a:ext>
            </a:extLst>
          </ns0:cNvPr>
          <ns0:cNvSpPr>
            <a:spLocks noGrp="1"/>
          </ns0:cNvSpPr>
          <ns0:nvPr/>
        </ns0:nvSpPr>
        <ns0:spPr>
          <a:xfrm>
            <a:off x="571500" y="5953125"/>
            <a:ext cx="11049000" cy="2857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Bucket Cartão: 26 incluídos, 17 fora e 1 pendente. Em jun/26, 31 dos 33 CNPJs selecionados têm reporte ativo; 2 não reportam.</a:t>
            </a:r>
          </a:p>
        </ns0:txBody>
      </ns0:sp>
    </ns0:spTree>
    <ns0:extLst>
      <ns0:ext uri="{BB962C8B-B14F-4D97-AF65-F5344CB8AC3E}">
        <ns5:creationId val="991903957"/>
      </ns0:ext>
    </ns0:extLst>
  </ns0:cSld>
</ns0:sld>
</file>

<file path=ppt/slides/slide8.xml><?xml version="1.0" encoding="utf-8"?>
<ns0:sld xmlns:a="http://schemas.openxmlformats.org/drawingml/2006/main" xmlns:c="http://schemas.openxmlformats.org/drawingml/2006/chart" xmlns:ns0="http://schemas.openxmlformats.org/presentationml/2006/main" xmlns:ns2="http://schemas.microsoft.com/office/drawing/2014/main" xmlns:ns4="http://schemas.openxmlformats.org/officeDocument/2006/relationships" xmlns:ns5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6" name="">
            <a:extLst>
              <a:ext uri="{FF2B5EF4-FFF2-40B4-BE49-F238E27FC236}">
                <ns2:creationId id="{53AAF93C-D916-4456-89F9-F6CD232C12C3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4095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Financeiro explicou 70% do crescimento da carteira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9DD45135-1B71-4B2A-B54F-518F99423F83}"/>
              </a:ext>
            </a:extLst>
          </ns0:cNvPr>
          <ns0:cNvSpPr>
            <a:spLocks noGrp="1"/>
          </ns0:cNvSpPr>
          <ns0:nvPr/>
        </ns0:nvSpPr>
        <ns0:spPr>
          <a:xfrm>
            <a:off x="571500" y="723900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Ganho de 17,5 p.p. de participação no período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1AF64CBF-27F8-4C70-B0AB-C3AD4523FE68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A2E60293-7B96-4AFD-96A1-DBBBA4DFBFC5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229AC965-2F9A-4D4E-835A-FDEAACCA133B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Informe Mensal, Tabela II; dez/23 e jun/26. Percentuais sobre a soma dos segmentos reportados; contribuição = Δ Financeiro / Δ total líquido.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24611C2A-667A-42D0-8E3D-AED190616844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8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91235F1D-F6B2-4C02-A218-D59C5210F1FB}"/>
              </a:ext>
            </a:extLst>
          </ns0:cNvPr>
          <ns0:cNvSpPr>
            <a:spLocks noGrp="1"/>
          </ns0:cNvSpPr>
          <ns0:nvPr/>
        </ns0:nvSpPr>
        <ns0:spPr>
          <a:xfrm>
            <a:off x="571500" y="1428750"/>
            <a:ext cx="523875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Valor reportado · R$ bi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5A53710F-8365-4FD1-9CAA-D25499F30267}"/>
              </a:ext>
            </a:extLst>
          </ns0:cNvPr>
          <ns0:cNvSpPr>
            <a:spLocks noGrp="1"/>
          </ns0:cNvSpPr>
          <ns0:nvPr/>
        </ns0:nvSpPr>
        <ns0:spPr>
          <a:xfrm>
            <a:off x="571500" y="1695450"/>
            <a:ext cx="523875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4" name="Chart"/>
          <ns0:cNvGraphicFramePr/>
          <ns0:nvPr/>
        </ns0:nvGraphicFramePr>
        <ns0:xfrm>
          <a:off x="571500" y="1743075"/>
          <a:ext cx="5238750" cy="4238625"/>
        </ns0:xfrm>
        <a:graphic>
          <a:graphicData uri="http://schemas.openxmlformats.org/drawingml/2006/chart">
            <c:chart ns4:id="R69287a7a5bb741d8"/>
          </a:graphicData>
        </a:graphic>
      </ns0:graphicFrame>
      <ns0:sp>
        <ns0:nvSpPr>
          <ns0:cNvPr id="10" name="">
            <a:extLst>
              <a:ext uri="{FF2B5EF4-FFF2-40B4-BE49-F238E27FC236}">
                <ns2:creationId id="{60FD5F58-1FB8-45C6-A31F-C13954EB8CDF}"/>
              </a:ext>
            </a:extLst>
          </ns0:cNvPr>
          <ns0:cNvSpPr>
            <a:spLocks noGrp="1"/>
          </ns0:cNvSpPr>
          <ns0:nvPr/>
        </ns0:nvSpPr>
        <ns0:spPr>
          <a:xfrm>
            <a:off x="6381750" y="1428750"/>
            <a:ext cx="523875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% do valor segmentado da tabela II</a:t>
            </a:r>
          </a:p>
        </ns0:txBody>
      </ns0:sp>
      <ns0:sp>
        <ns0:nvSpPr>
          <ns0:cNvPr id="11" name="">
            <a:extLst>
              <a:ext uri="{FF2B5EF4-FFF2-40B4-BE49-F238E27FC236}">
                <ns2:creationId id="{C2A787C4-6F10-40C3-B043-EB54A31D3964}"/>
              </a:ext>
            </a:extLst>
          </ns0:cNvPr>
          <ns0:cNvSpPr>
            <a:spLocks noGrp="1"/>
          </ns0:cNvSpPr>
          <ns0:nvPr/>
        </ns0:nvSpPr>
        <ns0:spPr>
          <a:xfrm>
            <a:off x="6381750" y="1695450"/>
            <a:ext cx="523875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7" name="Chart"/>
          <ns0:cNvGraphicFramePr/>
          <ns0:nvPr/>
        </ns0:nvGraphicFramePr>
        <ns0:xfrm>
          <a:off x="6381750" y="1743075"/>
          <a:ext cx="5238750" cy="4238625"/>
        </ns0:xfrm>
        <a:graphic>
          <a:graphicData uri="http://schemas.openxmlformats.org/drawingml/2006/chart">
            <c:chart ns4:id="R333d5f61a07d44c1"/>
          </a:graphicData>
        </a:graphic>
      </ns0:graphicFrame>
      <ns0:sp>
        <ns0:nvSpPr>
          <ns0:cNvPr id="13" name="">
            <a:extLst>
              <a:ext uri="{FF2B5EF4-FFF2-40B4-BE49-F238E27FC236}">
                <ns2:creationId id="{347D1818-034C-45E7-8B1D-4DE3FDB35746}"/>
              </a:ext>
            </a:extLst>
          </ns0:cNvPr>
          <ns0:cNvSpPr>
            <a:spLocks noGrp="1"/>
          </ns0:cNvSpPr>
          <ns0:nvPr/>
        </ns0:nvSpPr>
        <ns0:spPr>
          <a:xfrm>
            <a:off x="7239000" y="5715000"/>
            <a:ext cx="4381500" cy="228600"/>
          </a:xfrm>
          <a:prstGeom prst="rect">
            <a:avLst/>
          </a:prstGeom>
          <a:solidFill>
            <a:srgbClr val="FFFFFF"/>
          </a:solidFill>
          <a:ln w="0">
            <a:noFill/>
            <a:prstDash val="solid"/>
          </a:ln>
        </ns0:spPr>
      </ns0:sp>
      <ns0:sp>
        <ns0:nvSpPr>
          <ns0:cNvPr id="14" name="">
            <a:extLst>
              <a:ext uri="{FF2B5EF4-FFF2-40B4-BE49-F238E27FC236}">
                <ns2:creationId id="{E69C4136-3B52-40D2-81DA-4F9B2724DD07}"/>
              </a:ext>
            </a:extLst>
          </ns0:cNvPr>
          <ns0:cNvSpPr>
            <a:spLocks noGrp="1"/>
          </ns0:cNvSpPr>
          <ns0:nvPr/>
        </ns0:nvSpPr>
        <ns0:spPr>
          <a:xfrm>
            <a:off x="571500" y="6048375"/>
            <a:ext cx="110490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Diferença Tabela II − Tabela I: R$ 51,7 bi em dez/23 e R$ 60,4 bi em jun/26. Em jun/26, 0 fundos sem abertura (R$ 0,0 bi de PL); Top 20 explicam 40,5% do gap positivo.</a:t>
            </a:r>
          </a:p>
        </ns0:txBody>
      </ns0:sp>
      <ns0:graphicFrame>
        <ns0:nvGraphicFramePr>
          <ns0:cNvPr id="30" name="Chart"/>
          <ns0:cNvGraphicFramePr/>
          <ns0:nvPr/>
        </ns0:nvGraphicFramePr>
        <ns0:xfrm>
          <a:off x="9239250" y="1219200"/>
          <a:ext cx="2381250" cy="209550"/>
        </ns0:xfrm>
        <a:graphic>
          <a:graphicData uri="http://schemas.openxmlformats.org/drawingml/2006/chart">
            <c:chart ns4:id="R85b16bbc40514ae8"/>
          </a:graphicData>
        </a:graphic>
      </ns0:graphicFrame>
    </ns0:spTree>
    <ns0:extLst>
      <ns0:ext uri="{BB962C8B-B14F-4D97-AF65-F5344CB8AC3E}">
        <ns5:creationId val="8104774"/>
      </ns0:ext>
    </ns0:extLst>
  </ns0:cSld>
</ns0:sld>
</file>

<file path=ppt/slides/slide9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0" name="">
            <a:extLst>
              <a:ext uri="{FF2B5EF4-FFF2-40B4-BE49-F238E27FC236}">
                <ns2:creationId id="{1AFA9A6C-67D3-4ADF-A97C-B21F2430E9C5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RANKING · TOP 20 FIDCs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88E79F98-9FF4-4E54-BECE-7FB9F1C47F96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"/>
            <a:ext cx="11049000" cy="4667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Top 20 somam 27,5% do PL ex-FIC; Petrobras e TAPSO são 45,5% do bloco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C73FB60F-ACB6-4F3A-8848-ADDE7163DD43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C767110D-BA7D-4B1E-A1C1-6A2876F46DA6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35725ECE-5F63-43C4-B016-980181C58A60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ANBIMA, ledger analítico e base Carteira 101, jun/26. * = foto manual confirmada; N/D = originador/cedente não localizado.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D73CC186-CD16-42F9-A34E-9EBF6FA3DF50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9</a:t>
            </a:r>
          </a:p>
        </ns0:txBody>
      </ns0:sp>
      <ns0:graphicFrame>
        <ns0:nvGraphicFramePr>
          <ns0:cNvPr id="16" name=""/>
          <ns0:cNvGraphicFramePr/>
          <ns0:nvPr/>
        </ns0:nvGraphicFramePr>
        <ns0:xfrm>
          <a:off x="571500" y="1428750"/>
          <a:ext cx="5429250" cy="4429125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285750"/>
                <a:gridCol w="2047875"/>
                <a:gridCol w="666750"/>
                <a:gridCol w="619125"/>
                <a:gridCol w="1809750"/>
              </a:tblGrid>
              <a:tr h="157163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Fundo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PL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Share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Originador / cedente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3164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FIDC Sistema Petrobras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61,3 bi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7,5%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3164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TAPSO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41,5 bi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5,1%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Stone*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3164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PAN Auto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18,0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2,2%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164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CloudWalk Bela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10,0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1,2%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Cloudwalk*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164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MT Global · Consignado Privado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9,4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1,1%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MeuTudo*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164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Itaú Crédito Privado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8,7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1,1%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164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 Consignados II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8,0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Banco Pan*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164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Aetos Energia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7,4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0,9%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164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Cielo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6,5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0,8%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Cielo*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164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Rio Vermelho NP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6,4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0,8%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</a:tbl>
          </a:graphicData>
        </a:graphic>
      </ns0:graphicFrame>
      <ns0:graphicFrame>
        <ns0:nvGraphicFramePr>
          <ns0:cNvPr id="17" name=""/>
          <ns0:cNvGraphicFramePr/>
          <ns0:nvPr/>
        </ns0:nvGraphicFramePr>
        <ns0:xfrm>
          <a:off x="6191250" y="1428750"/>
          <a:ext cx="5429250" cy="4429125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285750"/>
                <a:gridCol w="2047875"/>
                <a:gridCol w="666750"/>
                <a:gridCol w="619125"/>
                <a:gridCol w="1809750"/>
              </a:tblGrid>
              <a:tr h="157163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Fundo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PL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Share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Originador / cedente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3164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PagSeguro 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6,2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0,8%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PagBank · C: PagSeguro*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164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 Consignados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6,0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0,7%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Banco Pan*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164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Alternative Assets III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5,9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0,7%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164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Monee 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5,8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0,7%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Shopee*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164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PicPay 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4,8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0,6%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PicPay*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164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Marobá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4,5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0,5%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Itaú BBA*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164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Venda de Veículos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4,2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0,5%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Nissan, Renault e Geely*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164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Day Maxx 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4,0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0,5%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164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ACR BEM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3,7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0,4%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Stone*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164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HAVAN ECONÔMICO, FINANCEIRO E COMERCIAL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3,7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0,4%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Havan*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</a:tbl>
          </a:graphicData>
        </a:graphic>
      </ns0:graphicFrame>
      <ns0:sp>
        <ns0:nvSpPr>
          <ns0:cNvPr id="9" name="">
            <a:extLst>
              <a:ext uri="{FF2B5EF4-FFF2-40B4-BE49-F238E27FC236}">
                <ns2:creationId id="{B93E8F31-EF95-42DD-8C8C-5223FDC7D71F}"/>
              </a:ext>
            </a:extLst>
          </ns0:cNvPr>
          <ns0:cNvSpPr>
            <a:spLocks noGrp="1"/>
          </ns0:cNvSpPr>
          <ns0:nvPr/>
        </ns0:nvSpPr>
        <ns0:spPr>
          <a:xfrm>
            <a:off x="571500" y="5953125"/>
            <a:ext cx="110490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* Fonte manual confirmada nas imagens da Carteira 101; o dado documental permanece prioritário. N/D não é inferido pelo nome do fundo.</a:t>
            </a:r>
          </a:p>
        </ns0:txBody>
      </ns0:sp>
    </ns0:spTree>
    <ns0:extLst>
      <ns0:ext uri="{BB962C8B-B14F-4D97-AF65-F5344CB8AC3E}">
        <ns3:creationId val="2060435330"/>
      </ns0:ext>
    </ns0:extLst>
  </ns0:cSld>
</ns0:sld>
</file>

<file path=ppt/slides/slide10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1" name="">
            <a:extLst>
              <a:ext uri="{FF2B5EF4-FFF2-40B4-BE49-F238E27FC236}">
                <ns2:creationId id="{1884D94A-4BBA-4306-AD14-3565CE5D0C52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4095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Fomento Mercantil: crescimento marginal em seis meses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C5AC4C70-EDEA-45A0-AEA1-224BBD0F1E8B}"/>
              </a:ext>
            </a:extLst>
          </ns0:cNvPr>
          <ns0:cNvSpPr>
            <a:spLocks noGrp="1"/>
          </ns0:cNvSpPr>
          <ns0:nvPr/>
        </ns0:nvSpPr>
        <ns0:spPr>
          <a:xfrm>
            <a:off x="571500" y="723900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Top 15 vai de R$ 30,4 bi a R$ 31,9 bi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BBD82CEB-101E-4021-A9C4-4D1479296411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CDF6C402-108D-447B-9960-9B1678BB3F56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6B86161C-7D51-47B0-B961-9BF435214F38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jun/26 · Top 15: R$ 31,9 bi. Comparação: R$ 30,4 bi em dez/25 e R$ 31,9 bi em jun/26.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1EE989B4-E9B3-47B1-960C-E765793D4D56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10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6CAE8D4E-63B4-43F6-A82A-460DC7DA97FC}"/>
              </a:ext>
            </a:extLst>
          </ns0:cNvPr>
          <ns0:cNvSpPr>
            <a:spLocks noGrp="1"/>
          </ns0:cNvSpPr>
          <ns0:nvPr/>
        </ns0:nvSpPr>
        <ns0:spPr>
          <a:xfrm>
            <a:off x="571500" y="1143000"/>
            <a:ext cx="1104900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jun/26 · Top 15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18E26228-1687-4632-8507-1F73F718C4A4}"/>
              </a:ext>
            </a:extLst>
          </ns0:cNvPr>
          <ns0:cNvSpPr>
            <a:spLocks noGrp="1"/>
          </ns0:cNvSpPr>
          <ns0:nvPr/>
        </ns0:nvSpPr>
        <ns0:spPr>
          <a:xfrm>
            <a:off x="571500" y="13906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19" name=""/>
          <ns0:cNvGraphicFramePr/>
          <ns0:nvPr/>
        </ns0:nvGraphicFramePr>
        <ns0:xfrm>
          <a:off x="571500" y="1438275"/>
          <a:ext cx="11049000" cy="4705350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304800"/>
                <a:gridCol w="2000250"/>
                <a:gridCol w="1381125"/>
                <a:gridCol w="1285875"/>
                <a:gridCol w="1238250"/>
                <a:gridCol w="1009650"/>
                <a:gridCol w="1381125"/>
                <a:gridCol w="1733550"/>
                <a:gridCol w="714375"/>
              </a:tblGrid>
              <a:tr h="22145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CNPJ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Originador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Cedente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Sub. mín.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Preço por cota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Sacado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DAY MAXX 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34197588000137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4,02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RED REAL LP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17250006000110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3,39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COMERCIAIS MEDICI 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62393829000159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Multicedente*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BRF*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3,09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ATLANTA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11468186000124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Multicedentes e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3,09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CITY - 02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32321307000180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2,71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EUV SP1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44229197000100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2,18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MULTIPLICA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23216398000101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1,99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IOX II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24504464000101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1,89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NÃO-PADRONIZADOS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12428086000137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1,63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CF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23200289000198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1,48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ALDEBARAN II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57833038000162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1,48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SIFRA STAR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14166140000149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1,28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NAGOYA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63465818000108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1,25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SIFRA PLUS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08678936000188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1,23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MULTIPLIKE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29469420000101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1,18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ns0:graphicFrame>
      <ns0:sp>
        <ns0:nvSpPr>
          <ns0:cNvPr id="10" name="">
            <a:extLst>
              <a:ext uri="{FF2B5EF4-FFF2-40B4-BE49-F238E27FC236}">
                <ns2:creationId id="{891F3E13-765D-4621-B0A4-7D99968F891F}"/>
              </a:ext>
            </a:extLst>
          </ns0:cNvPr>
          <ns0:cNvSpPr>
            <a:spLocks noGrp="1"/>
          </ns0:cNvSpPr>
          <ns0:nvPr/>
        </ns0:nvSpPr>
        <ns0:spPr>
          <a:xfrm>
            <a:off x="571500" y="6172200"/>
            <a:ext cx="11049000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Campos longos aparecem em forma editorial compacta; valores e fontes integrais permanecem na aba Auditoria emissões. * = exceção/múltiplas classes ou complemento manual; N/D = lacuna.</a:t>
            </a:r>
          </a:p>
        </ns0:txBody>
      </ns0:sp>
    </ns0:spTree>
    <ns0:extLst>
      <ns0:ext uri="{BB962C8B-B14F-4D97-AF65-F5344CB8AC3E}">
        <ns3:creationId val="1078222965"/>
      </ns0:ext>
    </ns0:extLst>
  </ns0:cSld>
</ns0:sld>
</file>

<file path=ppt/slides/slide11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1" name="">
            <a:extLst>
              <a:ext uri="{FF2B5EF4-FFF2-40B4-BE49-F238E27FC236}">
                <ns2:creationId id="{42BE3B02-D842-4C15-B35D-C95EF66467FE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4095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Fomento Mercantil: crescimento marginal em seis meses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B99A0B12-B7FF-4496-9003-FA3DBEA07EB5}"/>
              </a:ext>
            </a:extLst>
          </ns0:cNvPr>
          <ns0:cNvSpPr>
            <a:spLocks noGrp="1"/>
          </ns0:cNvSpPr>
          <ns0:nvPr/>
        </ns0:nvSpPr>
        <ns0:spPr>
          <a:xfrm>
            <a:off x="571500" y="723900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Top 15 vai de R$ 30,4 bi a R$ 31,9 bi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C5CEF9CD-98A8-40D5-8840-69A98767A336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CF092B80-4774-4D3D-A4EC-5A514028ADFA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B418D40C-BAB8-4CC4-8B26-D3C1309AB803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dez/25 · Top 15: R$ 30,4 bi. Comparação: R$ 30,4 bi em dez/25 e R$ 31,9 bi em jun/26.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85CA9F98-AD64-472A-A479-9486B7EFA734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11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990B684D-592B-49C8-AE6F-601D6A47937C}"/>
              </a:ext>
            </a:extLst>
          </ns0:cNvPr>
          <ns0:cNvSpPr>
            <a:spLocks noGrp="1"/>
          </ns0:cNvSpPr>
          <ns0:nvPr/>
        </ns0:nvSpPr>
        <ns0:spPr>
          <a:xfrm>
            <a:off x="571500" y="1143000"/>
            <a:ext cx="1104900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dez/25 · Top 15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3AE2A9EF-BE89-4F99-AA44-90EB7D8504CF}"/>
              </a:ext>
            </a:extLst>
          </ns0:cNvPr>
          <ns0:cNvSpPr>
            <a:spLocks noGrp="1"/>
          </ns0:cNvSpPr>
          <ns0:nvPr/>
        </ns0:nvSpPr>
        <ns0:spPr>
          <a:xfrm>
            <a:off x="571500" y="13906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19" name=""/>
          <ns0:cNvGraphicFramePr/>
          <ns0:nvPr/>
        </ns0:nvGraphicFramePr>
        <ns0:xfrm>
          <a:off x="571500" y="1438275"/>
          <a:ext cx="11049000" cy="4705350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304800"/>
                <a:gridCol w="2000250"/>
                <a:gridCol w="1381125"/>
                <a:gridCol w="1285875"/>
                <a:gridCol w="1238250"/>
                <a:gridCol w="1009650"/>
                <a:gridCol w="1381125"/>
                <a:gridCol w="1733550"/>
                <a:gridCol w="714375"/>
              </a:tblGrid>
              <a:tr h="22145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CNPJ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Originador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Cedente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Sub. mín.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Preço por cota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Sacado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DAY MAXX 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34197588000137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4,03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RED REAL LP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17250006000110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3,49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ATLANTA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11468186000124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Multicedentes e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2,92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CITY - 02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32321307000180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2,58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EUV SP1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44229197000100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2,06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COMERCIAIS MEDICI 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62393829000159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Multicedente*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BRF*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2,05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RHODONITE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41776416000183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1,88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MULTIPLICA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23216398000101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1,67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CF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23200289000198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1,66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ALDEBARAN II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57833038000162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1,46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NÃO-PADRONIZADOS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12428086000137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1,43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FOR-TE FIDC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06182371000118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1,35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MULTIPLIKE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29469420000101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1,30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SIFRA STAR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14166140000149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1,27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IOX II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24504464000101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1,27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ns0:graphicFrame>
      <ns0:sp>
        <ns0:nvSpPr>
          <ns0:cNvPr id="10" name="">
            <a:extLst>
              <a:ext uri="{FF2B5EF4-FFF2-40B4-BE49-F238E27FC236}">
                <ns2:creationId id="{C72AC3E7-DFB7-48CB-BA33-31EB5A590B1D}"/>
              </a:ext>
            </a:extLst>
          </ns0:cNvPr>
          <ns0:cNvSpPr>
            <a:spLocks noGrp="1"/>
          </ns0:cNvSpPr>
          <ns0:nvPr/>
        </ns0:nvSpPr>
        <ns0:spPr>
          <a:xfrm>
            <a:off x="571500" y="6172200"/>
            <a:ext cx="11049000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Campos longos aparecem em forma editorial compacta; valores e fontes integrais permanecem na aba Auditoria emissões. * = exceção/múltiplas classes ou complemento manual; N/D = lacuna.</a:t>
            </a:r>
          </a:p>
        </ns0:txBody>
      </ns0:sp>
    </ns0:spTree>
    <ns0:extLst>
      <ns0:ext uri="{BB962C8B-B14F-4D97-AF65-F5344CB8AC3E}">
        <ns3:creationId val="771868200"/>
      </ns0:ext>
    </ns0:extLst>
  </ns0:cSld>
</ns0:sld>
</file>

<file path=ppt/slides/slide12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1" name="">
            <a:extLst>
              <a:ext uri="{FF2B5EF4-FFF2-40B4-BE49-F238E27FC236}">
                <ns2:creationId id="{500C08A8-4085-450D-8F23-69CFF4A8DF92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4095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Agro, Indústria e Comércio: o maior salto absoluto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08ADFEED-84C7-4560-8CFF-F196DB0C19B4}"/>
              </a:ext>
            </a:extLst>
          </ns0:cNvPr>
          <ns0:cNvSpPr>
            <a:spLocks noGrp="1"/>
          </ns0:cNvSpPr>
          <ns0:nvPr/>
        </ns0:nvSpPr>
        <ns0:spPr>
          <a:xfrm>
            <a:off x="571500" y="723900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Top 15 sobe R$ 18,2 bi, para R$ 112,2 bi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B2B8E0B3-35DA-4BE1-80A9-DCE1962943A2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5C5026F0-F931-41DD-95DF-25D9B38D4588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A6B8526B-A8FA-4740-AC22-BF0BBA75FC68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jun/26 · Top 15: R$ 112,2 bi. Comparação: R$ 94,0 bi em dez/25 e R$ 112,2 bi em jun/26.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4F9A0BB2-550C-433E-B0B7-358D316948E6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12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EE4B9094-270B-4CE5-A8F3-85017FF02268}"/>
              </a:ext>
            </a:extLst>
          </ns0:cNvPr>
          <ns0:cNvSpPr>
            <a:spLocks noGrp="1"/>
          </ns0:cNvSpPr>
          <ns0:nvPr/>
        </ns0:nvSpPr>
        <ns0:spPr>
          <a:xfrm>
            <a:off x="571500" y="1143000"/>
            <a:ext cx="1104900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jun/26 · Top 15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D623E476-E334-4FD8-AF86-7D538114B95A}"/>
              </a:ext>
            </a:extLst>
          </ns0:cNvPr>
          <ns0:cNvSpPr>
            <a:spLocks noGrp="1"/>
          </ns0:cNvSpPr>
          <ns0:nvPr/>
        </ns0:nvSpPr>
        <ns0:spPr>
          <a:xfrm>
            <a:off x="571500" y="13906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19" name=""/>
          <ns0:cNvGraphicFramePr/>
          <ns0:nvPr/>
        </ns0:nvGraphicFramePr>
        <ns0:xfrm>
          <a:off x="571500" y="1438275"/>
          <a:ext cx="11049000" cy="4705350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304800"/>
                <a:gridCol w="2000250"/>
                <a:gridCol w="1381125"/>
                <a:gridCol w="1285875"/>
                <a:gridCol w="1238250"/>
                <a:gridCol w="1009650"/>
                <a:gridCol w="1381125"/>
                <a:gridCol w="1733550"/>
                <a:gridCol w="714375"/>
              </a:tblGrid>
              <a:tr h="22145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CNPJ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Originador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Cedente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Sub. mín.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Preço por cota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Sacado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FIDC DO SISTEMA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09195235000150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61,25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PAN AUTO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65473848000183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17,97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AETOS ENERGIA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52610624000124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7,35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FIDC GM - VENDA DE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11230727000181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2,98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GAZIN MULTISSEGMENTOS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29492605000129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2,49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VITA AUTO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50095909000149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2,49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59356753000187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ÂMBAR ENERGIA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ÂMBAR ENERGIA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2,46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AGRO FLEX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47228232000165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2,35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EB VESTA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40801446000130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2,20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HYUNDAI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52651831000127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2,19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IBCB-AF01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53300525000109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1,91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AUTO-HONDA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28279473000199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1,84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CATERPILLAR DO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05754060000113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1,67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RED - MULTISETORIAL LP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08632394000102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SAPPHIRE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47227790000106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1,43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ns0:graphicFrame>
      <ns0:sp>
        <ns0:nvSpPr>
          <ns0:cNvPr id="10" name="">
            <a:extLst>
              <a:ext uri="{FF2B5EF4-FFF2-40B4-BE49-F238E27FC236}">
                <ns2:creationId id="{B586BAA3-A73B-4260-96A5-6D00DEE8A318}"/>
              </a:ext>
            </a:extLst>
          </ns0:cNvPr>
          <ns0:cNvSpPr>
            <a:spLocks noGrp="1"/>
          </ns0:cNvSpPr>
          <ns0:nvPr/>
        </ns0:nvSpPr>
        <ns0:spPr>
          <a:xfrm>
            <a:off x="571500" y="6172200"/>
            <a:ext cx="11049000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Campos longos aparecem em forma editorial compacta; valores e fontes integrais permanecem na aba Auditoria emissões. * = exceção/múltiplas classes ou complemento manual; N/D = lacuna.</a:t>
            </a:r>
          </a:p>
        </ns0:txBody>
      </ns0:sp>
    </ns0:spTree>
    <ns0:extLst>
      <ns0:ext uri="{BB962C8B-B14F-4D97-AF65-F5344CB8AC3E}">
        <ns3:creationId val="1056602529"/>
      </ns0:ext>
    </ns0:extLst>
  </ns0:cSld>
</ns0:sld>
</file>

<file path=ppt/slides/slide13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1" name="">
            <a:extLst>
              <a:ext uri="{FF2B5EF4-FFF2-40B4-BE49-F238E27FC236}">
                <ns2:creationId id="{BB1AE78C-A982-40F1-A42A-B83E3ABADB9C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4095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Agro, Indústria e Comércio: o maior salto absoluto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9B9BC9AE-DC6F-4864-BEB7-3D9E3C40721F}"/>
              </a:ext>
            </a:extLst>
          </ns0:cNvPr>
          <ns0:cNvSpPr>
            <a:spLocks noGrp="1"/>
          </ns0:cNvSpPr>
          <ns0:nvPr/>
        </ns0:nvSpPr>
        <ns0:spPr>
          <a:xfrm>
            <a:off x="571500" y="723900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Top 15 sobe R$ 18,2 bi, para R$ 112,2 bi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2C03BA6F-ADD3-4817-B9E0-F2CBC3E67942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DF083E16-E485-42EB-A7E6-4F4D9C2B2650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01F93C57-7E4B-400D-BD04-7A05134FC2C9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dez/25 · Top 15: R$ 94,0 bi. Comparação: R$ 94,0 bi em dez/25 e R$ 112,2 bi em jun/26.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2707835D-F5AC-4E62-8EE4-E6F5B32F1C47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13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A676ED5E-EF72-49DB-BC4B-E94BD9D2C7AE}"/>
              </a:ext>
            </a:extLst>
          </ns0:cNvPr>
          <ns0:cNvSpPr>
            <a:spLocks noGrp="1"/>
          </ns0:cNvSpPr>
          <ns0:nvPr/>
        </ns0:nvSpPr>
        <ns0:spPr>
          <a:xfrm>
            <a:off x="571500" y="1143000"/>
            <a:ext cx="1104900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dez/25 · Top 15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A2FF8119-6E3A-417B-9278-E46E7DE809A4}"/>
              </a:ext>
            </a:extLst>
          </ns0:cNvPr>
          <ns0:cNvSpPr>
            <a:spLocks noGrp="1"/>
          </ns0:cNvSpPr>
          <ns0:nvPr/>
        </ns0:nvSpPr>
        <ns0:spPr>
          <a:xfrm>
            <a:off x="571500" y="13906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19" name=""/>
          <ns0:cNvGraphicFramePr/>
          <ns0:nvPr/>
        </ns0:nvGraphicFramePr>
        <ns0:xfrm>
          <a:off x="571500" y="1438275"/>
          <a:ext cx="11049000" cy="4705350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304800"/>
                <a:gridCol w="2000250"/>
                <a:gridCol w="1381125"/>
                <a:gridCol w="1285875"/>
                <a:gridCol w="1238250"/>
                <a:gridCol w="1009650"/>
                <a:gridCol w="1381125"/>
                <a:gridCol w="1733550"/>
                <a:gridCol w="714375"/>
              </a:tblGrid>
              <a:tr h="22145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CNPJ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Originador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Cedente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Sub. mín.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Preço por cota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Sacado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FIDC DO SISTEMA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09195235000150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61,56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AETOS ENERGIA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52610624000124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6,64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AGRO FLEX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47228232000165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3,06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FIDC GM - VENDA DE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11230727000181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3,02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59356753000187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ÂMBAR ENERGIA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ÂMBAR ENERGIA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2,33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VITA AUTO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50095909000149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2,22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HYUNDAI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52651831000127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2,03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FRANQUIAS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09217024000171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2,00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CLASSE ÚNICA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34218864000104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1,80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AUTO-HONDA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28279473000199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1,68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GAZIN MULTISSEGMENTOS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29492605000129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1,62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EB VESTA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40801446000130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CATERPILLAR DO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05754060000113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IBCB-AF01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53300525000109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RED - MULTISETORIAL LP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08632394000102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1,42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ns0:graphicFrame>
      <ns0:sp>
        <ns0:nvSpPr>
          <ns0:cNvPr id="10" name="">
            <a:extLst>
              <a:ext uri="{FF2B5EF4-FFF2-40B4-BE49-F238E27FC236}">
                <ns2:creationId id="{153AED15-2981-418B-BFA9-4E9418490CE1}"/>
              </a:ext>
            </a:extLst>
          </ns0:cNvPr>
          <ns0:cNvSpPr>
            <a:spLocks noGrp="1"/>
          </ns0:cNvSpPr>
          <ns0:nvPr/>
        </ns0:nvSpPr>
        <ns0:spPr>
          <a:xfrm>
            <a:off x="571500" y="6172200"/>
            <a:ext cx="11049000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Campos longos aparecem em forma editorial compacta; valores e fontes integrais permanecem na aba Auditoria emissões. * = exceção/múltiplas classes ou complemento manual; N/D = lacuna.</a:t>
            </a:r>
          </a:p>
        </ns0:txBody>
      </ns0:sp>
    </ns0:spTree>
    <ns0:extLst>
      <ns0:ext uri="{BB962C8B-B14F-4D97-AF65-F5344CB8AC3E}">
        <ns3:creationId val="427067922"/>
      </ns0:ext>
    </ns0:extLst>
  </ns0:cSld>
</ns0:sld>
</file>

<file path=ppt/slides/slide14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1" name="">
            <a:extLst>
              <a:ext uri="{FF2B5EF4-FFF2-40B4-BE49-F238E27FC236}">
                <ns2:creationId id="{176B9520-BA46-4DB6-9437-CFEDF9BBF7D8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4095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Financeiro: o maior bloco, e ainda crescendo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0F1DC1D1-3098-4EC1-9D0E-F899BD9AB350}"/>
              </a:ext>
            </a:extLst>
          </ns0:cNvPr>
          <ns0:cNvSpPr>
            <a:spLocks noGrp="1"/>
          </ns0:cNvSpPr>
          <ns0:nvPr/>
        </ns0:nvSpPr>
        <ns0:spPr>
          <a:xfrm>
            <a:off x="571500" y="723900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Top 15 vai a R$ 121,1 bi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AEF1A6C3-A2BB-47C5-BFB3-7676DC4B42D4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2ED4362E-4E3D-4A70-826B-C477C5230E18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17799EE4-B521-4B77-9870-FA6354FE8456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jun/26 · Top 15: R$ 121,1 bi. Comparação: R$ 106,3 bi em dez/25 e R$ 121,1 bi em jun/26.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35E866DA-8EED-4067-B3BD-E813FEAB003B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14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51078D17-DD6A-41A6-87C4-0DF2935F04FC}"/>
              </a:ext>
            </a:extLst>
          </ns0:cNvPr>
          <ns0:cNvSpPr>
            <a:spLocks noGrp="1"/>
          </ns0:cNvSpPr>
          <ns0:nvPr/>
        </ns0:nvSpPr>
        <ns0:spPr>
          <a:xfrm>
            <a:off x="571500" y="1143000"/>
            <a:ext cx="1104900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jun/26 · Top 15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651E9A95-FA16-4230-80A8-6F75A8DCC084}"/>
              </a:ext>
            </a:extLst>
          </ns0:cNvPr>
          <ns0:cNvSpPr>
            <a:spLocks noGrp="1"/>
          </ns0:cNvSpPr>
          <ns0:nvPr/>
        </ns0:nvSpPr>
        <ns0:spPr>
          <a:xfrm>
            <a:off x="571500" y="13906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19" name=""/>
          <ns0:cNvGraphicFramePr/>
          <ns0:nvPr/>
        </ns0:nvGraphicFramePr>
        <ns0:xfrm>
          <a:off x="571500" y="1438275"/>
          <a:ext cx="11049000" cy="4705350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304800"/>
                <a:gridCol w="2000250"/>
                <a:gridCol w="1381125"/>
                <a:gridCol w="1285875"/>
                <a:gridCol w="1238250"/>
                <a:gridCol w="1009650"/>
                <a:gridCol w="1381125"/>
                <a:gridCol w="1733550"/>
                <a:gridCol w="714375"/>
              </a:tblGrid>
              <a:tr h="22145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CNPJ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Originador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Cedente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Sub. mín.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Preço por cota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Sacado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TAPSO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26287464000114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Stone*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41,50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CLOUDWALK BELA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62393679000183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Cloudwalk*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1,0% até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R$ 1.000,00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10,01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CLASSE CONSIGNADO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63953619000130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MeuTudo*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9,41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 PACTUAL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52242420000188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Pan*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8,03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CIELO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26286939000158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Cielo*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6,48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PAGSEGURO 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28169275000172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PagBank*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PagSeguro*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6,23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 PACTUAL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50906397000153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Pan*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6,01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MONEE 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42922136000107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Shopee*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5,75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PICPAY 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32527650000186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PicPay*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4,76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MAROBÁ FUNDO DE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61285603000171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Itaú BBA*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4,47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VENDA DE VEÍCULOS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21126275000146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Nissan, Renault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4,24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FIDC ACR BEM BANCOS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54979779000168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Stone*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3,68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HAVAN SEGMENTO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12817329000129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Havan*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3,67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SELLER FIDC SEGMENTO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50473039000102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Mercado Pago*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Mercado Livre*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10,0%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R$ 1.000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3,66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CLOUDWALK PI SEGMENTO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60356171000180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Cloudwalk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Cloudwalk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2,5%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R$ 1,00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3,25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ns0:graphicFrame>
      <ns0:sp>
        <ns0:nvSpPr>
          <ns0:cNvPr id="10" name="">
            <a:extLst>
              <a:ext uri="{FF2B5EF4-FFF2-40B4-BE49-F238E27FC236}">
                <ns2:creationId id="{E04DD362-16A8-48F0-8F3B-EAED01454404}"/>
              </a:ext>
            </a:extLst>
          </ns0:cNvPr>
          <ns0:cNvSpPr>
            <a:spLocks noGrp="1"/>
          </ns0:cNvSpPr>
          <ns0:nvPr/>
        </ns0:nvSpPr>
        <ns0:spPr>
          <a:xfrm>
            <a:off x="571500" y="6172200"/>
            <a:ext cx="11049000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Campos longos aparecem em forma editorial compacta; valores e fontes integrais permanecem na aba Auditoria emissões. * = exceção/múltiplas classes ou complemento manual; N/D = lacuna.</a:t>
            </a:r>
          </a:p>
        </ns0:txBody>
      </ns0:sp>
    </ns0:spTree>
    <ns0:extLst>
      <ns0:ext uri="{BB962C8B-B14F-4D97-AF65-F5344CB8AC3E}">
        <ns3:creationId val="1214699743"/>
      </ns0:ext>
    </ns0:extLst>
  </ns0:cSld>
</ns0:sld>
</file>

<file path=ppt/slides/slide15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1" name="">
            <a:extLst>
              <a:ext uri="{FF2B5EF4-FFF2-40B4-BE49-F238E27FC236}">
                <ns2:creationId id="{78F530FF-4E5B-4398-A2A7-C769EB359C9D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4095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Financeiro: o maior bloco, e ainda crescendo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9CBF9A2F-E59C-423D-A4CC-13D1A12E7102}"/>
              </a:ext>
            </a:extLst>
          </ns0:cNvPr>
          <ns0:cNvSpPr>
            <a:spLocks noGrp="1"/>
          </ns0:cNvSpPr>
          <ns0:nvPr/>
        </ns0:nvSpPr>
        <ns0:spPr>
          <a:xfrm>
            <a:off x="571500" y="723900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Top 15 vai a R$ 121,1 bi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01C6411E-F126-41ED-90AB-DF10728BA74F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7A11C2B0-C111-4D80-80B3-BAB10E84FEE8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465BCE31-611E-4D90-95EC-1C0B062F548F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dez/25 · Top 15: R$ 106,3 bi. Comparação: R$ 106,3 bi em dez/25 e R$ 121,1 bi em jun/26.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0B762E45-104F-46AF-BAAA-E8E8AA9B0838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15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CE0D9E23-9D04-4963-A2DB-EB2B4AD68418}"/>
              </a:ext>
            </a:extLst>
          </ns0:cNvPr>
          <ns0:cNvSpPr>
            <a:spLocks noGrp="1"/>
          </ns0:cNvSpPr>
          <ns0:nvPr/>
        </ns0:nvSpPr>
        <ns0:spPr>
          <a:xfrm>
            <a:off x="571500" y="1143000"/>
            <a:ext cx="1104900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dez/25 · Top 15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48255D70-EEAA-4918-84C3-3740FDFEDEBD}"/>
              </a:ext>
            </a:extLst>
          </ns0:cNvPr>
          <ns0:cNvSpPr>
            <a:spLocks noGrp="1"/>
          </ns0:cNvSpPr>
          <ns0:nvPr/>
        </ns0:nvSpPr>
        <ns0:spPr>
          <a:xfrm>
            <a:off x="571500" y="13906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19" name=""/>
          <ns0:cNvGraphicFramePr/>
          <ns0:nvPr/>
        </ns0:nvGraphicFramePr>
        <ns0:xfrm>
          <a:off x="571500" y="1438275"/>
          <a:ext cx="11049000" cy="4705350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304800"/>
                <a:gridCol w="2000250"/>
                <a:gridCol w="1381125"/>
                <a:gridCol w="1285875"/>
                <a:gridCol w="1238250"/>
                <a:gridCol w="1009650"/>
                <a:gridCol w="1381125"/>
                <a:gridCol w="1733550"/>
                <a:gridCol w="714375"/>
              </a:tblGrid>
              <a:tr h="22145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CNPJ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Originador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Cedente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Sub. mín.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Preço por cota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Sacado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TAPSO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26287464000114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Stone*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36,63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 PACTUAL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52242420000188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Pan*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9,05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ALEPO NÃO PADRONIZADO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36886028000115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8,75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CIELO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26286939000158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Cielo*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8,07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PAGSEGURO 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28169275000172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PagBank*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PagSeguro*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5,34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PICPAY 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32527650000186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PicPay*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4,68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SELLER FIDC SEGMENTO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50473039000102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Mercado Pago*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Mercado Livre*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10,0%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R$ 1.000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4,68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CLOUDWALK BELA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62393679000183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Cloudwalk*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1,0% até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R$ 1.000,00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4,36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MT CONSIGNADO PRIVADO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60010416000112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Parati Crédito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Parati Crédito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5,0%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R$ 1.000,00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3,99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VENDA DE VEÍCULOS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21126275000146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Nissan, Renault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3,77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FIDC ACR BEM BANCOS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54979779000168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Stone*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3,68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MONEE 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42922136000107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Shopee*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3,54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HAVAN SEGMENTO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12817329000129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Havan*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3,44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CLOUDWALK PI SEGMENTO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60356171000180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Cloudwalk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Cloudwalk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2,5%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R$ 1,00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3,25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FIDC SANTANDER AUTO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63662224000189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3,01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ns0:graphicFrame>
      <ns0:sp>
        <ns0:nvSpPr>
          <ns0:cNvPr id="10" name="">
            <a:extLst>
              <a:ext uri="{FF2B5EF4-FFF2-40B4-BE49-F238E27FC236}">
                <ns2:creationId id="{E181B279-9490-450A-AD39-F56415B94EBE}"/>
              </a:ext>
            </a:extLst>
          </ns0:cNvPr>
          <ns0:cNvSpPr>
            <a:spLocks noGrp="1"/>
          </ns0:cNvSpPr>
          <ns0:nvPr/>
        </ns0:nvSpPr>
        <ns0:spPr>
          <a:xfrm>
            <a:off x="571500" y="6172200"/>
            <a:ext cx="11049000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Campos longos aparecem em forma editorial compacta; valores e fontes integrais permanecem na aba Auditoria emissões. * = exceção/múltiplas classes ou complemento manual; N/D = lacuna.</a:t>
            </a:r>
          </a:p>
        </ns0:txBody>
      </ns0:sp>
    </ns0:spTree>
    <ns0:extLst>
      <ns0:ext uri="{BB962C8B-B14F-4D97-AF65-F5344CB8AC3E}">
        <ns3:creationId val="680448498"/>
      </ns0:ext>
    </ns0:extLst>
  </ns0:cSld>
</ns0:sld>
</file>

<file path=ppt/slides/slide16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1" name="">
            <a:extLst>
              <a:ext uri="{FF2B5EF4-FFF2-40B4-BE49-F238E27FC236}">
                <ns2:creationId id="{2FB6BF92-10A1-47DB-9AD3-4A8DAFA38BC9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4095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Outros: o único bloco que encolheu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C4C3B8EB-319C-407F-B24D-FE427D0DDC58}"/>
              </a:ext>
            </a:extLst>
          </ns0:cNvPr>
          <ns0:cNvSpPr>
            <a:spLocks noGrp="1"/>
          </ns0:cNvSpPr>
          <ns0:nvPr/>
        </ns0:nvSpPr>
        <ns0:spPr>
          <a:xfrm>
            <a:off x="571500" y="723900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Top 15 recua de R$ 60,9 bi para R$ 55,1 bi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70592AAB-1F31-4249-90F0-9BA047DD4CF2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E0C91DAE-44A4-4DE5-B33C-A598B9A10C24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C60F64E6-745B-49F8-BA4E-6E3CC1A17E7D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jun/26 · Top 15: R$ 55,1 bi. Comparação: R$ 60,9 bi em dez/25 e R$ 55,1 bi em jun/26.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28E02906-FE2C-49EC-8B89-2BCCCF256397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16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CD984979-71EA-4491-9E92-85C93278C160}"/>
              </a:ext>
            </a:extLst>
          </ns0:cNvPr>
          <ns0:cNvSpPr>
            <a:spLocks noGrp="1"/>
          </ns0:cNvSpPr>
          <ns0:nvPr/>
        </ns0:nvSpPr>
        <ns0:spPr>
          <a:xfrm>
            <a:off x="571500" y="1143000"/>
            <a:ext cx="1104900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jun/26 · Top 15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789F30A6-96B3-44F2-82AE-171739E9F8EF}"/>
              </a:ext>
            </a:extLst>
          </ns0:cNvPr>
          <ns0:cNvSpPr>
            <a:spLocks noGrp="1"/>
          </ns0:cNvSpPr>
          <ns0:nvPr/>
        </ns0:nvSpPr>
        <ns0:spPr>
          <a:xfrm>
            <a:off x="571500" y="13906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19" name=""/>
          <ns0:cNvGraphicFramePr/>
          <ns0:nvPr/>
        </ns0:nvGraphicFramePr>
        <ns0:xfrm>
          <a:off x="571500" y="1438275"/>
          <a:ext cx="11049000" cy="4705350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304800"/>
                <a:gridCol w="2000250"/>
                <a:gridCol w="1381125"/>
                <a:gridCol w="1285875"/>
                <a:gridCol w="1238250"/>
                <a:gridCol w="1009650"/>
                <a:gridCol w="1381125"/>
                <a:gridCol w="1733550"/>
                <a:gridCol w="714375"/>
              </a:tblGrid>
              <a:tr h="22145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CNPJ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Originador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Cedente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Sub. mín.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Preço por cota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Sacado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ITAÚ CRÉDITO PRIVADO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53286499000101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8,72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RIO VERMELHO NÃO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53216449000158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6,39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ALTERNATIVE ASSETS III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29225241000110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5,86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RSCRED MULTIESTRÉGIA -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29301202000155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3,60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OCCAM CRÉDITO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48349509000170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3,47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ASA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49826785000145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3,36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FIDC PCG - BRASIL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07727002000126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3,14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CARNIVAL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51079269000146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3,06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ALTERNATIVE ASSETS 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24194675000187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3,03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GSR NÃO PADRONIZADOS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53029409000105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2,94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FIDC MULTISEGMENTOS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26405883000103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2,63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ACONCÁGUA NÃO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42358004000196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2,34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ITAL NÃO PADRONIZADOS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55720253000121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2,30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RSG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57719370000109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VALE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13321819000100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2,11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ns0:graphicFrame>
      <ns0:sp>
        <ns0:nvSpPr>
          <ns0:cNvPr id="10" name="">
            <a:extLst>
              <a:ext uri="{FF2B5EF4-FFF2-40B4-BE49-F238E27FC236}">
                <ns2:creationId id="{F791D2A1-D40C-4497-892E-48A78965FEAF}"/>
              </a:ext>
            </a:extLst>
          </ns0:cNvPr>
          <ns0:cNvSpPr>
            <a:spLocks noGrp="1"/>
          </ns0:cNvSpPr>
          <ns0:nvPr/>
        </ns0:nvSpPr>
        <ns0:spPr>
          <a:xfrm>
            <a:off x="571500" y="6172200"/>
            <a:ext cx="11049000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Campos longos aparecem em forma editorial compacta; valores e fontes integrais permanecem na aba Auditoria emissões. * = exceção/múltiplas classes ou complemento manual; N/D = lacuna.</a:t>
            </a:r>
          </a:p>
        </ns0:txBody>
      </ns0:sp>
    </ns0:spTree>
    <ns0:extLst>
      <ns0:ext uri="{BB962C8B-B14F-4D97-AF65-F5344CB8AC3E}">
        <ns3:creationId val="439647580"/>
      </ns0:ext>
    </ns0:extLst>
  </ns0:cSld>
</ns0:sld>
</file>

<file path=ppt/slides/slide17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1" name="">
            <a:extLst>
              <a:ext uri="{FF2B5EF4-FFF2-40B4-BE49-F238E27FC236}">
                <ns2:creationId id="{30AE9D6A-77B5-43DC-8D13-1B3DCDCF7437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4095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Outros: o único bloco que encolheu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150B8342-402F-4598-AF6D-BAB9257F875C}"/>
              </a:ext>
            </a:extLst>
          </ns0:cNvPr>
          <ns0:cNvSpPr>
            <a:spLocks noGrp="1"/>
          </ns0:cNvSpPr>
          <ns0:nvPr/>
        </ns0:nvSpPr>
        <ns0:spPr>
          <a:xfrm>
            <a:off x="571500" y="723900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Top 15 recua de R$ 60,9 bi para R$ 55,1 bi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44FE93AD-F1E5-4A06-9164-E92729D7FFBC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C1C88E49-9FB7-4D8C-8A77-DDEA6DAEDAE8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E7C81DEF-13CB-400A-9D9A-35600EF44CF6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dez/25 · Top 15: R$ 60,9 bi. Comparação: R$ 60,9 bi em dez/25 e R$ 55,1 bi em jun/26.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1260436A-4429-4E81-A9AF-17EE7A3B9A11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17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4E318E7B-9778-41E5-A254-111580061FC6}"/>
              </a:ext>
            </a:extLst>
          </ns0:cNvPr>
          <ns0:cNvSpPr>
            <a:spLocks noGrp="1"/>
          </ns0:cNvSpPr>
          <ns0:nvPr/>
        </ns0:nvSpPr>
        <ns0:spPr>
          <a:xfrm>
            <a:off x="571500" y="1143000"/>
            <a:ext cx="1104900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dez/25 · Top 15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936999F5-9F26-4922-9CC4-F3129BCD10CC}"/>
              </a:ext>
            </a:extLst>
          </ns0:cNvPr>
          <ns0:cNvSpPr>
            <a:spLocks noGrp="1"/>
          </ns0:cNvSpPr>
          <ns0:nvPr/>
        </ns0:nvSpPr>
        <ns0:spPr>
          <a:xfrm>
            <a:off x="571500" y="13906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19" name=""/>
          <ns0:cNvGraphicFramePr/>
          <ns0:nvPr/>
        </ns0:nvGraphicFramePr>
        <ns0:xfrm>
          <a:off x="571500" y="1438275"/>
          <a:ext cx="11049000" cy="4705350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304800"/>
                <a:gridCol w="2000250"/>
                <a:gridCol w="1381125"/>
                <a:gridCol w="1285875"/>
                <a:gridCol w="1238250"/>
                <a:gridCol w="1009650"/>
                <a:gridCol w="1381125"/>
                <a:gridCol w="1733550"/>
                <a:gridCol w="714375"/>
              </a:tblGrid>
              <a:tr h="22145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CNPJ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Originador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Cedente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Sub. mín.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Preço por cota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Sacado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ITAÚ CRÉDITO PRIVADO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53286499000101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8,14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ESPERANZA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53263761000100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6,48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RIO VERMELHO 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53216449000158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6,38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NC 2025 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63700113000110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5,34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HIGH TOWER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51152102000163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3,97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RSCRED MULTIESTRÉGIA -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29301202000155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3,60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ACONCÁGUA 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42358004000196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3,51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GSR NÃO PADRONIZADOS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53029409000105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3,20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CARNIVAL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51079269000146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3,06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OCCAM CRÉDITO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48349509000170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3,05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ALTERNATIVE ASSETS III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29225241000110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2,99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FIDC PCG - BRASIL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07727002000126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2,85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JC DIVERSIFICADO III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29109350000172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2,82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ALTERNATIVE ASSETS 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24194675000187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2,77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SCARLET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55344996000144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2,72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ns0:graphicFrame>
      <ns0:sp>
        <ns0:nvSpPr>
          <ns0:cNvPr id="10" name="">
            <a:extLst>
              <a:ext uri="{FF2B5EF4-FFF2-40B4-BE49-F238E27FC236}">
                <ns2:creationId id="{4AA8527A-C190-4699-B63F-9E6D1E771213}"/>
              </a:ext>
            </a:extLst>
          </ns0:cNvPr>
          <ns0:cNvSpPr>
            <a:spLocks noGrp="1"/>
          </ns0:cNvSpPr>
          <ns0:nvPr/>
        </ns0:nvSpPr>
        <ns0:spPr>
          <a:xfrm>
            <a:off x="571500" y="6172200"/>
            <a:ext cx="11049000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Campos longos aparecem em forma editorial compacta; valores e fontes integrais permanecem na aba Auditoria emissões. * = exceção/múltiplas classes ou complemento manual; N/D = lacuna.</a:t>
            </a:r>
          </a:p>
        </ns0:txBody>
      </ns0:sp>
    </ns0:spTree>
    <ns0:extLst>
      <ns0:ext uri="{BB962C8B-B14F-4D97-AF65-F5344CB8AC3E}">
        <ns3:creationId val="519187680"/>
      </ns0:ext>
    </ns0:extLst>
  </ns0:cSld>
</ns0:sld>
</file>

<file path=ppt/slides/slide18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41" name="">
            <a:extLst>
              <a:ext uri="{FF2B5EF4-FFF2-40B4-BE49-F238E27FC236}">
                <ns2:creationId id="{C846F0E0-8327-4985-8112-2C8D5EA928E8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RISCO ESTRUTURAL · CARTEIRA I · FINANCEIRO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2BFD4525-0030-4CB9-9D8F-3D98D1E313AC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"/>
            <a:ext cx="11049000" cy="4667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Financeiro | 2 veículos comparáveis estão abaixo do mínimo estrutural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C4E3CA6A-8FB3-4F51-AD2F-D34762CC97E8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D0F73A06-A1EE-4112-9D8D-39FB2F627364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17D00C49-D7BF-49BA-BBB4-157148E1D5DD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CVM, Informe Mensal, jun/26; pisos em regulamentos FundosNet/B3. Lacunas ficam fora do slide e permanecem no workbook/explorador.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1D1B2EEB-6734-40F9-BE13-3487F62C0746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18</a:t>
            </a:r>
          </a:p>
        </ns0:txBody>
      </ns0:sp>
      <ns0:sp>
        <ns0:nvSpPr>
          <ns0:cNvPr id="7" name="mvp-summary-structural_mvp_financeiro-1">
            <a:extLst>
              <a:ext uri="{FF2B5EF4-FFF2-40B4-BE49-F238E27FC236}">
                <ns2:creationId id="{63FE9A9D-9821-4E4C-8350-2D6D4A8B238A}"/>
              </a:ext>
            </a:extLst>
          </ns0:cNvPr>
          <ns0:cNvSpPr>
            <a:spLocks noGrp="1"/>
          </ns0:cNvSpPr>
          <ns0:nvPr/>
        </ns0:nvSpPr>
        <ns0:spPr>
          <a:xfrm>
            <a:off x="571500" y="1152525"/>
            <a:ext cx="3143250" cy="609600"/>
          </a:xfrm>
          <a:prstGeom prst="rect">
            <a:avLst/>
          </a:prstGeom>
          <a:solidFill>
            <a:srgbClr val="EAF0F7"/>
          </a:solidFill>
          <a:ln w="0">
            <a:solidFill>
              <a:srgbClr val="EAF0F7"/>
            </a:solidFill>
            <a:prstDash val="solid"/>
          </a:ln>
        </ns0:spPr>
        <ns0:txBody>
          <a:bodyPr wrap="square" lIns="95250" tIns="66675" rIns="95250" bIns="66675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COBERTURA DO SLIDE</a:t>
            </a:r>
          </a:p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18/23 CNPJs · R$ 12,9 bi de R$ 13,8 bi</a:t>
            </a:r>
          </a:p>
        </ns0:txBody>
      </ns0:sp>
      <ns0:sp>
        <ns0:nvSpPr>
          <ns0:cNvPr id="8" name="mvp-summary-structural_mvp_financeiro-2">
            <a:extLst>
              <a:ext uri="{FF2B5EF4-FFF2-40B4-BE49-F238E27FC236}">
                <ns2:creationId id="{2B64DE36-E115-4D6F-BEBB-E1E74ECA4725}"/>
              </a:ext>
            </a:extLst>
          </ns0:cNvPr>
          <ns0:cNvSpPr>
            <a:spLocks noGrp="1"/>
          </ns0:cNvSpPr>
          <ns0:nvPr/>
        </ns0:nvSpPr>
        <ns0:spPr>
          <a:xfrm>
            <a:off x="3810000" y="1152525"/>
            <a:ext cx="4810125" cy="609600"/>
          </a:xfrm>
          <a:prstGeom prst="rect">
            <a:avLst/>
          </a:prstGeom>
          <a:solidFill>
            <a:srgbClr val="FFFFFF"/>
          </a:solidFill>
          <a:ln w="9525">
            <a:solidFill>
              <a:srgbClr val="AFC5DD"/>
            </a:solidFill>
            <a:prstDash val="solid"/>
          </a:ln>
        </ns0:spPr>
        <ns0:txBody>
          <a:bodyPr wrap="square" lIns="95250" tIns="66675" rIns="95250" bIns="66675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REFERÊNCIA DE MERCADO · SUB/PL ATUAL</a:t>
            </a:r>
          </a:p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Referência ampla · 12 pares · med. carteira 31,1% vs. mercado 30,1%</a:t>
            </a:r>
          </a:p>
        </ns0:txBody>
      </ns0:sp>
      <ns0:sp>
        <ns0:nvSpPr>
          <ns0:cNvPr id="9" name="mvp-summary-structural_mvp_financeiro-3">
            <a:extLst>
              <a:ext uri="{FF2B5EF4-FFF2-40B4-BE49-F238E27FC236}">
                <ns2:creationId id="{B6662DD0-F7EB-43EE-AC6D-3968577C048F}"/>
              </a:ext>
            </a:extLst>
          </ns0:cNvPr>
          <ns0:cNvSpPr>
            <a:spLocks noGrp="1"/>
          </ns0:cNvSpPr>
          <ns0:nvPr/>
        </ns0:nvSpPr>
        <ns0:spPr>
          <a:xfrm>
            <a:off x="8715375" y="1152525"/>
            <a:ext cx="2905125" cy="609600"/>
          </a:xfrm>
          <a:prstGeom prst="rect">
            <a:avLst/>
          </a:prstGeom>
          <a:solidFill>
            <a:srgbClr val="FFF1E6"/>
          </a:solidFill>
          <a:ln w="0">
            <a:solidFill>
              <a:srgbClr val="FFF1E6"/>
            </a:solidFill>
            <a:prstDash val="solid"/>
          </a:ln>
        </ns0:spPr>
        <ns0:txBody>
          <a:bodyPr wrap="square" lIns="95250" tIns="66675" rIns="95250" bIns="66675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7A1F3D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7A1F3D"/>
                </a:solidFill>
                <a:latin typeface="Arial"/>
                <a:ea typeface="Arial"/>
                <a:cs typeface="Arial"/>
              </a:rPr>
              <a:t>LEITURA RELATIVA</a:t>
            </a:r>
          </a:p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7A1F3D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7A1F3D"/>
                </a:solidFill>
                <a:latin typeface="Arial"/>
                <a:ea typeface="Arial"/>
                <a:cs typeface="Arial"/>
              </a:rPr>
              <a:t>≈ Em linha na referência ampla*</a:t>
            </a:r>
          </a:p>
        </ns0:txBody>
      </ns0:sp>
      <ns0:sp>
        <ns0:nvSpPr>
          <ns0:cNvPr id="10" name="mvp-band-structural_mvp_financeiro-1">
            <a:extLst>
              <a:ext uri="{FF2B5EF4-FFF2-40B4-BE49-F238E27FC236}">
                <ns2:creationId id="{04487DB5-F090-4C6D-9BCC-F1681868EBCE}"/>
              </a:ext>
            </a:extLst>
          </ns0:cNvPr>
          <ns0:cNvSpPr>
            <a:spLocks noGrp="1"/>
          </ns0:cNvSpPr>
          <ns0:nvPr/>
        </ns0:nvSpPr>
        <ns0:spPr>
          <a:xfrm>
            <a:off x="571500" y="1885950"/>
            <a:ext cx="17780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105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5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&lt; 10%</a:t>
            </a:r>
          </a:p>
        </ns0:txBody>
      </ns0:sp>
      <ns0:sp>
        <ns0:nvSpPr>
          <ns0:cNvPr id="11" name="">
            <a:extLst>
              <a:ext uri="{FF2B5EF4-FFF2-40B4-BE49-F238E27FC236}">
                <ns2:creationId id="{FC1E4800-71DD-43FE-9C17-E107E5725FE7}"/>
              </a:ext>
            </a:extLst>
          </ns0:cNvPr>
          <ns0:cNvSpPr>
            <a:spLocks noGrp="1"/>
          </ns0:cNvSpPr>
          <ns0:nvPr/>
        </ns0:nvSpPr>
        <ns0:spPr>
          <a:xfrm>
            <a:off x="571500" y="2114550"/>
            <a:ext cx="1778000" cy="19050"/>
          </a:xfrm>
          <a:prstGeom prst="rect">
            <a:avLst/>
          </a:prstGeom>
          <a:solidFill>
            <a:srgbClr val="002B5C"/>
          </a:solidFill>
          <a:ln w="0">
            <a:noFill/>
            <a:prstDash val="solid"/>
          </a:ln>
        </ns0:spPr>
      </ns0:sp>
      <ns0:sp>
        <ns0:nvSpPr>
          <ns0:cNvPr id="12" name="mvp-card-structural_mvp_financeiro-52968533000165">
            <a:extLst>
              <a:ext uri="{FF2B5EF4-FFF2-40B4-BE49-F238E27FC236}">
                <ns2:creationId id="{CEEE689A-419D-4996-9B30-05E850903F2F}"/>
              </a:ext>
            </a:extLst>
          </ns0:cNvPr>
          <ns0:cNvSpPr>
            <a:spLocks noGrp="1"/>
          </ns0:cNvSpPr>
          <ns0:nvPr/>
        </ns0:nvSpPr>
        <ns0:spPr>
          <a:xfrm>
            <a:off x="571500" y="2181225"/>
            <a:ext cx="1778000" cy="438150"/>
          </a:xfrm>
          <a:prstGeom prst="rect">
            <a:avLst/>
          </a:prstGeom>
          <a:solidFill>
            <a:srgbClr val="7A1F3D"/>
          </a:solidFill>
          <a:ln w="9525">
            <a:solidFill>
              <a:srgbClr val="7A1F3D"/>
            </a:solidFill>
            <a:prstDash val="solid"/>
          </a:ln>
        </ns0:spPr>
        <ns0:txBody>
          <a:bodyPr wrap="none" lIns="47625" tIns="28575" rIns="47625" bIns="28575" anchor="ctr">
            <a:normAutofit fontScale="87719"/>
          </a:bodyPr>
          <a:lstStyle/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FFFFFF"/>
                </a:solidFill>
                <a:latin typeface="Arial"/>
                <a:ea typeface="Arial"/>
                <a:cs typeface="Arial"/>
              </a:rPr>
              <a:t>MCPO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FFFFFF"/>
                </a:solidFill>
                <a:latin typeface="Arial"/>
                <a:ea typeface="Arial"/>
                <a:cs typeface="Arial"/>
              </a:rPr>
              <a:t>R$ 113,3 mi · Sub atual 0,0%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FFFFFF"/>
                </a:solidFill>
                <a:latin typeface="Arial"/>
                <a:ea typeface="Arial"/>
                <a:cs typeface="Arial"/>
              </a:rPr>
              <a:t>Jr N/D · Estr. 20,0%*</a:t>
            </a:r>
          </a:p>
        </ns0:txBody>
      </ns0:sp>
      <ns0:sp>
        <ns0:nvSpPr>
          <ns0:cNvPr id="13" name="mvp-card-structural_mvp_financeiro-62838025000116">
            <a:extLst>
              <a:ext uri="{FF2B5EF4-FFF2-40B4-BE49-F238E27FC236}">
                <ns2:creationId id="{E3093DF4-9EC2-4D55-BCBC-73F22D009514}"/>
              </a:ext>
            </a:extLst>
          </ns0:cNvPr>
          <ns0:cNvSpPr>
            <a:spLocks noGrp="1"/>
          </ns0:cNvSpPr>
          <ns0:nvPr/>
        </ns0:nvSpPr>
        <ns0:spPr>
          <a:xfrm>
            <a:off x="571500" y="2638425"/>
            <a:ext cx="1778000" cy="438150"/>
          </a:xfrm>
          <a:prstGeom prst="rect">
            <a:avLst/>
          </a:prstGeom>
          <a:solidFill>
            <a:srgbClr val="F5F6F7"/>
          </a:solidFill>
          <a:ln w="9525">
            <a:solidFill>
              <a:srgbClr val="B8BDC2"/>
            </a:solidFill>
            <a:prstDash val="solid"/>
          </a:ln>
        </ns0:spPr>
        <ns0:txBody>
          <a:bodyPr wrap="none" lIns="47625" tIns="28575" rIns="47625" bIns="28575" anchor="ctr">
            <a:normAutofit fontScale="87719"/>
          </a:bodyPr>
          <a:lstStyle/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ENDURANCE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R$ 2,0 bi · Sub atual 9,5%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Jr 10,0% · Estr. N/D*</a:t>
            </a:r>
          </a:p>
        </ns0:txBody>
      </ns0:sp>
      <ns0:sp>
        <ns0:nvSpPr>
          <ns0:cNvPr id="14" name="mvp-card-structural_mvp_financeiro-50988212000105">
            <a:extLst>
              <a:ext uri="{FF2B5EF4-FFF2-40B4-BE49-F238E27FC236}">
                <ns2:creationId id="{92E74F42-6B77-4BD6-AF0E-69BE7461E614}"/>
              </a:ext>
            </a:extLst>
          </ns0:cNvPr>
          <ns0:cNvSpPr>
            <a:spLocks noGrp="1"/>
          </ns0:cNvSpPr>
          <ns0:nvPr/>
        </ns0:nvSpPr>
        <ns0:spPr>
          <a:xfrm>
            <a:off x="571500" y="3095625"/>
            <a:ext cx="1778000" cy="438150"/>
          </a:xfrm>
          <a:prstGeom prst="rect">
            <a:avLst/>
          </a:prstGeom>
          <a:solidFill>
            <a:srgbClr val="F5F6F7"/>
          </a:solidFill>
          <a:ln w="9525">
            <a:solidFill>
              <a:srgbClr val="B8BDC2"/>
            </a:solidFill>
            <a:prstDash val="solid"/>
          </a:ln>
        </ns0:spPr>
        <ns0:txBody>
          <a:bodyPr wrap="none" lIns="47625" tIns="28575" rIns="47625" bIns="28575" anchor="ctr">
            <a:normAutofit fontScale="87719"/>
          </a:bodyPr>
          <a:lstStyle/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CARTÃO DE COMPRA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R$ 193,6 mi · Sub atual 7,0%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Jr 4,5%* · Estr. N/D*</a:t>
            </a:r>
          </a:p>
        </ns0:txBody>
      </ns0:sp>
      <ns0:sp>
        <ns0:nvSpPr>
          <ns0:cNvPr id="15" name="mvp-band-structural_mvp_financeiro-2">
            <a:extLst>
              <a:ext uri="{FF2B5EF4-FFF2-40B4-BE49-F238E27FC236}">
                <ns2:creationId id="{F1D7452E-5BDF-4518-91A9-809374D46E9E}"/>
              </a:ext>
            </a:extLst>
          </ns0:cNvPr>
          <ns0:cNvSpPr>
            <a:spLocks noGrp="1"/>
          </ns0:cNvSpPr>
          <ns0:nvPr/>
        </ns0:nvSpPr>
        <ns0:spPr>
          <a:xfrm>
            <a:off x="2425700" y="1885950"/>
            <a:ext cx="17780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105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5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10%–15%</a:t>
            </a:r>
          </a:p>
        </ns0:txBody>
      </ns0:sp>
      <ns0:sp>
        <ns0:nvSpPr>
          <ns0:cNvPr id="16" name="">
            <a:extLst>
              <a:ext uri="{FF2B5EF4-FFF2-40B4-BE49-F238E27FC236}">
                <ns2:creationId id="{CC5F4878-3DDB-4438-9594-523A24C6F448}"/>
              </a:ext>
            </a:extLst>
          </ns0:cNvPr>
          <ns0:cNvSpPr>
            <a:spLocks noGrp="1"/>
          </ns0:cNvSpPr>
          <ns0:nvPr/>
        </ns0:nvSpPr>
        <ns0:spPr>
          <a:xfrm>
            <a:off x="2425700" y="2114550"/>
            <a:ext cx="1778000" cy="19050"/>
          </a:xfrm>
          <a:prstGeom prst="rect">
            <a:avLst/>
          </a:prstGeom>
          <a:solidFill>
            <a:srgbClr val="002B5C"/>
          </a:solidFill>
          <a:ln w="0">
            <a:noFill/>
            <a:prstDash val="solid"/>
          </a:ln>
        </ns0:spPr>
      </ns0:sp>
      <ns0:sp>
        <ns0:nvSpPr>
          <ns0:cNvPr id="17" name="mvp-band-structural_mvp_financeiro-3">
            <a:extLst>
              <a:ext uri="{FF2B5EF4-FFF2-40B4-BE49-F238E27FC236}">
                <ns2:creationId id="{69683117-46E7-49CC-BDE1-55A3E2E96D7C}"/>
              </a:ext>
            </a:extLst>
          </ns0:cNvPr>
          <ns0:cNvSpPr>
            <a:spLocks noGrp="1"/>
          </ns0:cNvSpPr>
          <ns0:nvPr/>
        </ns0:nvSpPr>
        <ns0:spPr>
          <a:xfrm>
            <a:off x="4279900" y="1885950"/>
            <a:ext cx="17780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105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5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15%–20%</a:t>
            </a:r>
          </a:p>
        </ns0:txBody>
      </ns0:sp>
      <ns0:sp>
        <ns0:nvSpPr>
          <ns0:cNvPr id="18" name="">
            <a:extLst>
              <a:ext uri="{FF2B5EF4-FFF2-40B4-BE49-F238E27FC236}">
                <ns2:creationId id="{92F1219D-DDEC-4E8B-97B8-481A48B407BF}"/>
              </a:ext>
            </a:extLst>
          </ns0:cNvPr>
          <ns0:cNvSpPr>
            <a:spLocks noGrp="1"/>
          </ns0:cNvSpPr>
          <ns0:nvPr/>
        </ns0:nvSpPr>
        <ns0:spPr>
          <a:xfrm>
            <a:off x="4279900" y="2114550"/>
            <a:ext cx="1778000" cy="19050"/>
          </a:xfrm>
          <a:prstGeom prst="rect">
            <a:avLst/>
          </a:prstGeom>
          <a:solidFill>
            <a:srgbClr val="002B5C"/>
          </a:solidFill>
          <a:ln w="0">
            <a:noFill/>
            <a:prstDash val="solid"/>
          </a:ln>
        </ns0:spPr>
      </ns0:sp>
      <ns0:sp>
        <ns0:nvSpPr>
          <ns0:cNvPr id="19" name="mvp-band-structural_mvp_financeiro-4">
            <a:extLst>
              <a:ext uri="{FF2B5EF4-FFF2-40B4-BE49-F238E27FC236}">
                <ns2:creationId id="{A7C96F7E-9B1A-4041-B826-028793B71387}"/>
              </a:ext>
            </a:extLst>
          </ns0:cNvPr>
          <ns0:cNvSpPr>
            <a:spLocks noGrp="1"/>
          </ns0:cNvSpPr>
          <ns0:nvPr/>
        </ns0:nvSpPr>
        <ns0:spPr>
          <a:xfrm>
            <a:off x="6134100" y="1885950"/>
            <a:ext cx="17780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105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5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20%–35%</a:t>
            </a:r>
          </a:p>
        </ns0:txBody>
      </ns0:sp>
      <ns0:sp>
        <ns0:nvSpPr>
          <ns0:cNvPr id="20" name="">
            <a:extLst>
              <a:ext uri="{FF2B5EF4-FFF2-40B4-BE49-F238E27FC236}">
                <ns2:creationId id="{B4836016-78CF-4AA3-A8CB-E999A940941B}"/>
              </a:ext>
            </a:extLst>
          </ns0:cNvPr>
          <ns0:cNvSpPr>
            <a:spLocks noGrp="1"/>
          </ns0:cNvSpPr>
          <ns0:nvPr/>
        </ns0:nvSpPr>
        <ns0:spPr>
          <a:xfrm>
            <a:off x="6134100" y="2114550"/>
            <a:ext cx="1778000" cy="19050"/>
          </a:xfrm>
          <a:prstGeom prst="rect">
            <a:avLst/>
          </a:prstGeom>
          <a:solidFill>
            <a:srgbClr val="002B5C"/>
          </a:solidFill>
          <a:ln w="0">
            <a:noFill/>
            <a:prstDash val="solid"/>
          </a:ln>
        </ns0:spPr>
      </ns0:sp>
      <ns0:sp>
        <ns0:nvSpPr>
          <ns0:cNvPr id="21" name="mvp-card-structural_mvp_financeiro-52100879000147">
            <a:extLst>
              <a:ext uri="{FF2B5EF4-FFF2-40B4-BE49-F238E27FC236}">
                <ns2:creationId id="{825ABE2E-68AE-4DE5-B21D-B06E71E1606F}"/>
              </a:ext>
            </a:extLst>
          </ns0:cNvPr>
          <ns0:cNvSpPr>
            <a:spLocks noGrp="1"/>
          </ns0:cNvSpPr>
          <ns0:nvPr/>
        </ns0:nvSpPr>
        <ns0:spPr>
          <a:xfrm>
            <a:off x="6134100" y="2181225"/>
            <a:ext cx="1778000" cy="438150"/>
          </a:xfrm>
          <a:prstGeom prst="rect">
            <a:avLst/>
          </a:prstGeom>
          <a:solidFill>
            <a:srgbClr val="7A1F3D"/>
          </a:solidFill>
          <a:ln w="9525">
            <a:solidFill>
              <a:srgbClr val="7A1F3D"/>
            </a:solidFill>
            <a:prstDash val="solid"/>
          </a:ln>
        </ns0:spPr>
        <ns0:txBody>
          <a:bodyPr wrap="none" lIns="47625" tIns="28575" rIns="47625" bIns="28575" anchor="ctr">
            <a:normAutofit fontScale="87719"/>
          </a:bodyPr>
          <a:lstStyle/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FFFFFF"/>
                </a:solidFill>
                <a:latin typeface="Arial"/>
                <a:ea typeface="Arial"/>
                <a:cs typeface="Arial"/>
              </a:rPr>
              <a:t>SOTREQ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FFFFFF"/>
                </a:solidFill>
                <a:latin typeface="Arial"/>
                <a:ea typeface="Arial"/>
                <a:cs typeface="Arial"/>
              </a:rPr>
              <a:t>R$ 205,2 mi · Sub atual 23,6%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FFFFFF"/>
                </a:solidFill>
                <a:latin typeface="Arial"/>
                <a:ea typeface="Arial"/>
                <a:cs typeface="Arial"/>
              </a:rPr>
              <a:t>Jr N/D · Estr. 25,0%*</a:t>
            </a:r>
          </a:p>
        </ns0:txBody>
      </ns0:sp>
      <ns0:sp>
        <ns0:nvSpPr>
          <ns0:cNvPr id="22" name="mvp-card-structural_mvp_financeiro-57816252000100">
            <a:extLst>
              <a:ext uri="{FF2B5EF4-FFF2-40B4-BE49-F238E27FC236}">
                <ns2:creationId id="{C83CE8CD-1F69-4BB0-8A96-F1AF7B7281D9}"/>
              </a:ext>
            </a:extLst>
          </ns0:cNvPr>
          <ns0:cNvSpPr>
            <a:spLocks noGrp="1"/>
          </ns0:cNvSpPr>
          <ns0:nvPr/>
        </ns0:nvSpPr>
        <ns0:spPr>
          <a:xfrm>
            <a:off x="6134100" y="2638425"/>
            <a:ext cx="1778000" cy="438150"/>
          </a:xfrm>
          <a:prstGeom prst="rect">
            <a:avLst/>
          </a:prstGeom>
          <a:solidFill>
            <a:srgbClr val="EAF0F7"/>
          </a:solidFill>
          <a:ln w="9525">
            <a:solidFill>
              <a:srgbClr val="AFC5DD"/>
            </a:solidFill>
            <a:prstDash val="solid"/>
          </a:ln>
        </ns0:spPr>
        <ns0:txBody>
          <a:bodyPr wrap="none" lIns="47625" tIns="28575" rIns="47625" bIns="28575" anchor="ctr">
            <a:normAutofit fontScale="87719"/>
          </a:bodyPr>
          <a:lstStyle/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NATURA PAY CRÉDITO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R$ 1,0 bi · Sub atual 28,3%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Jr 25,3% · Estr. 25,3%</a:t>
            </a:r>
          </a:p>
        </ns0:txBody>
      </ns0:sp>
      <ns0:sp>
        <ns0:nvSpPr>
          <ns0:cNvPr id="23" name="mvp-card-structural_mvp_financeiro-61288838000117">
            <a:extLst>
              <a:ext uri="{FF2B5EF4-FFF2-40B4-BE49-F238E27FC236}">
                <ns2:creationId id="{DB65C180-DAD1-4742-90DA-7542ACB5ADD5}"/>
              </a:ext>
            </a:extLst>
          </ns0:cNvPr>
          <ns0:cNvSpPr>
            <a:spLocks noGrp="1"/>
          </ns0:cNvSpPr>
          <ns0:nvPr/>
        </ns0:nvSpPr>
        <ns0:spPr>
          <a:xfrm>
            <a:off x="6134100" y="3095625"/>
            <a:ext cx="1778000" cy="438150"/>
          </a:xfrm>
          <a:prstGeom prst="rect">
            <a:avLst/>
          </a:prstGeom>
          <a:solidFill>
            <a:srgbClr val="F5F6F7"/>
          </a:solidFill>
          <a:ln w="9525">
            <a:solidFill>
              <a:srgbClr val="B8BDC2"/>
            </a:solidFill>
            <a:prstDash val="solid"/>
          </a:ln>
        </ns0:spPr>
        <ns0:txBody>
          <a:bodyPr wrap="none" lIns="47625" tIns="28575" rIns="47625" bIns="28575" anchor="ctr">
            <a:normAutofit fontScale="87719"/>
          </a:bodyPr>
          <a:lstStyle/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IFOOD PAGO CRÉDITO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R$ 722,5 mi · Sub atual 30,3%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Jr 15,0% · Estr. N/D*</a:t>
            </a:r>
          </a:p>
        </ns0:txBody>
      </ns0:sp>
      <ns0:sp>
        <ns0:nvSpPr>
          <ns0:cNvPr id="24" name="mvp-card-structural_mvp_financeiro-37294759000134">
            <a:extLst>
              <a:ext uri="{FF2B5EF4-FFF2-40B4-BE49-F238E27FC236}">
                <ns2:creationId id="{634CD783-DFDF-4CB5-AB20-8802A4450C17}"/>
              </a:ext>
            </a:extLst>
          </ns0:cNvPr>
          <ns0:cNvSpPr>
            <a:spLocks noGrp="1"/>
          </ns0:cNvSpPr>
          <ns0:nvPr/>
        </ns0:nvSpPr>
        <ns0:spPr>
          <a:xfrm>
            <a:off x="6134100" y="3552825"/>
            <a:ext cx="1778000" cy="438150"/>
          </a:xfrm>
          <a:prstGeom prst="rect">
            <a:avLst/>
          </a:prstGeom>
          <a:solidFill>
            <a:srgbClr val="EAF0F7"/>
          </a:solidFill>
          <a:ln w="9525">
            <a:solidFill>
              <a:srgbClr val="AFC5DD"/>
            </a:solidFill>
            <a:prstDash val="solid"/>
          </a:ln>
        </ns0:spPr>
        <ns0:txBody>
          <a:bodyPr wrap="none" lIns="47625" tIns="28575" rIns="47625" bIns="28575" anchor="ctr">
            <a:normAutofit fontScale="87719"/>
          </a:bodyPr>
          <a:lstStyle/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GALLERIA HOME EQUITY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R$ 513,2 mi · Sub atual 31,8%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Jr N/D · Estr. 4,8%*</a:t>
            </a:r>
          </a:p>
        </ns0:txBody>
      </ns0:sp>
      <ns0:sp>
        <ns0:nvSpPr>
          <ns0:cNvPr id="25" name="mvp-card-structural_mvp_financeiro-57028406000108">
            <a:extLst>
              <a:ext uri="{FF2B5EF4-FFF2-40B4-BE49-F238E27FC236}">
                <ns2:creationId id="{1EC71A36-41A7-4397-9C24-7840D6B35C18}"/>
              </a:ext>
            </a:extLst>
          </ns0:cNvPr>
          <ns0:cNvSpPr>
            <a:spLocks noGrp="1"/>
          </ns0:cNvSpPr>
          <ns0:nvPr/>
        </ns0:nvSpPr>
        <ns0:spPr>
          <a:xfrm>
            <a:off x="6134100" y="4010025"/>
            <a:ext cx="1778000" cy="438150"/>
          </a:xfrm>
          <a:prstGeom prst="rect">
            <a:avLst/>
          </a:prstGeom>
          <a:solidFill>
            <a:srgbClr val="F5F6F7"/>
          </a:solidFill>
          <a:ln w="9525">
            <a:solidFill>
              <a:srgbClr val="B8BDC2"/>
            </a:solidFill>
            <a:prstDash val="solid"/>
          </a:ln>
        </ns0:spPr>
        <ns0:txBody>
          <a:bodyPr wrap="none" lIns="47625" tIns="28575" rIns="47625" bIns="28575" anchor="ctr">
            <a:normAutofit fontScale="87719"/>
          </a:bodyPr>
          <a:lstStyle/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IS GREEN SOLFÁCIL VI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R$ 437,4 mi · Sub atual 26,6%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Jr 2,0% · Estr. N/D*</a:t>
            </a:r>
          </a:p>
        </ns0:txBody>
      </ns0:sp>
      <ns0:sp>
        <ns0:nvSpPr>
          <ns0:cNvPr id="26" name="mvp-card-structural_mvp_financeiro-47640584000123">
            <a:extLst>
              <a:ext uri="{FF2B5EF4-FFF2-40B4-BE49-F238E27FC236}">
                <ns2:creationId id="{372078C7-5DA8-4683-90CC-EAA29513D081}"/>
              </a:ext>
            </a:extLst>
          </ns0:cNvPr>
          <ns0:cNvSpPr>
            <a:spLocks noGrp="1"/>
          </ns0:cNvSpPr>
          <ns0:nvPr/>
        </ns0:nvSpPr>
        <ns0:spPr>
          <a:xfrm>
            <a:off x="6134100" y="4467225"/>
            <a:ext cx="1778000" cy="438150"/>
          </a:xfrm>
          <a:prstGeom prst="rect">
            <a:avLst/>
          </a:prstGeom>
          <a:solidFill>
            <a:srgbClr val="F5F6F7"/>
          </a:solidFill>
          <a:ln w="9525">
            <a:solidFill>
              <a:srgbClr val="B8BDC2"/>
            </a:solidFill>
            <a:prstDash val="solid"/>
          </a:ln>
        </ns0:spPr>
        <ns0:txBody>
          <a:bodyPr wrap="none" lIns="47625" tIns="28575" rIns="47625" bIns="28575" anchor="ctr">
            <a:normAutofit fontScale="87719"/>
          </a:bodyPr>
          <a:lstStyle/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SOL AGORA GREEN ESG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R$ 285,1 mi · Sub atual 30,4%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Jr 10,0% · Estr. N/D*</a:t>
            </a:r>
          </a:p>
        </ns0:txBody>
      </ns0:sp>
      <ns0:sp>
        <ns0:nvSpPr>
          <ns0:cNvPr id="27" name="mvp-card-structural_mvp_financeiro-42462306000100">
            <a:extLst>
              <a:ext uri="{FF2B5EF4-FFF2-40B4-BE49-F238E27FC236}">
                <ns2:creationId id="{EEF2183F-D977-482D-AECD-B46D7B4B4AFC}"/>
              </a:ext>
            </a:extLst>
          </ns0:cNvPr>
          <ns0:cNvSpPr>
            <a:spLocks noGrp="1"/>
          </ns0:cNvSpPr>
          <ns0:nvPr/>
        </ns0:nvSpPr>
        <ns0:spPr>
          <a:xfrm>
            <a:off x="6134100" y="4924425"/>
            <a:ext cx="1778000" cy="438150"/>
          </a:xfrm>
          <a:prstGeom prst="rect">
            <a:avLst/>
          </a:prstGeom>
          <a:solidFill>
            <a:srgbClr val="F5F6F7"/>
          </a:solidFill>
          <a:ln w="9525">
            <a:solidFill>
              <a:srgbClr val="B8BDC2"/>
            </a:solidFill>
            <a:prstDash val="solid"/>
          </a:ln>
        </ns0:spPr>
        <ns0:txBody>
          <a:bodyPr wrap="none" lIns="47625" tIns="28575" rIns="47625" bIns="28575" anchor="ctr">
            <a:normAutofit fontScale="87719"/>
          </a:bodyPr>
          <a:lstStyle/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IS GREEN SOLFÁCIL II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R$ 96,1 mi · Sub atual 24,7%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Jr 4,5% · Estr. N/D*</a:t>
            </a:r>
          </a:p>
        </ns0:txBody>
      </ns0:sp>
      <ns0:sp>
        <ns0:nvSpPr>
          <ns0:cNvPr id="28" name="mvp-band-structural_mvp_financeiro-5">
            <a:extLst>
              <a:ext uri="{FF2B5EF4-FFF2-40B4-BE49-F238E27FC236}">
                <ns2:creationId id="{09C09568-BB20-447F-A585-944F38C65692}"/>
              </a:ext>
            </a:extLst>
          </ns0:cNvPr>
          <ns0:cNvSpPr>
            <a:spLocks noGrp="1"/>
          </ns0:cNvSpPr>
          <ns0:nvPr/>
        </ns0:nvSpPr>
        <ns0:spPr>
          <a:xfrm>
            <a:off x="7988300" y="1885950"/>
            <a:ext cx="17780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105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5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35%–60%</a:t>
            </a:r>
          </a:p>
        </ns0:txBody>
      </ns0:sp>
      <ns0:sp>
        <ns0:nvSpPr>
          <ns0:cNvPr id="29" name="">
            <a:extLst>
              <a:ext uri="{FF2B5EF4-FFF2-40B4-BE49-F238E27FC236}">
                <ns2:creationId id="{C7BD5921-A705-4A45-8B44-1E27F7D71BFD}"/>
              </a:ext>
            </a:extLst>
          </ns0:cNvPr>
          <ns0:cNvSpPr>
            <a:spLocks noGrp="1"/>
          </ns0:cNvSpPr>
          <ns0:nvPr/>
        </ns0:nvSpPr>
        <ns0:spPr>
          <a:xfrm>
            <a:off x="7988300" y="2114550"/>
            <a:ext cx="1778000" cy="19050"/>
          </a:xfrm>
          <a:prstGeom prst="rect">
            <a:avLst/>
          </a:prstGeom>
          <a:solidFill>
            <a:srgbClr val="002B5C"/>
          </a:solidFill>
          <a:ln w="0">
            <a:noFill/>
            <a:prstDash val="solid"/>
          </a:ln>
        </ns0:spPr>
      </ns0:sp>
      <ns0:sp>
        <ns0:nvSpPr>
          <ns0:cNvPr id="30" name="mvp-card-structural_mvp_financeiro-42154687000160">
            <a:extLst>
              <a:ext uri="{FF2B5EF4-FFF2-40B4-BE49-F238E27FC236}">
                <ns2:creationId id="{55333B37-6A2E-4905-9E05-D59F8BD69E7B}"/>
              </a:ext>
            </a:extLst>
          </ns0:cNvPr>
          <ns0:cNvSpPr>
            <a:spLocks noGrp="1"/>
          </ns0:cNvSpPr>
          <ns0:nvPr/>
        </ns0:nvSpPr>
        <ns0:spPr>
          <a:xfrm>
            <a:off x="7988300" y="2181225"/>
            <a:ext cx="1778000" cy="438150"/>
          </a:xfrm>
          <a:prstGeom prst="rect">
            <a:avLst/>
          </a:prstGeom>
          <a:solidFill>
            <a:srgbClr val="F5F6F7"/>
          </a:solidFill>
          <a:ln w="9525">
            <a:solidFill>
              <a:srgbClr val="B8BDC2"/>
            </a:solidFill>
            <a:prstDash val="solid"/>
          </a:ln>
        </ns0:spPr>
        <ns0:txBody>
          <a:bodyPr wrap="none" lIns="47625" tIns="28575" rIns="47625" bIns="28575" anchor="ctr">
            <a:normAutofit fontScale="87719"/>
          </a:bodyPr>
          <a:lstStyle/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MULTIPLIKE PLUS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R$ 2,1 bi · Sub atual 42,3%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Jr 20,0% · Estr. N/D*</a:t>
            </a:r>
          </a:p>
        </ns0:txBody>
      </ns0:sp>
      <ns0:sp>
        <ns0:nvSpPr>
          <ns0:cNvPr id="31" name="mvp-card-structural_mvp_financeiro-41197066000109">
            <a:extLst>
              <a:ext uri="{FF2B5EF4-FFF2-40B4-BE49-F238E27FC236}">
                <ns2:creationId id="{72C1841B-BC5C-4275-9A32-2688FD93933A}"/>
              </a:ext>
            </a:extLst>
          </ns0:cNvPr>
          <ns0:cNvSpPr>
            <a:spLocks noGrp="1"/>
          </ns0:cNvSpPr>
          <ns0:nvPr/>
        </ns0:nvSpPr>
        <ns0:spPr>
          <a:xfrm>
            <a:off x="7988300" y="2638425"/>
            <a:ext cx="1778000" cy="438150"/>
          </a:xfrm>
          <a:prstGeom prst="rect">
            <a:avLst/>
          </a:prstGeom>
          <a:solidFill>
            <a:srgbClr val="F5F6F7"/>
          </a:solidFill>
          <a:ln w="9525">
            <a:solidFill>
              <a:srgbClr val="B8BDC2"/>
            </a:solidFill>
            <a:prstDash val="solid"/>
          </a:ln>
        </ns0:spPr>
        <ns0:txBody>
          <a:bodyPr wrap="none" lIns="47625" tIns="28575" rIns="47625" bIns="28575" anchor="ctr">
            <a:normAutofit fontScale="87719"/>
          </a:bodyPr>
          <a:lstStyle/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IFOOD PAGO CRÉDITO I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R$ 657,1 mi · Sub atual 36,5%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Jr 10,0% · Estr. N/D*</a:t>
            </a:r>
          </a:p>
        </ns0:txBody>
      </ns0:sp>
      <ns0:sp>
        <ns0:nvSpPr>
          <ns0:cNvPr id="32" name="mvp-card-structural_mvp_financeiro-58152340000118">
            <a:extLst>
              <a:ext uri="{FF2B5EF4-FFF2-40B4-BE49-F238E27FC236}">
                <ns2:creationId id="{8D56E72C-E597-4BAF-8C4A-649C305B3C3E}"/>
              </a:ext>
            </a:extLst>
          </ns0:cNvPr>
          <ns0:cNvSpPr>
            <a:spLocks noGrp="1"/>
          </ns0:cNvSpPr>
          <ns0:nvPr/>
        </ns0:nvSpPr>
        <ns0:spPr>
          <a:xfrm>
            <a:off x="7988300" y="3095625"/>
            <a:ext cx="1778000" cy="438150"/>
          </a:xfrm>
          <a:prstGeom prst="rect">
            <a:avLst/>
          </a:prstGeom>
          <a:solidFill>
            <a:srgbClr val="EAF0F7"/>
          </a:solidFill>
          <a:ln w="9525">
            <a:solidFill>
              <a:srgbClr val="AFC5DD"/>
            </a:solidFill>
            <a:prstDash val="solid"/>
          </a:ln>
        </ns0:spPr>
        <ns0:txBody>
          <a:bodyPr wrap="none" lIns="47625" tIns="28575" rIns="47625" bIns="28575" anchor="ctr">
            <a:normAutofit fontScale="87719"/>
          </a:bodyPr>
          <a:lstStyle/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MONEE II SEGMENTO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R$ 442,2 mi · Sub atual 40,6%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Jr 30,0% · Estr. 30,0%</a:t>
            </a:r>
          </a:p>
        </ns0:txBody>
      </ns0:sp>
      <ns0:sp>
        <ns0:nvSpPr>
          <ns0:cNvPr id="33" name="mvp-card-structural_mvp_financeiro-63066147000102">
            <a:extLst>
              <a:ext uri="{FF2B5EF4-FFF2-40B4-BE49-F238E27FC236}">
                <ns2:creationId id="{8955E335-E6C2-442B-A4FF-C6B80BB83190}"/>
              </a:ext>
            </a:extLst>
          </ns0:cNvPr>
          <ns0:cNvSpPr>
            <a:spLocks noGrp="1"/>
          </ns0:cNvSpPr>
          <ns0:nvPr/>
        </ns0:nvSpPr>
        <ns0:spPr>
          <a:xfrm>
            <a:off x="7988300" y="3552825"/>
            <a:ext cx="1778000" cy="438150"/>
          </a:xfrm>
          <a:prstGeom prst="rect">
            <a:avLst/>
          </a:prstGeom>
          <a:solidFill>
            <a:srgbClr val="F5F6F7"/>
          </a:solidFill>
          <a:ln w="9525">
            <a:solidFill>
              <a:srgbClr val="B8BDC2"/>
            </a:solidFill>
            <a:prstDash val="solid"/>
          </a:ln>
        </ns0:spPr>
        <ns0:txBody>
          <a:bodyPr wrap="none" lIns="47625" tIns="28575" rIns="47625" bIns="28575" anchor="ctr">
            <a:normAutofit fontScale="87719"/>
          </a:bodyPr>
          <a:lstStyle/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INCLUSÃO CREDIÁRIA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R$ 156,4 mi · Sub atual 52,0%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Jr 12,5% · Estr. N/D*</a:t>
            </a:r>
          </a:p>
        </ns0:txBody>
      </ns0:sp>
      <ns0:sp>
        <ns0:nvSpPr>
          <ns0:cNvPr id="34" name="mvp-card-structural_mvp_financeiro-49113994000141">
            <a:extLst>
              <a:ext uri="{FF2B5EF4-FFF2-40B4-BE49-F238E27FC236}">
                <ns2:creationId id="{B412D555-8226-4961-BCD2-E0D9C972730B}"/>
              </a:ext>
            </a:extLst>
          </ns0:cNvPr>
          <ns0:cNvSpPr>
            <a:spLocks noGrp="1"/>
          </ns0:cNvSpPr>
          <ns0:nvPr/>
        </ns0:nvSpPr>
        <ns0:spPr>
          <a:xfrm>
            <a:off x="7988300" y="4010025"/>
            <a:ext cx="1778000" cy="438150"/>
          </a:xfrm>
          <a:prstGeom prst="rect">
            <a:avLst/>
          </a:prstGeom>
          <a:solidFill>
            <a:srgbClr val="F5F6F7"/>
          </a:solidFill>
          <a:ln w="9525">
            <a:solidFill>
              <a:srgbClr val="B8BDC2"/>
            </a:solidFill>
            <a:prstDash val="solid"/>
          </a:ln>
        </ns0:spPr>
        <ns0:txBody>
          <a:bodyPr wrap="none" lIns="47625" tIns="28575" rIns="47625" bIns="28575" anchor="ctr">
            <a:normAutofit fontScale="87719"/>
          </a:bodyPr>
          <a:lstStyle/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CAP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R$ 99,3 mi · Sub atual 44,1%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Jr 14,0% · Estr. N/D*</a:t>
            </a:r>
          </a:p>
        </ns0:txBody>
      </ns0:sp>
      <ns0:sp>
        <ns0:nvSpPr>
          <ns0:cNvPr id="35" name="mvp-band-structural_mvp_financeiro-6">
            <a:extLst>
              <a:ext uri="{FF2B5EF4-FFF2-40B4-BE49-F238E27FC236}">
                <ns2:creationId id="{DEAE30B2-6A89-4D17-83E7-C6D7E8BAAE49}"/>
              </a:ext>
            </a:extLst>
          </ns0:cNvPr>
          <ns0:cNvSpPr>
            <a:spLocks noGrp="1"/>
          </ns0:cNvSpPr>
          <ns0:nvPr/>
        </ns0:nvSpPr>
        <ns0:spPr>
          <a:xfrm>
            <a:off x="9842500" y="1885950"/>
            <a:ext cx="17780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105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5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≥ 60%</a:t>
            </a:r>
          </a:p>
        </ns0:txBody>
      </ns0:sp>
      <ns0:sp>
        <ns0:nvSpPr>
          <ns0:cNvPr id="36" name="">
            <a:extLst>
              <a:ext uri="{FF2B5EF4-FFF2-40B4-BE49-F238E27FC236}">
                <ns2:creationId id="{D7E1729B-8E80-47BE-8484-767ECA803419}"/>
              </a:ext>
            </a:extLst>
          </ns0:cNvPr>
          <ns0:cNvSpPr>
            <a:spLocks noGrp="1"/>
          </ns0:cNvSpPr>
          <ns0:nvPr/>
        </ns0:nvSpPr>
        <ns0:spPr>
          <a:xfrm>
            <a:off x="9842500" y="2114550"/>
            <a:ext cx="1778000" cy="19050"/>
          </a:xfrm>
          <a:prstGeom prst="rect">
            <a:avLst/>
          </a:prstGeom>
          <a:solidFill>
            <a:srgbClr val="002B5C"/>
          </a:solidFill>
          <a:ln w="0">
            <a:noFill/>
            <a:prstDash val="solid"/>
          </a:ln>
        </ns0:spPr>
      </ns0:sp>
      <ns0:sp>
        <ns0:nvSpPr>
          <ns0:cNvPr id="37" name="mvp-card-structural_mvp_financeiro-32526025000110">
            <a:extLst>
              <a:ext uri="{FF2B5EF4-FFF2-40B4-BE49-F238E27FC236}">
                <ns2:creationId id="{A859C4B4-DE03-448A-B117-6F4CE5E66FCC}"/>
              </a:ext>
            </a:extLst>
          </ns0:cNvPr>
          <ns0:cNvSpPr>
            <a:spLocks noGrp="1"/>
          </ns0:cNvSpPr>
          <ns0:nvPr/>
        </ns0:nvSpPr>
        <ns0:spPr>
          <a:xfrm>
            <a:off x="9842500" y="2181225"/>
            <a:ext cx="1778000" cy="438150"/>
          </a:xfrm>
          <a:prstGeom prst="rect">
            <a:avLst/>
          </a:prstGeom>
          <a:solidFill>
            <a:srgbClr val="F5F6F7"/>
          </a:solidFill>
          <a:ln w="9525">
            <a:solidFill>
              <a:srgbClr val="B8BDC2"/>
            </a:solidFill>
            <a:prstDash val="solid"/>
          </a:ln>
        </ns0:spPr>
        <ns0:txBody>
          <a:bodyPr wrap="none" lIns="47625" tIns="28575" rIns="47625" bIns="28575" anchor="ctr">
            <a:normAutofit fontScale="87719"/>
          </a:bodyPr>
          <a:lstStyle/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COBUCCIO DE RESPONS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R$ 1,8 bi · Sub atual 75,6%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Jr 75,0% · Estr. N/D*</a:t>
            </a:r>
          </a:p>
        </ns0:txBody>
      </ns0:sp>
      <ns0:sp>
        <ns0:nvSpPr>
          <ns0:cNvPr id="38" name="mvp-card-structural_mvp_financeiro-38376526000143">
            <a:extLst>
              <a:ext uri="{FF2B5EF4-FFF2-40B4-BE49-F238E27FC236}">
                <ns2:creationId id="{2CE48647-6941-4037-A1FF-4A27C4282724}"/>
              </a:ext>
            </a:extLst>
          </ns0:cNvPr>
          <ns0:cNvSpPr>
            <a:spLocks noGrp="1"/>
          </ns0:cNvSpPr>
          <ns0:nvPr/>
        </ns0:nvSpPr>
        <ns0:spPr>
          <a:xfrm>
            <a:off x="9842500" y="2638425"/>
            <a:ext cx="1778000" cy="438150"/>
          </a:xfrm>
          <a:prstGeom prst="rect">
            <a:avLst/>
          </a:prstGeom>
          <a:solidFill>
            <a:srgbClr val="F5F6F7"/>
          </a:solidFill>
          <a:ln w="9525">
            <a:solidFill>
              <a:srgbClr val="B8BDC2"/>
            </a:solidFill>
            <a:prstDash val="solid"/>
          </a:ln>
        </ns0:spPr>
        <ns0:txBody>
          <a:bodyPr wrap="none" lIns="47625" tIns="28575" rIns="47625" bIns="28575" anchor="ctr">
            <a:normAutofit fontScale="87719"/>
          </a:bodyPr>
          <a:lstStyle/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HOTFUND SEGMENTO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R$ 1,7 bi · Sub atual 76,4%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Jr 21,0% · Estr. N/D*</a:t>
            </a:r>
          </a:p>
        </ns0:txBody>
      </ns0:sp>
      <ns0:sp>
        <ns0:nvSpPr>
          <ns0:cNvPr id="39" name="mvp-card-structural_mvp_financeiro-43193260000133">
            <a:extLst>
              <a:ext uri="{FF2B5EF4-FFF2-40B4-BE49-F238E27FC236}">
                <ns2:creationId id="{F696F759-94E2-4AE5-9F32-D4A72E466C5F}"/>
              </a:ext>
            </a:extLst>
          </ns0:cNvPr>
          <ns0:cNvSpPr>
            <a:spLocks noGrp="1"/>
          </ns0:cNvSpPr>
          <ns0:nvPr/>
        </ns0:nvSpPr>
        <ns0:spPr>
          <a:xfrm>
            <a:off x="9842500" y="3095625"/>
            <a:ext cx="1778000" cy="438150"/>
          </a:xfrm>
          <a:prstGeom prst="rect">
            <a:avLst/>
          </a:prstGeom>
          <a:solidFill>
            <a:srgbClr val="F5F6F7"/>
          </a:solidFill>
          <a:ln w="9525">
            <a:solidFill>
              <a:srgbClr val="B8BDC2"/>
            </a:solidFill>
            <a:prstDash val="solid"/>
          </a:ln>
        </ns0:spPr>
        <ns0:txBody>
          <a:bodyPr wrap="none" lIns="47625" tIns="28575" rIns="47625" bIns="28575" anchor="ctr">
            <a:normAutofit fontScale="87719"/>
          </a:bodyPr>
          <a:lstStyle/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RESIDENCE CLUB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R$ 403,4 mi · Sub atual 69,1%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Jr 15,0%* · Estr. 50,0%*</a:t>
            </a:r>
          </a:p>
        </ns0:txBody>
      </ns0:sp>
      <ns0:sp>
        <ns0:nvSpPr>
          <ns0:cNvPr id="40" name="">
            <a:extLst>
              <a:ext uri="{FF2B5EF4-FFF2-40B4-BE49-F238E27FC236}">
                <ns2:creationId id="{6BEB6450-ABEA-4A7E-B38C-7EC475D84343}"/>
              </a:ext>
            </a:extLst>
          </ns0:cNvPr>
          <ns0:cNvSpPr>
            <a:spLocks noGrp="1"/>
          </ns0:cNvSpPr>
          <ns0:nvPr/>
        </ns0:nvSpPr>
        <ns0:spPr>
          <a:xfrm>
            <a:off x="571500" y="5981700"/>
            <a:ext cx="11049000" cy="2952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88796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Vinho = abaixo do mínimo estrutural · âmbar = até 2 p.p. acima · azul = mais de 2 p.p. acima · cinza = estrutura incomparável. * Categoria editorial ou piso total, combinado, calculado, ajustado ou sem equivalência direta.</a:t>
            </a:r>
          </a:p>
        </ns0:txBody>
      </ns0:sp>
    </ns0:spTree>
    <ns0:extLst>
      <ns0:ext uri="{BB962C8B-B14F-4D97-AF65-F5344CB8AC3E}">
        <ns3:creationId val="613391936"/>
      </ns0:ext>
    </ns0:extLst>
  </ns0:cSld>
</ns0:sld>
</file>

<file path=ppt/slides/slide19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32" name="">
            <a:extLst>
              <a:ext uri="{FF2B5EF4-FFF2-40B4-BE49-F238E27FC236}">
                <ns2:creationId id="{BC901FF0-A665-4329-AF2A-DEA813688699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RISCO ESTRUTURAL · CARTEIRA I · ADQUIRÊNCIA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A27547D2-8332-4900-8C31-26E67F5E6396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"/>
            <a:ext cx="11049000" cy="4667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Adquirência | 1 veículo comparável está até 2 p.p. acima do mínimo estrutural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EA517F03-15BF-4FA3-8E55-283E5ED48D0C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8515E654-7B18-47CF-9FF7-95C53B37273F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F6DB51F3-E22E-4516-9A41-B751643C4229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CVM, Informe Mensal, jun/26; pisos em regulamentos FundosNet/B3. Lacunas ficam fora do slide e permanecem no workbook/explorador.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A12FB398-46CC-41E0-A89E-661002E87D7A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19</a:t>
            </a:r>
          </a:p>
        </ns0:txBody>
      </ns0:sp>
      <ns0:sp>
        <ns0:nvSpPr>
          <ns0:cNvPr id="7" name="mvp-summary-structural_mvp_adquirencia-1">
            <a:extLst>
              <a:ext uri="{FF2B5EF4-FFF2-40B4-BE49-F238E27FC236}">
                <ns2:creationId id="{544A33D3-8113-438F-B036-5B3F57A75E4A}"/>
              </a:ext>
            </a:extLst>
          </ns0:cNvPr>
          <ns0:cNvSpPr>
            <a:spLocks noGrp="1"/>
          </ns0:cNvSpPr>
          <ns0:nvPr/>
        </ns0:nvSpPr>
        <ns0:spPr>
          <a:xfrm>
            <a:off x="571500" y="1152525"/>
            <a:ext cx="3143250" cy="609600"/>
          </a:xfrm>
          <a:prstGeom prst="rect">
            <a:avLst/>
          </a:prstGeom>
          <a:solidFill>
            <a:srgbClr val="EAF0F7"/>
          </a:solidFill>
          <a:ln w="0">
            <a:solidFill>
              <a:srgbClr val="EAF0F7"/>
            </a:solidFill>
            <a:prstDash val="solid"/>
          </a:ln>
        </ns0:spPr>
        <ns0:txBody>
          <a:bodyPr wrap="square" lIns="95250" tIns="66675" rIns="95250" bIns="66675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COBERTURA DO SLIDE</a:t>
            </a:r>
          </a:p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9/12 CNPJs · R$ 13,0 bi de R$ 13,0 bi</a:t>
            </a:r>
          </a:p>
        </ns0:txBody>
      </ns0:sp>
      <ns0:sp>
        <ns0:nvSpPr>
          <ns0:cNvPr id="8" name="mvp-summary-structural_mvp_adquirencia-2">
            <a:extLst>
              <a:ext uri="{FF2B5EF4-FFF2-40B4-BE49-F238E27FC236}">
                <ns2:creationId id="{ACCD5C6F-034F-4219-8F3A-70DAF297B5E4}"/>
              </a:ext>
            </a:extLst>
          </ns0:cNvPr>
          <ns0:cNvSpPr>
            <a:spLocks noGrp="1"/>
          </ns0:cNvSpPr>
          <ns0:nvPr/>
        </ns0:nvSpPr>
        <ns0:spPr>
          <a:xfrm>
            <a:off x="3810000" y="1152525"/>
            <a:ext cx="4810125" cy="609600"/>
          </a:xfrm>
          <a:prstGeom prst="rect">
            <a:avLst/>
          </a:prstGeom>
          <a:solidFill>
            <a:srgbClr val="FFFFFF"/>
          </a:solidFill>
          <a:ln w="9525">
            <a:solidFill>
              <a:srgbClr val="AFC5DD"/>
            </a:solidFill>
            <a:prstDash val="solid"/>
          </a:ln>
        </ns0:spPr>
        <ns0:txBody>
          <a:bodyPr wrap="square" lIns="95250" tIns="66675" rIns="95250" bIns="66675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REFERÊNCIA DE MERCADO · SUB/PL ATUAL</a:t>
            </a:r>
          </a:p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15 pares · med. agregada carteira 10,2% vs. mercado 15,5%</a:t>
            </a:r>
          </a:p>
        </ns0:txBody>
      </ns0:sp>
      <ns0:sp>
        <ns0:nvSpPr>
          <ns0:cNvPr id="9" name="mvp-summary-structural_mvp_adquirencia-3">
            <a:extLst>
              <a:ext uri="{FF2B5EF4-FFF2-40B4-BE49-F238E27FC236}">
                <ns2:creationId id="{198E891A-BF5E-4B07-A292-04FAD09BA467}"/>
              </a:ext>
            </a:extLst>
          </ns0:cNvPr>
          <ns0:cNvSpPr>
            <a:spLocks noGrp="1"/>
          </ns0:cNvSpPr>
          <ns0:nvPr/>
        </ns0:nvSpPr>
        <ns0:spPr>
          <a:xfrm>
            <a:off x="8715375" y="1152525"/>
            <a:ext cx="2905125" cy="609600"/>
          </a:xfrm>
          <a:prstGeom prst="rect">
            <a:avLst/>
          </a:prstGeom>
          <a:solidFill>
            <a:srgbClr val="FFF1E6"/>
          </a:solidFill>
          <a:ln w="0">
            <a:solidFill>
              <a:srgbClr val="FFF1E6"/>
            </a:solidFill>
            <a:prstDash val="solid"/>
          </a:ln>
        </ns0:spPr>
        <ns0:txBody>
          <a:bodyPr wrap="square" lIns="95250" tIns="66675" rIns="95250" bIns="66675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7A1F3D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7A1F3D"/>
                </a:solidFill>
                <a:latin typeface="Arial"/>
                <a:ea typeface="Arial"/>
                <a:cs typeface="Arial"/>
              </a:rPr>
              <a:t>LEITURA RELATIVA</a:t>
            </a:r>
          </a:p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7A1F3D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7A1F3D"/>
                </a:solidFill>
                <a:latin typeface="Arial"/>
                <a:ea typeface="Arial"/>
                <a:cs typeface="Arial"/>
              </a:rPr>
              <a:t>N/D · mistura risco emissor e adquirente*</a:t>
            </a:r>
          </a:p>
        </ns0:txBody>
      </ns0:sp>
      <ns0:sp>
        <ns0:nvSpPr>
          <ns0:cNvPr id="10" name="mvp-band-structural_mvp_adquirencia-1">
            <a:extLst>
              <a:ext uri="{FF2B5EF4-FFF2-40B4-BE49-F238E27FC236}">
                <ns2:creationId id="{36DCF805-EB70-44E6-B51E-0CB948CB959C}"/>
              </a:ext>
            </a:extLst>
          </ns0:cNvPr>
          <ns0:cNvSpPr>
            <a:spLocks noGrp="1"/>
          </ns0:cNvSpPr>
          <ns0:nvPr/>
        </ns0:nvSpPr>
        <ns0:spPr>
          <a:xfrm>
            <a:off x="571500" y="1885950"/>
            <a:ext cx="17780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105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5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&lt; 10%</a:t>
            </a:r>
          </a:p>
        </ns0:txBody>
      </ns0:sp>
      <ns0:sp>
        <ns0:nvSpPr>
          <ns0:cNvPr id="11" name="">
            <a:extLst>
              <a:ext uri="{FF2B5EF4-FFF2-40B4-BE49-F238E27FC236}">
                <ns2:creationId id="{E102B4C9-7EC7-43F6-A072-FF35A692AEA6}"/>
              </a:ext>
            </a:extLst>
          </ns0:cNvPr>
          <ns0:cNvSpPr>
            <a:spLocks noGrp="1"/>
          </ns0:cNvSpPr>
          <ns0:nvPr/>
        </ns0:nvSpPr>
        <ns0:spPr>
          <a:xfrm>
            <a:off x="571500" y="2114550"/>
            <a:ext cx="1778000" cy="19050"/>
          </a:xfrm>
          <a:prstGeom prst="rect">
            <a:avLst/>
          </a:prstGeom>
          <a:solidFill>
            <a:srgbClr val="002B5C"/>
          </a:solidFill>
          <a:ln w="0">
            <a:noFill/>
            <a:prstDash val="solid"/>
          </a:ln>
        </ns0:spPr>
      </ns0:sp>
      <ns0:sp>
        <ns0:nvSpPr>
          <ns0:cNvPr id="12" name="mvp-card-structural_mvp_adquirencia-48967719000122">
            <a:extLst>
              <a:ext uri="{FF2B5EF4-FFF2-40B4-BE49-F238E27FC236}">
                <ns2:creationId id="{B90F0561-DBF0-437D-97B2-127BCC5B9EFB}"/>
              </a:ext>
            </a:extLst>
          </ns0:cNvPr>
          <ns0:cNvSpPr>
            <a:spLocks noGrp="1"/>
          </ns0:cNvSpPr>
          <ns0:nvPr/>
        </ns0:nvSpPr>
        <ns0:spPr>
          <a:xfrm>
            <a:off x="571500" y="2181225"/>
            <a:ext cx="1778000" cy="438150"/>
          </a:xfrm>
          <a:prstGeom prst="rect">
            <a:avLst/>
          </a:prstGeom>
          <a:solidFill>
            <a:srgbClr val="FFF0D6"/>
          </a:solidFill>
          <a:ln w="9525">
            <a:solidFill>
              <a:srgbClr val="EC7000"/>
            </a:solidFill>
            <a:prstDash val="solid"/>
          </a:ln>
        </ns0:spPr>
        <ns0:txBody>
          <a:bodyPr wrap="none" lIns="47625" tIns="28575" rIns="47625" bIns="28575" anchor="ctr">
            <a:normAutofit fontScale="87719"/>
          </a:bodyPr>
          <a:lstStyle/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7A1F3D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7A1F3D"/>
                </a:solidFill>
                <a:latin typeface="Arial"/>
                <a:ea typeface="Arial"/>
                <a:cs typeface="Arial"/>
              </a:rPr>
              <a:t>SOULPAY*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7A1F3D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7A1F3D"/>
                </a:solidFill>
                <a:latin typeface="Arial"/>
                <a:ea typeface="Arial"/>
                <a:cs typeface="Arial"/>
              </a:rPr>
              <a:t>R$ 78,4 mi · Sub atual 6,0%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7A1F3D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7A1F3D"/>
                </a:solidFill>
                <a:latin typeface="Arial"/>
                <a:ea typeface="Arial"/>
                <a:cs typeface="Arial"/>
              </a:rPr>
              <a:t>Jr 5,0% · Estr. 5,0%</a:t>
            </a:r>
          </a:p>
        </ns0:txBody>
      </ns0:sp>
      <ns0:sp>
        <ns0:nvSpPr>
          <ns0:cNvPr id="13" name="mvp-card-structural_mvp_adquirencia-31739396000117">
            <a:extLst>
              <a:ext uri="{FF2B5EF4-FFF2-40B4-BE49-F238E27FC236}">
                <ns2:creationId id="{2CCE8589-7EAE-446E-A888-EE0CB6D8D977}"/>
              </a:ext>
            </a:extLst>
          </ns0:cNvPr>
          <ns0:cNvSpPr>
            <a:spLocks noGrp="1"/>
          </ns0:cNvSpPr>
          <ns0:nvPr/>
        </ns0:nvSpPr>
        <ns0:spPr>
          <a:xfrm>
            <a:off x="571500" y="2638425"/>
            <a:ext cx="1778000" cy="438150"/>
          </a:xfrm>
          <a:prstGeom prst="rect">
            <a:avLst/>
          </a:prstGeom>
          <a:solidFill>
            <a:srgbClr val="F5F6F7"/>
          </a:solidFill>
          <a:ln w="9525">
            <a:solidFill>
              <a:srgbClr val="B8BDC2"/>
            </a:solidFill>
            <a:prstDash val="solid"/>
          </a:ln>
        </ns0:spPr>
        <ns0:txBody>
          <a:bodyPr wrap="none" lIns="47625" tIns="28575" rIns="47625" bIns="28575" anchor="ctr">
            <a:normAutofit fontScale="87719"/>
          </a:bodyPr>
          <a:lstStyle/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LF III*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R$ 1,4 bi · Sub atual 8,0%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Jr 0,5% · Estr. N/D*</a:t>
            </a:r>
          </a:p>
        </ns0:txBody>
      </ns0:sp>
      <ns0:sp>
        <ns0:nvSpPr>
          <ns0:cNvPr id="14" name="mvp-card-structural_mvp_adquirencia-62626887000185">
            <a:extLst>
              <a:ext uri="{FF2B5EF4-FFF2-40B4-BE49-F238E27FC236}">
                <ns2:creationId id="{9F71DE73-3279-4BA3-817F-065F7755584B}"/>
              </a:ext>
            </a:extLst>
          </ns0:cNvPr>
          <ns0:cNvSpPr>
            <a:spLocks noGrp="1"/>
          </ns0:cNvSpPr>
          <ns0:nvPr/>
        </ns0:nvSpPr>
        <ns0:spPr>
          <a:xfrm>
            <a:off x="571500" y="3095625"/>
            <a:ext cx="1778000" cy="438150"/>
          </a:xfrm>
          <a:prstGeom prst="rect">
            <a:avLst/>
          </a:prstGeom>
          <a:solidFill>
            <a:srgbClr val="F5F6F7"/>
          </a:solidFill>
          <a:ln w="9525">
            <a:solidFill>
              <a:srgbClr val="B8BDC2"/>
            </a:solidFill>
            <a:prstDash val="solid"/>
          </a:ln>
        </ns0:spPr>
        <ns0:txBody>
          <a:bodyPr wrap="none" lIns="47625" tIns="28575" rIns="47625" bIns="28575" anchor="ctr">
            <a:normAutofit fontScale="87719"/>
          </a:bodyPr>
          <a:lstStyle/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SUMUP SMART IV FIDC*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R$ 356,8 mi · Sub atual 4,0%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Jr 2,9% · Estr. N/D*</a:t>
            </a:r>
          </a:p>
        </ns0:txBody>
      </ns0:sp>
      <ns0:sp>
        <ns0:nvSpPr>
          <ns0:cNvPr id="15" name="mvp-card-structural_mvp_adquirencia-42085830000109">
            <a:extLst>
              <a:ext uri="{FF2B5EF4-FFF2-40B4-BE49-F238E27FC236}">
                <ns2:creationId id="{630391EF-B963-401F-AA53-FFB7A69DCD14}"/>
              </a:ext>
            </a:extLst>
          </ns0:cNvPr>
          <ns0:cNvSpPr>
            <a:spLocks noGrp="1"/>
          </ns0:cNvSpPr>
          <ns0:nvPr/>
        </ns0:nvSpPr>
        <ns0:spPr>
          <a:xfrm>
            <a:off x="571500" y="3552825"/>
            <a:ext cx="1778000" cy="438150"/>
          </a:xfrm>
          <a:prstGeom prst="rect">
            <a:avLst/>
          </a:prstGeom>
          <a:solidFill>
            <a:srgbClr val="EAF0F7"/>
          </a:solidFill>
          <a:ln w="9525">
            <a:solidFill>
              <a:srgbClr val="AFC5DD"/>
            </a:solidFill>
            <a:prstDash val="solid"/>
          </a:ln>
        </ns0:spPr>
        <ns0:txBody>
          <a:bodyPr wrap="none" lIns="47625" tIns="28575" rIns="47625" bIns="28575" anchor="ctr">
            <a:normAutofit fontScale="87719"/>
          </a:bodyPr>
          <a:lstStyle/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CLOUDWALK AKIRA I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R$ 308,2 mi · Sub atual 5,3%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Jr 3,0% · Estr. 3,0%</a:t>
            </a:r>
          </a:p>
        </ns0:txBody>
      </ns0:sp>
      <ns0:sp>
        <ns0:nvSpPr>
          <ns0:cNvPr id="16" name="mvp-band-structural_mvp_adquirencia-2">
            <a:extLst>
              <a:ext uri="{FF2B5EF4-FFF2-40B4-BE49-F238E27FC236}">
                <ns2:creationId id="{F77DA41E-8F69-4050-A05D-41F1BA6306B0}"/>
              </a:ext>
            </a:extLst>
          </ns0:cNvPr>
          <ns0:cNvSpPr>
            <a:spLocks noGrp="1"/>
          </ns0:cNvSpPr>
          <ns0:nvPr/>
        </ns0:nvSpPr>
        <ns0:spPr>
          <a:xfrm>
            <a:off x="2425700" y="1885950"/>
            <a:ext cx="17780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105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5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10%–15%</a:t>
            </a:r>
          </a:p>
        </ns0:txBody>
      </ns0:sp>
      <ns0:sp>
        <ns0:nvSpPr>
          <ns0:cNvPr id="17" name="">
            <a:extLst>
              <a:ext uri="{FF2B5EF4-FFF2-40B4-BE49-F238E27FC236}">
                <ns2:creationId id="{3DDE5932-46B6-4C24-9C3E-530317EB0F8D}"/>
              </a:ext>
            </a:extLst>
          </ns0:cNvPr>
          <ns0:cNvSpPr>
            <a:spLocks noGrp="1"/>
          </ns0:cNvSpPr>
          <ns0:nvPr/>
        </ns0:nvSpPr>
        <ns0:spPr>
          <a:xfrm>
            <a:off x="2425700" y="2114550"/>
            <a:ext cx="1778000" cy="19050"/>
          </a:xfrm>
          <a:prstGeom prst="rect">
            <a:avLst/>
          </a:prstGeom>
          <a:solidFill>
            <a:srgbClr val="002B5C"/>
          </a:solidFill>
          <a:ln w="0">
            <a:noFill/>
            <a:prstDash val="solid"/>
          </a:ln>
        </ns0:spPr>
      </ns0:sp>
      <ns0:sp>
        <ns0:nvSpPr>
          <ns0:cNvPr id="18" name="mvp-card-structural_mvp_adquirencia-45598747000121">
            <a:extLst>
              <a:ext uri="{FF2B5EF4-FFF2-40B4-BE49-F238E27FC236}">
                <ns2:creationId id="{FE1C0DCD-9CFB-419C-9069-0067DC38D2CA}"/>
              </a:ext>
            </a:extLst>
          </ns0:cNvPr>
          <ns0:cNvSpPr>
            <a:spLocks noGrp="1"/>
          </ns0:cNvSpPr>
          <ns0:nvPr/>
        </ns0:nvSpPr>
        <ns0:spPr>
          <a:xfrm>
            <a:off x="2425700" y="2181225"/>
            <a:ext cx="1778000" cy="438150"/>
          </a:xfrm>
          <a:prstGeom prst="rect">
            <a:avLst/>
          </a:prstGeom>
          <a:solidFill>
            <a:srgbClr val="EAF0F7"/>
          </a:solidFill>
          <a:ln w="9525">
            <a:solidFill>
              <a:srgbClr val="AFC5DD"/>
            </a:solidFill>
            <a:prstDash val="solid"/>
          </a:ln>
        </ns0:spPr>
        <ns0:txBody>
          <a:bodyPr wrap="none" lIns="47625" tIns="28575" rIns="47625" bIns="28575" anchor="ctr">
            <a:normAutofit fontScale="87719"/>
          </a:bodyPr>
          <a:lstStyle/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SUMUP SOLO SEGMENTO*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R$ 378,1 mi · Sub atual 10,2%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Jr 4,8%* · Estr. 4,8%*</a:t>
            </a:r>
          </a:p>
        </ns0:txBody>
      </ns0:sp>
      <ns0:sp>
        <ns0:nvSpPr>
          <ns0:cNvPr id="19" name="mvp-band-structural_mvp_adquirencia-3">
            <a:extLst>
              <a:ext uri="{FF2B5EF4-FFF2-40B4-BE49-F238E27FC236}">
                <ns2:creationId id="{93BA5D36-03C7-4EC0-8862-E12879B8CFBC}"/>
              </a:ext>
            </a:extLst>
          </ns0:cNvPr>
          <ns0:cNvSpPr>
            <a:spLocks noGrp="1"/>
          </ns0:cNvSpPr>
          <ns0:nvPr/>
        </ns0:nvSpPr>
        <ns0:spPr>
          <a:xfrm>
            <a:off x="4279900" y="1885950"/>
            <a:ext cx="17780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105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5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15%–20%</a:t>
            </a:r>
          </a:p>
        </ns0:txBody>
      </ns0:sp>
      <ns0:sp>
        <ns0:nvSpPr>
          <ns0:cNvPr id="20" name="">
            <a:extLst>
              <a:ext uri="{FF2B5EF4-FFF2-40B4-BE49-F238E27FC236}">
                <ns2:creationId id="{59AC23FA-900B-47DA-AB13-C33CDF94D0FB}"/>
              </a:ext>
            </a:extLst>
          </ns0:cNvPr>
          <ns0:cNvSpPr>
            <a:spLocks noGrp="1"/>
          </ns0:cNvSpPr>
          <ns0:nvPr/>
        </ns0:nvSpPr>
        <ns0:spPr>
          <a:xfrm>
            <a:off x="4279900" y="2114550"/>
            <a:ext cx="1778000" cy="19050"/>
          </a:xfrm>
          <a:prstGeom prst="rect">
            <a:avLst/>
          </a:prstGeom>
          <a:solidFill>
            <a:srgbClr val="002B5C"/>
          </a:solidFill>
          <a:ln w="0">
            <a:noFill/>
            <a:prstDash val="solid"/>
          </a:ln>
        </ns0:spPr>
      </ns0:sp>
      <ns0:sp>
        <ns0:nvSpPr>
          <ns0:cNvPr id="21" name="mvp-band-structural_mvp_adquirencia-4">
            <a:extLst>
              <a:ext uri="{FF2B5EF4-FFF2-40B4-BE49-F238E27FC236}">
                <ns2:creationId id="{25C6B389-6980-43C2-8A0F-F4ADC55A2E6C}"/>
              </a:ext>
            </a:extLst>
          </ns0:cNvPr>
          <ns0:cNvSpPr>
            <a:spLocks noGrp="1"/>
          </ns0:cNvSpPr>
          <ns0:nvPr/>
        </ns0:nvSpPr>
        <ns0:spPr>
          <a:xfrm>
            <a:off x="6134100" y="1885950"/>
            <a:ext cx="17780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105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5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20%–35%</a:t>
            </a:r>
          </a:p>
        </ns0:txBody>
      </ns0:sp>
      <ns0:sp>
        <ns0:nvSpPr>
          <ns0:cNvPr id="22" name="">
            <a:extLst>
              <a:ext uri="{FF2B5EF4-FFF2-40B4-BE49-F238E27FC236}">
                <ns2:creationId id="{933474FA-22DC-4371-9BC5-8204FC8ACCEE}"/>
              </a:ext>
            </a:extLst>
          </ns0:cNvPr>
          <ns0:cNvSpPr>
            <a:spLocks noGrp="1"/>
          </ns0:cNvSpPr>
          <ns0:nvPr/>
        </ns0:nvSpPr>
        <ns0:spPr>
          <a:xfrm>
            <a:off x="6134100" y="2114550"/>
            <a:ext cx="1778000" cy="19050"/>
          </a:xfrm>
          <a:prstGeom prst="rect">
            <a:avLst/>
          </a:prstGeom>
          <a:solidFill>
            <a:srgbClr val="002B5C"/>
          </a:solidFill>
          <a:ln w="0">
            <a:noFill/>
            <a:prstDash val="solid"/>
          </a:ln>
        </ns0:spPr>
      </ns0:sp>
      <ns0:sp>
        <ns0:nvSpPr>
          <ns0:cNvPr id="23" name="mvp-card-structural_mvp_adquirencia-52271464000136">
            <a:extLst>
              <a:ext uri="{FF2B5EF4-FFF2-40B4-BE49-F238E27FC236}">
                <ns2:creationId id="{114AE82E-87A5-4E4C-B888-80F99E719496}"/>
              </a:ext>
            </a:extLst>
          </ns0:cNvPr>
          <ns0:cNvSpPr>
            <a:spLocks noGrp="1"/>
          </ns0:cNvSpPr>
          <ns0:nvPr/>
        </ns0:nvSpPr>
        <ns0:spPr>
          <a:xfrm>
            <a:off x="6134100" y="2181225"/>
            <a:ext cx="1778000" cy="438150"/>
          </a:xfrm>
          <a:prstGeom prst="rect">
            <a:avLst/>
          </a:prstGeom>
          <a:solidFill>
            <a:srgbClr val="F5F6F7"/>
          </a:solidFill>
          <a:ln w="9525">
            <a:solidFill>
              <a:srgbClr val="B8BDC2"/>
            </a:solidFill>
            <a:prstDash val="solid"/>
          </a:ln>
        </ns0:spPr>
        <ns0:txBody>
          <a:bodyPr wrap="none" lIns="47625" tIns="28575" rIns="47625" bIns="28575" anchor="ctr">
            <a:normAutofit fontScale="87719"/>
          </a:bodyPr>
          <a:lstStyle/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KIWIFY SEGMENTO*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R$ 347,3 mi · Sub atual 20,2%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Jr 6,0% · Estr. N/D*</a:t>
            </a:r>
          </a:p>
        </ns0:txBody>
      </ns0:sp>
      <ns0:sp>
        <ns0:nvSpPr>
          <ns0:cNvPr id="24" name="mvp-band-structural_mvp_adquirencia-5">
            <a:extLst>
              <a:ext uri="{FF2B5EF4-FFF2-40B4-BE49-F238E27FC236}">
                <ns2:creationId id="{CFE88A39-C874-4317-81D2-435090245242}"/>
              </a:ext>
            </a:extLst>
          </ns0:cNvPr>
          <ns0:cNvSpPr>
            <a:spLocks noGrp="1"/>
          </ns0:cNvSpPr>
          <ns0:nvPr/>
        </ns0:nvSpPr>
        <ns0:spPr>
          <a:xfrm>
            <a:off x="7988300" y="1885950"/>
            <a:ext cx="17780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105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5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35%–60%</a:t>
            </a:r>
          </a:p>
        </ns0:txBody>
      </ns0:sp>
      <ns0:sp>
        <ns0:nvSpPr>
          <ns0:cNvPr id="25" name="">
            <a:extLst>
              <a:ext uri="{FF2B5EF4-FFF2-40B4-BE49-F238E27FC236}">
                <ns2:creationId id="{605854AE-F06E-440A-BDE3-73F2AA6C956E}"/>
              </a:ext>
            </a:extLst>
          </ns0:cNvPr>
          <ns0:cNvSpPr>
            <a:spLocks noGrp="1"/>
          </ns0:cNvSpPr>
          <ns0:nvPr/>
        </ns0:nvSpPr>
        <ns0:spPr>
          <a:xfrm>
            <a:off x="7988300" y="2114550"/>
            <a:ext cx="1778000" cy="19050"/>
          </a:xfrm>
          <a:prstGeom prst="rect">
            <a:avLst/>
          </a:prstGeom>
          <a:solidFill>
            <a:srgbClr val="002B5C"/>
          </a:solidFill>
          <a:ln w="0">
            <a:noFill/>
            <a:prstDash val="solid"/>
          </a:ln>
        </ns0:spPr>
      </ns0:sp>
      <ns0:sp>
        <ns0:nvSpPr>
          <ns0:cNvPr id="26" name="mvp-card-structural_mvp_adquirencia-50473039000102">
            <a:extLst>
              <a:ext uri="{FF2B5EF4-FFF2-40B4-BE49-F238E27FC236}">
                <ns2:creationId id="{141AA393-42B3-4B2B-BDE9-74EB8E1A017D}"/>
              </a:ext>
            </a:extLst>
          </ns0:cNvPr>
          <ns0:cNvSpPr>
            <a:spLocks noGrp="1"/>
          </ns0:cNvSpPr>
          <ns0:nvPr/>
        </ns0:nvSpPr>
        <ns0:spPr>
          <a:xfrm>
            <a:off x="7988300" y="2181225"/>
            <a:ext cx="1778000" cy="438150"/>
          </a:xfrm>
          <a:prstGeom prst="rect">
            <a:avLst/>
          </a:prstGeom>
          <a:solidFill>
            <a:srgbClr val="F5F6F7"/>
          </a:solidFill>
          <a:ln w="9525">
            <a:solidFill>
              <a:srgbClr val="B8BDC2"/>
            </a:solidFill>
            <a:prstDash val="solid"/>
          </a:ln>
        </ns0:spPr>
        <ns0:txBody>
          <a:bodyPr wrap="none" lIns="47625" tIns="28575" rIns="47625" bIns="28575" anchor="ctr">
            <a:normAutofit fontScale="87719"/>
          </a:bodyPr>
          <a:lstStyle/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SELLER FIDC SEGMENTO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R$ 3,7 bi · Sub atual 51,3%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Jr 10,0% · Estr. N/D*</a:t>
            </a:r>
          </a:p>
        </ns0:txBody>
      </ns0:sp>
      <ns0:sp>
        <ns0:nvSpPr>
          <ns0:cNvPr id="27" name="mvp-band-structural_mvp_adquirencia-6">
            <a:extLst>
              <a:ext uri="{FF2B5EF4-FFF2-40B4-BE49-F238E27FC236}">
                <ns2:creationId id="{AFAEB863-48B5-4518-B59D-CCB4B338A2CE}"/>
              </a:ext>
            </a:extLst>
          </ns0:cNvPr>
          <ns0:cNvSpPr>
            <a:spLocks noGrp="1"/>
          </ns0:cNvSpPr>
          <ns0:nvPr/>
        </ns0:nvSpPr>
        <ns0:spPr>
          <a:xfrm>
            <a:off x="9842500" y="1885950"/>
            <a:ext cx="17780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105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5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≥ 60%</a:t>
            </a:r>
          </a:p>
        </ns0:txBody>
      </ns0:sp>
      <ns0:sp>
        <ns0:nvSpPr>
          <ns0:cNvPr id="28" name="">
            <a:extLst>
              <a:ext uri="{FF2B5EF4-FFF2-40B4-BE49-F238E27FC236}">
                <ns2:creationId id="{EA839786-2E26-4019-AE31-9192AF0D86F9}"/>
              </a:ext>
            </a:extLst>
          </ns0:cNvPr>
          <ns0:cNvSpPr>
            <a:spLocks noGrp="1"/>
          </ns0:cNvSpPr>
          <ns0:nvPr/>
        </ns0:nvSpPr>
        <ns0:spPr>
          <a:xfrm>
            <a:off x="9842500" y="2114550"/>
            <a:ext cx="1778000" cy="19050"/>
          </a:xfrm>
          <a:prstGeom prst="rect">
            <a:avLst/>
          </a:prstGeom>
          <a:solidFill>
            <a:srgbClr val="002B5C"/>
          </a:solidFill>
          <a:ln w="0">
            <a:noFill/>
            <a:prstDash val="solid"/>
          </a:ln>
        </ns0:spPr>
      </ns0:sp>
      <ns0:sp>
        <ns0:nvSpPr>
          <ns0:cNvPr id="29" name="mvp-card-structural_mvp_adquirencia-28169275000172">
            <a:extLst>
              <a:ext uri="{FF2B5EF4-FFF2-40B4-BE49-F238E27FC236}">
                <ns2:creationId id="{38ACB618-DBE7-4C53-9171-6759B1A20B02}"/>
              </a:ext>
            </a:extLst>
          </ns0:cNvPr>
          <ns0:cNvSpPr>
            <a:spLocks noGrp="1"/>
          </ns0:cNvSpPr>
          <ns0:nvPr/>
        </ns0:nvSpPr>
        <ns0:spPr>
          <a:xfrm>
            <a:off x="9842500" y="2181225"/>
            <a:ext cx="1778000" cy="438150"/>
          </a:xfrm>
          <a:prstGeom prst="rect">
            <a:avLst/>
          </a:prstGeom>
          <a:solidFill>
            <a:srgbClr val="F5F6F7"/>
          </a:solidFill>
          <a:ln w="9525">
            <a:solidFill>
              <a:srgbClr val="B8BDC2"/>
            </a:solidFill>
            <a:prstDash val="solid"/>
          </a:ln>
        </ns0:spPr>
        <ns0:txBody>
          <a:bodyPr wrap="none" lIns="47625" tIns="28575" rIns="47625" bIns="28575" anchor="ctr">
            <a:normAutofit fontScale="87719"/>
          </a:bodyPr>
          <a:lstStyle/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PAGSEGURO I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R$ 6,2 bi · Sub atual 63,2%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Jr 50,0% · Estr. N/D*</a:t>
            </a:r>
          </a:p>
        </ns0:txBody>
      </ns0:sp>
      <ns0:sp>
        <ns0:nvSpPr>
          <ns0:cNvPr id="30" name="mvp-card-structural_mvp_adquirencia-40919667000107">
            <a:extLst>
              <a:ext uri="{FF2B5EF4-FFF2-40B4-BE49-F238E27FC236}">
                <ns2:creationId id="{21E4A8E4-9129-4C6A-8D5B-168DA7A164DC}"/>
              </a:ext>
            </a:extLst>
          </ns0:cNvPr>
          <ns0:cNvSpPr>
            <a:spLocks noGrp="1"/>
          </ns0:cNvSpPr>
          <ns0:nvPr/>
        </ns0:nvSpPr>
        <ns0:spPr>
          <a:xfrm>
            <a:off x="9842500" y="2638425"/>
            <a:ext cx="1778000" cy="438150"/>
          </a:xfrm>
          <a:prstGeom prst="rect">
            <a:avLst/>
          </a:prstGeom>
          <a:solidFill>
            <a:srgbClr val="EAF0F7"/>
          </a:solidFill>
          <a:ln w="9525">
            <a:solidFill>
              <a:srgbClr val="AFC5DD"/>
            </a:solidFill>
            <a:prstDash val="solid"/>
          </a:ln>
        </ns0:spPr>
        <ns0:txBody>
          <a:bodyPr wrap="none" lIns="47625" tIns="28575" rIns="47625" bIns="28575" anchor="ctr">
            <a:normAutofit fontScale="87719"/>
          </a:bodyPr>
          <a:lstStyle/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RECARGAPAY I*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R$ 281,5 mi · Sub atual 98,0%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Jr 50,0% · Estr. 50,0%</a:t>
            </a:r>
          </a:p>
        </ns0:txBody>
      </ns0:sp>
      <ns0:sp>
        <ns0:nvSpPr>
          <ns0:cNvPr id="31" name="">
            <a:extLst>
              <a:ext uri="{FF2B5EF4-FFF2-40B4-BE49-F238E27FC236}">
                <ns2:creationId id="{BB92382A-15D0-4039-B285-5DAADAC0F47E}"/>
              </a:ext>
            </a:extLst>
          </ns0:cNvPr>
          <ns0:cNvSpPr>
            <a:spLocks noGrp="1"/>
          </ns0:cNvSpPr>
          <ns0:nvPr/>
        </ns0:nvSpPr>
        <ns0:spPr>
          <a:xfrm>
            <a:off x="571500" y="5981700"/>
            <a:ext cx="11049000" cy="2952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88796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Vinho = abaixo do mínimo estrutural · âmbar = até 2 p.p. acima · azul = mais de 2 p.p. acima · cinza = estrutura incomparável. * Categoria editorial ou piso total, combinado, calculado, ajustado ou sem equivalência direta.</a:t>
            </a:r>
          </a:p>
        </ns0:txBody>
      </ns0:sp>
    </ns0:spTree>
    <ns0:extLst>
      <ns0:ext uri="{BB962C8B-B14F-4D97-AF65-F5344CB8AC3E}">
        <ns3:creationId val="536297802"/>
      </ns0:ext>
    </ns0:extLst>
  </ns0:cSld>
</ns0:sld>
</file>

<file path=ppt/slides/slide20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51" name="">
            <a:extLst>
              <a:ext uri="{FF2B5EF4-FFF2-40B4-BE49-F238E27FC236}">
                <ns2:creationId id="{F31E69D4-7C93-4F38-AFBA-1417FA63DB47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RISCO ESTRUTURAL · CARTEIRA I · AGRO / REVENDA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4A4FC164-1BE7-4877-8321-DE1D2242850F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"/>
            <a:ext cx="11049000" cy="4667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Agro / Revenda | 1 veículo comparável está abaixo do mínimo estrutural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BEE3F253-CFE8-4FB3-AFBD-159731570B98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03C33074-F1B5-423D-8A9D-0646594E6E15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8FDA6E36-E41E-44EE-AB58-88AE2582D728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CVM, Informe Mensal, jun/26; pisos em regulamentos FundosNet/B3. Lacunas ficam fora do slide e permanecem no workbook/explorador.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547C7146-46F2-4EAF-BDB8-86D07D6F7540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20</a:t>
            </a:r>
          </a:p>
        </ns0:txBody>
      </ns0:sp>
      <ns0:sp>
        <ns0:nvSpPr>
          <ns0:cNvPr id="7" name="mvp-summary-structural_mvp_agro_revenda-1">
            <a:extLst>
              <a:ext uri="{FF2B5EF4-FFF2-40B4-BE49-F238E27FC236}">
                <ns2:creationId id="{872BAABC-2124-4523-A0DE-4A58725740D7}"/>
              </a:ext>
            </a:extLst>
          </ns0:cNvPr>
          <ns0:cNvSpPr>
            <a:spLocks noGrp="1"/>
          </ns0:cNvSpPr>
          <ns0:nvPr/>
        </ns0:nvSpPr>
        <ns0:spPr>
          <a:xfrm>
            <a:off x="571500" y="1152525"/>
            <a:ext cx="3143250" cy="609600"/>
          </a:xfrm>
          <a:prstGeom prst="rect">
            <a:avLst/>
          </a:prstGeom>
          <a:solidFill>
            <a:srgbClr val="EAF0F7"/>
          </a:solidFill>
          <a:ln w="0">
            <a:solidFill>
              <a:srgbClr val="EAF0F7"/>
            </a:solidFill>
            <a:prstDash val="solid"/>
          </a:ln>
        </ns0:spPr>
        <ns0:txBody>
          <a:bodyPr wrap="square" lIns="95250" tIns="66675" rIns="95250" bIns="66675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COBERTURA DO SLIDE</a:t>
            </a:r>
          </a:p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28/49 CNPJs · R$ 12,1 bi de R$ 13,7 bi</a:t>
            </a:r>
          </a:p>
        </ns0:txBody>
      </ns0:sp>
      <ns0:sp>
        <ns0:nvSpPr>
          <ns0:cNvPr id="8" name="mvp-summary-structural_mvp_agro_revenda-2">
            <a:extLst>
              <a:ext uri="{FF2B5EF4-FFF2-40B4-BE49-F238E27FC236}">
                <ns2:creationId id="{EC53C866-9CA0-404B-83FE-BEF07B056D38}"/>
              </a:ext>
            </a:extLst>
          </ns0:cNvPr>
          <ns0:cNvSpPr>
            <a:spLocks noGrp="1"/>
          </ns0:cNvSpPr>
          <ns0:nvPr/>
        </ns0:nvSpPr>
        <ns0:spPr>
          <a:xfrm>
            <a:off x="3810000" y="1152525"/>
            <a:ext cx="4810125" cy="609600"/>
          </a:xfrm>
          <a:prstGeom prst="rect">
            <a:avLst/>
          </a:prstGeom>
          <a:solidFill>
            <a:srgbClr val="FFFFFF"/>
          </a:solidFill>
          <a:ln w="9525">
            <a:solidFill>
              <a:srgbClr val="AFC5DD"/>
            </a:solidFill>
            <a:prstDash val="solid"/>
          </a:ln>
        </ns0:spPr>
        <ns0:txBody>
          <a:bodyPr wrap="square" lIns="95250" tIns="66675" rIns="95250" bIns="66675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REFERÊNCIA DE MERCADO · SUB/PL ATUAL</a:t>
            </a:r>
          </a:p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0 pares com Sub/PL atual</a:t>
            </a:r>
          </a:p>
        </ns0:txBody>
      </ns0:sp>
      <ns0:sp>
        <ns0:nvSpPr>
          <ns0:cNvPr id="9" name="mvp-summary-structural_mvp_agro_revenda-3">
            <a:extLst>
              <a:ext uri="{FF2B5EF4-FFF2-40B4-BE49-F238E27FC236}">
                <ns2:creationId id="{A1635751-10DA-4C7B-89D3-BDC7075E784D}"/>
              </a:ext>
            </a:extLst>
          </ns0:cNvPr>
          <ns0:cNvSpPr>
            <a:spLocks noGrp="1"/>
          </ns0:cNvSpPr>
          <ns0:nvPr/>
        </ns0:nvSpPr>
        <ns0:spPr>
          <a:xfrm>
            <a:off x="8715375" y="1152525"/>
            <a:ext cx="2905125" cy="609600"/>
          </a:xfrm>
          <a:prstGeom prst="rect">
            <a:avLst/>
          </a:prstGeom>
          <a:solidFill>
            <a:srgbClr val="FFF1E6"/>
          </a:solidFill>
          <a:ln w="0">
            <a:solidFill>
              <a:srgbClr val="FFF1E6"/>
            </a:solidFill>
            <a:prstDash val="solid"/>
          </a:ln>
        </ns0:spPr>
        <ns0:txBody>
          <a:bodyPr wrap="square" lIns="95250" tIns="66675" rIns="95250" bIns="66675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7A1F3D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7A1F3D"/>
                </a:solidFill>
                <a:latin typeface="Arial"/>
                <a:ea typeface="Arial"/>
                <a:cs typeface="Arial"/>
              </a:rPr>
              <a:t>LEITURA RELATIVA</a:t>
            </a:r>
          </a:p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7A1F3D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7A1F3D"/>
                </a:solidFill>
                <a:latin typeface="Arial"/>
                <a:ea typeface="Arial"/>
                <a:cs typeface="Arial"/>
              </a:rPr>
              <a:t>N/D · benchmark insuficiente</a:t>
            </a:r>
          </a:p>
        </ns0:txBody>
      </ns0:sp>
      <ns0:sp>
        <ns0:nvSpPr>
          <ns0:cNvPr id="10" name="mvp-band-structural_mvp_agro_revenda-1">
            <a:extLst>
              <a:ext uri="{FF2B5EF4-FFF2-40B4-BE49-F238E27FC236}">
                <ns2:creationId id="{BD257A3B-CD89-4B3B-99B4-1DF47FBA316D}"/>
              </a:ext>
            </a:extLst>
          </ns0:cNvPr>
          <ns0:cNvSpPr>
            <a:spLocks noGrp="1"/>
          </ns0:cNvSpPr>
          <ns0:nvPr/>
        </ns0:nvSpPr>
        <ns0:spPr>
          <a:xfrm>
            <a:off x="571500" y="1885950"/>
            <a:ext cx="17780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105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5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&lt; 10%</a:t>
            </a:r>
          </a:p>
        </ns0:txBody>
      </ns0:sp>
      <ns0:sp>
        <ns0:nvSpPr>
          <ns0:cNvPr id="11" name="">
            <a:extLst>
              <a:ext uri="{FF2B5EF4-FFF2-40B4-BE49-F238E27FC236}">
                <ns2:creationId id="{644BB4D6-084F-480A-92AE-3F116AE993E7}"/>
              </a:ext>
            </a:extLst>
          </ns0:cNvPr>
          <ns0:cNvSpPr>
            <a:spLocks noGrp="1"/>
          </ns0:cNvSpPr>
          <ns0:nvPr/>
        </ns0:nvSpPr>
        <ns0:spPr>
          <a:xfrm>
            <a:off x="571500" y="2114550"/>
            <a:ext cx="1778000" cy="19050"/>
          </a:xfrm>
          <a:prstGeom prst="rect">
            <a:avLst/>
          </a:prstGeom>
          <a:solidFill>
            <a:srgbClr val="002B5C"/>
          </a:solidFill>
          <a:ln w="0">
            <a:noFill/>
            <a:prstDash val="solid"/>
          </a:ln>
        </ns0:spPr>
      </ns0:sp>
      <ns0:sp>
        <ns0:nvSpPr>
          <ns0:cNvPr id="12" name="mvp-card-structural_mvp_agro_revenda-62393829000159">
            <a:extLst>
              <a:ext uri="{FF2B5EF4-FFF2-40B4-BE49-F238E27FC236}">
                <ns2:creationId id="{725DFCC3-4318-4A00-A764-C2FD52E44528}"/>
              </a:ext>
            </a:extLst>
          </ns0:cNvPr>
          <ns0:cNvSpPr>
            <a:spLocks noGrp="1"/>
          </ns0:cNvSpPr>
          <ns0:nvPr/>
        </ns0:nvSpPr>
        <ns0:spPr>
          <a:xfrm>
            <a:off x="571500" y="2181225"/>
            <a:ext cx="1778000" cy="438150"/>
          </a:xfrm>
          <a:prstGeom prst="rect">
            <a:avLst/>
          </a:prstGeom>
          <a:solidFill>
            <a:srgbClr val="FFF0D6"/>
          </a:solidFill>
          <a:ln w="9525">
            <a:solidFill>
              <a:srgbClr val="EC7000"/>
            </a:solidFill>
            <a:prstDash val="solid"/>
          </a:ln>
        </ns0:spPr>
        <ns0:txBody>
          <a:bodyPr wrap="none" lIns="47625" tIns="28575" rIns="47625" bIns="28575" anchor="ctr">
            <a:normAutofit fontScale="87719"/>
          </a:bodyPr>
          <a:lstStyle/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7A1F3D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7A1F3D"/>
                </a:solidFill>
                <a:latin typeface="Arial"/>
                <a:ea typeface="Arial"/>
                <a:cs typeface="Arial"/>
              </a:rPr>
              <a:t>MÉDICI · BRF/MARFRIG*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7A1F3D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7A1F3D"/>
                </a:solidFill>
                <a:latin typeface="Arial"/>
                <a:ea typeface="Arial"/>
                <a:cs typeface="Arial"/>
              </a:rPr>
              <a:t>R$ 3,1 bi · Sub atual 5,5%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7A1F3D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7A1F3D"/>
                </a:solidFill>
                <a:latin typeface="Arial"/>
                <a:ea typeface="Arial"/>
                <a:cs typeface="Arial"/>
              </a:rPr>
              <a:t>Jr 5,0% · Estr. 5,0%</a:t>
            </a:r>
          </a:p>
        </ns0:txBody>
      </ns0:sp>
      <ns0:sp>
        <ns0:nvSpPr>
          <ns0:cNvPr id="13" name="mvp-band-structural_mvp_agro_revenda-2">
            <a:extLst>
              <a:ext uri="{FF2B5EF4-FFF2-40B4-BE49-F238E27FC236}">
                <ns2:creationId id="{89D22FC1-53C7-4E1C-973D-534413C784ED}"/>
              </a:ext>
            </a:extLst>
          </ns0:cNvPr>
          <ns0:cNvSpPr>
            <a:spLocks noGrp="1"/>
          </ns0:cNvSpPr>
          <ns0:nvPr/>
        </ns0:nvSpPr>
        <ns0:spPr>
          <a:xfrm>
            <a:off x="2425700" y="1885950"/>
            <a:ext cx="17780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105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5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10%–15%</a:t>
            </a:r>
          </a:p>
        </ns0:txBody>
      </ns0:sp>
      <ns0:sp>
        <ns0:nvSpPr>
          <ns0:cNvPr id="14" name="">
            <a:extLst>
              <a:ext uri="{FF2B5EF4-FFF2-40B4-BE49-F238E27FC236}">
                <ns2:creationId id="{7C85B322-9065-4BA8-BE2F-1D7166612631}"/>
              </a:ext>
            </a:extLst>
          </ns0:cNvPr>
          <ns0:cNvSpPr>
            <a:spLocks noGrp="1"/>
          </ns0:cNvSpPr>
          <ns0:nvPr/>
        </ns0:nvSpPr>
        <ns0:spPr>
          <a:xfrm>
            <a:off x="2425700" y="2114550"/>
            <a:ext cx="1778000" cy="19050"/>
          </a:xfrm>
          <a:prstGeom prst="rect">
            <a:avLst/>
          </a:prstGeom>
          <a:solidFill>
            <a:srgbClr val="002B5C"/>
          </a:solidFill>
          <a:ln w="0">
            <a:noFill/>
            <a:prstDash val="solid"/>
          </a:ln>
        </ns0:spPr>
      </ns0:sp>
      <ns0:sp>
        <ns0:nvSpPr>
          <ns0:cNvPr id="15" name="mvp-card-structural_mvp_agro_revenda-54083697000130">
            <a:extLst>
              <a:ext uri="{FF2B5EF4-FFF2-40B4-BE49-F238E27FC236}">
                <ns2:creationId id="{F3FDAA4D-EB73-45D2-B93E-749EB106627B}"/>
              </a:ext>
            </a:extLst>
          </ns0:cNvPr>
          <ns0:cNvSpPr>
            <a:spLocks noGrp="1"/>
          </ns0:cNvSpPr>
          <ns0:nvPr/>
        </ns0:nvSpPr>
        <ns0:spPr>
          <a:xfrm>
            <a:off x="2425700" y="2181225"/>
            <a:ext cx="1778000" cy="438150"/>
          </a:xfrm>
          <a:prstGeom prst="rect">
            <a:avLst/>
          </a:prstGeom>
          <a:solidFill>
            <a:srgbClr val="FFF0D6"/>
          </a:solidFill>
          <a:ln w="9525">
            <a:solidFill>
              <a:srgbClr val="EC7000"/>
            </a:solidFill>
            <a:prstDash val="solid"/>
          </a:ln>
        </ns0:spPr>
        <ns0:txBody>
          <a:bodyPr wrap="none" lIns="47625" tIns="28575" rIns="47625" bIns="28575" anchor="ctr">
            <a:normAutofit fontScale="87719"/>
          </a:bodyPr>
          <a:lstStyle/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7A1F3D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7A1F3D"/>
                </a:solidFill>
                <a:latin typeface="Arial"/>
                <a:ea typeface="Arial"/>
                <a:cs typeface="Arial"/>
              </a:rPr>
              <a:t>PERNAMBUCANAS FIDC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7A1F3D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7A1F3D"/>
                </a:solidFill>
                <a:latin typeface="Arial"/>
                <a:ea typeface="Arial"/>
                <a:cs typeface="Arial"/>
              </a:rPr>
              <a:t>R$ 226,6 mi · Sub atual 10,9%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7A1F3D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7A1F3D"/>
                </a:solidFill>
                <a:latin typeface="Arial"/>
                <a:ea typeface="Arial"/>
                <a:cs typeface="Arial"/>
              </a:rPr>
              <a:t>Jr 10,0% · Estr. 10,0%</a:t>
            </a:r>
          </a:p>
        </ns0:txBody>
      </ns0:sp>
      <ns0:sp>
        <ns0:nvSpPr>
          <ns0:cNvPr id="16" name="mvp-card-structural_mvp_agro_revenda-50857998000113">
            <a:extLst>
              <a:ext uri="{FF2B5EF4-FFF2-40B4-BE49-F238E27FC236}">
                <ns2:creationId id="{3973687D-9233-43A4-B251-47BCB914C806}"/>
              </a:ext>
            </a:extLst>
          </ns0:cNvPr>
          <ns0:cNvSpPr>
            <a:spLocks noGrp="1"/>
          </ns0:cNvSpPr>
          <ns0:nvPr/>
        </ns0:nvSpPr>
        <ns0:spPr>
          <a:xfrm>
            <a:off x="2425700" y="2638425"/>
            <a:ext cx="1778000" cy="438150"/>
          </a:xfrm>
          <a:prstGeom prst="rect">
            <a:avLst/>
          </a:prstGeom>
          <a:solidFill>
            <a:srgbClr val="F5F6F7"/>
          </a:solidFill>
          <a:ln w="9525">
            <a:solidFill>
              <a:srgbClr val="B8BDC2"/>
            </a:solidFill>
            <a:prstDash val="solid"/>
          </a:ln>
        </ns0:spPr>
        <ns0:txBody>
          <a:bodyPr wrap="none" lIns="47625" tIns="28575" rIns="47625" bIns="28575" anchor="ctr">
            <a:normAutofit fontScale="87719"/>
          </a:bodyPr>
          <a:lstStyle/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LEO MADEIRAS FIDC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R$ 177,0 mi · Sub atual 12,6%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Jr 5,0% · Estr. N/D*</a:t>
            </a:r>
          </a:p>
        </ns0:txBody>
      </ns0:sp>
      <ns0:sp>
        <ns0:nvSpPr>
          <ns0:cNvPr id="17" name="mvp-band-structural_mvp_agro_revenda-3">
            <a:extLst>
              <a:ext uri="{FF2B5EF4-FFF2-40B4-BE49-F238E27FC236}">
                <ns2:creationId id="{AC4D28A2-EA9B-43BD-BEB8-3C8B41BEEF65}"/>
              </a:ext>
            </a:extLst>
          </ns0:cNvPr>
          <ns0:cNvSpPr>
            <a:spLocks noGrp="1"/>
          </ns0:cNvSpPr>
          <ns0:nvPr/>
        </ns0:nvSpPr>
        <ns0:spPr>
          <a:xfrm>
            <a:off x="4279900" y="1885950"/>
            <a:ext cx="17780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105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5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15%–20%</a:t>
            </a:r>
          </a:p>
        </ns0:txBody>
      </ns0:sp>
      <ns0:sp>
        <ns0:nvSpPr>
          <ns0:cNvPr id="18" name="">
            <a:extLst>
              <a:ext uri="{FF2B5EF4-FFF2-40B4-BE49-F238E27FC236}">
                <ns2:creationId id="{2E96D084-8085-487F-B8D2-B964CB3DAF4A}"/>
              </a:ext>
            </a:extLst>
          </ns0:cNvPr>
          <ns0:cNvSpPr>
            <a:spLocks noGrp="1"/>
          </ns0:cNvSpPr>
          <ns0:nvPr/>
        </ns0:nvSpPr>
        <ns0:spPr>
          <a:xfrm>
            <a:off x="4279900" y="2114550"/>
            <a:ext cx="1778000" cy="19050"/>
          </a:xfrm>
          <a:prstGeom prst="rect">
            <a:avLst/>
          </a:prstGeom>
          <a:solidFill>
            <a:srgbClr val="002B5C"/>
          </a:solidFill>
          <a:ln w="0">
            <a:noFill/>
            <a:prstDash val="solid"/>
          </a:ln>
        </ns0:spPr>
      </ns0:sp>
      <ns0:sp>
        <ns0:nvSpPr>
          <ns0:cNvPr id="19" name="mvp-card-structural_mvp_agro_revenda-65873297000145">
            <a:extLst>
              <a:ext uri="{FF2B5EF4-FFF2-40B4-BE49-F238E27FC236}">
                <ns2:creationId id="{8D1A2176-FD9F-48F5-89FC-CA646BCD091F}"/>
              </a:ext>
            </a:extLst>
          </ns0:cNvPr>
          <ns0:cNvSpPr>
            <a:spLocks noGrp="1"/>
          </ns0:cNvSpPr>
          <ns0:nvPr/>
        </ns0:nvSpPr>
        <ns0:spPr>
          <a:xfrm>
            <a:off x="4279900" y="2181225"/>
            <a:ext cx="1778000" cy="438150"/>
          </a:xfrm>
          <a:prstGeom prst="rect">
            <a:avLst/>
          </a:prstGeom>
          <a:solidFill>
            <a:srgbClr val="EAF0F7"/>
          </a:solidFill>
          <a:ln w="9525">
            <a:solidFill>
              <a:srgbClr val="AFC5DD"/>
            </a:solidFill>
            <a:prstDash val="solid"/>
          </a:ln>
        </ns0:spPr>
        <ns0:txBody>
          <a:bodyPr wrap="none" lIns="47625" tIns="28575" rIns="47625" bIns="28575" anchor="ctr">
            <a:normAutofit fontScale="87719"/>
          </a:bodyPr>
          <a:lstStyle/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ARCELORMITTAL VÉRTICE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R$ 162,6 mi · Sub atual 18,6%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Jr 12,0% · Estr. 12,0%</a:t>
            </a:r>
          </a:p>
        </ns0:txBody>
      </ns0:sp>
      <ns0:sp>
        <ns0:nvSpPr>
          <ns0:cNvPr id="20" name="mvp-card-structural_mvp_agro_revenda-63679792000192">
            <a:extLst>
              <a:ext uri="{FF2B5EF4-FFF2-40B4-BE49-F238E27FC236}">
                <ns2:creationId id="{AA8F28C1-0B27-4606-9405-687CEC3F0339}"/>
              </a:ext>
            </a:extLst>
          </ns0:cNvPr>
          <ns0:cNvSpPr>
            <a:spLocks noGrp="1"/>
          </ns0:cNvSpPr>
          <ns0:nvPr/>
        </ns0:nvSpPr>
        <ns0:spPr>
          <a:xfrm>
            <a:off x="4279900" y="2638425"/>
            <a:ext cx="1778000" cy="438150"/>
          </a:xfrm>
          <a:prstGeom prst="rect">
            <a:avLst/>
          </a:prstGeom>
          <a:solidFill>
            <a:srgbClr val="F5F6F7"/>
          </a:solidFill>
          <a:ln w="9525">
            <a:solidFill>
              <a:srgbClr val="B8BDC2"/>
            </a:solidFill>
            <a:prstDash val="solid"/>
          </a:ln>
        </ns0:spPr>
        <ns0:txBody>
          <a:bodyPr wrap="none" lIns="47625" tIns="28575" rIns="47625" bIns="28575" anchor="ctr">
            <a:normAutofit fontScale="87719"/>
          </a:bodyPr>
          <a:lstStyle/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BLUE HEALTH FIDC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R$ 142,2 mi · Sub atual 19,3%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Jr 20,0% · Estr. N/D*</a:t>
            </a:r>
          </a:p>
        </ns0:txBody>
      </ns0:sp>
      <ns0:sp>
        <ns0:nvSpPr>
          <ns0:cNvPr id="21" name="mvp-card-structural_mvp_agro_revenda-57270666000187">
            <a:extLst>
              <a:ext uri="{FF2B5EF4-FFF2-40B4-BE49-F238E27FC236}">
                <ns2:creationId id="{4E5492D3-5A43-42C6-8B14-9793A7AA566F}"/>
              </a:ext>
            </a:extLst>
          </ns0:cNvPr>
          <ns0:cNvSpPr>
            <a:spLocks noGrp="1"/>
          </ns0:cNvSpPr>
          <ns0:nvPr/>
        </ns0:nvSpPr>
        <ns0:spPr>
          <a:xfrm>
            <a:off x="4279900" y="3095625"/>
            <a:ext cx="1778000" cy="438150"/>
          </a:xfrm>
          <a:prstGeom prst="rect">
            <a:avLst/>
          </a:prstGeom>
          <a:solidFill>
            <a:srgbClr val="F5F6F7"/>
          </a:solidFill>
          <a:ln w="9525">
            <a:solidFill>
              <a:srgbClr val="B8BDC2"/>
            </a:solidFill>
            <a:prstDash val="solid"/>
          </a:ln>
        </ns0:spPr>
        <ns0:txBody>
          <a:bodyPr wrap="none" lIns="47625" tIns="28575" rIns="47625" bIns="28575" anchor="ctr">
            <a:normAutofit fontScale="87719"/>
          </a:bodyPr>
          <a:lstStyle/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MOBILITAS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R$ 53,0 mi · Sub atual 15,1%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Jr 10,0% · Estr. N/D*</a:t>
            </a:r>
          </a:p>
        </ns0:txBody>
      </ns0:sp>
      <ns0:sp>
        <ns0:nvSpPr>
          <ns0:cNvPr id="22" name="mvp-band-structural_mvp_agro_revenda-4">
            <a:extLst>
              <a:ext uri="{FF2B5EF4-FFF2-40B4-BE49-F238E27FC236}">
                <ns2:creationId id="{928D1224-8CCE-4DCD-A38D-D92F3BEC43A6}"/>
              </a:ext>
            </a:extLst>
          </ns0:cNvPr>
          <ns0:cNvSpPr>
            <a:spLocks noGrp="1"/>
          </ns0:cNvSpPr>
          <ns0:nvPr/>
        </ns0:nvSpPr>
        <ns0:spPr>
          <a:xfrm>
            <a:off x="6134100" y="1885950"/>
            <a:ext cx="17780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105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5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20%–35%</a:t>
            </a:r>
          </a:p>
        </ns0:txBody>
      </ns0:sp>
      <ns0:sp>
        <ns0:nvSpPr>
          <ns0:cNvPr id="23" name="">
            <a:extLst>
              <a:ext uri="{FF2B5EF4-FFF2-40B4-BE49-F238E27FC236}">
                <ns2:creationId id="{3839EED3-78DA-4309-A30F-543F11041E99}"/>
              </a:ext>
            </a:extLst>
          </ns0:cNvPr>
          <ns0:cNvSpPr>
            <a:spLocks noGrp="1"/>
          </ns0:cNvSpPr>
          <ns0:nvPr/>
        </ns0:nvSpPr>
        <ns0:spPr>
          <a:xfrm>
            <a:off x="6134100" y="2114550"/>
            <a:ext cx="1778000" cy="19050"/>
          </a:xfrm>
          <a:prstGeom prst="rect">
            <a:avLst/>
          </a:prstGeom>
          <a:solidFill>
            <a:srgbClr val="002B5C"/>
          </a:solidFill>
          <a:ln w="0">
            <a:noFill/>
            <a:prstDash val="solid"/>
          </a:ln>
        </ns0:spPr>
      </ns0:sp>
      <ns0:sp>
        <ns0:nvSpPr>
          <ns0:cNvPr id="24" name="mvp-card-structural_mvp_agro_revenda-33076242000118">
            <a:extLst>
              <a:ext uri="{FF2B5EF4-FFF2-40B4-BE49-F238E27FC236}">
                <ns2:creationId id="{2BD23131-B650-4026-A1C0-40D2E8378DB6}"/>
              </a:ext>
            </a:extLst>
          </ns0:cNvPr>
          <ns0:cNvSpPr>
            <a:spLocks noGrp="1"/>
          </ns0:cNvSpPr>
          <ns0:nvPr/>
        </ns0:nvSpPr>
        <ns0:spPr>
          <a:xfrm>
            <a:off x="6134100" y="2181225"/>
            <a:ext cx="1778000" cy="438150"/>
          </a:xfrm>
          <a:prstGeom prst="rect">
            <a:avLst/>
          </a:prstGeom>
          <a:solidFill>
            <a:srgbClr val="FFF0D6"/>
          </a:solidFill>
          <a:ln w="9525">
            <a:solidFill>
              <a:srgbClr val="EC7000"/>
            </a:solidFill>
            <a:prstDash val="solid"/>
          </a:ln>
        </ns0:spPr>
        <ns0:txBody>
          <a:bodyPr wrap="none" lIns="47625" tIns="28575" rIns="47625" bIns="28575" anchor="ctr">
            <a:normAutofit fontScale="87719"/>
          </a:bodyPr>
          <a:lstStyle/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7A1F3D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7A1F3D"/>
                </a:solidFill>
                <a:latin typeface="Arial"/>
                <a:ea typeface="Arial"/>
                <a:cs typeface="Arial"/>
              </a:rPr>
              <a:t>WORKCAP AGRO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7A1F3D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7A1F3D"/>
                </a:solidFill>
                <a:latin typeface="Arial"/>
                <a:ea typeface="Arial"/>
                <a:cs typeface="Arial"/>
              </a:rPr>
              <a:t>R$ 443,2 mi · Sub atual 21,6%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7A1F3D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7A1F3D"/>
                </a:solidFill>
                <a:latin typeface="Arial"/>
                <a:ea typeface="Arial"/>
                <a:cs typeface="Arial"/>
              </a:rPr>
              <a:t>Jr 20,0% · Estr. 20,0%</a:t>
            </a:r>
          </a:p>
        </ns0:txBody>
      </ns0:sp>
      <ns0:sp>
        <ns0:nvSpPr>
          <ns0:cNvPr id="25" name="mvp-card-structural_mvp_agro_revenda-31570767000180">
            <a:extLst>
              <a:ext uri="{FF2B5EF4-FFF2-40B4-BE49-F238E27FC236}">
                <ns2:creationId id="{B38F0782-010A-4446-B27F-9D93B87F78A2}"/>
              </a:ext>
            </a:extLst>
          </ns0:cNvPr>
          <ns0:cNvSpPr>
            <a:spLocks noGrp="1"/>
          </ns0:cNvSpPr>
          <ns0:nvPr/>
        </ns0:nvSpPr>
        <ns0:spPr>
          <a:xfrm>
            <a:off x="6134100" y="2638425"/>
            <a:ext cx="1778000" cy="438150"/>
          </a:xfrm>
          <a:prstGeom prst="rect">
            <a:avLst/>
          </a:prstGeom>
          <a:solidFill>
            <a:srgbClr val="F5F6F7"/>
          </a:solidFill>
          <a:ln w="9525">
            <a:solidFill>
              <a:srgbClr val="B8BDC2"/>
            </a:solidFill>
            <a:prstDash val="solid"/>
          </a:ln>
        </ns0:spPr>
        <ns0:txBody>
          <a:bodyPr wrap="none" lIns="47625" tIns="28575" rIns="47625" bIns="28575" anchor="ctr">
            <a:normAutofit fontScale="87719"/>
          </a:bodyPr>
          <a:lstStyle/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TRADEPAY VAREJO I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R$ 702,1 mi · Sub atual 23,3%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Jr 5,0% · Estr. N/D*</a:t>
            </a:r>
          </a:p>
        </ns0:txBody>
      </ns0:sp>
      <ns0:sp>
        <ns0:nvSpPr>
          <ns0:cNvPr id="26" name="mvp-card-structural_mvp_agro_revenda-47280025000150">
            <a:extLst>
              <a:ext uri="{FF2B5EF4-FFF2-40B4-BE49-F238E27FC236}">
                <ns2:creationId id="{F0636FDA-F074-48ED-9B0F-8CED9ABBBDF4}"/>
              </a:ext>
            </a:extLst>
          </ns0:cNvPr>
          <ns0:cNvSpPr>
            <a:spLocks noGrp="1"/>
          </ns0:cNvSpPr>
          <ns0:nvPr/>
        </ns0:nvSpPr>
        <ns0:spPr>
          <a:xfrm>
            <a:off x="6134100" y="3095625"/>
            <a:ext cx="1778000" cy="438150"/>
          </a:xfrm>
          <a:prstGeom prst="rect">
            <a:avLst/>
          </a:prstGeom>
          <a:solidFill>
            <a:srgbClr val="EAF0F7"/>
          </a:solidFill>
          <a:ln w="9525">
            <a:solidFill>
              <a:srgbClr val="AFC5DD"/>
            </a:solidFill>
            <a:prstDash val="solid"/>
          </a:ln>
        </ns0:spPr>
        <ns0:txBody>
          <a:bodyPr wrap="none" lIns="47625" tIns="28575" rIns="47625" bIns="28575" anchor="ctr">
            <a:normAutofit fontScale="87719"/>
          </a:bodyPr>
          <a:lstStyle/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FIDC AGRO CAPITAL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R$ 522,1 mi · Sub atual 32,2%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Jr 30,0% · Estr. 30,0%</a:t>
            </a:r>
          </a:p>
        </ns0:txBody>
      </ns0:sp>
      <ns0:sp>
        <ns0:nvSpPr>
          <ns0:cNvPr id="27" name="mvp-card-structural_mvp_agro_revenda-58171340000165">
            <a:extLst>
              <a:ext uri="{FF2B5EF4-FFF2-40B4-BE49-F238E27FC236}">
                <ns2:creationId id="{26692189-65F2-4785-B5B2-4FF0C53CC857}"/>
              </a:ext>
            </a:extLst>
          </ns0:cNvPr>
          <ns0:cNvSpPr>
            <a:spLocks noGrp="1"/>
          </ns0:cNvSpPr>
          <ns0:nvPr/>
        </ns0:nvSpPr>
        <ns0:spPr>
          <a:xfrm>
            <a:off x="6134100" y="3552825"/>
            <a:ext cx="1778000" cy="438150"/>
          </a:xfrm>
          <a:prstGeom prst="rect">
            <a:avLst/>
          </a:prstGeom>
          <a:solidFill>
            <a:srgbClr val="F5F6F7"/>
          </a:solidFill>
          <a:ln w="9525">
            <a:solidFill>
              <a:srgbClr val="B8BDC2"/>
            </a:solidFill>
            <a:prstDash val="solid"/>
          </a:ln>
        </ns0:spPr>
        <ns0:txBody>
          <a:bodyPr wrap="none" lIns="47625" tIns="28575" rIns="47625" bIns="28575" anchor="ctr">
            <a:normAutofit fontScale="87719"/>
          </a:bodyPr>
          <a:lstStyle/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FRIMESA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R$ 357,7 mi · Sub atual 21,0%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Jr 1,0% · Estr. N/D*</a:t>
            </a:r>
          </a:p>
        </ns0:txBody>
      </ns0:sp>
      <ns0:sp>
        <ns0:nvSpPr>
          <ns0:cNvPr id="28" name="mvp-card-structural_mvp_agro_revenda-54857414000160">
            <a:extLst>
              <a:ext uri="{FF2B5EF4-FFF2-40B4-BE49-F238E27FC236}">
                <ns2:creationId id="{3407F19A-FB03-40AA-8E81-A6B10CB99C6E}"/>
              </a:ext>
            </a:extLst>
          </ns0:cNvPr>
          <ns0:cNvSpPr>
            <a:spLocks noGrp="1"/>
          </ns0:cNvSpPr>
          <ns0:nvPr/>
        </ns0:nvSpPr>
        <ns0:spPr>
          <a:xfrm>
            <a:off x="6134100" y="4010025"/>
            <a:ext cx="1778000" cy="438150"/>
          </a:xfrm>
          <a:prstGeom prst="rect">
            <a:avLst/>
          </a:prstGeom>
          <a:solidFill>
            <a:srgbClr val="F5F6F7"/>
          </a:solidFill>
          <a:ln w="9525">
            <a:solidFill>
              <a:srgbClr val="B8BDC2"/>
            </a:solidFill>
            <a:prstDash val="solid"/>
          </a:ln>
        </ns0:spPr>
        <ns0:txBody>
          <a:bodyPr wrap="none" lIns="47625" tIns="28575" rIns="47625" bIns="28575" anchor="ctr">
            <a:normAutofit fontScale="87719"/>
          </a:bodyPr>
          <a:lstStyle/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INDIE MERX RAIZ I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R$ 104,2 mi · Sub atual 27,5%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Jr 15,0% · Estr. N/D*</a:t>
            </a:r>
          </a:p>
        </ns0:txBody>
      </ns0:sp>
      <ns0:sp>
        <ns0:nvSpPr>
          <ns0:cNvPr id="29" name="mvp-card-structural_mvp_agro_revenda-52340225000190">
            <a:extLst>
              <a:ext uri="{FF2B5EF4-FFF2-40B4-BE49-F238E27FC236}">
                <ns2:creationId id="{AA193D54-AFD9-4E5E-94D3-806272BFC6E5}"/>
              </a:ext>
            </a:extLst>
          </ns0:cNvPr>
          <ns0:cNvSpPr>
            <a:spLocks noGrp="1"/>
          </ns0:cNvSpPr>
          <ns0:nvPr/>
        </ns0:nvSpPr>
        <ns0:spPr>
          <a:xfrm>
            <a:off x="6134100" y="4467225"/>
            <a:ext cx="1778000" cy="438150"/>
          </a:xfrm>
          <a:prstGeom prst="rect">
            <a:avLst/>
          </a:prstGeom>
          <a:solidFill>
            <a:srgbClr val="F5F6F7"/>
          </a:solidFill>
          <a:ln w="9525">
            <a:solidFill>
              <a:srgbClr val="B8BDC2"/>
            </a:solidFill>
            <a:prstDash val="solid"/>
          </a:ln>
        </ns0:spPr>
        <ns0:txBody>
          <a:bodyPr wrap="none" lIns="47625" tIns="28575" rIns="47625" bIns="28575" anchor="ctr">
            <a:normAutofit fontScale="87719"/>
          </a:bodyPr>
          <a:lstStyle/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INOVA CREDTECH III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R$ 86,1 mi · Sub atual 22,2%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Jr 7,5% · Estr. N/D*</a:t>
            </a:r>
          </a:p>
        </ns0:txBody>
      </ns0:sp>
      <ns0:sp>
        <ns0:nvSpPr>
          <ns0:cNvPr id="30" name="mvp-card-structural_mvp_agro_revenda-57752597000148">
            <a:extLst>
              <a:ext uri="{FF2B5EF4-FFF2-40B4-BE49-F238E27FC236}">
                <ns2:creationId id="{6C4BC155-9047-4089-9E3D-B9A2D5EC6270}"/>
              </a:ext>
            </a:extLst>
          </ns0:cNvPr>
          <ns0:cNvSpPr>
            <a:spLocks noGrp="1"/>
          </ns0:cNvSpPr>
          <ns0:nvPr/>
        </ns0:nvSpPr>
        <ns0:spPr>
          <a:xfrm>
            <a:off x="6134100" y="4924425"/>
            <a:ext cx="1778000" cy="438150"/>
          </a:xfrm>
          <a:prstGeom prst="rect">
            <a:avLst/>
          </a:prstGeom>
          <a:solidFill>
            <a:srgbClr val="F5F6F7"/>
          </a:solidFill>
          <a:ln w="9525">
            <a:solidFill>
              <a:srgbClr val="B8BDC2"/>
            </a:solidFill>
            <a:prstDash val="solid"/>
          </a:ln>
        </ns0:spPr>
        <ns0:txBody>
          <a:bodyPr wrap="none" lIns="47625" tIns="28575" rIns="47625" bIns="28575" anchor="ctr">
            <a:normAutofit fontScale="87719"/>
          </a:bodyPr>
          <a:lstStyle/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AGROMERCANTIL CRÉDITO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R$ 68,7 mi · Sub atual 32,5%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Jr 30,0% · Estr. N/D*</a:t>
            </a:r>
          </a:p>
        </ns0:txBody>
      </ns0:sp>
      <ns0:sp>
        <ns0:nvSpPr>
          <ns0:cNvPr id="31" name="mvp-band-structural_mvp_agro_revenda-5">
            <a:extLst>
              <a:ext uri="{FF2B5EF4-FFF2-40B4-BE49-F238E27FC236}">
                <ns2:creationId id="{8D0D853D-4427-46FA-9D48-518BB983640B}"/>
              </a:ext>
            </a:extLst>
          </ns0:cNvPr>
          <ns0:cNvSpPr>
            <a:spLocks noGrp="1"/>
          </ns0:cNvSpPr>
          <ns0:nvPr/>
        </ns0:nvSpPr>
        <ns0:spPr>
          <a:xfrm>
            <a:off x="7988300" y="1885950"/>
            <a:ext cx="17780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105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5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35%–60%</a:t>
            </a:r>
          </a:p>
        </ns0:txBody>
      </ns0:sp>
      <ns0:sp>
        <ns0:nvSpPr>
          <ns0:cNvPr id="32" name="">
            <a:extLst>
              <a:ext uri="{FF2B5EF4-FFF2-40B4-BE49-F238E27FC236}">
                <ns2:creationId id="{685025C4-E931-4F0D-A74D-6ACA2D7C657C}"/>
              </a:ext>
            </a:extLst>
          </ns0:cNvPr>
          <ns0:cNvSpPr>
            <a:spLocks noGrp="1"/>
          </ns0:cNvSpPr>
          <ns0:nvPr/>
        </ns0:nvSpPr>
        <ns0:spPr>
          <a:xfrm>
            <a:off x="7988300" y="2114550"/>
            <a:ext cx="1778000" cy="19050"/>
          </a:xfrm>
          <a:prstGeom prst="rect">
            <a:avLst/>
          </a:prstGeom>
          <a:solidFill>
            <a:srgbClr val="002B5C"/>
          </a:solidFill>
          <a:ln w="0">
            <a:noFill/>
            <a:prstDash val="solid"/>
          </a:ln>
        </ns0:spPr>
      </ns0:sp>
      <ns0:sp>
        <ns0:nvSpPr>
          <ns0:cNvPr id="33" name="mvp-card-structural_mvp_agro_revenda-50536324000117">
            <a:extLst>
              <a:ext uri="{FF2B5EF4-FFF2-40B4-BE49-F238E27FC236}">
                <ns2:creationId id="{B20DCFE3-150A-48E8-AE3C-AD6A80AD8734}"/>
              </a:ext>
            </a:extLst>
          </ns0:cNvPr>
          <ns0:cNvSpPr>
            <a:spLocks noGrp="1"/>
          </ns0:cNvSpPr>
          <ns0:nvPr/>
        </ns0:nvSpPr>
        <ns0:spPr>
          <a:xfrm>
            <a:off x="7988300" y="2181225"/>
            <a:ext cx="1778000" cy="438150"/>
          </a:xfrm>
          <a:prstGeom prst="rect">
            <a:avLst/>
          </a:prstGeom>
          <a:solidFill>
            <a:srgbClr val="7A1F3D"/>
          </a:solidFill>
          <a:ln w="9525">
            <a:solidFill>
              <a:srgbClr val="7A1F3D"/>
            </a:solidFill>
            <a:prstDash val="solid"/>
          </a:ln>
        </ns0:spPr>
        <ns0:txBody>
          <a:bodyPr wrap="none" lIns="47625" tIns="28575" rIns="47625" bIns="28575" anchor="ctr">
            <a:normAutofit fontScale="87719"/>
          </a:bodyPr>
          <a:lstStyle/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FFFFFF"/>
                </a:solidFill>
                <a:latin typeface="Arial"/>
                <a:ea typeface="Arial"/>
                <a:cs typeface="Arial"/>
              </a:rPr>
              <a:t>MAQNELSON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FFFFFF"/>
                </a:solidFill>
                <a:latin typeface="Arial"/>
                <a:ea typeface="Arial"/>
                <a:cs typeface="Arial"/>
              </a:rPr>
              <a:t>R$ 100,0 mi · Sub atual 49,2%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FFFFFF"/>
                </a:solidFill>
                <a:latin typeface="Arial"/>
                <a:ea typeface="Arial"/>
                <a:cs typeface="Arial"/>
              </a:rPr>
              <a:t>Jr 50,0% · Estr. 50,0%</a:t>
            </a:r>
          </a:p>
        </ns0:txBody>
      </ns0:sp>
      <ns0:sp>
        <ns0:nvSpPr>
          <ns0:cNvPr id="34" name="mvp-card-structural_mvp_agro_revenda-63622842000103">
            <a:extLst>
              <a:ext uri="{FF2B5EF4-FFF2-40B4-BE49-F238E27FC236}">
                <ns2:creationId id="{E794D07E-E889-4D54-8664-1C04BB431F45}"/>
              </a:ext>
            </a:extLst>
          </ns0:cNvPr>
          <ns0:cNvSpPr>
            <a:spLocks noGrp="1"/>
          </ns0:cNvSpPr>
          <ns0:nvPr/>
        </ns0:nvSpPr>
        <ns0:spPr>
          <a:xfrm>
            <a:off x="7988300" y="2638425"/>
            <a:ext cx="1778000" cy="438150"/>
          </a:xfrm>
          <a:prstGeom prst="rect">
            <a:avLst/>
          </a:prstGeom>
          <a:solidFill>
            <a:srgbClr val="FFF0D6"/>
          </a:solidFill>
          <a:ln w="9525">
            <a:solidFill>
              <a:srgbClr val="EC7000"/>
            </a:solidFill>
            <a:prstDash val="solid"/>
          </a:ln>
        </ns0:spPr>
        <ns0:txBody>
          <a:bodyPr wrap="none" lIns="47625" tIns="28575" rIns="47625" bIns="28575" anchor="ctr">
            <a:normAutofit fontScale="87719"/>
          </a:bodyPr>
          <a:lstStyle/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7A1F3D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7A1F3D"/>
                </a:solidFill>
                <a:latin typeface="Arial"/>
                <a:ea typeface="Arial"/>
                <a:cs typeface="Arial"/>
              </a:rPr>
              <a:t>DESBRAVA UNO ARTIGOS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7A1F3D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7A1F3D"/>
                </a:solidFill>
                <a:latin typeface="Arial"/>
                <a:ea typeface="Arial"/>
                <a:cs typeface="Arial"/>
              </a:rPr>
              <a:t>R$ 343,6 mi · Sub atual 50,4%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7A1F3D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7A1F3D"/>
                </a:solidFill>
                <a:latin typeface="Arial"/>
                <a:ea typeface="Arial"/>
                <a:cs typeface="Arial"/>
              </a:rPr>
              <a:t>Jr 50,0% · Estr. 50,0%</a:t>
            </a:r>
          </a:p>
        </ns0:txBody>
      </ns0:sp>
      <ns0:sp>
        <ns0:nvSpPr>
          <ns0:cNvPr id="35" name="mvp-card-structural_mvp_agro_revenda-63657457000193">
            <a:extLst>
              <a:ext uri="{FF2B5EF4-FFF2-40B4-BE49-F238E27FC236}">
                <ns2:creationId id="{CDF42E36-7F70-45EA-8971-E0B542317563}"/>
              </a:ext>
            </a:extLst>
          </ns0:cNvPr>
          <ns0:cNvSpPr>
            <a:spLocks noGrp="1"/>
          </ns0:cNvSpPr>
          <ns0:nvPr/>
        </ns0:nvSpPr>
        <ns0:spPr>
          <a:xfrm>
            <a:off x="7988300" y="3095625"/>
            <a:ext cx="1778000" cy="438150"/>
          </a:xfrm>
          <a:prstGeom prst="rect">
            <a:avLst/>
          </a:prstGeom>
          <a:solidFill>
            <a:srgbClr val="F5F6F7"/>
          </a:solidFill>
          <a:ln w="9525">
            <a:solidFill>
              <a:srgbClr val="B8BDC2"/>
            </a:solidFill>
            <a:prstDash val="solid"/>
          </a:ln>
        </ns0:spPr>
        <ns0:txBody>
          <a:bodyPr wrap="none" lIns="47625" tIns="28575" rIns="47625" bIns="28575" anchor="ctr">
            <a:normAutofit fontScale="87719"/>
          </a:bodyPr>
          <a:lstStyle/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MSV3 RECEBÍVEIS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R$ 311,5 mi · Sub atual 36,3%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Jr 25,0% · Estr. N/D*</a:t>
            </a:r>
          </a:p>
        </ns0:txBody>
      </ns0:sp>
      <ns0:sp>
        <ns0:nvSpPr>
          <ns0:cNvPr id="36" name="mvp-card-structural_mvp_agro_revenda-37035970000132">
            <a:extLst>
              <a:ext uri="{FF2B5EF4-FFF2-40B4-BE49-F238E27FC236}">
                <ns2:creationId id="{883D0128-8224-4522-B5E8-0A397C4DCBE8}"/>
              </a:ext>
            </a:extLst>
          </ns0:cNvPr>
          <ns0:cNvSpPr>
            <a:spLocks noGrp="1"/>
          </ns0:cNvSpPr>
          <ns0:nvPr/>
        </ns0:nvSpPr>
        <ns0:spPr>
          <a:xfrm>
            <a:off x="7988300" y="3552825"/>
            <a:ext cx="1778000" cy="438150"/>
          </a:xfrm>
          <a:prstGeom prst="rect">
            <a:avLst/>
          </a:prstGeom>
          <a:solidFill>
            <a:srgbClr val="F5F6F7"/>
          </a:solidFill>
          <a:ln w="9525">
            <a:solidFill>
              <a:srgbClr val="B8BDC2"/>
            </a:solidFill>
            <a:prstDash val="solid"/>
          </a:ln>
        </ns0:spPr>
        <ns0:txBody>
          <a:bodyPr wrap="none" lIns="47625" tIns="28575" rIns="47625" bIns="28575" anchor="ctr">
            <a:normAutofit fontScale="87719"/>
          </a:bodyPr>
          <a:lstStyle/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CD CASH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R$ 291,8 mi · Sub atual 46,8%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Jr 30,0% · Estr. N/D*</a:t>
            </a:r>
          </a:p>
        </ns0:txBody>
      </ns0:sp>
      <ns0:sp>
        <ns0:nvSpPr>
          <ns0:cNvPr id="37" name="mvp-card-structural_mvp_agro_revenda-45523699000102">
            <a:extLst>
              <a:ext uri="{FF2B5EF4-FFF2-40B4-BE49-F238E27FC236}">
                <ns2:creationId id="{66563726-1628-4E43-8989-3CF5D02A40C2}"/>
              </a:ext>
            </a:extLst>
          </ns0:cNvPr>
          <ns0:cNvSpPr>
            <a:spLocks noGrp="1"/>
          </ns0:cNvSpPr>
          <ns0:nvPr/>
        </ns0:nvSpPr>
        <ns0:spPr>
          <a:xfrm>
            <a:off x="7988300" y="4010025"/>
            <a:ext cx="1778000" cy="438150"/>
          </a:xfrm>
          <a:prstGeom prst="rect">
            <a:avLst/>
          </a:prstGeom>
          <a:solidFill>
            <a:srgbClr val="F5F6F7"/>
          </a:solidFill>
          <a:ln w="9525">
            <a:solidFill>
              <a:srgbClr val="B8BDC2"/>
            </a:solidFill>
            <a:prstDash val="solid"/>
          </a:ln>
        </ns0:spPr>
        <ns0:txBody>
          <a:bodyPr wrap="none" lIns="47625" tIns="28575" rIns="47625" bIns="28575" anchor="ctr">
            <a:normAutofit fontScale="87719"/>
          </a:bodyPr>
          <a:lstStyle/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VIXTRA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R$ 233,6 mi · Sub atual 38,2%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Jr 10,0% · Estr. N/D*</a:t>
            </a:r>
          </a:p>
        </ns0:txBody>
      </ns0:sp>
      <ns0:sp>
        <ns0:nvSpPr>
          <ns0:cNvPr id="38" name="mvp-card-structural_mvp_agro_revenda-47425750000179">
            <a:extLst>
              <a:ext uri="{FF2B5EF4-FFF2-40B4-BE49-F238E27FC236}">
                <ns2:creationId id="{7D7FA0EC-ECD6-45CE-B996-6321265B61CB}"/>
              </a:ext>
            </a:extLst>
          </ns0:cNvPr>
          <ns0:cNvSpPr>
            <a:spLocks noGrp="1"/>
          </ns0:cNvSpPr>
          <ns0:nvPr/>
        </ns0:nvSpPr>
        <ns0:spPr>
          <a:xfrm>
            <a:off x="7988300" y="4467225"/>
            <a:ext cx="1778000" cy="438150"/>
          </a:xfrm>
          <a:prstGeom prst="rect">
            <a:avLst/>
          </a:prstGeom>
          <a:solidFill>
            <a:srgbClr val="F5F6F7"/>
          </a:solidFill>
          <a:ln w="9525">
            <a:solidFill>
              <a:srgbClr val="B8BDC2"/>
            </a:solidFill>
            <a:prstDash val="solid"/>
          </a:ln>
        </ns0:spPr>
        <ns0:txBody>
          <a:bodyPr wrap="none" lIns="47625" tIns="28575" rIns="47625" bIns="28575" anchor="ctr">
            <a:normAutofit fontScale="87719"/>
          </a:bodyPr>
          <a:lstStyle/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CEREALIS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R$ 215,3 mi · Sub atual 53,0%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Jr 25,0% · Estr. N/D*</a:t>
            </a:r>
          </a:p>
        </ns0:txBody>
      </ns0:sp>
      <ns0:sp>
        <ns0:nvSpPr>
          <ns0:cNvPr id="39" name="mvp-card-structural_mvp_agro_revenda-38658727000133">
            <a:extLst>
              <a:ext uri="{FF2B5EF4-FFF2-40B4-BE49-F238E27FC236}">
                <ns2:creationId id="{C8AACD0A-F896-4987-853F-B497018DF1A7}"/>
              </a:ext>
            </a:extLst>
          </ns0:cNvPr>
          <ns0:cNvSpPr>
            <a:spLocks noGrp="1"/>
          </ns0:cNvSpPr>
          <ns0:nvPr/>
        </ns0:nvSpPr>
        <ns0:spPr>
          <a:xfrm>
            <a:off x="7988300" y="4924425"/>
            <a:ext cx="1778000" cy="438150"/>
          </a:xfrm>
          <a:prstGeom prst="rect">
            <a:avLst/>
          </a:prstGeom>
          <a:solidFill>
            <a:srgbClr val="EAF0F7"/>
          </a:solidFill>
          <a:ln w="9525">
            <a:solidFill>
              <a:srgbClr val="AFC5DD"/>
            </a:solidFill>
            <a:prstDash val="solid"/>
          </a:ln>
        </ns0:spPr>
        <ns0:txBody>
          <a:bodyPr wrap="none" lIns="47625" tIns="28575" rIns="47625" bIns="28575" anchor="ctr">
            <a:normAutofit fontScale="87719"/>
          </a:bodyPr>
          <a:lstStyle/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FORNECEDORES MADEIRA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R$ 196,7 mi · Sub atual 46,9%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Jr 26,7%* · Estr. 26,7%*</a:t>
            </a:r>
          </a:p>
        </ns0:txBody>
      </ns0:sp>
      <ns0:sp>
        <ns0:nvSpPr>
          <ns0:cNvPr id="40" name="mvp-card-structural_mvp_agro_revenda-58476088000100">
            <a:extLst>
              <a:ext uri="{FF2B5EF4-FFF2-40B4-BE49-F238E27FC236}">
                <ns2:creationId id="{EDE84507-62D9-4558-8E67-5B14E4334734}"/>
              </a:ext>
            </a:extLst>
          </ns0:cNvPr>
          <ns0:cNvSpPr>
            <a:spLocks noGrp="1"/>
          </ns0:cNvSpPr>
          <ns0:nvPr/>
        </ns0:nvSpPr>
        <ns0:spPr>
          <a:xfrm>
            <a:off x="7988300" y="5381625"/>
            <a:ext cx="1778000" cy="438150"/>
          </a:xfrm>
          <a:prstGeom prst="rect">
            <a:avLst/>
          </a:prstGeom>
          <a:solidFill>
            <a:srgbClr val="EAF0F7"/>
          </a:solidFill>
          <a:ln w="9525">
            <a:solidFill>
              <a:srgbClr val="AFC5DD"/>
            </a:solidFill>
            <a:prstDash val="solid"/>
          </a:ln>
        </ns0:spPr>
        <ns0:txBody>
          <a:bodyPr wrap="none" lIns="47625" tIns="28575" rIns="47625" bIns="28575" anchor="ctr">
            <a:normAutofit fontScale="87719"/>
          </a:bodyPr>
          <a:lstStyle/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SAGA CRÉDITO PRIVADO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R$ 167,6 mi · Sub atual 38,7%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Jr 33,3% · Estr. 33,3%</a:t>
            </a:r>
          </a:p>
        </ns0:txBody>
      </ns0:sp>
      <ns0:sp>
        <ns0:nvSpPr>
          <ns0:cNvPr id="41" name="mvp-band-structural_mvp_agro_revenda-6">
            <a:extLst>
              <a:ext uri="{FF2B5EF4-FFF2-40B4-BE49-F238E27FC236}">
                <ns2:creationId id="{25E9BE1F-8752-4F9A-92EF-BCFA67C8D5BF}"/>
              </a:ext>
            </a:extLst>
          </ns0:cNvPr>
          <ns0:cNvSpPr>
            <a:spLocks noGrp="1"/>
          </ns0:cNvSpPr>
          <ns0:nvPr/>
        </ns0:nvSpPr>
        <ns0:spPr>
          <a:xfrm>
            <a:off x="9842500" y="1885950"/>
            <a:ext cx="17780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105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5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≥ 60%</a:t>
            </a:r>
          </a:p>
        </ns0:txBody>
      </ns0:sp>
      <ns0:sp>
        <ns0:nvSpPr>
          <ns0:cNvPr id="42" name="">
            <a:extLst>
              <a:ext uri="{FF2B5EF4-FFF2-40B4-BE49-F238E27FC236}">
                <ns2:creationId id="{B5CF9DDD-18C9-4419-B222-7FD500227E00}"/>
              </a:ext>
            </a:extLst>
          </ns0:cNvPr>
          <ns0:cNvSpPr>
            <a:spLocks noGrp="1"/>
          </ns0:cNvSpPr>
          <ns0:nvPr/>
        </ns0:nvSpPr>
        <ns0:spPr>
          <a:xfrm>
            <a:off x="9842500" y="2114550"/>
            <a:ext cx="1778000" cy="19050"/>
          </a:xfrm>
          <a:prstGeom prst="rect">
            <a:avLst/>
          </a:prstGeom>
          <a:solidFill>
            <a:srgbClr val="002B5C"/>
          </a:solidFill>
          <a:ln w="0">
            <a:noFill/>
            <a:prstDash val="solid"/>
          </a:ln>
        </ns0:spPr>
      </ns0:sp>
      <ns0:sp>
        <ns0:nvSpPr>
          <ns0:cNvPr id="43" name="mvp-card-structural_mvp_agro_revenda-29492605000129">
            <a:extLst>
              <a:ext uri="{FF2B5EF4-FFF2-40B4-BE49-F238E27FC236}">
                <ns2:creationId id="{24246C6A-81D4-4672-AA7A-7E756B68BB7D}"/>
              </a:ext>
            </a:extLst>
          </ns0:cNvPr>
          <ns0:cNvSpPr>
            <a:spLocks noGrp="1"/>
          </ns0:cNvSpPr>
          <ns0:nvPr/>
        </ns0:nvSpPr>
        <ns0:spPr>
          <a:xfrm>
            <a:off x="9842500" y="2181225"/>
            <a:ext cx="1778000" cy="438150"/>
          </a:xfrm>
          <a:prstGeom prst="rect">
            <a:avLst/>
          </a:prstGeom>
          <a:solidFill>
            <a:srgbClr val="EAF0F7"/>
          </a:solidFill>
          <a:ln w="9525">
            <a:solidFill>
              <a:srgbClr val="AFC5DD"/>
            </a:solidFill>
            <a:prstDash val="solid"/>
          </a:ln>
        </ns0:spPr>
        <ns0:txBody>
          <a:bodyPr wrap="none" lIns="47625" tIns="28575" rIns="47625" bIns="28575" anchor="ctr">
            <a:normAutofit fontScale="87719"/>
          </a:bodyPr>
          <a:lstStyle/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GAZIN MULTISSEGMENTOS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R$ 2,5 bi · Sub atual 67,6%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Jr 51,0% · Estr. 51,0%</a:t>
            </a:r>
          </a:p>
        </ns0:txBody>
      </ns0:sp>
      <ns0:sp>
        <ns0:nvSpPr>
          <ns0:cNvPr id="44" name="mvp-card-structural_mvp_agro_revenda-29226654000110">
            <a:extLst>
              <a:ext uri="{FF2B5EF4-FFF2-40B4-BE49-F238E27FC236}">
                <ns2:creationId id="{D1473C02-9654-4878-ADC5-5F49889E22AE}"/>
              </a:ext>
            </a:extLst>
          </ns0:cNvPr>
          <ns0:cNvSpPr>
            <a:spLocks noGrp="1"/>
          </ns0:cNvSpPr>
          <ns0:nvPr/>
        </ns0:nvSpPr>
        <ns0:spPr>
          <a:xfrm>
            <a:off x="9842500" y="2638425"/>
            <a:ext cx="1778000" cy="438150"/>
          </a:xfrm>
          <a:prstGeom prst="rect">
            <a:avLst/>
          </a:prstGeom>
          <a:solidFill>
            <a:srgbClr val="EAF0F7"/>
          </a:solidFill>
          <a:ln w="9525">
            <a:solidFill>
              <a:srgbClr val="AFC5DD"/>
            </a:solidFill>
            <a:prstDash val="solid"/>
          </a:ln>
        </ns0:spPr>
        <ns0:txBody>
          <a:bodyPr wrap="none" lIns="47625" tIns="28575" rIns="47625" bIns="28575" anchor="ctr">
            <a:normAutofit fontScale="87719"/>
          </a:bodyPr>
          <a:lstStyle/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INVESTCRED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R$ 1,2 bi · Sub atual 79,6%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Jr 67,4%* · Estr. 67,4%*</a:t>
            </a:r>
          </a:p>
        </ns0:txBody>
      </ns0:sp>
      <ns0:sp>
        <ns0:nvSpPr>
          <ns0:cNvPr id="45" name="mvp-card-structural_mvp_agro_revenda-43866348000179">
            <a:extLst>
              <a:ext uri="{FF2B5EF4-FFF2-40B4-BE49-F238E27FC236}">
                <ns2:creationId id="{6D302E7A-983B-4E4E-BA84-1FB3AD978DD7}"/>
              </a:ext>
            </a:extLst>
          </ns0:cNvPr>
          <ns0:cNvSpPr>
            <a:spLocks noGrp="1"/>
          </ns0:cNvSpPr>
          <ns0:nvPr/>
        </ns0:nvSpPr>
        <ns0:spPr>
          <a:xfrm>
            <a:off x="9842500" y="3095625"/>
            <a:ext cx="1778000" cy="438150"/>
          </a:xfrm>
          <a:prstGeom prst="rect">
            <a:avLst/>
          </a:prstGeom>
          <a:solidFill>
            <a:srgbClr val="F5F6F7"/>
          </a:solidFill>
          <a:ln w="9525">
            <a:solidFill>
              <a:srgbClr val="B8BDC2"/>
            </a:solidFill>
            <a:prstDash val="solid"/>
          </a:ln>
        </ns0:spPr>
        <ns0:txBody>
          <a:bodyPr wrap="none" lIns="47625" tIns="28575" rIns="47625" bIns="28575" anchor="ctr">
            <a:normAutofit fontScale="87719"/>
          </a:bodyPr>
          <a:lstStyle/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OPEA AGRO SUMITOMO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R$ 256,0 mi · Sub atual 65,4%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Jr 5,0% · Estr. N/D*</a:t>
            </a:r>
          </a:p>
        </ns0:txBody>
      </ns0:sp>
      <ns0:sp>
        <ns0:nvSpPr>
          <ns0:cNvPr id="46" name="mvp-card-structural_mvp_agro_revenda-58288437000152">
            <a:extLst>
              <a:ext uri="{FF2B5EF4-FFF2-40B4-BE49-F238E27FC236}">
                <ns2:creationId id="{DFB34D15-2610-4FA8-9241-CC7FFD72EDDF}"/>
              </a:ext>
            </a:extLst>
          </ns0:cNvPr>
          <ns0:cNvSpPr>
            <a:spLocks noGrp="1"/>
          </ns0:cNvSpPr>
          <ns0:nvPr/>
        </ns0:nvSpPr>
        <ns0:spPr>
          <a:xfrm>
            <a:off x="9842500" y="3552825"/>
            <a:ext cx="1778000" cy="438150"/>
          </a:xfrm>
          <a:prstGeom prst="rect">
            <a:avLst/>
          </a:prstGeom>
          <a:solidFill>
            <a:srgbClr val="F5F6F7"/>
          </a:solidFill>
          <a:ln w="9525">
            <a:solidFill>
              <a:srgbClr val="B8BDC2"/>
            </a:solidFill>
            <a:prstDash val="solid"/>
          </a:ln>
        </ns0:spPr>
        <ns0:txBody>
          <a:bodyPr wrap="none" lIns="47625" tIns="28575" rIns="47625" bIns="28575" anchor="ctr">
            <a:normAutofit fontScale="87719"/>
          </a:bodyPr>
          <a:lstStyle/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ALTOMAX SEGMENTO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R$ 89,9 mi · Sub atual 64,6%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Jr 20,0% · Estr. N/D*</a:t>
            </a:r>
          </a:p>
        </ns0:txBody>
      </ns0:sp>
      <ns0:sp>
        <ns0:nvSpPr>
          <ns0:cNvPr id="47" name="mvp-card-structural_mvp_agro_revenda-51554551000138">
            <a:extLst>
              <a:ext uri="{FF2B5EF4-FFF2-40B4-BE49-F238E27FC236}">
                <ns2:creationId id="{BEC40F5B-4730-41A6-8488-DAAFE69319B1}"/>
              </a:ext>
            </a:extLst>
          </ns0:cNvPr>
          <ns0:cNvSpPr>
            <a:spLocks noGrp="1"/>
          </ns0:cNvSpPr>
          <ns0:nvPr/>
        </ns0:nvSpPr>
        <ns0:spPr>
          <a:xfrm>
            <a:off x="9842500" y="4010025"/>
            <a:ext cx="1778000" cy="438150"/>
          </a:xfrm>
          <a:prstGeom prst="rect">
            <a:avLst/>
          </a:prstGeom>
          <a:solidFill>
            <a:srgbClr val="EAF0F7"/>
          </a:solidFill>
          <a:ln w="9525">
            <a:solidFill>
              <a:srgbClr val="AFC5DD"/>
            </a:solidFill>
            <a:prstDash val="solid"/>
          </a:ln>
        </ns0:spPr>
        <ns0:txBody>
          <a:bodyPr wrap="none" lIns="47625" tIns="28575" rIns="47625" bIns="28575" anchor="ctr">
            <a:normAutofit fontScale="87719"/>
          </a:bodyPr>
          <a:lstStyle/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CLASSE ÚNICA DO FIDC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R$ 64,5 mi · Sub atual 100,0%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Jr N/D · Estr. 25,0%*</a:t>
            </a:r>
          </a:p>
        </ns0:txBody>
      </ns0:sp>
      <ns0:sp>
        <ns0:nvSpPr>
          <ns0:cNvPr id="48" name="mvp-card-structural_mvp_agro_revenda-47151680000108">
            <a:extLst>
              <a:ext uri="{FF2B5EF4-FFF2-40B4-BE49-F238E27FC236}">
                <ns2:creationId id="{AFDE0F0F-1570-4515-85EA-F1B825768F25}"/>
              </a:ext>
            </a:extLst>
          </ns0:cNvPr>
          <ns0:cNvSpPr>
            <a:spLocks noGrp="1"/>
          </ns0:cNvSpPr>
          <ns0:nvPr/>
        </ns0:nvSpPr>
        <ns0:spPr>
          <a:xfrm>
            <a:off x="9842500" y="4467225"/>
            <a:ext cx="1778000" cy="438150"/>
          </a:xfrm>
          <a:prstGeom prst="rect">
            <a:avLst/>
          </a:prstGeom>
          <a:solidFill>
            <a:srgbClr val="EAF0F7"/>
          </a:solidFill>
          <a:ln w="9525">
            <a:solidFill>
              <a:srgbClr val="AFC5DD"/>
            </a:solidFill>
            <a:prstDash val="solid"/>
          </a:ln>
        </ns0:spPr>
        <ns0:txBody>
          <a:bodyPr wrap="none" lIns="47625" tIns="28575" rIns="47625" bIns="28575" anchor="ctr">
            <a:normAutofit fontScale="87719"/>
          </a:bodyPr>
          <a:lstStyle/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FARM TECH IBBA I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R$ 9,4 mi · Sub atual 100,1%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Jr N/D · Estr. 20,0%*</a:t>
            </a:r>
          </a:p>
        </ns0:txBody>
      </ns0:sp>
      <ns0:sp>
        <ns0:nvSpPr>
          <ns0:cNvPr id="49" name="mvp-card-structural_mvp_agro_revenda-43616659000180">
            <a:extLst>
              <a:ext uri="{FF2B5EF4-FFF2-40B4-BE49-F238E27FC236}">
                <ns2:creationId id="{F21DDD18-FD2F-411A-A095-1474BA5A31BD}"/>
              </a:ext>
            </a:extLst>
          </ns0:cNvPr>
          <ns0:cNvSpPr>
            <a:spLocks noGrp="1"/>
          </ns0:cNvSpPr>
          <ns0:nvPr/>
        </ns0:nvSpPr>
        <ns0:spPr>
          <a:xfrm>
            <a:off x="9842500" y="4924425"/>
            <a:ext cx="1778000" cy="438150"/>
          </a:xfrm>
          <a:prstGeom prst="rect">
            <a:avLst/>
          </a:prstGeom>
          <a:solidFill>
            <a:srgbClr val="EAF0F7"/>
          </a:solidFill>
          <a:ln w="9525">
            <a:solidFill>
              <a:srgbClr val="AFC5DD"/>
            </a:solidFill>
            <a:prstDash val="solid"/>
          </a:ln>
        </ns0:spPr>
        <ns0:txBody>
          <a:bodyPr wrap="none" lIns="47625" tIns="28575" rIns="47625" bIns="28575" anchor="ctr">
            <a:normAutofit fontScale="87719"/>
          </a:bodyPr>
          <a:lstStyle/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TALÓ 1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R$ 7,0 mi · Sub atual 100,0%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Jr N/D · Estr. 25,0%*</a:t>
            </a:r>
          </a:p>
        </ns0:txBody>
      </ns0:sp>
      <ns0:sp>
        <ns0:nvSpPr>
          <ns0:cNvPr id="50" name="">
            <a:extLst>
              <a:ext uri="{FF2B5EF4-FFF2-40B4-BE49-F238E27FC236}">
                <ns2:creationId id="{976A4F1C-18A6-48CE-B35E-1078E85B90BE}"/>
              </a:ext>
            </a:extLst>
          </ns0:cNvPr>
          <ns0:cNvSpPr>
            <a:spLocks noGrp="1"/>
          </ns0:cNvSpPr>
          <ns0:nvPr/>
        </ns0:nvSpPr>
        <ns0:spPr>
          <a:xfrm>
            <a:off x="571500" y="5981700"/>
            <a:ext cx="11049000" cy="2952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88796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Vinho = abaixo do mínimo estrutural · âmbar = até 2 p.p. acima · azul = mais de 2 p.p. acima · cinza = estrutura incomparável. * Categoria editorial ou piso total, combinado, calculado, ajustado ou sem equivalência direta.</a:t>
            </a:r>
          </a:p>
        </ns0:txBody>
      </ns0:sp>
    </ns0:spTree>
    <ns0:extLst>
      <ns0:ext uri="{BB962C8B-B14F-4D97-AF65-F5344CB8AC3E}">
        <ns3:creationId val="1452942811"/>
      </ns0:ext>
    </ns0:extLst>
  </ns0:cSld>
</ns0:sld>
</file>

<file path=ppt/slides/slide21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32" name="">
            <a:extLst>
              <a:ext uri="{FF2B5EF4-FFF2-40B4-BE49-F238E27FC236}">
                <ns2:creationId id="{62D036B3-3285-46FC-A74C-1E768F5E187B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RISCO ESTRUTURAL · CARTEIRA I · CONSIGNADO INSS E FGTS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CA16178B-86E0-4F93-9175-D5D30BBAC14D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"/>
            <a:ext cx="11049000" cy="4667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91523"/>
          </a:bodyPr>
          <a:lstStyle/>
          <a:p>
            <a:pPr algn="l">
              <a:lnSpc>
                <a:spcPct val="100000"/>
              </a:lnSpc>
              <a:buNone/>
              <a:defRPr sz="18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8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Consignado INSS e FGTS | Sub atual e mínimos documentais por veículo; 9 estruturas exigem leitura separada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DE11FB02-19AA-484F-992F-84714D4F6934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FD79D2A5-CA7E-4712-8E17-7FDA0E652968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CB6D6A60-9205-4478-910D-61077E0381A8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CVM, Informe Mensal, jun/26; pisos em regulamentos FundosNet/B3. Lacunas ficam fora do slide e permanecem no workbook/explorador.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9A0BBC94-EB99-41E2-98F7-07A19EF99F3B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21</a:t>
            </a:r>
          </a:p>
        </ns0:txBody>
      </ns0:sp>
      <ns0:sp>
        <ns0:nvSpPr>
          <ns0:cNvPr id="7" name="mvp-summary-structural_mvp_consignado-1">
            <a:extLst>
              <a:ext uri="{FF2B5EF4-FFF2-40B4-BE49-F238E27FC236}">
                <ns2:creationId id="{FAA7B7FF-D575-499E-8566-004B2D056169}"/>
              </a:ext>
            </a:extLst>
          </ns0:cNvPr>
          <ns0:cNvSpPr>
            <a:spLocks noGrp="1"/>
          </ns0:cNvSpPr>
          <ns0:nvPr/>
        </ns0:nvSpPr>
        <ns0:spPr>
          <a:xfrm>
            <a:off x="571500" y="1152525"/>
            <a:ext cx="3143250" cy="609600"/>
          </a:xfrm>
          <a:prstGeom prst="rect">
            <a:avLst/>
          </a:prstGeom>
          <a:solidFill>
            <a:srgbClr val="EAF0F7"/>
          </a:solidFill>
          <a:ln w="0">
            <a:solidFill>
              <a:srgbClr val="EAF0F7"/>
            </a:solidFill>
            <a:prstDash val="solid"/>
          </a:ln>
        </ns0:spPr>
        <ns0:txBody>
          <a:bodyPr wrap="square" lIns="95250" tIns="66675" rIns="95250" bIns="66675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COBERTURA DO SLIDE</a:t>
            </a:r>
          </a:p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9/11 CNPJs · R$ 7,2 bi de R$ 10,3 bi</a:t>
            </a:r>
          </a:p>
        </ns0:txBody>
      </ns0:sp>
      <ns0:sp>
        <ns0:nvSpPr>
          <ns0:cNvPr id="8" name="mvp-summary-structural_mvp_consignado-2">
            <a:extLst>
              <a:ext uri="{FF2B5EF4-FFF2-40B4-BE49-F238E27FC236}">
                <ns2:creationId id="{67D84D70-8F42-43F8-8D82-2C447D6EA7FD}"/>
              </a:ext>
            </a:extLst>
          </ns0:cNvPr>
          <ns0:cNvSpPr>
            <a:spLocks noGrp="1"/>
          </ns0:cNvSpPr>
          <ns0:nvPr/>
        </ns0:nvSpPr>
        <ns0:spPr>
          <a:xfrm>
            <a:off x="3810000" y="1152525"/>
            <a:ext cx="4810125" cy="609600"/>
          </a:xfrm>
          <a:prstGeom prst="rect">
            <a:avLst/>
          </a:prstGeom>
          <a:solidFill>
            <a:srgbClr val="FFFFFF"/>
          </a:solidFill>
          <a:ln w="9525">
            <a:solidFill>
              <a:srgbClr val="AFC5DD"/>
            </a:solidFill>
            <a:prstDash val="solid"/>
          </a:ln>
        </ns0:spPr>
        <ns0:txBody>
          <a:bodyPr wrap="square" lIns="95250" tIns="66675" rIns="95250" bIns="66675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REFERÊNCIA DE MERCADO · SUB/PL ATUAL</a:t>
            </a:r>
          </a:p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INSS carteira 14,9% vs. pares 16,1% | FGTS carteira 18,3% vs. pares 17,2%</a:t>
            </a:r>
          </a:p>
        </ns0:txBody>
      </ns0:sp>
      <ns0:sp>
        <ns0:nvSpPr>
          <ns0:cNvPr id="9" name="mvp-summary-structural_mvp_consignado-3">
            <a:extLst>
              <a:ext uri="{FF2B5EF4-FFF2-40B4-BE49-F238E27FC236}">
                <ns2:creationId id="{25AA5FC9-FFAE-4196-9C6E-AFCE7AC14882}"/>
              </a:ext>
            </a:extLst>
          </ns0:cNvPr>
          <ns0:cNvSpPr>
            <a:spLocks noGrp="1"/>
          </ns0:cNvSpPr>
          <ns0:nvPr/>
        </ns0:nvSpPr>
        <ns0:spPr>
          <a:xfrm>
            <a:off x="8715375" y="1152525"/>
            <a:ext cx="2905125" cy="609600"/>
          </a:xfrm>
          <a:prstGeom prst="rect">
            <a:avLst/>
          </a:prstGeom>
          <a:solidFill>
            <a:srgbClr val="FFF1E6"/>
          </a:solidFill>
          <a:ln w="0">
            <a:solidFill>
              <a:srgbClr val="FFF1E6"/>
            </a:solidFill>
            <a:prstDash val="solid"/>
          </a:ln>
        </ns0:spPr>
        <ns0:txBody>
          <a:bodyPr wrap="square" lIns="95250" tIns="66675" rIns="95250" bIns="66675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7A1F3D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7A1F3D"/>
                </a:solidFill>
                <a:latin typeface="Arial"/>
                <a:ea typeface="Arial"/>
                <a:cs typeface="Arial"/>
              </a:rPr>
              <a:t>LEITURA RELATIVA</a:t>
            </a:r>
          </a:p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7A1F3D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7A1F3D"/>
                </a:solidFill>
                <a:latin typeface="Arial"/>
                <a:ea typeface="Arial"/>
                <a:cs typeface="Arial"/>
              </a:rPr>
              <a:t>≈ Em linha nos dois grupos</a:t>
            </a:r>
          </a:p>
        </ns0:txBody>
      </ns0:sp>
      <ns0:sp>
        <ns0:nvSpPr>
          <ns0:cNvPr id="10" name="mvp-band-structural_mvp_consignado-1">
            <a:extLst>
              <a:ext uri="{FF2B5EF4-FFF2-40B4-BE49-F238E27FC236}">
                <ns2:creationId id="{F8D6D31F-05BE-41A6-8427-244BC204165D}"/>
              </a:ext>
            </a:extLst>
          </ns0:cNvPr>
          <ns0:cNvSpPr>
            <a:spLocks noGrp="1"/>
          </ns0:cNvSpPr>
          <ns0:nvPr/>
        </ns0:nvSpPr>
        <ns0:spPr>
          <a:xfrm>
            <a:off x="571500" y="1885950"/>
            <a:ext cx="17780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105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5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&lt; 10%</a:t>
            </a:r>
          </a:p>
        </ns0:txBody>
      </ns0:sp>
      <ns0:sp>
        <ns0:nvSpPr>
          <ns0:cNvPr id="11" name="">
            <a:extLst>
              <a:ext uri="{FF2B5EF4-FFF2-40B4-BE49-F238E27FC236}">
                <ns2:creationId id="{D08191E1-873C-4538-ADA3-DCBAD480A997}"/>
              </a:ext>
            </a:extLst>
          </ns0:cNvPr>
          <ns0:cNvSpPr>
            <a:spLocks noGrp="1"/>
          </ns0:cNvSpPr>
          <ns0:nvPr/>
        </ns0:nvSpPr>
        <ns0:spPr>
          <a:xfrm>
            <a:off x="571500" y="2114550"/>
            <a:ext cx="1778000" cy="19050"/>
          </a:xfrm>
          <a:prstGeom prst="rect">
            <a:avLst/>
          </a:prstGeom>
          <a:solidFill>
            <a:srgbClr val="002B5C"/>
          </a:solidFill>
          <a:ln w="0">
            <a:noFill/>
            <a:prstDash val="solid"/>
          </a:ln>
        </ns0:spPr>
      </ns0:sp>
      <ns0:sp>
        <ns0:nvSpPr>
          <ns0:cNvPr id="12" name="mvp-band-structural_mvp_consignado-2">
            <a:extLst>
              <a:ext uri="{FF2B5EF4-FFF2-40B4-BE49-F238E27FC236}">
                <ns2:creationId id="{0BEBE131-D3BC-49C2-9CC7-BAC8CC703028}"/>
              </a:ext>
            </a:extLst>
          </ns0:cNvPr>
          <ns0:cNvSpPr>
            <a:spLocks noGrp="1"/>
          </ns0:cNvSpPr>
          <ns0:nvPr/>
        </ns0:nvSpPr>
        <ns0:spPr>
          <a:xfrm>
            <a:off x="2425700" y="1885950"/>
            <a:ext cx="17780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105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5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10%–15%</a:t>
            </a:r>
          </a:p>
        </ns0:txBody>
      </ns0:sp>
      <ns0:sp>
        <ns0:nvSpPr>
          <ns0:cNvPr id="13" name="">
            <a:extLst>
              <a:ext uri="{FF2B5EF4-FFF2-40B4-BE49-F238E27FC236}">
                <ns2:creationId id="{BB8B9893-E150-4C42-9FA5-07A6D8F7B54B}"/>
              </a:ext>
            </a:extLst>
          </ns0:cNvPr>
          <ns0:cNvSpPr>
            <a:spLocks noGrp="1"/>
          </ns0:cNvSpPr>
          <ns0:nvPr/>
        </ns0:nvSpPr>
        <ns0:spPr>
          <a:xfrm>
            <a:off x="2425700" y="2114550"/>
            <a:ext cx="1778000" cy="19050"/>
          </a:xfrm>
          <a:prstGeom prst="rect">
            <a:avLst/>
          </a:prstGeom>
          <a:solidFill>
            <a:srgbClr val="002B5C"/>
          </a:solidFill>
          <a:ln w="0">
            <a:noFill/>
            <a:prstDash val="solid"/>
          </a:ln>
        </ns0:spPr>
      </ns0:sp>
      <ns0:sp>
        <ns0:nvSpPr>
          <ns0:cNvPr id="14" name="mvp-card-structural_mvp_consignado-63546406000194">
            <a:extLst>
              <a:ext uri="{FF2B5EF4-FFF2-40B4-BE49-F238E27FC236}">
                <ns2:creationId id="{008ADF91-22AA-44D2-984B-2BD6CB213820}"/>
              </a:ext>
            </a:extLst>
          </ns0:cNvPr>
          <ns0:cNvSpPr>
            <a:spLocks noGrp="1"/>
          </ns0:cNvSpPr>
          <ns0:nvPr/>
        </ns0:nvSpPr>
        <ns0:spPr>
          <a:xfrm>
            <a:off x="2425700" y="2181225"/>
            <a:ext cx="1778000" cy="438150"/>
          </a:xfrm>
          <a:prstGeom prst="rect">
            <a:avLst/>
          </a:prstGeom>
          <a:solidFill>
            <a:srgbClr val="F5F6F7"/>
          </a:solidFill>
          <a:ln w="9525">
            <a:solidFill>
              <a:srgbClr val="B8BDC2"/>
            </a:solidFill>
            <a:prstDash val="solid"/>
          </a:ln>
        </ns0:spPr>
        <ns0:txBody>
          <a:bodyPr wrap="none" lIns="47625" tIns="28575" rIns="47625" bIns="28575" anchor="ctr">
            <a:normAutofit fontScale="87719"/>
          </a:bodyPr>
          <a:lstStyle/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PINE INSS III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R$ 1,2 bi · Sub atual 14,9%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Jr 1,5% · Estr. N/D*</a:t>
            </a:r>
          </a:p>
        </ns0:txBody>
      </ns0:sp>
      <ns0:sp>
        <ns0:nvSpPr>
          <ns0:cNvPr id="15" name="mvp-card-structural_mvp_consignado-65347578000164">
            <a:extLst>
              <a:ext uri="{FF2B5EF4-FFF2-40B4-BE49-F238E27FC236}">
                <ns2:creationId id="{D1F22935-1E7E-4573-8D1A-0F03D86BFB01}"/>
              </a:ext>
            </a:extLst>
          </ns0:cNvPr>
          <ns0:cNvSpPr>
            <a:spLocks noGrp="1"/>
          </ns0:cNvSpPr>
          <ns0:nvPr/>
        </ns0:nvSpPr>
        <ns0:spPr>
          <a:xfrm>
            <a:off x="2425700" y="2638425"/>
            <a:ext cx="1778000" cy="438150"/>
          </a:xfrm>
          <a:prstGeom prst="rect">
            <a:avLst/>
          </a:prstGeom>
          <a:solidFill>
            <a:srgbClr val="F5F6F7"/>
          </a:solidFill>
          <a:ln w="9525">
            <a:solidFill>
              <a:srgbClr val="B8BDC2"/>
            </a:solidFill>
            <a:prstDash val="solid"/>
          </a:ln>
        </ns0:spPr>
        <ns0:txBody>
          <a:bodyPr wrap="none" lIns="47625" tIns="28575" rIns="47625" bIns="28575" anchor="ctr">
            <a:normAutofit fontScale="87719"/>
          </a:bodyPr>
          <a:lstStyle/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ICRED INSS III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R$ 664,8 mi · Sub atual 13,5%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Jr 2,5% · Estr. N/D*</a:t>
            </a:r>
          </a:p>
        </ns0:txBody>
      </ns0:sp>
      <ns0:sp>
        <ns0:nvSpPr>
          <ns0:cNvPr id="16" name="mvp-band-structural_mvp_consignado-3">
            <a:extLst>
              <a:ext uri="{FF2B5EF4-FFF2-40B4-BE49-F238E27FC236}">
                <ns2:creationId id="{43EECF1E-974A-4237-8326-5D24360137F3}"/>
              </a:ext>
            </a:extLst>
          </ns0:cNvPr>
          <ns0:cNvSpPr>
            <a:spLocks noGrp="1"/>
          </ns0:cNvSpPr>
          <ns0:nvPr/>
        </ns0:nvSpPr>
        <ns0:spPr>
          <a:xfrm>
            <a:off x="4279900" y="1885950"/>
            <a:ext cx="17780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105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5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15%–20%</a:t>
            </a:r>
          </a:p>
        </ns0:txBody>
      </ns0:sp>
      <ns0:sp>
        <ns0:nvSpPr>
          <ns0:cNvPr id="17" name="">
            <a:extLst>
              <a:ext uri="{FF2B5EF4-FFF2-40B4-BE49-F238E27FC236}">
                <ns2:creationId id="{4B238C3D-29AA-4ED4-9FEB-6E7CEEC7713E}"/>
              </a:ext>
            </a:extLst>
          </ns0:cNvPr>
          <ns0:cNvSpPr>
            <a:spLocks noGrp="1"/>
          </ns0:cNvSpPr>
          <ns0:nvPr/>
        </ns0:nvSpPr>
        <ns0:spPr>
          <a:xfrm>
            <a:off x="4279900" y="2114550"/>
            <a:ext cx="1778000" cy="19050"/>
          </a:xfrm>
          <a:prstGeom prst="rect">
            <a:avLst/>
          </a:prstGeom>
          <a:solidFill>
            <a:srgbClr val="002B5C"/>
          </a:solidFill>
          <a:ln w="0">
            <a:noFill/>
            <a:prstDash val="solid"/>
          </a:ln>
        </ns0:spPr>
      </ns0:sp>
      <ns0:sp>
        <ns0:nvSpPr>
          <ns0:cNvPr id="18" name="mvp-card-structural_mvp_consignado-65976848000104">
            <a:extLst>
              <a:ext uri="{FF2B5EF4-FFF2-40B4-BE49-F238E27FC236}">
                <ns2:creationId id="{C9C777A1-3260-4640-BE0F-C640085883F3}"/>
              </a:ext>
            </a:extLst>
          </ns0:cNvPr>
          <ns0:cNvSpPr>
            <a:spLocks noGrp="1"/>
          </ns0:cNvSpPr>
          <ns0:nvPr/>
        </ns0:nvSpPr>
        <ns0:spPr>
          <a:xfrm>
            <a:off x="4279900" y="2181225"/>
            <a:ext cx="1778000" cy="438150"/>
          </a:xfrm>
          <a:prstGeom prst="rect">
            <a:avLst/>
          </a:prstGeom>
          <a:solidFill>
            <a:srgbClr val="F5F6F7"/>
          </a:solidFill>
          <a:ln w="9525">
            <a:solidFill>
              <a:srgbClr val="B8BDC2"/>
            </a:solidFill>
            <a:prstDash val="solid"/>
          </a:ln>
        </ns0:spPr>
        <ns0:txBody>
          <a:bodyPr wrap="none" lIns="47625" tIns="28575" rIns="47625" bIns="28575" anchor="ctr">
            <a:normAutofit fontScale="87719"/>
          </a:bodyPr>
          <a:lstStyle/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AGIBANK II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R$ 3,0 bi · Sub atual 15,2%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Jr 5,0% · Estr. N/D*</a:t>
            </a:r>
          </a:p>
        </ns0:txBody>
      </ns0:sp>
      <ns0:sp>
        <ns0:nvSpPr>
          <ns0:cNvPr id="19" name="mvp-card-structural_mvp_consignado-54810968000102">
            <a:extLst>
              <a:ext uri="{FF2B5EF4-FFF2-40B4-BE49-F238E27FC236}">
                <ns2:creationId id="{E49F4FEC-BA7F-42D1-8279-86165E8B7EEA}"/>
              </a:ext>
            </a:extLst>
          </ns0:cNvPr>
          <ns0:cNvSpPr>
            <a:spLocks noGrp="1"/>
          </ns0:cNvSpPr>
          <ns0:nvPr/>
        </ns0:nvSpPr>
        <ns0:spPr>
          <a:xfrm>
            <a:off x="4279900" y="2638425"/>
            <a:ext cx="1778000" cy="438150"/>
          </a:xfrm>
          <a:prstGeom prst="rect">
            <a:avLst/>
          </a:prstGeom>
          <a:solidFill>
            <a:srgbClr val="F5F6F7"/>
          </a:solidFill>
          <a:ln w="9525">
            <a:solidFill>
              <a:srgbClr val="B8BDC2"/>
            </a:solidFill>
            <a:prstDash val="solid"/>
          </a:ln>
        </ns0:spPr>
        <ns0:txBody>
          <a:bodyPr wrap="none" lIns="47625" tIns="28575" rIns="47625" bIns="28575" anchor="ctr">
            <a:normAutofit fontScale="87719"/>
          </a:bodyPr>
          <a:lstStyle/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ANGÁ FGTS III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R$ 965,3 mi · Sub atual 16,1%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Jr 5,0% · Estr. N/D*</a:t>
            </a:r>
          </a:p>
        </ns0:txBody>
      </ns0:sp>
      <ns0:sp>
        <ns0:nvSpPr>
          <ns0:cNvPr id="20" name="mvp-card-structural_mvp_consignado-54464892000100">
            <a:extLst>
              <a:ext uri="{FF2B5EF4-FFF2-40B4-BE49-F238E27FC236}">
                <ns2:creationId id="{CAE83B1D-C05B-4D42-A3CF-CEADE6F1199F}"/>
              </a:ext>
            </a:extLst>
          </ns0:cNvPr>
          <ns0:cNvSpPr>
            <a:spLocks noGrp="1"/>
          </ns0:cNvSpPr>
          <ns0:nvPr/>
        </ns0:nvSpPr>
        <ns0:spPr>
          <a:xfrm>
            <a:off x="4279900" y="3095625"/>
            <a:ext cx="1778000" cy="438150"/>
          </a:xfrm>
          <a:prstGeom prst="rect">
            <a:avLst/>
          </a:prstGeom>
          <a:solidFill>
            <a:srgbClr val="F5F6F7"/>
          </a:solidFill>
          <a:ln w="9525">
            <a:solidFill>
              <a:srgbClr val="B8BDC2"/>
            </a:solidFill>
            <a:prstDash val="solid"/>
          </a:ln>
        </ns0:spPr>
        <ns0:txBody>
          <a:bodyPr wrap="none" lIns="47625" tIns="28575" rIns="47625" bIns="28575" anchor="ctr">
            <a:normAutofit fontScale="87719"/>
          </a:bodyPr>
          <a:lstStyle/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MT FGTS RECEIVABLES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R$ 697,5 mi · Sub atual 19,4%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Jr 3,5% · Estr. N/D*</a:t>
            </a:r>
          </a:p>
        </ns0:txBody>
      </ns0:sp>
      <ns0:sp>
        <ns0:nvSpPr>
          <ns0:cNvPr id="21" name="mvp-card-structural_mvp_consignado-55401645000128">
            <a:extLst>
              <a:ext uri="{FF2B5EF4-FFF2-40B4-BE49-F238E27FC236}">
                <ns2:creationId id="{DDF3A631-448B-4074-BBF8-3CF4ACFB33ED}"/>
              </a:ext>
            </a:extLst>
          </ns0:cNvPr>
          <ns0:cNvSpPr>
            <a:spLocks noGrp="1"/>
          </ns0:cNvSpPr>
          <ns0:nvPr/>
        </ns0:nvSpPr>
        <ns0:spPr>
          <a:xfrm>
            <a:off x="4279900" y="3552825"/>
            <a:ext cx="1778000" cy="438150"/>
          </a:xfrm>
          <a:prstGeom prst="rect">
            <a:avLst/>
          </a:prstGeom>
          <a:solidFill>
            <a:srgbClr val="F5F6F7"/>
          </a:solidFill>
          <a:ln w="9525">
            <a:solidFill>
              <a:srgbClr val="B8BDC2"/>
            </a:solidFill>
            <a:prstDash val="solid"/>
          </a:ln>
        </ns0:spPr>
        <ns0:txBody>
          <a:bodyPr wrap="none" lIns="47625" tIns="28575" rIns="47625" bIns="28575" anchor="ctr">
            <a:normAutofit fontScale="87719"/>
          </a:bodyPr>
          <a:lstStyle/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QUATÁ FDC FGTS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R$ 225,0 mi · Sub atual 17,3%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Jr 3,0% · Estr. N/D*</a:t>
            </a:r>
          </a:p>
        </ns0:txBody>
      </ns0:sp>
      <ns0:sp>
        <ns0:nvSpPr>
          <ns0:cNvPr id="22" name="mvp-card-structural_mvp_consignado-54252144000164">
            <a:extLst>
              <a:ext uri="{FF2B5EF4-FFF2-40B4-BE49-F238E27FC236}">
                <ns2:creationId id="{5AC1B1C0-5809-49DB-93C7-2C8AE87CFFD0}"/>
              </a:ext>
            </a:extLst>
          </ns0:cNvPr>
          <ns0:cNvSpPr>
            <a:spLocks noGrp="1"/>
          </ns0:cNvSpPr>
          <ns0:nvPr/>
        </ns0:nvSpPr>
        <ns0:spPr>
          <a:xfrm>
            <a:off x="4279900" y="4010025"/>
            <a:ext cx="1778000" cy="438150"/>
          </a:xfrm>
          <a:prstGeom prst="rect">
            <a:avLst/>
          </a:prstGeom>
          <a:solidFill>
            <a:srgbClr val="F5F6F7"/>
          </a:solidFill>
          <a:ln w="9525">
            <a:solidFill>
              <a:srgbClr val="B8BDC2"/>
            </a:solidFill>
            <a:prstDash val="solid"/>
          </a:ln>
        </ns0:spPr>
        <ns0:txBody>
          <a:bodyPr wrap="none" lIns="47625" tIns="28575" rIns="47625" bIns="28575" anchor="ctr">
            <a:normAutofit fontScale="87719"/>
          </a:bodyPr>
          <a:lstStyle/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J17 FGTS FINANCEIRO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R$ 213,6 mi · Sub atual 15,0%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Jr 5,0% · Estr. N/D*</a:t>
            </a:r>
          </a:p>
        </ns0:txBody>
      </ns0:sp>
      <ns0:sp>
        <ns0:nvSpPr>
          <ns0:cNvPr id="23" name="mvp-band-structural_mvp_consignado-4">
            <a:extLst>
              <a:ext uri="{FF2B5EF4-FFF2-40B4-BE49-F238E27FC236}">
                <ns2:creationId id="{C5B87B36-7B3D-463A-988E-7750DB33E7D6}"/>
              </a:ext>
            </a:extLst>
          </ns0:cNvPr>
          <ns0:cNvSpPr>
            <a:spLocks noGrp="1"/>
          </ns0:cNvSpPr>
          <ns0:nvPr/>
        </ns0:nvSpPr>
        <ns0:spPr>
          <a:xfrm>
            <a:off x="6134100" y="1885950"/>
            <a:ext cx="17780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105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5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20%–35%</a:t>
            </a:r>
          </a:p>
        </ns0:txBody>
      </ns0:sp>
      <ns0:sp>
        <ns0:nvSpPr>
          <ns0:cNvPr id="24" name="">
            <a:extLst>
              <a:ext uri="{FF2B5EF4-FFF2-40B4-BE49-F238E27FC236}">
                <ns2:creationId id="{5915DCF2-2EE1-46AE-A105-4A7177BB8DA9}"/>
              </a:ext>
            </a:extLst>
          </ns0:cNvPr>
          <ns0:cNvSpPr>
            <a:spLocks noGrp="1"/>
          </ns0:cNvSpPr>
          <ns0:nvPr/>
        </ns0:nvSpPr>
        <ns0:spPr>
          <a:xfrm>
            <a:off x="6134100" y="2114550"/>
            <a:ext cx="1778000" cy="19050"/>
          </a:xfrm>
          <a:prstGeom prst="rect">
            <a:avLst/>
          </a:prstGeom>
          <a:solidFill>
            <a:srgbClr val="002B5C"/>
          </a:solidFill>
          <a:ln w="0">
            <a:noFill/>
            <a:prstDash val="solid"/>
          </a:ln>
        </ns0:spPr>
      </ns0:sp>
      <ns0:sp>
        <ns0:nvSpPr>
          <ns0:cNvPr id="25" name="mvp-card-structural_mvp_consignado-53577135000180">
            <a:extLst>
              <a:ext uri="{FF2B5EF4-FFF2-40B4-BE49-F238E27FC236}">
                <ns2:creationId id="{213FB434-28E0-4985-A7BF-E45E80AFC534}"/>
              </a:ext>
            </a:extLst>
          </ns0:cNvPr>
          <ns0:cNvSpPr>
            <a:spLocks noGrp="1"/>
          </ns0:cNvSpPr>
          <ns0:nvPr/>
        </ns0:nvSpPr>
        <ns0:spPr>
          <a:xfrm>
            <a:off x="6134100" y="2181225"/>
            <a:ext cx="1778000" cy="438150"/>
          </a:xfrm>
          <a:prstGeom prst="rect">
            <a:avLst/>
          </a:prstGeom>
          <a:solidFill>
            <a:srgbClr val="F5F6F7"/>
          </a:solidFill>
          <a:ln w="9525">
            <a:solidFill>
              <a:srgbClr val="B8BDC2"/>
            </a:solidFill>
            <a:prstDash val="solid"/>
          </a:ln>
        </ns0:spPr>
        <ns0:txBody>
          <a:bodyPr wrap="none" lIns="47625" tIns="28575" rIns="47625" bIns="28575" anchor="ctr">
            <a:normAutofit fontScale="87719"/>
          </a:bodyPr>
          <a:lstStyle/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ANGÁ FGTS II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R$ 249,7 mi · Sub atual 22,0%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Jr 15,0% · Estr. N/D*</a:t>
            </a:r>
          </a:p>
        </ns0:txBody>
      </ns0:sp>
      <ns0:sp>
        <ns0:nvSpPr>
          <ns0:cNvPr id="26" name="mvp-card-structural_mvp_consignado-53270983000142">
            <a:extLst>
              <a:ext uri="{FF2B5EF4-FFF2-40B4-BE49-F238E27FC236}">
                <ns2:creationId id="{821EAA38-EE91-4C7D-BE8A-B6F374F63FDF}"/>
              </a:ext>
            </a:extLst>
          </ns0:cNvPr>
          <ns0:cNvSpPr>
            <a:spLocks noGrp="1"/>
          </ns0:cNvSpPr>
          <ns0:nvPr/>
        </ns0:nvSpPr>
        <ns0:spPr>
          <a:xfrm>
            <a:off x="6134100" y="2638425"/>
            <a:ext cx="1778000" cy="438150"/>
          </a:xfrm>
          <a:prstGeom prst="rect">
            <a:avLst/>
          </a:prstGeom>
          <a:solidFill>
            <a:srgbClr val="F5F6F7"/>
          </a:solidFill>
          <a:ln w="9525">
            <a:solidFill>
              <a:srgbClr val="B8BDC2"/>
            </a:solidFill>
            <a:prstDash val="solid"/>
          </a:ln>
        </ns0:spPr>
        <ns0:txBody>
          <a:bodyPr wrap="none" lIns="47625" tIns="28575" rIns="47625" bIns="28575" anchor="ctr">
            <a:normAutofit fontScale="87719"/>
          </a:bodyPr>
          <a:lstStyle/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ANGÁ FGTS +AG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R$ 71,1 mi · Sub atual 20,2%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Jr 8,0% · Estr. N/D*</a:t>
            </a:r>
          </a:p>
        </ns0:txBody>
      </ns0:sp>
      <ns0:sp>
        <ns0:nvSpPr>
          <ns0:cNvPr id="27" name="mvp-band-structural_mvp_consignado-5">
            <a:extLst>
              <a:ext uri="{FF2B5EF4-FFF2-40B4-BE49-F238E27FC236}">
                <ns2:creationId id="{4DAC837E-C143-40D3-B88B-2C0824853883}"/>
              </a:ext>
            </a:extLst>
          </ns0:cNvPr>
          <ns0:cNvSpPr>
            <a:spLocks noGrp="1"/>
          </ns0:cNvSpPr>
          <ns0:nvPr/>
        </ns0:nvSpPr>
        <ns0:spPr>
          <a:xfrm>
            <a:off x="7988300" y="1885950"/>
            <a:ext cx="17780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105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5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35%–60%</a:t>
            </a:r>
          </a:p>
        </ns0:txBody>
      </ns0:sp>
      <ns0:sp>
        <ns0:nvSpPr>
          <ns0:cNvPr id="28" name="">
            <a:extLst>
              <a:ext uri="{FF2B5EF4-FFF2-40B4-BE49-F238E27FC236}">
                <ns2:creationId id="{AD454C69-CD8B-41BD-A468-37ABB9C5A3AF}"/>
              </a:ext>
            </a:extLst>
          </ns0:cNvPr>
          <ns0:cNvSpPr>
            <a:spLocks noGrp="1"/>
          </ns0:cNvSpPr>
          <ns0:nvPr/>
        </ns0:nvSpPr>
        <ns0:spPr>
          <a:xfrm>
            <a:off x="7988300" y="2114550"/>
            <a:ext cx="1778000" cy="19050"/>
          </a:xfrm>
          <a:prstGeom prst="rect">
            <a:avLst/>
          </a:prstGeom>
          <a:solidFill>
            <a:srgbClr val="002B5C"/>
          </a:solidFill>
          <a:ln w="0">
            <a:noFill/>
            <a:prstDash val="solid"/>
          </a:ln>
        </ns0:spPr>
      </ns0:sp>
      <ns0:sp>
        <ns0:nvSpPr>
          <ns0:cNvPr id="29" name="mvp-band-structural_mvp_consignado-6">
            <a:extLst>
              <a:ext uri="{FF2B5EF4-FFF2-40B4-BE49-F238E27FC236}">
                <ns2:creationId id="{510854A1-5E6F-4927-B315-5FC46964CD5D}"/>
              </a:ext>
            </a:extLst>
          </ns0:cNvPr>
          <ns0:cNvSpPr>
            <a:spLocks noGrp="1"/>
          </ns0:cNvSpPr>
          <ns0:nvPr/>
        </ns0:nvSpPr>
        <ns0:spPr>
          <a:xfrm>
            <a:off x="9842500" y="1885950"/>
            <a:ext cx="17780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105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5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≥ 60%</a:t>
            </a:r>
          </a:p>
        </ns0:txBody>
      </ns0:sp>
      <ns0:sp>
        <ns0:nvSpPr>
          <ns0:cNvPr id="30" name="">
            <a:extLst>
              <a:ext uri="{FF2B5EF4-FFF2-40B4-BE49-F238E27FC236}">
                <ns2:creationId id="{CFBBE895-8364-4976-90E4-A3282E2034D9}"/>
              </a:ext>
            </a:extLst>
          </ns0:cNvPr>
          <ns0:cNvSpPr>
            <a:spLocks noGrp="1"/>
          </ns0:cNvSpPr>
          <ns0:nvPr/>
        </ns0:nvSpPr>
        <ns0:spPr>
          <a:xfrm>
            <a:off x="9842500" y="2114550"/>
            <a:ext cx="1778000" cy="19050"/>
          </a:xfrm>
          <a:prstGeom prst="rect">
            <a:avLst/>
          </a:prstGeom>
          <a:solidFill>
            <a:srgbClr val="002B5C"/>
          </a:solidFill>
          <a:ln w="0">
            <a:noFill/>
            <a:prstDash val="solid"/>
          </a:ln>
        </ns0:spPr>
      </ns0:sp>
      <ns0:sp>
        <ns0:nvSpPr>
          <ns0:cNvPr id="31" name="">
            <a:extLst>
              <a:ext uri="{FF2B5EF4-FFF2-40B4-BE49-F238E27FC236}">
                <ns2:creationId id="{F050933F-69B0-481C-B06B-4FBFFCC595BB}"/>
              </a:ext>
            </a:extLst>
          </ns0:cNvPr>
          <ns0:cNvSpPr>
            <a:spLocks noGrp="1"/>
          </ns0:cNvSpPr>
          <ns0:nvPr/>
        </ns0:nvSpPr>
        <ns0:spPr>
          <a:xfrm>
            <a:off x="571500" y="5981700"/>
            <a:ext cx="11049000" cy="2952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88796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Vinho = abaixo do mínimo estrutural · âmbar = até 2 p.p. acima · azul = mais de 2 p.p. acima · cinza = estrutura incomparável. * Categoria editorial ou piso total, combinado, calculado, ajustado ou sem equivalência direta.</a:t>
            </a:r>
          </a:p>
        </ns0:txBody>
      </ns0:sp>
    </ns0:spTree>
    <ns0:extLst>
      <ns0:ext uri="{BB962C8B-B14F-4D97-AF65-F5344CB8AC3E}">
        <ns3:creationId val="746267081"/>
      </ns0:ext>
    </ns0:extLst>
  </ns0:cSld>
</ns0:sld>
</file>

<file path=ppt/slides/slide22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26" name="">
            <a:extLst>
              <a:ext uri="{FF2B5EF4-FFF2-40B4-BE49-F238E27FC236}">
                <ns2:creationId id="{990F774C-1C5A-4256-B430-80873A113711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RISCO ESTRUTURAL · CARTEIRA I · FACTORING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AE103242-62A3-4DC7-91D9-D9939E41973D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"/>
            <a:ext cx="11049000" cy="4667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98525"/>
          </a:bodyPr>
          <a:lstStyle/>
          <a:p>
            <a:pPr algn="l">
              <a:lnSpc>
                <a:spcPct val="100000"/>
              </a:lnSpc>
              <a:buNone/>
              <a:defRPr sz="195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95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Factoring | Sub atual e mínimos documentais por veículo; 3 estruturas exigem leitura separada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E475F7C6-9F35-4C8C-AA1E-1B2269B49708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5C42D1C6-8339-42ED-B87C-991735ADA5D1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9F1FD9F8-0232-467F-97CB-14706FBA3652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CVM, Informe Mensal, jun/26; pisos em regulamentos FundosNet/B3. Lacunas ficam fora do slide e permanecem no workbook/explorador.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A2FEDBC9-642B-4FD2-AF1E-31AF09673059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22</a:t>
            </a:r>
          </a:p>
        </ns0:txBody>
      </ns0:sp>
      <ns0:sp>
        <ns0:nvSpPr>
          <ns0:cNvPr id="7" name="mvp-summary-structural_mvp_factoring-1">
            <a:extLst>
              <a:ext uri="{FF2B5EF4-FFF2-40B4-BE49-F238E27FC236}">
                <ns2:creationId id="{DCEBC27A-94C2-458E-81CC-8446D34AC232}"/>
              </a:ext>
            </a:extLst>
          </ns0:cNvPr>
          <ns0:cNvSpPr>
            <a:spLocks noGrp="1"/>
          </ns0:cNvSpPr>
          <ns0:nvPr/>
        </ns0:nvSpPr>
        <ns0:spPr>
          <a:xfrm>
            <a:off x="571500" y="1152525"/>
            <a:ext cx="3143250" cy="609600"/>
          </a:xfrm>
          <a:prstGeom prst="rect">
            <a:avLst/>
          </a:prstGeom>
          <a:solidFill>
            <a:srgbClr val="EAF0F7"/>
          </a:solidFill>
          <a:ln w="0">
            <a:solidFill>
              <a:srgbClr val="EAF0F7"/>
            </a:solidFill>
            <a:prstDash val="solid"/>
          </a:ln>
        </ns0:spPr>
        <ns0:txBody>
          <a:bodyPr wrap="square" lIns="95250" tIns="66675" rIns="95250" bIns="66675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COBERTURA DO SLIDE</a:t>
            </a:r>
          </a:p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3/4 CNPJs · R$ 4,2 bi de R$ 4,4 bi</a:t>
            </a:r>
          </a:p>
        </ns0:txBody>
      </ns0:sp>
      <ns0:sp>
        <ns0:nvSpPr>
          <ns0:cNvPr id="8" name="mvp-summary-structural_mvp_factoring-2">
            <a:extLst>
              <a:ext uri="{FF2B5EF4-FFF2-40B4-BE49-F238E27FC236}">
                <ns2:creationId id="{F0D7B070-E2C1-44A2-8967-E4E6AABA8332}"/>
              </a:ext>
            </a:extLst>
          </ns0:cNvPr>
          <ns0:cNvSpPr>
            <a:spLocks noGrp="1"/>
          </ns0:cNvSpPr>
          <ns0:nvPr/>
        </ns0:nvSpPr>
        <ns0:spPr>
          <a:xfrm>
            <a:off x="3810000" y="1152525"/>
            <a:ext cx="4810125" cy="609600"/>
          </a:xfrm>
          <a:prstGeom prst="rect">
            <a:avLst/>
          </a:prstGeom>
          <a:solidFill>
            <a:srgbClr val="FFFFFF"/>
          </a:solidFill>
          <a:ln w="9525">
            <a:solidFill>
              <a:srgbClr val="AFC5DD"/>
            </a:solidFill>
            <a:prstDash val="solid"/>
          </a:ln>
        </ns0:spPr>
        <ns0:txBody>
          <a:bodyPr wrap="square" lIns="95250" tIns="66675" rIns="95250" bIns="66675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REFERÊNCIA DE MERCADO · SUB/PL ATUAL</a:t>
            </a:r>
          </a:p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2 pares com Sub/PL atual</a:t>
            </a:r>
          </a:p>
        </ns0:txBody>
      </ns0:sp>
      <ns0:sp>
        <ns0:nvSpPr>
          <ns0:cNvPr id="9" name="mvp-summary-structural_mvp_factoring-3">
            <a:extLst>
              <a:ext uri="{FF2B5EF4-FFF2-40B4-BE49-F238E27FC236}">
                <ns2:creationId id="{72A16773-C1FA-425C-8CC0-B3B777479CAF}"/>
              </a:ext>
            </a:extLst>
          </ns0:cNvPr>
          <ns0:cNvSpPr>
            <a:spLocks noGrp="1"/>
          </ns0:cNvSpPr>
          <ns0:nvPr/>
        </ns0:nvSpPr>
        <ns0:spPr>
          <a:xfrm>
            <a:off x="8715375" y="1152525"/>
            <a:ext cx="2905125" cy="609600"/>
          </a:xfrm>
          <a:prstGeom prst="rect">
            <a:avLst/>
          </a:prstGeom>
          <a:solidFill>
            <a:srgbClr val="FFF1E6"/>
          </a:solidFill>
          <a:ln w="0">
            <a:solidFill>
              <a:srgbClr val="FFF1E6"/>
            </a:solidFill>
            <a:prstDash val="solid"/>
          </a:ln>
        </ns0:spPr>
        <ns0:txBody>
          <a:bodyPr wrap="square" lIns="95250" tIns="66675" rIns="95250" bIns="66675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7A1F3D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7A1F3D"/>
                </a:solidFill>
                <a:latin typeface="Arial"/>
                <a:ea typeface="Arial"/>
                <a:cs typeface="Arial"/>
              </a:rPr>
              <a:t>LEITURA RELATIVA</a:t>
            </a:r>
          </a:p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7A1F3D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7A1F3D"/>
                </a:solidFill>
                <a:latin typeface="Arial"/>
                <a:ea typeface="Arial"/>
                <a:cs typeface="Arial"/>
              </a:rPr>
              <a:t>N/D · benchmark insuficiente</a:t>
            </a:r>
          </a:p>
        </ns0:txBody>
      </ns0:sp>
      <ns0:sp>
        <ns0:nvSpPr>
          <ns0:cNvPr id="10" name="mvp-band-structural_mvp_factoring-1">
            <a:extLst>
              <a:ext uri="{FF2B5EF4-FFF2-40B4-BE49-F238E27FC236}">
                <ns2:creationId id="{BACDD7A1-E1C9-4783-BCC6-3397C6EC1CD8}"/>
              </a:ext>
            </a:extLst>
          </ns0:cNvPr>
          <ns0:cNvSpPr>
            <a:spLocks noGrp="1"/>
          </ns0:cNvSpPr>
          <ns0:nvPr/>
        </ns0:nvSpPr>
        <ns0:spPr>
          <a:xfrm>
            <a:off x="571500" y="1885950"/>
            <a:ext cx="17780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105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5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&lt; 10%</a:t>
            </a:r>
          </a:p>
        </ns0:txBody>
      </ns0:sp>
      <ns0:sp>
        <ns0:nvSpPr>
          <ns0:cNvPr id="11" name="">
            <a:extLst>
              <a:ext uri="{FF2B5EF4-FFF2-40B4-BE49-F238E27FC236}">
                <ns2:creationId id="{34D63CF5-6B98-499F-858C-85C5C7826C9B}"/>
              </a:ext>
            </a:extLst>
          </ns0:cNvPr>
          <ns0:cNvSpPr>
            <a:spLocks noGrp="1"/>
          </ns0:cNvSpPr>
          <ns0:nvPr/>
        </ns0:nvSpPr>
        <ns0:spPr>
          <a:xfrm>
            <a:off x="571500" y="2114550"/>
            <a:ext cx="1778000" cy="19050"/>
          </a:xfrm>
          <a:prstGeom prst="rect">
            <a:avLst/>
          </a:prstGeom>
          <a:solidFill>
            <a:srgbClr val="002B5C"/>
          </a:solidFill>
          <a:ln w="0">
            <a:noFill/>
            <a:prstDash val="solid"/>
          </a:ln>
        </ns0:spPr>
      </ns0:sp>
      <ns0:sp>
        <ns0:nvSpPr>
          <ns0:cNvPr id="12" name="mvp-band-structural_mvp_factoring-2">
            <a:extLst>
              <a:ext uri="{FF2B5EF4-FFF2-40B4-BE49-F238E27FC236}">
                <ns2:creationId id="{D5D04FAE-8BD8-495F-B90C-F74A14047025}"/>
              </a:ext>
            </a:extLst>
          </ns0:cNvPr>
          <ns0:cNvSpPr>
            <a:spLocks noGrp="1"/>
          </ns0:cNvSpPr>
          <ns0:nvPr/>
        </ns0:nvSpPr>
        <ns0:spPr>
          <a:xfrm>
            <a:off x="2425700" y="1885950"/>
            <a:ext cx="17780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105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5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10%–15%</a:t>
            </a:r>
          </a:p>
        </ns0:txBody>
      </ns0:sp>
      <ns0:sp>
        <ns0:nvSpPr>
          <ns0:cNvPr id="13" name="">
            <a:extLst>
              <a:ext uri="{FF2B5EF4-FFF2-40B4-BE49-F238E27FC236}">
                <ns2:creationId id="{80C98E4A-2503-4DD7-8C35-D0B9385604C4}"/>
              </a:ext>
            </a:extLst>
          </ns0:cNvPr>
          <ns0:cNvSpPr>
            <a:spLocks noGrp="1"/>
          </ns0:cNvSpPr>
          <ns0:nvPr/>
        </ns0:nvSpPr>
        <ns0:spPr>
          <a:xfrm>
            <a:off x="2425700" y="2114550"/>
            <a:ext cx="1778000" cy="19050"/>
          </a:xfrm>
          <a:prstGeom prst="rect">
            <a:avLst/>
          </a:prstGeom>
          <a:solidFill>
            <a:srgbClr val="002B5C"/>
          </a:solidFill>
          <a:ln w="0">
            <a:noFill/>
            <a:prstDash val="solid"/>
          </a:ln>
        </ns0:spPr>
      </ns0:sp>
      <ns0:sp>
        <ns0:nvSpPr>
          <ns0:cNvPr id="14" name="mvp-band-structural_mvp_factoring-3">
            <a:extLst>
              <a:ext uri="{FF2B5EF4-FFF2-40B4-BE49-F238E27FC236}">
                <ns2:creationId id="{63A1B261-1EB8-435E-BFA4-370489A3D72A}"/>
              </a:ext>
            </a:extLst>
          </ns0:cNvPr>
          <ns0:cNvSpPr>
            <a:spLocks noGrp="1"/>
          </ns0:cNvSpPr>
          <ns0:nvPr/>
        </ns0:nvSpPr>
        <ns0:spPr>
          <a:xfrm>
            <a:off x="4279900" y="1885950"/>
            <a:ext cx="17780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105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5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15%–20%</a:t>
            </a:r>
          </a:p>
        </ns0:txBody>
      </ns0:sp>
      <ns0:sp>
        <ns0:nvSpPr>
          <ns0:cNvPr id="15" name="">
            <a:extLst>
              <a:ext uri="{FF2B5EF4-FFF2-40B4-BE49-F238E27FC236}">
                <ns2:creationId id="{A8E9CE46-2ABE-49BA-A618-FE4E6709A221}"/>
              </a:ext>
            </a:extLst>
          </ns0:cNvPr>
          <ns0:cNvSpPr>
            <a:spLocks noGrp="1"/>
          </ns0:cNvSpPr>
          <ns0:nvPr/>
        </ns0:nvSpPr>
        <ns0:spPr>
          <a:xfrm>
            <a:off x="4279900" y="2114550"/>
            <a:ext cx="1778000" cy="19050"/>
          </a:xfrm>
          <a:prstGeom prst="rect">
            <a:avLst/>
          </a:prstGeom>
          <a:solidFill>
            <a:srgbClr val="002B5C"/>
          </a:solidFill>
          <a:ln w="0">
            <a:noFill/>
            <a:prstDash val="solid"/>
          </a:ln>
        </ns0:spPr>
      </ns0:sp>
      <ns0:sp>
        <ns0:nvSpPr>
          <ns0:cNvPr id="16" name="mvp-band-structural_mvp_factoring-4">
            <a:extLst>
              <a:ext uri="{FF2B5EF4-FFF2-40B4-BE49-F238E27FC236}">
                <ns2:creationId id="{561975BC-0C32-474D-B2A7-8162C83FE2CB}"/>
              </a:ext>
            </a:extLst>
          </ns0:cNvPr>
          <ns0:cNvSpPr>
            <a:spLocks noGrp="1"/>
          </ns0:cNvSpPr>
          <ns0:nvPr/>
        </ns0:nvSpPr>
        <ns0:spPr>
          <a:xfrm>
            <a:off x="6134100" y="1885950"/>
            <a:ext cx="17780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105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5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20%–35%</a:t>
            </a:r>
          </a:p>
        </ns0:txBody>
      </ns0:sp>
      <ns0:sp>
        <ns0:nvSpPr>
          <ns0:cNvPr id="17" name="">
            <a:extLst>
              <a:ext uri="{FF2B5EF4-FFF2-40B4-BE49-F238E27FC236}">
                <ns2:creationId id="{32A7CCF0-AAC7-40B3-BD51-718237E88906}"/>
              </a:ext>
            </a:extLst>
          </ns0:cNvPr>
          <ns0:cNvSpPr>
            <a:spLocks noGrp="1"/>
          </ns0:cNvSpPr>
          <ns0:nvPr/>
        </ns0:nvSpPr>
        <ns0:spPr>
          <a:xfrm>
            <a:off x="6134100" y="2114550"/>
            <a:ext cx="1778000" cy="19050"/>
          </a:xfrm>
          <a:prstGeom prst="rect">
            <a:avLst/>
          </a:prstGeom>
          <a:solidFill>
            <a:srgbClr val="002B5C"/>
          </a:solidFill>
          <a:ln w="0">
            <a:noFill/>
            <a:prstDash val="solid"/>
          </a:ln>
        </ns0:spPr>
      </ns0:sp>
      <ns0:sp>
        <ns0:nvSpPr>
          <ns0:cNvPr id="18" name="mvp-band-structural_mvp_factoring-5">
            <a:extLst>
              <a:ext uri="{FF2B5EF4-FFF2-40B4-BE49-F238E27FC236}">
                <ns2:creationId id="{DDE3DDE0-9672-44B6-BE6E-2CB74BBB2578}"/>
              </a:ext>
            </a:extLst>
          </ns0:cNvPr>
          <ns0:cNvSpPr>
            <a:spLocks noGrp="1"/>
          </ns0:cNvSpPr>
          <ns0:nvPr/>
        </ns0:nvSpPr>
        <ns0:spPr>
          <a:xfrm>
            <a:off x="7988300" y="1885950"/>
            <a:ext cx="17780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105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5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35%–60%</a:t>
            </a:r>
          </a:p>
        </ns0:txBody>
      </ns0:sp>
      <ns0:sp>
        <ns0:nvSpPr>
          <ns0:cNvPr id="19" name="">
            <a:extLst>
              <a:ext uri="{FF2B5EF4-FFF2-40B4-BE49-F238E27FC236}">
                <ns2:creationId id="{DA4DFBA1-789F-4B3A-9F9F-339EA0892472}"/>
              </a:ext>
            </a:extLst>
          </ns0:cNvPr>
          <ns0:cNvSpPr>
            <a:spLocks noGrp="1"/>
          </ns0:cNvSpPr>
          <ns0:nvPr/>
        </ns0:nvSpPr>
        <ns0:spPr>
          <a:xfrm>
            <a:off x="7988300" y="2114550"/>
            <a:ext cx="1778000" cy="19050"/>
          </a:xfrm>
          <a:prstGeom prst="rect">
            <a:avLst/>
          </a:prstGeom>
          <a:solidFill>
            <a:srgbClr val="002B5C"/>
          </a:solidFill>
          <a:ln w="0">
            <a:noFill/>
            <a:prstDash val="solid"/>
          </a:ln>
        </ns0:spPr>
      </ns0:sp>
      <ns0:sp>
        <ns0:nvSpPr>
          <ns0:cNvPr id="20" name="mvp-card-structural_mvp_factoring-18185812000114">
            <a:extLst>
              <a:ext uri="{FF2B5EF4-FFF2-40B4-BE49-F238E27FC236}">
                <ns2:creationId id="{0CEDFEBD-83A9-420B-895A-396D2E0FA222}"/>
              </a:ext>
            </a:extLst>
          </ns0:cNvPr>
          <ns0:cNvSpPr>
            <a:spLocks noGrp="1"/>
          </ns0:cNvSpPr>
          <ns0:nvPr/>
        </ns0:nvSpPr>
        <ns0:spPr>
          <a:xfrm>
            <a:off x="7988300" y="2181225"/>
            <a:ext cx="1778000" cy="438150"/>
          </a:xfrm>
          <a:prstGeom prst="rect">
            <a:avLst/>
          </a:prstGeom>
          <a:solidFill>
            <a:srgbClr val="F5F6F7"/>
          </a:solidFill>
          <a:ln w="9525">
            <a:solidFill>
              <a:srgbClr val="B8BDC2"/>
            </a:solidFill>
            <a:prstDash val="solid"/>
          </a:ln>
        </ns0:spPr>
        <ns0:txBody>
          <a:bodyPr wrap="none" lIns="47625" tIns="28575" rIns="47625" bIns="28575" anchor="ctr">
            <a:normAutofit fontScale="87719"/>
          </a:bodyPr>
          <a:lstStyle/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GAVEA SUL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R$ 562,0 mi · Sub atual 45,8%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Jr 22,0% · Estr. N/D*</a:t>
            </a:r>
          </a:p>
        </ns0:txBody>
      </ns0:sp>
      <ns0:sp>
        <ns0:nvSpPr>
          <ns0:cNvPr id="21" name="mvp-card-structural_mvp_factoring-17468142000180">
            <a:extLst>
              <a:ext uri="{FF2B5EF4-FFF2-40B4-BE49-F238E27FC236}">
                <ns2:creationId id="{7125A544-AC14-43FD-BCA8-070559C9E9AD}"/>
              </a:ext>
            </a:extLst>
          </ns0:cNvPr>
          <ns0:cNvSpPr>
            <a:spLocks noGrp="1"/>
          </ns0:cNvSpPr>
          <ns0:nvPr/>
        </ns0:nvSpPr>
        <ns0:spPr>
          <a:xfrm>
            <a:off x="7988300" y="2638425"/>
            <a:ext cx="1778000" cy="438150"/>
          </a:xfrm>
          <a:prstGeom prst="rect">
            <a:avLst/>
          </a:prstGeom>
          <a:solidFill>
            <a:srgbClr val="F5F6F7"/>
          </a:solidFill>
          <a:ln w="9525">
            <a:solidFill>
              <a:srgbClr val="B8BDC2"/>
            </a:solidFill>
            <a:prstDash val="solid"/>
          </a:ln>
        </ns0:spPr>
        <ns0:txBody>
          <a:bodyPr wrap="none" lIns="47625" tIns="28575" rIns="47625" bIns="28575" anchor="ctr">
            <a:normAutofit fontScale="87719"/>
          </a:bodyPr>
          <a:lstStyle/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VALOREM MULTISETORIAL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R$ 511,8 mi · Sub atual 47,1%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Jr 15,0% · Estr. N/D*</a:t>
            </a:r>
          </a:p>
        </ns0:txBody>
      </ns0:sp>
      <ns0:sp>
        <ns0:nvSpPr>
          <ns0:cNvPr id="22" name="mvp-band-structural_mvp_factoring-6">
            <a:extLst>
              <a:ext uri="{FF2B5EF4-FFF2-40B4-BE49-F238E27FC236}">
                <ns2:creationId id="{33906A30-3A15-43AA-8BC5-53A236D6E46E}"/>
              </a:ext>
            </a:extLst>
          </ns0:cNvPr>
          <ns0:cNvSpPr>
            <a:spLocks noGrp="1"/>
          </ns0:cNvSpPr>
          <ns0:nvPr/>
        </ns0:nvSpPr>
        <ns0:spPr>
          <a:xfrm>
            <a:off x="9842500" y="1885950"/>
            <a:ext cx="17780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105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5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≥ 60%</a:t>
            </a:r>
          </a:p>
        </ns0:txBody>
      </ns0:sp>
      <ns0:sp>
        <ns0:nvSpPr>
          <ns0:cNvPr id="23" name="">
            <a:extLst>
              <a:ext uri="{FF2B5EF4-FFF2-40B4-BE49-F238E27FC236}">
                <ns2:creationId id="{DA271837-2F73-4FDC-865B-94345CAFF288}"/>
              </a:ext>
            </a:extLst>
          </ns0:cNvPr>
          <ns0:cNvSpPr>
            <a:spLocks noGrp="1"/>
          </ns0:cNvSpPr>
          <ns0:nvPr/>
        </ns0:nvSpPr>
        <ns0:spPr>
          <a:xfrm>
            <a:off x="9842500" y="2114550"/>
            <a:ext cx="1778000" cy="19050"/>
          </a:xfrm>
          <a:prstGeom prst="rect">
            <a:avLst/>
          </a:prstGeom>
          <a:solidFill>
            <a:srgbClr val="002B5C"/>
          </a:solidFill>
          <a:ln w="0">
            <a:noFill/>
            <a:prstDash val="solid"/>
          </a:ln>
        </ns0:spPr>
      </ns0:sp>
      <ns0:sp>
        <ns0:nvSpPr>
          <ns0:cNvPr id="24" name="mvp-card-structural_mvp_factoring-11468186000124">
            <a:extLst>
              <a:ext uri="{FF2B5EF4-FFF2-40B4-BE49-F238E27FC236}">
                <ns2:creationId id="{58CF10CC-9CE7-45AD-8D23-2D19360DA1B8}"/>
              </a:ext>
            </a:extLst>
          </ns0:cNvPr>
          <ns0:cNvSpPr>
            <a:spLocks noGrp="1"/>
          </ns0:cNvSpPr>
          <ns0:nvPr/>
        </ns0:nvSpPr>
        <ns0:spPr>
          <a:xfrm>
            <a:off x="9842500" y="2181225"/>
            <a:ext cx="1778000" cy="438150"/>
          </a:xfrm>
          <a:prstGeom prst="rect">
            <a:avLst/>
          </a:prstGeom>
          <a:solidFill>
            <a:srgbClr val="F5F6F7"/>
          </a:solidFill>
          <a:ln w="9525">
            <a:solidFill>
              <a:srgbClr val="B8BDC2"/>
            </a:solidFill>
            <a:prstDash val="solid"/>
          </a:ln>
        </ns0:spPr>
        <ns0:txBody>
          <a:bodyPr wrap="none" lIns="47625" tIns="28575" rIns="47625" bIns="28575" anchor="ctr">
            <a:normAutofit fontScale="87719"/>
          </a:bodyPr>
          <a:lstStyle/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ATLANTA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R$ 3,1 bi · Sub atual 79,7%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Jr 50,0% · Estr. N/D*</a:t>
            </a:r>
          </a:p>
        </ns0:txBody>
      </ns0:sp>
      <ns0:sp>
        <ns0:nvSpPr>
          <ns0:cNvPr id="25" name="">
            <a:extLst>
              <a:ext uri="{FF2B5EF4-FFF2-40B4-BE49-F238E27FC236}">
                <ns2:creationId id="{2A82A474-E9A0-4724-81F9-E117B3822C2E}"/>
              </a:ext>
            </a:extLst>
          </ns0:cNvPr>
          <ns0:cNvSpPr>
            <a:spLocks noGrp="1"/>
          </ns0:cNvSpPr>
          <ns0:nvPr/>
        </ns0:nvSpPr>
        <ns0:spPr>
          <a:xfrm>
            <a:off x="571500" y="5981700"/>
            <a:ext cx="11049000" cy="2952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88796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Vinho = abaixo do mínimo estrutural · âmbar = até 2 p.p. acima · azul = mais de 2 p.p. acima · cinza = estrutura incomparável. * Categoria editorial ou piso total, combinado, calculado, ajustado ou sem equivalência direta.</a:t>
            </a:r>
          </a:p>
        </ns0:txBody>
      </ns0:sp>
    </ns0:spTree>
    <ns0:extLst>
      <ns0:ext uri="{BB962C8B-B14F-4D97-AF65-F5344CB8AC3E}">
        <ns3:creationId val="1460330843"/>
      </ns0:ext>
    </ns0:extLst>
  </ns0:cSld>
</ns0:sld>
</file>

<file path=ppt/slides/slide23.xml><?xml version="1.0" encoding="utf-8"?>
<ns0:sld xmlns:a="http://schemas.openxmlformats.org/drawingml/2006/main" xmlns:c="http://schemas.openxmlformats.org/drawingml/2006/chart" xmlns:ns0="http://schemas.openxmlformats.org/presentationml/2006/main" xmlns:ns2="http://schemas.microsoft.com/office/drawing/2014/main" xmlns:ns4="http://schemas.openxmlformats.org/officeDocument/2006/relationships" xmlns:ns5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7" name="">
            <a:extLst>
              <a:ext uri="{FF2B5EF4-FFF2-40B4-BE49-F238E27FC236}">
                <ns2:creationId id="{EF85133D-84D1-4C90-B6B5-E68590014874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4095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Emissões crescem 15% no semestre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E325ECCA-FF84-43CD-8B3B-D127B8DB55AA}"/>
              </a:ext>
            </a:extLst>
          </ns0:cNvPr>
          <ns0:cNvSpPr>
            <a:spLocks noGrp="1"/>
          </ns0:cNvSpPr>
          <ns0:nvPr/>
        </ns0:nvSpPr>
        <ns0:spPr>
          <a:xfrm>
            <a:off x="571500" y="723900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R$ 65,5 bi em 771 ofertas no jan–jun/26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6D4B8F8D-E38F-43EC-BBD1-A0F94CEBC8AA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D67EF8C3-CFEC-4FA8-9558-FC7A22339ED5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E376FBF2-2BDA-4521-821A-509DC164B72C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CVM/SRE, dois arquivos de ofertas, snapshot 24/jul/26. Primárias encerradas, todos os ritos; volume registrado.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9DF3948E-3E9D-4B4F-A745-63AEE3BDD874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23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501BF9CD-E6FF-43EC-AEC0-86B462DDA5F8}"/>
              </a:ext>
            </a:extLst>
          </ns0:cNvPr>
          <ns0:cNvSpPr>
            <a:spLocks noGrp="1"/>
          </ns0:cNvSpPr>
          <ns0:nvPr/>
        </ns0:nvSpPr>
        <ns0:spPr>
          <a:xfrm>
            <a:off x="571500" y="1381125"/>
            <a:ext cx="523875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Volume registrado e ticket · FY / YTD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20B024C2-567A-4E84-8D88-F1A0F7F5FD8D}"/>
              </a:ext>
            </a:extLst>
          </ns0:cNvPr>
          <ns0:cNvSpPr>
            <a:spLocks noGrp="1"/>
          </ns0:cNvSpPr>
          <ns0:nvPr/>
        </ns0:nvSpPr>
        <ns0:spPr>
          <a:xfrm>
            <a:off x="571500" y="1647825"/>
            <a:ext cx="523875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5" name="Chart"/>
          <ns0:cNvGraphicFramePr/>
          <ns0:nvPr/>
        </ns0:nvGraphicFramePr>
        <ns0:xfrm>
          <a:off x="571500" y="1714500"/>
          <a:ext cx="5238750" cy="2333625"/>
        </ns0:xfrm>
        <a:graphic>
          <a:graphicData uri="http://schemas.openxmlformats.org/drawingml/2006/chart">
            <c:chart ns4:id="Rdcf68c92a0ee4e86"/>
          </a:graphicData>
        </a:graphic>
      </ns0:graphicFrame>
      <ns0:sp>
        <ns0:nvSpPr>
          <ns0:cNvPr id="10" name="">
            <a:extLst>
              <a:ext uri="{FF2B5EF4-FFF2-40B4-BE49-F238E27FC236}">
                <ns2:creationId id="{7ACBCD4A-CE39-4314-9236-8DE7FC8A72B3}"/>
              </a:ext>
            </a:extLst>
          </ns0:cNvPr>
          <ns0:cNvSpPr>
            <a:spLocks noGrp="1"/>
          </ns0:cNvSpPr>
          <ns0:nvPr/>
        </ns0:nvSpPr>
        <ns0:spPr>
          <a:xfrm>
            <a:off x="6381750" y="1381125"/>
            <a:ext cx="523875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Volume acumulado · jan–dez · R$ bi</a:t>
            </a:r>
          </a:p>
        </ns0:txBody>
      </ns0:sp>
      <ns0:sp>
        <ns0:nvSpPr>
          <ns0:cNvPr id="11" name="">
            <a:extLst>
              <a:ext uri="{FF2B5EF4-FFF2-40B4-BE49-F238E27FC236}">
                <ns2:creationId id="{8DE07F1C-1E49-4096-A0DC-AE01EA2690EC}"/>
              </a:ext>
            </a:extLst>
          </ns0:cNvPr>
          <ns0:cNvSpPr>
            <a:spLocks noGrp="1"/>
          </ns0:cNvSpPr>
          <ns0:nvPr/>
        </ns0:nvSpPr>
        <ns0:spPr>
          <a:xfrm>
            <a:off x="6381750" y="1647825"/>
            <a:ext cx="523875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8" name="Chart"/>
          <ns0:cNvGraphicFramePr/>
          <ns0:nvPr/>
        </ns0:nvGraphicFramePr>
        <ns0:xfrm>
          <a:off x="6381750" y="1714500"/>
          <a:ext cx="5238750" cy="2333625"/>
        </ns0:xfrm>
        <a:graphic>
          <a:graphicData uri="http://schemas.openxmlformats.org/drawingml/2006/chart">
            <c:chart ns4:id="Ra499347d92cb4eba"/>
          </a:graphicData>
        </a:graphic>
      </ns0:graphicFrame>
      <ns0:graphicFrame>
        <ns0:nvGraphicFramePr>
          <ns0:cNvPr id="29" name="Chart"/>
          <ns0:cNvGraphicFramePr/>
          <ns0:nvPr/>
        </ns0:nvGraphicFramePr>
        <ns0:xfrm>
          <a:off x="7715250" y="4000500"/>
          <a:ext cx="3905250" cy="209550"/>
        </ns0:xfrm>
        <a:graphic>
          <a:graphicData uri="http://schemas.openxmlformats.org/drawingml/2006/chart">
            <c:chart ns4:id="Rfabaf43058944be0"/>
          </a:graphicData>
        </a:graphic>
      </ns0:graphicFrame>
      <ns0:sp>
        <ns0:nvSpPr>
          <ns0:cNvPr id="14" name="">
            <a:extLst>
              <a:ext uri="{FF2B5EF4-FFF2-40B4-BE49-F238E27FC236}">
                <ns2:creationId id="{FCF6D4BD-4BC3-42B6-B4F4-E101E8A9DA84}"/>
              </a:ext>
            </a:extLst>
          </ns0:cNvPr>
          <ns0:cNvSpPr>
            <a:spLocks noGrp="1"/>
          </ns0:cNvSpPr>
          <ns0:nvPr/>
        </ns0:nvSpPr>
        <ns0:spPr>
          <a:xfrm>
            <a:off x="6381750" y="4219575"/>
            <a:ext cx="5238750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2026 encerra em jun/26; as curvas de 2024 e 2025 seguem até dezembro.</a:t>
            </a:r>
          </a:p>
        </ns0:txBody>
      </ns0:sp>
      <ns0:graphicFrame>
        <ns0:nvGraphicFramePr>
          <ns0:cNvPr id="31" name=""/>
          <ns0:cNvGraphicFramePr/>
          <ns0:nvPr/>
        </ns0:nvGraphicFramePr>
        <ns0:xfrm>
          <a:off x="571500" y="4286250"/>
          <a:ext cx="11049000" cy="1619250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952500"/>
                <a:gridCol w="1476375"/>
                <a:gridCol w="1714500"/>
                <a:gridCol w="1476375"/>
                <a:gridCol w="1476375"/>
                <a:gridCol w="1952625"/>
                <a:gridCol w="2000250"/>
              </a:tblGrid>
              <a:tr h="22860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Ano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Ofertas encerradas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Volume registrado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Ticket médio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Ticket mediano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PF no volume colocado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Público profissional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1971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2022 FY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R$ 2,7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R$ 392,7 mi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R$ 200,0 mi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971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2023 FY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350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R$ 26,5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R$ 75,6 mi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R$ 23,3 mi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4,3%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96,8%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1971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2024 FY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1.009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R$ 95,4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R$ 94,6 mi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R$ 30,0 mi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4,6%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94,4%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971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2025 FY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1.473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R$ 116,9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R$ 79,4 mi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R$ 25,0 mi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6,6%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92,8%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1971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2026 YTD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771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R$ 65,5 bi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R$ 84,9 mi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R$ 22,5 mi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4,0%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93,8%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</a:tbl>
          </a:graphicData>
        </a:graphic>
      </ns0:graphicFrame>
      <ns0:sp>
        <ns0:nvSpPr>
          <ns0:cNvPr id="16" name="">
            <a:extLst>
              <a:ext uri="{FF2B5EF4-FFF2-40B4-BE49-F238E27FC236}">
                <ns2:creationId id="{B3A104DC-F1AC-4DC5-9CFA-5A462EFEC21B}"/>
              </a:ext>
            </a:extLst>
          </ns0:cNvPr>
          <ns0:cNvSpPr>
            <a:spLocks noGrp="1"/>
          </ns0:cNvSpPr>
          <ns0:nvPr/>
        </ns0:nvSpPr>
        <ns0:spPr>
          <a:xfrm>
            <a:off x="571500" y="5962650"/>
            <a:ext cx="11049000" cy="2857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PF representa 4,0% do proxy colocado; cobertura 97,3%. Público profissional usa o volume registrado total como denominador, incluindo N/D; 2022 = N/D por ausência de reporte.</a:t>
            </a:r>
          </a:p>
        </ns0:txBody>
      </ns0:sp>
    </ns0:spTree>
    <ns0:extLst>
      <ns0:ext uri="{BB962C8B-B14F-4D97-AF65-F5344CB8AC3E}">
        <ns5:creationId val="208066542"/>
      </ns0:ext>
    </ns0:extLst>
  </ns0:cSld>
</ns0:sld>
</file>

<file path=ppt/slides/slide24.xml><?xml version="1.0" encoding="utf-8"?>
<ns0:sld xmlns:a="http://schemas.openxmlformats.org/drawingml/2006/main" xmlns:c="http://schemas.openxmlformats.org/drawingml/2006/chart" xmlns:ns0="http://schemas.openxmlformats.org/presentationml/2006/main" xmlns:ns2="http://schemas.microsoft.com/office/drawing/2014/main" xmlns:ns4="http://schemas.openxmlformats.org/officeDocument/2006/relationships" xmlns:ns5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26" name="">
            <a:extLst>
              <a:ext uri="{FF2B5EF4-FFF2-40B4-BE49-F238E27FC236}">
                <ns2:creationId id="{D9819522-6DCE-4155-8E11-A14F3B404C2A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4095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22 ofertas concentram 42% de todo o volume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FE967987-27FF-4FD2-BAF5-35A7793FC71B}"/>
              </a:ext>
            </a:extLst>
          </ns0:cNvPr>
          <ns0:cNvSpPr>
            <a:spLocks noGrp="1"/>
          </ns0:cNvSpPr>
          <ns0:nvPr/>
        </ns0:nvSpPr>
        <ns0:spPr>
          <a:xfrm>
            <a:off x="571500" y="723900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Tickets acima de R$ 500 mi, jan–jun/26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F151F491-26C0-4074-83E2-64922083B27C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1A771D34-CEA9-41DF-84A5-B89488A41835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CA41A259-E26D-431C-A20D-713B83A56B24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CVM/SRE, dois arquivos de ofertas; mesma coorte primária encerrada do slide anterior. 2026 = jan–jun.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E6DC617D-05DC-49EC-9B7E-6BB0D9A55261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24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ECD4B6F5-09B0-4BDE-A83E-914E88186463}"/>
              </a:ext>
            </a:extLst>
          </ns0:cNvPr>
          <ns0:cNvSpPr>
            <a:spLocks noGrp="1"/>
          </ns0:cNvSpPr>
          <ns0:nvPr/>
        </ns0:nvSpPr>
        <ns0:spPr>
          <a:xfrm>
            <a:off x="571500" y="1381125"/>
            <a:ext cx="34290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% das ofertas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82743628-DBA5-486D-BF72-09669CF70DCE}"/>
              </a:ext>
            </a:extLst>
          </ns0:cNvPr>
          <ns0:cNvSpPr>
            <a:spLocks noGrp="1"/>
          </ns0:cNvSpPr>
          <ns0:nvPr/>
        </ns0:nvSpPr>
        <ns0:spPr>
          <a:xfrm>
            <a:off x="571500" y="1647825"/>
            <a:ext cx="342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34" name="Chart"/>
          <ns0:cNvGraphicFramePr/>
          <ns0:nvPr/>
        </ns0:nvGraphicFramePr>
        <ns0:xfrm>
          <a:off x="571500" y="1743075"/>
          <a:ext cx="3429000" cy="3714750"/>
        </ns0:xfrm>
        <a:graphic>
          <a:graphicData uri="http://schemas.openxmlformats.org/drawingml/2006/chart">
            <c:chart ns4:id="Rf6b911a2a7ae449e"/>
          </a:graphicData>
        </a:graphic>
      </ns0:graphicFrame>
      <ns0:sp>
        <ns0:nvSpPr>
          <ns0:cNvPr id="10" name="">
            <a:extLst>
              <a:ext uri="{FF2B5EF4-FFF2-40B4-BE49-F238E27FC236}">
                <ns2:creationId id="{31738A58-E7F2-4076-9B77-1B02AD15E52D}"/>
              </a:ext>
            </a:extLst>
          </ns0:cNvPr>
          <ns0:cNvSpPr>
            <a:spLocks noGrp="1"/>
          </ns0:cNvSpPr>
          <ns0:nvPr/>
        </ns0:nvSpPr>
        <ns0:spPr>
          <a:xfrm>
            <a:off x="4286250" y="1381125"/>
            <a:ext cx="34290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% do volume</a:t>
            </a:r>
          </a:p>
        </ns0:txBody>
      </ns0:sp>
      <ns0:sp>
        <ns0:nvSpPr>
          <ns0:cNvPr id="11" name="">
            <a:extLst>
              <a:ext uri="{FF2B5EF4-FFF2-40B4-BE49-F238E27FC236}">
                <ns2:creationId id="{F3EA0F74-0DE7-4EAE-8FC4-C1C8D9EDC4F0}"/>
              </a:ext>
            </a:extLst>
          </ns0:cNvPr>
          <ns0:cNvSpPr>
            <a:spLocks noGrp="1"/>
          </ns0:cNvSpPr>
          <ns0:nvPr/>
        </ns0:nvSpPr>
        <ns0:spPr>
          <a:xfrm>
            <a:off x="4286250" y="1647825"/>
            <a:ext cx="342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37" name="Chart"/>
          <ns0:cNvGraphicFramePr/>
          <ns0:nvPr/>
        </ns0:nvGraphicFramePr>
        <ns0:xfrm>
          <a:off x="4286250" y="1743075"/>
          <a:ext cx="3429000" cy="3714750"/>
        </ns0:xfrm>
        <a:graphic>
          <a:graphicData uri="http://schemas.openxmlformats.org/drawingml/2006/chart">
            <c:chart ns4:id="Rab6bb3d6f41649a3"/>
          </a:graphicData>
        </a:graphic>
      </ns0:graphicFrame>
      <ns0:sp>
        <ns0:nvSpPr>
          <ns0:cNvPr id="13" name="">
            <a:extLst>
              <a:ext uri="{FF2B5EF4-FFF2-40B4-BE49-F238E27FC236}">
                <ns2:creationId id="{D5E2A305-DB8D-4AD9-94DB-0385F1B7E551}"/>
              </a:ext>
            </a:extLst>
          </ns0:cNvPr>
          <ns0:cNvSpPr>
            <a:spLocks noGrp="1"/>
          </ns0:cNvSpPr>
          <ns0:nvPr/>
        </ns0:nvSpPr>
        <ns0:spPr>
          <a:xfrm>
            <a:off x="8001000" y="1381125"/>
            <a:ext cx="36195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Volume · R$ bi</a:t>
            </a:r>
          </a:p>
        </ns0:txBody>
      </ns0:sp>
      <ns0:sp>
        <ns0:nvSpPr>
          <ns0:cNvPr id="14" name="">
            <a:extLst>
              <a:ext uri="{FF2B5EF4-FFF2-40B4-BE49-F238E27FC236}">
                <ns2:creationId id="{96F7E745-9D06-4D09-977C-DE37E554E0F0}"/>
              </a:ext>
            </a:extLst>
          </ns0:cNvPr>
          <ns0:cNvSpPr>
            <a:spLocks noGrp="1"/>
          </ns0:cNvSpPr>
          <ns0:nvPr/>
        </ns0:nvSpPr>
        <ns0:spPr>
          <a:xfrm>
            <a:off x="8001000" y="1647825"/>
            <a:ext cx="36195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40" name="Chart"/>
          <ns0:cNvGraphicFramePr/>
          <ns0:nvPr/>
        </ns0:nvGraphicFramePr>
        <ns0:xfrm>
          <a:off x="8001000" y="1743075"/>
          <a:ext cx="3619500" cy="3714750"/>
        </ns0:xfrm>
        <a:graphic>
          <a:graphicData uri="http://schemas.openxmlformats.org/drawingml/2006/chart">
            <c:chart ns4:id="R16c8ccc7d78f40ff"/>
          </a:graphicData>
        </a:graphic>
      </ns0:graphicFrame>
      <ns0:graphicFrame>
        <ns0:nvGraphicFramePr>
          <ns0:cNvPr id="41" name="Chart"/>
          <ns0:cNvGraphicFramePr/>
          <ns0:nvPr/>
        </ns0:nvGraphicFramePr>
        <ns0:xfrm>
          <a:off x="4048125" y="5486400"/>
          <a:ext cx="4095750" cy="209550"/>
        </ns0:xfrm>
        <a:graphic>
          <a:graphicData uri="http://schemas.openxmlformats.org/drawingml/2006/chart">
            <c:chart ns4:id="R499b683868e94d28"/>
          </a:graphicData>
        </a:graphic>
      </ns0:graphicFrame>
      <ns0:sp>
        <ns0:nvSpPr>
          <ns0:cNvPr id="17" name="">
            <a:extLst>
              <a:ext uri="{FF2B5EF4-FFF2-40B4-BE49-F238E27FC236}">
                <ns2:creationId id="{DFB6DDDD-0280-45C1-8C86-F40CE64BEF8E}"/>
              </a:ext>
            </a:extLst>
          </ns0:cNvPr>
          <ns0:cNvSpPr>
            <a:spLocks noGrp="1"/>
          </ns0:cNvSpPr>
          <ns0:nvPr/>
        </ns0:nvSpPr>
        <ns0:spPr>
          <a:xfrm>
            <a:off x="571500" y="5705475"/>
            <a:ext cx="11049000" cy="1333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87500"/>
          </a:bodyPr>
          <a:lstStyle/>
          <a:p>
            <a:pPr algn="ct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Faixas do eixo em R$ mi; fecham no limite inferior. “&gt; R$ 100 mi” é estrito e exclui ofertas exatamente iguais a R$ 100 mi.</a:t>
            </a:r>
          </a:p>
        </ns0:txBody>
      </ns0:sp>
      <ns0:sp>
        <ns0:nvSpPr>
          <ns0:cNvPr id="18" name="">
            <a:extLst>
              <a:ext uri="{FF2B5EF4-FFF2-40B4-BE49-F238E27FC236}">
                <ns2:creationId id="{FE8593EC-4DCD-473D-B230-5DB576F1BB47}"/>
              </a:ext>
            </a:extLst>
          </ns0:cNvPr>
          <ns0:cNvSpPr>
            <a:spLocks noGrp="1"/>
          </ns0:cNvSpPr>
          <ns0:nvPr/>
        </ns0:nvSpPr>
        <ns0:spPr>
          <a:xfrm>
            <a:off x="571500" y="5867400"/>
            <a:ext cx="3429000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2024FY · &gt; R$ 100 mi</a:t>
            </a:r>
          </a:p>
        </ns0:txBody>
      </ns0:sp>
      <ns0:sp>
        <ns0:nvSpPr>
          <ns0:cNvPr id="19" name="">
            <a:extLst>
              <a:ext uri="{FF2B5EF4-FFF2-40B4-BE49-F238E27FC236}">
                <ns2:creationId id="{DA7A9986-056D-460C-9969-58BE743C4E49}"/>
              </a:ext>
            </a:extLst>
          </ns0:cNvPr>
          <ns0:cNvSpPr>
            <a:spLocks noGrp="1"/>
          </ns0:cNvSpPr>
          <ns0:nvPr/>
        </ns0:nvSpPr>
        <ns0:spPr>
          <a:xfrm>
            <a:off x="571500" y="6048375"/>
            <a:ext cx="342900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R$ 72,0 bi · 75,5% do volume · 181 ofertas (17,9%)</a:t>
            </a:r>
          </a:p>
        </ns0:txBody>
      </ns0:sp>
      <ns0:sp>
        <ns0:nvSpPr>
          <ns0:cNvPr id="20" name="">
            <a:extLst>
              <a:ext uri="{FF2B5EF4-FFF2-40B4-BE49-F238E27FC236}">
                <ns2:creationId id="{2816C884-FE74-4676-9685-2DD9564178FC}"/>
              </a:ext>
            </a:extLst>
          </ns0:cNvPr>
          <ns0:cNvSpPr>
            <a:spLocks noGrp="1"/>
          </ns0:cNvSpPr>
          <ns0:nvPr/>
        </ns0:nvSpPr>
        <ns0:spPr>
          <a:xfrm>
            <a:off x="4143375" y="5867400"/>
            <a:ext cx="9525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21" name="">
            <a:extLst>
              <a:ext uri="{FF2B5EF4-FFF2-40B4-BE49-F238E27FC236}">
                <ns2:creationId id="{BAFFB16F-242B-4F81-8A4A-E1BE48798E05}"/>
              </a:ext>
            </a:extLst>
          </ns0:cNvPr>
          <ns0:cNvSpPr>
            <a:spLocks noGrp="1"/>
          </ns0:cNvSpPr>
          <ns0:nvPr/>
        </ns0:nvSpPr>
        <ns0:spPr>
          <a:xfrm>
            <a:off x="4286250" y="5867400"/>
            <a:ext cx="3429000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2025FY · &gt; R$ 100 mi</a:t>
            </a:r>
          </a:p>
        </ns0:txBody>
      </ns0:sp>
      <ns0:sp>
        <ns0:nvSpPr>
          <ns0:cNvPr id="22" name="">
            <a:extLst>
              <a:ext uri="{FF2B5EF4-FFF2-40B4-BE49-F238E27FC236}">
                <ns2:creationId id="{70FD41D8-93AB-4FC8-BFFF-D9BCAF44A955}"/>
              </a:ext>
            </a:extLst>
          </ns0:cNvPr>
          <ns0:cNvSpPr>
            <a:spLocks noGrp="1"/>
          </ns0:cNvSpPr>
          <ns0:nvPr/>
        </ns0:nvSpPr>
        <ns0:spPr>
          <a:xfrm>
            <a:off x="4286250" y="6048375"/>
            <a:ext cx="342900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R$ 81,8 bi · 69,9% do volume · 227 ofertas (15,4%)</a:t>
            </a:r>
          </a:p>
        </ns0:txBody>
      </ns0:sp>
      <ns0:sp>
        <ns0:nvSpPr>
          <ns0:cNvPr id="23" name="">
            <a:extLst>
              <a:ext uri="{FF2B5EF4-FFF2-40B4-BE49-F238E27FC236}">
                <ns2:creationId id="{2DAAA623-2FC7-42E0-BEF1-CF51A6078A54}"/>
              </a:ext>
            </a:extLst>
          </ns0:cNvPr>
          <ns0:cNvSpPr>
            <a:spLocks noGrp="1"/>
          </ns0:cNvSpPr>
          <ns0:nvPr/>
        </ns0:nvSpPr>
        <ns0:spPr>
          <a:xfrm>
            <a:off x="7858125" y="5867400"/>
            <a:ext cx="9525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24" name="">
            <a:extLst>
              <a:ext uri="{FF2B5EF4-FFF2-40B4-BE49-F238E27FC236}">
                <ns2:creationId id="{6B686FE7-633A-46B6-971C-5BFEB9C18B1F}"/>
              </a:ext>
            </a:extLst>
          </ns0:cNvPr>
          <ns0:cNvSpPr>
            <a:spLocks noGrp="1"/>
          </ns0:cNvSpPr>
          <ns0:nvPr/>
        </ns0:nvSpPr>
        <ns0:spPr>
          <a:xfrm>
            <a:off x="8001000" y="5867400"/>
            <a:ext cx="3429000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2026 YTD · &gt; R$ 100 mi</a:t>
            </a:r>
          </a:p>
        </ns0:txBody>
      </ns0:sp>
      <ns0:sp>
        <ns0:nvSpPr>
          <ns0:cNvPr id="25" name="">
            <a:extLst>
              <a:ext uri="{FF2B5EF4-FFF2-40B4-BE49-F238E27FC236}">
                <ns2:creationId id="{6A9F83DF-0544-4180-816B-950893FCA8DE}"/>
              </a:ext>
            </a:extLst>
          </ns0:cNvPr>
          <ns0:cNvSpPr>
            <a:spLocks noGrp="1"/>
          </ns0:cNvSpPr>
          <ns0:nvPr/>
        </ns0:nvSpPr>
        <ns0:spPr>
          <a:xfrm>
            <a:off x="8001000" y="6048375"/>
            <a:ext cx="342900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R$ 47,7 bi · 72,9% do volume · 120 ofertas (15,6%)</a:t>
            </a:r>
          </a:p>
        </ns0:txBody>
      </ns0:sp>
    </ns0:spTree>
    <ns0:extLst>
      <ns0:ext uri="{BB962C8B-B14F-4D97-AF65-F5344CB8AC3E}">
        <ns5:creationId val="1240003364"/>
      </ns0:ext>
    </ns0:extLst>
  </ns0:cSld>
</ns0:sld>
</file>

<file path=ppt/slides/slide25.xml><?xml version="1.0" encoding="utf-8"?>
<ns0:sld xmlns:a="http://schemas.openxmlformats.org/drawingml/2006/main" xmlns:c="http://schemas.openxmlformats.org/drawingml/2006/chart" xmlns:ns0="http://schemas.openxmlformats.org/presentationml/2006/main" xmlns:ns2="http://schemas.microsoft.com/office/drawing/2014/main" xmlns:ns4="http://schemas.openxmlformats.org/officeDocument/2006/relationships" xmlns:ns5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22" name="">
            <a:extLst>
              <a:ext uri="{FF2B5EF4-FFF2-40B4-BE49-F238E27FC236}">
                <ns2:creationId id="{5D0E2CF8-35DC-465F-9715-45721CE91FDE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OFERTAS · VOLUME E REGIME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937F2510-AF90-439A-BF22-52F620C1A73B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"/>
            <a:ext cx="11049000" cy="4667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Emissões | Garantia firme cresceu 37% YoY YTD, de R$ 10,4 bi para R$ 14,3 bi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49784322-7E52-4C43-A1DD-A74A514FC766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CEC3B212-C54B-4101-B995-E848D552CF11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B6A3E0B4-5993-47DE-B79D-156CB322C055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CVM/SRE, dois arquivos de ofertas, snapshot 24/jul/26. Regime declarado; campo ausente = Não informado.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961CAEE0-8A86-4FDC-B887-72A8FCDA7174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25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3EB44CF4-259C-4726-B84C-DF5A0862A564}"/>
              </a:ext>
            </a:extLst>
          </ns0:cNvPr>
          <ns0:cNvSpPr>
            <a:spLocks noGrp="1"/>
          </ns0:cNvSpPr>
          <ns0:nvPr/>
        </ns0:nvSpPr>
        <ns0:spPr>
          <a:xfrm>
            <a:off x="571500" y="107632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Melhores esforços repr. 70% do volume em 2026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6C81587C-3423-4842-8DF8-E186C94111EA}"/>
              </a:ext>
            </a:extLst>
          </ns0:cNvPr>
          <ns0:cNvSpPr>
            <a:spLocks noGrp="1"/>
          </ns0:cNvSpPr>
          <ns0:nvPr/>
        </ns0:nvSpPr>
        <ns0:spPr>
          <a:xfrm>
            <a:off x="571500" y="1304925"/>
            <a:ext cx="5286375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Número de ofertas</a:t>
            </a:r>
          </a:p>
        </ns0:txBody>
      </ns0:sp>
      <ns0:sp>
        <ns0:nvSpPr>
          <ns0:cNvPr id="9" name="">
            <a:extLst>
              <a:ext uri="{FF2B5EF4-FFF2-40B4-BE49-F238E27FC236}">
                <ns2:creationId id="{8D7E55C0-1FB5-4A95-812F-2258F892BC2F}"/>
              </a:ext>
            </a:extLst>
          </ns0:cNvPr>
          <ns0:cNvSpPr>
            <a:spLocks noGrp="1"/>
          </ns0:cNvSpPr>
          <ns0:nvPr/>
        </ns0:nvSpPr>
        <ns0:spPr>
          <a:xfrm>
            <a:off x="571500" y="1571625"/>
            <a:ext cx="5286375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31" name="Chart"/>
          <ns0:cNvGraphicFramePr/>
          <ns0:nvPr/>
        </ns0:nvGraphicFramePr>
        <ns0:xfrm>
          <a:off x="571500" y="1628775"/>
          <a:ext cx="5286375" cy="1885950"/>
        </ns0:xfrm>
        <a:graphic>
          <a:graphicData uri="http://schemas.openxmlformats.org/drawingml/2006/chart">
            <c:chart ns4:id="R56e933a50e1247e9"/>
          </a:graphicData>
        </a:graphic>
      </ns0:graphicFrame>
      <ns0:sp>
        <ns0:nvSpPr>
          <ns0:cNvPr id="11" name="">
            <a:extLst>
              <a:ext uri="{FF2B5EF4-FFF2-40B4-BE49-F238E27FC236}">
                <ns2:creationId id="{A970E3C4-CC6C-4F68-8D73-6C1172051DAC}"/>
              </a:ext>
            </a:extLst>
          </ns0:cNvPr>
          <ns0:cNvSpPr>
            <a:spLocks noGrp="1"/>
          </ns0:cNvSpPr>
          <ns0:nvPr/>
        </ns0:nvSpPr>
        <ns0:spPr>
          <a:xfrm>
            <a:off x="6334125" y="1304925"/>
            <a:ext cx="5286375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Volume registrado · R$ bi</a:t>
            </a:r>
          </a:p>
        </ns0:txBody>
      </ns0:sp>
      <ns0:sp>
        <ns0:nvSpPr>
          <ns0:cNvPr id="12" name="">
            <a:extLst>
              <a:ext uri="{FF2B5EF4-FFF2-40B4-BE49-F238E27FC236}">
                <ns2:creationId id="{BE552452-6E29-49EB-8B0F-5CA57F3D89DB}"/>
              </a:ext>
            </a:extLst>
          </ns0:cNvPr>
          <ns0:cNvSpPr>
            <a:spLocks noGrp="1"/>
          </ns0:cNvSpPr>
          <ns0:nvPr/>
        </ns0:nvSpPr>
        <ns0:spPr>
          <a:xfrm>
            <a:off x="6334125" y="1571625"/>
            <a:ext cx="5286375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34" name="Chart"/>
          <ns0:cNvGraphicFramePr/>
          <ns0:nvPr/>
        </ns0:nvGraphicFramePr>
        <ns0:xfrm>
          <a:off x="6334125" y="1628775"/>
          <a:ext cx="5286375" cy="1885950"/>
        </ns0:xfrm>
        <a:graphic>
          <a:graphicData uri="http://schemas.openxmlformats.org/drawingml/2006/chart">
            <c:chart ns4:id="R3490af0ea5b04763"/>
          </a:graphicData>
        </a:graphic>
      </ns0:graphicFrame>
      <ns0:graphicFrame>
        <ns0:nvGraphicFramePr>
          <ns0:cNvPr id="35" name="Chart"/>
          <ns0:cNvGraphicFramePr/>
          <ns0:nvPr/>
        </ns0:nvGraphicFramePr>
        <ns0:xfrm>
          <a:off x="4333875" y="3552825"/>
          <a:ext cx="3524250" cy="209550"/>
        </ns0:xfrm>
        <a:graphic>
          <a:graphicData uri="http://schemas.openxmlformats.org/drawingml/2006/chart">
            <c:chart ns4:id="Rdbe13822f469488f"/>
          </a:graphicData>
        </a:graphic>
      </ns0:graphicFrame>
      <ns0:sp>
        <ns0:nvSpPr>
          <ns0:cNvPr id="15" name="">
            <a:extLst>
              <a:ext uri="{FF2B5EF4-FFF2-40B4-BE49-F238E27FC236}">
                <ns2:creationId id="{12AB0760-242B-4B77-826D-0A01C9D25A38}"/>
              </a:ext>
            </a:extLst>
          </ns0:cNvPr>
          <ns0:cNvSpPr>
            <a:spLocks noGrp="1"/>
          </ns0:cNvSpPr>
          <ns0:nvPr/>
        </ns0:nvSpPr>
        <ns0:spPr>
          <a:xfrm>
            <a:off x="571500" y="3724275"/>
            <a:ext cx="5286375" cy="1333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70519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% do período (Melhores esforços / Garantia firme / Misto) · 2024FY: 94 / 4 / 3%   ·   2025FY: 95 / 3 / 1%   ·   2026 jan–jun: 96 / 3 / 2%</a:t>
            </a:r>
          </a:p>
        </ns0:txBody>
      </ns0:sp>
      <ns0:sp>
        <ns0:nvSpPr>
          <ns0:cNvPr id="16" name="">
            <a:extLst>
              <a:ext uri="{FF2B5EF4-FFF2-40B4-BE49-F238E27FC236}">
                <ns2:creationId id="{73CCBA3D-C863-4935-8220-E3AAFA9E8F63}"/>
              </a:ext>
            </a:extLst>
          </ns0:cNvPr>
          <ns0:cNvSpPr>
            <a:spLocks noGrp="1"/>
          </ns0:cNvSpPr>
          <ns0:nvPr/>
        </ns0:nvSpPr>
        <ns0:spPr>
          <a:xfrm>
            <a:off x="571500" y="3867150"/>
            <a:ext cx="5286375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Regime de colocação · número de ofertas</a:t>
            </a:r>
          </a:p>
        </ns0:txBody>
      </ns0:sp>
      <ns0:sp>
        <ns0:nvSpPr>
          <ns0:cNvPr id="17" name="">
            <a:extLst>
              <a:ext uri="{FF2B5EF4-FFF2-40B4-BE49-F238E27FC236}">
                <ns2:creationId id="{80E59CEF-29AA-4659-898A-1660AC8B0277}"/>
              </a:ext>
            </a:extLst>
          </ns0:cNvPr>
          <ns0:cNvSpPr>
            <a:spLocks noGrp="1"/>
          </ns0:cNvSpPr>
          <ns0:nvPr/>
        </ns0:nvSpPr>
        <ns0:spPr>
          <a:xfrm>
            <a:off x="571500" y="4133850"/>
            <a:ext cx="5286375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39" name="Chart"/>
          <ns0:cNvGraphicFramePr/>
          <ns0:nvPr/>
        </ns0:nvGraphicFramePr>
        <ns0:xfrm>
          <a:off x="571500" y="4171950"/>
          <a:ext cx="5286375" cy="1857375"/>
        </ns0:xfrm>
        <a:graphic>
          <a:graphicData uri="http://schemas.openxmlformats.org/drawingml/2006/chart">
            <c:chart ns4:id="Rf5534ed65edd4a81"/>
          </a:graphicData>
        </a:graphic>
      </ns0:graphicFrame>
      <ns0:sp>
        <ns0:nvSpPr>
          <ns0:cNvPr id="19" name="">
            <a:extLst>
              <a:ext uri="{FF2B5EF4-FFF2-40B4-BE49-F238E27FC236}">
                <ns2:creationId id="{A033EEAD-3EA7-4DE2-99D8-A8ADA40DFB75}"/>
              </a:ext>
            </a:extLst>
          </ns0:cNvPr>
          <ns0:cNvSpPr>
            <a:spLocks noGrp="1"/>
          </ns0:cNvSpPr>
          <ns0:nvPr/>
        </ns0:nvSpPr>
        <ns0:spPr>
          <a:xfrm>
            <a:off x="6334125" y="3867150"/>
            <a:ext cx="5286375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Regime de colocação · volume · R$ bi</a:t>
            </a:r>
          </a:p>
        </ns0:txBody>
      </ns0:sp>
      <ns0:sp>
        <ns0:nvSpPr>
          <ns0:cNvPr id="20" name="">
            <a:extLst>
              <a:ext uri="{FF2B5EF4-FFF2-40B4-BE49-F238E27FC236}">
                <ns2:creationId id="{5DA710A9-77C6-4695-80E5-99A6F668302E}"/>
              </a:ext>
            </a:extLst>
          </ns0:cNvPr>
          <ns0:cNvSpPr>
            <a:spLocks noGrp="1"/>
          </ns0:cNvSpPr>
          <ns0:nvPr/>
        </ns0:nvSpPr>
        <ns0:spPr>
          <a:xfrm>
            <a:off x="6334125" y="4133850"/>
            <a:ext cx="5286375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42" name="Chart"/>
          <ns0:cNvGraphicFramePr/>
          <ns0:nvPr/>
        </ns0:nvGraphicFramePr>
        <ns0:xfrm>
          <a:off x="6334125" y="4171950"/>
          <a:ext cx="5286375" cy="1857375"/>
        </ns0:xfrm>
        <a:graphic>
          <a:graphicData uri="http://schemas.openxmlformats.org/drawingml/2006/chart">
            <c:chart ns4:id="Rf86dae36ae94432a"/>
          </a:graphicData>
        </a:graphic>
      </ns0:graphicFrame>
    </ns0:spTree>
    <ns0:extLst>
      <ns0:ext uri="{BB962C8B-B14F-4D97-AF65-F5344CB8AC3E}">
        <ns5:creationId val="1218551065"/>
      </ns0:ext>
    </ns0:extLst>
  </ns0:cSld>
</ns0:sld>
</file>

<file path=ppt/slides/slide26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1" name="">
            <a:extLst>
              <a:ext uri="{FF2B5EF4-FFF2-40B4-BE49-F238E27FC236}">
                <ns2:creationId id="{55D6E6FA-3889-49B8-A048-A5208D022CF8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4095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IBBA esteve em 8 das 15 maiores ofertas do semestre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6AAD22FD-0A88-4711-A703-FB8BCF816877}"/>
              </a:ext>
            </a:extLst>
          </ns0:cNvPr>
          <ns0:cNvSpPr>
            <a:spLocks noGrp="1"/>
          </ns0:cNvSpPr>
          <ns0:nvPr/>
        </ns0:nvSpPr>
        <ns0:spPr>
          <a:xfrm>
            <a:off x="571500" y="723900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Liderou 5 delas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DA5E72C4-88D5-453F-9980-F442FE20D52C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B9A07A27-7A07-4528-9015-A64FF76F207D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B8E42273-6A67-429D-9C5E-791B7BF5007C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CVM/SRE e FundosNet. jan–jun/26, ofertas primárias encerradas; volume registrado.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24252D9B-B3CA-4979-9FAC-9A8F0C15E132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26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2D6C29C6-7C58-4698-9006-38E6F5DE720B}"/>
              </a:ext>
            </a:extLst>
          </ns0:cNvPr>
          <ns0:cNvSpPr>
            <a:spLocks noGrp="1"/>
          </ns0:cNvSpPr>
          <ns0:nvPr/>
        </ns0:nvSpPr>
        <ns0:spPr>
          <a:xfrm>
            <a:off x="571500" y="1143000"/>
            <a:ext cx="1104900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jan–jun/26 · Top 15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A35CECD9-B4CA-4931-B914-2BA95E82423E}"/>
              </a:ext>
            </a:extLst>
          </ns0:cNvPr>
          <ns0:cNvSpPr>
            <a:spLocks noGrp="1"/>
          </ns0:cNvSpPr>
          <ns0:nvPr/>
        </ns0:nvSpPr>
        <ns0:spPr>
          <a:xfrm>
            <a:off x="571500" y="13906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19" name=""/>
          <ns0:cNvGraphicFramePr/>
          <ns0:nvPr/>
        </ns0:nvGraphicFramePr>
        <ns0:xfrm>
          <a:off x="571500" y="1438275"/>
          <a:ext cx="11049000" cy="4705350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304800"/>
                <a:gridCol w="552450"/>
                <a:gridCol w="1333500"/>
                <a:gridCol w="2000250"/>
                <a:gridCol w="1190625"/>
                <a:gridCol w="1190625"/>
                <a:gridCol w="1047750"/>
                <a:gridCol w="1428750"/>
                <a:gridCol w="1285875"/>
                <a:gridCol w="714375"/>
              </a:tblGrid>
              <a:tr h="22145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Emis.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CNPJ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Originador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Cedente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Sub. mín.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Preço por cota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Sacado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24947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62393679000183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CloudWalk Bela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CloudWalk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1,0% até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R$ 1.000,00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5,50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22244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62588266000154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VTK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Facta*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2,85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25826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65976848000104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AGIBANK II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Agibank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2,50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24712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50114948000146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DRIVER BRASIL SIX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2,00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24433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63572282000111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SELLER 3 MEIOS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Mercado Pago /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10,0%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R$ 1.000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25379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63546406000194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Pine INSS III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Pine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1,25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26277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65839682000176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INVESTIMENTOS PICPAY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PicPay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1,25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23614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63733796000101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ICRED INSS II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ICred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24212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64118207000148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JIVEMAUÁ BOSSANOVA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24371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62393829000159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COMERCIAIS MEDICI 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Fornecedores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Multicedente*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BRF*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11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25708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28169275000172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PagSeguro 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PagSeguro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PagSeguro*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1,00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24266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63505455000189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IS GREEN SOLFACIL VII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Solfácil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0,77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13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26532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66226355000101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DAYCOVAL D413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0,75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23529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61669748000176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LAVORO FORNECEDORES DO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Lavoro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0,73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23032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44302112000172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CLASSE ÚNICA AGRO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Bayer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0,70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ns0:graphicFrame>
      <ns0:sp>
        <ns0:nvSpPr>
          <ns0:cNvPr id="10" name="">
            <a:extLst>
              <a:ext uri="{FF2B5EF4-FFF2-40B4-BE49-F238E27FC236}">
                <ns2:creationId id="{45BD516A-6651-474F-AF7E-C2011B9938AE}"/>
              </a:ext>
            </a:extLst>
          </ns0:cNvPr>
          <ns0:cNvSpPr>
            <a:spLocks noGrp="1"/>
          </ns0:cNvSpPr>
          <ns0:nvPr/>
        </ns0:nvSpPr>
        <ns0:spPr>
          <a:xfrm>
            <a:off x="571500" y="6172200"/>
            <a:ext cx="11049000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Subtotal: R$ 23,82 bi · 36,4% do período. * = exceção/múltiplas classes; campos integrais: aba Auditoria emissões.</a:t>
            </a:r>
          </a:p>
        </ns0:txBody>
      </ns0:sp>
    </ns0:spTree>
    <ns0:extLst>
      <ns0:ext uri="{BB962C8B-B14F-4D97-AF65-F5344CB8AC3E}">
        <ns3:creationId val="1036127352"/>
      </ns0:ext>
    </ns0:extLst>
  </ns0:cSld>
</ns0:sld>
</file>

<file path=ppt/slides/slide27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1" name="">
            <a:extLst>
              <a:ext uri="{FF2B5EF4-FFF2-40B4-BE49-F238E27FC236}">
                <ns2:creationId id="{47E3D18A-D2E6-4C55-BA3E-F716B259EA48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4095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As 15 maiores ofertas de 2025 mantêm a base anual de comparação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5451D673-0441-4A89-82DF-45B8C637CE3E}"/>
              </a:ext>
            </a:extLst>
          </ns0:cNvPr>
          <ns0:cNvSpPr>
            <a:spLocks noGrp="1"/>
          </ns0:cNvSpPr>
          <ns0:nvPr/>
        </ns0:nvSpPr>
        <ns0:spPr>
          <a:xfrm>
            <a:off x="571500" y="723900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2025FY · ofertas primárias encerradas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B5D9141A-99DA-49BD-810E-46DA5365C8ED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6CB0EBAA-91A7-4EB0-99A6-643C6A0D71FD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C6B25E34-553C-4DAA-822B-F98CD2A994D6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CVM/SRE e FundosNet. 2025FY, ofertas primárias encerradas; volume registrado.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32870B3E-2FFE-479A-82DB-A68594820010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27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C4534B22-C271-40F0-B02F-FD6286587209}"/>
              </a:ext>
            </a:extLst>
          </ns0:cNvPr>
          <ns0:cNvSpPr>
            <a:spLocks noGrp="1"/>
          </ns0:cNvSpPr>
          <ns0:nvPr/>
        </ns0:nvSpPr>
        <ns0:spPr>
          <a:xfrm>
            <a:off x="571500" y="1143000"/>
            <a:ext cx="1104900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2025 FY · Top 15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9F645BE6-3FD1-44CF-A8E1-533CA3F2B838}"/>
              </a:ext>
            </a:extLst>
          </ns0:cNvPr>
          <ns0:cNvSpPr>
            <a:spLocks noGrp="1"/>
          </ns0:cNvSpPr>
          <ns0:nvPr/>
        </ns0:nvSpPr>
        <ns0:spPr>
          <a:xfrm>
            <a:off x="571500" y="13906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19" name=""/>
          <ns0:cNvGraphicFramePr/>
          <ns0:nvPr/>
        </ns0:nvGraphicFramePr>
        <ns0:xfrm>
          <a:off x="571500" y="1438275"/>
          <a:ext cx="11049000" cy="4705350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304800"/>
                <a:gridCol w="552450"/>
                <a:gridCol w="1333500"/>
                <a:gridCol w="2000250"/>
                <a:gridCol w="1190625"/>
                <a:gridCol w="1190625"/>
                <a:gridCol w="1047750"/>
                <a:gridCol w="1428750"/>
                <a:gridCol w="1285875"/>
                <a:gridCol w="714375"/>
              </a:tblGrid>
              <a:tr h="22145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Emis.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CNPJ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Originador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Cedente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Sub. mín.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Preço por cota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Sacado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17862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47228232000165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AGRO FLEX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Carteira agro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3,40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20185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60356171000180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CW PI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CloudWalk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2,5%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R$ 1,00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3,14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23734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63662224000189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SANTANDER AUTO LOANS 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3,00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20351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60528786000146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AGIBANK 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Agibank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2,00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19640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59356753000187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ER - ENERGIA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1,90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21258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56924942000110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ASA LP II COTAS LIM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 aplicável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18230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47228232000165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AGRO FLEX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Carteira agro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20365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47228232000165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AGRO FLEX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Carteira agro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9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20694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50473039000102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Sellers 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Mercado Pago /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Mercado Livre*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10,0%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R$ 1.000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1,50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21550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60598366000136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BV AUTO II FINANCEIRO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BV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11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22987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63321684000143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PINE INSS II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Pine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1,25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19298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58349979000198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VOLKSWAGEN TERA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Volkswagen do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1,00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21006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61188091000125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BYX MOZART - CRÉDITO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21036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61271872000189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PINE INSS FINANCEIRO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Pine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21208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17250006000110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RED REAL LP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ns0:graphicFrame>
      <ns0:sp>
        <ns0:nvSpPr>
          <ns0:cNvPr id="10" name="">
            <a:extLst>
              <a:ext uri="{FF2B5EF4-FFF2-40B4-BE49-F238E27FC236}">
                <ns2:creationId id="{29CDC395-4BCC-4D3A-BFB7-E020CD3DC98D}"/>
              </a:ext>
            </a:extLst>
          </ns0:cNvPr>
          <ns0:cNvSpPr>
            <a:spLocks noGrp="1"/>
          </ns0:cNvSpPr>
          <ns0:nvPr/>
        </ns0:nvSpPr>
        <ns0:spPr>
          <a:xfrm>
            <a:off x="571500" y="6172200"/>
            <a:ext cx="11049000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Subtotal: R$ 26,23 bi · 22,4% do período. * = exceção/múltiplas classes; campos integrais: aba Auditoria emissões.</a:t>
            </a:r>
          </a:p>
        </ns0:txBody>
      </ns0:sp>
    </ns0:spTree>
    <ns0:extLst>
      <ns0:ext uri="{BB962C8B-B14F-4D97-AF65-F5344CB8AC3E}">
        <ns3:creationId val="469239004"/>
      </ns0:ext>
    </ns0:extLst>
  </ns0:cSld>
</ns0:sld>
</file>

<file path=ppt/slides/slide28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1" name="">
            <a:extLst>
              <a:ext uri="{FF2B5EF4-FFF2-40B4-BE49-F238E27FC236}">
                <ns2:creationId id="{E3A64F76-B696-4878-9E83-1ED2CF3C3528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TOP 15 · HISTÓRICO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8386A74B-7821-4592-9E6E-749F0A8A2492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"/>
            <a:ext cx="11049000" cy="4667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As maiores ofertas de 2024, com agência e nota em colunas separadas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D6928841-C4A2-42A3-8F34-A578BA528D42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0748C77E-DE1D-44BE-9426-3976E57B9660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E134D2D2-2F04-4878-97F8-1A8F40BDB0D1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CVM/SRE e FundosNet. 2024FY, ofertas primárias encerradas; volume registrado.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AD830223-9121-4382-BECD-33B1FDEF7B25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28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9ADD7538-DC66-465D-B4A7-A223DA09E10D}"/>
              </a:ext>
            </a:extLst>
          </ns0:cNvPr>
          <ns0:cNvSpPr>
            <a:spLocks noGrp="1"/>
          </ns0:cNvSpPr>
          <ns0:nvPr/>
        </ns0:nvSpPr>
        <ns0:spPr>
          <a:xfrm>
            <a:off x="571500" y="1143000"/>
            <a:ext cx="1104900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2024 FY · Top 15 · 1/2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EF566402-A17D-41E0-9BC8-AF0DE9CCCB19}"/>
              </a:ext>
            </a:extLst>
          </ns0:cNvPr>
          <ns0:cNvSpPr>
            <a:spLocks noGrp="1"/>
          </ns0:cNvSpPr>
          <ns0:nvPr/>
        </ns0:nvSpPr>
        <ns0:spPr>
          <a:xfrm>
            <a:off x="571500" y="13906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19" name=""/>
          <ns0:cNvGraphicFramePr/>
          <ns0:nvPr/>
        </ns0:nvGraphicFramePr>
        <ns0:xfrm>
          <a:off x="571500" y="1438275"/>
          <a:ext cx="11049000" cy="4095750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285750"/>
                <a:gridCol w="571500"/>
                <a:gridCol w="1266825"/>
                <a:gridCol w="1428750"/>
                <a:gridCol w="952500"/>
                <a:gridCol w="952500"/>
                <a:gridCol w="876300"/>
                <a:gridCol w="1285875"/>
                <a:gridCol w="1095375"/>
                <a:gridCol w="857250"/>
                <a:gridCol w="904875"/>
                <a:gridCol w="571500"/>
              </a:tblGrid>
              <a:tr h="22145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Emis.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CNPJ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Originador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Cedente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Sub. mín.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Preço por cota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Sacado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Agência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Rating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35629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18162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57532556000146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CLASSE A DO BV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BV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3,51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5629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15612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54979779000168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ACR BEM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Stone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S&amp;P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brAAA (sf)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3,50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5629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3627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47228232000165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AGRO FLEX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3,50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5629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3794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32321307000180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CITY - 02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Liberum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CCC(FE)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3,00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5629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4203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52256912000122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ACR 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Austin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brAAA(sf)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2,78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5629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17739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57609282000146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CLOUDWALK AGI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CloudWalk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Moody's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AAA.br(sf)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2,59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5629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15753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54810968000102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Angá FGTS III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BMG*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5629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15714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47228232000165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AGRO FLEX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</a:tbl>
          </a:graphicData>
        </a:graphic>
      </ns0:graphicFrame>
      <ns0:sp>
        <ns0:nvSpPr>
          <ns0:cNvPr id="10" name="">
            <a:extLst>
              <a:ext uri="{FF2B5EF4-FFF2-40B4-BE49-F238E27FC236}">
                <ns2:creationId id="{511DF9EC-4BD8-4052-9133-29D389C2C0F3}"/>
              </a:ext>
            </a:extLst>
          </ns0:cNvPr>
          <ns0:cNvSpPr>
            <a:spLocks noGrp="1"/>
          </ns0:cNvSpPr>
          <ns0:nvPr/>
        </ns0:nvSpPr>
        <ns0:spPr>
          <a:xfrm>
            <a:off x="571500" y="5715000"/>
            <a:ext cx="11049000" cy="3238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Continua em 2/2. Preço = valor unitário por cota; quantidade fica fora. * = exceção ou múltiplas classes.</a:t>
            </a:r>
          </a:p>
        </ns0:txBody>
      </ns0:sp>
    </ns0:spTree>
    <ns0:extLst>
      <ns0:ext uri="{BB962C8B-B14F-4D97-AF65-F5344CB8AC3E}">
        <ns3:creationId val="910858528"/>
      </ns0:ext>
    </ns0:extLst>
  </ns0:cSld>
</ns0:sld>
</file>

<file path=ppt/slides/slide29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1" name="">
            <a:extLst>
              <a:ext uri="{FF2B5EF4-FFF2-40B4-BE49-F238E27FC236}">
                <ns2:creationId id="{F0811270-5C11-4237-A54F-01BAE3755F1C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TOP 15 · HISTÓRICO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B2B9FEEF-D7A8-49DA-B29D-57580A607106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"/>
            <a:ext cx="11049000" cy="4667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As maiores ofertas de 2024, com agência e nota em colunas separadas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F43BB65D-43A4-4DD4-A4A9-185F97C32A16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453EE4A6-5B32-4A4C-B48C-7433D861B8BD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90DC91C3-979A-4409-9E74-177A59458C10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CVM/SRE e FundosNet. 2024FY, ofertas primárias encerradas; volume registrado.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244AFD92-2FD9-4A91-9C81-DA190D665605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29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62EAC533-5708-445A-9E3B-A1E3B682DDF1}"/>
              </a:ext>
            </a:extLst>
          </ns0:cNvPr>
          <ns0:cNvSpPr>
            <a:spLocks noGrp="1"/>
          </ns0:cNvSpPr>
          <ns0:nvPr/>
        </ns0:nvSpPr>
        <ns0:spPr>
          <a:xfrm>
            <a:off x="571500" y="1143000"/>
            <a:ext cx="1104900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2024 FY · Top 15 · 2/2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B7C99E51-2B29-4D16-B80E-F2C50D43BB23}"/>
              </a:ext>
            </a:extLst>
          </ns0:cNvPr>
          <ns0:cNvSpPr>
            <a:spLocks noGrp="1"/>
          </ns0:cNvSpPr>
          <ns0:nvPr/>
        </ns0:nvSpPr>
        <ns0:spPr>
          <a:xfrm>
            <a:off x="571500" y="13906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19" name=""/>
          <ns0:cNvGraphicFramePr/>
          <ns0:nvPr/>
        </ns0:nvGraphicFramePr>
        <ns0:xfrm>
          <a:off x="571500" y="1438275"/>
          <a:ext cx="11049000" cy="4095750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285750"/>
                <a:gridCol w="571500"/>
                <a:gridCol w="1266825"/>
                <a:gridCol w="1428750"/>
                <a:gridCol w="952500"/>
                <a:gridCol w="952500"/>
                <a:gridCol w="876300"/>
                <a:gridCol w="1285875"/>
                <a:gridCol w="1095375"/>
                <a:gridCol w="857250"/>
                <a:gridCol w="904875"/>
                <a:gridCol w="571500"/>
              </a:tblGrid>
              <a:tr h="22145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Emis.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CNPJ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Originador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Cedente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Sub. mín.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Preço por cota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Sacado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Agência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Rating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40719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18270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46450551000158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D365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D365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40719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16416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55471753000177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SELLER II MEIOS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Mercado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33,3%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R$ 1.000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S&amp;P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brAAA (sf)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40719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18027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28169275000172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PagSeguro 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PagSeguro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PagSeguro*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40719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3687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46073195000109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AGRO CITI-SYNGENTA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0,90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40719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18122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57028406000108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IS GREEN SOLFACIL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Solfácil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Solfácil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Austin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brAA(sf)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0,90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40719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14966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54218673000141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CW Big Pic. 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CloudWalk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2,5%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R$ 1.000,00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Moody's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AAA.br(sf)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0,88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40719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15820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55070804000159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Estrat. Vinc. II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IBM*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0,85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ns0:graphicFrame>
      <ns0:sp>
        <ns0:nvSpPr>
          <ns0:cNvPr id="10" name="">
            <a:extLst>
              <a:ext uri="{FF2B5EF4-FFF2-40B4-BE49-F238E27FC236}">
                <ns2:creationId id="{AB2FF3A6-8CDF-4A3A-93F1-2F6820F49E33}"/>
              </a:ext>
            </a:extLst>
          </ns0:cNvPr>
          <ns0:cNvSpPr>
            <a:spLocks noGrp="1"/>
          </ns0:cNvSpPr>
          <ns0:nvPr/>
        </ns0:nvSpPr>
        <ns0:spPr>
          <a:xfrm>
            <a:off x="571500" y="5715000"/>
            <a:ext cx="11049000" cy="3238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Subtotal Top 15: R$ 28,93 bi · 30,3% do período. * = exceção ou múltiplas classes.</a:t>
            </a:r>
          </a:p>
        </ns0:txBody>
      </ns0:sp>
    </ns0:spTree>
    <ns0:extLst>
      <ns0:ext uri="{BB962C8B-B14F-4D97-AF65-F5344CB8AC3E}">
        <ns3:creationId val="1155882962"/>
      </ns0:ext>
    </ns0:extLst>
  </ns0:cSld>
</ns0:sld>
</file>

<file path=ppt/slides/slide30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1" name="">
            <a:extLst>
              <a:ext uri="{FF2B5EF4-FFF2-40B4-BE49-F238E27FC236}">
                <ns2:creationId id="{EC59B063-F9B0-4064-8AE4-D2C05563ED53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TOP 15 · HISTÓRICO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D3A56980-D011-4E9D-B1C3-04D454B37DA7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"/>
            <a:ext cx="11049000" cy="4667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As maiores ofertas de 2023, com agência e nota em colunas separadas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26766631-E4D1-405D-9AD4-E9713DF123F8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901FA5D7-BD84-4F12-BB73-DB9B8EBBCF34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8D066AAA-F84F-415B-81D0-4E0DBA9F6FBC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CVM/SRE e FundosNet. 2023FY, ofertas primárias encerradas; volume registrado.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BAA4A4AD-0C59-410F-991E-5E32E5D72AD7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30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024E0713-C15B-4559-97F0-6C507A8B0EC8}"/>
              </a:ext>
            </a:extLst>
          </ns0:cNvPr>
          <ns0:cNvSpPr>
            <a:spLocks noGrp="1"/>
          </ns0:cNvSpPr>
          <ns0:nvPr/>
        </ns0:nvSpPr>
        <ns0:spPr>
          <a:xfrm>
            <a:off x="571500" y="1143000"/>
            <a:ext cx="1104900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2023 FY · Top 15 · 1/2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EA97350A-5A02-4D5A-97AB-3DAB707BBC45}"/>
              </a:ext>
            </a:extLst>
          </ns0:cNvPr>
          <ns0:cNvSpPr>
            <a:spLocks noGrp="1"/>
          </ns0:cNvSpPr>
          <ns0:nvPr/>
        </ns0:nvSpPr>
        <ns0:spPr>
          <a:xfrm>
            <a:off x="571500" y="13906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19" name=""/>
          <ns0:cNvGraphicFramePr/>
          <ns0:nvPr/>
        </ns0:nvGraphicFramePr>
        <ns0:xfrm>
          <a:off x="571500" y="1438275"/>
          <a:ext cx="11049000" cy="4095750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285750"/>
                <a:gridCol w="571500"/>
                <a:gridCol w="1266825"/>
                <a:gridCol w="1428750"/>
                <a:gridCol w="952500"/>
                <a:gridCol w="952500"/>
                <a:gridCol w="876300"/>
                <a:gridCol w="1285875"/>
                <a:gridCol w="1095375"/>
                <a:gridCol w="857250"/>
                <a:gridCol w="904875"/>
                <a:gridCol w="571500"/>
              </a:tblGrid>
              <a:tr h="22145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Emis.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CNPJ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Originador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Cedente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Sub. mín.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Preço por cota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Sacado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Agência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Rating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35629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1758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50473039000102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SELLER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Mercado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Mercado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10,0%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R$ 1.000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5629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3483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51983832000106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ACR IV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S&amp;P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brAAA (sf)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5629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816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48905593000161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PÁTRIA INFRA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0,98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5629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3468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52720932000102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CLIENTES BRF II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0,94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5629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1744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50114948000146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DRIVER BRASIL SIX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0,70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5629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2925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51957370000152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Angá FGTS 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Austin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brAA+(sf)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0,61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5629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578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49306883000151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TERRAMAR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0,51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5629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3491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47936340000192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OPEA AGRO INSUMOS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BASF*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0,50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</a:tbl>
          </a:graphicData>
        </a:graphic>
      </ns0:graphicFrame>
      <ns0:sp>
        <ns0:nvSpPr>
          <ns0:cNvPr id="10" name="">
            <a:extLst>
              <a:ext uri="{FF2B5EF4-FFF2-40B4-BE49-F238E27FC236}">
                <ns2:creationId id="{BAFC3A95-0433-4AF2-AA85-831ADB183022}"/>
              </a:ext>
            </a:extLst>
          </ns0:cNvPr>
          <ns0:cNvSpPr>
            <a:spLocks noGrp="1"/>
          </ns0:cNvSpPr>
          <ns0:nvPr/>
        </ns0:nvSpPr>
        <ns0:spPr>
          <a:xfrm>
            <a:off x="571500" y="5715000"/>
            <a:ext cx="11049000" cy="3238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Continua em 2/2. Preço = valor unitário por cota; quantidade fica fora. * = exceção ou múltiplas classes.</a:t>
            </a:r>
          </a:p>
        </ns0:txBody>
      </ns0:sp>
    </ns0:spTree>
    <ns0:extLst>
      <ns0:ext uri="{BB962C8B-B14F-4D97-AF65-F5344CB8AC3E}">
        <ns3:creationId val="1988882183"/>
      </ns0:ext>
    </ns0:extLst>
  </ns0:cSld>
</ns0:sld>
</file>

<file path=ppt/slides/slide31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1" name="">
            <a:extLst>
              <a:ext uri="{FF2B5EF4-FFF2-40B4-BE49-F238E27FC236}">
                <ns2:creationId id="{BC825D10-58EF-4831-99CE-400A57BAD222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TOP 15 · HISTÓRICO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272A400D-B205-49C4-8848-6876F7DD97B0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"/>
            <a:ext cx="11049000" cy="4667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As maiores ofertas de 2023, com agência e nota em colunas separadas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3AA33A6A-4407-4F63-A335-0618D69672B6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311772F7-9038-471B-8706-6474A8233245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0EFE2978-DF8A-4C63-9472-3C6555F61715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CVM/SRE e FundosNet. 2023FY, ofertas primárias encerradas; volume registrado.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1C65ED8B-DBE6-48AA-9C3C-19BD01A84229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31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A2E64F37-FD30-4A73-B8A7-7300E1609A09}"/>
              </a:ext>
            </a:extLst>
          </ns0:cNvPr>
          <ns0:cNvSpPr>
            <a:spLocks noGrp="1"/>
          </ns0:cNvSpPr>
          <ns0:nvPr/>
        </ns0:nvSpPr>
        <ns0:spPr>
          <a:xfrm>
            <a:off x="571500" y="1143000"/>
            <a:ext cx="1104900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2023 FY · Top 15 · 2/2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39A7047A-E787-4294-9B22-E533CB1DC449}"/>
              </a:ext>
            </a:extLst>
          </ns0:cNvPr>
          <ns0:cNvSpPr>
            <a:spLocks noGrp="1"/>
          </ns0:cNvSpPr>
          <ns0:nvPr/>
        </ns0:nvSpPr>
        <ns0:spPr>
          <a:xfrm>
            <a:off x="571500" y="13906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19" name=""/>
          <ns0:cNvGraphicFramePr/>
          <ns0:nvPr/>
        </ns0:nvGraphicFramePr>
        <ns0:xfrm>
          <a:off x="571500" y="1438275"/>
          <a:ext cx="11049000" cy="4095750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285750"/>
                <a:gridCol w="571500"/>
                <a:gridCol w="1266825"/>
                <a:gridCol w="1428750"/>
                <a:gridCol w="952500"/>
                <a:gridCol w="952500"/>
                <a:gridCol w="876300"/>
                <a:gridCol w="1285875"/>
                <a:gridCol w="1095375"/>
                <a:gridCol w="857250"/>
                <a:gridCol w="904875"/>
                <a:gridCol w="571500"/>
              </a:tblGrid>
              <a:tr h="22145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Emis.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CNPJ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Originador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Cedente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Sub. mín.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Preço por cota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Sacado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Agência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Rating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40719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3865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34850088000152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SUMUP I MEIOS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S&amp;P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brAAA (sf)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0,50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40719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2036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49920525000134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GREEN SOLFÁCIL III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Fitch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AA+sf(bra)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0,48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40719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2004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50098465000103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CHEMICAL XIII - -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Braskem*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0,44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40719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1131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24761946000139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CREDZ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0,40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40719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3138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50988212000105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SUPPLIER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Supplier*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0,40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40719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1519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50440392000188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PLATINUM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0,36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40719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1433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35159296000172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ATRANI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0,30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ns0:graphicFrame>
      <ns0:sp>
        <ns0:nvSpPr>
          <ns0:cNvPr id="10" name="">
            <a:extLst>
              <a:ext uri="{FF2B5EF4-FFF2-40B4-BE49-F238E27FC236}">
                <ns2:creationId id="{09F2F756-65CA-4807-8F5D-FFD9E13CE4A7}"/>
              </a:ext>
            </a:extLst>
          </ns0:cNvPr>
          <ns0:cNvSpPr>
            <a:spLocks noGrp="1"/>
          </ns0:cNvSpPr>
          <ns0:nvPr/>
        </ns0:nvSpPr>
        <ns0:spPr>
          <a:xfrm>
            <a:off x="571500" y="5715000"/>
            <a:ext cx="11049000" cy="3238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Subtotal Top 15: R$ 9,65 bi · 36,5% do período. * = exceção ou múltiplas classes.</a:t>
            </a:r>
          </a:p>
        </ns0:txBody>
      </ns0:sp>
    </ns0:spTree>
    <ns0:extLst>
      <ns0:ext uri="{BB962C8B-B14F-4D97-AF65-F5344CB8AC3E}">
        <ns3:creationId val="459598929"/>
      </ns0:ext>
    </ns0:extLst>
  </ns0:cSld>
</ns0:sld>
</file>

<file path=ppt/slides/slide32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28" name="">
            <a:extLst>
              <a:ext uri="{FF2B5EF4-FFF2-40B4-BE49-F238E27FC236}">
                <ns2:creationId id="{AD0BF09D-4C6C-4AB7-A481-F8E7B7719720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4095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O que muda a leitura do mercado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E652E9F1-3017-45C8-8011-725B6A802653}"/>
              </a:ext>
            </a:extLst>
          </ns0:cNvPr>
          <ns0:cNvSpPr>
            <a:spLocks noGrp="1"/>
          </ns0:cNvSpPr>
          <ns0:nvPr/>
        </ns0:nvSpPr>
        <ns0:spPr>
          <a:xfrm>
            <a:off x="571500" y="723900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Distribuição, prestadores, migração e ofertas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E93FBF14-52DC-43A6-9E3A-C2630AFD4864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519195EC-985B-4CAD-9CB3-A144AF84182C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001FB3C5-3F70-4796-AEE3-375CBDB741E1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56284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CVM, ANBIMA e BCB; coorte bancária curada a partir dos conglomerados prudenciais. PF: proxy com 97,3% de cobertura; contas não equivalem a investidores únicos. Verticalização no universo elegível; Top 10 ex-Petrobras/TAPSO. BTG: 30/32 raízes observadas; ofertas CVM e ANBIMA até 30/jun/26.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1F251AB4-4368-4E99-BE34-181800548F10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32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B1029110-F77F-4256-80EF-CED49D116CC0}"/>
              </a:ext>
            </a:extLst>
          </ns0:cNvPr>
          <ns0:cNvSpPr>
            <a:spLocks noGrp="1"/>
          </ns0:cNvSpPr>
          <ns0:nvPr/>
        </ns0:nvSpPr>
        <ns0:spPr>
          <a:xfrm>
            <a:off x="571500" y="1257300"/>
            <a:ext cx="51435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01 · DISTRIBUIÇÃO APÓS A RCVM 175 SEGUE INSTITUCIONAL E CONCENTRADA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C8B444D6-02DB-40FE-8207-A021FD28ECDF}"/>
              </a:ext>
            </a:extLst>
          </ns0:cNvPr>
          <ns0:cNvSpPr>
            <a:spLocks noGrp="1"/>
          </ns0:cNvSpPr>
          <ns0:nvPr/>
        </ns0:nvSpPr>
        <ns0:spPr>
          <a:xfrm>
            <a:off x="571500" y="1495425"/>
            <a:ext cx="5143500" cy="8191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2000"/>
              </a:lnSpc>
              <a:buNone/>
              <a:def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A mediana foi de R$ 22,5 mi, apenas 26% do ticket médio de R$ 84,9 mi; 22 ofertas de R$ 500 mi ou mais — 2,9% do total — concentraram 42,2% do volume.</a:t>
            </a:r>
          </a:p>
          <a:p>
            <a:pPr algn="l">
              <a:lnSpc>
                <a:spcPct val="102000"/>
              </a:lnSpc>
              <a:buNone/>
              <a:def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Pessoas físicas responderam por apenas 4,0% do volume colocado estimado; entre os fundos com PL ≥ R$ 200 mi, 58,4% têm até dez contas.</a:t>
            </a:r>
          </a:p>
        </ns0:txBody>
      </ns0:sp>
      <ns0:sp>
        <ns0:nvSpPr>
          <ns0:cNvPr id="9" name="">
            <a:extLst>
              <a:ext uri="{FF2B5EF4-FFF2-40B4-BE49-F238E27FC236}">
                <ns2:creationId id="{15DA37D5-E62D-480D-98A9-4E3793B55579}"/>
              </a:ext>
            </a:extLst>
          </ns0:cNvPr>
          <ns0:cNvSpPr>
            <a:spLocks noGrp="1"/>
          </ns0:cNvSpPr>
          <ns0:nvPr/>
        </ns0:nvSpPr>
        <ns0:spPr>
          <a:xfrm>
            <a:off x="571500" y="2371725"/>
            <a:ext cx="5143500" cy="6668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10" name="">
            <a:extLst>
              <a:ext uri="{FF2B5EF4-FFF2-40B4-BE49-F238E27FC236}">
                <ns2:creationId id="{5632788D-3268-4688-9DFD-2669EAFC56F6}"/>
              </a:ext>
            </a:extLst>
          </ns0:cNvPr>
          <ns0:cNvSpPr>
            <a:spLocks noGrp="1"/>
          </ns0:cNvSpPr>
          <ns0:nvPr/>
        </ns0:nvSpPr>
        <ns0:spPr>
          <a:xfrm>
            <a:off x="6286500" y="1257300"/>
            <a:ext cx="51435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02 · VERTICALIZAÇÃO DEFINE O MODELO OPERACIONAL DA INDÚSTRIA</a:t>
            </a:r>
          </a:p>
        </ns0:txBody>
      </ns0:sp>
      <ns0:sp>
        <ns0:nvSpPr>
          <ns0:cNvPr id="11" name="">
            <a:extLst>
              <a:ext uri="{FF2B5EF4-FFF2-40B4-BE49-F238E27FC236}">
                <ns2:creationId id="{369B7A79-0914-4CD9-B44D-35A2475048A2}"/>
              </a:ext>
            </a:extLst>
          </ns0:cNvPr>
          <ns0:cNvSpPr>
            <a:spLocks noGrp="1"/>
          </ns0:cNvSpPr>
          <ns0:nvPr/>
        </ns0:nvSpPr>
        <ns0:spPr>
          <a:xfrm>
            <a:off x="6286500" y="1495425"/>
            <a:ext cx="5143500" cy="8191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2000"/>
              </a:lnSpc>
              <a:buNone/>
              <a:def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Administração e custódia estão no mesmo conglomerado em 90,7% do PL: nove em cada dez reais da indústria.</a:t>
            </a:r>
          </a:p>
          <a:p>
            <a:pPr algn="l">
              <a:lnSpc>
                <a:spcPct val="102000"/>
              </a:lnSpc>
              <a:buNone/>
              <a:def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Monoestruturas, com as três funções no mesmo grupo, já concentram 40,4% do PL.</a:t>
            </a:r>
          </a:p>
        </ns0:txBody>
      </ns0:sp>
      <ns0:sp>
        <ns0:nvSpPr>
          <ns0:cNvPr id="12" name="">
            <a:extLst>
              <a:ext uri="{FF2B5EF4-FFF2-40B4-BE49-F238E27FC236}">
                <ns2:creationId id="{F1BD9411-3B85-4203-9D66-DED5D990AD4B}"/>
              </a:ext>
            </a:extLst>
          </ns0:cNvPr>
          <ns0:cNvSpPr>
            <a:spLocks noGrp="1"/>
          </ns0:cNvSpPr>
          <ns0:nvPr/>
        </ns0:nvSpPr>
        <ns0:spPr>
          <a:xfrm>
            <a:off x="6286500" y="2371725"/>
            <a:ext cx="5143500" cy="6668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13" name="">
            <a:extLst>
              <a:ext uri="{FF2B5EF4-FFF2-40B4-BE49-F238E27FC236}">
                <ns2:creationId id="{A271C5F2-64A4-4719-A69B-5DE137BDAFC3}"/>
              </a:ext>
            </a:extLst>
          </ns0:cNvPr>
          <ns0:cNvSpPr>
            <a:spLocks noGrp="1"/>
          </ns0:cNvSpPr>
          <ns0:nvPr/>
        </ns0:nvSpPr>
        <ns0:spPr>
          <a:xfrm>
            <a:off x="571500" y="2476500"/>
            <a:ext cx="51435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03 · ESCALA INDEPENDENTE ESTÁ CONCENTRADA EM POUCAS PLATAFORMAS</a:t>
            </a:r>
          </a:p>
        </ns0:txBody>
      </ns0:sp>
      <ns0:sp>
        <ns0:nvSpPr>
          <ns0:cNvPr id="14" name="">
            <a:extLst>
              <a:ext uri="{FF2B5EF4-FFF2-40B4-BE49-F238E27FC236}">
                <ns2:creationId id="{09A435E3-E9CA-4965-889F-72D3D742E359}"/>
              </a:ext>
            </a:extLst>
          </ns0:cNvPr>
          <ns0:cNvSpPr>
            <a:spLocks noGrp="1"/>
          </ns0:cNvSpPr>
          <ns0:nvPr/>
        </ns0:nvSpPr>
        <ns0:spPr>
          <a:xfrm>
            <a:off x="571500" y="2714625"/>
            <a:ext cx="5143500" cy="8191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2000"/>
              </a:lnSpc>
              <a:buNone/>
              <a:def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QI Tech lidera administração e está em empate técnico com o BTG em custódia; 96% de sua base administrativa em dez/24 veio do legado Singulare.</a:t>
            </a:r>
          </a:p>
          <a:p>
            <a:pPr algn="l">
              <a:lnSpc>
                <a:spcPct val="102000"/>
              </a:lnSpc>
              <a:buNone/>
              <a:def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Oliveira Trust é a terceira maior gestora, com R$ 35,0 bi; na coorte CBSF/Reag, 35,1% do PL continuante já havia migrado de administrador até jun/26.</a:t>
            </a:r>
          </a:p>
        </ns0:txBody>
      </ns0:sp>
      <ns0:sp>
        <ns0:nvSpPr>
          <ns0:cNvPr id="15" name="">
            <a:extLst>
              <a:ext uri="{FF2B5EF4-FFF2-40B4-BE49-F238E27FC236}">
                <ns2:creationId id="{48A32D1A-6212-4EA5-8FC2-5B7E99D70B74}"/>
              </a:ext>
            </a:extLst>
          </ns0:cNvPr>
          <ns0:cNvSpPr>
            <a:spLocks noGrp="1"/>
          </ns0:cNvSpPr>
          <ns0:nvPr/>
        </ns0:nvSpPr>
        <ns0:spPr>
          <a:xfrm>
            <a:off x="571500" y="3590925"/>
            <a:ext cx="5143500" cy="6668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16" name="">
            <a:extLst>
              <a:ext uri="{FF2B5EF4-FFF2-40B4-BE49-F238E27FC236}">
                <ns2:creationId id="{3635994B-EE1B-4613-B49D-F5421FC4B7D6}"/>
              </a:ext>
            </a:extLst>
          </ns0:cNvPr>
          <ns0:cNvSpPr>
            <a:spLocks noGrp="1"/>
          </ns0:cNvSpPr>
          <ns0:nvPr/>
        </ns0:nvSpPr>
        <ns0:spPr>
          <a:xfrm>
            <a:off x="6286500" y="2476500"/>
            <a:ext cx="51435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04 · MOVIMENTAÇÃO DE ADMINISTRADORES FOI BAIXA E CONCENTRADA</a:t>
            </a:r>
          </a:p>
        </ns0:txBody>
      </ns0:sp>
      <ns0:sp>
        <ns0:nvSpPr>
          <ns0:cNvPr id="17" name="">
            <a:extLst>
              <a:ext uri="{FF2B5EF4-FFF2-40B4-BE49-F238E27FC236}">
                <ns2:creationId id="{550AFF01-DD69-4313-9B92-20AD5BF82FDB}"/>
              </a:ext>
            </a:extLst>
          </ns0:cNvPr>
          <ns0:cNvSpPr>
            <a:spLocks noGrp="1"/>
          </ns0:cNvSpPr>
          <ns0:nvPr/>
        </ns0:nvSpPr>
        <ns0:spPr>
          <a:xfrm>
            <a:off x="6286500" y="2714625"/>
            <a:ext cx="5143500" cy="8191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2000"/>
              </a:lnSpc>
              <a:buNone/>
              <a:def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Apenas 7,6% do PL comparável trocou de administrador entre dez/24 e dez/25: R$ 32,4 bi em 243 fundos.</a:t>
            </a:r>
          </a:p>
          <a:p>
            <a:pPr algn="l">
              <a:lnSpc>
                <a:spcPct val="102000"/>
              </a:lnSpc>
              <a:buNone/>
              <a:def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Os dois FIDCs Cielo responderam sozinhos por 28% do volume migrado, com R$ 8,9 bi transferidos de Oliveira Trust para Bradesco.</a:t>
            </a:r>
          </a:p>
        </ns0:txBody>
      </ns0:sp>
      <ns0:sp>
        <ns0:nvSpPr>
          <ns0:cNvPr id="18" name="">
            <a:extLst>
              <a:ext uri="{FF2B5EF4-FFF2-40B4-BE49-F238E27FC236}">
                <ns2:creationId id="{703C576F-2923-4FAD-AB26-F31D913F97AF}"/>
              </a:ext>
            </a:extLst>
          </ns0:cNvPr>
          <ns0:cNvSpPr>
            <a:spLocks noGrp="1"/>
          </ns0:cNvSpPr>
          <ns0:nvPr/>
        </ns0:nvSpPr>
        <ns0:spPr>
          <a:xfrm>
            <a:off x="6286500" y="3590925"/>
            <a:ext cx="5143500" cy="6668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19" name="">
            <a:extLst>
              <a:ext uri="{FF2B5EF4-FFF2-40B4-BE49-F238E27FC236}">
                <ns2:creationId id="{A89E7DE5-CFFA-4E1D-B52B-20329D7645CC}"/>
              </a:ext>
            </a:extLst>
          </ns0:cNvPr>
          <ns0:cNvSpPr>
            <a:spLocks noGrp="1"/>
          </ns0:cNvSpPr>
          <ns0:nvPr/>
        </ns0:nvSpPr>
        <ns0:spPr>
          <a:xfrm>
            <a:off x="571500" y="3695700"/>
            <a:ext cx="51435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05 · GESTÃO É A FUNÇÃO MAIS PULVERIZADA</a:t>
            </a:r>
          </a:p>
        </ns0:txBody>
      </ns0:sp>
      <ns0:sp>
        <ns0:nvSpPr>
          <ns0:cNvPr id="20" name="">
            <a:extLst>
              <a:ext uri="{FF2B5EF4-FFF2-40B4-BE49-F238E27FC236}">
                <ns2:creationId id="{53FE6E44-0AB6-4CE7-9AAC-7A8C8C6E8C96}"/>
              </a:ext>
            </a:extLst>
          </ns0:cNvPr>
          <ns0:cNvSpPr>
            <a:spLocks noGrp="1"/>
          </ns0:cNvSpPr>
          <ns0:nvPr/>
        </ns0:nvSpPr>
        <ns0:spPr>
          <a:xfrm>
            <a:off x="571500" y="3933825"/>
            <a:ext cx="5143500" cy="8191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2000"/>
              </a:lnSpc>
              <a:buNone/>
              <a:def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As dez maiores gestoras reúnem apenas 38,9% do PL ex-FIC; a líder, BTG, tem 11,0%.</a:t>
            </a:r>
          </a:p>
          <a:p>
            <a:pPr algn="l">
              <a:lnSpc>
                <a:spcPct val="102000"/>
              </a:lnSpc>
              <a:buNone/>
              <a:def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Administração e custódia têm, respectivamente, 71,5% e 73,5% do PL nos dez maiores grupos, praticamente o dobro da concentração em gestão.</a:t>
            </a:r>
          </a:p>
        </ns0:txBody>
      </ns0:sp>
      <ns0:sp>
        <ns0:nvSpPr>
          <ns0:cNvPr id="21" name="">
            <a:extLst>
              <a:ext uri="{FF2B5EF4-FFF2-40B4-BE49-F238E27FC236}">
                <ns2:creationId id="{E23FBEB2-C09E-4F4E-9C21-20CC8B9CF4E5}"/>
              </a:ext>
            </a:extLst>
          </ns0:cNvPr>
          <ns0:cNvSpPr>
            <a:spLocks noGrp="1"/>
          </ns0:cNvSpPr>
          <ns0:nvPr/>
        </ns0:nvSpPr>
        <ns0:spPr>
          <a:xfrm>
            <a:off x="571500" y="4810125"/>
            <a:ext cx="5143500" cy="6668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22" name="">
            <a:extLst>
              <a:ext uri="{FF2B5EF4-FFF2-40B4-BE49-F238E27FC236}">
                <ns2:creationId id="{7514FC61-EEC1-4903-9A8C-CCDA18DCBB97}"/>
              </a:ext>
            </a:extLst>
          </ns0:cNvPr>
          <ns0:cNvSpPr>
            <a:spLocks noGrp="1"/>
          </ns0:cNvSpPr>
          <ns0:nvPr/>
        </ns0:nvSpPr>
        <ns0:spPr>
          <a:xfrm>
            <a:off x="6286500" y="3695700"/>
            <a:ext cx="51435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06 · COORTE BANCÁRIA EXPLICA DOIS TERÇOS DO COMBO COMPLETO DO BTG</a:t>
            </a:r>
          </a:p>
        </ns0:txBody>
      </ns0:sp>
      <ns0:sp>
        <ns0:nvSpPr>
          <ns0:cNvPr id="23" name="">
            <a:extLst>
              <a:ext uri="{FF2B5EF4-FFF2-40B4-BE49-F238E27FC236}">
                <ns2:creationId id="{B4C776D1-6459-4A97-8068-126C53BD05A3}"/>
              </a:ext>
            </a:extLst>
          </ns0:cNvPr>
          <ns0:cNvSpPr>
            <a:spLocks noGrp="1"/>
          </ns0:cNvSpPr>
          <ns0:nvPr/>
        </ns0:nvSpPr>
        <ns0:spPr>
          <a:xfrm>
            <a:off x="6286500" y="3933825"/>
            <a:ext cx="5143500" cy="8191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2000"/>
              </a:lnSpc>
              <a:buNone/>
              <a:def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Dos 30 FIDCs observados na coorte BTG, 22 concentram as três funções no grupo e representam 98% do PL da coorte — R$ 51,3 bi.</a:t>
            </a:r>
          </a:p>
          <a:p>
            <a:pPr algn="l">
              <a:lnSpc>
                <a:spcPct val="102000"/>
              </a:lnSpc>
              <a:buNone/>
              <a:def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Os R$ 51,3 bi da coorte equivalem a 66,0% dos R$ 77,7 bi de PL ex-FIC atendidos pelo BTG nas três funções.</a:t>
            </a:r>
          </a:p>
        </ns0:txBody>
      </ns0:sp>
      <ns0:sp>
        <ns0:nvSpPr>
          <ns0:cNvPr id="24" name="">
            <a:extLst>
              <a:ext uri="{FF2B5EF4-FFF2-40B4-BE49-F238E27FC236}">
                <ns2:creationId id="{3BDF99DC-7125-485D-8CEE-D96B465999BF}"/>
              </a:ext>
            </a:extLst>
          </ns0:cNvPr>
          <ns0:cNvSpPr>
            <a:spLocks noGrp="1"/>
          </ns0:cNvSpPr>
          <ns0:nvPr/>
        </ns0:nvSpPr>
        <ns0:spPr>
          <a:xfrm>
            <a:off x="6286500" y="4810125"/>
            <a:ext cx="5143500" cy="6668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25" name="">
            <a:extLst>
              <a:ext uri="{FF2B5EF4-FFF2-40B4-BE49-F238E27FC236}">
                <ns2:creationId id="{211BE1E7-CC3C-4208-9239-FA99F3B8D92F}"/>
              </a:ext>
            </a:extLst>
          </ns0:cNvPr>
          <ns0:cNvSpPr>
            <a:spLocks noGrp="1"/>
          </ns0:cNvSpPr>
          <ns0:nvPr/>
        </ns0:nvSpPr>
        <ns0:spPr>
          <a:xfrm>
            <a:off x="571500" y="4914900"/>
            <a:ext cx="51435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96709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07 · EMISSÕES ACELERARAM; A MAIOR OFERTA EXPLICA DOIS TERÇOS DO AVANÇO</a:t>
            </a:r>
          </a:p>
        </ns0:txBody>
      </ns0:sp>
      <ns0:sp>
        <ns0:nvSpPr>
          <ns0:cNvPr id="26" name="">
            <a:extLst>
              <a:ext uri="{FF2B5EF4-FFF2-40B4-BE49-F238E27FC236}">
                <ns2:creationId id="{92E862B3-FBDE-4361-95F4-22275EE09DD2}"/>
              </a:ext>
            </a:extLst>
          </ns0:cNvPr>
          <ns0:cNvSpPr>
            <a:spLocks noGrp="1"/>
          </ns0:cNvSpPr>
          <ns0:nvPr/>
        </ns0:nvSpPr>
        <ns0:spPr>
          <a:xfrm>
            <a:off x="571500" y="5153025"/>
            <a:ext cx="5143500" cy="8191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2000"/>
              </a:lnSpc>
              <a:buNone/>
              <a:def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As 771 ofertas encerradas em jan–jun/26 somaram R$ 65,5 bi, avanço de 15% sobre jan–jun/25 e 60% sobre jan–jun/24.</a:t>
            </a:r>
          </a:p>
          <a:p>
            <a:pPr algn="l">
              <a:lnSpc>
                <a:spcPct val="102000"/>
              </a:lnSpc>
              <a:buNone/>
              <a:def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A oferta CloudWalk Bela, de R$ 5,5 bi, representou 8,4% do volume e 66,0% do crescimento sobre jan–jun/25; na sensibilidade sem essa oferta, o mercado teria avançado 5,0%.</a:t>
            </a:r>
          </a:p>
        </ns0:txBody>
      </ns0:sp>
      <ns0:sp>
        <ns0:nvSpPr>
          <ns0:cNvPr id="27" name="">
            <a:extLst>
              <a:ext uri="{FF2B5EF4-FFF2-40B4-BE49-F238E27FC236}">
                <ns2:creationId id="{64B8C33D-FB22-4D93-A538-8F1A1859F747}"/>
              </a:ext>
            </a:extLst>
          </ns0:cNvPr>
          <ns0:cNvSpPr>
            <a:spLocks noGrp="1"/>
          </ns0:cNvSpPr>
          <ns0:nvPr/>
        </ns0:nvSpPr>
        <ns0:spPr>
          <a:xfrm>
            <a:off x="571500" y="6029325"/>
            <a:ext cx="5143500" cy="6668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</ns0:spTree>
    <ns0:extLst>
      <ns0:ext uri="{BB962C8B-B14F-4D97-AF65-F5344CB8AC3E}">
        <ns3:creationId val="298571768"/>
      </ns0:ext>
    </ns0:extLst>
  </ns0:cSld>
</ns0:sld>
</file>

<file path=ppt/slides/slide33.xml><?xml version="1.0" encoding="utf-8"?>
<ns0:sld xmlns:a="http://schemas.openxmlformats.org/drawingml/2006/main" xmlns:c="http://schemas.openxmlformats.org/drawingml/2006/chart" xmlns:ns0="http://schemas.openxmlformats.org/presentationml/2006/main" xmlns:ns2="http://schemas.microsoft.com/office/drawing/2014/main" xmlns:ns4="http://schemas.openxmlformats.org/officeDocument/2006/relationships" xmlns:ns5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22" name="">
            <a:extLst>
              <a:ext uri="{FF2B5EF4-FFF2-40B4-BE49-F238E27FC236}">
                <ns2:creationId id="{E6150DA7-E8BC-4BE5-B48F-BDF8942D0A80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4095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QI lidera administração; BTG lidera gestão e custódia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D273819C-EAFD-4895-8355-09EF718C5B49}"/>
              </a:ext>
            </a:extLst>
          </ns0:cNvPr>
          <ns0:cNvSpPr>
            <a:spLocks noGrp="1"/>
          </ns0:cNvSpPr>
          <ns0:nvPr/>
        </ns0:nvSpPr>
        <ns0:spPr>
          <a:xfrm>
            <a:off x="571500" y="723900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Ranking geral de jun/26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8C92F9D0-65B6-46F3-ACAC-F0AA91600C91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9E517C35-FEA2-4D31-B440-5B9C2F0B8CF2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DF93E490-1FEA-4320-84CF-5EC5548F308A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80284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Informe Mensal e cadastro de prestadores, jun/26. Exclui Sistema Petrobras e TAPSO. *Independentes: grupos sem controlador bancário na curadoria; Singulare consolidada em QI Tech e Kanastra no Itaú.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FE663A08-13FF-4CCF-B3BE-AD696EF7E993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33</a:t>
            </a:r>
          </a:p>
        </ns0:txBody>
      </ns0:sp>
      <ns0:graphicFrame>
        <ns0:nvGraphicFramePr>
          <ns0:cNvPr id="28" name="Chart"/>
          <ns0:cNvGraphicFramePr/>
          <ns0:nvPr/>
        </ns0:nvGraphicFramePr>
        <ns0:xfrm>
          <a:off x="1524000" y="1133475"/>
          <a:ext cx="9144000" cy="209550"/>
        </ns0:xfrm>
        <a:graphic>
          <a:graphicData uri="http://schemas.openxmlformats.org/drawingml/2006/chart">
            <c:chart ns4:id="R0c317e23e1314920"/>
          </a:graphicData>
        </a:graphic>
      </ns0:graphicFrame>
      <ns0:sp>
        <ns0:nvSpPr>
          <ns0:cNvPr id="8" name="">
            <a:extLst>
              <a:ext uri="{FF2B5EF4-FFF2-40B4-BE49-F238E27FC236}">
                <ns2:creationId id="{FE0A45F7-5453-4017-A03A-2EF81499CAA3}"/>
              </a:ext>
            </a:extLst>
          </ns0:cNvPr>
          <ns0:cNvSpPr>
            <a:spLocks noGrp="1"/>
          </ns0:cNvSpPr>
          <ns0:nvPr/>
        </ns0:nvSpPr>
        <ns0:spPr>
          <a:xfrm>
            <a:off x="571500" y="1362075"/>
            <a:ext cx="5286375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Todos os prestadores</a:t>
            </a:r>
          </a:p>
        </ns0:txBody>
      </ns0:sp>
      <ns0:sp>
        <ns0:nvSpPr>
          <ns0:cNvPr id="9" name="">
            <a:extLst>
              <a:ext uri="{FF2B5EF4-FFF2-40B4-BE49-F238E27FC236}">
                <ns2:creationId id="{CC4961A9-FFEC-4C0F-974B-BCC479961BAA}"/>
              </a:ext>
            </a:extLst>
          </ns0:cNvPr>
          <ns0:cNvSpPr>
            <a:spLocks noGrp="1"/>
          </ns0:cNvSpPr>
          <ns0:nvPr/>
        </ns0:nvSpPr>
        <ns0:spPr>
          <a:xfrm>
            <a:off x="6334125" y="1362075"/>
            <a:ext cx="5286375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Independentes*</a:t>
            </a:r>
          </a:p>
        </ns0:txBody>
      </ns0:sp>
      <ns0:sp>
        <ns0:nvSpPr>
          <ns0:cNvPr id="10" name="">
            <a:extLst>
              <a:ext uri="{FF2B5EF4-FFF2-40B4-BE49-F238E27FC236}">
                <ns2:creationId id="{184E0BDC-2A16-421A-AD15-9EDB4824A6F6}"/>
              </a:ext>
            </a:extLst>
          </ns0:cNvPr>
          <ns0:cNvSpPr>
            <a:spLocks noGrp="1"/>
          </ns0:cNvSpPr>
          <ns0:nvPr/>
        </ns0:nvSpPr>
        <ns0:spPr>
          <a:xfrm>
            <a:off x="571500" y="1581150"/>
            <a:ext cx="5286375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Administração · ranking geral</a:t>
            </a:r>
          </a:p>
        </ns0:txBody>
      </ns0:sp>
      <ns0:graphicFrame>
        <ns0:nvGraphicFramePr>
          <ns0:cNvPr id="32" name="Chart"/>
          <ns0:cNvGraphicFramePr/>
          <ns0:nvPr/>
        </ns0:nvGraphicFramePr>
        <ns0:xfrm>
          <a:off x="571500" y="1752600"/>
          <a:ext cx="5286375" cy="1333500"/>
        </ns0:xfrm>
        <a:graphic>
          <a:graphicData uri="http://schemas.openxmlformats.org/drawingml/2006/chart">
            <c:chart ns4:id="R83be57812f434727"/>
          </a:graphicData>
        </a:graphic>
      </ns0:graphicFrame>
      <ns0:sp>
        <ns0:nvSpPr>
          <ns0:cNvPr id="12" name="">
            <a:extLst>
              <a:ext uri="{FF2B5EF4-FFF2-40B4-BE49-F238E27FC236}">
                <ns2:creationId id="{1AB69836-485A-4EBA-856E-4DFE2EF09235}"/>
              </a:ext>
            </a:extLst>
          </ns0:cNvPr>
          <ns0:cNvSpPr>
            <a:spLocks noGrp="1"/>
          </ns0:cNvSpPr>
          <ns0:nvPr/>
        </ns0:nvSpPr>
        <ns0:spPr>
          <a:xfrm>
            <a:off x="6334125" y="1581150"/>
            <a:ext cx="5286375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Administração · ranking independente</a:t>
            </a:r>
          </a:p>
        </ns0:txBody>
      </ns0:sp>
      <ns0:graphicFrame>
        <ns0:nvGraphicFramePr>
          <ns0:cNvPr id="34" name="Chart"/>
          <ns0:cNvGraphicFramePr/>
          <ns0:nvPr/>
        </ns0:nvGraphicFramePr>
        <ns0:xfrm>
          <a:off x="6334125" y="1752600"/>
          <a:ext cx="5286375" cy="1333500"/>
        </ns0:xfrm>
        <a:graphic>
          <a:graphicData uri="http://schemas.openxmlformats.org/drawingml/2006/chart">
            <c:chart ns4:id="R53623dea5a4b4829"/>
          </a:graphicData>
        </a:graphic>
      </ns0:graphicFrame>
      <ns0:sp>
        <ns0:nvSpPr>
          <ns0:cNvPr id="14" name="">
            <a:extLst>
              <a:ext uri="{FF2B5EF4-FFF2-40B4-BE49-F238E27FC236}">
                <ns2:creationId id="{59233F82-FD19-41D8-AA8F-83C1F34EFEB4}"/>
              </a:ext>
            </a:extLst>
          </ns0:cNvPr>
          <ns0:cNvSpPr>
            <a:spLocks noGrp="1"/>
          </ns0:cNvSpPr>
          <ns0:nvPr/>
        </ns0:nvSpPr>
        <ns0:spPr>
          <a:xfrm>
            <a:off x="571500" y="3114675"/>
            <a:ext cx="5286375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Gestão · ranking geral</a:t>
            </a:r>
          </a:p>
        </ns0:txBody>
      </ns0:sp>
      <ns0:graphicFrame>
        <ns0:nvGraphicFramePr>
          <ns0:cNvPr id="36" name="Chart"/>
          <ns0:cNvGraphicFramePr/>
          <ns0:nvPr/>
        </ns0:nvGraphicFramePr>
        <ns0:xfrm>
          <a:off x="571500" y="3286125"/>
          <a:ext cx="5286375" cy="1333500"/>
        </ns0:xfrm>
        <a:graphic>
          <a:graphicData uri="http://schemas.openxmlformats.org/drawingml/2006/chart">
            <c:chart ns4:id="Rddcc82ac63004c44"/>
          </a:graphicData>
        </a:graphic>
      </ns0:graphicFrame>
      <ns0:sp>
        <ns0:nvSpPr>
          <ns0:cNvPr id="16" name="">
            <a:extLst>
              <a:ext uri="{FF2B5EF4-FFF2-40B4-BE49-F238E27FC236}">
                <ns2:creationId id="{5352E0CD-7E2E-4426-B1F0-61DD5B2A9818}"/>
              </a:ext>
            </a:extLst>
          </ns0:cNvPr>
          <ns0:cNvSpPr>
            <a:spLocks noGrp="1"/>
          </ns0:cNvSpPr>
          <ns0:nvPr/>
        </ns0:nvSpPr>
        <ns0:spPr>
          <a:xfrm>
            <a:off x="6334125" y="3114675"/>
            <a:ext cx="5286375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Gestão · ranking independente</a:t>
            </a:r>
          </a:p>
        </ns0:txBody>
      </ns0:sp>
      <ns0:graphicFrame>
        <ns0:nvGraphicFramePr>
          <ns0:cNvPr id="38" name="Chart"/>
          <ns0:cNvGraphicFramePr/>
          <ns0:nvPr/>
        </ns0:nvGraphicFramePr>
        <ns0:xfrm>
          <a:off x="6334125" y="3286125"/>
          <a:ext cx="5286375" cy="1333500"/>
        </ns0:xfrm>
        <a:graphic>
          <a:graphicData uri="http://schemas.openxmlformats.org/drawingml/2006/chart">
            <c:chart ns4:id="R83f786b483c24709"/>
          </a:graphicData>
        </a:graphic>
      </ns0:graphicFrame>
      <ns0:sp>
        <ns0:nvSpPr>
          <ns0:cNvPr id="18" name="">
            <a:extLst>
              <a:ext uri="{FF2B5EF4-FFF2-40B4-BE49-F238E27FC236}">
                <ns2:creationId id="{503924E5-1FCE-4410-890F-A925F3C4C17E}"/>
              </a:ext>
            </a:extLst>
          </ns0:cNvPr>
          <ns0:cNvSpPr>
            <a:spLocks noGrp="1"/>
          </ns0:cNvSpPr>
          <ns0:nvPr/>
        </ns0:nvSpPr>
        <ns0:spPr>
          <a:xfrm>
            <a:off x="571500" y="4648200"/>
            <a:ext cx="5286375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Custódia · ranking geral</a:t>
            </a:r>
          </a:p>
        </ns0:txBody>
      </ns0:sp>
      <ns0:graphicFrame>
        <ns0:nvGraphicFramePr>
          <ns0:cNvPr id="40" name="Chart"/>
          <ns0:cNvGraphicFramePr/>
          <ns0:nvPr/>
        </ns0:nvGraphicFramePr>
        <ns0:xfrm>
          <a:off x="571500" y="4819650"/>
          <a:ext cx="5286375" cy="1333500"/>
        </ns0:xfrm>
        <a:graphic>
          <a:graphicData uri="http://schemas.openxmlformats.org/drawingml/2006/chart">
            <c:chart ns4:id="Rd25385c30c3d43f2"/>
          </a:graphicData>
        </a:graphic>
      </ns0:graphicFrame>
      <ns0:sp>
        <ns0:nvSpPr>
          <ns0:cNvPr id="20" name="">
            <a:extLst>
              <a:ext uri="{FF2B5EF4-FFF2-40B4-BE49-F238E27FC236}">
                <ns2:creationId id="{EB72C318-3E7B-4FA0-A440-18FEBF61A96B}"/>
              </a:ext>
            </a:extLst>
          </ns0:cNvPr>
          <ns0:cNvSpPr>
            <a:spLocks noGrp="1"/>
          </ns0:cNvSpPr>
          <ns0:nvPr/>
        </ns0:nvSpPr>
        <ns0:spPr>
          <a:xfrm>
            <a:off x="6334125" y="4648200"/>
            <a:ext cx="5286375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Custódia · ranking independente</a:t>
            </a:r>
          </a:p>
        </ns0:txBody>
      </ns0:sp>
      <ns0:graphicFrame>
        <ns0:nvGraphicFramePr>
          <ns0:cNvPr id="42" name="Chart"/>
          <ns0:cNvGraphicFramePr/>
          <ns0:nvPr/>
        </ns0:nvGraphicFramePr>
        <ns0:xfrm>
          <a:off x="6334125" y="4819650"/>
          <a:ext cx="5286375" cy="1333500"/>
        </ns0:xfrm>
        <a:graphic>
          <a:graphicData uri="http://schemas.openxmlformats.org/drawingml/2006/chart">
            <c:chart ns4:id="R1fcd74e402e84959"/>
          </a:graphicData>
        </a:graphic>
      </ns0:graphicFrame>
    </ns0:spTree>
    <ns0:extLst>
      <ns0:ext uri="{BB962C8B-B14F-4D97-AF65-F5344CB8AC3E}">
        <ns5:creationId val="1195564443"/>
      </ns0:ext>
    </ns0:extLst>
  </ns0:cSld>
</ns0:sld>
</file>

<file path=ppt/slides/slide34.xml><?xml version="1.0" encoding="utf-8"?>
<ns0:sld xmlns:a="http://schemas.openxmlformats.org/drawingml/2006/main" xmlns:c="http://schemas.openxmlformats.org/drawingml/2006/chart" xmlns:ns0="http://schemas.openxmlformats.org/presentationml/2006/main" xmlns:ns2="http://schemas.microsoft.com/office/drawing/2014/main" xmlns:ns4="http://schemas.openxmlformats.org/officeDocument/2006/relationships" xmlns:ns5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21" name="">
            <a:extLst>
              <a:ext uri="{FF2B5EF4-FFF2-40B4-BE49-F238E27FC236}">
                <ns2:creationId id="{85607FA8-5C37-4C36-8B58-233683C3857E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 · RANKING E CONCENTRAÇÃO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2B8BAD96-8548-480F-B2AD-252DF73821EA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"/>
            <a:ext cx="11049000" cy="4667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Top 10 mantém cerca de 72% em administração e custódia; gestão subiu a 38,9%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E9D1A7CD-BAF7-40A0-AB6F-66C022EF0A38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6A915B97-0D31-4F34-99F4-BAE83FFA18B2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28D01B5E-B9BB-47A7-885A-FB626CD9CD9D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87634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dez/25 e jun/26. PL ex-FIC; Sistema Petrobras e TAPSO excluídos do numerador e denominador. Administração observada; gestão/custódia históricas reconstruídas com cadastro vigente.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1767780C-E978-44E4-A2C1-BB960E6534BE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34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34D207D9-6F31-4940-989F-DEEEAEC40230}"/>
              </a:ext>
            </a:extLst>
          </ns0:cNvPr>
          <ns0:cNvSpPr>
            <a:spLocks noGrp="1"/>
          </ns0:cNvSpPr>
          <ns0:nvPr/>
        </ns0:nvSpPr>
        <ns0:spPr>
          <a:xfrm>
            <a:off x="571500" y="1476375"/>
            <a:ext cx="51435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Top 10 · % do PL ex-FIC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201C7187-7612-4B45-AD22-EEB74A385EA2}"/>
              </a:ext>
            </a:extLst>
          </ns0:cNvPr>
          <ns0:cNvSpPr>
            <a:spLocks noGrp="1"/>
          </ns0:cNvSpPr>
          <ns0:nvPr/>
        </ns0:nvSpPr>
        <ns0:spPr>
          <a:xfrm>
            <a:off x="571500" y="1743075"/>
            <a:ext cx="51435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9" name="Chart"/>
          <ns0:cNvGraphicFramePr/>
          <ns0:nvPr/>
        </ns0:nvGraphicFramePr>
        <ns0:xfrm>
          <a:off x="571500" y="1857375"/>
          <a:ext cx="5143500" cy="3000375"/>
        </ns0:xfrm>
        <a:graphic>
          <a:graphicData uri="http://schemas.openxmlformats.org/drawingml/2006/chart">
            <c:chart ns4:id="Rfbb2b8f489b04721"/>
          </a:graphicData>
        </a:graphic>
      </ns0:graphicFrame>
      <ns0:sp>
        <ns0:nvSpPr>
          <ns0:cNvPr id="10" name="">
            <a:extLst>
              <a:ext uri="{FF2B5EF4-FFF2-40B4-BE49-F238E27FC236}">
                <ns2:creationId id="{0D32B359-3DA4-4F8C-9413-A4908C7F9C6D}"/>
              </a:ext>
            </a:extLst>
          </ns0:cNvPr>
          <ns0:cNvSpPr>
            <a:spLocks noGrp="1"/>
          </ns0:cNvSpPr>
          <ns0:nvPr/>
        </ns0:nvSpPr>
        <ns0:spPr>
          <a:xfrm>
            <a:off x="571500" y="4629150"/>
            <a:ext cx="5143500" cy="333375"/>
          </a:xfrm>
          <a:prstGeom prst="rect">
            <a:avLst/>
          </a:prstGeom>
          <a:solidFill>
            <a:srgbClr val="FFFFFF"/>
          </a:solidFill>
          <a:ln w="0">
            <a:noFill/>
            <a:prstDash val="solid"/>
          </a:ln>
        </ns0:spPr>
      </ns0:sp>
      <ns0:sp>
        <ns0:nvSpPr>
          <ns0:cNvPr id="11" name="">
            <a:extLst>
              <a:ext uri="{FF2B5EF4-FFF2-40B4-BE49-F238E27FC236}">
                <ns2:creationId id="{418BD4C2-1661-427E-8F39-3736BB53E64D}"/>
              </a:ext>
            </a:extLst>
          </ns0:cNvPr>
          <ns0:cNvSpPr>
            <a:spLocks noGrp="1"/>
          </ns0:cNvSpPr>
          <ns0:nvPr/>
        </ns0:nvSpPr>
        <ns0:spPr>
          <a:xfrm>
            <a:off x="6477000" y="1476375"/>
            <a:ext cx="51435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Top 5 · % do PL ex-FIC</a:t>
            </a:r>
          </a:p>
        </ns0:txBody>
      </ns0:sp>
      <ns0:sp>
        <ns0:nvSpPr>
          <ns0:cNvPr id="12" name="">
            <a:extLst>
              <a:ext uri="{FF2B5EF4-FFF2-40B4-BE49-F238E27FC236}">
                <ns2:creationId id="{1E93E13A-AFB8-4255-BBC1-3CA34E8011D3}"/>
              </a:ext>
            </a:extLst>
          </ns0:cNvPr>
          <ns0:cNvSpPr>
            <a:spLocks noGrp="1"/>
          </ns0:cNvSpPr>
          <ns0:nvPr/>
        </ns0:nvSpPr>
        <ns0:spPr>
          <a:xfrm>
            <a:off x="6477000" y="1743075"/>
            <a:ext cx="51435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33" name="Chart"/>
          <ns0:cNvGraphicFramePr/>
          <ns0:nvPr/>
        </ns0:nvGraphicFramePr>
        <ns0:xfrm>
          <a:off x="6477000" y="1857375"/>
          <a:ext cx="5143500" cy="3000375"/>
        </ns0:xfrm>
        <a:graphic>
          <a:graphicData uri="http://schemas.openxmlformats.org/drawingml/2006/chart">
            <c:chart ns4:id="R6ef15de0fb65451f"/>
          </a:graphicData>
        </a:graphic>
      </ns0:graphicFrame>
      <ns0:sp>
        <ns0:nvSpPr>
          <ns0:cNvPr id="14" name="">
            <a:extLst>
              <a:ext uri="{FF2B5EF4-FFF2-40B4-BE49-F238E27FC236}">
                <ns2:creationId id="{C021C382-C418-4723-A11E-0F90E5F25C19}"/>
              </a:ext>
            </a:extLst>
          </ns0:cNvPr>
          <ns0:cNvSpPr>
            <a:spLocks noGrp="1"/>
          </ns0:cNvSpPr>
          <ns0:nvPr/>
        </ns0:nvSpPr>
        <ns0:spPr>
          <a:xfrm>
            <a:off x="6477000" y="4629150"/>
            <a:ext cx="5143500" cy="333375"/>
          </a:xfrm>
          <a:prstGeom prst="rect">
            <a:avLst/>
          </a:prstGeom>
          <a:solidFill>
            <a:srgbClr val="FFFFFF"/>
          </a:solidFill>
          <a:ln w="0">
            <a:noFill/>
            <a:prstDash val="solid"/>
          </a:ln>
        </ns0:spPr>
      </ns0:sp>
      <ns0:sp>
        <ns0:nvSpPr>
          <ns0:cNvPr id="15" name="">
            <a:extLst>
              <a:ext uri="{FF2B5EF4-FFF2-40B4-BE49-F238E27FC236}">
                <ns2:creationId id="{1DEB578D-3F99-406A-A13F-67EA81AA0FDD}"/>
              </a:ext>
            </a:extLst>
          </ns0:cNvPr>
          <ns0:cNvSpPr>
            <a:spLocks noGrp="1"/>
          </ns0:cNvSpPr>
          <ns0:nvPr/>
        </ns0:nvSpPr>
        <ns0:spPr>
          <a:xfrm>
            <a:off x="571500" y="519112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16" name="">
            <a:extLst>
              <a:ext uri="{FF2B5EF4-FFF2-40B4-BE49-F238E27FC236}">
                <ns2:creationId id="{E585AAAE-5935-4DDA-81E9-491E0893E895}"/>
              </a:ext>
            </a:extLst>
          </ns0:cNvPr>
          <ns0:cNvSpPr>
            <a:spLocks noGrp="1"/>
          </ns0:cNvSpPr>
          <ns0:nvPr/>
        </ns0:nvSpPr>
        <ns0:spPr>
          <a:xfrm>
            <a:off x="571500" y="5429250"/>
            <a:ext cx="11049000" cy="4000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Cobertura de PL, dez/25 → Jun/26: administração 100,0% → 100,0%; gestão 98,9% → 99,8%; custódia 97,8% → 98,8%.</a:t>
            </a:r>
          </a:p>
        </ns0:txBody>
      </ns0:sp>
      <ns0:sp>
        <ns0:nvSpPr>
          <ns0:cNvPr id="17" name="">
            <a:extLst>
              <a:ext uri="{FF2B5EF4-FFF2-40B4-BE49-F238E27FC236}">
                <ns2:creationId id="{48747338-FBFF-4BC0-A6C6-7CD61A73CF7F}"/>
              </a:ext>
            </a:extLst>
          </ns0:cNvPr>
          <ns0:cNvSpPr>
            <a:spLocks noGrp="1"/>
          </ns0:cNvSpPr>
          <ns0:nvPr/>
        </ns0:nvSpPr>
        <ns0:spPr>
          <a:xfrm>
            <a:off x="9239250" y="1285875"/>
            <a:ext cx="76200" cy="76200"/>
          </a:xfrm>
          <a:prstGeom prst="rect">
            <a:avLst/>
          </a:prstGeom>
          <a:solidFill>
            <a:srgbClr val="73787D"/>
          </a:solidFill>
          <a:ln w="0">
            <a:noFill/>
            <a:prstDash val="solid"/>
          </a:ln>
        </ns0:spPr>
      </ns0:sp>
      <ns0:sp>
        <ns0:nvSpPr>
          <ns0:cNvPr id="18" name="">
            <a:extLst>
              <a:ext uri="{FF2B5EF4-FFF2-40B4-BE49-F238E27FC236}">
                <ns2:creationId id="{056137E9-5DCA-4F16-ACD0-0BDAF32012A3}"/>
              </a:ext>
            </a:extLst>
          </ns0:cNvPr>
          <ns0:cNvSpPr>
            <a:spLocks noGrp="1"/>
          </ns0:cNvSpPr>
          <ns0:nvPr/>
        </ns0:nvSpPr>
        <ns0:spPr>
          <a:xfrm>
            <a:off x="9363075" y="1219200"/>
            <a:ext cx="1038225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Dez/25</a:t>
            </a:r>
          </a:p>
        </ns0:txBody>
      </ns0:sp>
      <ns0:sp>
        <ns0:nvSpPr>
          <ns0:cNvPr id="19" name="">
            <a:extLst>
              <a:ext uri="{FF2B5EF4-FFF2-40B4-BE49-F238E27FC236}">
                <ns2:creationId id="{054620FE-2C7C-4C1B-B811-08F1D9CECCE9}"/>
              </a:ext>
            </a:extLst>
          </ns0:cNvPr>
          <ns0:cNvSpPr>
            <a:spLocks noGrp="1"/>
          </ns0:cNvSpPr>
          <ns0:nvPr/>
        </ns0:nvSpPr>
        <ns0:spPr>
          <a:xfrm>
            <a:off x="10429875" y="1285875"/>
            <a:ext cx="76200" cy="76200"/>
          </a:xfrm>
          <a:prstGeom prst="rect">
            <a:avLst/>
          </a:prstGeom>
          <a:solidFill>
            <a:srgbClr val="EC7000"/>
          </a:solidFill>
          <a:ln w="0">
            <a:noFill/>
            <a:prstDash val="solid"/>
          </a:ln>
        </ns0:spPr>
      </ns0:sp>
      <ns0:sp>
        <ns0:nvSpPr>
          <ns0:cNvPr id="20" name="">
            <a:extLst>
              <a:ext uri="{FF2B5EF4-FFF2-40B4-BE49-F238E27FC236}">
                <ns2:creationId id="{ED9F093D-FFD9-4F81-B6FD-E69F5E3FAC4F}"/>
              </a:ext>
            </a:extLst>
          </ns0:cNvPr>
          <ns0:cNvSpPr>
            <a:spLocks noGrp="1"/>
          </ns0:cNvSpPr>
          <ns0:nvPr/>
        </ns0:nvSpPr>
        <ns0:spPr>
          <a:xfrm>
            <a:off x="10553700" y="1219200"/>
            <a:ext cx="1038225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Jun/26</a:t>
            </a:r>
          </a:p>
        </ns0:txBody>
      </ns0:sp>
    </ns0:spTree>
    <ns0:extLst>
      <ns0:ext uri="{BB962C8B-B14F-4D97-AF65-F5344CB8AC3E}">
        <ns5:creationId val="1451660799"/>
      </ns0:ext>
    </ns0:extLst>
  </ns0:cSld>
</ns0:sld>
</file>

<file path=ppt/slides/slide35.xml><?xml version="1.0" encoding="utf-8"?>
<ns0:sld xmlns:a="http://schemas.openxmlformats.org/drawingml/2006/main" xmlns:c="http://schemas.openxmlformats.org/drawingml/2006/chart" xmlns:ns0="http://schemas.openxmlformats.org/presentationml/2006/main" xmlns:ns2="http://schemas.microsoft.com/office/drawing/2014/main" xmlns:ns4="http://schemas.openxmlformats.org/officeDocument/2006/relationships" xmlns:ns5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7" name="">
            <a:extLst>
              <a:ext uri="{FF2B5EF4-FFF2-40B4-BE49-F238E27FC236}">
                <ns2:creationId id="{1277D707-8FF5-436C-8990-D68BF0A93A3D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4095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Quase todo o volume vai para o investidor profissional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68B4AA31-6B3D-4483-B3E8-3F89061CE891}"/>
              </a:ext>
            </a:extLst>
          </ns0:cNvPr>
          <ns0:cNvSpPr>
            <a:spLocks noGrp="1"/>
          </ns0:cNvSpPr>
          <ns0:nvPr/>
        </ns0:nvSpPr>
        <ns0:spPr>
          <a:xfrm>
            <a:off x="571500" y="723900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Entre 93% e 97% ao ano; a classificação mede elegibilidade, não alocação efetiva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622D4257-6DAD-4461-A7AE-4C2FE2CC83AE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878998D8-BB05-4652-A175-9848ED7E8885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048AA1ED-39C3-4EAB-B401-DD6EF1AACC82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CVM/SRE, dois arquivos de ofertas; 24/jul/26. Primárias encerradas, todos os ritos. Definições: RCVM 30.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3E25EE72-B5B9-41E6-9C5C-7B923ED184AC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35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22BC8C97-89BB-4278-9914-E9DCE93B2B4C}"/>
              </a:ext>
            </a:extLst>
          </ns0:cNvPr>
          <ns0:cNvSpPr>
            <a:spLocks noGrp="1"/>
          </ns0:cNvSpPr>
          <ns0:nvPr/>
        </ns0:nvSpPr>
        <ns0:spPr>
          <a:xfrm>
            <a:off x="571500" y="1333500"/>
            <a:ext cx="657225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Contas de cotistas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D1AF30D0-0725-4789-8018-1EA97C967EE6}"/>
              </a:ext>
            </a:extLst>
          </ns0:cNvPr>
          <ns0:cNvSpPr>
            <a:spLocks noGrp="1"/>
          </ns0:cNvSpPr>
          <ns0:nvPr/>
        </ns0:nvSpPr>
        <ns0:spPr>
          <a:xfrm>
            <a:off x="571500" y="1600200"/>
            <a:ext cx="657225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5" name="Chart"/>
          <ns0:cNvGraphicFramePr/>
          <ns0:nvPr/>
        </ns0:nvGraphicFramePr>
        <ns0:xfrm>
          <a:off x="571500" y="1666875"/>
          <a:ext cx="6572250" cy="1809750"/>
        </ns0:xfrm>
        <a:graphic>
          <a:graphicData uri="http://schemas.openxmlformats.org/drawingml/2006/chart">
            <c:chart ns4:id="R7bb9e8ab16014afd"/>
          </a:graphicData>
        </a:graphic>
      </ns0:graphicFrame>
      <ns0:sp>
        <ns0:nvSpPr>
          <ns0:cNvPr id="10" name="">
            <a:extLst>
              <a:ext uri="{FF2B5EF4-FFF2-40B4-BE49-F238E27FC236}">
                <ns2:creationId id="{53CFDFAE-B28F-4064-995F-52FE2995F648}"/>
              </a:ext>
            </a:extLst>
          </ns0:cNvPr>
          <ns0:cNvSpPr>
            <a:spLocks noGrp="1"/>
          </ns0:cNvSpPr>
          <ns0:nvPr/>
        </ns0:nvSpPr>
        <ns0:spPr>
          <a:xfrm>
            <a:off x="571500" y="3638550"/>
            <a:ext cx="657225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% do volume emitido por público-alvo CVM</a:t>
            </a:r>
          </a:p>
        </ns0:txBody>
      </ns0:sp>
      <ns0:sp>
        <ns0:nvSpPr>
          <ns0:cNvPr id="11" name="">
            <a:extLst>
              <a:ext uri="{FF2B5EF4-FFF2-40B4-BE49-F238E27FC236}">
                <ns2:creationId id="{D56030D5-6889-4A52-8AEC-FE1610D6D65A}"/>
              </a:ext>
            </a:extLst>
          </ns0:cNvPr>
          <ns0:cNvSpPr>
            <a:spLocks noGrp="1"/>
          </ns0:cNvSpPr>
          <ns0:nvPr/>
        </ns0:nvSpPr>
        <ns0:spPr>
          <a:xfrm>
            <a:off x="571500" y="3905250"/>
            <a:ext cx="657225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8" name="Chart"/>
          <ns0:cNvGraphicFramePr/>
          <ns0:nvPr/>
        </ns0:nvGraphicFramePr>
        <ns0:xfrm>
          <a:off x="571500" y="3971925"/>
          <a:ext cx="6572250" cy="1809750"/>
        </ns0:xfrm>
        <a:graphic>
          <a:graphicData uri="http://schemas.openxmlformats.org/drawingml/2006/chart">
            <c:chart ns4:id="R80b45220fe2c43bf"/>
          </a:graphicData>
        </a:graphic>
      </ns0:graphicFrame>
      <ns0:sp>
        <ns0:nvSpPr>
          <ns0:cNvPr id="13" name="">
            <a:extLst>
              <a:ext uri="{FF2B5EF4-FFF2-40B4-BE49-F238E27FC236}">
                <ns2:creationId id="{EE6E9678-26D1-4CB9-B162-6319BC937DD4}"/>
              </a:ext>
            </a:extLst>
          </ns0:cNvPr>
          <ns0:cNvSpPr>
            <a:spLocks noGrp="1"/>
          </ns0:cNvSpPr>
          <ns0:nvPr/>
        </ns0:nvSpPr>
        <ns0:spPr>
          <a:xfrm>
            <a:off x="7572375" y="1333500"/>
            <a:ext cx="4048125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Composição das contas · jun/26</a:t>
            </a:r>
          </a:p>
        </ns0:txBody>
      </ns0:sp>
      <ns0:sp>
        <ns0:nvSpPr>
          <ns0:cNvPr id="14" name="">
            <a:extLst>
              <a:ext uri="{FF2B5EF4-FFF2-40B4-BE49-F238E27FC236}">
                <ns2:creationId id="{1709CA8F-DA33-4FEE-AC56-1DB790B31F48}"/>
              </a:ext>
            </a:extLst>
          </ns0:cNvPr>
          <ns0:cNvSpPr>
            <a:spLocks noGrp="1"/>
          </ns0:cNvSpPr>
          <ns0:nvPr/>
        </ns0:nvSpPr>
        <ns0:spPr>
          <a:xfrm>
            <a:off x="7572375" y="1600200"/>
            <a:ext cx="4048125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31" name="Chart"/>
          <ns0:cNvGraphicFramePr/>
          <ns0:nvPr/>
        </ns0:nvGraphicFramePr>
        <ns0:xfrm>
          <a:off x="7524750" y="1714500"/>
          <a:ext cx="4095750" cy="3190875"/>
        </ns0:xfrm>
        <a:graphic>
          <a:graphicData uri="http://schemas.openxmlformats.org/drawingml/2006/chart">
            <c:chart ns4:id="Rc749c5154dc34b68"/>
          </a:graphicData>
        </a:graphic>
      </ns0:graphicFrame>
      <ns0:sp>
        <ns0:nvSpPr>
          <ns0:cNvPr id="16" name="">
            <a:extLst>
              <a:ext uri="{FF2B5EF4-FFF2-40B4-BE49-F238E27FC236}">
                <ns2:creationId id="{29C559B3-162D-4B74-96F6-968190D213BB}"/>
              </a:ext>
            </a:extLst>
          </ns0:cNvPr>
          <ns0:cNvSpPr>
            <a:spLocks noGrp="1"/>
          </ns0:cNvSpPr>
          <ns0:nvPr/>
        </ns0:nvSpPr>
        <ns0:spPr>
          <a:xfrm>
            <a:off x="7572375" y="5095875"/>
            <a:ext cx="4048125" cy="6667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96776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A emissão é majoritariamente elegível a investidores profissionais, padrão compatível com demanda institucional/gestoras. A base de público-alvo não separa pessoa física de pessoa jurídica; Público Geral foi 0,0% em 2024 e 0,5% em jan–jun/26. N/D: 1,1% em 2023 e 0,5% em 2025.</a:t>
            </a:r>
          </a:p>
        </ns0:txBody>
      </ns0:sp>
    </ns0:spTree>
    <ns0:extLst>
      <ns0:ext uri="{BB962C8B-B14F-4D97-AF65-F5344CB8AC3E}">
        <ns5:creationId val="1696841449"/>
      </ns0:ext>
    </ns0:extLst>
  </ns0:cSld>
</ns0:sld>
</file>

<file path=ppt/slides/slide36.xml><?xml version="1.0" encoding="utf-8"?>
<ns0:sld xmlns:a="http://schemas.openxmlformats.org/drawingml/2006/main" xmlns:c="http://schemas.openxmlformats.org/drawingml/2006/chart" xmlns:ns0="http://schemas.openxmlformats.org/presentationml/2006/main" xmlns:ns2="http://schemas.microsoft.com/office/drawing/2014/main" xmlns:ns4="http://schemas.openxmlformats.org/officeDocument/2006/relationships" xmlns:ns5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23" name="">
            <a:extLst>
              <a:ext uri="{FF2B5EF4-FFF2-40B4-BE49-F238E27FC236}">
                <ns2:creationId id="{450FF42F-9ADA-405E-B239-C61405C6994F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DISTRIBUIÇÃO POR NÚMERO DE COTISTAS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FF5027C6-5EA6-49D6-A113-0194776FAF1F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"/>
            <a:ext cx="11049000" cy="4667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99702"/>
          </a:bodyPr>
          <a:lstStyle/>
          <a:p>
            <a:pPr algn="l">
              <a:lnSpc>
                <a:spcPct val="100000"/>
              </a:lnSpc>
              <a:buNone/>
              <a:defRPr sz="195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95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Fundos com mais de 10 contas ganharam 11,0 p.p. do universo e 10,6 p.p. do PL desde dez/23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3AF102DE-1624-4B43-9444-20A4F515100D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FE97A6D7-5AA0-4A44-9F0E-ACA95AD66F4B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679DDD7C-BD7F-4170-9552-02DA483A1056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dez/23 e jun/26. Ex-FIC com PL ≥ R$ 200 mi: 409 → 784 fundos; contas por classe/série, não investidores únicos.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80C365E5-0C8B-4F5C-8F6C-4636B75A190E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36</a:t>
            </a:r>
          </a:p>
        </ns0:txBody>
      </ns0:sp>
      <ns0:graphicFrame>
        <ns0:nvGraphicFramePr>
          <ns0:cNvPr id="29" name="Chart"/>
          <ns0:cNvGraphicFramePr/>
          <ns0:nvPr/>
        </ns0:nvGraphicFramePr>
        <ns0:xfrm>
          <a:off x="9239250" y="1219200"/>
          <a:ext cx="2381250" cy="209550"/>
        </ns0:xfrm>
        <a:graphic>
          <a:graphicData uri="http://schemas.openxmlformats.org/drawingml/2006/chart">
            <c:chart ns4:id="R1de81d0149494fb6"/>
          </a:graphicData>
        </a:graphic>
      </ns0:graphicFrame>
      <ns0:sp>
        <ns0:nvSpPr>
          <ns0:cNvPr id="8" name="">
            <a:extLst>
              <a:ext uri="{FF2B5EF4-FFF2-40B4-BE49-F238E27FC236}">
                <ns2:creationId id="{BAB8E40C-CC10-431F-8F38-70EB8D7CB348}"/>
              </a:ext>
            </a:extLst>
          </ns0:cNvPr>
          <ns0:cNvSpPr>
            <a:spLocks noGrp="1"/>
          </ns0:cNvSpPr>
          <ns0:nvPr/>
        </ns0:nvSpPr>
        <ns0:spPr>
          <a:xfrm>
            <a:off x="571500" y="1323975"/>
            <a:ext cx="5286375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Quantidade de fundos · absoluto</a:t>
            </a:r>
          </a:p>
        </ns0:txBody>
      </ns0:sp>
      <ns0:sp>
        <ns0:nvSpPr>
          <ns0:cNvPr id="9" name="">
            <a:extLst>
              <a:ext uri="{FF2B5EF4-FFF2-40B4-BE49-F238E27FC236}">
                <ns2:creationId id="{EAE260B1-6934-458C-9DAB-70BCD59FDE2E}"/>
              </a:ext>
            </a:extLst>
          </ns0:cNvPr>
          <ns0:cNvSpPr>
            <a:spLocks noGrp="1"/>
          </ns0:cNvSpPr>
          <ns0:nvPr/>
        </ns0:nvSpPr>
        <ns0:spPr>
          <a:xfrm>
            <a:off x="571500" y="1590675"/>
            <a:ext cx="5286375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32" name="Chart"/>
          <ns0:cNvGraphicFramePr/>
          <ns0:nvPr/>
        </ns0:nvGraphicFramePr>
        <ns0:xfrm>
          <a:off x="571500" y="1724025"/>
          <a:ext cx="5286375" cy="1809750"/>
        </ns0:xfrm>
        <a:graphic>
          <a:graphicData uri="http://schemas.openxmlformats.org/drawingml/2006/chart">
            <c:chart ns4:id="Rb2604d0cb9d44116"/>
          </a:graphicData>
        </a:graphic>
      </ns0:graphicFrame>
      <ns0:sp>
        <ns0:nvSpPr>
          <ns0:cNvPr id="11" name="">
            <a:extLst>
              <a:ext uri="{FF2B5EF4-FFF2-40B4-BE49-F238E27FC236}">
                <ns2:creationId id="{92DA9EFA-64E6-4A94-B218-CE7E3399617D}"/>
              </a:ext>
            </a:extLst>
          </ns0:cNvPr>
          <ns0:cNvSpPr>
            <a:spLocks noGrp="1"/>
          </ns0:cNvSpPr>
          <ns0:nvPr/>
        </ns0:nvSpPr>
        <ns0:spPr>
          <a:xfrm>
            <a:off x="6334125" y="1323975"/>
            <a:ext cx="5286375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PL por faixa · R$ bi</a:t>
            </a:r>
          </a:p>
        </ns0:txBody>
      </ns0:sp>
      <ns0:sp>
        <ns0:nvSpPr>
          <ns0:cNvPr id="12" name="">
            <a:extLst>
              <a:ext uri="{FF2B5EF4-FFF2-40B4-BE49-F238E27FC236}">
                <ns2:creationId id="{997D106B-559B-46A8-AE74-32D5BAF9FF5E}"/>
              </a:ext>
            </a:extLst>
          </ns0:cNvPr>
          <ns0:cNvSpPr>
            <a:spLocks noGrp="1"/>
          </ns0:cNvSpPr>
          <ns0:nvPr/>
        </ns0:nvSpPr>
        <ns0:spPr>
          <a:xfrm>
            <a:off x="6334125" y="1590675"/>
            <a:ext cx="5286375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35" name="Chart"/>
          <ns0:cNvGraphicFramePr/>
          <ns0:nvPr/>
        </ns0:nvGraphicFramePr>
        <ns0:xfrm>
          <a:off x="6334125" y="1724025"/>
          <a:ext cx="5286375" cy="1809750"/>
        </ns0:xfrm>
        <a:graphic>
          <a:graphicData uri="http://schemas.openxmlformats.org/drawingml/2006/chart">
            <c:chart ns4:id="Rc231eeb3e20d4d89"/>
          </a:graphicData>
        </a:graphic>
      </ns0:graphicFrame>
      <ns0:sp>
        <ns0:nvSpPr>
          <ns0:cNvPr id="14" name="">
            <a:extLst>
              <a:ext uri="{FF2B5EF4-FFF2-40B4-BE49-F238E27FC236}">
                <ns2:creationId id="{2D88E055-BAB4-4C6A-A8F6-2D0941C19F66}"/>
              </a:ext>
            </a:extLst>
          </ns0:cNvPr>
          <ns0:cNvSpPr>
            <a:spLocks noGrp="1"/>
          </ns0:cNvSpPr>
          <ns0:nvPr/>
        </ns0:nvSpPr>
        <ns0:spPr>
          <a:xfrm>
            <a:off x="571500" y="3733800"/>
            <a:ext cx="5286375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Quantidade de fundos · % do total</a:t>
            </a:r>
          </a:p>
        </ns0:txBody>
      </ns0:sp>
      <ns0:sp>
        <ns0:nvSpPr>
          <ns0:cNvPr id="15" name="">
            <a:extLst>
              <a:ext uri="{FF2B5EF4-FFF2-40B4-BE49-F238E27FC236}">
                <ns2:creationId id="{3F27B95C-C468-43E7-8B48-5A4EA4DDEC47}"/>
              </a:ext>
            </a:extLst>
          </ns0:cNvPr>
          <ns0:cNvSpPr>
            <a:spLocks noGrp="1"/>
          </ns0:cNvSpPr>
          <ns0:nvPr/>
        </ns0:nvSpPr>
        <ns0:spPr>
          <a:xfrm>
            <a:off x="571500" y="4000500"/>
            <a:ext cx="5286375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38" name="Chart"/>
          <ns0:cNvGraphicFramePr/>
          <ns0:nvPr/>
        </ns0:nvGraphicFramePr>
        <ns0:xfrm>
          <a:off x="571500" y="4076700"/>
          <a:ext cx="5286375" cy="1809750"/>
        </ns0:xfrm>
        <a:graphic>
          <a:graphicData uri="http://schemas.openxmlformats.org/drawingml/2006/chart">
            <c:chart ns4:id="R0b4489349bfc4cb9"/>
          </a:graphicData>
        </a:graphic>
      </ns0:graphicFrame>
      <ns0:sp>
        <ns0:nvSpPr>
          <ns0:cNvPr id="17" name="">
            <a:extLst>
              <a:ext uri="{FF2B5EF4-FFF2-40B4-BE49-F238E27FC236}">
                <ns2:creationId id="{08F91768-93A5-4501-963B-64A1AE1FA160}"/>
              </a:ext>
            </a:extLst>
          </ns0:cNvPr>
          <ns0:cNvSpPr>
            <a:spLocks noGrp="1"/>
          </ns0:cNvSpPr>
          <ns0:nvPr/>
        </ns0:nvSpPr>
        <ns0:spPr>
          <a:xfrm>
            <a:off x="3905250" y="3752850"/>
            <a:ext cx="1952625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Soma das barras = 100%</a:t>
            </a:r>
          </a:p>
        </ns0:txBody>
      </ns0:sp>
      <ns0:sp>
        <ns0:nvSpPr>
          <ns0:cNvPr id="18" name="">
            <a:extLst>
              <a:ext uri="{FF2B5EF4-FFF2-40B4-BE49-F238E27FC236}">
                <ns2:creationId id="{A255B066-A11A-4181-9578-28567E48B143}"/>
              </a:ext>
            </a:extLst>
          </ns0:cNvPr>
          <ns0:cNvSpPr>
            <a:spLocks noGrp="1"/>
          </ns0:cNvSpPr>
          <ns0:nvPr/>
        </ns0:nvSpPr>
        <ns0:spPr>
          <a:xfrm>
            <a:off x="6334125" y="3733800"/>
            <a:ext cx="5286375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PL por faixa · % do total</a:t>
            </a:r>
          </a:p>
        </ns0:txBody>
      </ns0:sp>
      <ns0:sp>
        <ns0:nvSpPr>
          <ns0:cNvPr id="19" name="">
            <a:extLst>
              <a:ext uri="{FF2B5EF4-FFF2-40B4-BE49-F238E27FC236}">
                <ns2:creationId id="{57780431-4A1C-4363-8BCA-AFCDDF3061E4}"/>
              </a:ext>
            </a:extLst>
          </ns0:cNvPr>
          <ns0:cNvSpPr>
            <a:spLocks noGrp="1"/>
          </ns0:cNvSpPr>
          <ns0:nvPr/>
        </ns0:nvSpPr>
        <ns0:spPr>
          <a:xfrm>
            <a:off x="6334125" y="4000500"/>
            <a:ext cx="5286375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42" name="Chart"/>
          <ns0:cNvGraphicFramePr/>
          <ns0:nvPr/>
        </ns0:nvGraphicFramePr>
        <ns0:xfrm>
          <a:off x="6334125" y="4076700"/>
          <a:ext cx="5286375" cy="1809750"/>
        </ns0:xfrm>
        <a:graphic>
          <a:graphicData uri="http://schemas.openxmlformats.org/drawingml/2006/chart">
            <c:chart ns4:id="Rd949e3930cec4445"/>
          </a:graphicData>
        </a:graphic>
      </ns0:graphicFrame>
      <ns0:sp>
        <ns0:nvSpPr>
          <ns0:cNvPr id="21" name="">
            <a:extLst>
              <a:ext uri="{FF2B5EF4-FFF2-40B4-BE49-F238E27FC236}">
                <ns2:creationId id="{A1F70B6B-56F8-4CBA-A1B6-EFF681E59FF8}"/>
              </a:ext>
            </a:extLst>
          </ns0:cNvPr>
          <ns0:cNvSpPr>
            <a:spLocks noGrp="1"/>
          </ns0:cNvSpPr>
          <ns0:nvPr/>
        </ns0:nvSpPr>
        <ns0:spPr>
          <a:xfrm>
            <a:off x="9667875" y="3752850"/>
            <a:ext cx="1952625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Soma das barras = 100%</a:t>
            </a:r>
          </a:p>
        </ns0:txBody>
      </ns0:sp>
      <ns0:sp>
        <ns0:nvSpPr>
          <ns0:cNvPr id="22" name="">
            <a:extLst>
              <a:ext uri="{FF2B5EF4-FFF2-40B4-BE49-F238E27FC236}">
                <ns2:creationId id="{F38EFBF9-32BF-4478-A62D-84B41D88303C}"/>
              </a:ext>
            </a:extLst>
          </ns0:cNvPr>
          <ns0:cNvSpPr>
            <a:spLocks noGrp="1"/>
          </ns0:cNvSpPr>
          <ns0:nvPr/>
        </ns0:nvSpPr>
        <ns0:spPr>
          <a:xfrm>
            <a:off x="571500" y="6096000"/>
            <a:ext cx="1104900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Comparação de duas fotografias da indústria, não de coorte constante. Corte de R$ 200 mi em valores nominais; cada histograma percentual fecha em 100%.</a:t>
            </a:r>
          </a:p>
        </ns0:txBody>
      </ns0:sp>
    </ns0:spTree>
    <ns0:extLst>
      <ns0:ext uri="{BB962C8B-B14F-4D97-AF65-F5344CB8AC3E}">
        <ns5:creationId val="1434961099"/>
      </ns0:ext>
    </ns0:extLst>
  </ns0:cSld>
</ns0:sld>
</file>

<file path=ppt/theme/theme1.xml><?xml version="1.0" encoding="utf-8"?>
<a:theme xmlns:a="http://schemas.openxmlformats.org/drawingml/2006/main" name="ChatGPT">
  <a:themeElements>
    <a:clrScheme name="Itau BBA FIDC Editorial">
      <a:dk1>
        <a:srgbClr val="151515"/>
      </a:dk1>
      <a:lt1>
        <a:srgbClr val="FFFFFF"/>
      </a:lt1>
      <a:dk2>
        <a:srgbClr val="30353A"/>
      </a:dk2>
      <a:lt2>
        <a:srgbClr val="E7E9EB"/>
      </a:lt2>
      <a:accent1>
        <a:srgbClr val="EC7000"/>
      </a:accent1>
      <a:accent2>
        <a:srgbClr val="151515"/>
      </a:accent2>
      <a:accent3>
        <a:srgbClr val="30353A"/>
      </a:accent3>
      <a:accent4>
        <a:srgbClr val="73787D"/>
      </a:accent4>
      <a:accent5>
        <a:srgbClr val="8D9399"/>
      </a:accent5>
      <a:accent6>
        <a:srgbClr val="D7DADD"/>
      </a:accent6>
      <a:hlink>
        <a:srgbClr val="EC7000"/>
      </a:hlink>
      <a:folHlink>
        <a:srgbClr val="7378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Itau BBA FIDC Editorial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2026-08-03T03:56:39.4200000Z</dcterms:created>
  <dcterms:modified xsi:type="dcterms:W3CDTF">2026-08-03T03:56:39.4200000Z</dcterms:modified>
</coreProperties>
</file>