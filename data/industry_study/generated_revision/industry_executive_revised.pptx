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5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6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9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0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1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28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slides/charts/chart31.xml" ContentType="application/vnd.openxmlformats-officedocument.drawingml.chart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34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35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charts/chart36.xml" ContentType="application/vnd.openxmlformats-officedocument.drawingml.chart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slides/charts/chart37.xml" ContentType="application/vnd.openxmlformats-officedocument.drawingml.chart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101f3b3407f48dc" /><Relationship Type="http://schemas.openxmlformats.org/officeDocument/2006/relationships/extended-properties" Target="/docProps/app.xml" Id="R8ae9b9b004154efc" /><Relationship Type="http://schemas.openxmlformats.org/officeDocument/2006/relationships/officeDocument" Target="/ppt/presentation.xml" Id="Rdc9e6d903b574cf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033ac9fed4e40a4"/>
  </p:sldMasterIdLst>
  <p:notesMasterIdLst>
    <p:notesMasterId xmlns:r="http://schemas.openxmlformats.org/officeDocument/2006/relationships" r:id="Re5f7450afe604e9a"/>
  </p:notesMasterIdLst>
  <p:sldIdLst>
    <p:sldId xmlns:r="http://schemas.openxmlformats.org/officeDocument/2006/relationships" id="256" r:id="Rd55266e95d464cee"/>
    <p:sldId xmlns:r="http://schemas.openxmlformats.org/officeDocument/2006/relationships" id="257" r:id="Rd2aa1572eee84d51"/>
    <p:sldId xmlns:r="http://schemas.openxmlformats.org/officeDocument/2006/relationships" id="258" r:id="Rc3190e871d744ade"/>
    <p:sldId xmlns:r="http://schemas.openxmlformats.org/officeDocument/2006/relationships" id="259" r:id="R29a1e669bdee4cda"/>
    <p:sldId xmlns:r="http://schemas.openxmlformats.org/officeDocument/2006/relationships" id="260" r:id="R72a8adb452874a41"/>
    <p:sldId xmlns:r="http://schemas.openxmlformats.org/officeDocument/2006/relationships" id="261" r:id="R7988749420c640a1"/>
    <p:sldId xmlns:r="http://schemas.openxmlformats.org/officeDocument/2006/relationships" id="262" r:id="R5a2297639c924ace"/>
    <p:sldId xmlns:r="http://schemas.openxmlformats.org/officeDocument/2006/relationships" id="263" r:id="Re82433a931b04bc1"/>
    <p:sldId xmlns:r="http://schemas.openxmlformats.org/officeDocument/2006/relationships" id="264" r:id="Rf531e17aa98e4f79"/>
    <p:sldId xmlns:r="http://schemas.openxmlformats.org/officeDocument/2006/relationships" id="265" r:id="Rfb08c4d49a41498f"/>
    <p:sldId xmlns:r="http://schemas.openxmlformats.org/officeDocument/2006/relationships" id="266" r:id="R61c54f1150f64df2"/>
    <p:sldId xmlns:r="http://schemas.openxmlformats.org/officeDocument/2006/relationships" id="267" r:id="R7d7270ba074b44b3"/>
    <p:sldId xmlns:r="http://schemas.openxmlformats.org/officeDocument/2006/relationships" id="268" r:id="Rd6e8d794f76a4e70"/>
    <p:sldId xmlns:r="http://schemas.openxmlformats.org/officeDocument/2006/relationships" id="269" r:id="Ra23fc9ce73144248"/>
    <p:sldId xmlns:r="http://schemas.openxmlformats.org/officeDocument/2006/relationships" id="270" r:id="R38b25e3550df496e"/>
    <p:sldId xmlns:r="http://schemas.openxmlformats.org/officeDocument/2006/relationships" id="271" r:id="R5bd37256850e4277"/>
    <p:sldId xmlns:r="http://schemas.openxmlformats.org/officeDocument/2006/relationships" id="272" r:id="Rf9aaa14e86c742e0"/>
    <p:sldId xmlns:r="http://schemas.openxmlformats.org/officeDocument/2006/relationships" id="273" r:id="Ree97ae66526b424e"/>
    <p:sldId xmlns:r="http://schemas.openxmlformats.org/officeDocument/2006/relationships" id="274" r:id="R302c47b0a4284a3f"/>
    <p:sldId xmlns:r="http://schemas.openxmlformats.org/officeDocument/2006/relationships" id="275" r:id="R67123706562741b4"/>
    <p:sldId xmlns:r="http://schemas.openxmlformats.org/officeDocument/2006/relationships" id="276" r:id="R435553f481ef49cb"/>
    <p:sldId xmlns:r="http://schemas.openxmlformats.org/officeDocument/2006/relationships" id="277" r:id="Rf1e08e77a8ac46a2"/>
    <p:sldId xmlns:r="http://schemas.openxmlformats.org/officeDocument/2006/relationships" id="278" r:id="Ra59b12cd41af4ca9"/>
    <p:sldId xmlns:r="http://schemas.openxmlformats.org/officeDocument/2006/relationships" id="279" r:id="R6b2050316e8f4f2e"/>
    <p:sldId xmlns:r="http://schemas.openxmlformats.org/officeDocument/2006/relationships" id="280" r:id="Rde60bc31f6024078"/>
    <p:sldId xmlns:r="http://schemas.openxmlformats.org/officeDocument/2006/relationships" id="281" r:id="R7a6e3684f07b42a7"/>
    <p:sldId xmlns:r="http://schemas.openxmlformats.org/officeDocument/2006/relationships" id="307" r:id="rIdConclusoes27"/>
    <p:sldId xmlns:r="http://schemas.openxmlformats.org/officeDocument/2006/relationships" id="282" r:id="Rcbd06546e7fb4195"/>
    <p:sldId xmlns:r="http://schemas.openxmlformats.org/officeDocument/2006/relationships" id="283" r:id="R37efb08890cd44c9"/>
    <p:sldId xmlns:r="http://schemas.openxmlformats.org/officeDocument/2006/relationships" id="284" r:id="Re042e0de961643d6"/>
    <p:sldId xmlns:r="http://schemas.openxmlformats.org/officeDocument/2006/relationships" id="285" r:id="Racc982c8b44741ea"/>
    <p:sldId xmlns:r="http://schemas.openxmlformats.org/officeDocument/2006/relationships" id="286" r:id="R8cea917b39f94983"/>
    <p:sldId xmlns:r="http://schemas.openxmlformats.org/officeDocument/2006/relationships" id="287" r:id="Rf651259991354690"/>
    <p:sldId xmlns:r="http://schemas.openxmlformats.org/officeDocument/2006/relationships" id="288" r:id="Rcc8eb716cc734a31"/>
    <p:sldId xmlns:r="http://schemas.openxmlformats.org/officeDocument/2006/relationships" id="289" r:id="R8295210eab8d41c8"/>
    <p:sldId xmlns:r="http://schemas.openxmlformats.org/officeDocument/2006/relationships" id="290" r:id="Rfafd0a28116a4cca"/>
    <p:sldId xmlns:r="http://schemas.openxmlformats.org/officeDocument/2006/relationships" id="291" r:id="R137ee20b45fb41b3"/>
    <p:sldId xmlns:r="http://schemas.openxmlformats.org/officeDocument/2006/relationships" id="292" r:id="Rfd9ff1605fca406b"/>
    <p:sldId xmlns:r="http://schemas.openxmlformats.org/officeDocument/2006/relationships" id="293" r:id="R601eb91cf38b4ad8"/>
    <p:sldId xmlns:r="http://schemas.openxmlformats.org/officeDocument/2006/relationships" id="294" r:id="R58488222d1f94dc4"/>
    <p:sldId xmlns:r="http://schemas.openxmlformats.org/officeDocument/2006/relationships" id="295" r:id="R639029585d094162"/>
    <p:sldId xmlns:r="http://schemas.openxmlformats.org/officeDocument/2006/relationships" id="296" r:id="R115cd9c7999b496e"/>
    <p:sldId xmlns:r="http://schemas.openxmlformats.org/officeDocument/2006/relationships" id="297" r:id="R5347ec1b4732458d"/>
    <p:sldId xmlns:r="http://schemas.openxmlformats.org/officeDocument/2006/relationships" id="298" r:id="Ra5dff162bcaf4dfb"/>
    <p:sldId xmlns:r="http://schemas.openxmlformats.org/officeDocument/2006/relationships" id="299" r:id="R37b5a0a58996490f"/>
    <p:sldId xmlns:r="http://schemas.openxmlformats.org/officeDocument/2006/relationships" id="300" r:id="Re679d8bbc17f402a"/>
    <p:sldId xmlns:r="http://schemas.openxmlformats.org/officeDocument/2006/relationships" id="301" r:id="Rb4bc6f7f1f604f50"/>
    <p:sldId xmlns:r="http://schemas.openxmlformats.org/officeDocument/2006/relationships" id="302" r:id="Rce75b4b952044579"/>
    <p:sldId xmlns:r="http://schemas.openxmlformats.org/officeDocument/2006/relationships" id="303" r:id="R8b48bb01e71a4bdf"/>
    <p:sldId xmlns:r="http://schemas.openxmlformats.org/officeDocument/2006/relationships" id="304" r:id="Rbe95317652f04b23"/>
    <p:sldId xmlns:r="http://schemas.openxmlformats.org/officeDocument/2006/relationships" id="305" r:id="R45919e1a48fa44ac"/>
    <p:sldId xmlns:r="http://schemas.openxmlformats.org/officeDocument/2006/relationships" id="306" r:id="Rdef40a2728cf459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?><Relationships xmlns="http://schemas.openxmlformats.org/package/2006/relationships"><Relationship Type="http://schemas.openxmlformats.org/officeDocument/2006/relationships/theme" Target="/ppt/theme/theme1.xml" Id="Re2f8736c47084783" /><Relationship Type="http://schemas.openxmlformats.org/officeDocument/2006/relationships/slideMaster" Target="/ppt/slideMasters/slideMaster1.xml" Id="R0033ac9fed4e40a4" /><Relationship Type="http://schemas.openxmlformats.org/officeDocument/2006/relationships/notesMaster" Target="/ppt/notesMasters/notesMaster1.xml" Id="Re5f7450afe604e9a" /><Relationship Type="http://schemas.openxmlformats.org/officeDocument/2006/relationships/presProps" Target="/ppt/presProps.xml" Id="R3061ccf805824398" /><Relationship Type="http://schemas.openxmlformats.org/officeDocument/2006/relationships/tableStyles" Target="/ppt/tableStyles.xml" Id="Rc5ae48be17234980" /><Relationship Type="http://schemas.openxmlformats.org/officeDocument/2006/relationships/slide" Target="/ppt/slides/slide1.xml" Id="Rd55266e95d464cee" /><Relationship Type="http://schemas.openxmlformats.org/officeDocument/2006/relationships/slide" Target="/ppt/slides/slide2.xml" Id="Rd2aa1572eee84d51" /><Relationship Type="http://schemas.openxmlformats.org/officeDocument/2006/relationships/slide" Target="/ppt/slides/slide3.xml" Id="Rc3190e871d744ade" /><Relationship Type="http://schemas.openxmlformats.org/officeDocument/2006/relationships/slide" Target="/ppt/slides/slide4.xml" Id="R29a1e669bdee4cda" /><Relationship Type="http://schemas.openxmlformats.org/officeDocument/2006/relationships/slide" Target="/ppt/slides/slide5.xml" Id="R72a8adb452874a41" /><Relationship Type="http://schemas.openxmlformats.org/officeDocument/2006/relationships/slide" Target="/ppt/slides/slide6.xml" Id="R7988749420c640a1" /><Relationship Type="http://schemas.openxmlformats.org/officeDocument/2006/relationships/slide" Target="/ppt/slides/slide7.xml" Id="R5a2297639c924ace" /><Relationship Type="http://schemas.openxmlformats.org/officeDocument/2006/relationships/slide" Target="/ppt/slides/slide8.xml" Id="Re82433a931b04bc1" /><Relationship Type="http://schemas.openxmlformats.org/officeDocument/2006/relationships/slide" Target="/ppt/slides/slide9.xml" Id="Rf531e17aa98e4f79" /><Relationship Type="http://schemas.openxmlformats.org/officeDocument/2006/relationships/slide" Target="/ppt/slides/slide10.xml" Id="Rfb08c4d49a41498f" /><Relationship Type="http://schemas.openxmlformats.org/officeDocument/2006/relationships/slide" Target="/ppt/slides/slide11.xml" Id="R61c54f1150f64df2" /><Relationship Type="http://schemas.openxmlformats.org/officeDocument/2006/relationships/slide" Target="/ppt/slides/slide12.xml" Id="R7d7270ba074b44b3" /><Relationship Type="http://schemas.openxmlformats.org/officeDocument/2006/relationships/slide" Target="/ppt/slides/slide13.xml" Id="Rd6e8d794f76a4e70" /><Relationship Type="http://schemas.openxmlformats.org/officeDocument/2006/relationships/slide" Target="/ppt/slides/slide14.xml" Id="Ra23fc9ce73144248" /><Relationship Type="http://schemas.openxmlformats.org/officeDocument/2006/relationships/slide" Target="/ppt/slides/slide15.xml" Id="R38b25e3550df496e" /><Relationship Type="http://schemas.openxmlformats.org/officeDocument/2006/relationships/slide" Target="/ppt/slides/slide16.xml" Id="R5bd37256850e4277" /><Relationship Type="http://schemas.openxmlformats.org/officeDocument/2006/relationships/slide" Target="/ppt/slides/slide17.xml" Id="Rf9aaa14e86c742e0" /><Relationship Type="http://schemas.openxmlformats.org/officeDocument/2006/relationships/slide" Target="/ppt/slides/slide18.xml" Id="Ree97ae66526b424e" /><Relationship Type="http://schemas.openxmlformats.org/officeDocument/2006/relationships/slide" Target="/ppt/slides/slide19.xml" Id="R302c47b0a4284a3f" /><Relationship Type="http://schemas.openxmlformats.org/officeDocument/2006/relationships/slide" Target="/ppt/slides/slide20.xml" Id="R67123706562741b4" /><Relationship Type="http://schemas.openxmlformats.org/officeDocument/2006/relationships/slide" Target="/ppt/slides/slide21.xml" Id="R435553f481ef49cb" /><Relationship Type="http://schemas.openxmlformats.org/officeDocument/2006/relationships/slide" Target="/ppt/slides/slide22.xml" Id="Rf1e08e77a8ac46a2" /><Relationship Type="http://schemas.openxmlformats.org/officeDocument/2006/relationships/slide" Target="/ppt/slides/slide23.xml" Id="Ra59b12cd41af4ca9" /><Relationship Type="http://schemas.openxmlformats.org/officeDocument/2006/relationships/slide" Target="/ppt/slides/slide24.xml" Id="R6b2050316e8f4f2e" /><Relationship Type="http://schemas.openxmlformats.org/officeDocument/2006/relationships/slide" Target="/ppt/slides/slide25.xml" Id="Rde60bc31f6024078" /><Relationship Type="http://schemas.openxmlformats.org/officeDocument/2006/relationships/slide" Target="/ppt/slides/slide26.xml" Id="R7a6e3684f07b42a7" /><Relationship Type="http://schemas.openxmlformats.org/officeDocument/2006/relationships/slide" Target="/ppt/slides/slide27.xml" Id="Rcbd06546e7fb4195" /><Relationship Type="http://schemas.openxmlformats.org/officeDocument/2006/relationships/slide" Target="/ppt/slides/slide28.xml" Id="R37efb08890cd44c9" /><Relationship Type="http://schemas.openxmlformats.org/officeDocument/2006/relationships/slide" Target="/ppt/slides/slide29.xml" Id="Re042e0de961643d6" /><Relationship Type="http://schemas.openxmlformats.org/officeDocument/2006/relationships/slide" Target="/ppt/slides/slide30.xml" Id="Racc982c8b44741ea" /><Relationship Type="http://schemas.openxmlformats.org/officeDocument/2006/relationships/slide" Target="/ppt/slides/slide31.xml" Id="R8cea917b39f94983" /><Relationship Type="http://schemas.openxmlformats.org/officeDocument/2006/relationships/slide" Target="/ppt/slides/slide32.xml" Id="Rf651259991354690" /><Relationship Type="http://schemas.openxmlformats.org/officeDocument/2006/relationships/slide" Target="/ppt/slides/slide33.xml" Id="Rcc8eb716cc734a31" /><Relationship Type="http://schemas.openxmlformats.org/officeDocument/2006/relationships/slide" Target="/ppt/slides/slide34.xml" Id="R8295210eab8d41c8" /><Relationship Type="http://schemas.openxmlformats.org/officeDocument/2006/relationships/slide" Target="/ppt/slides/slide35.xml" Id="Rfafd0a28116a4cca" /><Relationship Type="http://schemas.openxmlformats.org/officeDocument/2006/relationships/slide" Target="/ppt/slides/slide36.xml" Id="R137ee20b45fb41b3" /><Relationship Type="http://schemas.openxmlformats.org/officeDocument/2006/relationships/slide" Target="/ppt/slides/slide37.xml" Id="Rfd9ff1605fca406b" /><Relationship Type="http://schemas.openxmlformats.org/officeDocument/2006/relationships/slide" Target="/ppt/slides/slide38.xml" Id="R601eb91cf38b4ad8" /><Relationship Type="http://schemas.openxmlformats.org/officeDocument/2006/relationships/slide" Target="/ppt/slides/slide39.xml" Id="R58488222d1f94dc4" /><Relationship Type="http://schemas.openxmlformats.org/officeDocument/2006/relationships/slide" Target="/ppt/slides/slide40.xml" Id="R639029585d094162" /><Relationship Type="http://schemas.openxmlformats.org/officeDocument/2006/relationships/slide" Target="/ppt/slides/slide41.xml" Id="R115cd9c7999b496e" /><Relationship Type="http://schemas.openxmlformats.org/officeDocument/2006/relationships/slide" Target="/ppt/slides/slide42.xml" Id="R5347ec1b4732458d" /><Relationship Type="http://schemas.openxmlformats.org/officeDocument/2006/relationships/slide" Target="/ppt/slides/slide43.xml" Id="Ra5dff162bcaf4dfb" /><Relationship Type="http://schemas.openxmlformats.org/officeDocument/2006/relationships/slide" Target="/ppt/slides/slide44.xml" Id="R37b5a0a58996490f" /><Relationship Type="http://schemas.openxmlformats.org/officeDocument/2006/relationships/slide" Target="/ppt/slides/slide45.xml" Id="Re679d8bbc17f402a" /><Relationship Type="http://schemas.openxmlformats.org/officeDocument/2006/relationships/slide" Target="/ppt/slides/slide46.xml" Id="Rb4bc6f7f1f604f50" /><Relationship Type="http://schemas.openxmlformats.org/officeDocument/2006/relationships/slide" Target="/ppt/slides/slide47.xml" Id="Rce75b4b952044579" /><Relationship Type="http://schemas.openxmlformats.org/officeDocument/2006/relationships/slide" Target="/ppt/slides/slide48.xml" Id="R8b48bb01e71a4bdf" /><Relationship Type="http://schemas.openxmlformats.org/officeDocument/2006/relationships/slide" Target="/ppt/slides/slide49.xml" Id="Rbe95317652f04b23" /><Relationship Type="http://schemas.openxmlformats.org/officeDocument/2006/relationships/slide" Target="/ppt/slides/slide50.xml" Id="R45919e1a48fa44ac" /><Relationship Type="http://schemas.openxmlformats.org/officeDocument/2006/relationships/slide" Target="/ppt/slides/slide51.xml" Id="Rdef40a2728cf459b" /><Relationship Id="rIdConclusoes27" Type="http://schemas.openxmlformats.org/officeDocument/2006/relationships/slide" Target="slides/slide52.xml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ea79ebf3964493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aeb1298b235495f" /><Relationship Type="http://schemas.openxmlformats.org/officeDocument/2006/relationships/notesMaster" Target="/ppt/notesMasters/notesMaster1.xml" Id="Ra21f3c8b6a484e6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78c741882a1482f" /><Relationship Type="http://schemas.openxmlformats.org/officeDocument/2006/relationships/notesMaster" Target="/ppt/notesMasters/notesMaster1.xml" Id="R70237c2bea6941f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fcb3f1a46084615" /><Relationship Type="http://schemas.openxmlformats.org/officeDocument/2006/relationships/notesMaster" Target="/ppt/notesMasters/notesMaster1.xml" Id="Rcb289fb6731e445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f5f7cc923864074" /><Relationship Type="http://schemas.openxmlformats.org/officeDocument/2006/relationships/notesMaster" Target="/ppt/notesMasters/notesMaster1.xml" Id="Rf67ee1af70b0428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acb13ddaaee4265" /><Relationship Type="http://schemas.openxmlformats.org/officeDocument/2006/relationships/notesMaster" Target="/ppt/notesMasters/notesMaster1.xml" Id="R128d8787bead4f1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3785425189e4802" /><Relationship Type="http://schemas.openxmlformats.org/officeDocument/2006/relationships/notesMaster" Target="/ppt/notesMasters/notesMaster1.xml" Id="R74cb4c8b123d470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659206a015e4f7e" /><Relationship Type="http://schemas.openxmlformats.org/officeDocument/2006/relationships/notesMaster" Target="/ppt/notesMasters/notesMaster1.xml" Id="R07e8ca3c35a8461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c06eedc7c724938" /><Relationship Type="http://schemas.openxmlformats.org/officeDocument/2006/relationships/notesMaster" Target="/ppt/notesMasters/notesMaster1.xml" Id="Rbcf1faa7e2c946d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8c41fdd8eb745ef" /><Relationship Type="http://schemas.openxmlformats.org/officeDocument/2006/relationships/notesMaster" Target="/ppt/notesMasters/notesMaster1.xml" Id="R87208cc0d61d4aa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a1a2d67bef94b36" /><Relationship Type="http://schemas.openxmlformats.org/officeDocument/2006/relationships/notesMaster" Target="/ppt/notesMasters/notesMaster1.xml" Id="R3508374386ac400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aae88e54a594610" /><Relationship Type="http://schemas.openxmlformats.org/officeDocument/2006/relationships/notesMaster" Target="/ppt/notesMasters/notesMaster1.xml" Id="Ra28ec7ab06f94f3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855256ea71942ba" /><Relationship Type="http://schemas.openxmlformats.org/officeDocument/2006/relationships/notesMaster" Target="/ppt/notesMasters/notesMaster1.xml" Id="R88c7de4288934a9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ce3b217874d427a" /><Relationship Type="http://schemas.openxmlformats.org/officeDocument/2006/relationships/notesMaster" Target="/ppt/notesMasters/notesMaster1.xml" Id="Rf52c63efa6a64d5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1d3e8787a734658" /><Relationship Type="http://schemas.openxmlformats.org/officeDocument/2006/relationships/notesMaster" Target="/ppt/notesMasters/notesMaster1.xml" Id="Rae3a5614820547d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4f11d81e5784946" /><Relationship Type="http://schemas.openxmlformats.org/officeDocument/2006/relationships/notesMaster" Target="/ppt/notesMasters/notesMaster1.xml" Id="Rfe02011ec93f4bd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a939a03f1394bbf" /><Relationship Type="http://schemas.openxmlformats.org/officeDocument/2006/relationships/notesMaster" Target="/ppt/notesMasters/notesMaster1.xml" Id="R5872181878d9486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abd1550cb11412b" /><Relationship Type="http://schemas.openxmlformats.org/officeDocument/2006/relationships/notesMaster" Target="/ppt/notesMasters/notesMaster1.xml" Id="R662eedc141ab40c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1d4b07734934ee6" /><Relationship Type="http://schemas.openxmlformats.org/officeDocument/2006/relationships/notesMaster" Target="/ppt/notesMasters/notesMaster1.xml" Id="Rf88b691522314db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02720f4c55c4553" /><Relationship Type="http://schemas.openxmlformats.org/officeDocument/2006/relationships/notesMaster" Target="/ppt/notesMasters/notesMaster1.xml" Id="R0bf66dca11f34d1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ddbf1d4830f4230" /><Relationship Type="http://schemas.openxmlformats.org/officeDocument/2006/relationships/notesMaster" Target="/ppt/notesMasters/notesMaster1.xml" Id="R2c6d897dc86f4ab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6b26d4ca6264e8c" /><Relationship Type="http://schemas.openxmlformats.org/officeDocument/2006/relationships/notesMaster" Target="/ppt/notesMasters/notesMaster1.xml" Id="R8769b3b78e4a4e4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e51196ef3ba49da" /><Relationship Type="http://schemas.openxmlformats.org/officeDocument/2006/relationships/notesMaster" Target="/ppt/notesMasters/notesMaster1.xml" Id="Rf3116216aebb44b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5f0a1ac4df2497e" /><Relationship Type="http://schemas.openxmlformats.org/officeDocument/2006/relationships/notesMaster" Target="/ppt/notesMasters/notesMaster1.xml" Id="R8caced0fa83b47c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9b1564fda8742ef" /><Relationship Type="http://schemas.openxmlformats.org/officeDocument/2006/relationships/notesMaster" Target="/ppt/notesMasters/notesMaster1.xml" Id="R9cb625dbe5a8481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d134a9090394645" /><Relationship Type="http://schemas.openxmlformats.org/officeDocument/2006/relationships/notesMaster" Target="/ppt/notesMasters/notesMaster1.xml" Id="Re99981375b314b6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211149a280b4fa7" /><Relationship Type="http://schemas.openxmlformats.org/officeDocument/2006/relationships/notesMaster" Target="/ppt/notesMasters/notesMaster1.xml" Id="R8800f87305cc4bd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49f1f9e83fc4058" /><Relationship Type="http://schemas.openxmlformats.org/officeDocument/2006/relationships/notesMaster" Target="/ppt/notesMasters/notesMaster1.xml" Id="R70d51c73642e41b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1b25b9a0beb4407" /><Relationship Type="http://schemas.openxmlformats.org/officeDocument/2006/relationships/notesMaster" Target="/ppt/notesMasters/notesMaster1.xml" Id="R8ca8438523254df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056bc855ba1d4801" /><Relationship Type="http://schemas.openxmlformats.org/officeDocument/2006/relationships/notesMaster" Target="/ppt/notesMasters/notesMaster1.xml" Id="Re6798449d0d2475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7a246c5fd4fb463d" /><Relationship Type="http://schemas.openxmlformats.org/officeDocument/2006/relationships/notesMaster" Target="/ppt/notesMasters/notesMaster1.xml" Id="R7cfe8168db304187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cd2fc17770d64567" /><Relationship Type="http://schemas.openxmlformats.org/officeDocument/2006/relationships/notesMaster" Target="/ppt/notesMasters/notesMaster1.xml" Id="R20cef43481134fea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0ce02d9c109b40dd" /><Relationship Type="http://schemas.openxmlformats.org/officeDocument/2006/relationships/notesMaster" Target="/ppt/notesMasters/notesMaster1.xml" Id="R995a5d2b5e224964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2a42a9c1367480a" /><Relationship Type="http://schemas.openxmlformats.org/officeDocument/2006/relationships/notesMaster" Target="/ppt/notesMasters/notesMaster1.xml" Id="R35af96cd8c5044a2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836c92e793d34992" /><Relationship Type="http://schemas.openxmlformats.org/officeDocument/2006/relationships/notesMaster" Target="/ppt/notesMasters/notesMaster1.xml" Id="Re6fa2305de514df0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a9ce4964e20d47c3" /><Relationship Type="http://schemas.openxmlformats.org/officeDocument/2006/relationships/notesMaster" Target="/ppt/notesMasters/notesMaster1.xml" Id="R7cc90504ab104c75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24c3b652a4a449f0" /><Relationship Type="http://schemas.openxmlformats.org/officeDocument/2006/relationships/notesMaster" Target="/ppt/notesMasters/notesMaster1.xml" Id="Re96e6832d55b4630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5fbaeff48f0c432d" /><Relationship Type="http://schemas.openxmlformats.org/officeDocument/2006/relationships/notesMaster" Target="/ppt/notesMasters/notesMaster1.xml" Id="R5e7f7ee6cfcb48f4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e8f8c8601a8d4a49" /><Relationship Type="http://schemas.openxmlformats.org/officeDocument/2006/relationships/notesMaster" Target="/ppt/notesMasters/notesMaster1.xml" Id="Rdd7fb125e6254395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d01f129d78064d67" /><Relationship Type="http://schemas.openxmlformats.org/officeDocument/2006/relationships/notesMaster" Target="/ppt/notesMasters/notesMaster1.xml" Id="R0e40167972c04d0c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7a1a557ebf274609" /><Relationship Type="http://schemas.openxmlformats.org/officeDocument/2006/relationships/notesMaster" Target="/ppt/notesMasters/notesMaster1.xml" Id="R08ba4c2b448b4d4c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38e7476ac6814db1" /><Relationship Type="http://schemas.openxmlformats.org/officeDocument/2006/relationships/notesMaster" Target="/ppt/notesMasters/notesMaster1.xml" Id="R723787a8e59f487f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41595d3e7bad4d8a" /><Relationship Type="http://schemas.openxmlformats.org/officeDocument/2006/relationships/notesMaster" Target="/ppt/notesMasters/notesMaster1.xml" Id="R552b0fe23d714a8d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dcbbf4fb69394d63" /><Relationship Type="http://schemas.openxmlformats.org/officeDocument/2006/relationships/notesMaster" Target="/ppt/notesMasters/notesMaster1.xml" Id="Re344336289dd43f5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bb1f60e544154571" /><Relationship Type="http://schemas.openxmlformats.org/officeDocument/2006/relationships/notesMaster" Target="/ppt/notesMasters/notesMaster1.xml" Id="R22467f1664104dac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26de631c32fd4dca" /><Relationship Type="http://schemas.openxmlformats.org/officeDocument/2006/relationships/notesMaster" Target="/ppt/notesMasters/notesMaster1.xml" Id="R145b5d64bbad4e72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2a180e954f3547ad" /><Relationship Type="http://schemas.openxmlformats.org/officeDocument/2006/relationships/notesMaster" Target="/ppt/notesMasters/notesMaster1.xml" Id="Rbbe2ece6f4534a76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cbcefa96cd6e4a79" /><Relationship Type="http://schemas.openxmlformats.org/officeDocument/2006/relationships/notesMaster" Target="/ppt/notesMasters/notesMaster1.xml" Id="Rdc17bfe0e1974b96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e1c44554233b41aa" /><Relationship Type="http://schemas.openxmlformats.org/officeDocument/2006/relationships/notesMaster" Target="/ppt/notesMasters/notesMaster1.xml" Id="R8fd1ba08ea5f4ea5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64663805c6514a8f" /><Relationship Type="http://schemas.openxmlformats.org/officeDocument/2006/relationships/notesMaster" Target="/ppt/notesMasters/notesMaster1.xml" Id="R09c587fcf14446a6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e76e106c5016471b" /><Relationship Type="http://schemas.openxmlformats.org/officeDocument/2006/relationships/notesMaster" Target="/ppt/notesMasters/notesMaster1.xml" Id="Rd00f280bed2c441e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66040c9955f04677" /><Relationship Type="http://schemas.openxmlformats.org/officeDocument/2006/relationships/notesMaster" Target="/ppt/notesMasters/notesMaster1.xml" Id="R1d55c6831c174a6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74ca952df145d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743907be414449c" /><Relationship Type="http://schemas.openxmlformats.org/officeDocument/2006/relationships/slideLayout" Target="/ppt/slideLayouts/slideLayout1.xml" Id="Rf4d473975d284e5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4d473975d284e5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55e0e0e1194efe" /><Relationship Type="http://schemas.openxmlformats.org/officeDocument/2006/relationships/notesSlide" Target="/ppt/notesSlides/notesSlide1.xml" Id="R4744c3b19d2247e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da02b7ba1e4fbe" /><Relationship Type="http://schemas.openxmlformats.org/officeDocument/2006/relationships/notesSlide" Target="/ppt/notesSlides/notesSlide2.xml" Id="Rc1e34541b984488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9f79ee9054490f" /><Relationship Type="http://schemas.openxmlformats.org/officeDocument/2006/relationships/chart" Target="/ppt/slides/charts/chart1.xml" Id="R15b72893ec20410f" /><Relationship Type="http://schemas.openxmlformats.org/officeDocument/2006/relationships/notesSlide" Target="/ppt/notesSlides/notesSlide3.xml" Id="R88ae895bf2304ba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d0a9e8f39d480a" /><Relationship Type="http://schemas.openxmlformats.org/officeDocument/2006/relationships/chart" Target="/ppt/slides/charts/chart2.xml" Id="Radcb7d4a22344b56" /><Relationship Type="http://schemas.openxmlformats.org/officeDocument/2006/relationships/chart" Target="/ppt/slides/charts/chart3.xml" Id="R2af774a6fb224986" /><Relationship Type="http://schemas.openxmlformats.org/officeDocument/2006/relationships/chart" Target="/ppt/slides/charts/chart4.xml" Id="Rd87c46b968a345e0" /><Relationship Type="http://schemas.openxmlformats.org/officeDocument/2006/relationships/notesSlide" Target="/ppt/notesSlides/notesSlide4.xml" Id="Rc0a866e02e1e481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20c16b1c8d42b9" /><Relationship Type="http://schemas.openxmlformats.org/officeDocument/2006/relationships/chart" Target="/ppt/slides/charts/chart5.xml" Id="Rd066c785753e41f4" /><Relationship Type="http://schemas.openxmlformats.org/officeDocument/2006/relationships/chart" Target="/ppt/slides/charts/chart6.xml" Id="R32b9f77149c940da" /><Relationship Type="http://schemas.openxmlformats.org/officeDocument/2006/relationships/chart" Target="/ppt/slides/charts/chart7.xml" Id="R2c574e780d2840b9" /><Relationship Type="http://schemas.openxmlformats.org/officeDocument/2006/relationships/chart" Target="/ppt/slides/charts/chart8.xml" Id="R3e5b78d4d4ac4f09" /><Relationship Type="http://schemas.openxmlformats.org/officeDocument/2006/relationships/notesSlide" Target="/ppt/notesSlides/notesSlide5.xml" Id="R145c891de754411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477a2227bc45b0" /><Relationship Type="http://schemas.openxmlformats.org/officeDocument/2006/relationships/chart" Target="/ppt/slides/charts/chart9.xml" Id="R6d55e51a4e8e4792" /><Relationship Type="http://schemas.openxmlformats.org/officeDocument/2006/relationships/chart" Target="/ppt/slides/charts/chart10.xml" Id="R726340a3b6fa4979" /><Relationship Type="http://schemas.openxmlformats.org/officeDocument/2006/relationships/notesSlide" Target="/ppt/notesSlides/notesSlide6.xml" Id="Rb671df186d6a498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ba6b2ad2c344fa" /><Relationship Type="http://schemas.openxmlformats.org/officeDocument/2006/relationships/chart" Target="/ppt/slides/charts/chart11.xml" Id="Rb49030c1b56343c3" /><Relationship Type="http://schemas.openxmlformats.org/officeDocument/2006/relationships/chart" Target="/ppt/slides/charts/chart12.xml" Id="Rb4fd41cec4fa468a" /><Relationship Type="http://schemas.openxmlformats.org/officeDocument/2006/relationships/notesSlide" Target="/ppt/notesSlides/notesSlide7.xml" Id="R67c7d72d2f704f4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0747cc3bcc4954" /><Relationship Type="http://schemas.openxmlformats.org/officeDocument/2006/relationships/chart" Target="/ppt/slides/charts/chart13.xml" Id="Rd66c0422247b4a7c" /><Relationship Type="http://schemas.openxmlformats.org/officeDocument/2006/relationships/chart" Target="/ppt/slides/charts/chart14.xml" Id="Rdc71c8bbc4e74eb8" /><Relationship Type="http://schemas.openxmlformats.org/officeDocument/2006/relationships/notesSlide" Target="/ppt/notesSlides/notesSlide8.xml" Id="R5928a7d3958549f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795a4b0b1948b8" /><Relationship Type="http://schemas.openxmlformats.org/officeDocument/2006/relationships/chart" Target="/ppt/slides/charts/chart15.xml" Id="R2265e3a43d644004" /><Relationship Type="http://schemas.openxmlformats.org/officeDocument/2006/relationships/notesSlide" Target="/ppt/notesSlides/notesSlide9.xml" Id="R61e853b7c7a6461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9176c8415c4862" /><Relationship Type="http://schemas.openxmlformats.org/officeDocument/2006/relationships/chart" Target="/ppt/slides/charts/chart16.xml" Id="Rb9ab19d329884207" /><Relationship Type="http://schemas.openxmlformats.org/officeDocument/2006/relationships/notesSlide" Target="/ppt/notesSlides/notesSlide10.xml" Id="Rd56f75468dd2416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060cb6050547d7" /><Relationship Type="http://schemas.openxmlformats.org/officeDocument/2006/relationships/chart" Target="/ppt/slides/charts/chart17.xml" Id="R73a26764a4834cfd" /><Relationship Type="http://schemas.openxmlformats.org/officeDocument/2006/relationships/chart" Target="/ppt/slides/charts/chart18.xml" Id="R978946c012294c74" /><Relationship Type="http://schemas.openxmlformats.org/officeDocument/2006/relationships/notesSlide" Target="/ppt/notesSlides/notesSlide11.xml" Id="Rd0dabd8b1272441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c59d704c534da2" /><Relationship Type="http://schemas.openxmlformats.org/officeDocument/2006/relationships/chart" Target="/ppt/slides/charts/chart19.xml" Id="R43417d29a1d24136" /><Relationship Type="http://schemas.openxmlformats.org/officeDocument/2006/relationships/notesSlide" Target="/ppt/notesSlides/notesSlide12.xml" Id="Ra6a47488707146a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116d527ebd44d7" /><Relationship Type="http://schemas.openxmlformats.org/officeDocument/2006/relationships/chart" Target="/ppt/slides/charts/chart20.xml" Id="Rf9f875cb40e34502" /><Relationship Type="http://schemas.openxmlformats.org/officeDocument/2006/relationships/notesSlide" Target="/ppt/notesSlides/notesSlide13.xml" Id="R9501a962aab54bf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2c10a2caf64cb9" /><Relationship Type="http://schemas.openxmlformats.org/officeDocument/2006/relationships/chart" Target="/ppt/slides/charts/chart21.xml" Id="R0208a2c67b5a49a7" /><Relationship Type="http://schemas.openxmlformats.org/officeDocument/2006/relationships/notesSlide" Target="/ppt/notesSlides/notesSlide14.xml" Id="Rf39a4f03d17c4d3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ceaeb702d145e9" /><Relationship Type="http://schemas.openxmlformats.org/officeDocument/2006/relationships/chart" Target="/ppt/slides/charts/chart22.xml" Id="Rdee0868aaf5d414b" /><Relationship Type="http://schemas.openxmlformats.org/officeDocument/2006/relationships/chart" Target="/ppt/slides/charts/chart23.xml" Id="Rc7840087b92c4c18" /><Relationship Type="http://schemas.openxmlformats.org/officeDocument/2006/relationships/chart" Target="/ppt/slides/charts/chart24.xml" Id="R96c189578d174cd5" /><Relationship Type="http://schemas.openxmlformats.org/officeDocument/2006/relationships/notesSlide" Target="/ppt/notesSlides/notesSlide15.xml" Id="Rd8907d6f9f1a42f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f0ff9e90cc4174" /><Relationship Type="http://schemas.openxmlformats.org/officeDocument/2006/relationships/chart" Target="/ppt/slides/charts/chart25.xml" Id="R36e14f7622524a78" /><Relationship Type="http://schemas.openxmlformats.org/officeDocument/2006/relationships/chart" Target="/ppt/slides/charts/chart26.xml" Id="R4ef5874487e344e5" /><Relationship Type="http://schemas.openxmlformats.org/officeDocument/2006/relationships/chart" Target="/ppt/slides/charts/chart27.xml" Id="Rdd21499f89c24677" /><Relationship Type="http://schemas.openxmlformats.org/officeDocument/2006/relationships/notesSlide" Target="/ppt/notesSlides/notesSlide16.xml" Id="Rf01db090673c43b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8b23ea1fc54293" /><Relationship Type="http://schemas.openxmlformats.org/officeDocument/2006/relationships/chart" Target="/ppt/slides/charts/chart28.xml" Id="Recd6a0ef33eb4064" /><Relationship Type="http://schemas.openxmlformats.org/officeDocument/2006/relationships/notesSlide" Target="/ppt/notesSlides/notesSlide17.xml" Id="R61eab533c57d46b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b7934af6144ced" /><Relationship Type="http://schemas.openxmlformats.org/officeDocument/2006/relationships/chart" Target="/ppt/slides/charts/chart29.xml" Id="R91d85cd1359b4f0d" /><Relationship Type="http://schemas.openxmlformats.org/officeDocument/2006/relationships/chart" Target="/ppt/slides/charts/chart30.xml" Id="R62fa1efdd6604012" /><Relationship Type="http://schemas.openxmlformats.org/officeDocument/2006/relationships/notesSlide" Target="/ppt/notesSlides/notesSlide18.xml" Id="R3aae8d94e712481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5379df666e4b22" /><Relationship Type="http://schemas.openxmlformats.org/officeDocument/2006/relationships/image" Target="/ppt/media/image.png" Id="R45df052c47e046d8" /><Relationship Type="http://schemas.openxmlformats.org/officeDocument/2006/relationships/notesSlide" Target="/ppt/notesSlides/notesSlide19.xml" Id="R648fd4d8884e45c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995958fb1b4cdf" /><Relationship Type="http://schemas.openxmlformats.org/officeDocument/2006/relationships/image" Target="/ppt/media/image2.png" Id="R527d1a044f5e4026" /><Relationship Type="http://schemas.openxmlformats.org/officeDocument/2006/relationships/notesSlide" Target="/ppt/notesSlides/notesSlide20.xml" Id="R624a4c7d3e834ef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afca17c30e42fa" /><Relationship Type="http://schemas.openxmlformats.org/officeDocument/2006/relationships/notesSlide" Target="/ppt/notesSlides/notesSlide21.xml" Id="R87d123190040447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8f8f6dd31c4438" /><Relationship Type="http://schemas.openxmlformats.org/officeDocument/2006/relationships/notesSlide" Target="/ppt/notesSlides/notesSlide22.xml" Id="R5d354d7d936845e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91175363cc4720" /><Relationship Type="http://schemas.openxmlformats.org/officeDocument/2006/relationships/chart" Target="/ppt/slides/charts/chart31.xml" Id="R3ff38db4a6594fbc" /><Relationship Type="http://schemas.openxmlformats.org/officeDocument/2006/relationships/notesSlide" Target="/ppt/notesSlides/notesSlide23.xml" Id="Rdab3c8503b46402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ea3c173ea6405f" /><Relationship Type="http://schemas.openxmlformats.org/officeDocument/2006/relationships/notesSlide" Target="/ppt/notesSlides/notesSlide24.xml" Id="Re99851904b54414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44fa0734db484f" /><Relationship Type="http://schemas.openxmlformats.org/officeDocument/2006/relationships/chart" Target="/ppt/slides/charts/chart32.xml" Id="Rf3a0323cab0e4b88" /><Relationship Type="http://schemas.openxmlformats.org/officeDocument/2006/relationships/chart" Target="/ppt/slides/charts/chart33.xml" Id="R2add7f82dc5e4e49" /><Relationship Type="http://schemas.openxmlformats.org/officeDocument/2006/relationships/notesSlide" Target="/ppt/notesSlides/notesSlide25.xml" Id="R951e8dc1423041f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3411613059454c" /><Relationship Type="http://schemas.openxmlformats.org/officeDocument/2006/relationships/chart" Target="/ppt/slides/charts/chart34.xml" Id="R03b6b5c78cf74d10" /><Relationship Type="http://schemas.openxmlformats.org/officeDocument/2006/relationships/notesSlide" Target="/ppt/notesSlides/notesSlide26.xml" Id="Rdb3e1e917c3e4db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ef7132b0304d45" /><Relationship Type="http://schemas.openxmlformats.org/officeDocument/2006/relationships/notesSlide" Target="/ppt/notesSlides/notesSlide27.xml" Id="Rb7dd9cbacb914e4f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56ce1cd4934fca" /><Relationship Type="http://schemas.openxmlformats.org/officeDocument/2006/relationships/chart" Target="/ppt/slides/charts/chart35.xml" Id="Rd5b16d0c8fe444cc" /><Relationship Type="http://schemas.openxmlformats.org/officeDocument/2006/relationships/notesSlide" Target="/ppt/notesSlides/notesSlide28.xml" Id="Re307671e5b4a4b7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131b2ad89d490c" /><Relationship Type="http://schemas.openxmlformats.org/officeDocument/2006/relationships/chart" Target="/ppt/slides/charts/chart36.xml" Id="R960670ba8deb465c" /><Relationship Type="http://schemas.openxmlformats.org/officeDocument/2006/relationships/notesSlide" Target="/ppt/notesSlides/notesSlide29.xml" Id="R791ad93a4ac14e9e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a650efdc024beb" /><Relationship Type="http://schemas.openxmlformats.org/officeDocument/2006/relationships/chart" Target="/ppt/slides/charts/chart37.xml" Id="Rb726484efbbc4d04" /><Relationship Type="http://schemas.openxmlformats.org/officeDocument/2006/relationships/notesSlide" Target="/ppt/notesSlides/notesSlide30.xml" Id="R414c60341c314f4e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21984b5ef945d2" /><Relationship Type="http://schemas.openxmlformats.org/officeDocument/2006/relationships/notesSlide" Target="/ppt/notesSlides/notesSlide31.xml" Id="Rd3f64c65d0014059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7bff2ffa6d429c" /><Relationship Type="http://schemas.openxmlformats.org/officeDocument/2006/relationships/notesSlide" Target="/ppt/notesSlides/notesSlide32.xml" Id="Rb8a878a6301b4696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6e3831e3184c01" /><Relationship Type="http://schemas.openxmlformats.org/officeDocument/2006/relationships/notesSlide" Target="/ppt/notesSlides/notesSlide33.xml" Id="R0f6f76d5d7744c30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60fec46eb04c55" /><Relationship Type="http://schemas.openxmlformats.org/officeDocument/2006/relationships/notesSlide" Target="/ppt/notesSlides/notesSlide34.xml" Id="Re55e1c64fed24032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8d2a9024064338" /><Relationship Type="http://schemas.openxmlformats.org/officeDocument/2006/relationships/notesSlide" Target="/ppt/notesSlides/notesSlide35.xml" Id="Re03f8b61817f4819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ab516923574a1c" /><Relationship Type="http://schemas.openxmlformats.org/officeDocument/2006/relationships/notesSlide" Target="/ppt/notesSlides/notesSlide36.xml" Id="Rbb6af1ece65348f3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a7a312212a41b4" /><Relationship Type="http://schemas.openxmlformats.org/officeDocument/2006/relationships/notesSlide" Target="/ppt/notesSlides/notesSlide37.xml" Id="R8d924797206f4d1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90cd48a24d489b" /><Relationship Type="http://schemas.openxmlformats.org/officeDocument/2006/relationships/notesSlide" Target="/ppt/notesSlides/notesSlide38.xml" Id="R448973c965434952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d341800ffb4cf2" /><Relationship Type="http://schemas.openxmlformats.org/officeDocument/2006/relationships/notesSlide" Target="/ppt/notesSlides/notesSlide39.xml" Id="Ra5848460bf924b7f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c69f76892c406a" /><Relationship Type="http://schemas.openxmlformats.org/officeDocument/2006/relationships/notesSlide" Target="/ppt/notesSlides/notesSlide40.xml" Id="R59aad419ecb048e4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857b6d4d8e449d" /><Relationship Type="http://schemas.openxmlformats.org/officeDocument/2006/relationships/notesSlide" Target="/ppt/notesSlides/notesSlide41.xml" Id="R88633034d753409e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035f0bbf3143c6" /><Relationship Type="http://schemas.openxmlformats.org/officeDocument/2006/relationships/notesSlide" Target="/ppt/notesSlides/notesSlide42.xml" Id="R7336ddae4f5d4fab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c5c99783544ae7" /><Relationship Type="http://schemas.openxmlformats.org/officeDocument/2006/relationships/notesSlide" Target="/ppt/notesSlides/notesSlide43.xml" Id="R1c40792346f34929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88227f24b3408a" /><Relationship Type="http://schemas.openxmlformats.org/officeDocument/2006/relationships/notesSlide" Target="/ppt/notesSlides/notesSlide44.xml" Id="Recfd6cb0383c4236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f0ac317ff6472f" /><Relationship Type="http://schemas.openxmlformats.org/officeDocument/2006/relationships/notesSlide" Target="/ppt/notesSlides/notesSlide45.xml" Id="Rae3189091de6411c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2082827c7043d3" /><Relationship Type="http://schemas.openxmlformats.org/officeDocument/2006/relationships/notesSlide" Target="/ppt/notesSlides/notesSlide46.xml" Id="Ra826bc1956904d57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26f4910d414750" /><Relationship Type="http://schemas.openxmlformats.org/officeDocument/2006/relationships/notesSlide" Target="/ppt/notesSlides/notesSlide47.xml" Id="Rb4d207de2bef4906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7ac3493cb34162" /><Relationship Type="http://schemas.openxmlformats.org/officeDocument/2006/relationships/notesSlide" Target="/ppt/notesSlides/notesSlide48.xml" Id="Rb8f346b6c9d1491a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ebfa9a418c4d28" /><Relationship Type="http://schemas.openxmlformats.org/officeDocument/2006/relationships/notesSlide" Target="/ppt/notesSlides/notesSlide49.xml" Id="R0389a36ad1084c52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1e1b087579471b" /><Relationship Type="http://schemas.openxmlformats.org/officeDocument/2006/relationships/notesSlide" Target="/ppt/notesSlides/notesSlide50.xml" Id="R8fe4154f97114a38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d160f31a5d496d" /><Relationship Type="http://schemas.openxmlformats.org/officeDocument/2006/relationships/notesSlide" Target="/ppt/notesSlides/notesSlide51.xml" Id="Rd20f204aa6c24fba" 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PL ex-FIC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Mai/26</c:v>
              </c:pt>
            </c:strLit>
          </c:cat>
          <c:val>
            <c:numLit>
              <c:formatCode>R$ 0 "bi"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880.0902938555801</c:v>
              </c:pt>
            </c:numLit>
          </c:val>
        </c:ser>
        <c:ser>
          <c:idx val="1"/>
          <c:order val="1"/>
          <c:tx>
            <c:v>FIC-FIDC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94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115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142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237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218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309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379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485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732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919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959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Mai/26</c:v>
              </c:pt>
            </c:strLit>
          </c:cat>
          <c:val>
            <c:numLit>
              <c:formatCode>R$ 0 "bi"</c:formatCode>
              <c:ptCount val="12"/>
              <c:pt idx="0">
                <c:v>2.21705534786</c:v>
              </c:pt>
              <c:pt idx="1">
                <c:v>2.73660182632</c:v>
              </c:pt>
              <c:pt idx="2">
                <c:v>5.014084339129999</c:v>
              </c:pt>
              <c:pt idx="3">
                <c:v>10.35147572571</c:v>
              </c:pt>
              <c:pt idx="4">
                <c:v>7.459670380239999</c:v>
              </c:pt>
              <c:pt idx="5">
                <c:v>8.676012592049998</c:v>
              </c:pt>
              <c:pt idx="6">
                <c:v>10.4495380832</c:v>
              </c:pt>
              <c:pt idx="7">
                <c:v>12.957632591489999</c:v>
              </c:pt>
              <c:pt idx="8">
                <c:v>23.60292220748</c:v>
              </c:pt>
              <c:pt idx="9">
                <c:v>48.94008080363</c:v>
              </c:pt>
              <c:pt idx="10">
                <c:v>85.90039630022</c:v>
              </c:pt>
              <c:pt idx="11">
                <c:v>78.61281392618</c:v>
              </c:pt>
            </c:numLit>
          </c:val>
        </c:ser>
        <c:gapWidth val="5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R$ 0 &quot;bi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445.677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Veículos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</c:formatCode>
              <c:ptCount val="12"/>
              <c:pt idx="0">
                <c:v>527</c:v>
              </c:pt>
              <c:pt idx="1">
                <c:v>575</c:v>
              </c:pt>
              <c:pt idx="2">
                <c:v>750</c:v>
              </c:pt>
              <c:pt idx="3">
                <c:v>890</c:v>
              </c:pt>
              <c:pt idx="4">
                <c:v>1042</c:v>
              </c:pt>
              <c:pt idx="5">
                <c:v>1230</c:v>
              </c:pt>
              <c:pt idx="6">
                <c:v>1547</c:v>
              </c:pt>
              <c:pt idx="7">
                <c:v>1912</c:v>
              </c:pt>
              <c:pt idx="8">
                <c:v>2404</c:v>
              </c:pt>
              <c:pt idx="9">
                <c:v>3140</c:v>
              </c:pt>
              <c:pt idx="10">
                <c:v>4007</c:v>
              </c:pt>
              <c:pt idx="11">
                <c:v>4227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spPr>
              <a:solidFill xmlns:a="http://schemas.openxmlformats.org/drawingml/2006/main">
                <a:srgbClr val="30353A"/>
              </a:solidFill>
            </c:spPr>
          </c:dPt>
          <c:dPt>
            <c:idx val="5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6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  <c:pt idx="5">
                <c:v>Não classificado</c:v>
              </c:pt>
            </c:strLit>
          </c:cat>
          <c:val>
            <c:numLit>
              <c:formatCode>0.0%</c:formatCode>
              <c:ptCount val="6"/>
              <c:pt idx="0">
                <c:v>0.44344895518503313</c:v>
              </c:pt>
              <c:pt idx="1">
                <c:v>0.253151946364744</c:v>
              </c:pt>
              <c:pt idx="2">
                <c:v>0.21658061780168147</c:v>
              </c:pt>
              <c:pt idx="3">
                <c:v>0.08595013877763492</c:v>
              </c:pt>
              <c:pt idx="4">
                <c:v>0.0007965409926920169</c:v>
              </c:pt>
              <c:pt idx="5">
                <c:v>7.180087821449166E-05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1</c:v>
              </c:pt>
              <c:pt idx="1">
                <c:v>186</c:v>
              </c:pt>
              <c:pt idx="2">
                <c:v>124</c:v>
              </c:pt>
              <c:pt idx="3">
                <c:v>148</c:v>
              </c:pt>
              <c:pt idx="4">
                <c:v>126</c:v>
              </c:pt>
              <c:pt idx="5">
                <c:v>193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0.5495960022699999</c:v>
              </c:pt>
              <c:pt idx="1">
                <c:v>184.81479596079998</c:v>
              </c:pt>
              <c:pt idx="2">
                <c:v>88.72399138631</c:v>
              </c:pt>
              <c:pt idx="3">
                <c:v>171.16402364894</c:v>
              </c:pt>
              <c:pt idx="4">
                <c:v>77.21175767653</c:v>
              </c:pt>
              <c:pt idx="5">
                <c:v>211.4223398025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0.0012853470437017994</c:v>
              </c:pt>
              <c:pt idx="1">
                <c:v>0.2390745501285347</c:v>
              </c:pt>
              <c:pt idx="2">
                <c:v>0.15938303341902313</c:v>
              </c:pt>
              <c:pt idx="3">
                <c:v>0.19023136246786632</c:v>
              </c:pt>
              <c:pt idx="4">
                <c:v>0.16195372750642673</c:v>
              </c:pt>
              <c:pt idx="5">
                <c:v>0.2480719794344473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0.0007488841924697938</c:v>
              </c:pt>
              <c:pt idx="1">
                <c:v>0.2518302146629867</c:v>
              </c:pt>
              <c:pt idx="2">
                <c:v>0.12089606614240213</c:v>
              </c:pt>
              <c:pt idx="3">
                <c:v>0.23322955607534634</c:v>
              </c:pt>
              <c:pt idx="4">
                <c:v>0.1052093984634827</c:v>
              </c:pt>
              <c:pt idx="5">
                <c:v>0.28808588046331235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</c:formatCode>
              <c:ptCount val="5"/>
              <c:pt idx="0">
                <c:v>167.28018582326</c:v>
              </c:pt>
              <c:pt idx="1">
                <c:v>120.08809595328</c:v>
              </c:pt>
              <c:pt idx="2">
                <c:v>118.90601280922</c:v>
              </c:pt>
              <c:pt idx="3">
                <c:v>50.88905009467</c:v>
              </c:pt>
              <c:pt idx="4">
                <c:v>4.5929586136900005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</c:formatCode>
              <c:ptCount val="5"/>
              <c:pt idx="0">
                <c:v>367.43677886158</c:v>
              </c:pt>
              <c:pt idx="1">
                <c:v>234.07845143214</c:v>
              </c:pt>
              <c:pt idx="2">
                <c:v>173.49802700684</c:v>
              </c:pt>
              <c:pt idx="3">
                <c:v>88.01637854215</c:v>
              </c:pt>
              <c:pt idx="4">
                <c:v>17.06065801287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0.0%</c:formatCode>
              <c:ptCount val="5"/>
              <c:pt idx="0">
                <c:v>0.3622694149054406</c:v>
              </c:pt>
              <c:pt idx="1">
                <c:v>0.26006812488878744</c:v>
              </c:pt>
              <c:pt idx="2">
                <c:v>0.2575081530256485</c:v>
              </c:pt>
              <c:pt idx="3">
                <c:v>0.11020759160542687</c:v>
              </c:pt>
              <c:pt idx="4">
                <c:v>0.00994671557469671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0.0%</c:formatCode>
              <c:ptCount val="5"/>
              <c:pt idx="0">
                <c:v>0.4174989559899353</c:v>
              </c:pt>
              <c:pt idx="1">
                <c:v>0.2659709498745495</c:v>
              </c:pt>
              <c:pt idx="2">
                <c:v>0.19713662134229887</c:v>
              </c:pt>
              <c:pt idx="3">
                <c:v>0.10000835045749659</c:v>
              </c:pt>
              <c:pt idx="4">
                <c:v>0.019385122335719793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N/D</c:v>
              </c:pt>
              <c:pt idx="3">
                <c:v>Industrial</c:v>
              </c:pt>
              <c:pt idx="4">
                <c:v>Serviços</c:v>
              </c:pt>
              <c:pt idx="5">
                <c:v>Adquirência</c:v>
              </c:pt>
              <c:pt idx="6">
                <c:v>Setor público</c:v>
              </c:pt>
              <c:pt idx="7">
                <c:v>Cartão</c:v>
              </c:pt>
              <c:pt idx="8">
                <c:v>Ações judiciais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19.32467858927</c:v>
              </c:pt>
              <c:pt idx="3">
                <c:v>48.499678</c:v>
              </c:pt>
              <c:pt idx="4">
                <c:v>26.51274050049</c:v>
              </c:pt>
              <c:pt idx="5">
                <c:v>43.59514348399</c:v>
              </c:pt>
              <c:pt idx="6">
                <c:v>25.154517560259997</c:v>
              </c:pt>
              <c:pt idx="7">
                <c:v>36.23334706194</c:v>
              </c:pt>
              <c:pt idx="8">
                <c:v>27.32144595605</c:v>
              </c:pt>
              <c:pt idx="9">
                <c:v>17.30426139734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N/D</c:v>
              </c:pt>
              <c:pt idx="3">
                <c:v>Industrial</c:v>
              </c:pt>
              <c:pt idx="4">
                <c:v>Serviços</c:v>
              </c:pt>
              <c:pt idx="5">
                <c:v>Adquirência</c:v>
              </c:pt>
              <c:pt idx="6">
                <c:v>Setor público</c:v>
              </c:pt>
              <c:pt idx="7">
                <c:v>Cartão</c:v>
              </c:pt>
              <c:pt idx="8">
                <c:v>Ações judiciais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332.9783642844</c:v>
              </c:pt>
              <c:pt idx="1">
                <c:v>113.13010920698</c:v>
              </c:pt>
              <c:pt idx="2">
                <c:v>84.18613848502001</c:v>
              </c:pt>
              <c:pt idx="3">
                <c:v>81.78142711743001</c:v>
              </c:pt>
              <c:pt idx="4">
                <c:v>78.85932230361</c:v>
              </c:pt>
              <c:pt idx="5">
                <c:v>71.78412923471</c:v>
              </c:pt>
              <c:pt idx="6">
                <c:v>44.85384452113</c:v>
              </c:pt>
              <c:pt idx="7">
                <c:v>29.479384406290002</c:v>
              </c:pt>
              <c:pt idx="8">
                <c:v>26.68073480255</c:v>
              </c:pt>
              <c:pt idx="9">
                <c:v>12.13921388159</c:v>
              </c:pt>
              <c:pt idx="10">
                <c:v>4.1245656075</c:v>
              </c:pt>
              <c:pt idx="11">
                <c:v>0.09306000437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N/D</c:v>
              </c:pt>
              <c:pt idx="3">
                <c:v>Industrial</c:v>
              </c:pt>
              <c:pt idx="4">
                <c:v>Serviços</c:v>
              </c:pt>
              <c:pt idx="5">
                <c:v>Adquirência</c:v>
              </c:pt>
              <c:pt idx="6">
                <c:v>Setor público</c:v>
              </c:pt>
              <c:pt idx="7">
                <c:v>Cartão</c:v>
              </c:pt>
              <c:pt idx="8">
                <c:v>Ações judiciais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0.2443576468091428</c:v>
              </c:pt>
              <c:pt idx="1">
                <c:v>0.2239249230379844</c:v>
              </c:pt>
              <c:pt idx="2">
                <c:v>0.041850383960998</c:v>
              </c:pt>
              <c:pt idx="3">
                <c:v>0.1050330610627478</c:v>
              </c:pt>
              <c:pt idx="4">
                <c:v>0.0574171707269634</c:v>
              </c:pt>
              <c:pt idx="5">
                <c:v>0.0944115828478938</c:v>
              </c:pt>
              <c:pt idx="6">
                <c:v>0.054475742682472</c:v>
              </c:pt>
              <c:pt idx="7">
                <c:v>0.0784685488935509</c:v>
              </c:pt>
              <c:pt idx="8">
                <c:v>0.0591685392514227</c:v>
              </c:pt>
              <c:pt idx="9">
                <c:v>0.0374748785753291</c:v>
              </c:pt>
              <c:pt idx="10">
                <c:v>0.0029555790750964</c:v>
              </c:pt>
              <c:pt idx="11">
                <c:v>0.0004619430763983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N/D</c:v>
              </c:pt>
              <c:pt idx="3">
                <c:v>Industrial</c:v>
              </c:pt>
              <c:pt idx="4">
                <c:v>Serviços</c:v>
              </c:pt>
              <c:pt idx="5">
                <c:v>Adquirência</c:v>
              </c:pt>
              <c:pt idx="6">
                <c:v>Setor público</c:v>
              </c:pt>
              <c:pt idx="7">
                <c:v>Cartão</c:v>
              </c:pt>
              <c:pt idx="8">
                <c:v>Ações judiciais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0.3783456840839114</c:v>
              </c:pt>
              <c:pt idx="1">
                <c:v>0.1285437528362792</c:v>
              </c:pt>
              <c:pt idx="2">
                <c:v>0.0956562514923436</c:v>
              </c:pt>
              <c:pt idx="3">
                <c:v>0.0929239052951651</c:v>
              </c:pt>
              <c:pt idx="4">
                <c:v>0.0896036723210931</c:v>
              </c:pt>
              <c:pt idx="5">
                <c:v>0.0815645050693963</c:v>
              </c:pt>
              <c:pt idx="6">
                <c:v>0.0509650485118182</c:v>
              </c:pt>
              <c:pt idx="7">
                <c:v>0.0334958635632078</c:v>
              </c:pt>
              <c:pt idx="8">
                <c:v>0.0303159062073785</c:v>
              </c:pt>
              <c:pt idx="9">
                <c:v>0.0137931459605234</c:v>
              </c:pt>
              <c:pt idx="10">
                <c:v>0.0046865255034579</c:v>
              </c:pt>
              <c:pt idx="11">
                <c:v>0.0001057391554249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312.05045657159997</c:v>
              </c:pt>
              <c:pt idx="1">
                <c:v>116.43114710328999</c:v>
              </c:pt>
              <c:pt idx="2">
                <c:v>77.84961525946001</c:v>
              </c:pt>
              <c:pt idx="3">
                <c:v>74.12660807569</c:v>
              </c:pt>
              <c:pt idx="4">
                <c:v>70.06538925120002</c:v>
              </c:pt>
              <c:pt idx="5">
                <c:v>38.784257866059995</c:v>
              </c:pt>
              <c:pt idx="6">
                <c:v>27.315528831659996</c:v>
              </c:pt>
              <c:pt idx="7">
                <c:v>9.08208747866</c:v>
              </c:pt>
              <c:pt idx="8">
                <c:v>3.1408293285699997</c:v>
              </c:pt>
              <c:pt idx="9">
                <c:v>0.08783373547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0.4280916545194519</c:v>
              </c:pt>
              <c:pt idx="1">
                <c:v>0.15972802266869487</c:v>
              </c:pt>
              <c:pt idx="2">
                <c:v>0.106799300876774</c:v>
              </c:pt>
              <c:pt idx="3">
                <c:v>0.10169183100604105</c:v>
              </c:pt>
              <c:pt idx="4">
                <c:v>0.09612037982137488</c:v>
              </c:pt>
              <c:pt idx="5">
                <c:v>0.05320683488691222</c:v>
              </c:pt>
              <c:pt idx="6">
                <c:v>0.03747326653545861</c:v>
              </c:pt>
              <c:pt idx="7">
                <c:v>0.012459414089457879</c:v>
              </c:pt>
              <c:pt idx="8">
                <c:v>0.004308799412130456</c:v>
              </c:pt>
              <c:pt idx="9">
                <c:v>0.0001204961837040243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EC7000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0.0802740222867937</c:v>
              </c:pt>
              <c:pt idx="1">
                <c:v>0.0585303345939064</c:v>
              </c:pt>
              <c:pt idx="2">
                <c:v>0.0581799790131143</c:v>
              </c:pt>
              <c:pt idx="3">
                <c:v>0.048395735178671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Bruta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0.1953629837546001</c:v>
              </c:pt>
              <c:pt idx="1">
                <c:v>0.1809235440996488</c:v>
              </c:pt>
              <c:pt idx="2">
                <c:v>0.192154933474053</c:v>
              </c:pt>
              <c:pt idx="3">
                <c:v>0.1518453736285437</c:v>
              </c:pt>
              <c:pt idx="4">
                <c:v>0.1435849112425625</c:v>
              </c:pt>
              <c:pt idx="5">
                <c:v>0.1473663046832823</c:v>
              </c:pt>
              <c:pt idx="6">
                <c:v>0.0911001409180365</c:v>
              </c:pt>
              <c:pt idx="7">
                <c:v>0.0919394935790263</c:v>
              </c:pt>
              <c:pt idx="8">
                <c:v>0.0825084228403041</c:v>
              </c:pt>
              <c:pt idx="9">
                <c:v>0.078802626303978</c:v>
              </c:pt>
              <c:pt idx="10">
                <c:v>0.0820881119001283</c:v>
              </c:pt>
              <c:pt idx="11">
                <c:v>0.08378779452232</c:v>
              </c:pt>
              <c:pt idx="12">
                <c:v>0.0698478283500979</c:v>
              </c:pt>
              <c:pt idx="13">
                <c:v>0.0744516655492446</c:v>
              </c:pt>
              <c:pt idx="14">
                <c:v>0.0802740222867937</c:v>
              </c:pt>
            </c:numLit>
          </c:yVal>
        </c:ser>
        <c:ser>
          <c:idx val="1"/>
          <c:order val="1"/>
          <c:tx>
            <c:v>Ajustada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0.081130140165096</c:v>
              </c:pt>
              <c:pt idx="1">
                <c:v>0.0745232452683116</c:v>
              </c:pt>
              <c:pt idx="2">
                <c:v>0.0871059391884933</c:v>
              </c:pt>
              <c:pt idx="3">
                <c:v>0.0752028516325915</c:v>
              </c:pt>
              <c:pt idx="4">
                <c:v>0.0704152514172544</c:v>
              </c:pt>
              <c:pt idx="5">
                <c:v>0.0770053144630339</c:v>
              </c:pt>
              <c:pt idx="6">
                <c:v>0.0671417034451458</c:v>
              </c:pt>
              <c:pt idx="7">
                <c:v>0.0698999145821442</c:v>
              </c:pt>
              <c:pt idx="8">
                <c:v>0.0630090651293403</c:v>
              </c:pt>
              <c:pt idx="9">
                <c:v>0.0592500474459332</c:v>
              </c:pt>
              <c:pt idx="10">
                <c:v>0.0623234995475539</c:v>
              </c:pt>
              <c:pt idx="11">
                <c:v>0.0628881535366592</c:v>
              </c:pt>
              <c:pt idx="12">
                <c:v>0.0502587784704449</c:v>
              </c:pt>
              <c:pt idx="13">
                <c:v>0.0536913823719812</c:v>
              </c:pt>
              <c:pt idx="14">
                <c:v>0.0585303345939064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majorUnit val="0.03"/>
      </c:valAx>
      <c:valAx>
        <c:axId val="48650112"/>
        <c:scaling>
          <c:orientation val="minMax"/>
          <c:max val="14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0.7240103045302964</c:v>
              </c:pt>
              <c:pt idx="1">
                <c:v>0.33762443171818396</c:v>
              </c:pt>
              <c:pt idx="2">
                <c:v>0.7144041928735754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0.7183131045712461</c:v>
              </c:pt>
              <c:pt idx="1">
                <c:v>0.3567294541524492</c:v>
              </c:pt>
              <c:pt idx="2">
                <c:v>0.7280980440364134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0.5047535938429641</c:v>
              </c:pt>
              <c:pt idx="1">
                <c:v>0.22309371585883164</c:v>
              </c:pt>
              <c:pt idx="2">
                <c:v>0.5254792759228104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0.503901550605627</c:v>
              </c:pt>
              <c:pt idx="1">
                <c:v>0.24232087001181668</c:v>
              </c:pt>
              <c:pt idx="2">
                <c:v>0.5288054576797567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0.0990264248232046</c:v>
              </c:pt>
              <c:pt idx="1">
                <c:v>0.6611870074822579</c:v>
              </c:pt>
              <c:pt idx="2">
                <c:v>0.0414481143203419</c:v>
              </c:pt>
              <c:pt idx="3">
                <c:v>0.0521489342892355</c:v>
              </c:pt>
              <c:pt idx="4">
                <c:v>0.0567572663282072</c:v>
              </c:pt>
              <c:pt idx="5">
                <c:v>0.2136203543533293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0.128212506976499</c:v>
              </c:pt>
              <c:pt idx="1">
                <c:v>0.0096806367055208</c:v>
              </c:pt>
              <c:pt idx="2">
                <c:v>0.1137488845128169</c:v>
              </c:pt>
              <c:pt idx="3">
                <c:v>0.1601130774154732</c:v>
              </c:pt>
              <c:pt idx="4">
                <c:v>0.2987017997195839</c:v>
              </c:pt>
              <c:pt idx="5">
                <c:v>0.241155891421021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0.0140116005534091</c:v>
              </c:pt>
              <c:pt idx="1">
                <c:v>0.0094527897804782</c:v>
              </c:pt>
              <c:pt idx="2">
                <c:v>0.0975132700060647</c:v>
              </c:pt>
              <c:pt idx="3">
                <c:v>0.0620957844585563</c:v>
              </c:pt>
              <c:pt idx="4">
                <c:v>0.2386922325581826</c:v>
              </c:pt>
              <c:pt idx="5">
                <c:v>0.0528015720604226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0.075505515120115</c:v>
              </c:pt>
              <c:pt idx="1">
                <c:v>0.005650213947542</c:v>
              </c:pt>
              <c:pt idx="2">
                <c:v>0.1110519536793041</c:v>
              </c:pt>
              <c:pt idx="3">
                <c:v>0.014768115843443</c:v>
              </c:pt>
              <c:pt idx="4">
                <c:v>0.1056482624842525</c:v>
              </c:pt>
              <c:pt idx="5">
                <c:v>0.0743239223341259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41254623940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0.0555376438055603</c:v>
              </c:pt>
              <c:pt idx="1">
                <c:v>0.0218624310503035</c:v>
              </c:pt>
              <c:pt idx="2">
                <c:v>0.1441403762734957</c:v>
              </c:pt>
              <c:pt idx="3">
                <c:v>0.1675256950501003</c:v>
              </c:pt>
              <c:pt idx="4">
                <c:v>0</c:v>
              </c:pt>
              <c:pt idx="5">
                <c:v>0.0091459098495054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2053761316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0.0431588576073536</c:v>
              </c:pt>
              <c:pt idx="1">
                <c:v>0.0014143975904966</c:v>
              </c:pt>
              <c:pt idx="2">
                <c:v>0.1282934257881305</c:v>
              </c:pt>
              <c:pt idx="3">
                <c:v>0.1124159134008817</c:v>
              </c:pt>
              <c:pt idx="4">
                <c:v>0.2219096503793298</c:v>
              </c:pt>
              <c:pt idx="5">
                <c:v>0.0100687880387016</c:v>
              </c:pt>
            </c:numLit>
          </c:val>
        </c:ser>
        <c:ser>
          <c:idx val="6"/>
          <c:order val="6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0.1222860396106066</c:v>
              </c:pt>
              <c:pt idx="1">
                <c:v>0.0215818662038886</c:v>
              </c:pt>
              <c:pt idx="2">
                <c:v>0.0012651187619958</c:v>
              </c:pt>
              <c:pt idx="3">
                <c:v>2.2729500657420742E-05</c:v>
              </c:pt>
              <c:pt idx="4">
                <c:v>0</c:v>
              </c:pt>
              <c:pt idx="5">
                <c:v>0.0328418092712618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06366677984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0.0703673776854007</c:v>
              </c:pt>
              <c:pt idx="1">
                <c:v>0.0091226305520816</c:v>
              </c:pt>
              <c:pt idx="2">
                <c:v>0.0006705493289052</c:v>
              </c:pt>
              <c:pt idx="3">
                <c:v>0.0509084621156352</c:v>
              </c:pt>
              <c:pt idx="4">
                <c:v>0</c:v>
              </c:pt>
              <c:pt idx="5">
                <c:v>0.0196753475958024</c:v>
              </c:pt>
            </c:numLit>
          </c:val>
        </c:ser>
        <c:ser>
          <c:idx val="8"/>
          <c:order val="8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0.03615203126776</c:v>
              </c:pt>
              <c:pt idx="1">
                <c:v>0.0299300898256725</c:v>
              </c:pt>
              <c:pt idx="2">
                <c:v>0.0003817965185774</c:v>
              </c:pt>
              <c:pt idx="3">
                <c:v>0.0452350377070635</c:v>
              </c:pt>
              <c:pt idx="4">
                <c:v>0.0032891441904342</c:v>
              </c:pt>
              <c:pt idx="5">
                <c:v>0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0.0240515940768077</c:v>
              </c:pt>
              <c:pt idx="1">
                <c:v>0.0014712290879408</c:v>
              </c:pt>
              <c:pt idx="2">
                <c:v>0.0861419194953894</c:v>
              </c:pt>
              <c:pt idx="3">
                <c:v>0.0032775916620824</c:v>
              </c:pt>
              <c:pt idx="4">
                <c:v>0.0005295626945933</c:v>
              </c:pt>
              <c:pt idx="5">
                <c:v>0.0895063986320403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0.3316904084732829</c:v>
              </c:pt>
              <c:pt idx="1">
                <c:v>0.2286467077738171</c:v>
              </c:pt>
              <c:pt idx="2">
                <c:v>0.275344591314978</c:v>
              </c:pt>
              <c:pt idx="3">
                <c:v>0.331488658556871</c:v>
              </c:pt>
              <c:pt idx="4">
                <c:v>0.0744720816454161</c:v>
              </c:pt>
              <c:pt idx="5">
                <c:v>0.2568600064437893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4784283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0.0458089085133664</c:v>
              </c:pt>
              <c:pt idx="1">
                <c:v>0.0010431433080663</c:v>
              </c:pt>
              <c:pt idx="2">
                <c:v>0.0476979191106428</c:v>
              </c:pt>
              <c:pt idx="3">
                <c:v>0.1612643199454508</c:v>
              </c:pt>
              <c:pt idx="4">
                <c:v>0.2879172705646674</c:v>
              </c:pt>
              <c:pt idx="5">
                <c:v>0.0445222159437067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80256411667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0.0435787128216393</c:v>
              </c:pt>
              <c:pt idx="1">
                <c:v>0.0218624310503035</c:v>
              </c:pt>
              <c:pt idx="2">
                <c:v>0.1416344579115185</c:v>
              </c:pt>
              <c:pt idx="3">
                <c:v>0.0988373717941237</c:v>
              </c:pt>
              <c:pt idx="4">
                <c:v>0</c:v>
              </c:pt>
              <c:pt idx="5">
                <c:v>0.0091459098495054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0.0022422931404634</c:v>
              </c:pt>
              <c:pt idx="1">
                <c:v>0.0006138459364985</c:v>
              </c:pt>
              <c:pt idx="2">
                <c:v>0.0749544808439372</c:v>
              </c:pt>
              <c:pt idx="3">
                <c:v>0.0346788102765514</c:v>
              </c:pt>
              <c:pt idx="4">
                <c:v>0.1779321795935377</c:v>
              </c:pt>
              <c:pt idx="5">
                <c:v>0.0315432619313249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0.0221725257014319</c:v>
              </c:pt>
              <c:pt idx="1">
                <c:v>0</c:v>
              </c:pt>
              <c:pt idx="2">
                <c:v>0.1092199950973199</c:v>
              </c:pt>
              <c:pt idx="3">
                <c:v>0.0823597948755415</c:v>
              </c:pt>
              <c:pt idx="4">
                <c:v>0.0932577416285109</c:v>
              </c:pt>
              <c:pt idx="5">
                <c:v>0.0014288577438735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-5.55111512313e-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0.0055435920253086</c:v>
              </c:pt>
              <c:pt idx="1">
                <c:v>0.2212588608018581</c:v>
              </c:pt>
              <c:pt idx="2">
                <c:v>0.0021820525999263</c:v>
              </c:pt>
              <c:pt idx="3">
                <c:v>0.0048604745270052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0.0586752184843061</c:v>
              </c:pt>
              <c:pt idx="1">
                <c:v>0.0215818662038886</c:v>
              </c:pt>
              <c:pt idx="2">
                <c:v>0.0001817325630543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0.0544619859653589</c:v>
              </c:pt>
              <c:pt idx="1">
                <c:v>0</c:v>
              </c:pt>
              <c:pt idx="2">
                <c:v>0.000679199356909</c:v>
              </c:pt>
              <c:pt idx="3">
                <c:v>0</c:v>
              </c:pt>
              <c:pt idx="4">
                <c:v>0</c:v>
              </c:pt>
              <c:pt idx="5">
                <c:v>0.0328418092712618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0.0412484428841916</c:v>
              </c:pt>
              <c:pt idx="1">
                <c:v>0</c:v>
              </c:pt>
              <c:pt idx="2">
                <c:v>0</c:v>
              </c:pt>
              <c:pt idx="3">
                <c:v>0.0196685284996068</c:v>
              </c:pt>
              <c:pt idx="4">
                <c:v>0</c:v>
              </c:pt>
              <c:pt idx="5">
                <c:v>0.0259737742764902</c:v>
              </c:pt>
            </c:numLit>
          </c:val>
        </c:ser>
        <c:ser>
          <c:idx val="8"/>
          <c:order val="8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.02599508542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0.0193437048109999</c:v>
              </c:pt>
              <c:pt idx="1">
                <c:v>0.0344936681835347</c:v>
              </c:pt>
              <c:pt idx="2">
                <c:v>0.0141059127113014</c:v>
              </c:pt>
              <c:pt idx="3">
                <c:v>0.0116493245680644</c:v>
              </c:pt>
              <c:pt idx="4">
                <c:v>0.0219114699406215</c:v>
              </c:pt>
              <c:pt idx="5">
                <c:v>0.0007285216184997</c:v>
              </c:pt>
            </c:numLit>
          </c:val>
        </c:ser>
        <c:ser>
          <c:idx val="9"/>
          <c:order val="9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.015665977291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0.0115970386379531</c:v>
              </c:pt>
              <c:pt idx="1">
                <c:v>0</c:v>
              </c:pt>
              <c:pt idx="2">
                <c:v>0.0089160887169426</c:v>
              </c:pt>
              <c:pt idx="3">
                <c:v>0.1103711874874502</c:v>
              </c:pt>
              <c:pt idx="4">
                <c:v>0</c:v>
              </c:pt>
              <c:pt idx="5">
                <c:v>0.0660942165481527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0.6951518050425334</c:v>
              </c:pt>
              <c:pt idx="1">
                <c:v>0.6983799241362908</c:v>
              </c:pt>
              <c:pt idx="2">
                <c:v>0.600417311600118</c:v>
              </c:pt>
              <c:pt idx="3">
                <c:v>0.4698135654200273</c:v>
              </c:pt>
              <c:pt idx="4">
                <c:v>0.4189813382726622</c:v>
              </c:pt>
              <c:pt idx="5">
                <c:v>0.7877214328171848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5"/>
                  <c:y val="-0.019912114013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-0.019616869810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-0.019994575255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-0.01675168869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0.0001757719724468</c:v>
              </c:pt>
              <c:pt idx="1">
                <c:v>0.0007662603795592</c:v>
              </c:pt>
              <c:pt idx="2">
                <c:v>1.0849488329413316E-05</c:v>
              </c:pt>
              <c:pt idx="3">
                <c:v>0.0064966226061782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0.0987009938453259</c:v>
              </c:pt>
              <c:pt idx="1">
                <c:v>0.6560004771902346</c:v>
              </c:pt>
              <c:pt idx="2">
                <c:v>0.041426253610816</c:v>
              </c:pt>
              <c:pt idx="3">
                <c:v>0.0518817821355781</c:v>
              </c:pt>
              <c:pt idx="4">
                <c:v>0.0510814780348981</c:v>
              </c:pt>
              <c:pt idx="5">
                <c:v>0.209321755829712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0.1277549900044911</c:v>
              </c:pt>
              <c:pt idx="1">
                <c:v>0.0025226456325374</c:v>
              </c:pt>
              <c:pt idx="2">
                <c:v>0.1137488845128169</c:v>
              </c:pt>
              <c:pt idx="3">
                <c:v>0.1645238454260667</c:v>
              </c:pt>
              <c:pt idx="4">
                <c:v>0.2987017997195839</c:v>
              </c:pt>
              <c:pt idx="5">
                <c:v>0.2411558914210211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0.0327733739005585</c:v>
              </c:pt>
              <c:pt idx="1">
                <c:v>0.0270516797938475</c:v>
              </c:pt>
              <c:pt idx="2">
                <c:v>0.1009891858114575</c:v>
              </c:pt>
              <c:pt idx="3">
                <c:v>0.1817324636579589</c:v>
              </c:pt>
              <c:pt idx="4">
                <c:v>0.23956474396316</c:v>
              </c:pt>
              <c:pt idx="5">
                <c:v>0.0281081386502681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0.0809487716581075</c:v>
              </c:pt>
              <c:pt idx="1">
                <c:v>0.005650213947542</c:v>
              </c:pt>
              <c:pt idx="2">
                <c:v>0.1194570293861305</c:v>
              </c:pt>
              <c:pt idx="3">
                <c:v>0.0404370516427307</c:v>
              </c:pt>
              <c:pt idx="4">
                <c:v>0.1056482624842525</c:v>
              </c:pt>
              <c:pt idx="5">
                <c:v>0.0743239223341259</c:v>
              </c:pt>
            </c:numLit>
          </c:val>
        </c:ser>
        <c:ser>
          <c:idx val="4"/>
          <c:order val="4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0.14038080593539</c:v>
              </c:pt>
              <c:pt idx="1">
                <c:v>0.0215818662038886</c:v>
              </c:pt>
              <c:pt idx="2">
                <c:v>0.0012651187619958</c:v>
              </c:pt>
              <c:pt idx="3">
                <c:v>2.2729500657420742E-05</c:v>
              </c:pt>
              <c:pt idx="4">
                <c:v>0</c:v>
              </c:pt>
              <c:pt idx="5">
                <c:v>0.0484882936067297</c:v>
              </c:pt>
            </c:numLit>
          </c:val>
        </c:ser>
        <c:ser>
          <c:idx val="5"/>
          <c:order val="5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0.0555376438055603</c:v>
              </c:pt>
              <c:pt idx="1">
                <c:v>0.0182205848015808</c:v>
              </c:pt>
              <c:pt idx="2">
                <c:v>0.1437676770818388</c:v>
              </c:pt>
              <c:pt idx="3">
                <c:v>0.1235060587467477</c:v>
              </c:pt>
              <c:pt idx="4">
                <c:v>0</c:v>
              </c:pt>
              <c:pt idx="5">
                <c:v>0.0338393432596599</c:v>
              </c:pt>
            </c:numLit>
          </c:val>
        </c:ser>
        <c:ser>
          <c:idx val="6"/>
          <c:order val="6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0.0329520502592444</c:v>
              </c:pt>
              <c:pt idx="1">
                <c:v>0.0014143975904966</c:v>
              </c:pt>
              <c:pt idx="2">
                <c:v>0.1282934257881305</c:v>
              </c:pt>
              <c:pt idx="3">
                <c:v>0.1063549107852659</c:v>
              </c:pt>
              <c:pt idx="4">
                <c:v>0.1345238572052303</c:v>
              </c:pt>
              <c:pt idx="5">
                <c:v>0.0100687880387016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0.03615203126776</c:v>
              </c:pt>
              <c:pt idx="1">
                <c:v>0.0293876981486142</c:v>
              </c:pt>
              <c:pt idx="2">
                <c:v>0.0003817965185774</c:v>
              </c:pt>
              <c:pt idx="3">
                <c:v>0.0452350377070635</c:v>
              </c:pt>
              <c:pt idx="4">
                <c:v>0.0032891441904342</c:v>
              </c:pt>
              <c:pt idx="5">
                <c:v>0</c:v>
              </c:pt>
            </c:numLit>
          </c:val>
        </c:ser>
        <c:ser>
          <c:idx val="8"/>
          <c:order val="8"/>
          <c:tx>
            <c:v>Limine Trust</c:v>
          </c:tx>
          <c:spPr>
            <a:solidFill>
              <a:srgbClr val="A7ACB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0.0372259116486354</c:v>
              </c:pt>
              <c:pt idx="1">
                <c:v>0.0258844589270298</c:v>
              </c:pt>
              <c:pt idx="2">
                <c:v>0.0062089418936455</c:v>
              </c:pt>
              <c:pt idx="3">
                <c:v>0.0588516441861489</c:v>
              </c:pt>
              <c:pt idx="4">
                <c:v>0.0361947972578764</c:v>
              </c:pt>
              <c:pt idx="5">
                <c:v>0.0001885623105163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0.023451517330568</c:v>
              </c:pt>
              <c:pt idx="1">
                <c:v>0.0041128018022995</c:v>
              </c:pt>
              <c:pt idx="2">
                <c:v>0.0861419194953894</c:v>
              </c:pt>
              <c:pt idx="3">
                <c:v>0.0032775916620824</c:v>
              </c:pt>
              <c:pt idx="4">
                <c:v>0.0005295626945933</c:v>
              </c:pt>
              <c:pt idx="5">
                <c:v>0.0895063986320403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0.3245295358095095</c:v>
              </c:pt>
              <c:pt idx="1">
                <c:v>0.1952952214070387</c:v>
              </c:pt>
              <c:pt idx="2">
                <c:v>0.256717713385141</c:v>
              </c:pt>
              <c:pt idx="3">
                <c:v>0.1404751731853252</c:v>
              </c:pt>
              <c:pt idx="4">
                <c:v>0.1304204514597114</c:v>
              </c:pt>
              <c:pt idx="5">
                <c:v>0.26443415946581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520381273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-0.01356102272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-0.01919897312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-0.0199770485049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717626774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0.0095923745348489</c:v>
              </c:pt>
              <c:pt idx="1">
                <c:v>0.0128779545548899</c:v>
              </c:pt>
              <c:pt idx="2">
                <c:v>0.0016020537540602</c:v>
              </c:pt>
              <c:pt idx="3">
                <c:v>0.0837017113643743</c:v>
              </c:pt>
              <c:pt idx="4">
                <c:v>4.5902990259467114E-05</c:v>
              </c:pt>
              <c:pt idx="5">
                <c:v>0.0005647464514148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spPr>
              <a:solidFill xmlns:a="http://schemas.openxmlformats.org/drawingml/2006/main">
                <a:srgbClr val="6EC5E9"/>
              </a:solidFill>
            </c:spPr>
          </c:dPt>
          <c:dPt>
            <c:idx val="2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1D4080"/>
              </a:solidFill>
            </c:spPr>
          </c:dPt>
          <c:dPt>
            <c:idx val="6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Genial</c:v>
              </c:pt>
              <c:pt idx="2">
                <c:v>Bradesco</c:v>
              </c:pt>
              <c:pt idx="3">
                <c:v>Daycoval</c:v>
              </c:pt>
              <c:pt idx="4">
                <c:v>Oliveira Trust</c:v>
              </c:pt>
              <c:pt idx="5">
                <c:v>BTG Pactual</c:v>
              </c:pt>
              <c:pt idx="6">
                <c:v>QI Tech</c:v>
              </c:pt>
            </c:strLit>
          </c:cat>
          <c:val>
            <c:numLit>
              <c:formatCode>0.0</c:formatCode>
              <c:ptCount val="7"/>
              <c:pt idx="0">
                <c:v>30.503652120020003</c:v>
              </c:pt>
              <c:pt idx="1">
                <c:v>49.791555930259996</c:v>
              </c:pt>
              <c:pt idx="2">
                <c:v>50.02522483326</c:v>
              </c:pt>
              <c:pt idx="3">
                <c:v>54.205320400379996</c:v>
              </c:pt>
              <c:pt idx="4">
                <c:v>55.848683708799996</c:v>
              </c:pt>
              <c:pt idx="5">
                <c:v>109.74781118374001</c:v>
              </c:pt>
              <c:pt idx="6">
                <c:v>122.50570171086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spPr>
              <a:solidFill xmlns:a="http://schemas.openxmlformats.org/drawingml/2006/main">
                <a:srgbClr val="73C6A1"/>
              </a:solidFill>
            </c:spPr>
          </c:dPt>
          <c:dPt>
            <c:idx val="2"/>
            <c:spPr>
              <a:solidFill xmlns:a="http://schemas.openxmlformats.org/drawingml/2006/main">
                <a:srgbClr val="8D9399"/>
              </a:solidFill>
            </c:spPr>
          </c:dPt>
          <c:dPt>
            <c:idx val="3"/>
            <c:spPr>
              <a:solidFill xmlns:a="http://schemas.openxmlformats.org/drawingml/2006/main">
                <a:srgbClr val="6EC5E9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73787D"/>
              </a:solidFill>
            </c:spPr>
          </c:dPt>
          <c:dPt>
            <c:idx val="6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CBSF</c:v>
              </c:pt>
              <c:pt idx="2">
                <c:v>Tercon Investimentos</c:v>
              </c:pt>
              <c:pt idx="3">
                <c:v>Genial</c:v>
              </c:pt>
              <c:pt idx="4">
                <c:v>Oliveira Trust</c:v>
              </c:pt>
              <c:pt idx="5">
                <c:v>Bradesco</c:v>
              </c:pt>
              <c:pt idx="6">
                <c:v>BTG Pactual</c:v>
              </c:pt>
            </c:strLit>
          </c:cat>
          <c:val>
            <c:numLit>
              <c:formatCode>0.0</c:formatCode>
              <c:ptCount val="7"/>
              <c:pt idx="0">
                <c:v>18.295029832140003</c:v>
              </c:pt>
              <c:pt idx="1">
                <c:v>20.98235935844</c:v>
              </c:pt>
              <c:pt idx="2">
                <c:v>22.01425002545</c:v>
              </c:pt>
              <c:pt idx="3">
                <c:v>26.694370669599998</c:v>
              </c:pt>
              <c:pt idx="4">
                <c:v>34.007826304160005</c:v>
              </c:pt>
              <c:pt idx="5">
                <c:v>40.313986110689996</c:v>
              </c:pt>
              <c:pt idx="6">
                <c:v>65.63818920692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spPr>
              <a:solidFill xmlns:a="http://schemas.openxmlformats.org/drawingml/2006/main">
                <a:srgbClr val="73787D"/>
              </a:solidFill>
            </c:spPr>
          </c:dPt>
          <c:dPt>
            <c:idx val="2"/>
            <c:spPr>
              <a:solidFill xmlns:a="http://schemas.openxmlformats.org/drawingml/2006/main">
                <a:srgbClr val="73C6A1"/>
              </a:solidFill>
            </c:spPr>
          </c:dPt>
          <c:dPt>
            <c:idx val="3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1D4080"/>
              </a:solidFill>
            </c:spPr>
          </c:dPt>
          <c:dPt>
            <c:idx val="6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Bradesco</c:v>
              </c:pt>
              <c:pt idx="2">
                <c:v>REAG</c:v>
              </c:pt>
              <c:pt idx="3">
                <c:v>Daycoval</c:v>
              </c:pt>
              <c:pt idx="4">
                <c:v>Oliveira Trust</c:v>
              </c:pt>
              <c:pt idx="5">
                <c:v>BTG Pactual</c:v>
              </c:pt>
              <c:pt idx="6">
                <c:v>QI Tech</c:v>
              </c:pt>
            </c:strLit>
          </c:cat>
          <c:val>
            <c:numLit>
              <c:formatCode>0.0</c:formatCode>
              <c:ptCount val="7"/>
              <c:pt idx="0">
                <c:v>21.328667657280008</c:v>
              </c:pt>
              <c:pt idx="1">
                <c:v>48.781716176079996</c:v>
              </c:pt>
              <c:pt idx="2">
                <c:v>49.18187183748001</c:v>
              </c:pt>
              <c:pt idx="3">
                <c:v>60.3404601286</c:v>
              </c:pt>
              <c:pt idx="4">
                <c:v>72.34396085720999</c:v>
              </c:pt>
              <c:pt idx="5">
                <c:v>109.27981553644001</c:v>
              </c:pt>
              <c:pt idx="6">
                <c:v>120.57656814432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454A4F"/>
              </a:solidFill>
            </c:spPr>
          </c:dPt>
          <c:dPt>
            <c:idx val="2"/>
            <c:spPr>
              <a:solidFill xmlns:a="http://schemas.openxmlformats.org/drawingml/2006/main">
                <a:srgbClr val="5B6065"/>
              </a:solidFill>
            </c:spPr>
          </c:dPt>
          <c:dPt>
            <c:idx val="3"/>
            <c:spPr>
              <a:solidFill xmlns:a="http://schemas.openxmlformats.org/drawingml/2006/main">
                <a:srgbClr val="73C6A1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6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CBSF</c:v>
              </c:pt>
              <c:pt idx="4">
                <c:v>Oliveira Trust</c:v>
              </c:pt>
              <c:pt idx="5">
                <c:v>QI Tech</c:v>
              </c:pt>
            </c:strLit>
          </c:cat>
          <c:val>
            <c:numLit>
              <c:formatCode>0.0</c:formatCode>
              <c:ptCount val="6"/>
              <c:pt idx="0">
                <c:v>20.284278257340002</c:v>
              </c:pt>
              <c:pt idx="1">
                <c:v>21.684726333900002</c:v>
              </c:pt>
              <c:pt idx="2">
                <c:v>22.191436059639997</c:v>
              </c:pt>
              <c:pt idx="3">
                <c:v>42.767335634320006</c:v>
              </c:pt>
              <c:pt idx="4">
                <c:v>55.848683708799996</c:v>
              </c:pt>
              <c:pt idx="5">
                <c:v>122.50570171086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A7ACB0"/>
              </a:solidFill>
            </c:spPr>
          </c:dPt>
          <c:dPt>
            <c:idx val="1"/>
            <c:spPr>
              <a:solidFill xmlns:a="http://schemas.openxmlformats.org/drawingml/2006/main">
                <a:srgbClr val="BEC2C5"/>
              </a:solidFill>
            </c:spPr>
          </c:dPt>
          <c:dPt>
            <c:idx val="2"/>
            <c:spPr>
              <a:solidFill xmlns:a="http://schemas.openxmlformats.org/drawingml/2006/main">
                <a:srgbClr val="73C6A1"/>
              </a:solidFill>
            </c:spPr>
          </c:dPt>
          <c:dPt>
            <c:idx val="3"/>
            <c:spPr>
              <a:solidFill xmlns:a="http://schemas.openxmlformats.org/drawingml/2006/main">
                <a:srgbClr val="73C6A1"/>
              </a:solidFill>
            </c:spPr>
          </c:dPt>
          <c:dPt>
            <c:idx val="4"/>
            <c:spPr>
              <a:solidFill xmlns:a="http://schemas.openxmlformats.org/drawingml/2006/main">
                <a:srgbClr val="8D9399"/>
              </a:solidFill>
            </c:spPr>
          </c:dPt>
          <c:dPt>
            <c:idx val="5"/>
            <c:spPr>
              <a:solidFill xmlns:a="http://schemas.openxmlformats.org/drawingml/2006/main">
                <a:srgbClr val="7A1F3D"/>
              </a:solidFill>
            </c:spPr>
          </c:dPt>
          <c:cat>
            <c:strLit>
              <c:ptCount val="6"/>
              <c:pt idx="0">
                <c:v>Integral Investimentos</c:v>
              </c:pt>
              <c:pt idx="1">
                <c:v>Solis Investimentos</c:v>
              </c:pt>
              <c:pt idx="2">
                <c:v>REAG</c:v>
              </c:pt>
              <c:pt idx="3">
                <c:v>CBSF</c:v>
              </c:pt>
              <c:pt idx="4">
                <c:v>Tercon Investimentos</c:v>
              </c:pt>
              <c:pt idx="5">
                <c:v>Oliveira Trust</c:v>
              </c:pt>
            </c:strLit>
          </c:cat>
          <c:val>
            <c:numLit>
              <c:formatCode>0.0</c:formatCode>
              <c:ptCount val="6"/>
              <c:pt idx="0">
                <c:v>14.101509780250002</c:v>
              </c:pt>
              <c:pt idx="1">
                <c:v>15.72886361959</c:v>
              </c:pt>
              <c:pt idx="2">
                <c:v>18.82731708095</c:v>
              </c:pt>
              <c:pt idx="3">
                <c:v>20.98235935844</c:v>
              </c:pt>
              <c:pt idx="4">
                <c:v>22.01425002545</c:v>
              </c:pt>
              <c:pt idx="5">
                <c:v>34.007826304160005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454A4F"/>
              </a:solidFill>
            </c:spPr>
          </c:dPt>
          <c:dPt>
            <c:idx val="1"/>
            <c:spPr>
              <a:solidFill xmlns:a="http://schemas.openxmlformats.org/drawingml/2006/main">
                <a:srgbClr val="A7ACB0"/>
              </a:solidFill>
            </c:spPr>
          </c:dPt>
          <c:dPt>
            <c:idx val="2"/>
            <c:spPr>
              <a:solidFill xmlns:a="http://schemas.openxmlformats.org/drawingml/2006/main">
                <a:srgbClr val="5B6065"/>
              </a:solidFill>
            </c:spPr>
          </c:dPt>
          <c:dPt>
            <c:idx val="3"/>
            <c:spPr>
              <a:solidFill xmlns:a="http://schemas.openxmlformats.org/drawingml/2006/main">
                <a:srgbClr val="73C6A1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6"/>
              <c:pt idx="0">
                <c:v>BRL Trust</c:v>
              </c:pt>
              <c:pt idx="1">
                <c:v>Limine Trust</c:v>
              </c:pt>
              <c:pt idx="2">
                <c:v>Finaxis</c:v>
              </c:pt>
              <c:pt idx="3">
                <c:v>REAG</c:v>
              </c:pt>
              <c:pt idx="4">
                <c:v>Oliveira Trust</c:v>
              </c:pt>
              <c:pt idx="5">
                <c:v>QI Tech</c:v>
              </c:pt>
            </c:strLit>
          </c:cat>
          <c:val>
            <c:numLit>
              <c:formatCode>0.0</c:formatCode>
              <c:ptCount val="6"/>
              <c:pt idx="0">
                <c:v>21.739432960400002</c:v>
              </c:pt>
              <c:pt idx="1">
                <c:v>21.98342361947</c:v>
              </c:pt>
              <c:pt idx="2">
                <c:v>22.14372755424</c:v>
              </c:pt>
              <c:pt idx="3">
                <c:v>49.18187183748001</c:v>
              </c:pt>
              <c:pt idx="4">
                <c:v>72.34396085720999</c:v>
              </c:pt>
              <c:pt idx="5">
                <c:v>120.57656814432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8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 xmlns:a="http://schemas.openxmlformats.org/drawingml/2006/main"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Mai/26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26.269659124189996</c:v>
              </c:pt>
              <c:pt idx="3">
                <c:v>41.157753002499994</c:v>
              </c:pt>
            </c:numLit>
          </c:val>
        </c:ser>
        <c:ser>
          <c:idx val="1"/>
          <c:order val="1"/>
          <c:tx>
            <c:v>Itaú</c:v>
          </c:tx>
          <c:spPr>
            <a:solidFill xmlns:a="http://schemas.openxmlformats.org/drawingml/2006/main"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Mai/26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14.30340731856</c:v>
              </c:pt>
            </c:numLit>
          </c:val>
        </c:ser>
        <c:ser>
          <c:idx val="2"/>
          <c:order val="2"/>
          <c:tx>
            <c:v>Santander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Mai/26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13.01120255059</c:v>
              </c:pt>
            </c:numLit>
          </c:val>
        </c:ser>
        <c:ser>
          <c:idx val="3"/>
          <c:order val="3"/>
          <c:tx>
            <c:v>Bradesco</c:v>
          </c:tx>
          <c:spPr>
            <a:solidFill xmlns:a="http://schemas.openxmlformats.org/drawingml/2006/main"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Mai/26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1.86220044155</c:v>
              </c:pt>
            </c:numLit>
          </c:val>
        </c:ser>
        <c:ser>
          <c:idx val="4"/>
          <c:order val="4"/>
          <c:tx>
            <c:v>Banco do Brasil</c:v>
          </c:tx>
          <c:spPr>
            <a:solidFill xmlns:a="http://schemas.openxmlformats.org/drawingml/2006/main"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Mai/26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0.05062752539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 xmlns:a="http://schemas.openxmlformats.org/drawingml/2006/main">
              <a:srgbClr val="2456D6"/>
            </a:solidFill>
          </c:spPr>
          <c:dPt>
            <c:idx val="0"/>
            <c:spPr>
              <a:solidFill xmlns:a="http://schemas.openxmlformats.org/drawingml/2006/main">
                <a:srgbClr val="2456D6"/>
              </a:solidFill>
            </c:spPr>
          </c:dPt>
          <c:dPt>
            <c:idx val="1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83.49494764802999</c:v>
              </c:pt>
              <c:pt idx="1">
                <c:v>3.5498953478999997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 xmlns:a="http://schemas.openxmlformats.org/drawingml/2006/main">
              <a:srgbClr val="1D4080"/>
            </a:solidFill>
          </c:spPr>
          <c:dPt>
            <c:idx val="0"/>
            <c:spPr>
              <a:solidFill xmlns:a="http://schemas.openxmlformats.org/drawingml/2006/main">
                <a:srgbClr val="1D4080"/>
              </a:solidFill>
            </c:spPr>
          </c:dPt>
          <c:dPt>
            <c:idx val="1"/>
            <c:spPr>
              <a:solidFill xmlns:a="http://schemas.openxmlformats.org/drawingml/2006/main">
                <a:srgbClr val="73787D"/>
              </a:solidFill>
            </c:spPr>
          </c:dPt>
          <c:dPt>
            <c:idx val="2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ex-6 controlados</c:v>
              </c:pt>
            </c:strLit>
          </c:cat>
          <c:val>
            <c:numLit>
              <c:formatCode>0.0</c:formatCode>
              <c:ptCount val="3"/>
              <c:pt idx="0">
                <c:v>65.63818920692</c:v>
              </c:pt>
              <c:pt idx="1">
                <c:v>40.313986110689996</c:v>
              </c:pt>
              <c:pt idx="2">
                <c:v>36.99760712574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0.0783988630980578</c:v>
              </c:pt>
              <c:pt idx="1">
                <c:v>0.00994789199431549</c:v>
              </c:pt>
              <c:pt idx="2">
                <c:v>0.7984367598294647</c:v>
              </c:pt>
              <c:pt idx="3">
                <c:v>0.010421601136901942</c:v>
              </c:pt>
              <c:pt idx="4">
                <c:v>0.08408337280909521</c:v>
              </c:pt>
              <c:pt idx="5">
                <c:v>0.018711511132164852</c:v>
              </c:pt>
            </c:numLit>
          </c:val>
        </c:ser>
        <c:ser>
          <c:idx val="1"/>
          <c:order val="1"/>
          <c:tx>
            <c:v>% 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0.3401555639274464</c:v>
              </c:pt>
              <c:pt idx="1">
                <c:v>0.03632358129979824</c:v>
              </c:pt>
              <c:pt idx="2">
                <c:v>0.533550356635145</c:v>
              </c:pt>
              <c:pt idx="3">
                <c:v>0.019980720583593427</c:v>
              </c:pt>
              <c:pt idx="4">
                <c:v>0.058027674260146406</c:v>
              </c:pt>
              <c:pt idx="5">
                <c:v>0.011962103293870421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EC7000"/>
              </a:solidFill>
            </c:spPr>
          </c:dPt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35,6 bi
345 · R$ 103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44,9 bi
581 · R$ 77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51,5 bi
554 · R$ 93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numLit>
              <c:formatCode>General</c:formatCode>
              <c:ptCount val="3"/>
              <c:pt idx="0">
                <c:v>2024</c:v>
              </c:pt>
              <c:pt idx="1">
                <c:v>2025</c:v>
              </c:pt>
              <c:pt idx="2">
                <c:v>2026</c:v>
              </c:pt>
            </c:numLit>
          </c:cat>
          <c:val>
            <c:numLit>
              <c:formatCode>0.0</c:formatCode>
              <c:ptCount val="3"/>
              <c:pt idx="0">
                <c:v>35.57797349489</c:v>
              </c:pt>
              <c:pt idx="1">
                <c:v>44.91558778326</c:v>
              </c:pt>
              <c:pt idx="2">
                <c:v>51.475115157089995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3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2024</c:v>
          </c:tx>
          <c:spPr>
            <a:ln xmlns:a="http://schemas.openxmlformats.org/drawingml/2006/main"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yVal>
        </c:ser>
        <c:ser>
          <c:idx val="1"/>
          <c:order val="1"/>
          <c:tx>
            <c:v>2025</c:v>
          </c:tx>
          <c:spPr>
            <a:ln xmlns:a="http://schemas.openxmlformats.org/drawingml/2006/main"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21.892220740010004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89.69350947167001</c:v>
              </c:pt>
              <c:pt idx="10">
                <c:v>100.41052553320002</c:v>
              </c:pt>
              <c:pt idx="11">
                <c:v>116.34831905477002</c:v>
              </c:pt>
            </c:numLit>
          </c:yVal>
        </c:ser>
        <c:ser>
          <c:idx val="2"/>
          <c:order val="2"/>
          <c:tx>
            <c:v>2026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7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</c:numLit>
          </c:xVal>
          <c:yVal>
            <c:numLit>
              <c:formatCode>0.0</c:formatCode>
              <c:ptCount val="7"/>
              <c:pt idx="0">
                <c:v>8.41577811211</c:v>
              </c:pt>
              <c:pt idx="1">
                <c:v>15.82897604043</c:v>
              </c:pt>
              <c:pt idx="2">
                <c:v>27.56431584766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65.48811898355999</c:v>
              </c:pt>
              <c:pt idx="6">
                <c:v>69.58459083103999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Volume registrado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spPr>
              <a:solidFill xmlns:a="http://schemas.openxmlformats.org/drawingml/2006/main">
                <a:srgbClr val="30353A"/>
              </a:solidFill>
            </c:spPr>
          </c:dPt>
          <c:dPt>
            <c:idx val="5"/>
            <c:spPr>
              <a:solidFill xmlns:a="http://schemas.openxmlformats.org/drawingml/2006/main">
                <a:srgbClr val="30353A"/>
              </a:solidFill>
            </c:spPr>
          </c:dPt>
          <c:dPt>
            <c:idx val="6"/>
            <c:spPr>
              <a:solidFill xmlns:a="http://schemas.openxmlformats.org/drawingml/2006/main">
                <a:srgbClr val="30353A"/>
              </a:solidFill>
            </c:spPr>
          </c:dPt>
          <c:dPt>
            <c:idx val="7"/>
            <c:spPr>
              <a:solidFill xmlns:a="http://schemas.openxmlformats.org/drawingml/2006/main">
                <a:srgbClr val="30353A"/>
              </a:solidFill>
            </c:spPr>
          </c:dPt>
          <c:dPt>
            <c:idx val="8"/>
            <c:spPr>
              <a:solidFill xmlns:a="http://schemas.openxmlformats.org/drawingml/2006/main">
                <a:srgbClr val="30353A"/>
              </a:solidFill>
            </c:spPr>
          </c:dPt>
          <c:dPt>
            <c:idx val="9"/>
            <c:spPr>
              <a:solidFill xmlns:a="http://schemas.openxmlformats.org/drawingml/2006/main">
                <a:srgbClr val="30353A"/>
              </a:solidFill>
            </c:spPr>
          </c:dPt>
          <c:dPt>
            <c:idx val="10"/>
            <c:spPr>
              <a:solidFill xmlns:a="http://schemas.openxmlformats.org/drawingml/2006/main">
                <a:srgbClr val="30353A"/>
              </a:solidFill>
            </c:spPr>
          </c:dPt>
          <c:dPt>
            <c:idx val="11"/>
            <c:spPr>
              <a:solidFill xmlns:a="http://schemas.openxmlformats.org/drawingml/2006/main">
                <a:srgbClr val="30353A"/>
              </a:solidFill>
            </c:spPr>
          </c:dPt>
          <c:dPt>
            <c:idx val="12"/>
            <c:spPr>
              <a:solidFill xmlns:a="http://schemas.openxmlformats.org/drawingml/2006/main">
                <a:srgbClr val="30353A"/>
              </a:solidFill>
            </c:spPr>
          </c:dPt>
          <c:dPt>
            <c:idx val="13"/>
            <c:spPr>
              <a:solidFill xmlns:a="http://schemas.openxmlformats.org/drawingml/2006/main">
                <a:srgbClr val="30353A"/>
              </a:solidFill>
            </c:spPr>
          </c:dPt>
          <c:dPt>
            <c:idx val="14"/>
            <c:spPr>
              <a:solidFill xmlns:a="http://schemas.openxmlformats.org/drawingml/2006/main">
                <a:srgbClr val="30353A"/>
              </a:solidFill>
            </c:spPr>
          </c:dPt>
          <c:dPt>
            <c:idx val="15"/>
            <c:spPr>
              <a:solidFill xmlns:a="http://schemas.openxmlformats.org/drawingml/2006/main">
                <a:srgbClr val="30353A"/>
              </a:solidFill>
            </c:spPr>
          </c:dPt>
          <c:dPt>
            <c:idx val="16"/>
            <c:spPr>
              <a:solidFill xmlns:a="http://schemas.openxmlformats.org/drawingml/2006/main">
                <a:srgbClr val="30353A"/>
              </a:solidFill>
            </c:spPr>
          </c:dPt>
          <c:dPt>
            <c:idx val="17"/>
            <c:spPr>
              <a:solidFill xmlns:a="http://schemas.openxmlformats.org/drawingml/2006/main">
                <a:srgbClr val="30353A"/>
              </a:solidFill>
            </c:spPr>
          </c:dPt>
          <c:dPt>
            <c:idx val="18"/>
            <c:spPr>
              <a:solidFill xmlns:a="http://schemas.openxmlformats.org/drawingml/2006/main">
                <a:srgbClr val="EC7000"/>
              </a:solidFill>
            </c:spPr>
          </c:dPt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9"/>
              <c:pt idx="0">
                <c:v>Pravaler</c:v>
              </c:pt>
              <c:pt idx="1">
                <c:v>D365</c:v>
              </c:pt>
              <c:pt idx="2">
                <c:v>Minerva</c:v>
              </c:pt>
              <c:pt idx="3">
                <c:v>Paraná Banco</c:v>
              </c:pt>
              <c:pt idx="4">
                <c:v>Verdecard</c:v>
              </c:pt>
              <c:pt idx="5">
                <c:v>Creditas</c:v>
              </c:pt>
              <c:pt idx="6">
                <c:v>MRV</c:v>
              </c:pt>
              <c:pt idx="7">
                <c:v>iFood</c:v>
              </c:pt>
              <c:pt idx="8">
                <c:v>Bayer</c:v>
              </c:pt>
              <c:pt idx="9">
                <c:v>Lavoro</c:v>
              </c:pt>
              <c:pt idx="10">
                <c:v>PagSeguro</c:v>
              </c:pt>
              <c:pt idx="11">
                <c:v>ICred</c:v>
              </c:pt>
              <c:pt idx="12">
                <c:v>PicPay</c:v>
              </c:pt>
              <c:pt idx="13">
                <c:v>Banco Pine</c:v>
              </c:pt>
              <c:pt idx="14">
                <c:v>Mercado Pago / Mercado Crédito</c:v>
              </c:pt>
              <c:pt idx="15">
                <c:v>Solfácil</c:v>
              </c:pt>
              <c:pt idx="16">
                <c:v>Banco Volkswagen</c:v>
              </c:pt>
              <c:pt idx="17">
                <c:v>Agibank</c:v>
              </c:pt>
              <c:pt idx="18">
                <c:v>CloudWalk</c:v>
              </c:pt>
            </c:strLit>
          </c:cat>
          <c:val>
            <c:numLit>
              <c:formatCode>0.00</c:formatCode>
              <c:ptCount val="19"/>
              <c:pt idx="0">
                <c:v>0.12502</c:v>
              </c:pt>
              <c:pt idx="1">
                <c:v>0.13</c:v>
              </c:pt>
              <c:pt idx="2">
                <c:v>0.27</c:v>
              </c:pt>
              <c:pt idx="3">
                <c:v>0.3465</c:v>
              </c:pt>
              <c:pt idx="4">
                <c:v>0.45</c:v>
              </c:pt>
              <c:pt idx="5">
                <c:v>0.45</c:v>
              </c:pt>
              <c:pt idx="6">
                <c:v>0.57</c:v>
              </c:pt>
              <c:pt idx="7">
                <c:v>0.6</c:v>
              </c:pt>
              <c:pt idx="8">
                <c:v>0.7</c:v>
              </c:pt>
              <c:pt idx="9">
                <c:v>0.73</c:v>
              </c:pt>
              <c:pt idx="10">
                <c:v>1</c:v>
              </c:pt>
              <c:pt idx="11">
                <c:v>1.169268</c:v>
              </c:pt>
              <c:pt idx="12">
                <c:v>1.25</c:v>
              </c:pt>
              <c:pt idx="13">
                <c:v>1.25</c:v>
              </c:pt>
              <c:pt idx="14">
                <c:v>1.5</c:v>
              </c:pt>
              <c:pt idx="15">
                <c:v>1.5055</c:v>
              </c:pt>
              <c:pt idx="16">
                <c:v>2</c:v>
              </c:pt>
              <c:pt idx="17">
                <c:v>2.5</c:v>
              </c:pt>
              <c:pt idx="18">
                <c:v>5.5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0.6611870074822579</c:v>
              </c:pt>
              <c:pt idx="1">
                <c:v>0.3065550509629137</c:v>
              </c:pt>
              <c:pt idx="2">
                <c:v>0.1384886862758975</c:v>
              </c:pt>
              <c:pt idx="3">
                <c:v>0.0567572663282072</c:v>
              </c:pt>
              <c:pt idx="4">
                <c:v>0.0748397996820013</c:v>
              </c:pt>
              <c:pt idx="5">
                <c:v>0.0414481143203419</c:v>
              </c:pt>
              <c:pt idx="6">
                <c:v>0</c:v>
              </c:pt>
              <c:pt idx="7">
                <c:v>0.0521489342892355</c:v>
              </c:pt>
              <c:pt idx="8">
                <c:v>0</c:v>
              </c:pt>
              <c:pt idx="9">
                <c:v>0.2605841370684867</c:v>
              </c:pt>
              <c:pt idx="10">
                <c:v>0.0951979889117662</c:v>
              </c:pt>
              <c:pt idx="11">
                <c:v>0.0515483285980513</c:v>
              </c:pt>
              <c:pt idx="12">
                <c:v>0.2136203543533293</c:v>
              </c:pt>
              <c:pt idx="13">
                <c:v>0.0990264248232046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58226892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5578793495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0.0096806367055208</c:v>
              </c:pt>
              <c:pt idx="1">
                <c:v>0</c:v>
              </c:pt>
              <c:pt idx="2">
                <c:v>0.1723637321299062</c:v>
              </c:pt>
              <c:pt idx="3">
                <c:v>0.2987017997195839</c:v>
              </c:pt>
              <c:pt idx="4">
                <c:v>0.0216782388311303</c:v>
              </c:pt>
              <c:pt idx="5">
                <c:v>0.1137488845128169</c:v>
              </c:pt>
              <c:pt idx="6">
                <c:v>0.010283546215548</c:v>
              </c:pt>
              <c:pt idx="7">
                <c:v>0.1601130774154732</c:v>
              </c:pt>
              <c:pt idx="8">
                <c:v>0.0088424130081329</c:v>
              </c:pt>
              <c:pt idx="9">
                <c:v>0.0650570577377896</c:v>
              </c:pt>
              <c:pt idx="10">
                <c:v>0.034867787265154</c:v>
              </c:pt>
              <c:pt idx="11">
                <c:v>0.0386763249777689</c:v>
              </c:pt>
              <c:pt idx="12">
                <c:v>0.241155891421021</c:v>
              </c:pt>
              <c:pt idx="13">
                <c:v>0.128212506976499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0.0094527897804782</c:v>
              </c:pt>
              <c:pt idx="1">
                <c:v>0.2340357556865194</c:v>
              </c:pt>
              <c:pt idx="2">
                <c:v>0.3835604510065076</c:v>
              </c:pt>
              <c:pt idx="3">
                <c:v>0.2386922325581826</c:v>
              </c:pt>
              <c:pt idx="4">
                <c:v>0</c:v>
              </c:pt>
              <c:pt idx="5">
                <c:v>0.0975132700060647</c:v>
              </c:pt>
              <c:pt idx="6">
                <c:v>0.2056251377166127</c:v>
              </c:pt>
              <c:pt idx="7">
                <c:v>0.0620957844585563</c:v>
              </c:pt>
              <c:pt idx="8">
                <c:v>0.4268975722865307</c:v>
              </c:pt>
              <c:pt idx="9">
                <c:v>0.0299889329892</c:v>
              </c:pt>
              <c:pt idx="10">
                <c:v>0.0968713149591156</c:v>
              </c:pt>
              <c:pt idx="11">
                <c:v>0</c:v>
              </c:pt>
              <c:pt idx="12">
                <c:v>0.0528015720604226</c:v>
              </c:pt>
              <c:pt idx="13">
                <c:v>0.0140116005534091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0.005650213947542</c:v>
              </c:pt>
              <c:pt idx="1">
                <c:v>0.0339495695667946</c:v>
              </c:pt>
              <c:pt idx="2">
                <c:v>0.0599764711599138</c:v>
              </c:pt>
              <c:pt idx="3">
                <c:v>0.1056482624842525</c:v>
              </c:pt>
              <c:pt idx="4">
                <c:v>0.0554049149913933</c:v>
              </c:pt>
              <c:pt idx="5">
                <c:v>0.1110519536793041</c:v>
              </c:pt>
              <c:pt idx="6">
                <c:v>0.058882728248978</c:v>
              </c:pt>
              <c:pt idx="7">
                <c:v>0.014768115843443</c:v>
              </c:pt>
              <c:pt idx="8">
                <c:v>0.119866476718708</c:v>
              </c:pt>
              <c:pt idx="9">
                <c:v>0.2175764336860203</c:v>
              </c:pt>
              <c:pt idx="10">
                <c:v>0.0850940839033368</c:v>
              </c:pt>
              <c:pt idx="11">
                <c:v>0.0733115187257639</c:v>
              </c:pt>
              <c:pt idx="12">
                <c:v>0.0743239223341259</c:v>
              </c:pt>
              <c:pt idx="13">
                <c:v>0.075505515120115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.0041254623940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0.0218624310503035</c:v>
              </c:pt>
              <c:pt idx="1">
                <c:v>0</c:v>
              </c:pt>
              <c:pt idx="2">
                <c:v>6.281556998813609E-05</c:v>
              </c:pt>
              <c:pt idx="3">
                <c:v>0</c:v>
              </c:pt>
              <c:pt idx="4">
                <c:v>0.5171854935971928</c:v>
              </c:pt>
              <c:pt idx="5">
                <c:v>0.1441403762734957</c:v>
              </c:pt>
              <c:pt idx="6">
                <c:v>0</c:v>
              </c:pt>
              <c:pt idx="7">
                <c:v>0.1675256950501003</c:v>
              </c:pt>
              <c:pt idx="8">
                <c:v>0</c:v>
              </c:pt>
              <c:pt idx="9">
                <c:v>0</c:v>
              </c:pt>
              <c:pt idx="10">
                <c:v>0.0293999059712772</c:v>
              </c:pt>
              <c:pt idx="11">
                <c:v>0.001224536929653</c:v>
              </c:pt>
              <c:pt idx="12">
                <c:v>0.0091459098495054</c:v>
              </c:pt>
              <c:pt idx="13">
                <c:v>0.0555376438055603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.002053761316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0.0014143975904966</c:v>
              </c:pt>
              <c:pt idx="1">
                <c:v>0.1050350765144157</c:v>
              </c:pt>
              <c:pt idx="2">
                <c:v>0.0118370206161566</c:v>
              </c:pt>
              <c:pt idx="3">
                <c:v>0.2219096503793298</c:v>
              </c:pt>
              <c:pt idx="4">
                <c:v>0</c:v>
              </c:pt>
              <c:pt idx="5">
                <c:v>0.1282934257881305</c:v>
              </c:pt>
              <c:pt idx="6">
                <c:v>0.0820968236937576</c:v>
              </c:pt>
              <c:pt idx="7">
                <c:v>0.1124159134008817</c:v>
              </c:pt>
              <c:pt idx="8">
                <c:v>0.0274252954275441</c:v>
              </c:pt>
              <c:pt idx="9">
                <c:v>0.0653384865149628</c:v>
              </c:pt>
              <c:pt idx="10">
                <c:v>0.0519432171691935</c:v>
              </c:pt>
              <c:pt idx="11">
                <c:v>0.0161874270129937</c:v>
              </c:pt>
              <c:pt idx="12">
                <c:v>0.0100687880387016</c:v>
              </c:pt>
              <c:pt idx="13">
                <c:v>0.0431588576073536</c:v>
              </c:pt>
            </c:numLit>
          </c:val>
        </c:ser>
        <c:ser>
          <c:idx val="6"/>
          <c:order val="6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0.0215818662038886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0.0012651187619958</c:v>
              </c:pt>
              <c:pt idx="6">
                <c:v>0</c:v>
              </c:pt>
              <c:pt idx="7">
                <c:v>2.2729500657420742E-05</c:v>
              </c:pt>
              <c:pt idx="8">
                <c:v>0.0037035017141062</c:v>
              </c:pt>
              <c:pt idx="9">
                <c:v>0</c:v>
              </c:pt>
              <c:pt idx="10">
                <c:v>0</c:v>
              </c:pt>
              <c:pt idx="11">
                <c:v>0.0446554095032045</c:v>
              </c:pt>
              <c:pt idx="12">
                <c:v>0.0328418092712618</c:v>
              </c:pt>
              <c:pt idx="13">
                <c:v>0.1222860396106066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-0.018"/>
                  <c:y val="0.0006366677984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0.0091226305520816</c:v>
              </c:pt>
              <c:pt idx="1">
                <c:v>0.0622568638776309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0.0006705493289052</c:v>
              </c:pt>
              <c:pt idx="6">
                <c:v>0.0815048018193664</c:v>
              </c:pt>
              <c:pt idx="7">
                <c:v>0.0509084621156352</c:v>
              </c:pt>
              <c:pt idx="8">
                <c:v>0.0063526004800165</c:v>
              </c:pt>
              <c:pt idx="9">
                <c:v>0.1060388872397302</c:v>
              </c:pt>
              <c:pt idx="10">
                <c:v>0</c:v>
              </c:pt>
              <c:pt idx="11">
                <c:v>0</c:v>
              </c:pt>
              <c:pt idx="12">
                <c:v>0.0196753475958024</c:v>
              </c:pt>
              <c:pt idx="13">
                <c:v>0.0703673776854007</c:v>
              </c:pt>
            </c:numLit>
          </c:val>
        </c:ser>
        <c:ser>
          <c:idx val="8"/>
          <c:order val="8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0.0299300898256725</c:v>
              </c:pt>
              <c:pt idx="1">
                <c:v>0.0012950121619806</c:v>
              </c:pt>
              <c:pt idx="2">
                <c:v>0</c:v>
              </c:pt>
              <c:pt idx="3">
                <c:v>0.0032891441904342</c:v>
              </c:pt>
              <c:pt idx="4">
                <c:v>0</c:v>
              </c:pt>
              <c:pt idx="5">
                <c:v>0.0003817965185774</c:v>
              </c:pt>
              <c:pt idx="6">
                <c:v>0</c:v>
              </c:pt>
              <c:pt idx="7">
                <c:v>0.0452350377070635</c:v>
              </c:pt>
              <c:pt idx="8">
                <c:v>0</c:v>
              </c:pt>
              <c:pt idx="9">
                <c:v>0.1185221016978889</c:v>
              </c:pt>
              <c:pt idx="10">
                <c:v>0.1696255142228581</c:v>
              </c:pt>
              <c:pt idx="11">
                <c:v>0</c:v>
              </c:pt>
              <c:pt idx="12">
                <c:v>0</c:v>
              </c:pt>
              <c:pt idx="13">
                <c:v>0.03615203126776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0.0014712290879408</c:v>
              </c:pt>
              <c:pt idx="1">
                <c:v>0.0866620254832727</c:v>
              </c:pt>
              <c:pt idx="2">
                <c:v>0.0104903023035456</c:v>
              </c:pt>
              <c:pt idx="3">
                <c:v>0.0005295626945933</c:v>
              </c:pt>
              <c:pt idx="4">
                <c:v>0.0016187625060064</c:v>
              </c:pt>
              <c:pt idx="5">
                <c:v>0.0861419194953894</c:v>
              </c:pt>
              <c:pt idx="6">
                <c:v>0.0736717709890082</c:v>
              </c:pt>
              <c:pt idx="7">
                <c:v>0.0032775916620824</c:v>
              </c:pt>
              <c:pt idx="8">
                <c:v>0.0698786005800293</c:v>
              </c:pt>
              <c:pt idx="9">
                <c:v>0.0082255331037107</c:v>
              </c:pt>
              <c:pt idx="10">
                <c:v>0.0566945158955612</c:v>
              </c:pt>
              <c:pt idx="11">
                <c:v>0.1346563668780915</c:v>
              </c:pt>
              <c:pt idx="12">
                <c:v>0.0895063986320403</c:v>
              </c:pt>
              <c:pt idx="13">
                <c:v>0.0240515940768077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0.2286467077738171</c:v>
              </c:pt>
              <c:pt idx="1">
                <c:v>0.1702106457464722</c:v>
              </c:pt>
              <c:pt idx="2">
                <c:v>0.2232205209380841</c:v>
              </c:pt>
              <c:pt idx="3">
                <c:v>0.0744720816454161</c:v>
              </c:pt>
              <c:pt idx="4">
                <c:v>0.3292727903922756</c:v>
              </c:pt>
              <c:pt idx="5">
                <c:v>0.275344591314978</c:v>
              </c:pt>
              <c:pt idx="6">
                <c:v>0.4879351913167288</c:v>
              </c:pt>
              <c:pt idx="7">
                <c:v>0.331488658556871</c:v>
              </c:pt>
              <c:pt idx="8">
                <c:v>0.3370335397849319</c:v>
              </c:pt>
              <c:pt idx="9">
                <c:v>0.1286684299622103</c:v>
              </c:pt>
              <c:pt idx="10">
                <c:v>0.3803056717017374</c:v>
              </c:pt>
              <c:pt idx="11">
                <c:v>0.6397400873744729</c:v>
              </c:pt>
              <c:pt idx="12">
                <c:v>0.2568600064437893</c:v>
              </c:pt>
              <c:pt idx="13">
                <c:v>0.3316904084732829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4784283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585313058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57577494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0.0010431433080663</c:v>
              </c:pt>
              <c:pt idx="1">
                <c:v>0</c:v>
              </c:pt>
              <c:pt idx="2">
                <c:v>0.1620819157782274</c:v>
              </c:pt>
              <c:pt idx="3">
                <c:v>0.2879172705646674</c:v>
              </c:pt>
              <c:pt idx="4">
                <c:v>0</c:v>
              </c:pt>
              <c:pt idx="5">
                <c:v>0.0476979191106428</c:v>
              </c:pt>
              <c:pt idx="6">
                <c:v>0</c:v>
              </c:pt>
              <c:pt idx="7">
                <c:v>0.1612643199454508</c:v>
              </c:pt>
              <c:pt idx="8">
                <c:v>0</c:v>
              </c:pt>
              <c:pt idx="9">
                <c:v>0.0108293738831371</c:v>
              </c:pt>
              <c:pt idx="10">
                <c:v>0.0311258560003973</c:v>
              </c:pt>
              <c:pt idx="11">
                <c:v>0.0048848450101991</c:v>
              </c:pt>
              <c:pt idx="12">
                <c:v>0.0445222159437067</c:v>
              </c:pt>
              <c:pt idx="13">
                <c:v>0.0458089085133664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80256411667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0.0218624310503035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0.4427778819644692</c:v>
              </c:pt>
              <c:pt idx="5">
                <c:v>0.1416344579115185</c:v>
              </c:pt>
              <c:pt idx="6">
                <c:v>0</c:v>
              </c:pt>
              <c:pt idx="7">
                <c:v>0.0988373717941237</c:v>
              </c:pt>
              <c:pt idx="8">
                <c:v>0</c:v>
              </c:pt>
              <c:pt idx="9">
                <c:v>0</c:v>
              </c:pt>
              <c:pt idx="10">
                <c:v>0.0293999059712772</c:v>
              </c:pt>
              <c:pt idx="11">
                <c:v>0</c:v>
              </c:pt>
              <c:pt idx="12">
                <c:v>0.0091459098495054</c:v>
              </c:pt>
              <c:pt idx="13">
                <c:v>0.0435787128216393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7700390505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0.0006138459364985</c:v>
              </c:pt>
              <c:pt idx="1">
                <c:v>0.0442126454698642</c:v>
              </c:pt>
              <c:pt idx="2">
                <c:v>0.2811942809310054</c:v>
              </c:pt>
              <c:pt idx="3">
                <c:v>0.1779321795935377</c:v>
              </c:pt>
              <c:pt idx="4">
                <c:v>0</c:v>
              </c:pt>
              <c:pt idx="5">
                <c:v>0.0749544808439372</c:v>
              </c:pt>
              <c:pt idx="6">
                <c:v>0.1256325612690352</c:v>
              </c:pt>
              <c:pt idx="7">
                <c:v>0.0346788102765514</c:v>
              </c:pt>
              <c:pt idx="8">
                <c:v>0.060618362683471</c:v>
              </c:pt>
              <c:pt idx="9">
                <c:v>0.0029404712225746</c:v>
              </c:pt>
              <c:pt idx="10">
                <c:v>0.0089787950009705</c:v>
              </c:pt>
              <c:pt idx="11">
                <c:v>0</c:v>
              </c:pt>
              <c:pt idx="12">
                <c:v>0.0315432619313249</c:v>
              </c:pt>
              <c:pt idx="13">
                <c:v>0.0022422931404634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36046075655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0.0119282578190441</c:v>
              </c:pt>
              <c:pt idx="2">
                <c:v>0</c:v>
              </c:pt>
              <c:pt idx="3">
                <c:v>0.0932577416285109</c:v>
              </c:pt>
              <c:pt idx="4">
                <c:v>0</c:v>
              </c:pt>
              <c:pt idx="5">
                <c:v>0.1092199950973199</c:v>
              </c:pt>
              <c:pt idx="6">
                <c:v>0</c:v>
              </c:pt>
              <c:pt idx="7">
                <c:v>0.0823597948755415</c:v>
              </c:pt>
              <c:pt idx="8">
                <c:v>0.0002117687649444</c:v>
              </c:pt>
              <c:pt idx="9">
                <c:v>0.0052510946575456</c:v>
              </c:pt>
              <c:pt idx="10">
                <c:v>0</c:v>
              </c:pt>
              <c:pt idx="11">
                <c:v>0</c:v>
              </c:pt>
              <c:pt idx="12">
                <c:v>0.0014288577438735</c:v>
              </c:pt>
              <c:pt idx="13">
                <c:v>0.0221725257014319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5.55111512313e-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0.2212588608018581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0.0021820525999263</c:v>
              </c:pt>
              <c:pt idx="6">
                <c:v>0</c:v>
              </c:pt>
              <c:pt idx="7">
                <c:v>0.0048604745270052</c:v>
              </c:pt>
              <c:pt idx="8">
                <c:v>0.015033560571567</c:v>
              </c:pt>
              <c:pt idx="9">
                <c:v>0</c:v>
              </c:pt>
              <c:pt idx="10">
                <c:v>0.0115120249960094</c:v>
              </c:pt>
              <c:pt idx="11">
                <c:v>0</c:v>
              </c:pt>
              <c:pt idx="12">
                <c:v>0</c:v>
              </c:pt>
              <c:pt idx="13">
                <c:v>0.0055435920253086</c:v>
              </c:pt>
            </c:numLit>
          </c:val>
        </c:ser>
        <c:ser>
          <c:idx val="5"/>
          <c:order val="5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0.0215818662038886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0.0001817325630543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0.0410644229302643</c:v>
              </c:pt>
              <c:pt idx="12">
                <c:v>0</c:v>
              </c:pt>
              <c:pt idx="13">
                <c:v>0.0586752184843061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0.000679199356909</c:v>
              </c:pt>
              <c:pt idx="6">
                <c:v>0</c:v>
              </c:pt>
              <c:pt idx="7">
                <c:v>0</c:v>
              </c:pt>
              <c:pt idx="8">
                <c:v>0.0037035017141062</c:v>
              </c:pt>
              <c:pt idx="9">
                <c:v>0</c:v>
              </c:pt>
              <c:pt idx="10">
                <c:v>0</c:v>
              </c:pt>
              <c:pt idx="11">
                <c:v>0.0035909865729401</c:v>
              </c:pt>
              <c:pt idx="12">
                <c:v>0.0328418092712618</c:v>
              </c:pt>
              <c:pt idx="13">
                <c:v>0.0544619859653589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0.0547197874056144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0.0815048018193664</c:v>
              </c:pt>
              <c:pt idx="7">
                <c:v>0.0196685284996068</c:v>
              </c:pt>
              <c:pt idx="8">
                <c:v>0</c:v>
              </c:pt>
              <c:pt idx="9">
                <c:v>0.0999317479213442</c:v>
              </c:pt>
              <c:pt idx="10">
                <c:v>0</c:v>
              </c:pt>
              <c:pt idx="11">
                <c:v>0</c:v>
              </c:pt>
              <c:pt idx="12">
                <c:v>0.0259737742764902</c:v>
              </c:pt>
              <c:pt idx="13">
                <c:v>0.0412484428841916</c:v>
              </c:pt>
            </c:numLit>
          </c:val>
        </c:ser>
        <c:ser>
          <c:idx val="8"/>
          <c:order val="8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.02599508542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0.0344936681835347</c:v>
              </c:pt>
              <c:pt idx="1">
                <c:v>0</c:v>
              </c:pt>
              <c:pt idx="2">
                <c:v>0.0707778035816525</c:v>
              </c:pt>
              <c:pt idx="3">
                <c:v>0.0219114699406215</c:v>
              </c:pt>
              <c:pt idx="4">
                <c:v>0</c:v>
              </c:pt>
              <c:pt idx="5">
                <c:v>0.0141059127113014</c:v>
              </c:pt>
              <c:pt idx="6">
                <c:v>0</c:v>
              </c:pt>
              <c:pt idx="7">
                <c:v>0.0116493245680644</c:v>
              </c:pt>
              <c:pt idx="8">
                <c:v>0.058622173425719</c:v>
              </c:pt>
              <c:pt idx="9">
                <c:v>0</c:v>
              </c:pt>
              <c:pt idx="10">
                <c:v>0.0047005873098373</c:v>
              </c:pt>
              <c:pt idx="11">
                <c:v>0.000271393290433</c:v>
              </c:pt>
              <c:pt idx="12">
                <c:v>0.0007285216184997</c:v>
              </c:pt>
              <c:pt idx="13">
                <c:v>0.0193437048109999</c:v>
              </c:pt>
            </c:numLit>
          </c:val>
        </c:ser>
        <c:ser>
          <c:idx val="9"/>
          <c:order val="9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.015665977291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84620599530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0.0947597191319019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0.0089160887169426</c:v>
              </c:pt>
              <c:pt idx="6">
                <c:v>0</c:v>
              </c:pt>
              <c:pt idx="7">
                <c:v>0.1103711874874502</c:v>
              </c:pt>
              <c:pt idx="8">
                <c:v>0</c:v>
              </c:pt>
              <c:pt idx="9">
                <c:v>0</c:v>
              </c:pt>
              <c:pt idx="10">
                <c:v>0.0116718604811848</c:v>
              </c:pt>
              <c:pt idx="11">
                <c:v>0</c:v>
              </c:pt>
              <c:pt idx="12">
                <c:v>0.0660942165481527</c:v>
              </c:pt>
              <c:pt idx="13">
                <c:v>0.0115970386379531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0.6983799241362908</c:v>
              </c:pt>
              <c:pt idx="1">
                <c:v>0.7943795901735753</c:v>
              </c:pt>
              <c:pt idx="2">
                <c:v>0.4858831841391264</c:v>
              </c:pt>
              <c:pt idx="3">
                <c:v>0.4189813382726622</c:v>
              </c:pt>
              <c:pt idx="4">
                <c:v>0.5572221180355307</c:v>
              </c:pt>
              <c:pt idx="5">
                <c:v>0.600417311600118</c:v>
              </c:pt>
              <c:pt idx="6">
                <c:v>0.7928626369115981</c:v>
              </c:pt>
              <c:pt idx="7">
                <c:v>0.4698135654200273</c:v>
              </c:pt>
              <c:pt idx="8">
                <c:v>0.8618106328401921</c:v>
              </c:pt>
              <c:pt idx="9">
                <c:v>0.8042631706928404</c:v>
              </c:pt>
              <c:pt idx="10">
                <c:v>0.9026109702403236</c:v>
              </c:pt>
              <c:pt idx="11">
                <c:v>0.950188352196163</c:v>
              </c:pt>
              <c:pt idx="12">
                <c:v>0.7877214328171848</c:v>
              </c:pt>
              <c:pt idx="13">
                <c:v>0.6951518050425334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9616869810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-0.019968592215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-0.019994575255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-0.01675168869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-0.019912114013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0.0007662603795592</c:v>
              </c:pt>
              <c:pt idx="1">
                <c:v>0</c:v>
              </c:pt>
              <c:pt idx="2">
                <c:v>6.281556998813609E-05</c:v>
              </c:pt>
              <c:pt idx="3">
                <c:v>0</c:v>
              </c:pt>
              <c:pt idx="4">
                <c:v>0</c:v>
              </c:pt>
              <c:pt idx="5">
                <c:v>1.0849488329413316E-05</c:v>
              </c:pt>
              <c:pt idx="6">
                <c:v>0</c:v>
              </c:pt>
              <c:pt idx="7">
                <c:v>0.0064966226061782</c:v>
              </c:pt>
              <c:pt idx="8">
                <c:v>0</c:v>
              </c:pt>
              <c:pt idx="9">
                <c:v>0.0767841416225579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0.0001757719724468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0.6560004771902346</c:v>
              </c:pt>
              <c:pt idx="1">
                <c:v>0.3065550509629137</c:v>
              </c:pt>
              <c:pt idx="2">
                <c:v>0.1443388986280784</c:v>
              </c:pt>
              <c:pt idx="3">
                <c:v>0.0510814780348981</c:v>
              </c:pt>
              <c:pt idx="4">
                <c:v>0.0748397996820013</c:v>
              </c:pt>
              <c:pt idx="5">
                <c:v>0.041426253610816</c:v>
              </c:pt>
              <c:pt idx="6">
                <c:v>0</c:v>
              </c:pt>
              <c:pt idx="7">
                <c:v>0.0518817821355781</c:v>
              </c:pt>
              <c:pt idx="8">
                <c:v>0</c:v>
              </c:pt>
              <c:pt idx="9">
                <c:v>0.1853089860888031</c:v>
              </c:pt>
              <c:pt idx="10">
                <c:v>0.0951979889117662</c:v>
              </c:pt>
              <c:pt idx="11">
                <c:v>0.0515483285980513</c:v>
              </c:pt>
              <c:pt idx="12">
                <c:v>0.209321755829712</c:v>
              </c:pt>
              <c:pt idx="13">
                <c:v>0.0987009938453259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58226892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5578793495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0.0025226456325374</c:v>
              </c:pt>
              <c:pt idx="1">
                <c:v>0</c:v>
              </c:pt>
              <c:pt idx="2">
                <c:v>0.1723637321299062</c:v>
              </c:pt>
              <c:pt idx="3">
                <c:v>0.2987017997195839</c:v>
              </c:pt>
              <c:pt idx="4">
                <c:v>0.0216782388311303</c:v>
              </c:pt>
              <c:pt idx="5">
                <c:v>0.1137488845128169</c:v>
              </c:pt>
              <c:pt idx="6">
                <c:v>0.010283546215548</c:v>
              </c:pt>
              <c:pt idx="7">
                <c:v>0.1645238454260667</c:v>
              </c:pt>
              <c:pt idx="8">
                <c:v>0.0088424130081329</c:v>
              </c:pt>
              <c:pt idx="9">
                <c:v>0.0650570577377896</c:v>
              </c:pt>
              <c:pt idx="10">
                <c:v>0.034867787265154</c:v>
              </c:pt>
              <c:pt idx="11">
                <c:v>0.0386763249777689</c:v>
              </c:pt>
              <c:pt idx="12">
                <c:v>0.2411558914210211</c:v>
              </c:pt>
              <c:pt idx="13">
                <c:v>0.1277549900044911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0.0270516797938475</c:v>
              </c:pt>
              <c:pt idx="1">
                <c:v>0.2717322646373472</c:v>
              </c:pt>
              <c:pt idx="2">
                <c:v>0.3843394735701309</c:v>
              </c:pt>
              <c:pt idx="3">
                <c:v>0.23956474396316</c:v>
              </c:pt>
              <c:pt idx="4">
                <c:v>0.0136993357098014</c:v>
              </c:pt>
              <c:pt idx="5">
                <c:v>0.1009891858114575</c:v>
              </c:pt>
              <c:pt idx="6">
                <c:v>0.2337807539485041</c:v>
              </c:pt>
              <c:pt idx="7">
                <c:v>0.1817324636579589</c:v>
              </c:pt>
              <c:pt idx="8">
                <c:v>0.4268975722865307</c:v>
              </c:pt>
              <c:pt idx="9">
                <c:v>0.0299889329892</c:v>
              </c:pt>
              <c:pt idx="10">
                <c:v>0.0968713149591156</c:v>
              </c:pt>
              <c:pt idx="11">
                <c:v>0</c:v>
              </c:pt>
              <c:pt idx="12">
                <c:v>0.0281081386502681</c:v>
              </c:pt>
              <c:pt idx="13">
                <c:v>0.0327733739005585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0.005650213947542</c:v>
              </c:pt>
              <c:pt idx="1">
                <c:v>0.0339495695667946</c:v>
              </c:pt>
              <c:pt idx="2">
                <c:v>0.0599764711599138</c:v>
              </c:pt>
              <c:pt idx="3">
                <c:v>0.1056482624842525</c:v>
              </c:pt>
              <c:pt idx="4">
                <c:v>0.0554049149913933</c:v>
              </c:pt>
              <c:pt idx="5">
                <c:v>0.1194570293861305</c:v>
              </c:pt>
              <c:pt idx="6">
                <c:v>0.058882728248978</c:v>
              </c:pt>
              <c:pt idx="7">
                <c:v>0.0404370516427307</c:v>
              </c:pt>
              <c:pt idx="8">
                <c:v>0.116864520710458</c:v>
              </c:pt>
              <c:pt idx="9">
                <c:v>0.2175764336860203</c:v>
              </c:pt>
              <c:pt idx="10">
                <c:v>0.1886924315296011</c:v>
              </c:pt>
              <c:pt idx="11">
                <c:v>0.0733115187257639</c:v>
              </c:pt>
              <c:pt idx="12">
                <c:v>0.0743239223341259</c:v>
              </c:pt>
              <c:pt idx="13">
                <c:v>0.0809487716581075</c:v>
              </c:pt>
            </c:numLit>
          </c:val>
        </c:ser>
        <c:ser>
          <c:idx val="4"/>
          <c:order val="4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0.0215818662038886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0.0012651187619958</c:v>
              </c:pt>
              <c:pt idx="6">
                <c:v>0</c:v>
              </c:pt>
              <c:pt idx="7">
                <c:v>2.2729500657420742E-05</c:v>
              </c:pt>
              <c:pt idx="8">
                <c:v>0.0037035017141062</c:v>
              </c:pt>
              <c:pt idx="9">
                <c:v>0</c:v>
              </c:pt>
              <c:pt idx="10">
                <c:v>0</c:v>
              </c:pt>
              <c:pt idx="11">
                <c:v>0.0446554095032045</c:v>
              </c:pt>
              <c:pt idx="12">
                <c:v>0.0484882936067297</c:v>
              </c:pt>
              <c:pt idx="13">
                <c:v>0.14038080593539</c:v>
              </c:pt>
            </c:numLit>
          </c:val>
        </c:ser>
        <c:ser>
          <c:idx val="5"/>
          <c:order val="5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0.0182205848015808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0.5171854935971928</c:v>
              </c:pt>
              <c:pt idx="5">
                <c:v>0.1437676770818388</c:v>
              </c:pt>
              <c:pt idx="6">
                <c:v>0.1302282787238085</c:v>
              </c:pt>
              <c:pt idx="7">
                <c:v>0.1235060587467477</c:v>
              </c:pt>
              <c:pt idx="8">
                <c:v>0.0030019560082499</c:v>
              </c:pt>
              <c:pt idx="9">
                <c:v>0</c:v>
              </c:pt>
              <c:pt idx="10">
                <c:v>0.0293999059712772</c:v>
              </c:pt>
              <c:pt idx="11">
                <c:v>0.001224536929653</c:v>
              </c:pt>
              <c:pt idx="12">
                <c:v>0.0338393432596599</c:v>
              </c:pt>
              <c:pt idx="13">
                <c:v>0.0555376438055603</c:v>
              </c:pt>
            </c:numLit>
          </c:val>
        </c:ser>
        <c:ser>
          <c:idx val="6"/>
          <c:order val="6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0.0014143975904966</c:v>
              </c:pt>
              <c:pt idx="1">
                <c:v>0.1050350765144157</c:v>
              </c:pt>
              <c:pt idx="2">
                <c:v>0.0118370206161566</c:v>
              </c:pt>
              <c:pt idx="3">
                <c:v>0.1345238572052303</c:v>
              </c:pt>
              <c:pt idx="4">
                <c:v>0</c:v>
              </c:pt>
              <c:pt idx="5">
                <c:v>0.1282934257881305</c:v>
              </c:pt>
              <c:pt idx="6">
                <c:v>0.0820968236937576</c:v>
              </c:pt>
              <c:pt idx="7">
                <c:v>0.1063549107852659</c:v>
              </c:pt>
              <c:pt idx="8">
                <c:v>0.0274252954275441</c:v>
              </c:pt>
              <c:pt idx="9">
                <c:v>0.0638294958720886</c:v>
              </c:pt>
              <c:pt idx="10">
                <c:v>0.0519432171691935</c:v>
              </c:pt>
              <c:pt idx="11">
                <c:v>0.0161874270129937</c:v>
              </c:pt>
              <c:pt idx="12">
                <c:v>0.0100687880387016</c:v>
              </c:pt>
              <c:pt idx="13">
                <c:v>0.0329520502592444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0.0293876981486142</c:v>
              </c:pt>
              <c:pt idx="1">
                <c:v>0.0012950121619806</c:v>
              </c:pt>
              <c:pt idx="2">
                <c:v>0</c:v>
              </c:pt>
              <c:pt idx="3">
                <c:v>0.0032891441904342</c:v>
              </c:pt>
              <c:pt idx="4">
                <c:v>0</c:v>
              </c:pt>
              <c:pt idx="5">
                <c:v>0.0003817965185774</c:v>
              </c:pt>
              <c:pt idx="6">
                <c:v>0</c:v>
              </c:pt>
              <c:pt idx="7">
                <c:v>0.0452350377070635</c:v>
              </c:pt>
              <c:pt idx="8">
                <c:v>0</c:v>
              </c:pt>
              <c:pt idx="9">
                <c:v>0.1185221016978889</c:v>
              </c:pt>
              <c:pt idx="10">
                <c:v>0.1696255142228581</c:v>
              </c:pt>
              <c:pt idx="11">
                <c:v>0</c:v>
              </c:pt>
              <c:pt idx="12">
                <c:v>0</c:v>
              </c:pt>
              <c:pt idx="13">
                <c:v>0.03615203126776</c:v>
              </c:pt>
            </c:numLit>
          </c:val>
        </c:ser>
        <c:ser>
          <c:idx val="8"/>
          <c:order val="8"/>
          <c:tx>
            <c:v>Limine Trust</c:v>
          </c:tx>
          <c:spPr>
            <a:solidFill>
              <a:srgbClr val="A7ACB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0.0258844589270298</c:v>
              </c:pt>
              <c:pt idx="1">
                <c:v>0.0259876479550446</c:v>
              </c:pt>
              <c:pt idx="2">
                <c:v>0.0038513441818396</c:v>
              </c:pt>
              <c:pt idx="3">
                <c:v>0.0361947972578764</c:v>
              </c:pt>
              <c:pt idx="4">
                <c:v>0.0228848438659473</c:v>
              </c:pt>
              <c:pt idx="5">
                <c:v>0.0062089418936455</c:v>
              </c:pt>
              <c:pt idx="6">
                <c:v>0</c:v>
              </c:pt>
              <c:pt idx="7">
                <c:v>0.0588516441861489</c:v>
              </c:pt>
              <c:pt idx="8">
                <c:v>0.0298022404971431</c:v>
              </c:pt>
              <c:pt idx="9">
                <c:v>0.0128304663626766</c:v>
              </c:pt>
              <c:pt idx="10">
                <c:v>0.0067169555656875</c:v>
              </c:pt>
              <c:pt idx="11">
                <c:v>0</c:v>
              </c:pt>
              <c:pt idx="12">
                <c:v>0.0001885623105163</c:v>
              </c:pt>
              <c:pt idx="13">
                <c:v>0.0372259116486354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0.0041128018022995</c:v>
              </c:pt>
              <c:pt idx="1">
                <c:v>0.087195517913098</c:v>
              </c:pt>
              <c:pt idx="2">
                <c:v>0.0104903023035456</c:v>
              </c:pt>
              <c:pt idx="3">
                <c:v>0.0005295626945933</c:v>
              </c:pt>
              <c:pt idx="4">
                <c:v>0.0016187625060064</c:v>
              </c:pt>
              <c:pt idx="5">
                <c:v>0.0861419194953894</c:v>
              </c:pt>
              <c:pt idx="6">
                <c:v>0.0736717709890082</c:v>
              </c:pt>
              <c:pt idx="7">
                <c:v>0.0032775916620824</c:v>
              </c:pt>
              <c:pt idx="8">
                <c:v>0.0698786005800293</c:v>
              </c:pt>
              <c:pt idx="9">
                <c:v>0.0082255331037107</c:v>
              </c:pt>
              <c:pt idx="10">
                <c:v>0.0566945158955612</c:v>
              </c:pt>
              <c:pt idx="11">
                <c:v>0.1362491351604199</c:v>
              </c:pt>
              <c:pt idx="12">
                <c:v>0.0895063986320403</c:v>
              </c:pt>
              <c:pt idx="13">
                <c:v>0.023451517330568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0.1952952214070387</c:v>
              </c:pt>
              <c:pt idx="1">
                <c:v>0.1682498602884054</c:v>
              </c:pt>
              <c:pt idx="2">
                <c:v>0.2127399418404404</c:v>
              </c:pt>
              <c:pt idx="3">
                <c:v>0.1304204514597114</c:v>
              </c:pt>
              <c:pt idx="4">
                <c:v>0.2926886108165267</c:v>
              </c:pt>
              <c:pt idx="5">
                <c:v>0.256717713385141</c:v>
              </c:pt>
              <c:pt idx="6">
                <c:v>0.4101144099982526</c:v>
              </c:pt>
              <c:pt idx="7">
                <c:v>0.1404751731853252</c:v>
              </c:pt>
              <c:pt idx="8">
                <c:v>0.3135838997678053</c:v>
              </c:pt>
              <c:pt idx="9">
                <c:v>0.2218768508392639</c:v>
              </c:pt>
              <c:pt idx="10">
                <c:v>0.2677637195878389</c:v>
              </c:pt>
              <c:pt idx="11">
                <c:v>0.6381473190921444</c:v>
              </c:pt>
              <c:pt idx="12">
                <c:v>0.26443415946581</c:v>
              </c:pt>
              <c:pt idx="13">
                <c:v>0.3245295358095095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18"/>
                  <c:y val="-0.01356102272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-0.019968592215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-0.0199770485049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0.01919897312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-0.019529155908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-0.01888667553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17626774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-0.01520381273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0.0128779545548899</c:v>
              </c:pt>
              <c:pt idx="1">
                <c:v>0</c:v>
              </c:pt>
              <c:pt idx="2">
                <c:v>6.281556998813609E-05</c:v>
              </c:pt>
              <c:pt idx="3">
                <c:v>4.5902990259467114E-05</c:v>
              </c:pt>
              <c:pt idx="4">
                <c:v>0</c:v>
              </c:pt>
              <c:pt idx="5">
                <c:v>0.0016020537540602</c:v>
              </c:pt>
              <c:pt idx="6">
                <c:v>0.0009416881821426</c:v>
              </c:pt>
              <c:pt idx="7">
                <c:v>0.0837017113643743</c:v>
              </c:pt>
              <c:pt idx="8">
                <c:v>0</c:v>
              </c:pt>
              <c:pt idx="9">
                <c:v>0.0767841416225579</c:v>
              </c:pt>
              <c:pt idx="10">
                <c:v>0.0022266489219465</c:v>
              </c:pt>
              <c:pt idx="11">
                <c:v>0</c:v>
              </c:pt>
              <c:pt idx="12">
                <c:v>0.0005647464514148</c:v>
              </c:pt>
              <c:pt idx="13">
                <c:v>0.0095923745348489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CD4781-6B12-452D-8B88-BEDDB193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ADFA15-240C-4E93-8491-9F19A4F9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05780C-A1EF-43C7-A1A6-88ABC7205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EEC301-5A58-4B89-8922-3BB944EF1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CE0480-2880-43AE-A5D4-358000B3A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31 de maio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A23D01-A95D-4EFE-8E19-BE0AE41DF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encerradas até 17 de julho de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915285-66D0-4BF4-983B-A288C35F7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Julho de 2026</a:t>
            </a:r>
          </a:p>
        </p:txBody>
      </p:sp>
    </p:spTree>
    <p:extLst>
      <p:ext uri="{BB962C8B-B14F-4D97-AF65-F5344CB8AC3E}">
        <p14:creationId xmlns:p14="http://schemas.microsoft.com/office/powerpoint/2010/main" val="176173186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C6ECB0-3DB6-499C-8F2D-D3C0D8816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SÍNTESE EXECUTIVA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67DB98-A3DA-499E-812E-D5057E5D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BF3753-FB7E-4170-A961-D2E9E077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B2D4C3-475B-477D-8783-DE8BD1FCD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0FD658-A673-40F7-8E23-B200591C5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mai/26, salvo ofertas até 17/jul/26.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AFBD93-AB56-4A99-BAB9-9BA93A5E8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7752F7-B714-4E10-8936-C147559B5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1568E9-5B07-4DBC-BD72-393F5A817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mai/26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E465A0-6913-4DE6-AED5-ACC040522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 vezes o nível de 2015; FIC-FIDC adiciona R$ 78,6 bi ao PL bruto.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E7DD7B-2ED1-45E0-A7EB-D803F43D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CCA01C-A483-4BA0-A822-218B58D17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450A61-D4E9-4900-B10F-4F5A4ABA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acima de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4F6AF8-E09C-4F88-8697-BD2B5149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Esse recorte concentra 60,7% do PL do universo de R$ 733,9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A5C961-1002-4E3F-BAE9-1F4053759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92FAC5-21DC-4C63-88F4-AD6F13535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197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AC3C9A-FC1D-4EEA-B74B-8EA753971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20A2D1-7215-4787-9B2D-D11179ADD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 cap remove R$ 14,6 bi; os 10 maiores casos explicam 52,6%.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91683A-F17C-4111-869F-0E159FE25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96E348-FB97-47B0-BE73-F8BB7B9FF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34,0%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1A5839-4CBD-425C-A084-3744001DC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E9F712-697F-496D-8B2A-EB1F0A6CD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Trust.</a:t>
            </a:r>
          </a:p>
        </p:txBody>
      </p:sp>
    </p:spTree>
    <p:extLst>
      <p:ext uri="{BB962C8B-B14F-4D97-AF65-F5344CB8AC3E}">
        <p14:creationId xmlns:p14="http://schemas.microsoft.com/office/powerpoint/2010/main" val="12189532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A04D74B-9ED6-46C5-8DBD-C19D12DB0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717464-19C5-4791-B260-E39D938CD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PL ex-FIC chegou a R$ 880 bi; FIC-FIDC adiciona R$ 79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EDAA6F-DEB6-4FE3-A7F4-E0FCBBE8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0426B1-76EA-4D29-860A-180E71904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5CD679-E045-4562-BAE0-1166670E2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FIDC. PL bruto = PL ex-FIC + PL de FIC-FIDC; 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5611C5-A81F-4C8B-9C26-81F9DC5C0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7905750" cy="4429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5b72893ec20410f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38142B-984C-41BA-8241-30F56EC7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3" y="4758186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5E6D5C-7C36-4E5E-8CAB-25CD8BCE8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2588" y="4723902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964101-DF19-4015-937E-3ACC89C80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2663" y="464321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B047DF-8893-4DE1-84BA-EFB88BCD3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738" y="4544185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57CCE7-4F5B-43FA-AE13-719657B5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2813" y="418347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F3A564-9D79-4620-B139-C3EC18E61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2888" y="4257511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BEDBA6-973F-4351-A123-C90646D9D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2963" y="391445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EC68FE-9911-465E-84ED-4C020603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038" y="3651267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47C207-EA9A-4590-AA37-A9F4D8A1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3113" y="3250722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0563F7-C61B-4B62-9F11-E9D5D2941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3188" y="232337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732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B3E62D-DDA9-455F-B46A-062D7CF2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3263" y="161875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919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1BD7BD-6F4F-40A9-81A5-CFA65B356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338" y="1485900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959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348B24-2D22-4AE6-85B3-FF680057F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F653CE-E8A3-4E02-BF01-860E5B7D5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2875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LEITURA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727847-3EFB-4832-B1EC-1E50BC44D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95450"/>
            <a:ext cx="276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A4D143-91CD-4B86-A4B5-4F65C962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52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4B288E-D6EE-4D29-8EA7-EA3EE4FE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71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ex-FIC em mai/26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D92412-7133-443A-974A-96D435A4C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95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10,7x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1627A8-1150-4303-9EB4-A07162BC6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14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crescimento sobre 2015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93B7EB-499D-4AF5-B625-DCB41BED8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38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R$ 79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A3E96C-019F-4977-AE31-9C8333F9A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57725"/>
            <a:ext cx="276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de FIC-FIDC, sem dupla contagem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FEADF7C-ED8D-4627-8375-03692F5E2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6197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O total no topo da coluna é o PL bruto.</a:t>
            </a:r>
          </a:p>
        </p:txBody>
      </p:sp>
    </p:spTree>
    <p:extLst>
      <p:ext uri="{BB962C8B-B14F-4D97-AF65-F5344CB8AC3E}">
        <p14:creationId xmlns:p14="http://schemas.microsoft.com/office/powerpoint/2010/main" val="5474923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638CD2-5F63-47B4-ADB8-600311AFC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67E345-7644-4253-A92F-F2B07C88D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atingiu 445,7 mil contas em 4.227 veículos; contas não são investidores únicos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D58280-8933-415D-A5CB-C3EF560D0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76E2A4-D033-4B69-AAB6-60C15B579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DADC53-4CA7-4DAD-AAC4-9C037A6C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FIDC, mai/26. Contas podem se repetir por classe ou série.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29D196-E8D1-402F-A10A-8A45F0003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50B460-F84B-4B1A-86BD-62BBB309A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17F262-958F-4D8E-A224-E2E841E3C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dcb7d4a22344b5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B204BB-E772-4393-B34B-EF887C9C5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8A5F23-8C0E-422E-B698-B5B283B5D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28BE80-310F-4475-B7DC-F8125DE1A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820F47-40C5-4F1D-902A-954152D7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F8A0FD-44DE-4E6D-8AB8-D915598B6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8C9F78-A074-45BA-AE89-452CE20F5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REPORTANTES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1D165E-C180-4FFC-9F40-848F3E1E5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3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af774a6fb224986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EEDDE7-8A61-42D5-A62B-E7C8111EF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8A2FA6-73AC-4CC8-A5CC-FA7C4B44B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CE1CC1-C656-4D6A-B7FB-CDE0E0E22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94E270-48E4-460B-94F0-035E55999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EF2D4A-B2F7-4FC0-B97A-233BF4362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99C7F6-2EB7-4E55-A883-187026D1D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MAI/26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8CB90C-3001-4050-B485-B43EB9DD1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87c46b968a345e0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4CD04A-D266-4B4F-9827-BC0A5AFAC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Composição reconciliada: 445.677 contas; 32 sem tipo identificado.</a:t>
            </a:r>
          </a:p>
        </p:txBody>
      </p:sp>
    </p:spTree>
    <p:extLst>
      <p:ext uri="{BB962C8B-B14F-4D97-AF65-F5344CB8AC3E}">
        <p14:creationId xmlns:p14="http://schemas.microsoft.com/office/powerpoint/2010/main" val="183765428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349A9A-C397-48E0-90EA-B062E1C26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C21863-848A-4726-88CD-1F48ED9D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10,4 p.p. do universo e 9,4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C671DF-5B00-4D6F-B44B-0771D297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026DCC-8C87-48A5-980A-0129212E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AB1018-F167-4722-828B-F86D895BF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mai/26. Ex-FIC com PL ≥ R$ 200 mi: 409 → 778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552480-8CBA-4AC9-AD5C-08A272571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3ED966-36A2-4BB3-BBC1-0591B870F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A13AAF-5097-4DA4-8ADD-CC043ABF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CAEBDE-B59E-4296-9F0B-B6E9E263B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69C6D0-28D2-438E-B5FD-F02A1AF17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5C634F-D9FE-4A89-B9C3-43D12582F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0BD415-FB1E-48DF-B4DC-F203FFAB6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066c785753e41f4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D2C6D4-6C13-48ED-9554-AA6CB9960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28DA6D-D0FB-43F2-8CE4-CC20B4E0B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2b9f77149c940da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8E9DF3-6413-4FF8-B938-DF82EC706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B6AD55-4849-4246-B88D-4476E3354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c574e780d2840b9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7A34B5-EB36-4C50-82BD-842DA920C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CC4138-9035-4B5E-B295-2F09E0BF0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C99E5F-89BA-4FEA-B1D8-9AC065D17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e5b78d4d4ac4f09"/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D41B0A-205D-4D76-8392-370B0D14B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9A0DC9-85BB-4AC0-A905-A1E1A06EF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5246301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57C9C6-6B65-4016-ACDA-3F851E2F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C057C0-A4F6-48FE-BED2-05D8590A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Na taxonomia vigente, Outros ganhou 5,5 p.p. do PL ex-FIC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5E0438-0639-4629-8498-85394A76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316A54-FB9C-4E2B-923D-220071B23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486DBC-74B1-4CF5-B81D-1CFA28050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CVM/ANBIMA; dez/23 e mai/26. Tipo/Foco classifica o fundo; fotografia cadastral de dez/25 aplicada ao histórico. Não comparar categoria a categoria com a Tabela II.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F36344-100F-4158-9266-8DB3E599B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1C7925-AA08-472F-8AA5-D28C207C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MAI/26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6ABEC1-6FD6-40EC-B574-52E1A7EAB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d55e51a4e8e479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F23E24-57AF-4161-BFE1-480903709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MAI/26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9AE574-E67B-4B08-B766-9299D9992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26340a3b6fa4979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A58766-ECC3-4535-B278-E52C54C06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5638800"/>
            <a:ext cx="1952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Cada período fecha em 100%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60B01D-5B98-4385-B2B6-D2CF48D70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62575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297135-162A-464E-A830-F461BD4CF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Mai/26: Outros 41,7%; Financeiro 26,6%. ANBIMA enquadra o fundo inteiro, não cada direito creditório.</a:t>
            </a:r>
          </a:p>
        </p:txBody>
      </p:sp>
    </p:spTree>
    <p:extLst>
      <p:ext uri="{BB962C8B-B14F-4D97-AF65-F5344CB8AC3E}">
        <p14:creationId xmlns:p14="http://schemas.microsoft.com/office/powerpoint/2010/main" val="133735999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375262-BBAA-45A1-9DE1-815E245DD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1E6624-36F6-4225-A293-7274C880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04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13 CNPJs selecionados formam Adquirência; R$ 71,8 bi e 8,2% do PL ex-FIC em mai/26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3D2098-B6F5-449B-80D7-958779D1F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C88FCE-2ABB-4517-9A75-E103318B9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766991-A28E-46E1-846C-E11F158DC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e FIDCs.xlsx. Reclassificação analítica restrita aos 13 CNPJs listados no workbook; a categoria original da CVM permanece preservada na base detalhada.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F906E7-75CD-4F45-97AC-333FCC25A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1D110A-781D-481C-BBC4-F521D0424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MAI/26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65BA93-675D-4F8F-BBBC-3931D7106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49030c1b56343c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738FC0-DD15-4040-B0E3-61F6C59A4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MAI/26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D9215A-4978-48E1-B1A1-9B08FC80A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4fd41cec4fa468a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16C7AB-CF88-4D03-9DA0-AC10090E1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845961-D42C-4725-8D0A-F7F2752FB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CC3DFF-05E8-4A21-A551-58FA96EBD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D84C19-A1A2-4794-991A-BFB2898F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3DE2DE-294D-4035-A397-7D0BAF82F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abertura altera somente os CNPJs indicados: oito estavam em Cartão e três em Comercial em mai/26; dois não tinham reporte ativo. Denominador e demais categorias permanecem idênticos ao mix CVM ex-FIC.</a:t>
            </a:r>
          </a:p>
        </p:txBody>
      </p:sp>
    </p:spTree>
    <p:extLst>
      <p:ext uri="{BB962C8B-B14F-4D97-AF65-F5344CB8AC3E}">
        <p14:creationId xmlns:p14="http://schemas.microsoft.com/office/powerpoint/2010/main" val="68436785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CC99AD-931F-4070-BAA2-DE11011FA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E06229-278E-4285-9F55-2E5B6B93D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15,9 p.p. e explicou 67% do crescimento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8E7C2D-AED9-4226-90F3-9F7A938ED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4EAB20-7485-4EDE-A184-8DE26E2E1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AC31EB-A7A1-4E31-9468-187EBCF52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Tabela II, dez/23 e mai/26. Classifica o estoque mensal; percentuais fecham sobre a Tabela II. Soma segmentada supera a Tabela I em 13,3% e 8,7%.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7FC695-A7B0-4CFA-A3DF-2731632F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9A6FF1-B1EB-43B6-B5A8-E27A8DB54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8D169F-D8EF-42F3-AADB-F8207747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66c0422247b4a7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D456A6-AA18-496C-9DCE-3FA0820B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D52C07-5458-41E1-9366-085CC65D4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c71c8bbc4e74eb8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136CAA-37DA-4192-8EBC-36E540B2C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94C946-FA80-4F02-A13E-74E1D9074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Manual CVM: adquirência com cartão usa o campo mais específico, II.g Cartão. Em mai/26, três CloudWalk declararam R$ 5,24 bi em Comercial; o gráfico mantém o reporte, sem reclassificar.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74F7B5-887D-4EC2-861F-ACFDAFC68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38E997-BA0C-4BF7-8170-1F0964890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A18E97-773B-4B58-A7B9-4B25959BC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77FDC0-4F6D-4537-8ED3-1A12EC92A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9E0EA0-C857-425D-BEF5-43AA37228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387056-AEE1-4F40-B0A9-25AF3DA18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5B7B00-A839-4894-8C83-A05A78A42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27D10B-71EE-4DDA-8BEC-78F640252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</p:spTree>
    <p:extLst>
      <p:ext uri="{BB962C8B-B14F-4D97-AF65-F5344CB8AC3E}">
        <p14:creationId xmlns:p14="http://schemas.microsoft.com/office/powerpoint/2010/main" val="61981530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8A32B3-FFCA-4A8A-9AE7-828215FE8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B9E0EF-C6AF-45A0-8BB5-3C3B2444F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197 veículos; 10 casos explicam 52,6%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64B0B8-43DC-4C87-8846-DBEF60ABC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EE26DE-BFC3-43F6-B897-84E678456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082F03-265C-4A9E-BE9D-331F6965C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mai/26.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3AD254-B354-491E-A07D-E53F03FF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FB5ABA-C6D2-4C40-9D7E-FFDD60D5B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C04422-C8F5-423A-8E1A-6CDCA80E4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265e3a43d64400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7FB328-1A7A-4664-9F30-92DD72414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2AB5C6-BB26-41D4-A14D-08128C610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3F891E-B62F-4FEA-A79A-1E0BD7881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2EC561-05EF-4259-A5E1-9B420E8D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061003-21E2-4F16-932E-DC266314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4.227 / 4.222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72EABB-459C-4664-A95F-E25B3EF3A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E04D5D-BF7B-4CBD-9103-FB6B36F29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7C816B-1FBB-4888-A5E0-2ED0D11E5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3.119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4168AF-7F54-4A8C-BCE7-09B8771DE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E799FD-29B8-4535-B156-D0107FCC8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825EDA-0E04-4051-96CF-A74A9BB2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4.227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02D386-CD2F-4038-A001-53DF54D3A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889DC4-C886-4F2F-A366-6E72416FC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14D8BB-8690-422F-8541-51305964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50D863-A710-4659-83F7-AFA85AF19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58369D-18B5-40A2-BDA7-37AA3E40F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8D6BDD-C12D-41F7-97D8-E9F0BA4E2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197 · 1,02%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096009-2E52-4C51-BE9B-21A253D36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F29563-8067-40B6-95C2-3AC2AB117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2294BF-D484-4A16-AE81-6A9720950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9,8% / 37,1% / 52,6%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09B1AB4-1651-4B84-AF0F-64AD53924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Visão ex-360 bloqueada: o aging soma 112,1% da Tabela I e não reconcilia; gap de R$ 6,52 bi no workbook.</a:t>
            </a:r>
          </a:p>
        </p:txBody>
      </p:sp>
    </p:spTree>
    <p:extLst>
      <p:ext uri="{BB962C8B-B14F-4D97-AF65-F5344CB8AC3E}">
        <p14:creationId xmlns:p14="http://schemas.microsoft.com/office/powerpoint/2010/main" val="57718127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47862D-7513-4419-8347-956DF43EA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EVOLUÇÃO E QUEBRA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480197-DCD7-4A7C-98DD-4CFB9FB92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monotipo cobrem 68,6% do PL; Financeiro e Agro marcam 5,7% e 5,8% de inadimplência/PL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D5513D-69B7-44B0-A41E-A50F93BC9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AF85C5-23A1-4CCB-AECB-0DA3BD2DB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6BAC44-02AE-48D2-924C-BFF7CA3B9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Série agregada com cap por veículo; tabela monotipo sem cap e com exclusão integral de inadimplência acima da carteira. Denominador da tabela = PL total dos fundos incluídos.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13007D-B403-4F6B-A730-243ACCF1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35E436-2175-4B86-86A0-563FD59C7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FBFD6F-5A2A-4379-A568-9CD6C4BE2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9ab19d32988420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B99755-1BC5-450F-8926-0100D7168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03/23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0BF5C0-7BDD-44DE-9CE9-6E2C0D78C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8402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32267B-1FC5-4149-9BB6-12226F610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27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454917-4E9E-4FA5-A3FD-3133FAF8B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704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07/24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E31C49-2F24-4382-94B6-DFF475035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5571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68C994-4048-45D2-8075-1CAC53684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3873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09/25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A38816-5C2F-4976-B4E2-7345DC7C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05/26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C59F71-235C-4052-9FC8-652EF044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022C45-007C-422C-AAF2-37A40D9A1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Bruta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2F0F6D-647E-40DE-9704-F7D229779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68C9D8-6FC5-4024-A866-1CF41E8EA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Ajustada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F73AB1-B262-495A-A12D-DD437F484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6AFB00-8740-4374-814A-F1770AD27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incl.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1.181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240,8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88,6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DDC030-E321-4E63-AC0F-CC63F8025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D3C19A-28DD-4644-8605-CC29001EA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 incluído: 2.050 fundos e R$ 603,5 bi. Excluídos: 937 multiti­po (R$ 191,7 bi), 143 com inadimplência acima da carteira (R$ 8,5 bi) e 474 sem tipo.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21F1AE-DA89-4C96-B138-E69AFEB0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Quebra jun→jul/24: o excesso do Atlântico caiu R$ 16,7 bi; a troca de administrador coincide com mudança de apresentação. Caso completo no apêndice.</a:t>
            </a:r>
          </a:p>
        </p:txBody>
      </p:sp>
    </p:spTree>
    <p:extLst>
      <p:ext uri="{BB962C8B-B14F-4D97-AF65-F5344CB8AC3E}">
        <p14:creationId xmlns:p14="http://schemas.microsoft.com/office/powerpoint/2010/main" val="161173857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3E78DB-5E4B-4A46-AD2B-396CE075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73C705-EA53-41FE-8F8C-A0BCDBBFB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35,7%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066120-4704-4315-8526-32E2C68A2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7E277D-69B4-4708-A189-8DE84852E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F3E7DE-085A-4F5C-92B3-80037BF7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mai/26.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E44B16-8CD6-463F-AC2B-2326181F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420775-2903-49F7-A3E9-022AD10A3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DBF77B-2A7D-4A37-BC6D-A8AEF7684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3a26764a4834cf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ADB8A1-CACE-4C63-ADB0-9913EBC77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DCE675-0A36-43DB-ADF8-852F566DC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07BAAB-26E4-40BB-BCA5-A147FE8C2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78946c012294c74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42DABD-0345-46B9-AA91-C0F1AB96B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18D6D7-16A3-442A-8EBF-1FEF3D165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846C93-C93F-4D68-807F-D0EFB20F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Mai/26: administração 100,0% → 100,0%; gestão 99,0% → 99,8%; custódia 97,7% → 98,6%.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DF0DC7-4EE4-411C-8297-513DE28C4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C76121-D7CD-43C6-829D-1A357E5C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69F83F-4567-43D1-B090-A418D4F0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555C41-A6E5-4225-A163-B6CC024CC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</p:spTree>
    <p:extLst>
      <p:ext uri="{BB962C8B-B14F-4D97-AF65-F5344CB8AC3E}">
        <p14:creationId xmlns:p14="http://schemas.microsoft.com/office/powerpoint/2010/main" val="62454292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8D3EFA-1468-4E05-B47E-35414AB4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B9FB92-EA3B-4B89-A214-D4FBA2920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C88DCA-9379-442F-8847-E600E811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0E65E2-0A06-4AC6-B0AF-EE44197F5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4AD138-3E23-4D47-8C0B-9FAC199DF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B5CE54-1DEC-47B8-8466-39192357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3417d29a1d24136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936216-214E-4FAA-8A70-D612C1D68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85,7%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9000230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DB6D4C-7874-41CD-B0EF-21628E751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6BE6ED-97F1-4D8E-A504-3BFAB05F0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D9924B-5B88-405D-A9E4-42E2AFE82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AA501F-EE5A-4802-A670-15B6730D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B0FDDF-45E2-450A-BA1B-ED6558966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716125-DC8E-47DC-8DE5-F13BE0752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9f875cb40e34502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C2D7F7-2C2C-4AE3-BA0E-705CA4D99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85,7%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100546667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E7062A-1985-4937-885A-015AC10D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F44618-47D0-4E61-A470-45D1DF82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CB11FF-E527-4E3E-80AD-05AD43C2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E38D71-1FAA-49BA-918F-1149C536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695928-B1D1-41CB-8FAB-9A2924F65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DFA5EE-EB72-45CF-A9B7-FCA5769B5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208a2c67b5a49a7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C92500-5CB3-401B-98C2-A4C557973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85,7%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81743388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A15DD1-F526-448E-B165-A4361E591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DO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8B3FE4-0043-400A-8B44-1F10619FA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herdou a escala da Singulare; veículos controlados sustentam o BTG em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192149-7941-4512-9EAF-10FDFA416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E7D668-A4BC-4255-8EB1-2E13F1EF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993212-004D-406D-83C9-6243C89D9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DF BTG 1T26. PL ex-FIC; Sistema Petrobras e TAPSO excluídos. Administração observada; gestão e 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62F052-E5CA-4103-99DA-87E8276A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53B57D-25A2-4032-9789-29B83B911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E512CC-6D9D-4464-AD65-5A05C4B7F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200150"/>
            <a:ext cx="2619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</a:t>
            </a:r>
          </a:p>
        </p:txBody>
      </p:sp>
      <p:graphicFrame>
        <p:nvGraphicFramePr>
          <p:cNvPr id="30" name=""/>
          <p:cNvGraphicFramePr/>
          <p:nvPr/>
        </p:nvGraphicFramePr>
        <p:xfrm>
          <a:off xmlns:a="http://schemas.openxmlformats.org/drawingml/2006/main" x="571500" y="141922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87,0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62,5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82,9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109,7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62,3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48,8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55,8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39,1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52,1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54,2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25,2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45,5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50,0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36,1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44,3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 · 10,7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28,5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30,5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43AF07-0E50-4558-99DE-96E4A0082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20015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7477125" y="141922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ee0868aaf5d414b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CBA646-36FB-4CB0-800B-F0A24B3B3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8DF649-0E5A-4476-8D27-933F9C6DA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05125"/>
            <a:ext cx="2619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</a:t>
            </a:r>
          </a:p>
        </p:txBody>
      </p:sp>
      <p:graphicFrame>
        <p:nvGraphicFramePr>
          <p:cNvPr id="35" name=""/>
          <p:cNvGraphicFramePr/>
          <p:nvPr/>
        </p:nvGraphicFramePr>
        <p:xfrm>
          <a:off xmlns:a="http://schemas.openxmlformats.org/drawingml/2006/main" x="571500" y="3124200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39,2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46,3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65,6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26,7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34,2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40,3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27,2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34,0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22,7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23,7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26,7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16,5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19,9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26,3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32,5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21,0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 · 10,2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18,1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18,3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E52BA-A942-47AA-A68C-FB7A968B8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905125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7477125" y="3124200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7840087b92c4c18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18E604-4BA1-459A-A7BE-A55B8DD73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522721-8939-4EF9-9620-A5784E900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610100"/>
            <a:ext cx="2619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</a:t>
            </a:r>
          </a:p>
        </p:txBody>
      </p:sp>
      <p:graphicFrame>
        <p:nvGraphicFramePr>
          <p:cNvPr id="40" name=""/>
          <p:cNvGraphicFramePr/>
          <p:nvPr/>
        </p:nvGraphicFramePr>
        <p:xfrm>
          <a:off xmlns:a="http://schemas.openxmlformats.org/drawingml/2006/main" x="571500" y="482917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78,2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114,4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120,6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64,5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88,2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109,3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46,8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64,2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72,3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45,5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57,2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60,3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49,9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62,2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36,5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41,8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48,8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 · 11,6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20,6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 · 21,3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826028-580C-44B0-AD22-5C2795FAA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61010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7477125" y="482917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6c189578d174cd5"/>
          </a:graphicData>
        </a:graphic>
      </p:graphicFrame>
    </p:spTree>
    <p:extLst>
      <p:ext uri="{BB962C8B-B14F-4D97-AF65-F5344CB8AC3E}">
        <p14:creationId xmlns:p14="http://schemas.microsoft.com/office/powerpoint/2010/main" val="136862738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55AB67-CDEA-4E5A-8476-779CC1AE6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INDEPENDENTES · EVOLUÇÃO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1D795A-495D-48EB-86B9-B76605FD4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 e custódia entre independentes, com R$ 122,5 bi e R$ 120,6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9C1104-527E-459F-8ECC-A5FEB62D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B1BA41-A521-4FF2-A946-C3D080F96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8CF5BD-42D0-4031-8D60-2115D830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982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PL ex-FIC. Sistema Petrobras e TAPSO excluídos. Posição = ranking entre independentes / ranking geral; Singulare consolidada em QI Tech; Kanastra alocada ao Itaú pela regra de afiliação explicitada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7B969C-5A35-4B89-BD18-BE6DAF554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A14F84-2CA7-4624-B361-57AFB70B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65084C-2881-47DC-B2F3-5DD1F5E2A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20015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30" name=""/>
          <p:cNvGraphicFramePr/>
          <p:nvPr/>
        </p:nvGraphicFramePr>
        <p:xfrm>
          <a:off xmlns:a="http://schemas.openxmlformats.org/drawingml/2006/main" x="571500" y="141922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87,0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120,9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122,5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62,3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3/5 · 48,8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55,8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59,5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42,8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18,3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20,7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22,2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5/9 · 17,6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21,7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6/15 · 10,3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20,3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244A51-956D-41CF-8B4E-CF5254652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20015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7477125" y="141922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6e14f7622524a78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E39D12-1783-490D-AC04-240EE454B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79B408-F811-41A7-9A3D-DBBD31C2C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05125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35" name=""/>
          <p:cNvGraphicFramePr/>
          <p:nvPr/>
        </p:nvGraphicFramePr>
        <p:xfrm>
          <a:off xmlns:a="http://schemas.openxmlformats.org/drawingml/2006/main" x="571500" y="3124200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2/6 · 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2/5 · 27,2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1/3 · 34,0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16,5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19,9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2/6 · 22,0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1/3 · 26,3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1/4 · 32,5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21,0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12,5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17,2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18,8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Solis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6/13 · 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14,5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5/9 · 15,7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13,6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14,1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14,1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7C8572-071D-459D-87C6-CD41316C7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905125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7477125" y="3124200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ef5874487e344e5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F35DC2-60CA-41AB-B154-DE4CF84E6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8B03F1-A4CC-48AD-A314-F69A2502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6101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40" name=""/>
          <p:cNvGraphicFramePr/>
          <p:nvPr/>
        </p:nvGraphicFramePr>
        <p:xfrm>
          <a:off xmlns:a="http://schemas.openxmlformats.org/drawingml/2006/main" x="571500" y="482917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78,2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114,4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120,6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46,8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72,3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49,9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62,2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3/5 · 49,2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17,9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20,5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22,1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Limine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7/19 · 6,8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20,3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5/9 · 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13,8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19,6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6/10 · 21,7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470ED8-7A32-4853-9F5D-1FA1246F8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61010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7477125" y="482917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d21499f89c24677"/>
          </a:graphicData>
        </a:graphic>
      </p:graphicFrame>
    </p:spTree>
    <p:extLst>
      <p:ext uri="{BB962C8B-B14F-4D97-AF65-F5344CB8AC3E}">
        <p14:creationId xmlns:p14="http://schemas.microsoft.com/office/powerpoint/2010/main" val="74927572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E0E562-2814-4983-981B-29AFAB22A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39BB7E-3134-48AF-94AD-245E7D813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coorte atual dos cinco bancos soma R$ 70,4 bi; BTG responde por R$ 41,2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FA3304-0B79-421D-9A37-AA814B948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14476C-B654-4681-AF35-8EB53E525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B5B118-67F2-48AF-A78E-FC42237AD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FIDCs.xlsx. Coorte fixa das raízes de CNPJ hoje listadas para Itaú, Bradesco, Banco do Brasil, Santander e BTG; PL bruto por competência. Ausência de reporte permanece vazia.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BFD112-61EE-471A-9AE4-986FCB9A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A63429-98E2-44F7-BD3E-FF4B9A759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94C060-0B32-4FD3-9115-F6B6D8D6E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cd6a0ef33eb406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E83E0A-97BE-4D13-98D2-C4F6CA054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RECONCILIAÇÃO POR GRUPO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F058D4-2685-4B04-ACCB-523A9E3E6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905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095375"/>
                <a:gridCol w="666750"/>
                <a:gridCol w="666750"/>
                <a:gridCol w="666750"/>
                <a:gridCol w="666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Grupo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Dez/23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391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391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391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391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391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do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985A3A-F6E9-4F20-B628-269DBB07C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9530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70,4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8729DF-F7FD-4937-9004-6755BDB63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3721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4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em Mai/26. A leitura histórica mantém o conjunto atual de raízes de CNPJ; ela mede a evolução da coorte, sem reproduzir datas societárias de consolidação contábil.</a:t>
            </a:r>
          </a:p>
        </p:txBody>
      </p:sp>
    </p:spTree>
    <p:extLst>
      <p:ext uri="{BB962C8B-B14F-4D97-AF65-F5344CB8AC3E}">
        <p14:creationId xmlns:p14="http://schemas.microsoft.com/office/powerpoint/2010/main" val="52645818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943374-9C65-4FAC-B2D7-2405A9D75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90A481-83CE-4A1A-9912-16EAD3C03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explica a escala da QI; seis FIDCs controlados explicam o #1 do BTG em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E43B59-59C7-434C-921B-095A5DAB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D674C3-1C13-484A-9949-531CD8390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EFBFFB-17E4-4D58-BC70-CD5360023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DF consolidada do BTG 1T26, pp. 18–19.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121610-552C-4B42-BF0F-7A656FC94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443824-3AF5-44D7-BC78-F3267FF2A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2D081A-F878-447F-B950-FC64068FC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1d85cd1359b4f0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F102CC-ED10-49A8-A68B-FDFE796D2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29E556-3F00-4C1C-A670-29E192E8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EC53B4-48AA-4ADD-8929-A8B5CDCE1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MAI/26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C13F36-1F85-4E14-8763-90C00D717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2fa1efdd6604012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A51345-3F3A-4D4C-8338-300BD09EC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R$ 28,6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7BE9E1-A559-4A71-A5C2-08D29A66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43,6% do PL gerido pelo BTG. Sem os seis fundos nominalmente reconciliados à DF, o BTG cairia para #2.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D84ED3-FEB7-42FB-85D5-DEAC92821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Seis reconciliados: BTGP Consignados I/II, Alternative Assets I/III, MT Consignado I e Consignado Delta. No caso Meu Tudo, o FIDC é controlado pelo BTG, mas a originação/operação do crédito é externa, via Parati e meutudo.</a:t>
            </a:r>
          </a:p>
        </p:txBody>
      </p:sp>
    </p:spTree>
    <p:extLst>
      <p:ext uri="{BB962C8B-B14F-4D97-AF65-F5344CB8AC3E}">
        <p14:creationId xmlns:p14="http://schemas.microsoft.com/office/powerpoint/2010/main" val="25832101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E41FCE-E277-447E-A19D-9B4FB0AA0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CBSF / REAG · DESTINO DOS FUNDOS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733892-1DB1-4F97-9047-1CF53FB12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Master e Planner receberam R$ 10,1 bi; 19% do PL continuante migrou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0994C4-835F-4CDF-9AFC-31101E8C0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4FC319-5847-4787-92F1-6A2391ECD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5A791E-951C-4424-9BFD-570F3D73E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Mensal; BCB, Ato 1.375, liquidação em 15/01/26. Coorte do CNPJ 34.829.992/0001-86 em dez/25; destino em mai/26. PL ex-FIC, sem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B5E2AE-00EA-4974-BB14-7E909746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df052c47e046d8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5608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4CF450-9B62-4D13-B846-3F0E225F2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ROUBA-MONTE OBSERVADO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26249E-246D-4014-BAAA-6B95B68EB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257 FIDCs trocaram de administrador; 7,2% do estoque comparável mudou de mãos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A4D48C-1203-42BB-9F36-3FBA2E0E6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F16A81-257F-4E34-B8F9-E144CA757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220A33-76B8-44FB-8EA0-7A17489BD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CNPJs presentes em dez/24 e dez/25; largura = menor PL entre as duas datas. Ex-FIC e sem Sistema Petrobras/TAPSO. Gestão e custódia não são séries históricas observáveis.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8148E3-ADEA-46BE-99FE-8EE856D55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7d1a044f5e4026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92411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7CF40E39-DAD5-432E-9C1E-C0E34F4AB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1784E1-BA19-4D22-80D6-7654D3A5E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24,8% do PL ex-FIC; Petrobras e TAPSO são 46,5%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1FB95C-77CE-4FD9-A193-C44D12F4E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604753-7A9E-4C97-B336-FFABBF3A6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59FB80-3E19-41E4-96D3-150476865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mai/26.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987072-1F67-4518-9598-FDE8FA119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FA6EFE-77A7-46FB-ADBD-11320D38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1D1EDA-3830-46C5-980F-AA0E0F578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E3949C-ABE9-4C81-AB99-5B9FBA135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66DF28-B710-4858-BD61-D869F670D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D683DC-A75E-4806-89ED-BAA3EEFC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4AD222-C971-4C14-8F05-58CF0599E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8B1835-FCE2-4769-879D-F3D17A1CC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CD176B-941C-4433-8C13-7585ECFA8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9360BA-7088-4576-9DAE-F8529B5C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C93192-FDC6-4498-8DC0-A085D1A4A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A2CB64-667E-49B3-961F-E4CBA90F4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F6C566-564B-403B-B946-8997B0D57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60,8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05A953-10F3-4443-85A0-421366D8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6,9%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A58340-C5F0-48F8-8927-1C0E8435C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E87F04-DC64-49E1-BFF3-35A6E3A11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60125D-4E49-43FF-A7DC-80334DD5D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6B1BA7-9B8E-49E4-9813-13EABF98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73364B-3D02-4C72-BDF3-D542F71B6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EA43DE-9A55-42D3-BD25-B1434C5BA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8F576F-44D1-415C-8409-44CBBB2DA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40,7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F55B30-33FF-44BE-9FA1-0B20CCC57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4,6%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0EDD79-9964-4E7F-94C8-A7687A72B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6061340-1CBC-42DE-9189-B549D2820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84F8DC-CEAF-4F3F-A8B1-B0563B06D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196704-0407-4C7D-BBB0-132C225C0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ABAD6A4-8C65-4D0B-9413-C71761FB7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F3F02B-C73C-4167-9C56-6FE05CD1E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2F1EB02-155D-465D-9912-6FC1DE3E2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C4AA8B8-2A58-4207-A31B-C3B7E780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DBBDAE7-A8B6-43FE-BCFB-AA5D456D9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5663F4D-E095-4217-9377-F3C3ED7F6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B934D63-94C5-43AC-94EF-D2A1F55F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553C00C-91A6-428C-8FC1-3139885C3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80157D2-95D3-47AE-ABD9-2E6FF113B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4D04EA7-97D5-4D60-A6E7-DFC5833CA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5BDA8DB-ED32-4405-BBDF-92F691AA6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8,6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E0CA6AB-7860-4A53-8FDD-AFC5353E0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7BC0BD2-EFF3-45BF-B614-EAF8F6B23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096757D-18A0-4851-9DF7-5D991B3B1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0D05B48-4163-4D55-95D5-FA9D48815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5ADC2B2-CF41-4E25-9C61-681F47B1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C9CA456-0523-4D1D-9CDE-6EFABD228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A7974B5-80E1-4B7E-A408-8DEF4FBA4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Esperanza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DAF044B-B745-4E4D-B7CC-81FF6ED42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629E372-424B-49D9-89B8-350662BB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7B6E20D-DE0E-4490-A8AE-82315A1BD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56D6081-A981-4E08-A44E-CAADA0AF7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30ADEB7-2F15-4262-A33C-863BFCC4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586701F-A493-4191-82B4-C2CED4C05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1D996F4-0823-48EC-BFF1-19086A850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ED7DE6A-3084-4A08-99D2-C1FB28A99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 II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0F4DD19-9EE8-4B18-9082-846ADB075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7,9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C7E20C0-21B2-4070-9D9A-361555808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59871AC-9BFE-481F-B4D4-694DA2460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21BF8B7-5048-434E-BEDC-8B8FF95E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DB2B09D-5C2C-4F04-8F19-B4DFF64F4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01F1587-02C5-4A0D-BDD4-B810EB3B4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C98C566-049C-4E17-95F6-4BE216705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F429646-AD0A-412D-BA56-EFC3D33C3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MT Global · Consignado Privado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9D6BA55-0117-40CF-936A-20841BB18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7,8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7D9703B-467A-4F92-8D35-629F54402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DE6829A-21B4-4AC4-A132-3B34ACF6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4E73757-8CC3-4A7D-B1B2-3E83B501F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ED25F07-A208-4DD1-BF59-BA01F708B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52392E4-8B6A-4E22-B56C-4392EA1B5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BC8CA82-BAA3-4E72-B14C-3784387DE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1C42DF8-2A17-4F6F-A396-837D6A752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C71EFD2-3F49-46B6-884B-57E72C66C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7,7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C882844-D390-4411-A25A-47D5992EB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BC0996A-5091-4240-9BA6-D53C831AA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1F45109-4AAB-4AEC-8677-488D247DE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7EAC02F-70D8-477F-BE50-D5737683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4E53A90-D615-4DCC-8DA1-A5DFE7831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B5BE200-4EBA-4D70-815B-A66583ACD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DE83DA9-9916-41C7-808A-06A286BE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Aetos Energia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E6F3CAA-534D-4B42-ABBE-C30291E13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7,4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E6867D5-61EB-400D-B71F-8107C049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FFE3220A-54C2-454D-A614-F0115EFF2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E32B500-0CE1-45CC-84EB-95DFF3C3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43248DD-693E-4577-A93F-8800A67F5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7A4433F-1093-40DF-ABF7-44445E9CF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316D16D8-6FC7-4ED0-9A7C-153D836D1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C5E82FA-DB86-4C12-B5E1-CBC4C3926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DD6FB4BC-7C9A-4AF2-A148-E8C2ED5F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6,7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6905E61-F9E1-44F4-BEA0-082298B7C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A0102E7-C6EF-49EB-8456-8BA0BF542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E3B5A5B-BAC3-45CE-8FA6-F81C78171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A4C84717-C649-4628-B7FC-E55E53F10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5FE321E-92A0-4377-82E8-6835E0B50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22FF858-6BE2-49CB-91FE-B289A54C1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078EF4DA-0694-4BFC-ABFE-3A0BBC509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F6BA99C2-1150-4D18-8F4E-444603DDB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CE0AD126-AE1C-48F9-A5A8-2EC81978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5C6B4127-6DFE-4370-B12F-A48DDAC34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0E664780-5AFC-4ABC-8549-2741D1519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8578A515-EB5E-473E-86E0-30A85D496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16921397-7161-40E3-A2A0-2E441353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0165FEF5-F655-4DD7-ACFE-7627922F4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240AFC96-17FF-4FA0-BCAF-47C944D89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6,5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08476C28-8B7F-4E18-88C9-9718B012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F396D0A8-343A-4AC5-902F-13A336B67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24117BC7-77EB-4D2B-A179-BA15392F8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2C5D7783-CF8B-46F1-832F-D6E1AF602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A84DF30C-20C3-46B6-B0DA-B97239877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3CA6E0BD-34C1-4368-8B2B-0F3757F4C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4F49016B-57B3-4490-8A80-9609B4934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2528715C-3690-493C-8801-BAE67E384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ACC181E4-CB23-4297-B80F-D30CEA64D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939E7832-FB6C-4D51-B4BA-3861AEF0F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EE1C8E91-0291-4AF7-BAE6-8E0657847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4D9298E7-F076-4BC3-B87A-E5C148B6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3A61CB6A-4A39-440F-823F-15AE8F711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803F5274-D679-4EE1-A5BC-1DE5BB81D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366D086B-AE25-499F-857C-0C9571DC5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78C57E02-A8C1-4774-85BD-E43A74542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416DA13B-AAE7-4CC8-A0AC-18F562DE9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383A3613-BA21-4AA0-80F1-26E8C36B3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8FD8071C-AC57-4595-9255-A79C8C050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227A14F2-4480-4156-B464-18FFA30EE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1B4C19D-5815-499F-B81F-AE6ABA2E0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75CB7733-0154-40F1-8498-45D8AC899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5105265B-F88C-41D8-AE77-2960B4D5A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225F6283-A0F3-45E1-BEFB-577717AD6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CBA1AEFB-35F8-44AA-8D29-637461F1F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2310F71D-0AEA-4888-8B67-61DE1BCFE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F93F647E-47AE-4AAB-8C17-02148CE5B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C35E4326-BC53-46E0-B4F7-8F2976FE4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8707BCFA-A01D-486F-B0BF-16269C95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CE28F26C-092A-4BC2-8BE9-C18540C4B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D6E99CFD-D2A2-40ED-86CF-D245DB3C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NC 2025 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EF2FEE36-5CB2-4780-A477-075FE5BD0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5,7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39473F04-1774-4787-A023-BCB12D656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0,6%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35BC7320-E560-42B8-BA4A-86BDA897B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C8DF1AAB-4381-42DA-9382-B010A1893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7E36EFC2-DADB-4065-9D4F-EA55FEB4E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2CD642FA-217D-479F-8E70-8D99233CB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1AF19311-1FEF-4AD5-9EE8-F14954601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7269790A-B79B-40B6-9B08-C903EEBEA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AA90E6E6-D10E-4659-8C90-8911A884A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5,0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8276D475-38CE-4124-B030-FDB19CDC9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0,6%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CCF84744-D132-474A-9FA1-0D6006A61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F7A18E10-8BFB-4D2E-98D4-B4D1E6F99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85186856-62A9-4B74-82F0-C25D13BB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5F2DB87E-5EA7-4346-9A18-D542CD6D4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BE5D0CC5-6253-4EF1-9CB1-4178A97C3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ADE241BB-7A41-446E-910F-4EABC518D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 I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980007F3-941E-4DD1-99F0-D857348C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4,6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2A650D23-9AF8-4283-85B5-9199B739A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08C472E5-79A8-45A9-8D7D-EEE7EE930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C00608C6-D280-4695-B603-14AFD7839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CA2D76F1-672D-45BE-947B-77DC3512B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8A68801C-D8C0-4E26-810C-08CA78BE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519D16A3-B0B9-4B4A-8E40-2906B071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BFB5A7A0-973E-4F69-AC2C-FB4E7313B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Master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96260F18-AAAF-41E3-8C55-8BB99E0E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4,3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B6AE91DD-3939-42DF-A5DE-065CF2E32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CA6501DB-8093-41F6-AAE3-21DABB83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75C68E61-7814-42CF-98E3-51A66143D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A4C10F4D-B39A-4E4F-AF94-C6F97E07F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A5B637B8-2225-47B3-A625-76CF49B28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73859645-38F4-4250-9A2B-DC84102CC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7435754C-3045-425E-982F-D123EE23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High Tower NP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F02D58D2-1DB6-4C2E-9CA6-EEEFF1647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9BC9A8A4-4707-4123-A0E4-103BFF723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9F74E207-F3D6-4565-8678-687757FAE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79CB62E4-169E-46A8-94D8-9C0406F41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E768647B-1E9E-454F-9518-BED12D99E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D72733DD-734A-48CD-A20F-7C2780B26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AB3AA30E-0436-46C0-8C10-AE793F3B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F44741BB-3A58-4389-8DBE-EAC7031C8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8AAD0E7D-7893-4AF6-BEF9-3281D728A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3,9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03EB9147-B416-4E1C-BDF4-17DFB1DBF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0,4%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219A6A02-C27C-4E1F-9681-E0F98E84E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8259EAE1-28BE-47E4-A1F1-FB9FE7927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</p:spTree>
    <p:extLst>
      <p:ext uri="{BB962C8B-B14F-4D97-AF65-F5344CB8AC3E}">
        <p14:creationId xmlns:p14="http://schemas.microsoft.com/office/powerpoint/2010/main" val="44604306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9C48902F-21E1-4523-B9E2-CD202048D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5997F0-79D3-498D-ACC7-4ABDA6075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representam 26,5% de Outros; oficial, hipótese e status ficam separados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E4D2B0-34FD-4E81-8949-E6D793C51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70E5DC-3012-4F0F-87CA-169D85F40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B884AC-9DA1-47E5-873F-C8484055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e documentos primários locais, mai/26. Evidência e links completos constam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4021AB-D77B-4E12-894E-AA798F4C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CD21CD-D113-4632-9D79-8AFB07E7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461B0E-B6D2-4598-855B-FC90B32FD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959AB5-5A3E-430F-8812-672B64591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82E369-6A4B-457B-9A85-48593DA7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3A70F9-F3B5-4194-B59C-947A417CB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2654F4-3FE4-4137-BDCF-467687CD3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079505-E7CC-47BF-9617-08B239E0B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D0EA94-A3D9-4FD1-9C77-1DEF79101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E4BED7-9F91-4064-AEC6-3C785BA2B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BF2006-94EE-4441-B115-8F5212F2E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F1E56D-5424-44B9-81E8-63C4D8AA7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4CB3EE-BF17-4E0B-84F5-C0D86570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445608-1CC7-4F78-8EC9-8E4C06D3A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5173C9-3349-42BF-B005-93EA5508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6EAC2A-9638-415B-A7DF-6F09E6EF9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960754-783C-4A77-8450-10C9FB3F4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3EF851-CCB1-4A41-B1A5-010DEAD48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1743B8-4F26-4206-9914-54C43016B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2B99DB-488C-4019-9633-E0067984B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996947-1726-4211-9299-EB48E3666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8,6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9EFB20-DB72-4056-BA1C-6060EBF51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48E1E91-1653-4C9F-AF8B-68B5982C4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PJ — Crédito privado/mercado…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F8AE06-F8AD-43C6-8198-6AB2C8DAB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CREDITO PRIVADO FUNDO DE INVESTIMENTO EM…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88EBD2-7AA3-46A0-903B-4D0352192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98F9A1-5CEB-41DB-9F3D-DC1391F72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136BC0F-174E-4DD7-8B3D-161CA317C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BBF7A6-C1F6-4022-8F02-591215669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Esperanza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83EF788-5CB8-49AF-BED2-2544AC089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8,4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D0DC213-6BD9-4157-9988-CB9C608F5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166D1E3-62C5-49AD-B1ED-E1C53A2C6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F70F00A-AB4B-41D9-862B-505FF01CA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BBB3C3F-420B-4F6F-8DCC-2744BE135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8E21C8E-DD33-4EA9-8917-877BBDA99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BEBE67D-0683-4061-8C7C-000153F0B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42A9B0A-9818-41A5-B972-4CDE53D1B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CB5E165-4203-4D1C-B0FB-E43D3EAA5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6,7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D7F26E1-908D-41CB-B6A2-B3258B0A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A2907CC-A6EC-4DA9-89F8-407BD9DEC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F9FE4CC-E974-42B2-B2A7-C990E5229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14DDBB8-7BD7-42D7-A3BB-D6F2879F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08F7498-1204-4BCF-BC74-E1F3351D8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E424D86-686C-4969-BCC1-3C496E183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CEE1141-6BB0-41FB-97DE-C3EDF2537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8A755C9-6AB7-46E7-9C4C-718651C51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EE01EF6-1D43-4F17-9444-5383834C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EBC39CD-E720-4ADF-8368-78F52E387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B11C3DE-3416-411A-A408-25D91165D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A78C224-A7D7-4F29-8E04-C111C119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2BD602A-D6FB-4EAD-9EB3-EA3523656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522E064-51EF-4E6E-B0BE-6857B10EE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957141B-818B-421F-9E45-C9A3F5C8A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A92625B-5486-4738-8D1D-8FEFEF51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89CFBCC-B0C5-44EE-85C0-4F0D0711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1C686B0-0F36-48DB-99BC-E638C138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9B11BC3-3E29-46E7-80A8-E2F37656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SERAO ADQUIRIDOS INTEGRAL OU PARCIALMENTE,…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2BE1DA1-F343-48B7-87CA-FD6A37D2C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821A16D-504F-40E5-888F-8F315BA14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6CF7CF0-23DB-4084-8FB4-76C02D081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4348E6B-2951-4A30-8A88-24C0C48CC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NC 2025 I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83D5AFF-3F3B-4767-9D5D-59EB5F491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5,7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7A2E0D6-E371-4069-B7F8-ACD9A2F5B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FE813BE-F1D4-46DC-8A19-53E780E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Multissetorial / Outros —…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FE9EADE-A9B6-4E7C-BED7-4F011E65B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UNDO E CLASSIFICADO COMO UM FUNDO DE…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DC9E8B9-0A99-4293-BA20-649BA088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F6A9A68-1287-4BB0-A60D-A9AA73887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F880C8C-715B-4CDB-AA11-7E7BB0D81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082FFAD-D890-4741-B7FE-8ED1C2DFB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2FAEBA1-707A-4B0D-AB14-2CC372C4D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5,0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6C1B91F-6A75-48D2-9F82-3E58789FC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6B688F5-ED2F-4493-9B66-56FDB6504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6D09E7C-53F5-4C7C-9BD9-962BE22CA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 DIREITOS CREDITORIOS…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2E8329F-E38D-476D-8D3A-37C4DEB2D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7B0295F-DD5A-4854-810C-23536A861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50F0CF4-0193-4F03-8C2C-A01D612A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9DFF4CE-5C3F-4A95-AA89-7F6497E66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High Tower NP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7BD1CC9-D9D7-448B-A3E0-B735FE116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BB7B88A-7222-4974-BCF6-8821C94C1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65DFFAA9-EE98-4063-A62E-5C0069087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FBA11CA5-3852-4213-8F6C-7AB2A7CC1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D4581A1-8F8D-4DDD-B808-800AE938F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6164D74-56C1-43B1-A69C-535CB0F9E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442260D-F64D-48D1-810A-2FE2EA55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06483F2-B95A-4F37-ADCF-4C8DCF7BA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F379801-CB58-413E-92E2-23209B984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3,9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6A0F33E-3216-4E64-BA41-A1030014F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04E09B55-125F-48BA-A1D1-1E2C2D400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99B8816-81BA-478D-A22F-754822E4F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9B7AFB2-768E-4698-B3FE-0199D38BD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3A47503-1315-49BD-AA45-A6F83C829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ECC5D083-CD16-4195-A297-E111AF742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F087087A-5AAC-4AD0-B307-AFCE16F91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B80631D-A596-45FF-B998-6C8576178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9EFF9795-8E0E-468F-961A-828E5316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8C86340A-B05B-4B80-A579-DE9E288C4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A4760E08-BAF7-400B-ACD4-704105F2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7B329F94-21EC-4B3B-B1DE-7F253F0B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F4453FCC-CD65-483E-AE1D-8B617E6A0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15AC422C-C69F-4471-8C10-7BC017D92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RSCRED MULTIESTRÉGIA - NÃO-PADRONIZADOS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7D9FD3F2-DB5A-4639-BA60-5BAE36932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41577937-8B0A-4760-ACBD-8E38E25FB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44258426-F548-4392-9EC7-52CD6D7A2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D7CED8C6-CC05-4DFB-800E-4134EE0F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62B7BA10-1774-404C-BD0F-59B8E2FB4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B7CFD667-724C-44CF-A09C-1AABFEE81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E706C2B5-46A6-4D94-A187-B2FF29BA9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40ACC3AD-3B88-4199-A486-2C870594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ECONÔMICO, FINANCEIRO E COMERCIAL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C60EC017-0914-41F6-9C14-4D6A5ADDC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6315A350-3D86-4ACD-8187-8CA1BB038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07DF6DE1-886A-4F60-A3BF-FDA3F6594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88E36CE1-D970-49B2-9F94-D27817E8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9906A3C0-C6A9-4F0D-8783-533120EAA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6145CD5C-7158-4A64-B99D-B847199D7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5809849E-4BBA-4E68-8F0E-F2BB03EEF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0F38369F-5591-4FE9-A64A-D2781D2F9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EXPERT III ILIMITADA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C27F547F-F831-49CD-89B1-ED3EEA739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EB54DBF-DDDD-4A69-9943-84D28FDD1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F89662D8-D857-40DE-8E3C-7CAD9EA53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51A5FA06-FB92-4117-B831-D89EA238F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E64F772-04DE-4AD0-8722-3FC367A07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85C676A1-BD9F-4FF4-84EA-1CCC143E7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941D2D0-8A6E-46AC-BBE9-EBAA87D0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A1B9C198-BA52-4F53-B69A-E12173AFD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75348AAF-33F6-4183-A266-B04F09FC1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6A5FFF79-EC53-4F37-88DA-11B77ADD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07F1F13D-FE42-4D31-ADAC-A8A88144B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D93AA645-7E00-4F2D-ADFA-6D4DA8C93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30AF37CD-1824-48E9-AD73-DB11A3320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FCB84D35-1152-4506-BE2F-0B6D30CE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EFBBAD1F-71E0-4757-97FF-34DF2925F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CDA51FF7-638D-4810-98B6-7B333B11D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OCCAM CRÉDITO CORPORATIVO 30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1733BD97-51A4-4E99-A2A1-1D94E160E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3,3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8369081C-9E0D-477D-A001-C58A76014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5631177A-A1AA-4A94-8B44-7821AFE0C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50A5344F-971D-4798-922C-939821A68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D2D1785C-29BB-456D-9C74-7ACDA27C8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C36F9E3A-D127-49E0-9591-0D8A74EB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5BB4EFA7-0F7D-4E06-AA58-D86735452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F3A32952-213B-47FB-8D9D-59D2E96A6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5B0B3F66-8437-4063-A42E-3DCA468D2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3,2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29A3D1D0-2B73-40C8-A672-DC988759D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EA71F7D8-FD31-408B-A229-9A8EA8D74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7D4F2C0F-79F5-434D-B6DC-9E7C2212C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AA3FE4E4-629F-4E4C-A4CC-2C659CED8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EADD4539-3D2C-456E-8457-8020AFB1D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B726316E-3922-4037-9D3D-DED014FFB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83D8EC3A-3CE1-4DB2-8835-4BC091DD8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PCG - BRASIL MULTICARTEIRA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4B816EE9-2E44-4656-A3A9-A1852EA91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280E63ED-329E-4523-A492-6A646E03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AF04819F-D75A-42A1-848E-972C3DC8F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A4E9A73E-354E-4E1E-8883-42B0234DD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0832C596-EF1D-4DA2-AABA-E709892C4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0EAED00F-9893-43A9-BD2C-D47C004AC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D7B3A5B9-B02C-4606-8B12-6736B9C3C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45CE3B46-3BCE-49AD-A2BC-C7A935D8E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CARNIVAL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DFBAFFC8-32CF-45CF-AB3D-118AA218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3B2674E3-FDD9-4C1A-8F8C-A47CE22E5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9C72942B-3655-4839-B38D-E51060CD4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3A87B749-7804-4236-B445-30D7184E2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8E8346B7-A218-4E03-9454-592E615F3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F23D864F-F495-4FBA-8463-063CD85FE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6D861C64-C9DF-4F84-A5DD-F69836C89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9269E083-CCF4-4EC2-9D37-24EF7DA8C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97BB19B8-9555-4D99-8253-F88E6D9AD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24B4643C-AAE0-4611-8B4D-CE0F5E5A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C92F2B82-1A6B-47DB-89AB-EBCEDB1D1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A69750AB-7CCC-4AC4-B16C-7A94C7FE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BAB53EE3-9D45-43AC-B659-1D2CBAF1D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7D8A57DA-46F3-49EB-87F3-1BB24F45F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43E0F2BE-3032-48E2-A6A5-E5C82A94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B1FB687E-CE9C-4DA8-9B03-1F4F39452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GSR NÃO PADRONIZADOS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81ADF670-63A2-4EC7-B66E-5F35F947B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8F30D8A7-CC4A-4CF3-822C-B00E5E092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B52EE444-44B9-49E1-AF58-712383A9A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C81E8D8F-B6D7-45A2-AC02-FF64F39B7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</p:spTree>
    <p:extLst>
      <p:ext uri="{BB962C8B-B14F-4D97-AF65-F5344CB8AC3E}">
        <p14:creationId xmlns:p14="http://schemas.microsoft.com/office/powerpoint/2010/main" val="22547777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32645E0-BFA4-42CE-8713-86D66D8A4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BAA7CD-EF86-477E-8CA4-BB6AF262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7,8% dos fundos e 34,0%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FA9B54-E635-4BCD-A094-E83AD0E2B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8AB9DC-B19E-46BE-9528-8117BDAD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EF61AC-EEF2-45B6-9AD4-4E7D69A8B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mai/26. Definição mono: mesmo conglomerado normalizado em administração, gestão e custódia.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06E3D7-41BF-4E9A-A5F8-684616FA3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ff38db4a6594fbc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2B15DA-9BD4-4289-926A-91DB78804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C36537-97DD-4398-8F35-833FFEC71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A8A492-C4D6-4D27-B19A-D23C1ACA8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3B0055-2ED0-4764-8FD7-5B34AFED6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779DF2-EAF4-4F12-8487-A5348685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331 · R$ 326,1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F28FEE-3391-49FB-84F9-2A5CD8A6E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EF0A61-2A6E-49B4-BFED-183B94B4D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345FF0-A2A1-4772-87AF-4F41AF04C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42 · R$ 34,8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D71A4C-CF91-4A36-A9C6-A2F6FA868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9F5F35-2F92-43F8-A832-92FEBC773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8C13FC-8004-4FFC-86C4-02109D7C5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3.371 · R$ 511,5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80815F-AD4C-44E3-AD9D-C6E3B31C3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798606-D9A8-42C3-B0B7-7F5789A2E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556259-A919-4B7A-B141-E24E456AE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44 · R$ 19,2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B7C033-A267-4505-89FE-C12BA949F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A93F9B-3541-4591-9313-77D2A84BF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D673F8-96A8-4266-A1B9-D1CF3FA2C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355 · R$ 55,6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30C753-C9E1-4F31-A705-6A84C875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BA33B85-BAEF-4720-B1D1-E2E07FE5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EF8DA2-4F86-474B-A2AD-5A7021B1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79 · R$ 11,5 bi</a:t>
            </a:r>
          </a:p>
        </p:txBody>
      </p:sp>
    </p:spTree>
    <p:extLst>
      <p:ext uri="{BB962C8B-B14F-4D97-AF65-F5344CB8AC3E}">
        <p14:creationId xmlns:p14="http://schemas.microsoft.com/office/powerpoint/2010/main" val="1813764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6B40A6F-A4B4-461C-9B34-35C1140EF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497314-D95F-4475-8E0F-5ED973A3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9B00AF-B392-4949-BC2E-4F297651A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D9406E-F6BA-4820-9A94-A65FEC001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28ECBB-A328-4152-B1B8-62CD59677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mai/26. A evidência mostra concentração; não permite inferir preços, propostas ou contratos.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206671-B058-45BA-8957-A4C6DF710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95197F-EB7C-4700-80C7-BC78D06C6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D65916-05CE-49EE-B0AC-0DCE642CA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9BB459-CB5A-48CE-BDCB-507718CBD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C9F071-0F50-4055-B3F3-C96613D25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DA94D4-A490-4F95-9A3E-AA59DABCF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E58E5E-935C-475A-8CBB-C7C7B7A2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07E26A-9279-47D1-9C7E-12C16755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465BB8-476A-4736-BCCA-2C696B677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409A66-7195-4E8C-B803-D9F289198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3EC295-BFB5-4CA4-AB36-A824C77A8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38268A-9E94-4B22-AF7A-E9CCA5850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CA3CF2-3D12-410D-B6A7-93C250410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74,8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F93EF5-12C9-43B4-B4A3-4DE61BE1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FA4D3A-2A45-4046-BD04-A976CF887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 FUNDO DE INVESTIMENTO EM…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202967-4B2F-4532-B3FB-7C184480C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54,4%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BA7C40-BF28-4535-962C-33B215E0E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63,3%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2F34AD-6E61-4454-8603-FFFF4EB64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0C0A24-E41E-43DB-9828-0733FAD7D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767FB1-7E7E-46C9-9ADA-248474B6F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9CCC63-8487-4343-9BD2-BC3A395E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22705C8-8800-4FEB-BCE3-2DD9E8484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67,7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C5F38D-F581-47EC-BA3C-909008669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0B91EA1-3C58-4853-B69B-3FEBBEA77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CONSIGNADOS II…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1829422-9C77-45E8-93BA-CB42CD7A3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11,7%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BF888E-3E67-4C4E-92DD-2688400DC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34,6%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4B87AB8-1218-47A9-A47F-028E93C0D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6E38310-15F8-45E8-8892-4580278CA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5AB970A-F21E-410B-ACE8-66674CCA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F1A17EA-8B2A-4821-BCFA-32FEFC181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34030A8-E4BD-4246-882A-8C60F3BA2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60,8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6CB650-84A6-4692-B95B-7AF881D3E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2F711FF-FD3C-4D30-9977-0B2D955D4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DO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11EA0B9-BA4D-46DD-AD24-6B06069DA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8FC8613-0A2A-434A-A5DE-7C6FFDD02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1A0D4E8-E837-44D3-9EA7-C06B857A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3076585-2C40-42B4-AB6F-3FA9DDFE4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A92EE09-076B-4A1C-997C-4AB13C3D0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E8B69D3-7A20-44F8-AB9C-CFE4CB2FC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E430511-B761-4952-BE68-6DE2BA3E2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39,4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1D8146C-4779-4A6C-ACBC-DCF5ADC11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F435C23-E308-4CC7-8EFB-91B5C6DF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 FUNDO DE…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24088DB-EFD4-4F65-BDCB-EA9755C4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1789A2F-DF8A-4478-AE86-3D99D380D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51,0%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A185833-5207-40F6-A8B2-261F226E0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3F5FA4F-2A29-4761-B764-4E76C8992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8C3614E-E832-4F2A-89F0-71D7B2D8E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587C478-9CF3-4229-970A-F7109F9F7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3A62694-C67D-464A-BAC1-EBE6D08C7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26,7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A9EC1C7-044C-4059-A862-DA5E73315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85563A7-E32D-4AFC-8F07-5DF415AB8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EM…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C44D5F2-0DB8-4321-B995-7FC2385C0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25,1%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A44BAD7-CD84-4826-B4F4-F66EEA35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CE5E150-C3A6-4844-A6BA-B11379725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F7A5D4C-81ED-4C9C-A982-FF7A26381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DAFBF75-604B-4D5E-B0F0-4D0CC9CB6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31A9FE2-39E5-46B4-84BA-3A803E298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7C3806B-BA61-4769-B788-71CFB6DA6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18,4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3B3BD55-5B20-48EC-886D-4E04EE46C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0F1BC2F-5026-4C0C-886A-1878555CC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 FUNDO DE…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8494F26-8289-4AC8-86C0-44EC5D14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46,8%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E8B2D88-5184-45A0-A12E-6ABF67B35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58,7%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FCE99D8-8834-4D13-A740-88E503610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1A02715-CA47-4066-A273-98D28F733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491C10E-4848-4DF7-8A57-21DFC417C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23B849A-083A-461D-858D-915CE9287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F6CE035-9925-46F2-97BA-756E0B16A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3633317-BC7B-4E19-AD87-72548A66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R$ 60,8 bi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01B0F66-41CD-4AAC-8D26-2E7BA8240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38304F2-CA7B-4710-8246-6E58000B3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6A8CAF8-0DF0-4029-B150-BDC9761EC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989D6DE-1317-4E46-892D-79FED68BC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R$ 40,7 bi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E4E15C4B-7F58-4E13-AA34-F4E84FA55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48 fundos; TAPSO = 54,4% do PL mono.</a:t>
            </a:r>
          </a:p>
        </p:txBody>
      </p:sp>
    </p:spTree>
    <p:extLst>
      <p:ext uri="{BB962C8B-B14F-4D97-AF65-F5344CB8AC3E}">
        <p14:creationId xmlns:p14="http://schemas.microsoft.com/office/powerpoint/2010/main" val="161752955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036E5A-F69E-46D4-85D6-E4CC2CD31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A62076-702E-4D30-A5EB-B6FE6964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Em 2026, 841 ofertas encerradas somam R$ 69,6 bi; ticket médio de R$ 82,7 mi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CE77AE-3006-4C17-A44C-672BE111D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F05428-9AC4-4DBD-850F-D4CE35F25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99113D-1A93-4A46-AEF0-376089FE1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Ofertas Públicas de Distribuição, snapshot de 20/jul/26; encerramentos até 17/jul/26. Unidade = Número do Requerimento; cotas de FIDC, oferta primária, status Oferta Encerrada e valor registrado positivo.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BE0306-75CD-4A23-8DB2-DD9705B8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3B2E21-6A49-4497-AD22-C0C11E5C1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JAN–MAI · VOLUME REGISTRADO E TICKET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B8043E-B1C7-438E-957A-C95840358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3a0323cab0e4b8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262EFB-EE39-4E7F-82E8-3AB483DAC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POR MÊS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E33FEF-4EAA-4915-B310-E34F1B1D3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1621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add7f82dc5e4e49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5D0FBD-0877-407E-AA0D-E631E2D3D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D24B79-2BCE-4816-AD3A-397EF9460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159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A7AFE7-7201-4B5B-944A-6179661FF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5968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69AA89-1CF6-4B57-805F-6BE8D4DF8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3777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1A4A7F-F32E-4493-9856-631E9ABB1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586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189A0B-D0A9-4962-B9D9-B3CAFCEF7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9395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Nov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6BB173-35C5-44D3-B369-036CB50C0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30ABD1-3A85-41FA-9A03-8DE97CF78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4188DC-7763-4B04-8BF9-E890E2B4A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4000500"/>
            <a:ext cx="1127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B046E0-441C-4D5A-963A-F8ED609B9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52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4FE7A1-C73C-4AA0-B2C7-7E40765BD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7650" y="4000500"/>
            <a:ext cx="1127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A9B6FE-763B-4929-A147-B0D2EA747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2875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54A311-574C-4430-9458-54C5AB30B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5275" y="4000500"/>
            <a:ext cx="1127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até 17/jul</a:t>
            </a:r>
          </a:p>
        </p:txBody>
      </p:sp>
      <p:graphicFrame>
        <p:nvGraphicFramePr>
          <p:cNvPr id="53" name=""/>
          <p:cNvGraphicFramePr/>
          <p:nvPr/>
        </p:nvGraphicFramePr>
        <p:xfrm>
          <a:off xmlns:a="http://schemas.openxmlformats.org/drawingml/2006/main" x="571500" y="4438650"/>
          <a:ext xmlns:a="http://schemas.openxmlformats.org/drawingml/2006/main" cx="11049000" cy="1428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98,0%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R$ 79,1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841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R$ 69,6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R$ 82,7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R$ 21,6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89435C-5707-4C30-B002-8CEDF30B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Pessoas físicas representam 4,2% do volume colocado estimado com cobertura de 97,2% do valor registrado. Ticket e público-alvo sustentam uma distribuição predominantemente profissional; presença de varejo permanece localizada.</a:t>
            </a:r>
          </a:p>
        </p:txBody>
      </p:sp>
    </p:spTree>
    <p:extLst>
      <p:ext uri="{BB962C8B-B14F-4D97-AF65-F5344CB8AC3E}">
        <p14:creationId xmlns:p14="http://schemas.microsoft.com/office/powerpoint/2010/main" val="160788722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304998-822A-4F6E-B621-5FACD773F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ORIGINADORES NOMINÁVEIS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D15ECB-C5DB-428B-922C-1B978D254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19 originadores identificados somam R$ 22,0 bi em 2026; cobertura nominal de 31,7%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734F51-4991-459B-9F47-A2A8FE39B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AEA61C-5452-4CC7-90D3-0C16FBC94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98E4C3-2AD2-4F0C-80C3-F2276D3F0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Ofertas Públicas; encerramentos até 17/jul/26. Origem = primeiro match nominal auditável em emissor, ativos-alvo, lastro ou devedores; residual não identificado.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6BD85D-D1F9-4238-ADCE-F7D2C4969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607411-22AB-403C-BBCB-F2CB3FEB5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41B55F-9026-4EA7-99B0-49CB0F65E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685800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3b6b5c78cf74d1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8E5A4F-C6B4-4F28-93B0-38C62887F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381125"/>
            <a:ext cx="3857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TICKET POR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14C3C9-08CB-425B-AFBC-B03912B83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647825"/>
            <a:ext cx="3857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7762875" y="1714500"/>
          <a:ext xmlns:a="http://schemas.openxmlformats.org/drawingml/2006/main" cx="3857625" cy="433387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33375"/>
                <a:gridCol w="1571625"/>
                <a:gridCol w="523875"/>
                <a:gridCol w="714375"/>
                <a:gridCol w="7143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5.500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2.500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2.000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502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1.500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1.250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1.250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585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iFood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MRV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450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Verdecard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450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Paraná 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347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Minerva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270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Pravaler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125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42218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27555B9-97AC-4A0D-9702-FF75C315D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7DB74F-1B19-4D1A-991D-DED1EA1CC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CE3795-EB1C-4387-A8D2-373978CDD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CB848F-87C5-4471-86D1-4DBB3711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CCD151-CF3C-4926-8A87-719A4222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Fontes primárias: CVM, ANBIMA Data e FundosNet. Ofertas consultadas em 20/jul/26.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7C6220-8B9D-4A35-8B03-36EA1E4DA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61B80B-1060-4E25-8A63-3D46A9E53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7460CB-3D17-41AB-AC11-9849EA772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ECF066-6D0E-47C7-94BD-699AD989E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3536D1-82CE-4DBA-B4E4-E909C332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75BC01-A497-4493-80D5-654BBBACE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117ED9-4695-4605-8C7B-8B4884327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98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52370B-85E4-4BD5-BC55-599417DCD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4764A5-5AEE-4E3B-A83B-80A24FA88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4.227 veículos; 4.222 fundos; 31 de maio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73EDFB-17B3-430A-B332-B64B4795D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DA0830-73F1-4E5B-9325-E22C7285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4387C3-B2FA-49D1-8F36-28BECB747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D03DB0-9524-4707-931E-0C5AEF67F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415961-C15C-4F51-ABF2-C9002B2D7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479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91,55% oficial; 0,64% evidência; 5,87% proxy; 1,94%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C93166-7CA3-4CBE-81CC-B7FE71C25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4479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Séries históricas de gestor/custodiante usam cadastro vigente e não são like-for-like.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54BDBB-37CB-4CDD-8975-29B6B8603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3372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3880CE-7502-4796-97A0-04AF6D27B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385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59F9C5-C1AE-4B48-AC5A-356C9832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F357B2-892D-40C5-87AF-6CDB2D573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6230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4.227 veículos; mai/26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F54A4E-2EA1-4CF6-9183-FE2F39E60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não é zero. Aging &gt;360 existe na norma, mas não reconcilia com a Tabela I; visão ex-360 bloqueada.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145E57-32BC-4418-872B-13820602C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35E734-44AD-4D19-A184-286049F05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65E667-7B24-49C9-85AC-549F643C9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667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998DBE-1023-4610-82DC-DD00444FD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7667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mai/26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9DC4E6-7D5A-475D-ABAE-E447FAE5A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87667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subtipo. Top 10 fixo por função; Outros identificados e prestador não informado separados. PL negativo consta no QA.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437307-942A-42DC-824D-1A8DE5E4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8D220D9-A517-449F-8B10-CE9AB6F7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F3D1FAD-F1E7-4576-A99D-217C054AB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1795D56-7C7B-4403-980D-652C70335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5910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4.222 fundos; mai/26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EE40184-7015-4E7C-98B6-A99E598CE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5910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Mesma entidade econômica normalizada nas três funções. Concentração não prova poder de preço ou condições comerciais.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B9D2411-B9D4-492F-B265-AF342DD9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C420337-5C1B-406D-A95B-DE104C89E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85CEDD8-C445-4840-B81C-655C2773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054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encerradas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163099F-1309-482B-B255-93F339BC1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054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até 17/jul/26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DA65E19-1531-48A5-AB85-78D6BE2D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054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de FIDC, oferta primária, status Oferta Encerrada e valor registrado positivo; coorte pela Data de Encerramento; unidade = Número do Requerimento.</a:t>
            </a:r>
          </a:p>
        </p:txBody>
      </p:sp>
    </p:spTree>
    <p:extLst>
      <p:ext uri="{BB962C8B-B14F-4D97-AF65-F5344CB8AC3E}">
        <p14:creationId xmlns:p14="http://schemas.microsoft.com/office/powerpoint/2010/main" val="9686083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290ADF-BCD8-4E0A-A1E9-FA65A5DD7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6E14CE-61A0-4DC5-9C03-F08EF1CAB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76DCA2-FE3E-42CC-9A90-DD5F0A5D8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84CB67-A068-40CD-9A35-2C91160A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68C6E0-A635-4248-B011-9998F7D2D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7FECB0-38E5-41AC-B833-5E89E819A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5b16d0c8fe444cc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06323B-F0ED-48FE-AFEC-2A1B0433F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CVM: maior bucket da Tabela II; Factoring→Fomento; Financeiro→foco financeiro; Agro→Agronegócio; Industrial→Crédito Corporativo; Comercial/Cartão/Serviços→Recebíveis Comerciais; Judicial→Recuperação; Público→Poder Público.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9456D6-F52B-440B-A91E-0E2D1F531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29 PLs negativos (R$ 69,3 mi).</a:t>
            </a:r>
          </a:p>
        </p:txBody>
      </p:sp>
    </p:spTree>
    <p:extLst>
      <p:ext uri="{BB962C8B-B14F-4D97-AF65-F5344CB8AC3E}">
        <p14:creationId xmlns:p14="http://schemas.microsoft.com/office/powerpoint/2010/main" val="1385381304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BED9C2-B1BE-4190-9D12-4D66AC5C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651A94-154F-4EC2-A58F-B3177A0A9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81893E-5691-4F4B-9C2E-86838E7E2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6E3999-1DBA-49EF-8326-8BCDC8FD9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B09D6E-2016-4CFE-B8ED-858E0865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04E59B-0843-4066-A8EE-26D960C67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60670ba8deb465c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BFD3B1-7BA9-43ED-B6EB-A2F767F54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CVM: maior bucket da Tabela II; Factoring→Fomento; Financeiro→foco financeiro; Agro→Agronegócio; Industrial→Crédito Corporativo; Comercial/Cartão/Serviços→Recebíveis Comerciais; Judicial→Recuperação; Público→Poder Público.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95B6FB-409E-437B-AE52-FA6AB512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29 PLs negativos (R$ 69,3 mi).</a:t>
            </a:r>
          </a:p>
        </p:txBody>
      </p:sp>
    </p:spTree>
    <p:extLst>
      <p:ext uri="{BB962C8B-B14F-4D97-AF65-F5344CB8AC3E}">
        <p14:creationId xmlns:p14="http://schemas.microsoft.com/office/powerpoint/2010/main" val="31420301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826342-0C73-4F6C-8FFE-F7E79ACBF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8F8E35-239A-4F44-92DA-91B6DB282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A41F41-2F57-43B6-8DB7-E93CB4377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34DC33-B9B9-4089-8AB7-65D8AE4A6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C067DD-4B6C-4B6D-8751-6A49F5463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A89538-F3B5-4BAD-9513-9D6F35F6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726484efbbc4d0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EFF086-3638-42F6-B46F-D3F138402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CVM: maior bucket da Tabela II; Factoring→Fomento; Financeiro→foco financeiro; Agro→Agronegócio; Industrial→Crédito Corporativo; Comercial/Cartão/Serviços→Recebíveis Comerciais; Judicial→Recuperação; Público→Poder Público.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A12E2A-EECF-409E-A4C3-B75EB66BE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29 PLs negativos (R$ 69,3 mi).</a:t>
            </a:r>
          </a:p>
        </p:txBody>
      </p:sp>
    </p:spTree>
    <p:extLst>
      <p:ext uri="{BB962C8B-B14F-4D97-AF65-F5344CB8AC3E}">
        <p14:creationId xmlns:p14="http://schemas.microsoft.com/office/powerpoint/2010/main" val="427328434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3FD82FA-A6CD-4ABA-A59A-563EE3FFB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F90B21-AD1B-44FA-B4C6-81281034C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R$ 60,8 bi e 6,9%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FD75A2-346F-4BA0-8FA2-925B86A42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F53DD1-F1D6-4788-AD30-EA8443B7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7E2EFD-382D-4D37-BB5C-75DF06DF2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https://fnet.bmfbovespa.com.br/fnet/publico/abrirGerenciadorDocumentosCVM?cnpjFundo=09195235000150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9CBABD-8AE4-4965-816D-BA058F3A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53D75E-3932-4808-AA32-42422FBBA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080306-A15F-478D-B2BF-78F0A424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C6BAB8-1E57-4993-A6CF-5CE6F878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B91721-7557-4903-8FC5-DC57B5B8F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499929-8097-4F78-B99C-FF6985982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643201-AF16-421A-84DD-4F40DB4BE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997FBA-0866-4995-B497-D17A48231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D6FBD2-3421-4276-8939-D118A1C37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60727F-B8FB-4E1D-B8D0-A9427F5B1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057FCC-FB4F-44C2-8FEC-0D2D4BA99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E04344-D963-4D3F-B366-7F8F9D889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1F116A-3363-4F28-8EAC-4CCC3FC2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B1B75B-75CC-45EB-860C-8F548983E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244751-2FA1-4C2F-884C-CD21E7A02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BC432A-9382-474C-851C-22E7BB6D1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8906CA-BDFB-44C8-8F8D-54F357F3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C4CC2B-3C0B-44C9-915F-2BA9B8CD3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816BF9-706D-4335-A05D-4684B36C4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726B35-C6F8-4C1A-BEC2-A5D53CDFE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222117-5CD4-4405-A7B4-93D1AE194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29E956-06B1-4936-A250-B890D68CB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E14384-CB87-495C-BF40-5D25EFF1F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A19410-BC5D-4E26-A2EE-22DC4C81B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122736038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1C11F1B-8BEF-47BA-8CBF-198C0F429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662E38-FC47-4939-AC87-D49A0A45A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R$ 40,7 bi e 4,6%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9114C4-085A-4D7B-A42A-80DB70ABF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C26E17-F095-49C8-A853-2C3041A3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48904A-7F88-4A97-882E-F3D2B828A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https://fnet.bmfbovespa.com.br/fnet/publico/abrirGerenciadorDocumentosCVM?cnpjFundo=26287464000114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A35A24-A9DD-4D47-BAA3-3717E0C9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5FE49E-C653-4851-BA43-51E344CB0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D95BDA-5DBC-4CD1-956B-B28BC018F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A0202D-7873-416B-891A-09A82F49A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4C4AC8-E7B4-4656-963C-F2B45C50D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659A8B-8D02-4263-9216-9A9869501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4527DD-59FB-43B2-A307-18C2F42A9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5952F1-2F0B-41F1-8BCF-8584E3AC1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BF6020-B861-42CF-83B5-FAA966791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0F3575-8FC7-4057-8922-5B8FADEA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0464ED-F5DC-450D-8814-CFB7CF4E0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5D2552-71C5-44CF-8A3C-C9269F49E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B5C660-4DF4-43D1-AB85-B61D05AF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EA6BB2-5A50-4824-ABAF-3DD67AEA9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BA027C-27DF-48EE-B899-BD27E02D5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0B9BCF-8F3A-42B4-A434-83E89E38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DF811F-CD5F-4D98-9240-EAFB2D035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70590C-AF72-4E42-8292-66AAEBEAE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7C7ADF-8E1C-4EA2-A7E8-64C45DDE1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5631BD-E9FF-4E34-99FC-26FAAF34A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45D099-401E-4844-BA4E-B1BBE725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ABFA97-086A-4607-80B6-FDF7C27A2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713BE0-87DB-4434-99D5-96DAB633E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0B503EA-70FF-4177-A4A1-0ED78D064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371224972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04C763-49C3-467D-9A20-CE1532204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093DF7-C3D8-4766-BB35-8697B42B7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A9C331-14D7-41D5-B571-7BF5B172A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BCC4C7-43E2-4CAF-8270-6773F1749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C18DAF-82FC-418B-BD83-FB2E50DD2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https://fnet.bmfbovespa.com.br/fnet/publico/abrirGerenciadorDocumentosCVM?cnpjFundo=62393679000183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A0F31D-3FD4-4ADF-85FF-565EDC32B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77A766-3F9F-4940-B4D9-BA3D0D3F1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C20BB6-C855-4C1E-A473-A63692F18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0E8A79-0ED4-4E75-BE67-F603B1F2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AECE33-1C03-450E-9931-D9208A8A6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ECCC3B-13F8-4EEA-A151-2B63CAF31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3B3B41-6915-4B78-9A5E-AA762A6B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2B83D7-B683-4EEE-A188-25A8A8FA1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B1B122-4A5F-4AB8-9B00-B51C5E457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0F0B6B-74E6-4377-BE1C-B861BB63C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E999AF-773E-436D-B326-5D29DE6C8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348212-B189-433B-83BA-C090EFD2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803C09-22C2-40BD-B149-6E92028EF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0B5F5C-E17D-4E63-8264-8F8043802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B7F498-880F-4222-8681-D659F9EE7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EFCB22-69BF-4760-859C-4AC3B545D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R$ 5.500 bi | doc. 1166893 || 2025-09-16 | encerramento de oferta secundária da 1ª série | R$ 4.200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E16C41-0AEC-4D7C-B284-FCC79D260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601912-0BB4-443D-B075-B8CA359EA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DE73BF-C25D-4FE4-8C35-22FE91C0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4B31BA-50BD-461F-A0BD-1969BAC2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A414D9-F801-4BB9-8FE4-9B9CCB57B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0C41DB-648F-4030-996E-19B8C5B0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5CF974-68DE-40C5-853B-9CEA648E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E9E1782-CFC1-4702-A3CB-93BB3043D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208764038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821FC5-BF81-49CC-963D-B00699676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4CA6E8-8B06-4406-804B-60DF411C3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Itaú Crédito Privado — R$ 8,6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1BD046-3F71-4601-9EEF-5326792A3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0F875C-EAF6-4BAB-BDF8-7ED242D1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61AAB8-31F0-49D4-B99C-5FC6A682E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https://fnet.bmfbovespa.com.br/fnet/publico/abrirGerenciadorDocumentosCVM?cnpjFundo=53286499000101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27FA39-5ED9-4CF5-9E29-60F291E0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69FD32-E798-483D-B877-F0F0E238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C614A9-A147-4249-A113-ADEA736BD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02C634-C924-4E99-BB90-FB6A99CB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35DD3F-1267-4F3E-8CCA-20DFC40CC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9378CA-E1B5-4F59-A63A-12FBFEF72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como entidade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E10A99-1C16-423D-909C-59A9B611D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10B263-BEA8-4E3A-BE92-43D7F5943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9AB0E8-EBFC-4EC0-8871-309C2259C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74BA33-55E1-4CFA-9292-8F43D87E1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29B129-2E60-455A-A653-8F08CF154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4DC3D4-8FC8-42DD-A180-5F85733D6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2CE639-099E-49B6-9D32-164DD3478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DB99ED-4A70-4C23-98F8-A3F02E3A0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D4E99A-E571-4AC4-980B-4B8464198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C0F6B3-AAA9-404D-9926-5ECC1ABD3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6B5579-D770-4FC7-B40B-CF594C176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3F9455-AB20-4470-884F-3D261A1BE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0A8518-2B3B-438D-A4FA-CA8F56BA8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6C94AE-ACB2-44EA-BEEB-A63DC98B7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06C26F-4FF8-417A-A23B-CFD64D017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BD1E37-E0EC-416E-9C84-D0C5992A2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20BA62-9756-40B4-AA51-FF499CC04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AE96BB-C3D0-4CB3-8C63-AAF1FDDC2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797640587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8DA87BC-2D76-47F6-9421-B85B380CE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70BD1D-ED1B-4F28-9F48-65FDC1F23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Esperanza — R$ 8,4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60EA45-A46E-48ED-A353-E1DD887A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6C4236-1894-4921-BF9B-DD67743B3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2EBE60-6612-4CF5-8953-74B522024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https://fnet.bmfbovespa.com.br/fnet/publico/abrirGerenciadorDocumentosCVM?cnpjFundo=53263761000100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DFF358-5799-49DF-9326-410C2693E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73449D-CF6B-430F-8AC4-7C5DDCC3A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53.263.761/0001-00 · ESPERANZA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998AB6-DEA1-4EF2-BE62-EBB262299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E45B57-31B1-4753-B1BA-2B10CD0CF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53915F-841E-4923-870F-7C1492E41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2A0A2F-FD58-4F9B-85FE-00647087D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888992-A95A-40A3-AEAD-6903BBE15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EF5CA3-454D-44B2-A829-48F06C3D0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União, estados, municípios, autarquias, fundações e demais devedores de créditos vencidos ou litigiosos, conforme o direito adquirido.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C4D0EA-6C33-4A68-AE36-4EA5D20B1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9EAF54-9275-49D4-B8C5-9A209FCF1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em litígio, penhorados ou dados em garantia; direitos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449DA4-F73C-4327-8002-F634D9F1E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0F57FD-315F-47C5-8674-8072C5403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gestor seleciona direitos judiciais/NPL e outros créditos não padronizados. O regulamento permite aquisição com ou sem coobrigação do cedente.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415C1F-00E5-4C20-88C2-13CA0BB11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09BD61-BE2B-477E-9E5A-61192CE68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9A792D-1494-4EA4-B00D-DC0133230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F187AB-A0D4-441C-BA05-719CE4E3B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FFDC59-15DE-4137-9777-B95FF40FC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8AD07F-1F5B-4F60-8642-9621283EA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regulamento prevê subclasses e apêndice de cotas subordinadas; eventual índice deve constar do apêndice/suplemento e não foi identificado com segurança. Garantias: Podem existir no direito adquirido; não há garantia uniforme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F04239-4017-41E0-998A-52B798E2F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289BC5-F90E-463E-A1E5-824739278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REAG JUS GESTÃO DE ATIVOS JUDICIAIS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86DF39-B65F-45E3-A496-C07623A33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C4F100-52F3-4929-ABB1-A3107DFEA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3AC33B-5FDE-439D-89E5-5CC666206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847FCC1-892A-4A8F-AEA7-AAD0E19E1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permite carteira judicial/NPL ampla.</a:t>
            </a:r>
          </a:p>
        </p:txBody>
      </p:sp>
    </p:spTree>
    <p:extLst>
      <p:ext uri="{BB962C8B-B14F-4D97-AF65-F5344CB8AC3E}">
        <p14:creationId xmlns:p14="http://schemas.microsoft.com/office/powerpoint/2010/main" val="162795811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4A3BBA-A333-40F0-8A34-A87B2437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99AB89-C2EB-439B-B0A0-21B1C358A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BTG Consignados II — R$ 7,9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6F04A1-444C-480A-8891-BF6EF3B7C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5E3925-B9F9-410B-8829-6D78E1D27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B655F6-A14D-44D0-ABD6-88E09D055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https://fnet.bmfbovespa.com.br/fnet/publico/abrirGerenciadorDocumentosCVM?cnpjFundo=52242420000188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C999BD-6405-47A4-AECE-4D31414C4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A1C6-F9D3-4959-B17E-A0E4C5476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E6E801-0986-4F21-A56F-F50907C12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770BDF-721B-47F0-AC6F-B7EEDCAE7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E0097F-D3B9-4899-9889-932E02C4F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08C201-F630-4244-ABF6-D8D364514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AF4AB1-B784-4058-B672-B2E8A0C4E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DF5771-9480-40AF-A505-DE9FF8E0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9A2E3F-37A0-4971-B650-59D8A296B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DBF0B1-27F7-4009-91F7-09A48DA37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15558D-D2D2-46A5-B971-BE2F54DFC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3CC3B5-AD48-46D8-B243-7B6E4D0BD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F86D3B-8AFE-44E9-A225-ABCF3287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C0E931-BE92-4A54-97B0-C54FA2C58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E0D6A6-CDA1-40EC-B962-712636EF3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7CD18F-BC6D-448C-966C-BBDC612AE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R$ 2.500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5CA143-CB46-46CF-ADCB-362ABC6C2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5C7B66-3E8C-4458-AE35-2485274A1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E27393-2F35-4CB0-AB5C-39E0460DF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6348E8-41E0-44A6-B5A5-3303714F1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18375C-127B-44F5-845E-9FCF2B82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C03073-8A4D-4B3A-B1B3-2925B17CC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03BB708-AC94-4F7C-A3AD-19541E9B6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B60C2C-1FBD-4900-8CB3-1F292E34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304507653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6ED9C27-A06D-4B03-A9B2-FD26FE087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B4480A-3999-4E21-ACFB-F0FCB8E6E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MT Global · Consignado Privado — R$ 7,8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580815-9B92-4956-8AD5-FC819753D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E97234-2C5B-48A1-B95F-A44C935B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325492-97FC-475C-8205-E2F184FB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https://fnet.bmfbovespa.com.br/fnet/publico/abrirGerenciadorDocumentosCVM?cnpjFundo=63953620000165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1BF04D-1331-4BCF-A654-12EA80DA4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12B510-78C5-4D5A-B7EF-EE5C5B38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B4646E-7178-4C33-AEC5-6A350ECC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6AD2CE-495A-4D48-9DB0-B45705280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BD305D-9536-4C67-886E-2017BBC01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1CF3D1-8DCE-4C3D-9B74-09D6BB6A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 — CNPJ 03.311.443/0001-91, como endossante das CCB.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56DFA7-EED6-40B9-8CC5-455BB572B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22C664-CA71-4269-BAAE-397396BB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em empresas privadas, tomadoras de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E9535D-B1E3-49EE-B23E-0B4B7B6DB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D67694-293C-4DB5-8C47-BC5E9FAAE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 de empréstimo consignado privado, processadas pela infraestrutura Dataprev/CEF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821CB7-357B-467B-8FB1-C4B4FD098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27CCE8-78A6-4CC0-8C6E-115059205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eletronicamente as CCB à classe, sem coobrigação geral;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1F708D-489B-4C87-9734-D6781F782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196A92-0C18-47F1-8296-F119E871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AE50A4-8DA4-4230-A467-3E85EDE02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734E57-3720-4684-BD50-7B75387D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2026-01-08 | aprovação de colocação privada de cotas sênior em vasos comunicantes | R$ 15.000 bi | doc. 1087883; Valor máximo aprovado entre classes; não comprova captação nem pertence integralmente a esta classe. || 2026-01-08 | aprovação de colocação privada de cotas subordinadas da classe Consignado Privado | R$ 0.007 bi | doc. 1087883; Valor máximo aprovado;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26FEA7-E445-4493-BAA1-4597D881F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FB21A8-E85B-4AD1-997C-7C9BDECE4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Índice mínimo de 1% do PL e índice-alvo de 10%; os dois parâmetros não são equivalentes. Garantias: Desconto consignado em folha; cessão/endosso definitivo sem proteção geral contra inadimplência.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2C3632-DA14-4D5E-8F45-C747757A3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B7AC90-C29E-40DE-BFBA-0B3BFAE8D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83215F-EB55-4789-B335-CA5B72CE1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F87424-453E-4773-89E2-BDB95DEC8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8B1780-07E3-4FC6-81AB-816ADFFC6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9F7899-C4F1-4B86-827F-0DE70EF39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Tipo/Foco não identificado no snapshot ANBIMA de 29/12/2025; o anexo documental descreve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466562413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2486D8-3267-46D7-9CCE-D79953A1F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E0EBED-7CDF-4721-976E-1D94FD0EC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PAN Auto — R$ 7,7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D414EB-2562-47C3-8F9F-3D8583265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99C576-5584-40F3-8B1E-3EEBECFD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99C46B-C4E4-4D22-8AAD-476BD35A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https://fnet.bmfbovespa.com.br/fnet/publico/abrirGerenciadorDocumentosCVM?cnpjFundo=65473848000183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B6159C-3227-48BB-A38A-27908CF84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CD1466-CDB8-4453-B1D1-B442F16D4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5F4627-4031-4260-AE7F-071EFF8F9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E781F4-F70C-437A-82F6-BDA22C949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290DB9-19FF-4D60-B7F1-F3542F261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1BE328-C007-48BD-869B-6049AC311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71BB64-F647-4D7D-9D32-8D653F77B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88740E-0039-442C-8F32-2F1D2842B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CF9C89-27BD-40E6-AEBC-B318F2BB3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26713B-6C1B-43CA-BEF2-4EB35241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72C9B0-DC72-4D4A-90AC-2DD953FC1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913DF9-35EF-4921-8761-60DD27E7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8AE363-D456-4D31-9F42-576DECF8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931F34-1AD9-4F87-8A48-6250A0945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80061A-AAD6-4238-816A-B9D966E5F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34C27B-3CAC-498C-BA95-3131F5DA0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CF793F-D505-42EF-82E6-4DD0074D7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F778CA-2099-4942-B522-246E76FF0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 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AE5566-354F-4C9D-82D4-EF46D4A4A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878FD3-1934-41FA-9BB1-E475A96C5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0D9F6B-A107-41D8-92DC-ECDAAF3B1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A2F2E9-B8AB-4A11-B485-091AED194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0EF229-A2DD-4EB4-97F0-1CB02523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8F70E8-AE89-476E-9E38-9FB06BDBC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2110535510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5B531E-B877-4B84-AC9E-E285A8E6D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8649B8-9256-44A3-A9AD-6E9CD1399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30E03D-23A2-4C7B-8D20-EB502FA3F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2B68FD-5232-46E4-BFD8-2AC1C6C7A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7E287A-EDBF-439C-9DA2-5A924C579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https://fnet.bmfbovespa.com.br/fnet/publico/abrirGerenciadorDocumentosCVM?cnpjFundo=52610624000124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44A982-F4D6-4C88-BD32-E37589A7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9366BB-B3F9-47A5-BBC2-959EE4C7D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35EE9F-5A5B-4709-8A8F-9C408CF92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1B376E-F80F-4540-AC41-65A051BBC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7ECCF6-272C-4EB3-83F3-FFEEA95DC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E03A3E-DE0B-4456-8741-03451876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903DD2-08F0-4E36-AB16-106B0297C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06156D-04B3-491A-A99C-85D2D712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18A673-71D5-4961-BE46-9AA14ECF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942D5B-AAFE-495E-A9A6-6E00EBDFF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D25B61-4B78-4582-BCED-4A14F717A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D1DB0F-383E-4827-8266-09E6DF26B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BED8E7-E11D-4135-A2FE-13120D07E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986D0D-3468-4C56-91AE-6B8722775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4B1802-AAA7-480C-A2AF-D8DEE26C1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03E6FD-E8F9-4C56-8CA9-C4329FE6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E75435-2591-484A-AEE0-05356534A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1C385E-2DDE-4C8E-BE27-2FD018F66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431E82-232D-4918-89C3-536DCA204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DAB93F-8086-4DA9-B893-91C20218B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A2D469-D686-442C-B877-416310C97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E93341-BAC4-45AA-843F-D0713F522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78188A-DD04-4D7A-BE64-BA4AF489A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743DB4-B01C-4F2C-B6CE-B97EB6AD8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1326958417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1697FD-55F9-46FC-9EC1-CA39D5D7F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B561CE-60FF-43A9-AEAC-62E9C145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PagSeguro I — R$ 6,7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4A98CB-88A7-4AEA-BADF-A67EB31E1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FE9DA6-992F-44B1-9561-5E4715B7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AC9736-FFE9-42AA-8CD1-62285A13A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https://fnet.bmfbovespa.com.br/fnet/publico/abrirGerenciadorDocumentosCVM?cnpjFundo=28169275000172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321C10-5AFE-4462-81B8-192DE6AC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497E59-63D2-4080-ACB6-9B4FFEDAF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2273B6-705C-4FFC-9C53-3599FD9F1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EBB4DC-B147-41CD-98B1-982E1B45D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70AD77-D99C-4525-AF35-34C680501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D374DF-4911-4D89-BD0D-881F23A69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6A533B-D3C1-4477-8E79-C3404DE97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70BA75-1784-4379-94BF-D06C4EDB8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86D4C5-E33E-4764-8A91-6DCCB7A9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710F62-2B3F-4378-93F7-10516A8DE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F9A40D-4A88-4EE3-B1E4-DDB2115DF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477EA6-8ED6-4E81-BC4C-6ECF2AC88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9CDD09-4A57-473E-A9B5-992252BD8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F4DC70-8146-49D4-8A2D-76949CA80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5938CF-427B-4BE8-B5C9-5E0147578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CF3D7F-CA9D-4501-B600-788DF318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R$ 1.000 bi | doc. 1148251; Valor ofertado; o anúncio de início não comprova colocação. || 2024-11-06 | encerramento da oferta da 3ª série sênior | R$ 1.000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5DB04D-42CD-4EC1-8BFF-C19BBABE0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DE79A3-BB2F-40B9-A9F1-9EB93009B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496B2B-582B-4ABD-8469-E27D63E9E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32FAEE-859F-4ADC-9739-BACBC52D3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B826CB-787B-4E17-9942-59A902698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BE9B81-6669-4508-B3CF-CFBF6FB0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2E4E9C-428D-4BF5-9F31-CE8AC38C4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B90377A-E6B3-44C0-8757-5511DB541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74583378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B5C44B-3A08-4B73-8FC7-829FE1CBC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F11177-7A0F-4E2E-B19C-8D9270C26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8C66A4-FC47-4D4E-888E-CFEBE81A0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FD5A8B-9600-41D4-A569-C9A644F3A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F3D02F-1395-4CA6-B623-AA9A53AF0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https://fnet.bmfbovespa.com.br/fnet/publico/abrirGerenciadorDocumentosCVM?cnpjFundo=26286939000158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DB6081-1CF1-4E7C-A376-A5B7B808C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8A59E0-EDF1-4D18-886D-D71DB9A2A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E393E3-8E45-4BA2-997D-169A2D920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A5A4AE-00EE-4B34-8C30-641543C96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D1B93A-FB50-498E-9927-6036D2AD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00124B-D715-4038-A2FF-0EF2FE3B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1AD3D8-C983-40D2-907B-BDEC5D306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F880B0-B8BF-4F8F-A579-A5B4F0B2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2AC0A7-6CC6-4F63-909F-791EB23FE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7E64E1-C52A-4858-9230-5383428E5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749B30-731B-4AC0-81E4-E8C3A5553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F5369F-318E-496C-A3AC-66F79C030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A9E61A-F48A-4EA5-A8DD-E03B116B1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D61CBA-14F6-4C1B-858F-71524B33F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822E6E-7968-4467-ABC4-E71E21F0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6CB6E6-B000-4EEC-A72B-D54ADA94D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R$ 1.000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315161-2DC4-4927-B092-4A14AB666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560B50-21E2-43E1-A0A4-A3E61F98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27534F-8EA0-4066-BD85-3A8947EC3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32C4C1-C382-432E-BCDD-1F06CE6A6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E3C471-6ED4-429D-AF88-364BC031B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8C55FE0-EB30-4169-9249-D172346BD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755498-650B-418F-95A6-45FE4BFCF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839D17-5229-4888-833C-0302C942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2044998708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22258D-EB84-466F-BD18-BFAE80080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6FF766-7AB0-45E3-915C-7E14D777C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1FAA06-55C7-485D-ABF1-1F643B575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46E0C3-D1D4-464F-96D4-7D624438B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C4468E-6C51-40A8-881E-7D23A2BF3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https://fnet.bmfbovespa.com.br/fnet/publico/abrirGerenciadorDocumentosCVM?cnpjFundo=53216449000158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11CD8C-12A9-4EAF-BDE8-BD8D1C454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8FA110-7EB2-486E-935E-1DA9B8EBC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E6BF44-C970-4E11-9667-58CDCA38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9D9ADE-9B75-4891-BBA0-58B2EE3C5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049F8D-3303-4455-8EA2-D6755E196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758516-83FE-4B96-8D49-C1A022B6B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124B7B-A408-43DE-A7B4-AD998094A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D53EDE-C507-42F5-9E8F-0523C32F7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AFABB4-3694-4E44-8966-BAC17B38B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B9130D-F59D-4D04-8974-5F987EF3D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DEA294-1C17-42DD-88B6-8F5E70DA7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617D6F-B5A7-466E-AFC8-36BFA80D5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3CDAC5-6251-45F6-BE65-42D99A1B4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78BED3-2329-4CE9-9878-43A204294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B3FD33-BBEB-4290-B8FF-EBB91C6C7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DC541A-7692-47C9-BB62-774D78580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A0017D-0B84-4D26-932C-4B3A594F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521838-FA5E-449A-8C01-46C97434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3D8FF8-F645-4D4C-8C19-4A3857F7C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A5D11A-0887-4507-BD4F-2950D9BB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361CF2-E1A1-4B4A-BCB3-BFC94CD50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198BBF-1C68-45C6-B037-E82FA555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A2AA55-1A77-48AC-8097-BFBF7F6D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E60F54-D871-4142-BD57-027B153ED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1718288743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9DD0D14-7E57-41BC-9948-1FE790253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F6FF8A-BF47-4C36-BB3D-11E41E788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BTG Consignados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2F7F38-1673-4D51-A0D8-FC9AD2A0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F8C673-6239-4C52-AC6E-CB8206688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4FEC76-619E-49AD-9B86-89514BFE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https://fnet.bmfbovespa.com.br/fnet/publico/abrirGerenciadorDocumentosCVM?cnpjFundo=50906397000153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7F56A7-10CC-44D6-B37A-953AE47A9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E7D623-094D-4E98-9A0E-87423E24D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F3DCE2-27CE-47B9-A799-CF902F33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CEDED6-3E2F-46E1-88EE-59D5E74C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2A607D-F8EC-4564-A063-F64717B0F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5D0C6F-3E89-4525-A051-C7CEADC7B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DFF925-DF73-46F1-86AC-767691D23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A75B1C-FCE7-43F2-A447-C90459442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91234C-707A-498C-8BDC-CA5F99B60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81681A-E29B-44C3-BBB1-799B1C72F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7B84F2-BF2B-4980-8204-48156C27E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991E44-3BDB-452D-A925-0354CA45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CAB87E-9D99-47E3-BFC0-07C93EEA5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AC1C80-5AC7-418B-93FD-E7CCC2624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33BC10-152E-41D0-AE0F-F96A06816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CE7A40-E6D8-4FCE-AAB0-A9E90A7BF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R$ 11.000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986F02-C0EA-4744-90AA-772B9DB01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7C3FFD-A425-4574-BD02-E81C896F3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46FDF1-2384-4E48-9EA5-B4B5352F6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DB910B-6DC9-4F26-B633-376C50A8A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D34FFC-D74C-4E9F-B616-FCEB3A194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FF9371-6A9E-4FB9-9EC8-2E1A5711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23AA10-1A2D-4AC0-92CC-F8C422C93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1CD9CE1-DF6D-4DB9-9139-8C1C3E792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209608006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1EE7A3-66E5-42D7-B1D5-B21ACC1CF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3ACD83-B8CE-45DA-9020-DE2B7C7DE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Alternative Assets III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22C486-5E76-43C9-BD0B-18AD591DB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074A99-3138-42CF-AFB3-A913B3BA3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922AB9-1F3B-4516-81B8-88CBA53BD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https://fnet.bmfbovespa.com.br/fnet/publico/abrirGerenciadorDocumentosCVM?cnpjFundo=29225241000110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C48671-CD6C-408D-82B5-E7EE9FDB8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9D9AF0-9916-469A-B411-20EB6261E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F8C806-C2E4-46F0-87CB-E2FFBF1D2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A61D04-EBDD-4C8C-B9A0-DD411139C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62861B-C2D0-4959-89BC-D9ECE9639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C8CA9E-07AC-4E05-89F9-86D748CA0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7E381D-496D-4AB0-8474-5B12310AA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9D289A-3433-4228-BF5F-DA8B05C47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899516-9B78-4395-8259-4747F08C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AAC5FD-5CFD-4606-A195-2A18383A7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7784E3-1181-4181-8B12-4AB7F92B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6E3671-2FD2-408F-A6F3-771CF1E6E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59B51-CE64-4EC2-A29F-B58F90210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DD36FD-9D23-4934-A9E0-C8D81746B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49F4B2-5508-47EE-A1C9-B2B47F038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AC33EB-680A-427E-B180-5B856B468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8206B5-D2C6-4F01-B639-9DDB49FB9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ABCF50-47B1-4372-8CBC-702446607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ECD2BB-BB9C-48E7-82A7-3B34A1844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040AA0-4016-4D07-A123-87E9CAB97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5AA2A9-DD1A-4E23-8877-CF3126558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41E254-9C74-48CB-8296-5AF593565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BB73C4-18AB-4D9D-A237-A1B784D7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55DD30-7CAD-4803-84D1-10AF3783F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1512171392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5A7ECF0-8CB2-43F9-9357-AFB9007BD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815FE1-00FB-453E-9A45-2F352ECBA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NC 2025 I — R$ 5,7 bi e 0,6%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7B908B-C1B0-4D3E-86C6-E3448D7C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657D6A-2B32-47D0-8F82-F360FD54B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4FFD18-106B-4734-95C0-D80960AA6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https://fnet.bmfbovespa.com.br/fnet/publico/abrirGerenciadorDocumentosCVM?cnpjFundo=63700113000110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C525A7-E917-49A5-AB83-10A56FB83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4AD0D9-E135-4519-80AA-5884F7068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63.700.113/0001-10 · NC 2025 I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D8D052-9F2F-450C-AD15-CFDF3FDD0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583DFE-8362-494F-98F5-F78DEEAC5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0BAB43-4B6E-43C3-9DBE-73A065A04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7C750E-0E00-4724-ACBB-ACC28E46F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há cedente único nomeado; o gestor pode adquirir direitos nos mercados primário e secundário.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E84814-5CB4-4A36-9E02-9AE94B7B4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18166D-2B51-4B45-B746-06434599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Devedores/emissores dos instrumentos selecionados;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2158B2-B600-4512-80CC-6EAAD3666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C9C042-7B88-438B-95B0-BEC9F7CB5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permitidos pelo art. 2º, XII, do Anexo II da RCVM 175, em qualquer setor; o regulamento exclui os direitos não padronizados do inciso XIII.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A4AA67-EB20-4F0D-93A5-DAA7687C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8414F0-9E9C-449A-A29A-38D2BD3B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concentração setorial contratual e com possibilidade de concentração em um mesmo devedor dentro das condições do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D985B9-C7FA-4A98-A6C9-6175543B4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2CE09E-67FF-4169-BF92-51D0B2D55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9B57CD-BDF3-40EF-AF07-DFF530DAB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1400E4-A74B-4799-B05E-44ACA8BC0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2025-12-09 | incorporação decorrente de cisão parcial do NC 2025 | R$ 5.300 bi | doc. 1057972; Foram incorporadas 4.953.498,00000167 cotas; não foi captação em dinheiro.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572CF8-D185-4342-9D4D-E1593CF86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1830A1-D28C-4A81-80CB-FC1760F8E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única; o regulamento declara que não observa índice de subordinação.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8F6348A-5AD3-449F-92D2-BA454D830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F8BF16-1CDD-4EB9-AB70-58DA062CC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F194ED-88CB-4FB9-B475-53696044F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0502B1-0561-4980-B1C2-681CE2B01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Multicarteiras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evidencia_documental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3E0E13-F008-4DEF-A807-F6D47BB2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0B28CD-4F6F-419C-9679-5E3E5D6AC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Não está no snapshot ANBIMA; o regulamento declara Tipo Outros/Foco Multicarteiras Outros. Tratar como evidência documental, não cadastro oficial da fotografia.</a:t>
            </a:r>
          </a:p>
        </p:txBody>
      </p:sp>
    </p:spTree>
    <p:extLst>
      <p:ext uri="{BB962C8B-B14F-4D97-AF65-F5344CB8AC3E}">
        <p14:creationId xmlns:p14="http://schemas.microsoft.com/office/powerpoint/2010/main" val="45515173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DFB915-AC38-4159-A729-1C042D11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09760E-4B95-4602-BEB2-B6D10341C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Monee I — R$ 5,0 bi e 0,6%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6CE18C-654D-4A16-9A99-0B35979B6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714804-974A-4CDD-971F-75EA8285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B5D274-85F0-474D-8D09-94A76F9E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https://fnet.bmfbovespa.com.br/fnet/publico/abrirGerenciadorDocumentosCVM?cnpjFundo=42922136000107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63DD2A-7A19-48F8-ACCA-FE860338D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E56A9C-540D-42E4-9936-FA5AA9669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0AC7F7-7B33-4E01-8495-D4E38662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B4AD8C-EE28-4FF5-B5C1-9BFF78D9D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993018-551D-486B-9B5F-99E08DDFC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C61528-E4D8-4D47-92F0-EB576A588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BF69B1-0B5E-4B2C-B6FC-97E0702C4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C2299A-AFCC-4B71-A9D6-1661F5A62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08E731-C34C-448E-A23C-065637239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356791-2635-4AC3-B3F2-B7747F2C5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2D3856-A2F7-4A88-A153-6F2D65EE4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266DD3-4B6C-4B3F-9893-E346CBB28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C249C-6F3D-4A8E-BF81-2130F1728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56354D-D54D-4CA4-AE04-A16294E7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5EFC15-DE94-4515-A331-1899659AD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C23B1F-C136-4BF9-A721-97D13EB56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E76670-133A-4C74-B0FF-B852FDE6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AC7B45-8401-4E26-8909-79D4A76F9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D59210-42B8-49B7-A01E-8CB39486D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94396C-001C-489D-9C68-5B55D2693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507B28-B142-4AF2-B56E-275ED9153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CCB424-198A-4231-91D1-E40AB062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6ABAD9-E2BA-4AAF-A369-EC49B69CA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68AA64-D80B-4BE8-B814-A7FC3361F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713988941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D2CA54-378E-4BFC-AC10-B89762EE9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ED7696-3D0E-4591-9CDE-5DE5A21E5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PicPay I — R$ 4,6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C720A4-B2B6-42FA-965E-16D40450C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16EC97-2363-4400-9968-5CB73DC38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78D972-AFA4-470D-9559-C96D9EAAC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https://fnet.bmfbovespa.com.br/fnet/publico/abrirGerenciadorDocumentosCVM?cnpjFundo=32527650000186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708FE4-E608-47F3-BB2D-E8DC8BF7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F240C5-9B8F-4DF9-996F-F9C151616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DAB3E9-EED2-43D9-B1B7-237569E8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D42F42-48D9-41D4-8AB6-AC6FCD9A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247606-1F2C-454F-80D0-1C1B9D5CF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98262A-3D06-4A45-BEFA-BE5C65FB5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160F8D-4DA7-4B00-8F6E-8F2C15911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C4F5AF-0985-4971-AF26-C93191273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B0946B-06B7-425F-A62A-D1DCDE34C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DC579B-6906-4526-AFCC-C534FFE98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6E0483-B3D2-4071-BE61-B10E74F1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D7599B-CAA8-44F7-A828-0FF4FFC29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3F9575-E843-4EEF-8EF1-CF269EAC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84AAA0-80CF-4229-A029-AAD1E8C76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5C9633-6E74-4C2D-B255-96A24703B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D75446-4CF9-4554-A8F9-F6612A174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1239FE-A199-47A4-85BF-8C398A152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C6D0DB-FC23-48CC-8923-5E2D99744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39E931-CC8B-4E9B-A704-5D96E3D84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710FFB-889C-4009-9060-46CBACAE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0CF709-4675-4AD2-894C-EA9C1681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3207C1-1D4F-4D15-8234-0E7C1E8B5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E69C25-BFBE-4093-92DD-19EFD42F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F5A4E45-D502-4A69-9844-9091C5100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182375798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5EEEFE2-2A5F-4E7A-876B-7D3FD4A9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A29BC4-B45B-4063-959C-0B1DE26DF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Artesanal Master — R$ 4,3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62CE4C-36E2-4A2E-BA72-9D350296D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9627EE-CB27-4F4E-89E6-AEE5B8702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3478F5-DC37-49DC-9E03-E6F549FA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https://fnet.bmfbovespa.com.br/fnet/publico/abrirGerenciadorDocumentosCVM?cnpjFundo=30576260000170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7D0D88-A2B3-4FA3-A0C0-D9B350669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B018BF-C4A6-42EC-9971-8DE896E78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87BAEA-F1B3-4B5F-BA35-9747A771B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09B210-ABD5-4BD7-B32A-919CBD365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162901-379D-4A06-9695-791A32DC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F3875E-6A73-4E9E-A1CF-25B57BC87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DC78D4-D972-4EBD-80A1-B710CAC01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655E3B-B39C-4DE1-8E05-8622FAE6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8FBB02-1042-49E3-84D6-B997C59D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D411C0-C8C7-4E07-96A7-A0B9C2F1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358B3E-F46B-4960-9439-7A3EA7881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E5DA47-FCFC-4C66-B3B3-22549CEA7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9DE677-78EA-4AEB-94AC-9E936C7AF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C30BE9-9B76-40DB-B175-FB257AB79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191F6E-975C-4C73-A1C5-220E130E6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F71ECE-3D41-479F-931E-F5B2349A7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F911AA-60CD-49A1-9397-B29F1F1E4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C5B791-E020-49CD-B9D9-581836E58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190558-882B-4172-969A-BA15092DE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43090B-7265-47EC-B07F-7EA82F774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8F2756-9DEA-4CD5-B9E7-FAACAF7D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F9B091-26E9-4AF1-912D-A0DC16D2E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4C26C4-8FC7-455D-8C14-63F5BA2C6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AA930E-6604-47AF-A536-DA1113876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179634005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C6EBED-25F2-4788-9F42-545C68CB1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D8F7B8-B74B-439F-9720-4BEC60305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High Tower NP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C08F64-4967-49B4-A228-52BBE4281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852EC2-BB4E-4DEE-9759-6BDC2333A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155D11-C3D4-43FE-A30F-89BB6E470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https://fnet.bmfbovespa.com.br/fnet/publico/abrirGerenciadorDocumentosCVM?cnpjFundo=51152102000163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61AD4D-938D-48E8-AC06-4CCACCC6C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A02DFB-D7E2-4360-B8A4-13FC00B37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51.152.102/0001-63 · HIGH TOWER FUNDO DE INVESTIMENTO EM DIREITOS CREDITÓRIOS NÃO-PADRONIZADOS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68324A-4484-4EEB-8985-C006FDAB4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1D7EC7-5A8D-4A92-AC7C-6236DCB76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9A09FA-D195-408F-BCE3-745A90889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 / ORIGINADOR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de diferentes setores, em recuperação judicial ou não; nomes não identificados no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Clientes/sacados das cedentes e demais devedores dos direitos adquiridos.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Política ampla de direitos financeiros, comerciais, industriais, imobiliários, de serviços, leasing e contratos de performance futura, inclusive não padronizados. Warrants não foram listados por haver conflito interno entre itens do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FUNCIONAMENTO ECONÔMICO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compra carteiras de cedentes distintos e setores diversos, sob critérios de elegibilidade e cobrança próprios.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910958-64C5-461C-AB80-591D558ED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1F2EB0-26FE-42A7-9400-49F279DD5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B998CD-08A5-4AFC-AAAC-B26B6B5EF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2023-06-22 | lançamento da primeira oferta | R$ 0.100 bi | doc. 487085; Valor máximo; distribuição parcial permitida e colocação integral não comprovada.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subordinada; subordinação mínima de 5% do PL após emissão de cotas sênior. Garantias: Variam por direito; não há garantia uniforme identificada.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/ FOCO ANBIMA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F1A176-F3D5-48C6-AD7E-D22938DA2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A672A9-796F-412D-8B54-3CE056EC2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Outros, com direitos não padronizados amplos. Ata de 06/05/2026 identifica cotista único e administradora em liquidação extrajudicial; reconciliar a denominação dos prestadores com o cadastro CVM.</a:t>
            </a:r>
          </a:p>
        </p:txBody>
      </p:sp>
    </p:spTree>
    <p:extLst>
      <p:ext uri="{BB962C8B-B14F-4D97-AF65-F5344CB8AC3E}">
        <p14:creationId xmlns:p14="http://schemas.microsoft.com/office/powerpoint/2010/main" val="999934446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F6EB50-DA50-4B30-A36D-C8BC08022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C4BFCE-92B2-47B2-90E6-1A566172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Day Maxx 2 — R$ 3,9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E0CF43-ECF4-48C0-BE94-6912938D8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44F686-6D48-4C1B-A021-4AE2386F9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F3A8F2-3F9D-453D-8E2E-12E786DF6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https://fnet.bmfbovespa.com.br/fnet/publico/abrirGerenciadorDocumentosCVM?cnpjFundo=34197588000137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3F436D-F512-44A5-9B26-AC8FC0E1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B8246B-5B52-44F5-9F0C-9B41E0696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94A78D-6FAA-44C3-8AF1-1F28CCF8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D8BBFA-D530-4869-9A9C-DE3CE9009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067267-79AC-473C-9BC7-173850904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96CC08-9B36-4784-AD40-3B83FBC78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A4B5D2-004A-4E70-97BB-6954567CE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8EA845-B56E-429F-BC0E-49E4B4D23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F64303-E99F-4F32-AEE2-2A77115E1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66C897-BA42-4C4A-A408-9EA31527D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06B20F-CD68-4B84-958F-E30B0BACA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26469F-51CA-438D-A29A-6B64CA58D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A1A718-E7C0-4A87-A270-89FFBE649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3C1AAE-82DD-4CF5-B267-2F1D8716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33A92B-84A6-4E53-9F7B-CC96D7584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55B3ED-8C87-4CCF-AE98-841B1F8FD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0C16AE-9CF7-4538-B656-9A20CDE1B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14B5D0-78E4-4620-A9EE-857590AD7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BE0B6D-E663-4C0A-A8EE-1EFEECC86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2E6227-F37D-454C-8143-F90F853A4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83F991-87C3-49E8-BD32-8B4A781E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DB716B-9C58-4BD1-82D0-A11DC7AA1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9DE8D5-EBD6-4DE7-9376-0318E377F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6DA7FE-BEEE-45E9-B1ED-71F8DBAB8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583714087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7A79C31-D0C3-474D-AE74-247FCE708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F42D45-C909-4360-A882-9F03E0F7A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A9BF43-9C56-4EE6-86AD-5DA59E7DA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2AA7AD-AAE4-4DB8-95E5-AE3586C2D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17A9A4-C670-44C2-A034-47A99C2CB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E66EF1-7CD3-4142-BF14-B2D5A8321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7BA00E-764A-4BC2-88DD-5D0E16D0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7E78F0-239A-4DD1-BF9D-4D29223F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A658B5-5EED-4D30-ADA6-4247AA9C2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DAE3C4-FFA7-48C1-895B-0F9F8517F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FA2901-8E69-4760-8969-17BC26F5B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E6774B-3EA1-41CF-A8C7-1EE32FFF3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0FB3BC-41D0-40DD-A960-D72B5BB78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0644C4-5292-4706-9676-449EB7547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MAI/26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435428-2033-471E-8898-FA7BBCF3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AADD02-5145-4ACB-8DDB-F3D44A56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9FA441-04FF-4045-8FDA-4130DB24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R$ 142,2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49B965-3D5A-4911-9D52-3F1577C2C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9DE4D7-14B6-4371-9005-08E6312E8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90BADD-205D-4EF0-9D6B-3A461C1A9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R$ 155,0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B3483A-5BF4-456F-9EB7-9C18ABB56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F5FAB6-A75D-411B-9062-07C0F227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F75D98-D465-4746-8C43-29F425E1F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R$ 153,9 mi · 99,3%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ECD499-880C-4B78-A0BD-F4D7F186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C42F1A-83DB-4101-BBDD-5DC4B6E1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159DD8-65B2-4536-AEC3-B6A6DF0C3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R$ 153,9 mi · 99,95%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4A67B6-52F6-4504-A683-C7B1D79A1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99%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5C5BF-B38E-457B-8582-4594AE02E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10DC89-4EAF-43E0-9D03-447229A7D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4C4046-0E69-47B4-B0EC-F4BC7552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F8A1DC-5EE1-4EBD-8933-287A084E5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0435275-CC0D-435A-AAB7-3BA40F410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005EFC-8C76-44DE-A819-BA905E87F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945F9B3-584D-4B60-9B64-2AE2AAC7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E71E828-7BF6-4110-AF13-DA43BF564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88B9C29-84E0-49D0-AC28-37CEEDEC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F72623-363E-49BE-B2CE-5DFB87A0D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06EE8EC-FCB0-488A-BD62-27F44F241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CB657CE-706B-473A-A01C-C6F127141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418F96D-C825-4E6E-AA2E-B31FDB40E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75AB1AC-0931-4DE1-ADF4-4990E5D3A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D0E4EB2-91DC-4931-A788-31BCB3457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D860C21-BF60-40C7-961B-3904686C8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A9115C1-AD0A-4CAE-9605-A0E3BBD9E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2E2D72F-EE81-4870-9435-9CF06AAD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27F5B61-FB7A-40D4-96B5-2D587A55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470F7CD-73FC-4445-B4B2-AC2CA271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B626867-FA7E-4E57-8748-E1CD254BA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C87184E-CD89-43EB-BA48-3C7794D5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B328275-C9EB-4A5A-8511-D4B19FB3E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A6A8F3E-FED5-4AC9-8717-10BB2E36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314B73C-1E2F-4712-A1B0-BA52248CB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19781D6-BED9-486A-9361-997CB528C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BB2E976-E4A9-4CE2-8440-BAF72ADA0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queda de R$ 16,6 bi no bruto não foi recuperação em caixa: coincide com troca de administrador e mudança de apresentação/mensuração. As DFs registram opinião modificada para 01/01–19/07/24 por inconsistências de lastro e posição. A série não é like-for-like; a subclasse atual também diverge entre DFs e informe mensal.</a:t>
            </a:r>
          </a:p>
        </p:txBody>
      </p:sp>
    </p:spTree>
    <p:extLst>
      <p:ext uri="{BB962C8B-B14F-4D97-AF65-F5344CB8AC3E}">
        <p14:creationId xmlns:p14="http://schemas.microsoft.com/office/powerpoint/2010/main" val="589678196"/>
      </p:ext>
    </p:extLst>
  </p:cSld>
</p:sld>
</file>

<file path=ppt/slides/slide52.xml><?xml version="1.0" encoding="utf-8"?>
<p:sld xmlns:p="http://schemas.openxmlformats.org/presentationml/2006/main" xmlns:a="http://schemas.openxmlformats.org/drawing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p="http://schemas.openxmlformats.org/presentationml/2006/main" xmlns:a="http://schemas.openxmlformats.org/drawingml/2006/main">
        <p:nvSpPr>
          <p:cNvPr id="101" name="Rectangle 101"/>
          <p:cNvSpPr>
            <a:spLocks noGrp="1"/>
          </p:cNvSpPr>
          <p:nvPr/>
        </p:nvSpPr>
        <p:spPr>
          <a:xfrm>
            <a:off x="571500" y="257175"/>
            <a:ext cx="685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p:txBody>
      </p:sp>
      <p:sp xmlns:p="http://schemas.openxmlformats.org/presentationml/2006/main" xmlns:a="http://schemas.openxmlformats.org/drawingml/2006/main">
        <p:nvSpPr>
          <p:cNvPr id="102" name="Rectangle 102"/>
          <p:cNvSpPr>
            <a:spLocks noGrp="1"/>
          </p:cNvSpPr>
          <p:nvPr/>
        </p:nvSpPr>
        <p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8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Varejo ainda marginal, serviços verticalizados e originação em alta; gestão é a função menos concentrada</a:t>
            </a:r>
          </a:p>
        </p:txBody>
      </p:sp>
      <p:sp xmlns:p="http://schemas.openxmlformats.org/presentationml/2006/main" xmlns:a="http://schemas.openxmlformats.org/drawingml/2006/main">
        <p:nvSpPr>
          <p:cNvPr id="103" name="Rectangle 103"/>
          <p:cNvSpPr>
            <a:spLocks noGrp="1"/>
          </p:cNvSpPr>
          <p:nvPr/>
        </p:nvSpPr>
        <p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p:spPr>
      </p:sp>
      <p:sp xmlns:p="http://schemas.openxmlformats.org/presentationml/2006/main" xmlns:a="http://schemas.openxmlformats.org/drawingml/2006/main">
        <p:nvSpPr>
          <p:cNvPr id="104" name="Rectangle 104"/>
          <p:cNvSpPr>
            <a:spLocks noGrp="1"/>
          </p:cNvSpPr>
          <p:nvPr/>
        </p:nvSpPr>
        <p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p:spPr>
      </p:sp>
      <p:sp xmlns:p="http://schemas.openxmlformats.org/presentationml/2006/main" xmlns:a="http://schemas.openxmlformats.org/drawingml/2006/main">
        <p:nvSpPr>
          <p:cNvPr id="105" name="Rectangle 105"/>
          <p:cNvSpPr>
            <a:spLocks noGrp="1"/>
          </p:cNvSpPr>
          <p:nvPr/>
        </p:nvSpPr>
        <p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88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mai/26, salvo ofertas até 17/jul/26. Métricas detalhadas nos slides anteriores e no apêndice.</a:t>
            </a:r>
          </a:p>
        </p:txBody>
      </p:sp>
      <p:sp xmlns:p="http://schemas.openxmlformats.org/presentationml/2006/main" xmlns:a="http://schemas.openxmlformats.org/drawingml/2006/main">
        <p:nvSpPr>
          <p:cNvPr id="106" name="Rectangle 106"/>
          <p:cNvSpPr>
            <a:spLocks noGrp="1"/>
          </p:cNvSpPr>
          <p:nvPr/>
        </p:nvSpPr>
        <p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788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 xmlns:p="http://schemas.openxmlformats.org/presentationml/2006/main" xmlns:a="http://schemas.openxmlformats.org/drawingml/2006/main">
        <p:nvSpPr>
          <p:cNvPr id="107" name="Rectangle 107"/>
          <p:cNvSpPr>
            <a:spLocks noGrp="1"/>
          </p:cNvSpPr>
          <p:nvPr/>
        </p:nvSpPr>
        <p:spPr>
          <a:xfrm>
            <a:off x="571500" y="1219200"/>
            <a:ext cx="53340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· RCVM 175</a:t>
            </a:r>
          </a:p>
        </p:txBody>
      </p:sp>
      <p:sp xmlns:p="http://schemas.openxmlformats.org/presentationml/2006/main" xmlns:a="http://schemas.openxmlformats.org/drawingml/2006/main">
        <p:nvSpPr>
          <p:cNvPr id="108" name="Rectangle 108"/>
          <p:cNvSpPr>
            <a:spLocks noGrp="1"/>
          </p:cNvSpPr>
          <p:nvPr/>
        </p:nvSpPr>
        <p:spPr>
          <a:xfrm>
            <a:off x="571500" y="1409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abertura ao varejo ainda não mudou o perfil da demanda</a:t>
            </a:r>
          </a:p>
        </p:txBody>
      </p:sp>
      <p:sp xmlns:p="http://schemas.openxmlformats.org/presentationml/2006/main" xmlns:a="http://schemas.openxmlformats.org/drawingml/2006/main">
        <p:nvSpPr>
          <p:cNvPr id="109" name="Rectangle 109"/>
          <p:cNvSpPr>
            <a:spLocks noGrp="1"/>
          </p:cNvSpPr>
          <p:nvPr/>
        </p:nvSpPr>
        <p:spPr>
          <a:xfrm>
            <a:off x="571500" y="1638300"/>
            <a:ext cx="5334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 médio de R$ 82,7 mi (mediana R$ 21,6 mi) em 2026, PF com 4,2% do volume colocado e 59% dos fundos acima de R$ 200 mi com até 10 contas: o FIDC segue veículo de captação institucional, não produto de prateleira.</a:t>
            </a:r>
          </a:p>
        </p:txBody>
      </p:sp>
      <p:sp xmlns:p="http://schemas.openxmlformats.org/presentationml/2006/main" xmlns:a="http://schemas.openxmlformats.org/drawingml/2006/main">
        <p:nvSpPr>
          <p:cNvPr id="110" name="Rectangle 110"/>
          <p:cNvSpPr>
            <a:spLocks noGrp="1"/>
          </p:cNvSpPr>
          <p:nvPr/>
        </p:nvSpPr>
        <p:spPr>
          <a:xfrm>
            <a:off x="571500" y="2381250"/>
            <a:ext cx="533400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p:spPr>
      </p:sp>
      <p:sp xmlns:p="http://schemas.openxmlformats.org/presentationml/2006/main" xmlns:a="http://schemas.openxmlformats.org/drawingml/2006/main">
        <p:nvSpPr>
          <p:cNvPr id="111" name="Rectangle 111"/>
          <p:cNvSpPr>
            <a:spLocks noGrp="1"/>
          </p:cNvSpPr>
          <p:nvPr/>
        </p:nvSpPr>
        <p:spPr>
          <a:xfrm>
            <a:off x="571500" y="2476500"/>
            <a:ext cx="53340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FUNÇÕES · CONCENTRAÇÃO</a:t>
            </a:r>
          </a:p>
        </p:txBody>
      </p:sp>
      <p:sp xmlns:p="http://schemas.openxmlformats.org/presentationml/2006/main" xmlns:a="http://schemas.openxmlformats.org/drawingml/2006/main">
        <p:nvSpPr>
          <p:cNvPr id="112" name="Rectangle 112"/>
          <p:cNvSpPr>
            <a:spLocks noGrp="1"/>
          </p:cNvSpPr>
          <p:nvPr/>
        </p:nvSpPr>
        <p:spPr>
          <a:xfrm>
            <a:off x="571500" y="2667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é a atividade menos concentrada</a:t>
            </a:r>
          </a:p>
        </p:txBody>
      </p:sp>
      <p:sp xmlns:p="http://schemas.openxmlformats.org/presentationml/2006/main" xmlns:a="http://schemas.openxmlformats.org/drawingml/2006/main">
        <p:nvSpPr>
          <p:cNvPr id="113" name="Rectangle 113"/>
          <p:cNvSpPr>
            <a:spLocks noGrp="1"/>
          </p:cNvSpPr>
          <p:nvPr/>
        </p:nvSpPr>
        <p:spPr>
          <a:xfrm>
            <a:off x="571500" y="2895600"/>
            <a:ext cx="5334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73787D"/>
                </a:solidFill>
                <a:latin typeface="Arial"/>
                <a:ea typeface="Arial"/>
                <a:cs typeface="Arial"/>
              </a:rPr>
              <a:t>O Top 10 da gestão detém 35,7% do PL ex-FIC em mai/26, contra 71,8% na administração e 72,8% na custódia; no Top 5, 24,2% contra cerca de 50%. É a camada com maior espaço para casas independentes.</a:t>
            </a:r>
          </a:p>
        </p:txBody>
      </p:sp>
      <p:sp xmlns:p="http://schemas.openxmlformats.org/presentationml/2006/main" xmlns:a="http://schemas.openxmlformats.org/drawingml/2006/main">
        <p:nvSpPr>
          <p:cNvPr id="114" name="Rectangle 114"/>
          <p:cNvSpPr>
            <a:spLocks noGrp="1"/>
          </p:cNvSpPr>
          <p:nvPr/>
        </p:nvSpPr>
        <p:spPr>
          <a:xfrm>
            <a:off x="571500" y="3638550"/>
            <a:ext cx="533400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p:spPr>
      </p:sp>
      <p:sp xmlns:p="http://schemas.openxmlformats.org/presentationml/2006/main" xmlns:a="http://schemas.openxmlformats.org/drawingml/2006/main">
        <p:nvSpPr>
          <p:cNvPr id="115" name="Rectangle 115"/>
          <p:cNvSpPr>
            <a:spLocks noGrp="1"/>
          </p:cNvSpPr>
          <p:nvPr/>
        </p:nvSpPr>
        <p:spPr>
          <a:xfrm>
            <a:off x="571500" y="3733800"/>
            <a:ext cx="53340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VERTICALIZAÇÃO</a:t>
            </a:r>
          </a:p>
        </p:txBody>
      </p:sp>
      <p:sp xmlns:p="http://schemas.openxmlformats.org/presentationml/2006/main" xmlns:a="http://schemas.openxmlformats.org/drawingml/2006/main">
        <p:nvSpPr>
          <p:cNvPr id="116" name="Rectangle 116"/>
          <p:cNvSpPr>
            <a:spLocks noGrp="1"/>
          </p:cNvSpPr>
          <p:nvPr/>
        </p:nvSpPr>
        <p:spPr>
          <a:xfrm>
            <a:off x="571500" y="39243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e custódia andam juntas em 87,4% do PL</a:t>
            </a:r>
          </a:p>
        </p:txBody>
      </p:sp>
      <p:sp xmlns:p="http://schemas.openxmlformats.org/presentationml/2006/main" xmlns:a="http://schemas.openxmlformats.org/drawingml/2006/main">
        <p:nvSpPr>
          <p:cNvPr id="117" name="Rectangle 117"/>
          <p:cNvSpPr>
            <a:spLocks noGrp="1"/>
          </p:cNvSpPr>
          <p:nvPr/>
        </p:nvSpPr>
        <p:spPr>
          <a:xfrm>
            <a:off x="571500" y="4152900"/>
            <a:ext cx="5334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73787D"/>
                </a:solidFill>
                <a:latin typeface="Arial"/>
                <a:ea typeface="Arial"/>
                <a:cs typeface="Arial"/>
              </a:rPr>
              <a:t>3.702 fundos (87,7% do total) mantêm as duas funções no mesmo conglomerado em mai/26: 53,4% do PL bruto com gestor terceiro e 34,0% em monoestruturas, com as três funções internalizadas.</a:t>
            </a:r>
          </a:p>
        </p:txBody>
      </p:sp>
      <p:sp xmlns:p="http://schemas.openxmlformats.org/presentationml/2006/main" xmlns:a="http://schemas.openxmlformats.org/drawingml/2006/main">
        <p:nvSpPr>
          <p:cNvPr id="118" name="Rectangle 118"/>
          <p:cNvSpPr>
            <a:spLocks noGrp="1"/>
          </p:cNvSpPr>
          <p:nvPr/>
        </p:nvSpPr>
        <p:spPr>
          <a:xfrm>
            <a:off x="571500" y="4895850"/>
            <a:ext cx="533400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p:spPr>
      </p:sp>
      <p:sp xmlns:p="http://schemas.openxmlformats.org/presentationml/2006/main" xmlns:a="http://schemas.openxmlformats.org/drawingml/2006/main">
        <p:nvSpPr>
          <p:cNvPr id="119" name="Rectangle 119"/>
          <p:cNvSpPr>
            <a:spLocks noGrp="1"/>
          </p:cNvSpPr>
          <p:nvPr/>
        </p:nvSpPr>
        <p:spPr>
          <a:xfrm>
            <a:off x="571500" y="4991100"/>
            <a:ext cx="53340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COMBO COMPLETO</a:t>
            </a:r>
          </a:p>
        </p:txBody>
      </p:sp>
      <p:sp xmlns:p="http://schemas.openxmlformats.org/presentationml/2006/main" xmlns:a="http://schemas.openxmlformats.org/drawingml/2006/main">
        <p:nvSpPr>
          <p:cNvPr id="120" name="Rectangle 120"/>
          <p:cNvSpPr>
            <a:spLocks noGrp="1"/>
          </p:cNvSpPr>
          <p:nvPr/>
        </p:nvSpPr>
        <p:spPr>
          <a:xfrm>
            <a:off x="571500" y="51816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é o banco que mais oferta o pacote adm + gestão + custódia</a:t>
            </a:r>
          </a:p>
        </p:txBody>
      </p:sp>
      <p:sp xmlns:p="http://schemas.openxmlformats.org/presentationml/2006/main" xmlns:a="http://schemas.openxmlformats.org/drawingml/2006/main">
        <p:nvSpPr>
          <p:cNvPr id="121" name="Rectangle 121"/>
          <p:cNvSpPr>
            <a:spLocks noGrp="1"/>
          </p:cNvSpPr>
          <p:nvPr/>
        </p:nvSpPr>
        <p:spPr>
          <a:xfrm>
            <a:off x="571500" y="5410200"/>
            <a:ext cx="5334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73787D"/>
                </a:solidFill>
                <a:latin typeface="Arial"/>
                <a:ea typeface="Arial"/>
                <a:cs typeface="Arial"/>
              </a:rPr>
              <a:t>São 73 FIDCs monoestrutura (R$ 67,7 bi) em mai/26; excluídos os 6 FIDCs proprietários consolidados na DF 1T26 (R$ 28,6 bi), restam 67 FIDCs de terceiros com o combo completo (R$ 39,0 bi).</a:t>
            </a:r>
          </a:p>
        </p:txBody>
      </p:sp>
      <p:sp xmlns:p="http://schemas.openxmlformats.org/presentationml/2006/main" xmlns:a="http://schemas.openxmlformats.org/drawingml/2006/main">
        <p:nvSpPr>
          <p:cNvPr id="122" name="Rectangle 122"/>
          <p:cNvSpPr>
            <a:spLocks noGrp="1"/>
          </p:cNvSpPr>
          <p:nvPr/>
        </p:nvSpPr>
        <p:spPr>
          <a:xfrm>
            <a:off x="6286500" y="1219200"/>
            <a:ext cx="53340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INDEPENDENTES</a:t>
            </a:r>
          </a:p>
        </p:txBody>
      </p:sp>
      <p:sp xmlns:p="http://schemas.openxmlformats.org/presentationml/2006/main" xmlns:a="http://schemas.openxmlformats.org/drawingml/2006/main">
        <p:nvSpPr>
          <p:cNvPr id="123" name="Rectangle 123"/>
          <p:cNvSpPr>
            <a:spLocks noGrp="1"/>
          </p:cNvSpPr>
          <p:nvPr/>
        </p:nvSpPr>
        <p:spPr>
          <a:xfrm>
            <a:off x="6286500" y="1409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Independentes lideram administração e custódia</a:t>
            </a:r>
          </a:p>
        </p:txBody>
      </p:sp>
      <p:sp xmlns:p="http://schemas.openxmlformats.org/presentationml/2006/main" xmlns:a="http://schemas.openxmlformats.org/drawingml/2006/main">
        <p:nvSpPr>
          <p:cNvPr id="124" name="Rectangle 124"/>
          <p:cNvSpPr>
            <a:spLocks noGrp="1"/>
          </p:cNvSpPr>
          <p:nvPr/>
        </p:nvSpPr>
        <p:spPr>
          <a:xfrm>
            <a:off x="6286500" y="1638300"/>
            <a:ext cx="5334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73787D"/>
                </a:solidFill>
                <a:latin typeface="Arial"/>
                <a:ea typeface="Arial"/>
                <a:cs typeface="Arial"/>
              </a:rPr>
              <a:t>QI Tech é nº 1 geral em administração (R$ 122,5 bi) e custódia (R$ 120,6 bi) — escala herdada da Singulare; Oliveira Trust é a maior gestora independente (R$ 34,0 bi, nº 3 geral). Na CBSF, em liquidação desde jan/26, 19% do PL continuante já migrou.</a:t>
            </a:r>
          </a:p>
        </p:txBody>
      </p:sp>
      <p:sp xmlns:p="http://schemas.openxmlformats.org/presentationml/2006/main" xmlns:a="http://schemas.openxmlformats.org/drawingml/2006/main">
        <p:nvSpPr>
          <p:cNvPr id="125" name="Rectangle 125"/>
          <p:cNvSpPr>
            <a:spLocks noGrp="1"/>
          </p:cNvSpPr>
          <p:nvPr/>
        </p:nvSpPr>
        <p:spPr>
          <a:xfrm>
            <a:off x="6286500" y="2381250"/>
            <a:ext cx="533400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p:spPr>
      </p:sp>
      <p:sp xmlns:p="http://schemas.openxmlformats.org/presentationml/2006/main" xmlns:a="http://schemas.openxmlformats.org/drawingml/2006/main">
        <p:nvSpPr>
          <p:cNvPr id="126" name="Rectangle 126"/>
          <p:cNvSpPr>
            <a:spLocks noGrp="1"/>
          </p:cNvSpPr>
          <p:nvPr/>
        </p:nvSpPr>
        <p:spPr>
          <a:xfrm>
            <a:off x="6286500" y="2476500"/>
            <a:ext cx="53340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ORIGINAÇÕES</a:t>
            </a:r>
          </a:p>
        </p:txBody>
      </p:sp>
      <p:sp xmlns:p="http://schemas.openxmlformats.org/presentationml/2006/main" xmlns:a="http://schemas.openxmlformats.org/drawingml/2006/main">
        <p:nvSpPr>
          <p:cNvPr id="127" name="Rectangle 127"/>
          <p:cNvSpPr>
            <a:spLocks noGrp="1"/>
          </p:cNvSpPr>
          <p:nvPr/>
        </p:nvSpPr>
        <p:spPr>
          <a:xfrm>
            <a:off x="6286500" y="2667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ritmo de emissão segue no maior nível da série</a:t>
            </a:r>
          </a:p>
        </p:txBody>
      </p:sp>
      <p:sp xmlns:p="http://schemas.openxmlformats.org/presentationml/2006/main" xmlns:a="http://schemas.openxmlformats.org/drawingml/2006/main">
        <p:nvSpPr>
          <p:cNvPr id="128" name="Rectangle 128"/>
          <p:cNvSpPr>
            <a:spLocks noGrp="1"/>
          </p:cNvSpPr>
          <p:nvPr/>
        </p:nvSpPr>
        <p:spPr>
          <a:xfrm>
            <a:off x="6286500" y="2895600"/>
            <a:ext cx="5334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73787D"/>
                </a:solidFill>
                <a:latin typeface="Arial"/>
                <a:ea typeface="Arial"/>
                <a:cs typeface="Arial"/>
              </a:rPr>
              <a:t>841 ofertas encerradas somam R$ 69,6 bi em 2026 até 17/jul; jan–mai registra R$ 51,5 bi, +15% sobre 2025 e +45% sobre 2024. CloudWalk fez a maior oferta única do ano (R$ 5,5 bi).</a:t>
            </a:r>
          </a:p>
        </p:txBody>
      </p:sp>
      <p:sp xmlns:p="http://schemas.openxmlformats.org/presentationml/2006/main" xmlns:a="http://schemas.openxmlformats.org/drawingml/2006/main">
        <p:nvSpPr>
          <p:cNvPr id="129" name="Rectangle 129"/>
          <p:cNvSpPr>
            <a:spLocks noGrp="1"/>
          </p:cNvSpPr>
          <p:nvPr/>
        </p:nvSpPr>
        <p:spPr>
          <a:xfrm>
            <a:off x="6286500" y="3638550"/>
            <a:ext cx="533400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p:spPr>
      </p:sp>
      <p:sp xmlns:p="http://schemas.openxmlformats.org/presentationml/2006/main" xmlns:a="http://schemas.openxmlformats.org/drawingml/2006/main">
        <p:nvSpPr>
          <p:cNvPr id="130" name="Rectangle 130"/>
          <p:cNvSpPr>
            <a:spLocks noGrp="1"/>
          </p:cNvSpPr>
          <p:nvPr/>
        </p:nvSpPr>
        <p:spPr>
          <a:xfrm>
            <a:off x="6286500" y="3733800"/>
            <a:ext cx="53340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ROUBA-MONTE</a:t>
            </a:r>
          </a:p>
        </p:txBody>
      </p:sp>
      <p:sp xmlns:p="http://schemas.openxmlformats.org/presentationml/2006/main" xmlns:a="http://schemas.openxmlformats.org/drawingml/2006/main">
        <p:nvSpPr>
          <p:cNvPr id="131" name="Rectangle 131"/>
          <p:cNvSpPr>
            <a:spLocks noGrp="1"/>
          </p:cNvSpPr>
          <p:nvPr/>
        </p:nvSpPr>
        <p:spPr>
          <a:xfrm>
            <a:off x="6286500" y="39243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Trocas de administrador movem pouco: 7,2% do estoque</a:t>
            </a:r>
          </a:p>
        </p:txBody>
      </p:sp>
      <p:sp xmlns:p="http://schemas.openxmlformats.org/presentationml/2006/main" xmlns:a="http://schemas.openxmlformats.org/drawingml/2006/main">
        <p:nvSpPr>
          <p:cNvPr id="132" name="Rectangle 132"/>
          <p:cNvSpPr>
            <a:spLocks noGrp="1"/>
          </p:cNvSpPr>
          <p:nvPr/>
        </p:nvSpPr>
        <p:spPr>
          <a:xfrm>
            <a:off x="6286500" y="4152900"/>
            <a:ext cx="5334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73787D"/>
                </a:solidFill>
                <a:latin typeface="Arial"/>
                <a:ea typeface="Arial"/>
                <a:cs typeface="Arial"/>
              </a:rPr>
              <a:t>257 FIDCs mudaram de administrador entre dez/24 e dez/25 (R$ 33,0 bi comparáveis). O maior fluxo bilateral foi Cielo: Oliveira Trust → Bradesco, R$ 8,9 bi; movimentos relevantes seguem eventos societários. Gestão e custódia não têm série observável.</a:t>
            </a:r>
          </a:p>
        </p:txBody>
      </p:sp>
      <p:sp xmlns:p="http://schemas.openxmlformats.org/presentationml/2006/main" xmlns:a="http://schemas.openxmlformats.org/drawingml/2006/main">
        <p:nvSpPr>
          <p:cNvPr id="133" name="Rectangle 133"/>
          <p:cNvSpPr>
            <a:spLocks noGrp="1"/>
          </p:cNvSpPr>
          <p:nvPr/>
        </p:nvSpPr>
        <p:spPr>
          <a:xfrm>
            <a:off x="6286500" y="4895850"/>
            <a:ext cx="533400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p:spPr>
      </p:sp>
      <p:sp xmlns:p="http://schemas.openxmlformats.org/presentationml/2006/main" xmlns:a="http://schemas.openxmlformats.org/drawingml/2006/main">
        <p:nvSpPr>
          <p:cNvPr id="134" name="Rectangle 134"/>
          <p:cNvSpPr>
            <a:spLocks noGrp="1"/>
          </p:cNvSpPr>
          <p:nvPr/>
        </p:nvSpPr>
        <p:spPr>
          <a:xfrm>
            <a:off x="6286500" y="4991100"/>
            <a:ext cx="53340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QUALIDADE DO DADO</a:t>
            </a:r>
          </a:p>
        </p:txBody>
      </p:sp>
      <p:sp xmlns:p="http://schemas.openxmlformats.org/presentationml/2006/main" xmlns:a="http://schemas.openxmlformats.org/drawingml/2006/main">
        <p:nvSpPr>
          <p:cNvPr id="135" name="Rectangle 135"/>
          <p:cNvSpPr>
            <a:spLocks noGrp="1"/>
          </p:cNvSpPr>
          <p:nvPr/>
        </p:nvSpPr>
        <p:spPr>
          <a:xfrm>
            <a:off x="6286500" y="51816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leitura fina da indústria ainda exige curadoria documental</a:t>
            </a:r>
          </a:p>
        </p:txBody>
      </p:sp>
      <p:sp xmlns:p="http://schemas.openxmlformats.org/presentationml/2006/main" xmlns:a="http://schemas.openxmlformats.org/drawingml/2006/main">
        <p:nvSpPr>
          <p:cNvPr id="136" name="Rectangle 136"/>
          <p:cNvSpPr>
            <a:spLocks noGrp="1"/>
          </p:cNvSpPr>
          <p:nvPr/>
        </p:nvSpPr>
        <p:spPr>
          <a:xfrm>
            <a:off x="6286500" y="5410200"/>
            <a:ext cx="5334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 concentra 41,7% do PL ex-FIC na taxonomia ANBIMA e 197 veículos reportam inadimplência acima da carteira (cap de R$ 14,6 bi); a classificação oficial não descreve o lastro dos maiores fundos.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2026-07-20T22:35:55.8720000Z</dcterms:created>
  <dcterms:modified xsi:type="dcterms:W3CDTF">2026-07-20T22:35:55.8720000Z</dcterms:modified>
</coreProperties>
</file>