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3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slides/charts/chart52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slides/charts/chart53.xml" ContentType="application/vnd.openxmlformats-officedocument.drawingml.chart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slides/charts/chart54.xml" ContentType="application/vnd.openxmlformats-officedocument.drawingml.chart+xml"/>
  <Override PartName="/ppt/slides/charts/chart55.xml" ContentType="application/vnd.openxmlformats-officedocument.drawingml.chart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slides/charts/chart56.xml" ContentType="application/vnd.openxmlformats-officedocument.drawingml.chart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slides/charts/chart57.xml" ContentType="application/vnd.openxmlformats-officedocument.drawingml.chart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slides/charts/chart58.xml" ContentType="application/vnd.openxmlformats-officedocument.drawingml.chart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slides/charts/chart59.xml" ContentType="application/vnd.openxmlformats-officedocument.drawingml.chart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charts/chart60.xml" ContentType="application/vnd.openxmlformats-officedocument.drawingml.chart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slides/charts/chart61.xml" ContentType="application/vnd.openxmlformats-officedocument.drawingml.chart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d600467228d41f3" /><Relationship Type="http://schemas.openxmlformats.org/officeDocument/2006/relationships/extended-properties" Target="/docProps/app.xml" Id="R78a34aefc7a94dcd" /><Relationship Type="http://schemas.openxmlformats.org/officeDocument/2006/relationships/officeDocument" Target="/ppt/presentation.xml" Id="R49beaaff30df48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65e60729db4bc1"/>
  </p:sldMasterIdLst>
  <p:notesMasterIdLst>
    <p:notesMasterId xmlns:r="http://schemas.openxmlformats.org/officeDocument/2006/relationships" r:id="R3c212fe7578c46da"/>
  </p:notesMasterIdLst>
  <p:sldIdLst>
    <p:sldId xmlns:r="http://schemas.openxmlformats.org/officeDocument/2006/relationships" id="256" r:id="Rc21468bce75142d0"/>
    <p:sldId xmlns:r="http://schemas.openxmlformats.org/officeDocument/2006/relationships" id="257" r:id="R5d20cb1635ec425c"/>
    <p:sldId xmlns:r="http://schemas.openxmlformats.org/officeDocument/2006/relationships" id="258" r:id="R9673fc0d97114a67"/>
    <p:sldId xmlns:r="http://schemas.openxmlformats.org/officeDocument/2006/relationships" id="259" r:id="Re313c6e26b7b4b56"/>
    <p:sldId xmlns:r="http://schemas.openxmlformats.org/officeDocument/2006/relationships" id="260" r:id="Rdc4ddc487fc441da"/>
    <p:sldId xmlns:r="http://schemas.openxmlformats.org/officeDocument/2006/relationships" id="261" r:id="Rca0e6517af3f4f63"/>
    <p:sldId xmlns:r="http://schemas.openxmlformats.org/officeDocument/2006/relationships" id="262" r:id="R7d1ba7b34be14701"/>
    <p:sldId xmlns:r="http://schemas.openxmlformats.org/officeDocument/2006/relationships" id="263" r:id="Ra21b18ab671e4702"/>
    <p:sldId xmlns:r="http://schemas.openxmlformats.org/officeDocument/2006/relationships" id="264" r:id="R3b08eae4f1b443ef"/>
    <p:sldId xmlns:r="http://schemas.openxmlformats.org/officeDocument/2006/relationships" id="265" r:id="Raf5ebc855b05478e"/>
    <p:sldId xmlns:r="http://schemas.openxmlformats.org/officeDocument/2006/relationships" id="266" r:id="R260ccc64bffe4bc1"/>
    <p:sldId xmlns:r="http://schemas.openxmlformats.org/officeDocument/2006/relationships" id="267" r:id="Rfa8f72e82f8344ec"/>
    <p:sldId xmlns:r="http://schemas.openxmlformats.org/officeDocument/2006/relationships" id="268" r:id="R7ce2e4da898e4a09"/>
    <p:sldId xmlns:r="http://schemas.openxmlformats.org/officeDocument/2006/relationships" id="269" r:id="R00630341e9d94679"/>
    <p:sldId xmlns:r="http://schemas.openxmlformats.org/officeDocument/2006/relationships" id="270" r:id="R91a326d9934447f6"/>
    <p:sldId xmlns:r="http://schemas.openxmlformats.org/officeDocument/2006/relationships" id="271" r:id="R12925324a189430a"/>
    <p:sldId xmlns:r="http://schemas.openxmlformats.org/officeDocument/2006/relationships" id="272" r:id="Rb89404fb7db64645"/>
    <p:sldId xmlns:r="http://schemas.openxmlformats.org/officeDocument/2006/relationships" id="273" r:id="Rf54d79568f83431d"/>
    <p:sldId xmlns:r="http://schemas.openxmlformats.org/officeDocument/2006/relationships" id="274" r:id="Rb44ed651811b4df6"/>
    <p:sldId xmlns:r="http://schemas.openxmlformats.org/officeDocument/2006/relationships" id="275" r:id="R5f534383d3d044b1"/>
    <p:sldId xmlns:r="http://schemas.openxmlformats.org/officeDocument/2006/relationships" id="276" r:id="Rbbada8526d9d4391"/>
    <p:sldId xmlns:r="http://schemas.openxmlformats.org/officeDocument/2006/relationships" id="277" r:id="R27a2ee5162a8491f"/>
    <p:sldId xmlns:r="http://schemas.openxmlformats.org/officeDocument/2006/relationships" id="278" r:id="R847db452ecbd4d67"/>
    <p:sldId xmlns:r="http://schemas.openxmlformats.org/officeDocument/2006/relationships" id="279" r:id="Ra1b875a393d040f6"/>
    <p:sldId xmlns:r="http://schemas.openxmlformats.org/officeDocument/2006/relationships" id="280" r:id="R556e5ecff323437f"/>
    <p:sldId xmlns:r="http://schemas.openxmlformats.org/officeDocument/2006/relationships" id="281" r:id="R063a2c81391f4f8c"/>
    <p:sldId xmlns:r="http://schemas.openxmlformats.org/officeDocument/2006/relationships" id="282" r:id="Rd83706894fe348c5"/>
    <p:sldId xmlns:r="http://schemas.openxmlformats.org/officeDocument/2006/relationships" id="283" r:id="R55a9bc2e609d4b8e"/>
    <p:sldId xmlns:r="http://schemas.openxmlformats.org/officeDocument/2006/relationships" id="284" r:id="R4946f6c361c24eea"/>
    <p:sldId xmlns:r="http://schemas.openxmlformats.org/officeDocument/2006/relationships" id="285" r:id="R9af3021bbc04496c"/>
    <p:sldId xmlns:r="http://schemas.openxmlformats.org/officeDocument/2006/relationships" id="286" r:id="Rf1a6f1c28d08430a"/>
    <p:sldId xmlns:r="http://schemas.openxmlformats.org/officeDocument/2006/relationships" id="287" r:id="R4a27282c8d14497e"/>
    <p:sldId xmlns:r="http://schemas.openxmlformats.org/officeDocument/2006/relationships" id="288" r:id="R96847d3d2da74c17"/>
    <p:sldId xmlns:r="http://schemas.openxmlformats.org/officeDocument/2006/relationships" id="289" r:id="R629aaa877d5245d6"/>
    <p:sldId xmlns:r="http://schemas.openxmlformats.org/officeDocument/2006/relationships" id="290" r:id="R510f904b733644fb"/>
    <p:sldId xmlns:r="http://schemas.openxmlformats.org/officeDocument/2006/relationships" id="291" r:id="R2ff1d34146f3430c"/>
    <p:sldId xmlns:r="http://schemas.openxmlformats.org/officeDocument/2006/relationships" id="292" r:id="R0b64814b83b04ef1"/>
    <p:sldId xmlns:r="http://schemas.openxmlformats.org/officeDocument/2006/relationships" id="293" r:id="R06800af2218c4af3"/>
    <p:sldId xmlns:r="http://schemas.openxmlformats.org/officeDocument/2006/relationships" id="294" r:id="Rc6f09411a28c4d9a"/>
    <p:sldId xmlns:r="http://schemas.openxmlformats.org/officeDocument/2006/relationships" id="295" r:id="Re5962ad58f1d4d3e"/>
    <p:sldId xmlns:r="http://schemas.openxmlformats.org/officeDocument/2006/relationships" id="296" r:id="Rc9b5d47d297c4f87"/>
    <p:sldId xmlns:r="http://schemas.openxmlformats.org/officeDocument/2006/relationships" id="297" r:id="Rffdd7a73f6124b0a"/>
    <p:sldId xmlns:r="http://schemas.openxmlformats.org/officeDocument/2006/relationships" id="298" r:id="R8125041805f64527"/>
    <p:sldId xmlns:r="http://schemas.openxmlformats.org/officeDocument/2006/relationships" id="299" r:id="R0b513c7869a34c08"/>
    <p:sldId xmlns:r="http://schemas.openxmlformats.org/officeDocument/2006/relationships" id="300" r:id="R3be22676dcf24b94"/>
    <p:sldId xmlns:r="http://schemas.openxmlformats.org/officeDocument/2006/relationships" id="301" r:id="R2a3a8af5e16e4396"/>
    <p:sldId xmlns:r="http://schemas.openxmlformats.org/officeDocument/2006/relationships" id="302" r:id="R3b2498169a7643ef"/>
    <p:sldId xmlns:r="http://schemas.openxmlformats.org/officeDocument/2006/relationships" id="303" r:id="Re117f6ecf1b1480e"/>
    <p:sldId xmlns:r="http://schemas.openxmlformats.org/officeDocument/2006/relationships" id="304" r:id="Ra17b86605a5d44f9"/>
    <p:sldId xmlns:r="http://schemas.openxmlformats.org/officeDocument/2006/relationships" id="305" r:id="R04e0464f96264cd5"/>
    <p:sldId xmlns:r="http://schemas.openxmlformats.org/officeDocument/2006/relationships" id="306" r:id="Rf147ecac02fe4ee0"/>
    <p:sldId xmlns:r="http://schemas.openxmlformats.org/officeDocument/2006/relationships" id="307" r:id="Rb45771ad63324776"/>
    <p:sldId xmlns:r="http://schemas.openxmlformats.org/officeDocument/2006/relationships" id="308" r:id="Rf2e3e649f02f4faf"/>
    <p:sldId xmlns:r="http://schemas.openxmlformats.org/officeDocument/2006/relationships" id="309" r:id="R4c623a204c174ceb"/>
    <p:sldId xmlns:r="http://schemas.openxmlformats.org/officeDocument/2006/relationships" id="310" r:id="R7cf297168ca64386"/>
    <p:sldId xmlns:r="http://schemas.openxmlformats.org/officeDocument/2006/relationships" id="311" r:id="R38a03e1694454bbf"/>
    <p:sldId xmlns:r="http://schemas.openxmlformats.org/officeDocument/2006/relationships" id="312" r:id="Re28a8ae9b4634b9f"/>
    <p:sldId xmlns:r="http://schemas.openxmlformats.org/officeDocument/2006/relationships" id="313" r:id="R437aff0385664318"/>
    <p:sldId xmlns:r="http://schemas.openxmlformats.org/officeDocument/2006/relationships" id="314" r:id="R3e1396cee8154cc7"/>
    <p:sldId xmlns:r="http://schemas.openxmlformats.org/officeDocument/2006/relationships" id="315" r:id="Raefa80685aa24f50"/>
    <p:sldId xmlns:r="http://schemas.openxmlformats.org/officeDocument/2006/relationships" id="316" r:id="R3de9b44e693947d5"/>
    <p:sldId xmlns:r="http://schemas.openxmlformats.org/officeDocument/2006/relationships" id="317" r:id="Rf5648ceaf9b44a3b"/>
    <p:sldId xmlns:r="http://schemas.openxmlformats.org/officeDocument/2006/relationships" id="318" r:id="R4e60a8f5c2cb47fa"/>
    <p:sldId xmlns:r="http://schemas.openxmlformats.org/officeDocument/2006/relationships" id="319" r:id="R62ce95ae962d491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d94d1cd4924a39" /><Relationship Type="http://schemas.openxmlformats.org/officeDocument/2006/relationships/slideMaster" Target="/ppt/slideMasters/slideMaster1.xml" Id="R4065e60729db4bc1" /><Relationship Type="http://schemas.openxmlformats.org/officeDocument/2006/relationships/notesMaster" Target="/ppt/notesMasters/notesMaster1.xml" Id="R3c212fe7578c46da" /><Relationship Type="http://schemas.openxmlformats.org/officeDocument/2006/relationships/presProps" Target="/ppt/presProps.xml" Id="Rb6b8f48fbfee4097" /><Relationship Type="http://schemas.openxmlformats.org/officeDocument/2006/relationships/tableStyles" Target="/ppt/tableStyles.xml" Id="Rf0465aa1999f4bab" /><Relationship Type="http://schemas.openxmlformats.org/officeDocument/2006/relationships/slide" Target="/ppt/slides/slide1.xml" Id="Rc21468bce75142d0" /><Relationship Type="http://schemas.openxmlformats.org/officeDocument/2006/relationships/slide" Target="/ppt/slides/slide2.xml" Id="R5d20cb1635ec425c" /><Relationship Type="http://schemas.openxmlformats.org/officeDocument/2006/relationships/slide" Target="/ppt/slides/slide3.xml" Id="R9673fc0d97114a67" /><Relationship Type="http://schemas.openxmlformats.org/officeDocument/2006/relationships/slide" Target="/ppt/slides/slide4.xml" Id="Re313c6e26b7b4b56" /><Relationship Type="http://schemas.openxmlformats.org/officeDocument/2006/relationships/slide" Target="/ppt/slides/slide5.xml" Id="Rdc4ddc487fc441da" /><Relationship Type="http://schemas.openxmlformats.org/officeDocument/2006/relationships/slide" Target="/ppt/slides/slide6.xml" Id="Rca0e6517af3f4f63" /><Relationship Type="http://schemas.openxmlformats.org/officeDocument/2006/relationships/slide" Target="/ppt/slides/slide7.xml" Id="R7d1ba7b34be14701" /><Relationship Type="http://schemas.openxmlformats.org/officeDocument/2006/relationships/slide" Target="/ppt/slides/slide8.xml" Id="Ra21b18ab671e4702" /><Relationship Type="http://schemas.openxmlformats.org/officeDocument/2006/relationships/slide" Target="/ppt/slides/slide9.xml" Id="R3b08eae4f1b443ef" /><Relationship Type="http://schemas.openxmlformats.org/officeDocument/2006/relationships/slide" Target="/ppt/slides/slide10.xml" Id="Raf5ebc855b05478e" /><Relationship Type="http://schemas.openxmlformats.org/officeDocument/2006/relationships/slide" Target="/ppt/slides/slide11.xml" Id="R260ccc64bffe4bc1" /><Relationship Type="http://schemas.openxmlformats.org/officeDocument/2006/relationships/slide" Target="/ppt/slides/slide12.xml" Id="Rfa8f72e82f8344ec" /><Relationship Type="http://schemas.openxmlformats.org/officeDocument/2006/relationships/slide" Target="/ppt/slides/slide13.xml" Id="R7ce2e4da898e4a09" /><Relationship Type="http://schemas.openxmlformats.org/officeDocument/2006/relationships/slide" Target="/ppt/slides/slide14.xml" Id="R00630341e9d94679" /><Relationship Type="http://schemas.openxmlformats.org/officeDocument/2006/relationships/slide" Target="/ppt/slides/slide15.xml" Id="R91a326d9934447f6" /><Relationship Type="http://schemas.openxmlformats.org/officeDocument/2006/relationships/slide" Target="/ppt/slides/slide16.xml" Id="R12925324a189430a" /><Relationship Type="http://schemas.openxmlformats.org/officeDocument/2006/relationships/slide" Target="/ppt/slides/slide17.xml" Id="Rb89404fb7db64645" /><Relationship Type="http://schemas.openxmlformats.org/officeDocument/2006/relationships/slide" Target="/ppt/slides/slide18.xml" Id="Rf54d79568f83431d" /><Relationship Type="http://schemas.openxmlformats.org/officeDocument/2006/relationships/slide" Target="/ppt/slides/slide19.xml" Id="Rb44ed651811b4df6" /><Relationship Type="http://schemas.openxmlformats.org/officeDocument/2006/relationships/slide" Target="/ppt/slides/slide20.xml" Id="R5f534383d3d044b1" /><Relationship Type="http://schemas.openxmlformats.org/officeDocument/2006/relationships/slide" Target="/ppt/slides/slide21.xml" Id="Rbbada8526d9d4391" /><Relationship Type="http://schemas.openxmlformats.org/officeDocument/2006/relationships/slide" Target="/ppt/slides/slide22.xml" Id="R27a2ee5162a8491f" /><Relationship Type="http://schemas.openxmlformats.org/officeDocument/2006/relationships/slide" Target="/ppt/slides/slide23.xml" Id="R847db452ecbd4d67" /><Relationship Type="http://schemas.openxmlformats.org/officeDocument/2006/relationships/slide" Target="/ppt/slides/slide24.xml" Id="Ra1b875a393d040f6" /><Relationship Type="http://schemas.openxmlformats.org/officeDocument/2006/relationships/slide" Target="/ppt/slides/slide25.xml" Id="R556e5ecff323437f" /><Relationship Type="http://schemas.openxmlformats.org/officeDocument/2006/relationships/slide" Target="/ppt/slides/slide26.xml" Id="R063a2c81391f4f8c" /><Relationship Type="http://schemas.openxmlformats.org/officeDocument/2006/relationships/slide" Target="/ppt/slides/slide27.xml" Id="Rd83706894fe348c5" /><Relationship Type="http://schemas.openxmlformats.org/officeDocument/2006/relationships/slide" Target="/ppt/slides/slide28.xml" Id="R55a9bc2e609d4b8e" /><Relationship Type="http://schemas.openxmlformats.org/officeDocument/2006/relationships/slide" Target="/ppt/slides/slide29.xml" Id="R4946f6c361c24eea" /><Relationship Type="http://schemas.openxmlformats.org/officeDocument/2006/relationships/slide" Target="/ppt/slides/slide30.xml" Id="R9af3021bbc04496c" /><Relationship Type="http://schemas.openxmlformats.org/officeDocument/2006/relationships/slide" Target="/ppt/slides/slide31.xml" Id="Rf1a6f1c28d08430a" /><Relationship Type="http://schemas.openxmlformats.org/officeDocument/2006/relationships/slide" Target="/ppt/slides/slide32.xml" Id="R4a27282c8d14497e" /><Relationship Type="http://schemas.openxmlformats.org/officeDocument/2006/relationships/slide" Target="/ppt/slides/slide33.xml" Id="R96847d3d2da74c17" /><Relationship Type="http://schemas.openxmlformats.org/officeDocument/2006/relationships/slide" Target="/ppt/slides/slide34.xml" Id="R629aaa877d5245d6" /><Relationship Type="http://schemas.openxmlformats.org/officeDocument/2006/relationships/slide" Target="/ppt/slides/slide35.xml" Id="R510f904b733644fb" /><Relationship Type="http://schemas.openxmlformats.org/officeDocument/2006/relationships/slide" Target="/ppt/slides/slide36.xml" Id="R2ff1d34146f3430c" /><Relationship Type="http://schemas.openxmlformats.org/officeDocument/2006/relationships/slide" Target="/ppt/slides/slide37.xml" Id="R0b64814b83b04ef1" /><Relationship Type="http://schemas.openxmlformats.org/officeDocument/2006/relationships/slide" Target="/ppt/slides/slide38.xml" Id="R06800af2218c4af3" /><Relationship Type="http://schemas.openxmlformats.org/officeDocument/2006/relationships/slide" Target="/ppt/slides/slide39.xml" Id="Rc6f09411a28c4d9a" /><Relationship Type="http://schemas.openxmlformats.org/officeDocument/2006/relationships/slide" Target="/ppt/slides/slide40.xml" Id="Re5962ad58f1d4d3e" /><Relationship Type="http://schemas.openxmlformats.org/officeDocument/2006/relationships/slide" Target="/ppt/slides/slide41.xml" Id="Rc9b5d47d297c4f87" /><Relationship Type="http://schemas.openxmlformats.org/officeDocument/2006/relationships/slide" Target="/ppt/slides/slide42.xml" Id="Rffdd7a73f6124b0a" /><Relationship Type="http://schemas.openxmlformats.org/officeDocument/2006/relationships/slide" Target="/ppt/slides/slide43.xml" Id="R8125041805f64527" /><Relationship Type="http://schemas.openxmlformats.org/officeDocument/2006/relationships/slide" Target="/ppt/slides/slide44.xml" Id="R0b513c7869a34c08" /><Relationship Type="http://schemas.openxmlformats.org/officeDocument/2006/relationships/slide" Target="/ppt/slides/slide45.xml" Id="R3be22676dcf24b94" /><Relationship Type="http://schemas.openxmlformats.org/officeDocument/2006/relationships/slide" Target="/ppt/slides/slide46.xml" Id="R2a3a8af5e16e4396" /><Relationship Type="http://schemas.openxmlformats.org/officeDocument/2006/relationships/slide" Target="/ppt/slides/slide47.xml" Id="R3b2498169a7643ef" /><Relationship Type="http://schemas.openxmlformats.org/officeDocument/2006/relationships/slide" Target="/ppt/slides/slide48.xml" Id="Re117f6ecf1b1480e" /><Relationship Type="http://schemas.openxmlformats.org/officeDocument/2006/relationships/slide" Target="/ppt/slides/slide49.xml" Id="Ra17b86605a5d44f9" /><Relationship Type="http://schemas.openxmlformats.org/officeDocument/2006/relationships/slide" Target="/ppt/slides/slide50.xml" Id="R04e0464f96264cd5" /><Relationship Type="http://schemas.openxmlformats.org/officeDocument/2006/relationships/slide" Target="/ppt/slides/slide51.xml" Id="Rf147ecac02fe4ee0" /><Relationship Type="http://schemas.openxmlformats.org/officeDocument/2006/relationships/slide" Target="/ppt/slides/slide52.xml" Id="Rb45771ad63324776" /><Relationship Type="http://schemas.openxmlformats.org/officeDocument/2006/relationships/slide" Target="/ppt/slides/slide53.xml" Id="Rf2e3e649f02f4faf" /><Relationship Type="http://schemas.openxmlformats.org/officeDocument/2006/relationships/slide" Target="/ppt/slides/slide54.xml" Id="R4c623a204c174ceb" /><Relationship Type="http://schemas.openxmlformats.org/officeDocument/2006/relationships/slide" Target="/ppt/slides/slide55.xml" Id="R7cf297168ca64386" /><Relationship Type="http://schemas.openxmlformats.org/officeDocument/2006/relationships/slide" Target="/ppt/slides/slide56.xml" Id="R38a03e1694454bbf" /><Relationship Type="http://schemas.openxmlformats.org/officeDocument/2006/relationships/slide" Target="/ppt/slides/slide57.xml" Id="Re28a8ae9b4634b9f" /><Relationship Type="http://schemas.openxmlformats.org/officeDocument/2006/relationships/slide" Target="/ppt/slides/slide58.xml" Id="R437aff0385664318" /><Relationship Type="http://schemas.openxmlformats.org/officeDocument/2006/relationships/slide" Target="/ppt/slides/slide59.xml" Id="R3e1396cee8154cc7" /><Relationship Type="http://schemas.openxmlformats.org/officeDocument/2006/relationships/slide" Target="/ppt/slides/slide60.xml" Id="Raefa80685aa24f50" /><Relationship Type="http://schemas.openxmlformats.org/officeDocument/2006/relationships/slide" Target="/ppt/slides/slide61.xml" Id="R3de9b44e693947d5" /><Relationship Type="http://schemas.openxmlformats.org/officeDocument/2006/relationships/slide" Target="/ppt/slides/slide62.xml" Id="Rf5648ceaf9b44a3b" /><Relationship Type="http://schemas.openxmlformats.org/officeDocument/2006/relationships/slide" Target="/ppt/slides/slide63.xml" Id="R4e60a8f5c2cb47fa" /><Relationship Type="http://schemas.openxmlformats.org/officeDocument/2006/relationships/slide" Target="/ppt/slides/slide64.xml" Id="R62ce95ae962d49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7668ea9f6943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a5197c50744374" /><Relationship Type="http://schemas.openxmlformats.org/officeDocument/2006/relationships/notesMaster" Target="/ppt/notesMasters/notesMaster1.xml" Id="Ra2c7cde0da004a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b777b16d7d4616" /><Relationship Type="http://schemas.openxmlformats.org/officeDocument/2006/relationships/notesMaster" Target="/ppt/notesMasters/notesMaster1.xml" Id="Rc54c07a9634b4d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a67a6db157747eb" /><Relationship Type="http://schemas.openxmlformats.org/officeDocument/2006/relationships/notesMaster" Target="/ppt/notesMasters/notesMaster1.xml" Id="Re1db28fe2603481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f486928bdea43d7" /><Relationship Type="http://schemas.openxmlformats.org/officeDocument/2006/relationships/notesMaster" Target="/ppt/notesMasters/notesMaster1.xml" Id="R4bcd90f6ff2641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4929f135c547b5" /><Relationship Type="http://schemas.openxmlformats.org/officeDocument/2006/relationships/notesMaster" Target="/ppt/notesMasters/notesMaster1.xml" Id="R42253cf4182945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4369503fb14d5f" /><Relationship Type="http://schemas.openxmlformats.org/officeDocument/2006/relationships/notesMaster" Target="/ppt/notesMasters/notesMaster1.xml" Id="R962d2e66360e4d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2b72f916934103" /><Relationship Type="http://schemas.openxmlformats.org/officeDocument/2006/relationships/notesMaster" Target="/ppt/notesMasters/notesMaster1.xml" Id="Rb95d26ab34f840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04b8bf1bdfd4a76" /><Relationship Type="http://schemas.openxmlformats.org/officeDocument/2006/relationships/notesMaster" Target="/ppt/notesMasters/notesMaster1.xml" Id="R1f31f334584147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e707b5af1114d6a" /><Relationship Type="http://schemas.openxmlformats.org/officeDocument/2006/relationships/notesMaster" Target="/ppt/notesMasters/notesMaster1.xml" Id="R035c60a027f24d9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4a6d4420d8746fb" /><Relationship Type="http://schemas.openxmlformats.org/officeDocument/2006/relationships/notesMaster" Target="/ppt/notesMasters/notesMaster1.xml" Id="R877a89198abc46a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8f28cb889bf4cd1" /><Relationship Type="http://schemas.openxmlformats.org/officeDocument/2006/relationships/notesMaster" Target="/ppt/notesMasters/notesMaster1.xml" Id="R73773f9fb0f041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38571ab5c484895" /><Relationship Type="http://schemas.openxmlformats.org/officeDocument/2006/relationships/notesMaster" Target="/ppt/notesMasters/notesMaster1.xml" Id="R19e14327eda64ce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b79e7a846fd49a5" /><Relationship Type="http://schemas.openxmlformats.org/officeDocument/2006/relationships/notesMaster" Target="/ppt/notesMasters/notesMaster1.xml" Id="R0914202d02e947b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769813a524842aa" /><Relationship Type="http://schemas.openxmlformats.org/officeDocument/2006/relationships/notesMaster" Target="/ppt/notesMasters/notesMaster1.xml" Id="Rb568caee8cb04a4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929eebb719d48cf" /><Relationship Type="http://schemas.openxmlformats.org/officeDocument/2006/relationships/notesMaster" Target="/ppt/notesMasters/notesMaster1.xml" Id="Rac58dd7eaa5f438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2b2ae363830461a" /><Relationship Type="http://schemas.openxmlformats.org/officeDocument/2006/relationships/notesMaster" Target="/ppt/notesMasters/notesMaster1.xml" Id="R0820dccd8df64a6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ac4c504b9ac40ed" /><Relationship Type="http://schemas.openxmlformats.org/officeDocument/2006/relationships/notesMaster" Target="/ppt/notesMasters/notesMaster1.xml" Id="R4279145f02964c6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04c6db30ddb416f" /><Relationship Type="http://schemas.openxmlformats.org/officeDocument/2006/relationships/notesMaster" Target="/ppt/notesMasters/notesMaster1.xml" Id="R5d36df377fb64f6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7529e27575a4c0c" /><Relationship Type="http://schemas.openxmlformats.org/officeDocument/2006/relationships/notesMaster" Target="/ppt/notesMasters/notesMaster1.xml" Id="R33c498f7bf374d6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429f893a1094187" /><Relationship Type="http://schemas.openxmlformats.org/officeDocument/2006/relationships/notesMaster" Target="/ppt/notesMasters/notesMaster1.xml" Id="R770df3bcbc444f4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762e53e907d4334" /><Relationship Type="http://schemas.openxmlformats.org/officeDocument/2006/relationships/notesMaster" Target="/ppt/notesMasters/notesMaster1.xml" Id="Rf8ba5324a21048a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789379993ec4646" /><Relationship Type="http://schemas.openxmlformats.org/officeDocument/2006/relationships/notesMaster" Target="/ppt/notesMasters/notesMaster1.xml" Id="R37bda716bf1a481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f44fd70c4234f37" /><Relationship Type="http://schemas.openxmlformats.org/officeDocument/2006/relationships/notesMaster" Target="/ppt/notesMasters/notesMaster1.xml" Id="R53e070edb8dd407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c807d8f85834a89" /><Relationship Type="http://schemas.openxmlformats.org/officeDocument/2006/relationships/notesMaster" Target="/ppt/notesMasters/notesMaster1.xml" Id="R271e34cee4a843e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f107d941f4d4af0" /><Relationship Type="http://schemas.openxmlformats.org/officeDocument/2006/relationships/notesMaster" Target="/ppt/notesMasters/notesMaster1.xml" Id="R8e1a036eba44443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8bbe4eee3054888" /><Relationship Type="http://schemas.openxmlformats.org/officeDocument/2006/relationships/notesMaster" Target="/ppt/notesMasters/notesMaster1.xml" Id="Rb78da88a30e3475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77a1779e4ce489d" /><Relationship Type="http://schemas.openxmlformats.org/officeDocument/2006/relationships/notesMaster" Target="/ppt/notesMasters/notesMaster1.xml" Id="R7a4858a927e14ab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b2e7c474bf24889" /><Relationship Type="http://schemas.openxmlformats.org/officeDocument/2006/relationships/notesMaster" Target="/ppt/notesMasters/notesMaster1.xml" Id="R614cddb145c148c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28ade248d08442c" /><Relationship Type="http://schemas.openxmlformats.org/officeDocument/2006/relationships/notesMaster" Target="/ppt/notesMasters/notesMaster1.xml" Id="R68d34f63c0414c3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5a70b9f6b464fb2" /><Relationship Type="http://schemas.openxmlformats.org/officeDocument/2006/relationships/notesMaster" Target="/ppt/notesMasters/notesMaster1.xml" Id="Rc03cb72e60e343f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025dba388164211" /><Relationship Type="http://schemas.openxmlformats.org/officeDocument/2006/relationships/notesMaster" Target="/ppt/notesMasters/notesMaster1.xml" Id="Rf1d0348edae849b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5167a4cef454337" /><Relationship Type="http://schemas.openxmlformats.org/officeDocument/2006/relationships/notesMaster" Target="/ppt/notesMasters/notesMaster1.xml" Id="Rfa22bd93dc314ea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604f100633c45a5" /><Relationship Type="http://schemas.openxmlformats.org/officeDocument/2006/relationships/notesMaster" Target="/ppt/notesMasters/notesMaster1.xml" Id="R9a87de5ac9014ef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93774ef7493437f" /><Relationship Type="http://schemas.openxmlformats.org/officeDocument/2006/relationships/notesMaster" Target="/ppt/notesMasters/notesMaster1.xml" Id="R813f32fb14e14f6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31a42465feb4909" /><Relationship Type="http://schemas.openxmlformats.org/officeDocument/2006/relationships/notesMaster" Target="/ppt/notesMasters/notesMaster1.xml" Id="Rd6185fdbe749495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e9bfa1899484fcb" /><Relationship Type="http://schemas.openxmlformats.org/officeDocument/2006/relationships/notesMaster" Target="/ppt/notesMasters/notesMaster1.xml" Id="Re26098bb22764ec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ffa1bdcf8ca43e3" /><Relationship Type="http://schemas.openxmlformats.org/officeDocument/2006/relationships/notesMaster" Target="/ppt/notesMasters/notesMaster1.xml" Id="R660416b35f034fa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90a403a21e4d4724" /><Relationship Type="http://schemas.openxmlformats.org/officeDocument/2006/relationships/notesMaster" Target="/ppt/notesMasters/notesMaster1.xml" Id="R38c67643c966453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6fd8a46b62c8425b" /><Relationship Type="http://schemas.openxmlformats.org/officeDocument/2006/relationships/notesMaster" Target="/ppt/notesMasters/notesMaster1.xml" Id="R7cb842ccabda43f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6acaa6e808c4dea" /><Relationship Type="http://schemas.openxmlformats.org/officeDocument/2006/relationships/notesMaster" Target="/ppt/notesMasters/notesMaster1.xml" Id="R7661ffdc4085443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a892ed3450046b6" /><Relationship Type="http://schemas.openxmlformats.org/officeDocument/2006/relationships/notesMaster" Target="/ppt/notesMasters/notesMaster1.xml" Id="R3cd781535a104ec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5d218855df040da" /><Relationship Type="http://schemas.openxmlformats.org/officeDocument/2006/relationships/notesMaster" Target="/ppt/notesMasters/notesMaster1.xml" Id="R994cf64e08334dc5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fb688a363194b6a" /><Relationship Type="http://schemas.openxmlformats.org/officeDocument/2006/relationships/notesMaster" Target="/ppt/notesMasters/notesMaster1.xml" Id="Rc5b59782151c447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6ec0191e1b494e8d" /><Relationship Type="http://schemas.openxmlformats.org/officeDocument/2006/relationships/notesMaster" Target="/ppt/notesMasters/notesMaster1.xml" Id="Rdddf602cace147ca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64a0ea8524041f4" /><Relationship Type="http://schemas.openxmlformats.org/officeDocument/2006/relationships/notesMaster" Target="/ppt/notesMasters/notesMaster1.xml" Id="R17969acc85584de1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de67fd1c4f1a48ef" /><Relationship Type="http://schemas.openxmlformats.org/officeDocument/2006/relationships/notesMaster" Target="/ppt/notesMasters/notesMaster1.xml" Id="R410174563f354422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9da1f6e12fb4f62" /><Relationship Type="http://schemas.openxmlformats.org/officeDocument/2006/relationships/notesMaster" Target="/ppt/notesMasters/notesMaster1.xml" Id="Rbe3219a54f804b53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4f8c3e639154812" /><Relationship Type="http://schemas.openxmlformats.org/officeDocument/2006/relationships/notesMaster" Target="/ppt/notesMasters/notesMaster1.xml" Id="R8a22e1256de34e94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c408bec501dd40fa" /><Relationship Type="http://schemas.openxmlformats.org/officeDocument/2006/relationships/notesMaster" Target="/ppt/notesMasters/notesMaster1.xml" Id="R7222569ee95d484e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a6f4d8592a604ca3" /><Relationship Type="http://schemas.openxmlformats.org/officeDocument/2006/relationships/notesMaster" Target="/ppt/notesMasters/notesMaster1.xml" Id="R093d3af2e2564a44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3b011b326832440b" /><Relationship Type="http://schemas.openxmlformats.org/officeDocument/2006/relationships/notesMaster" Target="/ppt/notesMasters/notesMaster1.xml" Id="R03fdd4f47bcd4e5f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f8ccfee283f24277" /><Relationship Type="http://schemas.openxmlformats.org/officeDocument/2006/relationships/notesMaster" Target="/ppt/notesMasters/notesMaster1.xml" Id="R2ec3eeffb1464c5b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21c0e4af4db948db" /><Relationship Type="http://schemas.openxmlformats.org/officeDocument/2006/relationships/notesMaster" Target="/ppt/notesMasters/notesMaster1.xml" Id="R29f41d5bcc76492e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967529ef05c04dc9" /><Relationship Type="http://schemas.openxmlformats.org/officeDocument/2006/relationships/notesMaster" Target="/ppt/notesMasters/notesMaster1.xml" Id="R716bf2c2f2c24523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7c9002481ebf442d" /><Relationship Type="http://schemas.openxmlformats.org/officeDocument/2006/relationships/notesMaster" Target="/ppt/notesMasters/notesMaster1.xml" Id="R217936e482c54238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9a406550726646fa" /><Relationship Type="http://schemas.openxmlformats.org/officeDocument/2006/relationships/notesMaster" Target="/ppt/notesMasters/notesMaster1.xml" Id="R2d92d44219dd4ab3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a39694fa7d7b487c" /><Relationship Type="http://schemas.openxmlformats.org/officeDocument/2006/relationships/notesMaster" Target="/ppt/notesMasters/notesMaster1.xml" Id="Re533b143e1344ba3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5b65b54060464f27" /><Relationship Type="http://schemas.openxmlformats.org/officeDocument/2006/relationships/notesMaster" Target="/ppt/notesMasters/notesMaster1.xml" Id="Rf6fb55c467454b5f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5cc01f786780406b" /><Relationship Type="http://schemas.openxmlformats.org/officeDocument/2006/relationships/notesMaster" Target="/ppt/notesMasters/notesMaster1.xml" Id="R46bcd5ad3aee4140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9f0aee18be2a4e1c" /><Relationship Type="http://schemas.openxmlformats.org/officeDocument/2006/relationships/notesMaster" Target="/ppt/notesMasters/notesMaster1.xml" Id="R78c7cc9094764ef7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52d10b4bd8594ca8" /><Relationship Type="http://schemas.openxmlformats.org/officeDocument/2006/relationships/notesMaster" Target="/ppt/notesMasters/notesMaster1.xml" Id="R9d1fb8a9510a4ff7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5033342af74e4eb1" /><Relationship Type="http://schemas.openxmlformats.org/officeDocument/2006/relationships/notesMaster" Target="/ppt/notesMasters/notesMaster1.xml" Id="R2995e4f81dbb4f4e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60a1662b1aaf42e3" /><Relationship Type="http://schemas.openxmlformats.org/officeDocument/2006/relationships/notesMaster" Target="/ppt/notesMasters/notesMaster1.xml" Id="R1cdb86f5bb664bc7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aba0ac2e7c5a4ceb" /><Relationship Type="http://schemas.openxmlformats.org/officeDocument/2006/relationships/notesMaster" Target="/ppt/notesMasters/notesMaster1.xml" Id="R405bb7f8ca894f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Tabela: mesma taxonomia analítica do painel e do workbook; quatro tipos + FIC-FIDC reconciliam com o volume emitido.</a:t>
            </a:r>
          </a:p>
          <a:p xmlns:a="http://schemas.openxmlformats.org/drawingml/2006/main">
            <a:r>
              <a:t>- FIDCs 2023: valor encerrado ANBIMA (Boletim de Mercado de Capitais, snapshot mai/26, aba 02-02-Vlr); composição não observada escalada pela composição CVM.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Anexo oficial XLSX, aba 02-02-Vlr e Anexo - Doméstico: https://data-strapi.prd.anbima.com.br/uploads/Boletim_MK_Anexo_8_33b8963678.xlsx</a:t>
            </a:r>
          </a:p>
          <a:p xmlns:a="http://schemas.openxmlformats.org/drawingml/2006/main">
            <a:r>
              <a:t>- Métrica: Valor Encerrado por data de encerramento das ofertas públicas; 2026 considera jan–mai. Debêntures incluem debêntures de securitização.</a:t>
            </a:r>
          </a:p>
          <a:p xmlns:a="http://schemas.openxmlformats.org/drawingml/2006/main">
            <a:r>
              <a:t>- Limitação: o anexo não segrega sistematicamente ofertas primárias e secundárias para renda fixa e fundos e está sujeito a retificações.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19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19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12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competência 2026-06: https://dados.cvm.gov.br/dataset/fi-doc-inf_mensal</a:t>
            </a:r>
          </a:p>
          <a:p xmlns:a="http://schemas.openxmlformats.org/drawingml/2006/main">
            <a:r>
              <a:t>- FundosNet/B3, regulamentos, emissões e assembleias: https://fnet.bmfbovespa.com.br/fnet/publico/abrirGerenciadorDocumentosCVM</a:t>
            </a:r>
          </a:p>
          <a:p xmlns:a="http://schemas.openxmlformats.org/drawingml/2006/main">
            <a:r>
              <a:t>- Leitura documental versionada por CNPJ; documento, data, página, status e lacuna constam na aba Curadoria flagship.</a:t>
            </a:r>
          </a:p>
          <a:p xmlns:a="http://schemas.openxmlformats.org/drawingml/2006/main">
            <a:r>
              <a:t>- Faixas descritivas; não constituem nota de risco. PL e subordinação atual são agregados por família; mínimos e datas de emissão exibem somente valores localizados.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 aba Carteira 1 curadoria preserva raiz e nome fotografados, identidade oficial, PL, subordinação, emissão, tipo, família de referência, documento, página e lacunas por CNPJ.</a:t>
            </a:r>
          </a:p>
          <a:p xmlns:a="http://schemas.openxmlformats.org/drawingml/2006/main">
            <a:r>
              <a:t>- 1 veículo fora da base mensal FIDC foi mantido com status explícito; métricas FIDC não foram imputadas.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Limitação: a base pública recuperada contém sete ofertas legadas encerradas em 2022; o período é parcial e não sustenta Top 15 anual completo.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ANBIMA — anexo oficial XLSX: https://data-strapi.prd.anbima.com.br/uploads/Boletim_MK_Anexo_8_33b8963678.xlsx</a:t>
            </a:r>
          </a:p>
          <a:p xmlns:a="http://schemas.openxmlformats.org/drawingml/2006/main">
            <a:r>
              <a:t>- FundosNet/B3 — documentos públicos usados na conciliação de ratings.</a:t>
            </a:r>
          </a:p>
          <a:p xmlns:a="http://schemas.openxmlformats.org/drawingml/2006/main">
            <a:r>
              <a:t>- Auditoria de perímetro e taxonomia — industry_fic_detection_audit.csv, industry_taxonomy_crosscheck.csv e taxonomy_review_actions.csv; competência 2026-06.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92d60f077749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f0ecf22d2548d3" /><Relationship Type="http://schemas.openxmlformats.org/officeDocument/2006/relationships/slideLayout" Target="/ppt/slideLayouts/slideLayout1.xml" Id="Rd4deee06865a414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deee06865a414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2b1398fd24934" /><Relationship Type="http://schemas.openxmlformats.org/officeDocument/2006/relationships/notesSlide" Target="/ppt/notesSlides/notesSlide1.xml" Id="R54b9c72879a141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850db319114969" /><Relationship Type="http://schemas.openxmlformats.org/officeDocument/2006/relationships/notesSlide" Target="/ppt/notesSlides/notesSlide2.xml" Id="Rf313e4ee984346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87416e3534d13" /><Relationship Type="http://schemas.openxmlformats.org/officeDocument/2006/relationships/chart" Target="/ppt/slides/charts/chart1.xml" Id="Rdd75547820c84c99" /><Relationship Type="http://schemas.openxmlformats.org/officeDocument/2006/relationships/chart" Target="/ppt/slides/charts/chart2.xml" Id="R033a683104984ffa" /><Relationship Type="http://schemas.openxmlformats.org/officeDocument/2006/relationships/chart" Target="/ppt/slides/charts/chart3.xml" Id="Rd49534ece5dd45e3" /><Relationship Type="http://schemas.openxmlformats.org/officeDocument/2006/relationships/notesSlide" Target="/ppt/notesSlides/notesSlide3.xml" Id="Re6db371fb64944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4aa31ce5d6413c" /><Relationship Type="http://schemas.openxmlformats.org/officeDocument/2006/relationships/chart" Target="/ppt/slides/charts/chart4.xml" Id="R25e7b99575eb4ac1" /><Relationship Type="http://schemas.openxmlformats.org/officeDocument/2006/relationships/notesSlide" Target="/ppt/notesSlides/notesSlide4.xml" Id="R5b3adb3fd0c74a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969c508d724960" /><Relationship Type="http://schemas.openxmlformats.org/officeDocument/2006/relationships/chart" Target="/ppt/slides/charts/chart5.xml" Id="R5a071bda1ff14f05" /><Relationship Type="http://schemas.openxmlformats.org/officeDocument/2006/relationships/notesSlide" Target="/ppt/notesSlides/notesSlide5.xml" Id="R256c051aa4c64d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9eacdbc6a4be9" /><Relationship Type="http://schemas.openxmlformats.org/officeDocument/2006/relationships/chart" Target="/ppt/slides/charts/chart6.xml" Id="R8bc49cccc6424c80" /><Relationship Type="http://schemas.openxmlformats.org/officeDocument/2006/relationships/chart" Target="/ppt/slides/charts/chart7.xml" Id="Rcfad96b993e2407f" /><Relationship Type="http://schemas.openxmlformats.org/officeDocument/2006/relationships/chart" Target="/ppt/slides/charts/chart8.xml" Id="R33eb62bf31ea4aa8" /><Relationship Type="http://schemas.openxmlformats.org/officeDocument/2006/relationships/notesSlide" Target="/ppt/notesSlides/notesSlide6.xml" Id="Racee64d179e94c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675a4954b44245" /><Relationship Type="http://schemas.openxmlformats.org/officeDocument/2006/relationships/chart" Target="/ppt/slides/charts/chart9.xml" Id="R621152aadb9f41ef" /><Relationship Type="http://schemas.openxmlformats.org/officeDocument/2006/relationships/chart" Target="/ppt/slides/charts/chart10.xml" Id="R5eb06f49483c4652" /><Relationship Type="http://schemas.openxmlformats.org/officeDocument/2006/relationships/chart" Target="/ppt/slides/charts/chart11.xml" Id="R8b4e68019a144c60" /><Relationship Type="http://schemas.openxmlformats.org/officeDocument/2006/relationships/chart" Target="/ppt/slides/charts/chart12.xml" Id="R054c1f7568844399" /><Relationship Type="http://schemas.openxmlformats.org/officeDocument/2006/relationships/chart" Target="/ppt/slides/charts/chart13.xml" Id="R3ef6926370884646" /><Relationship Type="http://schemas.openxmlformats.org/officeDocument/2006/relationships/notesSlide" Target="/ppt/notesSlides/notesSlide7.xml" Id="R67444b4d140a4f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4cb8d7fef4221" /><Relationship Type="http://schemas.openxmlformats.org/officeDocument/2006/relationships/chart" Target="/ppt/slides/charts/chart14.xml" Id="R200c20f7b4bc493a" /><Relationship Type="http://schemas.openxmlformats.org/officeDocument/2006/relationships/chart" Target="/ppt/slides/charts/chart15.xml" Id="R2adecd89a1cd480b" /><Relationship Type="http://schemas.openxmlformats.org/officeDocument/2006/relationships/chart" Target="/ppt/slides/charts/chart16.xml" Id="Rce8b3a2977e04476" /><Relationship Type="http://schemas.openxmlformats.org/officeDocument/2006/relationships/notesSlide" Target="/ppt/notesSlides/notesSlide8.xml" Id="Rec1343edab174d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57a131fe434bf8" /><Relationship Type="http://schemas.openxmlformats.org/officeDocument/2006/relationships/chart" Target="/ppt/slides/charts/chart17.xml" Id="R986ff67a7ffc43e7" /><Relationship Type="http://schemas.openxmlformats.org/officeDocument/2006/relationships/chart" Target="/ppt/slides/charts/chart18.xml" Id="R26cccec78ced45b9" /><Relationship Type="http://schemas.openxmlformats.org/officeDocument/2006/relationships/chart" Target="/ppt/slides/charts/chart19.xml" Id="R390cc0e400e94ca0" /><Relationship Type="http://schemas.openxmlformats.org/officeDocument/2006/relationships/notesSlide" Target="/ppt/notesSlides/notesSlide9.xml" Id="Ref15b66ad802486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ab2dfcea09459b" /><Relationship Type="http://schemas.openxmlformats.org/officeDocument/2006/relationships/chart" Target="/ppt/slides/charts/chart20.xml" Id="R93ecb2dc1c534c68" /><Relationship Type="http://schemas.openxmlformats.org/officeDocument/2006/relationships/chart" Target="/ppt/slides/charts/chart21.xml" Id="R10e577f5310343c8" /><Relationship Type="http://schemas.openxmlformats.org/officeDocument/2006/relationships/chart" Target="/ppt/slides/charts/chart22.xml" Id="R11fbecb7dce543df" /><Relationship Type="http://schemas.openxmlformats.org/officeDocument/2006/relationships/notesSlide" Target="/ppt/notesSlides/notesSlide10.xml" Id="R54f659b11f88479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fdd783255640c8" /><Relationship Type="http://schemas.openxmlformats.org/officeDocument/2006/relationships/chart" Target="/ppt/slides/charts/chart23.xml" Id="R68dd9ca87f714239" /><Relationship Type="http://schemas.openxmlformats.org/officeDocument/2006/relationships/notesSlide" Target="/ppt/notesSlides/notesSlide11.xml" Id="Ra6ce52fa65ce45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8afc7d40d248a4" /><Relationship Type="http://schemas.openxmlformats.org/officeDocument/2006/relationships/chart" Target="/ppt/slides/charts/chart24.xml" Id="Reb6b1f09847d45c9" /><Relationship Type="http://schemas.openxmlformats.org/officeDocument/2006/relationships/chart" Target="/ppt/slides/charts/chart25.xml" Id="Rf197260943884d84" /><Relationship Type="http://schemas.openxmlformats.org/officeDocument/2006/relationships/notesSlide" Target="/ppt/notesSlides/notesSlide12.xml" Id="R9e3a09a435eb422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f6b4ee0b66480a" /><Relationship Type="http://schemas.openxmlformats.org/officeDocument/2006/relationships/chart" Target="/ppt/slides/charts/chart26.xml" Id="Rf58f9621361745cc" /><Relationship Type="http://schemas.openxmlformats.org/officeDocument/2006/relationships/chart" Target="/ppt/slides/charts/chart27.xml" Id="Rd7c7e1eec93740a4" /><Relationship Type="http://schemas.openxmlformats.org/officeDocument/2006/relationships/notesSlide" Target="/ppt/notesSlides/notesSlide13.xml" Id="Rb9d8e2e5bf1e498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8e0a48616447cf" /><Relationship Type="http://schemas.openxmlformats.org/officeDocument/2006/relationships/chart" Target="/ppt/slides/charts/chart28.xml" Id="R2094629333b6442d" /><Relationship Type="http://schemas.openxmlformats.org/officeDocument/2006/relationships/chart" Target="/ppt/slides/charts/chart29.xml" Id="R6b37223f27634988" /><Relationship Type="http://schemas.openxmlformats.org/officeDocument/2006/relationships/notesSlide" Target="/ppt/notesSlides/notesSlide14.xml" Id="R5e91d2776be0463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d4008b6fad4838" /><Relationship Type="http://schemas.openxmlformats.org/officeDocument/2006/relationships/notesSlide" Target="/ppt/notesSlides/notesSlide15.xml" Id="Rd7d1c19e25a140b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3926b1d2949ac" /><Relationship Type="http://schemas.openxmlformats.org/officeDocument/2006/relationships/notesSlide" Target="/ppt/notesSlides/notesSlide16.xml" Id="R0edfaf20170345a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7c3dbf7c424ed9" /><Relationship Type="http://schemas.openxmlformats.org/officeDocument/2006/relationships/chart" Target="/ppt/slides/charts/chart30.xml" Id="R2d018345f96e4958" /><Relationship Type="http://schemas.openxmlformats.org/officeDocument/2006/relationships/chart" Target="/ppt/slides/charts/chart31.xml" Id="Ra2bf05d4c79140a6" /><Relationship Type="http://schemas.openxmlformats.org/officeDocument/2006/relationships/chart" Target="/ppt/slides/charts/chart32.xml" Id="Rc475e91307994ad9" /><Relationship Type="http://schemas.openxmlformats.org/officeDocument/2006/relationships/notesSlide" Target="/ppt/notesSlides/notesSlide17.xml" Id="R1933197e2196429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810e9827fa4b3b" /><Relationship Type="http://schemas.openxmlformats.org/officeDocument/2006/relationships/notesSlide" Target="/ppt/notesSlides/notesSlide18.xml" Id="R515e7b3f2143414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bf8c529b54a40" /><Relationship Type="http://schemas.openxmlformats.org/officeDocument/2006/relationships/notesSlide" Target="/ppt/notesSlides/notesSlide19.xml" Id="Rb8dd324dccd3461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346f675274aae" /><Relationship Type="http://schemas.openxmlformats.org/officeDocument/2006/relationships/notesSlide" Target="/ppt/notesSlides/notesSlide20.xml" Id="R88a18e3bde994c8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aaca714149440f" /><Relationship Type="http://schemas.openxmlformats.org/officeDocument/2006/relationships/notesSlide" Target="/ppt/notesSlides/notesSlide21.xml" Id="R49fafb44bedd411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1041dfe514abb" /><Relationship Type="http://schemas.openxmlformats.org/officeDocument/2006/relationships/notesSlide" Target="/ppt/notesSlides/notesSlide22.xml" Id="R1ccbfaac4cb34fd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fcb471318e40e1" /><Relationship Type="http://schemas.openxmlformats.org/officeDocument/2006/relationships/notesSlide" Target="/ppt/notesSlides/notesSlide23.xml" Id="R7d8545781e45493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4cf8abeaf4e17" /><Relationship Type="http://schemas.openxmlformats.org/officeDocument/2006/relationships/notesSlide" Target="/ppt/notesSlides/notesSlide24.xml" Id="R11560701bb4f4cb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eb89f5ce647dd" /><Relationship Type="http://schemas.openxmlformats.org/officeDocument/2006/relationships/chart" Target="/ppt/slides/charts/chart33.xml" Id="Ra5a51c4f4f97402f" /><Relationship Type="http://schemas.openxmlformats.org/officeDocument/2006/relationships/notesSlide" Target="/ppt/notesSlides/notesSlide25.xml" Id="R1290ceeecb7c459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fb45ed7264a9a" /><Relationship Type="http://schemas.openxmlformats.org/officeDocument/2006/relationships/notesSlide" Target="/ppt/notesSlides/notesSlide26.xml" Id="Rde59bdae8de9467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45aa15ab74857" /><Relationship Type="http://schemas.openxmlformats.org/officeDocument/2006/relationships/chart" Target="/ppt/slides/charts/chart34.xml" Id="R6d71210e9b824ab0" /><Relationship Type="http://schemas.openxmlformats.org/officeDocument/2006/relationships/chart" Target="/ppt/slides/charts/chart35.xml" Id="R586ef5042ac14f4e" /><Relationship Type="http://schemas.openxmlformats.org/officeDocument/2006/relationships/chart" Target="/ppt/slides/charts/chart36.xml" Id="R2c45420bff7f417e" /><Relationship Type="http://schemas.openxmlformats.org/officeDocument/2006/relationships/notesSlide" Target="/ppt/notesSlides/notesSlide27.xml" Id="Rbc2c51e03f274b5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19b0d4f99242e6" /><Relationship Type="http://schemas.openxmlformats.org/officeDocument/2006/relationships/chart" Target="/ppt/slides/charts/chart37.xml" Id="Rbf66cc33d3f14f93" /><Relationship Type="http://schemas.openxmlformats.org/officeDocument/2006/relationships/chart" Target="/ppt/slides/charts/chart38.xml" Id="R223c3a5e4d8d414e" /><Relationship Type="http://schemas.openxmlformats.org/officeDocument/2006/relationships/chart" Target="/ppt/slides/charts/chart39.xml" Id="Rac6a5965fd6e43e5" /><Relationship Type="http://schemas.openxmlformats.org/officeDocument/2006/relationships/chart" Target="/ppt/slides/charts/chart40.xml" Id="R65752e14d08f4f57" /><Relationship Type="http://schemas.openxmlformats.org/officeDocument/2006/relationships/notesSlide" Target="/ppt/notesSlides/notesSlide28.xml" Id="Rfe3affe4a0724a4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68293f9dcb489a" /><Relationship Type="http://schemas.openxmlformats.org/officeDocument/2006/relationships/chart" Target="/ppt/slides/charts/chart41.xml" Id="R7f345ce5d0364dae" /><Relationship Type="http://schemas.openxmlformats.org/officeDocument/2006/relationships/chart" Target="/ppt/slides/charts/chart42.xml" Id="R6444b7d2cd244109" /><Relationship Type="http://schemas.openxmlformats.org/officeDocument/2006/relationships/chart" Target="/ppt/slides/charts/chart43.xml" Id="R9c7551dffcf34138" /><Relationship Type="http://schemas.openxmlformats.org/officeDocument/2006/relationships/chart" Target="/ppt/slides/charts/chart44.xml" Id="Rc0ca8f74d4aa40e1" /><Relationship Type="http://schemas.openxmlformats.org/officeDocument/2006/relationships/chart" Target="/ppt/slides/charts/chart45.xml" Id="R7a5cd266b6ff4467" /><Relationship Type="http://schemas.openxmlformats.org/officeDocument/2006/relationships/notesSlide" Target="/ppt/notesSlides/notesSlide29.xml" Id="R64a8d2c80ab64d8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45a3a97de4303" /><Relationship Type="http://schemas.openxmlformats.org/officeDocument/2006/relationships/notesSlide" Target="/ppt/notesSlides/notesSlide30.xml" Id="Raa6d86f60d3349c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bd0bc97cb74336" /><Relationship Type="http://schemas.openxmlformats.org/officeDocument/2006/relationships/notesSlide" Target="/ppt/notesSlides/notesSlide31.xml" Id="R21f82f783127480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819fabe2104e30" /><Relationship Type="http://schemas.openxmlformats.org/officeDocument/2006/relationships/notesSlide" Target="/ppt/notesSlides/notesSlide32.xml" Id="R6b39ee1decac499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8704f09ff2408f" /><Relationship Type="http://schemas.openxmlformats.org/officeDocument/2006/relationships/notesSlide" Target="/ppt/notesSlides/notesSlide33.xml" Id="R003931a225804db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fea7bfdb534f0f" /><Relationship Type="http://schemas.openxmlformats.org/officeDocument/2006/relationships/notesSlide" Target="/ppt/notesSlides/notesSlide34.xml" Id="Rf4f9dcb729b9404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9467c12b274409" /><Relationship Type="http://schemas.openxmlformats.org/officeDocument/2006/relationships/notesSlide" Target="/ppt/notesSlides/notesSlide35.xml" Id="R28948bcdbb984cd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fbae46494645d9" /><Relationship Type="http://schemas.openxmlformats.org/officeDocument/2006/relationships/notesSlide" Target="/ppt/notesSlides/notesSlide36.xml" Id="Rfb02a8de1e1a4af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6f1f0aa0c47d0" /><Relationship Type="http://schemas.openxmlformats.org/officeDocument/2006/relationships/notesSlide" Target="/ppt/notesSlides/notesSlide37.xml" Id="R3f7b408133a84a3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5fcfdcaad649bc" /><Relationship Type="http://schemas.openxmlformats.org/officeDocument/2006/relationships/notesSlide" Target="/ppt/notesSlides/notesSlide38.xml" Id="Rfcbdfa8dea294f49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ad9d9eb18d445b" /><Relationship Type="http://schemas.openxmlformats.org/officeDocument/2006/relationships/notesSlide" Target="/ppt/notesSlides/notesSlide39.xml" Id="R8a3b23cb9276466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c11cf837ec4954" /><Relationship Type="http://schemas.openxmlformats.org/officeDocument/2006/relationships/notesSlide" Target="/ppt/notesSlides/notesSlide40.xml" Id="R2b7f7513f18f4c83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a0e276c79a4dd6" /><Relationship Type="http://schemas.openxmlformats.org/officeDocument/2006/relationships/notesSlide" Target="/ppt/notesSlides/notesSlide41.xml" Id="R09e9f10113f9425d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d805770f1b49eb" /><Relationship Type="http://schemas.openxmlformats.org/officeDocument/2006/relationships/notesSlide" Target="/ppt/notesSlides/notesSlide42.xml" Id="R8e090831088843b5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c2fd68e7e84509" /><Relationship Type="http://schemas.openxmlformats.org/officeDocument/2006/relationships/notesSlide" Target="/ppt/notesSlides/notesSlide43.xml" Id="R085d537d63a94a68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a937fb02274942" /><Relationship Type="http://schemas.openxmlformats.org/officeDocument/2006/relationships/notesSlide" Target="/ppt/notesSlides/notesSlide44.xml" Id="Rcaabcc207bd24073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d6abfa825146eb" /><Relationship Type="http://schemas.openxmlformats.org/officeDocument/2006/relationships/notesSlide" Target="/ppt/notesSlides/notesSlide45.xml" Id="R00ea3390cf6343b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5e906804b54682" /><Relationship Type="http://schemas.openxmlformats.org/officeDocument/2006/relationships/notesSlide" Target="/ppt/notesSlides/notesSlide46.xml" Id="Rbcc8125fbfe242e2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66ab2882e4e34" /><Relationship Type="http://schemas.openxmlformats.org/officeDocument/2006/relationships/notesSlide" Target="/ppt/notesSlides/notesSlide47.xml" Id="R4b621b0a93c5442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48bd7fbc2f48f7" /><Relationship Type="http://schemas.openxmlformats.org/officeDocument/2006/relationships/notesSlide" Target="/ppt/notesSlides/notesSlide48.xml" Id="Rd9a5a1a0afe347b1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3e2747b2d741a2" /><Relationship Type="http://schemas.openxmlformats.org/officeDocument/2006/relationships/notesSlide" Target="/ppt/notesSlides/notesSlide49.xml" Id="R05a488a828d34be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b58fb582e349e4" /><Relationship Type="http://schemas.openxmlformats.org/officeDocument/2006/relationships/notesSlide" Target="/ppt/notesSlides/notesSlide50.xml" Id="R68fcfd95300f4f8c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60173ae460433c" /><Relationship Type="http://schemas.openxmlformats.org/officeDocument/2006/relationships/notesSlide" Target="/ppt/notesSlides/notesSlide51.xml" Id="R9882105c49804454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0b19dba0964b91" /><Relationship Type="http://schemas.openxmlformats.org/officeDocument/2006/relationships/notesSlide" Target="/ppt/notesSlides/notesSlide52.xml" Id="R5b41ef232085400f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f7e4c66b9d403c" /><Relationship Type="http://schemas.openxmlformats.org/officeDocument/2006/relationships/notesSlide" Target="/ppt/notesSlides/notesSlide53.xml" Id="R6fb25d816b0a4029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68a9a128ca4277" /><Relationship Type="http://schemas.openxmlformats.org/officeDocument/2006/relationships/notesSlide" Target="/ppt/notesSlides/notesSlide54.xml" Id="R9285bb446a1a40e1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92a56375d3477b" /><Relationship Type="http://schemas.openxmlformats.org/officeDocument/2006/relationships/chart" Target="/ppt/slides/charts/chart46.xml" Id="R60fae47d6a764a37" /><Relationship Type="http://schemas.openxmlformats.org/officeDocument/2006/relationships/chart" Target="/ppt/slides/charts/chart47.xml" Id="Rf32480313ed54d7e" /><Relationship Type="http://schemas.openxmlformats.org/officeDocument/2006/relationships/chart" Target="/ppt/slides/charts/chart48.xml" Id="R69f95aa2385b488e" /><Relationship Type="http://schemas.openxmlformats.org/officeDocument/2006/relationships/chart" Target="/ppt/slides/charts/chart49.xml" Id="Rd74c712103d342c2" /><Relationship Type="http://schemas.openxmlformats.org/officeDocument/2006/relationships/chart" Target="/ppt/slides/charts/chart50.xml" Id="Rdcc09be2069a43dd" /><Relationship Type="http://schemas.openxmlformats.org/officeDocument/2006/relationships/chart" Target="/ppt/slides/charts/chart51.xml" Id="Rc3ad1631905a4981" /><Relationship Type="http://schemas.openxmlformats.org/officeDocument/2006/relationships/chart" Target="/ppt/slides/charts/chart52.xml" Id="R0e6a6ed1ecf144a8" /><Relationship Type="http://schemas.openxmlformats.org/officeDocument/2006/relationships/notesSlide" Target="/ppt/notesSlides/notesSlide55.xml" Id="R520877c60ecb4480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de20f759841d9" /><Relationship Type="http://schemas.openxmlformats.org/officeDocument/2006/relationships/chart" Target="/ppt/slides/charts/chart53.xml" Id="Rd2b8eb69d6064664" /><Relationship Type="http://schemas.openxmlformats.org/officeDocument/2006/relationships/notesSlide" Target="/ppt/notesSlides/notesSlide56.xml" Id="R44498977bbdc4e85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37be13bfc14294" /><Relationship Type="http://schemas.openxmlformats.org/officeDocument/2006/relationships/chart" Target="/ppt/slides/charts/chart54.xml" Id="R2e8d5dfaf57045e6" /><Relationship Type="http://schemas.openxmlformats.org/officeDocument/2006/relationships/chart" Target="/ppt/slides/charts/chart55.xml" Id="R45b3082f13964920" /><Relationship Type="http://schemas.openxmlformats.org/officeDocument/2006/relationships/notesSlide" Target="/ppt/notesSlides/notesSlide57.xml" Id="Re6d1be47b29c4a9b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64d23b2e4944b6" /><Relationship Type="http://schemas.openxmlformats.org/officeDocument/2006/relationships/chart" Target="/ppt/slides/charts/chart56.xml" Id="Raa5e254160b34cf5" /><Relationship Type="http://schemas.openxmlformats.org/officeDocument/2006/relationships/notesSlide" Target="/ppt/notesSlides/notesSlide58.xml" Id="R8b075019b6ea4970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b229176ff74db4" /><Relationship Type="http://schemas.openxmlformats.org/officeDocument/2006/relationships/chart" Target="/ppt/slides/charts/chart57.xml" Id="Rbb1985611ef649a2" /><Relationship Type="http://schemas.openxmlformats.org/officeDocument/2006/relationships/notesSlide" Target="/ppt/notesSlides/notesSlide59.xml" Id="R5e6d043c317e4501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fd2d1d347746a3" /><Relationship Type="http://schemas.openxmlformats.org/officeDocument/2006/relationships/chart" Target="/ppt/slides/charts/chart58.xml" Id="Rf7d39d58e9e54676" /><Relationship Type="http://schemas.openxmlformats.org/officeDocument/2006/relationships/notesSlide" Target="/ppt/notesSlides/notesSlide60.xml" Id="Rbcf89a863ba0448f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4b36256c694409" /><Relationship Type="http://schemas.openxmlformats.org/officeDocument/2006/relationships/chart" Target="/ppt/slides/charts/chart59.xml" Id="R5b8bd384748c4c99" /><Relationship Type="http://schemas.openxmlformats.org/officeDocument/2006/relationships/notesSlide" Target="/ppt/notesSlides/notesSlide61.xml" Id="Rd9d5c481de374af3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76f5e857a4ab8" /><Relationship Type="http://schemas.openxmlformats.org/officeDocument/2006/relationships/chart" Target="/ppt/slides/charts/chart60.xml" Id="R5855c19426604822" /><Relationship Type="http://schemas.openxmlformats.org/officeDocument/2006/relationships/notesSlide" Target="/ppt/notesSlides/notesSlide62.xml" Id="R29cadee4abda4fbf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d3481f80e34909" /><Relationship Type="http://schemas.openxmlformats.org/officeDocument/2006/relationships/chart" Target="/ppt/slides/charts/chart61.xml" Id="Rf6aa37862cba4339" /><Relationship Type="http://schemas.openxmlformats.org/officeDocument/2006/relationships/notesSlide" Target="/ppt/notesSlides/notesSlide63.xml" Id="Reee4f25efff24973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ff0536755d4c87" /><Relationship Type="http://schemas.openxmlformats.org/officeDocument/2006/relationships/notesSlide" Target="/ppt/notesSlides/notesSlide64.xml" Id="R3e9adc0cd2d84a35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dLbls>
          <c:txPr>
            <a:bodyPr anchorCtr="1"/>
            <a:lstStyle/>
            <a:p>
              <a:pPr>
                <a:defRPr sz="435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54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4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 lang="pt-BR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57.30435846787</c:v>
              </c:pt>
              <c:pt idx="1">
                <c:v>79.32504223603</c:v>
              </c:pt>
              <c:pt idx="2">
                <c:v>104.64155235266</c:v>
              </c:pt>
              <c:pt idx="3">
                <c:v>111.34323277694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122.22089914057001</c:v>
              </c:pt>
              <c:pt idx="1">
                <c:v>197.62338785544</c:v>
              </c:pt>
              <c:pt idx="2">
                <c:v>190.81876503170002</c:v>
              </c:pt>
              <c:pt idx="3">
                <c:v>215.26457154539003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155.09125618770003</c:v>
              </c:pt>
              <c:pt idx="1">
                <c:v>212.37724592952</c:v>
              </c:pt>
              <c:pt idx="2">
                <c:v>270.20376639009</c:v>
              </c:pt>
              <c:pt idx="3">
                <c:v>319.55775489619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117.71852592447999</c:v>
              </c:pt>
              <c:pt idx="1">
                <c:v>162.12706677791002</c:v>
              </c:pt>
              <c:pt idx="2">
                <c:v>206.44434842360002</c:v>
              </c:pt>
              <c:pt idx="3">
                <c:v>175.19600006592998</c:v>
              </c:pt>
            </c:numLit>
          </c:val>
        </c:ser>
        <c:dLbls>
          <c:txPr>
            <a:bodyPr anchorCtr="1"/>
            <a:lstStyle/>
            <a:p>
              <a:pPr>
                <a:defRPr sz="713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0.12668564987418052</c:v>
              </c:pt>
              <c:pt idx="1">
                <c:v>0.12176638000665724</c:v>
              </c:pt>
              <c:pt idx="2">
                <c:v>0.1355270166584826</c:v>
              </c:pt>
              <c:pt idx="3">
                <c:v>0.13555934231197708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0.27019993679034565</c:v>
              </c:pt>
              <c:pt idx="1">
                <c:v>0.30335797959245875</c:v>
              </c:pt>
              <c:pt idx="2">
                <c:v>0.24713985377477912</c:v>
              </c:pt>
              <c:pt idx="3">
                <c:v>0.26208259823228547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0.3428681012275558</c:v>
              </c:pt>
              <c:pt idx="1">
                <c:v>0.32600560559015057</c:v>
              </c:pt>
              <c:pt idx="2">
                <c:v>0.3499557252870168</c:v>
              </c:pt>
              <c:pt idx="3">
                <c:v>0.3890585714463931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0.2602463121079181</c:v>
              </c:pt>
              <c:pt idx="1">
                <c:v>0.24887003481073341</c:v>
              </c:pt>
              <c:pt idx="2">
                <c:v>0.2673774042797216</c:v>
              </c:pt>
              <c:pt idx="3">
                <c:v>0.21329948800934445</c:v>
              </c:pt>
            </c:numLit>
          </c:val>
        </c:ser>
        <c:dLbls>
          <c:txPr>
            <a:bodyPr anchorCtr="1"/>
            <a:lstStyle/>
            <a:p>
              <a:pPr>
                <a:defRPr sz="713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EC7000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anchorCtr="1"/>
            <a:lstStyle/>
            <a:p>
              <a:pPr>
                <a:defRPr sz="9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Original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5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>06/24</c:v>
              </c:pt>
              <c:pt idx="6">
                <c:v>07/24</c:v>
              </c:pt>
              <c:pt idx="7">
                <c:v/>
              </c:pt>
              <c:pt idx="8">
                <c:v>12/24</c:v>
              </c:pt>
              <c:pt idx="9">
                <c:v/>
              </c:pt>
              <c:pt idx="10">
                <c:v/>
              </c:pt>
              <c:pt idx="11">
                <c:v>09/25</c:v>
              </c:pt>
              <c:pt idx="12">
                <c:v/>
              </c:pt>
              <c:pt idx="13">
                <c:v/>
              </c:pt>
              <c:pt idx="14">
                <c:v>06/26</c:v>
              </c:pt>
            </c:strLit>
          </c:cat>
          <c: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3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Original · inclui zeros no denominador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Ex-zeros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4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/>
              </c:pt>
              <c:pt idx="6">
                <c:v/>
              </c:pt>
              <c:pt idx="7">
                <c:v>12/24</c:v>
              </c:pt>
              <c:pt idx="8">
                <c:v/>
              </c:pt>
              <c:pt idx="9">
                <c:v/>
              </c:pt>
              <c:pt idx="10">
                <c:v/>
              </c:pt>
              <c:pt idx="11">
                <c:v>12/25</c:v>
              </c:pt>
              <c:pt idx="12">
                <c:v/>
              </c:pt>
              <c:pt idx="13">
                <c:v>06/26</c:v>
              </c:pt>
            </c:strLit>
          </c:cat>
          <c: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Ex-zeros · denominador restrito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Financeiro</c:v>
          </c:tx>
          <c:spPr>
            <a:ln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val>
        </c:ser>
        <c:ser>
          <c:idx val="1"/>
          <c:order val="1"/>
          <c:tx>
            <c:v>Cartão de crédito</c:v>
          </c:tx>
          <c:spPr>
            <a:ln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val>
        </c:ser>
        <c:ser>
          <c:idx val="2"/>
          <c:order val="2"/>
          <c:tx>
            <c:v>Comercial</c:v>
          </c:tx>
          <c:spPr>
            <a:ln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val>
        </c:ser>
        <c:ser>
          <c:idx val="3"/>
          <c:order val="3"/>
          <c:tx>
            <c:v>Industrial</c:v>
          </c:tx>
          <c:spPr>
            <a:ln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val>
        </c:ser>
        <c:ser>
          <c:idx val="4"/>
          <c:order val="4"/>
          <c:tx>
            <c:v>Serviços</c:v>
          </c:tx>
          <c:spPr>
            <a:ln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val>
        </c:ser>
        <c:ser>
          <c:idx val="5"/>
          <c:order val="5"/>
          <c:tx>
            <c:v>Setor público</c:v>
          </c:tx>
          <c:spPr>
            <a:ln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val>
        </c:ser>
        <c:ser>
          <c:idx val="6"/>
          <c:order val="6"/>
          <c:tx>
            <c:v>Ações judiciais</c:v>
          </c:tx>
          <c:spPr>
            <a:ln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val>
        </c:ser>
        <c:ser>
          <c:idx val="7"/>
          <c:order val="7"/>
          <c:tx>
            <c:v>Agronegócio</c:v>
          </c:tx>
          <c:spPr>
            <a:ln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val>
        </c:ser>
        <c:ser>
          <c:idx val="8"/>
          <c:order val="8"/>
          <c:tx>
            <c:v>Imobiliário</c:v>
          </c:tx>
          <c:spPr>
            <a:ln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val>
        </c:ser>
        <c:ser>
          <c:idx val="9"/>
          <c:order val="9"/>
          <c:tx>
            <c:v>Factoring</c:v>
          </c:tx>
          <c:spPr>
            <a:ln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1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Financeiro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Cartão de crédito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Comercial</c:v>
          </c:tx>
          <c:spPr>
            <a:ln w="28575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Industrial</c:v>
          </c:tx>
          <c:spPr>
            <a:ln w="28575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Serviços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Setor público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Ações judiciais</c:v>
          </c:tx>
          <c:spPr>
            <a:ln w="28575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Agronegócio</c:v>
          </c:tx>
          <c:spPr>
            <a:ln w="28575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8"/>
          <c:order val="8"/>
          <c:tx>
            <c:v>Imobiliário</c:v>
          </c:tx>
          <c:spPr>
            <a:ln w="28575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9"/>
          <c:order val="9"/>
          <c:tx>
            <c:v>Factoring</c:v>
          </c:tx>
          <c:spPr>
            <a:ln w="28575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0.08750719631548647</c:v>
              </c:pt>
              <c:pt idx="1">
                <c:v>0.008347725964306276</c:v>
              </c:pt>
              <c:pt idx="2">
                <c:v>0.7979274611398963</c:v>
              </c:pt>
              <c:pt idx="3">
                <c:v>0.010938399539435808</c:v>
              </c:pt>
              <c:pt idx="4">
                <c:v>0.07800805987334485</c:v>
              </c:pt>
              <c:pt idx="5">
                <c:v>0.017271157167530225</c:v>
              </c:pt>
            </c:numLit>
          </c:val>
        </c:ser>
        <c:ser>
          <c:idx val="1"/>
          <c:order val="1"/>
          <c:tx>
            <c:v>% PL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0.4037434722952564</c:v>
              </c:pt>
              <c:pt idx="1">
                <c:v>0.028168082660790298</c:v>
              </c:pt>
              <c:pt idx="2">
                <c:v>0.5034898766811806</c:v>
              </c:pt>
              <c:pt idx="3">
                <c:v>0.009938672093068996</c:v>
              </c:pt>
              <c:pt idx="4">
                <c:v>0.04397605299923831</c:v>
              </c:pt>
              <c:pt idx="5">
                <c:v>0.01068384327046523</c:v>
              </c:pt>
            </c:numLit>
          </c:val>
        </c:ser>
        <c:dLbls>
          <c:txPr>
            <a:bodyPr anchorCtr="1"/>
            <a:lstStyle/>
            <a:p>
              <a:pPr>
                <a:defRPr sz="78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 lang="pt-BR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 lang="pt-BR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78.54784980481001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78.74983410723001</c:v>
              </c:pt>
              <c:pt idx="1">
                <c:v>39.85656848075</c:v>
              </c:pt>
              <c:pt idx="2">
                <c:v>27.472806819580025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0.1066683132552709</c:v>
              </c:pt>
              <c:pt idx="1">
                <c:v>0.6780374078873521</c:v>
              </c:pt>
              <c:pt idx="2">
                <c:v>0.0450938092637845</c:v>
              </c:pt>
              <c:pt idx="3">
                <c:v>0.0386225339563617</c:v>
              </c:pt>
              <c:pt idx="4">
                <c:v>0.0601154535063119</c:v>
              </c:pt>
              <c:pt idx="5">
                <c:v>0.1195677142090943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0.1120532824108026</c:v>
              </c:pt>
              <c:pt idx="1">
                <c:v>0.0085503744360448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0.0159546999209434</c:v>
              </c:pt>
              <c:pt idx="1">
                <c:v>0.0096439192733458</c:v>
              </c:pt>
              <c:pt idx="2">
                <c:v>0.0718716845273516</c:v>
              </c:pt>
              <c:pt idx="3">
                <c:v>0.0752568617813482</c:v>
              </c:pt>
              <c:pt idx="4">
                <c:v>0.2745498045582434</c:v>
              </c:pt>
              <c:pt idx="5">
                <c:v>0.3095513401091928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0.0225737075683095</c:v>
              </c:pt>
              <c:pt idx="2">
                <c:v>0.1478667482986454</c:v>
              </c:pt>
              <c:pt idx="3">
                <c:v>0.1405246717383737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0.0739161589232527</c:v>
              </c:pt>
              <c:pt idx="1">
                <c:v>0.0061093994544608</c:v>
              </c:pt>
              <c:pt idx="2">
                <c:v>0.0121996377120526</c:v>
              </c:pt>
              <c:pt idx="3">
                <c:v>0.154371594289211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0.0938211651306432</c:v>
              </c:pt>
              <c:pt idx="3">
                <c:v>0.1276557852928057</c:v>
              </c:pt>
              <c:pt idx="4">
                <c:v>0.1654990195859853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0.0742536557052461</c:v>
              </c:pt>
              <c:pt idx="1">
                <c:v>0.009351213961542</c:v>
              </c:pt>
              <c:pt idx="2">
                <c:v>0.0435322365450096</c:v>
              </c:pt>
              <c:pt idx="3">
                <c:v>0.0006667200380263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0.4076076008790848</c:v>
              </c:pt>
              <c:pt idx="1">
                <c:v>0.1886010160139509</c:v>
              </c:pt>
              <c:pt idx="2">
                <c:v>0.2466092951847047</c:v>
              </c:pt>
              <c:pt idx="3">
                <c:v>0.2518127663656469</c:v>
              </c:pt>
              <c:pt idx="4">
                <c:v>0.0699983759326473</c:v>
              </c:pt>
              <c:pt idx="5">
                <c:v>0.1221583705462649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0.0590108225910906</c:v>
              </c:pt>
              <c:pt idx="1">
                <c:v>0.0012544972890554</c:v>
              </c:pt>
              <c:pt idx="2">
                <c:v>0.2535264495160129</c:v>
              </c:pt>
              <c:pt idx="3">
                <c:v>0.0466047888669917</c:v>
              </c:pt>
              <c:pt idx="4">
                <c:v>0.2986715025135104</c:v>
              </c:pt>
              <c:pt idx="5">
                <c:v>0.3244115048022671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0.0539103235200838</c:v>
              </c:pt>
              <c:pt idx="1">
                <c:v>0.0225737075683095</c:v>
              </c:pt>
              <c:pt idx="2">
                <c:v>0.0909821352025632</c:v>
              </c:pt>
              <c:pt idx="3">
                <c:v>0.1381589074620594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0.0023244938897661</c:v>
              </c:pt>
              <c:pt idx="1">
                <c:v>0.000707536298446</c:v>
              </c:pt>
              <c:pt idx="2">
                <c:v>0.0510761668947442</c:v>
              </c:pt>
              <c:pt idx="3">
                <c:v>0.0485084245323154</c:v>
              </c:pt>
              <c:pt idx="4">
                <c:v>0.2097436548454993</c:v>
              </c:pt>
              <c:pt idx="5">
                <c:v>0.225968430808428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0.0260715339983783</c:v>
              </c:pt>
              <c:pt idx="1">
                <c:v>0</c:v>
              </c:pt>
              <c:pt idx="2">
                <c:v>0.0733873168779346</c:v>
              </c:pt>
              <c:pt idx="3">
                <c:v>0.1089798874755172</c:v>
              </c:pt>
              <c:pt idx="4">
                <c:v>0.1020586894705166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0.0054539217325707</c:v>
              </c:pt>
              <c:pt idx="1">
                <c:v>0.225836159196146</c:v>
              </c:pt>
              <c:pt idx="2">
                <c:v>0.0044598510745928</c:v>
              </c:pt>
              <c:pt idx="3">
                <c:v>0.0024666715198365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0.0520806153849847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0.0143606055085528</c:v>
              </c:pt>
              <c:pt idx="1">
                <c:v>0</c:v>
              </c:pt>
              <c:pt idx="2">
                <c:v>0.0921407401194705</c:v>
              </c:pt>
              <c:pt idx="3">
                <c:v>0.0070763788847018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0.0066179364492227</c:v>
              </c:pt>
              <c:pt idx="1">
                <c:v>0.0058403418001601</c:v>
              </c:pt>
              <c:pt idx="2">
                <c:v>0.072361729110744</c:v>
              </c:pt>
              <c:pt idx="3">
                <c:v>0.0067564525290011</c:v>
              </c:pt>
              <c:pt idx="4">
                <c:v>0.0021939819563892</c:v>
              </c:pt>
              <c:pt idx="5">
                <c:v>0.0060055973478815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0.0096536283781675</c:v>
              </c:pt>
              <c:pt idx="1">
                <c:v>0.0031260435445994</c:v>
              </c:pt>
              <c:pt idx="2">
                <c:v>0.0018544989739266</c:v>
              </c:pt>
              <c:pt idx="3">
                <c:v>0.0640015366622346</c:v>
              </c:pt>
              <c:pt idx="4">
                <c:v>0.1079290738212605</c:v>
              </c:pt>
              <c:pt idx="5">
                <c:v>0.00909015108798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0.0076825125327544</c:v>
              </c:pt>
              <c:pt idx="1">
                <c:v>0</c:v>
              </c:pt>
              <c:pt idx="2">
                <c:v>0.0171315163168958</c:v>
              </c:pt>
              <c:pt idx="3">
                <c:v>0.0756829012842346</c:v>
              </c:pt>
              <c:pt idx="4">
                <c:v>0.0246123150927712</c:v>
              </c:pt>
              <c:pt idx="5">
                <c:v>0.0277084511123573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0.7623576496416468</c:v>
              </c:pt>
              <c:pt idx="1">
                <c:v>0.7398838494445065</c:v>
              </c:pt>
              <c:pt idx="2">
                <c:v>0.3219766829932506</c:v>
              </c:pt>
              <c:pt idx="3">
                <c:v>0.501764050783107</c:v>
              </c:pt>
              <c:pt idx="4">
                <c:v>0.2547907823000527</c:v>
              </c:pt>
              <c:pt idx="5">
                <c:v>0.4067650805956955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0.0004759563727812</c:v>
              </c:pt>
              <c:pt idx="1">
                <c:v>0.0007778648587768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0.1060816611755285</c:v>
              </c:pt>
              <c:pt idx="1">
                <c:v>0.6770530491958513</c:v>
              </c:pt>
              <c:pt idx="2">
                <c:v>0.0451499232981444</c:v>
              </c:pt>
              <c:pt idx="3">
                <c:v>0.0385939734534043</c:v>
              </c:pt>
              <c:pt idx="4">
                <c:v>0.0541478382338885</c:v>
              </c:pt>
              <c:pt idx="5">
                <c:v>0.1189043638793473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0.1114653528864435</c:v>
              </c:pt>
              <c:pt idx="1">
                <c:v>0.0027100326358847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0.0367985434820997</c:v>
              </c:pt>
              <c:pt idx="1">
                <c:v>0.0271777649130833</c:v>
              </c:pt>
              <c:pt idx="2">
                <c:v>0.1734502780656785</c:v>
              </c:pt>
              <c:pt idx="3">
                <c:v>0.0752568617813482</c:v>
              </c:pt>
              <c:pt idx="4">
                <c:v>0.2754246803503517</c:v>
              </c:pt>
              <c:pt idx="5">
                <c:v>0.3103361231533156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0.0810507396212834</c:v>
              </c:pt>
              <c:pt idx="1">
                <c:v>0.0061093994544608</c:v>
              </c:pt>
              <c:pt idx="2">
                <c:v>0.0338901250913308</c:v>
              </c:pt>
              <c:pt idx="3">
                <c:v>0.1630851758633726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0.0171048396238314</c:v>
              </c:pt>
              <c:pt idx="2">
                <c:v>0.1117385096852637</c:v>
              </c:pt>
              <c:pt idx="3">
                <c:v>0.1401631050460977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0.0924387555066889</c:v>
              </c:pt>
              <c:pt idx="3">
                <c:v>0.1276557852928057</c:v>
              </c:pt>
              <c:pt idx="4">
                <c:v>0.1491507045686744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0.0903093022047325</c:v>
              </c:pt>
              <c:pt idx="1">
                <c:v>0.0001850204499402</c:v>
              </c:pt>
              <c:pt idx="2">
                <c:v>1.9023858238375103E-05</c:v>
              </c:pt>
              <c:pt idx="3">
                <c:v>0.0008686720725941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0.3617418572811671</c:v>
              </c:pt>
              <c:pt idx="1">
                <c:v>0.1791471446090743</c:v>
              </c:pt>
              <c:pt idx="2">
                <c:v>0.1363201387026671</c:v>
              </c:pt>
              <c:pt idx="3">
                <c:v>0.2415044257866422</c:v>
              </c:pt>
              <c:pt idx="4">
                <c:v>0.0913300746244787</c:v>
              </c:pt>
              <c:pt idx="5">
                <c:v>0.1220369378318891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0.0030062544433458</c:v>
              </c:pt>
              <c:pt idx="1">
                <c:v>0.01337978771288</c:v>
              </c:pt>
              <c:pt idx="2">
                <c:v>0.0679878224541797</c:v>
              </c:pt>
              <c:pt idx="3">
                <c:v>0.0017829341655087</c:v>
              </c:pt>
              <c:pt idx="4">
                <c:v>0.0001093558057945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0.6780374078873521</c:v>
              </c:pt>
              <c:pt idx="1">
                <c:v>0.2831240514453489</c:v>
              </c:pt>
              <c:pt idx="2">
                <c:v>0.1195677142090943</c:v>
              </c:pt>
              <c:pt idx="3">
                <c:v>0.0601154535063119</c:v>
              </c:pt>
              <c:pt idx="4">
                <c:v>0.0691691486679832</c:v>
              </c:pt>
              <c:pt idx="5">
                <c:v>0.0386225339563617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0.2341766306085763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0.1066683132552709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0.0085503744360448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0.1120532824108026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0.0096439192733458</c:v>
              </c:pt>
              <c:pt idx="1">
                <c:v>0.210187707644898</c:v>
              </c:pt>
              <c:pt idx="2">
                <c:v>0.3095513401091928</c:v>
              </c:pt>
              <c:pt idx="3">
                <c:v>0.2745498045582434</c:v>
              </c:pt>
              <c:pt idx="4">
                <c:v>0</c:v>
              </c:pt>
              <c:pt idx="5">
                <c:v>0.0752568617813482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0.0545875722164988</c:v>
              </c:pt>
              <c:pt idx="13">
                <c:v>0.0159546999209434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0.4931230015075811</c:v>
              </c:pt>
              <c:pt idx="5">
                <c:v>0.1405246717383737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0.0091785749917042</c:v>
              </c:pt>
              <c:pt idx="13">
                <c:v>0.0664047909997442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0.154371594289211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0.2266926452455743</c:v>
              </c:pt>
              <c:pt idx="10">
                <c:v>0.0869995382538734</c:v>
              </c:pt>
              <c:pt idx="11">
                <c:v>0.0776345555628621</c:v>
              </c:pt>
              <c:pt idx="12">
                <c:v>0.0575015112254482</c:v>
              </c:pt>
              <c:pt idx="13">
                <c:v>0.0739161589232527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0.1654990195859853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0.0820369155053609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0.009351213961542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0.0006667200380263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0.1048401292676651</c:v>
              </c:pt>
              <c:pt idx="10">
                <c:v>0</c:v>
              </c:pt>
              <c:pt idx="11">
                <c:v>0</c:v>
              </c:pt>
              <c:pt idx="12">
                <c:v>0.0200559671402099</c:v>
              </c:pt>
              <c:pt idx="13">
                <c:v>0.0742536557052461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0.0719893561435586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0.1886010160139509</c:v>
              </c:pt>
              <c:pt idx="1">
                <c:v>0.1786693066876506</c:v>
              </c:pt>
              <c:pt idx="2">
                <c:v>0.1221583705462649</c:v>
              </c:pt>
              <c:pt idx="3">
                <c:v>0.0699983759326473</c:v>
              </c:pt>
              <c:pt idx="4">
                <c:v>0.3650060218993778</c:v>
              </c:pt>
              <c:pt idx="5">
                <c:v>0.2518127663656469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0.1459325852133698</c:v>
              </c:pt>
              <c:pt idx="10">
                <c:v>0.2908688728090172</c:v>
              </c:pt>
              <c:pt idx="11">
                <c:v>0.684176973944391</c:v>
              </c:pt>
              <c:pt idx="12">
                <c:v>0.2933299908284671</c:v>
              </c:pt>
              <c:pt idx="13">
                <c:v>0.4076076008790848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168068337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49210097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0.0012544972890554</c:v>
              </c:pt>
              <c:pt idx="1">
                <c:v>0</c:v>
              </c:pt>
              <c:pt idx="2">
                <c:v>0.3244115048022671</c:v>
              </c:pt>
              <c:pt idx="3">
                <c:v>0.2986715025135104</c:v>
              </c:pt>
              <c:pt idx="4">
                <c:v>0</c:v>
              </c:pt>
              <c:pt idx="5">
                <c:v>0.0466047888669917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0.0116638633241573</c:v>
              </c:pt>
              <c:pt idx="10">
                <c:v>0.0321550079189741</c:v>
              </c:pt>
              <c:pt idx="11">
                <c:v>0.0049015798050811</c:v>
              </c:pt>
              <c:pt idx="12">
                <c:v>0.0743899443354166</c:v>
              </c:pt>
              <c:pt idx="13">
                <c:v>0.0590108225910906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0.1381589074620594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0.030202748255815</c:v>
              </c:pt>
              <c:pt idx="11">
                <c:v>0</c:v>
              </c:pt>
              <c:pt idx="12">
                <c:v>0.0091785749917042</c:v>
              </c:pt>
              <c:pt idx="13">
                <c:v>0.0539103235200838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68072383482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0.000707536298446</c:v>
              </c:pt>
              <c:pt idx="1">
                <c:v>0.0399878754183617</c:v>
              </c:pt>
              <c:pt idx="2">
                <c:v>0.225968430808428</c:v>
              </c:pt>
              <c:pt idx="3">
                <c:v>0.2097436548454993</c:v>
              </c:pt>
              <c:pt idx="4">
                <c:v>0</c:v>
              </c:pt>
              <c:pt idx="5">
                <c:v>0.0485084245323154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0.0030577966551261</c:v>
              </c:pt>
              <c:pt idx="10">
                <c:v>0.0092187928454459</c:v>
              </c:pt>
              <c:pt idx="11">
                <c:v>0</c:v>
              </c:pt>
              <c:pt idx="12">
                <c:v>0.032696081072156</c:v>
              </c:pt>
              <c:pt idx="13">
                <c:v>0.0023244938897661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24600265964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0.1020586894705166</c:v>
              </c:pt>
              <c:pt idx="4">
                <c:v>0</c:v>
              </c:pt>
              <c:pt idx="5">
                <c:v>0.1089798874755172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0.0056366268484621</c:v>
              </c:pt>
              <c:pt idx="10">
                <c:v>0</c:v>
              </c:pt>
              <c:pt idx="11">
                <c:v>0</c:v>
              </c:pt>
              <c:pt idx="12">
                <c:v>0.0014362132724142</c:v>
              </c:pt>
              <c:pt idx="13">
                <c:v>0.0260715339983783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0.225836159196146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0.0024666715198365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0.0118320374611894</c:v>
              </c:pt>
              <c:pt idx="11">
                <c:v>0</c:v>
              </c:pt>
              <c:pt idx="12">
                <c:v>0</c:v>
              </c:pt>
              <c:pt idx="13">
                <c:v>0.0054539217325707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0.1038493352338825</c:v>
              </c:pt>
              <c:pt idx="10">
                <c:v>0</c:v>
              </c:pt>
              <c:pt idx="11">
                <c:v>0</c:v>
              </c:pt>
              <c:pt idx="12">
                <c:v>0.0265100735229734</c:v>
              </c:pt>
              <c:pt idx="13">
                <c:v>0.0520806153849847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0.0070763788847018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0.0113664565212586</c:v>
              </c:pt>
              <c:pt idx="11">
                <c:v>0</c:v>
              </c:pt>
              <c:pt idx="12">
                <c:v>0.065781849685817</c:v>
              </c:pt>
              <c:pt idx="13">
                <c:v>0.0143606055085528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0.0058403418001601</c:v>
              </c:pt>
              <c:pt idx="1">
                <c:v>0</c:v>
              </c:pt>
              <c:pt idx="2">
                <c:v>0.0060055973478815</c:v>
              </c:pt>
              <c:pt idx="3">
                <c:v>0.0021939819563892</c:v>
              </c:pt>
              <c:pt idx="4">
                <c:v>0.3970784801516897</c:v>
              </c:pt>
              <c:pt idx="5">
                <c:v>0.0067564525290011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0.0066179364492227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0.0031260435445994</c:v>
              </c:pt>
              <c:pt idx="1">
                <c:v>0</c:v>
              </c:pt>
              <c:pt idx="2">
                <c:v>0.00909015108798</c:v>
              </c:pt>
              <c:pt idx="3">
                <c:v>0.1079290738212605</c:v>
              </c:pt>
              <c:pt idx="4">
                <c:v>0.0012378025558711</c:v>
              </c:pt>
              <c:pt idx="5">
                <c:v>0.0640015366622346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0.0096536283781675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715200819792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6.209833998237208E-06</c:v>
              </c:pt>
              <c:pt idx="2">
                <c:v>0.0277084511123573</c:v>
              </c:pt>
              <c:pt idx="3">
                <c:v>0.0246123150927712</c:v>
              </c:pt>
              <c:pt idx="4">
                <c:v>9.750107763857756E-05</c:v>
              </c:pt>
              <c:pt idx="5">
                <c:v>0.0756829012842346</c:v>
              </c:pt>
              <c:pt idx="6">
                <c:v>0.281882290947362</c:v>
              </c:pt>
              <c:pt idx="7">
                <c:v>0.0171315163168958</c:v>
              </c:pt>
              <c:pt idx="8">
                <c:v>0</c:v>
              </c:pt>
              <c:pt idx="9">
                <c:v>0.0121655703584055</c:v>
              </c:pt>
              <c:pt idx="10">
                <c:v>8.020279380883732E-05</c:v>
              </c:pt>
              <c:pt idx="11">
                <c:v>0</c:v>
              </c:pt>
              <c:pt idx="12">
                <c:v>0.0003733935014402</c:v>
              </c:pt>
              <c:pt idx="13">
                <c:v>0.0076825125327544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0.7398838494445065</c:v>
              </c:pt>
              <c:pt idx="1">
                <c:v>0.7576069089174863</c:v>
              </c:pt>
              <c:pt idx="2">
                <c:v>0.4067650805956955</c:v>
              </c:pt>
              <c:pt idx="3">
                <c:v>0.2547907823000527</c:v>
              </c:pt>
              <c:pt idx="4">
                <c:v>0.1899665400771194</c:v>
              </c:pt>
              <c:pt idx="5">
                <c:v>0.501764050783107</c:v>
              </c:pt>
              <c:pt idx="6">
                <c:v>0.5102680265524613</c:v>
              </c:pt>
              <c:pt idx="7">
                <c:v>0.3219766829932506</c:v>
              </c:pt>
              <c:pt idx="8">
                <c:v>0.7346221556246539</c:v>
              </c:pt>
              <c:pt idx="9">
                <c:v>0.7841308564058382</c:v>
              </c:pt>
              <c:pt idx="10">
                <c:v>0.905144754203508</c:v>
              </c:pt>
              <c:pt idx="11">
                <c:v>0.9950984201949188</c:v>
              </c:pt>
              <c:pt idx="12">
                <c:v>0.7896338696180781</c:v>
              </c:pt>
              <c:pt idx="13">
                <c:v>0.7623576496416468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0.0007778648587768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0.0794959511741282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0.0004759563727812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0.6770530491958513</c:v>
              </c:pt>
              <c:pt idx="1">
                <c:v>0.2831240514453489</c:v>
              </c:pt>
              <c:pt idx="2">
                <c:v>0.1189043638793473</c:v>
              </c:pt>
              <c:pt idx="3">
                <c:v>0.0541478382338885</c:v>
              </c:pt>
              <c:pt idx="4">
                <c:v>0.0691691486679832</c:v>
              </c:pt>
              <c:pt idx="5">
                <c:v>0.0385939734534043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0.1562451470738617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0.1060816611755285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0.0027100326358847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0.1114653528864435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0.0271777649130833</c:v>
              </c:pt>
              <c:pt idx="1">
                <c:v>0.2481574168942679</c:v>
              </c:pt>
              <c:pt idx="2">
                <c:v>0.3103361231533156</c:v>
              </c:pt>
              <c:pt idx="3">
                <c:v>0.2754246803503517</c:v>
              </c:pt>
              <c:pt idx="4">
                <c:v>0.014041110348548</c:v>
              </c:pt>
              <c:pt idx="5">
                <c:v>0.0752568617813482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0.0292031554311997</c:v>
              </c:pt>
              <c:pt idx="13">
                <c:v>0.0367985434820997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0.1630851758633726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0.2266926452455743</c:v>
              </c:pt>
              <c:pt idx="10">
                <c:v>0.1934223099799888</c:v>
              </c:pt>
              <c:pt idx="11">
                <c:v>0.0776345555628621</c:v>
              </c:pt>
              <c:pt idx="12">
                <c:v>0.0575015112254482</c:v>
              </c:pt>
              <c:pt idx="13">
                <c:v>0.0810507396212834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0.0171048396238314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0.1401631050460977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0.0345629917770034</c:v>
              </c:pt>
              <c:pt idx="13">
                <c:v>0.0664047909997442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0.1491507045686744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0.0804724478659473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0.0001850204499402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0.0008686720725941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0.0447748624524588</c:v>
              </c:pt>
              <c:pt idx="12">
                <c:v>0.0486742869107226</c:v>
              </c:pt>
              <c:pt idx="13">
                <c:v>0.0903093022047325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0.0724628706745208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0.1791471446090743</c:v>
              </c:pt>
              <c:pt idx="1">
                <c:v>0.262965402988883</c:v>
              </c:pt>
              <c:pt idx="2">
                <c:v>0.1220369378318891</c:v>
              </c:pt>
              <c:pt idx="3">
                <c:v>0.0913300746244787</c:v>
              </c:pt>
              <c:pt idx="4">
                <c:v>0.3509649115508297</c:v>
              </c:pt>
              <c:pt idx="5">
                <c:v>0.2415044257866422</c:v>
              </c:pt>
              <c:pt idx="6">
                <c:v>0.4034078440709433</c:v>
              </c:pt>
              <c:pt idx="7">
                <c:v>0.1363201387026671</c:v>
              </c:pt>
              <c:pt idx="8">
                <c:v>0.2626478425037037</c:v>
              </c:pt>
              <c:pt idx="9">
                <c:v>0.250772714481035</c:v>
              </c:pt>
              <c:pt idx="10">
                <c:v>0.18214618321619</c:v>
              </c:pt>
              <c:pt idx="11">
                <c:v>0.6394021114919322</c:v>
              </c:pt>
              <c:pt idx="12">
                <c:v>0.2641400553130175</c:v>
              </c:pt>
              <c:pt idx="13">
                <c:v>0.3617418572811671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.018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50041066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4192127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0.01337978771288</c:v>
              </c:pt>
              <c:pt idx="1">
                <c:v>0</c:v>
              </c:pt>
              <c:pt idx="2">
                <c:v>5.078424539045932E-05</c:v>
              </c:pt>
              <c:pt idx="3">
                <c:v>0.0001093558057945</c:v>
              </c:pt>
              <c:pt idx="4">
                <c:v>0</c:v>
              </c:pt>
              <c:pt idx="5">
                <c:v>0.0017829341655087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0.0794959511741282</c:v>
              </c:pt>
              <c:pt idx="10">
                <c:v>0.0022999178667117</c:v>
              </c:pt>
              <c:pt idx="11">
                <c:v>0</c:v>
              </c:pt>
              <c:pt idx="12">
                <c:v>0.000571615744937</c:v>
              </c:pt>
              <c:pt idx="13">
                <c:v>0.0030062544433458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" name="">
            <a:extLst>
              <a:ext uri="{FF2B5EF4-FFF2-40B4-BE49-F238E27FC236}">
                <ns2:creationId id="{C1B0F057-70DD-4CBF-91E3-C778F4369454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32D64F73-65A0-4199-A389-B33E45473F0B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111F0C7-28C0-480B-8207-10A4281DF888}"/>
              </a:ext>
            </a:extLst>
          </ns0:cNvPr>
          <ns0:cNvSpPr>
            <a:spLocks noGrp="1"/>
          </ns0:cNvSpPr>
          <ns0:nvPr/>
        </ns0:nvSpPr>
        <ns0:spPr>
          <a:xfrm>
            <a:off x="571500" y="2400300"/>
            <a:ext cx="9620250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CDF59541-1FB8-44BB-8EA2-8CC56AE7523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8DB930C-574A-447A-B0C4-2548CBF0F144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A5F7F31-A5BC-4640-A462-6EF7E0D68ABA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11163D9-24B5-46BB-9CBF-459759D0F2FC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ns0:txBody>
      </ns0:sp>
    </ns0:spTree>
    <ns0:extLst>
      <ns0:ext uri="{BB962C8B-B14F-4D97-AF65-F5344CB8AC3E}">
        <ns3:creationId val="968717012"/>
      </ns0:ext>
    </ns0:extLst>
  </ns0:cSld>
</ns0:sld>
</file>

<file path=ppt/slides/slide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BB3949CD-0881-4154-91A2-E2E143FD15E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6E311B2-D07B-44E6-B2E8-471131613FD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R$ 821 bi ex-FIC; a concentração aparece em fundos, prestadores e ajustes de qualidade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18B08B8-6B9A-40B3-8B70-532DC3657C9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CAE3BA8-04CF-48B3-BE60-8BE448274DB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CD24ADC-D7C6-4F12-9075-8B3482930DD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6B5F62E-3691-465F-8F4B-1B74528E357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0BCD1EA-0846-4D4B-B5E8-E78E86EAA5A3}"/>
              </a:ext>
            </a:extLst>
          </ns0:cNvPr>
          <ns0:cNvSpPr>
            <a:spLocks noGrp="1"/>
          </ns0:cNvSpPr>
          <ns0:nvPr/>
        </ns0:nvSpPr>
        <ns0:spPr>
          <a:xfrm>
            <a:off x="647700" y="1381125"/>
            <a:ext cx="176212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5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R$ 821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27C70BF-76B4-44A2-9A44-5A4BE141985F}"/>
              </a:ext>
            </a:extLst>
          </ns0:cNvPr>
          <ns0:cNvSpPr>
            <a:spLocks noGrp="1"/>
          </ns0:cNvSpPr>
          <ns0:nvPr/>
        </ns0:nvSpPr>
        <ns0:spPr>
          <a:xfrm>
            <a:off x="2571750" y="1400175"/>
            <a:ext cx="8382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5846EF85-EFCA-4713-8990-CCDFC780D14C}"/>
              </a:ext>
            </a:extLst>
          </ns0:cNvPr>
          <ns0:cNvSpPr>
            <a:spLocks noGrp="1"/>
          </ns0:cNvSpPr>
          <ns0:nvPr/>
        </ns0:nvSpPr>
        <ns0:spPr>
          <a:xfrm>
            <a:off x="2571750" y="1781175"/>
            <a:ext cx="8382000" cy="4191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10,0× 2015; FIC-FIDC: R$ 140,1 bi.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6AE658BA-DE18-449A-B6D6-56FB2083E4CD}"/>
              </a:ext>
            </a:extLst>
          </ns0:cNvPr>
          <ns0:cNvSpPr>
            <a:spLocks noGrp="1"/>
          </ns0:cNvSpPr>
          <ns0:nvPr/>
        </ns0:nvSpPr>
        <ns0:spPr>
          <a:xfrm>
            <a:off x="647700" y="2371725"/>
            <a:ext cx="103251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9CE4070C-7DDE-46FB-92B6-81A2678C7789}"/>
              </a:ext>
            </a:extLst>
          </ns0:cNvPr>
          <ns0:cNvSpPr>
            <a:spLocks noGrp="1"/>
          </ns0:cNvSpPr>
          <ns0:nvPr/>
        </ns0:nvSpPr>
        <ns0:spPr>
          <a:xfrm>
            <a:off x="647700" y="2543175"/>
            <a:ext cx="176212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58,4%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5441E3C-0E87-4292-9AA0-878333EE132F}"/>
              </a:ext>
            </a:extLst>
          </ns0:cNvPr>
          <ns0:cNvSpPr>
            <a:spLocks noGrp="1"/>
          </ns0:cNvSpPr>
          <ns0:nvPr/>
        </ns0:nvSpPr>
        <ns0:spPr>
          <a:xfrm>
            <a:off x="2571750" y="2562225"/>
            <a:ext cx="8382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com PL ≥ R$ 200 mi têm até 10 contas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08B24D86-A88E-4F40-A8A1-06754208B9A4}"/>
              </a:ext>
            </a:extLst>
          </ns0:cNvPr>
          <ns0:cNvSpPr>
            <a:spLocks noGrp="1"/>
          </ns0:cNvSpPr>
          <ns0:nvPr/>
        </ns0:nvSpPr>
        <ns0:spPr>
          <a:xfrm>
            <a:off x="2571750" y="2943225"/>
            <a:ext cx="8382000" cy="4191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59,5% do PL no recorte de R$ 733,1 bi.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AEEC8704-A3AA-43F2-B7FA-943170C4EDBA}"/>
              </a:ext>
            </a:extLst>
          </ns0:cNvPr>
          <ns0:cNvSpPr>
            <a:spLocks noGrp="1"/>
          </ns0:cNvSpPr>
          <ns0:nvPr/>
        </ns0:nvSpPr>
        <ns0:spPr>
          <a:xfrm>
            <a:off x="647700" y="3533775"/>
            <a:ext cx="103251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7279E586-A556-41D8-BFC1-A30AB93EBF04}"/>
              </a:ext>
            </a:extLst>
          </ns0:cNvPr>
          <ns0:cNvSpPr>
            <a:spLocks noGrp="1"/>
          </ns0:cNvSpPr>
          <ns0:nvPr/>
        </ns0:nvSpPr>
        <ns0:spPr>
          <a:xfrm>
            <a:off x="647700" y="3705225"/>
            <a:ext cx="176212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275D9021-7E45-4492-A003-61726E178D64}"/>
              </a:ext>
            </a:extLst>
          </ns0:cNvPr>
          <ns0:cNvSpPr>
            <a:spLocks noGrp="1"/>
          </ns0:cNvSpPr>
          <ns0:nvPr/>
        </ns0:nvSpPr>
        <ns0:spPr>
          <a:xfrm>
            <a:off x="2571750" y="3724275"/>
            <a:ext cx="8382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C0BAAD35-6370-416E-A5DF-B5A49A0D8659}"/>
              </a:ext>
            </a:extLst>
          </ns0:cNvPr>
          <ns0:cNvSpPr>
            <a:spLocks noGrp="1"/>
          </ns0:cNvSpPr>
          <ns0:nvPr/>
        </ns0:nvSpPr>
        <ns0:spPr>
          <a:xfrm>
            <a:off x="2571750" y="4105275"/>
            <a:ext cx="8382000" cy="4191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7C46FD07-A1E3-46C8-B1F8-FB9B01EEC0E1}"/>
              </a:ext>
            </a:extLst>
          </ns0:cNvPr>
          <ns0:cNvSpPr>
            <a:spLocks noGrp="1"/>
          </ns0:cNvSpPr>
          <ns0:nvPr/>
        </ns0:nvSpPr>
        <ns0:spPr>
          <a:xfrm>
            <a:off x="647700" y="4695825"/>
            <a:ext cx="103251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CD1DF409-9475-407A-B62E-59CA1BDBCB46}"/>
              </a:ext>
            </a:extLst>
          </ns0:cNvPr>
          <ns0:cNvSpPr>
            <a:spLocks noGrp="1"/>
          </ns0:cNvSpPr>
          <ns0:nvPr/>
        </ns0:nvSpPr>
        <ns0:spPr>
          <a:xfrm>
            <a:off x="647700" y="4867275"/>
            <a:ext cx="176212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40,4%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369C9186-C9DE-44B0-9D48-FBCA6869738C}"/>
              </a:ext>
            </a:extLst>
          </ns0:cNvPr>
          <ns0:cNvSpPr>
            <a:spLocks noGrp="1"/>
          </ns0:cNvSpPr>
          <ns0:nvPr/>
        </ns0:nvSpPr>
        <ns0:spPr>
          <a:xfrm>
            <a:off x="2571750" y="4886325"/>
            <a:ext cx="8382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DD63167F-7D87-48B2-A955-12795C5EBDD4}"/>
              </a:ext>
            </a:extLst>
          </ns0:cNvPr>
          <ns0:cNvSpPr>
            <a:spLocks noGrp="1"/>
          </ns0:cNvSpPr>
          <ns0:nvPr/>
        </ns0:nvSpPr>
        <ns0:spPr>
          <a:xfrm>
            <a:off x="2571750" y="5267325"/>
            <a:ext cx="8382000" cy="4191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R$ 331,6 bi de R$ 821,4 bi de PL direto; FICs excluídos pelo portão único.</a:t>
            </a:r>
          </a:p>
        </ns0:txBody>
      </ns0:sp>
    </ns0:spTree>
    <ns0:extLst>
      <ns0:ext uri="{BB962C8B-B14F-4D97-AF65-F5344CB8AC3E}">
        <ns3:creationId val="1803514619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49B01727-9498-41DB-9CBA-F1EB31B8FC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6473C27-D3C0-4010-B178-EC0A98998FD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9AF059F-B00D-4B32-A230-C8C6B2AA5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C8CEB21-C536-4CF8-8AF6-82E0467FFF6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CAC9D74-788C-47C0-95D5-F7B059AE38B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4C715F5-680C-404E-8D1A-98A3971493C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B2770A-B6B7-4DFA-AF36-A2555FE5F355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7158E23-01C3-4F53-B11F-0334D099FF90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dd75547820c84c99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669B151-E2BC-4352-9983-8F9192B8DE27}"/>
              </a:ext>
            </a:extLst>
          </ns0:cNvPr>
          <ns0:cNvSpPr>
            <a:spLocks noGrp="1"/>
          </ns0:cNvSpPr>
          <ns0:nvPr/>
        </ns0:nvSpPr>
        <ns0:spPr>
          <a:xfrm>
            <a:off x="3476625" y="1676400"/>
            <a:ext cx="2095500" cy="41910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B1E274A5-9B24-4E79-91CC-0A4F897FEAF0}"/>
              </a:ext>
            </a:extLst>
          </ns0:cNvPr>
          <ns0:cNvSpPr>
            <a:spLocks noGrp="1"/>
          </ns0:cNvSpPr>
          <ns0:nvPr/>
        </ns0:nvSpPr>
        <ns0:spPr>
          <a:xfrm>
            <a:off x="3590925" y="1752600"/>
            <a:ext cx="18669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· R$ 821,0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02ADF4E-C671-4680-B97A-FDA8760E28B8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5A2F431-1E17-4AB0-8D36-97FB816C6D65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577EC433-C4D8-4640-8806-D6974E8719CC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6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033a683104984ffa"/>
          </a:graphicData>
        </a:graphic>
      </ns0:graphicFrame>
      <ns0:sp>
        <ns0:nvSpPr>
          <ns0:cNvPr id="16" name="">
            <a:extLst>
              <a:ext uri="{FF2B5EF4-FFF2-40B4-BE49-F238E27FC236}">
                <ns2:creationId id="{4596E63F-7C09-49A6-B8DE-6BCF73040380}"/>
              </a:ext>
            </a:extLst>
          </ns0:cNvPr>
          <ns0:cNvSpPr>
            <a:spLocks noGrp="1"/>
          </ns0:cNvSpPr>
          <ns0:nvPr/>
        </ns0:nvSpPr>
        <ns0:spPr>
          <a:xfrm>
            <a:off x="9315450" y="1676400"/>
            <a:ext cx="2095500" cy="4191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C4264BE3-8B4B-42CB-982A-1C17BD3B8339}"/>
              </a:ext>
            </a:extLst>
          </ns0:cNvPr>
          <ns0:cNvSpPr>
            <a:spLocks noGrp="1"/>
          </ns0:cNvSpPr>
          <ns0:nvPr/>
        </ns0:nvSpPr>
        <ns0:spPr>
          <a:xfrm>
            <a:off x="9410700" y="1752600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TOTAL · R$ 13,780 tri</a:t>
            </a:r>
          </a:p>
        </ns0:txBody>
      </ns0:sp>
      <ns0:graphicFrame>
        <ns0:nvGraphicFramePr>
          <ns0:cNvPr id="39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d49534ece5dd45e3"/>
          </a:graphicData>
        </a:graphic>
      </ns0:graphicFrame>
      <ns0:sp>
        <ns0:nvSpPr>
          <ns0:cNvPr id="19" name="">
            <a:extLst>
              <a:ext uri="{FF2B5EF4-FFF2-40B4-BE49-F238E27FC236}">
                <ns2:creationId id="{8EB9BCEF-0F75-4DDB-8844-76D0A071C5BD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A4525FB7-A635-4B55-8699-9331FC1439F0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A48224D7-4043-4516-9815-FB7359C35C6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142095149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0" name="">
            <a:extLst>
              <a:ext uri="{FF2B5EF4-FFF2-40B4-BE49-F238E27FC236}">
                <ns2:creationId id="{4D0656E5-5325-41C9-B3F2-C495D8E39C4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CVM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52BB7B-0B92-468B-96AD-EA30A54F9E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CVM preserva o volume registrado; o nível de FIDCs em 2023 vem da ANBIMA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066AA5-2C1F-4199-A28F-843F0B4B570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EB1E535-3A2D-4304-AA3A-18421F193E1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E755ECC-4588-4CCD-BB7B-F35426F76A9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bases do rito automático e de distribuição, snapshot 24/jul/26. 2026 = jan–jun. FIDCs 2023: valor encerrado ANBIMA.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E97989B-C5CA-4B18-B962-C1091363CE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3209D6E-5921-4A10-9AE1-FAFC88D999E5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6939FD7-F4D0-454E-90ED-6608321BE990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4572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1524000"/>
          <a:ext cx="4572000" cy="1809750"/>
        </ns0:xfrm>
        <a:graphic>
          <a:graphicData uri="http://schemas.openxmlformats.org/drawingml/2006/chart">
            <c:chart ns4:id="R25e7b99575eb4ac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2EBFBD4-A6C8-4E4D-90AE-27151A062366}"/>
              </a:ext>
            </a:extLst>
          </ns0:cNvPr>
          <ns0:cNvSpPr>
            <a:spLocks noGrp="1"/>
          </ns0:cNvSpPr>
          <ns0:nvPr/>
        </ns0:nvSpPr>
        <ns0:spPr>
          <a:xfrm>
            <a:off x="5572125" y="1257300"/>
            <a:ext cx="6048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 EXECUTIVA DA TAXONOMIA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ADD39D6-FAA2-4B1C-8784-8924369DE3FA}"/>
              </a:ext>
            </a:extLst>
          </ns0:cNvPr>
          <ns0:cNvSpPr>
            <a:spLocks noGrp="1"/>
          </ns0:cNvSpPr>
          <ns0:nvPr/>
        </ns0:nvSpPr>
        <ns0:spPr>
          <a:xfrm>
            <a:off x="5572125" y="1524000"/>
            <a:ext cx="6048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D6ADED6B-76C1-43BF-A63F-700DED1832D4}"/>
              </a:ext>
            </a:extLst>
          </ns0:cNvPr>
          <ns0:cNvSpPr>
            <a:spLocks noGrp="1"/>
          </ns0:cNvSpPr>
          <ns0:nvPr/>
        </ns0:nvSpPr>
        <ns0:spPr>
          <a:xfrm>
            <a:off x="5572125" y="1524000"/>
            <a:ext cx="6048375" cy="18097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F9E77694-B307-4CC9-983E-65BEE431FD65}"/>
              </a:ext>
            </a:extLst>
          </ns0:cNvPr>
          <ns0:cNvSpPr>
            <a:spLocks noGrp="1"/>
          </ns0:cNvSpPr>
          <ns0:nvPr/>
        </ns0:nvSpPr>
        <ns0:spPr>
          <a:xfrm>
            <a:off x="5810250" y="1724025"/>
            <a:ext cx="557212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liderou o 1S26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322D5187-F2AD-4DB8-95AF-9064A6211A70}"/>
              </a:ext>
            </a:extLst>
          </ns0:cNvPr>
          <ns0:cNvSpPr>
            <a:spLocks noGrp="1"/>
          </ns0:cNvSpPr>
          <ns0:nvPr/>
        </ns0:nvSpPr>
        <ns0:spPr>
          <a:xfrm>
            <a:off x="5810250" y="2076450"/>
            <a:ext cx="5572125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R$ 39,3 bi emitidos · +R$ 18,2 bi versus jan–jun/25 · 62,7% dos quatro tipos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A239E7C4-D427-4928-8ADF-D649F82BF8EE}"/>
              </a:ext>
            </a:extLst>
          </ns0:cNvPr>
          <ns0:cNvSpPr>
            <a:spLocks noGrp="1"/>
          </ns0:cNvSpPr>
          <ns0:nvPr/>
        </ns0:nvSpPr>
        <ns0:spPr>
          <a:xfrm>
            <a:off x="5810250" y="2647950"/>
            <a:ext cx="5572125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Fomento Mercantil: +R$ 3,2 bi   ·   Outros: −R$ 1,5 bi   ·   Agro, Indústria e Comércio: −R$ 9,6 bi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670A9112-96A2-49B5-9DEE-DA4A6AA73A68}"/>
              </a:ext>
            </a:extLst>
          </ns0:cNvPr>
          <ns0:cNvSpPr>
            <a:spLocks noGrp="1"/>
          </ns0:cNvSpPr>
          <ns0:nvPr/>
        </ns0:nvSpPr>
        <ns0:spPr>
          <a:xfrm>
            <a:off x="5810250" y="3028950"/>
            <a:ext cx="55721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2023 usa o valor encerrado ANBIMA; o volume não observado na CVM recebe a composição do observado. FIC-FIDC aparece na ponte de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249F3207-DCF3-4DA7-A657-1839B010E83F}"/>
              </a:ext>
            </a:extLst>
          </ns0:cNvPr>
          <ns0:cNvSpPr>
            <a:spLocks noGrp="1"/>
          </ns0:cNvSpPr>
          <ns0:nvPr/>
        </ns0:nvSpPr>
        <ns0:spPr>
          <a:xfrm>
            <a:off x="571500" y="3476625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AE434821-3D06-4129-9BAC-D9D2B4FF902B}"/>
              </a:ext>
            </a:extLst>
          </ns0:cNvPr>
          <ns0:cNvSpPr>
            <a:spLocks noGrp="1"/>
          </ns0:cNvSpPr>
          <ns0:nvPr/>
        </ns0:nvSpPr>
        <ns0:spPr>
          <a:xfrm>
            <a:off x="571500" y="3686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"/>
          <ns0:cNvGraphicFramePr/>
          <ns0:nvPr/>
        </ns0:nvGraphicFramePr>
        <ns0:xfrm>
          <a:off x="571500" y="3705225"/>
          <a:ext cx="11049000" cy="23526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666750"/>
                <a:gridCol w="495300"/>
                <a:gridCol w="666750"/>
                <a:gridCol w="495300"/>
                <a:gridCol w="1095375"/>
                <a:gridCol w="666750"/>
                <a:gridCol w="495300"/>
                <a:gridCol w="1095375"/>
                <a:gridCol w="666750"/>
                <a:gridCol w="495300"/>
                <a:gridCol w="666750"/>
                <a:gridCol w="495300"/>
                <a:gridCol w="1095375"/>
              </a:tblGrid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23→24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24→25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1S25→1S26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925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925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-9,6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925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925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925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· quatro tipos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106,5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925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FIC-FIDC · reconciliação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925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747341319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1E9B514-6AA5-471F-A958-114F8354B29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A88A736-58E5-4E21-93A0-D2E748CDCC4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valor encerrado oferece a referência comparável do mercado por instrumento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79A930A-D300-404B-8314-5922A08EBCB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76615FD-F80F-4C24-BE4C-EE96D2C6CE3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96ABA57-6385-4F90-9BC0-23A67DD5DB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Boletim de Mercado de Capitais, snapshot mai/26. Valor encerrado; 2026 = jan–mai.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ABB052-3F49-4127-AE08-D01EA0C5351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91D99F9-1339-438C-9B5B-F439DC4233D0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6000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C870985-466B-4A5A-8935-B9D42CE98E98}"/>
              </a:ext>
            </a:extLst>
          </ns0:cNvPr>
          <ns0:cNvSpPr>
            <a:spLocks noGrp="1"/>
          </ns0:cNvSpPr>
          <ns0:nvPr/>
        </ns0:nvSpPr>
        <ns0:spPr>
          <a:xfrm>
            <a:off x="571500" y="1562100"/>
            <a:ext cx="6000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571500" y="1657350"/>
          <a:ext cx="6000750" cy="3905250"/>
        </ns0:xfrm>
        <a:graphic>
          <a:graphicData uri="http://schemas.openxmlformats.org/drawingml/2006/chart">
            <c:chart ns4:id="R5a071bda1ff14f0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61A817A-7845-4A25-88CE-F1E7960A6996}"/>
              </a:ext>
            </a:extLst>
          </ns0:cNvPr>
          <ns0:cNvSpPr>
            <a:spLocks noGrp="1"/>
          </ns0:cNvSpPr>
          <ns0:nvPr/>
        </ns0:nvSpPr>
        <ns0:spPr>
          <a:xfrm>
            <a:off x="6953250" y="129540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13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13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DEBÊNTURES · PONTE TAXONÔMICA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33CBDC7-EF33-4A52-8C5B-61DDBE9E7DE2}"/>
              </a:ext>
            </a:extLst>
          </ns0:cNvPr>
          <ns0:cNvSpPr>
            <a:spLocks noGrp="1"/>
          </ns0:cNvSpPr>
          <ns0:nvPr/>
        </ns0:nvSpPr>
        <ns0:spPr>
          <a:xfrm>
            <a:off x="6953250" y="1533525"/>
            <a:ext cx="4667250" cy="723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2025: CVM R$ 453,7 bi + R$ 38,8 bi em Outros títulos de securitização = R$ 492,4 bi, ante R$ 493,4 bi na ANBIMA. Jan–mai/26: R$ 148,4 bi ante R$ 146,3 bi.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0FDE960-45A2-445E-B1FE-C848FFA1FB0A}"/>
              </a:ext>
            </a:extLst>
          </ns0:cNvPr>
          <ns0:cNvSpPr>
            <a:spLocks noGrp="1"/>
          </ns0:cNvSpPr>
          <ns0:nvPr/>
        </ns0:nvSpPr>
        <ns0:spPr>
          <a:xfrm>
            <a:off x="6953250" y="2343150"/>
            <a:ext cx="4667250" cy="762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A3F3A40A-BDA4-4A8D-8333-DAFFDAAF387B}"/>
              </a:ext>
            </a:extLst>
          </ns0:cNvPr>
          <ns0:cNvSpPr>
            <a:spLocks noGrp="1"/>
          </ns0:cNvSpPr>
          <ns0:nvPr/>
        </ns0:nvSpPr>
        <ns0:spPr>
          <a:xfrm>
            <a:off x="6953250" y="2466975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· MÉTRICA E COBERTURA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13ADC7CD-7A82-44BB-8E0B-1EEB9349AF7D}"/>
              </a:ext>
            </a:extLst>
          </ns0:cNvPr>
          <ns0:cNvSpPr>
            <a:spLocks noGrp="1"/>
          </ns0:cNvSpPr>
          <ns0:nvPr/>
        </ns0:nvSpPr>
        <ns0:spPr>
          <a:xfrm>
            <a:off x="6953250" y="2705100"/>
            <a:ext cx="4667250" cy="723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2025, a CVM registra R$ 116,9 bi e a ANBIMA encerra R$ 91,0 bi. A diferença combina valor registrado versus encerrado, cobertura e presença de ofertas secundárias na ANBIMA; a causa individual exige reconciliação por oferta.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571D9F09-604A-4062-B5D6-11F139927562}"/>
              </a:ext>
            </a:extLst>
          </ns0:cNvPr>
          <ns0:cNvSpPr>
            <a:spLocks noGrp="1"/>
          </ns0:cNvSpPr>
          <ns0:nvPr/>
        </ns0:nvSpPr>
        <ns0:spPr>
          <a:xfrm>
            <a:off x="6953250" y="3514725"/>
            <a:ext cx="4667250" cy="762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CC52FF1C-4CE9-44A0-A0E1-23701D58C3F1}"/>
              </a:ext>
            </a:extLst>
          </ns0:cNvPr>
          <ns0:cNvSpPr>
            <a:spLocks noGrp="1"/>
          </ns0:cNvSpPr>
          <ns0:nvPr/>
        </ns0:nvSpPr>
        <ns0:spPr>
          <a:xfrm>
            <a:off x="6953250" y="36385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CRI E NOTAS COMERCIAIS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14E5D4DA-E864-4A9E-82FF-C5938E579D8A}"/>
              </a:ext>
            </a:extLst>
          </ns0:cNvPr>
          <ns0:cNvSpPr>
            <a:spLocks noGrp="1"/>
          </ns0:cNvSpPr>
          <ns0:nvPr/>
        </ns0:nvSpPr>
        <ns0:spPr>
          <a:xfrm>
            <a:off x="6953250" y="3876675"/>
            <a:ext cx="4667250" cy="723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CRI: CVM 10,0% em 2025 e 9,8% em jan–mai/26 versus ANBIMA. Notas comerciais: 10,2% em jan–mai/26. O residual pode refletir métrica, rito, retificações e data do snapshot.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87E9B6-CB7F-4C93-9B75-00AD68E823AE}"/>
              </a:ext>
            </a:extLst>
          </ns0:cNvPr>
          <ns0:cNvSpPr>
            <a:spLocks noGrp="1"/>
          </ns0:cNvSpPr>
          <ns0:nvPr/>
        </ns0:nvSpPr>
        <ns0:spPr>
          <a:xfrm>
            <a:off x="6953250" y="4686300"/>
            <a:ext cx="4667250" cy="762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215E3F8E-A03D-4629-9804-2E8D2024EB7A}"/>
              </a:ext>
            </a:extLst>
          </ns0:cNvPr>
          <ns0:cNvSpPr>
            <a:spLocks noGrp="1"/>
          </ns0:cNvSpPr>
          <ns0:nvPr/>
        </ns0:nvSpPr>
        <ns0:spPr>
          <a:xfrm>
            <a:off x="6953250" y="4810125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CRA · PONTO PENDENTE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9953CE16-A7DD-4B40-B5E2-75D71C039FAE}"/>
              </a:ext>
            </a:extLst>
          </ns0:cNvPr>
          <ns0:cNvSpPr>
            <a:spLocks noGrp="1"/>
          </ns0:cNvSpPr>
          <ns0:nvPr/>
        </ns0:nvSpPr>
        <ns0:spPr>
          <a:xfrm>
            <a:off x="6953250" y="5048250"/>
            <a:ext cx="4667250" cy="723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CVM ficou 18,1% acima da ANBIMA em 2023. De 2024 a jan–mai/26, o desvio ficou em até 2,7%. A causa de 2023 permanece sem comprovação oferta a oferta.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4F6E6703-2E8B-4FA1-8783-208E3B02A61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4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4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Debêntures incluem debêntures de securitização. O anexo não segrega sistematicamente ofertas primárias e secundárias para renda fixa e fundos. Série sujeita a retificações.</a:t>
            </a:r>
          </a:p>
        </ns0:txBody>
      </ns0:sp>
    </ns0:spTree>
    <ns0:extLst>
      <ns0:ext uri="{BB962C8B-B14F-4D97-AF65-F5344CB8AC3E}">
        <ns5:creationId val="80981720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A1711E81-FF78-4B9A-BA0A-8552C34ED2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827706-1E5C-4D3F-8155-D8A92A385CB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8606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54D682B-7D0B-48C5-8B9C-3B1604AC64B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CAB6CC3-4180-4FFF-8A8B-ECBA7B6F41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9D26DBD-5DC4-4CEC-84B7-5ABA25DA32D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BD7A944-A9F0-457C-9DD4-3CDA169860F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0E262AB-B360-43B1-98A3-53C41DE7B890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ACED13-350B-4F58-B8A5-81C4D79A6D9B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8bc49cccc6424c8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D3CDDD4-9E71-4EF1-89C0-F4C2483FD911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11E3E14-66EE-4D93-AFA4-19D330F65BEA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cfad96b993e2407f"/>
          </a:graphicData>
        </a:graphic>
      </ns0:graphicFrame>
      <ns0:sp>
        <ns0:nvSpPr>
          <ns0:cNvPr id="13" name="">
            <a:extLst>
              <a:ext uri="{FF2B5EF4-FFF2-40B4-BE49-F238E27FC236}">
                <ns2:creationId id="{70500948-1328-497D-9299-CB21ED8CCB5C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9B31EB2D-C2A5-4793-9B38-051A931B6F8D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33eb62bf31ea4aa8"/>
          </a:graphicData>
        </a:graphic>
      </ns0:graphicFrame>
      <ns0:sp>
        <ns0:nvSpPr>
          <ns0:cNvPr id="16" name="">
            <a:extLst>
              <a:ext uri="{FF2B5EF4-FFF2-40B4-BE49-F238E27FC236}">
                <ns2:creationId id="{0FD6F24F-456A-4A62-A891-C520149318B4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319253110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876B1AF2-84FA-4959-BF12-6A54D8A3004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C020662-360F-4C08-A346-7F4534CFEC7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B926079-14FE-486D-B6F3-B11118B55E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D279E1C-EC4D-48E3-BA63-80E28FFA53B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642A5D3-57DE-4D03-BE6B-D9B77DB8715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C7AB69A-2095-44B4-9E18-795C52E3B7C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621152aadb9f41ef"/>
          </a:graphicData>
        </a:graphic>
      </ns0:graphicFrame>
      <ns0:sp>
        <ns0:nvSpPr>
          <ns0:cNvPr id="8" name="">
            <a:extLst>
              <a:ext uri="{FF2B5EF4-FFF2-40B4-BE49-F238E27FC236}">
                <ns2:creationId id="{B66189F7-8525-4B94-ADFD-333A3C997451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4BC404E1-FEAD-4F27-89B8-028674E47D9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5eb06f49483c465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0BE647DF-78E3-45B7-AD6B-B1193E40B801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2F380A-EA84-4C44-B9E5-98BCCEE8AE3B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8b4e68019a144c6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AEB62FE-D495-42DE-91B3-6C9B2B10A7FF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5F5E576A-F9C3-4128-B601-149FFA8C580E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054c1f7568844399"/>
          </a:graphicData>
        </a:graphic>
      </ns0:graphicFrame>
      <ns0:sp>
        <ns0:nvSpPr>
          <ns0:cNvPr id="17" name="">
            <a:extLst>
              <a:ext uri="{FF2B5EF4-FFF2-40B4-BE49-F238E27FC236}">
                <ns2:creationId id="{E724CFC0-172B-4088-8D69-D06AE80544D6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A6AE249-A7C3-4429-BB32-F0930D173EBE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F1EF3BBE-7DC9-475F-9164-3FE9C91F2F48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3ef6926370884646"/>
          </a:graphicData>
        </a:graphic>
      </ns0:graphicFrame>
      <ns0:sp>
        <ns0:nvSpPr>
          <ns0:cNvPr id="21" name="">
            <a:extLst>
              <a:ext uri="{FF2B5EF4-FFF2-40B4-BE49-F238E27FC236}">
                <ns2:creationId id="{CBFDBF8B-82E5-4850-8D35-8955CB255DAE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AC38025C-06D8-4C19-8E32-30563B76A20B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42803330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84AF9BB4-FB55-4D79-BEF2-05D1EF0DB72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ANALÍTICA · DECISÕES APROVADAS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4F671C6-082F-4971-9574-6B9C89F4353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60,2% do PL ex-FIC ·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A1174BB-19E4-427F-9CD0-C073215791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48AA289-99D1-4B12-9319-643285BF754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34E5911-2829-4ED2-9A71-352D7E8BD79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F979111-D114-43F7-86D2-2A6FE216141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C6A2FC7-9735-4632-B709-A94512803A5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C70208-FF0A-43D6-8054-8C5033BACA7D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200c20f7b4bc493a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252BCBD-4DF7-4E28-B764-BDC7F625112F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636E77F-109D-4F9A-88A1-3FDA0DF7C8ED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2adecd89a1cd480b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2095500" y="5295900"/>
          <a:ext cx="8001000" cy="266700"/>
        </ns0:xfrm>
        <a:graphic>
          <a:graphicData uri="http://schemas.openxmlformats.org/drawingml/2006/chart">
            <c:chart ns4:id="Rce8b3a2977e04476"/>
          </a:graphicData>
        </a:graphic>
      </ns0:graphicFrame>
      <ns0:sp>
        <ns0:nvSpPr>
          <ns0:cNvPr id="14" name="">
            <a:extLst>
              <a:ext uri="{FF2B5EF4-FFF2-40B4-BE49-F238E27FC236}">
                <ns2:creationId id="{27EA0E5D-49D3-45A1-AE3D-AFF6A0895303}"/>
              </a:ext>
            </a:extLst>
          </ns0:cNvPr>
          <ns0:cNvSpPr>
            <a:spLocks noGrp="1"/>
          </ns0:cNvSpPr>
          <ns0:nvPr/>
        </ns0:nvSpPr>
        <ns0:spPr>
          <a:xfrm>
            <a:off x="1143000" y="56388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R$ 821,4 bi, equivalentes a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A6DB12A8-39AD-478C-8F81-A7231C8058DA}"/>
              </a:ext>
            </a:extLst>
          </ns0:cNvPr>
          <ns0:cNvSpPr>
            <a:spLocks noGrp="1"/>
          </ns0:cNvSpPr>
          <ns0:nvPr/>
        </ns0:nvSpPr>
        <ns0:spPr>
          <a:xfrm>
            <a:off x="762000" y="5876925"/>
            <a:ext cx="10668000" cy="3333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82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Camada analítica: 612 decisões aprovadas retiram R$ 128,1 bi de Outros; residual R$ 175,2 bi. Tipo/Foco oficial, documento, página, evidência e responsável permanecem no workbook.</a:t>
            </a:r>
          </a:p>
        </ns0:txBody>
      </ns0:sp>
    </ns0:spTree>
    <ns0:extLst>
      <ns0:ext uri="{BB962C8B-B14F-4D97-AF65-F5344CB8AC3E}">
        <ns5:creationId val="1820653003"/>
      </ns0:ext>
    </ns0:extLst>
  </ns0:cSld>
</ns0:sld>
</file>

<file path=ppt/slides/slide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5119C5F2-9924-4321-A030-8113F878B0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D75DA6A-BEEC-46E0-ADB7-00A4D2861EA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12,1% do PL ex-FIC em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BA22A82-28B6-4B8E-A3EE-98FE55DDAB8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1BCB1B4-7B5A-49DD-96EB-D9216287E7B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F551E72-EA75-4F67-8B0E-60715BB075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57500DF-8D35-4EA4-B36B-E65675145D0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7A13326-6EBD-4242-97A8-445BDC767933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95B710D-7433-4F14-9177-B815C64F6320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86ff67a7ffc43e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9DCACCC-DAA0-4DF8-A1C5-9F6AC1203100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A9B2FA-E84D-420C-8856-CAF17EE5AA41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26cccec78ced45b9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390cc0e400e94ca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33385CB-84F7-4C74-8F0F-AF63ED4CE6FE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536652124"/>
      </ns0:ext>
    </ns0:extLst>
  </ns0:cSld>
</ns0:sld>
</file>

<file path=ppt/slides/slide10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25F6D95-F4C4-4B22-A212-5BAF7AE9C7F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E19329F-52C8-4DF9-B9F6-D092D81CCE2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3186AA4-7D04-4CF8-A40E-B2A58CA0B82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55134B6-98DE-48D4-83C1-460B9154FB3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D9F44F4-A5A0-4270-8D4B-9A278D0F05E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3FF510A-D2F7-45F2-9231-277A6F42B82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C4BC2E6-E2F2-4A70-AA1C-704D1BDE040B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8C93B7E-350D-4C7F-AB87-8A34EC7B62F5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93ecb2dc1c534c6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50A0F8ED-C513-4437-B99C-92167DFA0BE4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96E411B-A827-4641-BA5A-06EBE33FD9DF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10e577f5310343c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0626333E-BB91-4374-A1F6-1B8D12F6E3CE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A79EA8FF-044E-4033-9E8B-0E1C41B88C04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1fbecb7dce543df"/>
          </a:graphicData>
        </a:graphic>
      </ns0:graphicFrame>
    </ns0:spTree>
    <ns0:extLst>
      <ns0:ext uri="{BB962C8B-B14F-4D97-AF65-F5344CB8AC3E}">
        <ns5:creationId val="1059165711"/>
      </ns0:ext>
    </ns0:extLst>
  </ns0:cSld>
</ns0:sld>
</file>

<file path=ppt/slides/slide11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1" name="">
            <a:extLst>
              <a:ext uri="{FF2B5EF4-FFF2-40B4-BE49-F238E27FC236}">
                <ns2:creationId id="{D0814187-BE43-4D12-9988-5136F24BA95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6777168-DBDC-47D3-9053-1489289D262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D3BAAF0-3707-4579-B813-3FC4CCA1161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E99AFEB-5524-4B8D-A275-9874693046E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3E7ADFC-77F6-45B6-869E-CAC469E7C4C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EC87E01-216C-478C-90A9-1FA9DD3E90F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4D6C537-2023-4C7C-8967-B7E7A24DFFE2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6762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1E47AA8-CE9C-4ED0-9391-5E942798A90C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6762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9" name="Chart"/>
          <ns0:cNvGraphicFramePr/>
          <ns0:nvPr/>
        </ns0:nvGraphicFramePr>
        <ns0:xfrm>
          <a:off x="571500" y="1857375"/>
          <a:ext cx="6762750" cy="3667125"/>
        </ns0:xfrm>
        <a:graphic>
          <a:graphicData uri="http://schemas.openxmlformats.org/drawingml/2006/chart">
            <c:chart ns4:id="R68dd9ca87f714239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1A5B818-4B2C-41DD-8064-D7EA75CFD214}"/>
              </a:ext>
            </a:extLst>
          </ns0:cNvPr>
          <ns0:cNvSpPr>
            <a:spLocks noGrp="1"/>
          </ns0:cNvSpPr>
          <ns0:nvPr/>
        </ns0:nvSpPr>
        <ns0:spPr>
          <a:xfrm>
            <a:off x="2095500" y="5219700"/>
            <a:ext cx="5334000" cy="2667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533CD16B-9ADF-41A3-99B4-00728BD5F16B}"/>
              </a:ext>
            </a:extLst>
          </ns0:cNvPr>
          <ns0:cNvSpPr>
            <a:spLocks noGrp="1"/>
          </ns0:cNvSpPr>
          <ns0:nvPr/>
        </ns0:nvSpPr>
        <ns0:spPr>
          <a:xfrm>
            <a:off x="7858125" y="1428750"/>
            <a:ext cx="3762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7B2AEFA-C1B0-46F6-8E88-5578A52973A5}"/>
              </a:ext>
            </a:extLst>
          </ns0:cNvPr>
          <ns0:cNvSpPr>
            <a:spLocks noGrp="1"/>
          </ns0:cNvSpPr>
          <ns0:nvPr/>
        </ns0:nvSpPr>
        <ns0:spPr>
          <a:xfrm>
            <a:off x="7858125" y="1695450"/>
            <a:ext cx="3762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BF7D15E2-E8DA-4806-93E2-3DFA23122862}"/>
              </a:ext>
            </a:extLst>
          </ns0:cNvPr>
          <ns0:cNvSpPr>
            <a:spLocks noGrp="1"/>
          </ns0:cNvSpPr>
          <ns0:nvPr/>
        </ns0:nvSpPr>
        <ns0:spPr>
          <a:xfrm>
            <a:off x="7858125" y="1962150"/>
            <a:ext cx="1994059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D98CE50C-F65E-42D4-9362-4E0BB35AC617}"/>
              </a:ext>
            </a:extLst>
          </ns0:cNvPr>
          <ns0:cNvSpPr>
            <a:spLocks noGrp="1"/>
          </ns0:cNvSpPr>
          <ns0:nvPr/>
        </ns0:nvSpPr>
        <ns0:spPr>
          <a:xfrm>
            <a:off x="9965055" y="1962150"/>
            <a:ext cx="1655445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0274B5F-8DAD-4A3C-8B8C-B8B1BE640173}"/>
              </a:ext>
            </a:extLst>
          </ns0:cNvPr>
          <ns0:cNvSpPr>
            <a:spLocks noGrp="1"/>
          </ns0:cNvSpPr>
          <ns0:nvPr/>
        </ns0:nvSpPr>
        <ns0:spPr>
          <a:xfrm>
            <a:off x="7858125" y="2405063"/>
            <a:ext cx="3762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066F22E6-A447-4E1C-A20D-9B1C09ACCA33}"/>
              </a:ext>
            </a:extLst>
          </ns0:cNvPr>
          <ns0:cNvSpPr>
            <a:spLocks noGrp="1"/>
          </ns0:cNvSpPr>
          <ns0:nvPr/>
        </ns0:nvSpPr>
        <ns0:spPr>
          <a:xfrm>
            <a:off x="7858125" y="2462213"/>
            <a:ext cx="1994059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4D87CB1C-7006-4FB0-846B-F0B03EEC381D}"/>
              </a:ext>
            </a:extLst>
          </ns0:cNvPr>
          <ns0:cNvSpPr>
            <a:spLocks noGrp="1"/>
          </ns0:cNvSpPr>
          <ns0:nvPr/>
        </ns0:nvSpPr>
        <ns0:spPr>
          <a:xfrm>
            <a:off x="9965055" y="2462213"/>
            <a:ext cx="1655445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6E168572-5C74-4A30-AF11-5681F96DC48E}"/>
              </a:ext>
            </a:extLst>
          </ns0:cNvPr>
          <ns0:cNvSpPr>
            <a:spLocks noGrp="1"/>
          </ns0:cNvSpPr>
          <ns0:nvPr/>
        </ns0:nvSpPr>
        <ns0:spPr>
          <a:xfrm>
            <a:off x="7858125" y="2905125"/>
            <a:ext cx="3762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11F4C98-2B85-436C-A017-A8AD1E81BEA1}"/>
              </a:ext>
            </a:extLst>
          </ns0:cNvPr>
          <ns0:cNvSpPr>
            <a:spLocks noGrp="1"/>
          </ns0:cNvSpPr>
          <ns0:nvPr/>
        </ns0:nvSpPr>
        <ns0:spPr>
          <a:xfrm>
            <a:off x="7858125" y="2962275"/>
            <a:ext cx="1994059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4F81E5D-9AD8-499D-A99A-15EBAC399E67}"/>
              </a:ext>
            </a:extLst>
          </ns0:cNvPr>
          <ns0:cNvSpPr>
            <a:spLocks noGrp="1"/>
          </ns0:cNvSpPr>
          <ns0:nvPr/>
        </ns0:nvSpPr>
        <ns0:spPr>
          <a:xfrm>
            <a:off x="9965055" y="2962275"/>
            <a:ext cx="1655445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ECF01249-8B65-4CD1-B0E6-322B2D26086B}"/>
              </a:ext>
            </a:extLst>
          </ns0:cNvPr>
          <ns0:cNvSpPr>
            <a:spLocks noGrp="1"/>
          </ns0:cNvSpPr>
          <ns0:nvPr/>
        </ns0:nvSpPr>
        <ns0:spPr>
          <a:xfrm>
            <a:off x="7858125" y="3405188"/>
            <a:ext cx="3762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5FB41FAA-B81C-47E6-ACF4-F03E3FFB3242}"/>
              </a:ext>
            </a:extLst>
          </ns0:cNvPr>
          <ns0:cNvSpPr>
            <a:spLocks noGrp="1"/>
          </ns0:cNvSpPr>
          <ns0:nvPr/>
        </ns0:nvSpPr>
        <ns0:spPr>
          <a:xfrm>
            <a:off x="7858125" y="3462338"/>
            <a:ext cx="1994059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E5956EE7-CA72-4082-8491-6F744FE8D453}"/>
              </a:ext>
            </a:extLst>
          </ns0:cNvPr>
          <ns0:cNvSpPr>
            <a:spLocks noGrp="1"/>
          </ns0:cNvSpPr>
          <ns0:nvPr/>
        </ns0:nvSpPr>
        <ns0:spPr>
          <a:xfrm>
            <a:off x="9965055" y="3462338"/>
            <a:ext cx="1655445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6ECED7B3-2610-42F9-A077-F4554CD2BB86}"/>
              </a:ext>
            </a:extLst>
          </ns0:cNvPr>
          <ns0:cNvSpPr>
            <a:spLocks noGrp="1"/>
          </ns0:cNvSpPr>
          <ns0:nvPr/>
        </ns0:nvSpPr>
        <ns0:spPr>
          <a:xfrm>
            <a:off x="7858125" y="3905250"/>
            <a:ext cx="3762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944B46B6-24EC-4E77-A30D-69CD635BE63C}"/>
              </a:ext>
            </a:extLst>
          </ns0:cNvPr>
          <ns0:cNvSpPr>
            <a:spLocks noGrp="1"/>
          </ns0:cNvSpPr>
          <ns0:nvPr/>
        </ns0:nvSpPr>
        <ns0:spPr>
          <a:xfrm>
            <a:off x="7858125" y="3962400"/>
            <a:ext cx="1994059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A4A2BB3F-B663-47E5-B065-2FCC500AC99D}"/>
              </a:ext>
            </a:extLst>
          </ns0:cNvPr>
          <ns0:cNvSpPr>
            <a:spLocks noGrp="1"/>
          </ns0:cNvSpPr>
          <ns0:nvPr/>
        </ns0:nvSpPr>
        <ns0:spPr>
          <a:xfrm>
            <a:off x="9965055" y="3962400"/>
            <a:ext cx="1655445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701B9D7-0480-4207-B058-F6F139223B3D}"/>
              </a:ext>
            </a:extLst>
          </ns0:cNvPr>
          <ns0:cNvSpPr>
            <a:spLocks noGrp="1"/>
          </ns0:cNvSpPr>
          <ns0:nvPr/>
        </ns0:nvSpPr>
        <ns0:spPr>
          <a:xfrm>
            <a:off x="7858125" y="4405313"/>
            <a:ext cx="3762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867FBEE8-398E-45A1-8941-FCB529CEDE00}"/>
              </a:ext>
            </a:extLst>
          </ns0:cNvPr>
          <ns0:cNvSpPr>
            <a:spLocks noGrp="1"/>
          </ns0:cNvSpPr>
          <ns0:nvPr/>
        </ns0:nvSpPr>
        <ns0:spPr>
          <a:xfrm>
            <a:off x="7858125" y="4462463"/>
            <a:ext cx="1994059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29E9CE4E-DCDA-407B-8D84-48795FE02DFD}"/>
              </a:ext>
            </a:extLst>
          </ns0:cNvPr>
          <ns0:cNvSpPr>
            <a:spLocks noGrp="1"/>
          </ns0:cNvSpPr>
          <ns0:nvPr/>
        </ns0:nvSpPr>
        <ns0:spPr>
          <a:xfrm>
            <a:off x="9965055" y="4462463"/>
            <a:ext cx="1655445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B100EBAE-F509-4C54-BD5B-0F6F50787565}"/>
              </a:ext>
            </a:extLst>
          </ns0:cNvPr>
          <ns0:cNvSpPr>
            <a:spLocks noGrp="1"/>
          </ns0:cNvSpPr>
          <ns0:nvPr/>
        </ns0:nvSpPr>
        <ns0:spPr>
          <a:xfrm>
            <a:off x="7858125" y="5238750"/>
            <a:ext cx="3762375" cy="523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ns0:txBody>
      </ns0:sp>
    </ns0:spTree>
    <ns0:extLst>
      <ns0:ext uri="{BB962C8B-B14F-4D97-AF65-F5344CB8AC3E}">
        <ns5:creationId val="805310889"/>
      </ns0:ext>
    </ns0:extLst>
  </ns0:cSld>
</ns0:sld>
</file>

<file path=ppt/slides/slide1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84432B20-7CE6-40CA-8AEB-A602E5B98F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5CDA3F7-79A1-4817-80B7-E52695A13C8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50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5390CAF-B63F-43CE-8922-9179E469EDD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56A66D1-8175-4BED-A5E2-49F591D5AAF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A771540-720C-4A2B-9B9D-A87B6D0014C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9FE5016-9B9D-43E2-99BE-5F3C203C4D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3C9A908-B1F8-4591-924D-3EB0B047102C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857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9730A21-7DE3-4172-9659-D0CA1024BBF6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857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57350"/>
          <a:ext cx="5857875" cy="3219450"/>
        </ns0:xfrm>
        <a:graphic>
          <a:graphicData uri="http://schemas.openxmlformats.org/drawingml/2006/chart">
            <c:chart ns4:id="Reb6b1f09847d45c9"/>
          </a:graphicData>
        </a:graphic>
      </ns0:graphicFrame>
      <ns0:graphicFrame>
        <ns0:nvGraphicFramePr>
          <ns0:cNvPr id="26" name="Chart"/>
          <ns0:cNvGraphicFramePr/>
          <ns0:nvPr/>
        </ns0:nvGraphicFramePr>
        <ns0:xfrm>
          <a:off x="1095375" y="4848225"/>
          <a:ext cx="4953000" cy="228600"/>
        </ns0:xfrm>
        <a:graphic>
          <a:graphicData uri="http://schemas.openxmlformats.org/drawingml/2006/chart">
            <c:chart ns4:id="Rf197260943884d84"/>
          </a:graphicData>
        </a:graphic>
      </ns0:graphicFrame>
      <ns0:sp>
        <ns0:nvSpPr>
          <ns0:cNvPr id="11" name="">
            <a:extLst>
              <a:ext uri="{FF2B5EF4-FFF2-40B4-BE49-F238E27FC236}">
                <ns2:creationId id="{61F117DD-152C-43A8-98AF-EB2BDD807808}"/>
              </a:ext>
            </a:extLst>
          </ns0:cNvPr>
          <ns0:cNvSpPr>
            <a:spLocks noGrp="1"/>
          </ns0:cNvSpPr>
          <ns0:nvPr/>
        </ns0:nvSpPr>
        <ns0:spPr>
          <a:xfrm>
            <a:off x="6762750" y="1323975"/>
            <a:ext cx="4857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285FF997-56D8-4B39-BC16-E059AD326A65}"/>
              </a:ext>
            </a:extLst>
          </ns0:cNvPr>
          <ns0:cNvSpPr>
            <a:spLocks noGrp="1"/>
          </ns0:cNvSpPr>
          <ns0:nvPr/>
        </ns0:nvSpPr>
        <ns0:spPr>
          <a:xfrm>
            <a:off x="6762750" y="1590675"/>
            <a:ext cx="4857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"/>
          <ns0:cNvGraphicFramePr/>
          <ns0:nvPr/>
        </ns0:nvGraphicFramePr>
        <ns0:xfrm>
          <a:off x="6762750" y="1657350"/>
          <a:ext cx="4857750" cy="3429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B5D67945-C581-442C-B6AD-04A53D1DBCE7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62E640F9-B31C-4208-B0ED-4282A9E86DCA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6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125 acima da carteira (R$ 5,9 bi) e 169 sem tipo (R$ 16,6 bi).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9C26DB08-B762-45AA-9ACD-E354DBDC4811}"/>
              </a:ext>
            </a:extLst>
          </ns0:cNvPr>
          <ns0:cNvSpPr>
            <a:spLocks noGrp="1"/>
          </ns0:cNvSpPr>
          <ns0:nvPr/>
        </ns0:nvSpPr>
        <ns0:spPr>
          <a:xfrm>
            <a:off x="571500" y="585787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ns0:txBody>
      </ns0:sp>
    </ns0:spTree>
    <ns0:extLst>
      <ns0:ext uri="{BB962C8B-B14F-4D97-AF65-F5344CB8AC3E}">
        <ns5:creationId val="1762682571"/>
      </ns0:ext>
    </ns0:extLst>
  </ns0:cSld>
</ns0:sld>
</file>

<file path=ppt/slides/slide1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00A51F6D-64C7-4B15-801F-1A67D232451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DBB074-EA15-430C-BBD4-ACCA86E388D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0EE25A9-0BB9-43F0-AD81-6E3311E6178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2D17E37-3529-4FA2-99CF-E71ECCF0FB4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6CE44DF-A797-4A48-A9BD-9A5175D1523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9D9D7AA-8579-4B0B-92A6-20AD5C4BE9D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007AE0-4DCB-4471-A756-9B8DDA345B93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857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385D2CB-CD89-41B1-B111-479D5B3F55A6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857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57350"/>
          <a:ext cx="5857875" cy="3219450"/>
        </ns0:xfrm>
        <a:graphic>
          <a:graphicData uri="http://schemas.openxmlformats.org/drawingml/2006/chart">
            <c:chart ns4:id="Rf58f9621361745cc"/>
          </a:graphicData>
        </a:graphic>
      </ns0:graphicFrame>
      <ns0:graphicFrame>
        <ns0:nvGraphicFramePr>
          <ns0:cNvPr id="26" name="Chart"/>
          <ns0:cNvGraphicFramePr/>
          <ns0:nvPr/>
        </ns0:nvGraphicFramePr>
        <ns0:xfrm>
          <a:off x="1762125" y="4848225"/>
          <a:ext cx="3619500" cy="228600"/>
        </ns0:xfrm>
        <a:graphic>
          <a:graphicData uri="http://schemas.openxmlformats.org/drawingml/2006/chart">
            <c:chart ns4:id="Rd7c7e1eec93740a4"/>
          </a:graphicData>
        </a:graphic>
      </ns0:graphicFrame>
      <ns0:sp>
        <ns0:nvSpPr>
          <ns0:cNvPr id="11" name="">
            <a:extLst>
              <a:ext uri="{FF2B5EF4-FFF2-40B4-BE49-F238E27FC236}">
                <ns2:creationId id="{A271750B-E274-48B0-9052-1E25D82D81A3}"/>
              </a:ext>
            </a:extLst>
          </ns0:cNvPr>
          <ns0:cNvSpPr>
            <a:spLocks noGrp="1"/>
          </ns0:cNvSpPr>
          <ns0:nvPr/>
        </ns0:nvSpPr>
        <ns0:spPr>
          <a:xfrm>
            <a:off x="6762750" y="1323975"/>
            <a:ext cx="4857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027590AF-7DD6-4DAF-81D3-AB160C0438AA}"/>
              </a:ext>
            </a:extLst>
          </ns0:cNvPr>
          <ns0:cNvSpPr>
            <a:spLocks noGrp="1"/>
          </ns0:cNvSpPr>
          <ns0:nvPr/>
        </ns0:nvSpPr>
        <ns0:spPr>
          <a:xfrm>
            <a:off x="6762750" y="1590675"/>
            <a:ext cx="4857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"/>
          <ns0:cNvGraphicFramePr/>
          <ns0:nvPr/>
        </ns0:nvGraphicFramePr>
        <ns0:xfrm>
          <a:off x="6762750" y="1657350"/>
          <a:ext cx="4857750" cy="3429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2308D54D-5B8A-4C26-86A5-A2C752C2D07C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492277C1-5289-4517-B144-7C315D76AF7B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6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7FEA51A4-1387-4D79-B3B5-5B86E97A002C}"/>
              </a:ext>
            </a:extLst>
          </ns0:cNvPr>
          <ns0:cNvSpPr>
            <a:spLocks noGrp="1"/>
          </ns0:cNvSpPr>
          <ns0:nvPr/>
        </ns0:nvSpPr>
        <ns0:spPr>
          <a:xfrm>
            <a:off x="571500" y="585787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ns0:txBody>
      </ns0:sp>
    </ns0:spTree>
    <ns0:extLst>
      <ns0:ext uri="{BB962C8B-B14F-4D97-AF65-F5344CB8AC3E}">
        <ns5:creationId val="234949294"/>
      </ns0:ext>
    </ns0:extLst>
  </ns0:cSld>
</ns0:sld>
</file>

<file path=ppt/slides/slide1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2B56F878-DAAB-4157-AA02-1236108BFC8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8EDAA69-72E9-4B00-99AC-531C7F3017D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09D3CD3-990A-4906-AACE-CDDD9C9BE47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17BB9B2-61CE-48D3-AFB4-81E5CE475BD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E97A2F-D97F-48F1-84BC-DFC70E2AC82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5404F8B-8C8B-4B02-A080-44C5F9021E4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381FC6D-299C-4245-B2D2-59A5BC96FEA0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742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4BD1286-3F79-4626-969F-4A0E0B7C8C09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742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638300"/>
          <a:ext cx="7429500" cy="3667125"/>
        </ns0:xfrm>
        <a:graphic>
          <a:graphicData uri="http://schemas.openxmlformats.org/drawingml/2006/chart">
            <c:chart ns4:id="R2094629333b6442d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05CEA2A-E67B-41F9-B27C-68DD906EE227}"/>
              </a:ext>
            </a:extLst>
          </ns0:cNvPr>
          <ns0:cNvSpPr>
            <a:spLocks noGrp="1"/>
          </ns0:cNvSpPr>
          <ns0:nvPr/>
        </ns0:nvSpPr>
        <ns0:spPr>
          <a:xfrm>
            <a:off x="8239125" y="1304925"/>
            <a:ext cx="3381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D2186F8-538D-48AB-979F-F2EEEA7F5673}"/>
              </a:ext>
            </a:extLst>
          </ns0:cNvPr>
          <ns0:cNvSpPr>
            <a:spLocks noGrp="1"/>
          </ns0:cNvSpPr>
          <ns0:nvPr/>
        </ns0:nvSpPr>
        <ns0:spPr>
          <a:xfrm>
            <a:off x="8239125" y="1571625"/>
            <a:ext cx="3381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"/>
          <ns0:cNvGraphicFramePr/>
          <ns0:nvPr/>
        </ns0:nvGraphicFramePr>
        <ns0:xfrm>
          <a:off x="8239125" y="1638300"/>
          <a:ext cx="3381375" cy="3667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571500" y="5429250"/>
          <a:ext cx="11049000" cy="495300"/>
        </ns0:xfrm>
        <a:graphic>
          <a:graphicData uri="http://schemas.openxmlformats.org/drawingml/2006/chart">
            <c:chart ns4:id="R6b37223f2763498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7351E334-49AD-4542-86A7-1D80AB7246E7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3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ns0:txBody>
      </ns0:sp>
    </ns0:spTree>
    <ns0:extLst>
      <ns0:ext uri="{BB962C8B-B14F-4D97-AF65-F5344CB8AC3E}">
        <ns5:creationId val="1290310487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A249FAC1-BB24-477C-B47E-08F98BC2A2E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DISPERSÃO ENTRE REPORTANTES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46F8CF0-1DD8-417A-A643-D6015A5E114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do valor reportado por subcategoria da Tabela II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DFF5B18-1950-44BC-98D7-2CAF601D754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37260CB-C734-4838-8951-90DE843F353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2BAE522-6C7B-465E-89C9-982B0F83E37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Somente fundos da coorte tipo único com inadimplência ajustada positiva.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413EDEB-E8BF-43B0-B29C-98D847203B0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graphicFrame>
        <ns0:nvGraphicFramePr>
          <ns0:cNvPr id="15" name=""/>
          <ns0:cNvGraphicFramePr/>
          <ns0:nvPr/>
        </ns0:nvGraphicFramePr>
        <ns0:xfrm>
          <a:off x="571500" y="1352550"/>
          <a:ext cx="11049000" cy="47625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571500"/>
                <a:gridCol w="1000125"/>
                <a:gridCol w="1285875"/>
                <a:gridCol w="1285875"/>
                <a:gridCol w="1285875"/>
                <a:gridCol w="666750"/>
                <a:gridCol w="666750"/>
                <a:gridCol w="2333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HHI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Gini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1,41 bi · 8,5%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3,61 bi · 21,6%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5,46 bi · 32,7%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 · 49,2%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1,94 bi · 69,1%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 · 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0,34 bi · 37,6%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0,69 bi · 76,9%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0,84 bi · 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 bi · 75,9%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 bi · 85,7%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0,59 bi · 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31,9%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 · 70,6%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0,53 bi · 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0,22 bi · 39,6%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 bi · 80,7%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 · 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 bi · 25,2%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42,3%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 bi · 51,6%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Concentração intermediária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 bi · 27,8%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 bi · 57,7%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 bi · 77,8%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0,02 bi · 42,2%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0,04 bi · 79,6%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 · 93,7%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8" name="">
            <a:extLst>
              <a:ext uri="{FF2B5EF4-FFF2-40B4-BE49-F238E27FC236}">
                <ns2:creationId id="{58155A1C-809A-4EAB-BFAE-481225A89CCD}"/>
              </a:ext>
            </a:extLst>
          </ns0:cNvPr>
          <ns0:cNvSpPr>
            <a:spLocks noGrp="1"/>
          </ns0:cNvSpPr>
          <ns0:nvPr/>
        </ns0:nvSpPr>
        <ns0:spPr>
          <a:xfrm>
            <a:off x="571500" y="6153150"/>
            <a:ext cx="11049000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Regra analítica: concentrada se HHI ≥ 0,25 ou Top 5 ≥ 70%; dispersa se HHI &lt; 0,10 e Top 5 &lt; 40%; demais casos intermediários. HHI e Gini medem concentração do valor reportado.</a:t>
            </a:r>
          </a:p>
        </ns0:txBody>
      </ns0:sp>
    </ns0:spTree>
    <ns0:extLst>
      <ns0:ext uri="{BB962C8B-B14F-4D97-AF65-F5344CB8AC3E}">
        <ns3:creationId val="227217566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3" name="">
            <a:extLst>
              <a:ext uri="{FF2B5EF4-FFF2-40B4-BE49-F238E27FC236}">
                <ns2:creationId id="{C5045FE2-B48B-4C35-84FB-770C097C79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SÍNTESE EXECUTIVA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7C964DE-E0BA-452B-AA58-0AD6337E8CE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956 fundos com inadimplência positiva representam 23,5% do PL ex-FIC positivo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6D40B5-C358-4645-8E39-5535482EA01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4C4C247-266C-4CF8-9492-C2DCDC7C021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693F40D-848E-49EE-95F1-ACCACAC32E5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Universo: 3.308 fundos e R$ 821,4 bi; amostra positiva: R$ 193,4 bi.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6F26A0B-D607-4801-8F9E-0DFE641E9E6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F5877AC-D247-492A-AA75-F4583E899F27}"/>
              </a:ext>
            </a:extLst>
          </ns0:cNvPr>
          <ns0:cNvSpPr>
            <a:spLocks noGrp="1"/>
          </ns0:cNvSpPr>
          <ns0:nvPr/>
        </ns0:nvSpPr>
        <ns0:spPr>
          <a:xfrm>
            <a:off x="571500" y="1352550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SUBCATEGORIAS PRIORITÁRIAS POR VALOR REPORTADO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71C220B-8F7B-4ECF-8558-BB1796F10FA0}"/>
              </a:ext>
            </a:extLst>
          </ns0:cNvPr>
          <ns0:cNvSpPr>
            <a:spLocks noGrp="1"/>
          </ns0:cNvSpPr>
          <ns0:nvPr/>
        </ns0:nvSpPr>
        <ns0:spPr>
          <a:xfrm>
            <a:off x="571500" y="16192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1" name=""/>
          <ns0:cNvGraphicFramePr/>
          <ns0:nvPr/>
        </ns0:nvGraphicFramePr>
        <ns0:xfrm>
          <a:off x="571500" y="1714500"/>
          <a:ext cx="11049000" cy="30956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666750"/>
                <a:gridCol w="1952625"/>
                <a:gridCol w="1190625"/>
                <a:gridCol w="666750"/>
                <a:gridCol w="809625"/>
                <a:gridCol w="2095500"/>
                <a:gridCol w="3667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Prioridade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Inadimplência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Interpretação cautelar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R$ 16,67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distribuído no subsetor reportante; não comprova risco sistêmico.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3AE28709-24BD-493C-A8D5-69CD411904F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7AF9BD7C-DD9D-41D5-A975-018E3DCD307F}"/>
              </a:ext>
            </a:extLst>
          </ns0:cNvPr>
          <ns0:cNvSpPr>
            <a:spLocks noGrp="1"/>
          </ns0:cNvSpPr>
          <ns0:nvPr/>
        </ns0:nvSpPr>
        <ns0:spPr>
          <a:xfrm>
            <a:off x="571500" y="521970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2.066 fundos na coorte tipo único (R$ 608,7 bi); 956 reportam valor positivo. A comparação com o universo de R$ 821,4 bi delimita a amostra.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0B09F5D2-A097-41A3-96EA-48FBED9D16E3}"/>
              </a:ext>
            </a:extLst>
          </ns0:cNvPr>
          <ns0:cNvSpPr>
            <a:spLocks noGrp="1"/>
          </ns0:cNvSpPr>
          <ns0:nvPr/>
        </ns0:nvSpPr>
        <ns0:spPr>
          <a:xfrm>
            <a:off x="571500" y="57340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Limitações: zeros e ausências de reporte ficam fora da dispersão; atrasos e inconsistências podem reduzir a cobertura. Concentração sugere prioridade de validação e não identifica causalidade nem risco sistêmico por si só.</a:t>
            </a:r>
          </a:p>
        </ns0:txBody>
      </ns0:sp>
    </ns0:spTree>
    <ns0:extLst>
      <ns0:ext uri="{BB962C8B-B14F-4D97-AF65-F5344CB8AC3E}">
        <ns3:creationId val="1600331038"/>
      </ns0:ext>
    </ns0:extLst>
  </ns0:cSld>
</ns0:sld>
</file>

<file path=ppt/slides/slide1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E89103C0-39FD-462C-ABCF-1850BA70C86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4380C65-5F30-44AE-809A-AA80546FBF3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3A26599-447D-4683-9779-C8E835FA3BB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6B20956-DA4B-457F-9B73-45A2E4F19E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63F3CAB-BB41-4E2E-8B50-E8223E24BEA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3AA2E86-F379-4DA6-ACDB-0A6FCC7C72F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8A60515-9222-4DEC-93D6-581F3EEEF289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42B43DA-4E18-435C-AEFE-F4BB60859F3C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2d018345f96e495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B27FA472-27F8-4819-B723-4B244730AE2E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97DD89B8-55C4-496C-A6DF-84EFDE0B4A59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6BE8B86-5474-4ADD-8980-E8552ADF1464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a2bf05d4c79140a6"/>
          </a:graphicData>
        </a:graphic>
      </ns0:graphicFrame>
      <ns0:sp>
        <ns0:nvSpPr>
          <ns0:cNvPr id="14" name="">
            <a:extLst>
              <a:ext uri="{FF2B5EF4-FFF2-40B4-BE49-F238E27FC236}">
                <ns2:creationId id="{02E5CD86-9688-46F9-9AC6-C31A8A219FA9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8E46E491-472C-4048-9DD0-977DA9F28F9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644FDE2-84B1-4A80-8521-090AF217BFB9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c475e91307994ad9"/>
          </a:graphicData>
        </a:graphic>
      </ns0:graphicFrame>
    </ns0:spTree>
    <ns0:extLst>
      <ns0:ext uri="{BB962C8B-B14F-4D97-AF65-F5344CB8AC3E}">
        <ns5:creationId val="1454621990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F8F1A6A7-9E38-44ED-B152-AF682C97E8D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19D8114-5689-4EC5-8AB4-19E86D4BDF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6017453-1BC9-4616-8845-AA876FDB003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806BDE7-A627-4517-A345-AFC59C2FAA3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E2643DF-7182-40DD-9156-FB6D005C2D6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ledger analítico aprovado, jun/26. Ranking derivado do universo completo ex-FIC; denominação legal completa no apêndice.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0E28D25-FF52-4CBA-ADFF-40F05C6D00C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graphicFrame>
        <ns0:nvGraphicFramePr>
          <ns0:cNvPr id="15" name=""/>
          <ns0:cNvGraphicFramePr/>
          <ns0:nvPr/>
        </ns0:nvGraphicFramePr>
        <ns0:xfrm>
          <a:off x="57150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Infraestrutura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6" name=""/>
          <ns0:cNvGraphicFramePr/>
          <ns0:nvPr/>
        </ns0:nvGraphicFramePr>
        <ns0:xfrm>
          <a:off x="619125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207237321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" name="">
            <a:extLst>
              <a:ext uri="{FF2B5EF4-FFF2-40B4-BE49-F238E27FC236}">
                <ns2:creationId id="{97597D2F-F5DA-452F-8229-3BFEECC3AD3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1E28766-52FC-4AB7-B798-7D480A22296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 · R$ 48,4 bi · 43,5% do bucket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C679D02-E7A2-4156-A248-F6FEB0AC6B8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7DCE2D5-A82F-447B-8618-7AA02D34329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955C030-CE82-4E2F-A40C-B4D76698A3E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DC82F4A-F591-4353-BD51-7FA3ED73D41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graphicFrame>
        <ns0:nvGraphicFramePr>
          <ns0:cNvPr id="14" name=""/>
          <ns0:cNvGraphicFramePr/>
          <ns0:nvPr/>
        </ns0:nvGraphicFramePr>
        <ns0:xfrm>
          <a:off x="571500" y="1352550"/>
          <a:ext cx="11049000" cy="4857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 SOB O NO 62.232.889/0001 -90, SENDO TAL SERVICO PRESTADO PELA AREA ESPECIALIZADA DO BANCO, DISTINTA DA AREA DE ADMINISTRACAO FIDUC IARIA DO FUNDO. “BENCHMARK” E EQUIVALENTE A 100% (CEM POR CENTO) DO QUE EXCEDER O CDI. “CEDENTE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GESTÃO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múltiplos cedentes não conhecidos previamente.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EUROVEST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27: CEDENTES DOS DIREITOS DE CREDITO DEVEM SER PESSOAS JURIDICAS COM INSCRICAO NO CNPJ/MF; (II) DEVEM SER REPRESENTADOS POR CEDULAS DE CREDITO BANCARIO, NOTAS PROMISS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 PLUS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credores originais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 MULTISSETORIAL BS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INVISTA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EMERALD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J.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CNPJ/ME SOB NO 60.746.948/0001-12; CAPITAL AUTORIZADO: E O CAPITAL AUTORIZADO PARA EMISSAO DE NOVAS COTAS DO FUNDO, SEM A NECESSIDADE DE APROVACAO EM ASSEMBLEIA.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BLUE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OURO PRETO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356326511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" name="">
            <a:extLst>
              <a:ext uri="{FF2B5EF4-FFF2-40B4-BE49-F238E27FC236}">
                <ns2:creationId id="{651334F3-ABDD-4C48-93A7-A8023A78596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7321CC8-1245-46C5-A1B0-E191960700F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 · R$ 122,2 bi · 56,8% do bucket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94BF512-3CEA-486B-B483-2614CDBDFB8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65670A5-ACFF-4BA9-89A3-1A5F140F95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F13E19D-5652-4959-AC4F-F020656067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F0E005F-09C9-40E2-94B7-E7796B2A3EF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graphicFrame>
        <ns0:nvGraphicFramePr>
          <ns0:cNvPr id="14" name=""/>
          <ns0:cNvGraphicFramePr/>
          <ns0:nvPr/>
        </ns0:nvGraphicFramePr>
        <ns0:xfrm>
          <a:off x="571500" y="1352550"/>
          <a:ext cx="11049000" cy="4857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43: CNPJ/MF CADASTRO NACIONAL DE PESSOA JURIDICA DO MINISTERIO DA FAZENDA. CONTRATO DE CESSAO CONTRATO A SER CELEBRADO ENTRE O FUNDO E CADA UM DOS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 SOB O NO 36.113.876/0001-91; “CVM”: COMISSAO DE VALORES MOBILIARIOS; “DATA DE AQUISICAO E PAGAMENTO”: E A DATA EM QUE E EFETUADO O PAGAMENTO DO PRECO DE CESSAO AO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NOVA OCCAM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CEDENTE GENERAL MOTORS DO BRASIL LTDA. CNPJ CADASTRO NACIONAL DA PESSOA JURIDICA.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CNPJ SOB O NO 11.760.553/0001-69. “CEDENTES” SIGNIFICA, EM CONJUNTO OU INDISTINTAMENTE, AS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12: CNPJ/MF SOB O NO 62.237.425/0001-76. “CEDENTE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 GESTORA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 S.A. — CNPJ 01.645.009/0003-84.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ECO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4: CEDENTES DE DIREITOS CREDITORIOS A CLASSE UNICA. “AGROMATIC” OU “AGENTE EXTRAORDINARIO” SIGNIFICA AGROMATIC SOLUCOES DE TECNOLOGIA DIGITAL LTDA., DEVIDAMENTE INSCRITA NO CNPJ/MF SOB O NO 37.178.510/0001-63, COM SEDE NA RUA GENERAL AUGUSTO SOARES DOS SANT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CAPITAL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 originador nominal; o regulamento define cedentes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HYUNDAI MOTOR BRASIL MONTADORA DE AUTOMOVEIS LTDA. , SOCIEDADE LIMITADA, COM SEDE NA CIDADE DE PIRACICABA, ESTADO DE SAO PAULO, NA AVENIDA HYUNDAI, NO 777, INSCRITA NO CNPJ SOB O NO 10.394.422/0001 -42 E SUA FILI AL LOCALIZADA NA CIDADE DE ANAPOLIS, 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ENDURANCE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PagueVeloz Instituição de Pagamento Ltda. — CNPJ 03.816.413/0001-37 | Serasa S.A. — CNPJ 62.173.620/0133-20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 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cedentes e endossantes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CNPJ/MF SOB O NO 03.634.220/0001-65.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COBUCCIO DE RESPONS 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 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TIVIO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15: CNPJ: 33.502.360/0001-40.CBL (“CGM” E, EM CONJUNTO COM A CBL E A CBCL, “CEDENTE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61: “ORIGINADOR” SIGNIFICA A EMPRESA OU ENTIDADE QUE, NOS TERMOS DA REGULAMENTACAO APLICAVEL, ORIGINA OS DIREITOS CREDITORIOS. “PATRIMONIO LIQUIDO” SIGNIFICA O PATRIMONIO LIQUIDO DA CLASSE, CONFORME DEFINIDO NO ARTIGO 109 ACIMA. “PERIODICO DO FUNDO” SIGNIFICA O JORNAL BRASIL ECONOMICO, OBSERVADO QUE A COMUNICACAO COM OS COTISTAS PODERA SER REALIZADA POR MEIO DE CORREIO ELETRONICO. “RECOMPRA” E TERMOS DERIVADOS COMO “RECOMPRAR” E “RECOMPRADO” SIGNIFICA O ATO PELO QUAL O CREDOR ORIGINAL RECOMPRA, POR QUALQUER MOTIVO, O(S) TITULO(S) QUE CEDEU PARA A CLASSE. “REGULAMENTO” SIGNIFICA ESTE REGULAMENTO E SUAS ALTERACOES POSTERIORES. “RESERVA DE AMORTIZACAO” SIGNIFICA A RESERVA A SER CONSTITUIDA EM DISPONIBILIDADES PELA ADMINI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SAPPHIRE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PORTOFINO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ANGICO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empresas de projetos aparecem genericamente como Devedores.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 I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1985466160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" name="">
            <a:extLst>
              <a:ext uri="{FF2B5EF4-FFF2-40B4-BE49-F238E27FC236}">
                <ns2:creationId id="{A3BAE120-72C6-4B29-A4D4-0AB6CED9FDD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771D236-B057-4C85-ABAE-0DE2AA48B34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· R$ 136,2 bi · 42,6% do bucket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947A6C2-D977-46A0-948F-964EC762695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FD306C4-F68E-46E0-BEC5-C076675CC0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F1067F7-7BBE-4F72-93B9-AA61EAF24EB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714089-6519-4BF7-86C9-B894BDDDC52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graphicFrame>
        <ns0:nvGraphicFramePr>
          <ns0:cNvPr id="14" name=""/>
          <ns0:cNvGraphicFramePr/>
          <ns0:nvPr/>
        </ns0:nvGraphicFramePr>
        <ns0:xfrm>
          <a:off x="571500" y="1352550"/>
          <a:ext cx="11049000" cy="4857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81: CEDENTE(S). CIP E A CAMARA INTERBANCARIA DE PAGAMENTOS. CMN E O CONSELHO MONETARIO NACIONAL. CLASSE E A CLASSE UNICA DE COTAS DE EMISSAO DO FUNDO. CNPJ E O CADASTRO NACIONAL DA PESSOA JURIDICA, DO MINISTERIO DA FAZENDA. CODIGO ANBI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99: CEDENTE SERAO CORRETOS E SUFICIENTES, PODENDO, ASSIM, EXISTIR ERROS OPERACIONAIS NA REALIZACAO DESTAS CONCILIACOES EXTRAORDINARIAS. 20.1.30. GUARDA DOS DOCUMENTOS ADICIONAIS . OS DOCUMENTOS ADICIONAIS RELATIVOS AOS DIREITOS CREDITORIOS CEDIDOS PERMANECERAO SOB A GUARDA DA CEDENTE, E, MEDIANTE SOLICITACAO, A CLASSE A E/OU O CUSTODIANTE PODERAO TER ACESSO A TAIS DOCUMENTOS ADICIONAIS. E POSSIVEL QUE HAJA FALHA OU ATRASO NA DISPO NIBILIZACAO DE ACESSO AOS DOCUMENTOS ADICIONAIS, O QUE PODE DIFICULTAR A COBRANCA E ATE MESMO A IDENTIFICACAO DOS DIREITOS CREDITORIOS CEDIDOS, ASSIM GERANDO PERDAS A CLASSE A E AOS SEUS COTISTAS. RISCOS DE MENOR MATERIALIDADE 20.1.31. GUARDA DA DOCUMENTACAO. NOS TERMOS DESTE ANEXO,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19: CNPJ SOB NO 03.311.443/0001-91 (“ENDOSSANTE” OU “CEDENTE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52.242.420/0001 -88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CNPJ/MF SOB O NO 01.027.058/0001 -91, CONTRATADA PELO FUNDO COMO AGENTE PARA AUXILIAR NO (I) PAGAMENTO DO PRECO DE AQUISICAO DOS DIREITOS CREDITORIOS CEDIDOS, PELA CLASSE UNICA, AOS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16: CNPJ/MF OU CPF/MF DO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50.906.397/0001-53 BTG PACTUAL SAC: 0800 772 28 27 - OUVIDORIA: 0800 722 00 48 - BTGPACTUAL.COM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VALORA RENDA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30: ORIGINADORA: E A SHPP BRASIL INSTITUICAO DE PAGAMENTO E SERVICOS DE PAGAMENTOS LTDA, PESSOA JURIDICA DE DIREITO PRIVADO, INSCRITA NO CNPJ/MF SOB N° 38.372.267/0001-82, COM SEDE NA AV. BRIGADEIRO FARIA LIMA, NO 3732,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 INVESTMENTO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31: CEDENTE NISSAN E NISSAN DO BRASIL AUTOMOVEIS LTDA ., COM SEDE NA CIDADE DO RIO DE JANEIRO, ESTADO DO RIO DE JANEIRO, NA AVENIDA BARAO DO TEFE, NO 27, SALA 701, CEP 20220-460, INSCRITA NO CNPJ SOB O NO 04.104.117/0008-42. CEDENTE RENAULT E A RENAULT DO BRASIL LTDA., COM 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77: CEDENTE SERAO CORRETOS E SUFICIENTES, PODENDO, ASSIM, EXISTIR ERROS OPERACIONAIS NA REALIZACAO DESTAS CONCILIACOES EXTRAORDINARIAS. ADICIONALMENTE, EM HIPOTESES EXCEPCIONAIS INDICADAS NO CONTRATO DE CESSAO, NAS QUAIS A TRANSFERENC IA A TITULO DE PAGAMENTO DOS DIREITOS CREDITORIOS ELEGIVEIS A CLASSE NAO POSSA SER IDENTIFICADA PELO CUSTODIANTE, A CEDENTE AUXILIARA EXTRAORDINARIAMENTE O CUSTODIANTE NA CONCILIACAO DOS PAGAMENTOS DOS DIREITOS CREDITORIOS ELEGIVEIS CEDIDOS A CLASSE, CONFIRMANDO O RESPECTIVO DIREITO CREDITORIO ELEGIVEL E/OU RESPECTIVA PARCELA DO DIREITO CREDITORIO ELEGIVEL ASSOCIADA A TRANSFERENCIA REALIZADA A CONTA AUTORIZADA DA CLASSE. NESTE SENTIDO, A CLASSE E O CUSTODIANTE NAO GARANTEM AOS 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HAVAN S.A., SOCIEDADE, COM SEDE NA CIDADE DE BRUSQUE, ESTADO DE SANTA CATARINA, NA RODOVIA ANTONIO HEIL, NO. 191, INSCRITA NO CNPJ SOB O NO. 79.379.491/0001-83, BEM COMO AS SUAS RESPECTIVAS FILIAIS; “CEDENTE CC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 Sociedade de Crédito, Financiamento e Investimento S.A. — CNPJ 37.679.449/0001-38 | Estabelecimentos Comerciais não individualizados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 FINANCEIRA S.A. CRÉDITO FINANCIAMENTO E INVESTIMENTO — CNPJ 15.581.638/0001-30.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 Financiamento e Investimento S.A. — CNPJ 03.311.443/0001-91.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POLÍGONO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instituições financeiras parceiras e vendedores usuários da plataforma são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607210126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" name="">
            <a:extLst>
              <a:ext uri="{FF2B5EF4-FFF2-40B4-BE49-F238E27FC236}">
                <ns2:creationId id="{BBC71C40-99C2-455B-99AB-CB0E4CEF42D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3D2B43B-E6F0-4376-AEE2-E1D11F28B3C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· R$ 52,3 bi · 29,9% do bucket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5656DA-22EF-45E9-A5C1-68F17DC6B1E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4850CC-D4E8-4B00-9D59-52371337621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CF6BEB7-13AC-4185-B84B-516F16CDFAF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45B014C-FBAC-49E7-AA69-02EB4409129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graphicFrame>
        <ns0:nvGraphicFramePr>
          <ns0:cNvPr id="14" name=""/>
          <ns0:cNvGraphicFramePr/>
          <ns0:nvPr/>
        </ns0:nvGraphicFramePr>
        <ns0:xfrm>
          <a:off x="571500" y="1352550"/>
          <a:ext cx="11049000" cy="4857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CEDENTES: PESSOA JURIDICA E/OU FISICA, IDENTIFICADA PELO SEU NUMERO DE INSCRICAO NO CNPJ/MF OU CPF/MF OU FUNDOS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8: CNPJ NO 29.225.241/0001-10 BTG PACTUAL SAC: 0800 772 28 27 - OUVIDORIA: 0800 722 00 48 - BTGPACTUAL.COM 3 4.5.1 OS DIREITOS CREDITORIOS SERAO ADQUIRIDOS PEL A CLASSE POR MEIO: (I) DE CONTRATOS DE CESSAO FIRMADOS ENTRE A CLASSE E OS RESPECTIVOS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SECURITY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 MULTICARTEIRA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BANK OF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 E OS DEVEDORES/SACADOS, DEVIDAMENTE IDENTIFICADOS PELO CPF OU CNPJ, REPRESENTADOS POR DOCUMENTOS COMPROBATORIOS, OBSERVADO O DISPOSTO EM CADA CONT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32: CNPJ NO 24.194.675/0001-87 BTG PACTUAL SAC: 0800 772 28 27 - OUVIDORIA: 0800 722 00 48 - BTGPACTUAL.COM 26 E OS RESULTADOS DOS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40: CEDENTES” SAO TODAS AS PESSOAS FISICAS OU JURIDICAS QUE CEDEM OS DIREITOS CREDITORIOS AO FUNDO, NOS TERMOS DOS RESPECTIVOS CONTRATOS DE CESSAO. “CMN” E O CONSELHO MONETARIO NACIONAL. “CNPJ” SIGNIFICA O CADASTRO NACIONAL DAS PESSOAS JURIDICAS, MANTIDO PELO MINISTERIO 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VERSAL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12: CNPJ/MF N O 13.321.819/0001-00 – VIGENTE EM 20.08.2025. 12 BANCO DEPOSITARIO – E O BANCO BRADESCO S.A., CONFORME ABAIXO QUALIFICADO, RESPONSAVEL POR ADMINISTRAR AS CONTAS VINCULADAS DAS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NEBRASKA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29: CNPJ NO 49.306.883/0001-51 BTG PACTUAL SAC: 0800 772 28 27 - OUVIDORIA: 0800 722 00 48 - BTGPACTUAL.COM 23 (IV) RISCOS RELACIONADOS AOS SETORES DE ATUACAO DOS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MONTENEGRO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VERSAL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Quero-Quero VerdeCard Instituição de Pagamento S.A. e instituições financeiras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 BOSSANOVA90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 HIGH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4870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JUS CAPITAL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BLC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JUS CAPITAL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LASSIE EDUCATION CRÉDITOS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LASS CAPITAL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LAGUZ I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VCM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PLANNER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PLANNER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1402261251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94" name="">
            <a:extLst>
              <a:ext uri="{FF2B5EF4-FFF2-40B4-BE49-F238E27FC236}">
                <ns2:creationId id="{FD528D15-DB8E-475D-A37C-98601903B94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CURADORIA · FUNDOS FLAGSHIP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57896DA-E437-4AE6-AF59-031CBAAFF59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26 famílias · 47 CNPJs · 12 mínimos júnior localizados em 24 regulamentos revistos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21D12A8-1177-4A47-91BA-AFABF724F44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E8DA4CA-6B68-4B4F-9BBB-3811A753D66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078B2F9-7D80-4438-83D2-D72933B1152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regulamentos, emissões e assembleias dos pacotes documentais versionados. Lacunas = N/D.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D826DE2-B02F-4746-8433-A1480B6AEBD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8264890-4DF5-44E2-827C-AEB1E703C60B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5B6B4A26-0A88-4BCF-A7F8-7E8C2DED6C99}"/>
              </a:ext>
            </a:extLst>
          </ns0:cNvPr>
          <ns0:cNvSpPr>
            <a:spLocks noGrp="1"/>
          </ns0:cNvSpPr>
          <ns0:nvPr/>
        </ns0:nvSpPr>
        <ns0:spPr>
          <a:xfrm>
            <a:off x="61912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3804886-9921-45BC-A92C-4C3D45828AE9}"/>
              </a:ext>
            </a:extLst>
          </ns0:cNvPr>
          <ns0:cNvSpPr>
            <a:spLocks noGrp="1"/>
          </ns0:cNvSpPr>
          <ns0:nvPr/>
        </ns0:nvSpPr>
        <ns0:spPr>
          <a:xfrm>
            <a:off x="242252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55EDE141-44B2-446D-92DB-F61334B1DBFA}"/>
              </a:ext>
            </a:extLst>
          </ns0:cNvPr>
          <ns0:cNvSpPr>
            <a:spLocks noGrp="1"/>
          </ns0:cNvSpPr>
          <ns0:nvPr/>
        </ns0:nvSpPr>
        <ns0:spPr>
          <a:xfrm>
            <a:off x="247015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F4F909E-0F8E-4267-B011-F0F3ED2F902F}"/>
              </a:ext>
            </a:extLst>
          </ns0:cNvPr>
          <ns0:cNvSpPr>
            <a:spLocks noGrp="1"/>
          </ns0:cNvSpPr>
          <ns0:nvPr/>
        </ns0:nvSpPr>
        <ns0:spPr>
          <a:xfrm>
            <a:off x="427355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D71D56CE-F948-4BA3-B236-F3A181E69C6B}"/>
              </a:ext>
            </a:extLst>
          </ns0:cNvPr>
          <ns0:cNvSpPr>
            <a:spLocks noGrp="1"/>
          </ns0:cNvSpPr>
          <ns0:nvPr/>
        </ns0:nvSpPr>
        <ns0:spPr>
          <a:xfrm>
            <a:off x="432117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35BF8970-A561-45B7-9173-96F0287E72FB}"/>
              </a:ext>
            </a:extLst>
          </ns0:cNvPr>
          <ns0:cNvSpPr>
            <a:spLocks noGrp="1"/>
          </ns0:cNvSpPr>
          <ns0:nvPr/>
        </ns0:nvSpPr>
        <ns0:spPr>
          <a:xfrm>
            <a:off x="612457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EF10D190-F040-4F1A-927C-19C4576BA9A8}"/>
              </a:ext>
            </a:extLst>
          </ns0:cNvPr>
          <ns0:cNvSpPr>
            <a:spLocks noGrp="1"/>
          </ns0:cNvSpPr>
          <ns0:nvPr/>
        </ns0:nvSpPr>
        <ns0:spPr>
          <a:xfrm>
            <a:off x="617220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32B998F-0B01-4F66-B5E6-5EB64214CDD6}"/>
              </a:ext>
            </a:extLst>
          </ns0:cNvPr>
          <ns0:cNvSpPr>
            <a:spLocks noGrp="1"/>
          </ns0:cNvSpPr>
          <ns0:nvPr/>
        </ns0:nvSpPr>
        <ns0:spPr>
          <a:xfrm>
            <a:off x="797560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2D7D8039-054D-41B2-806D-6204374C6A2C}"/>
              </a:ext>
            </a:extLst>
          </ns0:cNvPr>
          <ns0:cNvSpPr>
            <a:spLocks noGrp="1"/>
          </ns0:cNvSpPr>
          <ns0:nvPr/>
        </ns0:nvSpPr>
        <ns0:spPr>
          <a:xfrm>
            <a:off x="802322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69B3760-D9DB-425F-880C-FEEFFF143D65}"/>
              </a:ext>
            </a:extLst>
          </ns0:cNvPr>
          <ns0:cNvSpPr>
            <a:spLocks noGrp="1"/>
          </ns0:cNvSpPr>
          <ns0:nvPr/>
        </ns0:nvSpPr>
        <ns0:spPr>
          <a:xfrm>
            <a:off x="982662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3FC93B00-FC9B-4CDC-A8E1-B7E456332699}"/>
              </a:ext>
            </a:extLst>
          </ns0:cNvPr>
          <ns0:cNvSpPr>
            <a:spLocks noGrp="1"/>
          </ns0:cNvSpPr>
          <ns0:nvPr/>
        </ns0:nvSpPr>
        <ns0:spPr>
          <a:xfrm>
            <a:off x="987425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456342A-FF72-49F0-8AF0-2754FD770846}"/>
              </a:ext>
            </a:extLst>
          </ns0:cNvPr>
          <ns0:cNvSpPr>
            <a:spLocks noGrp="1"/>
          </ns0:cNvSpPr>
          <ns0:nvPr/>
        </ns0:nvSpPr>
        <ns0:spPr>
          <a:xfrm>
            <a:off x="571500" y="11049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SUBORDINAÇÃO ATUAL / PL · FAIXAS DESCRITIVAS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2956A9A2-9AF3-410B-8530-2A0B4805FADB}"/>
              </a:ext>
            </a:extLst>
          </ns0:cNvPr>
          <ns0:cNvSpPr>
            <a:spLocks noGrp="1"/>
          </ns0:cNvSpPr>
          <ns0:nvPr/>
        </ns0:nvSpPr>
        <ns0:spPr>
          <a:xfrm>
            <a:off x="571500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E02AF5CD-6145-4C10-AA76-3D49C9D04A48}"/>
              </a:ext>
            </a:extLst>
          </ns0:cNvPr>
          <ns0:cNvSpPr>
            <a:spLocks noGrp="1"/>
          </ns0:cNvSpPr>
          <ns0:nvPr/>
        </ns0:nvSpPr>
        <ns0:spPr>
          <a:xfrm>
            <a:off x="64770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Consignado Privado I e II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06900213-F0F0-4FDC-B87F-EFC8E244A282}"/>
              </a:ext>
            </a:extLst>
          </ns0:cNvPr>
          <ns0:cNvSpPr>
            <a:spLocks noGrp="1"/>
          </ns0:cNvSpPr>
          <ns0:nvPr/>
        </ns0:nvSpPr>
        <ns0:spPr>
          <a:xfrm>
            <a:off x="64770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R$ 3,5 bi · atual 8,3%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7429673D-4E3A-4F6F-8097-B688C20CC0C3}"/>
              </a:ext>
            </a:extLst>
          </ns0:cNvPr>
          <ns0:cNvSpPr>
            <a:spLocks noGrp="1"/>
          </ns0:cNvSpPr>
          <ns0:nvPr/>
        </ns0:nvSpPr>
        <ns0:spPr>
          <a:xfrm>
            <a:off x="64770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5,0% · emissão N/D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E0CABCE1-5A56-4743-B5AA-83BCF10817B3}"/>
              </a:ext>
            </a:extLst>
          </ns0:cNvPr>
          <ns0:cNvSpPr>
            <a:spLocks noGrp="1"/>
          </ns0:cNvSpPr>
          <ns0:nvPr/>
        </ns0:nvSpPr>
        <ns0:spPr>
          <a:xfrm>
            <a:off x="64770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4BDE84EE-0ACA-4ACA-BADD-635A05851D75}"/>
              </a:ext>
            </a:extLst>
          </ns0:cNvPr>
          <ns0:cNvSpPr>
            <a:spLocks noGrp="1"/>
          </ns0:cNvSpPr>
          <ns0:nvPr/>
        </ns0:nvSpPr>
        <ns0:spPr>
          <a:xfrm>
            <a:off x="82652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878AA229-A26B-4D43-B6A1-B3F1990AD4F1}"/>
              </a:ext>
            </a:extLst>
          </ns0:cNvPr>
          <ns0:cNvSpPr>
            <a:spLocks noGrp="1"/>
          </ns0:cNvSpPr>
          <ns0:nvPr/>
        </ns0:nvSpPr>
        <ns0:spPr>
          <a:xfrm>
            <a:off x="571500" y="2428875"/>
            <a:ext cx="1793875" cy="685800"/>
          </a:xfrm>
          <a:prstGeom prst="rect">
            <a:avLst/>
          </a:prstGeom>
          <a:solidFill>
            <a:srgbClr val="F3E0E8"/>
          </a:solidFill>
          <a:ln w="0">
            <a:noFill/>
            <a:prstDash val="solid"/>
          </a:ln>
        </ns0:spPr>
      </ns0:sp>
      <ns0:sp>
        <ns0:nvSpPr>
          <ns0:cNvPr id="27" name="">
            <a:extLst>
              <a:ext uri="{FF2B5EF4-FFF2-40B4-BE49-F238E27FC236}">
                <ns2:creationId id="{4A3F7891-AB48-4654-99B1-503AA71F3E4D}"/>
              </a:ext>
            </a:extLst>
          </ns0:cNvPr>
          <ns0:cNvSpPr>
            <a:spLocks noGrp="1"/>
          </ns0:cNvSpPr>
          <ns0:nvPr/>
        </ns0:nvSpPr>
        <ns0:spPr>
          <a:xfrm>
            <a:off x="64770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CM Estadual I e II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011EA799-2766-4611-AAFD-63C050756412}"/>
              </a:ext>
            </a:extLst>
          </ns0:cNvPr>
          <ns0:cNvSpPr>
            <a:spLocks noGrp="1"/>
          </ns0:cNvSpPr>
          <ns0:nvPr/>
        </ns0:nvSpPr>
        <ns0:spPr>
          <a:xfrm>
            <a:off x="64770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R$ 91,7 mi · atual 9,3%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76A316B1-2924-4B69-8553-2ED9C83502EA}"/>
              </a:ext>
            </a:extLst>
          </ns0:cNvPr>
          <ns0:cNvSpPr>
            <a:spLocks noGrp="1"/>
          </ns0:cNvSpPr>
          <ns0:nvPr/>
        </ns0:nvSpPr>
        <ns0:spPr>
          <a:xfrm>
            <a:off x="64770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A6314F66-7A28-46A4-92FD-189E610C162F}"/>
              </a:ext>
            </a:extLst>
          </ns0:cNvPr>
          <ns0:cNvSpPr>
            <a:spLocks noGrp="1"/>
          </ns0:cNvSpPr>
          <ns0:nvPr/>
        </ns0:nvSpPr>
        <ns0:spPr>
          <a:xfrm>
            <a:off x="64770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F9C775C1-0E6F-4977-B2C4-CF9751267087}"/>
              </a:ext>
            </a:extLst>
          </ns0:cNvPr>
          <ns0:cNvSpPr>
            <a:spLocks noGrp="1"/>
          </ns0:cNvSpPr>
          <ns0:nvPr/>
        </ns0:nvSpPr>
        <ns0:spPr>
          <a:xfrm>
            <a:off x="847030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8292D786-564A-414F-8674-68C422C426B6}"/>
              </a:ext>
            </a:extLst>
          </ns0:cNvPr>
          <ns0:cNvSpPr>
            <a:spLocks noGrp="1"/>
          </ns0:cNvSpPr>
          <ns0:nvPr/>
        </ns0:nvSpPr>
        <ns0:spPr>
          <a:xfrm>
            <a:off x="571500" y="31718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33" name="">
            <a:extLst>
              <a:ext uri="{FF2B5EF4-FFF2-40B4-BE49-F238E27FC236}">
                <ns2:creationId id="{3817DE38-2038-483A-97F8-6E70F3C282CB}"/>
              </a:ext>
            </a:extLst>
          </ns0:cNvPr>
          <ns0:cNvSpPr>
            <a:spLocks noGrp="1"/>
          </ns0:cNvSpPr>
          <ns0:nvPr/>
        </ns0:nvSpPr>
        <ns0:spPr>
          <a:xfrm>
            <a:off x="64770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ACR BEM, ACR I e ACR IV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7B07A331-3BB4-48BF-BE98-EBB8DA6FFD84}"/>
              </a:ext>
            </a:extLst>
          </ns0:cNvPr>
          <ns0:cNvSpPr>
            <a:spLocks noGrp="1"/>
          </ns0:cNvSpPr>
          <ns0:nvPr/>
        </ns0:nvSpPr>
        <ns0:spPr>
          <a:xfrm>
            <a:off x="64770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R$ 6,9 bi · atual 5,1%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A0BB2C3D-C5FB-4CBD-B5A2-20F4EF68B58D}"/>
              </a:ext>
            </a:extLst>
          </ns0:cNvPr>
          <ns0:cNvSpPr>
            <a:spLocks noGrp="1"/>
          </ns0:cNvSpPr>
          <ns0:nvPr/>
        </ns0:nvSpPr>
        <ns0:spPr>
          <a:xfrm>
            <a:off x="64770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CF7A290D-1160-47A1-BD16-923C7B75FE19}"/>
              </a:ext>
            </a:extLst>
          </ns0:cNvPr>
          <ns0:cNvSpPr>
            <a:spLocks noGrp="1"/>
          </ns0:cNvSpPr>
          <ns0:nvPr/>
        </ns0:nvSpPr>
        <ns0:spPr>
          <a:xfrm>
            <a:off x="64770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7" name="">
            <a:extLst>
              <a:ext uri="{FF2B5EF4-FFF2-40B4-BE49-F238E27FC236}">
                <ns2:creationId id="{97754F42-E863-453F-97A1-D990CFB53AD5}"/>
              </a:ext>
            </a:extLst>
          </ns0:cNvPr>
          <ns0:cNvSpPr>
            <a:spLocks noGrp="1"/>
          </ns0:cNvSpPr>
          <ns0:nvPr/>
        </ns0:nvSpPr>
        <ns0:spPr>
          <a:xfrm>
            <a:off x="75698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45A6FD3E-5532-40A9-BCDE-7BC4870E54E0}"/>
              </a:ext>
            </a:extLst>
          </ns0:cNvPr>
          <ns0:cNvSpPr>
            <a:spLocks noGrp="1"/>
          </ns0:cNvSpPr>
          <ns0:nvPr/>
        </ns0:nvSpPr>
        <ns0:spPr>
          <a:xfrm>
            <a:off x="571500" y="391477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39" name="">
            <a:extLst>
              <a:ext uri="{FF2B5EF4-FFF2-40B4-BE49-F238E27FC236}">
                <ns2:creationId id="{8956D18F-62DC-4CBF-B025-79EBC000097A}"/>
              </a:ext>
            </a:extLst>
          </ns0:cNvPr>
          <ns0:cNvSpPr>
            <a:spLocks noGrp="1"/>
          </ns0:cNvSpPr>
          <ns0:nvPr/>
        </ns0:nvSpPr>
        <ns0:spPr>
          <a:xfrm>
            <a:off x="64770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Cartão Consignado I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E9AACDFA-958D-443D-A72A-DA089D4C04F4}"/>
              </a:ext>
            </a:extLst>
          </ns0:cNvPr>
          <ns0:cNvSpPr>
            <a:spLocks noGrp="1"/>
          </ns0:cNvSpPr>
          <ns0:nvPr/>
        </ns0:nvSpPr>
        <ns0:spPr>
          <a:xfrm>
            <a:off x="64770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R$ 68,1 mi · atual 2,5%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56729BF6-FDEB-4A0A-9DC0-B4C096342535}"/>
              </a:ext>
            </a:extLst>
          </ns0:cNvPr>
          <ns0:cNvSpPr>
            <a:spLocks noGrp="1"/>
          </ns0:cNvSpPr>
          <ns0:nvPr/>
        </ns0:nvSpPr>
        <ns0:spPr>
          <a:xfrm>
            <a:off x="64770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124AC281-6735-448E-AD9C-3839090DB4E0}"/>
              </a:ext>
            </a:extLst>
          </ns0:cNvPr>
          <ns0:cNvSpPr>
            <a:spLocks noGrp="1"/>
          </ns0:cNvSpPr>
          <ns0:nvPr/>
        </ns0:nvSpPr>
        <ns0:spPr>
          <a:xfrm>
            <a:off x="64770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711EB73E-B564-4405-AA4C-3E82B6CE15DD}"/>
              </a:ext>
            </a:extLst>
          </ns0:cNvPr>
          <ns0:cNvSpPr>
            <a:spLocks noGrp="1"/>
          </ns0:cNvSpPr>
          <ns0:nvPr/>
        </ns0:nvSpPr>
        <ns0:spPr>
          <a:xfrm>
            <a:off x="700942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44" name="">
            <a:extLst>
              <a:ext uri="{FF2B5EF4-FFF2-40B4-BE49-F238E27FC236}">
                <ns2:creationId id="{3BB1A073-A273-4077-8857-898110B4ACFE}"/>
              </a:ext>
            </a:extLst>
          </ns0:cNvPr>
          <ns0:cNvSpPr>
            <a:spLocks noGrp="1"/>
          </ns0:cNvSpPr>
          <ns0:nvPr/>
        </ns0:nvSpPr>
        <ns0:spPr>
          <a:xfrm>
            <a:off x="571500" y="4657725"/>
            <a:ext cx="1793875" cy="68580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45" name="">
            <a:extLst>
              <a:ext uri="{FF2B5EF4-FFF2-40B4-BE49-F238E27FC236}">
                <ns2:creationId id="{1CA62674-9C14-4AA6-AE25-F00F2512B6FE}"/>
              </a:ext>
            </a:extLst>
          </ns0:cNvPr>
          <ns0:cNvSpPr>
            <a:spLocks noGrp="1"/>
          </ns0:cNvSpPr>
          <ns0:nvPr/>
        </ns0:nvSpPr>
        <ns0:spPr>
          <a:xfrm>
            <a:off x="647700" y="47053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Brasilfactors Crédito Corporativo</a:t>
            </a:r>
          </a:p>
        </ns0:txBody>
      </ns0:sp>
      <ns0:sp>
        <ns0:nvSpPr>
          <ns0:cNvPr id="46" name="">
            <a:extLst>
              <a:ext uri="{FF2B5EF4-FFF2-40B4-BE49-F238E27FC236}">
                <ns2:creationId id="{E7D15372-38F5-426A-9616-AA309999C7E6}"/>
              </a:ext>
            </a:extLst>
          </ns0:cNvPr>
          <ns0:cNvSpPr>
            <a:spLocks noGrp="1"/>
          </ns0:cNvSpPr>
          <ns0:nvPr/>
        </ns0:nvSpPr>
        <ns0:spPr>
          <a:xfrm>
            <a:off x="647700" y="49149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R$ 110,9 mi · atual 2,1%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9517B161-EB84-4B2F-90D5-523EA440DDAD}"/>
              </a:ext>
            </a:extLst>
          </ns0:cNvPr>
          <ns0:cNvSpPr>
            <a:spLocks noGrp="1"/>
          </ns0:cNvSpPr>
          <ns0:nvPr/>
        </ns0:nvSpPr>
        <ns0:spPr>
          <a:xfrm>
            <a:off x="647700" y="50768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48" name="">
            <a:extLst>
              <a:ext uri="{FF2B5EF4-FFF2-40B4-BE49-F238E27FC236}">
                <ns2:creationId id="{CC786B37-9EF3-401F-BEA6-415A90FA186A}"/>
              </a:ext>
            </a:extLst>
          </ns0:cNvPr>
          <ns0:cNvSpPr>
            <a:spLocks noGrp="1"/>
          </ns0:cNvSpPr>
          <ns0:nvPr/>
        </ns0:nvSpPr>
        <ns0:spPr>
          <a:xfrm>
            <a:off x="647700" y="52578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9" name="">
            <a:extLst>
              <a:ext uri="{FF2B5EF4-FFF2-40B4-BE49-F238E27FC236}">
                <ns2:creationId id="{E906CBD4-9D41-46FD-9A74-9F24A292F80A}"/>
              </a:ext>
            </a:extLst>
          </ns0:cNvPr>
          <ns0:cNvSpPr>
            <a:spLocks noGrp="1"/>
          </ns0:cNvSpPr>
          <ns0:nvPr/>
        </ns0:nvSpPr>
        <ns0:spPr>
          <a:xfrm>
            <a:off x="692249" y="52197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50" name="">
            <a:extLst>
              <a:ext uri="{FF2B5EF4-FFF2-40B4-BE49-F238E27FC236}">
                <ns2:creationId id="{C5F6E8C8-D126-4842-A555-E6786643ECDC}"/>
              </a:ext>
            </a:extLst>
          </ns0:cNvPr>
          <ns0:cNvSpPr>
            <a:spLocks noGrp="1"/>
          </ns0:cNvSpPr>
          <ns0:nvPr/>
        </ns0:nvSpPr>
        <ns0:spPr>
          <a:xfrm>
            <a:off x="2422525" y="168592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51" name="">
            <a:extLst>
              <a:ext uri="{FF2B5EF4-FFF2-40B4-BE49-F238E27FC236}">
                <ns2:creationId id="{5F2C49F1-BB7E-4754-A28B-774340756F66}"/>
              </a:ext>
            </a:extLst>
          </ns0:cNvPr>
          <ns0:cNvSpPr>
            <a:spLocks noGrp="1"/>
          </ns0:cNvSpPr>
          <ns0:nvPr/>
        </ns0:nvSpPr>
        <ns0:spPr>
          <a:xfrm>
            <a:off x="249872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ICRED Chopin INSS</a:t>
            </a:r>
          </a:p>
        </ns0:txBody>
      </ns0:sp>
      <ns0:sp>
        <ns0:nvSpPr>
          <ns0:cNvPr id="52" name="">
            <a:extLst>
              <a:ext uri="{FF2B5EF4-FFF2-40B4-BE49-F238E27FC236}">
                <ns2:creationId id="{50DC2657-233D-44CD-8F78-B838849E1F38}"/>
              </a:ext>
            </a:extLst>
          </ns0:cNvPr>
          <ns0:cNvSpPr>
            <a:spLocks noGrp="1"/>
          </ns0:cNvSpPr>
          <ns0:nvPr/>
        </ns0:nvSpPr>
        <ns0:spPr>
          <a:xfrm>
            <a:off x="249872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R$ 1,1 bi · atual 13,8%</a:t>
            </a:r>
          </a:p>
        </ns0:txBody>
      </ns0:sp>
      <ns0:sp>
        <ns0:nvSpPr>
          <ns0:cNvPr id="53" name="">
            <a:extLst>
              <a:ext uri="{FF2B5EF4-FFF2-40B4-BE49-F238E27FC236}">
                <ns2:creationId id="{723D4B1C-2BA7-44CA-8374-C57D4779901A}"/>
              </a:ext>
            </a:extLst>
          </ns0:cNvPr>
          <ns0:cNvSpPr>
            <a:spLocks noGrp="1"/>
          </ns0:cNvSpPr>
          <ns0:nvPr/>
        </ns0:nvSpPr>
        <ns0:spPr>
          <a:xfrm>
            <a:off x="249872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54" name="">
            <a:extLst>
              <a:ext uri="{FF2B5EF4-FFF2-40B4-BE49-F238E27FC236}">
                <ns2:creationId id="{6BDAEDE8-51F8-41C0-B9EE-D03AB232D9A8}"/>
              </a:ext>
            </a:extLst>
          </ns0:cNvPr>
          <ns0:cNvSpPr>
            <a:spLocks noGrp="1"/>
          </ns0:cNvSpPr>
          <ns0:nvPr/>
        </ns0:nvSpPr>
        <ns0:spPr>
          <a:xfrm>
            <a:off x="249872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5" name="">
            <a:extLst>
              <a:ext uri="{FF2B5EF4-FFF2-40B4-BE49-F238E27FC236}">
                <ns2:creationId id="{B807A802-3773-42FC-8758-218669A150AB}"/>
              </a:ext>
            </a:extLst>
          </ns0:cNvPr>
          <ns0:cNvSpPr>
            <a:spLocks noGrp="1"/>
          </ns0:cNvSpPr>
          <ns0:nvPr/>
        </ns0:nvSpPr>
        <ns0:spPr>
          <a:xfrm>
            <a:off x="2795298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56" name="">
            <a:extLst>
              <a:ext uri="{FF2B5EF4-FFF2-40B4-BE49-F238E27FC236}">
                <ns2:creationId id="{57912F9E-D589-465C-AF0E-111F49F549D1}"/>
              </a:ext>
            </a:extLst>
          </ns0:cNvPr>
          <ns0:cNvSpPr>
            <a:spLocks noGrp="1"/>
          </ns0:cNvSpPr>
          <ns0:nvPr/>
        </ns0:nvSpPr>
        <ns0:spPr>
          <a:xfrm>
            <a:off x="2422525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57" name="">
            <a:extLst>
              <a:ext uri="{FF2B5EF4-FFF2-40B4-BE49-F238E27FC236}">
                <ns2:creationId id="{05EDED7E-4FAF-4844-8EE3-89A464DC0F01}"/>
              </a:ext>
            </a:extLst>
          </ns0:cNvPr>
          <ns0:cNvSpPr>
            <a:spLocks noGrp="1"/>
          </ns0:cNvSpPr>
          <ns0:nvPr/>
        </ns0:nvSpPr>
        <ns0:spPr>
          <a:xfrm>
            <a:off x="249872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Bela Pi e Big Picture</a:t>
            </a:r>
          </a:p>
        </ns0:txBody>
      </ns0:sp>
      <ns0:sp>
        <ns0:nvSpPr>
          <ns0:cNvPr id="58" name="">
            <a:extLst>
              <a:ext uri="{FF2B5EF4-FFF2-40B4-BE49-F238E27FC236}">
                <ns2:creationId id="{BE138CB5-EC4B-4467-91A2-1D930CAEA918}"/>
              </a:ext>
            </a:extLst>
          </ns0:cNvPr>
          <ns0:cNvSpPr>
            <a:spLocks noGrp="1"/>
          </ns0:cNvSpPr>
          <ns0:nvPr/>
        </ns0:nvSpPr>
        <ns0:spPr>
          <a:xfrm>
            <a:off x="249872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R$ 14,9 bi · atual 14,7%</a:t>
            </a:r>
          </a:p>
        </ns0:txBody>
      </ns0:sp>
      <ns0:sp>
        <ns0:nvSpPr>
          <ns0:cNvPr id="59" name="">
            <a:extLst>
              <a:ext uri="{FF2B5EF4-FFF2-40B4-BE49-F238E27FC236}">
                <ns2:creationId id="{2C15EB01-63E5-45DA-80EA-1BD0A8011C62}"/>
              </a:ext>
            </a:extLst>
          </ns0:cNvPr>
          <ns0:cNvSpPr>
            <a:spLocks noGrp="1"/>
          </ns0:cNvSpPr>
          <ns0:nvPr/>
        </ns0:nvSpPr>
        <ns0:spPr>
          <a:xfrm>
            <a:off x="249872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4 valores; ver aba · emissão fev/26</a:t>
            </a:r>
          </a:p>
        </ns0:txBody>
      </ns0:sp>
      <ns0:sp>
        <ns0:nvSpPr>
          <ns0:cNvPr id="60" name="">
            <a:extLst>
              <a:ext uri="{FF2B5EF4-FFF2-40B4-BE49-F238E27FC236}">
                <ns2:creationId id="{D76BB5D2-E3F7-4A63-AE46-221B22F21FBA}"/>
              </a:ext>
            </a:extLst>
          </ns0:cNvPr>
          <ns0:cNvSpPr>
            <a:spLocks noGrp="1"/>
          </ns0:cNvSpPr>
          <ns0:nvPr/>
        </ns0:nvSpPr>
        <ns0:spPr>
          <a:xfrm>
            <a:off x="249872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1" name="">
            <a:extLst>
              <a:ext uri="{FF2B5EF4-FFF2-40B4-BE49-F238E27FC236}">
                <ns2:creationId id="{A093FD61-F826-471A-BD1B-D61ECEE13461}"/>
              </a:ext>
            </a:extLst>
          </ns0:cNvPr>
          <ns0:cNvSpPr>
            <a:spLocks noGrp="1"/>
          </ns0:cNvSpPr>
          <ns0:nvPr/>
        </ns0:nvSpPr>
        <ns0:spPr>
          <a:xfrm>
            <a:off x="2814262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62" name="">
            <a:extLst>
              <a:ext uri="{FF2B5EF4-FFF2-40B4-BE49-F238E27FC236}">
                <ns2:creationId id="{81C42230-BA21-482E-BB1E-D340C6C2DD5F}"/>
              </a:ext>
            </a:extLst>
          </ns0:cNvPr>
          <ns0:cNvSpPr>
            <a:spLocks noGrp="1"/>
          </ns0:cNvSpPr>
          <ns0:nvPr/>
        </ns0:nvSpPr>
        <ns0:spPr>
          <a:xfrm>
            <a:off x="2422525" y="31718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63" name="">
            <a:extLst>
              <a:ext uri="{FF2B5EF4-FFF2-40B4-BE49-F238E27FC236}">
                <ns2:creationId id="{CEF824E8-5F39-418A-94F8-F6B32A20D6D7}"/>
              </a:ext>
            </a:extLst>
          </ns0:cNvPr>
          <ns0:cNvSpPr>
            <a:spLocks noGrp="1"/>
          </ns0:cNvSpPr>
          <ns0:nvPr/>
        </ns0:nvSpPr>
        <ns0:spPr>
          <a:xfrm>
            <a:off x="249872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Santander Auto Loans I</a:t>
            </a:r>
          </a:p>
        </ns0:txBody>
      </ns0:sp>
      <ns0:sp>
        <ns0:nvSpPr>
          <ns0:cNvPr id="64" name="">
            <a:extLst>
              <a:ext uri="{FF2B5EF4-FFF2-40B4-BE49-F238E27FC236}">
                <ns2:creationId id="{EA5F3F08-7036-4250-8E6E-695136613217}"/>
              </a:ext>
            </a:extLst>
          </ns0:cNvPr>
          <ns0:cNvSpPr>
            <a:spLocks noGrp="1"/>
          </ns0:cNvSpPr>
          <ns0:nvPr/>
        </ns0:nvSpPr>
        <ns0:spPr>
          <a:xfrm>
            <a:off x="249872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R$ 2,4 bi · atual 13,3%</a:t>
            </a:r>
          </a:p>
        </ns0:txBody>
      </ns0:sp>
      <ns0:sp>
        <ns0:nvSpPr>
          <ns0:cNvPr id="65" name="">
            <a:extLst>
              <a:ext uri="{FF2B5EF4-FFF2-40B4-BE49-F238E27FC236}">
                <ns2:creationId id="{7862D441-D3E3-4FF1-9046-42467EBD957E}"/>
              </a:ext>
            </a:extLst>
          </ns0:cNvPr>
          <ns0:cNvSpPr>
            <a:spLocks noGrp="1"/>
          </ns0:cNvSpPr>
          <ns0:nvPr/>
        </ns0:nvSpPr>
        <ns0:spPr>
          <a:xfrm>
            <a:off x="249872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66" name="">
            <a:extLst>
              <a:ext uri="{FF2B5EF4-FFF2-40B4-BE49-F238E27FC236}">
                <ns2:creationId id="{5E59CF14-3EFB-481C-B193-BC5EF7F36BB0}"/>
              </a:ext>
            </a:extLst>
          </ns0:cNvPr>
          <ns0:cNvSpPr>
            <a:spLocks noGrp="1"/>
          </ns0:cNvSpPr>
          <ns0:nvPr/>
        </ns0:nvSpPr>
        <ns0:spPr>
          <a:xfrm>
            <a:off x="249872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7" name="">
            <a:extLst>
              <a:ext uri="{FF2B5EF4-FFF2-40B4-BE49-F238E27FC236}">
                <ns2:creationId id="{B0D4EEFF-994D-4C9F-BEB0-36183855F47D}"/>
              </a:ext>
            </a:extLst>
          </ns0:cNvPr>
          <ns0:cNvSpPr>
            <a:spLocks noGrp="1"/>
          </ns0:cNvSpPr>
          <ns0:nvPr/>
        </ns0:nvSpPr>
        <ns0:spPr>
          <a:xfrm>
            <a:off x="278521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68" name="">
            <a:extLst>
              <a:ext uri="{FF2B5EF4-FFF2-40B4-BE49-F238E27FC236}">
                <ns2:creationId id="{6DD78E16-1803-4531-B914-64D2DEF428D3}"/>
              </a:ext>
            </a:extLst>
          </ns0:cNvPr>
          <ns0:cNvSpPr>
            <a:spLocks noGrp="1"/>
          </ns0:cNvSpPr>
          <ns0:nvPr/>
        </ns0:nvSpPr>
        <ns0:spPr>
          <a:xfrm>
            <a:off x="2422525" y="391477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69" name="">
            <a:extLst>
              <a:ext uri="{FF2B5EF4-FFF2-40B4-BE49-F238E27FC236}">
                <ns2:creationId id="{3DFC96DA-DC39-4C66-9B82-1BDC7A0CA0A6}"/>
              </a:ext>
            </a:extLst>
          </ns0:cNvPr>
          <ns0:cNvSpPr>
            <a:spLocks noGrp="1"/>
          </ns0:cNvSpPr>
          <ns0:nvPr/>
        </ns0:nvSpPr>
        <ns0:spPr>
          <a:xfrm>
            <a:off x="2498725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Driver Brasil Six Banco Volkswagen</a:t>
            </a:r>
          </a:p>
        </ns0:txBody>
      </ns0:sp>
      <ns0:sp>
        <ns0:nvSpPr>
          <ns0:cNvPr id="70" name="">
            <a:extLst>
              <a:ext uri="{FF2B5EF4-FFF2-40B4-BE49-F238E27FC236}">
                <ns2:creationId id="{1CC4C1A3-9B87-47BC-8A99-2FC5B2A9380C}"/>
              </a:ext>
            </a:extLst>
          </ns0:cNvPr>
          <ns0:cNvSpPr>
            <a:spLocks noGrp="1"/>
          </ns0:cNvSpPr>
          <ns0:nvPr/>
        </ns0:nvSpPr>
        <ns0:spPr>
          <a:xfrm>
            <a:off x="2498725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13,4%</a:t>
            </a:r>
          </a:p>
        </ns0:txBody>
      </ns0:sp>
      <ns0:sp>
        <ns0:nvSpPr>
          <ns0:cNvPr id="71" name="">
            <a:extLst>
              <a:ext uri="{FF2B5EF4-FFF2-40B4-BE49-F238E27FC236}">
                <ns2:creationId id="{5E439805-F99D-4704-8CD0-A247792FF97D}"/>
              </a:ext>
            </a:extLst>
          </ns0:cNvPr>
          <ns0:cNvSpPr>
            <a:spLocks noGrp="1"/>
          </ns0:cNvSpPr>
          <ns0:nvPr/>
        </ns0:nvSpPr>
        <ns0:spPr>
          <a:xfrm>
            <a:off x="2498725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72" name="">
            <a:extLst>
              <a:ext uri="{FF2B5EF4-FFF2-40B4-BE49-F238E27FC236}">
                <ns2:creationId id="{6C0D592D-00E4-4877-8EEB-E0E1994D27D1}"/>
              </a:ext>
            </a:extLst>
          </ns0:cNvPr>
          <ns0:cNvSpPr>
            <a:spLocks noGrp="1"/>
          </ns0:cNvSpPr>
          <ns0:nvPr/>
        </ns0:nvSpPr>
        <ns0:spPr>
          <a:xfrm>
            <a:off x="2498725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3" name="">
            <a:extLst>
              <a:ext uri="{FF2B5EF4-FFF2-40B4-BE49-F238E27FC236}">
                <ns2:creationId id="{C310BBBE-F1D2-4168-96B3-49F1F6EE43D2}"/>
              </a:ext>
            </a:extLst>
          </ns0:cNvPr>
          <ns0:cNvSpPr>
            <a:spLocks noGrp="1"/>
          </ns0:cNvSpPr>
          <ns0:nvPr/>
        </ns0:nvSpPr>
        <ns0:spPr>
          <a:xfrm>
            <a:off x="2786995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74" name="">
            <a:extLst>
              <a:ext uri="{FF2B5EF4-FFF2-40B4-BE49-F238E27FC236}">
                <ns2:creationId id="{F92B8BF4-E062-48D7-B097-4CF788C27B35}"/>
              </a:ext>
            </a:extLst>
          </ns0:cNvPr>
          <ns0:cNvSpPr>
            <a:spLocks noGrp="1"/>
          </ns0:cNvSpPr>
          <ns0:nvPr/>
        </ns0:nvSpPr>
        <ns0:spPr>
          <a:xfrm>
            <a:off x="4273550" y="168592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75" name="">
            <a:extLst>
              <a:ext uri="{FF2B5EF4-FFF2-40B4-BE49-F238E27FC236}">
                <ns2:creationId id="{C160B09B-A1A5-4327-BAEC-D5FA25738C0F}"/>
              </a:ext>
            </a:extLst>
          </ns0:cNvPr>
          <ns0:cNvSpPr>
            <a:spLocks noGrp="1"/>
          </ns0:cNvSpPr>
          <ns0:nvPr/>
        </ns0:nvSpPr>
        <ns0:spPr>
          <a:xfrm>
            <a:off x="434975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INSS I, II e III</a:t>
            </a:r>
          </a:p>
        </ns0:txBody>
      </ns0:sp>
      <ns0:sp>
        <ns0:nvSpPr>
          <ns0:cNvPr id="76" name="">
            <a:extLst>
              <a:ext uri="{FF2B5EF4-FFF2-40B4-BE49-F238E27FC236}">
                <ns2:creationId id="{309CB338-C52C-4A26-8761-9430A8E5F300}"/>
              </a:ext>
            </a:extLst>
          </ns0:cNvPr>
          <ns0:cNvSpPr>
            <a:spLocks noGrp="1"/>
          </ns0:cNvSpPr>
          <ns0:nvPr/>
        </ns0:nvSpPr>
        <ns0:spPr>
          <a:xfrm>
            <a:off x="434975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R$ 3,2 bi · atual 15,8%</a:t>
            </a:r>
          </a:p>
        </ns0:txBody>
      </ns0:sp>
      <ns0:sp>
        <ns0:nvSpPr>
          <ns0:cNvPr id="77" name="">
            <a:extLst>
              <a:ext uri="{FF2B5EF4-FFF2-40B4-BE49-F238E27FC236}">
                <ns2:creationId id="{8CEAC9C8-A38D-4840-9818-410339C40FDF}"/>
              </a:ext>
            </a:extLst>
          </ns0:cNvPr>
          <ns0:cNvSpPr>
            <a:spLocks noGrp="1"/>
          </ns0:cNvSpPr>
          <ns0:nvPr/>
        </ns0:nvSpPr>
        <ns0:spPr>
          <a:xfrm>
            <a:off x="434975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1,5% inicial; meta 2,5% · emissão abr/26</a:t>
            </a:r>
          </a:p>
        </ns0:txBody>
      </ns0:sp>
      <ns0:sp>
        <ns0:nvSpPr>
          <ns0:cNvPr id="78" name="">
            <a:extLst>
              <a:ext uri="{FF2B5EF4-FFF2-40B4-BE49-F238E27FC236}">
                <ns2:creationId id="{BF417BC4-DC06-4161-BEB8-3C5DB9F18748}"/>
              </a:ext>
            </a:extLst>
          </ns0:cNvPr>
          <ns0:cNvSpPr>
            <a:spLocks noGrp="1"/>
          </ns0:cNvSpPr>
          <ns0:nvPr/>
        </ns0:nvSpPr>
        <ns0:spPr>
          <a:xfrm>
            <a:off x="434975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9" name="">
            <a:extLst>
              <a:ext uri="{FF2B5EF4-FFF2-40B4-BE49-F238E27FC236}">
                <ns2:creationId id="{481B2160-F577-40F8-A03A-A7A93B8DCCE6}"/>
              </a:ext>
            </a:extLst>
          </ns0:cNvPr>
          <ns0:cNvSpPr>
            <a:spLocks noGrp="1"/>
          </ns0:cNvSpPr>
          <ns0:nvPr/>
        </ns0:nvSpPr>
        <ns0:spPr>
          <a:xfrm>
            <a:off x="468867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0" name="">
            <a:extLst>
              <a:ext uri="{FF2B5EF4-FFF2-40B4-BE49-F238E27FC236}">
                <ns2:creationId id="{431F786E-D838-44ED-9879-B7CDDEFE74DB}"/>
              </a:ext>
            </a:extLst>
          </ns0:cNvPr>
          <ns0:cNvSpPr>
            <a:spLocks noGrp="1"/>
          </ns0:cNvSpPr>
          <ns0:nvPr/>
        </ns0:nvSpPr>
        <ns0:spPr>
          <a:xfrm>
            <a:off x="4273550" y="242887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81" name="">
            <a:extLst>
              <a:ext uri="{FF2B5EF4-FFF2-40B4-BE49-F238E27FC236}">
                <ns2:creationId id="{0F52B548-98CE-462F-B04A-2A1E6088A1DB}"/>
              </a:ext>
            </a:extLst>
          </ns0:cNvPr>
          <ns0:cNvSpPr>
            <a:spLocks noGrp="1"/>
          </ns0:cNvSpPr>
          <ns0:nvPr/>
        </ns0:nvSpPr>
        <ns0:spPr>
          <a:xfrm>
            <a:off x="434975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PicPay FGTS I e II</a:t>
            </a:r>
          </a:p>
        </ns0:txBody>
      </ns0:sp>
      <ns0:sp>
        <ns0:nvSpPr>
          <ns0:cNvPr id="82" name="">
            <a:extLst>
              <a:ext uri="{FF2B5EF4-FFF2-40B4-BE49-F238E27FC236}">
                <ns2:creationId id="{73ADAD1F-D03C-41BF-8D1B-F7B4D03BBC61}"/>
              </a:ext>
            </a:extLst>
          </ns0:cNvPr>
          <ns0:cNvSpPr>
            <a:spLocks noGrp="1"/>
          </ns0:cNvSpPr>
          <ns0:nvPr/>
        </ns0:nvSpPr>
        <ns0:spPr>
          <a:xfrm>
            <a:off x="434975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R$ 2,3 bi · atual 16,8%</a:t>
            </a:r>
          </a:p>
        </ns0:txBody>
      </ns0:sp>
      <ns0:sp>
        <ns0:nvSpPr>
          <ns0:cNvPr id="83" name="">
            <a:extLst>
              <a:ext uri="{FF2B5EF4-FFF2-40B4-BE49-F238E27FC236}">
                <ns2:creationId id="{42B0C9B6-1308-4C72-97ED-432F42FBC285}"/>
              </a:ext>
            </a:extLst>
          </ns0:cNvPr>
          <ns0:cNvSpPr>
            <a:spLocks noGrp="1"/>
          </ns0:cNvSpPr>
          <ns0:nvPr/>
        </ns0:nvSpPr>
        <ns0:spPr>
          <a:xfrm>
            <a:off x="434975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84" name="">
            <a:extLst>
              <a:ext uri="{FF2B5EF4-FFF2-40B4-BE49-F238E27FC236}">
                <ns2:creationId id="{596BA7FF-4E47-4246-B86B-1EC1EE93165D}"/>
              </a:ext>
            </a:extLst>
          </ns0:cNvPr>
          <ns0:cNvSpPr>
            <a:spLocks noGrp="1"/>
          </ns0:cNvSpPr>
          <ns0:nvPr/>
        </ns0:nvSpPr>
        <ns0:spPr>
          <a:xfrm>
            <a:off x="434975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85" name="">
            <a:extLst>
              <a:ext uri="{FF2B5EF4-FFF2-40B4-BE49-F238E27FC236}">
                <ns2:creationId id="{9B6564DD-6BA7-46DF-B05E-5F1A6ACE77E2}"/>
              </a:ext>
            </a:extLst>
          </ns0:cNvPr>
          <ns0:cNvSpPr>
            <a:spLocks noGrp="1"/>
          </ns0:cNvSpPr>
          <ns0:nvPr/>
        </ns0:nvSpPr>
        <ns0:spPr>
          <a:xfrm>
            <a:off x="4711207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6" name="">
            <a:extLst>
              <a:ext uri="{FF2B5EF4-FFF2-40B4-BE49-F238E27FC236}">
                <ns2:creationId id="{8533F548-8D26-47CF-B1BF-7B543CBB4E98}"/>
              </a:ext>
            </a:extLst>
          </ns0:cNvPr>
          <ns0:cNvSpPr>
            <a:spLocks noGrp="1"/>
          </ns0:cNvSpPr>
          <ns0:nvPr/>
        </ns0:nvSpPr>
        <ns0:spPr>
          <a:xfrm>
            <a:off x="4273550" y="317182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87" name="">
            <a:extLst>
              <a:ext uri="{FF2B5EF4-FFF2-40B4-BE49-F238E27FC236}">
                <ns2:creationId id="{B7A7DDA0-5387-42D1-B4D1-CA6F94CDBD34}"/>
              </a:ext>
            </a:extLst>
          </ns0:cNvPr>
          <ns0:cNvSpPr>
            <a:spLocks noGrp="1"/>
          </ns0:cNvSpPr>
          <ns0:nvPr/>
        </ns0:nvSpPr>
        <ns0:spPr>
          <a:xfrm>
            <a:off x="434975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FGTS II e IV</a:t>
            </a:r>
          </a:p>
        </ns0:txBody>
      </ns0:sp>
      <ns0:sp>
        <ns0:nvSpPr>
          <ns0:cNvPr id="88" name="">
            <a:extLst>
              <a:ext uri="{FF2B5EF4-FFF2-40B4-BE49-F238E27FC236}">
                <ns2:creationId id="{A9501CBA-B7CE-4FE8-969A-0DB0694A5018}"/>
              </a:ext>
            </a:extLst>
          </ns0:cNvPr>
          <ns0:cNvSpPr>
            <a:spLocks noGrp="1"/>
          </ns0:cNvSpPr>
          <ns0:nvPr/>
        </ns0:nvSpPr>
        <ns0:spPr>
          <a:xfrm>
            <a:off x="434975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R$ 1,3 bi · atual 18,4%</a:t>
            </a:r>
          </a:p>
        </ns0:txBody>
      </ns0:sp>
      <ns0:sp>
        <ns0:nvSpPr>
          <ns0:cNvPr id="89" name="">
            <a:extLst>
              <a:ext uri="{FF2B5EF4-FFF2-40B4-BE49-F238E27FC236}">
                <ns2:creationId id="{6AA35774-F8D2-474C-88F9-AA049769466E}"/>
              </a:ext>
            </a:extLst>
          </ns0:cNvPr>
          <ns0:cNvSpPr>
            <a:spLocks noGrp="1"/>
          </ns0:cNvSpPr>
          <ns0:nvPr/>
        </ns0:nvSpPr>
        <ns0:spPr>
          <a:xfrm>
            <a:off x="434975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90" name="">
            <a:extLst>
              <a:ext uri="{FF2B5EF4-FFF2-40B4-BE49-F238E27FC236}">
                <ns2:creationId id="{0D439978-8D1C-4889-BC67-FC22F0A50A67}"/>
              </a:ext>
            </a:extLst>
          </ns0:cNvPr>
          <ns0:cNvSpPr>
            <a:spLocks noGrp="1"/>
          </ns0:cNvSpPr>
          <ns0:nvPr/>
        </ns0:nvSpPr>
        <ns0:spPr>
          <a:xfrm>
            <a:off x="434975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91" name="">
            <a:extLst>
              <a:ext uri="{FF2B5EF4-FFF2-40B4-BE49-F238E27FC236}">
                <ns2:creationId id="{EA6CEE57-02F6-40EE-9371-620F26CB78CE}"/>
              </a:ext>
            </a:extLst>
          </ns0:cNvPr>
          <ns0:cNvSpPr>
            <a:spLocks noGrp="1"/>
          </ns0:cNvSpPr>
          <ns0:nvPr/>
        </ns0:nvSpPr>
        <ns0:spPr>
          <a:xfrm>
            <a:off x="474537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92" name="">
            <a:extLst>
              <a:ext uri="{FF2B5EF4-FFF2-40B4-BE49-F238E27FC236}">
                <ns2:creationId id="{A13E9730-0FE0-4947-BE55-B6D5EE5B1E97}"/>
              </a:ext>
            </a:extLst>
          </ns0:cNvPr>
          <ns0:cNvSpPr>
            <a:spLocks noGrp="1"/>
          </ns0:cNvSpPr>
          <ns0:nvPr/>
        </ns0:nvSpPr>
        <ns0:spPr>
          <a:xfrm>
            <a:off x="4273550" y="391477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93" name="">
            <a:extLst>
              <a:ext uri="{FF2B5EF4-FFF2-40B4-BE49-F238E27FC236}">
                <ns2:creationId id="{613EF1FE-9098-48CA-9F29-F444940E1264}"/>
              </a:ext>
            </a:extLst>
          </ns0:cNvPr>
          <ns0:cNvSpPr>
            <a:spLocks noGrp="1"/>
          </ns0:cNvSpPr>
          <ns0:nvPr/>
        </ns0:nvSpPr>
        <ns0:spPr>
          <a:xfrm>
            <a:off x="434975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Daycoval FGTS I</a:t>
            </a:r>
          </a:p>
        </ns0:txBody>
      </ns0:sp>
      <ns0:sp>
        <ns0:nvSpPr>
          <ns0:cNvPr id="94" name="">
            <a:extLst>
              <a:ext uri="{FF2B5EF4-FFF2-40B4-BE49-F238E27FC236}">
                <ns2:creationId id="{6FDE515E-C6B3-45D2-A4A6-9B40435A3D06}"/>
              </a:ext>
            </a:extLst>
          </ns0:cNvPr>
          <ns0:cNvSpPr>
            <a:spLocks noGrp="1"/>
          </ns0:cNvSpPr>
          <ns0:nvPr/>
        </ns0:nvSpPr>
        <ns0:spPr>
          <a:xfrm>
            <a:off x="434975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R$ 102,7 mi · atual 17,0%</a:t>
            </a:r>
          </a:p>
        </ns0:txBody>
      </ns0:sp>
      <ns0:sp>
        <ns0:nvSpPr>
          <ns0:cNvPr id="95" name="">
            <a:extLst>
              <a:ext uri="{FF2B5EF4-FFF2-40B4-BE49-F238E27FC236}">
                <ns2:creationId id="{473207D9-7DB1-4B27-9463-1C93B332CB78}"/>
              </a:ext>
            </a:extLst>
          </ns0:cNvPr>
          <ns0:cNvSpPr>
            <a:spLocks noGrp="1"/>
          </ns0:cNvSpPr>
          <ns0:nvPr/>
        </ns0:nvSpPr>
        <ns0:spPr>
          <a:xfrm>
            <a:off x="434975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96" name="">
            <a:extLst>
              <a:ext uri="{FF2B5EF4-FFF2-40B4-BE49-F238E27FC236}">
                <ns2:creationId id="{C0408E2A-45A7-4A93-8912-8178224E4A26}"/>
              </a:ext>
            </a:extLst>
          </ns0:cNvPr>
          <ns0:cNvSpPr>
            <a:spLocks noGrp="1"/>
          </ns0:cNvSpPr>
          <ns0:nvPr/>
        </ns0:nvSpPr>
        <ns0:spPr>
          <a:xfrm>
            <a:off x="434975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97" name="">
            <a:extLst>
              <a:ext uri="{FF2B5EF4-FFF2-40B4-BE49-F238E27FC236}">
                <ns2:creationId id="{63D7AF45-ED6B-4854-B83E-FD74C90D4F86}"/>
              </a:ext>
            </a:extLst>
          </ns0:cNvPr>
          <ns0:cNvSpPr>
            <a:spLocks noGrp="1"/>
          </ns0:cNvSpPr>
          <ns0:nvPr/>
        </ns0:nvSpPr>
        <ns0:spPr>
          <a:xfrm>
            <a:off x="4715811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98" name="">
            <a:extLst>
              <a:ext uri="{FF2B5EF4-FFF2-40B4-BE49-F238E27FC236}">
                <ns2:creationId id="{FD532FA7-E569-440F-849D-B757C1AD8048}"/>
              </a:ext>
            </a:extLst>
          </ns0:cNvPr>
          <ns0:cNvSpPr>
            <a:spLocks noGrp="1"/>
          </ns0:cNvSpPr>
          <ns0:nvPr/>
        </ns0:nvSpPr>
        <ns0:spPr>
          <a:xfrm>
            <a:off x="4273550" y="46577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99" name="">
            <a:extLst>
              <a:ext uri="{FF2B5EF4-FFF2-40B4-BE49-F238E27FC236}">
                <ns2:creationId id="{69A77B94-5760-4C68-86B3-3D8233DE6C3B}"/>
              </a:ext>
            </a:extLst>
          </ns0:cNvPr>
          <ns0:cNvSpPr>
            <a:spLocks noGrp="1"/>
          </ns0:cNvSpPr>
          <ns0:nvPr/>
        </ns0:nvSpPr>
        <ns0:spPr>
          <a:xfrm>
            <a:off x="4349750" y="47053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BV Auto I, II e III</a:t>
            </a:r>
          </a:p>
        </ns0:txBody>
      </ns0:sp>
      <ns0:sp>
        <ns0:nvSpPr>
          <ns0:cNvPr id="100" name="">
            <a:extLst>
              <a:ext uri="{FF2B5EF4-FFF2-40B4-BE49-F238E27FC236}">
                <ns2:creationId id="{F9E6832D-CC2F-4B94-941C-9DE5152D241B}"/>
              </a:ext>
            </a:extLst>
          </ns0:cNvPr>
          <ns0:cNvSpPr>
            <a:spLocks noGrp="1"/>
          </ns0:cNvSpPr>
          <ns0:nvPr/>
        </ns0:nvSpPr>
        <ns0:spPr>
          <a:xfrm>
            <a:off x="4349750" y="49149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R$ 3,7 bi · atual 15,3%</a:t>
            </a:r>
          </a:p>
        </ns0:txBody>
      </ns0:sp>
      <ns0:sp>
        <ns0:nvSpPr>
          <ns0:cNvPr id="101" name="">
            <a:extLst>
              <a:ext uri="{FF2B5EF4-FFF2-40B4-BE49-F238E27FC236}">
                <ns2:creationId id="{702DEB2C-18DB-4FFC-8D76-823B3A3B1D4E}"/>
              </a:ext>
            </a:extLst>
          </ns0:cNvPr>
          <ns0:cNvSpPr>
            <a:spLocks noGrp="1"/>
          </ns0:cNvSpPr>
          <ns0:nvPr/>
        </ns0:nvSpPr>
        <ns0:spPr>
          <a:xfrm>
            <a:off x="4349750" y="50768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02" name="">
            <a:extLst>
              <a:ext uri="{FF2B5EF4-FFF2-40B4-BE49-F238E27FC236}">
                <ns2:creationId id="{975CEEC7-8191-4C41-ADD2-5C062D9373B8}"/>
              </a:ext>
            </a:extLst>
          </ns0:cNvPr>
          <ns0:cNvSpPr>
            <a:spLocks noGrp="1"/>
          </ns0:cNvSpPr>
          <ns0:nvPr/>
        </ns0:nvSpPr>
        <ns0:spPr>
          <a:xfrm>
            <a:off x="4349750" y="52578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3" name="">
            <a:extLst>
              <a:ext uri="{FF2B5EF4-FFF2-40B4-BE49-F238E27FC236}">
                <ns2:creationId id="{D6F0C338-87B3-4D5D-9EC1-2A942E3763B9}"/>
              </a:ext>
            </a:extLst>
          </ns0:cNvPr>
          <ns0:cNvSpPr>
            <a:spLocks noGrp="1"/>
          </ns0:cNvSpPr>
          <ns0:nvPr/>
        </ns0:nvSpPr>
        <ns0:spPr>
          <a:xfrm>
            <a:off x="4679409" y="52197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04" name="">
            <a:extLst>
              <a:ext uri="{FF2B5EF4-FFF2-40B4-BE49-F238E27FC236}">
                <ns2:creationId id="{965B0B8B-2AE7-491D-9618-2E58C07F792F}"/>
              </a:ext>
            </a:extLst>
          </ns0:cNvPr>
          <ns0:cNvSpPr>
            <a:spLocks noGrp="1"/>
          </ns0:cNvSpPr>
          <ns0:nvPr/>
        </ns0:nvSpPr>
        <ns0:spPr>
          <a:xfrm>
            <a:off x="4273550" y="540067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05" name="">
            <a:extLst>
              <a:ext uri="{FF2B5EF4-FFF2-40B4-BE49-F238E27FC236}">
                <ns2:creationId id="{DB2E6710-856A-48A7-9767-0AD108F05929}"/>
              </a:ext>
            </a:extLst>
          </ns0:cNvPr>
          <ns0:cNvSpPr>
            <a:spLocks noGrp="1"/>
          </ns0:cNvSpPr>
          <ns0:nvPr/>
        </ns0:nvSpPr>
        <ns0:spPr>
          <a:xfrm>
            <a:off x="4349750" y="54483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Lift I Cartão INSS</a:t>
            </a:r>
          </a:p>
        </ns0:txBody>
      </ns0:sp>
      <ns0:sp>
        <ns0:nvSpPr>
          <ns0:cNvPr id="106" name="">
            <a:extLst>
              <a:ext uri="{FF2B5EF4-FFF2-40B4-BE49-F238E27FC236}">
                <ns2:creationId id="{EBFD50DE-8234-425F-AD53-49DDCEC105D7}"/>
              </a:ext>
            </a:extLst>
          </ns0:cNvPr>
          <ns0:cNvSpPr>
            <a:spLocks noGrp="1"/>
          </ns0:cNvSpPr>
          <ns0:nvPr/>
        </ns0:nvSpPr>
        <ns0:spPr>
          <a:xfrm>
            <a:off x="4349750" y="56578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R$ 160,7 mi · atual 17,2%</a:t>
            </a:r>
          </a:p>
        </ns0:txBody>
      </ns0:sp>
      <ns0:sp>
        <ns0:nvSpPr>
          <ns0:cNvPr id="107" name="">
            <a:extLst>
              <a:ext uri="{FF2B5EF4-FFF2-40B4-BE49-F238E27FC236}">
                <ns2:creationId id="{EFAB59A6-3B1B-43AF-B9CA-CACE7026B5E0}"/>
              </a:ext>
            </a:extLst>
          </ns0:cNvPr>
          <ns0:cNvSpPr>
            <a:spLocks noGrp="1"/>
          </ns0:cNvSpPr>
          <ns0:nvPr/>
        </ns0:nvSpPr>
        <ns0:spPr>
          <a:xfrm>
            <a:off x="4349750" y="58197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08" name="">
            <a:extLst>
              <a:ext uri="{FF2B5EF4-FFF2-40B4-BE49-F238E27FC236}">
                <ns2:creationId id="{EA9C05F9-5733-408B-A05F-7C24ECC2EC28}"/>
              </a:ext>
            </a:extLst>
          </ns0:cNvPr>
          <ns0:cNvSpPr>
            <a:spLocks noGrp="1"/>
          </ns0:cNvSpPr>
          <ns0:nvPr/>
        </ns0:nvSpPr>
        <ns0:spPr>
          <a:xfrm>
            <a:off x="4349750" y="60007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9" name="">
            <a:extLst>
              <a:ext uri="{FF2B5EF4-FFF2-40B4-BE49-F238E27FC236}">
                <ns2:creationId id="{3634725A-9305-4505-BD13-E973F58DB595}"/>
              </a:ext>
            </a:extLst>
          </ns0:cNvPr>
          <ns0:cNvSpPr>
            <a:spLocks noGrp="1"/>
          </ns0:cNvSpPr>
          <ns0:nvPr/>
        </ns0:nvSpPr>
        <ns0:spPr>
          <a:xfrm>
            <a:off x="4719113" y="59626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10" name="">
            <a:extLst>
              <a:ext uri="{FF2B5EF4-FFF2-40B4-BE49-F238E27FC236}">
                <ns2:creationId id="{F57D8CA1-D018-43DA-81F5-A29312E4EF3E}"/>
              </a:ext>
            </a:extLst>
          </ns0:cNvPr>
          <ns0:cNvSpPr>
            <a:spLocks noGrp="1"/>
          </ns0:cNvSpPr>
          <ns0:nvPr/>
        </ns0:nvSpPr>
        <ns0:spPr>
          <a:xfrm>
            <a:off x="6124575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11" name="">
            <a:extLst>
              <a:ext uri="{FF2B5EF4-FFF2-40B4-BE49-F238E27FC236}">
                <ns2:creationId id="{B9422DF0-4220-4952-B24F-47C5B4803C13}"/>
              </a:ext>
            </a:extLst>
          </ns0:cNvPr>
          <ns0:cNvSpPr>
            <a:spLocks noGrp="1"/>
          </ns0:cNvSpPr>
          <ns0:nvPr/>
        </ns0:nvSpPr>
        <ns0:spPr>
          <a:xfrm>
            <a:off x="620077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Paketa</a:t>
            </a:r>
          </a:p>
        </ns0:txBody>
      </ns0:sp>
      <ns0:sp>
        <ns0:nvSpPr>
          <ns0:cNvPr id="112" name="">
            <a:extLst>
              <a:ext uri="{FF2B5EF4-FFF2-40B4-BE49-F238E27FC236}">
                <ns2:creationId id="{CA05F3F3-28BF-4162-BD89-5ECC0E15DFA4}"/>
              </a:ext>
            </a:extLst>
          </ns0:cNvPr>
          <ns0:cNvSpPr>
            <a:spLocks noGrp="1"/>
          </ns0:cNvSpPr>
          <ns0:nvPr/>
        </ns0:nvSpPr>
        <ns0:spPr>
          <a:xfrm>
            <a:off x="620077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32,0%</a:t>
            </a:r>
          </a:p>
        </ns0:txBody>
      </ns0:sp>
      <ns0:sp>
        <ns0:nvSpPr>
          <ns0:cNvPr id="113" name="">
            <a:extLst>
              <a:ext uri="{FF2B5EF4-FFF2-40B4-BE49-F238E27FC236}">
                <ns2:creationId id="{5F85F17F-84F6-4AD7-A9F2-44B2632BF770}"/>
              </a:ext>
            </a:extLst>
          </ns0:cNvPr>
          <ns0:cNvSpPr>
            <a:spLocks noGrp="1"/>
          </ns0:cNvSpPr>
          <ns0:nvPr/>
        </ns0:nvSpPr>
        <ns0:spPr>
          <a:xfrm>
            <a:off x="620077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14" name="">
            <a:extLst>
              <a:ext uri="{FF2B5EF4-FFF2-40B4-BE49-F238E27FC236}">
                <ns2:creationId id="{B9174B1B-F7A2-486A-A83A-066C28968836}"/>
              </a:ext>
            </a:extLst>
          </ns0:cNvPr>
          <ns0:cNvSpPr>
            <a:spLocks noGrp="1"/>
          </ns0:cNvSpPr>
          <ns0:nvPr/>
        </ns0:nvSpPr>
        <ns0:spPr>
          <a:xfrm>
            <a:off x="620077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15" name="">
            <a:extLst>
              <a:ext uri="{FF2B5EF4-FFF2-40B4-BE49-F238E27FC236}">
                <ns2:creationId id="{6E3E85C4-25EC-4B2E-AC53-E352C1A7DB32}"/>
              </a:ext>
            </a:extLst>
          </ns0:cNvPr>
          <ns0:cNvSpPr>
            <a:spLocks noGrp="1"/>
          </ns0:cNvSpPr>
          <ns0:nvPr/>
        </ns0:nvSpPr>
        <ns0:spPr>
          <a:xfrm>
            <a:off x="688876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16" name="">
            <a:extLst>
              <a:ext uri="{FF2B5EF4-FFF2-40B4-BE49-F238E27FC236}">
                <ns2:creationId id="{5A13A3F8-A797-4BF2-A498-80887723936D}"/>
              </a:ext>
            </a:extLst>
          </ns0:cNvPr>
          <ns0:cNvSpPr>
            <a:spLocks noGrp="1"/>
          </ns0:cNvSpPr>
          <ns0:nvPr/>
        </ns0:nvSpPr>
        <ns0:spPr>
          <a:xfrm>
            <a:off x="6124575" y="242887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17" name="">
            <a:extLst>
              <a:ext uri="{FF2B5EF4-FFF2-40B4-BE49-F238E27FC236}">
                <ns2:creationId id="{9FFEBF44-4CF3-402E-8AF6-7643A65A44AC}"/>
              </a:ext>
            </a:extLst>
          </ns0:cNvPr>
          <ns0:cNvSpPr>
            <a:spLocks noGrp="1"/>
          </ns0:cNvSpPr>
          <ns0:nvPr/>
        </ns0:nvSpPr>
        <ns0:spPr>
          <a:xfrm>
            <a:off x="620077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INSS Receivables VI</a:t>
            </a:r>
          </a:p>
        </ns0:txBody>
      </ns0:sp>
      <ns0:sp>
        <ns0:nvSpPr>
          <ns0:cNvPr id="118" name="">
            <a:extLst>
              <a:ext uri="{FF2B5EF4-FFF2-40B4-BE49-F238E27FC236}">
                <ns2:creationId id="{EA2F3876-6018-4DB5-A0C9-4C9F60AE1C35}"/>
              </a:ext>
            </a:extLst>
          </ns0:cNvPr>
          <ns0:cNvSpPr>
            <a:spLocks noGrp="1"/>
          </ns0:cNvSpPr>
          <ns0:nvPr/>
        </ns0:nvSpPr>
        <ns0:spPr>
          <a:xfrm>
            <a:off x="620077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R$ 1,5 bi · atual 20,3%</a:t>
            </a:r>
          </a:p>
        </ns0:txBody>
      </ns0:sp>
      <ns0:sp>
        <ns0:nvSpPr>
          <ns0:cNvPr id="119" name="">
            <a:extLst>
              <a:ext uri="{FF2B5EF4-FFF2-40B4-BE49-F238E27FC236}">
                <ns2:creationId id="{07604148-4FE0-4B83-A480-6996BB5083D4}"/>
              </a:ext>
            </a:extLst>
          </ns0:cNvPr>
          <ns0:cNvSpPr>
            <a:spLocks noGrp="1"/>
          </ns0:cNvSpPr>
          <ns0:nvPr/>
        </ns0:nvSpPr>
        <ns0:spPr>
          <a:xfrm>
            <a:off x="620077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20" name="">
            <a:extLst>
              <a:ext uri="{FF2B5EF4-FFF2-40B4-BE49-F238E27FC236}">
                <ns2:creationId id="{D6AE7A42-7C64-4A01-93CA-689E3AFCB787}"/>
              </a:ext>
            </a:extLst>
          </ns0:cNvPr>
          <ns0:cNvSpPr>
            <a:spLocks noGrp="1"/>
          </ns0:cNvSpPr>
          <ns0:nvPr/>
        </ns0:nvSpPr>
        <ns0:spPr>
          <a:xfrm>
            <a:off x="620077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21" name="">
            <a:extLst>
              <a:ext uri="{FF2B5EF4-FFF2-40B4-BE49-F238E27FC236}">
                <ns2:creationId id="{E6325044-AF63-46DC-905E-3DD20C64AC3E}"/>
              </a:ext>
            </a:extLst>
          </ns0:cNvPr>
          <ns0:cNvSpPr>
            <a:spLocks noGrp="1"/>
          </ns0:cNvSpPr>
          <ns0:nvPr/>
        </ns0:nvSpPr>
        <ns0:spPr>
          <a:xfrm>
            <a:off x="6636626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22" name="">
            <a:extLst>
              <a:ext uri="{FF2B5EF4-FFF2-40B4-BE49-F238E27FC236}">
                <ns2:creationId id="{4F26207D-3869-40E2-A026-08807CB04277}"/>
              </a:ext>
            </a:extLst>
          </ns0:cNvPr>
          <ns0:cNvSpPr>
            <a:spLocks noGrp="1"/>
          </ns0:cNvSpPr>
          <ns0:nvPr/>
        </ns0:nvSpPr>
        <ns0:spPr>
          <a:xfrm>
            <a:off x="6124575" y="31718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23" name="">
            <a:extLst>
              <a:ext uri="{FF2B5EF4-FFF2-40B4-BE49-F238E27FC236}">
                <ns2:creationId id="{F064CA8D-6EBA-4D6C-8F40-3EAF6B7435AE}"/>
              </a:ext>
            </a:extLst>
          </ns0:cNvPr>
          <ns0:cNvSpPr>
            <a:spLocks noGrp="1"/>
          </ns0:cNvSpPr>
          <ns0:nvPr/>
        </ns0:nvSpPr>
        <ns0:spPr>
          <a:xfrm>
            <a:off x="620077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Creditas Auto X, XI e XII</a:t>
            </a:r>
          </a:p>
        </ns0:txBody>
      </ns0:sp>
      <ns0:sp>
        <ns0:nvSpPr>
          <ns0:cNvPr id="124" name="">
            <a:extLst>
              <a:ext uri="{FF2B5EF4-FFF2-40B4-BE49-F238E27FC236}">
                <ns2:creationId id="{0B30D804-6970-4EC3-9CF5-3EED003A95DC}"/>
              </a:ext>
            </a:extLst>
          </ns0:cNvPr>
          <ns0:cNvSpPr>
            <a:spLocks noGrp="1"/>
          </ns0:cNvSpPr>
          <ns0:nvPr/>
        </ns0:nvSpPr>
        <ns0:spPr>
          <a:xfrm>
            <a:off x="620077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R$ 2,9 bi · atual 24,9%</a:t>
            </a:r>
          </a:p>
        </ns0:txBody>
      </ns0:sp>
      <ns0:sp>
        <ns0:nvSpPr>
          <ns0:cNvPr id="125" name="">
            <a:extLst>
              <a:ext uri="{FF2B5EF4-FFF2-40B4-BE49-F238E27FC236}">
                <ns2:creationId id="{0E72AEBC-FE8B-4684-99CD-B700880AF66B}"/>
              </a:ext>
            </a:extLst>
          </ns0:cNvPr>
          <ns0:cNvSpPr>
            <a:spLocks noGrp="1"/>
          </ns0:cNvSpPr>
          <ns0:nvPr/>
        </ns0:nvSpPr>
        <ns0:spPr>
          <a:xfrm>
            <a:off x="620077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26" name="">
            <a:extLst>
              <a:ext uri="{FF2B5EF4-FFF2-40B4-BE49-F238E27FC236}">
                <ns2:creationId id="{240A9EBE-F34B-42BE-AABC-ED753CF49B2C}"/>
              </a:ext>
            </a:extLst>
          </ns0:cNvPr>
          <ns0:cNvSpPr>
            <a:spLocks noGrp="1"/>
          </ns0:cNvSpPr>
          <ns0:nvPr/>
        </ns0:nvSpPr>
        <ns0:spPr>
          <a:xfrm>
            <a:off x="620077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27" name="">
            <a:extLst>
              <a:ext uri="{FF2B5EF4-FFF2-40B4-BE49-F238E27FC236}">
                <ns2:creationId id="{B3F3D30B-DD71-4ACD-961C-C921A22D9BF5}"/>
              </a:ext>
            </a:extLst>
          </ns0:cNvPr>
          <ns0:cNvSpPr>
            <a:spLocks noGrp="1"/>
          </ns0:cNvSpPr>
          <ns0:nvPr/>
        </ns0:nvSpPr>
        <ns0:spPr>
          <a:xfrm>
            <a:off x="6736120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28" name="">
            <a:extLst>
              <a:ext uri="{FF2B5EF4-FFF2-40B4-BE49-F238E27FC236}">
                <ns2:creationId id="{AA51E49C-0FE7-44DB-B244-1463C3FB44CA}"/>
              </a:ext>
            </a:extLst>
          </ns0:cNvPr>
          <ns0:cNvSpPr>
            <a:spLocks noGrp="1"/>
          </ns0:cNvSpPr>
          <ns0:nvPr/>
        </ns0:nvSpPr>
        <ns0:spPr>
          <a:xfrm>
            <a:off x="7975600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29" name="">
            <a:extLst>
              <a:ext uri="{FF2B5EF4-FFF2-40B4-BE49-F238E27FC236}">
                <ns2:creationId id="{F9D603B7-BDB4-4ED4-AF93-DD802007B8A8}"/>
              </a:ext>
            </a:extLst>
          </ns0:cNvPr>
          <ns0:cNvSpPr>
            <a:spLocks noGrp="1"/>
          </ns0:cNvSpPr>
          <ns0:nvPr/>
        </ns0:nvSpPr>
        <ns0:spPr>
          <a:xfrm>
            <a:off x="805180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CLT Now</a:t>
            </a:r>
          </a:p>
        </ns0:txBody>
      </ns0:sp>
      <ns0:sp>
        <ns0:nvSpPr>
          <ns0:cNvPr id="130" name="">
            <a:extLst>
              <a:ext uri="{FF2B5EF4-FFF2-40B4-BE49-F238E27FC236}">
                <ns2:creationId id="{1EEF9A8A-39D5-42A1-9047-ED06BA81AAFF}"/>
              </a:ext>
            </a:extLst>
          </ns0:cNvPr>
          <ns0:cNvSpPr>
            <a:spLocks noGrp="1"/>
          </ns0:cNvSpPr>
          <ns0:nvPr/>
        </ns0:nvSpPr>
        <ns0:spPr>
          <a:xfrm>
            <a:off x="805180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R$ 474,4 mi · atual 35,7%</a:t>
            </a:r>
          </a:p>
        </ns0:txBody>
      </ns0:sp>
      <ns0:sp>
        <ns0:nvSpPr>
          <ns0:cNvPr id="131" name="">
            <a:extLst>
              <a:ext uri="{FF2B5EF4-FFF2-40B4-BE49-F238E27FC236}">
                <ns2:creationId id="{C11E67E9-8619-40B2-9D3F-CD64B04692EA}"/>
              </a:ext>
            </a:extLst>
          </ns0:cNvPr>
          <ns0:cNvSpPr>
            <a:spLocks noGrp="1"/>
          </ns0:cNvSpPr>
          <ns0:nvPr/>
        </ns0:nvSpPr>
        <ns0:spPr>
          <a:xfrm>
            <a:off x="805180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32" name="">
            <a:extLst>
              <a:ext uri="{FF2B5EF4-FFF2-40B4-BE49-F238E27FC236}">
                <ns2:creationId id="{B561BD8E-8033-4B8B-AFAF-4AE1CC7607C5}"/>
              </a:ext>
            </a:extLst>
          </ns0:cNvPr>
          <ns0:cNvSpPr>
            <a:spLocks noGrp="1"/>
          </ns0:cNvSpPr>
          <ns0:nvPr/>
        </ns0:nvSpPr>
        <ns0:spPr>
          <a:xfrm>
            <a:off x="805180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3" name="">
            <a:extLst>
              <a:ext uri="{FF2B5EF4-FFF2-40B4-BE49-F238E27FC236}">
                <ns2:creationId id="{E9999639-B4AB-49DD-8109-77A5BC9C6D4A}"/>
              </a:ext>
            </a:extLst>
          </ns0:cNvPr>
          <ns0:cNvSpPr>
            <a:spLocks noGrp="1"/>
          </ns0:cNvSpPr>
          <ns0:nvPr/>
        </ns0:nvSpPr>
        <ns0:spPr>
          <a:xfrm>
            <a:off x="881904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34" name="">
            <a:extLst>
              <a:ext uri="{FF2B5EF4-FFF2-40B4-BE49-F238E27FC236}">
                <ns2:creationId id="{41D96C86-5D0D-41B6-A226-C9DE44DBE3F3}"/>
              </a:ext>
            </a:extLst>
          </ns0:cNvPr>
          <ns0:cNvSpPr>
            <a:spLocks noGrp="1"/>
          </ns0:cNvSpPr>
          <ns0:nvPr/>
        </ns0:nvSpPr>
        <ns0:spPr>
          <a:xfrm>
            <a:off x="7975600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35" name="">
            <a:extLst>
              <a:ext uri="{FF2B5EF4-FFF2-40B4-BE49-F238E27FC236}">
                <ns2:creationId id="{0CCC2DE4-84BA-441B-A40D-6B6E7391D4A3}"/>
              </a:ext>
            </a:extLst>
          </ns0:cNvPr>
          <ns0:cNvSpPr>
            <a:spLocks noGrp="1"/>
          </ns0:cNvSpPr>
          <ns0:nvPr/>
        </ns0:nvSpPr>
        <ns0:spPr>
          <a:xfrm>
            <a:off x="805180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Seller I, II e III</a:t>
            </a:r>
          </a:p>
        </ns0:txBody>
      </ns0:sp>
      <ns0:sp>
        <ns0:nvSpPr>
          <ns0:cNvPr id="136" name="">
            <a:extLst>
              <a:ext uri="{FF2B5EF4-FFF2-40B4-BE49-F238E27FC236}">
                <ns2:creationId id="{59C302D5-DB68-4A13-813F-F3C946404212}"/>
              </a:ext>
            </a:extLst>
          </ns0:cNvPr>
          <ns0:cNvSpPr>
            <a:spLocks noGrp="1"/>
          </ns0:cNvSpPr>
          <ns0:nvPr/>
        </ns0:nvSpPr>
        <ns0:spPr>
          <a:xfrm>
            <a:off x="805180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R$ 8,4 bi · atual 48,0%</a:t>
            </a:r>
          </a:p>
        </ns0:txBody>
      </ns0:sp>
      <ns0:sp>
        <ns0:nvSpPr>
          <ns0:cNvPr id="137" name="">
            <a:extLst>
              <a:ext uri="{FF2B5EF4-FFF2-40B4-BE49-F238E27FC236}">
                <ns2:creationId id="{6BCB3B23-5B88-4CE2-965D-07D16D5BF38B}"/>
              </a:ext>
            </a:extLst>
          </ns0:cNvPr>
          <ns0:cNvSpPr>
            <a:spLocks noGrp="1"/>
          </ns0:cNvSpPr>
          <ns0:nvPr/>
        </ns0:nvSpPr>
        <ns0:spPr>
          <a:xfrm>
            <a:off x="805180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10,0% / 33,3% · emissão fev/26</a:t>
            </a:r>
          </a:p>
        </ns0:txBody>
      </ns0:sp>
      <ns0:sp>
        <ns0:nvSpPr>
          <ns0:cNvPr id="138" name="">
            <a:extLst>
              <a:ext uri="{FF2B5EF4-FFF2-40B4-BE49-F238E27FC236}">
                <ns2:creationId id="{36FB3F27-03B3-4E5B-B80E-DAB5A4C93539}"/>
              </a:ext>
            </a:extLst>
          </ns0:cNvPr>
          <ns0:cNvSpPr>
            <a:spLocks noGrp="1"/>
          </ns0:cNvSpPr>
          <ns0:nvPr/>
        </ns0:nvSpPr>
        <ns0:spPr>
          <a:xfrm>
            <a:off x="805180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9" name="">
            <a:extLst>
              <a:ext uri="{FF2B5EF4-FFF2-40B4-BE49-F238E27FC236}">
                <ns2:creationId id="{5687CC22-6FE7-45C4-B7A3-B02986172B83}"/>
              </a:ext>
            </a:extLst>
          </ns0:cNvPr>
          <ns0:cNvSpPr>
            <a:spLocks noGrp="1"/>
          </ns0:cNvSpPr>
          <ns0:nvPr/>
        </ns0:nvSpPr>
        <ns0:spPr>
          <a:xfrm>
            <a:off x="9085104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40" name="">
            <a:extLst>
              <a:ext uri="{FF2B5EF4-FFF2-40B4-BE49-F238E27FC236}">
                <ns2:creationId id="{1EBEE40F-E7F8-451C-90EA-E594D842AB5E}"/>
              </a:ext>
            </a:extLst>
          </ns0:cNvPr>
          <ns0:cNvSpPr>
            <a:spLocks noGrp="1"/>
          </ns0:cNvSpPr>
          <ns0:nvPr/>
        </ns0:nvSpPr>
        <ns0:spPr>
          <a:xfrm>
            <a:off x="7975600" y="317182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41" name="">
            <a:extLst>
              <a:ext uri="{FF2B5EF4-FFF2-40B4-BE49-F238E27FC236}">
                <ns2:creationId id="{FA0C2F79-EB16-462D-9518-CF6FE37274A0}"/>
              </a:ext>
            </a:extLst>
          </ns0:cNvPr>
          <ns0:cNvSpPr>
            <a:spLocks noGrp="1"/>
          </ns0:cNvSpPr>
          <ns0:nvPr/>
        </ns0:nvSpPr>
        <ns0:spPr>
          <a:xfrm>
            <a:off x="805180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Somapay Cartão Consignado Público</a:t>
            </a:r>
          </a:p>
        </ns0:txBody>
      </ns0:sp>
      <ns0:sp>
        <ns0:nvSpPr>
          <ns0:cNvPr id="142" name="">
            <a:extLst>
              <a:ext uri="{FF2B5EF4-FFF2-40B4-BE49-F238E27FC236}">
                <ns2:creationId id="{AFC0F24D-0B29-46CF-95D7-187F792CC34B}"/>
              </a:ext>
            </a:extLst>
          </ns0:cNvPr>
          <ns0:cNvSpPr>
            <a:spLocks noGrp="1"/>
          </ns0:cNvSpPr>
          <ns0:nvPr/>
        </ns0:nvSpPr>
        <ns0:spPr>
          <a:xfrm>
            <a:off x="805180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R$ 159,2 mi · atual 43,1%</a:t>
            </a:r>
          </a:p>
        </ns0:txBody>
      </ns0:sp>
      <ns0:sp>
        <ns0:nvSpPr>
          <ns0:cNvPr id="143" name="">
            <a:extLst>
              <a:ext uri="{FF2B5EF4-FFF2-40B4-BE49-F238E27FC236}">
                <ns2:creationId id="{A891D1BC-7E6A-455C-8163-34D2E15D0EAE}"/>
              </a:ext>
            </a:extLst>
          </ns0:cNvPr>
          <ns0:cNvSpPr>
            <a:spLocks noGrp="1"/>
          </ns0:cNvSpPr>
          <ns0:nvPr/>
        </ns0:nvSpPr>
        <ns0:spPr>
          <a:xfrm>
            <a:off x="805180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44" name="">
            <a:extLst>
              <a:ext uri="{FF2B5EF4-FFF2-40B4-BE49-F238E27FC236}">
                <ns2:creationId id="{20CBE831-F690-44B8-BE13-9C2D4C97E1AA}"/>
              </a:ext>
            </a:extLst>
          </ns0:cNvPr>
          <ns0:cNvSpPr>
            <a:spLocks noGrp="1"/>
          </ns0:cNvSpPr>
          <ns0:nvPr/>
        </ns0:nvSpPr>
        <ns0:spPr>
          <a:xfrm>
            <a:off x="805180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45" name="">
            <a:extLst>
              <a:ext uri="{FF2B5EF4-FFF2-40B4-BE49-F238E27FC236}">
                <ns2:creationId id="{01DDA613-83D1-4C67-9683-F12D25B5C3DD}"/>
              </a:ext>
            </a:extLst>
          </ns0:cNvPr>
          <ns0:cNvSpPr>
            <a:spLocks noGrp="1"/>
          </ns0:cNvSpPr>
          <ns0:nvPr/>
        </ns0:nvSpPr>
        <ns0:spPr>
          <a:xfrm>
            <a:off x="8978070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46" name="">
            <a:extLst>
              <a:ext uri="{FF2B5EF4-FFF2-40B4-BE49-F238E27FC236}">
                <ns2:creationId id="{5E755EF6-E16E-401B-9E16-CB11F94487A2}"/>
              </a:ext>
            </a:extLst>
          </ns0:cNvPr>
          <ns0:cNvSpPr>
            <a:spLocks noGrp="1"/>
          </ns0:cNvSpPr>
          <ns0:nvPr/>
        </ns0:nvSpPr>
        <ns0:spPr>
          <a:xfrm>
            <a:off x="7975600" y="3914775"/>
            <a:ext cx="1793875" cy="685800"/>
          </a:xfrm>
          <a:prstGeom prst="rect">
            <a:avLst/>
          </a:prstGeom>
          <a:solidFill>
            <a:srgbClr val="DDEDEA"/>
          </a:solidFill>
          <a:ln w="0">
            <a:noFill/>
            <a:prstDash val="solid"/>
          </a:ln>
        </ns0:spPr>
      </ns0:sp>
      <ns0:sp>
        <ns0:nvSpPr>
          <ns0:cNvPr id="147" name="">
            <a:extLst>
              <a:ext uri="{FF2B5EF4-FFF2-40B4-BE49-F238E27FC236}">
                <ns2:creationId id="{F763EBA3-CFA7-4D51-B07D-1E48BC521F9E}"/>
              </a:ext>
            </a:extLst>
          </ns0:cNvPr>
          <ns0:cNvSpPr>
            <a:spLocks noGrp="1"/>
          </ns0:cNvSpPr>
          <ns0:nvPr/>
        </ns0:nvSpPr>
        <ns0:spPr>
          <a:xfrm>
            <a:off x="805180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Mercado Crédito, Mercado Crédito I</a:t>
            </a:r>
          </a:p>
        </ns0:txBody>
      </ns0:sp>
      <ns0:sp>
        <ns0:nvSpPr>
          <ns0:cNvPr id="148" name="">
            <a:extLst>
              <a:ext uri="{FF2B5EF4-FFF2-40B4-BE49-F238E27FC236}">
                <ns2:creationId id="{32549DD8-7869-411E-A8EA-EE0947209A21}"/>
              </a:ext>
            </a:extLst>
          </ns0:cNvPr>
          <ns0:cNvSpPr>
            <a:spLocks noGrp="1"/>
          </ns0:cNvSpPr>
          <ns0:nvPr/>
        </ns0:nvSpPr>
        <ns0:spPr>
          <a:xfrm>
            <a:off x="805180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R$ 5,5 bi · atual 52,3%</a:t>
            </a:r>
          </a:p>
        </ns0:txBody>
      </ns0:sp>
      <ns0:sp>
        <ns0:nvSpPr>
          <ns0:cNvPr id="149" name="">
            <a:extLst>
              <a:ext uri="{FF2B5EF4-FFF2-40B4-BE49-F238E27FC236}">
                <ns2:creationId id="{8C4E6EE7-D3AF-444E-994D-215F70E32621}"/>
              </a:ext>
            </a:extLst>
          </ns0:cNvPr>
          <ns0:cNvSpPr>
            <a:spLocks noGrp="1"/>
          </ns0:cNvSpPr>
          <ns0:nvPr/>
        </ns0:nvSpPr>
        <ns0:spPr>
          <a:xfrm>
            <a:off x="805180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7799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10,0% base; aumentos condicionais / 10,0% · emissão dez/25</a:t>
            </a:r>
          </a:p>
        </ns0:txBody>
      </ns0:sp>
      <ns0:sp>
        <ns0:nvSpPr>
          <ns0:cNvPr id="150" name="">
            <a:extLst>
              <a:ext uri="{FF2B5EF4-FFF2-40B4-BE49-F238E27FC236}">
                <ns2:creationId id="{9AE57FD3-E50F-43DD-A73C-DE447FA81D61}"/>
              </a:ext>
            </a:extLst>
          </ns0:cNvPr>
          <ns0:cNvSpPr>
            <a:spLocks noGrp="1"/>
          </ns0:cNvSpPr>
          <ns0:nvPr/>
        </ns0:nvSpPr>
        <ns0:spPr>
          <a:xfrm>
            <a:off x="805180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1" name="">
            <a:extLst>
              <a:ext uri="{FF2B5EF4-FFF2-40B4-BE49-F238E27FC236}">
                <ns2:creationId id="{C91E116F-A57A-46AE-A0E6-2555B49E20D0}"/>
              </a:ext>
            </a:extLst>
          </ns0:cNvPr>
          <ns0:cNvSpPr>
            <a:spLocks noGrp="1"/>
          </ns0:cNvSpPr>
          <ns0:nvPr/>
        </ns0:nvSpPr>
        <ns0:spPr>
          <a:xfrm>
            <a:off x="9175689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52" name="">
            <a:extLst>
              <a:ext uri="{FF2B5EF4-FFF2-40B4-BE49-F238E27FC236}">
                <ns2:creationId id="{3816C9E3-F29D-451A-BF2A-159EF6041147}"/>
              </a:ext>
            </a:extLst>
          </ns0:cNvPr>
          <ns0:cNvSpPr>
            <a:spLocks noGrp="1"/>
          </ns0:cNvSpPr>
          <ns0:nvPr/>
        </ns0:nvSpPr>
        <ns0:spPr>
          <a:xfrm>
            <a:off x="9826625" y="16859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53" name="">
            <a:extLst>
              <a:ext uri="{FF2B5EF4-FFF2-40B4-BE49-F238E27FC236}">
                <ns2:creationId id="{C680EA91-5787-4959-8900-E9BFC8B84F35}"/>
              </a:ext>
            </a:extLst>
          </ns0:cNvPr>
          <ns0:cNvSpPr>
            <a:spLocks noGrp="1"/>
          </ns0:cNvSpPr>
          <ns0:nvPr/>
        </ns0:nvSpPr>
        <ns0:spPr>
          <a:xfrm>
            <a:off x="990282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Cielo</a:t>
            </a:r>
          </a:p>
        </ns0:txBody>
      </ns0:sp>
      <ns0:sp>
        <ns0:nvSpPr>
          <ns0:cNvPr id="154" name="">
            <a:extLst>
              <a:ext uri="{FF2B5EF4-FFF2-40B4-BE49-F238E27FC236}">
                <ns2:creationId id="{F0A46946-4702-4E27-87F7-EBAF8A353197}"/>
              </a:ext>
            </a:extLst>
          </ns0:cNvPr>
          <ns0:cNvSpPr>
            <a:spLocks noGrp="1"/>
          </ns0:cNvSpPr>
          <ns0:nvPr/>
        </ns0:nvSpPr>
        <ns0:spPr>
          <a:xfrm>
            <a:off x="990282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R$ 6,5 bi · atual 84,1%</a:t>
            </a:r>
          </a:p>
        </ns0:txBody>
      </ns0:sp>
      <ns0:sp>
        <ns0:nvSpPr>
          <ns0:cNvPr id="155" name="">
            <a:extLst>
              <a:ext uri="{FF2B5EF4-FFF2-40B4-BE49-F238E27FC236}">
                <ns2:creationId id="{ACA884E8-8B0C-4AC6-AE7E-D0ACD6BA1F7C}"/>
              </a:ext>
            </a:extLst>
          </ns0:cNvPr>
          <ns0:cNvSpPr>
            <a:spLocks noGrp="1"/>
          </ns0:cNvSpPr>
          <ns0:nvPr/>
        </ns0:nvSpPr>
        <ns0:spPr>
          <a:xfrm>
            <a:off x="990282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56" name="">
            <a:extLst>
              <a:ext uri="{FF2B5EF4-FFF2-40B4-BE49-F238E27FC236}">
                <ns2:creationId id="{41F53EBB-DA7D-4FFD-8ABD-30E6AB2F01D1}"/>
              </a:ext>
            </a:extLst>
          </ns0:cNvPr>
          <ns0:cNvSpPr>
            <a:spLocks noGrp="1"/>
          </ns0:cNvSpPr>
          <ns0:nvPr/>
        </ns0:nvSpPr>
        <ns0:spPr>
          <a:xfrm>
            <a:off x="990282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7" name="">
            <a:extLst>
              <a:ext uri="{FF2B5EF4-FFF2-40B4-BE49-F238E27FC236}">
                <ns2:creationId id="{EA0B5882-95EF-4F55-ACA5-46FFB6125186}"/>
              </a:ext>
            </a:extLst>
          </ns0:cNvPr>
          <ns0:cNvSpPr>
            <a:spLocks noGrp="1"/>
          </ns0:cNvSpPr>
          <ns0:nvPr/>
        </ns0:nvSpPr>
        <ns0:spPr>
          <a:xfrm>
            <a:off x="11515725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58" name="">
            <a:extLst>
              <a:ext uri="{FF2B5EF4-FFF2-40B4-BE49-F238E27FC236}">
                <ns2:creationId id="{A0F8CDF0-75F1-47CB-A030-B01E46835106}"/>
              </a:ext>
            </a:extLst>
          </ns0:cNvPr>
          <ns0:cNvSpPr>
            <a:spLocks noGrp="1"/>
          </ns0:cNvSpPr>
          <ns0:nvPr/>
        </ns0:nvSpPr>
        <ns0:spPr>
          <a:xfrm>
            <a:off x="9826625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59" name="">
            <a:extLst>
              <a:ext uri="{FF2B5EF4-FFF2-40B4-BE49-F238E27FC236}">
                <ns2:creationId id="{B434D570-F523-4097-80B1-596384482ADD}"/>
              </a:ext>
            </a:extLst>
          </ns0:cNvPr>
          <ns0:cNvSpPr>
            <a:spLocks noGrp="1"/>
          </ns0:cNvSpPr>
          <ns0:nvPr/>
        </ns0:nvSpPr>
        <ns0:spPr>
          <a:xfrm>
            <a:off x="990282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</a:t>
            </a:r>
          </a:p>
        </ns0:txBody>
      </ns0:sp>
      <ns0:sp>
        <ns0:nvSpPr>
          <ns0:cNvPr id="160" name="">
            <a:extLst>
              <a:ext uri="{FF2B5EF4-FFF2-40B4-BE49-F238E27FC236}">
                <ns2:creationId id="{33363202-1DE4-4BC1-932F-BBFD3DFA1620}"/>
              </a:ext>
            </a:extLst>
          </ns0:cNvPr>
          <ns0:cNvSpPr>
            <a:spLocks noGrp="1"/>
          </ns0:cNvSpPr>
          <ns0:nvPr/>
        </ns0:nvSpPr>
        <ns0:spPr>
          <a:xfrm>
            <a:off x="990282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R$ 41,5 bi · atual 100,0%</a:t>
            </a:r>
          </a:p>
        </ns0:txBody>
      </ns0:sp>
      <ns0:sp>
        <ns0:nvSpPr>
          <ns0:cNvPr id="161" name="">
            <a:extLst>
              <a:ext uri="{FF2B5EF4-FFF2-40B4-BE49-F238E27FC236}">
                <ns2:creationId id="{5E17DC6C-2CD7-4310-A664-720B8F309676}"/>
              </a:ext>
            </a:extLst>
          </ns0:cNvPr>
          <ns0:cNvSpPr>
            <a:spLocks noGrp="1"/>
          </ns0:cNvSpPr>
          <ns0:nvPr/>
        </ns0:nvSpPr>
        <ns0:spPr>
          <a:xfrm>
            <a:off x="990282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62" name="">
            <a:extLst>
              <a:ext uri="{FF2B5EF4-FFF2-40B4-BE49-F238E27FC236}">
                <ns2:creationId id="{A9B5FD62-F529-4A0F-843C-DD5411D1204A}"/>
              </a:ext>
            </a:extLst>
          </ns0:cNvPr>
          <ns0:cNvSpPr>
            <a:spLocks noGrp="1"/>
          </ns0:cNvSpPr>
          <ns0:nvPr/>
        </ns0:nvSpPr>
        <ns0:spPr>
          <a:xfrm>
            <a:off x="990282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3" name="">
            <a:extLst>
              <a:ext uri="{FF2B5EF4-FFF2-40B4-BE49-F238E27FC236}">
                <ns2:creationId id="{5CCE2C83-3215-4F3F-BFC1-979B20AA2BD1}"/>
              </a:ext>
            </a:extLst>
          </ns0:cNvPr>
          <ns0:cNvSpPr>
            <a:spLocks noGrp="1"/>
          </ns0:cNvSpPr>
          <ns0:nvPr/>
        </ns0:nvSpPr>
        <ns0:spPr>
          <a:xfrm>
            <a:off x="11515725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64" name="">
            <a:extLst>
              <a:ext uri="{FF2B5EF4-FFF2-40B4-BE49-F238E27FC236}">
                <ns2:creationId id="{865D5F75-6C8E-4CF8-81A4-8D067B28D638}"/>
              </a:ext>
            </a:extLst>
          </ns0:cNvPr>
          <ns0:cNvSpPr>
            <a:spLocks noGrp="1"/>
          </ns0:cNvSpPr>
          <ns0:nvPr/>
        </ns0:nvSpPr>
        <ns0:spPr>
          <a:xfrm>
            <a:off x="9826625" y="31718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65" name="">
            <a:extLst>
              <a:ext uri="{FF2B5EF4-FFF2-40B4-BE49-F238E27FC236}">
                <ns2:creationId id="{06839E96-1BA6-4536-84E6-D24CB4EA76CD}"/>
              </a:ext>
            </a:extLst>
          </ns0:cNvPr>
          <ns0:cNvSpPr>
            <a:spLocks noGrp="1"/>
          </ns0:cNvSpPr>
          <ns0:nvPr/>
        </ns0:nvSpPr>
        <ns0:spPr>
          <a:xfrm>
            <a:off x="990282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PagSeguro I</a:t>
            </a:r>
          </a:p>
        </ns0:txBody>
      </ns0:sp>
      <ns0:sp>
        <ns0:nvSpPr>
          <ns0:cNvPr id="166" name="">
            <a:extLst>
              <a:ext uri="{FF2B5EF4-FFF2-40B4-BE49-F238E27FC236}">
                <ns2:creationId id="{60A60080-73D3-4A3B-BB9A-4D616C03F42A}"/>
              </a:ext>
            </a:extLst>
          </ns0:cNvPr>
          <ns0:cNvSpPr>
            <a:spLocks noGrp="1"/>
          </ns0:cNvSpPr>
          <ns0:nvPr/>
        </ns0:nvSpPr>
        <ns0:spPr>
          <a:xfrm>
            <a:off x="990282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R$ 6,2 bi · atual 63,2%</a:t>
            </a:r>
          </a:p>
        </ns0:txBody>
      </ns0:sp>
      <ns0:sp>
        <ns0:nvSpPr>
          <ns0:cNvPr id="167" name="">
            <a:extLst>
              <a:ext uri="{FF2B5EF4-FFF2-40B4-BE49-F238E27FC236}">
                <ns2:creationId id="{4D79BB1F-8B76-4E60-B7C4-61EA98094C0C}"/>
              </a:ext>
            </a:extLst>
          </ns0:cNvPr>
          <ns0:cNvSpPr>
            <a:spLocks noGrp="1"/>
          </ns0:cNvSpPr>
          <ns0:nvPr/>
        </ns0:nvSpPr>
        <ns0:spPr>
          <a:xfrm>
            <a:off x="990282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mar/26</a:t>
            </a:r>
          </a:p>
        </ns0:txBody>
      </ns0:sp>
      <ns0:sp>
        <ns0:nvSpPr>
          <ns0:cNvPr id="168" name="">
            <a:extLst>
              <a:ext uri="{FF2B5EF4-FFF2-40B4-BE49-F238E27FC236}">
                <ns2:creationId id="{428FB791-FE50-4F28-8B30-96DA5348DC1D}"/>
              </a:ext>
            </a:extLst>
          </ns0:cNvPr>
          <ns0:cNvSpPr>
            <a:spLocks noGrp="1"/>
          </ns0:cNvSpPr>
          <ns0:nvPr/>
        </ns0:nvSpPr>
        <ns0:spPr>
          <a:xfrm>
            <a:off x="990282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9" name="">
            <a:extLst>
              <a:ext uri="{FF2B5EF4-FFF2-40B4-BE49-F238E27FC236}">
                <ns2:creationId id="{1A535916-DC51-46EF-8E5E-B87CDCAF63A5}"/>
              </a:ext>
            </a:extLst>
          </ns0:cNvPr>
          <ns0:cNvSpPr>
            <a:spLocks noGrp="1"/>
          </ns0:cNvSpPr>
          <ns0:nvPr/>
        </ns0:nvSpPr>
        <ns0:spPr>
          <a:xfrm>
            <a:off x="11262772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70" name="">
            <a:extLst>
              <a:ext uri="{FF2B5EF4-FFF2-40B4-BE49-F238E27FC236}">
                <ns2:creationId id="{69573466-B554-4977-9EF0-185EC26AE1C8}"/>
              </a:ext>
            </a:extLst>
          </ns0:cNvPr>
          <ns0:cNvSpPr>
            <a:spLocks noGrp="1"/>
          </ns0:cNvSpPr>
          <ns0:nvPr/>
        </ns0:nvSpPr>
        <ns0:spPr>
          <a:xfrm>
            <a:off x="9826625" y="3914775"/>
            <a:ext cx="1793875" cy="68580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71" name="">
            <a:extLst>
              <a:ext uri="{FF2B5EF4-FFF2-40B4-BE49-F238E27FC236}">
                <ns2:creationId id="{6DAF2BEE-389D-4D2D-8AAF-87B7C13840D6}"/>
              </a:ext>
            </a:extLst>
          </ns0:cNvPr>
          <ns0:cNvSpPr>
            <a:spLocks noGrp="1"/>
          </ns0:cNvSpPr>
          <ns0:nvPr/>
        </ns0:nvSpPr>
        <ns0:spPr>
          <a:xfrm>
            <a:off x="9902825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Fratto</a:t>
            </a:r>
          </a:p>
        </ns0:txBody>
      </ns0:sp>
      <ns0:sp>
        <ns0:nvSpPr>
          <ns0:cNvPr id="172" name="">
            <a:extLst>
              <a:ext uri="{FF2B5EF4-FFF2-40B4-BE49-F238E27FC236}">
                <ns2:creationId id="{6CC09A52-7083-4637-8D7B-8C9145801F28}"/>
              </a:ext>
            </a:extLst>
          </ns0:cNvPr>
          <ns0:cNvSpPr>
            <a:spLocks noGrp="1"/>
          </ns0:cNvSpPr>
          <ns0:nvPr/>
        </ns0:nvSpPr>
        <ns0:spPr>
          <a:xfrm>
            <a:off x="9902825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R$ 103,6 mi · atual 90,3%</a:t>
            </a:r>
          </a:p>
        </ns0:txBody>
      </ns0:sp>
      <ns0:sp>
        <ns0:nvSpPr>
          <ns0:cNvPr id="173" name="">
            <a:extLst>
              <a:ext uri="{FF2B5EF4-FFF2-40B4-BE49-F238E27FC236}">
                <ns2:creationId id="{46AE490A-8738-409F-9CB7-3F5477C567C2}"/>
              </a:ext>
            </a:extLst>
          </ns0:cNvPr>
          <ns0:cNvSpPr>
            <a:spLocks noGrp="1"/>
          </ns0:cNvSpPr>
          <ns0:nvPr/>
        </ns0:nvSpPr>
        <ns0:spPr>
          <a:xfrm>
            <a:off x="9902825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74" name="">
            <a:extLst>
              <a:ext uri="{FF2B5EF4-FFF2-40B4-BE49-F238E27FC236}">
                <ns2:creationId id="{503741DD-33B2-47CD-A7B8-E9BD85B8817D}"/>
              </a:ext>
            </a:extLst>
          </ns0:cNvPr>
          <ns0:cNvSpPr>
            <a:spLocks noGrp="1"/>
          </ns0:cNvSpPr>
          <ns0:nvPr/>
        </ns0:nvSpPr>
        <ns0:spPr>
          <a:xfrm>
            <a:off x="9902825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75" name="">
            <a:extLst>
              <a:ext uri="{FF2B5EF4-FFF2-40B4-BE49-F238E27FC236}">
                <ns2:creationId id="{A53AD3A7-4C06-43B1-915D-0E29AF462DE1}"/>
              </a:ext>
            </a:extLst>
          </ns0:cNvPr>
          <ns0:cNvSpPr>
            <a:spLocks noGrp="1"/>
          </ns0:cNvSpPr>
          <ns0:nvPr/>
        </ns0:nvSpPr>
        <ns0:spPr>
          <a:xfrm>
            <a:off x="11515725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76" name="">
            <a:extLst>
              <a:ext uri="{FF2B5EF4-FFF2-40B4-BE49-F238E27FC236}">
                <ns2:creationId id="{60113A14-D956-4CFF-900A-CD341BD062CA}"/>
              </a:ext>
            </a:extLst>
          </ns0:cNvPr>
          <ns0:cNvSpPr>
            <a:spLocks noGrp="1"/>
          </ns0:cNvSpPr>
          <ns0:nvPr/>
        </ns0:nvSpPr>
        <ns0:spPr>
          <a:xfrm>
            <a:off x="571500" y="6191250"/>
            <a:ext cx="95250" cy="9525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77" name="">
            <a:extLst>
              <a:ext uri="{FF2B5EF4-FFF2-40B4-BE49-F238E27FC236}">
                <ns2:creationId id="{5A6F8544-345B-4854-BC15-09D3B611999F}"/>
              </a:ext>
            </a:extLst>
          </ns0:cNvPr>
          <ns0:cNvSpPr>
            <a:spLocks noGrp="1"/>
          </ns0:cNvSpPr>
          <ns0:nvPr/>
        </ns0:nvSpPr>
        <ns0:spPr>
          <a:xfrm>
            <a:off x="704850" y="6162675"/>
            <a:ext cx="62960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Adquirência</a:t>
            </a:r>
          </a:p>
        </ns0:txBody>
      </ns0:sp>
      <ns0:sp>
        <ns0:nvSpPr>
          <ns0:cNvPr id="178" name="">
            <a:extLst>
              <a:ext uri="{FF2B5EF4-FFF2-40B4-BE49-F238E27FC236}">
                <ns2:creationId id="{AB057C54-77B4-4F93-90B0-9B75DAA838CA}"/>
              </a:ext>
            </a:extLst>
          </ns0:cNvPr>
          <ns0:cNvSpPr>
            <a:spLocks noGrp="1"/>
          </ns0:cNvSpPr>
          <ns0:nvPr/>
        </ns0:nvSpPr>
        <ns0:spPr>
          <a:xfrm>
            <a:off x="1334453" y="6191250"/>
            <a:ext cx="95250" cy="9525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79" name="">
            <a:extLst>
              <a:ext uri="{FF2B5EF4-FFF2-40B4-BE49-F238E27FC236}">
                <ns2:creationId id="{508C5AF3-1144-4B36-8D54-4F95DEFA3338}"/>
              </a:ext>
            </a:extLst>
          </ns0:cNvPr>
          <ns0:cNvSpPr>
            <a:spLocks noGrp="1"/>
          </ns0:cNvSpPr>
          <ns0:nvPr/>
        </ns0:nvSpPr>
        <ns0:spPr>
          <a:xfrm>
            <a:off x="1467803" y="6162675"/>
            <a:ext cx="82391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INSS</a:t>
            </a:r>
          </a:p>
        </ns0:txBody>
      </ns0:sp>
      <ns0:sp>
        <ns0:nvSpPr>
          <ns0:cNvPr id="180" name="">
            <a:extLst>
              <a:ext uri="{FF2B5EF4-FFF2-40B4-BE49-F238E27FC236}">
                <ns2:creationId id="{A3388A50-5890-4B1A-9B5F-AF0CCD7BF950}"/>
              </a:ext>
            </a:extLst>
          </ns0:cNvPr>
          <ns0:cNvSpPr>
            <a:spLocks noGrp="1"/>
          </ns0:cNvSpPr>
          <ns0:nvPr/>
        </ns0:nvSpPr>
        <ns0:spPr>
          <a:xfrm>
            <a:off x="2291715" y="6191250"/>
            <a:ext cx="95250" cy="9525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181" name="">
            <a:extLst>
              <a:ext uri="{FF2B5EF4-FFF2-40B4-BE49-F238E27FC236}">
                <ns2:creationId id="{C2AAA864-EA97-4AB3-A895-A7D8B974B2C7}"/>
              </a:ext>
            </a:extLst>
          </ns0:cNvPr>
          <ns0:cNvSpPr>
            <a:spLocks noGrp="1"/>
          </ns0:cNvSpPr>
          <ns0:nvPr/>
        </ns0:nvSpPr>
        <ns0:spPr>
          <a:xfrm>
            <a:off x="2425065" y="6162675"/>
            <a:ext cx="82391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FGTS</a:t>
            </a:r>
          </a:p>
        </ns0:txBody>
      </ns0:sp>
      <ns0:sp>
        <ns0:nvSpPr>
          <ns0:cNvPr id="182" name="">
            <a:extLst>
              <a:ext uri="{FF2B5EF4-FFF2-40B4-BE49-F238E27FC236}">
                <ns2:creationId id="{2471A608-56BD-4005-8F5E-D7B9F2CE67B6}"/>
              </a:ext>
            </a:extLst>
          </ns0:cNvPr>
          <ns0:cNvSpPr>
            <a:spLocks noGrp="1"/>
          </ns0:cNvSpPr>
          <ns0:nvPr/>
        </ns0:nvSpPr>
        <ns0:spPr>
          <a:xfrm>
            <a:off x="3248978" y="6191250"/>
            <a:ext cx="95250" cy="9525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83" name="">
            <a:extLst>
              <a:ext uri="{FF2B5EF4-FFF2-40B4-BE49-F238E27FC236}">
                <ns2:creationId id="{046B28BB-DF55-4BE1-9B34-0BEDB47EE447}"/>
              </a:ext>
            </a:extLst>
          </ns0:cNvPr>
          <ns0:cNvSpPr>
            <a:spLocks noGrp="1"/>
          </ns0:cNvSpPr>
          <ns0:nvPr/>
        </ns0:nvSpPr>
        <ns0:spPr>
          <a:xfrm>
            <a:off x="3382328" y="6162675"/>
            <a:ext cx="77533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CLT</a:t>
            </a:r>
          </a:p>
        </ns0:txBody>
      </ns0:sp>
      <ns0:sp>
        <ns0:nvSpPr>
          <ns0:cNvPr id="184" name="">
            <a:extLst>
              <a:ext uri="{FF2B5EF4-FFF2-40B4-BE49-F238E27FC236}">
                <ns2:creationId id="{0EC90562-A4FC-480D-AE1B-7AE830124186}"/>
              </a:ext>
            </a:extLst>
          </ns0:cNvPr>
          <ns0:cNvSpPr>
            <a:spLocks noGrp="1"/>
          </ns0:cNvSpPr>
          <ns0:nvPr/>
        </ns0:nvSpPr>
        <ns0:spPr>
          <a:xfrm>
            <a:off x="4157663" y="6191250"/>
            <a:ext cx="95250" cy="95250"/>
          </a:xfrm>
          <a:prstGeom prst="rect">
            <a:avLst/>
          </a:prstGeom>
          <a:solidFill>
            <a:srgbClr val="F3E0E8"/>
          </a:solidFill>
          <a:ln w="0">
            <a:noFill/>
            <a:prstDash val="solid"/>
          </a:ln>
        </ns0:spPr>
      </ns0:sp>
      <ns0:sp>
        <ns0:nvSpPr>
          <ns0:cNvPr id="185" name="">
            <a:extLst>
              <a:ext uri="{FF2B5EF4-FFF2-40B4-BE49-F238E27FC236}">
                <ns2:creationId id="{967F66A3-14FA-4F63-991E-8C12EDA6F5A2}"/>
              </a:ext>
            </a:extLst>
          </ns0:cNvPr>
          <ns0:cNvSpPr>
            <a:spLocks noGrp="1"/>
          </ns0:cNvSpPr>
          <ns0:nvPr/>
        </ns0:nvSpPr>
        <ns0:spPr>
          <a:xfrm>
            <a:off x="4291013" y="6162675"/>
            <a:ext cx="1018222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estadual</a:t>
            </a:r>
          </a:p>
        </ns0:txBody>
      </ns0:sp>
      <ns0:sp>
        <ns0:nvSpPr>
          <ns0:cNvPr id="186" name="">
            <a:extLst>
              <a:ext uri="{FF2B5EF4-FFF2-40B4-BE49-F238E27FC236}">
                <ns2:creationId id="{5ABB4A3B-E186-48BC-B5FA-867371040AA4}"/>
              </a:ext>
            </a:extLst>
          </ns0:cNvPr>
          <ns0:cNvSpPr>
            <a:spLocks noGrp="1"/>
          </ns0:cNvSpPr>
          <ns0:nvPr/>
        </ns0:nvSpPr>
        <ns0:spPr>
          <a:xfrm>
            <a:off x="5309235" y="6191250"/>
            <a:ext cx="95250" cy="9525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87" name="">
            <a:extLst>
              <a:ext uri="{FF2B5EF4-FFF2-40B4-BE49-F238E27FC236}">
                <ns2:creationId id="{F737F316-2742-47A3-9145-30850814A658}"/>
              </a:ext>
            </a:extLst>
          </ns0:cNvPr>
          <ns0:cNvSpPr>
            <a:spLocks noGrp="1"/>
          </ns0:cNvSpPr>
          <ns0:nvPr/>
        </ns0:nvSpPr>
        <ns0:spPr>
          <a:xfrm>
            <a:off x="5442585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Veículos</a:t>
            </a:r>
          </a:p>
        </ns0:txBody>
      </ns0:sp>
      <ns0:sp>
        <ns0:nvSpPr>
          <ns0:cNvPr id="188" name="">
            <a:extLst>
              <a:ext uri="{FF2B5EF4-FFF2-40B4-BE49-F238E27FC236}">
                <ns2:creationId id="{9CC37E36-EB04-4D46-AE1C-E231E528776E}"/>
              </a:ext>
            </a:extLst>
          </ns0:cNvPr>
          <ns0:cNvSpPr>
            <a:spLocks noGrp="1"/>
          </ns0:cNvSpPr>
          <ns0:nvPr/>
        </ns0:nvSpPr>
        <ns0:spPr>
          <a:xfrm>
            <a:off x="6052185" y="6191250"/>
            <a:ext cx="95250" cy="9525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89" name="">
            <a:extLst>
              <a:ext uri="{FF2B5EF4-FFF2-40B4-BE49-F238E27FC236}">
                <ns2:creationId id="{7A949C8B-2F47-4722-B483-0230FED001C4}"/>
              </a:ext>
            </a:extLst>
          </ns0:cNvPr>
          <ns0:cNvSpPr>
            <a:spLocks noGrp="1"/>
          </ns0:cNvSpPr>
          <ns0:nvPr/>
        </ns0:nvSpPr>
        <ns0:spPr>
          <a:xfrm>
            <a:off x="6185535" y="6162675"/>
            <a:ext cx="921067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consignado</a:t>
            </a:r>
          </a:p>
        </ns0:txBody>
      </ns0:sp>
      <ns0:sp>
        <ns0:nvSpPr>
          <ns0:cNvPr id="190" name="">
            <a:extLst>
              <a:ext uri="{FF2B5EF4-FFF2-40B4-BE49-F238E27FC236}">
                <ns2:creationId id="{3785B7A9-CBBB-4A14-A85B-55030AA6E4F9}"/>
              </a:ext>
            </a:extLst>
          </ns0:cNvPr>
          <ns0:cNvSpPr>
            <a:spLocks noGrp="1"/>
          </ns0:cNvSpPr>
          <ns0:nvPr/>
        </ns0:nvSpPr>
        <ns0:spPr>
          <a:xfrm>
            <a:off x="7106602" y="6191250"/>
            <a:ext cx="95250" cy="9525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91" name="">
            <a:extLst>
              <a:ext uri="{FF2B5EF4-FFF2-40B4-BE49-F238E27FC236}">
                <ns2:creationId id="{CFBC1447-98C7-4CAC-BBCE-99773128A02D}"/>
              </a:ext>
            </a:extLst>
          </ns0:cNvPr>
          <ns0:cNvSpPr>
            <a:spLocks noGrp="1"/>
          </ns0:cNvSpPr>
          <ns0:nvPr/>
        </ns0:nvSpPr>
        <ns0:spPr>
          <a:xfrm>
            <a:off x="7239952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ns0:txBody>
      </ns0:sp>
      <ns0:sp>
        <ns0:nvSpPr>
          <ns0:cNvPr id="192" name="">
            <a:extLst>
              <a:ext uri="{FF2B5EF4-FFF2-40B4-BE49-F238E27FC236}">
                <ns2:creationId id="{8542277B-B378-471C-92F5-AAEDEB2A19B1}"/>
              </a:ext>
            </a:extLst>
          </ns0:cNvPr>
          <ns0:cNvSpPr>
            <a:spLocks noGrp="1"/>
          </ns0:cNvSpPr>
          <ns0:nvPr/>
        </ns0:nvSpPr>
        <ns0:spPr>
          <a:xfrm>
            <a:off x="7849552" y="6191250"/>
            <a:ext cx="95250" cy="95250"/>
          </a:xfrm>
          <a:prstGeom prst="rect">
            <a:avLst/>
          </a:prstGeom>
          <a:solidFill>
            <a:srgbClr val="DDEDEA"/>
          </a:solidFill>
          <a:ln w="0">
            <a:noFill/>
            <a:prstDash val="solid"/>
          </a:ln>
        </ns0:spPr>
      </ns0:sp>
      <ns0:sp>
        <ns0:nvSpPr>
          <ns0:cNvPr id="193" name="">
            <a:extLst>
              <a:ext uri="{FF2B5EF4-FFF2-40B4-BE49-F238E27FC236}">
                <ns2:creationId id="{D912CA8D-6B4E-494F-B7DD-4ABF8D1E8B42}"/>
              </a:ext>
            </a:extLst>
          </ns0:cNvPr>
          <ns0:cNvSpPr>
            <a:spLocks noGrp="1"/>
          </ns0:cNvSpPr>
          <ns0:nvPr/>
        </ns0:nvSpPr>
        <ns0:spPr>
          <a:xfrm>
            <a:off x="7982902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Crédito PJ</a:t>
            </a:r>
          </a:p>
        </ns0:txBody>
      </ns0:sp>
    </ns0:spTree>
    <ns0:extLst>
      <ns0:ext uri="{BB962C8B-B14F-4D97-AF65-F5344CB8AC3E}">
        <ns3:creationId val="1069096591"/>
      </ns0:ext>
    </ns0:extLst>
  </ns0:cSld>
</ns0:sld>
</file>

<file path=ppt/slides/slide2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28" name="">
            <a:extLst>
              <a:ext uri="{FF2B5EF4-FFF2-40B4-BE49-F238E27FC236}">
                <ns2:creationId id="{EBA03C67-3FFA-440E-8D50-01A0FD64947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CURADORIA · CARTEIRA 1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36C049-C662-4CD5-8D51-0D93041928D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7044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101 CNPJs transcritos · 68 com subordinação atual comparável · detalhe individual no workbook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40082CD-8CCC-4BC9-AC8D-F4AA8B8CC48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BA790DE-7644-49CD-B0EB-07561B28834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EF7C158-EC49-40AD-9EFD-39D1BD602A8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FundosNet/B3 para documentos e emissões. Ausência permanece N/D.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7A76181-FCE9-4906-A415-34C4E50EE8A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BAA2DAD-D1C8-4D0B-9E9D-D038BF032EC0}"/>
              </a:ext>
            </a:extLst>
          </ns0:cNvPr>
          <ns0:cNvSpPr>
            <a:spLocks noGrp="1"/>
          </ns0:cNvSpPr>
          <ns0:nvPr/>
        </ns0:nvSpPr>
        <ns0:spPr>
          <a:xfrm>
            <a:off x="571500" y="11049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101 FUNDOS · CAIXAS INDIVIDUAIS ORDENADAS POR TIPO E PL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E9E66A-A6BB-4454-9553-FC161E06D713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95250" cy="9525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9DB8BACA-F6F3-48E4-9912-1E6483AD2826}"/>
              </a:ext>
            </a:extLst>
          </ns0:cNvPr>
          <ns0:cNvSpPr>
            <a:spLocks noGrp="1"/>
          </ns0:cNvSpPr>
          <ns0:nvPr/>
        </ns0:nvSpPr>
        <ns0:spPr>
          <a:xfrm>
            <a:off x="704850" y="1276350"/>
            <a:ext cx="6477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Adquirência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4831976D-95A3-493D-A7FA-898254090F89}"/>
              </a:ext>
            </a:extLst>
          </ns0:cNvPr>
          <ns0:cNvSpPr>
            <a:spLocks noGrp="1"/>
          </ns0:cNvSpPr>
          <ns0:nvPr/>
        </ns0:nvSpPr>
        <ns0:spPr>
          <a:xfrm>
            <a:off x="1352550" y="1304925"/>
            <a:ext cx="95250" cy="95250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5A4944C-ED3C-4A3C-8A9E-361288F47BC6}"/>
              </a:ext>
            </a:extLst>
          </ns0:cNvPr>
          <ns0:cNvSpPr>
            <a:spLocks noGrp="1"/>
          </ns0:cNvSpPr>
          <ns0:nvPr/>
        </ns0:nvSpPr>
        <ns0:spPr>
          <a:xfrm>
            <a:off x="1485900" y="1276350"/>
            <a:ext cx="78867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 / revenda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487B8D0-F20F-430A-A837-7F02AED9C1C1}"/>
              </a:ext>
            </a:extLst>
          </ns0:cNvPr>
          <ns0:cNvSpPr>
            <a:spLocks noGrp="1"/>
          </ns0:cNvSpPr>
          <ns0:nvPr/>
        </ns0:nvSpPr>
        <ns0:spPr>
          <a:xfrm>
            <a:off x="2274570" y="1304925"/>
            <a:ext cx="95250" cy="9525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0FCA0303-0F52-408C-A1AD-3288D0262847}"/>
              </a:ext>
            </a:extLst>
          </ns0:cNvPr>
          <ns0:cNvSpPr>
            <a:spLocks noGrp="1"/>
          </ns0:cNvSpPr>
          <ns0:nvPr/>
        </ns0:nvSpPr>
        <ns0:spPr>
          <a:xfrm>
            <a:off x="2407920" y="1276350"/>
            <a:ext cx="8382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INSS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E1982DBB-A7C1-4F49-9DCA-CB79E13FE7A2}"/>
              </a:ext>
            </a:extLst>
          </ns0:cNvPr>
          <ns0:cNvSpPr>
            <a:spLocks noGrp="1"/>
          </ns0:cNvSpPr>
          <ns0:nvPr/>
        </ns0:nvSpPr>
        <ns0:spPr>
          <a:xfrm>
            <a:off x="3246120" y="1304925"/>
            <a:ext cx="95250" cy="9525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9FB440E2-EE74-46BB-B1F2-49CBEE3A69BA}"/>
              </a:ext>
            </a:extLst>
          </ns0:cNvPr>
          <ns0:cNvSpPr>
            <a:spLocks noGrp="1"/>
          </ns0:cNvSpPr>
          <ns0:nvPr/>
        </ns0:nvSpPr>
        <ns0:spPr>
          <a:xfrm>
            <a:off x="3379470" y="1276350"/>
            <a:ext cx="8382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FGTS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25E4CCF-0216-41F5-8EE7-1FC8E2522F6A}"/>
              </a:ext>
            </a:extLst>
          </ns0:cNvPr>
          <ns0:cNvSpPr>
            <a:spLocks noGrp="1"/>
          </ns0:cNvSpPr>
          <ns0:nvPr/>
        </ns0:nvSpPr>
        <ns0:spPr>
          <a:xfrm>
            <a:off x="4217670" y="1304925"/>
            <a:ext cx="95250" cy="9525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EE500FED-DD80-4D82-8B0D-F769EA0A53D3}"/>
              </a:ext>
            </a:extLst>
          </ns0:cNvPr>
          <ns0:cNvSpPr>
            <a:spLocks noGrp="1"/>
          </ns0:cNvSpPr>
          <ns0:nvPr/>
        </ns0:nvSpPr>
        <ns0:spPr>
          <a:xfrm>
            <a:off x="4351020" y="1276350"/>
            <a:ext cx="6477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Veículos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78E5173-775F-4CC0-A0A1-AAFC92E2E1D6}"/>
              </a:ext>
            </a:extLst>
          </ns0:cNvPr>
          <ns0:cNvSpPr>
            <a:spLocks noGrp="1"/>
          </ns0:cNvSpPr>
          <ns0:nvPr/>
        </ns0:nvSpPr>
        <ns0:spPr>
          <a:xfrm>
            <a:off x="4998720" y="1304925"/>
            <a:ext cx="95250" cy="9525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DEDC20C3-01D9-4608-BBF7-D96ABDAF129E}"/>
              </a:ext>
            </a:extLst>
          </ns0:cNvPr>
          <ns0:cNvSpPr>
            <a:spLocks noGrp="1"/>
          </ns0:cNvSpPr>
          <ns0:nvPr/>
        </ns0:nvSpPr>
        <ns0:spPr>
          <a:xfrm>
            <a:off x="5132070" y="1276350"/>
            <a:ext cx="6477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B9858598-02D5-47E3-99D2-6A1D90731D6F}"/>
              </a:ext>
            </a:extLst>
          </ns0:cNvPr>
          <ns0:cNvSpPr>
            <a:spLocks noGrp="1"/>
          </ns0:cNvSpPr>
          <ns0:nvPr/>
        </ns0:nvSpPr>
        <ns0:spPr>
          <a:xfrm>
            <a:off x="5779770" y="1304925"/>
            <a:ext cx="95250" cy="95250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0956FF70-6B97-477A-B3BF-9B2B9F638D16}"/>
              </a:ext>
            </a:extLst>
          </ns0:cNvPr>
          <ns0:cNvSpPr>
            <a:spLocks noGrp="1"/>
          </ns0:cNvSpPr>
          <ns0:nvPr/>
        </ns0:nvSpPr>
        <ns0:spPr>
          <a:xfrm>
            <a:off x="5913120" y="1276350"/>
            <a:ext cx="6477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812130D-92BB-4452-A993-9D9F8DDC72F9}"/>
              </a:ext>
            </a:extLst>
          </ns0:cNvPr>
          <ns0:cNvSpPr>
            <a:spLocks noGrp="1"/>
          </ns0:cNvSpPr>
          <ns0:nvPr/>
        </ns0:nvSpPr>
        <ns0:spPr>
          <a:xfrm>
            <a:off x="6560820" y="1304925"/>
            <a:ext cx="95250" cy="95250"/>
          </a:xfrm>
          <a:prstGeom prst="rect">
            <a:avLst/>
          </a:prstGeom>
          <a:solidFill>
            <a:srgbClr val="F1F2F3"/>
          </a:solidFill>
          <a:ln w="0">
            <a:noFill/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F10357D2-4643-4EC1-9171-9B8F9EEC5E8B}"/>
              </a:ext>
            </a:extLst>
          </ns0:cNvPr>
          <ns0:cNvSpPr>
            <a:spLocks noGrp="1"/>
          </ns0:cNvSpPr>
          <ns0:nvPr/>
        </ns0:nvSpPr>
        <ns0:spPr>
          <a:xfrm>
            <a:off x="6694170" y="1276350"/>
            <a:ext cx="6477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81953EF4-B6B9-4E5A-9F76-6416D74CCF84}"/>
              </a:ext>
            </a:extLst>
          </ns0:cNvPr>
          <ns0:cNvSpPr>
            <a:spLocks noGrp="1"/>
          </ns0:cNvSpPr>
          <ns0:nvPr/>
        </ns0:nvSpPr>
        <ns0:spPr>
          <a:xfrm>
            <a:off x="571500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D1C3464-B016-4C61-A29F-C09DBFD21AE3}"/>
              </a:ext>
            </a:extLst>
          </ns0:cNvPr>
          <ns0:cNvSpPr>
            <a:spLocks noGrp="1"/>
          </ns0:cNvSpPr>
          <ns0:nvPr/>
        </ns0:nvSpPr>
        <ns0:spPr>
          <a:xfrm>
            <a:off x="619125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PAGSEGURO I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3A11BAD8-8980-49E3-9E4F-9AD0F0C596BC}"/>
              </a:ext>
            </a:extLst>
          </ns0:cNvPr>
          <ns0:cNvSpPr>
            <a:spLocks noGrp="1"/>
          </ns0:cNvSpPr>
          <ns0:nvPr/>
        </ns0:nvSpPr>
        <ns0:spPr>
          <a:xfrm>
            <a:off x="619125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R$ 6,2 bi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9DA22235-309C-42EF-8614-27CC01C97905}"/>
              </a:ext>
            </a:extLst>
          </ns0:cNvPr>
          <ns0:cNvSpPr>
            <a:spLocks noGrp="1"/>
          </ns0:cNvSpPr>
          <ns0:nvPr/>
        </ns0:nvSpPr>
        <ns0:spPr>
          <a:xfrm>
            <a:off x="1957388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FAF8429B-48E6-4086-B704-BECA6F2A6F84}"/>
              </a:ext>
            </a:extLst>
          </ns0:cNvPr>
          <ns0:cNvSpPr>
            <a:spLocks noGrp="1"/>
          </ns0:cNvSpPr>
          <ns0:nvPr/>
        </ns0:nvSpPr>
        <ns0:spPr>
          <a:xfrm>
            <a:off x="2005013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SELLER FIDC SEGMENTO MEIOS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433DD0D4-6CD9-4BDC-A293-F0345AE6AB14}"/>
              </a:ext>
            </a:extLst>
          </ns0:cNvPr>
          <ns0:cNvSpPr>
            <a:spLocks noGrp="1"/>
          </ns0:cNvSpPr>
          <ns0:nvPr/>
        </ns0:nvSpPr>
        <ns0:spPr>
          <a:xfrm>
            <a:off x="2005013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R$ 3,7 bi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33F73CC8-7FD3-4CB9-A9DA-CF2819094DCA}"/>
              </a:ext>
            </a:extLst>
          </ns0:cNvPr>
          <ns0:cNvSpPr>
            <a:spLocks noGrp="1"/>
          </ns0:cNvSpPr>
          <ns0:nvPr/>
        </ns0:nvSpPr>
        <ns0:spPr>
          <a:xfrm>
            <a:off x="3343275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FCCC53DE-4AC5-4FB7-A7CC-5F60AE5095E6}"/>
              </a:ext>
            </a:extLst>
          </ns0:cNvPr>
          <ns0:cNvSpPr>
            <a:spLocks noGrp="1"/>
          </ns0:cNvSpPr>
          <ns0:nvPr/>
        </ns0:nvSpPr>
        <ns0:spPr>
          <a:xfrm>
            <a:off x="3390900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HOTFUND SEGMENTO MEIOS DE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C413A220-6ACE-45BD-9088-8A507DBEA797}"/>
              </a:ext>
            </a:extLst>
          </ns0:cNvPr>
          <ns0:cNvSpPr>
            <a:spLocks noGrp="1"/>
          </ns0:cNvSpPr>
          <ns0:nvPr/>
        </ns0:nvSpPr>
        <ns0:spPr>
          <a:xfrm>
            <a:off x="3390900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R$ 1,7 bi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1D9BC673-7672-4090-8D5C-C859677B550F}"/>
              </a:ext>
            </a:extLst>
          </ns0:cNvPr>
          <ns0:cNvSpPr>
            <a:spLocks noGrp="1"/>
          </ns0:cNvSpPr>
          <ns0:nvPr/>
        </ns0:nvSpPr>
        <ns0:spPr>
          <a:xfrm>
            <a:off x="4729163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34" name="">
            <a:extLst>
              <a:ext uri="{FF2B5EF4-FFF2-40B4-BE49-F238E27FC236}">
                <ns2:creationId id="{92A37D1C-91D4-4747-A6CF-924F34AB5E73}"/>
              </a:ext>
            </a:extLst>
          </ns0:cNvPr>
          <ns0:cNvSpPr>
            <a:spLocks noGrp="1"/>
          </ns0:cNvSpPr>
          <ns0:nvPr/>
        </ns0:nvSpPr>
        <ns0:spPr>
          <a:xfrm>
            <a:off x="4776788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AKIRA I SEGMENTO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8202B19E-6FA7-4D19-810B-9992D9C2661D}"/>
              </a:ext>
            </a:extLst>
          </ns0:cNvPr>
          <ns0:cNvSpPr>
            <a:spLocks noGrp="1"/>
          </ns0:cNvSpPr>
          <ns0:nvPr/>
        </ns0:nvSpPr>
        <ns0:spPr>
          <a:xfrm>
            <a:off x="4776788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R$ 308,2 mi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303F22D4-2929-4C0D-AE03-B5C62378AD00}"/>
              </a:ext>
            </a:extLst>
          </ns0:cNvPr>
          <ns0:cNvSpPr>
            <a:spLocks noGrp="1"/>
          </ns0:cNvSpPr>
          <ns0:nvPr/>
        </ns0:nvSpPr>
        <ns0:spPr>
          <a:xfrm>
            <a:off x="6115050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37" name="">
            <a:extLst>
              <a:ext uri="{FF2B5EF4-FFF2-40B4-BE49-F238E27FC236}">
                <ns2:creationId id="{E55B4853-9B3C-462A-8D15-21CD92D9F00D}"/>
              </a:ext>
            </a:extLst>
          </ns0:cNvPr>
          <ns0:cNvSpPr>
            <a:spLocks noGrp="1"/>
          </ns0:cNvSpPr>
          <ns0:nvPr/>
        </ns0:nvSpPr>
        <ns0:spPr>
          <a:xfrm>
            <a:off x="6162675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AKIRA II FIDC</a:t>
            </a:r>
          </a:p>
        </ns0:txBody>
      </ns0:sp>
      <ns0:sp>
        <ns0:nvSpPr>
          <ns0:cNvPr id="38" name="">
            <a:extLst>
              <a:ext uri="{FF2B5EF4-FFF2-40B4-BE49-F238E27FC236}">
                <ns2:creationId id="{EA7C8000-601D-4B8D-AFEB-D345F1BC5B31}"/>
              </a:ext>
            </a:extLst>
          </ns0:cNvPr>
          <ns0:cNvSpPr>
            <a:spLocks noGrp="1"/>
          </ns0:cNvSpPr>
          <ns0:nvPr/>
        </ns0:nvSpPr>
        <ns0:spPr>
          <a:xfrm>
            <a:off x="6162675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C283661B-312B-43FA-8534-AB9F9C4B7E8C}"/>
              </a:ext>
            </a:extLst>
          </ns0:cNvPr>
          <ns0:cNvSpPr>
            <a:spLocks noGrp="1"/>
          </ns0:cNvSpPr>
          <ns0:nvPr/>
        </ns0:nvSpPr>
        <ns0:spPr>
          <a:xfrm>
            <a:off x="7500938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40" name="">
            <a:extLst>
              <a:ext uri="{FF2B5EF4-FFF2-40B4-BE49-F238E27FC236}">
                <ns2:creationId id="{BAC75328-7780-45F5-BB9D-20F74A54B5CC}"/>
              </a:ext>
            </a:extLst>
          </ns0:cNvPr>
          <ns0:cNvSpPr>
            <a:spLocks noGrp="1"/>
          </ns0:cNvSpPr>
          <ns0:nvPr/>
        </ns0:nvSpPr>
        <ns0:spPr>
          <a:xfrm>
            <a:off x="7548563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KICK ASS I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66C4F165-1B04-4CEA-BA15-E54A77912119}"/>
              </a:ext>
            </a:extLst>
          </ns0:cNvPr>
          <ns0:cNvSpPr>
            <a:spLocks noGrp="1"/>
          </ns0:cNvSpPr>
          <ns0:nvPr/>
        </ns0:nvSpPr>
        <ns0:spPr>
          <a:xfrm>
            <a:off x="7548563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46227FAA-2D22-4675-BDC0-541A1B57D690}"/>
              </a:ext>
            </a:extLst>
          </ns0:cNvPr>
          <ns0:cNvSpPr>
            <a:spLocks noGrp="1"/>
          </ns0:cNvSpPr>
          <ns0:nvPr/>
        </ns0:nvSpPr>
        <ns0:spPr>
          <a:xfrm>
            <a:off x="8886825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07436A79-85BB-454D-8E9B-A547737DB9E6}"/>
              </a:ext>
            </a:extLst>
          </ns0:cNvPr>
          <ns0:cNvSpPr>
            <a:spLocks noGrp="1"/>
          </ns0:cNvSpPr>
          <ns0:nvPr/>
        </ns0:nvSpPr>
        <ns0:spPr>
          <a:xfrm>
            <a:off x="8934450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KICK ASS II</a:t>
            </a:r>
          </a:p>
        </ns0:txBody>
      </ns0:sp>
      <ns0:sp>
        <ns0:nvSpPr>
          <ns0:cNvPr id="44" name="">
            <a:extLst>
              <a:ext uri="{FF2B5EF4-FFF2-40B4-BE49-F238E27FC236}">
                <ns2:creationId id="{45EC265B-AC86-4F7A-9F21-5F7587D07CA0}"/>
              </a:ext>
            </a:extLst>
          </ns0:cNvPr>
          <ns0:cNvSpPr>
            <a:spLocks noGrp="1"/>
          </ns0:cNvSpPr>
          <ns0:nvPr/>
        </ns0:nvSpPr>
        <ns0:spPr>
          <a:xfrm>
            <a:off x="8934450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45" name="">
            <a:extLst>
              <a:ext uri="{FF2B5EF4-FFF2-40B4-BE49-F238E27FC236}">
                <ns2:creationId id="{7F33EF37-3748-4C0D-9C60-ADEA1DC0D2FD}"/>
              </a:ext>
            </a:extLst>
          </ns0:cNvPr>
          <ns0:cNvSpPr>
            <a:spLocks noGrp="1"/>
          </ns0:cNvSpPr>
          <ns0:nvPr/>
        </ns0:nvSpPr>
        <ns0:spPr>
          <a:xfrm>
            <a:off x="10272713" y="15049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46" name="">
            <a:extLst>
              <a:ext uri="{FF2B5EF4-FFF2-40B4-BE49-F238E27FC236}">
                <ns2:creationId id="{2A108A0C-5B22-408B-8DBA-F9F2518CBA04}"/>
              </a:ext>
            </a:extLst>
          </ns0:cNvPr>
          <ns0:cNvSpPr>
            <a:spLocks noGrp="1"/>
          </ns0:cNvSpPr>
          <ns0:nvPr/>
        </ns0:nvSpPr>
        <ns0:spPr>
          <a:xfrm>
            <a:off x="10320338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GAZIN MULTISSEGMENTOS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6B2A365A-1D6B-48B2-A629-C5A69363CABE}"/>
              </a:ext>
            </a:extLst>
          </ns0:cNvPr>
          <ns0:cNvSpPr>
            <a:spLocks noGrp="1"/>
          </ns0:cNvSpPr>
          <ns0:nvPr/>
        </ns0:nvSpPr>
        <ns0:spPr>
          <a:xfrm>
            <a:off x="10320338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R$ 2,5 bi</a:t>
            </a:r>
          </a:p>
        </ns0:txBody>
      </ns0:sp>
      <ns0:sp>
        <ns0:nvSpPr>
          <ns0:cNvPr id="48" name="">
            <a:extLst>
              <a:ext uri="{FF2B5EF4-FFF2-40B4-BE49-F238E27FC236}">
                <ns2:creationId id="{49949BBF-7CD7-4CB5-89D5-6D6990CE2C4A}"/>
              </a:ext>
            </a:extLst>
          </ns0:cNvPr>
          <ns0:cNvSpPr>
            <a:spLocks noGrp="1"/>
          </ns0:cNvSpPr>
          <ns0:nvPr/>
        </ns0:nvSpPr>
        <ns0:spPr>
          <a:xfrm>
            <a:off x="571500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49" name="">
            <a:extLst>
              <a:ext uri="{FF2B5EF4-FFF2-40B4-BE49-F238E27FC236}">
                <ns2:creationId id="{3C8566A8-531D-48B1-A52B-AA3CA194B718}"/>
              </a:ext>
            </a:extLst>
          </ns0:cNvPr>
          <ns0:cNvSpPr>
            <a:spLocks noGrp="1"/>
          </ns0:cNvSpPr>
          <ns0:nvPr/>
        </ns0:nvSpPr>
        <ns0:spPr>
          <a:xfrm>
            <a:off x="619125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ENDURANCE</a:t>
            </a:r>
          </a:p>
        </ns0:txBody>
      </ns0:sp>
      <ns0:sp>
        <ns0:nvSpPr>
          <ns0:cNvPr id="50" name="">
            <a:extLst>
              <a:ext uri="{FF2B5EF4-FFF2-40B4-BE49-F238E27FC236}">
                <ns2:creationId id="{D028B457-BFD1-4702-951E-F18B6B84312A}"/>
              </a:ext>
            </a:extLst>
          </ns0:cNvPr>
          <ns0:cNvSpPr>
            <a:spLocks noGrp="1"/>
          </ns0:cNvSpPr>
          <ns0:nvPr/>
        </ns0:nvSpPr>
        <ns0:spPr>
          <a:xfrm>
            <a:off x="619125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R$ 2,0 bi</a:t>
            </a:r>
          </a:p>
        </ns0:txBody>
      </ns0:sp>
      <ns0:sp>
        <ns0:nvSpPr>
          <ns0:cNvPr id="51" name="">
            <a:extLst>
              <a:ext uri="{FF2B5EF4-FFF2-40B4-BE49-F238E27FC236}">
                <ns2:creationId id="{B7F4743A-1A74-4701-B5D4-ED008EBE1A8A}"/>
              </a:ext>
            </a:extLst>
          </ns0:cNvPr>
          <ns0:cNvSpPr>
            <a:spLocks noGrp="1"/>
          </ns0:cNvSpPr>
          <ns0:nvPr/>
        </ns0:nvSpPr>
        <ns0:spPr>
          <a:xfrm>
            <a:off x="1957388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52" name="">
            <a:extLst>
              <a:ext uri="{FF2B5EF4-FFF2-40B4-BE49-F238E27FC236}">
                <ns2:creationId id="{218D87CC-EF80-43F7-A005-490A7322BD3F}"/>
              </a:ext>
            </a:extLst>
          </ns0:cNvPr>
          <ns0:cNvSpPr>
            <a:spLocks noGrp="1"/>
          </ns0:cNvSpPr>
          <ns0:nvPr/>
        </ns0:nvSpPr>
        <ns0:spPr>
          <a:xfrm>
            <a:off x="2005013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COBUCCIO DE RESPONS LIMITADA</a:t>
            </a:r>
          </a:p>
        </ns0:txBody>
      </ns0:sp>
      <ns0:sp>
        <ns0:nvSpPr>
          <ns0:cNvPr id="53" name="">
            <a:extLst>
              <a:ext uri="{FF2B5EF4-FFF2-40B4-BE49-F238E27FC236}">
                <ns2:creationId id="{E8B96B4B-5DFD-4B22-98E1-DAB25DA6815C}"/>
              </a:ext>
            </a:extLst>
          </ns0:cNvPr>
          <ns0:cNvSpPr>
            <a:spLocks noGrp="1"/>
          </ns0:cNvSpPr>
          <ns0:nvPr/>
        </ns0:nvSpPr>
        <ns0:spPr>
          <a:xfrm>
            <a:off x="2005013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R$ 1,8 bi</a:t>
            </a:r>
          </a:p>
        </ns0:txBody>
      </ns0:sp>
      <ns0:sp>
        <ns0:nvSpPr>
          <ns0:cNvPr id="54" name="">
            <a:extLst>
              <a:ext uri="{FF2B5EF4-FFF2-40B4-BE49-F238E27FC236}">
                <ns2:creationId id="{0F755C6C-D335-4EA8-A7EE-5360C74E3D98}"/>
              </a:ext>
            </a:extLst>
          </ns0:cNvPr>
          <ns0:cNvSpPr>
            <a:spLocks noGrp="1"/>
          </ns0:cNvSpPr>
          <ns0:nvPr/>
        </ns0:nvSpPr>
        <ns0:spPr>
          <a:xfrm>
            <a:off x="3343275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55" name="">
            <a:extLst>
              <a:ext uri="{FF2B5EF4-FFF2-40B4-BE49-F238E27FC236}">
                <ns2:creationId id="{678F6171-E129-4CB9-9FDE-223C0D2223EC}"/>
              </a:ext>
            </a:extLst>
          </ns0:cNvPr>
          <ns0:cNvSpPr>
            <a:spLocks noGrp="1"/>
          </ns0:cNvSpPr>
          <ns0:nvPr/>
        </ns0:nvSpPr>
        <ns0:spPr>
          <a:xfrm>
            <a:off x="3390900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LF III</a:t>
            </a:r>
          </a:p>
        </ns0:txBody>
      </ns0:sp>
      <ns0:sp>
        <ns0:nvSpPr>
          <ns0:cNvPr id="56" name="">
            <a:extLst>
              <a:ext uri="{FF2B5EF4-FFF2-40B4-BE49-F238E27FC236}">
                <ns2:creationId id="{82347DFF-4369-414C-AB2A-E121B6E7158F}"/>
              </a:ext>
            </a:extLst>
          </ns0:cNvPr>
          <ns0:cNvSpPr>
            <a:spLocks noGrp="1"/>
          </ns0:cNvSpPr>
          <ns0:nvPr/>
        </ns0:nvSpPr>
        <ns0:spPr>
          <a:xfrm>
            <a:off x="3390900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R$ 1,4 bi</a:t>
            </a:r>
          </a:p>
        </ns0:txBody>
      </ns0:sp>
      <ns0:sp>
        <ns0:nvSpPr>
          <ns0:cNvPr id="57" name="">
            <a:extLst>
              <a:ext uri="{FF2B5EF4-FFF2-40B4-BE49-F238E27FC236}">
                <ns2:creationId id="{A7ABECF0-A3DC-49B2-8030-F169A2D17D92}"/>
              </a:ext>
            </a:extLst>
          </ns0:cNvPr>
          <ns0:cNvSpPr>
            <a:spLocks noGrp="1"/>
          </ns0:cNvSpPr>
          <ns0:nvPr/>
        </ns0:nvSpPr>
        <ns0:spPr>
          <a:xfrm>
            <a:off x="4729163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58" name="">
            <a:extLst>
              <a:ext uri="{FF2B5EF4-FFF2-40B4-BE49-F238E27FC236}">
                <ns2:creationId id="{A181B208-6557-485A-A09B-54F90403D546}"/>
              </a:ext>
            </a:extLst>
          </ns0:cNvPr>
          <ns0:cNvSpPr>
            <a:spLocks noGrp="1"/>
          </ns0:cNvSpPr>
          <ns0:nvPr/>
        </ns0:nvSpPr>
        <ns0:spPr>
          <a:xfrm>
            <a:off x="4776788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INVESTCRED</a:t>
            </a:r>
          </a:p>
        </ns0:txBody>
      </ns0:sp>
      <ns0:sp>
        <ns0:nvSpPr>
          <ns0:cNvPr id="59" name="">
            <a:extLst>
              <a:ext uri="{FF2B5EF4-FFF2-40B4-BE49-F238E27FC236}">
                <ns2:creationId id="{0E0E750D-10CB-46F3-B2B7-E2055B547651}"/>
              </a:ext>
            </a:extLst>
          </ns0:cNvPr>
          <ns0:cNvSpPr>
            <a:spLocks noGrp="1"/>
          </ns0:cNvSpPr>
          <ns0:nvPr/>
        </ns0:nvSpPr>
        <ns0:spPr>
          <a:xfrm>
            <a:off x="4776788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R$ 1,2 bi</a:t>
            </a:r>
          </a:p>
        </ns0:txBody>
      </ns0:sp>
      <ns0:sp>
        <ns0:nvSpPr>
          <ns0:cNvPr id="60" name="">
            <a:extLst>
              <a:ext uri="{FF2B5EF4-FFF2-40B4-BE49-F238E27FC236}">
                <ns2:creationId id="{AD1A1A9E-0D3A-423B-8966-49A8F69BF550}"/>
              </a:ext>
            </a:extLst>
          </ns0:cNvPr>
          <ns0:cNvSpPr>
            <a:spLocks noGrp="1"/>
          </ns0:cNvSpPr>
          <ns0:nvPr/>
        </ns0:nvSpPr>
        <ns0:spPr>
          <a:xfrm>
            <a:off x="6115050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61" name="">
            <a:extLst>
              <a:ext uri="{FF2B5EF4-FFF2-40B4-BE49-F238E27FC236}">
                <ns2:creationId id="{6CDCA066-3540-4191-8407-D26183E6BAD9}"/>
              </a:ext>
            </a:extLst>
          </ns0:cNvPr>
          <ns0:cNvSpPr>
            <a:spLocks noGrp="1"/>
          </ns0:cNvSpPr>
          <ns0:nvPr/>
        </ns0:nvSpPr>
        <ns0:spPr>
          <a:xfrm>
            <a:off x="6162675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VOLKSWAGEN TERA RECEBÍVEIS</a:t>
            </a:r>
          </a:p>
        </ns0:txBody>
      </ns0:sp>
      <ns0:sp>
        <ns0:nvSpPr>
          <ns0:cNvPr id="62" name="">
            <a:extLst>
              <a:ext uri="{FF2B5EF4-FFF2-40B4-BE49-F238E27FC236}">
                <ns2:creationId id="{2D2618F7-8E2C-41DB-829E-ED8E699B430E}"/>
              </a:ext>
            </a:extLst>
          </ns0:cNvPr>
          <ns0:cNvSpPr>
            <a:spLocks noGrp="1"/>
          </ns0:cNvSpPr>
          <ns0:nvPr/>
        </ns0:nvSpPr>
        <ns0:spPr>
          <a:xfrm>
            <a:off x="6162675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R$ 1,1 bi</a:t>
            </a:r>
          </a:p>
        </ns0:txBody>
      </ns0:sp>
      <ns0:sp>
        <ns0:nvSpPr>
          <ns0:cNvPr id="63" name="">
            <a:extLst>
              <a:ext uri="{FF2B5EF4-FFF2-40B4-BE49-F238E27FC236}">
                <ns2:creationId id="{8E54D701-4DC1-4686-8776-D36CC48D36C1}"/>
              </a:ext>
            </a:extLst>
          </ns0:cNvPr>
          <ns0:cNvSpPr>
            <a:spLocks noGrp="1"/>
          </ns0:cNvSpPr>
          <ns0:nvPr/>
        </ns0:nvSpPr>
        <ns0:spPr>
          <a:xfrm>
            <a:off x="7500938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64" name="">
            <a:extLst>
              <a:ext uri="{FF2B5EF4-FFF2-40B4-BE49-F238E27FC236}">
                <ns2:creationId id="{F460C3EC-242B-439F-A4B5-6737907B5E9C}"/>
              </a:ext>
            </a:extLst>
          </ns0:cNvPr>
          <ns0:cNvSpPr>
            <a:spLocks noGrp="1"/>
          </ns0:cNvSpPr>
          <ns0:nvPr/>
        </ns0:nvSpPr>
        <ns0:spPr>
          <a:xfrm>
            <a:off x="7548563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TRADEPAY VAREJO I</a:t>
            </a:r>
          </a:p>
        </ns0:txBody>
      </ns0:sp>
      <ns0:sp>
        <ns0:nvSpPr>
          <ns0:cNvPr id="65" name="">
            <a:extLst>
              <a:ext uri="{FF2B5EF4-FFF2-40B4-BE49-F238E27FC236}">
                <ns2:creationId id="{F7DA5B8B-EB68-43C2-8928-DE55EAC12AE7}"/>
              </a:ext>
            </a:extLst>
          </ns0:cNvPr>
          <ns0:cNvSpPr>
            <a:spLocks noGrp="1"/>
          </ns0:cNvSpPr>
          <ns0:nvPr/>
        </ns0:nvSpPr>
        <ns0:spPr>
          <a:xfrm>
            <a:off x="7548563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R$ 702,1 mi</a:t>
            </a:r>
          </a:p>
        </ns0:txBody>
      </ns0:sp>
      <ns0:sp>
        <ns0:nvSpPr>
          <ns0:cNvPr id="66" name="">
            <a:extLst>
              <a:ext uri="{FF2B5EF4-FFF2-40B4-BE49-F238E27FC236}">
                <ns2:creationId id="{5D6F196B-B2A0-4250-8059-1F545377C51C}"/>
              </a:ext>
            </a:extLst>
          </ns0:cNvPr>
          <ns0:cNvSpPr>
            <a:spLocks noGrp="1"/>
          </ns0:cNvSpPr>
          <ns0:nvPr/>
        </ns0:nvSpPr>
        <ns0:spPr>
          <a:xfrm>
            <a:off x="8886825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67" name="">
            <a:extLst>
              <a:ext uri="{FF2B5EF4-FFF2-40B4-BE49-F238E27FC236}">
                <ns2:creationId id="{904F9019-1DCF-4540-8B6A-6D4E25CF2294}"/>
              </a:ext>
            </a:extLst>
          </ns0:cNvPr>
          <ns0:cNvSpPr>
            <a:spLocks noGrp="1"/>
          </ns0:cNvSpPr>
          <ns0:nvPr/>
        </ns0:nvSpPr>
        <ns0:spPr>
          <a:xfrm>
            <a:off x="8934450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AGRO CAPITAL FINANCE</a:t>
            </a:r>
          </a:p>
        </ns0:txBody>
      </ns0:sp>
      <ns0:sp>
        <ns0:nvSpPr>
          <ns0:cNvPr id="68" name="">
            <a:extLst>
              <a:ext uri="{FF2B5EF4-FFF2-40B4-BE49-F238E27FC236}">
                <ns2:creationId id="{058B82C1-3444-42AF-8FDF-880023FFFFF0}"/>
              </a:ext>
            </a:extLst>
          </ns0:cNvPr>
          <ns0:cNvSpPr>
            <a:spLocks noGrp="1"/>
          </ns0:cNvSpPr>
          <ns0:nvPr/>
        </ns0:nvSpPr>
        <ns0:spPr>
          <a:xfrm>
            <a:off x="8934450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R$ 522,1 mi</a:t>
            </a:r>
          </a:p>
        </ns0:txBody>
      </ns0:sp>
      <ns0:sp>
        <ns0:nvSpPr>
          <ns0:cNvPr id="69" name="">
            <a:extLst>
              <a:ext uri="{FF2B5EF4-FFF2-40B4-BE49-F238E27FC236}">
                <ns2:creationId id="{FF9EACE3-2838-4D51-82B5-07AB91E4D4D7}"/>
              </a:ext>
            </a:extLst>
          </ns0:cNvPr>
          <ns0:cNvSpPr>
            <a:spLocks noGrp="1"/>
          </ns0:cNvSpPr>
          <ns0:nvPr/>
        </ns0:nvSpPr>
        <ns0:spPr>
          <a:xfrm>
            <a:off x="10272713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70" name="">
            <a:extLst>
              <a:ext uri="{FF2B5EF4-FFF2-40B4-BE49-F238E27FC236}">
                <ns2:creationId id="{23BF7DFA-2264-4DB0-A2E5-5FE3D6C452B2}"/>
              </a:ext>
            </a:extLst>
          </ns0:cNvPr>
          <ns0:cNvSpPr>
            <a:spLocks noGrp="1"/>
          </ns0:cNvSpPr>
          <ns0:nvPr/>
        </ns0:nvSpPr>
        <ns0:spPr>
          <a:xfrm>
            <a:off x="10320338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UPL 02</a:t>
            </a:r>
          </a:p>
        </ns0:txBody>
      </ns0:sp>
      <ns0:sp>
        <ns0:nvSpPr>
          <ns0:cNvPr id="71" name="">
            <a:extLst>
              <a:ext uri="{FF2B5EF4-FFF2-40B4-BE49-F238E27FC236}">
                <ns2:creationId id="{D00DDD8A-FA19-4D83-AC08-EC8942BDD1EB}"/>
              </a:ext>
            </a:extLst>
          </ns0:cNvPr>
          <ns0:cNvSpPr>
            <a:spLocks noGrp="1"/>
          </ns0:cNvSpPr>
          <ns0:nvPr/>
        </ns0:nvSpPr>
        <ns0:spPr>
          <a:xfrm>
            <a:off x="10320338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R$ 482,9 mi</a:t>
            </a:r>
          </a:p>
        </ns0:txBody>
      </ns0:sp>
      <ns0:sp>
        <ns0:nvSpPr>
          <ns0:cNvPr id="72" name="">
            <a:extLst>
              <a:ext uri="{FF2B5EF4-FFF2-40B4-BE49-F238E27FC236}">
                <ns2:creationId id="{56527C7E-ECE0-4B6F-BE71-56BE5A82AB7B}"/>
              </a:ext>
            </a:extLst>
          </ns0:cNvPr>
          <ns0:cNvSpPr>
            <a:spLocks noGrp="1"/>
          </ns0:cNvSpPr>
          <ns0:nvPr/>
        </ns0:nvSpPr>
        <ns0:spPr>
          <a:xfrm>
            <a:off x="571500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73" name="">
            <a:extLst>
              <a:ext uri="{FF2B5EF4-FFF2-40B4-BE49-F238E27FC236}">
                <ns2:creationId id="{E6DAD409-B957-4751-A28E-2E8F27B80DD0}"/>
              </a:ext>
            </a:extLst>
          </ns0:cNvPr>
          <ns0:cNvSpPr>
            <a:spLocks noGrp="1"/>
          </ns0:cNvSpPr>
          <ns0:nvPr/>
        </ns0:nvSpPr>
        <ns0:spPr>
          <a:xfrm>
            <a:off x="619125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WORKCAP AGRO</a:t>
            </a:r>
          </a:p>
        </ns0:txBody>
      </ns0:sp>
      <ns0:sp>
        <ns0:nvSpPr>
          <ns0:cNvPr id="74" name="">
            <a:extLst>
              <a:ext uri="{FF2B5EF4-FFF2-40B4-BE49-F238E27FC236}">
                <ns2:creationId id="{9C135B7B-1027-432B-AA10-47EEFC313A9E}"/>
              </a:ext>
            </a:extLst>
          </ns0:cNvPr>
          <ns0:cNvSpPr>
            <a:spLocks noGrp="1"/>
          </ns0:cNvSpPr>
          <ns0:nvPr/>
        </ns0:nvSpPr>
        <ns0:spPr>
          <a:xfrm>
            <a:off x="619125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R$ 443,2 mi</a:t>
            </a:r>
          </a:p>
        </ns0:txBody>
      </ns0:sp>
      <ns0:sp>
        <ns0:nvSpPr>
          <ns0:cNvPr id="75" name="">
            <a:extLst>
              <a:ext uri="{FF2B5EF4-FFF2-40B4-BE49-F238E27FC236}">
                <ns2:creationId id="{39D6414E-F120-42F0-8046-908E15378748}"/>
              </a:ext>
            </a:extLst>
          </ns0:cNvPr>
          <ns0:cNvSpPr>
            <a:spLocks noGrp="1"/>
          </ns0:cNvSpPr>
          <ns0:nvPr/>
        </ns0:nvSpPr>
        <ns0:spPr>
          <a:xfrm>
            <a:off x="1957388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76" name="">
            <a:extLst>
              <a:ext uri="{FF2B5EF4-FFF2-40B4-BE49-F238E27FC236}">
                <ns2:creationId id="{62984B83-A206-4F6E-B567-97CD6F54FDF4}"/>
              </a:ext>
            </a:extLst>
          </ns0:cNvPr>
          <ns0:cNvSpPr>
            <a:spLocks noGrp="1"/>
          </ns0:cNvSpPr>
          <ns0:nvPr/>
        </ns0:nvSpPr>
        <ns0:spPr>
          <a:xfrm>
            <a:off x="2005013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SUMUP SOLO SEGMENTO MEIOS DE</a:t>
            </a:r>
          </a:p>
        </ns0:txBody>
      </ns0:sp>
      <ns0:sp>
        <ns0:nvSpPr>
          <ns0:cNvPr id="77" name="">
            <a:extLst>
              <a:ext uri="{FF2B5EF4-FFF2-40B4-BE49-F238E27FC236}">
                <ns2:creationId id="{AA995AF7-5425-4337-9DDA-355C0BF4D5DD}"/>
              </a:ext>
            </a:extLst>
          </ns0:cNvPr>
          <ns0:cNvSpPr>
            <a:spLocks noGrp="1"/>
          </ns0:cNvSpPr>
          <ns0:nvPr/>
        </ns0:nvSpPr>
        <ns0:spPr>
          <a:xfrm>
            <a:off x="2005013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R$ 378,1 mi</a:t>
            </a:r>
          </a:p>
        </ns0:txBody>
      </ns0:sp>
      <ns0:sp>
        <ns0:nvSpPr>
          <ns0:cNvPr id="78" name="">
            <a:extLst>
              <a:ext uri="{FF2B5EF4-FFF2-40B4-BE49-F238E27FC236}">
                <ns2:creationId id="{72C1E11F-A517-4FA4-AEE5-F1D7DC67F275}"/>
              </a:ext>
            </a:extLst>
          </ns0:cNvPr>
          <ns0:cNvSpPr>
            <a:spLocks noGrp="1"/>
          </ns0:cNvSpPr>
          <ns0:nvPr/>
        </ns0:nvSpPr>
        <ns0:spPr>
          <a:xfrm>
            <a:off x="3343275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79" name="">
            <a:extLst>
              <a:ext uri="{FF2B5EF4-FFF2-40B4-BE49-F238E27FC236}">
                <ns2:creationId id="{9A06AE3C-E326-4EFE-9EF3-A718AF7184D7}"/>
              </a:ext>
            </a:extLst>
          </ns0:cNvPr>
          <ns0:cNvSpPr>
            <a:spLocks noGrp="1"/>
          </ns0:cNvSpPr>
          <ns0:nvPr/>
        </ns0:nvSpPr>
        <ns0:spPr>
          <a:xfrm>
            <a:off x="3390900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FRIMESA</a:t>
            </a:r>
          </a:p>
        </ns0:txBody>
      </ns0:sp>
      <ns0:sp>
        <ns0:nvSpPr>
          <ns0:cNvPr id="80" name="">
            <a:extLst>
              <a:ext uri="{FF2B5EF4-FFF2-40B4-BE49-F238E27FC236}">
                <ns2:creationId id="{3CC33CD1-CEBF-4E1C-8671-4182884E50ED}"/>
              </a:ext>
            </a:extLst>
          </ns0:cNvPr>
          <ns0:cNvSpPr>
            <a:spLocks noGrp="1"/>
          </ns0:cNvSpPr>
          <ns0:nvPr/>
        </ns0:nvSpPr>
        <ns0:spPr>
          <a:xfrm>
            <a:off x="3390900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R$ 357,7 mi</a:t>
            </a:r>
          </a:p>
        </ns0:txBody>
      </ns0:sp>
      <ns0:sp>
        <ns0:nvSpPr>
          <ns0:cNvPr id="81" name="">
            <a:extLst>
              <a:ext uri="{FF2B5EF4-FFF2-40B4-BE49-F238E27FC236}">
                <ns2:creationId id="{8525884A-7C11-4D02-938A-FA3B5434AC08}"/>
              </a:ext>
            </a:extLst>
          </ns0:cNvPr>
          <ns0:cNvSpPr>
            <a:spLocks noGrp="1"/>
          </ns0:cNvSpPr>
          <ns0:nvPr/>
        </ns0:nvSpPr>
        <ns0:spPr>
          <a:xfrm>
            <a:off x="4729163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82" name="">
            <a:extLst>
              <a:ext uri="{FF2B5EF4-FFF2-40B4-BE49-F238E27FC236}">
                <ns2:creationId id="{AE9B3E44-22A9-4C94-B44E-73C358DE5F53}"/>
              </a:ext>
            </a:extLst>
          </ns0:cNvPr>
          <ns0:cNvSpPr>
            <a:spLocks noGrp="1"/>
          </ns0:cNvSpPr>
          <ns0:nvPr/>
        </ns0:nvSpPr>
        <ns0:spPr>
          <a:xfrm>
            <a:off x="4776788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SUMUP SMART IV FIDC SEGMENTO</a:t>
            </a:r>
          </a:p>
        </ns0:txBody>
      </ns0:sp>
      <ns0:sp>
        <ns0:nvSpPr>
          <ns0:cNvPr id="83" name="">
            <a:extLst>
              <a:ext uri="{FF2B5EF4-FFF2-40B4-BE49-F238E27FC236}">
                <ns2:creationId id="{37BA6DE4-E468-4D70-8E13-29A36994F827}"/>
              </a:ext>
            </a:extLst>
          </ns0:cNvPr>
          <ns0:cNvSpPr>
            <a:spLocks noGrp="1"/>
          </ns0:cNvSpPr>
          <ns0:nvPr/>
        </ns0:nvSpPr>
        <ns0:spPr>
          <a:xfrm>
            <a:off x="4776788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R$ 356,8 mi</a:t>
            </a:r>
          </a:p>
        </ns0:txBody>
      </ns0:sp>
      <ns0:sp>
        <ns0:nvSpPr>
          <ns0:cNvPr id="84" name="">
            <a:extLst>
              <a:ext uri="{FF2B5EF4-FFF2-40B4-BE49-F238E27FC236}">
                <ns2:creationId id="{8A49FE6D-3C90-4C1A-BE70-83D19C7DF33E}"/>
              </a:ext>
            </a:extLst>
          </ns0:cNvPr>
          <ns0:cNvSpPr>
            <a:spLocks noGrp="1"/>
          </ns0:cNvSpPr>
          <ns0:nvPr/>
        </ns0:nvSpPr>
        <ns0:spPr>
          <a:xfrm>
            <a:off x="6115050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85" name="">
            <a:extLst>
              <a:ext uri="{FF2B5EF4-FFF2-40B4-BE49-F238E27FC236}">
                <ns2:creationId id="{5C67E382-5874-42DB-8DE3-041122B7DDD3}"/>
              </a:ext>
            </a:extLst>
          </ns0:cNvPr>
          <ns0:cNvSpPr>
            <a:spLocks noGrp="1"/>
          </ns0:cNvSpPr>
          <ns0:nvPr/>
        </ns0:nvSpPr>
        <ns0:spPr>
          <a:xfrm>
            <a:off x="6162675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KIWIFY SEGMENTO MEIOS DE</a:t>
            </a:r>
          </a:p>
        </ns0:txBody>
      </ns0:sp>
      <ns0:sp>
        <ns0:nvSpPr>
          <ns0:cNvPr id="86" name="">
            <a:extLst>
              <a:ext uri="{FF2B5EF4-FFF2-40B4-BE49-F238E27FC236}">
                <ns2:creationId id="{F49C1E20-E329-4810-990F-770142F4E488}"/>
              </a:ext>
            </a:extLst>
          </ns0:cNvPr>
          <ns0:cNvSpPr>
            <a:spLocks noGrp="1"/>
          </ns0:cNvSpPr>
          <ns0:nvPr/>
        </ns0:nvSpPr>
        <ns0:spPr>
          <a:xfrm>
            <a:off x="6162675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R$ 347,3 mi</a:t>
            </a:r>
          </a:p>
        </ns0:txBody>
      </ns0:sp>
      <ns0:sp>
        <ns0:nvSpPr>
          <ns0:cNvPr id="87" name="">
            <a:extLst>
              <a:ext uri="{FF2B5EF4-FFF2-40B4-BE49-F238E27FC236}">
                <ns2:creationId id="{8C52CA3D-976B-457F-B7AD-A19AEE948956}"/>
              </a:ext>
            </a:extLst>
          </ns0:cNvPr>
          <ns0:cNvSpPr>
            <a:spLocks noGrp="1"/>
          </ns0:cNvSpPr>
          <ns0:nvPr/>
        </ns0:nvSpPr>
        <ns0:spPr>
          <a:xfrm>
            <a:off x="7500938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88" name="">
            <a:extLst>
              <a:ext uri="{FF2B5EF4-FFF2-40B4-BE49-F238E27FC236}">
                <ns2:creationId id="{B9E616B8-6B67-45D8-A155-8D07E5B7C2DD}"/>
              </a:ext>
            </a:extLst>
          </ns0:cNvPr>
          <ns0:cNvSpPr>
            <a:spLocks noGrp="1"/>
          </ns0:cNvSpPr>
          <ns0:nvPr/>
        </ns0:nvSpPr>
        <ns0:spPr>
          <a:xfrm>
            <a:off x="7548563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DESBRAVA UNO ARTIGOS</a:t>
            </a:r>
          </a:p>
        </ns0:txBody>
      </ns0:sp>
      <ns0:sp>
        <ns0:nvSpPr>
          <ns0:cNvPr id="89" name="">
            <a:extLst>
              <a:ext uri="{FF2B5EF4-FFF2-40B4-BE49-F238E27FC236}">
                <ns2:creationId id="{DB362F1E-5A1A-4813-A67E-D3131045937C}"/>
              </a:ext>
            </a:extLst>
          </ns0:cNvPr>
          <ns0:cNvSpPr>
            <a:spLocks noGrp="1"/>
          </ns0:cNvSpPr>
          <ns0:nvPr/>
        </ns0:nvSpPr>
        <ns0:spPr>
          <a:xfrm>
            <a:off x="7548563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R$ 343,6 mi</a:t>
            </a:r>
          </a:p>
        </ns0:txBody>
      </ns0:sp>
      <ns0:sp>
        <ns0:nvSpPr>
          <ns0:cNvPr id="90" name="">
            <a:extLst>
              <a:ext uri="{FF2B5EF4-FFF2-40B4-BE49-F238E27FC236}">
                <ns2:creationId id="{95AB51CC-94E1-486D-AB0C-5EEBD2D72F58}"/>
              </a:ext>
            </a:extLst>
          </ns0:cNvPr>
          <ns0:cNvSpPr>
            <a:spLocks noGrp="1"/>
          </ns0:cNvSpPr>
          <ns0:nvPr/>
        </ns0:nvSpPr>
        <ns0:spPr>
          <a:xfrm>
            <a:off x="8886825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91" name="">
            <a:extLst>
              <a:ext uri="{FF2B5EF4-FFF2-40B4-BE49-F238E27FC236}">
                <ns2:creationId id="{8716E966-054C-4483-B78C-E40769585145}"/>
              </a:ext>
            </a:extLst>
          </ns0:cNvPr>
          <ns0:cNvSpPr>
            <a:spLocks noGrp="1"/>
          </ns0:cNvSpPr>
          <ns0:nvPr/>
        </ns0:nvSpPr>
        <ns0:spPr>
          <a:xfrm>
            <a:off x="8934450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MSV3 RECEBÍVEIS COMERCIAIS</a:t>
            </a:r>
          </a:p>
        </ns0:txBody>
      </ns0:sp>
      <ns0:sp>
        <ns0:nvSpPr>
          <ns0:cNvPr id="92" name="">
            <a:extLst>
              <a:ext uri="{FF2B5EF4-FFF2-40B4-BE49-F238E27FC236}">
                <ns2:creationId id="{A524167E-8EF4-45E5-ABB6-53768AEE59CF}"/>
              </a:ext>
            </a:extLst>
          </ns0:cNvPr>
          <ns0:cNvSpPr>
            <a:spLocks noGrp="1"/>
          </ns0:cNvSpPr>
          <ns0:nvPr/>
        </ns0:nvSpPr>
        <ns0:spPr>
          <a:xfrm>
            <a:off x="8934450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R$ 311,5 mi</a:t>
            </a:r>
          </a:p>
        </ns0:txBody>
      </ns0:sp>
      <ns0:sp>
        <ns0:nvSpPr>
          <ns0:cNvPr id="93" name="">
            <a:extLst>
              <a:ext uri="{FF2B5EF4-FFF2-40B4-BE49-F238E27FC236}">
                <ns2:creationId id="{AA879907-104B-40D7-8E27-AE52EF03A31F}"/>
              </a:ext>
            </a:extLst>
          </ns0:cNvPr>
          <ns0:cNvSpPr>
            <a:spLocks noGrp="1"/>
          </ns0:cNvSpPr>
          <ns0:nvPr/>
        </ns0:nvSpPr>
        <ns0:spPr>
          <a:xfrm>
            <a:off x="10272713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94" name="">
            <a:extLst>
              <a:ext uri="{FF2B5EF4-FFF2-40B4-BE49-F238E27FC236}">
                <ns2:creationId id="{D35B5155-8024-4CF1-B637-2D128C48533C}"/>
              </a:ext>
            </a:extLst>
          </ns0:cNvPr>
          <ns0:cNvSpPr>
            <a:spLocks noGrp="1"/>
          </ns0:cNvSpPr>
          <ns0:nvPr/>
        </ns0:nvSpPr>
        <ns0:spPr>
          <a:xfrm>
            <a:off x="10320338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CD CASH</a:t>
            </a:r>
          </a:p>
        </ns0:txBody>
      </ns0:sp>
      <ns0:sp>
        <ns0:nvSpPr>
          <ns0:cNvPr id="95" name="">
            <a:extLst>
              <a:ext uri="{FF2B5EF4-FFF2-40B4-BE49-F238E27FC236}">
                <ns2:creationId id="{439F1C66-A47E-48AF-AF3F-8464D2FC5913}"/>
              </a:ext>
            </a:extLst>
          </ns0:cNvPr>
          <ns0:cNvSpPr>
            <a:spLocks noGrp="1"/>
          </ns0:cNvSpPr>
          <ns0:nvPr/>
        </ns0:nvSpPr>
        <ns0:spPr>
          <a:xfrm>
            <a:off x="10320338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R$ 291,8 mi</a:t>
            </a:r>
          </a:p>
        </ns0:txBody>
      </ns0:sp>
      <ns0:sp>
        <ns0:nvSpPr>
          <ns0:cNvPr id="96" name="">
            <a:extLst>
              <a:ext uri="{FF2B5EF4-FFF2-40B4-BE49-F238E27FC236}">
                <ns2:creationId id="{E7F3CAE2-ECEA-4BCE-9F20-BF3F66188063}"/>
              </a:ext>
            </a:extLst>
          </ns0:cNvPr>
          <ns0:cNvSpPr>
            <a:spLocks noGrp="1"/>
          </ns0:cNvSpPr>
          <ns0:nvPr/>
        </ns0:nvSpPr>
        <ns0:spPr>
          <a:xfrm>
            <a:off x="571500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97" name="">
            <a:extLst>
              <a:ext uri="{FF2B5EF4-FFF2-40B4-BE49-F238E27FC236}">
                <ns2:creationId id="{4FCB0FF4-4D0B-46DA-A18B-6D7AFEC507FE}"/>
              </a:ext>
            </a:extLst>
          </ns0:cNvPr>
          <ns0:cNvSpPr>
            <a:spLocks noGrp="1"/>
          </ns0:cNvSpPr>
          <ns0:nvPr/>
        </ns0:nvSpPr>
        <ns0:spPr>
          <a:xfrm>
            <a:off x="619125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RECARGAPAY I</a:t>
            </a:r>
          </a:p>
        </ns0:txBody>
      </ns0:sp>
      <ns0:sp>
        <ns0:nvSpPr>
          <ns0:cNvPr id="98" name="">
            <a:extLst>
              <a:ext uri="{FF2B5EF4-FFF2-40B4-BE49-F238E27FC236}">
                <ns2:creationId id="{80911FEE-95A5-49A1-9AF9-C6BB06EED010}"/>
              </a:ext>
            </a:extLst>
          </ns0:cNvPr>
          <ns0:cNvSpPr>
            <a:spLocks noGrp="1"/>
          </ns0:cNvSpPr>
          <ns0:nvPr/>
        </ns0:nvSpPr>
        <ns0:spPr>
          <a:xfrm>
            <a:off x="619125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R$ 281,5 mi</a:t>
            </a:r>
          </a:p>
        </ns0:txBody>
      </ns0:sp>
      <ns0:sp>
        <ns0:nvSpPr>
          <ns0:cNvPr id="99" name="">
            <a:extLst>
              <a:ext uri="{FF2B5EF4-FFF2-40B4-BE49-F238E27FC236}">
                <ns2:creationId id="{0CE75EB4-8889-4769-9EA6-7474C3E8B323}"/>
              </a:ext>
            </a:extLst>
          </ns0:cNvPr>
          <ns0:cNvSpPr>
            <a:spLocks noGrp="1"/>
          </ns0:cNvSpPr>
          <ns0:nvPr/>
        </ns0:nvSpPr>
        <ns0:spPr>
          <a:xfrm>
            <a:off x="1957388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00" name="">
            <a:extLst>
              <a:ext uri="{FF2B5EF4-FFF2-40B4-BE49-F238E27FC236}">
                <ns2:creationId id="{65C38D0F-0C57-447B-8FDA-8A9A4871ED93}"/>
              </a:ext>
            </a:extLst>
          </ns0:cNvPr>
          <ns0:cNvSpPr>
            <a:spLocks noGrp="1"/>
          </ns0:cNvSpPr>
          <ns0:nvPr/>
        </ns0:nvSpPr>
        <ns0:spPr>
          <a:xfrm>
            <a:off x="2005013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OPEA AGRO SUMITOMO CHEMICAL</a:t>
            </a:r>
          </a:p>
        </ns0:txBody>
      </ns0:sp>
      <ns0:sp>
        <ns0:nvSpPr>
          <ns0:cNvPr id="101" name="">
            <a:extLst>
              <a:ext uri="{FF2B5EF4-FFF2-40B4-BE49-F238E27FC236}">
                <ns2:creationId id="{E34F63F9-134F-4D2A-ABC1-611C262E8049}"/>
              </a:ext>
            </a:extLst>
          </ns0:cNvPr>
          <ns0:cNvSpPr>
            <a:spLocks noGrp="1"/>
          </ns0:cNvSpPr>
          <ns0:nvPr/>
        </ns0:nvSpPr>
        <ns0:spPr>
          <a:xfrm>
            <a:off x="2005013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R$ 256,0 mi</a:t>
            </a:r>
          </a:p>
        </ns0:txBody>
      </ns0:sp>
      <ns0:sp>
        <ns0:nvSpPr>
          <ns0:cNvPr id="102" name="">
            <a:extLst>
              <a:ext uri="{FF2B5EF4-FFF2-40B4-BE49-F238E27FC236}">
                <ns2:creationId id="{235BA9B0-F89D-4577-B576-BB6C925C5AB8}"/>
              </a:ext>
            </a:extLst>
          </ns0:cNvPr>
          <ns0:cNvSpPr>
            <a:spLocks noGrp="1"/>
          </ns0:cNvSpPr>
          <ns0:nvPr/>
        </ns0:nvSpPr>
        <ns0:spPr>
          <a:xfrm>
            <a:off x="3343275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03" name="">
            <a:extLst>
              <a:ext uri="{FF2B5EF4-FFF2-40B4-BE49-F238E27FC236}">
                <ns2:creationId id="{9D4DC160-F557-49A6-A690-DE0CBF77E9F7}"/>
              </a:ext>
            </a:extLst>
          </ns0:cNvPr>
          <ns0:cNvSpPr>
            <a:spLocks noGrp="1"/>
          </ns0:cNvSpPr>
          <ns0:nvPr/>
        </ns0:nvSpPr>
        <ns0:spPr>
          <a:xfrm>
            <a:off x="3390900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VIXTRA</a:t>
            </a:r>
          </a:p>
        </ns0:txBody>
      </ns0:sp>
      <ns0:sp>
        <ns0:nvSpPr>
          <ns0:cNvPr id="104" name="">
            <a:extLst>
              <a:ext uri="{FF2B5EF4-FFF2-40B4-BE49-F238E27FC236}">
                <ns2:creationId id="{86DFBBC1-822D-4404-9854-E791E04A3571}"/>
              </a:ext>
            </a:extLst>
          </ns0:cNvPr>
          <ns0:cNvSpPr>
            <a:spLocks noGrp="1"/>
          </ns0:cNvSpPr>
          <ns0:nvPr/>
        </ns0:nvSpPr>
        <ns0:spPr>
          <a:xfrm>
            <a:off x="3390900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R$ 233,6 mi</a:t>
            </a:r>
          </a:p>
        </ns0:txBody>
      </ns0:sp>
      <ns0:sp>
        <ns0:nvSpPr>
          <ns0:cNvPr id="105" name="">
            <a:extLst>
              <a:ext uri="{FF2B5EF4-FFF2-40B4-BE49-F238E27FC236}">
                <ns2:creationId id="{92BD260C-0661-4683-A8DD-BED4B0D9DBC6}"/>
              </a:ext>
            </a:extLst>
          </ns0:cNvPr>
          <ns0:cNvSpPr>
            <a:spLocks noGrp="1"/>
          </ns0:cNvSpPr>
          <ns0:nvPr/>
        </ns0:nvSpPr>
        <ns0:spPr>
          <a:xfrm>
            <a:off x="4729163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06" name="">
            <a:extLst>
              <a:ext uri="{FF2B5EF4-FFF2-40B4-BE49-F238E27FC236}">
                <ns2:creationId id="{A3CC8FD9-D82D-43AD-A753-D1F29D129B10}"/>
              </a:ext>
            </a:extLst>
          </ns0:cNvPr>
          <ns0:cNvSpPr>
            <a:spLocks noGrp="1"/>
          </ns0:cNvSpPr>
          <ns0:nvPr/>
        </ns0:nvSpPr>
        <ns0:spPr>
          <a:xfrm>
            <a:off x="4776788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PERNAMBUCANAS FIDC</a:t>
            </a:r>
          </a:p>
        </ns0:txBody>
      </ns0:sp>
      <ns0:sp>
        <ns0:nvSpPr>
          <ns0:cNvPr id="107" name="">
            <a:extLst>
              <a:ext uri="{FF2B5EF4-FFF2-40B4-BE49-F238E27FC236}">
                <ns2:creationId id="{742F8A83-616F-42DB-8511-107CFF570256}"/>
              </a:ext>
            </a:extLst>
          </ns0:cNvPr>
          <ns0:cNvSpPr>
            <a:spLocks noGrp="1"/>
          </ns0:cNvSpPr>
          <ns0:nvPr/>
        </ns0:nvSpPr>
        <ns0:spPr>
          <a:xfrm>
            <a:off x="4776788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R$ 226,6 mi</a:t>
            </a:r>
          </a:p>
        </ns0:txBody>
      </ns0:sp>
      <ns0:sp>
        <ns0:nvSpPr>
          <ns0:cNvPr id="108" name="">
            <a:extLst>
              <a:ext uri="{FF2B5EF4-FFF2-40B4-BE49-F238E27FC236}">
                <ns2:creationId id="{4A597F06-0FB9-423F-8CE0-77D0E8CD022C}"/>
              </a:ext>
            </a:extLst>
          </ns0:cNvPr>
          <ns0:cNvSpPr>
            <a:spLocks noGrp="1"/>
          </ns0:cNvSpPr>
          <ns0:nvPr/>
        </ns0:nvSpPr>
        <ns0:spPr>
          <a:xfrm>
            <a:off x="6115050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09" name="">
            <a:extLst>
              <a:ext uri="{FF2B5EF4-FFF2-40B4-BE49-F238E27FC236}">
                <ns2:creationId id="{EC5DADE2-87FE-4604-A3E4-22554F1D62EF}"/>
              </a:ext>
            </a:extLst>
          </ns0:cNvPr>
          <ns0:cNvSpPr>
            <a:spLocks noGrp="1"/>
          </ns0:cNvSpPr>
          <ns0:nvPr/>
        </ns0:nvSpPr>
        <ns0:spPr>
          <a:xfrm>
            <a:off x="6162675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CEREALIS</a:t>
            </a:r>
          </a:p>
        </ns0:txBody>
      </ns0:sp>
      <ns0:sp>
        <ns0:nvSpPr>
          <ns0:cNvPr id="110" name="">
            <a:extLst>
              <a:ext uri="{FF2B5EF4-FFF2-40B4-BE49-F238E27FC236}">
                <ns2:creationId id="{6421DCE0-6D8D-45AE-80D7-A23936A77BF9}"/>
              </a:ext>
            </a:extLst>
          </ns0:cNvPr>
          <ns0:cNvSpPr>
            <a:spLocks noGrp="1"/>
          </ns0:cNvSpPr>
          <ns0:nvPr/>
        </ns0:nvSpPr>
        <ns0:spPr>
          <a:xfrm>
            <a:off x="6162675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R$ 215,3 mi</a:t>
            </a:r>
          </a:p>
        </ns0:txBody>
      </ns0:sp>
      <ns0:sp>
        <ns0:nvSpPr>
          <ns0:cNvPr id="111" name="">
            <a:extLst>
              <a:ext uri="{FF2B5EF4-FFF2-40B4-BE49-F238E27FC236}">
                <ns2:creationId id="{3C5E657C-EDD2-4761-8FCD-B5EF0E97A27E}"/>
              </a:ext>
            </a:extLst>
          </ns0:cNvPr>
          <ns0:cNvSpPr>
            <a:spLocks noGrp="1"/>
          </ns0:cNvSpPr>
          <ns0:nvPr/>
        </ns0:nvSpPr>
        <ns0:spPr>
          <a:xfrm>
            <a:off x="7500938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12" name="">
            <a:extLst>
              <a:ext uri="{FF2B5EF4-FFF2-40B4-BE49-F238E27FC236}">
                <ns2:creationId id="{31ECCDB7-594B-4589-9828-87291C575037}"/>
              </a:ext>
            </a:extLst>
          </ns0:cNvPr>
          <ns0:cNvSpPr>
            <a:spLocks noGrp="1"/>
          </ns0:cNvSpPr>
          <ns0:nvPr/>
        </ns0:nvSpPr>
        <ns0:spPr>
          <a:xfrm>
            <a:off x="7548563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FORNECEDORES MADEIRA MADEIRA</a:t>
            </a:r>
          </a:p>
        </ns0:txBody>
      </ns0:sp>
      <ns0:sp>
        <ns0:nvSpPr>
          <ns0:cNvPr id="113" name="">
            <a:extLst>
              <a:ext uri="{FF2B5EF4-FFF2-40B4-BE49-F238E27FC236}">
                <ns2:creationId id="{78C3E3C0-0BFB-45E2-B572-FA900F51AB00}"/>
              </a:ext>
            </a:extLst>
          </ns0:cNvPr>
          <ns0:cNvSpPr>
            <a:spLocks noGrp="1"/>
          </ns0:cNvSpPr>
          <ns0:nvPr/>
        </ns0:nvSpPr>
        <ns0:spPr>
          <a:xfrm>
            <a:off x="7548563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R$ 196,7 mi</a:t>
            </a:r>
          </a:p>
        </ns0:txBody>
      </ns0:sp>
      <ns0:sp>
        <ns0:nvSpPr>
          <ns0:cNvPr id="114" name="">
            <a:extLst>
              <a:ext uri="{FF2B5EF4-FFF2-40B4-BE49-F238E27FC236}">
                <ns2:creationId id="{943AEBED-8528-48C6-A6D6-56A15BF9AF1A}"/>
              </a:ext>
            </a:extLst>
          </ns0:cNvPr>
          <ns0:cNvSpPr>
            <a:spLocks noGrp="1"/>
          </ns0:cNvSpPr>
          <ns0:nvPr/>
        </ns0:nvSpPr>
        <ns0:spPr>
          <a:xfrm>
            <a:off x="8886825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15" name="">
            <a:extLst>
              <a:ext uri="{FF2B5EF4-FFF2-40B4-BE49-F238E27FC236}">
                <ns2:creationId id="{E036AFA5-5EC2-4D0D-85C2-0C0CA8BA786D}"/>
              </a:ext>
            </a:extLst>
          </ns0:cNvPr>
          <ns0:cNvSpPr>
            <a:spLocks noGrp="1"/>
          </ns0:cNvSpPr>
          <ns0:nvPr/>
        </ns0:nvSpPr>
        <ns0:spPr>
          <a:xfrm>
            <a:off x="8934450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LEO MADEIRAS FIDC SEGMENTO</a:t>
            </a:r>
          </a:p>
        </ns0:txBody>
      </ns0:sp>
      <ns0:sp>
        <ns0:nvSpPr>
          <ns0:cNvPr id="116" name="">
            <a:extLst>
              <a:ext uri="{FF2B5EF4-FFF2-40B4-BE49-F238E27FC236}">
                <ns2:creationId id="{DC4E8D97-ED1F-4012-ACE4-5EB7AD461E1A}"/>
              </a:ext>
            </a:extLst>
          </ns0:cNvPr>
          <ns0:cNvSpPr>
            <a:spLocks noGrp="1"/>
          </ns0:cNvSpPr>
          <ns0:nvPr/>
        </ns0:nvSpPr>
        <ns0:spPr>
          <a:xfrm>
            <a:off x="8934450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R$ 177,0 mi</a:t>
            </a:r>
          </a:p>
        </ns0:txBody>
      </ns0:sp>
      <ns0:sp>
        <ns0:nvSpPr>
          <ns0:cNvPr id="117" name="">
            <a:extLst>
              <a:ext uri="{FF2B5EF4-FFF2-40B4-BE49-F238E27FC236}">
                <ns2:creationId id="{C1DCD6AD-13C9-4749-AAD8-46A2875F7AF5}"/>
              </a:ext>
            </a:extLst>
          </ns0:cNvPr>
          <ns0:cNvSpPr>
            <a:spLocks noGrp="1"/>
          </ns0:cNvSpPr>
          <ns0:nvPr/>
        </ns0:nvSpPr>
        <ns0:spPr>
          <a:xfrm>
            <a:off x="10272713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18" name="">
            <a:extLst>
              <a:ext uri="{FF2B5EF4-FFF2-40B4-BE49-F238E27FC236}">
                <ns2:creationId id="{5263E21D-8B43-47CD-919D-99A448499CA6}"/>
              </a:ext>
            </a:extLst>
          </ns0:cNvPr>
          <ns0:cNvSpPr>
            <a:spLocks noGrp="1"/>
          </ns0:cNvSpPr>
          <ns0:nvPr/>
        </ns0:nvSpPr>
        <ns0:spPr>
          <a:xfrm>
            <a:off x="10320338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SAGA CRÉDITO PRIVADO</a:t>
            </a:r>
          </a:p>
        </ns0:txBody>
      </ns0:sp>
      <ns0:sp>
        <ns0:nvSpPr>
          <ns0:cNvPr id="119" name="">
            <a:extLst>
              <a:ext uri="{FF2B5EF4-FFF2-40B4-BE49-F238E27FC236}">
                <ns2:creationId id="{717A6724-D7F4-44A7-A1E9-E0378DC39340}"/>
              </a:ext>
            </a:extLst>
          </ns0:cNvPr>
          <ns0:cNvSpPr>
            <a:spLocks noGrp="1"/>
          </ns0:cNvSpPr>
          <ns0:nvPr/>
        </ns0:nvSpPr>
        <ns0:spPr>
          <a:xfrm>
            <a:off x="10320338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R$ 167,6 mi</a:t>
            </a:r>
          </a:p>
        </ns0:txBody>
      </ns0:sp>
      <ns0:sp>
        <ns0:nvSpPr>
          <ns0:cNvPr id="120" name="">
            <a:extLst>
              <a:ext uri="{FF2B5EF4-FFF2-40B4-BE49-F238E27FC236}">
                <ns2:creationId id="{AAD74437-5D8A-4882-B300-61DA6D83C060}"/>
              </a:ext>
            </a:extLst>
          </ns0:cNvPr>
          <ns0:cNvSpPr>
            <a:spLocks noGrp="1"/>
          </ns0:cNvSpPr>
          <ns0:nvPr/>
        </ns0:nvSpPr>
        <ns0:spPr>
          <a:xfrm>
            <a:off x="571500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21" name="">
            <a:extLst>
              <a:ext uri="{FF2B5EF4-FFF2-40B4-BE49-F238E27FC236}">
                <ns2:creationId id="{32060C25-71A1-4CED-B6E5-FC7C3B6F70EB}"/>
              </a:ext>
            </a:extLst>
          </ns0:cNvPr>
          <ns0:cNvSpPr>
            <a:spLocks noGrp="1"/>
          </ns0:cNvSpPr>
          <ns0:nvPr/>
        </ns0:nvSpPr>
        <ns0:spPr>
          <a:xfrm>
            <a:off x="619125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ARCELORMITTAL VÉRTICE</a:t>
            </a:r>
          </a:p>
        </ns0:txBody>
      </ns0:sp>
      <ns0:sp>
        <ns0:nvSpPr>
          <ns0:cNvPr id="122" name="">
            <a:extLst>
              <a:ext uri="{FF2B5EF4-FFF2-40B4-BE49-F238E27FC236}">
                <ns2:creationId id="{AFF02B1D-5F19-4C88-A146-2051A0151989}"/>
              </a:ext>
            </a:extLst>
          </ns0:cNvPr>
          <ns0:cNvSpPr>
            <a:spLocks noGrp="1"/>
          </ns0:cNvSpPr>
          <ns0:nvPr/>
        </ns0:nvSpPr>
        <ns0:spPr>
          <a:xfrm>
            <a:off x="619125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R$ 162,6 mi</a:t>
            </a:r>
          </a:p>
        </ns0:txBody>
      </ns0:sp>
      <ns0:sp>
        <ns0:nvSpPr>
          <ns0:cNvPr id="123" name="">
            <a:extLst>
              <a:ext uri="{FF2B5EF4-FFF2-40B4-BE49-F238E27FC236}">
                <ns2:creationId id="{6596F397-28B0-4984-895A-68BF6BA1A056}"/>
              </a:ext>
            </a:extLst>
          </ns0:cNvPr>
          <ns0:cNvSpPr>
            <a:spLocks noGrp="1"/>
          </ns0:cNvSpPr>
          <ns0:nvPr/>
        </ns0:nvSpPr>
        <ns0:spPr>
          <a:xfrm>
            <a:off x="1957388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24" name="">
            <a:extLst>
              <a:ext uri="{FF2B5EF4-FFF2-40B4-BE49-F238E27FC236}">
                <ns2:creationId id="{C408DFDC-FE6C-4096-A871-5595F6DC9100}"/>
              </a:ext>
            </a:extLst>
          </ns0:cNvPr>
          <ns0:cNvSpPr>
            <a:spLocks noGrp="1"/>
          </ns0:cNvSpPr>
          <ns0:nvPr/>
        </ns0:nvSpPr>
        <ns0:spPr>
          <a:xfrm>
            <a:off x="2005013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BLUE HEALTH FIDC RECEBÍVEIS</a:t>
            </a:r>
          </a:p>
        </ns0:txBody>
      </ns0:sp>
      <ns0:sp>
        <ns0:nvSpPr>
          <ns0:cNvPr id="125" name="">
            <a:extLst>
              <a:ext uri="{FF2B5EF4-FFF2-40B4-BE49-F238E27FC236}">
                <ns2:creationId id="{AED3A498-1509-4AE5-B2E4-F702754838FB}"/>
              </a:ext>
            </a:extLst>
          </ns0:cNvPr>
          <ns0:cNvSpPr>
            <a:spLocks noGrp="1"/>
          </ns0:cNvSpPr>
          <ns0:nvPr/>
        </ns0:nvSpPr>
        <ns0:spPr>
          <a:xfrm>
            <a:off x="2005013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R$ 142,2 mi</a:t>
            </a:r>
          </a:p>
        </ns0:txBody>
      </ns0:sp>
      <ns0:sp>
        <ns0:nvSpPr>
          <ns0:cNvPr id="126" name="">
            <a:extLst>
              <a:ext uri="{FF2B5EF4-FFF2-40B4-BE49-F238E27FC236}">
                <ns2:creationId id="{F1A1E927-E15A-41C9-92DF-28194D0B1173}"/>
              </a:ext>
            </a:extLst>
          </ns0:cNvPr>
          <ns0:cNvSpPr>
            <a:spLocks noGrp="1"/>
          </ns0:cNvSpPr>
          <ns0:nvPr/>
        </ns0:nvSpPr>
        <ns0:spPr>
          <a:xfrm>
            <a:off x="3343275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27" name="">
            <a:extLst>
              <a:ext uri="{FF2B5EF4-FFF2-40B4-BE49-F238E27FC236}">
                <ns2:creationId id="{7CB36CE6-EA36-4A92-9761-8285E92E636B}"/>
              </a:ext>
            </a:extLst>
          </ns0:cNvPr>
          <ns0:cNvSpPr>
            <a:spLocks noGrp="1"/>
          </ns0:cNvSpPr>
          <ns0:nvPr/>
        </ns0:nvSpPr>
        <ns0:spPr>
          <a:xfrm>
            <a:off x="3390900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INDIE MERX RAIZ I CRÉDITO</a:t>
            </a:r>
          </a:p>
        </ns0:txBody>
      </ns0:sp>
      <ns0:sp>
        <ns0:nvSpPr>
          <ns0:cNvPr id="128" name="">
            <a:extLst>
              <a:ext uri="{FF2B5EF4-FFF2-40B4-BE49-F238E27FC236}">
                <ns2:creationId id="{927330D3-4899-47F9-A855-2CE3FD93A046}"/>
              </a:ext>
            </a:extLst>
          </ns0:cNvPr>
          <ns0:cNvSpPr>
            <a:spLocks noGrp="1"/>
          </ns0:cNvSpPr>
          <ns0:nvPr/>
        </ns0:nvSpPr>
        <ns0:spPr>
          <a:xfrm>
            <a:off x="3390900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R$ 104,2 mi</a:t>
            </a:r>
          </a:p>
        </ns0:txBody>
      </ns0:sp>
      <ns0:sp>
        <ns0:nvSpPr>
          <ns0:cNvPr id="129" name="">
            <a:extLst>
              <a:ext uri="{FF2B5EF4-FFF2-40B4-BE49-F238E27FC236}">
                <ns2:creationId id="{5B54FB95-B900-46F6-91DA-3DD9CDC5A8B2}"/>
              </a:ext>
            </a:extLst>
          </ns0:cNvPr>
          <ns0:cNvSpPr>
            <a:spLocks noGrp="1"/>
          </ns0:cNvSpPr>
          <ns0:nvPr/>
        </ns0:nvSpPr>
        <ns0:spPr>
          <a:xfrm>
            <a:off x="4729163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30" name="">
            <a:extLst>
              <a:ext uri="{FF2B5EF4-FFF2-40B4-BE49-F238E27FC236}">
                <ns2:creationId id="{C8031613-79FC-4B1A-ACBB-4FF7D5291D85}"/>
              </a:ext>
            </a:extLst>
          </ns0:cNvPr>
          <ns0:cNvSpPr>
            <a:spLocks noGrp="1"/>
          </ns0:cNvSpPr>
          <ns0:nvPr/>
        </ns0:nvSpPr>
        <ns0:spPr>
          <a:xfrm>
            <a:off x="4776788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MAQNELSON</a:t>
            </a:r>
          </a:p>
        </ns0:txBody>
      </ns0:sp>
      <ns0:sp>
        <ns0:nvSpPr>
          <ns0:cNvPr id="131" name="">
            <a:extLst>
              <a:ext uri="{FF2B5EF4-FFF2-40B4-BE49-F238E27FC236}">
                <ns2:creationId id="{EC2393A2-09D1-4998-9556-1BD8BFC484CF}"/>
              </a:ext>
            </a:extLst>
          </ns0:cNvPr>
          <ns0:cNvSpPr>
            <a:spLocks noGrp="1"/>
          </ns0:cNvSpPr>
          <ns0:nvPr/>
        </ns0:nvSpPr>
        <ns0:spPr>
          <a:xfrm>
            <a:off x="4776788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R$ 100,0 mi</a:t>
            </a:r>
          </a:p>
        </ns0:txBody>
      </ns0:sp>
      <ns0:sp>
        <ns0:nvSpPr>
          <ns0:cNvPr id="132" name="">
            <a:extLst>
              <a:ext uri="{FF2B5EF4-FFF2-40B4-BE49-F238E27FC236}">
                <ns2:creationId id="{FC1210CF-2246-4A1B-9894-886651E9A59B}"/>
              </a:ext>
            </a:extLst>
          </ns0:cNvPr>
          <ns0:cNvSpPr>
            <a:spLocks noGrp="1"/>
          </ns0:cNvSpPr>
          <ns0:nvPr/>
        </ns0:nvSpPr>
        <ns0:spPr>
          <a:xfrm>
            <a:off x="6115050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33" name="">
            <a:extLst>
              <a:ext uri="{FF2B5EF4-FFF2-40B4-BE49-F238E27FC236}">
                <ns2:creationId id="{FC2F44CD-6239-49D4-8735-67572055DDE9}"/>
              </a:ext>
            </a:extLst>
          </ns0:cNvPr>
          <ns0:cNvSpPr>
            <a:spLocks noGrp="1"/>
          </ns0:cNvSpPr>
          <ns0:nvPr/>
        </ns0:nvSpPr>
        <ns0:spPr>
          <a:xfrm>
            <a:off x="6162675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ALTOMAX SEGMENTO RECEBÍVEIS</a:t>
            </a:r>
          </a:p>
        </ns0:txBody>
      </ns0:sp>
      <ns0:sp>
        <ns0:nvSpPr>
          <ns0:cNvPr id="134" name="">
            <a:extLst>
              <a:ext uri="{FF2B5EF4-FFF2-40B4-BE49-F238E27FC236}">
                <ns2:creationId id="{FD24ADA4-0D8E-416C-8E8F-9CB8BEF66896}"/>
              </a:ext>
            </a:extLst>
          </ns0:cNvPr>
          <ns0:cNvSpPr>
            <a:spLocks noGrp="1"/>
          </ns0:cNvSpPr>
          <ns0:nvPr/>
        </ns0:nvSpPr>
        <ns0:spPr>
          <a:xfrm>
            <a:off x="6162675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R$ 89,9 mi</a:t>
            </a:r>
          </a:p>
        </ns0:txBody>
      </ns0:sp>
      <ns0:sp>
        <ns0:nvSpPr>
          <ns0:cNvPr id="135" name="">
            <a:extLst>
              <a:ext uri="{FF2B5EF4-FFF2-40B4-BE49-F238E27FC236}">
                <ns2:creationId id="{51AD4D87-EB9E-4D6F-AEB2-8FBE78366222}"/>
              </a:ext>
            </a:extLst>
          </ns0:cNvPr>
          <ns0:cNvSpPr>
            <a:spLocks noGrp="1"/>
          </ns0:cNvSpPr>
          <ns0:nvPr/>
        </ns0:nvSpPr>
        <ns0:spPr>
          <a:xfrm>
            <a:off x="7500938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36" name="">
            <a:extLst>
              <a:ext uri="{FF2B5EF4-FFF2-40B4-BE49-F238E27FC236}">
                <ns2:creationId id="{256E8EC8-5199-47A9-A852-5B84CE707CDB}"/>
              </a:ext>
            </a:extLst>
          </ns0:cNvPr>
          <ns0:cNvSpPr>
            <a:spLocks noGrp="1"/>
          </ns0:cNvSpPr>
          <ns0:nvPr/>
        </ns0:nvSpPr>
        <ns0:spPr>
          <a:xfrm>
            <a:off x="7548563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INOVA CREDTECH III FIDC</a:t>
            </a:r>
          </a:p>
        </ns0:txBody>
      </ns0:sp>
      <ns0:sp>
        <ns0:nvSpPr>
          <ns0:cNvPr id="137" name="">
            <a:extLst>
              <a:ext uri="{FF2B5EF4-FFF2-40B4-BE49-F238E27FC236}">
                <ns2:creationId id="{3288988A-14FF-4733-9C8F-0041417F0FD2}"/>
              </a:ext>
            </a:extLst>
          </ns0:cNvPr>
          <ns0:cNvSpPr>
            <a:spLocks noGrp="1"/>
          </ns0:cNvSpPr>
          <ns0:nvPr/>
        </ns0:nvSpPr>
        <ns0:spPr>
          <a:xfrm>
            <a:off x="7548563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R$ 86,1 mi</a:t>
            </a:r>
          </a:p>
        </ns0:txBody>
      </ns0:sp>
      <ns0:sp>
        <ns0:nvSpPr>
          <ns0:cNvPr id="138" name="">
            <a:extLst>
              <a:ext uri="{FF2B5EF4-FFF2-40B4-BE49-F238E27FC236}">
                <ns2:creationId id="{28B755AD-7454-4CE4-8899-9E9B16CFC82F}"/>
              </a:ext>
            </a:extLst>
          </ns0:cNvPr>
          <ns0:cNvSpPr>
            <a:spLocks noGrp="1"/>
          </ns0:cNvSpPr>
          <ns0:nvPr/>
        </ns0:nvSpPr>
        <ns0:spPr>
          <a:xfrm>
            <a:off x="8886825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39" name="">
            <a:extLst>
              <a:ext uri="{FF2B5EF4-FFF2-40B4-BE49-F238E27FC236}">
                <ns2:creationId id="{7C8F5C7D-810C-4932-82FD-025525913A80}"/>
              </a:ext>
            </a:extLst>
          </ns0:cNvPr>
          <ns0:cNvSpPr>
            <a:spLocks noGrp="1"/>
          </ns0:cNvSpPr>
          <ns0:nvPr/>
        </ns0:nvSpPr>
        <ns0:spPr>
          <a:xfrm>
            <a:off x="8934450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SOULPAY</a:t>
            </a:r>
          </a:p>
        </ns0:txBody>
      </ns0:sp>
      <ns0:sp>
        <ns0:nvSpPr>
          <ns0:cNvPr id="140" name="">
            <a:extLst>
              <a:ext uri="{FF2B5EF4-FFF2-40B4-BE49-F238E27FC236}">
                <ns2:creationId id="{FE18DF81-4D0B-4437-B4E7-D0998EB1DFE1}"/>
              </a:ext>
            </a:extLst>
          </ns0:cNvPr>
          <ns0:cNvSpPr>
            <a:spLocks noGrp="1"/>
          </ns0:cNvSpPr>
          <ns0:nvPr/>
        </ns0:nvSpPr>
        <ns0:spPr>
          <a:xfrm>
            <a:off x="8934450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R$ 78,4 mi</a:t>
            </a:r>
          </a:p>
        </ns0:txBody>
      </ns0:sp>
      <ns0:sp>
        <ns0:nvSpPr>
          <ns0:cNvPr id="141" name="">
            <a:extLst>
              <a:ext uri="{FF2B5EF4-FFF2-40B4-BE49-F238E27FC236}">
                <ns2:creationId id="{D7E569DD-D1E2-4C90-9338-5255CC9BF24C}"/>
              </a:ext>
            </a:extLst>
          </ns0:cNvPr>
          <ns0:cNvSpPr>
            <a:spLocks noGrp="1"/>
          </ns0:cNvSpPr>
          <ns0:nvPr/>
        </ns0:nvSpPr>
        <ns0:spPr>
          <a:xfrm>
            <a:off x="10272713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42" name="">
            <a:extLst>
              <a:ext uri="{FF2B5EF4-FFF2-40B4-BE49-F238E27FC236}">
                <ns2:creationId id="{F7DDFE14-BE66-461A-9C91-99D34EEEE60E}"/>
              </a:ext>
            </a:extLst>
          </ns0:cNvPr>
          <ns0:cNvSpPr>
            <a:spLocks noGrp="1"/>
          </ns0:cNvSpPr>
          <ns0:nvPr/>
        </ns0:nvSpPr>
        <ns0:spPr>
          <a:xfrm>
            <a:off x="10320338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AGROMERCANTIL CRÉDITO AGRO</a:t>
            </a:r>
          </a:p>
        </ns0:txBody>
      </ns0:sp>
      <ns0:sp>
        <ns0:nvSpPr>
          <ns0:cNvPr id="143" name="">
            <a:extLst>
              <a:ext uri="{FF2B5EF4-FFF2-40B4-BE49-F238E27FC236}">
                <ns2:creationId id="{622126B8-445A-4CCD-9948-581A45319AEE}"/>
              </a:ext>
            </a:extLst>
          </ns0:cNvPr>
          <ns0:cNvSpPr>
            <a:spLocks noGrp="1"/>
          </ns0:cNvSpPr>
          <ns0:nvPr/>
        </ns0:nvSpPr>
        <ns0:spPr>
          <a:xfrm>
            <a:off x="10320338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R$ 68,7 mi</a:t>
            </a:r>
          </a:p>
        </ns0:txBody>
      </ns0:sp>
      <ns0:sp>
        <ns0:nvSpPr>
          <ns0:cNvPr id="144" name="">
            <a:extLst>
              <a:ext uri="{FF2B5EF4-FFF2-40B4-BE49-F238E27FC236}">
                <ns2:creationId id="{64458935-73C1-466A-B478-B53087012D48}"/>
              </a:ext>
            </a:extLst>
          </ns0:cNvPr>
          <ns0:cNvSpPr>
            <a:spLocks noGrp="1"/>
          </ns0:cNvSpPr>
          <ns0:nvPr/>
        </ns0:nvSpPr>
        <ns0:spPr>
          <a:xfrm>
            <a:off x="571500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45" name="">
            <a:extLst>
              <a:ext uri="{FF2B5EF4-FFF2-40B4-BE49-F238E27FC236}">
                <ns2:creationId id="{53DD2DE5-BE37-4D3B-B1EE-FCE491766207}"/>
              </a:ext>
            </a:extLst>
          </ns0:cNvPr>
          <ns0:cNvSpPr>
            <a:spLocks noGrp="1"/>
          </ns0:cNvSpPr>
          <ns0:nvPr/>
        </ns0:nvSpPr>
        <ns0:spPr>
          <a:xfrm>
            <a:off x="619125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CLASSE ÚNICA DO FIDC CRÉDITO</a:t>
            </a:r>
          </a:p>
        </ns0:txBody>
      </ns0:sp>
      <ns0:sp>
        <ns0:nvSpPr>
          <ns0:cNvPr id="146" name="">
            <a:extLst>
              <a:ext uri="{FF2B5EF4-FFF2-40B4-BE49-F238E27FC236}">
                <ns2:creationId id="{AB431192-2BA4-41B0-9096-448FC401B0D5}"/>
              </a:ext>
            </a:extLst>
          </ns0:cNvPr>
          <ns0:cNvSpPr>
            <a:spLocks noGrp="1"/>
          </ns0:cNvSpPr>
          <ns0:nvPr/>
        </ns0:nvSpPr>
        <ns0:spPr>
          <a:xfrm>
            <a:off x="619125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R$ 64,5 mi</a:t>
            </a:r>
          </a:p>
        </ns0:txBody>
      </ns0:sp>
      <ns0:sp>
        <ns0:nvSpPr>
          <ns0:cNvPr id="147" name="">
            <a:extLst>
              <a:ext uri="{FF2B5EF4-FFF2-40B4-BE49-F238E27FC236}">
                <ns2:creationId id="{41A303F6-A111-4D89-BB6E-61873FCD5BAB}"/>
              </a:ext>
            </a:extLst>
          </ns0:cNvPr>
          <ns0:cNvSpPr>
            <a:spLocks noGrp="1"/>
          </ns0:cNvSpPr>
          <ns0:nvPr/>
        </ns0:nvSpPr>
        <ns0:spPr>
          <a:xfrm>
            <a:off x="1957388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48" name="">
            <a:extLst>
              <a:ext uri="{FF2B5EF4-FFF2-40B4-BE49-F238E27FC236}">
                <ns2:creationId id="{7A795647-B665-4410-93D5-57BF21379627}"/>
              </a:ext>
            </a:extLst>
          </ns0:cNvPr>
          <ns0:cNvSpPr>
            <a:spLocks noGrp="1"/>
          </ns0:cNvSpPr>
          <ns0:nvPr/>
        </ns0:nvSpPr>
        <ns0:spPr>
          <a:xfrm>
            <a:off x="2005013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MOBILITAS</a:t>
            </a:r>
          </a:p>
        </ns0:txBody>
      </ns0:sp>
      <ns0:sp>
        <ns0:nvSpPr>
          <ns0:cNvPr id="149" name="">
            <a:extLst>
              <a:ext uri="{FF2B5EF4-FFF2-40B4-BE49-F238E27FC236}">
                <ns2:creationId id="{46CA18E8-C12B-445C-96D1-5D9BB85D04DB}"/>
              </a:ext>
            </a:extLst>
          </ns0:cNvPr>
          <ns0:cNvSpPr>
            <a:spLocks noGrp="1"/>
          </ns0:cNvSpPr>
          <ns0:nvPr/>
        </ns0:nvSpPr>
        <ns0:spPr>
          <a:xfrm>
            <a:off x="2005013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R$ 53,0 mi</a:t>
            </a:r>
          </a:p>
        </ns0:txBody>
      </ns0:sp>
      <ns0:sp>
        <ns0:nvSpPr>
          <ns0:cNvPr id="150" name="">
            <a:extLst>
              <a:ext uri="{FF2B5EF4-FFF2-40B4-BE49-F238E27FC236}">
                <ns2:creationId id="{0F5EB5B6-F494-4BBE-91EF-E7B84A916B17}"/>
              </a:ext>
            </a:extLst>
          </ns0:cNvPr>
          <ns0:cNvSpPr>
            <a:spLocks noGrp="1"/>
          </ns0:cNvSpPr>
          <ns0:nvPr/>
        </ns0:nvSpPr>
        <ns0:spPr>
          <a:xfrm>
            <a:off x="3343275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51" name="">
            <a:extLst>
              <a:ext uri="{FF2B5EF4-FFF2-40B4-BE49-F238E27FC236}">
                <ns2:creationId id="{D965EC56-57B1-44EE-828D-4662A808AA81}"/>
              </a:ext>
            </a:extLst>
          </ns0:cNvPr>
          <ns0:cNvSpPr>
            <a:spLocks noGrp="1"/>
          </ns0:cNvSpPr>
          <ns0:nvPr/>
        </ns0:nvSpPr>
        <ns0:spPr>
          <a:xfrm>
            <a:off x="3390900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BLUE II SEGMENTO CRÉDITO</a:t>
            </a:r>
          </a:p>
        </ns0:txBody>
      </ns0:sp>
      <ns0:sp>
        <ns0:nvSpPr>
          <ns0:cNvPr id="152" name="">
            <a:extLst>
              <a:ext uri="{FF2B5EF4-FFF2-40B4-BE49-F238E27FC236}">
                <ns2:creationId id="{2920CFD4-2887-4EFC-BA4F-48FFA6EAD90B}"/>
              </a:ext>
            </a:extLst>
          </ns0:cNvPr>
          <ns0:cNvSpPr>
            <a:spLocks noGrp="1"/>
          </ns0:cNvSpPr>
          <ns0:nvPr/>
        </ns0:nvSpPr>
        <ns0:spPr>
          <a:xfrm>
            <a:off x="3390900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R$ 44,0 mi</a:t>
            </a:r>
          </a:p>
        </ns0:txBody>
      </ns0:sp>
      <ns0:sp>
        <ns0:nvSpPr>
          <ns0:cNvPr id="153" name="">
            <a:extLst>
              <a:ext uri="{FF2B5EF4-FFF2-40B4-BE49-F238E27FC236}">
                <ns2:creationId id="{2CBAC91F-60C0-475E-B9BC-FE774CD02072}"/>
              </a:ext>
            </a:extLst>
          </ns0:cNvPr>
          <ns0:cNvSpPr>
            <a:spLocks noGrp="1"/>
          </ns0:cNvSpPr>
          <ns0:nvPr/>
        </ns0:nvSpPr>
        <ns0:spPr>
          <a:xfrm>
            <a:off x="4729163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54" name="">
            <a:extLst>
              <a:ext uri="{FF2B5EF4-FFF2-40B4-BE49-F238E27FC236}">
                <ns2:creationId id="{967DEE5C-178D-4707-BFF6-FE4F40555A53}"/>
              </a:ext>
            </a:extLst>
          </ns0:cNvPr>
          <ns0:cNvSpPr>
            <a:spLocks noGrp="1"/>
          </ns0:cNvSpPr>
          <ns0:nvPr/>
        </ns0:nvSpPr>
        <ns0:spPr>
          <a:xfrm>
            <a:off x="4776788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FARM TECH IBBA I</a:t>
            </a:r>
          </a:p>
        </ns0:txBody>
      </ns0:sp>
      <ns0:sp>
        <ns0:nvSpPr>
          <ns0:cNvPr id="155" name="">
            <a:extLst>
              <a:ext uri="{FF2B5EF4-FFF2-40B4-BE49-F238E27FC236}">
                <ns2:creationId id="{4E66834C-224B-4C26-8B6F-1DB9CAE2C9C2}"/>
              </a:ext>
            </a:extLst>
          </ns0:cNvPr>
          <ns0:cNvSpPr>
            <a:spLocks noGrp="1"/>
          </ns0:cNvSpPr>
          <ns0:nvPr/>
        </ns0:nvSpPr>
        <ns0:spPr>
          <a:xfrm>
            <a:off x="4776788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R$ 9,4 mi</a:t>
            </a:r>
          </a:p>
        </ns0:txBody>
      </ns0:sp>
      <ns0:sp>
        <ns0:nvSpPr>
          <ns0:cNvPr id="156" name="">
            <a:extLst>
              <a:ext uri="{FF2B5EF4-FFF2-40B4-BE49-F238E27FC236}">
                <ns2:creationId id="{F36A3CDA-94EE-433C-84ED-FA445013EF30}"/>
              </a:ext>
            </a:extLst>
          </ns0:cNvPr>
          <ns0:cNvSpPr>
            <a:spLocks noGrp="1"/>
          </ns0:cNvSpPr>
          <ns0:nvPr/>
        </ns0:nvSpPr>
        <ns0:spPr>
          <a:xfrm>
            <a:off x="6115050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57" name="">
            <a:extLst>
              <a:ext uri="{FF2B5EF4-FFF2-40B4-BE49-F238E27FC236}">
                <ns2:creationId id="{DC5AC7D1-BB86-41BD-B8E3-AFF78177E661}"/>
              </a:ext>
            </a:extLst>
          </ns0:cNvPr>
          <ns0:cNvSpPr>
            <a:spLocks noGrp="1"/>
          </ns0:cNvSpPr>
          <ns0:nvPr/>
        </ns0:nvSpPr>
        <ns0:spPr>
          <a:xfrm>
            <a:off x="6162675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TALÓ 1</a:t>
            </a:r>
          </a:p>
        </ns0:txBody>
      </ns0:sp>
      <ns0:sp>
        <ns0:nvSpPr>
          <ns0:cNvPr id="158" name="">
            <a:extLst>
              <a:ext uri="{FF2B5EF4-FFF2-40B4-BE49-F238E27FC236}">
                <ns2:creationId id="{A6604481-88F2-467E-A0A6-CB1B1BCE47AC}"/>
              </a:ext>
            </a:extLst>
          </ns0:cNvPr>
          <ns0:cNvSpPr>
            <a:spLocks noGrp="1"/>
          </ns0:cNvSpPr>
          <ns0:nvPr/>
        </ns0:nvSpPr>
        <ns0:spPr>
          <a:xfrm>
            <a:off x="6162675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R$ 7,0 mi</a:t>
            </a:r>
          </a:p>
        </ns0:txBody>
      </ns0:sp>
      <ns0:sp>
        <ns0:nvSpPr>
          <ns0:cNvPr id="159" name="">
            <a:extLst>
              <a:ext uri="{FF2B5EF4-FFF2-40B4-BE49-F238E27FC236}">
                <ns2:creationId id="{7E4FEE40-CC51-4FD0-8C4F-CA4C8EDBD53C}"/>
              </a:ext>
            </a:extLst>
          </ns0:cNvPr>
          <ns0:cNvSpPr>
            <a:spLocks noGrp="1"/>
          </ns0:cNvSpPr>
          <ns0:nvPr/>
        </ns0:nvSpPr>
        <ns0:spPr>
          <a:xfrm>
            <a:off x="7500938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60" name="">
            <a:extLst>
              <a:ext uri="{FF2B5EF4-FFF2-40B4-BE49-F238E27FC236}">
                <ns2:creationId id="{59875045-08C9-440E-9080-8F0347208EBA}"/>
              </a:ext>
            </a:extLst>
          </ns0:cNvPr>
          <ns0:cNvSpPr>
            <a:spLocks noGrp="1"/>
          </ns0:cNvSpPr>
          <ns0:nvPr/>
        </ns0:nvSpPr>
        <ns0:spPr>
          <a:xfrm>
            <a:off x="7548563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AGRO BR</a:t>
            </a:r>
          </a:p>
        </ns0:txBody>
      </ns0:sp>
      <ns0:sp>
        <ns0:nvSpPr>
          <ns0:cNvPr id="161" name="">
            <a:extLst>
              <a:ext uri="{FF2B5EF4-FFF2-40B4-BE49-F238E27FC236}">
                <ns2:creationId id="{FD8C5734-CAA0-4CEF-BB90-6F33C5D77E62}"/>
              </a:ext>
            </a:extLst>
          </ns0:cNvPr>
          <ns0:cNvSpPr>
            <a:spLocks noGrp="1"/>
          </ns0:cNvSpPr>
          <ns0:nvPr/>
        </ns0:nvSpPr>
        <ns0:spPr>
          <a:xfrm>
            <a:off x="7548563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R$ 0,6 mi</a:t>
            </a:r>
          </a:p>
        </ns0:txBody>
      </ns0:sp>
      <ns0:sp>
        <ns0:nvSpPr>
          <ns0:cNvPr id="162" name="">
            <a:extLst>
              <a:ext uri="{FF2B5EF4-FFF2-40B4-BE49-F238E27FC236}">
                <ns2:creationId id="{4AC488CA-30A0-4E66-8E90-3E05BC6B7B8B}"/>
              </a:ext>
            </a:extLst>
          </ns0:cNvPr>
          <ns0:cNvSpPr>
            <a:spLocks noGrp="1"/>
          </ns0:cNvSpPr>
          <ns0:nvPr/>
        </ns0:nvSpPr>
        <ns0:spPr>
          <a:xfrm>
            <a:off x="8886825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63" name="">
            <a:extLst>
              <a:ext uri="{FF2B5EF4-FFF2-40B4-BE49-F238E27FC236}">
                <ns2:creationId id="{984ACF45-5F2E-444D-891C-52BCCBDCEDD6}"/>
              </a:ext>
            </a:extLst>
          </ns0:cNvPr>
          <ns0:cNvSpPr>
            <a:spLocks noGrp="1"/>
          </ns0:cNvSpPr>
          <ns0:nvPr/>
        </ns0:nvSpPr>
        <ns0:spPr>
          <a:xfrm>
            <a:off x="8934450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AGRICONNECTION FIAGRO</a:t>
            </a:r>
          </a:p>
        </ns0:txBody>
      </ns0:sp>
      <ns0:sp>
        <ns0:nvSpPr>
          <ns0:cNvPr id="164" name="">
            <a:extLst>
              <a:ext uri="{FF2B5EF4-FFF2-40B4-BE49-F238E27FC236}">
                <ns2:creationId id="{69EA09CB-CADB-40CA-BFA7-84776A62AFF4}"/>
              </a:ext>
            </a:extLst>
          </ns0:cNvPr>
          <ns0:cNvSpPr>
            <a:spLocks noGrp="1"/>
          </ns0:cNvSpPr>
          <ns0:nvPr/>
        </ns0:nvSpPr>
        <ns0:spPr>
          <a:xfrm>
            <a:off x="8934450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65" name="">
            <a:extLst>
              <a:ext uri="{FF2B5EF4-FFF2-40B4-BE49-F238E27FC236}">
                <ns2:creationId id="{BF937042-A993-4E4E-B943-D6690C4DE526}"/>
              </a:ext>
            </a:extLst>
          </ns0:cNvPr>
          <ns0:cNvSpPr>
            <a:spLocks noGrp="1"/>
          </ns0:cNvSpPr>
          <ns0:nvPr/>
        </ns0:nvSpPr>
        <ns0:spPr>
          <a:xfrm>
            <a:off x="10272713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66" name="">
            <a:extLst>
              <a:ext uri="{FF2B5EF4-FFF2-40B4-BE49-F238E27FC236}">
                <ns2:creationId id="{6C8E5FAD-9453-4797-BF53-A9296AD1AC5C}"/>
              </a:ext>
            </a:extLst>
          </ns0:cNvPr>
          <ns0:cNvSpPr>
            <a:spLocks noGrp="1"/>
          </ns0:cNvSpPr>
          <ns0:nvPr/>
        </ns0:nvSpPr>
        <ns0:spPr>
          <a:xfrm>
            <a:off x="10320338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BOASAFRA DO AGRONEGÓCIO</a:t>
            </a:r>
          </a:p>
        </ns0:txBody>
      </ns0:sp>
      <ns0:sp>
        <ns0:nvSpPr>
          <ns0:cNvPr id="167" name="">
            <a:extLst>
              <a:ext uri="{FF2B5EF4-FFF2-40B4-BE49-F238E27FC236}">
                <ns2:creationId id="{A3B6CACD-78C8-4B76-831F-10778237EB48}"/>
              </a:ext>
            </a:extLst>
          </ns0:cNvPr>
          <ns0:cNvSpPr>
            <a:spLocks noGrp="1"/>
          </ns0:cNvSpPr>
          <ns0:nvPr/>
        </ns0:nvSpPr>
        <ns0:spPr>
          <a:xfrm>
            <a:off x="10320338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68" name="">
            <a:extLst>
              <a:ext uri="{FF2B5EF4-FFF2-40B4-BE49-F238E27FC236}">
                <ns2:creationId id="{86933F1D-4CB7-4B54-AEBC-A56F88A7A849}"/>
              </a:ext>
            </a:extLst>
          </ns0:cNvPr>
          <ns0:cNvSpPr>
            <a:spLocks noGrp="1"/>
          </ns0:cNvSpPr>
          <ns0:nvPr/>
        </ns0:nvSpPr>
        <ns0:spPr>
          <a:xfrm>
            <a:off x="571500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69" name="">
            <a:extLst>
              <a:ext uri="{FF2B5EF4-FFF2-40B4-BE49-F238E27FC236}">
                <ns2:creationId id="{6CF347C8-0144-4549-BCDC-2D400684C8C7}"/>
              </a:ext>
            </a:extLst>
          </ns0:cNvPr>
          <ns0:cNvSpPr>
            <a:spLocks noGrp="1"/>
          </ns0:cNvSpPr>
          <ns0:nvPr/>
        </ns0:nvSpPr>
        <ns0:spPr>
          <a:xfrm>
            <a:off x="619125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CHEMICAL XIII - - INDÚSTRIA</a:t>
            </a:r>
          </a:p>
        </ns0:txBody>
      </ns0:sp>
      <ns0:sp>
        <ns0:nvSpPr>
          <ns0:cNvPr id="170" name="">
            <a:extLst>
              <a:ext uri="{FF2B5EF4-FFF2-40B4-BE49-F238E27FC236}">
                <ns2:creationId id="{AD997033-A2C4-4D67-8ED2-CEF212D23AC7}"/>
              </a:ext>
            </a:extLst>
          </ns0:cNvPr>
          <ns0:cNvSpPr>
            <a:spLocks noGrp="1"/>
          </ns0:cNvSpPr>
          <ns0:nvPr/>
        </ns0:nvSpPr>
        <ns0:spPr>
          <a:xfrm>
            <a:off x="619125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71" name="">
            <a:extLst>
              <a:ext uri="{FF2B5EF4-FFF2-40B4-BE49-F238E27FC236}">
                <ns2:creationId id="{FA808BC7-C5F3-4499-A8BF-C7563DECCB81}"/>
              </a:ext>
            </a:extLst>
          </ns0:cNvPr>
          <ns0:cNvSpPr>
            <a:spLocks noGrp="1"/>
          </ns0:cNvSpPr>
          <ns0:nvPr/>
        </ns0:nvSpPr>
        <ns0:spPr>
          <a:xfrm>
            <a:off x="1957388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72" name="">
            <a:extLst>
              <a:ext uri="{FF2B5EF4-FFF2-40B4-BE49-F238E27FC236}">
                <ns2:creationId id="{0AA8A5CB-DA48-4F99-BDD6-80807F1C66FC}"/>
              </a:ext>
            </a:extLst>
          </ns0:cNvPr>
          <ns0:cNvSpPr>
            <a:spLocks noGrp="1"/>
          </ns0:cNvSpPr>
          <ns0:nvPr/>
        </ns0:nvSpPr>
        <ns0:spPr>
          <a:xfrm>
            <a:off x="2005013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ESTRATÉGIA EDUCACIONAL</a:t>
            </a:r>
          </a:p>
        </ns0:txBody>
      </ns0:sp>
      <ns0:sp>
        <ns0:nvSpPr>
          <ns0:cNvPr id="173" name="">
            <a:extLst>
              <a:ext uri="{FF2B5EF4-FFF2-40B4-BE49-F238E27FC236}">
                <ns2:creationId id="{64425706-CC8B-4E71-9D38-85C9E058D6A3}"/>
              </a:ext>
            </a:extLst>
          </ns0:cNvPr>
          <ns0:cNvSpPr>
            <a:spLocks noGrp="1"/>
          </ns0:cNvSpPr>
          <ns0:nvPr/>
        </ns0:nvSpPr>
        <ns0:spPr>
          <a:xfrm>
            <a:off x="2005013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74" name="">
            <a:extLst>
              <a:ext uri="{FF2B5EF4-FFF2-40B4-BE49-F238E27FC236}">
                <ns2:creationId id="{6D5E5BC9-7312-4A6F-9039-6ED74373BD99}"/>
              </a:ext>
            </a:extLst>
          </ns0:cNvPr>
          <ns0:cNvSpPr>
            <a:spLocks noGrp="1"/>
          </ns0:cNvSpPr>
          <ns0:nvPr/>
        </ns0:nvSpPr>
        <ns0:spPr>
          <a:xfrm>
            <a:off x="3343275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75" name="">
            <a:extLst>
              <a:ext uri="{FF2B5EF4-FFF2-40B4-BE49-F238E27FC236}">
                <ns2:creationId id="{81B418A3-7115-4F9A-871D-AB5974488B94}"/>
              </a:ext>
            </a:extLst>
          </ns0:cNvPr>
          <ns0:cNvSpPr>
            <a:spLocks noGrp="1"/>
          </ns0:cNvSpPr>
          <ns0:nvPr/>
        </ns0:nvSpPr>
        <ns0:spPr>
          <a:xfrm>
            <a:off x="3390900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FARMTECH SYNGENTA</a:t>
            </a:r>
          </a:p>
        </ns0:txBody>
      </ns0:sp>
      <ns0:sp>
        <ns0:nvSpPr>
          <ns0:cNvPr id="176" name="">
            <a:extLst>
              <a:ext uri="{FF2B5EF4-FFF2-40B4-BE49-F238E27FC236}">
                <ns2:creationId id="{D5AD8E5E-AFD9-4A51-BDD1-A5E73A3D8AEC}"/>
              </a:ext>
            </a:extLst>
          </ns0:cNvPr>
          <ns0:cNvSpPr>
            <a:spLocks noGrp="1"/>
          </ns0:cNvSpPr>
          <ns0:nvPr/>
        </ns0:nvSpPr>
        <ns0:spPr>
          <a:xfrm>
            <a:off x="3390900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77" name="">
            <a:extLst>
              <a:ext uri="{FF2B5EF4-FFF2-40B4-BE49-F238E27FC236}">
                <ns2:creationId id="{158A74CE-A3E6-41CB-8675-526601E38DD6}"/>
              </a:ext>
            </a:extLst>
          </ns0:cNvPr>
          <ns0:cNvSpPr>
            <a:spLocks noGrp="1"/>
          </ns0:cNvSpPr>
          <ns0:nvPr/>
        </ns0:nvSpPr>
        <ns0:spPr>
          <a:xfrm>
            <a:off x="4729163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78" name="">
            <a:extLst>
              <a:ext uri="{FF2B5EF4-FFF2-40B4-BE49-F238E27FC236}">
                <ns2:creationId id="{33FC9B32-4756-4436-AAE8-6A004F4FFEA9}"/>
              </a:ext>
            </a:extLst>
          </ns0:cNvPr>
          <ns0:cNvSpPr>
            <a:spLocks noGrp="1"/>
          </ns0:cNvSpPr>
          <ns0:nvPr/>
        </ns0:nvSpPr>
        <ns0:spPr>
          <a:xfrm>
            <a:off x="4776788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FATOR TARKEN FIAGRO</a:t>
            </a:r>
          </a:p>
        </ns0:txBody>
      </ns0:sp>
      <ns0:sp>
        <ns0:nvSpPr>
          <ns0:cNvPr id="179" name="">
            <a:extLst>
              <a:ext uri="{FF2B5EF4-FFF2-40B4-BE49-F238E27FC236}">
                <ns2:creationId id="{A83FED97-6F96-47F2-B367-64A64EA770B6}"/>
              </a:ext>
            </a:extLst>
          </ns0:cNvPr>
          <ns0:cNvSpPr>
            <a:spLocks noGrp="1"/>
          </ns0:cNvSpPr>
          <ns0:nvPr/>
        </ns0:nvSpPr>
        <ns0:spPr>
          <a:xfrm>
            <a:off x="4776788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80" name="">
            <a:extLst>
              <a:ext uri="{FF2B5EF4-FFF2-40B4-BE49-F238E27FC236}">
                <ns2:creationId id="{2E9F09B6-1B03-42AA-A9C8-0877C5C0E029}"/>
              </a:ext>
            </a:extLst>
          </ns0:cNvPr>
          <ns0:cNvSpPr>
            <a:spLocks noGrp="1"/>
          </ns0:cNvSpPr>
          <ns0:nvPr/>
        </ns0:nvSpPr>
        <ns0:spPr>
          <a:xfrm>
            <a:off x="6115050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81" name="">
            <a:extLst>
              <a:ext uri="{FF2B5EF4-FFF2-40B4-BE49-F238E27FC236}">
                <ns2:creationId id="{0816F40F-B0C7-4587-A82C-81C9369D29B2}"/>
              </a:ext>
            </a:extLst>
          </ns0:cNvPr>
          <ns0:cNvSpPr>
            <a:spLocks noGrp="1"/>
          </ns0:cNvSpPr>
          <ns0:nvPr/>
        </ns0:nvSpPr>
        <ns0:spPr>
          <a:xfrm>
            <a:off x="6162675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ASAAS II</a:t>
            </a:r>
          </a:p>
        </ns0:txBody>
      </ns0:sp>
      <ns0:sp>
        <ns0:nvSpPr>
          <ns0:cNvPr id="182" name="">
            <a:extLst>
              <a:ext uri="{FF2B5EF4-FFF2-40B4-BE49-F238E27FC236}">
                <ns2:creationId id="{03DCC87C-555B-4433-B628-64C00F78118E}"/>
              </a:ext>
            </a:extLst>
          </ns0:cNvPr>
          <ns0:cNvSpPr>
            <a:spLocks noGrp="1"/>
          </ns0:cNvSpPr>
          <ns0:nvPr/>
        </ns0:nvSpPr>
        <ns0:spPr>
          <a:xfrm>
            <a:off x="6162675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83" name="">
            <a:extLst>
              <a:ext uri="{FF2B5EF4-FFF2-40B4-BE49-F238E27FC236}">
                <ns2:creationId id="{4DF282A0-4A6A-4478-96F4-94B6587DDA0B}"/>
              </a:ext>
            </a:extLst>
          </ns0:cNvPr>
          <ns0:cNvSpPr>
            <a:spLocks noGrp="1"/>
          </ns0:cNvSpPr>
          <ns0:nvPr/>
        </ns0:nvSpPr>
        <ns0:spPr>
          <a:xfrm>
            <a:off x="7500938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84" name="">
            <a:extLst>
              <a:ext uri="{FF2B5EF4-FFF2-40B4-BE49-F238E27FC236}">
                <ns2:creationId id="{FD227A86-FED6-4CB7-9713-021F3F1C6628}"/>
              </a:ext>
            </a:extLst>
          </ns0:cNvPr>
          <ns0:cNvSpPr>
            <a:spLocks noGrp="1"/>
          </ns0:cNvSpPr>
          <ns0:nvPr/>
        </ns0:nvSpPr>
        <ns0:spPr>
          <a:xfrm>
            <a:off x="7548563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LIVERPOOL</a:t>
            </a:r>
          </a:p>
        </ns0:txBody>
      </ns0:sp>
      <ns0:sp>
        <ns0:nvSpPr>
          <ns0:cNvPr id="185" name="">
            <a:extLst>
              <a:ext uri="{FF2B5EF4-FFF2-40B4-BE49-F238E27FC236}">
                <ns2:creationId id="{32AB4C91-7E67-4372-BF00-595F160E2F4E}"/>
              </a:ext>
            </a:extLst>
          </ns0:cNvPr>
          <ns0:cNvSpPr>
            <a:spLocks noGrp="1"/>
          </ns0:cNvSpPr>
          <ns0:nvPr/>
        </ns0:nvSpPr>
        <ns0:spPr>
          <a:xfrm>
            <a:off x="7548563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86" name="">
            <a:extLst>
              <a:ext uri="{FF2B5EF4-FFF2-40B4-BE49-F238E27FC236}">
                <ns2:creationId id="{14B4C375-1374-4D80-B287-59B4B0EA1CA3}"/>
              </a:ext>
            </a:extLst>
          </ns0:cNvPr>
          <ns0:cNvSpPr>
            <a:spLocks noGrp="1"/>
          </ns0:cNvSpPr>
          <ns0:nvPr/>
        </ns0:nvSpPr>
        <ns0:spPr>
          <a:xfrm>
            <a:off x="8886825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87" name="">
            <a:extLst>
              <a:ext uri="{FF2B5EF4-FFF2-40B4-BE49-F238E27FC236}">
                <ns2:creationId id="{575DB175-8E56-4910-8D6E-9B35A07CC907}"/>
              </a:ext>
            </a:extLst>
          </ns0:cNvPr>
          <ns0:cNvSpPr>
            <a:spLocks noGrp="1"/>
          </ns0:cNvSpPr>
          <ns0:nvPr/>
        </ns0:nvSpPr>
        <ns0:spPr>
          <a:xfrm>
            <a:off x="8934450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 DE INVESTIMENTO NAS</a:t>
            </a:r>
          </a:p>
        </ns0:txBody>
      </ns0:sp>
      <ns0:sp>
        <ns0:nvSpPr>
          <ns0:cNvPr id="188" name="">
            <a:extLst>
              <a:ext uri="{FF2B5EF4-FFF2-40B4-BE49-F238E27FC236}">
                <ns2:creationId id="{2CEF04EE-4DFD-487D-B6C4-D42CF6D4A718}"/>
              </a:ext>
            </a:extLst>
          </ns0:cNvPr>
          <ns0:cNvSpPr>
            <a:spLocks noGrp="1"/>
          </ns0:cNvSpPr>
          <ns0:nvPr/>
        </ns0:nvSpPr>
        <ns0:spPr>
          <a:xfrm>
            <a:off x="8934450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89" name="">
            <a:extLst>
              <a:ext uri="{FF2B5EF4-FFF2-40B4-BE49-F238E27FC236}">
                <ns2:creationId id="{C53837B2-CC05-47C7-8C05-684F74DE7D8F}"/>
              </a:ext>
            </a:extLst>
          </ns0:cNvPr>
          <ns0:cNvSpPr>
            <a:spLocks noGrp="1"/>
          </ns0:cNvSpPr>
          <ns0:nvPr/>
        </ns0:nvSpPr>
        <ns0:spPr>
          <a:xfrm>
            <a:off x="10272713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90" name="">
            <a:extLst>
              <a:ext uri="{FF2B5EF4-FFF2-40B4-BE49-F238E27FC236}">
                <ns2:creationId id="{C140260C-F838-470E-AB55-85D96085AAB3}"/>
              </a:ext>
            </a:extLst>
          </ns0:cNvPr>
          <ns0:cNvSpPr>
            <a:spLocks noGrp="1"/>
          </ns0:cNvSpPr>
          <ns0:nvPr/>
        </ns0:nvSpPr>
        <ns0:spPr>
          <a:xfrm>
            <a:off x="10320338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HELM FUNDO DE INVESTIMENTO</a:t>
            </a:r>
          </a:p>
        </ns0:txBody>
      </ns0:sp>
      <ns0:sp>
        <ns0:nvSpPr>
          <ns0:cNvPr id="191" name="">
            <a:extLst>
              <a:ext uri="{FF2B5EF4-FFF2-40B4-BE49-F238E27FC236}">
                <ns2:creationId id="{C413A509-1461-45B9-9B5C-F7119ADE0624}"/>
              </a:ext>
            </a:extLst>
          </ns0:cNvPr>
          <ns0:cNvSpPr>
            <a:spLocks noGrp="1"/>
          </ns0:cNvSpPr>
          <ns0:nvPr/>
        </ns0:nvSpPr>
        <ns0:spPr>
          <a:xfrm>
            <a:off x="10320338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92" name="">
            <a:extLst>
              <a:ext uri="{FF2B5EF4-FFF2-40B4-BE49-F238E27FC236}">
                <ns2:creationId id="{8F7B1573-2A5D-4233-85E1-1D8189793441}"/>
              </a:ext>
            </a:extLst>
          </ns0:cNvPr>
          <ns0:cNvSpPr>
            <a:spLocks noGrp="1"/>
          </ns0:cNvSpPr>
          <ns0:nvPr/>
        </ns0:nvSpPr>
        <ns0:spPr>
          <a:xfrm>
            <a:off x="571500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93" name="">
            <a:extLst>
              <a:ext uri="{FF2B5EF4-FFF2-40B4-BE49-F238E27FC236}">
                <ns2:creationId id="{73ADAEBF-4676-4333-BCA2-9487B710ED82}"/>
              </a:ext>
            </a:extLst>
          </ns0:cNvPr>
          <ns0:cNvSpPr>
            <a:spLocks noGrp="1"/>
          </ns0:cNvSpPr>
          <ns0:nvPr/>
        </ns0:nvSpPr>
        <ns0:spPr>
          <a:xfrm>
            <a:off x="619125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LAVORO AGRO FIAGRO -</a:t>
            </a:r>
          </a:p>
        </ns0:txBody>
      </ns0:sp>
      <ns0:sp>
        <ns0:nvSpPr>
          <ns0:cNvPr id="194" name="">
            <a:extLst>
              <a:ext uri="{FF2B5EF4-FFF2-40B4-BE49-F238E27FC236}">
                <ns2:creationId id="{33E8EE9F-93E7-4B3A-8593-C6C0E4E79716}"/>
              </a:ext>
            </a:extLst>
          </ns0:cNvPr>
          <ns0:cNvSpPr>
            <a:spLocks noGrp="1"/>
          </ns0:cNvSpPr>
          <ns0:nvPr/>
        </ns0:nvSpPr>
        <ns0:spPr>
          <a:xfrm>
            <a:off x="619125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95" name="">
            <a:extLst>
              <a:ext uri="{FF2B5EF4-FFF2-40B4-BE49-F238E27FC236}">
                <ns2:creationId id="{52C669C2-4670-4BF3-BC38-6FCB59D00825}"/>
              </a:ext>
            </a:extLst>
          </ns0:cNvPr>
          <ns0:cNvSpPr>
            <a:spLocks noGrp="1"/>
          </ns0:cNvSpPr>
          <ns0:nvPr/>
        </ns0:nvSpPr>
        <ns0:spPr>
          <a:xfrm>
            <a:off x="1957388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96" name="">
            <a:extLst>
              <a:ext uri="{FF2B5EF4-FFF2-40B4-BE49-F238E27FC236}">
                <ns2:creationId id="{2AAC407D-0D99-4CFD-86D5-36E1F8539161}"/>
              </a:ext>
            </a:extLst>
          </ns0:cNvPr>
          <ns0:cNvSpPr>
            <a:spLocks noGrp="1"/>
          </ns0:cNvSpPr>
          <ns0:nvPr/>
        </ns0:nvSpPr>
        <ns0:spPr>
          <a:xfrm>
            <a:off x="2005013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LAVORO AGRO II FIAGRO -</a:t>
            </a:r>
          </a:p>
        </ns0:txBody>
      </ns0:sp>
      <ns0:sp>
        <ns0:nvSpPr>
          <ns0:cNvPr id="197" name="">
            <a:extLst>
              <a:ext uri="{FF2B5EF4-FFF2-40B4-BE49-F238E27FC236}">
                <ns2:creationId id="{562C8431-A4CC-4B31-9606-E147AE093F88}"/>
              </a:ext>
            </a:extLst>
          </ns0:cNvPr>
          <ns0:cNvSpPr>
            <a:spLocks noGrp="1"/>
          </ns0:cNvSpPr>
          <ns0:nvPr/>
        </ns0:nvSpPr>
        <ns0:spPr>
          <a:xfrm>
            <a:off x="2005013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98" name="">
            <a:extLst>
              <a:ext uri="{FF2B5EF4-FFF2-40B4-BE49-F238E27FC236}">
                <ns2:creationId id="{A5154264-6788-4664-BD0E-CA9155B99D74}"/>
              </a:ext>
            </a:extLst>
          </ns0:cNvPr>
          <ns0:cNvSpPr>
            <a:spLocks noGrp="1"/>
          </ns0:cNvSpPr>
          <ns0:nvPr/>
        </ns0:nvSpPr>
        <ns0:spPr>
          <a:xfrm>
            <a:off x="3343275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99" name="">
            <a:extLst>
              <a:ext uri="{FF2B5EF4-FFF2-40B4-BE49-F238E27FC236}">
                <ns2:creationId id="{38589E11-EA19-4162-B6C4-B06E5BF3AAC9}"/>
              </a:ext>
            </a:extLst>
          </ns0:cNvPr>
          <ns0:cNvSpPr>
            <a:spLocks noGrp="1"/>
          </ns0:cNvSpPr>
          <ns0:nvPr/>
        </ns0:nvSpPr>
        <ns0:spPr>
          <a:xfrm>
            <a:off x="3390900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NAGRO OIKOS FUNDO DE</a:t>
            </a:r>
          </a:p>
        </ns0:txBody>
      </ns0:sp>
      <ns0:sp>
        <ns0:nvSpPr>
          <ns0:cNvPr id="200" name="">
            <a:extLst>
              <a:ext uri="{FF2B5EF4-FFF2-40B4-BE49-F238E27FC236}">
                <ns2:creationId id="{7D22BCEE-F7E6-4D29-818E-DD8FECAE4605}"/>
              </a:ext>
            </a:extLst>
          </ns0:cNvPr>
          <ns0:cNvSpPr>
            <a:spLocks noGrp="1"/>
          </ns0:cNvSpPr>
          <ns0:nvPr/>
        </ns0:nvSpPr>
        <ns0:spPr>
          <a:xfrm>
            <a:off x="3390900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01" name="">
            <a:extLst>
              <a:ext uri="{FF2B5EF4-FFF2-40B4-BE49-F238E27FC236}">
                <ns2:creationId id="{C40908A5-DD64-467D-84EE-6B2EDF843EDF}"/>
              </a:ext>
            </a:extLst>
          </ns0:cNvPr>
          <ns0:cNvSpPr>
            <a:spLocks noGrp="1"/>
          </ns0:cNvSpPr>
          <ns0:nvPr/>
        </ns0:nvSpPr>
        <ns0:spPr>
          <a:xfrm>
            <a:off x="4729163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202" name="">
            <a:extLst>
              <a:ext uri="{FF2B5EF4-FFF2-40B4-BE49-F238E27FC236}">
                <ns2:creationId id="{13B347E3-1C3D-4AD7-A3D9-2FFB1CDBCB6C}"/>
              </a:ext>
            </a:extLst>
          </ns0:cNvPr>
          <ns0:cNvSpPr>
            <a:spLocks noGrp="1"/>
          </ns0:cNvSpPr>
          <ns0:nvPr/>
        </ns0:nvSpPr>
        <ns0:spPr>
          <a:xfrm>
            <a:off x="4776788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PONTO RURAL FIAGRO</a:t>
            </a:r>
          </a:p>
        </ns0:txBody>
      </ns0:sp>
      <ns0:sp>
        <ns0:nvSpPr>
          <ns0:cNvPr id="203" name="">
            <a:extLst>
              <a:ext uri="{FF2B5EF4-FFF2-40B4-BE49-F238E27FC236}">
                <ns2:creationId id="{D157E1E2-30FF-45F2-9241-456849A73689}"/>
              </a:ext>
            </a:extLst>
          </ns0:cNvPr>
          <ns0:cNvSpPr>
            <a:spLocks noGrp="1"/>
          </ns0:cNvSpPr>
          <ns0:nvPr/>
        </ns0:nvSpPr>
        <ns0:spPr>
          <a:xfrm>
            <a:off x="4776788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04" name="">
            <a:extLst>
              <a:ext uri="{FF2B5EF4-FFF2-40B4-BE49-F238E27FC236}">
                <ns2:creationId id="{E57311F9-0249-4146-B299-8EB6A40DEE38}"/>
              </a:ext>
            </a:extLst>
          </ns0:cNvPr>
          <ns0:cNvSpPr>
            <a:spLocks noGrp="1"/>
          </ns0:cNvSpPr>
          <ns0:nvPr/>
        </ns0:nvSpPr>
        <ns0:spPr>
          <a:xfrm>
            <a:off x="6115050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205" name="">
            <a:extLst>
              <a:ext uri="{FF2B5EF4-FFF2-40B4-BE49-F238E27FC236}">
                <ns2:creationId id="{17ACA027-20A4-4C8E-907D-47D5C17E1C2D}"/>
              </a:ext>
            </a:extLst>
          </ns0:cNvPr>
          <ns0:cNvSpPr>
            <a:spLocks noGrp="1"/>
          </ns0:cNvSpPr>
          <ns0:nvPr/>
        </ns0:nvSpPr>
        <ns0:spPr>
          <a:xfrm>
            <a:off x="6162675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TMAQ 21 DE ARRANJOS DE</a:t>
            </a:r>
          </a:p>
        </ns0:txBody>
      </ns0:sp>
      <ns0:sp>
        <ns0:nvSpPr>
          <ns0:cNvPr id="206" name="">
            <a:extLst>
              <a:ext uri="{FF2B5EF4-FFF2-40B4-BE49-F238E27FC236}">
                <ns2:creationId id="{28E14958-9E11-412B-8FBC-4CCBA7E14F68}"/>
              </a:ext>
            </a:extLst>
          </ns0:cNvPr>
          <ns0:cNvSpPr>
            <a:spLocks noGrp="1"/>
          </ns0:cNvSpPr>
          <ns0:nvPr/>
        </ns0:nvSpPr>
        <ns0:spPr>
          <a:xfrm>
            <a:off x="6162675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07" name="">
            <a:extLst>
              <a:ext uri="{FF2B5EF4-FFF2-40B4-BE49-F238E27FC236}">
                <ns2:creationId id="{D97E0B57-AAAC-4AC7-8481-4DFB525230DA}"/>
              </a:ext>
            </a:extLst>
          </ns0:cNvPr>
          <ns0:cNvSpPr>
            <a:spLocks noGrp="1"/>
          </ns0:cNvSpPr>
          <ns0:nvPr/>
        </ns0:nvSpPr>
        <ns0:spPr>
          <a:xfrm>
            <a:off x="7500938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208" name="">
            <a:extLst>
              <a:ext uri="{FF2B5EF4-FFF2-40B4-BE49-F238E27FC236}">
                <ns2:creationId id="{EE6F4A9C-54B3-40AA-BDCC-9D3060210AB1}"/>
              </a:ext>
            </a:extLst>
          </ns0:cNvPr>
          <ns0:cNvSpPr>
            <a:spLocks noGrp="1"/>
          </ns0:cNvSpPr>
          <ns0:nvPr/>
        </ns0:nvSpPr>
        <ns0:spPr>
          <a:xfrm>
            <a:off x="7548563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TRÊS TENTOS FIAGRO</a:t>
            </a:r>
          </a:p>
        </ns0:txBody>
      </ns0:sp>
      <ns0:sp>
        <ns0:nvSpPr>
          <ns0:cNvPr id="209" name="">
            <a:extLst>
              <a:ext uri="{FF2B5EF4-FFF2-40B4-BE49-F238E27FC236}">
                <ns2:creationId id="{9DA6C17A-9D0E-4F98-B99F-4102485343E7}"/>
              </a:ext>
            </a:extLst>
          </ns0:cNvPr>
          <ns0:cNvSpPr>
            <a:spLocks noGrp="1"/>
          </ns0:cNvSpPr>
          <ns0:nvPr/>
        </ns0:nvSpPr>
        <ns0:spPr>
          <a:xfrm>
            <a:off x="7548563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10" name="">
            <a:extLst>
              <a:ext uri="{FF2B5EF4-FFF2-40B4-BE49-F238E27FC236}">
                <ns2:creationId id="{27D57CF8-9FD5-4AB4-A1F0-7D32C7B8D63E}"/>
              </a:ext>
            </a:extLst>
          </ns0:cNvPr>
          <ns0:cNvSpPr>
            <a:spLocks noGrp="1"/>
          </ns0:cNvSpPr>
          <ns0:nvPr/>
        </ns0:nvSpPr>
        <ns0:spPr>
          <a:xfrm>
            <a:off x="8886825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211" name="">
            <a:extLst>
              <a:ext uri="{FF2B5EF4-FFF2-40B4-BE49-F238E27FC236}">
                <ns2:creationId id="{2D796D37-8774-4055-925A-3D72ED86A1AE}"/>
              </a:ext>
            </a:extLst>
          </ns0:cNvPr>
          <ns0:cNvSpPr>
            <a:spLocks noGrp="1"/>
          </ns0:cNvSpPr>
          <ns0:nvPr/>
        </ns0:nvSpPr>
        <ns0:spPr>
          <a:xfrm>
            <a:off x="8934450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UBYFOL AGRO III FUNDO DE</a:t>
            </a:r>
          </a:p>
        </ns0:txBody>
      </ns0:sp>
      <ns0:sp>
        <ns0:nvSpPr>
          <ns0:cNvPr id="212" name="">
            <a:extLst>
              <a:ext uri="{FF2B5EF4-FFF2-40B4-BE49-F238E27FC236}">
                <ns2:creationId id="{D45D8367-6293-42C3-A67B-4193BFF39930}"/>
              </a:ext>
            </a:extLst>
          </ns0:cNvPr>
          <ns0:cNvSpPr>
            <a:spLocks noGrp="1"/>
          </ns0:cNvSpPr>
          <ns0:nvPr/>
        </ns0:nvSpPr>
        <ns0:spPr>
          <a:xfrm>
            <a:off x="8934450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13" name="">
            <a:extLst>
              <a:ext uri="{FF2B5EF4-FFF2-40B4-BE49-F238E27FC236}">
                <ns2:creationId id="{FA396D22-3310-45A7-B3A3-D17B47358D06}"/>
              </a:ext>
            </a:extLst>
          </ns0:cNvPr>
          <ns0:cNvSpPr>
            <a:spLocks noGrp="1"/>
          </ns0:cNvSpPr>
          <ns0:nvPr/>
        </ns0:nvSpPr>
        <ns0:spPr>
          <a:xfrm>
            <a:off x="10272713" y="4038600"/>
            <a:ext cx="1347788" cy="3333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14" name="">
            <a:extLst>
              <a:ext uri="{FF2B5EF4-FFF2-40B4-BE49-F238E27FC236}">
                <ns2:creationId id="{93E3CF1D-6DC9-4E86-944C-52B2D62769BD}"/>
              </a:ext>
            </a:extLst>
          </ns0:cNvPr>
          <ns0:cNvSpPr>
            <a:spLocks noGrp="1"/>
          </ns0:cNvSpPr>
          <ns0:nvPr/>
        </ns0:nvSpPr>
        <ns0:spPr>
          <a:xfrm>
            <a:off x="10320338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VTK</a:t>
            </a:r>
          </a:p>
        </ns0:txBody>
      </ns0:sp>
      <ns0:sp>
        <ns0:nvSpPr>
          <ns0:cNvPr id="215" name="">
            <a:extLst>
              <a:ext uri="{FF2B5EF4-FFF2-40B4-BE49-F238E27FC236}">
                <ns2:creationId id="{B34D45A6-2CF6-4BBA-AA6F-E1C134FE08FB}"/>
              </a:ext>
            </a:extLst>
          </ns0:cNvPr>
          <ns0:cNvSpPr>
            <a:spLocks noGrp="1"/>
          </ns0:cNvSpPr>
          <ns0:nvPr/>
        </ns0:nvSpPr>
        <ns0:spPr>
          <a:xfrm>
            <a:off x="10320338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R$ 3,1 bi</a:t>
            </a:r>
          </a:p>
        </ns0:txBody>
      </ns0:sp>
      <ns0:sp>
        <ns0:nvSpPr>
          <ns0:cNvPr id="216" name="">
            <a:extLst>
              <a:ext uri="{FF2B5EF4-FFF2-40B4-BE49-F238E27FC236}">
                <ns2:creationId id="{14A67FD3-6EEB-4EB8-8D59-300995882DDC}"/>
              </a:ext>
            </a:extLst>
          </ns0:cNvPr>
          <ns0:cNvSpPr>
            <a:spLocks noGrp="1"/>
          </ns0:cNvSpPr>
          <ns0:nvPr/>
        </ns0:nvSpPr>
        <ns0:spPr>
          <a:xfrm>
            <a:off x="571500" y="4400550"/>
            <a:ext cx="1347788" cy="3333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17" name="">
            <a:extLst>
              <a:ext uri="{FF2B5EF4-FFF2-40B4-BE49-F238E27FC236}">
                <ns2:creationId id="{BA83E0CB-8D5A-4204-872F-A233BE9082C5}"/>
              </a:ext>
            </a:extLst>
          </ns0:cNvPr>
          <ns0:cNvSpPr>
            <a:spLocks noGrp="1"/>
          </ns0:cNvSpPr>
          <ns0:nvPr/>
        </ns0:nvSpPr>
        <ns0:spPr>
          <a:xfrm>
            <a:off x="619125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AGIBANK II</a:t>
            </a:r>
          </a:p>
        </ns0:txBody>
      </ns0:sp>
      <ns0:sp>
        <ns0:nvSpPr>
          <ns0:cNvPr id="218" name="">
            <a:extLst>
              <a:ext uri="{FF2B5EF4-FFF2-40B4-BE49-F238E27FC236}">
                <ns2:creationId id="{C2920A81-9788-4209-882D-A508D61E294B}"/>
              </a:ext>
            </a:extLst>
          </ns0:cNvPr>
          <ns0:cNvSpPr>
            <a:spLocks noGrp="1"/>
          </ns0:cNvSpPr>
          <ns0:nvPr/>
        </ns0:nvSpPr>
        <ns0:spPr>
          <a:xfrm>
            <a:off x="619125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R$ 3,0 bi</a:t>
            </a:r>
          </a:p>
        </ns0:txBody>
      </ns0:sp>
      <ns0:sp>
        <ns0:nvSpPr>
          <ns0:cNvPr id="219" name="">
            <a:extLst>
              <a:ext uri="{FF2B5EF4-FFF2-40B4-BE49-F238E27FC236}">
                <ns2:creationId id="{F01E4283-8BD2-428B-931B-E278F66075B7}"/>
              </a:ext>
            </a:extLst>
          </ns0:cNvPr>
          <ns0:cNvSpPr>
            <a:spLocks noGrp="1"/>
          </ns0:cNvSpPr>
          <ns0:nvPr/>
        </ns0:nvSpPr>
        <ns0:spPr>
          <a:xfrm>
            <a:off x="1957388" y="4400550"/>
            <a:ext cx="1347788" cy="3333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20" name="">
            <a:extLst>
              <a:ext uri="{FF2B5EF4-FFF2-40B4-BE49-F238E27FC236}">
                <ns2:creationId id="{E20E22FF-56BF-47CE-B417-5AD8B016B79C}"/>
              </a:ext>
            </a:extLst>
          </ns0:cNvPr>
          <ns0:cNvSpPr>
            <a:spLocks noGrp="1"/>
          </ns0:cNvSpPr>
          <ns0:nvPr/>
        </ns0:nvSpPr>
        <ns0:spPr>
          <a:xfrm>
            <a:off x="2005013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INSS III</a:t>
            </a:r>
          </a:p>
        </ns0:txBody>
      </ns0:sp>
      <ns0:sp>
        <ns0:nvSpPr>
          <ns0:cNvPr id="221" name="">
            <a:extLst>
              <a:ext uri="{FF2B5EF4-FFF2-40B4-BE49-F238E27FC236}">
                <ns2:creationId id="{49AA0802-5A93-4293-8C59-342CABFC2CB3}"/>
              </a:ext>
            </a:extLst>
          </ns0:cNvPr>
          <ns0:cNvSpPr>
            <a:spLocks noGrp="1"/>
          </ns0:cNvSpPr>
          <ns0:nvPr/>
        </ns0:nvSpPr>
        <ns0:spPr>
          <a:xfrm>
            <a:off x="2005013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R$ 1,2 bi</a:t>
            </a:r>
          </a:p>
        </ns0:txBody>
      </ns0:sp>
      <ns0:sp>
        <ns0:nvSpPr>
          <ns0:cNvPr id="222" name="">
            <a:extLst>
              <a:ext uri="{FF2B5EF4-FFF2-40B4-BE49-F238E27FC236}">
                <ns2:creationId id="{577E6B5B-62B5-42EA-BB9B-0D4D8AB5F9B5}"/>
              </a:ext>
            </a:extLst>
          </ns0:cNvPr>
          <ns0:cNvSpPr>
            <a:spLocks noGrp="1"/>
          </ns0:cNvSpPr>
          <ns0:nvPr/>
        </ns0:nvSpPr>
        <ns0:spPr>
          <a:xfrm>
            <a:off x="3343275" y="4400550"/>
            <a:ext cx="1347788" cy="3333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23" name="">
            <a:extLst>
              <a:ext uri="{FF2B5EF4-FFF2-40B4-BE49-F238E27FC236}">
                <ns2:creationId id="{A3A1A579-3EDB-4B83-92C1-D0CE58448C3E}"/>
              </a:ext>
            </a:extLst>
          </ns0:cNvPr>
          <ns0:cNvSpPr>
            <a:spLocks noGrp="1"/>
          </ns0:cNvSpPr>
          <ns0:nvPr/>
        </ns0:nvSpPr>
        <ns0:spPr>
          <a:xfrm>
            <a:off x="3390900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ICRED INSS III</a:t>
            </a:r>
          </a:p>
        </ns0:txBody>
      </ns0:sp>
      <ns0:sp>
        <ns0:nvSpPr>
          <ns0:cNvPr id="224" name="">
            <a:extLst>
              <a:ext uri="{FF2B5EF4-FFF2-40B4-BE49-F238E27FC236}">
                <ns2:creationId id="{D5DC3386-37DF-4F82-A06B-118AB182DEF0}"/>
              </a:ext>
            </a:extLst>
          </ns0:cNvPr>
          <ns0:cNvSpPr>
            <a:spLocks noGrp="1"/>
          </ns0:cNvSpPr>
          <ns0:nvPr/>
        </ns0:nvSpPr>
        <ns0:spPr>
          <a:xfrm>
            <a:off x="3390900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R$ 664,8 mi</a:t>
            </a:r>
          </a:p>
        </ns0:txBody>
      </ns0:sp>
      <ns0:sp>
        <ns0:nvSpPr>
          <ns0:cNvPr id="225" name="">
            <a:extLst>
              <a:ext uri="{FF2B5EF4-FFF2-40B4-BE49-F238E27FC236}">
                <ns2:creationId id="{376E1753-A22A-46F0-BE65-586C2014A1FF}"/>
              </a:ext>
            </a:extLst>
          </ns0:cNvPr>
          <ns0:cNvSpPr>
            <a:spLocks noGrp="1"/>
          </ns0:cNvSpPr>
          <ns0:nvPr/>
        </ns0:nvSpPr>
        <ns0:spPr>
          <a:xfrm>
            <a:off x="4729163" y="4400550"/>
            <a:ext cx="1347788" cy="3333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26" name="">
            <a:extLst>
              <a:ext uri="{FF2B5EF4-FFF2-40B4-BE49-F238E27FC236}">
                <ns2:creationId id="{34085BBA-3D36-464D-B4EA-B99656A8DC5D}"/>
              </a:ext>
            </a:extLst>
          </ns0:cNvPr>
          <ns0:cNvSpPr>
            <a:spLocks noGrp="1"/>
          </ns0:cNvSpPr>
          <ns0:nvPr/>
        </ns0:nvSpPr>
        <ns0:spPr>
          <a:xfrm>
            <a:off x="4776788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INSS RECEIVABLES III</a:t>
            </a:r>
          </a:p>
        </ns0:txBody>
      </ns0:sp>
      <ns0:sp>
        <ns0:nvSpPr>
          <ns0:cNvPr id="227" name="">
            <a:extLst>
              <a:ext uri="{FF2B5EF4-FFF2-40B4-BE49-F238E27FC236}">
                <ns2:creationId id="{A6368001-0ED9-4A40-B11C-252BB7F0F240}"/>
              </a:ext>
            </a:extLst>
          </ns0:cNvPr>
          <ns0:cNvSpPr>
            <a:spLocks noGrp="1"/>
          </ns0:cNvSpPr>
          <ns0:nvPr/>
        </ns0:nvSpPr>
        <ns0:spPr>
          <a:xfrm>
            <a:off x="4776788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R$ 33,3 mi</a:t>
            </a:r>
          </a:p>
        </ns0:txBody>
      </ns0:sp>
      <ns0:sp>
        <ns0:nvSpPr>
          <ns0:cNvPr id="228" name="">
            <a:extLst>
              <a:ext uri="{FF2B5EF4-FFF2-40B4-BE49-F238E27FC236}">
                <ns2:creationId id="{7BBAFA7A-05E5-4FA7-8D54-981C0DCC1D64}"/>
              </a:ext>
            </a:extLst>
          </ns0:cNvPr>
          <ns0:cNvSpPr>
            <a:spLocks noGrp="1"/>
          </ns0:cNvSpPr>
          <ns0:nvPr/>
        </ns0:nvSpPr>
        <ns0:spPr>
          <a:xfrm>
            <a:off x="6115050" y="440055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29" name="">
            <a:extLst>
              <a:ext uri="{FF2B5EF4-FFF2-40B4-BE49-F238E27FC236}">
                <ns2:creationId id="{75F255EF-B87F-49DE-BD68-11226D013ACA}"/>
              </a:ext>
            </a:extLst>
          </ns0:cNvPr>
          <ns0:cNvSpPr>
            <a:spLocks noGrp="1"/>
          </ns0:cNvSpPr>
          <ns0:nvPr/>
        </ns0:nvSpPr>
        <ns0:spPr>
          <a:xfrm>
            <a:off x="6162675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ANGÁ FGTS III</a:t>
            </a:r>
          </a:p>
        </ns0:txBody>
      </ns0:sp>
      <ns0:sp>
        <ns0:nvSpPr>
          <ns0:cNvPr id="230" name="">
            <a:extLst>
              <a:ext uri="{FF2B5EF4-FFF2-40B4-BE49-F238E27FC236}">
                <ns2:creationId id="{EF9302F8-A799-4494-A331-D55148ABDEC6}"/>
              </a:ext>
            </a:extLst>
          </ns0:cNvPr>
          <ns0:cNvSpPr>
            <a:spLocks noGrp="1"/>
          </ns0:cNvSpPr>
          <ns0:nvPr/>
        </ns0:nvSpPr>
        <ns0:spPr>
          <a:xfrm>
            <a:off x="6162675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R$ 965,3 mi</a:t>
            </a:r>
          </a:p>
        </ns0:txBody>
      </ns0:sp>
      <ns0:sp>
        <ns0:nvSpPr>
          <ns0:cNvPr id="231" name="">
            <a:extLst>
              <a:ext uri="{FF2B5EF4-FFF2-40B4-BE49-F238E27FC236}">
                <ns2:creationId id="{4255650B-1E22-4EE4-AEC1-A763A7AEAF38}"/>
              </a:ext>
            </a:extLst>
          </ns0:cNvPr>
          <ns0:cNvSpPr>
            <a:spLocks noGrp="1"/>
          </ns0:cNvSpPr>
          <ns0:nvPr/>
        </ns0:nvSpPr>
        <ns0:spPr>
          <a:xfrm>
            <a:off x="7500938" y="440055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32" name="">
            <a:extLst>
              <a:ext uri="{FF2B5EF4-FFF2-40B4-BE49-F238E27FC236}">
                <ns2:creationId id="{76DD8623-C351-43C8-827A-857712CC9515}"/>
              </a:ext>
            </a:extLst>
          </ns0:cNvPr>
          <ns0:cNvSpPr>
            <a:spLocks noGrp="1"/>
          </ns0:cNvSpPr>
          <ns0:nvPr/>
        </ns0:nvSpPr>
        <ns0:spPr>
          <a:xfrm>
            <a:off x="7548563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FGTS RECEIVABLES II</a:t>
            </a:r>
          </a:p>
        </ns0:txBody>
      </ns0:sp>
      <ns0:sp>
        <ns0:nvSpPr>
          <ns0:cNvPr id="233" name="">
            <a:extLst>
              <a:ext uri="{FF2B5EF4-FFF2-40B4-BE49-F238E27FC236}">
                <ns2:creationId id="{0190D366-FB7D-4585-B04C-FFEC638E5D27}"/>
              </a:ext>
            </a:extLst>
          </ns0:cNvPr>
          <ns0:cNvSpPr>
            <a:spLocks noGrp="1"/>
          </ns0:cNvSpPr>
          <ns0:nvPr/>
        </ns0:nvSpPr>
        <ns0:spPr>
          <a:xfrm>
            <a:off x="7548563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R$ 697,5 mi</a:t>
            </a:r>
          </a:p>
        </ns0:txBody>
      </ns0:sp>
      <ns0:sp>
        <ns0:nvSpPr>
          <ns0:cNvPr id="234" name="">
            <a:extLst>
              <a:ext uri="{FF2B5EF4-FFF2-40B4-BE49-F238E27FC236}">
                <ns2:creationId id="{D0E1710B-8BFF-459C-82D0-AC26A1CEF78B}"/>
              </a:ext>
            </a:extLst>
          </ns0:cNvPr>
          <ns0:cNvSpPr>
            <a:spLocks noGrp="1"/>
          </ns0:cNvSpPr>
          <ns0:nvPr/>
        </ns0:nvSpPr>
        <ns0:spPr>
          <a:xfrm>
            <a:off x="8886825" y="440055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35" name="">
            <a:extLst>
              <a:ext uri="{FF2B5EF4-FFF2-40B4-BE49-F238E27FC236}">
                <ns2:creationId id="{177BB081-AA85-48CC-A202-76E5CD71582C}"/>
              </a:ext>
            </a:extLst>
          </ns0:cNvPr>
          <ns0:cNvSpPr>
            <a:spLocks noGrp="1"/>
          </ns0:cNvSpPr>
          <ns0:nvPr/>
        </ns0:nvSpPr>
        <ns0:spPr>
          <a:xfrm>
            <a:off x="8934450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ANGÁ FGTS II</a:t>
            </a:r>
          </a:p>
        </ns0:txBody>
      </ns0:sp>
      <ns0:sp>
        <ns0:nvSpPr>
          <ns0:cNvPr id="236" name="">
            <a:extLst>
              <a:ext uri="{FF2B5EF4-FFF2-40B4-BE49-F238E27FC236}">
                <ns2:creationId id="{3D6A4D71-BCA8-442E-99E8-11B46C504DA1}"/>
              </a:ext>
            </a:extLst>
          </ns0:cNvPr>
          <ns0:cNvSpPr>
            <a:spLocks noGrp="1"/>
          </ns0:cNvSpPr>
          <ns0:nvPr/>
        </ns0:nvSpPr>
        <ns0:spPr>
          <a:xfrm>
            <a:off x="8934450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R$ 249,7 mi</a:t>
            </a:r>
          </a:p>
        </ns0:txBody>
      </ns0:sp>
      <ns0:sp>
        <ns0:nvSpPr>
          <ns0:cNvPr id="237" name="">
            <a:extLst>
              <a:ext uri="{FF2B5EF4-FFF2-40B4-BE49-F238E27FC236}">
                <ns2:creationId id="{ACBA45BF-A858-4975-91CF-477DF7A25311}"/>
              </a:ext>
            </a:extLst>
          </ns0:cNvPr>
          <ns0:cNvSpPr>
            <a:spLocks noGrp="1"/>
          </ns0:cNvSpPr>
          <ns0:nvPr/>
        </ns0:nvSpPr>
        <ns0:spPr>
          <a:xfrm>
            <a:off x="10272713" y="440055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38" name="">
            <a:extLst>
              <a:ext uri="{FF2B5EF4-FFF2-40B4-BE49-F238E27FC236}">
                <ns2:creationId id="{CE44BBBF-F8DC-4BCA-96FD-DECE95718439}"/>
              </a:ext>
            </a:extLst>
          </ns0:cNvPr>
          <ns0:cNvSpPr>
            <a:spLocks noGrp="1"/>
          </ns0:cNvSpPr>
          <ns0:nvPr/>
        </ns0:nvSpPr>
        <ns0:spPr>
          <a:xfrm>
            <a:off x="10320338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QUATÁ FDC FGTS</a:t>
            </a:r>
          </a:p>
        </ns0:txBody>
      </ns0:sp>
      <ns0:sp>
        <ns0:nvSpPr>
          <ns0:cNvPr id="239" name="">
            <a:extLst>
              <a:ext uri="{FF2B5EF4-FFF2-40B4-BE49-F238E27FC236}">
                <ns2:creationId id="{915302E8-1E9B-49AC-B5EF-FADCB91954AC}"/>
              </a:ext>
            </a:extLst>
          </ns0:cNvPr>
          <ns0:cNvSpPr>
            <a:spLocks noGrp="1"/>
          </ns0:cNvSpPr>
          <ns0:nvPr/>
        </ns0:nvSpPr>
        <ns0:spPr>
          <a:xfrm>
            <a:off x="10320338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R$ 225,0 mi</a:t>
            </a:r>
          </a:p>
        </ns0:txBody>
      </ns0:sp>
      <ns0:sp>
        <ns0:nvSpPr>
          <ns0:cNvPr id="240" name="">
            <a:extLst>
              <a:ext uri="{FF2B5EF4-FFF2-40B4-BE49-F238E27FC236}">
                <ns2:creationId id="{0B296E9E-A7F4-4B80-B6C9-FE971FF53DDD}"/>
              </a:ext>
            </a:extLst>
          </ns0:cNvPr>
          <ns0:cNvSpPr>
            <a:spLocks noGrp="1"/>
          </ns0:cNvSpPr>
          <ns0:nvPr/>
        </ns0:nvSpPr>
        <ns0:spPr>
          <a:xfrm>
            <a:off x="571500" y="476250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41" name="">
            <a:extLst>
              <a:ext uri="{FF2B5EF4-FFF2-40B4-BE49-F238E27FC236}">
                <ns2:creationId id="{F1D5A25D-F011-4581-B10C-AF4FD18B61F7}"/>
              </a:ext>
            </a:extLst>
          </ns0:cNvPr>
          <ns0:cNvSpPr>
            <a:spLocks noGrp="1"/>
          </ns0:cNvSpPr>
          <ns0:nvPr/>
        </ns0:nvSpPr>
        <ns0:spPr>
          <a:xfrm>
            <a:off x="619125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J17 FGTS FINANCEIRO</a:t>
            </a:r>
          </a:p>
        </ns0:txBody>
      </ns0:sp>
      <ns0:sp>
        <ns0:nvSpPr>
          <ns0:cNvPr id="242" name="">
            <a:extLst>
              <a:ext uri="{FF2B5EF4-FFF2-40B4-BE49-F238E27FC236}">
                <ns2:creationId id="{7CBBF4E1-2085-41CC-AAFB-40A941272754}"/>
              </a:ext>
            </a:extLst>
          </ns0:cNvPr>
          <ns0:cNvSpPr>
            <a:spLocks noGrp="1"/>
          </ns0:cNvSpPr>
          <ns0:nvPr/>
        </ns0:nvSpPr>
        <ns0:spPr>
          <a:xfrm>
            <a:off x="619125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R$ 213,6 mi</a:t>
            </a:r>
          </a:p>
        </ns0:txBody>
      </ns0:sp>
      <ns0:sp>
        <ns0:nvSpPr>
          <ns0:cNvPr id="243" name="">
            <a:extLst>
              <a:ext uri="{FF2B5EF4-FFF2-40B4-BE49-F238E27FC236}">
                <ns2:creationId id="{CE1E8520-01EF-49EB-AB06-E9D4D3A52646}"/>
              </a:ext>
            </a:extLst>
          </ns0:cNvPr>
          <ns0:cNvSpPr>
            <a:spLocks noGrp="1"/>
          </ns0:cNvSpPr>
          <ns0:nvPr/>
        </ns0:nvSpPr>
        <ns0:spPr>
          <a:xfrm>
            <a:off x="1957388" y="476250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44" name="">
            <a:extLst>
              <a:ext uri="{FF2B5EF4-FFF2-40B4-BE49-F238E27FC236}">
                <ns2:creationId id="{25B85ED0-FAC4-4FAE-ACBB-3A3802A1E6E7}"/>
              </a:ext>
            </a:extLst>
          </ns0:cNvPr>
          <ns0:cNvSpPr>
            <a:spLocks noGrp="1"/>
          </ns0:cNvSpPr>
          <ns0:nvPr/>
        </ns0:nvSpPr>
        <ns0:spPr>
          <a:xfrm>
            <a:off x="2005013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ANGÁ FGTS +AG</a:t>
            </a:r>
          </a:p>
        </ns0:txBody>
      </ns0:sp>
      <ns0:sp>
        <ns0:nvSpPr>
          <ns0:cNvPr id="245" name="">
            <a:extLst>
              <a:ext uri="{FF2B5EF4-FFF2-40B4-BE49-F238E27FC236}">
                <ns2:creationId id="{D6CA5026-019D-41FA-9F5D-03FF49345934}"/>
              </a:ext>
            </a:extLst>
          </ns0:cNvPr>
          <ns0:cNvSpPr>
            <a:spLocks noGrp="1"/>
          </ns0:cNvSpPr>
          <ns0:nvPr/>
        </ns0:nvSpPr>
        <ns0:spPr>
          <a:xfrm>
            <a:off x="2005013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R$ 71,1 mi</a:t>
            </a:r>
          </a:p>
        </ns0:txBody>
      </ns0:sp>
      <ns0:sp>
        <ns0:nvSpPr>
          <ns0:cNvPr id="246" name="">
            <a:extLst>
              <a:ext uri="{FF2B5EF4-FFF2-40B4-BE49-F238E27FC236}">
                <ns2:creationId id="{0DE4BA31-C3FF-4A9E-B960-F05C225E021A}"/>
              </a:ext>
            </a:extLst>
          </ns0:cNvPr>
          <ns0:cNvSpPr>
            <a:spLocks noGrp="1"/>
          </ns0:cNvSpPr>
          <ns0:nvPr/>
        </ns0:nvSpPr>
        <ns0:spPr>
          <a:xfrm>
            <a:off x="3343275" y="4762500"/>
            <a:ext cx="1347788" cy="333375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247" name="">
            <a:extLst>
              <a:ext uri="{FF2B5EF4-FFF2-40B4-BE49-F238E27FC236}">
                <ns2:creationId id="{41197AD2-72BD-4F8E-9A81-C09498B6DC99}"/>
              </a:ext>
            </a:extLst>
          </ns0:cNvPr>
          <ns0:cNvSpPr>
            <a:spLocks noGrp="1"/>
          </ns0:cNvSpPr>
          <ns0:nvPr/>
        </ns0:nvSpPr>
        <ns0:spPr>
          <a:xfrm>
            <a:off x="3390900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BV - CRÉDITO DE VEÍCULOS</a:t>
            </a:r>
          </a:p>
        </ns0:txBody>
      </ns0:sp>
      <ns0:sp>
        <ns0:nvSpPr>
          <ns0:cNvPr id="248" name="">
            <a:extLst>
              <a:ext uri="{FF2B5EF4-FFF2-40B4-BE49-F238E27FC236}">
                <ns2:creationId id="{C3329C39-F9B9-4976-B93B-72F16FE6278C}"/>
              </a:ext>
            </a:extLst>
          </ns0:cNvPr>
          <ns0:cNvSpPr>
            <a:spLocks noGrp="1"/>
          </ns0:cNvSpPr>
          <ns0:nvPr/>
        </ns0:nvSpPr>
        <ns0:spPr>
          <a:xfrm>
            <a:off x="3390900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49" name="">
            <a:extLst>
              <a:ext uri="{FF2B5EF4-FFF2-40B4-BE49-F238E27FC236}">
                <ns2:creationId id="{31E228C8-2AF2-4C74-92A6-9DEF39F99080}"/>
              </a:ext>
            </a:extLst>
          </ns0:cNvPr>
          <ns0:cNvSpPr>
            <a:spLocks noGrp="1"/>
          </ns0:cNvSpPr>
          <ns0:nvPr/>
        </ns0:nvSpPr>
        <ns0:spPr>
          <a:xfrm>
            <a:off x="4729163" y="476250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50" name="">
            <a:extLst>
              <a:ext uri="{FF2B5EF4-FFF2-40B4-BE49-F238E27FC236}">
                <ns2:creationId id="{8BF3455F-BEC0-43DA-BF0A-B5E29034EA54}"/>
              </a:ext>
            </a:extLst>
          </ns0:cNvPr>
          <ns0:cNvSpPr>
            <a:spLocks noGrp="1"/>
          </ns0:cNvSpPr>
          <ns0:nvPr/>
        </ns0:nvSpPr>
        <ns0:spPr>
          <a:xfrm>
            <a:off x="4776788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COMERCIAIS MEDICI I</a:t>
            </a:r>
          </a:p>
        </ns0:txBody>
      </ns0:sp>
      <ns0:sp>
        <ns0:nvSpPr>
          <ns0:cNvPr id="251" name="">
            <a:extLst>
              <a:ext uri="{FF2B5EF4-FFF2-40B4-BE49-F238E27FC236}">
                <ns2:creationId id="{7A0D6391-A150-4185-8443-873D32C89EE9}"/>
              </a:ext>
            </a:extLst>
          </ns0:cNvPr>
          <ns0:cNvSpPr>
            <a:spLocks noGrp="1"/>
          </ns0:cNvSpPr>
          <ns0:nvPr/>
        </ns0:nvSpPr>
        <ns0:spPr>
          <a:xfrm>
            <a:off x="4776788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R$ 3,1 bi</a:t>
            </a:r>
          </a:p>
        </ns0:txBody>
      </ns0:sp>
      <ns0:sp>
        <ns0:nvSpPr>
          <ns0:cNvPr id="252" name="">
            <a:extLst>
              <a:ext uri="{FF2B5EF4-FFF2-40B4-BE49-F238E27FC236}">
                <ns2:creationId id="{CA55950E-B316-44BB-B528-5FA938F2D8A9}"/>
              </a:ext>
            </a:extLst>
          </ns0:cNvPr>
          <ns0:cNvSpPr>
            <a:spLocks noGrp="1"/>
          </ns0:cNvSpPr>
          <ns0:nvPr/>
        </ns0:nvSpPr>
        <ns0:spPr>
          <a:xfrm>
            <a:off x="6115050" y="476250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53" name="">
            <a:extLst>
              <a:ext uri="{FF2B5EF4-FFF2-40B4-BE49-F238E27FC236}">
                <ns2:creationId id="{B739BC8E-72FD-4682-82A6-741328CD1DA1}"/>
              </a:ext>
            </a:extLst>
          </ns0:cNvPr>
          <ns0:cNvSpPr>
            <a:spLocks noGrp="1"/>
          </ns0:cNvSpPr>
          <ns0:nvPr/>
        </ns0:nvSpPr>
        <ns0:spPr>
          <a:xfrm>
            <a:off x="6162675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ATLANTA</a:t>
            </a:r>
          </a:p>
        </ns0:txBody>
      </ns0:sp>
      <ns0:sp>
        <ns0:nvSpPr>
          <ns0:cNvPr id="254" name="">
            <a:extLst>
              <a:ext uri="{FF2B5EF4-FFF2-40B4-BE49-F238E27FC236}">
                <ns2:creationId id="{4B426DCE-D8FF-4B56-B7B4-2129D2ADD586}"/>
              </a:ext>
            </a:extLst>
          </ns0:cNvPr>
          <ns0:cNvSpPr>
            <a:spLocks noGrp="1"/>
          </ns0:cNvSpPr>
          <ns0:nvPr/>
        </ns0:nvSpPr>
        <ns0:spPr>
          <a:xfrm>
            <a:off x="6162675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R$ 3,1 bi</a:t>
            </a:r>
          </a:p>
        </ns0:txBody>
      </ns0:sp>
      <ns0:sp>
        <ns0:nvSpPr>
          <ns0:cNvPr id="255" name="">
            <a:extLst>
              <a:ext uri="{FF2B5EF4-FFF2-40B4-BE49-F238E27FC236}">
                <ns2:creationId id="{21FA77DA-AF70-4472-B020-4F2579B5314C}"/>
              </a:ext>
            </a:extLst>
          </ns0:cNvPr>
          <ns0:cNvSpPr>
            <a:spLocks noGrp="1"/>
          </ns0:cNvSpPr>
          <ns0:nvPr/>
        </ns0:nvSpPr>
        <ns0:spPr>
          <a:xfrm>
            <a:off x="7500938" y="476250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56" name="">
            <a:extLst>
              <a:ext uri="{FF2B5EF4-FFF2-40B4-BE49-F238E27FC236}">
                <ns2:creationId id="{83C4F3F0-9609-4039-8947-9AEE959FB0B0}"/>
              </a:ext>
            </a:extLst>
          </ns0:cNvPr>
          <ns0:cNvSpPr>
            <a:spLocks noGrp="1"/>
          </ns0:cNvSpPr>
          <ns0:nvPr/>
        </ns0:nvSpPr>
        <ns0:spPr>
          <a:xfrm>
            <a:off x="7548563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MULTIPLIKE PLUS</a:t>
            </a:r>
          </a:p>
        </ns0:txBody>
      </ns0:sp>
      <ns0:sp>
        <ns0:nvSpPr>
          <ns0:cNvPr id="257" name="">
            <a:extLst>
              <a:ext uri="{FF2B5EF4-FFF2-40B4-BE49-F238E27FC236}">
                <ns2:creationId id="{34C513E1-3551-4604-AB08-B2121559B489}"/>
              </a:ext>
            </a:extLst>
          </ns0:cNvPr>
          <ns0:cNvSpPr>
            <a:spLocks noGrp="1"/>
          </ns0:cNvSpPr>
          <ns0:nvPr/>
        </ns0:nvSpPr>
        <ns0:spPr>
          <a:xfrm>
            <a:off x="7548563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R$ 2,1 bi</a:t>
            </a:r>
          </a:p>
        </ns0:txBody>
      </ns0:sp>
      <ns0:sp>
        <ns0:nvSpPr>
          <ns0:cNvPr id="258" name="">
            <a:extLst>
              <a:ext uri="{FF2B5EF4-FFF2-40B4-BE49-F238E27FC236}">
                <ns2:creationId id="{C04057F6-6205-4B2E-87CE-AA3C2A8E8E91}"/>
              </a:ext>
            </a:extLst>
          </ns0:cNvPr>
          <ns0:cNvSpPr>
            <a:spLocks noGrp="1"/>
          </ns0:cNvSpPr>
          <ns0:nvPr/>
        </ns0:nvSpPr>
        <ns0:spPr>
          <a:xfrm>
            <a:off x="8886825" y="476250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59" name="">
            <a:extLst>
              <a:ext uri="{FF2B5EF4-FFF2-40B4-BE49-F238E27FC236}">
                <ns2:creationId id="{E8B384AE-AB49-4130-BEFF-F259687DC66A}"/>
              </a:ext>
            </a:extLst>
          </ns0:cNvPr>
          <ns0:cNvSpPr>
            <a:spLocks noGrp="1"/>
          </ns0:cNvSpPr>
          <ns0:nvPr/>
        </ns0:nvSpPr>
        <ns0:spPr>
          <a:xfrm>
            <a:off x="8934450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GAVEA SUL MULTISSETORIAL LP</a:t>
            </a:r>
          </a:p>
        </ns0:txBody>
      </ns0:sp>
      <ns0:sp>
        <ns0:nvSpPr>
          <ns0:cNvPr id="260" name="">
            <a:extLst>
              <a:ext uri="{FF2B5EF4-FFF2-40B4-BE49-F238E27FC236}">
                <ns2:creationId id="{AAB2E838-3F6B-45B1-99A1-A6C6296E0CEC}"/>
              </a:ext>
            </a:extLst>
          </ns0:cNvPr>
          <ns0:cNvSpPr>
            <a:spLocks noGrp="1"/>
          </ns0:cNvSpPr>
          <ns0:nvPr/>
        </ns0:nvSpPr>
        <ns0:spPr>
          <a:xfrm>
            <a:off x="8934450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R$ 562,0 mi</a:t>
            </a:r>
          </a:p>
        </ns0:txBody>
      </ns0:sp>
      <ns0:sp>
        <ns0:nvSpPr>
          <ns0:cNvPr id="261" name="">
            <a:extLst>
              <a:ext uri="{FF2B5EF4-FFF2-40B4-BE49-F238E27FC236}">
                <ns2:creationId id="{1FC3F467-A9FE-485B-954A-22E89C8EEC52}"/>
              </a:ext>
            </a:extLst>
          </ns0:cNvPr>
          <ns0:cNvSpPr>
            <a:spLocks noGrp="1"/>
          </ns0:cNvSpPr>
          <ns0:nvPr/>
        </ns0:nvSpPr>
        <ns0:spPr>
          <a:xfrm>
            <a:off x="10272713" y="476250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62" name="">
            <a:extLst>
              <a:ext uri="{FF2B5EF4-FFF2-40B4-BE49-F238E27FC236}">
                <ns2:creationId id="{3ED4EB18-7F52-4FF3-93E4-88C3F5F35FB9}"/>
              </a:ext>
            </a:extLst>
          </ns0:cNvPr>
          <ns0:cNvSpPr>
            <a:spLocks noGrp="1"/>
          </ns0:cNvSpPr>
          <ns0:nvPr/>
        </ns0:nvSpPr>
        <ns0:spPr>
          <a:xfrm>
            <a:off x="10320338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VALOREM MULTISETORIAL</a:t>
            </a:r>
          </a:p>
        </ns0:txBody>
      </ns0:sp>
      <ns0:sp>
        <ns0:nvSpPr>
          <ns0:cNvPr id="263" name="">
            <a:extLst>
              <a:ext uri="{FF2B5EF4-FFF2-40B4-BE49-F238E27FC236}">
                <ns2:creationId id="{BD39A429-3DEE-439F-A537-EE9B40DA217C}"/>
              </a:ext>
            </a:extLst>
          </ns0:cNvPr>
          <ns0:cNvSpPr>
            <a:spLocks noGrp="1"/>
          </ns0:cNvSpPr>
          <ns0:nvPr/>
        </ns0:nvSpPr>
        <ns0:spPr>
          <a:xfrm>
            <a:off x="10320338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R$ 511,8 mi</a:t>
            </a:r>
          </a:p>
        </ns0:txBody>
      </ns0:sp>
      <ns0:sp>
        <ns0:nvSpPr>
          <ns0:cNvPr id="264" name="">
            <a:extLst>
              <a:ext uri="{FF2B5EF4-FFF2-40B4-BE49-F238E27FC236}">
                <ns2:creationId id="{1D24C6ED-0233-4679-8BA6-ADC84B34C10E}"/>
              </a:ext>
            </a:extLst>
          </ns0:cNvPr>
          <ns0:cNvSpPr>
            <a:spLocks noGrp="1"/>
          </ns0:cNvSpPr>
          <ns0:nvPr/>
        </ns0:nvSpPr>
        <ns0:spPr>
          <a:xfrm>
            <a:off x="571500" y="512445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65" name="">
            <a:extLst>
              <a:ext uri="{FF2B5EF4-FFF2-40B4-BE49-F238E27FC236}">
                <ns2:creationId id="{0133B461-7413-49B7-929E-05FA92E41F9E}"/>
              </a:ext>
            </a:extLst>
          </ns0:cNvPr>
          <ns0:cNvSpPr>
            <a:spLocks noGrp="1"/>
          </ns0:cNvSpPr>
          <ns0:nvPr/>
        </ns0:nvSpPr>
        <ns0:spPr>
          <a:xfrm>
            <a:off x="619125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PNEUCASH</a:t>
            </a:r>
          </a:p>
        </ns0:txBody>
      </ns0:sp>
      <ns0:sp>
        <ns0:nvSpPr>
          <ns0:cNvPr id="266" name="">
            <a:extLst>
              <a:ext uri="{FF2B5EF4-FFF2-40B4-BE49-F238E27FC236}">
                <ns2:creationId id="{E449E0F0-8571-412D-833E-2AC54415093B}"/>
              </a:ext>
            </a:extLst>
          </ns0:cNvPr>
          <ns0:cNvSpPr>
            <a:spLocks noGrp="1"/>
          </ns0:cNvSpPr>
          <ns0:nvPr/>
        </ns0:nvSpPr>
        <ns0:spPr>
          <a:xfrm>
            <a:off x="619125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R$ 270,3 mi</a:t>
            </a:r>
          </a:p>
        </ns0:txBody>
      </ns0:sp>
      <ns0:sp>
        <ns0:nvSpPr>
          <ns0:cNvPr id="267" name="">
            <a:extLst>
              <a:ext uri="{FF2B5EF4-FFF2-40B4-BE49-F238E27FC236}">
                <ns2:creationId id="{88A90108-E792-4E8F-8C58-477429534C1B}"/>
              </a:ext>
            </a:extLst>
          </ns0:cNvPr>
          <ns0:cNvSpPr>
            <a:spLocks noGrp="1"/>
          </ns0:cNvSpPr>
          <ns0:nvPr/>
        </ns0:nvSpPr>
        <ns0:spPr>
          <a:xfrm>
            <a:off x="1957388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68" name="">
            <a:extLst>
              <a:ext uri="{FF2B5EF4-FFF2-40B4-BE49-F238E27FC236}">
                <ns2:creationId id="{CD3ACD69-E50A-4842-897A-9C037CDF5F20}"/>
              </a:ext>
            </a:extLst>
          </ns0:cNvPr>
          <ns0:cNvSpPr>
            <a:spLocks noGrp="1"/>
          </ns0:cNvSpPr>
          <ns0:nvPr/>
        </ns0:nvSpPr>
        <ns0:spPr>
          <a:xfrm>
            <a:off x="2005013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NATURA PAY CRÉDITO PESSOAL</a:t>
            </a:r>
          </a:p>
        </ns0:txBody>
      </ns0:sp>
      <ns0:sp>
        <ns0:nvSpPr>
          <ns0:cNvPr id="269" name="">
            <a:extLst>
              <a:ext uri="{FF2B5EF4-FFF2-40B4-BE49-F238E27FC236}">
                <ns2:creationId id="{641DB6F1-1267-4121-A1CD-34AEC9943577}"/>
              </a:ext>
            </a:extLst>
          </ns0:cNvPr>
          <ns0:cNvSpPr>
            <a:spLocks noGrp="1"/>
          </ns0:cNvSpPr>
          <ns0:nvPr/>
        </ns0:nvSpPr>
        <ns0:spPr>
          <a:xfrm>
            <a:off x="2005013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R$ 1,0 bi</a:t>
            </a:r>
          </a:p>
        </ns0:txBody>
      </ns0:sp>
      <ns0:sp>
        <ns0:nvSpPr>
          <ns0:cNvPr id="270" name="">
            <a:extLst>
              <a:ext uri="{FF2B5EF4-FFF2-40B4-BE49-F238E27FC236}">
                <ns2:creationId id="{962073F5-39A2-44C2-AFB2-FCDA15271CF5}"/>
              </a:ext>
            </a:extLst>
          </ns0:cNvPr>
          <ns0:cNvSpPr>
            <a:spLocks noGrp="1"/>
          </ns0:cNvSpPr>
          <ns0:nvPr/>
        </ns0:nvSpPr>
        <ns0:spPr>
          <a:xfrm>
            <a:off x="3343275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71" name="">
            <a:extLst>
              <a:ext uri="{FF2B5EF4-FFF2-40B4-BE49-F238E27FC236}">
                <ns2:creationId id="{616D0B24-2ED4-4BE5-A881-139490429F2F}"/>
              </a:ext>
            </a:extLst>
          </ns0:cNvPr>
          <ns0:cNvSpPr>
            <a:spLocks noGrp="1"/>
          </ns0:cNvSpPr>
          <ns0:nvPr/>
        </ns0:nvSpPr>
        <ns0:spPr>
          <a:xfrm>
            <a:off x="3390900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IFOOD PAGO CRÉDITO III</a:t>
            </a:r>
          </a:p>
        </ns0:txBody>
      </ns0:sp>
      <ns0:sp>
        <ns0:nvSpPr>
          <ns0:cNvPr id="272" name="">
            <a:extLst>
              <a:ext uri="{FF2B5EF4-FFF2-40B4-BE49-F238E27FC236}">
                <ns2:creationId id="{607F5700-0DD1-42D5-A013-3855D03B71B8}"/>
              </a:ext>
            </a:extLst>
          </ns0:cNvPr>
          <ns0:cNvSpPr>
            <a:spLocks noGrp="1"/>
          </ns0:cNvSpPr>
          <ns0:nvPr/>
        </ns0:nvSpPr>
        <ns0:spPr>
          <a:xfrm>
            <a:off x="3390900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R$ 722,5 mi</a:t>
            </a:r>
          </a:p>
        </ns0:txBody>
      </ns0:sp>
      <ns0:sp>
        <ns0:nvSpPr>
          <ns0:cNvPr id="273" name="">
            <a:extLst>
              <a:ext uri="{FF2B5EF4-FFF2-40B4-BE49-F238E27FC236}">
                <ns2:creationId id="{A7643FA8-27C2-49FC-B7A0-4CAED8E5DB53}"/>
              </a:ext>
            </a:extLst>
          </ns0:cNvPr>
          <ns0:cNvSpPr>
            <a:spLocks noGrp="1"/>
          </ns0:cNvSpPr>
          <ns0:nvPr/>
        </ns0:nvSpPr>
        <ns0:spPr>
          <a:xfrm>
            <a:off x="4729163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74" name="">
            <a:extLst>
              <a:ext uri="{FF2B5EF4-FFF2-40B4-BE49-F238E27FC236}">
                <ns2:creationId id="{53BECAD7-7657-472B-BDF9-FB27CE346281}"/>
              </a:ext>
            </a:extLst>
          </ns0:cNvPr>
          <ns0:cNvSpPr>
            <a:spLocks noGrp="1"/>
          </ns0:cNvSpPr>
          <ns0:nvPr/>
        </ns0:nvSpPr>
        <ns0:spPr>
          <a:xfrm>
            <a:off x="4776788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IFOOD PAGO CRÉDITO I</a:t>
            </a:r>
          </a:p>
        </ns0:txBody>
      </ns0:sp>
      <ns0:sp>
        <ns0:nvSpPr>
          <ns0:cNvPr id="275" name="">
            <a:extLst>
              <a:ext uri="{FF2B5EF4-FFF2-40B4-BE49-F238E27FC236}">
                <ns2:creationId id="{492E0D79-BF0F-42D8-BCCD-CD49A9C199DC}"/>
              </a:ext>
            </a:extLst>
          </ns0:cNvPr>
          <ns0:cNvSpPr>
            <a:spLocks noGrp="1"/>
          </ns0:cNvSpPr>
          <ns0:nvPr/>
        </ns0:nvSpPr>
        <ns0:spPr>
          <a:xfrm>
            <a:off x="4776788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R$ 657,1 mi</a:t>
            </a:r>
          </a:p>
        </ns0:txBody>
      </ns0:sp>
      <ns0:sp>
        <ns0:nvSpPr>
          <ns0:cNvPr id="276" name="">
            <a:extLst>
              <a:ext uri="{FF2B5EF4-FFF2-40B4-BE49-F238E27FC236}">
                <ns2:creationId id="{E95C06DC-5BC9-40A7-BC98-9D668F13E4FB}"/>
              </a:ext>
            </a:extLst>
          </ns0:cNvPr>
          <ns0:cNvSpPr>
            <a:spLocks noGrp="1"/>
          </ns0:cNvSpPr>
          <ns0:nvPr/>
        </ns0:nvSpPr>
        <ns0:spPr>
          <a:xfrm>
            <a:off x="6115050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77" name="">
            <a:extLst>
              <a:ext uri="{FF2B5EF4-FFF2-40B4-BE49-F238E27FC236}">
                <ns2:creationId id="{87B6B8C3-7CBA-4B14-A0AF-DD7367ABCC2B}"/>
              </a:ext>
            </a:extLst>
          </ns0:cNvPr>
          <ns0:cNvSpPr>
            <a:spLocks noGrp="1"/>
          </ns0:cNvSpPr>
          <ns0:nvPr/>
        </ns0:nvSpPr>
        <ns0:spPr>
          <a:xfrm>
            <a:off x="6162675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GALLERIA HOME EQUITY FIDC</a:t>
            </a:r>
          </a:p>
        </ns0:txBody>
      </ns0:sp>
      <ns0:sp>
        <ns0:nvSpPr>
          <ns0:cNvPr id="278" name="">
            <a:extLst>
              <a:ext uri="{FF2B5EF4-FFF2-40B4-BE49-F238E27FC236}">
                <ns2:creationId id="{E061C42A-1D17-4012-A73A-8715D4EA7FE3}"/>
              </a:ext>
            </a:extLst>
          </ns0:cNvPr>
          <ns0:cNvSpPr>
            <a:spLocks noGrp="1"/>
          </ns0:cNvSpPr>
          <ns0:nvPr/>
        </ns0:nvSpPr>
        <ns0:spPr>
          <a:xfrm>
            <a:off x="6162675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R$ 513,2 mi</a:t>
            </a:r>
          </a:p>
        </ns0:txBody>
      </ns0:sp>
      <ns0:sp>
        <ns0:nvSpPr>
          <ns0:cNvPr id="279" name="">
            <a:extLst>
              <a:ext uri="{FF2B5EF4-FFF2-40B4-BE49-F238E27FC236}">
                <ns2:creationId id="{88E43E85-3A50-4671-BE1B-203B66D81170}"/>
              </a:ext>
            </a:extLst>
          </ns0:cNvPr>
          <ns0:cNvSpPr>
            <a:spLocks noGrp="1"/>
          </ns0:cNvSpPr>
          <ns0:nvPr/>
        </ns0:nvSpPr>
        <ns0:spPr>
          <a:xfrm>
            <a:off x="7500938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80" name="">
            <a:extLst>
              <a:ext uri="{FF2B5EF4-FFF2-40B4-BE49-F238E27FC236}">
                <ns2:creationId id="{825F7D26-41BA-42A0-A11D-400351E1B637}"/>
              </a:ext>
            </a:extLst>
          </ns0:cNvPr>
          <ns0:cNvSpPr>
            <a:spLocks noGrp="1"/>
          </ns0:cNvSpPr>
          <ns0:nvPr/>
        </ns0:nvSpPr>
        <ns0:spPr>
          <a:xfrm>
            <a:off x="7548563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MONEE II SEGMENTO FINANCEIRO</a:t>
            </a:r>
          </a:p>
        </ns0:txBody>
      </ns0:sp>
      <ns0:sp>
        <ns0:nvSpPr>
          <ns0:cNvPr id="281" name="">
            <a:extLst>
              <a:ext uri="{FF2B5EF4-FFF2-40B4-BE49-F238E27FC236}">
                <ns2:creationId id="{D89AC8AB-F37D-4382-8956-57DB0BAEFB2A}"/>
              </a:ext>
            </a:extLst>
          </ns0:cNvPr>
          <ns0:cNvSpPr>
            <a:spLocks noGrp="1"/>
          </ns0:cNvSpPr>
          <ns0:nvPr/>
        </ns0:nvSpPr>
        <ns0:spPr>
          <a:xfrm>
            <a:off x="7548563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R$ 442,2 mi</a:t>
            </a:r>
          </a:p>
        </ns0:txBody>
      </ns0:sp>
      <ns0:sp>
        <ns0:nvSpPr>
          <ns0:cNvPr id="282" name="">
            <a:extLst>
              <a:ext uri="{FF2B5EF4-FFF2-40B4-BE49-F238E27FC236}">
                <ns2:creationId id="{5C87B6E1-C09C-49BE-A6B7-85D81DF8A8D3}"/>
              </a:ext>
            </a:extLst>
          </ns0:cNvPr>
          <ns0:cNvSpPr>
            <a:spLocks noGrp="1"/>
          </ns0:cNvSpPr>
          <ns0:nvPr/>
        </ns0:nvSpPr>
        <ns0:spPr>
          <a:xfrm>
            <a:off x="8886825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83" name="">
            <a:extLst>
              <a:ext uri="{FF2B5EF4-FFF2-40B4-BE49-F238E27FC236}">
                <ns2:creationId id="{8B73090B-DA38-451E-B013-5F1E4B61DEAC}"/>
              </a:ext>
            </a:extLst>
          </ns0:cNvPr>
          <ns0:cNvSpPr>
            <a:spLocks noGrp="1"/>
          </ns0:cNvSpPr>
          <ns0:nvPr/>
        </ns0:nvSpPr>
        <ns0:spPr>
          <a:xfrm>
            <a:off x="8934450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IS GREEN SOLFÁCIL VI</a:t>
            </a:r>
          </a:p>
        </ns0:txBody>
      </ns0:sp>
      <ns0:sp>
        <ns0:nvSpPr>
          <ns0:cNvPr id="284" name="">
            <a:extLst>
              <a:ext uri="{FF2B5EF4-FFF2-40B4-BE49-F238E27FC236}">
                <ns2:creationId id="{AB99ED85-3D34-45D3-B546-11BCAC1FD62D}"/>
              </a:ext>
            </a:extLst>
          </ns0:cNvPr>
          <ns0:cNvSpPr>
            <a:spLocks noGrp="1"/>
          </ns0:cNvSpPr>
          <ns0:nvPr/>
        </ns0:nvSpPr>
        <ns0:spPr>
          <a:xfrm>
            <a:off x="8934450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R$ 437,4 mi</a:t>
            </a:r>
          </a:p>
        </ns0:txBody>
      </ns0:sp>
      <ns0:sp>
        <ns0:nvSpPr>
          <ns0:cNvPr id="285" name="">
            <a:extLst>
              <a:ext uri="{FF2B5EF4-FFF2-40B4-BE49-F238E27FC236}">
                <ns2:creationId id="{CB3CAAC8-0FBF-4998-A306-77DB5FF41A83}"/>
              </a:ext>
            </a:extLst>
          </ns0:cNvPr>
          <ns0:cNvSpPr>
            <a:spLocks noGrp="1"/>
          </ns0:cNvSpPr>
          <ns0:nvPr/>
        </ns0:nvSpPr>
        <ns0:spPr>
          <a:xfrm>
            <a:off x="10272713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86" name="">
            <a:extLst>
              <a:ext uri="{FF2B5EF4-FFF2-40B4-BE49-F238E27FC236}">
                <ns2:creationId id="{C2DBB24D-5FA7-4CB8-AF2E-395FEE000AD8}"/>
              </a:ext>
            </a:extLst>
          </ns0:cNvPr>
          <ns0:cNvSpPr>
            <a:spLocks noGrp="1"/>
          </ns0:cNvSpPr>
          <ns0:nvPr/>
        </ns0:nvSpPr>
        <ns0:spPr>
          <a:xfrm>
            <a:off x="10320338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RESIDENCE CLUB</a:t>
            </a:r>
          </a:p>
        </ns0:txBody>
      </ns0:sp>
      <ns0:sp>
        <ns0:nvSpPr>
          <ns0:cNvPr id="287" name="">
            <a:extLst>
              <a:ext uri="{FF2B5EF4-FFF2-40B4-BE49-F238E27FC236}">
                <ns2:creationId id="{D42DE8DB-908C-4127-B4D8-A59E219B9BE6}"/>
              </a:ext>
            </a:extLst>
          </ns0:cNvPr>
          <ns0:cNvSpPr>
            <a:spLocks noGrp="1"/>
          </ns0:cNvSpPr>
          <ns0:nvPr/>
        </ns0:nvSpPr>
        <ns0:spPr>
          <a:xfrm>
            <a:off x="10320338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R$ 403,4 mi</a:t>
            </a:r>
          </a:p>
        </ns0:txBody>
      </ns0:sp>
      <ns0:sp>
        <ns0:nvSpPr>
          <ns0:cNvPr id="288" name="">
            <a:extLst>
              <a:ext uri="{FF2B5EF4-FFF2-40B4-BE49-F238E27FC236}">
                <ns2:creationId id="{E30E51CD-A26B-4A84-9C7B-3B8A90BF5DA9}"/>
              </a:ext>
            </a:extLst>
          </ns0:cNvPr>
          <ns0:cNvSpPr>
            <a:spLocks noGrp="1"/>
          </ns0:cNvSpPr>
          <ns0:nvPr/>
        </ns0:nvSpPr>
        <ns0:spPr>
          <a:xfrm>
            <a:off x="571500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89" name="">
            <a:extLst>
              <a:ext uri="{FF2B5EF4-FFF2-40B4-BE49-F238E27FC236}">
                <ns2:creationId id="{7FD36FE1-E5A8-4378-A19D-EF7C4F21E962}"/>
              </a:ext>
            </a:extLst>
          </ns0:cNvPr>
          <ns0:cNvSpPr>
            <a:spLocks noGrp="1"/>
          </ns0:cNvSpPr>
          <ns0:nvPr/>
        </ns0:nvSpPr>
        <ns0:spPr>
          <a:xfrm>
            <a:off x="619125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PRAVALER CRÉDITO</a:t>
            </a:r>
          </a:p>
        </ns0:txBody>
      </ns0:sp>
      <ns0:sp>
        <ns0:nvSpPr>
          <ns0:cNvPr id="290" name="">
            <a:extLst>
              <a:ext uri="{FF2B5EF4-FFF2-40B4-BE49-F238E27FC236}">
                <ns2:creationId id="{A5FEAFC9-6410-43B4-95DB-8EEDCEFD98C3}"/>
              </a:ext>
            </a:extLst>
          </ns0:cNvPr>
          <ns0:cNvSpPr>
            <a:spLocks noGrp="1"/>
          </ns0:cNvSpPr>
          <ns0:nvPr/>
        </ns0:nvSpPr>
        <ns0:spPr>
          <a:xfrm>
            <a:off x="619125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R$ 392,9 mi</a:t>
            </a:r>
          </a:p>
        </ns0:txBody>
      </ns0:sp>
      <ns0:sp>
        <ns0:nvSpPr>
          <ns0:cNvPr id="291" name="">
            <a:extLst>
              <a:ext uri="{FF2B5EF4-FFF2-40B4-BE49-F238E27FC236}">
                <ns2:creationId id="{3A29DA1C-812D-4AE1-855B-CACAD1AB008B}"/>
              </a:ext>
            </a:extLst>
          </ns0:cNvPr>
          <ns0:cNvSpPr>
            <a:spLocks noGrp="1"/>
          </ns0:cNvSpPr>
          <ns0:nvPr/>
        </ns0:nvSpPr>
        <ns0:spPr>
          <a:xfrm>
            <a:off x="1957388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92" name="">
            <a:extLst>
              <a:ext uri="{FF2B5EF4-FFF2-40B4-BE49-F238E27FC236}">
                <ns2:creationId id="{5E213A48-1957-46D3-9AEE-30CE3A3C4669}"/>
              </a:ext>
            </a:extLst>
          </ns0:cNvPr>
          <ns0:cNvSpPr>
            <a:spLocks noGrp="1"/>
          </ns0:cNvSpPr>
          <ns0:nvPr/>
        </ns0:nvSpPr>
        <ns0:spPr>
          <a:xfrm>
            <a:off x="2005013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SOL AGORA GREEN ESG FIDC IS</a:t>
            </a:r>
          </a:p>
        </ns0:txBody>
      </ns0:sp>
      <ns0:sp>
        <ns0:nvSpPr>
          <ns0:cNvPr id="293" name="">
            <a:extLst>
              <a:ext uri="{FF2B5EF4-FFF2-40B4-BE49-F238E27FC236}">
                <ns2:creationId id="{38D5D57A-0156-4ADB-AFF5-0551A044A82C}"/>
              </a:ext>
            </a:extLst>
          </ns0:cNvPr>
          <ns0:cNvSpPr>
            <a:spLocks noGrp="1"/>
          </ns0:cNvSpPr>
          <ns0:nvPr/>
        </ns0:nvSpPr>
        <ns0:spPr>
          <a:xfrm>
            <a:off x="2005013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R$ 285,1 mi</a:t>
            </a:r>
          </a:p>
        </ns0:txBody>
      </ns0:sp>
      <ns0:sp>
        <ns0:nvSpPr>
          <ns0:cNvPr id="294" name="">
            <a:extLst>
              <a:ext uri="{FF2B5EF4-FFF2-40B4-BE49-F238E27FC236}">
                <ns2:creationId id="{9E1A0FB6-C31E-4DF6-B456-A15FB42EDFB0}"/>
              </a:ext>
            </a:extLst>
          </ns0:cNvPr>
          <ns0:cNvSpPr>
            <a:spLocks noGrp="1"/>
          </ns0:cNvSpPr>
          <ns0:nvPr/>
        </ns0:nvSpPr>
        <ns0:spPr>
          <a:xfrm>
            <a:off x="3343275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95" name="">
            <a:extLst>
              <a:ext uri="{FF2B5EF4-FFF2-40B4-BE49-F238E27FC236}">
                <ns2:creationId id="{B3350349-7ED8-4850-8AC6-192F4EA23733}"/>
              </a:ext>
            </a:extLst>
          </ns0:cNvPr>
          <ns0:cNvSpPr>
            <a:spLocks noGrp="1"/>
          </ns0:cNvSpPr>
          <ns0:nvPr/>
        </ns0:nvSpPr>
        <ns0:spPr>
          <a:xfrm>
            <a:off x="3390900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SOTREQ</a:t>
            </a:r>
          </a:p>
        </ns0:txBody>
      </ns0:sp>
      <ns0:sp>
        <ns0:nvSpPr>
          <ns0:cNvPr id="296" name="">
            <a:extLst>
              <a:ext uri="{FF2B5EF4-FFF2-40B4-BE49-F238E27FC236}">
                <ns2:creationId id="{FBD0E3D9-79A9-4AE2-BF1F-88FEAE5E34DD}"/>
              </a:ext>
            </a:extLst>
          </ns0:cNvPr>
          <ns0:cNvSpPr>
            <a:spLocks noGrp="1"/>
          </ns0:cNvSpPr>
          <ns0:nvPr/>
        </ns0:nvSpPr>
        <ns0:spPr>
          <a:xfrm>
            <a:off x="3390900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R$ 205,2 mi</a:t>
            </a:r>
          </a:p>
        </ns0:txBody>
      </ns0:sp>
      <ns0:sp>
        <ns0:nvSpPr>
          <ns0:cNvPr id="297" name="">
            <a:extLst>
              <a:ext uri="{FF2B5EF4-FFF2-40B4-BE49-F238E27FC236}">
                <ns2:creationId id="{246236AE-B231-43A0-99E5-B99FE868493C}"/>
              </a:ext>
            </a:extLst>
          </ns0:cNvPr>
          <ns0:cNvSpPr>
            <a:spLocks noGrp="1"/>
          </ns0:cNvSpPr>
          <ns0:nvPr/>
        </ns0:nvSpPr>
        <ns0:spPr>
          <a:xfrm>
            <a:off x="4729163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98" name="">
            <a:extLst>
              <a:ext uri="{FF2B5EF4-FFF2-40B4-BE49-F238E27FC236}">
                <ns2:creationId id="{370702C0-18DC-4759-AEE1-AA20666B2077}"/>
              </a:ext>
            </a:extLst>
          </ns0:cNvPr>
          <ns0:cNvSpPr>
            <a:spLocks noGrp="1"/>
          </ns0:cNvSpPr>
          <ns0:nvPr/>
        </ns0:nvSpPr>
        <ns0:spPr>
          <a:xfrm>
            <a:off x="4776788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VIA INVEST II</a:t>
            </a:r>
          </a:p>
        </ns0:txBody>
      </ns0:sp>
      <ns0:sp>
        <ns0:nvSpPr>
          <ns0:cNvPr id="299" name="">
            <a:extLst>
              <a:ext uri="{FF2B5EF4-FFF2-40B4-BE49-F238E27FC236}">
                <ns2:creationId id="{BA10B995-561B-472D-8B10-AF969B945889}"/>
              </a:ext>
            </a:extLst>
          </ns0:cNvPr>
          <ns0:cNvSpPr>
            <a:spLocks noGrp="1"/>
          </ns0:cNvSpPr>
          <ns0:nvPr/>
        </ns0:nvSpPr>
        <ns0:spPr>
          <a:xfrm>
            <a:off x="4776788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R$ 202,9 mi</a:t>
            </a:r>
          </a:p>
        </ns0:txBody>
      </ns0:sp>
      <ns0:sp>
        <ns0:nvSpPr>
          <ns0:cNvPr id="300" name="">
            <a:extLst>
              <a:ext uri="{FF2B5EF4-FFF2-40B4-BE49-F238E27FC236}">
                <ns2:creationId id="{04FC59D1-110C-481D-BDC6-2561636BD9EE}"/>
              </a:ext>
            </a:extLst>
          </ns0:cNvPr>
          <ns0:cNvSpPr>
            <a:spLocks noGrp="1"/>
          </ns0:cNvSpPr>
          <ns0:nvPr/>
        </ns0:nvSpPr>
        <ns0:spPr>
          <a:xfrm>
            <a:off x="6115050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01" name="">
            <a:extLst>
              <a:ext uri="{FF2B5EF4-FFF2-40B4-BE49-F238E27FC236}">
                <ns2:creationId id="{73FF4C1C-3381-4D96-B84C-B040893301CE}"/>
              </a:ext>
            </a:extLst>
          </ns0:cNvPr>
          <ns0:cNvSpPr>
            <a:spLocks noGrp="1"/>
          </ns0:cNvSpPr>
          <ns0:nvPr/>
        </ns0:nvSpPr>
        <ns0:spPr>
          <a:xfrm>
            <a:off x="6162675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CARTÃO DE COMPRA SUPPLIER</a:t>
            </a:r>
          </a:p>
        </ns0:txBody>
      </ns0:sp>
      <ns0:sp>
        <ns0:nvSpPr>
          <ns0:cNvPr id="302" name="">
            <a:extLst>
              <a:ext uri="{FF2B5EF4-FFF2-40B4-BE49-F238E27FC236}">
                <ns2:creationId id="{E4218950-E198-455C-88F8-94EF93F8810F}"/>
              </a:ext>
            </a:extLst>
          </ns0:cNvPr>
          <ns0:cNvSpPr>
            <a:spLocks noGrp="1"/>
          </ns0:cNvSpPr>
          <ns0:nvPr/>
        </ns0:nvSpPr>
        <ns0:spPr>
          <a:xfrm>
            <a:off x="6162675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R$ 193,6 mi</a:t>
            </a:r>
          </a:p>
        </ns0:txBody>
      </ns0:sp>
      <ns0:sp>
        <ns0:nvSpPr>
          <ns0:cNvPr id="303" name="">
            <a:extLst>
              <a:ext uri="{FF2B5EF4-FFF2-40B4-BE49-F238E27FC236}">
                <ns2:creationId id="{65E9DA79-7A61-46F0-90AE-0E434DBE4919}"/>
              </a:ext>
            </a:extLst>
          </ns0:cNvPr>
          <ns0:cNvSpPr>
            <a:spLocks noGrp="1"/>
          </ns0:cNvSpPr>
          <ns0:nvPr/>
        </ns0:nvSpPr>
        <ns0:spPr>
          <a:xfrm>
            <a:off x="7500938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04" name="">
            <a:extLst>
              <a:ext uri="{FF2B5EF4-FFF2-40B4-BE49-F238E27FC236}">
                <ns2:creationId id="{0A3910B7-11A5-4D76-8788-77986ADB46D0}"/>
              </a:ext>
            </a:extLst>
          </ns0:cNvPr>
          <ns0:cNvSpPr>
            <a:spLocks noGrp="1"/>
          </ns0:cNvSpPr>
          <ns0:nvPr/>
        </ns0:nvSpPr>
        <ns0:spPr>
          <a:xfrm>
            <a:off x="7548563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INCLUSÃO CREDIÁRIA</a:t>
            </a:r>
          </a:p>
        </ns0:txBody>
      </ns0:sp>
      <ns0:sp>
        <ns0:nvSpPr>
          <ns0:cNvPr id="305" name="">
            <a:extLst>
              <a:ext uri="{FF2B5EF4-FFF2-40B4-BE49-F238E27FC236}">
                <ns2:creationId id="{01049C33-11FD-403C-99C9-70DF23292AB5}"/>
              </a:ext>
            </a:extLst>
          </ns0:cNvPr>
          <ns0:cNvSpPr>
            <a:spLocks noGrp="1"/>
          </ns0:cNvSpPr>
          <ns0:nvPr/>
        </ns0:nvSpPr>
        <ns0:spPr>
          <a:xfrm>
            <a:off x="7548563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R$ 156,4 mi</a:t>
            </a:r>
          </a:p>
        </ns0:txBody>
      </ns0:sp>
      <ns0:sp>
        <ns0:nvSpPr>
          <ns0:cNvPr id="306" name="">
            <a:extLst>
              <a:ext uri="{FF2B5EF4-FFF2-40B4-BE49-F238E27FC236}">
                <ns2:creationId id="{054C45A7-8D0B-4544-B23C-4F3BF8187BCF}"/>
              </a:ext>
            </a:extLst>
          </ns0:cNvPr>
          <ns0:cNvSpPr>
            <a:spLocks noGrp="1"/>
          </ns0:cNvSpPr>
          <ns0:nvPr/>
        </ns0:nvSpPr>
        <ns0:spPr>
          <a:xfrm>
            <a:off x="8886825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07" name="">
            <a:extLst>
              <a:ext uri="{FF2B5EF4-FFF2-40B4-BE49-F238E27FC236}">
                <ns2:creationId id="{A20AE79B-1EA7-4D1A-8152-F3D351F5C5C0}"/>
              </a:ext>
            </a:extLst>
          </ns0:cNvPr>
          <ns0:cNvSpPr>
            <a:spLocks noGrp="1"/>
          </ns0:cNvSpPr>
          <ns0:nvPr/>
        </ns0:nvSpPr>
        <ns0:spPr>
          <a:xfrm>
            <a:off x="8934450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PNEUCASH II</a:t>
            </a:r>
          </a:p>
        </ns0:txBody>
      </ns0:sp>
      <ns0:sp>
        <ns0:nvSpPr>
          <ns0:cNvPr id="308" name="">
            <a:extLst>
              <a:ext uri="{FF2B5EF4-FFF2-40B4-BE49-F238E27FC236}">
                <ns2:creationId id="{99953B8D-BC30-4B27-9A69-E46A65C5350A}"/>
              </a:ext>
            </a:extLst>
          </ns0:cNvPr>
          <ns0:cNvSpPr>
            <a:spLocks noGrp="1"/>
          </ns0:cNvSpPr>
          <ns0:nvPr/>
        </ns0:nvSpPr>
        <ns0:spPr>
          <a:xfrm>
            <a:off x="8934450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R$ 154,3 mi</a:t>
            </a:r>
          </a:p>
        </ns0:txBody>
      </ns0:sp>
      <ns0:sp>
        <ns0:nvSpPr>
          <ns0:cNvPr id="309" name="">
            <a:extLst>
              <a:ext uri="{FF2B5EF4-FFF2-40B4-BE49-F238E27FC236}">
                <ns2:creationId id="{E2832E82-AE47-4038-8437-B53753311CEB}"/>
              </a:ext>
            </a:extLst>
          </ns0:cNvPr>
          <ns0:cNvSpPr>
            <a:spLocks noGrp="1"/>
          </ns0:cNvSpPr>
          <ns0:nvPr/>
        </ns0:nvSpPr>
        <ns0:spPr>
          <a:xfrm>
            <a:off x="10272713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10" name="">
            <a:extLst>
              <a:ext uri="{FF2B5EF4-FFF2-40B4-BE49-F238E27FC236}">
                <ns2:creationId id="{F03CBA5E-AF6D-44BE-93A8-FCA9A1017C7D}"/>
              </a:ext>
            </a:extLst>
          </ns0:cNvPr>
          <ns0:cNvSpPr>
            <a:spLocks noGrp="1"/>
          </ns0:cNvSpPr>
          <ns0:nvPr/>
        </ns0:nvSpPr>
        <ns0:spPr>
          <a:xfrm>
            <a:off x="10320338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MCPO</a:t>
            </a:r>
          </a:p>
        </ns0:txBody>
      </ns0:sp>
      <ns0:sp>
        <ns0:nvSpPr>
          <ns0:cNvPr id="311" name="">
            <a:extLst>
              <a:ext uri="{FF2B5EF4-FFF2-40B4-BE49-F238E27FC236}">
                <ns2:creationId id="{98C03130-339B-43C8-9313-6C0BDBA875DB}"/>
              </a:ext>
            </a:extLst>
          </ns0:cNvPr>
          <ns0:cNvSpPr>
            <a:spLocks noGrp="1"/>
          </ns0:cNvSpPr>
          <ns0:nvPr/>
        </ns0:nvSpPr>
        <ns0:spPr>
          <a:xfrm>
            <a:off x="10320338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R$ 113,3 mi</a:t>
            </a:r>
          </a:p>
        </ns0:txBody>
      </ns0:sp>
      <ns0:sp>
        <ns0:nvSpPr>
          <ns0:cNvPr id="312" name="">
            <a:extLst>
              <a:ext uri="{FF2B5EF4-FFF2-40B4-BE49-F238E27FC236}">
                <ns2:creationId id="{37204952-24EB-4FCC-9D85-F9D8928D2815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13" name="">
            <a:extLst>
              <a:ext uri="{FF2B5EF4-FFF2-40B4-BE49-F238E27FC236}">
                <ns2:creationId id="{257EDB5D-98BB-43E6-91D0-C6BEE635471C}"/>
              </a:ext>
            </a:extLst>
          </ns0:cNvPr>
          <ns0:cNvSpPr>
            <a:spLocks noGrp="1"/>
          </ns0:cNvSpPr>
          <ns0:nvPr/>
        </ns0:nvSpPr>
        <ns0:spPr>
          <a:xfrm>
            <a:off x="619125" y="58769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CAP</a:t>
            </a:r>
          </a:p>
        </ns0:txBody>
      </ns0:sp>
      <ns0:sp>
        <ns0:nvSpPr>
          <ns0:cNvPr id="314" name="">
            <a:extLst>
              <a:ext uri="{FF2B5EF4-FFF2-40B4-BE49-F238E27FC236}">
                <ns2:creationId id="{AB5ACCEA-B9A5-4851-A775-A0AE7D22DCDB}"/>
              </a:ext>
            </a:extLst>
          </ns0:cNvPr>
          <ns0:cNvSpPr>
            <a:spLocks noGrp="1"/>
          </ns0:cNvSpPr>
          <ns0:nvPr/>
        </ns0:nvSpPr>
        <ns0:spPr>
          <a:xfrm>
            <a:off x="619125" y="60483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R$ 99,3 mi</a:t>
            </a:r>
          </a:p>
        </ns0:txBody>
      </ns0:sp>
      <ns0:sp>
        <ns0:nvSpPr>
          <ns0:cNvPr id="315" name="">
            <a:extLst>
              <a:ext uri="{FF2B5EF4-FFF2-40B4-BE49-F238E27FC236}">
                <ns2:creationId id="{B62538B5-36A5-4B33-AA76-CB34528B6B97}"/>
              </a:ext>
            </a:extLst>
          </ns0:cNvPr>
          <ns0:cNvSpPr>
            <a:spLocks noGrp="1"/>
          </ns0:cNvSpPr>
          <ns0:nvPr/>
        </ns0:nvSpPr>
        <ns0:spPr>
          <a:xfrm>
            <a:off x="1957388" y="58483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16" name="">
            <a:extLst>
              <a:ext uri="{FF2B5EF4-FFF2-40B4-BE49-F238E27FC236}">
                <ns2:creationId id="{9FFD259D-5984-4515-BF5F-BA6C47FA85F2}"/>
              </a:ext>
            </a:extLst>
          </ns0:cNvPr>
          <ns0:cNvSpPr>
            <a:spLocks noGrp="1"/>
          </ns0:cNvSpPr>
          <ns0:nvPr/>
        </ns0:nvSpPr>
        <ns0:spPr>
          <a:xfrm>
            <a:off x="2005013" y="58769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ESTRATÉGIA VINCULADA I</a:t>
            </a:r>
          </a:p>
        </ns0:txBody>
      </ns0:sp>
      <ns0:sp>
        <ns0:nvSpPr>
          <ns0:cNvPr id="317" name="">
            <a:extLst>
              <a:ext uri="{FF2B5EF4-FFF2-40B4-BE49-F238E27FC236}">
                <ns2:creationId id="{37D1CA11-F917-4180-9731-1942627DD5B8}"/>
              </a:ext>
            </a:extLst>
          </ns0:cNvPr>
          <ns0:cNvSpPr>
            <a:spLocks noGrp="1"/>
          </ns0:cNvSpPr>
          <ns0:nvPr/>
        </ns0:nvSpPr>
        <ns0:spPr>
          <a:xfrm>
            <a:off x="2005013" y="60483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R$ 98,0 mi</a:t>
            </a:r>
          </a:p>
        </ns0:txBody>
      </ns0:sp>
      <ns0:sp>
        <ns0:nvSpPr>
          <ns0:cNvPr id="318" name="">
            <a:extLst>
              <a:ext uri="{FF2B5EF4-FFF2-40B4-BE49-F238E27FC236}">
                <ns2:creationId id="{F83D4030-F01A-443C-9C6E-CF3E9428561D}"/>
              </a:ext>
            </a:extLst>
          </ns0:cNvPr>
          <ns0:cNvSpPr>
            <a:spLocks noGrp="1"/>
          </ns0:cNvSpPr>
          <ns0:nvPr/>
        </ns0:nvSpPr>
        <ns0:spPr>
          <a:xfrm>
            <a:off x="3343275" y="58483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19" name="">
            <a:extLst>
              <a:ext uri="{FF2B5EF4-FFF2-40B4-BE49-F238E27FC236}">
                <ns2:creationId id="{5E4FBF73-294C-4550-97B2-0832C3FF1A70}"/>
              </a:ext>
            </a:extLst>
          </ns0:cNvPr>
          <ns0:cNvSpPr>
            <a:spLocks noGrp="1"/>
          </ns0:cNvSpPr>
          <ns0:nvPr/>
        </ns0:nvSpPr>
        <ns0:spPr>
          <a:xfrm>
            <a:off x="3390900" y="58769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IS GREEN SOLFÁCIL II</a:t>
            </a:r>
          </a:p>
        </ns0:txBody>
      </ns0:sp>
      <ns0:sp>
        <ns0:nvSpPr>
          <ns0:cNvPr id="320" name="">
            <a:extLst>
              <a:ext uri="{FF2B5EF4-FFF2-40B4-BE49-F238E27FC236}">
                <ns2:creationId id="{9AD57048-B59A-46FD-9290-61F139436661}"/>
              </a:ext>
            </a:extLst>
          </ns0:cNvPr>
          <ns0:cNvSpPr>
            <a:spLocks noGrp="1"/>
          </ns0:cNvSpPr>
          <ns0:nvPr/>
        </ns0:nvSpPr>
        <ns0:spPr>
          <a:xfrm>
            <a:off x="3390900" y="60483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R$ 96,1 mi</a:t>
            </a:r>
          </a:p>
        </ns0:txBody>
      </ns0:sp>
      <ns0:sp>
        <ns0:nvSpPr>
          <ns0:cNvPr id="321" name="">
            <a:extLst>
              <a:ext uri="{FF2B5EF4-FFF2-40B4-BE49-F238E27FC236}">
                <ns2:creationId id="{88BBBF20-922B-4EB3-8278-C807F7F4B728}"/>
              </a:ext>
            </a:extLst>
          </ns0:cNvPr>
          <ns0:cNvSpPr>
            <a:spLocks noGrp="1"/>
          </ns0:cNvSpPr>
          <ns0:nvPr/>
        </ns0:nvSpPr>
        <ns0:spPr>
          <a:xfrm>
            <a:off x="4729163" y="58483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22" name="">
            <a:extLst>
              <a:ext uri="{FF2B5EF4-FFF2-40B4-BE49-F238E27FC236}">
                <ns2:creationId id="{7C20F362-22D0-45A9-B5F2-804838FF3787}"/>
              </a:ext>
            </a:extLst>
          </ns0:cNvPr>
          <ns0:cNvSpPr>
            <a:spLocks noGrp="1"/>
          </ns0:cNvSpPr>
          <ns0:nvPr/>
        </ns0:nvSpPr>
        <ns0:spPr>
          <a:xfrm>
            <a:off x="4776788" y="58769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ESTRATÉGIA VINCULADA II</a:t>
            </a:r>
          </a:p>
        </ns0:txBody>
      </ns0:sp>
      <ns0:sp>
        <ns0:nvSpPr>
          <ns0:cNvPr id="323" name="">
            <a:extLst>
              <a:ext uri="{FF2B5EF4-FFF2-40B4-BE49-F238E27FC236}">
                <ns2:creationId id="{1A6EA792-9567-48B5-A6DC-94B3937B2C49}"/>
              </a:ext>
            </a:extLst>
          </ns0:cNvPr>
          <ns0:cNvSpPr>
            <a:spLocks noGrp="1"/>
          </ns0:cNvSpPr>
          <ns0:nvPr/>
        </ns0:nvSpPr>
        <ns0:spPr>
          <a:xfrm>
            <a:off x="4776788" y="60483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324" name="">
            <a:extLst>
              <a:ext uri="{FF2B5EF4-FFF2-40B4-BE49-F238E27FC236}">
                <ns2:creationId id="{E007A94C-359A-49B3-9421-3A518C090375}"/>
              </a:ext>
            </a:extLst>
          </ns0:cNvPr>
          <ns0:cNvSpPr>
            <a:spLocks noGrp="1"/>
          </ns0:cNvSpPr>
          <ns0:nvPr/>
        </ns0:nvSpPr>
        <ns0:spPr>
          <a:xfrm>
            <a:off x="6115050" y="5848350"/>
            <a:ext cx="1347788" cy="333375"/>
          </a:xfrm>
          <a:prstGeom prst="rect">
            <a:avLst/>
          </a:prstGeom>
          <a:solidFill>
            <a:srgbClr val="F1F2F3"/>
          </a:solidFill>
          <a:ln w="0">
            <a:noFill/>
            <a:prstDash val="solid"/>
          </a:ln>
        </ns0:spPr>
      </ns0:sp>
      <ns0:sp>
        <ns0:nvSpPr>
          <ns0:cNvPr id="325" name="">
            <a:extLst>
              <a:ext uri="{FF2B5EF4-FFF2-40B4-BE49-F238E27FC236}">
                <ns2:creationId id="{04339156-A16A-43C7-8F6A-17224F17CC1D}"/>
              </a:ext>
            </a:extLst>
          </ns0:cNvPr>
          <ns0:cNvSpPr>
            <a:spLocks noGrp="1"/>
          </ns0:cNvSpPr>
          <ns0:nvPr/>
        </ns0:nvSpPr>
        <ns0:spPr>
          <a:xfrm>
            <a:off x="6162675" y="58769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CLASSE I DO CANAA FUNDO DE</a:t>
            </a:r>
          </a:p>
        </ns0:txBody>
      </ns0:sp>
      <ns0:sp>
        <ns0:nvSpPr>
          <ns0:cNvPr id="326" name="">
            <a:extLst>
              <a:ext uri="{FF2B5EF4-FFF2-40B4-BE49-F238E27FC236}">
                <ns2:creationId id="{3F0D2323-1B78-4F06-AA4C-027F2C2BCE7B}"/>
              </a:ext>
            </a:extLst>
          </ns0:cNvPr>
          <ns0:cNvSpPr>
            <a:spLocks noGrp="1"/>
          </ns0:cNvSpPr>
          <ns0:nvPr/>
        </ns0:nvSpPr>
        <ns0:spPr>
          <a:xfrm>
            <a:off x="6162675" y="60483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327" name="">
            <a:extLst>
              <a:ext uri="{FF2B5EF4-FFF2-40B4-BE49-F238E27FC236}">
                <ns2:creationId id="{A362406E-A6B0-44EA-BAC7-B1A4D918117B}"/>
              </a:ext>
            </a:extLst>
          </ns0:cNvPr>
          <ns0:cNvSpPr>
            <a:spLocks noGrp="1"/>
          </ns0:cNvSpPr>
          <ns0:nvPr/>
        </ns0:nvSpPr>
        <ns0:spPr>
          <a:xfrm>
            <a:off x="571500" y="6162675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50/101 com mínimo júnior · 97/101 com data de emissão · 21/101 com família flagship</a:t>
            </a:r>
          </a:p>
        </ns0:txBody>
      </ns0:sp>
    </ns0:spTree>
    <ns0:extLst>
      <ns0:ext uri="{BB962C8B-B14F-4D97-AF65-F5344CB8AC3E}">
        <ns3:creationId val="915228084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9" name="">
            <a:extLst>
              <a:ext uri="{FF2B5EF4-FFF2-40B4-BE49-F238E27FC236}">
                <ns2:creationId id="{765FF3DD-9325-45AB-8445-AF8790B9BBF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D4FA1A8-68D2-44A3-B608-D2C101D03F7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8,8% dos fundos e 40,4% do PL; dados incompletos cobrem 1,1%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09EAADE-72AC-4BF9-9A4D-909E8869DB2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7ED9376-1EE0-4237-8EAD-8BA7764F5D9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07BE4A8-6E7D-4BDE-8BD3-D5D3F700176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PL direto; FICs excluídos pelo portão único. Definição mono: mesmo conglomerado normalizado nas três funções.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0A3A2D-6DEC-40E2-B171-000399654BB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graphicFrame>
        <ns0:nvGraphicFramePr>
          <ns0:cNvPr id="35" name="Chart"/>
          <ns0:cNvGraphicFramePr/>
          <ns0:nvPr/>
        </ns0:nvGraphicFramePr>
        <ns0:xfrm>
          <a:off x="571500" y="1476375"/>
          <a:ext cx="7048500" cy="4191000"/>
        </ns0:xfrm>
        <a:graphic>
          <a:graphicData uri="http://schemas.openxmlformats.org/drawingml/2006/chart">
            <c:chart ns4:id="Ra5a51c4f4f97402f"/>
          </a:graphicData>
        </a:graphic>
      </ns0:graphicFrame>
      <ns0:sp>
        <ns0:nvSpPr>
          <ns0:cNvPr id="8" name="">
            <a:extLst>
              <a:ext uri="{FF2B5EF4-FFF2-40B4-BE49-F238E27FC236}">
                <ns2:creationId id="{5844126E-DB36-4CFF-AB46-95F2E90A4BB6}"/>
              </a:ext>
            </a:extLst>
          </ns0:cNvPr>
          <ns0:cNvSpPr>
            <a:spLocks noGrp="1"/>
          </ns0:cNvSpPr>
          <ns0:nvPr/>
        </ns0:nvSpPr>
        <ns0:spPr>
          <a:xfrm>
            <a:off x="1524000" y="5057775"/>
            <a:ext cx="6000750" cy="2667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34CE83FB-B2DA-4CC9-99F9-C48B3A74EA51}"/>
              </a:ext>
            </a:extLst>
          </ns0:cNvPr>
          <ns0:cNvSpPr>
            <a:spLocks noGrp="1"/>
          </ns0:cNvSpPr>
          <ns0:nvPr/>
        </ns0:nvSpPr>
        <ns0:spPr>
          <a:xfrm>
            <a:off x="8096250" y="1476375"/>
            <a:ext cx="3524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F51319C-8575-4B00-A425-54454E021590}"/>
              </a:ext>
            </a:extLst>
          </ns0:cNvPr>
          <ns0:cNvSpPr>
            <a:spLocks noGrp="1"/>
          </ns0:cNvSpPr>
          <ns0:nvPr/>
        </ns0:nvSpPr>
        <ns0:spPr>
          <a:xfrm>
            <a:off x="8096250" y="1743075"/>
            <a:ext cx="3524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57CE685-3195-48C1-B75A-21F4B5E9C03F}"/>
              </a:ext>
            </a:extLst>
          </ns0:cNvPr>
          <ns0:cNvSpPr>
            <a:spLocks noGrp="1"/>
          </ns0:cNvSpPr>
          <ns0:nvPr/>
        </ns0:nvSpPr>
        <ns0:spPr>
          <a:xfrm>
            <a:off x="8096250" y="1962150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7ACCF944-7ABB-42F6-8BDC-71A387364BC2}"/>
              </a:ext>
            </a:extLst>
          </ns0:cNvPr>
          <ns0:cNvSpPr>
            <a:spLocks noGrp="1"/>
          </ns0:cNvSpPr>
          <ns0:nvPr/>
        </ns0:nvSpPr>
        <ns0:spPr>
          <a:xfrm>
            <a:off x="10069830" y="1962150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304 · R$ 331,6 bi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1826895D-FCCF-4275-8B25-0C924A315EEF}"/>
              </a:ext>
            </a:extLst>
          </ns0:cNvPr>
          <ns0:cNvSpPr>
            <a:spLocks noGrp="1"/>
          </ns0:cNvSpPr>
          <ns0:nvPr/>
        </ns0:nvSpPr>
        <ns0:spPr>
          <a:xfrm>
            <a:off x="8096250" y="2468563"/>
            <a:ext cx="352425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EF5FAC25-D1D9-43DE-BA99-ABB8BEDFED88}"/>
              </a:ext>
            </a:extLst>
          </ns0:cNvPr>
          <ns0:cNvSpPr>
            <a:spLocks noGrp="1"/>
          </ns0:cNvSpPr>
          <ns0:nvPr/>
        </ns0:nvSpPr>
        <ns0:spPr>
          <a:xfrm>
            <a:off x="8096250" y="2525713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85DF096-6B7E-4CB1-AC7E-1CBAA37F2437}"/>
              </a:ext>
            </a:extLst>
          </ns0:cNvPr>
          <ns0:cNvSpPr>
            <a:spLocks noGrp="1"/>
          </ns0:cNvSpPr>
          <ns0:nvPr/>
        </ns0:nvSpPr>
        <ns0:spPr>
          <a:xfrm>
            <a:off x="10069830" y="2525713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29 · R$ 23,1 bi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7C73BA31-4B3F-4756-96D9-08FDFFC1F025}"/>
              </a:ext>
            </a:extLst>
          </ns0:cNvPr>
          <ns0:cNvSpPr>
            <a:spLocks noGrp="1"/>
          </ns0:cNvSpPr>
          <ns0:nvPr/>
        </ns0:nvSpPr>
        <ns0:spPr>
          <a:xfrm>
            <a:off x="8096250" y="3032125"/>
            <a:ext cx="352425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EC35292E-4460-4254-A94F-AFF1F0D37E78}"/>
              </a:ext>
            </a:extLst>
          </ns0:cNvPr>
          <ns0:cNvSpPr>
            <a:spLocks noGrp="1"/>
          </ns0:cNvSpPr>
          <ns0:nvPr/>
        </ns0:nvSpPr>
        <ns0:spPr>
          <a:xfrm>
            <a:off x="8096250" y="3089275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2C57BCB-68ED-46BC-B37C-F9AF0990B312}"/>
              </a:ext>
            </a:extLst>
          </ns0:cNvPr>
          <ns0:cNvSpPr>
            <a:spLocks noGrp="1"/>
          </ns0:cNvSpPr>
          <ns0:nvPr/>
        </ns0:nvSpPr>
        <ns0:spPr>
          <a:xfrm>
            <a:off x="10069830" y="3089275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2.772 · R$ 413,5 bi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48DB7DA-8F1C-4C1E-A5F6-A74031B1D846}"/>
              </a:ext>
            </a:extLst>
          </ns0:cNvPr>
          <ns0:cNvSpPr>
            <a:spLocks noGrp="1"/>
          </ns0:cNvSpPr>
          <ns0:nvPr/>
        </ns0:nvSpPr>
        <ns0:spPr>
          <a:xfrm>
            <a:off x="8096250" y="3595688"/>
            <a:ext cx="352425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62D69520-6681-4278-A390-69B493B2CEF3}"/>
              </a:ext>
            </a:extLst>
          </ns0:cNvPr>
          <ns0:cNvSpPr>
            <a:spLocks noGrp="1"/>
          </ns0:cNvSpPr>
          <ns0:nvPr/>
        </ns0:nvSpPr>
        <ns0:spPr>
          <a:xfrm>
            <a:off x="8096250" y="3652838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DBBD215A-DBED-420D-B27F-4268DF54F666}"/>
              </a:ext>
            </a:extLst>
          </ns0:cNvPr>
          <ns0:cNvSpPr>
            <a:spLocks noGrp="1"/>
          </ns0:cNvSpPr>
          <ns0:nvPr/>
        </ns0:nvSpPr>
        <ns0:spPr>
          <a:xfrm>
            <a:off x="10069830" y="3652838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38 · R$ 8,2 bi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4D59AEA9-81A1-4692-B24B-2143F94A6827}"/>
              </a:ext>
            </a:extLst>
          </ns0:cNvPr>
          <ns0:cNvSpPr>
            <a:spLocks noGrp="1"/>
          </ns0:cNvSpPr>
          <ns0:nvPr/>
        </ns0:nvSpPr>
        <ns0:spPr>
          <a:xfrm>
            <a:off x="8096250" y="4159250"/>
            <a:ext cx="352425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9CD4E09F-1807-4F0A-9320-C17715C5D386}"/>
              </a:ext>
            </a:extLst>
          </ns0:cNvPr>
          <ns0:cNvSpPr>
            <a:spLocks noGrp="1"/>
          </ns0:cNvSpPr>
          <ns0:nvPr/>
        </ns0:nvSpPr>
        <ns0:spPr>
          <a:xfrm>
            <a:off x="8096250" y="4216400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187CCABD-9DB6-4657-9918-C1621DEC18D1}"/>
              </a:ext>
            </a:extLst>
          </ns0:cNvPr>
          <ns0:cNvSpPr>
            <a:spLocks noGrp="1"/>
          </ns0:cNvSpPr>
          <ns0:nvPr/>
        </ns0:nvSpPr>
        <ns0:spPr>
          <a:xfrm>
            <a:off x="10069830" y="4216400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271 · R$ 36,1 bi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91E764EE-134E-4A9F-9201-C5DE0157B65C}"/>
              </a:ext>
            </a:extLst>
          </ns0:cNvPr>
          <ns0:cNvSpPr>
            <a:spLocks noGrp="1"/>
          </ns0:cNvSpPr>
          <ns0:nvPr/>
        </ns0:nvSpPr>
        <ns0:spPr>
          <a:xfrm>
            <a:off x="8096250" y="4722813"/>
            <a:ext cx="352425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6F1CFD53-A3D3-4AA0-B41F-54218824E42A}"/>
              </a:ext>
            </a:extLst>
          </ns0:cNvPr>
          <ns0:cNvSpPr>
            <a:spLocks noGrp="1"/>
          </ns0:cNvSpPr>
          <ns0:nvPr/>
        </ns0:nvSpPr>
        <ns0:spPr>
          <a:xfrm>
            <a:off x="8096250" y="4779963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EAF979DD-76C9-4F30-9BC4-A9F9925AA4EB}"/>
              </a:ext>
            </a:extLst>
          </ns0:cNvPr>
          <ns0:cNvSpPr>
            <a:spLocks noGrp="1"/>
          </ns0:cNvSpPr>
          <ns0:nvPr/>
        </ns0:nvSpPr>
        <ns0:spPr>
          <a:xfrm>
            <a:off x="10069830" y="4779963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60 · R$ 8,8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F8838865-621D-4D76-8CA3-B1C6A9D74826}"/>
              </a:ext>
            </a:extLst>
          </ns0:cNvPr>
          <ns0:cNvSpPr>
            <a:spLocks noGrp="1"/>
          </ns0:cNvSpPr>
          <ns0:nvPr/>
        </ns0:nvSpPr>
        <ns0:spPr>
          <a:xfrm>
            <a:off x="571500" y="59245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82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Conglomerado econômico normalizado: Kanastra permanece separada do Itaú e CBSF da REAG. A afiliação Kanastra→Itaú é exclusiva do ranking de independentes.</a:t>
            </a:r>
          </a:p>
        </ns0:txBody>
      </ns0:sp>
    </ns0:spTree>
    <ns0:extLst>
      <ns0:ext uri="{BB962C8B-B14F-4D97-AF65-F5344CB8AC3E}">
        <ns5:creationId val="669219165"/>
      </ns0:ext>
    </ns0:extLst>
  </ns0:cSld>
</ns0:sld>
</file>

<file path=ppt/slides/slide2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0" name="">
            <a:extLst>
              <a:ext uri="{FF2B5EF4-FFF2-40B4-BE49-F238E27FC236}">
                <ns2:creationId id="{731DB48F-41BC-43A4-8FE5-030E8C6DFF0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46AD54-FDBA-441A-83C9-8314AA394CD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597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BF87279-6748-4B93-BA77-C99E6BC81F0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2AC89C5-1BDA-42AB-91F2-09FC441D4B7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36DDDF4-D42E-468F-9F68-E627850CE98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2FA3C71-D3D1-4892-9EDF-08D1B18C8F5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3E8CD3F-AFD1-472F-A145-7F0FEC689B28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7000875" cy="3238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87ECAA9F-5B16-43DD-8C1E-E76D31F8F3FD}"/>
              </a:ext>
            </a:extLst>
          </ns0:cNvPr>
          <ns0:cNvSpPr>
            <a:spLocks noGrp="1"/>
          </ns0:cNvSpPr>
          <ns0:nvPr/>
        </ns0:nvSpPr>
        <ns0:spPr>
          <a:xfrm>
            <a:off x="628650" y="1504950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800661-66DB-45C0-9AE7-EA44D35171E4}"/>
              </a:ext>
            </a:extLst>
          </ns0:cNvPr>
          <ns0:cNvSpPr>
            <a:spLocks noGrp="1"/>
          </ns0:cNvSpPr>
          <ns0:nvPr/>
        </ns0:nvSpPr>
        <ns0:spPr>
          <a:xfrm>
            <a:off x="1771650" y="1504950"/>
            <a:ext cx="74295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48A51787-0796-4154-A954-8403B5D4BB91}"/>
              </a:ext>
            </a:extLst>
          </ns0:cNvPr>
          <ns0:cNvSpPr>
            <a:spLocks noGrp="1"/>
          </ns0:cNvSpPr>
          <ns0:nvPr/>
        </ns0:nvSpPr>
        <ns0:spPr>
          <a:xfrm>
            <a:off x="2628900" y="1504950"/>
            <a:ext cx="40957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C4DCF47-DFF5-49A8-9E8D-C4282F96852E}"/>
              </a:ext>
            </a:extLst>
          </ns0:cNvPr>
          <ns0:cNvSpPr>
            <a:spLocks noGrp="1"/>
          </ns0:cNvSpPr>
          <ns0:nvPr/>
        </ns0:nvSpPr>
        <ns0:spPr>
          <a:xfrm>
            <a:off x="3152775" y="1504950"/>
            <a:ext cx="19812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C2D34841-7D68-4854-9483-F5412C5B46A2}"/>
              </a:ext>
            </a:extLst>
          </ns0:cNvPr>
          <ns0:cNvSpPr>
            <a:spLocks noGrp="1"/>
          </ns0:cNvSpPr>
          <ns0:nvPr/>
        </ns0:nvSpPr>
        <ns0:spPr>
          <a:xfrm>
            <a:off x="5248275" y="1504950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C1E0C98-52D3-495B-B0F7-8F84CDAAA480}"/>
              </a:ext>
            </a:extLst>
          </ns0:cNvPr>
          <ns0:cNvSpPr>
            <a:spLocks noGrp="1"/>
          </ns0:cNvSpPr>
          <ns0:nvPr/>
        </ns0:nvSpPr>
        <ns0:spPr>
          <a:xfrm>
            <a:off x="6010275" y="1504950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91B8E928-8DF7-4803-8882-7A70E49D73DC}"/>
              </a:ext>
            </a:extLst>
          </ns0:cNvPr>
          <ns0:cNvSpPr>
            <a:spLocks noGrp="1"/>
          </ns0:cNvSpPr>
          <ns0:nvPr/>
        </ns0:nvSpPr>
        <ns0:spPr>
          <a:xfrm>
            <a:off x="6772275" y="1504950"/>
            <a:ext cx="74295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B46B086-85CC-4F6B-8623-F0B84592B471}"/>
              </a:ext>
            </a:extLst>
          </ns0:cNvPr>
          <ns0:cNvSpPr>
            <a:spLocks noGrp="1"/>
          </ns0:cNvSpPr>
          <ns0:nvPr/>
        </ns0:nvSpPr>
        <ns0:spPr>
          <a:xfrm>
            <a:off x="571500" y="1800225"/>
            <a:ext cx="7000875" cy="6286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02296BB6-6B51-49CE-B75A-0E5390CB158B}"/>
              </a:ext>
            </a:extLst>
          </ns0:cNvPr>
          <ns0:cNvSpPr>
            <a:spLocks noGrp="1"/>
          </ns0:cNvSpPr>
          <ns0:nvPr/>
        </ns0:nvSpPr>
        <ns0:spPr>
          <a:xfrm>
            <a:off x="571500" y="241935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A8E176F-92E2-4CAD-8F68-2BB64C5A819D}"/>
              </a:ext>
            </a:extLst>
          </ns0:cNvPr>
          <ns0:cNvSpPr>
            <a:spLocks noGrp="1"/>
          </ns0:cNvSpPr>
          <ns0:nvPr/>
        </ns0:nvSpPr>
        <ns0:spPr>
          <a:xfrm>
            <a:off x="628650" y="182880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A6AAB2-CD8F-428E-87A6-7930EF3F0418}"/>
              </a:ext>
            </a:extLst>
          </ns0:cNvPr>
          <ns0:cNvSpPr>
            <a:spLocks noGrp="1"/>
          </ns0:cNvSpPr>
          <ns0:nvPr/>
        </ns0:nvSpPr>
        <ns0:spPr>
          <a:xfrm>
            <a:off x="1771650" y="18288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77,7 bi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6A9DFC9-5FEB-47E4-B790-98DE95093EBE}"/>
              </a:ext>
            </a:extLst>
          </ns0:cNvPr>
          <ns0:cNvSpPr>
            <a:spLocks noGrp="1"/>
          </ns0:cNvSpPr>
          <ns0:nvPr/>
        </ns0:nvSpPr>
        <ns0:spPr>
          <a:xfrm>
            <a:off x="2628900" y="182880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67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493223B7-992A-49CF-9E84-894AB97B866F}"/>
              </a:ext>
            </a:extLst>
          </ns0:cNvPr>
          <ns0:cNvSpPr>
            <a:spLocks noGrp="1"/>
          </ns0:cNvSpPr>
          <ns0:nvPr/>
        </ns0:nvSpPr>
        <ns0:spPr>
          <a:xfrm>
            <a:off x="3152775" y="182880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55E14047-420D-4BEB-9316-8C97B5DF18F1}"/>
              </a:ext>
            </a:extLst>
          </ns0:cNvPr>
          <ns0:cNvSpPr>
            <a:spLocks noGrp="1"/>
          </ns0:cNvSpPr>
          <ns0:nvPr/>
        </ns0:nvSpPr>
        <ns0:spPr>
          <a:xfrm>
            <a:off x="5248275" y="18288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23,1%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7860B4E0-0AC3-406D-AEF2-D8C216D3D29C}"/>
              </a:ext>
            </a:extLst>
          </ns0:cNvPr>
          <ns0:cNvSpPr>
            <a:spLocks noGrp="1"/>
          </ns0:cNvSpPr>
          <ns0:nvPr/>
        </ns0:nvSpPr>
        <ns0:spPr>
          <a:xfrm>
            <a:off x="6010275" y="18288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45,6%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2D0E6B16-9803-4304-8EBB-B05411D18A56}"/>
              </a:ext>
            </a:extLst>
          </ns0:cNvPr>
          <ns0:cNvSpPr>
            <a:spLocks noGrp="1"/>
          </ns0:cNvSpPr>
          <ns0:nvPr/>
        </ns0:nvSpPr>
        <ns0:spPr>
          <a:xfrm>
            <a:off x="6772275" y="18288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997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39583B92-EC53-45F0-8CF2-C4295F140B43}"/>
              </a:ext>
            </a:extLst>
          </ns0:cNvPr>
          <ns0:cNvSpPr>
            <a:spLocks noGrp="1"/>
          </ns0:cNvSpPr>
          <ns0:nvPr/>
        </ns0:nvSpPr>
        <ns0:spPr>
          <a:xfrm>
            <a:off x="571500" y="2428875"/>
            <a:ext cx="7000875" cy="62865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1476D4CB-E61B-4CD0-B7CA-ADD51B1106F5}"/>
              </a:ext>
            </a:extLst>
          </ns0:cNvPr>
          <ns0:cNvSpPr>
            <a:spLocks noGrp="1"/>
          </ns0:cNvSpPr>
          <ns0:nvPr/>
        </ns0:nvSpPr>
        <ns0:spPr>
          <a:xfrm>
            <a:off x="571500" y="304800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3547022-F39A-4FC6-93A2-45B9525FA665}"/>
              </a:ext>
            </a:extLst>
          </ns0:cNvPr>
          <ns0:cNvSpPr>
            <a:spLocks noGrp="1"/>
          </ns0:cNvSpPr>
          <ns0:nvPr/>
        </ns0:nvSpPr>
        <ns0:spPr>
          <a:xfrm>
            <a:off x="628650" y="245745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38A780FB-0195-4783-9869-1F2A7B206C4B}"/>
              </a:ext>
            </a:extLst>
          </ns0:cNvPr>
          <ns0:cNvSpPr>
            <a:spLocks noGrp="1"/>
          </ns0:cNvSpPr>
          <ns0:nvPr/>
        </ns0:nvSpPr>
        <ns0:spPr>
          <a:xfrm>
            <a:off x="1771650" y="24574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75,5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C9A92FE9-8155-427D-9659-2231627451F9}"/>
              </a:ext>
            </a:extLst>
          </ns0:cNvPr>
          <ns0:cNvSpPr>
            <a:spLocks noGrp="1"/>
          </ns0:cNvSpPr>
          <ns0:nvPr/>
        </ns0:nvSpPr>
        <ns0:spPr>
          <a:xfrm>
            <a:off x="2628900" y="245745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46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A88507E5-07F4-4797-9F1C-FBA0D3616091}"/>
              </a:ext>
            </a:extLst>
          </ns0:cNvPr>
          <ns0:cNvSpPr>
            <a:spLocks noGrp="1"/>
          </ns0:cNvSpPr>
          <ns0:nvPr/>
        </ns0:nvSpPr>
        <ns0:spPr>
          <a:xfrm>
            <a:off x="3152775" y="245745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8563D324-FBCD-4166-8BE9-1D8C76F085C0}"/>
              </a:ext>
            </a:extLst>
          </ns0:cNvPr>
          <ns0:cNvSpPr>
            <a:spLocks noGrp="1"/>
          </ns0:cNvSpPr>
          <ns0:nvPr/>
        </ns0:nvSpPr>
        <ns0:spPr>
          <a:xfrm>
            <a:off x="5248275" y="24574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55,0%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3F402536-EF0E-4CE8-B553-7FD6E38A0FA1}"/>
              </a:ext>
            </a:extLst>
          </ns0:cNvPr>
          <ns0:cNvSpPr>
            <a:spLocks noGrp="1"/>
          </ns0:cNvSpPr>
          <ns0:nvPr/>
        </ns0:nvSpPr>
        <ns0:spPr>
          <a:xfrm>
            <a:off x="6010275" y="24574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63,9%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691C7459-2F81-4A88-B10C-AD2F38786335}"/>
              </a:ext>
            </a:extLst>
          </ns0:cNvPr>
          <ns0:cNvSpPr>
            <a:spLocks noGrp="1"/>
          </ns0:cNvSpPr>
          <ns0:nvPr/>
        </ns0:nvSpPr>
        <ns0:spPr>
          <a:xfrm>
            <a:off x="6772275" y="24574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3.147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4878C818-D246-44F2-AA52-12C7ACDAE17B}"/>
              </a:ext>
            </a:extLst>
          </ns0:cNvPr>
          <ns0:cNvSpPr>
            <a:spLocks noGrp="1"/>
          </ns0:cNvSpPr>
          <ns0:nvPr/>
        </ns0:nvSpPr>
        <ns0:spPr>
          <a:xfrm>
            <a:off x="571500" y="3057525"/>
            <a:ext cx="7000875" cy="62865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34" name="">
            <a:extLst>
              <a:ext uri="{FF2B5EF4-FFF2-40B4-BE49-F238E27FC236}">
                <ns2:creationId id="{C2C79CD5-9E8E-4E20-9180-91C3B70E4510}"/>
              </a:ext>
            </a:extLst>
          </ns0:cNvPr>
          <ns0:cNvSpPr>
            <a:spLocks noGrp="1"/>
          </ns0:cNvSpPr>
          <ns0:nvPr/>
        </ns0:nvSpPr>
        <ns0:spPr>
          <a:xfrm>
            <a:off x="571500" y="367665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5" name="">
            <a:extLst>
              <a:ext uri="{FF2B5EF4-FFF2-40B4-BE49-F238E27FC236}">
                <ns2:creationId id="{EE74379D-6853-4009-B9AD-29C13F12D074}"/>
              </a:ext>
            </a:extLst>
          </ns0:cNvPr>
          <ns0:cNvSpPr>
            <a:spLocks noGrp="1"/>
          </ns0:cNvSpPr>
          <ns0:nvPr/>
        </ns0:nvSpPr>
        <ns0:spPr>
          <a:xfrm>
            <a:off x="628650" y="308610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880F43E2-CDDD-4A76-B19C-23AB1603DE26}"/>
              </a:ext>
            </a:extLst>
          </ns0:cNvPr>
          <ns0:cNvSpPr>
            <a:spLocks noGrp="1"/>
          </ns0:cNvSpPr>
          <ns0:nvPr/>
        </ns0:nvSpPr>
        <ns0:spPr>
          <a:xfrm>
            <a:off x="1771650" y="30861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D96952C6-B3BE-41D1-BC44-E4A8AA6A6574}"/>
              </a:ext>
            </a:extLst>
          </ns0:cNvPr>
          <ns0:cNvSpPr>
            <a:spLocks noGrp="1"/>
          </ns0:cNvSpPr>
          <ns0:nvPr/>
        </ns0:nvSpPr>
        <ns0:spPr>
          <a:xfrm>
            <a:off x="2628900" y="308610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ns0:txBody>
      </ns0:sp>
      <ns0:sp>
        <ns0:nvSpPr>
          <ns0:cNvPr id="38" name="">
            <a:extLst>
              <a:ext uri="{FF2B5EF4-FFF2-40B4-BE49-F238E27FC236}">
                <ns2:creationId id="{78F2EEE5-4B5C-4B75-86B6-44A7A2D04DB0}"/>
              </a:ext>
            </a:extLst>
          </ns0:cNvPr>
          <ns0:cNvSpPr>
            <a:spLocks noGrp="1"/>
          </ns0:cNvSpPr>
          <ns0:nvPr/>
        </ns0:nvSpPr>
        <ns0:spPr>
          <a:xfrm>
            <a:off x="3152775" y="308610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C34A14F8-DAAE-42E0-94D1-7CF7B96E0BAD}"/>
              </a:ext>
            </a:extLst>
          </ns0:cNvPr>
          <ns0:cNvSpPr>
            <a:spLocks noGrp="1"/>
          </ns0:cNvSpPr>
          <ns0:nvPr/>
        </ns0:nvSpPr>
        <ns0:spPr>
          <a:xfrm>
            <a:off x="5248275" y="30861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6EF03C86-1D8A-49C4-A13D-4323ACAA9421}"/>
              </a:ext>
            </a:extLst>
          </ns0:cNvPr>
          <ns0:cNvSpPr>
            <a:spLocks noGrp="1"/>
          </ns0:cNvSpPr>
          <ns0:nvPr/>
        </ns0:nvSpPr>
        <ns0:spPr>
          <a:xfrm>
            <a:off x="6010275" y="30861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55158C5B-E801-4ABF-9518-0872D5CD73E1}"/>
              </a:ext>
            </a:extLst>
          </ns0:cNvPr>
          <ns0:cNvSpPr>
            <a:spLocks noGrp="1"/>
          </ns0:cNvSpPr>
          <ns0:nvPr/>
        </ns0:nvSpPr>
        <ns0:spPr>
          <a:xfrm>
            <a:off x="6772275" y="30861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6EABCE89-2978-48A7-B249-F7E1274CEFB3}"/>
              </a:ext>
            </a:extLst>
          </ns0:cNvPr>
          <ns0:cNvSpPr>
            <a:spLocks noGrp="1"/>
          </ns0:cNvSpPr>
          <ns0:nvPr/>
        </ns0:nvSpPr>
        <ns0:spPr>
          <a:xfrm>
            <a:off x="571500" y="3686175"/>
            <a:ext cx="7000875" cy="6286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15A1110D-C607-4F22-8853-7E31BB14F33C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4" name="">
            <a:extLst>
              <a:ext uri="{FF2B5EF4-FFF2-40B4-BE49-F238E27FC236}">
                <ns2:creationId id="{7B5E6F86-15BC-4E48-9E17-8541BDCFAD19}"/>
              </a:ext>
            </a:extLst>
          </ns0:cNvPr>
          <ns0:cNvSpPr>
            <a:spLocks noGrp="1"/>
          </ns0:cNvSpPr>
          <ns0:nvPr/>
        </ns0:nvSpPr>
        <ns0:spPr>
          <a:xfrm>
            <a:off x="628650" y="371475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ns0:txBody>
      </ns0:sp>
      <ns0:sp>
        <ns0:nvSpPr>
          <ns0:cNvPr id="45" name="">
            <a:extLst>
              <a:ext uri="{FF2B5EF4-FFF2-40B4-BE49-F238E27FC236}">
                <ns2:creationId id="{B787B5D5-89D2-4AFC-9F6B-2FE7FB69A974}"/>
              </a:ext>
            </a:extLst>
          </ns0:cNvPr>
          <ns0:cNvSpPr>
            <a:spLocks noGrp="1"/>
          </ns0:cNvSpPr>
          <ns0:nvPr/>
        </ns0:nvSpPr>
        <ns0:spPr>
          <a:xfrm>
            <a:off x="1771650" y="37147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38,9 bi</a:t>
            </a:r>
          </a:p>
        </ns0:txBody>
      </ns0:sp>
      <ns0:sp>
        <ns0:nvSpPr>
          <ns0:cNvPr id="46" name="">
            <a:extLst>
              <a:ext uri="{FF2B5EF4-FFF2-40B4-BE49-F238E27FC236}">
                <ns2:creationId id="{543289AE-55B1-4D76-BAAE-43BD6A87960B}"/>
              </a:ext>
            </a:extLst>
          </ns0:cNvPr>
          <ns0:cNvSpPr>
            <a:spLocks noGrp="1"/>
          </ns0:cNvSpPr>
          <ns0:nvPr/>
        </ns0:nvSpPr>
        <ns0:spPr>
          <a:xfrm>
            <a:off x="2628900" y="371475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A59ADD21-5014-4AA7-8CAB-091EC3E321E7}"/>
              </a:ext>
            </a:extLst>
          </ns0:cNvPr>
          <ns0:cNvSpPr>
            <a:spLocks noGrp="1"/>
          </ns0:cNvSpPr>
          <ns0:nvPr/>
        </ns0:nvSpPr>
        <ns0:spPr>
          <a:xfrm>
            <a:off x="3152775" y="371475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ns0:txBody>
      </ns0:sp>
      <ns0:sp>
        <ns0:nvSpPr>
          <ns0:cNvPr id="48" name="">
            <a:extLst>
              <a:ext uri="{FF2B5EF4-FFF2-40B4-BE49-F238E27FC236}">
                <ns2:creationId id="{00A99F09-0348-4305-BA4F-6EF011EFE580}"/>
              </a:ext>
            </a:extLst>
          </ns0:cNvPr>
          <ns0:cNvSpPr>
            <a:spLocks noGrp="1"/>
          </ns0:cNvSpPr>
          <ns0:nvPr/>
        </ns0:nvSpPr>
        <ns0:spPr>
          <a:xfrm>
            <a:off x="5248275" y="37147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25,8%</a:t>
            </a:r>
          </a:p>
        </ns0:txBody>
      </ns0:sp>
      <ns0:sp>
        <ns0:nvSpPr>
          <ns0:cNvPr id="49" name="">
            <a:extLst>
              <a:ext uri="{FF2B5EF4-FFF2-40B4-BE49-F238E27FC236}">
                <ns2:creationId id="{4E748025-5738-465A-9F9A-28CAA4A4D794}"/>
              </a:ext>
            </a:extLst>
          </ns0:cNvPr>
          <ns0:cNvSpPr>
            <a:spLocks noGrp="1"/>
          </ns0:cNvSpPr>
          <ns0:nvPr/>
        </ns0:nvSpPr>
        <ns0:spPr>
          <a:xfrm>
            <a:off x="6010275" y="37147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51,9%</a:t>
            </a:r>
          </a:p>
        </ns0:txBody>
      </ns0:sp>
      <ns0:sp>
        <ns0:nvSpPr>
          <ns0:cNvPr id="50" name="">
            <a:extLst>
              <a:ext uri="{FF2B5EF4-FFF2-40B4-BE49-F238E27FC236}">
                <ns2:creationId id="{62F978BD-49C6-4CC5-8FAA-3493AEF94CC9}"/>
              </a:ext>
            </a:extLst>
          </ns0:cNvPr>
          <ns0:cNvSpPr>
            <a:spLocks noGrp="1"/>
          </ns0:cNvSpPr>
          <ns0:nvPr/>
        </ns0:nvSpPr>
        <ns0:spPr>
          <a:xfrm>
            <a:off x="6772275" y="37147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1.225</a:t>
            </a:r>
          </a:p>
        </ns0:txBody>
      </ns0:sp>
      <ns0:sp>
        <ns0:nvSpPr>
          <ns0:cNvPr id="51" name="">
            <a:extLst>
              <a:ext uri="{FF2B5EF4-FFF2-40B4-BE49-F238E27FC236}">
                <ns2:creationId id="{88ECBA53-69C4-4982-BB15-A44A7B201EE4}"/>
              </a:ext>
            </a:extLst>
          </ns0:cNvPr>
          <ns0:cNvSpPr>
            <a:spLocks noGrp="1"/>
          </ns0:cNvSpPr>
          <ns0:nvPr/>
        </ns0:nvSpPr>
        <ns0:spPr>
          <a:xfrm>
            <a:off x="571500" y="4314825"/>
            <a:ext cx="7000875" cy="6286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52" name="">
            <a:extLst>
              <a:ext uri="{FF2B5EF4-FFF2-40B4-BE49-F238E27FC236}">
                <ns2:creationId id="{FED7C90B-D5D6-4E3E-B077-79E247C890B7}"/>
              </a:ext>
            </a:extLst>
          </ns0:cNvPr>
          <ns0:cNvSpPr>
            <a:spLocks noGrp="1"/>
          </ns0:cNvSpPr>
          <ns0:nvPr/>
        </ns0:nvSpPr>
        <ns0:spPr>
          <a:xfrm>
            <a:off x="571500" y="493395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3" name="">
            <a:extLst>
              <a:ext uri="{FF2B5EF4-FFF2-40B4-BE49-F238E27FC236}">
                <ns2:creationId id="{9F3338C0-71F0-4C1A-BA22-3B3E7ECC5EF2}"/>
              </a:ext>
            </a:extLst>
          </ns0:cNvPr>
          <ns0:cNvSpPr>
            <a:spLocks noGrp="1"/>
          </ns0:cNvSpPr>
          <ns0:nvPr/>
        </ns0:nvSpPr>
        <ns0:spPr>
          <a:xfrm>
            <a:off x="628650" y="434340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ns0:txBody>
      </ns0:sp>
      <ns0:sp>
        <ns0:nvSpPr>
          <ns0:cNvPr id="54" name="">
            <a:extLst>
              <a:ext uri="{FF2B5EF4-FFF2-40B4-BE49-F238E27FC236}">
                <ns2:creationId id="{B6AE9585-8DB6-4D2B-A66E-9DDC57F1400F}"/>
              </a:ext>
            </a:extLst>
          </ns0:cNvPr>
          <ns0:cNvSpPr>
            <a:spLocks noGrp="1"/>
          </ns0:cNvSpPr>
          <ns0:nvPr/>
        </ns0:nvSpPr>
        <ns0:spPr>
          <a:xfrm>
            <a:off x="1771650" y="43434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ns0:txBody>
      </ns0:sp>
      <ns0:sp>
        <ns0:nvSpPr>
          <ns0:cNvPr id="55" name="">
            <a:extLst>
              <a:ext uri="{FF2B5EF4-FFF2-40B4-BE49-F238E27FC236}">
                <ns2:creationId id="{3B5C9EB9-7523-4E36-85EB-188E7F359A5A}"/>
              </a:ext>
            </a:extLst>
          </ns0:cNvPr>
          <ns0:cNvSpPr>
            <a:spLocks noGrp="1"/>
          </ns0:cNvSpPr>
          <ns0:nvPr/>
        </ns0:nvSpPr>
        <ns0:spPr>
          <a:xfrm>
            <a:off x="2628900" y="434340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ns0:txBody>
      </ns0:sp>
      <ns0:sp>
        <ns0:nvSpPr>
          <ns0:cNvPr id="56" name="">
            <a:extLst>
              <a:ext uri="{FF2B5EF4-FFF2-40B4-BE49-F238E27FC236}">
                <ns2:creationId id="{3106775A-440A-4E49-95BD-FABDA0471B2E}"/>
              </a:ext>
            </a:extLst>
          </ns0:cNvPr>
          <ns0:cNvSpPr>
            <a:spLocks noGrp="1"/>
          </ns0:cNvSpPr>
          <ns0:nvPr/>
        </ns0:nvSpPr>
        <ns0:spPr>
          <a:xfrm>
            <a:off x="3152775" y="434340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ns0:txBody>
      </ns0:sp>
      <ns0:sp>
        <ns0:nvSpPr>
          <ns0:cNvPr id="57" name="">
            <a:extLst>
              <a:ext uri="{FF2B5EF4-FFF2-40B4-BE49-F238E27FC236}">
                <ns2:creationId id="{FFB64B4C-5158-4484-926F-3BB088726A75}"/>
              </a:ext>
            </a:extLst>
          </ns0:cNvPr>
          <ns0:cNvSpPr>
            <a:spLocks noGrp="1"/>
          </ns0:cNvSpPr>
          <ns0:nvPr/>
        </ns0:nvSpPr>
        <ns0:spPr>
          <a:xfrm>
            <a:off x="5248275" y="43434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ns0:txBody>
      </ns0:sp>
      <ns0:sp>
        <ns0:nvSpPr>
          <ns0:cNvPr id="58" name="">
            <a:extLst>
              <a:ext uri="{FF2B5EF4-FFF2-40B4-BE49-F238E27FC236}">
                <ns2:creationId id="{16A60D4F-C8C6-443F-96B5-929E5F00FBDD}"/>
              </a:ext>
            </a:extLst>
          </ns0:cNvPr>
          <ns0:cNvSpPr>
            <a:spLocks noGrp="1"/>
          </ns0:cNvSpPr>
          <ns0:nvPr/>
        </ns0:nvSpPr>
        <ns0:spPr>
          <a:xfrm>
            <a:off x="6010275" y="43434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ns0:txBody>
      </ns0:sp>
      <ns0:sp>
        <ns0:nvSpPr>
          <ns0:cNvPr id="59" name="">
            <a:extLst>
              <a:ext uri="{FF2B5EF4-FFF2-40B4-BE49-F238E27FC236}">
                <ns2:creationId id="{E2F44E24-2758-4417-AE10-FCC2073BF959}"/>
              </a:ext>
            </a:extLst>
          </ns0:cNvPr>
          <ns0:cNvSpPr>
            <a:spLocks noGrp="1"/>
          </ns0:cNvSpPr>
          <ns0:nvPr/>
        </ns0:nvSpPr>
        <ns0:spPr>
          <a:xfrm>
            <a:off x="6772275" y="43434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1.113</a:t>
            </a:r>
          </a:p>
        </ns0:txBody>
      </ns0:sp>
      <ns0:sp>
        <ns0:nvSpPr>
          <ns0:cNvPr id="60" name="">
            <a:extLst>
              <a:ext uri="{FF2B5EF4-FFF2-40B4-BE49-F238E27FC236}">
                <ns2:creationId id="{E5F87EC3-E661-45A6-9CB2-FF9BE6134D7C}"/>
              </a:ext>
            </a:extLst>
          </ns0:cNvPr>
          <ns0:cNvSpPr>
            <a:spLocks noGrp="1"/>
          </ns0:cNvSpPr>
          <ns0:nvPr/>
        </ns0:nvSpPr>
        <ns0:spPr>
          <a:xfrm>
            <a:off x="571500" y="4943475"/>
            <a:ext cx="7000875" cy="6286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61" name="">
            <a:extLst>
              <a:ext uri="{FF2B5EF4-FFF2-40B4-BE49-F238E27FC236}">
                <ns2:creationId id="{0032B1D4-C520-4C9A-AC42-B8984D244E4C}"/>
              </a:ext>
            </a:extLst>
          </ns0:cNvPr>
          <ns0:cNvSpPr>
            <a:spLocks noGrp="1"/>
          </ns0:cNvSpPr>
          <ns0:nvPr/>
        </ns0:nvSpPr>
        <ns0:spPr>
          <a:xfrm>
            <a:off x="571500" y="556260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2" name="">
            <a:extLst>
              <a:ext uri="{FF2B5EF4-FFF2-40B4-BE49-F238E27FC236}">
                <ns2:creationId id="{59D1FC78-6720-45A0-83E1-278E7D322802}"/>
              </a:ext>
            </a:extLst>
          </ns0:cNvPr>
          <ns0:cNvSpPr>
            <a:spLocks noGrp="1"/>
          </ns0:cNvSpPr>
          <ns0:nvPr/>
        </ns0:nvSpPr>
        <ns0:spPr>
          <a:xfrm>
            <a:off x="628650" y="497205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ns0:txBody>
      </ns0:sp>
      <ns0:sp>
        <ns0:nvSpPr>
          <ns0:cNvPr id="63" name="">
            <a:extLst>
              <a:ext uri="{FF2B5EF4-FFF2-40B4-BE49-F238E27FC236}">
                <ns2:creationId id="{EF74D6C3-3D7C-4A52-9F0A-9AD070BB3F1B}"/>
              </a:ext>
            </a:extLst>
          </ns0:cNvPr>
          <ns0:cNvSpPr>
            <a:spLocks noGrp="1"/>
          </ns0:cNvSpPr>
          <ns0:nvPr/>
        </ns0:nvSpPr>
        <ns0:spPr>
          <a:xfrm>
            <a:off x="1771650" y="49720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17,5 bi</a:t>
            </a:r>
          </a:p>
        </ns0:txBody>
      </ns0:sp>
      <ns0:sp>
        <ns0:nvSpPr>
          <ns0:cNvPr id="64" name="">
            <a:extLst>
              <a:ext uri="{FF2B5EF4-FFF2-40B4-BE49-F238E27FC236}">
                <ns2:creationId id="{CE24772A-8C06-4E92-9C34-9D23C5788DE2}"/>
              </a:ext>
            </a:extLst>
          </ns0:cNvPr>
          <ns0:cNvSpPr>
            <a:spLocks noGrp="1"/>
          </ns0:cNvSpPr>
          <ns0:nvPr/>
        </ns0:nvSpPr>
        <ns0:spPr>
          <a:xfrm>
            <a:off x="2628900" y="497205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65" name="">
            <a:extLst>
              <a:ext uri="{FF2B5EF4-FFF2-40B4-BE49-F238E27FC236}">
                <ns2:creationId id="{98AAF418-68CD-4C5B-8210-2106F8DC3CF4}"/>
              </a:ext>
            </a:extLst>
          </ns0:cNvPr>
          <ns0:cNvSpPr>
            <a:spLocks noGrp="1"/>
          </ns0:cNvSpPr>
          <ns0:nvPr/>
        </ns0:nvSpPr>
        <ns0:spPr>
          <a:xfrm>
            <a:off x="3152775" y="497205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ns0:txBody>
      </ns0:sp>
      <ns0:sp>
        <ns0:nvSpPr>
          <ns0:cNvPr id="66" name="">
            <a:extLst>
              <a:ext uri="{FF2B5EF4-FFF2-40B4-BE49-F238E27FC236}">
                <ns2:creationId id="{D175E6EB-6616-4D12-9115-096AADFBD695}"/>
              </a:ext>
            </a:extLst>
          </ns0:cNvPr>
          <ns0:cNvSpPr>
            <a:spLocks noGrp="1"/>
          </ns0:cNvSpPr>
          <ns0:nvPr/>
        </ns0:nvSpPr>
        <ns0:spPr>
          <a:xfrm>
            <a:off x="5248275" y="49720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49,7%</a:t>
            </a:r>
          </a:p>
        </ns0:txBody>
      </ns0:sp>
      <ns0:sp>
        <ns0:nvSpPr>
          <ns0:cNvPr id="67" name="">
            <a:extLst>
              <a:ext uri="{FF2B5EF4-FFF2-40B4-BE49-F238E27FC236}">
                <ns2:creationId id="{6A106D95-24B0-41F0-AB4B-89DA531FBABE}"/>
              </a:ext>
            </a:extLst>
          </ns0:cNvPr>
          <ns0:cNvSpPr>
            <a:spLocks noGrp="1"/>
          </ns0:cNvSpPr>
          <ns0:nvPr/>
        </ns0:nvSpPr>
        <ns0:spPr>
          <a:xfrm>
            <a:off x="6010275" y="49720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62,2%</a:t>
            </a:r>
          </a:p>
        </ns0:txBody>
      </ns0:sp>
      <ns0:sp>
        <ns0:nvSpPr>
          <ns0:cNvPr id="68" name="">
            <a:extLst>
              <a:ext uri="{FF2B5EF4-FFF2-40B4-BE49-F238E27FC236}">
                <ns2:creationId id="{1FFB5646-8897-4BAF-AD32-B62219DF2C27}"/>
              </a:ext>
            </a:extLst>
          </ns0:cNvPr>
          <ns0:cNvSpPr>
            <a:spLocks noGrp="1"/>
          </ns0:cNvSpPr>
          <ns0:nvPr/>
        </ns0:nvSpPr>
        <ns0:spPr>
          <a:xfrm>
            <a:off x="6772275" y="49720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2.658</a:t>
            </a:r>
          </a:p>
        </ns0:txBody>
      </ns0:sp>
      <ns0:sp>
        <ns0:nvSpPr>
          <ns0:cNvPr id="69" name="">
            <a:extLst>
              <a:ext uri="{FF2B5EF4-FFF2-40B4-BE49-F238E27FC236}">
                <ns2:creationId id="{D602F277-0731-43B6-B2CD-6B2ACC063F51}"/>
              </a:ext>
            </a:extLst>
          </ns0:cNvPr>
          <ns0:cNvSpPr>
            <a:spLocks noGrp="1"/>
          </ns0:cNvSpPr>
          <ns0:nvPr/>
        </ns0:nvSpPr>
        <ns0:spPr>
          <a:xfrm>
            <a:off x="571500" y="5657850"/>
            <a:ext cx="70008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ns0:txBody>
      </ns0:sp>
      <ns0:sp>
        <ns0:nvSpPr>
          <ns0:cNvPr id="70" name="">
            <a:extLst>
              <a:ext uri="{FF2B5EF4-FFF2-40B4-BE49-F238E27FC236}">
                <ns2:creationId id="{4E816F36-D001-49A3-9AAD-11A2BBEFFC99}"/>
              </a:ext>
            </a:extLst>
          </ns0:cNvPr>
          <ns0:cNvSpPr>
            <a:spLocks noGrp="1"/>
          </ns0:cNvSpPr>
          <ns0:nvPr/>
        </ns0:nvSpPr>
        <ns0:spPr>
          <a:xfrm>
            <a:off x="8048625" y="1476375"/>
            <a:ext cx="3571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ns0:txBody>
      </ns0:sp>
      <ns0:sp>
        <ns0:nvSpPr>
          <ns0:cNvPr id="71" name="">
            <a:extLst>
              <a:ext uri="{FF2B5EF4-FFF2-40B4-BE49-F238E27FC236}">
                <ns2:creationId id="{6C2A2533-C6A8-430A-8653-5D5FE143BD17}"/>
              </a:ext>
            </a:extLst>
          </ns0:cNvPr>
          <ns0:cNvSpPr>
            <a:spLocks noGrp="1"/>
          </ns0:cNvSpPr>
          <ns0:nvPr/>
        </ns0:nvSpPr>
        <ns0:spPr>
          <a:xfrm>
            <a:off x="8048625" y="1743075"/>
            <a:ext cx="3571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2" name="">
            <a:extLst>
              <a:ext uri="{FF2B5EF4-FFF2-40B4-BE49-F238E27FC236}">
                <ns2:creationId id="{07BBA1AC-4569-436A-B2F0-BB0BB40EEFD8}"/>
              </a:ext>
            </a:extLst>
          </ns0:cNvPr>
          <ns0:cNvSpPr>
            <a:spLocks noGrp="1"/>
          </ns0:cNvSpPr>
          <ns0:nvPr/>
        </ns0:nvSpPr>
        <ns0:spPr>
          <a:xfrm>
            <a:off x="8048625" y="2000250"/>
            <a:ext cx="35718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ns0:txBody>
      </ns0:sp>
      <ns0:sp>
        <ns0:nvSpPr>
          <ns0:cNvPr id="73" name="">
            <a:extLst>
              <a:ext uri="{FF2B5EF4-FFF2-40B4-BE49-F238E27FC236}">
                <ns2:creationId id="{FAAF253B-55A6-4C5E-8DB8-D8674E04CBC4}"/>
              </a:ext>
            </a:extLst>
          </ns0:cNvPr>
          <ns0:cNvSpPr>
            <a:spLocks noGrp="1"/>
          </ns0:cNvSpPr>
          <ns0:nvPr/>
        </ns0:nvSpPr>
        <ns0:spPr>
          <a:xfrm>
            <a:off x="8048625" y="2286000"/>
            <a:ext cx="357187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ns0:txBody>
      </ns0:sp>
      <ns0:sp>
        <ns0:nvSpPr>
          <ns0:cNvPr id="74" name="">
            <a:extLst>
              <a:ext uri="{FF2B5EF4-FFF2-40B4-BE49-F238E27FC236}">
                <ns2:creationId id="{D615905B-25A6-4089-9AF9-95B8971E86BA}"/>
              </a:ext>
            </a:extLst>
          </ns0:cNvPr>
          <ns0:cNvSpPr>
            <a:spLocks noGrp="1"/>
          </ns0:cNvSpPr>
          <ns0:nvPr/>
        </ns0:nvSpPr>
        <ns0:spPr>
          <a:xfrm>
            <a:off x="8048625" y="2667000"/>
            <a:ext cx="3571875" cy="342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025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ns0:txBody>
      </ns0:sp>
      <ns0:sp>
        <ns0:nvSpPr>
          <ns0:cNvPr id="75" name="">
            <a:extLst>
              <a:ext uri="{FF2B5EF4-FFF2-40B4-BE49-F238E27FC236}">
                <ns2:creationId id="{1D66A646-B6D7-496B-AD8B-98AF33724322}"/>
              </a:ext>
            </a:extLst>
          </ns0:cNvPr>
          <ns0:cNvSpPr>
            <a:spLocks noGrp="1"/>
          </ns0:cNvSpPr>
          <ns0:nvPr/>
        </ns0:nvSpPr>
        <ns0:spPr>
          <a:xfrm>
            <a:off x="8048625" y="3086100"/>
            <a:ext cx="3571875" cy="4286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ns0:txBody>
      </ns0:sp>
      <ns0:sp>
        <ns0:nvSpPr>
          <ns0:cNvPr id="76" name="">
            <a:extLst>
              <a:ext uri="{FF2B5EF4-FFF2-40B4-BE49-F238E27FC236}">
                <ns2:creationId id="{D548222A-0C50-45A2-93FC-9518C8F59AC2}"/>
              </a:ext>
            </a:extLst>
          </ns0:cNvPr>
          <ns0:cNvSpPr>
            <a:spLocks noGrp="1"/>
          </ns0:cNvSpPr>
          <ns0:nvPr/>
        </ns0:nvSpPr>
        <ns0:spPr>
          <a:xfrm>
            <a:off x="8048625" y="3714750"/>
            <a:ext cx="35718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ns0:txBody>
      </ns0:sp>
      <ns0:sp>
        <ns0:nvSpPr>
          <ns0:cNvPr id="77" name="">
            <a:extLst>
              <a:ext uri="{FF2B5EF4-FFF2-40B4-BE49-F238E27FC236}">
                <ns2:creationId id="{D17FC3A9-5468-4018-AFFA-177A9EFDF447}"/>
              </a:ext>
            </a:extLst>
          </ns0:cNvPr>
          <ns0:cNvSpPr>
            <a:spLocks noGrp="1"/>
          </ns0:cNvSpPr>
          <ns0:nvPr/>
        </ns0:nvSpPr>
        <ns0:spPr>
          <a:xfrm>
            <a:off x="8048625" y="4000500"/>
            <a:ext cx="357187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ns0:txBody>
      </ns0:sp>
      <ns0:sp>
        <ns0:nvSpPr>
          <ns0:cNvPr id="78" name="">
            <a:extLst>
              <a:ext uri="{FF2B5EF4-FFF2-40B4-BE49-F238E27FC236}">
                <ns2:creationId id="{9F792803-2B0B-47EB-92DA-031032C36034}"/>
              </a:ext>
            </a:extLst>
          </ns0:cNvPr>
          <ns0:cNvSpPr>
            <a:spLocks noGrp="1"/>
          </ns0:cNvSpPr>
          <ns0:nvPr/>
        </ns0:nvSpPr>
        <ns0:spPr>
          <a:xfrm>
            <a:off x="8048625" y="4381500"/>
            <a:ext cx="3571875" cy="342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025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ns0:txBody>
      </ns0:sp>
      <ns0:sp>
        <ns0:nvSpPr>
          <ns0:cNvPr id="79" name="">
            <a:extLst>
              <a:ext uri="{FF2B5EF4-FFF2-40B4-BE49-F238E27FC236}">
                <ns2:creationId id="{A6905192-4302-46C8-A6EF-7B56D91B229F}"/>
              </a:ext>
            </a:extLst>
          </ns0:cNvPr>
          <ns0:cNvSpPr>
            <a:spLocks noGrp="1"/>
          </ns0:cNvSpPr>
          <ns0:nvPr/>
        </ns0:nvSpPr>
        <ns0:spPr>
          <a:xfrm>
            <a:off x="8048625" y="4800600"/>
            <a:ext cx="3571875" cy="4286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46 fundos; TAPSO = 55,0% do PL mono.</a:t>
            </a:r>
          </a:p>
        </ns0:txBody>
      </ns0:sp>
    </ns0:spTree>
    <ns0:extLst>
      <ns0:ext uri="{BB962C8B-B14F-4D97-AF65-F5344CB8AC3E}">
        <ns3:creationId val="106981934"/>
      </ns0:ext>
    </ns0:extLst>
  </ns0:cSld>
</ns0:sld>
</file>

<file path=ppt/slides/slide2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DCCADA02-C738-42D1-AE5D-5DE2B593AF3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A20FD1E-A6EB-490B-A779-DAD66954C82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D056E96-9482-4E21-826B-0AC656978F7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AA33A45-A59C-4F0D-B939-1EEB02AC404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0A0AF98-A42F-482E-81DC-550E83A5A9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7FFA349-2E76-46C5-8B73-E1B60E5AD2A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47914BC-EC2A-4A54-A145-8FDEB2C4A45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E72088C-0547-4CE6-BC5A-350151AB5285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6d71210e9b824ab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8D739038-73CD-4721-A27C-10CCACD75838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4BD9C10-4F56-448B-9F38-40937B00CE35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586ef5042ac14f4e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2c45420bff7f417e"/>
          </a:graphicData>
        </a:graphic>
      </ns0:graphicFrame>
      <ns0:sp>
        <ns0:nvSpPr>
          <ns0:cNvPr id="14" name="">
            <a:extLst>
              <a:ext uri="{FF2B5EF4-FFF2-40B4-BE49-F238E27FC236}">
                <ns2:creationId id="{D353644B-5508-41F7-A0F9-4101F4147E43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438650"/>
          <a:ext cx="11049000" cy="1428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D61D07DA-903C-4124-8CF4-2BE83A2E4920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1685379723"/>
      </ns0:ext>
    </ns0:extLst>
  </ns0:cSld>
</ns0:sld>
</file>

<file path=ppt/slides/slide2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9E4C489C-C604-4C9E-B071-6D923C74C0D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8A460D2-F82E-434B-AE16-452FDA5DEA3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A2665C8-64C4-4AD8-9975-D71DC392D29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06E8F2A-C41A-4D48-A62A-48DF44B1CF9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00779F5-4652-42D1-ABE6-F5DD3DA57AC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797C056-9A8F-414B-9A4D-96F441C72ED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86E6C73-4114-45F0-88D6-F91671032DA7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834CF67-FB11-4F5B-962E-5E924360ADB7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bf66cc33d3f14f9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1AD0561-E823-435E-A716-A31DBAEB9870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5FE2F42-931C-43E1-BD1F-9C9F33DBB832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223c3a5e4d8d414e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698D27C-C5B9-4849-BDC1-0DEEFBFD60A6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AD1C6B42-4C84-4385-9B4E-67F19A6F06D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ac6a5965fd6e43e5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65752e14d08f4f5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C9656FAA-6F99-4E48-B64C-29A016CA1137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1DC0B540-920D-4099-8649-8684A3F59C9D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C4D68E4D-DEE3-4798-97A7-6B935DF0E3A4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6C3B218-E859-48A7-8D87-7F51992DDE6F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994B71EF-4CFA-4E3D-861F-99D23C5558D7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767FE31-172C-4B0F-A2C9-9D7A8D5DE3E2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ABC4A85C-1D5B-4588-8228-B0F923F0F5AF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52B69228-07A8-4570-A6AF-F57BAF7D69B0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E7F2F807-8497-4D3E-9F89-A634A917CAC6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1678479371"/>
      </ns0:ext>
    </ns0:extLst>
  </ns0:cSld>
</ns0:sld>
</file>

<file path=ppt/slides/slide2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77141C89-8DCE-4238-B45F-1581FEAF60D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40B7FC9-0036-42CC-99A1-848EBE0E81C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FE8A45F-0F9A-4DA2-BD16-D451D515FA5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2BFA7C9-B7B9-49BD-B99C-349059135CA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DAEDB5F-C3EB-470C-996A-48AF2E72CF4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F770B66-A520-44BC-8FB6-B1478996B59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811F8E4-1B8A-44D0-961C-8788DC8A15BE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DF3E92B-FE24-4850-934E-5B8220036495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7f345ce5d0364dae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A8EB40-A16D-4BF2-ABE5-F7EB39F19DCD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FE91257-F464-41EB-96E5-5AD988904D19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6444b7d2cd244109"/>
          </a:graphicData>
        </a:graphic>
      </ns0:graphicFrame>
      <ns0:graphicFrame>
        <ns0:nvGraphicFramePr>
          <ns0:cNvPr id="33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9c7551dffcf341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2BD8625-FED2-49CD-81E9-2798FB5DDFEB}"/>
              </a:ext>
            </a:extLst>
          </ns0:cNvPr>
          <ns0:cNvSpPr>
            <a:spLocks noGrp="1"/>
          </ns0:cNvSpPr>
          <ns0:nvPr/>
        </ns0:nvSpPr>
        <ns0:spPr>
          <a:xfrm>
            <a:off x="571500" y="3724275"/>
            <a:ext cx="528637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001ADC2-6ED8-40B9-875F-FA76C0D65194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EE0EF0BB-EFE8-4208-8223-DBB9A49B0ED0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571500" y="4171950"/>
          <a:ext cx="5286375" cy="1857375"/>
        </ns0:xfrm>
        <a:graphic>
          <a:graphicData uri="http://schemas.openxmlformats.org/drawingml/2006/chart">
            <c:chart ns4:id="Rc0ca8f74d4aa40e1"/>
          </a:graphicData>
        </a:graphic>
      </ns0:graphicFrame>
      <ns0:sp>
        <ns0:nvSpPr>
          <ns0:cNvPr id="18" name="">
            <a:extLst>
              <a:ext uri="{FF2B5EF4-FFF2-40B4-BE49-F238E27FC236}">
                <ns2:creationId id="{A9A9578A-7905-41B5-A581-15A795D7D03B}"/>
              </a:ext>
            </a:extLst>
          </ns0:cNvPr>
          <ns0:cNvSpPr>
            <a:spLocks noGrp="1"/>
          </ns0:cNvSpPr>
          <ns0:nvPr/>
        </ns0:nvSpPr>
        <ns0:spPr>
          <a:xfrm>
            <a:off x="6334125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00927373-FA66-455B-98A2-57A4600C582F}"/>
              </a:ext>
            </a:extLst>
          </ns0:cNvPr>
          <ns0:cNvSpPr>
            <a:spLocks noGrp="1"/>
          </ns0:cNvSpPr>
          <ns0:nvPr/>
        </ns0:nvSpPr>
        <ns0:spPr>
          <a:xfrm>
            <a:off x="6334125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6334125" y="4171950"/>
          <a:ext cx="5286375" cy="1857375"/>
        </ns0:xfrm>
        <a:graphic>
          <a:graphicData uri="http://schemas.openxmlformats.org/drawingml/2006/chart">
            <c:chart ns4:id="R7a5cd266b6ff4467"/>
          </a:graphicData>
        </a:graphic>
      </ns0:graphicFrame>
    </ns0:spTree>
    <ns0:extLst>
      <ns0:ext uri="{BB962C8B-B14F-4D97-AF65-F5344CB8AC3E}">
        <ns5:creationId val="1068054655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EC05ADD6-2B47-43FB-9978-23A00A84372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5AC5F70-68DA-46FC-B114-AC0857B92F3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C6C5076-734A-433D-9DA7-2B0D6E72EF1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F2F11DD-E461-423D-AA91-8F3B4C38E40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67EB5EB-D8E8-4909-842E-A0EEC3A045A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EF1F16A-E2A3-4663-AB09-3772F95307A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E3CE7C4-4F42-4262-9DCF-EFC3DDC4E006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8DD68CC-CFC4-4902-AC13-65C910BEA4DD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AA+.br(sf)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BBB.br(sf)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br_Aa (AA)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AAA(EXP)sf(bra)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AA+(EXP)sf(bra)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75D0A315-33B9-49B8-9113-46B1CC7EA014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D5A570C-3B10-4DBE-AF99-3F5A596DDF0A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AAA(br)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3" name="">
            <a:extLst>
              <a:ext uri="{FF2B5EF4-FFF2-40B4-BE49-F238E27FC236}">
                <ns2:creationId id="{89DD19C2-85E1-428E-A66A-2F9E9724A852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F336C6E9-E110-47E1-8145-9746DE5EA32C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E180E82A-E802-4F9E-A7C4-362B0838E6C8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ns0:txBody>
      </ns0:sp>
    </ns0:spTree>
    <ns0:extLst>
      <ns0:ext uri="{BB962C8B-B14F-4D97-AF65-F5344CB8AC3E}">
        <ns3:creationId val="531344007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7D0213D8-3FC6-47B4-AFB5-0B60B770690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C2E1C8C-A0F1-45B5-8458-59B175FB9EC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B19D684-1C26-464D-9577-133BF8A31D3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A0FED5D-1DFE-42EA-9274-E439A814354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BE3330E-F3C8-4191-A27C-CD4F6279F45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32E3A0-83AC-4C63-9E9B-6305F6F5B48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7765F9F-75FB-4649-83B1-EDB3AA800F93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A55C6F-F243-42F0-8111-63A141D50911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INDIGO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ABC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ACCESS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MODAL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19927CB8-0730-4B50-999E-F140C81BF323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1479805-BB4F-4EB6-A736-22ABA8EF2CEA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C03EE80-CC14-43F9-AC74-7D363570F4AB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ECONOMICA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brA(sf)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brBBB-(sf)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 INDÚSTRIA PETROQUÍMICA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C229271A-D657-48F8-9C03-00EA2F77D71C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41E6961-1A1F-432C-AA61-A99B7C1D8DC9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ns0:txBody>
      </ns0:sp>
    </ns0:spTree>
    <ns0:extLst>
      <ns0:ext uri="{BB962C8B-B14F-4D97-AF65-F5344CB8AC3E}">
        <ns3:creationId val="794129950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BAFAAB4E-2785-4CCC-8555-DC81DA5BC53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2022 PARCIAL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9C63825-54DC-433E-AB38-5C93411DC57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85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pública recuperada contém 7 ofertas legadas; o período não forma um Top 15 completo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452E20-EA9A-436F-B20F-ADDD19B973E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381A1FB-F2C7-42B5-970A-C09BDD0616C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8CA0EDC-7150-4451-9483-9B97F4824D3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 de distribuição dos ritos ordinário e legado, e FundosNet. Registros encerrados em 2022; cobertura parcial.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CDC7050-5C79-4F7D-96CE-E9E7D16F26F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76375"/>
          <a:ext cx="11049000" cy="3333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428625"/>
                <a:gridCol w="2476500"/>
                <a:gridCol w="1524000"/>
                <a:gridCol w="857250"/>
                <a:gridCol w="1619250"/>
                <a:gridCol w="619125"/>
                <a:gridCol w="904875"/>
                <a:gridCol w="1143000"/>
                <a:gridCol w="14763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Coordenador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CRÉDITO AGRÍCOLA COTAS FIAGRO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8" name="">
            <a:extLst>
              <a:ext uri="{FF2B5EF4-FFF2-40B4-BE49-F238E27FC236}">
                <ns2:creationId id="{E3718E40-F12A-4E9C-8664-77865652BDE0}"/>
              </a:ext>
            </a:extLst>
          </ns0:cNvPr>
          <ns0:cNvSpPr>
            <a:spLocks noGrp="1"/>
          </ns0:cNvSpPr>
          <ns0:nvPr/>
        </ns0:nvSpPr>
        <ns0:spPr>
          <a:xfrm>
            <a:off x="571500" y="5095875"/>
            <a:ext cx="11049000" cy="3048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8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 observado: R$ 2,75 bi. Limitação: sete linhas legadas não sustentam comparação anual nem inferência sobre o ranking integral de 2022.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9812CB69-4685-46C5-B2B2-2D131C53AC3E}"/>
              </a:ext>
            </a:extLst>
          </ns0:cNvPr>
          <ns0:cNvSpPr>
            <a:spLocks noGrp="1"/>
          </ns0:cNvSpPr>
          <ns0:nvPr/>
        </ns0:nvSpPr>
        <ns0:spPr>
          <a:xfrm>
            <a:off x="571500" y="5619750"/>
            <a:ext cx="11049000" cy="3048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5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Agência e rating são mantidos como N/D quando não há documento público aplicável conciliado com a oferta, emissão, série ou subclasse.</a:t>
            </a:r>
          </a:p>
        </ns0:txBody>
      </ns0:sp>
    </ns0:spTree>
    <ns0:extLst>
      <ns0:ext uri="{BB962C8B-B14F-4D97-AF65-F5344CB8AC3E}">
        <ns3:creationId val="67856745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3881A2EB-AAFA-43A6-81D7-10577C495E8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92DCD1-D7C8-40B3-927C-B20C806C504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5FC847-A8F0-416E-9BB0-11D71F34B70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800E04-F921-4E3C-A847-58447B920D0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1CDBAAF-E351-4BC8-95E9-73165E4572F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6879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até 30/jun/26 e ANBIMA até 31/mai/26.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F607F7B-8382-4A2A-A41F-FC8AF80EE8C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D9DB44A-FFD2-4678-8AEF-6F9D5FA0B3D5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E43EFEB-8CD8-4E2A-8D75-EE266C3D7CBD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7F8A162-C311-4BBA-B04F-C0D3890DFB45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E4DE6AC5-37A9-4789-A9C4-A95CC0847C95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C713B1D-AA72-425D-84A0-0091A35513C8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05D58159-B6E4-445F-9575-E319E4B8172E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AAFD85EF-52D4-43D9-9394-11EC5F9832B8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4882F79-79F3-4B28-AA8E-8E2DB69AA386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3593A04-240C-4C92-92BE-A40CBE9A534E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10C1D8DC-D4F6-450C-B929-7DF20F4D003C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F13B9D07-DB1C-4354-997A-2743FAB6F1F7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C65E7F7E-A19A-4E4E-A477-6DF198BBCDA4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374EA07A-3EA0-45B1-B2B2-47D9B031B353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3F0E77A-DAFE-4D86-BCD5-5EAABAF9645F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C24F9971-A08E-494A-8856-5CD75B701F20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D4593F57-B7CD-4784-A668-44100FC57ECD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121C486-663A-4CDA-8801-9D95F7ECC0FB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6AB4C869-8307-4707-A6D8-2071776C6C59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CB2289ED-D524-4C5B-A8DD-752562E2F6EF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DF06AD10-CBFB-41F0-90DE-BFE47753588F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288C706-1115-4A70-AB27-E2F305C015C1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261185216"/>
      </ns0:ext>
    </ns0:extLst>
  </ns0:cSld>
</ns0:sld>
</file>

<file path=ppt/slides/slide3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51" name="">
            <a:extLst>
              <a:ext uri="{FF2B5EF4-FFF2-40B4-BE49-F238E27FC236}">
                <ns2:creationId id="{CDC29DBE-BF05-4FB1-A300-AB73BF2F47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896DFE0-45FB-4E1A-8777-8444F66C5DC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E78C52-B48E-4908-B98F-77E52001F70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71BADE2-F649-4265-AB52-B4BBB941843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638261D-174F-414F-B1B0-600970E1CA1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F3BCB32-493E-43E9-A0CA-66700BC0FA5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6DFE5A6-EBF8-4D1D-990B-3F66C1C90EC3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3238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80A8B28F-F17E-47D3-87F0-36F6542F635E}"/>
              </a:ext>
            </a:extLst>
          </ns0:cNvPr>
          <ns0:cNvSpPr>
            <a:spLocks noGrp="1"/>
          </ns0:cNvSpPr>
          <ns0:nvPr/>
        </ns0:nvSpPr>
        <ns0:spPr>
          <a:xfrm>
            <a:off x="628650" y="1409700"/>
            <a:ext cx="169545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2F7A7132-2C79-4926-BCDC-0EBD80ECDDB8}"/>
              </a:ext>
            </a:extLst>
          </ns0:cNvPr>
          <ns0:cNvSpPr>
            <a:spLocks noGrp="1"/>
          </ns0:cNvSpPr>
          <ns0:nvPr/>
        </ns0:nvSpPr>
        <ns0:spPr>
          <a:xfrm>
            <a:off x="2438400" y="1409700"/>
            <a:ext cx="31242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28DB4078-1E27-4597-B29A-0D90E8AD06B8}"/>
              </a:ext>
            </a:extLst>
          </ns0:cNvPr>
          <ns0:cNvSpPr>
            <a:spLocks noGrp="1"/>
          </ns0:cNvSpPr>
          <ns0:nvPr/>
        </ns0:nvSpPr>
        <ns0:spPr>
          <a:xfrm>
            <a:off x="5676900" y="1409700"/>
            <a:ext cx="588645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5365D39-4F09-4979-8446-E18B8B1B8DE6}"/>
              </a:ext>
            </a:extLst>
          </ns0:cNvPr>
          <ns0:cNvSpPr>
            <a:spLocks noGrp="1"/>
          </ns0:cNvSpPr>
          <ns0:nvPr/>
        </ns0:nvSpPr>
        <ns0:spPr>
          <a:xfrm>
            <a:off x="571500" y="1704975"/>
            <a:ext cx="11049000" cy="5143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38BEFF68-B0EB-4578-9543-F1DBE2F7EC68}"/>
              </a:ext>
            </a:extLst>
          </ns0:cNvPr>
          <ns0:cNvSpPr>
            <a:spLocks noGrp="1"/>
          </ns0:cNvSpPr>
          <ns0:nvPr/>
        </ns0:nvSpPr>
        <ns0:spPr>
          <a:xfrm>
            <a:off x="571500" y="2209800"/>
            <a:ext cx="110490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AA878D47-128F-4FE5-AE07-E108E98A60D9}"/>
              </a:ext>
            </a:extLst>
          </ns0:cNvPr>
          <ns0:cNvSpPr>
            <a:spLocks noGrp="1"/>
          </ns0:cNvSpPr>
          <ns0:nvPr/>
        </ns0:nvSpPr>
        <ns0:spPr>
          <a:xfrm>
            <a:off x="628650" y="1733550"/>
            <a:ext cx="1695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390397F-CEAF-4563-9C72-4DC36BD33706}"/>
              </a:ext>
            </a:extLst>
          </ns0:cNvPr>
          <ns0:cNvSpPr>
            <a:spLocks noGrp="1"/>
          </ns0:cNvSpPr>
          <ns0:nvPr/>
        </ns0:nvSpPr>
        <ns0:spPr>
          <a:xfrm>
            <a:off x="2438400" y="1733550"/>
            <a:ext cx="312420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84F7B6-3BF1-4D87-8BE9-404837E7FB35}"/>
              </a:ext>
            </a:extLst>
          </ns0:cNvPr>
          <ns0:cNvSpPr>
            <a:spLocks noGrp="1"/>
          </ns0:cNvSpPr>
          <ns0:nvPr/>
        </ns0:nvSpPr>
        <ns0:spPr>
          <a:xfrm>
            <a:off x="5676900" y="1733550"/>
            <a:ext cx="5886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F4C3F14B-1B9F-4FAB-849F-4E43FBF16797}"/>
              </a:ext>
            </a:extLst>
          </ns0:cNvPr>
          <ns0:cNvSpPr>
            <a:spLocks noGrp="1"/>
          </ns0:cNvSpPr>
          <ns0:nvPr/>
        </ns0:nvSpPr>
        <ns0:spPr>
          <a:xfrm>
            <a:off x="571500" y="2219325"/>
            <a:ext cx="11049000" cy="5143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F6E0788B-2518-4D1C-ABD2-3C2DEBA9AD5C}"/>
              </a:ext>
            </a:extLst>
          </ns0:cNvPr>
          <ns0:cNvSpPr>
            <a:spLocks noGrp="1"/>
          </ns0:cNvSpPr>
          <ns0:nvPr/>
        </ns0:nvSpPr>
        <ns0:spPr>
          <a:xfrm>
            <a:off x="571500" y="2724150"/>
            <a:ext cx="110490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3D102F4C-D1C6-427C-BE5F-41B536C5895C}"/>
              </a:ext>
            </a:extLst>
          </ns0:cNvPr>
          <ns0:cNvSpPr>
            <a:spLocks noGrp="1"/>
          </ns0:cNvSpPr>
          <ns0:nvPr/>
        </ns0:nvSpPr>
        <ns0:spPr>
          <a:xfrm>
            <a:off x="628650" y="2247900"/>
            <a:ext cx="1695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B6444CE1-88E4-4DF9-ADFF-D9CB4A3586DE}"/>
              </a:ext>
            </a:extLst>
          </ns0:cNvPr>
          <ns0:cNvSpPr>
            <a:spLocks noGrp="1"/>
          </ns0:cNvSpPr>
          <ns0:nvPr/>
        </ns0:nvSpPr>
        <ns0:spPr>
          <a:xfrm>
            <a:off x="2438400" y="2247900"/>
            <a:ext cx="312420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89,82% oficial; 1,15% evidência; 8,45% proxy; 0,58% N/D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C69440EC-E38A-4B97-91A1-99651AB8FA9A}"/>
              </a:ext>
            </a:extLst>
          </ns0:cNvPr>
          <ns0:cNvSpPr>
            <a:spLocks noGrp="1"/>
          </ns0:cNvSpPr>
          <ns0:nvPr/>
        </ns0:nvSpPr>
        <ns0:spPr>
          <a:xfrm>
            <a:off x="5676900" y="2247900"/>
            <a:ext cx="5886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1DE6278E-4DDC-44B6-86BA-D39478AFCA06}"/>
              </a:ext>
            </a:extLst>
          </ns0:cNvPr>
          <ns0:cNvSpPr>
            <a:spLocks noGrp="1"/>
          </ns0:cNvSpPr>
          <ns0:nvPr/>
        </ns0:nvSpPr>
        <ns0:spPr>
          <a:xfrm>
            <a:off x="571500" y="2733675"/>
            <a:ext cx="11049000" cy="5143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68AB2843-62FE-4987-8CA1-44077528B2F4}"/>
              </a:ext>
            </a:extLst>
          </ns0:cNvPr>
          <ns0:cNvSpPr>
            <a:spLocks noGrp="1"/>
          </ns0:cNvSpPr>
          <ns0:nvPr/>
        </ns0:nvSpPr>
        <ns0:spPr>
          <a:xfrm>
            <a:off x="571500" y="3238500"/>
            <a:ext cx="110490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E835A091-1E38-4108-B962-38EE44F6D8E9}"/>
              </a:ext>
            </a:extLst>
          </ns0:cNvPr>
          <ns0:cNvSpPr>
            <a:spLocks noGrp="1"/>
          </ns0:cNvSpPr>
          <ns0:nvPr/>
        </ns0:nvSpPr>
        <ns0:spPr>
          <a:xfrm>
            <a:off x="628650" y="2762250"/>
            <a:ext cx="1695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D590B9AB-2B85-44B6-9425-1DFC155DE6FA}"/>
              </a:ext>
            </a:extLst>
          </ns0:cNvPr>
          <ns0:cNvSpPr>
            <a:spLocks noGrp="1"/>
          </ns0:cNvSpPr>
          <ns0:nvPr/>
        </ns0:nvSpPr>
        <ns0:spPr>
          <a:xfrm>
            <a:off x="2438400" y="2762250"/>
            <a:ext cx="312420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7437BCA7-3698-4088-B66E-F30B0E9399AE}"/>
              </a:ext>
            </a:extLst>
          </ns0:cNvPr>
          <ns0:cNvSpPr>
            <a:spLocks noGrp="1"/>
          </ns0:cNvSpPr>
          <ns0:nvPr/>
        </ns0:nvSpPr>
        <ns0:spPr>
          <a:xfrm>
            <a:off x="5676900" y="2762250"/>
            <a:ext cx="5886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6582181C-148C-4F44-ACC5-C253DCAD2DCF}"/>
              </a:ext>
            </a:extLst>
          </ns0:cNvPr>
          <ns0:cNvSpPr>
            <a:spLocks noGrp="1"/>
          </ns0:cNvSpPr>
          <ns0:nvPr/>
        </ns0:nvSpPr>
        <ns0:spPr>
          <a:xfrm>
            <a:off x="571500" y="3248025"/>
            <a:ext cx="11049000" cy="5143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27" name="">
            <a:extLst>
              <a:ext uri="{FF2B5EF4-FFF2-40B4-BE49-F238E27FC236}">
                <ns2:creationId id="{B20F35CD-E358-4E9E-B367-74A36A5DA6BE}"/>
              </a:ext>
            </a:extLst>
          </ns0:cNvPr>
          <ns0:cNvSpPr>
            <a:spLocks noGrp="1"/>
          </ns0:cNvSpPr>
          <ns0:nvPr/>
        </ns0:nvSpPr>
        <ns0:spPr>
          <a:xfrm>
            <a:off x="571500" y="3752850"/>
            <a:ext cx="110490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E2C35F8E-512F-4F1C-9686-BF4FB916F282}"/>
              </a:ext>
            </a:extLst>
          </ns0:cNvPr>
          <ns0:cNvSpPr>
            <a:spLocks noGrp="1"/>
          </ns0:cNvSpPr>
          <ns0:nvPr/>
        </ns0:nvSpPr>
        <ns0:spPr>
          <a:xfrm>
            <a:off x="628650" y="3276600"/>
            <a:ext cx="1695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A4D6DF82-7220-40F6-AB6C-BDC244951E73}"/>
              </a:ext>
            </a:extLst>
          </ns0:cNvPr>
          <ns0:cNvSpPr>
            <a:spLocks noGrp="1"/>
          </ns0:cNvSpPr>
          <ns0:nvPr/>
        </ns0:nvSpPr>
        <ns0:spPr>
          <a:xfrm>
            <a:off x="2438400" y="3276600"/>
            <a:ext cx="312420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C746C385-42DE-4DF5-A9C2-6F6E3ADFF063}"/>
              </a:ext>
            </a:extLst>
          </ns0:cNvPr>
          <ns0:cNvSpPr>
            <a:spLocks noGrp="1"/>
          </ns0:cNvSpPr>
          <ns0:nvPr/>
        </ns0:nvSpPr>
        <ns0:spPr>
          <a:xfrm>
            <a:off x="5676900" y="3276600"/>
            <a:ext cx="5886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subtipo; cobertura de classificação Tipo+Foco por PL é reportada em cada slide. Top 10 fixo por função; Outros identificados e prestador não informado separados.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0EB5EBCE-4089-4BA7-ACEB-18C17EF72FAC}"/>
              </a:ext>
            </a:extLst>
          </ns0:cNvPr>
          <ns0:cNvSpPr>
            <a:spLocks noGrp="1"/>
          </ns0:cNvSpPr>
          <ns0:nvPr/>
        </ns0:nvSpPr>
        <ns0:spPr>
          <a:xfrm>
            <a:off x="571500" y="3762375"/>
            <a:ext cx="11049000" cy="5143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3D6869CE-DD6B-4904-92BE-F05C249199B2}"/>
              </a:ext>
            </a:extLst>
          </ns0:cNvPr>
          <ns0:cNvSpPr>
            <a:spLocks noGrp="1"/>
          </ns0:cNvSpPr>
          <ns0:nvPr/>
        </ns0:nvSpPr>
        <ns0:spPr>
          <a:xfrm>
            <a:off x="571500" y="4267200"/>
            <a:ext cx="110490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3" name="">
            <a:extLst>
              <a:ext uri="{FF2B5EF4-FFF2-40B4-BE49-F238E27FC236}">
                <ns2:creationId id="{7881EE66-B133-4045-B554-B817271F384C}"/>
              </a:ext>
            </a:extLst>
          </ns0:cNvPr>
          <ns0:cNvSpPr>
            <a:spLocks noGrp="1"/>
          </ns0:cNvSpPr>
          <ns0:nvPr/>
        </ns0:nvSpPr>
        <ns0:spPr>
          <a:xfrm>
            <a:off x="628650" y="3790950"/>
            <a:ext cx="1695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EF167F39-7E94-4BF4-B8D0-377417E0A3D1}"/>
              </a:ext>
            </a:extLst>
          </ns0:cNvPr>
          <ns0:cNvSpPr>
            <a:spLocks noGrp="1"/>
          </ns0:cNvSpPr>
          <ns0:nvPr/>
        </ns0:nvSpPr>
        <ns0:spPr>
          <a:xfrm>
            <a:off x="2438400" y="3790950"/>
            <a:ext cx="312420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3.474 fundos; jun/26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AFD1B8D0-BB5E-4BF3-AD4B-9BFB86DD70AA}"/>
              </a:ext>
            </a:extLst>
          </ns0:cNvPr>
          <ns0:cNvSpPr>
            <a:spLocks noGrp="1"/>
          </ns0:cNvSpPr>
          <ns0:nvPr/>
        </ns0:nvSpPr>
        <ns0:spPr>
          <a:xfrm>
            <a:off x="5676900" y="3790950"/>
            <a:ext cx="5886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direto; FICs excluídos pelo portão único. Mesmo conglomerado nas três funções; Kanastra permanece separada do Itaú e CBSF da REAG. Afiliação Kanastra→Itaú só no ranking de independentes.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D32CFC2A-3E1F-454E-B3AA-AF42CF329BB3}"/>
              </a:ext>
            </a:extLst>
          </ns0:cNvPr>
          <ns0:cNvSpPr>
            <a:spLocks noGrp="1"/>
          </ns0:cNvSpPr>
          <ns0:nvPr/>
        </ns0:nvSpPr>
        <ns0:spPr>
          <a:xfrm>
            <a:off x="571500" y="4276725"/>
            <a:ext cx="11049000" cy="5143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37" name="">
            <a:extLst>
              <a:ext uri="{FF2B5EF4-FFF2-40B4-BE49-F238E27FC236}">
                <ns2:creationId id="{2048C5BF-36F1-4E21-9DB0-8F391C91E047}"/>
              </a:ext>
            </a:extLst>
          </ns0:cNvPr>
          <ns0:cNvSpPr>
            <a:spLocks noGrp="1"/>
          </ns0:cNvSpPr>
          <ns0:nvPr/>
        </ns0:nvSpPr>
        <ns0:spPr>
          <a:xfrm>
            <a:off x="571500" y="4781550"/>
            <a:ext cx="110490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8301BCAE-FFD3-4D27-87EB-549FACAFE673}"/>
              </a:ext>
            </a:extLst>
          </ns0:cNvPr>
          <ns0:cNvSpPr>
            <a:spLocks noGrp="1"/>
          </ns0:cNvSpPr>
          <ns0:nvPr/>
        </ns0:nvSpPr>
        <ns0:spPr>
          <a:xfrm>
            <a:off x="628650" y="4305300"/>
            <a:ext cx="1695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Comparativo por instrumento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0DD95384-489A-49CE-B73D-1DBC8F88227A}"/>
              </a:ext>
            </a:extLst>
          </ns0:cNvPr>
          <ns0:cNvSpPr>
            <a:spLocks noGrp="1"/>
          </ns0:cNvSpPr>
          <ns0:nvPr/>
        </ns0:nvSpPr>
        <ns0:spPr>
          <a:xfrm>
            <a:off x="2438400" y="4305300"/>
            <a:ext cx="312420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jan–mai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83A5EF69-ED32-4AC6-9357-1980E62A2EDB}"/>
              </a:ext>
            </a:extLst>
          </ns0:cNvPr>
          <ns0:cNvSpPr>
            <a:spLocks noGrp="1"/>
          </ns0:cNvSpPr>
          <ns0:nvPr/>
        </ns0:nvSpPr>
        <ns0:spPr>
          <a:xfrm>
            <a:off x="5676900" y="4305300"/>
            <a:ext cx="5886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ANBIMA Data, Valor Encerrado por data de encerramento das ofertas públicas. Debêntures incluem debêntures de securitização. O anexo não segrega sistematicamente primárias e secundárias.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ED221171-ACEC-48DA-8044-C03FDDF98C89}"/>
              </a:ext>
            </a:extLst>
          </ns0:cNvPr>
          <ns0:cNvSpPr>
            <a:spLocks noGrp="1"/>
          </ns0:cNvSpPr>
          <ns0:nvPr/>
        </ns0:nvSpPr>
        <ns0:spPr>
          <a:xfrm>
            <a:off x="571500" y="4791075"/>
            <a:ext cx="11049000" cy="5143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42" name="">
            <a:extLst>
              <a:ext uri="{FF2B5EF4-FFF2-40B4-BE49-F238E27FC236}">
                <ns2:creationId id="{873916C6-0CD9-4098-B23D-0AA880CEDFE6}"/>
              </a:ext>
            </a:extLst>
          </ns0:cNvPr>
          <ns0:cNvSpPr>
            <a:spLocks noGrp="1"/>
          </ns0:cNvSpPr>
          <ns0:nvPr/>
        </ns0:nvSpPr>
        <ns0:spPr>
          <a:xfrm>
            <a:off x="571500" y="5295900"/>
            <a:ext cx="110490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2BDFACBC-67ED-49BB-9549-CA0FEC6ADA76}"/>
              </a:ext>
            </a:extLst>
          </ns0:cNvPr>
          <ns0:cNvSpPr>
            <a:spLocks noGrp="1"/>
          </ns0:cNvSpPr>
          <ns0:nvPr/>
        </ns0:nvSpPr>
        <ns0:spPr>
          <a:xfrm>
            <a:off x="628650" y="4819650"/>
            <a:ext cx="1695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Análises granulares de ofertas</a:t>
            </a:r>
          </a:p>
        </ns0:txBody>
      </ns0:sp>
      <ns0:sp>
        <ns0:nvSpPr>
          <ns0:cNvPr id="44" name="">
            <a:extLst>
              <a:ext uri="{FF2B5EF4-FFF2-40B4-BE49-F238E27FC236}">
                <ns2:creationId id="{DD9BFE32-1F83-466E-8417-BAFFBFFF8D42}"/>
              </a:ext>
            </a:extLst>
          </ns0:cNvPr>
          <ns0:cNvSpPr>
            <a:spLocks noGrp="1"/>
          </ns0:cNvSpPr>
          <ns0:nvPr/>
        </ns0:nvSpPr>
        <ns0:spPr>
          <a:xfrm>
            <a:off x="2438400" y="4819650"/>
            <a:ext cx="312420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2022 parcial; 2023–2025 FY; 2026 jan–jun</a:t>
            </a:r>
          </a:p>
        </ns0:txBody>
      </ns0:sp>
      <ns0:sp>
        <ns0:nvSpPr>
          <ns0:cNvPr id="45" name="">
            <a:extLst>
              <a:ext uri="{FF2B5EF4-FFF2-40B4-BE49-F238E27FC236}">
                <ns2:creationId id="{BA1526B4-18C0-4DA9-BC07-E2E224EEBB07}"/>
              </a:ext>
            </a:extLst>
          </ns0:cNvPr>
          <ns0:cNvSpPr>
            <a:spLocks noGrp="1"/>
          </ns0:cNvSpPr>
          <ns0:nvPr/>
        </ns0:nvSpPr>
        <ns0:spPr>
          <a:xfrm>
            <a:off x="5676900" y="4819650"/>
            <a:ext cx="5886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CVM/SRE, Cotas de FIDC, ofertas públicas primárias encerradas, todos os ritos disponíveis e valor registrado positivo. Automático: requerimento; ordinário/legado: registro + emissor + data + instrumento.</a:t>
            </a:r>
          </a:p>
        </ns0:txBody>
      </ns0:sp>
      <ns0:sp>
        <ns0:nvSpPr>
          <ns0:cNvPr id="46" name="">
            <a:extLst>
              <a:ext uri="{FF2B5EF4-FFF2-40B4-BE49-F238E27FC236}">
                <ns2:creationId id="{8D6ED3F6-8027-402E-8DE4-BB9102ADA239}"/>
              </a:ext>
            </a:extLst>
          </ns0:cNvPr>
          <ns0:cNvSpPr>
            <a:spLocks noGrp="1"/>
          </ns0:cNvSpPr>
          <ns0:nvPr/>
        </ns0:nvSpPr>
        <ns0:spPr>
          <a:xfrm>
            <a:off x="571500" y="5305425"/>
            <a:ext cx="11049000" cy="5143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47" name="">
            <a:extLst>
              <a:ext uri="{FF2B5EF4-FFF2-40B4-BE49-F238E27FC236}">
                <ns2:creationId id="{5CD02525-38B3-4864-8394-4DE692BC4A48}"/>
              </a:ext>
            </a:extLst>
          </ns0:cNvPr>
          <ns0:cNvSpPr>
            <a:spLocks noGrp="1"/>
          </ns0:cNvSpPr>
          <ns0:nvPr/>
        </ns0:nvSpPr>
        <ns0:spPr>
          <a:xfrm>
            <a:off x="571500" y="5810250"/>
            <a:ext cx="110490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8" name="">
            <a:extLst>
              <a:ext uri="{FF2B5EF4-FFF2-40B4-BE49-F238E27FC236}">
                <ns2:creationId id="{F5C5A059-2064-4AA3-A95D-37E2955AC7AC}"/>
              </a:ext>
            </a:extLst>
          </ns0:cNvPr>
          <ns0:cNvSpPr>
            <a:spLocks noGrp="1"/>
          </ns0:cNvSpPr>
          <ns0:nvPr/>
        </ns0:nvSpPr>
        <ns0:spPr>
          <a:xfrm>
            <a:off x="628650" y="5334000"/>
            <a:ext cx="1695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Perímetro FIC e cross-check</a:t>
            </a:r>
          </a:p>
        </ns0:txBody>
      </ns0:sp>
      <ns0:sp>
        <ns0:nvSpPr>
          <ns0:cNvPr id="49" name="">
            <a:extLst>
              <a:ext uri="{FF2B5EF4-FFF2-40B4-BE49-F238E27FC236}">
                <ns2:creationId id="{AB03B978-1A23-4137-A15B-AB1D76D1A8A3}"/>
              </a:ext>
            </a:extLst>
          </ns0:cNvPr>
          <ns0:cNvSpPr>
            <a:spLocks noGrp="1"/>
          </ns0:cNvSpPr>
          <ns0:nvPr/>
        </ns0:nvSpPr>
        <ns0:spPr>
          <a:xfrm>
            <a:off x="2438400" y="5334000"/>
            <a:ext cx="312420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30 nomes FIC mantidos; 319 inconsistências (R$ 139,03 bi)</a:t>
            </a:r>
          </a:p>
        </ns0:txBody>
      </ns0:sp>
      <ns0:sp>
        <ns0:nvSpPr>
          <ns0:cNvPr id="50" name="">
            <a:extLst>
              <a:ext uri="{FF2B5EF4-FFF2-40B4-BE49-F238E27FC236}">
                <ns2:creationId id="{15025D04-F466-4EF6-97BD-0449325FBCA2}"/>
              </a:ext>
            </a:extLst>
          </ns0:cNvPr>
          <ns0:cNvSpPr>
            <a:spLocks noGrp="1"/>
          </ns0:cNvSpPr>
          <ns0:nvPr/>
        </ns0:nvSpPr>
        <ns0:spPr>
          <a:xfrm>
            <a:off x="5676900" y="5334000"/>
            <a:ext cx="58864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7466"/>
          </a:bodyPr>
          <a:lstStyle/>
          <a:p>
            <a:pPr algn="l">
              <a:lnSpc>
                <a:spcPct val="95000"/>
              </a:lnSpc>
              <a:buNone/>
              <a:def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 portão FIC usa sinal nominal legado e revisão quantitativa; a auditoria separa a origem registrada de cada decisão. O cross-check registrou 243 multicarteira com classificação específica, 70 aprovações sem evidência suficiente, 5 emissor × credenciadora e 1 divergência aprovada × publicada, sem correção automática. EXPERT III (53.073.485/0001-00; R$ 3,52 bi) é o único caso em que a correção de perímetro sobrescreveu aprovação manual.</a:t>
            </a:r>
          </a:p>
        </ns0:txBody>
      </ns0:sp>
    </ns0:spTree>
    <ns0:extLst>
      <ns0:ext uri="{BB962C8B-B14F-4D97-AF65-F5344CB8AC3E}">
        <ns3:creationId val="282183359"/>
      </ns0:ext>
    </ns0:extLst>
  </ns0:cSld>
</ns0:sld>
</file>

<file path=ppt/slides/slide3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52F6BEF5-049E-4E72-8507-867E75A52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AA32AB8-D2E7-4C39-9714-D15EA024BC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7,5%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845959C-DF88-4E3B-9C72-A5F6994899D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DAF1A35-BF25-4DDF-8DA8-7C9AEB1328A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49D90E1-3CA6-45BF-8693-D704B8EA62F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DA3B08-AF30-47D0-8E36-7FC30CEF3C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D86C2E-81B0-4679-BC1A-4BF7E473657D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35DD466-5CC0-46AD-98A1-CDA0EA9D1E94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B2C98722-5295-4D0D-A203-99416B3E4A29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259BB5AC-D691-47B4-AC9B-E1C8ACEDBE1E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ABA792F-1BDB-4202-B089-A865729EE797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53A6883-C935-4B72-BE12-AA3183350F6C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358FEECB-F841-4248-9348-AAC1CE309B4F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3BFFAB71-B405-41A5-ACDA-01CAAD1A0471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BE119DE-062E-4D4E-81AC-C723FC1F5738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500FBE55-CCD8-4892-BF1F-51DB1FECED68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5A77FF2-11A8-4E26-A23F-15E8DC2C8860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5E6BD8D-5B1C-41EC-B04D-B6D8437E1DF5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00088F9-2844-43C3-971E-2B0DB299B374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F7C2BCC-6811-4196-9C6D-9A544BCE0620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98C997B3-79E7-4330-9894-E6552AB38B10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C459E03B-C374-452B-9A33-CB6290288F60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2CC76469-D78F-4380-8734-A6133F981361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B036EC45-531D-4437-8C44-A3674C46DC0D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0217B45F-0750-4643-91E6-A926A77E9715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713A6ABC-7037-496A-9A5A-22F0B74970AF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41DD53CC-7317-43B4-AFCD-6A1F232827F9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EB4A1DD0-B789-48AB-90C7-46367338C426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36C66E13-A35C-467F-80E9-2FBC646F607B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ns0:txBody>
      </ns0:sp>
    </ns0:spTree>
    <ns0:extLst>
      <ns0:ext uri="{BB962C8B-B14F-4D97-AF65-F5344CB8AC3E}">
        <ns3:creationId val="241506475"/>
      </ns0:ext>
    </ns0:extLst>
  </ns0:cSld>
</ns0:sld>
</file>

<file path=ppt/slides/slide3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FD3E7AE3-8D75-46A1-8281-0EAAA08C20A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2E8F210-78C6-4B4F-8B8D-BCC42463FBC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5,1%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6B1B590-7F2C-4672-90A2-46D9C1B6B6B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6FE3477-F81D-449A-A9BF-D052E394B20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C65A38D-E43F-45BF-8A53-763B2E626C7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7FB3370-55FA-4D3E-8BAC-3A05DF570D7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5403231-1CC4-4C14-9BCE-966C1F226D71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B9831F4-B027-451A-AAE6-B0BC16988468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E264372F-91D2-407B-9C77-BF4FB13F196C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FE334CF1-EC90-438F-8DC0-3342387CD439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2F380EB-76F0-40A5-8A3E-1AE36FC73B30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2749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2EC1582-3177-4D5B-8045-F0598AA698F9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688F6F8D-5229-4EB5-8EA7-70712741A04D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02E2AA2-E476-466E-BE42-E764AC0FDF42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ABD4CC72-1E99-4F37-935B-AE6BCF154D19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2D8D49D4-E7BE-41C2-8584-3BDC208D55BE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56D0705D-E735-4E83-8FED-D843876B9017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348E306B-048C-4677-9FD2-8C9F3551CBDB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C5419593-39A3-4984-9367-1836D3FF5A59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3864471A-5827-4D80-8DE8-A10879449258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1080767E-6958-48EE-8A05-1DD1D0442B2C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AA2FD738-7F1F-4BE2-B460-7F2C09E269F3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51EB5163-6DCC-496B-8A50-1A7AC2B89332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F5E0140D-3357-433D-9EBF-EDEB706FC98D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7D2DF74D-7791-4996-B681-659347A171DC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DDEB6A7A-3E6A-47EC-81C1-A22BF2B496B4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9B675CF-2E06-437D-9178-73A5C4C1B9D1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D30674EE-BB28-438F-8B29-00958FBA2F67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2D3C11E4-4025-492D-A49E-EF6B74D92588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ns0:txBody>
      </ns0:sp>
    </ns0:spTree>
    <ns0:extLst>
      <ns0:ext uri="{BB962C8B-B14F-4D97-AF65-F5344CB8AC3E}">
        <ns3:creationId val="1267210921"/>
      </ns0:ext>
    </ns0:extLst>
  </ns0:cSld>
</ns0:sld>
</file>

<file path=ppt/slides/slide3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4EF5A689-C432-400E-8678-3922C1A85F6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D997618-ACC7-4525-859B-C87B85B42FE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2,2%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A712A25-F4D3-42B4-82B7-B6ACDB8C0A9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9A91FD6-99FC-4C96-B761-6F69B729C1E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3AAE80-2D5D-4AB0-B089-FBFF1F8E986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A094D54-31AF-4485-BF93-FF2F91C7422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DA36688-DAE4-46ED-93C6-860EB131DA2B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15F3148-69A5-4594-AC07-752163AD2F0B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55B80AF7-D68C-4768-9285-DA92596103A3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675F7393-2718-44BB-B568-47837204DC50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234DDB5-76CC-49E0-8D50-99A804EF95FD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6A98588-0AB9-4BB0-BE1A-17CD05358D1D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BAA66C95-B7C8-4837-BBC3-CB6A4E3D6029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8D0BB56-8DA2-4784-8038-E19CB637DDFF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72CB8070-BBCF-4982-A854-9365A0405CEF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A5E30B1B-8027-4C50-9D15-615E29B210C5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723A2B37-2A60-450A-AD2E-6420011B6309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D1CEF12-B3A9-41E5-B391-AD8E8F4A760F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038053DA-8053-44F1-A485-B851447FC6AF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C424FF1F-0EFC-45E8-A362-0C27A38E75D7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A276B758-6926-4C17-B120-F8C571AA7362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CF21B196-88FD-4514-9037-53857E7D99F9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5FE7BF83-10FD-4CD3-92A2-CD03B47686AD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1E8A9AD8-C676-4489-8CA7-8A87941651F4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F42F4006-83E2-46F3-B7BC-EDD6E7FADF20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0C23A676-A360-4692-AC08-5313B8BC0A63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D593A012-AE27-4CAC-89B9-544C60F14AEB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7D1FBD02-803A-4028-B001-CAB166453CC4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B381056F-137C-402C-BE81-AC8870E79AB9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ns0:txBody>
      </ns0:sp>
    </ns0:spTree>
    <ns0:extLst>
      <ns0:ext uri="{BB962C8B-B14F-4D97-AF65-F5344CB8AC3E}">
        <ns3:creationId val="1581378102"/>
      </ns0:ext>
    </ns0:extLst>
  </ns0:cSld>
</ns0:sld>
</file>

<file path=ppt/slides/slide3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C689E361-72B9-454B-A9CC-59BD4A260C3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ED71F6E-8224-4EC9-9CFF-B72704892CF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1,2%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963BDA8-FAA5-48A9-9304-F0DE18B55C7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B2EC8F7-24AE-4757-879A-05AF8B7917F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0C9777C-6809-40BB-976F-6AC8A5D852C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9436C94-ADF5-4F95-859B-28AC39E2342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D6F0C26-349C-4EB9-9B40-F94391F4866B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E1C5EE5-B858-48F1-8C85-B2331C9572AA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D18820B1-9BE1-4C84-B05F-02783FCCBBAD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3CD77DC9-3872-4C9D-985A-E32D6A330C1A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9DC52DC-8BC5-4623-9CDA-765F97661A64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3503029-F6BC-46DD-9471-79C55311132A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180117D6-8E05-42B3-9987-4633F33D7933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0B8AEF3-593E-40BC-A9D8-AA7205DF67F0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409350F-8732-4E54-AF70-8B2CC75B5E20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978504FE-0900-4AA6-A637-9B3A5945A19C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C2DFDC1-E4DE-49AC-9737-73F4EDBC7B42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BE6AB57C-BA5B-4C01-A285-617E5E574D1B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F789B4A-ACEB-46A7-AD15-08A86DABB99D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0AC7AC1D-3175-4E74-A282-AAC2D4EB318C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FF2A10A1-3789-4DBE-AFA9-AF02FE528CB6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R$ 5,5 bi | doc. 1166893 || 2025-09-16 | encerramento de oferta secundária da 1ª série | R$ 4,2 bi | doc. 993253; Oferta secundária; não representa captação nova da classe.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BB61FDF1-E293-47B5-9AD5-0B40AE101572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A34462CE-2D62-479A-AE8B-D5FD92156495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4481041F-1B68-4CD6-ACC0-75662C146CDA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8540A1C0-BAEE-496C-B230-B38944CC79AD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03A45C1B-C5D1-4902-A6B0-9ABFB107604C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A5BB5C4-51B4-49F9-A67C-DD1EED24B0B0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E28D7B5E-EE47-428A-AFF4-864F7AC3225C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D009CE09-DFDB-4EA5-A6CA-CB872CE8E497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ns0:txBody>
      </ns0:sp>
    </ns0:spTree>
    <ns0:extLst>
      <ns0:ext uri="{BB962C8B-B14F-4D97-AF65-F5344CB8AC3E}">
        <ns3:creationId val="1386782094"/>
      </ns0:ext>
    </ns0:extLst>
  </ns0:cSld>
</ns0:sld>
</file>

<file path=ppt/slides/slide3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4DDB03A5-6E77-498C-9C3E-80CAD698A81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89FF29C-7744-460B-9563-FB8A6789E0D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8A3A5A-E279-457C-A494-41940ED9E93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D1C0FFC-CE6F-4C08-B149-1B189CED5AD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3CC7B43-1427-4EAF-90D8-C97070EA6A4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E58003C-3C91-416B-BA43-26065D8B36C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74073AD-1D6C-4876-9EC5-C74C938ADEB6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5373EA6-AE63-4B35-9491-824A617DC867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4808313F-B65E-44DF-BB8D-2A3D1A2E71F7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5F256EA-C316-44F9-BAC3-824DCFE736AA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56345F1-A521-4740-9FC5-958E6610E864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D15DB478-5CAB-4108-A837-C2ABCCDF23B1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2EF16774-ED63-498E-A6AF-DB184DA49B29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5E75CAB0-3F9C-4387-8580-E4BF6FEC0250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AFC36AE1-51F1-4E2B-BB26-613ABEB2D437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37AA250C-4322-41E0-8602-8A4DBF89F6FE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F713683C-56D8-4CB8-A056-51FAB2C078A4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74F70613-F063-4F68-9FD6-65FD9C288265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019AF065-8B55-488C-B0C9-EA835B79F815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0C1C3F90-FA39-4607-8A0E-C7FC98B5ED9F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BFD7C2C1-45EE-4CC5-8F70-833688A0648D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0F787432-BD89-43BE-BABB-8B68D42D4174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A4275C02-4C9B-4735-AE94-C1407E3826B9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E82F4D3C-385E-42F6-98CD-C7D11678EDA5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0B1D38D6-8427-494E-84AC-7B27F727E1D8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6C87C48F-D95F-4440-9CDC-C81EF6D00118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E37C3867-63E5-4C3C-9996-4AA467ADD436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BBB871F0-95D0-439E-AA89-8974828C7003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73F36B08-4F52-4BF3-B2A5-0F7508621E54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 Evidência: O regulamento declara Tipo Financeiro e Foco Créditos Consignados para a Classe Consignado Privado.</a:t>
            </a:r>
          </a:p>
        </ns0:txBody>
      </ns0:sp>
    </ns0:spTree>
    <ns0:extLst>
      <ns0:ext uri="{BB962C8B-B14F-4D97-AF65-F5344CB8AC3E}">
        <ns3:creationId val="277190968"/>
      </ns0:ext>
    </ns0:extLst>
  </ns0:cSld>
</ns0:sld>
</file>

<file path=ppt/slides/slide4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87F20766-133F-4A03-912A-3DD362354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7A4B49-3ED8-4640-B15B-E56D5AC9907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1,1%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A414861-FB5F-4F5A-A324-FCA6D1D4179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81259A0-2221-42A4-9B48-4DB9A637A43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880E193-E34F-4870-BC7B-E156C8BEE1E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1DCED6F-8812-40DA-A4A7-BF867FBEE9E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7EC27B7-58F0-4CFB-AA08-9041BF91BE6F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D6E7690-4DA9-4DD7-A1AF-0E4C542CF7D7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4FECF50C-14CF-4694-ADFC-BBC5FDCB775E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AD11DDB8-815F-4855-B0EF-8211B6B2E88B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52E0E29-6D16-48DF-BB4C-AB22AFC78DA5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7696BBAF-A42B-4977-9F52-86932FDE37BF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0B18370C-8184-4670-A4F2-FFE0990405FA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AF27265A-CDEE-4E13-9979-3094BD864BF3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EB762EC-E4B7-4A8C-851B-5C33A8F71DE4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E1F23628-6A6E-4AA2-B45C-9298C8DAE67A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FD6F1CED-6AA3-449E-B1EC-79A5E9AF26DC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F8A7FDAA-7487-4266-9DD4-99258F4E55FD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D59EAB2B-127F-48C8-9B4D-7961D1074355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19E21766-2519-423F-AB04-5D1F4AC6F26C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72B1229B-4659-4C0C-8C34-AA73E374D776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07558E0E-7EDC-4E0F-BBEC-A700D78A4576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460058C3-1637-4FA1-B032-D6AE1311D83B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87067094-EC7C-4BBC-8748-3FAC5E41AADA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B67488FB-A84E-4686-8D85-FB0EC183DBBE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112D2AB8-4F40-40BF-8556-CCB1AB4E19AA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AAF4FD9A-39B5-489A-B19B-0ADC19B4C1DD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70DC102D-F0E9-4DD0-9EED-91EB722CEEA9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D169344D-9107-40AE-BF5D-B10A701BD2E4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ns0:txBody>
      </ns0:sp>
    </ns0:spTree>
    <ns0:extLst>
      <ns0:ext uri="{BB962C8B-B14F-4D97-AF65-F5344CB8AC3E}">
        <ns3:creationId val="370036904"/>
      </ns0:ext>
    </ns0:extLst>
  </ns0:cSld>
</ns0:sld>
</file>

<file path=ppt/slides/slide4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669DDA59-8E6B-4366-B09C-1EF064CD41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52C16AF-BF88-4F30-BD7E-B25F346422B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1,0%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4061670-309D-4E20-9DB9-64431AC5269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D85C0EF-011D-4430-AB83-EC94C12B3A4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2C21B63-1DAE-49C4-9E71-85B5118CD60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2B9B87-4847-4D60-B8F3-F017DACCDB2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81EB1E8-35A4-488B-93ED-8A82EB62B33F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49A00BD-ED26-481A-B50F-4A9095BEC533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29F20BB9-C0F5-4C1A-8C95-C347F38EB6E1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CA796A81-4078-45CB-82A8-C15F5122FAF3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B48843F-AA2E-4692-988C-EFC248E28C91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02B4DF1A-FC9B-4325-8838-C14CE71964EC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174B3F6D-4DB8-4A8C-B8CC-7140927B019A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14C502F2-C677-4A58-8F6A-AF350188E44D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6A6DC9AF-7D60-4050-9939-32D9A211F54B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9EBB2317-CFB4-4FB3-840D-EB391E5BCB00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7EBE9400-FD41-433E-907C-D6A6697C23F8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FB985CD8-4ABB-4563-8C2B-755537AE2A91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95BAE4F-CCA9-4E94-A2C5-F5A6897BF655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3DE988CC-9EAB-4EE0-A541-E75DAF453979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5ED0FC06-BABA-401A-B284-CF15851B4406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R$ 2,5 bi | doc. 523931; Valor máximo aprovado; o documento não comprova colocação integral.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BD472505-ECC9-4C58-99C1-34BDE871AAF9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9F638F43-8796-409C-87C5-3B629BDA892A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5614F6AD-0CF8-4458-8057-F356BDD3D7C9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ABDC369-0C41-4D68-AF0E-D2F40DAA83FE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79C9790-4B57-48C0-9624-0EDDB5F17214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726C488B-8035-4407-970E-8F9861EEC6EC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D2705D84-8D82-424F-A8A1-50A1E619F88E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0794B910-8FFA-42AE-8E75-93BCCEA19DD8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ns0:txBody>
      </ns0:sp>
    </ns0:spTree>
    <ns0:extLst>
      <ns0:ext uri="{BB962C8B-B14F-4D97-AF65-F5344CB8AC3E}">
        <ns3:creationId val="227846422"/>
      </ns0:ext>
    </ns0:extLst>
  </ns0:cSld>
</ns0:sld>
</file>

<file path=ppt/slides/slide4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570A4C9B-DD15-435A-95B2-D54835E6586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52D5F4A-707C-407C-8FFA-D157E96652B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0,9%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CAD5322-ADA5-4B44-9DC2-DF04235E1C8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2F59E95-5A19-458C-BFCC-0479D45CE24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0A993BD-5DD3-49F9-92CB-6C7E0F0F16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CA0C188-1BCA-48A7-87A5-FA812FC1C73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A0C501C-70FC-4C07-9757-8E842712C00A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191808E-4D09-4805-A778-569424D1FC51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4439135-5013-43F2-B388-D66C779346A7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73FB051E-2C7E-4173-8C50-15F41EDD4336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DCCB441-4795-41BC-AD9D-2CA901443F39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4EFF017-32B8-454F-ACFB-843929BA4630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50C7A08-E126-4B3C-BDA9-AB21F07FDF01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EEFC8C9B-F1E4-4BE6-AD88-47090482EE9C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0B72E6DE-1EC7-4310-9E0D-81F5E51B2399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5C48CCBA-0464-4985-9BDA-A5C1003E3C8F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D2A96CEC-68AE-436B-B70C-4A80B26EFC01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161A5790-2FCD-40EF-B7BC-383508157625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3A86B95-38B4-4A4C-AA74-DB7B8209520A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24E02F63-2869-49A4-A9C1-26108B64BD67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D465CB5F-6EEE-427E-81E3-58A961F97C41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E258F59C-8848-4C8E-899E-D8F6D5F2C821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5CB225C8-2DEA-4D01-889B-A0A1DB5DB844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4621FC2D-3FDC-45CE-BAE5-A794D7169DE1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A32E58E-E70C-4596-BA1C-03EFF737121B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B69D801C-FF6E-4C6D-802D-F8C9EE802E5E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DF58D45-75F7-464B-A837-30BBFE784005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E83A0735-ED65-46CE-8386-5D1F17E6F753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45804228-90BB-4EE7-A952-DC716B88C616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ns0:txBody>
      </ns0:sp>
    </ns0:spTree>
    <ns0:extLst>
      <ns0:ext uri="{BB962C8B-B14F-4D97-AF65-F5344CB8AC3E}">
        <ns3:creationId val="1530514304"/>
      </ns0:ext>
    </ns0:extLst>
  </ns0:cSld>
</ns0:sld>
</file>

<file path=ppt/slides/slide4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4A8690BE-E1CB-4069-A8F1-C5F64CB87C9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B1D929C-2015-4222-899A-6DD232C32A5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0,8%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1217EE8-0778-4BA9-BAB3-540960CE2D9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DF818DD-7A51-4199-8D8A-F1C50ABA84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3DF1999-7B54-41B2-A195-A462333990C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2656C7B-4135-49FA-8649-F2C0F2D27FF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64FB09-33FD-46F4-9B09-67B4BEF4AA8E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E1A877-7F6A-4534-9A57-7C0E25358E4E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40DBA64E-519F-4F72-9D01-7E526B18E869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05150881-1D88-4ADC-96DD-471DE6DEE977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9A1F46F-9078-432C-AD11-ABBED0DD863A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816089F8-F2F0-499F-BEC4-CFEB5DC7A343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A5FA53D3-B0AA-4B91-B3D0-08C7F5CC40D8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A86FC260-450B-4DA0-874C-AB421875E6B3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463711B-B2AA-4A5C-BA1D-B14C74D20BAC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29397D76-89BB-439A-A21C-82BB83912EE1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CCA740E9-60C7-4F90-9F0F-097B679B475F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E97F398-FE63-4BEF-863E-E28F1B9FDAA0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20A57EC-5F34-4637-8E15-BC01341B9DDC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70225752-4D2B-41E0-BA44-31F175F718B1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9C519534-98E6-4A3F-BABB-D1FE02AA2ACE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R$ 1,0 bi | doc. 1026980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1AD359E-F3CB-47F4-8CA0-EF1F741AD956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2C6272C7-4C84-40B0-B416-7AE4758EBB82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B44CC30B-D145-401C-9084-0B082B1DEFFE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B0DBCC90-CC8F-482E-827F-A2B72BF82A48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72A7E931-AB20-41EE-963B-2EE39AAB5A8B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2FADCC0-91C7-431A-932E-9A5D0B11CE0B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D01F0EAD-9E58-4F81-8D68-FF83BA0771F0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EDE0D104-9A04-4A0B-9982-DB8E25C14930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ns0:txBody>
      </ns0:sp>
    </ns0:spTree>
    <ns0:extLst>
      <ns0:ext uri="{BB962C8B-B14F-4D97-AF65-F5344CB8AC3E}">
        <ns3:creationId val="2089236819"/>
      </ns0:ext>
    </ns0:extLst>
  </ns0:cSld>
</ns0:sld>
</file>

<file path=ppt/slides/slide4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74FFEF21-D919-4908-A51C-6BE4BE03439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3151F3A-A80A-4E01-88B6-5489F9F0EA0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0,8%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B3724C3-9932-4A19-AD7B-2F901453B84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AB0AB4C-143A-4C89-92CF-B86F3A40CC4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CDCDB36-4BFA-4A8B-B378-28AF71CF58A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F9AFF8D-18EE-45D5-BE36-7B4F2D9968E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2226F30-B763-4F0E-ACA8-05EDB86F2CFC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9C8212A-D9C9-4F76-B99A-BDF4F80254E5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4EC2203-476D-4E84-9924-0115907BFBBB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5F7E53AB-5B2C-4725-8F76-C76FA55F7A92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96DCE0B-8AE8-4122-9FB2-5806FB982A74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4DDB956-BF5B-4086-BD11-970D96BC7A38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19E0737D-D16D-414D-8A09-59479CCE9B27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0E4D5BA-DC8F-4FD7-B4D9-FFF96BAF5468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E4A5C731-A0BC-4518-8F54-BC44FF75447C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082A7BD0-D87D-4CDC-8D0F-50B0518C94A7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AEBBA04F-06BF-4440-BDA5-2DAB210FFFA4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8D94C58-3480-4382-B45A-FF90E23D8307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D34428F-4FFA-4BE5-BEE0-3080DD1C3FCF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2D9A84C3-440B-4111-996C-C82A3BD4F5A1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CA07BA0E-0A7B-41FF-BC6C-3FE4ED96E04B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FD23C59C-BBB0-4F2F-AFD6-D973AD0AFB75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A0D9F63F-2ADB-4011-A177-D3D7B7EB7BE0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245ED36D-0740-4FF6-A50F-36D6D11583BD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E12EB35D-22DA-4D8B-A6D5-64B410E05182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A0C9D9C1-1956-4C27-B457-E34368AC0688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4F6CB015-A097-4C1A-A7B3-F7000E285F66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2A9C7CD3-271D-4D7B-AA3B-4794EB2BCC24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9DD957BF-DC0E-4052-8ED3-10D6D24C42C5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ns0:txBody>
      </ns0:sp>
    </ns0:spTree>
    <ns0:extLst>
      <ns0:ext uri="{BB962C8B-B14F-4D97-AF65-F5344CB8AC3E}">
        <ns3:creationId val="689097757"/>
      </ns0:ext>
    </ns0:extLst>
  </ns0:cSld>
</ns0:sld>
</file>

<file path=ppt/slides/slide4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B39E79B7-AC02-45C0-A867-B82C8A22F26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A7CD09D-4778-43CF-A932-1BBA523285A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0,8%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069C02D-6BCE-4558-8677-321D5382352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8171DD6-89D7-4E7E-8B61-F7C009075CE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70D4188-8D7E-4405-82EF-046AA7879C4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A487E4D-8EC5-4F14-9071-A70B35C7F35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B58452D-84FD-41DB-A35E-4B789081C865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12A9219-0E81-41AF-A42D-3F9725432DC7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CCC3900D-92A8-4F10-8EAB-586EE1C7C3D9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3EB208DB-D6E2-4C96-9835-A9C1542B6789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A00A263-9C0A-48EE-ABAE-474DB10C3F5E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E39F38-67EC-4FAA-9CA3-91D895B91BE6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4FBC98F2-7E95-48A9-BD13-6C84A4F73C0F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A94CA9F6-641A-4DA8-9A83-1BA73C2231FF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694B03F-8EE5-4935-BB0A-2D4D5F4D9C63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232FF9AD-6EDB-4318-8E75-C95E86E98EAF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4073A783-BBBB-481A-AAE6-D66C766DA35E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B3B2D5A0-42EA-42AD-B329-CF8829833681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B6E23080-8537-4438-AC8A-2B7D331C3368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18DFA93B-CDB3-4E3A-B103-58824A846E57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0332F87D-839F-44EA-9840-8F176D9B5200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R$ 1,0 bi | doc. 1148251; Valor ofertado; o anúncio de início não comprova colocação. || 2024-11-06 | encerramento da oferta da 3ª série sênior | R$ 1,0 bi | doc. 773514; Documento informa 1.000.000 de cotas subscritas e integralizadas.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E63F7A79-4409-4109-BA4F-AE573C8307BD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25EA2774-5D0F-4ADD-B736-5CBD3A9DC92E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ED83563C-1F71-4570-81BF-037B039A6486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72AB8CBF-5E79-40B5-9CCB-D3C62761070D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B9380332-72A6-4758-BB4F-604D38B5ADCE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07FA48D-733C-4BEE-B183-BDA732979B0C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2706D460-18DB-4FC3-B5FE-726EEBA914D9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8C42E05E-4D53-48C4-83F2-AACE599F0A81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ns0:txBody>
      </ns0:sp>
    </ns0:spTree>
    <ns0:extLst>
      <ns0:ext uri="{BB962C8B-B14F-4D97-AF65-F5344CB8AC3E}">
        <ns3:creationId val="566532584"/>
      </ns0:ext>
    </ns0:extLst>
  </ns0:cSld>
</ns0:sld>
</file>

<file path=ppt/slides/slide4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2F19D182-420F-4D29-AB94-E998D4C527B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9F20596-2DCE-433C-9F73-E0A5FB8F781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0B1197D-8CAF-4EE8-A8B4-B238CFDF579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04E029E-4B14-42D1-8A33-1F08D9A2954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2B7BA0-5581-4945-80EC-E63D78EBDB5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DB5ACCC-AD79-4CE6-B6D0-A4B9A2B4800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BAA1054-BE25-45CB-8DAA-F36E72E685C1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70923D-019B-4AB0-B665-C051460E9A81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4463EF8E-10CC-4A78-A587-69419BCD5A27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CC3FA5B6-B3BF-4EC7-A363-5C642AED3341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46C74C8-8030-426A-942E-82231107ABAD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87097A-5313-49A9-9386-5D070353BE5F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2533BB95-D888-46D1-A905-1C4EC8428897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E65D000-16A4-477C-A929-1B9A4B3157C7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F35C2724-0D1F-48DE-967C-A7E1821D4E68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FBCDB6DB-CAD6-4428-A3BD-66930A4B2C19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72316F15-B646-403F-9874-824729DFC76E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7206FEDC-F3A2-4524-9833-E0676A5C9F2F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22009E88-7B1E-44AA-A728-13B2F3A73A82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FE4BE990-329C-4AC8-B84E-22262F031B8E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E6ECC0FE-E04D-4B8E-8E8F-FE8C6D3FDD42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R$ 11,0 bi | doc. 483282; Valor máximo aprovado; o documento não comprova colocação integral.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9636A4EC-978E-46FF-9701-714F99F720AE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F432AEA8-2AD8-4301-B761-2DAB4E9DDB17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911B6DE8-148F-4483-AF54-2F3433CBA29E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9BF1648D-4D33-4427-ADA6-9492CA5434A1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9C6FE994-0731-4C6D-93EE-A090F12DF815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93382C40-97D1-49CF-AFA8-89A3A1C66BF5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9BF97D2E-EE18-481A-AE86-6546F4684BE3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550E4C58-BB0F-4CBF-B5EF-CBB4DB20C48F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ns0:txBody>
      </ns0:sp>
    </ns0:spTree>
    <ns0:extLst>
      <ns0:ext uri="{BB962C8B-B14F-4D97-AF65-F5344CB8AC3E}">
        <ns3:creationId val="1038478441"/>
      </ns0:ext>
    </ns0:extLst>
  </ns0:cSld>
</ns0:sld>
</file>

<file path=ppt/slides/slide4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3FB4A3D4-BFAF-43EA-AA25-0C9EB5BE320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EDA6400-ACA6-469E-B605-46814758D84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27161CD-240B-4898-B3BB-A0919E08EE0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39BC0F2-047B-42A3-A01E-6477794286B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C809216-FD05-4C6E-935E-35AA6516552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8A9ACFE-2F2E-472A-B4E8-64C60BA6008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51D39F9-0D97-493F-A715-7B89F1A6C6E5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BF8F99D-21DD-405E-BBC8-B18E915EB0BE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B74DC7E4-BBA6-4922-81B7-BAD3080BDE93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C0B5CCC8-1B7E-41FA-B8E9-A514F31609B8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B6D15C4B-49D2-4748-81CC-8110FAAB6649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531A6E1-EDA9-4755-B321-24F25AED7179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284FE397-F2AB-4D88-ADA8-97DC4C77A988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EAC2A7E-98E5-4294-A013-FB381633B25C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3812AB89-D891-4430-8F65-1D3C5715931E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3550E8BC-03CD-4837-ABEB-8D945218AD5A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DA14B4-6CAA-4448-B799-F17DB535B1D9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8DB7B580-175D-4AC1-B1CC-28801C8733FB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240C498F-40BD-4E15-8D9F-5234BCF24AE6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DD3231F9-76A5-416D-A9C3-901C6C59F8AA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B9628AE6-BB64-45CB-BFA3-98467FC99D24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F84FE15B-EB55-4FFB-A8E2-FBF12F9A3210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A787611-ECCD-4FB4-AEAD-CDFF73CCC434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9CB011E5-34A8-4C25-9EE4-921A658B842D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99C60FC5-75EC-4708-8393-8ED5C0EFD3C5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A2418E0B-FE6A-4B48-8193-F20DE3D5EBA2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3B19BEB2-78D1-45E8-B2CE-CAFB1BE27FBF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6EAAF947-725B-4F53-AAE7-A3A8A3E68451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E81B27EA-F303-4CEE-BF07-5C80AEF7D656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ns0:txBody>
      </ns0:sp>
    </ns0:spTree>
    <ns0:extLst>
      <ns0:ext uri="{BB962C8B-B14F-4D97-AF65-F5344CB8AC3E}">
        <ns3:creationId val="2060417740"/>
      </ns0:ext>
    </ns0:extLst>
  </ns0:cSld>
</ns0:sld>
</file>

<file path=ppt/slides/slide4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5D8677F0-C464-422B-87BD-A6218CE0CCE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EE0FA8E-E313-4A23-B148-C2FB08A8600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67319EB-4F13-44BB-8F46-5E1799F5BB1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084ADD9-AE09-4016-907D-E2760130E04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F23D5E6-D50F-40EC-8ACC-FD5EE02A942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7965B1B-BAFE-4150-8FAF-663633421D1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BA2B954-26F1-402D-A326-04E46CA1EB51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902B945-12BB-48CC-B2D6-223954C0533B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0D747F4-9A49-4C58-AB5D-B4CB58F6F4D0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0ABD688F-20A3-4220-9F80-5F820DF3E473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068C292-1462-4BD1-BDA5-3E147B7A931F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2749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83D3342C-4E0B-4E5E-AF4B-637158675984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664D12A9-6F83-4ADC-8D4A-312D76DBBF98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EAC83C15-A3CE-4C53-80A8-EA12B604DAF3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1CD5218-4BC4-4217-A60C-66063EAFD7E0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39A438A4-7925-42C6-B4CB-88F39614CEA7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1C9EB69-6268-4E07-953F-C7619614DA35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1951E69E-9573-4DB2-B63D-1A2087643CBF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A5435E62-8607-468A-A2F7-22018B92A26D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CDFF91FD-3893-448D-90C1-8945D7DA9F3E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44EF720D-84D4-49B2-AB24-2E5D0F2533F3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FF0F3B9F-9658-4076-84C6-F307B4BC35AD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517200B-652A-400A-887E-96064996E7F1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5185FC85-17B2-4FBE-92A2-701F070AAEA2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3A0E8B63-4912-4844-A721-51E8956649D5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B9BBFB4C-0E93-4B20-B7B9-C10B72B59BC5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57316A52-5900-4E64-96C0-1037EB22DE4C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BBA2EBB7-45F9-4F6A-8BA5-43D9E28048BB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6C3D410E-37BA-493F-84DF-FF17CEDE0B95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ns0:txBody>
      </ns0:sp>
    </ns0:spTree>
    <ns0:extLst>
      <ns0:ext uri="{BB962C8B-B14F-4D97-AF65-F5344CB8AC3E}">
        <ns3:creationId val="563400141"/>
      </ns0:ext>
    </ns0:extLst>
  </ns0:cSld>
</ns0:sld>
</file>

<file path=ppt/slides/slide4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4830652E-D456-4AE3-913B-32FCCFABEA9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32357C9-9CAE-4495-BA1B-1BC99D2EF04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0,6%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7F6E53-14B4-46D5-A163-C4879EF026B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20F370A-1857-4112-9EF3-9D00C62DF7C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5442007-D0C8-48EC-A2D4-D36F46318FD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6553B2D-D409-41C3-B1BC-5FEF73CB165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E05E20D-61C2-48C4-B6D6-EBEC213BE987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A325850-801E-4563-ADFC-C9CBAD12A4FC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C5CE3160-9A9C-4456-AF7B-6FAD8F3BD267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2720485F-C999-45C9-92A2-54EE1978FF7E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5D9EE78-A119-4169-803C-44258EE72AC9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D3FF44E3-CCD8-464F-9F6B-1A29E5E38974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EFA69769-78C9-4269-AC9F-591F6D0DB92C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920518EE-099D-48EC-BD5B-EEF599FE2A3D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1603B70-E1A6-4BAB-9E3B-F38575694030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14956A75-9B83-4CEB-A13E-A46AC2E43702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2D01E7C3-C4BA-487C-A991-2C26D36D2A85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53A72752-4B72-4B2E-8E2C-CF54FCF6EA5D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F7494DA2-625C-4D23-846C-D777477B4B11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83B0C478-362A-4B82-B344-025D73D2BE69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3EBCE2E-3033-4111-94BE-67322F9F0EBA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C2C119D3-E95A-48F3-9AD5-083AD05F68FB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E6FF9BD0-4D38-429D-89F2-1E3190CA2C34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0F0EB60F-327E-47A7-9E84-40FBCFADB3B3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A59C987D-9060-481C-AA22-372E51507F29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C6089318-498C-40C2-B47B-E14A1E37904F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9B28526A-EAF4-4D10-A4F0-E611E2CCBFEB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E66EF21-B77B-4FE8-A0AC-6681B4E6FE4D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35330857-951C-4351-A4FA-18FF69A55BCC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ns0:txBody>
      </ns0:sp>
    </ns0:spTree>
    <ns0:extLst>
      <ns0:ext uri="{BB962C8B-B14F-4D97-AF65-F5344CB8AC3E}">
        <ns3:creationId val="753112047"/>
      </ns0:ext>
    </ns0:extLst>
  </ns0:cSld>
</ns0:sld>
</file>

<file path=ppt/slides/slide5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D1600971-5D2D-43D7-8FAB-86C39EF78D4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BEA2673-4EE2-40CB-AADE-CF1EAE2CDC7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Marobá — R$ 4,5 bi e 0,5%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75FD92D-768B-493C-9044-7AA338477CE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D6C7CC8-CAEA-425F-A165-5B67A74ECB8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F45B434-64FA-4D58-8EB1-1B58F61648E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48A089D-0C53-4D0A-82DE-8E444899F2E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4EB6C17-97CB-478E-A489-CF064B16CE37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4C8E634-ECAF-4B53-B49D-B6022E2255B6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4AED548-1F0D-41EA-BA14-6D8F653936B4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A1F0BA92-7EA6-458A-AE48-FF95B23EAD36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4103C87-FA94-4A48-8434-E236F702B045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A429CCA-1984-490B-8F5D-FB1534380061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182D5C19-0E81-49D9-B3DC-9A1694F42AEB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C89C551A-F889-4F0C-AC67-4F933E57F221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57563B2E-6978-4A4A-9DF7-C40D5195EBD5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8AED216E-D651-4A8C-9D77-4B6FD9FE0073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6F0A3C8F-749E-461A-850B-8D64455837FD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78308112-BD29-4104-A1C6-09E7130AEC1E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5B06DE2B-278E-49C2-809F-2E2A24F72800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62E69AFE-888B-45C1-849A-5022561781A3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BD084588-71E7-4C68-82B6-4DA9481C4E88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0BD230E8-D50B-444C-A33B-E39C78C03ED0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801318F7-8A0A-4E44-A76B-EA6F60EAC59A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857E17BF-EB17-4A93-AA23-7E577692FA4E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1337DED2-F5EE-4E85-9F9A-3079243AF8A9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99B15F67-1F71-434F-8AAD-6C81AD05C18F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4732EF6A-1572-4172-9CA5-9ED81D43C227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A554E6BF-BE42-433D-8C65-065C45947110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D560AC86-FCA9-4226-9AF5-C02A206E8B2F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 Evidência: Classificação cadastral ANBIMA disponível; documentação primária da operação não localizada.</a:t>
            </a:r>
          </a:p>
        </ns0:txBody>
      </ns0:sp>
    </ns0:spTree>
    <ns0:extLst>
      <ns0:ext uri="{BB962C8B-B14F-4D97-AF65-F5344CB8AC3E}">
        <ns3:creationId val="2087624673"/>
      </ns0:ext>
    </ns0:extLst>
  </ns0:cSld>
</ns0:sld>
</file>

<file path=ppt/slides/slide5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3288D416-CE17-477C-87B0-0AE735E5DC5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146A12F-1A21-4A5B-8AB2-3A3130F9EA0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Venda de Veículos — R$ 4,2 bi e 0,5%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04A8CBB-3502-42AE-BF59-60922D9D953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7035649-D907-4F63-B129-26FAB2AA690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35194FF-B610-4233-B315-EB800172858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64F2EBD-DB2D-4C43-B0EE-BF2FC9FE6C5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CC260C-4943-482C-88BB-F54ED7E296D4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30859FC-506C-4C7F-AF9F-C57CDCFCDDD3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A0C94E5-6C64-4C75-A1C2-55E5D3E982F9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DD6FC664-164C-475E-BA68-7EBD108598B0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30FFAF3-6498-4337-A77F-33232F05D047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F5C1897-BE1A-439E-906D-CF47F0B52754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28591B30-02DE-4885-8345-BB7B96B067B2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D53A14B4-6D87-4EFA-898B-980A9E0B45C5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BE7BC21-8B62-4282-BBA1-55F8DF2CB995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614C4622-9F90-4ED0-AA5C-932711945EF7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67D37C5-336C-4A34-ABDE-045830F1D166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BC7D6901-8160-403B-BFC6-E9AA2A9B3D9F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00EAC641-4A56-4E8B-A5C7-22F3998208BF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5645C541-03BC-4432-87A0-A01DABCE45D9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EDC97668-1940-4151-B9B2-DABBA0F306A4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8EA046E6-87D0-4865-AAAB-6AC103499FCD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446B069F-9E6E-4D39-A993-90A1870BD630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5101A4D1-3619-4038-8FB3-BA303CE88190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22ECB418-FA36-4A6C-B15D-F438EA2DA65F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7558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92676627-DE7A-4EA3-8BEA-3B7C75FF0F70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1AA45964-656D-47ED-9F66-CD4513298CFC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6F4BB269-1D66-4BA8-8CDA-FF1BA065B34A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F5AEC0FB-1507-4A56-9D73-AA7F7FFAF072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 Evidência: O regulamento identifica cedentes, devedores, natureza econômica e garantias da carteira.</a:t>
            </a:r>
          </a:p>
        </ns0:txBody>
      </ns0:sp>
    </ns0:spTree>
    <ns0:extLst>
      <ns0:ext uri="{BB962C8B-B14F-4D97-AF65-F5344CB8AC3E}">
        <ns3:creationId val="14716064"/>
      </ns0:ext>
    </ns0:extLst>
  </ns0:cSld>
</ns0:sld>
</file>

<file path=ppt/slides/slide5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F686F2B8-8B76-4260-A2F6-474C62C5755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92B9A90-455C-4A9A-9F78-37443B639BF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Day Maxx 2 — R$ 4,0 bi e 0,5%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8877AEA-A409-46D4-8DB0-E7BDB6830CB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4BA279B-2E01-476A-880F-F7276B56639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F836CCC-8C46-46FD-91F7-68F8EC7CDA4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C02E3EE-7133-48ED-BC01-75A5E7268AA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D12A516-19E7-4D96-A7CE-9CF651D71BB5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1097956-C517-44F5-BB89-F7A1D960C906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6B0AE2E3-EF51-490A-9F74-AF20D2D06CE0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17D9E270-2B56-4B3D-B7D2-049ECFDABCA5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1F44BC2-5A46-4FD0-92F9-06BBF40A3DA4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D213E015-3241-417D-9D2C-7AB64AC4C374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5CD80D80-8F36-47AC-9E94-4D1F95F9E7B4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844ACB3F-AF12-4AB7-AADD-A0B0E7E3DAC2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3B2AD209-14BE-46FF-85AE-F4F167F7F5A5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408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851845D4-D583-4C73-906A-0F9587327253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44648228-2528-4018-BEDD-4398F0144AC4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268BC3E9-E964-43BC-8863-37458FC240CA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4C8E763-5678-4160-B54A-89A3288B7678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C03976FE-5CFF-4974-AC43-9587E1E9FF5D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1B54C6E4-7599-402D-9078-B165F61C53D5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F9567186-D619-49BB-8B8D-4A7693ED98F0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8A3AD461-2909-48EA-9809-CF3437C7EAE2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C6FF6A3C-0B04-4233-A279-73E83B376B41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A37C13D-4DCB-4300-A42F-4CBC4720E0D0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D148ED88-E7B0-4F2F-ADB3-29FF3A8FBFC6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28CEFA33-9F73-4E8D-A3EE-342DB8AB6E2B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BB93B101-DA9D-4C51-8AD4-01730EC2FCB3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B91A9FBC-A731-48BD-801E-9238B1F225E1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ns0:txBody>
      </ns0:sp>
    </ns0:spTree>
    <ns0:extLst>
      <ns0:ext uri="{BB962C8B-B14F-4D97-AF65-F5344CB8AC3E}">
        <ns3:creationId val="1324495460"/>
      </ns0:ext>
    </ns0:extLst>
  </ns0:cSld>
</ns0:sld>
</file>

<file path=ppt/slides/slide5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09EBBCA2-AE5B-408A-9313-7DCB6935597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CA99EF9-B042-425D-9469-610BB454974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ACR BEM — R$ 3,7 bi e 0,4%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64184B0-953D-4DFA-A940-CC3511F3E84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82BB07A-F595-467A-8BFE-EA9AA7D9955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33545A9-B48B-4ADF-85EF-89EE126EEC1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74989DE-929A-4B92-B3E0-695C554593B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C0F546-B6A7-43C0-910F-14A96F3C94EC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6823180-0CA7-430E-8F80-CAFB57E2580F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39B4080-CCF7-4185-9102-351D991BA391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4AB2A8BD-D910-418C-817A-77E12648EA77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C2CACC8-E89A-489A-B5BE-FE7EFC0AD8B8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56E81D0-CDFE-4C52-BF52-4350FA62408E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83262CE2-296A-4BA2-ABEE-065A21339566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3B50BBF-D97A-4284-8C6D-1128A05D6D95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BA3E5E28-5AB4-4952-8F09-DD24A6290649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2D9F590B-5B89-4E5D-8377-BE077CE336AF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7D964312-6322-4BE0-AC5C-DD9E909E9EC1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474805BD-018A-4B1F-9D86-810CC3941261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4D7B38C2-91FC-45D6-99FD-5BD894D0FA52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1E617D4-AF65-46BB-A3F4-44A6F6C05670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D9AC3459-42D2-4A27-82D0-AC47CF7B90F4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014A684C-BD77-48C4-92D3-CFC1C3E50050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95E4E509-985A-4BAB-AB0D-F6D0B39763D5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FFD08985-61F2-4FFF-9D7C-F9CC2E166EE2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9BAD2781-AA35-45E0-85D2-4D63A9E6A30E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9876ED90-2B04-4DFD-82FE-C98469287350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537B7ADF-29F7-400E-BE14-83E53A3F02B2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B2901EFD-94F7-4238-ABA9-6287A741794A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82FCE28B-8793-480C-ADFC-352CBAB81C16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 Evidência: A documentação identifica a cadeia de pagamentos, os emissores de cartão como devedores e as ofertas encerradas.</a:t>
            </a:r>
          </a:p>
        </ns0:txBody>
      </ns0:sp>
    </ns0:spTree>
    <ns0:extLst>
      <ns0:ext uri="{BB962C8B-B14F-4D97-AF65-F5344CB8AC3E}">
        <ns3:creationId val="398630835"/>
      </ns0:ext>
    </ns0:extLst>
  </ns0:cSld>
</ns0:sld>
</file>

<file path=ppt/slides/slide5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43915157-4B48-4353-BB29-A6BF273272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8CC5E12-4A8D-4FCC-8C32-62BF3228D94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HAVAN ECONÔMICO, FINANCEIRO E COMERCIAL — R$ 3,7 bi e 0,4%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7744443-8D45-42D4-AFE8-49D4DFD5FB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3D0387-ADE3-4870-8951-34046ED9DDA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19595CF-F9A6-4DCC-8868-71C1A029E54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853AAD5-AD71-4A35-8FB4-8F8FBF07BE6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5A09B08-DF30-47D4-942E-7F8F2B4D78A2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12.817.329/0001-29 · HAVAN FUNDO DE INVESTIMENTO EM DIREITOS CREDITÓRIOS SEGMENTO ECONÔMICO, FINANCEIRO E COMERCIAL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474671D-3827-4BCF-9B78-B73DBBA2CD3A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4062BE1C-8F3A-466C-A299-23889A6DFCCF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C5D26586-BAB5-4068-951D-E35D83729AB4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E5F4598-AD35-4F7F-AF85-8E850579C70E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7157158A-D3F5-413E-9616-81D65413A374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C7D57A1F-CF89-46C9-98CC-F06E38F10D90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46C8D469-973E-401B-B468-ED8D8BB3BE1D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B13BC4E-27B4-4B4E-80CA-241972CA2DF0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102998CC-4F88-4509-AE01-36C503A07593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67ECA6DD-8010-4EEF-B945-233A334DEA2B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6CC3EA9-3385-4A59-AE07-2BFAB7C4B3D2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A42F1C54-15EF-4610-A542-75ED84D434D3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301F014-A26B-4EA1-A63E-916434C2AFE9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04E0F9E-6FCA-4F7D-8EC4-8F656E102B13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D228C8AB-C94B-41EA-A940-C511FDCAA01C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C783C381-09AF-43C3-9E99-C4A364316589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 não localizadas nas fontes consultadas.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B311A9A3-E3E1-4D3E-AC4E-E4C81469CC79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E24C984A-D979-4920-A65B-B73F31886D0A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FINAXIS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PETRA CAPITAL GESTÃO DE INVESTIMENTOS LTDA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FINAXIS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0480B350-0D38-4AEC-B826-D5F28E228096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78482C48-661A-48F3-BEC9-14B07D09510B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6DBF7AEE-65B5-40C0-A751-A7AA84C8462B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F112EA04-5032-4387-8D5E-6D1AEA130EE8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preenchidos. Fonte: FundosNet e CVM SRE consultados em 2026-07-24; documento primário não localizado. Evidência: Sem trecho citável no corpus consultado.</a:t>
            </a:r>
          </a:p>
        </ns0:txBody>
      </ns0:sp>
    </ns0:spTree>
    <ns0:extLst>
      <ns0:ext uri="{BB962C8B-B14F-4D97-AF65-F5344CB8AC3E}">
        <ns3:creationId val="1549678858"/>
      </ns0:ext>
    </ns0:extLst>
  </ns0:cSld>
</ns0:sld>
</file>

<file path=ppt/slides/slide5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F6D2C305-0F13-4661-ACC8-08489B06D91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54B5164-409C-4DB9-AA16-A7F1C4397EA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F0BA6C6-9550-4016-B540-B1EB72F6FE8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588DB8C-C81E-42FD-9849-009A82B6C8C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F1E4527-58F7-493F-9C8A-24C1A84EA84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B37E460-38C3-4F16-9069-26260D3AFF2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60fae47d6a764a37"/>
          </a:graphicData>
        </a:graphic>
      </ns0:graphicFrame>
      <ns0:sp>
        <ns0:nvSpPr>
          <ns0:cNvPr id="8" name="">
            <a:extLst>
              <a:ext uri="{FF2B5EF4-FFF2-40B4-BE49-F238E27FC236}">
                <ns2:creationId id="{2F6F5D03-EF65-49B4-8508-84657F645135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CAD17B0-F262-4186-A363-9107EEA0CA57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52072638-D601-431F-A877-EF6CF5A260B6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f32480313ed54d7e"/>
          </a:graphicData>
        </a:graphic>
      </ns0:graphicFrame>
      <ns0:sp>
        <ns0:nvSpPr>
          <ns0:cNvPr id="12" name="">
            <a:extLst>
              <a:ext uri="{FF2B5EF4-FFF2-40B4-BE49-F238E27FC236}">
                <ns2:creationId id="{FB3AF9F2-5F00-4D5E-A948-65BB52BCD371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69f95aa2385b488e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622EB63-BD5E-4986-9A95-48364F43DC91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d74c712103d342c2"/>
          </a:graphicData>
        </a:graphic>
      </ns0:graphicFrame>
      <ns0:sp>
        <ns0:nvSpPr>
          <ns0:cNvPr id="16" name="">
            <a:extLst>
              <a:ext uri="{FF2B5EF4-FFF2-40B4-BE49-F238E27FC236}">
                <ns2:creationId id="{E9635218-CAFD-4AF8-9B6B-2F342C0BA75E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dcc09be2069a43dd"/>
          </a:graphicData>
        </a:graphic>
      </ns0:graphicFrame>
      <ns0:sp>
        <ns0:nvSpPr>
          <ns0:cNvPr id="18" name="">
            <a:extLst>
              <a:ext uri="{FF2B5EF4-FFF2-40B4-BE49-F238E27FC236}">
                <ns2:creationId id="{EB1E2562-8C06-48CF-A4DC-48C630343E48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c3ad1631905a4981"/>
          </a:graphicData>
        </a:graphic>
      </ns0:graphicFrame>
      <ns0:sp>
        <ns0:nvSpPr>
          <ns0:cNvPr id="20" name="">
            <a:extLst>
              <a:ext uri="{FF2B5EF4-FFF2-40B4-BE49-F238E27FC236}">
                <ns2:creationId id="{12AD8017-7C95-4EF0-BAB6-EFA4FD8FA800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0e6a6ed1ecf144a8"/>
          </a:graphicData>
        </a:graphic>
      </ns0:graphicFrame>
    </ns0:spTree>
    <ns0:extLst>
      <ns0:ext uri="{BB962C8B-B14F-4D97-AF65-F5344CB8AC3E}">
        <ns5:creationId val="2028962405"/>
      </ns0:ext>
    </ns0:extLst>
  </ns0:cSld>
</ns0:sld>
</file>

<file path=ppt/slides/slide5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FF3A60C9-5427-481B-97FF-AE8F71E3722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82156ED-E766-4E91-8A37-5CD24B534B2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15C5A97-1725-43DD-A5ED-478180A4ED0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55840BB-3F86-437E-973C-761D60F8B1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F0E2B98-5E70-49DC-BB4A-F5B20039254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EFFE7B9-75AA-4E49-8909-28D79FF48B5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D816F24-4CF2-4579-AE85-5075F546763B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685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A47F81F-5E80-4F79-8A5B-C45BAD130E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6858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6858000" cy="3667125"/>
        </ns0:xfrm>
        <a:graphic>
          <a:graphicData uri="http://schemas.openxmlformats.org/drawingml/2006/chart">
            <c:chart ns4:id="Rd2b8eb69d606466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2F2A88D-890D-4183-9876-87C24708DB07}"/>
              </a:ext>
            </a:extLst>
          </ns0:cNvPr>
          <ns0:cNvSpPr>
            <a:spLocks noGrp="1"/>
          </ns0:cNvSpPr>
          <ns0:nvPr/>
        </ns0:nvSpPr>
        <ns0:spPr>
          <a:xfrm>
            <a:off x="7858125" y="1381125"/>
            <a:ext cx="3762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735F687-8645-438B-9662-D07A723E63AB}"/>
              </a:ext>
            </a:extLst>
          </ns0:cNvPr>
          <ns0:cNvSpPr>
            <a:spLocks noGrp="1"/>
          </ns0:cNvSpPr>
          <ns0:nvPr/>
        </ns0:nvSpPr>
        <ns0:spPr>
          <a:xfrm>
            <a:off x="7858125" y="1647825"/>
            <a:ext cx="3762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"/>
          <ns0:cNvGraphicFramePr/>
          <ns0:nvPr/>
        </ns0:nvGraphicFramePr>
        <ns0:xfrm>
          <a:off x="7858125" y="1762125"/>
          <a:ext cx="3762375" cy="2762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3" name="">
            <a:extLst>
              <a:ext uri="{FF2B5EF4-FFF2-40B4-BE49-F238E27FC236}">
                <ns2:creationId id="{E58FE15F-55CD-4134-A7F7-3BFF1BB7FD8D}"/>
              </a:ext>
            </a:extLst>
          </ns0:cNvPr>
          <ns0:cNvSpPr>
            <a:spLocks noGrp="1"/>
          </ns0:cNvSpPr>
          <ns0:nvPr/>
        </ns0:nvSpPr>
        <ns0:spPr>
          <a:xfrm>
            <a:off x="8048625" y="476250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0298FB1-090A-45E3-B5E0-8F997E15AD64}"/>
              </a:ext>
            </a:extLst>
          </ns0:cNvPr>
          <ns0:cNvSpPr>
            <a:spLocks noGrp="1"/>
          </ns0:cNvSpPr>
          <ns0:nvPr/>
        </ns0:nvSpPr>
        <ns0:spPr>
          <a:xfrm>
            <a:off x="8048625" y="5219700"/>
            <a:ext cx="3381375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5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ns0:txBody>
      </ns0:sp>
    </ns0:spTree>
    <ns0:extLst>
      <ns0:ext uri="{BB962C8B-B14F-4D97-AF65-F5344CB8AC3E}">
        <ns5:creationId val="1850288789"/>
      </ns0:ext>
    </ns0:extLst>
  </ns0:cSld>
</ns0:sld>
</file>

<file path=ppt/slides/slide5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50E4EF7-9A88-4C5C-9DBE-9F5350370A2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9D43BCF-6800-4A11-B782-B968B97A1EC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E493E3F-1E0F-4002-BDAC-ADF07A47197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7729053-102F-4E44-AB16-C53E1BA4FF4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2B6C90-C342-4E5D-8375-09BA6DB9242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FDD110-96E6-4A3D-A073-C2827EAE1AD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9FFFB8A-92B6-4D7A-A434-A9A0DCDFE8F0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095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594D1FD-E37C-4130-A281-CD6940AF3CCD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095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809750"/>
          <a:ext cx="5095875" cy="2190750"/>
        </ns0:xfrm>
        <a:graphic>
          <a:graphicData uri="http://schemas.openxmlformats.org/drawingml/2006/chart">
            <c:chart ns4:id="R2e8d5dfaf57045e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ABEF3BF-181C-44EE-B7F0-B5F281B0C5E3}"/>
              </a:ext>
            </a:extLst>
          </ns0:cNvPr>
          <ns0:cNvSpPr>
            <a:spLocks noGrp="1"/>
          </ns0:cNvSpPr>
          <ns0:nvPr/>
        </ns0:nvSpPr>
        <ns0:spPr>
          <a:xfrm>
            <a:off x="762000" y="4286250"/>
            <a:ext cx="47148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95,7%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0339AED-45B7-4AE2-84C7-233555726028}"/>
              </a:ext>
            </a:extLst>
          </ns0:cNvPr>
          <ns0:cNvSpPr>
            <a:spLocks noGrp="1"/>
          </ns0:cNvSpPr>
          <ns0:nvPr/>
        </ns0:nvSpPr>
        <ns0:spPr>
          <a:xfrm>
            <a:off x="762000" y="4705350"/>
            <a:ext cx="4714875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C9662E4-BA73-4081-9A8A-8BFF36A4CC59}"/>
              </a:ext>
            </a:extLst>
          </ns0:cNvPr>
          <ns0:cNvSpPr>
            <a:spLocks noGrp="1"/>
          </ns0:cNvSpPr>
          <ns0:nvPr/>
        </ns0:nvSpPr>
        <ns0:spPr>
          <a:xfrm>
            <a:off x="6334125" y="13811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471410D-E966-4E0D-91AF-9B2C38041391}"/>
              </a:ext>
            </a:extLst>
          </ns0:cNvPr>
          <ns0:cNvSpPr>
            <a:spLocks noGrp="1"/>
          </ns0:cNvSpPr>
          <ns0:nvPr/>
        </ns0:nvSpPr>
        <ns0:spPr>
          <a:xfrm>
            <a:off x="6334125" y="16478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6334125" y="1809750"/>
          <a:ext cx="5286375" cy="2190750"/>
        </ns0:xfrm>
        <a:graphic>
          <a:graphicData uri="http://schemas.openxmlformats.org/drawingml/2006/chart">
            <c:chart ns4:id="R45b3082f13964920"/>
          </a:graphicData>
        </a:graphic>
      </ns0:graphicFrame>
      <ns0:sp>
        <ns0:nvSpPr>
          <ns0:cNvPr id="15" name="">
            <a:extLst>
              <a:ext uri="{FF2B5EF4-FFF2-40B4-BE49-F238E27FC236}">
                <ns2:creationId id="{DAC5C043-C8BD-403D-A681-B4F295C1D4F0}"/>
              </a:ext>
            </a:extLst>
          </ns0:cNvPr>
          <ns0:cNvSpPr>
            <a:spLocks noGrp="1"/>
          </ns0:cNvSpPr>
          <ns0:nvPr/>
        </ns0:nvSpPr>
        <ns0:spPr>
          <a:xfrm>
            <a:off x="6524625" y="4286250"/>
            <a:ext cx="4905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1F0025FF-43CF-468C-8214-99AE156C3272}"/>
              </a:ext>
            </a:extLst>
          </ns0:cNvPr>
          <ns0:cNvSpPr>
            <a:spLocks noGrp="1"/>
          </ns0:cNvSpPr>
          <ns0:nvPr/>
        </ns0:nvSpPr>
        <ns0:spPr>
          <a:xfrm>
            <a:off x="6524625" y="4705350"/>
            <a:ext cx="4905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65,1% do PL gerido pelo BTG está nos 22 FIDCs da coorte com o BTG como gestor. A exclusão leva o banco de #1 a #3.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1319BBB1-47A9-47E2-BF28-64AE4524C489}"/>
              </a:ext>
            </a:extLst>
          </ns0:cNvPr>
          <ns0:cNvSpPr>
            <a:spLocks noGrp="1"/>
          </ns0:cNvSpPr>
          <ns0:nvPr/>
        </ns0:nvSpPr>
        <ns0:spPr>
          <a:xfrm>
            <a:off x="6524625" y="5476875"/>
            <a:ext cx="4905375" cy="609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79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ns0:txBody>
      </ns0:sp>
    </ns0:spTree>
    <ns0:extLst>
      <ns0:ext uri="{BB962C8B-B14F-4D97-AF65-F5344CB8AC3E}">
        <ns5:creationId val="1148553893"/>
      </ns0:ext>
    </ns0:extLst>
  </ns0:cSld>
</ns0:sld>
</file>

<file path=ppt/slides/slide5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EFE56894-42F8-4FC1-BB3E-DC9ADBBCD20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60A994C-A531-4798-9C4C-2E6919DF2D6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37AA76-ED3B-41AF-8A44-E641AE4954F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D49C3D-0AA9-493D-94E8-E297EEDD00B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ADAC94A-AB18-4679-8CD6-92F6458FE74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200E2FA-52A4-43CE-A358-09B742C3A40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58</a:t>
            </a:r>
          </a:p>
        </ns0:txBody>
      </ns0:sp>
      <ns0:graphicFrame>
        <ns0:nvGraphicFramePr>
          <ns0:cNvPr id="15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aa5e254160b34cf5"/>
          </a:graphicData>
        </a:graphic>
      </ns0:graphicFrame>
      <ns0:sp>
        <ns0:nvSpPr>
          <ns0:cNvPr id="8" name="">
            <a:extLst>
              <a:ext uri="{FF2B5EF4-FFF2-40B4-BE49-F238E27FC236}">
                <ns2:creationId id="{87DE2E27-DFB5-467E-89F2-BEAB9D596282}"/>
              </a:ext>
            </a:extLst>
          </ns0:cNvPr>
          <ns0:cNvSpPr>
            <a:spLocks noGrp="1"/>
          </ns0:cNvSpPr>
          <ns0:nvPr/>
        </ns0:nvSpPr>
        <ns0:spPr>
          <a:xfrm>
            <a:off x="685800" y="6076950"/>
            <a:ext cx="107632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ns0:txBody>
      </ns0:sp>
    </ns0:spTree>
    <ns0:extLst>
      <ns0:ext uri="{BB962C8B-B14F-4D97-AF65-F5344CB8AC3E}">
        <ns5:creationId val="760242446"/>
      </ns0:ext>
    </ns0:extLst>
  </ns0:cSld>
</ns0:sld>
</file>

<file path=ppt/slides/slide5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8CE959CE-2FF4-4C77-8326-848F92DF0C8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27AE772-7BCB-4546-999F-75A7B197BC3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AA6919B-4667-4F87-8143-5BE816CC352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D800226-1E47-486B-906B-D292F771761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D5C299-C711-4B60-9ACB-35C2004164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222BB91-11D9-4C33-AE4C-24D741094F7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59</a:t>
            </a:r>
          </a:p>
        </ns0:txBody>
      </ns0:sp>
      <ns0:graphicFrame>
        <ns0:nvGraphicFramePr>
          <ns0:cNvPr id="15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bb1985611ef649a2"/>
          </a:graphicData>
        </a:graphic>
      </ns0:graphicFrame>
      <ns0:sp>
        <ns0:nvSpPr>
          <ns0:cNvPr id="8" name="">
            <a:extLst>
              <a:ext uri="{FF2B5EF4-FFF2-40B4-BE49-F238E27FC236}">
                <ns2:creationId id="{32C9C1FC-0E78-4B5B-9BDB-270220C187CF}"/>
              </a:ext>
            </a:extLst>
          </ns0:cNvPr>
          <ns0:cNvSpPr>
            <a:spLocks noGrp="1"/>
          </ns0:cNvSpPr>
          <ns0:nvPr/>
        </ns0:nvSpPr>
        <ns0:spPr>
          <a:xfrm>
            <a:off x="685800" y="6076950"/>
            <a:ext cx="107632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ns0:txBody>
      </ns0:sp>
    </ns0:spTree>
    <ns0:extLst>
      <ns0:ext uri="{BB962C8B-B14F-4D97-AF65-F5344CB8AC3E}">
        <ns5:creationId val="804840077"/>
      </ns0:ext>
    </ns0:extLst>
  </ns0:cSld>
</ns0:sld>
</file>

<file path=ppt/slides/slide60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DFD5E695-778D-403D-9133-0CBCC7A4D6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6BA18E-25A4-4001-9B4D-B5AAA063993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3BE05F1-AF14-44BF-9E10-4A693A7E073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835C362-EB19-466A-9F72-3E02E82A3C7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5B0FFC2-67D3-494B-B7B8-B0B922F7631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729EF6F-887F-4570-B51B-4B08F334802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60</a:t>
            </a:r>
          </a:p>
        </ns0:txBody>
      </ns0:sp>
      <ns0:graphicFrame>
        <ns0:nvGraphicFramePr>
          <ns0:cNvPr id="15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f7d39d58e9e54676"/>
          </a:graphicData>
        </a:graphic>
      </ns0:graphicFrame>
      <ns0:sp>
        <ns0:nvSpPr>
          <ns0:cNvPr id="8" name="">
            <a:extLst>
              <a:ext uri="{FF2B5EF4-FFF2-40B4-BE49-F238E27FC236}">
                <ns2:creationId id="{9B0F6E7C-406B-4D3C-A1E3-562A901B25C0}"/>
              </a:ext>
            </a:extLst>
          </ns0:cNvPr>
          <ns0:cNvSpPr>
            <a:spLocks noGrp="1"/>
          </ns0:cNvSpPr>
          <ns0:nvPr/>
        </ns0:nvSpPr>
        <ns0:spPr>
          <a:xfrm>
            <a:off x="685800" y="6076950"/>
            <a:ext cx="107632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ns0:txBody>
      </ns0:sp>
    </ns0:spTree>
    <ns0:extLst>
      <ns0:ext uri="{BB962C8B-B14F-4D97-AF65-F5344CB8AC3E}">
        <ns5:creationId val="416694324"/>
      </ns0:ext>
    </ns0:extLst>
  </ns0:cSld>
</ns0:sld>
</file>

<file path=ppt/slides/slide61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3D1D8D50-ADB8-4B1A-A26B-3E0FFB98C0B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66BD97C-737E-4C96-AD77-92241FF4D3B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FE226DC-5190-4302-BE63-98C25CD604A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3DF903B-CD14-47BD-9882-269855641E2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7282E81-A3AF-435C-B8F2-147A07A3BD4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C05C81-8367-41A6-92C5-A08A3C66115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61</a:t>
            </a:r>
          </a:p>
        </ns0:txBody>
      </ns0:sp>
      <ns0:graphicFrame>
        <ns0:nvGraphicFramePr>
          <ns0:cNvPr id="16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5b8bd384748c4c99"/>
          </a:graphicData>
        </a:graphic>
      </ns0:graphicFrame>
      <ns0:sp>
        <ns0:nvSpPr>
          <ns0:cNvPr id="8" name="">
            <a:extLst>
              <a:ext uri="{FF2B5EF4-FFF2-40B4-BE49-F238E27FC236}">
                <ns2:creationId id="{903A37AC-B82B-40FC-AF3C-769ACF1EAE04}"/>
              </a:ext>
            </a:extLst>
          </ns0:cNvPr>
          <ns0:cNvSpPr>
            <a:spLocks noGrp="1"/>
          </ns0:cNvSpPr>
          <ns0:nvPr/>
        </ns0:nvSpPr>
        <ns0:spPr>
          <a:xfrm>
            <a:off x="685800" y="5781675"/>
            <a:ext cx="10763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3A49FE0-88C2-4BDC-8971-E7BFECB2518A}"/>
              </a:ext>
            </a:extLst>
          </ns0:cNvPr>
          <ns0:cNvSpPr>
            <a:spLocks noGrp="1"/>
          </ns0:cNvSpPr>
          <ns0:nvPr/>
        </ns0:nvSpPr>
        <ns0:spPr>
          <a:xfrm>
            <a:off x="685800" y="6048375"/>
            <a:ext cx="107632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ns0:txBody>
      </ns0:sp>
    </ns0:spTree>
    <ns0:extLst>
      <ns0:ext uri="{BB962C8B-B14F-4D97-AF65-F5344CB8AC3E}">
        <ns5:creationId val="235324530"/>
      </ns0:ext>
    </ns0:extLst>
  </ns0:cSld>
</ns0:sld>
</file>

<file path=ppt/slides/slide6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57CE5EFC-1C6F-4186-A032-87E9541D375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C17AE12-37AC-4E1A-803D-769B13ECBDE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1929B26-33E2-4DC0-860B-AA4E9ECA1B8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E08FFEA-0DA2-4ED9-AC66-9D9DABA0B1F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923DDF-6F3C-4AA3-9795-CC148D02749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C818BAE-3F3A-4ED9-BE26-2DAE303BCCB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62</a:t>
            </a:r>
          </a:p>
        </ns0:txBody>
      </ns0:sp>
      <ns0:graphicFrame>
        <ns0:nvGraphicFramePr>
          <ns0:cNvPr id="16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5855c19426604822"/>
          </a:graphicData>
        </a:graphic>
      </ns0:graphicFrame>
      <ns0:sp>
        <ns0:nvSpPr>
          <ns0:cNvPr id="8" name="">
            <a:extLst>
              <a:ext uri="{FF2B5EF4-FFF2-40B4-BE49-F238E27FC236}">
                <ns2:creationId id="{84A62B08-0F46-4003-AA51-3FECD03C187D}"/>
              </a:ext>
            </a:extLst>
          </ns0:cNvPr>
          <ns0:cNvSpPr>
            <a:spLocks noGrp="1"/>
          </ns0:cNvSpPr>
          <ns0:nvPr/>
        </ns0:nvSpPr>
        <ns0:spPr>
          <a:xfrm>
            <a:off x="685800" y="5781675"/>
            <a:ext cx="10763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BA48A326-ADE0-43B9-B75A-4E13518B3A19}"/>
              </a:ext>
            </a:extLst>
          </ns0:cNvPr>
          <ns0:cNvSpPr>
            <a:spLocks noGrp="1"/>
          </ns0:cNvSpPr>
          <ns0:nvPr/>
        </ns0:nvSpPr>
        <ns0:spPr>
          <a:xfrm>
            <a:off x="685800" y="6048375"/>
            <a:ext cx="107632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ns0:txBody>
      </ns0:sp>
    </ns0:spTree>
    <ns0:extLst>
      <ns0:ext uri="{BB962C8B-B14F-4D97-AF65-F5344CB8AC3E}">
        <ns5:creationId val="855941963"/>
      </ns0:ext>
    </ns0:extLst>
  </ns0:cSld>
</ns0:sld>
</file>

<file path=ppt/slides/slide6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CACEB5D1-F315-4FB9-8363-98A288A9A9E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E64128A-E5BC-4F1C-8D71-159DE55F417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A85C82E-8AB4-4A47-9537-A6D15C2D95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19355A0-E8DE-4DFD-AB07-AEE610CDEB3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302CE3A-0DDB-451C-B40E-DF940EDB017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42BBE7-D589-4C47-8598-ADF26831DDA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63</a:t>
            </a:r>
          </a:p>
        </ns0:txBody>
      </ns0:sp>
      <ns0:graphicFrame>
        <ns0:nvGraphicFramePr>
          <ns0:cNvPr id="16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f6aa37862cba4339"/>
          </a:graphicData>
        </a:graphic>
      </ns0:graphicFrame>
      <ns0:sp>
        <ns0:nvSpPr>
          <ns0:cNvPr id="8" name="">
            <a:extLst>
              <a:ext uri="{FF2B5EF4-FFF2-40B4-BE49-F238E27FC236}">
                <ns2:creationId id="{1F096E0A-CAA4-4662-8444-742B8728EAE0}"/>
              </a:ext>
            </a:extLst>
          </ns0:cNvPr>
          <ns0:cNvSpPr>
            <a:spLocks noGrp="1"/>
          </ns0:cNvSpPr>
          <ns0:nvPr/>
        </ns0:nvSpPr>
        <ns0:spPr>
          <a:xfrm>
            <a:off x="685800" y="5781675"/>
            <a:ext cx="10763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6BBBB25-9F8D-4F7E-8F5E-847CECBA7DE1}"/>
              </a:ext>
            </a:extLst>
          </ns0:cNvPr>
          <ns0:cNvSpPr>
            <a:spLocks noGrp="1"/>
          </ns0:cNvSpPr>
          <ns0:nvPr/>
        </ns0:nvSpPr>
        <ns0:spPr>
          <a:xfrm>
            <a:off x="685800" y="6048375"/>
            <a:ext cx="107632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ns0:txBody>
      </ns0:sp>
    </ns0:spTree>
    <ns0:extLst>
      <ns0:ext uri="{BB962C8B-B14F-4D97-AF65-F5344CB8AC3E}">
        <ns5:creationId val="1297011167"/>
      </ns0:ext>
    </ns0:extLst>
  </ns0:cSld>
</ns0:sld>
</file>

<file path=ppt/slides/slide6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55" name="">
            <a:extLst>
              <a:ext uri="{FF2B5EF4-FFF2-40B4-BE49-F238E27FC236}">
                <ns2:creationId id="{61B11D62-920B-4FED-A30F-1AC26726B37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24F793E-3416-49A1-AA1F-0FD4877FD01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57F238B-A1A4-47E1-9A20-CAB3EB2EA1B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6E664FC-0088-4E89-B11E-42D34F86A86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9394804-AE7E-42EC-94B8-B29E28C21CE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33C25E-69C3-4BFD-B45A-1F7C3C3E241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DD79A47-DF62-4BAA-A695-F8F44FD9BEEE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C726022-EFB7-4249-9C64-1DBEFF70F8C6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3E603A51-F140-4E1B-BEA8-CC25949FAB59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381A8D77-B00A-4F37-AADC-F0C17059E09D}"/>
              </a:ext>
            </a:extLst>
          </ns0:cNvPr>
          <ns0:cNvSpPr>
            <a:spLocks noGrp="1"/>
          </ns0:cNvSpPr>
          <ns0:nvPr/>
        </ns0:nvSpPr>
        <ns0:spPr>
          <a:xfrm>
            <a:off x="571500" y="2019300"/>
            <a:ext cx="5286375" cy="2857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>
            <a:r>
              <a:t/>
            </a:r>
          </a:p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>
            <a:r>
              <a:t/>
            </a:r>
          </a:p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>
            <a:r>
              <a:t/>
            </a:r>
          </a:p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4FEC8AA-61F5-4BA5-B998-124060E4C491}"/>
              </a:ext>
            </a:extLst>
          </ns0:cNvPr>
          <ns0:cNvSpPr>
            <a:spLocks noGrp="1"/>
          </ns0:cNvSpPr>
          <ns0:nvPr/>
        </ns0:nvSpPr>
        <ns0:spPr>
          <a:xfrm>
            <a:off x="571500" y="50006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0C060D1-12E1-4C57-9BEC-EB7D2F9E4AF7}"/>
              </a:ext>
            </a:extLst>
          </ns0:cNvPr>
          <ns0:cNvSpPr>
            <a:spLocks noGrp="1"/>
          </ns0:cNvSpPr>
          <ns0:nvPr/>
        </ns0:nvSpPr>
        <ns0:spPr>
          <a:xfrm>
            <a:off x="571500" y="52673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5DE5E98-06B6-42A7-A0FB-4466F1149E44}"/>
              </a:ext>
            </a:extLst>
          </ns0:cNvPr>
          <ns0:cNvSpPr>
            <a:spLocks noGrp="1"/>
          </ns0:cNvSpPr>
          <ns0:nvPr/>
        </ns0:nvSpPr>
        <ns0:spPr>
          <a:xfrm>
            <a:off x="571500" y="5305425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6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>
            <a:pPr algn="l">
              <a:lnSpc>
                <a:spcPct val="102000"/>
              </a:lnSpc>
              <a:buNone/>
              <a:defRPr sz="86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9CD2A1E1-0734-4468-9EDD-4A20CD97CA85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3FDD4008-C5CD-49B5-8504-0960559EFC10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DA49EF96-EB4B-4C85-9AF1-351F5684C220}"/>
              </a:ext>
            </a:extLst>
          </ns0:cNvPr>
          <ns0:cNvSpPr>
            <a:spLocks noGrp="1"/>
          </ns0:cNvSpPr>
          <ns0:nvPr/>
        </ns0:nvSpPr>
        <ns0:spPr>
          <a:xfrm>
            <a:off x="6334125" y="2076450"/>
            <a:ext cx="2801779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2302B5B-B214-406A-BCE7-26C68F17143C}"/>
              </a:ext>
            </a:extLst>
          </ns0:cNvPr>
          <ns0:cNvSpPr>
            <a:spLocks noGrp="1"/>
          </ns0:cNvSpPr>
          <ns0:nvPr/>
        </ns0:nvSpPr>
        <ns0:spPr>
          <a:xfrm>
            <a:off x="9294495" y="2076450"/>
            <a:ext cx="2326005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19913B22-2A78-481A-8EE4-2D33B0EFA76D}"/>
              </a:ext>
            </a:extLst>
          </ns0:cNvPr>
          <ns0:cNvSpPr>
            <a:spLocks noGrp="1"/>
          </ns0:cNvSpPr>
          <ns0:nvPr/>
        </ns0:nvSpPr>
        <ns0:spPr>
          <a:xfrm>
            <a:off x="6334125" y="2376488"/>
            <a:ext cx="5286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451AF573-9BD8-4909-9867-05867BC7DF99}"/>
              </a:ext>
            </a:extLst>
          </ns0:cNvPr>
          <ns0:cNvSpPr>
            <a:spLocks noGrp="1"/>
          </ns0:cNvSpPr>
          <ns0:nvPr/>
        </ns0:nvSpPr>
        <ns0:spPr>
          <a:xfrm>
            <a:off x="6334125" y="2433638"/>
            <a:ext cx="2801779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8A54FEF9-0C26-4828-AE3F-4A746A0F2E31}"/>
              </a:ext>
            </a:extLst>
          </ns0:cNvPr>
          <ns0:cNvSpPr>
            <a:spLocks noGrp="1"/>
          </ns0:cNvSpPr>
          <ns0:nvPr/>
        </ns0:nvSpPr>
        <ns0:spPr>
          <a:xfrm>
            <a:off x="9294495" y="2433638"/>
            <a:ext cx="2326005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9FF23019-CC9B-4FF9-90E8-01863740238F}"/>
              </a:ext>
            </a:extLst>
          </ns0:cNvPr>
          <ns0:cNvSpPr>
            <a:spLocks noGrp="1"/>
          </ns0:cNvSpPr>
          <ns0:nvPr/>
        </ns0:nvSpPr>
        <ns0:spPr>
          <a:xfrm>
            <a:off x="6334125" y="2733675"/>
            <a:ext cx="5286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0F1C7081-FD14-47F0-A680-60EF23D310A1}"/>
              </a:ext>
            </a:extLst>
          </ns0:cNvPr>
          <ns0:cNvSpPr>
            <a:spLocks noGrp="1"/>
          </ns0:cNvSpPr>
          <ns0:nvPr/>
        </ns0:nvSpPr>
        <ns0:spPr>
          <a:xfrm>
            <a:off x="6334125" y="2790825"/>
            <a:ext cx="2801779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CCC5172C-8848-4D44-AB2D-A62DF4960656}"/>
              </a:ext>
            </a:extLst>
          </ns0:cNvPr>
          <ns0:cNvSpPr>
            <a:spLocks noGrp="1"/>
          </ns0:cNvSpPr>
          <ns0:nvPr/>
        </ns0:nvSpPr>
        <ns0:spPr>
          <a:xfrm>
            <a:off x="9294495" y="2790825"/>
            <a:ext cx="2326005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20C0CAA7-4883-4849-948D-08CB0384CE3A}"/>
              </a:ext>
            </a:extLst>
          </ns0:cNvPr>
          <ns0:cNvSpPr>
            <a:spLocks noGrp="1"/>
          </ns0:cNvSpPr>
          <ns0:nvPr/>
        </ns0:nvSpPr>
        <ns0:spPr>
          <a:xfrm>
            <a:off x="6334125" y="3090863"/>
            <a:ext cx="5286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8DBEE7E2-B2B9-42DF-B62D-2BC99C17F426}"/>
              </a:ext>
            </a:extLst>
          </ns0:cNvPr>
          <ns0:cNvSpPr>
            <a:spLocks noGrp="1"/>
          </ns0:cNvSpPr>
          <ns0:nvPr/>
        </ns0:nvSpPr>
        <ns0:spPr>
          <a:xfrm>
            <a:off x="6334125" y="3148013"/>
            <a:ext cx="2801779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31985779-D10F-4E0C-94FE-6016801F6A62}"/>
              </a:ext>
            </a:extLst>
          </ns0:cNvPr>
          <ns0:cNvSpPr>
            <a:spLocks noGrp="1"/>
          </ns0:cNvSpPr>
          <ns0:nvPr/>
        </ns0:nvSpPr>
        <ns0:spPr>
          <a:xfrm>
            <a:off x="9294495" y="3148013"/>
            <a:ext cx="2326005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5D9ED80A-ED31-4C83-BF27-D1D870742EF9}"/>
              </a:ext>
            </a:extLst>
          </ns0:cNvPr>
          <ns0:cNvSpPr>
            <a:spLocks noGrp="1"/>
          </ns0:cNvSpPr>
          <ns0:nvPr/>
        </ns0:nvSpPr>
        <ns0:spPr>
          <a:xfrm>
            <a:off x="6334125" y="3562350"/>
            <a:ext cx="52863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3000"/>
              </a:lnSpc>
              <a:buNone/>
              <a:defRPr sz="91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 é coerente com a estratégia NPL: o fundo compra créditos já vencidos. Aging mede o estado jurídico do crédito; não representa perda adicional de 100% sobre o valor contábil.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946D624C-29C9-40DA-9902-EF3BB51F6500}"/>
              </a:ext>
            </a:extLst>
          </ns0:cNvPr>
          <ns0:cNvSpPr>
            <a:spLocks noGrp="1"/>
          </ns0:cNvSpPr>
          <ns0:nvPr/>
        </ns0:nvSpPr>
        <ns0:spPr>
          <a:xfrm>
            <a:off x="6334125" y="43053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7F3F23B0-AEA8-4FE4-BD11-D255A0E5CC83}"/>
              </a:ext>
            </a:extLst>
          </ns0:cNvPr>
          <ns0:cNvSpPr>
            <a:spLocks noGrp="1"/>
          </ns0:cNvSpPr>
          <ns0:nvPr/>
        </ns0:nvSpPr>
        <ns0:spPr>
          <a:xfrm>
            <a:off x="6334125" y="45720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0" name="">
            <a:extLst>
              <a:ext uri="{FF2B5EF4-FFF2-40B4-BE49-F238E27FC236}">
                <ns2:creationId id="{72E2991F-364D-4D27-83DD-04A7A053B190}"/>
              </a:ext>
            </a:extLst>
          </ns0:cNvPr>
          <ns0:cNvSpPr>
            <a:spLocks noGrp="1"/>
          </ns0:cNvSpPr>
          <ns0:nvPr/>
        </ns0:nvSpPr>
        <ns0:spPr>
          <a:xfrm>
            <a:off x="6334125" y="4629150"/>
            <a:ext cx="5286375" cy="3238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62916F62-55E9-4A4E-ACB6-0980088F9B80}"/>
              </a:ext>
            </a:extLst>
          </ns0:cNvPr>
          <ns0:cNvSpPr>
            <a:spLocks noGrp="1"/>
          </ns0:cNvSpPr>
          <ns0:nvPr/>
        </ns0:nvSpPr>
        <ns0:spPr>
          <a:xfrm>
            <a:off x="6391275" y="4657725"/>
            <a:ext cx="188595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9C477981-51CC-45B7-A91D-A14AD96B2C27}"/>
              </a:ext>
            </a:extLst>
          </ns0:cNvPr>
          <ns0:cNvSpPr>
            <a:spLocks noGrp="1"/>
          </ns0:cNvSpPr>
          <ns0:nvPr/>
        </ns0:nvSpPr>
        <ns0:spPr>
          <a:xfrm>
            <a:off x="8391525" y="465772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71A1AFD0-59A3-4816-9C35-0640DA905622}"/>
              </a:ext>
            </a:extLst>
          </ns0:cNvPr>
          <ns0:cNvSpPr>
            <a:spLocks noGrp="1"/>
          </ns0:cNvSpPr>
          <ns0:nvPr/>
        </ns0:nvSpPr>
        <ns0:spPr>
          <a:xfrm>
            <a:off x="9534525" y="4657725"/>
            <a:ext cx="93345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600E3841-2D83-4A56-B26C-F103DDA75559}"/>
              </a:ext>
            </a:extLst>
          </ns0:cNvPr>
          <ns0:cNvSpPr>
            <a:spLocks noGrp="1"/>
          </ns0:cNvSpPr>
          <ns0:nvPr/>
        </ns0:nvSpPr>
        <ns0:spPr>
          <a:xfrm>
            <a:off x="10582275" y="4657725"/>
            <a:ext cx="98107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40166D00-EDB5-4338-89C5-EBC667CA9193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26670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36" name="">
            <a:extLst>
              <a:ext uri="{FF2B5EF4-FFF2-40B4-BE49-F238E27FC236}">
                <ns2:creationId id="{D7BD9899-8AD7-46EC-B342-C5CF064B515D}"/>
              </a:ext>
            </a:extLst>
          </ns0:cNvPr>
          <ns0:cNvSpPr>
            <a:spLocks noGrp="1"/>
          </ns0:cNvSpPr>
          <ns0:nvPr/>
        </ns0:nvSpPr>
        <ns0:spPr>
          <a:xfrm>
            <a:off x="6334125" y="5210175"/>
            <a:ext cx="5286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7" name="">
            <a:extLst>
              <a:ext uri="{FF2B5EF4-FFF2-40B4-BE49-F238E27FC236}">
                <ns2:creationId id="{B770812A-1273-40A7-8EEE-1E1582F52BD7}"/>
              </a:ext>
            </a:extLst>
          </ns0:cNvPr>
          <ns0:cNvSpPr>
            <a:spLocks noGrp="1"/>
          </ns0:cNvSpPr>
          <ns0:nvPr/>
        </ns0:nvSpPr>
        <ns0:spPr>
          <a:xfrm>
            <a:off x="6391275" y="4981575"/>
            <a:ext cx="18859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ns0:txBody>
      </ns0:sp>
      <ns0:sp>
        <ns0:nvSpPr>
          <ns0:cNvPr id="38" name="">
            <a:extLst>
              <a:ext uri="{FF2B5EF4-FFF2-40B4-BE49-F238E27FC236}">
                <ns2:creationId id="{19F7B636-CDFE-4DE4-9AC0-B76090C70869}"/>
              </a:ext>
            </a:extLst>
          </ns0:cNvPr>
          <ns0:cNvSpPr>
            <a:spLocks noGrp="1"/>
          </ns0:cNvSpPr>
          <ns0:nvPr/>
        </ns0:nvSpPr>
        <ns0:spPr>
          <a:xfrm>
            <a:off x="8391525" y="4981575"/>
            <a:ext cx="10287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04C40F8E-7110-4A2B-9169-D77681279F55}"/>
              </a:ext>
            </a:extLst>
          </ns0:cNvPr>
          <ns0:cNvSpPr>
            <a:spLocks noGrp="1"/>
          </ns0:cNvSpPr>
          <ns0:nvPr/>
        </ns0:nvSpPr>
        <ns0:spPr>
          <a:xfrm>
            <a:off x="9534525" y="4981575"/>
            <a:ext cx="9334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B92368E6-D17C-4542-9F74-5A9F284443F0}"/>
              </a:ext>
            </a:extLst>
          </ns0:cNvPr>
          <ns0:cNvSpPr>
            <a:spLocks noGrp="1"/>
          </ns0:cNvSpPr>
          <ns0:nvPr/>
        </ns0:nvSpPr>
        <ns0:spPr>
          <a:xfrm>
            <a:off x="10582275" y="4981575"/>
            <a:ext cx="9810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9C19E711-56E2-4048-A107-9851631E72F3}"/>
              </a:ext>
            </a:extLst>
          </ns0:cNvPr>
          <ns0:cNvSpPr>
            <a:spLocks noGrp="1"/>
          </ns0:cNvSpPr>
          <ns0:nvPr/>
        </ns0:nvSpPr>
        <ns0:spPr>
          <a:xfrm>
            <a:off x="6334125" y="5219700"/>
            <a:ext cx="5286375" cy="2667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42" name="">
            <a:extLst>
              <a:ext uri="{FF2B5EF4-FFF2-40B4-BE49-F238E27FC236}">
                <ns2:creationId id="{D4E43D29-70EE-4F1D-A09D-A7E19E6EA633}"/>
              </a:ext>
            </a:extLst>
          </ns0:cNvPr>
          <ns0:cNvSpPr>
            <a:spLocks noGrp="1"/>
          </ns0:cNvSpPr>
          <ns0:nvPr/>
        </ns0:nvSpPr>
        <ns0:spPr>
          <a:xfrm>
            <a:off x="6334125" y="5476875"/>
            <a:ext cx="5286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EBD90C57-235D-4975-A0F5-1B74D6D03E85}"/>
              </a:ext>
            </a:extLst>
          </ns0:cNvPr>
          <ns0:cNvSpPr>
            <a:spLocks noGrp="1"/>
          </ns0:cNvSpPr>
          <ns0:nvPr/>
        </ns0:nvSpPr>
        <ns0:spPr>
          <a:xfrm>
            <a:off x="6391275" y="5248275"/>
            <a:ext cx="18859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ns0:txBody>
      </ns0:sp>
      <ns0:sp>
        <ns0:nvSpPr>
          <ns0:cNvPr id="44" name="">
            <a:extLst>
              <a:ext uri="{FF2B5EF4-FFF2-40B4-BE49-F238E27FC236}">
                <ns2:creationId id="{C10DC769-9EB8-467C-973F-F9046C3AA4A7}"/>
              </a:ext>
            </a:extLst>
          </ns0:cNvPr>
          <ns0:cNvSpPr>
            <a:spLocks noGrp="1"/>
          </ns0:cNvSpPr>
          <ns0:nvPr/>
        </ns0:nvSpPr>
        <ns0:spPr>
          <a:xfrm>
            <a:off x="8391525" y="5248275"/>
            <a:ext cx="10287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ns0:txBody>
      </ns0:sp>
      <ns0:sp>
        <ns0:nvSpPr>
          <ns0:cNvPr id="45" name="">
            <a:extLst>
              <a:ext uri="{FF2B5EF4-FFF2-40B4-BE49-F238E27FC236}">
                <ns2:creationId id="{C47759AC-F43D-4D79-BF27-1D656A15B786}"/>
              </a:ext>
            </a:extLst>
          </ns0:cNvPr>
          <ns0:cNvSpPr>
            <a:spLocks noGrp="1"/>
          </ns0:cNvSpPr>
          <ns0:nvPr/>
        </ns0:nvSpPr>
        <ns0:spPr>
          <a:xfrm>
            <a:off x="9534525" y="5248275"/>
            <a:ext cx="9334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ns0:txBody>
      </ns0:sp>
      <ns0:sp>
        <ns0:nvSpPr>
          <ns0:cNvPr id="46" name="">
            <a:extLst>
              <a:ext uri="{FF2B5EF4-FFF2-40B4-BE49-F238E27FC236}">
                <ns2:creationId id="{47117562-14BA-4E35-9C1C-B0A98E6366DE}"/>
              </a:ext>
            </a:extLst>
          </ns0:cNvPr>
          <ns0:cNvSpPr>
            <a:spLocks noGrp="1"/>
          </ns0:cNvSpPr>
          <ns0:nvPr/>
        </ns0:nvSpPr>
        <ns0:spPr>
          <a:xfrm>
            <a:off x="10582275" y="5248275"/>
            <a:ext cx="9810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C55FFD52-4639-4E0C-ABCC-4BFFFCC513DB}"/>
              </a:ext>
            </a:extLst>
          </ns0:cNvPr>
          <ns0:cNvSpPr>
            <a:spLocks noGrp="1"/>
          </ns0:cNvSpPr>
          <ns0:nvPr/>
        </ns0:nvSpPr>
        <ns0:spPr>
          <a:xfrm>
            <a:off x="6334125" y="5486400"/>
            <a:ext cx="5286375" cy="2667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48" name="">
            <a:extLst>
              <a:ext uri="{FF2B5EF4-FFF2-40B4-BE49-F238E27FC236}">
                <ns2:creationId id="{3557E9D6-FA12-4988-929E-8E9B581D171C}"/>
              </a:ext>
            </a:extLst>
          </ns0:cNvPr>
          <ns0:cNvSpPr>
            <a:spLocks noGrp="1"/>
          </ns0:cNvSpPr>
          <ns0:nvPr/>
        </ns0:nvSpPr>
        <ns0:spPr>
          <a:xfrm>
            <a:off x="6334125" y="5743575"/>
            <a:ext cx="5286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9" name="">
            <a:extLst>
              <a:ext uri="{FF2B5EF4-FFF2-40B4-BE49-F238E27FC236}">
                <ns2:creationId id="{4C8FAC72-E41E-4B8F-92FF-A02F3271F87B}"/>
              </a:ext>
            </a:extLst>
          </ns0:cNvPr>
          <ns0:cNvSpPr>
            <a:spLocks noGrp="1"/>
          </ns0:cNvSpPr>
          <ns0:nvPr/>
        </ns0:nvSpPr>
        <ns0:spPr>
          <a:xfrm>
            <a:off x="6391275" y="5514975"/>
            <a:ext cx="18859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ns0:txBody>
      </ns0:sp>
      <ns0:sp>
        <ns0:nvSpPr>
          <ns0:cNvPr id="50" name="">
            <a:extLst>
              <a:ext uri="{FF2B5EF4-FFF2-40B4-BE49-F238E27FC236}">
                <ns2:creationId id="{371D1801-99DC-4136-B882-E0B71B196036}"/>
              </a:ext>
            </a:extLst>
          </ns0:cNvPr>
          <ns0:cNvSpPr>
            <a:spLocks noGrp="1"/>
          </ns0:cNvSpPr>
          <ns0:nvPr/>
        </ns0:nvSpPr>
        <ns0:spPr>
          <a:xfrm>
            <a:off x="8391525" y="5514975"/>
            <a:ext cx="10287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ns0:txBody>
      </ns0:sp>
      <ns0:sp>
        <ns0:nvSpPr>
          <ns0:cNvPr id="51" name="">
            <a:extLst>
              <a:ext uri="{FF2B5EF4-FFF2-40B4-BE49-F238E27FC236}">
                <ns2:creationId id="{B31481CD-4074-44D2-A8EF-993058970249}"/>
              </a:ext>
            </a:extLst>
          </ns0:cNvPr>
          <ns0:cNvSpPr>
            <a:spLocks noGrp="1"/>
          </ns0:cNvSpPr>
          <ns0:nvPr/>
        </ns0:nvSpPr>
        <ns0:spPr>
          <a:xfrm>
            <a:off x="9534525" y="5514975"/>
            <a:ext cx="9334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ns0:txBody>
      </ns0:sp>
      <ns0:sp>
        <ns0:nvSpPr>
          <ns0:cNvPr id="52" name="">
            <a:extLst>
              <a:ext uri="{FF2B5EF4-FFF2-40B4-BE49-F238E27FC236}">
                <ns2:creationId id="{CF81E59B-2768-4D66-A8FE-A40F90A3DEAB}"/>
              </a:ext>
            </a:extLst>
          </ns0:cNvPr>
          <ns0:cNvSpPr>
            <a:spLocks noGrp="1"/>
          </ns0:cNvSpPr>
          <ns0:nvPr/>
        </ns0:nvSpPr>
        <ns0:spPr>
          <a:xfrm>
            <a:off x="10582275" y="5514975"/>
            <a:ext cx="9810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ns0:txBody>
      </ns0:sp>
      <ns0:sp>
        <ns0:nvSpPr>
          <ns0:cNvPr id="53" name="">
            <a:extLst>
              <a:ext uri="{FF2B5EF4-FFF2-40B4-BE49-F238E27FC236}">
                <ns2:creationId id="{02A997E3-0A0B-41AA-8E66-7B0B99B9C2C9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4" name="">
            <a:extLst>
              <a:ext uri="{FF2B5EF4-FFF2-40B4-BE49-F238E27FC236}">
                <ns2:creationId id="{87A472D0-BE9B-4329-BE44-D3F1638CBD2C}"/>
              </a:ext>
            </a:extLst>
          </ns0:cNvPr>
          <ns0:cNvSpPr>
            <a:spLocks noGrp="1"/>
          </ns0:cNvSpPr>
          <ns0:nvPr/>
        </ns0:nvSpPr>
        <ns0:spPr>
          <a:xfrm>
            <a:off x="571500" y="60007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8000"/>
              </a:lnSpc>
              <a:buNone/>
              <a:defRPr sz="78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ns0:txBody>
      </ns0:sp>
    </ns0:spTree>
    <ns0:extLst>
      <ns0:ext uri="{BB962C8B-B14F-4D97-AF65-F5344CB8AC3E}">
        <ns3:creationId val="524301505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2026-07-31T15:53:48.5710000Z</dcterms:created>
  <dcterms:modified xsi:type="dcterms:W3CDTF">2026-07-31T15:53:48.5710000Z</dcterms:modified>
</coreProperties>
</file>