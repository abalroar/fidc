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4.xml" ContentType="application/vnd.openxmlformats-officedocument.drawingml.chart+xml"/>
  <Override PartName="/ppt/slides/charts/chart5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slides/charts/chart20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28.xml" ContentType="application/vnd.openxmlformats-officedocument.drawingml.chart+xml"/>
  <Override PartName="/ppt/slides/charts/chart29.xml" ContentType="application/vnd.openxmlformats-officedocument.drawingml.chart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slides/charts/chart45.xml" ContentType="application/vnd.openxmlformats-officedocument.drawingml.chart+xml"/>
  <Override PartName="/ppt/slides/charts/chart46.xml" ContentType="application/vnd.openxmlformats-officedocument.drawingml.chart+xml"/>
  <Override PartName="/ppt/slides/charts/chart47.xml" ContentType="application/vnd.openxmlformats-officedocument.drawingml.chart+xml"/>
  <Override PartName="/ppt/slides/charts/chart48.xml" ContentType="application/vnd.openxmlformats-officedocument.drawingml.chart+xml"/>
  <Override PartName="/ppt/slides/charts/chart49.xml" ContentType="application/vnd.openxmlformats-officedocument.drawingml.chart+xml"/>
  <Override PartName="/ppt/notesSlides/notesSlide3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b67a79467cc4f45" /><Relationship Type="http://schemas.openxmlformats.org/officeDocument/2006/relationships/extended-properties" Target="/docProps/app.xml" Id="Rf7acf0d37a904ada" /><Relationship Type="http://schemas.openxmlformats.org/officeDocument/2006/relationships/officeDocument" Target="/ppt/presentation.xml" Id="R4dd3a86003614f0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b4b727632554cc2"/>
  </p:sldMasterIdLst>
  <p:notesMasterIdLst>
    <p:notesMasterId xmlns:r="http://schemas.openxmlformats.org/officeDocument/2006/relationships" r:id="R5750536c78204ba9"/>
  </p:notesMasterIdLst>
  <p:sldIdLst>
    <p:sldId xmlns:r="http://schemas.openxmlformats.org/officeDocument/2006/relationships" id="256" r:id="Rfc05f6a1d8724630"/>
    <p:sldId xmlns:r="http://schemas.openxmlformats.org/officeDocument/2006/relationships" id="257" r:id="R45ec7a6ece5c4557"/>
    <p:sldId xmlns:r="http://schemas.openxmlformats.org/officeDocument/2006/relationships" id="258" r:id="R3290426e1c394996"/>
    <p:sldId xmlns:r="http://schemas.openxmlformats.org/officeDocument/2006/relationships" id="259" r:id="Rf2ee2510282e4265"/>
    <p:sldId xmlns:r="http://schemas.openxmlformats.org/officeDocument/2006/relationships" id="260" r:id="Rcd7f9d47b23244ce"/>
    <p:sldId xmlns:r="http://schemas.openxmlformats.org/officeDocument/2006/relationships" id="261" r:id="R23dc4d9055dd47c0"/>
    <p:sldId xmlns:r="http://schemas.openxmlformats.org/officeDocument/2006/relationships" id="262" r:id="R0eadac030ed84491"/>
    <p:sldId xmlns:r="http://schemas.openxmlformats.org/officeDocument/2006/relationships" id="263" r:id="Rb025d95548144881"/>
    <p:sldId xmlns:r="http://schemas.openxmlformats.org/officeDocument/2006/relationships" id="264" r:id="Re9b68d4e31734bb9"/>
    <p:sldId xmlns:r="http://schemas.openxmlformats.org/officeDocument/2006/relationships" id="265" r:id="R49107280e4cd450b"/>
    <p:sldId xmlns:r="http://schemas.openxmlformats.org/officeDocument/2006/relationships" id="266" r:id="Rfec6920a731849a5"/>
    <p:sldId xmlns:r="http://schemas.openxmlformats.org/officeDocument/2006/relationships" id="267" r:id="Rb2eda6842460440a"/>
    <p:sldId xmlns:r="http://schemas.openxmlformats.org/officeDocument/2006/relationships" id="268" r:id="R9c743636aa9241f7"/>
    <p:sldId xmlns:r="http://schemas.openxmlformats.org/officeDocument/2006/relationships" id="269" r:id="R7042c3ef73414c8a"/>
    <p:sldId xmlns:r="http://schemas.openxmlformats.org/officeDocument/2006/relationships" id="270" r:id="R195a658ed2574ed9"/>
    <p:sldId xmlns:r="http://schemas.openxmlformats.org/officeDocument/2006/relationships" id="271" r:id="Rc992e563cb774e62"/>
    <p:sldId xmlns:r="http://schemas.openxmlformats.org/officeDocument/2006/relationships" id="272" r:id="Rff9535ea451a4a02"/>
    <p:sldId xmlns:r="http://schemas.openxmlformats.org/officeDocument/2006/relationships" id="273" r:id="R19c5f30aa4cd41ad"/>
    <p:sldId xmlns:r="http://schemas.openxmlformats.org/officeDocument/2006/relationships" id="274" r:id="R957d6cf1e4194ad1"/>
    <p:sldId xmlns:r="http://schemas.openxmlformats.org/officeDocument/2006/relationships" id="275" r:id="Re5463b35fe174e6c"/>
    <p:sldId xmlns:r="http://schemas.openxmlformats.org/officeDocument/2006/relationships" id="276" r:id="Re2a4891d48c242d7"/>
    <p:sldId xmlns:r="http://schemas.openxmlformats.org/officeDocument/2006/relationships" id="277" r:id="R6c2d9e98abd2452f"/>
    <p:sldId xmlns:r="http://schemas.openxmlformats.org/officeDocument/2006/relationships" id="278" r:id="R209100227e1a45be"/>
    <p:sldId xmlns:r="http://schemas.openxmlformats.org/officeDocument/2006/relationships" id="279" r:id="R65ce117209c148d8"/>
    <p:sldId xmlns:r="http://schemas.openxmlformats.org/officeDocument/2006/relationships" id="280" r:id="R5bb0c7d0c9914526"/>
    <p:sldId xmlns:r="http://schemas.openxmlformats.org/officeDocument/2006/relationships" id="281" r:id="Rd2b57a57856041be"/>
    <p:sldId xmlns:r="http://schemas.openxmlformats.org/officeDocument/2006/relationships" id="282" r:id="Rd0843fa9dfa946ae"/>
    <p:sldId xmlns:r="http://schemas.openxmlformats.org/officeDocument/2006/relationships" id="283" r:id="Ra415f5e2f2cf49c8"/>
    <p:sldId xmlns:r="http://schemas.openxmlformats.org/officeDocument/2006/relationships" id="284" r:id="R55ca8e5e845745b6"/>
    <p:sldId xmlns:r="http://schemas.openxmlformats.org/officeDocument/2006/relationships" id="285" r:id="R9f63e94728174ed3"/>
    <p:sldId xmlns:r="http://schemas.openxmlformats.org/officeDocument/2006/relationships" id="286" r:id="Ra8b6cea06e244611"/>
    <p:sldId xmlns:r="http://schemas.openxmlformats.org/officeDocument/2006/relationships" id="287" r:id="R501927be2fb4490d"/>
    <p:sldId xmlns:r="http://schemas.openxmlformats.org/officeDocument/2006/relationships" id="288" r:id="Rcac5fd3888a24620"/>
    <p:sldId xmlns:r="http://schemas.openxmlformats.org/officeDocument/2006/relationships" id="289" r:id="Rff95ad226c8b412f"/>
    <p:sldId xmlns:r="http://schemas.openxmlformats.org/officeDocument/2006/relationships" id="290" r:id="R4b6a14e950c9413b"/>
    <p:sldId xmlns:r="http://schemas.openxmlformats.org/officeDocument/2006/relationships" id="291" r:id="Re319ccd34c1049fe"/>
    <p:sldId xmlns:r="http://schemas.openxmlformats.org/officeDocument/2006/relationships" id="292" r:id="Rd65fbd449b4b4f8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f5b2dec4d5b45f9" /><Relationship Type="http://schemas.openxmlformats.org/officeDocument/2006/relationships/slideMaster" Target="/ppt/slideMasters/slideMaster1.xml" Id="R7b4b727632554cc2" /><Relationship Type="http://schemas.openxmlformats.org/officeDocument/2006/relationships/notesMaster" Target="/ppt/notesMasters/notesMaster1.xml" Id="R5750536c78204ba9" /><Relationship Type="http://schemas.openxmlformats.org/officeDocument/2006/relationships/presProps" Target="/ppt/presProps.xml" Id="R91fc92ca5fc34955" /><Relationship Type="http://schemas.openxmlformats.org/officeDocument/2006/relationships/tableStyles" Target="/ppt/tableStyles.xml" Id="R11a46dd3ac0d4ba7" /><Relationship Type="http://schemas.openxmlformats.org/officeDocument/2006/relationships/slide" Target="/ppt/slides/slide1.xml" Id="Rfc05f6a1d8724630" /><Relationship Type="http://schemas.openxmlformats.org/officeDocument/2006/relationships/slide" Target="/ppt/slides/slide2.xml" Id="R45ec7a6ece5c4557" /><Relationship Type="http://schemas.openxmlformats.org/officeDocument/2006/relationships/slide" Target="/ppt/slides/slide3.xml" Id="R3290426e1c394996" /><Relationship Type="http://schemas.openxmlformats.org/officeDocument/2006/relationships/slide" Target="/ppt/slides/slide4.xml" Id="Rf2ee2510282e4265" /><Relationship Type="http://schemas.openxmlformats.org/officeDocument/2006/relationships/slide" Target="/ppt/slides/slide5.xml" Id="Rcd7f9d47b23244ce" /><Relationship Type="http://schemas.openxmlformats.org/officeDocument/2006/relationships/slide" Target="/ppt/slides/slide6.xml" Id="R23dc4d9055dd47c0" /><Relationship Type="http://schemas.openxmlformats.org/officeDocument/2006/relationships/slide" Target="/ppt/slides/slide7.xml" Id="R0eadac030ed84491" /><Relationship Type="http://schemas.openxmlformats.org/officeDocument/2006/relationships/slide" Target="/ppt/slides/slide8.xml" Id="Rb025d95548144881" /><Relationship Type="http://schemas.openxmlformats.org/officeDocument/2006/relationships/slide" Target="/ppt/slides/slide9.xml" Id="Re9b68d4e31734bb9" /><Relationship Type="http://schemas.openxmlformats.org/officeDocument/2006/relationships/slide" Target="/ppt/slides/slide10.xml" Id="R49107280e4cd450b" /><Relationship Type="http://schemas.openxmlformats.org/officeDocument/2006/relationships/slide" Target="/ppt/slides/slide11.xml" Id="Rfec6920a731849a5" /><Relationship Type="http://schemas.openxmlformats.org/officeDocument/2006/relationships/slide" Target="/ppt/slides/slide12.xml" Id="Rb2eda6842460440a" /><Relationship Type="http://schemas.openxmlformats.org/officeDocument/2006/relationships/slide" Target="/ppt/slides/slide13.xml" Id="R9c743636aa9241f7" /><Relationship Type="http://schemas.openxmlformats.org/officeDocument/2006/relationships/slide" Target="/ppt/slides/slide14.xml" Id="R7042c3ef73414c8a" /><Relationship Type="http://schemas.openxmlformats.org/officeDocument/2006/relationships/slide" Target="/ppt/slides/slide15.xml" Id="R195a658ed2574ed9" /><Relationship Type="http://schemas.openxmlformats.org/officeDocument/2006/relationships/slide" Target="/ppt/slides/slide16.xml" Id="Rc992e563cb774e62" /><Relationship Type="http://schemas.openxmlformats.org/officeDocument/2006/relationships/slide" Target="/ppt/slides/slide17.xml" Id="Rff9535ea451a4a02" /><Relationship Type="http://schemas.openxmlformats.org/officeDocument/2006/relationships/slide" Target="/ppt/slides/slide18.xml" Id="R19c5f30aa4cd41ad" /><Relationship Type="http://schemas.openxmlformats.org/officeDocument/2006/relationships/slide" Target="/ppt/slides/slide19.xml" Id="R957d6cf1e4194ad1" /><Relationship Type="http://schemas.openxmlformats.org/officeDocument/2006/relationships/slide" Target="/ppt/slides/slide20.xml" Id="Re5463b35fe174e6c" /><Relationship Type="http://schemas.openxmlformats.org/officeDocument/2006/relationships/slide" Target="/ppt/slides/slide21.xml" Id="Re2a4891d48c242d7" /><Relationship Type="http://schemas.openxmlformats.org/officeDocument/2006/relationships/slide" Target="/ppt/slides/slide22.xml" Id="R6c2d9e98abd2452f" /><Relationship Type="http://schemas.openxmlformats.org/officeDocument/2006/relationships/slide" Target="/ppt/slides/slide23.xml" Id="R209100227e1a45be" /><Relationship Type="http://schemas.openxmlformats.org/officeDocument/2006/relationships/slide" Target="/ppt/slides/slide24.xml" Id="R65ce117209c148d8" /><Relationship Type="http://schemas.openxmlformats.org/officeDocument/2006/relationships/slide" Target="/ppt/slides/slide25.xml" Id="R5bb0c7d0c9914526" /><Relationship Type="http://schemas.openxmlformats.org/officeDocument/2006/relationships/slide" Target="/ppt/slides/slide26.xml" Id="Rd2b57a57856041be" /><Relationship Type="http://schemas.openxmlformats.org/officeDocument/2006/relationships/slide" Target="/ppt/slides/slide27.xml" Id="Rd0843fa9dfa946ae" /><Relationship Type="http://schemas.openxmlformats.org/officeDocument/2006/relationships/slide" Target="/ppt/slides/slide28.xml" Id="Ra415f5e2f2cf49c8" /><Relationship Type="http://schemas.openxmlformats.org/officeDocument/2006/relationships/slide" Target="/ppt/slides/slide29.xml" Id="R55ca8e5e845745b6" /><Relationship Type="http://schemas.openxmlformats.org/officeDocument/2006/relationships/slide" Target="/ppt/slides/slide30.xml" Id="R9f63e94728174ed3" /><Relationship Type="http://schemas.openxmlformats.org/officeDocument/2006/relationships/slide" Target="/ppt/slides/slide31.xml" Id="Ra8b6cea06e244611" /><Relationship Type="http://schemas.openxmlformats.org/officeDocument/2006/relationships/slide" Target="/ppt/slides/slide32.xml" Id="R501927be2fb4490d" /><Relationship Type="http://schemas.openxmlformats.org/officeDocument/2006/relationships/slide" Target="/ppt/slides/slide33.xml" Id="Rcac5fd3888a24620" /><Relationship Type="http://schemas.openxmlformats.org/officeDocument/2006/relationships/slide" Target="/ppt/slides/slide34.xml" Id="Rff95ad226c8b412f" /><Relationship Type="http://schemas.openxmlformats.org/officeDocument/2006/relationships/slide" Target="/ppt/slides/slide35.xml" Id="R4b6a14e950c9413b" /><Relationship Type="http://schemas.openxmlformats.org/officeDocument/2006/relationships/slide" Target="/ppt/slides/slide36.xml" Id="Re319ccd34c1049fe" /><Relationship Type="http://schemas.openxmlformats.org/officeDocument/2006/relationships/slide" Target="/ppt/slides/slide37.xml" Id="Rd65fbd449b4b4f8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412aa408c59436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07894c2738a4a83" /><Relationship Type="http://schemas.openxmlformats.org/officeDocument/2006/relationships/notesMaster" Target="/ppt/notesMasters/notesMaster1.xml" Id="R85d47f3c76b948e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58937cbf3774d99" /><Relationship Type="http://schemas.openxmlformats.org/officeDocument/2006/relationships/notesMaster" Target="/ppt/notesMasters/notesMaster1.xml" Id="Rdc7ea3cf20cd4a4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036373b52984302" /><Relationship Type="http://schemas.openxmlformats.org/officeDocument/2006/relationships/notesMaster" Target="/ppt/notesMasters/notesMaster1.xml" Id="R7941bcde74fd450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dca8ab2a8d54c6e" /><Relationship Type="http://schemas.openxmlformats.org/officeDocument/2006/relationships/notesMaster" Target="/ppt/notesMasters/notesMaster1.xml" Id="R71c6b7f9f8c6455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5a16de926e84852" /><Relationship Type="http://schemas.openxmlformats.org/officeDocument/2006/relationships/notesMaster" Target="/ppt/notesMasters/notesMaster1.xml" Id="R57c73b11056e4f9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4c598518f94403f" /><Relationship Type="http://schemas.openxmlformats.org/officeDocument/2006/relationships/notesMaster" Target="/ppt/notesMasters/notesMaster1.xml" Id="R0f5907f24f85451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f1ea055f87349bd" /><Relationship Type="http://schemas.openxmlformats.org/officeDocument/2006/relationships/notesMaster" Target="/ppt/notesMasters/notesMaster1.xml" Id="R1fd4db8df74f496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365a5175f404c7f" /><Relationship Type="http://schemas.openxmlformats.org/officeDocument/2006/relationships/notesMaster" Target="/ppt/notesMasters/notesMaster1.xml" Id="Rb242461a9975490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04c8e0191e7424b" /><Relationship Type="http://schemas.openxmlformats.org/officeDocument/2006/relationships/notesMaster" Target="/ppt/notesMasters/notesMaster1.xml" Id="Rab1e88f739394b6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7a192ab574248fb" /><Relationship Type="http://schemas.openxmlformats.org/officeDocument/2006/relationships/notesMaster" Target="/ppt/notesMasters/notesMaster1.xml" Id="R1f8887eaab3c478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f69423538764f4d" /><Relationship Type="http://schemas.openxmlformats.org/officeDocument/2006/relationships/notesMaster" Target="/ppt/notesMasters/notesMaster1.xml" Id="R603d2f4d05c14b5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2f0b09417314650" /><Relationship Type="http://schemas.openxmlformats.org/officeDocument/2006/relationships/notesMaster" Target="/ppt/notesMasters/notesMaster1.xml" Id="R26c42bbc44a24ad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5abc5200ab443c3" /><Relationship Type="http://schemas.openxmlformats.org/officeDocument/2006/relationships/notesMaster" Target="/ppt/notesMasters/notesMaster1.xml" Id="Rd0c8ddca384642c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2d48c912709481f" /><Relationship Type="http://schemas.openxmlformats.org/officeDocument/2006/relationships/notesMaster" Target="/ppt/notesMasters/notesMaster1.xml" Id="R40fc3c000d55474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a20283710234377" /><Relationship Type="http://schemas.openxmlformats.org/officeDocument/2006/relationships/notesMaster" Target="/ppt/notesMasters/notesMaster1.xml" Id="R6fdc5d91d36442b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b5ece2f55404ed7" /><Relationship Type="http://schemas.openxmlformats.org/officeDocument/2006/relationships/notesMaster" Target="/ppt/notesMasters/notesMaster1.xml" Id="R9e8d7c2e2bb249a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1f84c005bda49aa" /><Relationship Type="http://schemas.openxmlformats.org/officeDocument/2006/relationships/notesMaster" Target="/ppt/notesMasters/notesMaster1.xml" Id="Rc31f72d14c68420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dff9ba90e2b46d1" /><Relationship Type="http://schemas.openxmlformats.org/officeDocument/2006/relationships/notesMaster" Target="/ppt/notesMasters/notesMaster1.xml" Id="R225188b4d8144cd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9de08c5e31c44f3" /><Relationship Type="http://schemas.openxmlformats.org/officeDocument/2006/relationships/notesMaster" Target="/ppt/notesMasters/notesMaster1.xml" Id="R6cd32cc4e08b4ad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97e5ee6841e4b61" /><Relationship Type="http://schemas.openxmlformats.org/officeDocument/2006/relationships/notesMaster" Target="/ppt/notesMasters/notesMaster1.xml" Id="R7189d4b0eca64b66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7f33ccc2eef4dd9" /><Relationship Type="http://schemas.openxmlformats.org/officeDocument/2006/relationships/notesMaster" Target="/ppt/notesMasters/notesMaster1.xml" Id="R742cdae5759e4fa7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b4174d2f3ae242be" /><Relationship Type="http://schemas.openxmlformats.org/officeDocument/2006/relationships/notesMaster" Target="/ppt/notesMasters/notesMaster1.xml" Id="R2af103ec97574ce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5bf560e8a173492b" /><Relationship Type="http://schemas.openxmlformats.org/officeDocument/2006/relationships/notesMaster" Target="/ppt/notesMasters/notesMaster1.xml" Id="R2613acc30c6a40de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f58f34d42c314109" /><Relationship Type="http://schemas.openxmlformats.org/officeDocument/2006/relationships/notesMaster" Target="/ppt/notesMasters/notesMaster1.xml" Id="Rfcff737a4f77482b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4be472ac4a4a4d5f" /><Relationship Type="http://schemas.openxmlformats.org/officeDocument/2006/relationships/notesMaster" Target="/ppt/notesMasters/notesMaster1.xml" Id="Re4ae140e47d743a1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05b61a66dd1443c5" /><Relationship Type="http://schemas.openxmlformats.org/officeDocument/2006/relationships/notesMaster" Target="/ppt/notesMasters/notesMaster1.xml" Id="R5c51ef1119614b7a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840b7a41fc7041dc" /><Relationship Type="http://schemas.openxmlformats.org/officeDocument/2006/relationships/notesMaster" Target="/ppt/notesMasters/notesMaster1.xml" Id="Rb0173fa46fd849c6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5329d985e0714a6d" /><Relationship Type="http://schemas.openxmlformats.org/officeDocument/2006/relationships/notesMaster" Target="/ppt/notesMasters/notesMaster1.xml" Id="R67c0844b6f5a4e4e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f855221e16764d32" /><Relationship Type="http://schemas.openxmlformats.org/officeDocument/2006/relationships/notesMaster" Target="/ppt/notesMasters/notesMaster1.xml" Id="Rca2a25c4d0bf42f1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e533b47e80664ef5" /><Relationship Type="http://schemas.openxmlformats.org/officeDocument/2006/relationships/notesMaster" Target="/ppt/notesMasters/notesMaster1.xml" Id="R74db308c13414e42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e3c2bad96da14244" /><Relationship Type="http://schemas.openxmlformats.org/officeDocument/2006/relationships/notesMaster" Target="/ppt/notesMasters/notesMaster1.xml" Id="R713f9b0bd82e4416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4d2a1484a4204101" /><Relationship Type="http://schemas.openxmlformats.org/officeDocument/2006/relationships/notesMaster" Target="/ppt/notesMasters/notesMaster1.xml" Id="Rff2b788cad3e4f22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76f18841d5fd47ad" /><Relationship Type="http://schemas.openxmlformats.org/officeDocument/2006/relationships/notesMaster" Target="/ppt/notesMasters/notesMaster1.xml" Id="Radfdaf56cd174ab5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11dc91de37a045fc" /><Relationship Type="http://schemas.openxmlformats.org/officeDocument/2006/relationships/notesMaster" Target="/ppt/notesMasters/notesMaster1.xml" Id="R8b768ed985da4c96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690f9d8a2dad46aa" /><Relationship Type="http://schemas.openxmlformats.org/officeDocument/2006/relationships/notesMaster" Target="/ppt/notesMasters/notesMaster1.xml" Id="R2774e20909fe4012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eccec90d8a9c4b6d" /><Relationship Type="http://schemas.openxmlformats.org/officeDocument/2006/relationships/notesMaster" Target="/ppt/notesMasters/notesMaster1.xml" Id="Ra49a239e0aaa40cc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503dcdcc1a654c94" /><Relationship Type="http://schemas.openxmlformats.org/officeDocument/2006/relationships/notesMaster" Target="/ppt/notesMasters/notesMaster1.xml" Id="R9623ae3a327242a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corte em 30/jun/26: https://data.anbima.com.br/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— Coletiva de Mercado de Capitais 1S26, snapshot jun/26, Anexo · pág. 14, Tabela Jan a jun 25 × Jan a jun 26: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Perímetros: CVM/SRE mede valor registrado de ofertas primárias encerradas (R$ 65,5 bi em FIDCs); ANBIMA mede valor encerrado (R$ 53,1 bi). Ambos cobrem jan–jun/26.</a:t>
            </a:r>
          </a:p>
          <a:p xmlns:a="http://schemas.openxmlformats.org/drawingml/2006/main">
            <a:r>
              <a:t>- FIDCs 2023 no gráfico CVM: valor encerrado ANBIMA; a correção é idempotente e preserva bundles anteriores à republicação.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Saldo: classificação analítica por CNPJ; Outros é aberto em Precatórios/Ações, Multicedente/Multisacado, Recuperação/NP e N/D.</a:t>
            </a:r>
          </a:p>
          <a:p xmlns:a="http://schemas.openxmlformats.org/drawingml/2006/main">
            <a:r>
              <a:t>- Emissões: quatro tipos ANBIMA reconciliados com FIC-FIDC e total emitido; ausência permanece N/D e não vira zero.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FIDCs 2023: valor encerrado ANBIMA, preservado da série histórica; composição não observada escalada pela composição CVM. Snapshot vigente: jun/26.</a:t>
            </a:r>
          </a:p>
          <a:p xmlns:a="http://schemas.openxmlformats.org/drawingml/2006/main">
            <a:r>
              <a:t>- Destaque: variação relativa da participação versus o período comparável anterior; verde &gt; +2%, vinho &lt; −2%, sem destaque dentro de ±2%.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O grupo Financeiro reúne estruturas distintas; a leitura relativa é direcional.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 mediana agregada muda com o subtipo; o slide preserva a ressalva.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Comparação da Sub/PL atual; mínimos júnior e estrutural permanecem identificados separadamente.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regime de colocação conforme declarado na oferta; campo ausente nos arquivos consultados = Não informado.</a:t>
            </a:r>
          </a:p>
          <a:p xmlns:a="http://schemas.openxmlformats.org/drawingml/2006/main">
            <a:r>
              <a:t>- Comparação YTD: garantia firme R$ 10,4 bi em jan–jun/25 e R$ 14,3 bi em jan–jun/26; variação 37,3%. Melhores esforços representam 69,2% do volume atual.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— Coletiva de Mercado de Capitais 1S26, valor encerrado, snapshot jun/26; 2026 = jan–jun: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a06d76eccd424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677e5419eb841f2" /><Relationship Type="http://schemas.openxmlformats.org/officeDocument/2006/relationships/slideLayout" Target="/ppt/slideLayouts/slideLayout1.xml" Id="R05f0bd126dc94fb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5f0bd126dc94fb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394d27b66642c7" /><Relationship Type="http://schemas.openxmlformats.org/officeDocument/2006/relationships/notesSlide" Target="/ppt/notesSlides/notesSlide1.xml" Id="R21e9c98ece45412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6b7bfd3f184e28" /><Relationship Type="http://schemas.openxmlformats.org/officeDocument/2006/relationships/chart" Target="/ppt/slides/charts/chart1.xml" Id="R47c923632c6a4e44" /><Relationship Type="http://schemas.openxmlformats.org/officeDocument/2006/relationships/chart" Target="/ppt/slides/charts/chart2.xml" Id="R32f07ea24bf24f16" /><Relationship Type="http://schemas.openxmlformats.org/officeDocument/2006/relationships/chart" Target="/ppt/slides/charts/chart3.xml" Id="R80181d42fc244af4" /><Relationship Type="http://schemas.openxmlformats.org/officeDocument/2006/relationships/notesSlide" Target="/ppt/notesSlides/notesSlide2.xml" Id="R663cb8d26f3d418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04ca4e574d4eb6" /><Relationship Type="http://schemas.openxmlformats.org/officeDocument/2006/relationships/chart" Target="/ppt/slides/charts/chart4.xml" Id="R6cf8fee65f7b45df" /><Relationship Type="http://schemas.openxmlformats.org/officeDocument/2006/relationships/chart" Target="/ppt/slides/charts/chart5.xml" Id="R4fa475a9eee74c27" /><Relationship Type="http://schemas.openxmlformats.org/officeDocument/2006/relationships/notesSlide" Target="/ppt/notesSlides/notesSlide3.xml" Id="R736a17203694401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aedbcff9134e17" /><Relationship Type="http://schemas.openxmlformats.org/officeDocument/2006/relationships/chart" Target="/ppt/slides/charts/chart6.xml" Id="R59ed08c2b0f04e6b" /><Relationship Type="http://schemas.openxmlformats.org/officeDocument/2006/relationships/chart" Target="/ppt/slides/charts/chart7.xml" Id="Rdb3169d1276e4200" /><Relationship Type="http://schemas.openxmlformats.org/officeDocument/2006/relationships/chart" Target="/ppt/slides/charts/chart8.xml" Id="R9f5068e342ae46d3" /><Relationship Type="http://schemas.openxmlformats.org/officeDocument/2006/relationships/chart" Target="/ppt/slides/charts/chart9.xml" Id="R3be7ec4e74684946" /><Relationship Type="http://schemas.openxmlformats.org/officeDocument/2006/relationships/notesSlide" Target="/ppt/notesSlides/notesSlide4.xml" Id="R0b264d9c31ac45d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8f16e5362641b8" /><Relationship Type="http://schemas.openxmlformats.org/officeDocument/2006/relationships/chart" Target="/ppt/slides/charts/chart10.xml" Id="R906373471dd5425f" /><Relationship Type="http://schemas.openxmlformats.org/officeDocument/2006/relationships/chart" Target="/ppt/slides/charts/chart11.xml" Id="R2713c6167988448f" /><Relationship Type="http://schemas.openxmlformats.org/officeDocument/2006/relationships/notesSlide" Target="/ppt/notesSlides/notesSlide5.xml" Id="R133f2ee501684ec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58b5d931594605" /><Relationship Type="http://schemas.openxmlformats.org/officeDocument/2006/relationships/chart" Target="/ppt/slides/charts/chart12.xml" Id="R8e9346da3fef4fb6" /><Relationship Type="http://schemas.openxmlformats.org/officeDocument/2006/relationships/chart" Target="/ppt/slides/charts/chart13.xml" Id="Re8b88fdf7a424684" /><Relationship Type="http://schemas.openxmlformats.org/officeDocument/2006/relationships/chart" Target="/ppt/slides/charts/chart14.xml" Id="Re79c5c9d672b4f3b" /><Relationship Type="http://schemas.openxmlformats.org/officeDocument/2006/relationships/notesSlide" Target="/ppt/notesSlides/notesSlide6.xml" Id="R557b1f4571f14ad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75dcae02464224" /><Relationship Type="http://schemas.openxmlformats.org/officeDocument/2006/relationships/chart" Target="/ppt/slides/charts/chart15.xml" Id="Rd7f9b897098445b0" /><Relationship Type="http://schemas.openxmlformats.org/officeDocument/2006/relationships/chart" Target="/ppt/slides/charts/chart16.xml" Id="R91af550869fc48eb" /><Relationship Type="http://schemas.openxmlformats.org/officeDocument/2006/relationships/chart" Target="/ppt/slides/charts/chart17.xml" Id="R16661cbb55e04375" /><Relationship Type="http://schemas.openxmlformats.org/officeDocument/2006/relationships/notesSlide" Target="/ppt/notesSlides/notesSlide7.xml" Id="R896a65d9dc9c482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aa2c0418ec4aa7" /><Relationship Type="http://schemas.openxmlformats.org/officeDocument/2006/relationships/chart" Target="/ppt/slides/charts/chart18.xml" Id="R9a49805035cf41d5" /><Relationship Type="http://schemas.openxmlformats.org/officeDocument/2006/relationships/chart" Target="/ppt/slides/charts/chart19.xml" Id="R56ab6ad131874441" /><Relationship Type="http://schemas.openxmlformats.org/officeDocument/2006/relationships/chart" Target="/ppt/slides/charts/chart20.xml" Id="R641ef4c27e6f4a5e" /><Relationship Type="http://schemas.openxmlformats.org/officeDocument/2006/relationships/notesSlide" Target="/ppt/notesSlides/notesSlide8.xml" Id="R6a3db1025d774e9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0fd07f66854137" /><Relationship Type="http://schemas.openxmlformats.org/officeDocument/2006/relationships/notesSlide" Target="/ppt/notesSlides/notesSlide9.xml" Id="Ra7d857f4643b496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14e0a33a0a4c5e" /><Relationship Type="http://schemas.openxmlformats.org/officeDocument/2006/relationships/notesSlide" Target="/ppt/notesSlides/notesSlide10.xml" Id="R6b731c34cb114ca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136a8cadbe4acf" /><Relationship Type="http://schemas.openxmlformats.org/officeDocument/2006/relationships/notesSlide" Target="/ppt/notesSlides/notesSlide11.xml" Id="R7bd80b5e33e1467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945778e1e149c1" /><Relationship Type="http://schemas.openxmlformats.org/officeDocument/2006/relationships/notesSlide" Target="/ppt/notesSlides/notesSlide12.xml" Id="Rd9e8958475e2408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651863add5436c" /><Relationship Type="http://schemas.openxmlformats.org/officeDocument/2006/relationships/notesSlide" Target="/ppt/notesSlides/notesSlide13.xml" Id="Rf3f775149e5e49a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0b4622cc1e4060" /><Relationship Type="http://schemas.openxmlformats.org/officeDocument/2006/relationships/notesSlide" Target="/ppt/notesSlides/notesSlide14.xml" Id="Rc63d9d66e258497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46b5cabb9b4583" /><Relationship Type="http://schemas.openxmlformats.org/officeDocument/2006/relationships/notesSlide" Target="/ppt/notesSlides/notesSlide15.xml" Id="Rd75437515c8d44a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fcf09627fc475c" /><Relationship Type="http://schemas.openxmlformats.org/officeDocument/2006/relationships/notesSlide" Target="/ppt/notesSlides/notesSlide16.xml" Id="R1345d716e8c94c1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22c8ed9cc14443" /><Relationship Type="http://schemas.openxmlformats.org/officeDocument/2006/relationships/notesSlide" Target="/ppt/notesSlides/notesSlide17.xml" Id="Ra9b8a953de8144c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5b8ab535944737" /><Relationship Type="http://schemas.openxmlformats.org/officeDocument/2006/relationships/notesSlide" Target="/ppt/notesSlides/notesSlide18.xml" Id="Rd7013645b24540d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8befe3c21145f0" /><Relationship Type="http://schemas.openxmlformats.org/officeDocument/2006/relationships/notesSlide" Target="/ppt/notesSlides/notesSlide19.xml" Id="R0e746ea439ed464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48e1af267848ae" /><Relationship Type="http://schemas.openxmlformats.org/officeDocument/2006/relationships/notesSlide" Target="/ppt/notesSlides/notesSlide20.xml" Id="Rd886815439124d2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3716c28bde4794" /><Relationship Type="http://schemas.openxmlformats.org/officeDocument/2006/relationships/notesSlide" Target="/ppt/notesSlides/notesSlide21.xml" Id="R298da447070e436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394cc689134eef" /><Relationship Type="http://schemas.openxmlformats.org/officeDocument/2006/relationships/notesSlide" Target="/ppt/notesSlides/notesSlide22.xml" Id="R03f3aa3ee2fe4735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7d684a7c984532" /><Relationship Type="http://schemas.openxmlformats.org/officeDocument/2006/relationships/notesSlide" Target="/ppt/notesSlides/notesSlide23.xml" Id="R40c8771be45c45e9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2752f4534e4da1" /><Relationship Type="http://schemas.openxmlformats.org/officeDocument/2006/relationships/chart" Target="/ppt/slides/charts/chart21.xml" Id="R3f4aabb050e14ea0" /><Relationship Type="http://schemas.openxmlformats.org/officeDocument/2006/relationships/chart" Target="/ppt/slides/charts/chart22.xml" Id="R6b7d937cc61a4970" /><Relationship Type="http://schemas.openxmlformats.org/officeDocument/2006/relationships/chart" Target="/ppt/slides/charts/chart23.xml" Id="Re9d1abc8e001425e" /><Relationship Type="http://schemas.openxmlformats.org/officeDocument/2006/relationships/notesSlide" Target="/ppt/notesSlides/notesSlide24.xml" Id="R9b38e21edddb4bb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807515a33d46c8" /><Relationship Type="http://schemas.openxmlformats.org/officeDocument/2006/relationships/chart" Target="/ppt/slides/charts/chart24.xml" Id="R1040208e42d340bf" /><Relationship Type="http://schemas.openxmlformats.org/officeDocument/2006/relationships/chart" Target="/ppt/slides/charts/chart25.xml" Id="R69e05383099440f7" /><Relationship Type="http://schemas.openxmlformats.org/officeDocument/2006/relationships/chart" Target="/ppt/slides/charts/chart26.xml" Id="Rb0ff351f77d040e9" /><Relationship Type="http://schemas.openxmlformats.org/officeDocument/2006/relationships/chart" Target="/ppt/slides/charts/chart27.xml" Id="R87c6bd0bac104045" /><Relationship Type="http://schemas.openxmlformats.org/officeDocument/2006/relationships/notesSlide" Target="/ppt/notesSlides/notesSlide25.xml" Id="R4d107d4b27b24196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29ebd967964d83" /><Relationship Type="http://schemas.openxmlformats.org/officeDocument/2006/relationships/chart" Target="/ppt/slides/charts/chart28.xml" Id="R8032898937cd4347" /><Relationship Type="http://schemas.openxmlformats.org/officeDocument/2006/relationships/chart" Target="/ppt/slides/charts/chart29.xml" Id="R41b57303c2e44477" /><Relationship Type="http://schemas.openxmlformats.org/officeDocument/2006/relationships/chart" Target="/ppt/slides/charts/chart30.xml" Id="R6b269dfd856d473d" /><Relationship Type="http://schemas.openxmlformats.org/officeDocument/2006/relationships/chart" Target="/ppt/slides/charts/chart31.xml" Id="R8d8928e97523468f" /><Relationship Type="http://schemas.openxmlformats.org/officeDocument/2006/relationships/chart" Target="/ppt/slides/charts/chart32.xml" Id="Rf381e82b8a8b4118" /><Relationship Type="http://schemas.openxmlformats.org/officeDocument/2006/relationships/notesSlide" Target="/ppt/notesSlides/notesSlide26.xml" Id="R0c40cac53f3f49fb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8766430cf14470" /><Relationship Type="http://schemas.openxmlformats.org/officeDocument/2006/relationships/notesSlide" Target="/ppt/notesSlides/notesSlide27.xml" Id="Rc535ef9237e143e6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9558d098f04271" /><Relationship Type="http://schemas.openxmlformats.org/officeDocument/2006/relationships/notesSlide" Target="/ppt/notesSlides/notesSlide28.xml" Id="R52020a530cad43b0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a3ef25766249a0" /><Relationship Type="http://schemas.openxmlformats.org/officeDocument/2006/relationships/notesSlide" Target="/ppt/notesSlides/notesSlide29.xml" Id="R460b9345821c4bc2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2031c6323a4a3d" /><Relationship Type="http://schemas.openxmlformats.org/officeDocument/2006/relationships/notesSlide" Target="/ppt/notesSlides/notesSlide30.xml" Id="R1befa58c6b0546eb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630a9720314cc0" /><Relationship Type="http://schemas.openxmlformats.org/officeDocument/2006/relationships/notesSlide" Target="/ppt/notesSlides/notesSlide31.xml" Id="R83f4d326f44c412c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38b7b2ccb549a0" /><Relationship Type="http://schemas.openxmlformats.org/officeDocument/2006/relationships/notesSlide" Target="/ppt/notesSlides/notesSlide32.xml" Id="Rb364a8d7bb014cf7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ea201f9bb44800" /><Relationship Type="http://schemas.openxmlformats.org/officeDocument/2006/relationships/notesSlide" Target="/ppt/notesSlides/notesSlide33.xml" Id="Rfbf2dc80553e4c2b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e351144fed4026" /><Relationship Type="http://schemas.openxmlformats.org/officeDocument/2006/relationships/chart" Target="/ppt/slides/charts/chart33.xml" Id="Re6e293c0411b476b" /><Relationship Type="http://schemas.openxmlformats.org/officeDocument/2006/relationships/chart" Target="/ppt/slides/charts/chart34.xml" Id="R69e2e272add64d8e" /><Relationship Type="http://schemas.openxmlformats.org/officeDocument/2006/relationships/chart" Target="/ppt/slides/charts/chart35.xml" Id="R7a631feebbdf49b2" /><Relationship Type="http://schemas.openxmlformats.org/officeDocument/2006/relationships/chart" Target="/ppt/slides/charts/chart36.xml" Id="Reed86e5aaab54342" /><Relationship Type="http://schemas.openxmlformats.org/officeDocument/2006/relationships/chart" Target="/ppt/slides/charts/chart37.xml" Id="R4fd43df48c56492e" /><Relationship Type="http://schemas.openxmlformats.org/officeDocument/2006/relationships/chart" Target="/ppt/slides/charts/chart38.xml" Id="R945a44dbd922409d" /><Relationship Type="http://schemas.openxmlformats.org/officeDocument/2006/relationships/chart" Target="/ppt/slides/charts/chart39.xml" Id="R0c8fe5bcdef6413d" /><Relationship Type="http://schemas.openxmlformats.org/officeDocument/2006/relationships/notesSlide" Target="/ppt/notesSlides/notesSlide34.xml" Id="Refc1889d96c44575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74971a0ad74ec4" /><Relationship Type="http://schemas.openxmlformats.org/officeDocument/2006/relationships/chart" Target="/ppt/slides/charts/chart40.xml" Id="Re990aa5885fa40e3" /><Relationship Type="http://schemas.openxmlformats.org/officeDocument/2006/relationships/chart" Target="/ppt/slides/charts/chart41.xml" Id="Rbf76bd4b9db7433f" /><Relationship Type="http://schemas.openxmlformats.org/officeDocument/2006/relationships/notesSlide" Target="/ppt/notesSlides/notesSlide35.xml" Id="R20347fb8b09e44ce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5bac9085f34a9c" /><Relationship Type="http://schemas.openxmlformats.org/officeDocument/2006/relationships/chart" Target="/ppt/slides/charts/chart42.xml" Id="R1edc54ab1be94cbc" /><Relationship Type="http://schemas.openxmlformats.org/officeDocument/2006/relationships/chart" Target="/ppt/slides/charts/chart43.xml" Id="R6c3de0e8acd54a1d" /><Relationship Type="http://schemas.openxmlformats.org/officeDocument/2006/relationships/chart" Target="/ppt/slides/charts/chart44.xml" Id="R7e312d7d67464c10" /><Relationship Type="http://schemas.openxmlformats.org/officeDocument/2006/relationships/notesSlide" Target="/ppt/notesSlides/notesSlide36.xml" Id="R3c73f5b610c347f7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d05f55fda542d0" /><Relationship Type="http://schemas.openxmlformats.org/officeDocument/2006/relationships/chart" Target="/ppt/slides/charts/chart45.xml" Id="Rfff4a973fc574938" /><Relationship Type="http://schemas.openxmlformats.org/officeDocument/2006/relationships/chart" Target="/ppt/slides/charts/chart46.xml" Id="R6377681d9313460c" /><Relationship Type="http://schemas.openxmlformats.org/officeDocument/2006/relationships/chart" Target="/ppt/slides/charts/chart47.xml" Id="R4062c82fc64d4aa7" /><Relationship Type="http://schemas.openxmlformats.org/officeDocument/2006/relationships/chart" Target="/ppt/slides/charts/chart48.xml" Id="R4f0042f60bbe4922" /><Relationship Type="http://schemas.openxmlformats.org/officeDocument/2006/relationships/chart" Target="/ppt/slides/charts/chart49.xml" Id="R0480966f92284835" /><Relationship Type="http://schemas.openxmlformats.org/officeDocument/2006/relationships/notesSlide" Target="/ppt/notesSlides/notesSlide37.xml" Id="R109b8d5057e54432" 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 ex-FIC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0.0</c:formatCode>
              <c:ptCount val="12"/>
              <c:pt idx="0">
                <c:v>82.47394622656002</c:v>
              </c:pt>
              <c:pt idx="1">
                <c:v>91.06663976073</c:v>
              </c:pt>
              <c:pt idx="2">
                <c:v>110.17917421320999</c:v>
              </c:pt>
              <c:pt idx="3">
                <c:v>131.15934835309002</c:v>
              </c:pt>
              <c:pt idx="4">
                <c:v>227.71359379045998</c:v>
              </c:pt>
              <c:pt idx="5">
                <c:v>207.20204249441997</c:v>
              </c:pt>
              <c:pt idx="6">
                <c:v>296.00245013669</c:v>
              </c:pt>
              <c:pt idx="7">
                <c:v>361.4746705835</c:v>
              </c:pt>
              <c:pt idx="8">
                <c:v>452.33503972062</c:v>
              </c:pt>
              <c:pt idx="9">
                <c:v>651.4527427988997</c:v>
              </c:pt>
              <c:pt idx="10">
                <c:v>772.1084321980501</c:v>
              </c:pt>
              <c:pt idx="11">
                <c:v>821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7666.364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1506.688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70.69879439891001</c:v>
              </c:pt>
              <c:pt idx="1">
                <c:v>81.9073701812</c:v>
              </c:pt>
              <c:pt idx="2">
                <c:v>95.50993683035</c:v>
              </c:pt>
              <c:pt idx="3">
                <c:v>106.12068752539999</c:v>
              </c:pt>
              <c:pt idx="4">
                <c:v>182.14515826151</c:v>
              </c:pt>
              <c:pt idx="5">
                <c:v>159.9315713704</c:v>
              </c:pt>
              <c:pt idx="6">
                <c:v>250.01323870676</c:v>
              </c:pt>
              <c:pt idx="7">
                <c:v>304.88387968723</c:v>
              </c:pt>
              <c:pt idx="8">
                <c:v>387.79349892013</c:v>
              </c:pt>
              <c:pt idx="9">
                <c:v>549.88571619299</c:v>
              </c:pt>
              <c:pt idx="10">
                <c:v>641.3242789240101</c:v>
              </c:pt>
              <c:pt idx="11">
                <c:v>676.899410153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72.80420560108999</c:v>
              </c:pt>
              <c:pt idx="1">
                <c:v>91.8096298188</c:v>
              </c:pt>
              <c:pt idx="2">
                <c:v>113.15306316965</c:v>
              </c:pt>
              <c:pt idx="3">
                <c:v>121.5283124746</c:v>
              </c:pt>
              <c:pt idx="4">
                <c:v>128.42384173849</c:v>
              </c:pt>
              <c:pt idx="5">
                <c:v>127.91442862960001</c:v>
              </c:pt>
              <c:pt idx="6">
                <c:v>183.95476129323998</c:v>
              </c:pt>
              <c:pt idx="7">
                <c:v>261.47012031277</c:v>
              </c:pt>
              <c:pt idx="8">
                <c:v>334.01450107987</c:v>
              </c:pt>
              <c:pt idx="9">
                <c:v>444.74928380701</c:v>
              </c:pt>
              <c:pt idx="10">
                <c:v>452.05372107599</c:v>
              </c:pt>
              <c:pt idx="11">
                <c:v>496.839589847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3432.857</c:v>
              </c:pt>
            </c:numLit>
          </c:val>
        </c:ser>
        <c:gapWidth val="10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1200" b="0" lang="pt-BR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13779.648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securit.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Dív.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169.8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53.1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20.3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27.1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7.1</c:v>
              </c:pt>
            </c:numLit>
          </c:val>
        </c:ser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Multicedente/Multisacado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Recuperação / FIDCs NP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N/D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24.163748261490003</c:v>
              </c:pt>
              <c:pt idx="5">
                <c:v>25.154517560259997</c:v>
              </c:pt>
              <c:pt idx="6">
                <c:v>27.32144595605</c:v>
              </c:pt>
              <c:pt idx="7">
                <c:v>9.90241714442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336.68042868161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57.4323241591</c:v>
              </c:pt>
              <c:pt idx="5">
                <c:v>43.107876023699994</c:v>
              </c:pt>
              <c:pt idx="6">
                <c:v>27.72682732234</c:v>
              </c:pt>
              <c:pt idx="7">
                <c:v>25.98170017243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0.2494471437409106</c:v>
              </c:pt>
              <c:pt idx="1">
                <c:v>0.2285888458725266</c:v>
              </c:pt>
              <c:pt idx="2">
                <c:v>0.1143463392214675</c:v>
              </c:pt>
              <c:pt idx="3">
                <c:v>0.1072206964774502</c:v>
              </c:pt>
              <c:pt idx="4">
                <c:v>0.0534200230793848</c:v>
              </c:pt>
              <c:pt idx="5">
                <c:v>0.055610366987701</c:v>
              </c:pt>
              <c:pt idx="6">
                <c:v>0.0604009054282524</c:v>
              </c:pt>
              <c:pt idx="7">
                <c:v>0.0218917755090035</c:v>
              </c:pt>
              <c:pt idx="8">
                <c:v>0.0382554077792155</c:v>
              </c:pt>
              <c:pt idx="9">
                <c:v>0.0673297933793512</c:v>
              </c:pt>
              <c:pt idx="10">
                <c:v>0.0030171380679527</c:v>
              </c:pt>
              <c:pt idx="11">
                <c:v>0.0004715644567835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0.4099052662933455</c:v>
              </c:pt>
              <c:pt idx="1">
                <c:v>0.1439342092150771</c:v>
              </c:pt>
              <c:pt idx="2">
                <c:v>0.1208317337549265</c:v>
              </c:pt>
              <c:pt idx="3">
                <c:v>0.1042985894478563</c:v>
              </c:pt>
              <c:pt idx="4">
                <c:v>0.0699233163640305</c:v>
              </c:pt>
              <c:pt idx="5">
                <c:v>0.0524834350188661</c:v>
              </c:pt>
              <c:pt idx="6">
                <c:v>0.0337571523879141</c:v>
              </c:pt>
              <c:pt idx="7">
                <c:v>0.0316324764395653</c:v>
              </c:pt>
              <c:pt idx="8">
                <c:v>0.0147046046912176</c:v>
              </c:pt>
              <c:pt idx="9">
                <c:v>0.0134002418374053</c:v>
              </c:pt>
              <c:pt idx="10">
                <c:v>0.0050027929708808</c:v>
              </c:pt>
              <c:pt idx="11">
                <c:v>0.0001261815789142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  <c:dispBlanksAs val="gap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NÚMERO DE OFERTAS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</c:formatCode>
              <c:ptCount val="3"/>
              <c:pt idx="0">
                <c:v>1009</c:v>
              </c:pt>
              <c:pt idx="1">
                <c:v>1473</c:v>
              </c:pt>
              <c:pt idx="2">
                <c:v>771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 · R$ BI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0.0,,,</c:formatCode>
              <c:ptCount val="3"/>
              <c:pt idx="0">
                <c:v>95416726133.75</c:v>
              </c:pt>
              <c:pt idx="1">
                <c:v>116921319054.77</c:v>
              </c:pt>
              <c:pt idx="2">
                <c:v>65488118983.56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12</c:v>
              </c:pt>
              <c:pt idx="1">
                <c:v>22</c:v>
              </c:pt>
              <c:pt idx="2">
                <c:v>737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21</c:v>
              </c:pt>
              <c:pt idx="1">
                <c:v>50</c:v>
              </c:pt>
              <c:pt idx="2">
                <c:v>1399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26</c:v>
              </c:pt>
              <c:pt idx="1">
                <c:v>38</c:v>
              </c:pt>
              <c:pt idx="2">
                <c:v>945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"/>
        <c:majorTickMark val="none"/>
        <c:minorTickMark val="none"/>
        <c:spPr>
          <a:ln w="571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5854000000</c:v>
              </c:pt>
              <c:pt idx="1">
                <c:v>14299992000</c:v>
              </c:pt>
              <c:pt idx="2">
                <c:v>45334126983.56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10114776653</c:v>
              </c:pt>
              <c:pt idx="1">
                <c:v>18248092653.59</c:v>
              </c:pt>
              <c:pt idx="2">
                <c:v>87985449748.18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12379296999.96</c:v>
              </c:pt>
              <c:pt idx="1">
                <c:v>13696583000</c:v>
              </c:pt>
              <c:pt idx="2">
                <c:v>69340846133.79001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.0,,,"/>
        <c:majorTickMark val="none"/>
        <c:minorTickMark val="none"/>
        <c:spPr>
          <a:ln w="571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Bradesco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27.05634936661</c:v>
              </c:pt>
              <c:pt idx="1">
                <c:v>49.77770817222</c:v>
              </c:pt>
              <c:pt idx="2">
                <c:v>56.87136007691</c:v>
              </c:pt>
              <c:pt idx="3">
                <c:v>107.91817098489999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21.00943573536</c:v>
              </c:pt>
              <c:pt idx="1">
                <c:v>21.26060727013</c:v>
              </c:pt>
              <c:pt idx="2">
                <c:v>22.30772786867</c:v>
              </c:pt>
              <c:pt idx="3">
                <c:v>56.87136007691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18.57363252764</c:v>
              </c:pt>
              <c:pt idx="1">
                <c:v>26.87573463003</c:v>
              </c:pt>
              <c:pt idx="2">
                <c:v>35.02222544035998</c:v>
              </c:pt>
              <c:pt idx="3">
                <c:v>39.85656848075</c:v>
              </c:pt>
              <c:pt idx="4">
                <c:v>78.74983410723001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A7ACB0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Solis Investimentos</c:v>
              </c:pt>
              <c:pt idx="2">
                <c:v>Integral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14.32953247391</c:v>
              </c:pt>
              <c:pt idx="2">
                <c:v>14.931875223759999</c:v>
              </c:pt>
              <c:pt idx="3">
                <c:v>21.696113631950002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20.405586732159996</c:v>
              </c:pt>
              <c:pt idx="1">
                <c:v>55.81924378400999</c:v>
              </c:pt>
              <c:pt idx="2">
                <c:v>71.90092760434999</c:v>
              </c:pt>
              <c:pt idx="3">
                <c:v>107.26541902169001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21.26374598682</c:v>
              </c:pt>
              <c:pt idx="1">
                <c:v>22.30772786867</c:v>
              </c:pt>
              <c:pt idx="2">
                <c:v>25.04054022159</c:v>
              </c:pt>
              <c:pt idx="3">
                <c:v>71.90092760434999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0.7168643095519629</c:v>
              </c:pt>
              <c:pt idx="1">
                <c:v>0.35810685850247875</c:v>
              </c:pt>
              <c:pt idx="2">
                <c:v>0.7169086306781982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0.7150145774372395</c:v>
              </c:pt>
              <c:pt idx="1">
                <c:v>0.3890568914241183</c:v>
              </c:pt>
              <c:pt idx="2">
                <c:v>0.7349339570479368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0.497141395134468</c:v>
              </c:pt>
              <c:pt idx="1">
                <c:v>0.23645038550679134</c:v>
              </c:pt>
              <c:pt idx="2">
                <c:v>0.5170349888512263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0.5306014675789608</c:v>
              </c:pt>
              <c:pt idx="1">
                <c:v>0.2813769971812452</c:v>
              </c:pt>
              <c:pt idx="2">
                <c:v>0.5548653859259784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>​​</c:v>
              </c:pt>
              <c:pt idx="2">
                <c:v>​​​</c:v>
              </c:pt>
              <c:pt idx="3">
                <c:v>2018</c:v>
              </c:pt>
              <c:pt idx="4">
                <c:v>​​​​​</c:v>
              </c:pt>
              <c:pt idx="5">
                <c:v>​​​​​​</c:v>
              </c:pt>
              <c:pt idx="6">
                <c:v>2021</c:v>
              </c:pt>
              <c:pt idx="7">
                <c:v>​​​​​​​​</c:v>
              </c:pt>
              <c:pt idx="8">
                <c:v>​​​​​​​​​</c:v>
              </c:pt>
              <c:pt idx="9">
                <c:v>2024</c:v>
              </c:pt>
              <c:pt idx="10">
                <c:v>​​​​​​​​​​​</c:v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slide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151515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7" name="">
            <a:extLst>
              <a:ext uri="{FF2B5EF4-FFF2-40B4-BE49-F238E27FC236}">
                <ns2:creationId id="{36D462E7-36DE-417F-B37F-CC96F5355F7A}"/>
              </a:ext>
            </a:extLst>
          </ns0:cNvPr>
          <ns0:cNvSpPr>
            <a:spLocks noGrp="1"/>
          </ns0:cNvSpPr>
          <ns0:nvPr/>
        </ns0:nvSpPr>
        <ns0:spPr>
          <a:xfrm>
            <a:off x="571500" y="1000125"/>
            <a:ext cx="838200" cy="4762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AB85E988-D5BF-4666-8E10-FCAE521B6068}"/>
              </a:ext>
            </a:extLst>
          </ns0:cNvPr>
          <ns0:cNvSpPr>
            <a:spLocks noGrp="1"/>
          </ns0:cNvSpPr>
          <ns0:nvPr/>
        </ns0:nvSpPr>
        <ns0:spPr>
          <a:xfrm>
            <a:off x="571500" y="1409700"/>
            <a:ext cx="8572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 — ago-26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9006169-60D2-4CA5-A7EF-82217610CA3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0"/>
            <a:ext cx="11049000" cy="9525"/>
          </a:xfrm>
          <a:prstGeom prst="rect">
            <a:avLst/>
          </a:prstGeom>
          <a:solidFill>
            <a:srgbClr val="4B4F53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4896CB5-A5BA-44FB-90B0-4580C7182161}"/>
              </a:ext>
            </a:extLst>
          </ns0:cNvPr>
          <ns0:cNvSpPr>
            <a:spLocks noGrp="1"/>
          </ns0:cNvSpPr>
          <ns0:nvPr/>
        </ns0:nvSpPr>
        <ns0:spPr>
          <a:xfrm>
            <a:off x="571500" y="528637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referência: jun-26 · fechamento em 30 de junho de 2026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49F7B9DF-7B98-46DD-BEEC-0431AD6BE6DE}"/>
              </a:ext>
            </a:extLst>
          </ns0:cNvPr>
          <ns0:cNvSpPr>
            <a:spLocks noGrp="1"/>
          </ns0:cNvSpPr>
          <ns0:nvPr/>
        </ns0:nvSpPr>
        <ns0:spPr>
          <a:xfrm>
            <a:off x="571500" y="561022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e comparativo ANBIMA até 30 de junho de 2026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E8B77E0-8553-41DC-8958-9636D217F0AB}"/>
              </a:ext>
            </a:extLst>
          </ns0:cNvPr>
          <ns0:cNvSpPr>
            <a:spLocks noGrp="1"/>
          </ns0:cNvSpPr>
          <ns0:nvPr/>
        </ns0:nvSpPr>
        <ns0:spPr>
          <a:xfrm>
            <a:off x="571500" y="6257925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Agosto de 2026</a:t>
            </a:r>
          </a:p>
        </ns0:txBody>
      </ns0:sp>
    </ns0:spTree>
    <ns0:extLst>
      <ns0:ext uri="{BB962C8B-B14F-4D97-AF65-F5344CB8AC3E}">
        <ns3:creationId val="797331275"/>
      </ns0:ext>
    </ns0:extLst>
  </ns0:cSld>
</ns0:sld>
</file>

<file path=ppt/slides/slide2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08B1F3FF-F5AD-4BE4-A4F4-533A539C7FF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669E0C1-60E2-4155-AE32-8ADDB4092CEB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ex-FIC somam R$ 821,0 bi; o crédito privado ampliado totaliza R$ 13,780 tri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85EAB70-3DBA-453B-84D8-C0774DA97E7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06C0DCA-BFCA-4061-905E-6EB44330CB1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AEE5BEF7-90EA-4DDE-80AE-1652C9F60B7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jun/26).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1C7A7B8-D4A9-4013-A902-E184AF70466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9B240E2-0290-432C-89F6-770A4D77D00A}"/>
              </a:ext>
            </a:extLst>
          </ns0:cNvPr>
          <ns0:cNvSpPr>
            <a:spLocks noGrp="1"/>
          </ns0:cNvSpPr>
          <ns0:nvPr/>
        </ns0:nvSpPr>
        <ns0:spPr>
          <a:xfrm>
            <a:off x="571500" y="1266825"/>
            <a:ext cx="5191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3A1E480-6DF7-4205-B44C-58881B26FFFB}"/>
              </a:ext>
            </a:extLst>
          </ns0:cNvPr>
          <ns0:cNvSpPr>
            <a:spLocks noGrp="1"/>
          </ns0:cNvSpPr>
          <ns0:nvPr/>
        </ns0:nvSpPr>
        <ns0:spPr>
          <a:xfrm>
            <a:off x="571500" y="1533525"/>
            <a:ext cx="5191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23875" y="1571625"/>
          <a:ext cx="5286375" cy="3143250"/>
        </ns0:xfrm>
        <a:graphic>
          <a:graphicData uri="http://schemas.openxmlformats.org/drawingml/2006/chart">
            <c:chart ns4:id="R47c923632c6a4e44"/>
          </a:graphicData>
        </a:graphic>
      </ns0:graphicFrame>
      <ns0:sp>
        <ns0:nvSpPr>
          <ns0:cNvPr id="10" name="">
            <a:extLst>
              <a:ext uri="{FF2B5EF4-FFF2-40B4-BE49-F238E27FC236}">
                <ns2:creationId id="{99B78729-AA84-4D61-8426-4C8F476CC53A}"/>
              </a:ext>
            </a:extLst>
          </ns0:cNvPr>
          <ns0:cNvSpPr>
            <a:spLocks noGrp="1"/>
          </ns0:cNvSpPr>
          <ns0:nvPr/>
        </ns0:nvSpPr>
        <ns0:spPr>
          <a:xfrm>
            <a:off x="571500" y="5067300"/>
            <a:ext cx="523875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375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2020/19 -9,0%   ·   2022/21 +22,1%   ·   2023/22 +25,1%   ·   2024/23 +44,0%   ·   2025/24 +18,5%   ·   2026 YTD +6,4%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F234B018-D6AC-4978-B2D4-BEA7F022CA5B}"/>
              </a:ext>
            </a:extLst>
          </ns0:cNvPr>
          <ns0:cNvSpPr>
            <a:spLocks noGrp="1"/>
          </ns0:cNvSpPr>
          <ns0:nvPr/>
        </ns0:nvSpPr>
        <ns0:spPr>
          <a:xfrm>
            <a:off x="6143625" y="1266825"/>
            <a:ext cx="5476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C5A2E3C2-4CE3-42E0-9E2A-287F6C2763F7}"/>
              </a:ext>
            </a:extLst>
          </ns0:cNvPr>
          <ns0:cNvSpPr>
            <a:spLocks noGrp="1"/>
          </ns0:cNvSpPr>
          <ns0:nvPr/>
        </ns0:nvSpPr>
        <ns0:spPr>
          <a:xfrm>
            <a:off x="6143625" y="1533525"/>
            <a:ext cx="5476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Chart"/>
          <ns0:cNvGraphicFramePr/>
          <ns0:nvPr/>
        </ns0:nvGraphicFramePr>
        <ns0:xfrm>
          <a:off x="6048375" y="1571625"/>
          <a:ext cx="5572125" cy="3381375"/>
        </ns0:xfrm>
        <a:graphic>
          <a:graphicData uri="http://schemas.openxmlformats.org/drawingml/2006/chart">
            <c:chart ns4:id="R32f07ea24bf24f16"/>
          </a:graphicData>
        </a:graphic>
      </ns0:graphicFrame>
      <ns0:graphicFrame>
        <ns0:nvGraphicFramePr>
          <ns0:cNvPr id="31" name="Chart"/>
          <ns0:cNvGraphicFramePr/>
          <ns0:nvPr/>
        </ns0:nvGraphicFramePr>
        <ns0:xfrm>
          <a:off x="6096000" y="4914900"/>
          <a:ext cx="5524500" cy="190500"/>
        </ns0:xfrm>
        <a:graphic>
          <a:graphicData uri="http://schemas.openxmlformats.org/drawingml/2006/chart">
            <c:chart ns4:id="R80181d42fc244af4"/>
          </a:graphicData>
        </a:graphic>
      </ns0:graphicFrame>
      <ns0:sp>
        <ns0:nvSpPr>
          <ns0:cNvPr id="15" name="">
            <a:extLst>
              <a:ext uri="{FF2B5EF4-FFF2-40B4-BE49-F238E27FC236}">
                <ns2:creationId id="{D4288C42-4D94-424F-9D53-766F74082013}"/>
              </a:ext>
            </a:extLst>
          </ns0:cNvPr>
          <ns0:cNvSpPr>
            <a:spLocks noGrp="1"/>
          </ns0:cNvSpPr>
          <ns0:nvPr/>
        </ns0:nvSpPr>
        <ns0:spPr>
          <a:xfrm>
            <a:off x="6096000" y="5153025"/>
            <a:ext cx="5524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+3,1%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D567AE50-70A1-4112-B7D8-84FF0983AC9A}"/>
              </a:ext>
            </a:extLst>
          </ns0:cNvPr>
          <ns0:cNvSpPr>
            <a:spLocks noGrp="1"/>
          </ns0:cNvSpPr>
          <ns0:nvPr/>
        </ns0:nvSpPr>
        <ns0:spPr>
          <a:xfrm>
            <a:off x="6096000" y="5543550"/>
            <a:ext cx="55245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995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Jun/26: total privado R$ 13,780 tri; securitização R$ 1.174 bi; carteira FIDC R$ 677 bi. O total BCB de R$ 21,681 tri inclui R$ 7.901 bi de títulos públicos e permanece no export para reconciliação.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1CACEEE6-9E9D-4F1D-BF97-A1D074CB001B}"/>
              </a:ext>
            </a:extLst>
          </ns0:cNvPr>
          <ns0:cNvSpPr>
            <a:spLocks noGrp="1"/>
          </ns0:cNvSpPr>
          <ns0:nvPr/>
        </ns0:nvSpPr>
        <ns0:spPr>
          <a:xfrm>
            <a:off x="571500" y="60198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327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direto e carteira privada têm perímetros contábeis distintos.</a:t>
            </a:r>
          </a:p>
        </ns0:txBody>
      </ns0:sp>
    </ns0:spTree>
    <ns0:extLst>
      <ns0:ext uri="{BB962C8B-B14F-4D97-AF65-F5344CB8AC3E}">
        <ns5:creationId val="1987527935"/>
      </ns0:ext>
    </ns0:extLst>
  </ns0:cSld>
</ns0:sld>
</file>

<file path=ppt/slides/slide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DEE8A0F5-6D5B-4F29-A576-2618C411439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FIDCs seguem ganhando escala nas emissões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9753D6B-B2E6-4ABA-847E-2C3A76AB418D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No 1S26, FIDCs +14,6%; demais instrumentos −7,8%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8DFC941-F079-4325-B17D-67366D0912CE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5582B9D-344B-413D-B7A5-7B36780F8209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6E7A8BC-8CC1-477F-9BCE-EDC3C78BEB9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CVM/SRE: R$ 65,5 bi registrado primário; ANBIMA: R$ 53,1 bi encerrado. Perímetros distintos; jan–jun/26, snapshot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9CA0622-AAAA-4482-BD89-353DDA70392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BFB9096-51F8-4BCF-B8C9-FD82911192E1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C9AF2FE-F662-45D6-9623-552CD3EA5CF3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524000"/>
          <a:ext cx="5238750" cy="2333625"/>
        </ns0:xfrm>
        <a:graphic>
          <a:graphicData uri="http://schemas.openxmlformats.org/drawingml/2006/chart">
            <c:chart ns4:id="R6cf8fee65f7b45df"/>
          </a:graphicData>
        </a:graphic>
      </ns0:graphicFrame>
      <ns0:sp>
        <ns0:nvSpPr>
          <ns0:cNvPr id="10" name="">
            <a:extLst>
              <a:ext uri="{FF2B5EF4-FFF2-40B4-BE49-F238E27FC236}">
                <ns2:creationId id="{C9D25B67-440D-4926-8E31-071CA8F8F41C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5395C79-C860-483E-A536-F048F31A201A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524000"/>
          <a:ext cx="5238750" cy="2333625"/>
        </ns0:xfrm>
        <a:graphic>
          <a:graphicData uri="http://schemas.openxmlformats.org/drawingml/2006/chart">
            <c:chart ns4:id="R4fa475a9eee74c27"/>
          </a:graphicData>
        </a:graphic>
      </ns0:graphicFrame>
      <ns0:sp>
        <ns0:nvSpPr>
          <ns0:cNvPr id="13" name="">
            <a:extLst>
              <a:ext uri="{FF2B5EF4-FFF2-40B4-BE49-F238E27FC236}">
                <ns2:creationId id="{5683B30F-2DAA-4942-8290-BA087C5EF873}"/>
              </a:ext>
            </a:extLst>
          </ns0:cNvPr>
          <ns0:cNvSpPr>
            <a:spLocks noGrp="1"/>
          </ns0:cNvSpPr>
          <ns0:nvPr/>
        </ns0:nvSpPr>
        <ns0:spPr>
          <a:xfrm>
            <a:off x="2857500" y="4048125"/>
            <a:ext cx="6477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Crescimento por instrumento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FFC0B23E-C9D7-4740-88EE-8685D1EEE134}"/>
              </a:ext>
            </a:extLst>
          </ns0:cNvPr>
          <ns0:cNvSpPr>
            <a:spLocks noGrp="1"/>
          </ns0:cNvSpPr>
          <ns0:nvPr/>
        </ns0:nvSpPr>
        <ns0:spPr>
          <a:xfrm>
            <a:off x="2857500" y="4276725"/>
            <a:ext cx="6477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"/>
          <ns0:cNvGraphicFramePr/>
          <ns0:nvPr/>
        </ns0:nvGraphicFramePr>
        <ns0:xfrm>
          <a:off x="2857500" y="4286250"/>
          <a:ext cx="6477000" cy="1743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429000"/>
                <a:gridCol w="1524000"/>
                <a:gridCol w="1524000"/>
              </a:tblGrid>
              <a:tr h="2000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Emissões por instrumento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 YoY 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YTD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+22,5%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Demais Instr.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+4,4%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Debêntures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-5,8%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-18,4%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Notas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+17,1%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5:creationId val="1255821605"/>
      </ns0:ext>
    </ns0:extLst>
  </ns0:cSld>
</ns0:sld>
</file>

<file path=ppt/slides/slide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3" name="">
            <a:extLst>
              <a:ext uri="{FF2B5EF4-FFF2-40B4-BE49-F238E27FC236}">
                <ns2:creationId id="{A2F9ED79-A1A6-49CC-80C9-CDE80E18F960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SALDO E TIPOS DE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355872D-45F7-4ACD-8146-6636FF766E45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Saldo e Tipos de FIDCs | Financeiros dominam saldo e novas emissões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67CCF81-FE6F-499D-BD5E-072117CEE1C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EB3729A-8009-4B6E-BFF9-38A84E26FCE9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41B9208-2305-4C46-BFCB-B166BAFF00C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(jun/26) e CVM/SRE, ofertas encerradas jan–jun/26. Outros emitidos: R$ 5,8 bi (9,2%).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2D8F262-ED45-402C-B914-828A205E6A4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5E7D185-312A-4A66-B912-F19166C333F6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Saldo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8A68FD6B-416C-442A-A060-61A3E3E1812A}"/>
              </a:ext>
            </a:extLst>
          </ns0:cNvPr>
          <ns0:cNvSpPr>
            <a:spLocks noGrp="1"/>
          </ns0:cNvSpPr>
          <ns0:nvPr/>
        </ns0:nvSpPr>
        <ns0:spPr>
          <a:xfrm>
            <a:off x="57150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1" name="Chart"/>
          <ns0:cNvGraphicFramePr/>
          <ns0:nvPr/>
        </ns0:nvGraphicFramePr>
        <ns0:xfrm>
          <a:off x="571500" y="1495425"/>
          <a:ext cx="5238750" cy="1952625"/>
        </ns0:xfrm>
        <a:graphic>
          <a:graphicData uri="http://schemas.openxmlformats.org/drawingml/2006/chart">
            <c:chart ns4:id="R59ed08c2b0f04e6b"/>
          </a:graphicData>
        </a:graphic>
      </ns0:graphicFrame>
      <ns0:sp>
        <ns0:nvSpPr>
          <ns0:cNvPr id="10" name="">
            <a:extLst>
              <a:ext uri="{FF2B5EF4-FFF2-40B4-BE49-F238E27FC236}">
                <ns2:creationId id="{980064B3-5D88-4071-8717-459E63E11067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saldo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5EB4EB0F-302D-4C31-82EB-32A34C0123BA}"/>
              </a:ext>
            </a:extLst>
          </ns0:cNvPr>
          <ns0:cNvSpPr>
            <a:spLocks noGrp="1"/>
          </ns0:cNvSpPr>
          <ns0:nvPr/>
        </ns0:nvSpPr>
        <ns0:spPr>
          <a:xfrm>
            <a:off x="638175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4" name="Chart"/>
          <ns0:cNvGraphicFramePr/>
          <ns0:nvPr/>
        </ns0:nvGraphicFramePr>
        <ns0:xfrm>
          <a:off x="6381750" y="1495425"/>
          <a:ext cx="5238750" cy="1952625"/>
        </ns0:xfrm>
        <a:graphic>
          <a:graphicData uri="http://schemas.openxmlformats.org/drawingml/2006/chart">
            <c:chart ns4:id="Rdb3169d1276e4200"/>
          </a:graphicData>
        </a:graphic>
      </ns0:graphicFrame>
      <ns0:sp>
        <ns0:nvSpPr>
          <ns0:cNvPr id="13" name="">
            <a:extLst>
              <a:ext uri="{FF2B5EF4-FFF2-40B4-BE49-F238E27FC236}">
                <ns2:creationId id="{9FDE4E38-0E8A-4677-BDFD-7717631D107D}"/>
              </a:ext>
            </a:extLst>
          </ns0:cNvPr>
          <ns0:cNvSpPr>
            <a:spLocks noGrp="1"/>
          </ns0:cNvSpPr>
          <ns0:nvPr/>
        </ns0:nvSpPr>
        <ns0:spPr>
          <a:xfrm>
            <a:off x="762000" y="3509963"/>
            <a:ext cx="66675" cy="66675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6312CC62-EFCE-42F3-981F-4837D4291C23}"/>
              </a:ext>
            </a:extLst>
          </ns0:cNvPr>
          <ns0:cNvSpPr>
            <a:spLocks noGrp="1"/>
          </ns0:cNvSpPr>
          <ns0:nvPr/>
        </ns0:nvSpPr>
        <ns0:spPr>
          <a:xfrm>
            <a:off x="876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CE47567A-FC9E-4346-BB67-AF723E241A6C}"/>
              </a:ext>
            </a:extLst>
          </ns0:cNvPr>
          <ns0:cNvSpPr>
            <a:spLocks noGrp="1"/>
          </ns0:cNvSpPr>
          <ns0:nvPr/>
        </ns0:nvSpPr>
        <ns0:spPr>
          <a:xfrm>
            <a:off x="3429000" y="3509963"/>
            <a:ext cx="66675" cy="66675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48D1925A-5699-462F-984F-6350E201542F}"/>
              </a:ext>
            </a:extLst>
          </ns0:cNvPr>
          <ns0:cNvSpPr>
            <a:spLocks noGrp="1"/>
          </ns0:cNvSpPr>
          <ns0:nvPr/>
        </ns0:nvSpPr>
        <ns0:spPr>
          <a:xfrm>
            <a:off x="3543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C5774D7E-376D-413F-9733-669177C16AF8}"/>
              </a:ext>
            </a:extLst>
          </ns0:cNvPr>
          <ns0:cNvSpPr>
            <a:spLocks noGrp="1"/>
          </ns0:cNvSpPr>
          <ns0:nvPr/>
        </ns0:nvSpPr>
        <ns0:spPr>
          <a:xfrm>
            <a:off x="6096000" y="3509963"/>
            <a:ext cx="66675" cy="6667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426EC25F-8329-4094-BFBF-0AD823379B22}"/>
              </a:ext>
            </a:extLst>
          </ns0:cNvPr>
          <ns0:cNvSpPr>
            <a:spLocks noGrp="1"/>
          </ns0:cNvSpPr>
          <ns0:nvPr/>
        </ns0:nvSpPr>
        <ns0:spPr>
          <a:xfrm>
            <a:off x="6210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B3521E2B-E561-41FD-9E77-F9053BDC7FEE}"/>
              </a:ext>
            </a:extLst>
          </ns0:cNvPr>
          <ns0:cNvSpPr>
            <a:spLocks noGrp="1"/>
          </ns0:cNvSpPr>
          <ns0:nvPr/>
        </ns0:nvSpPr>
        <ns0:spPr>
          <a:xfrm>
            <a:off x="8763000" y="3509963"/>
            <a:ext cx="66675" cy="66675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8D4B66E5-FD88-46AC-986B-97ADF1177BB6}"/>
              </a:ext>
            </a:extLst>
          </ns0:cNvPr>
          <ns0:cNvSpPr>
            <a:spLocks noGrp="1"/>
          </ns0:cNvSpPr>
          <ns0:nvPr/>
        </ns0:nvSpPr>
        <ns0:spPr>
          <a:xfrm>
            <a:off x="8877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Precatórios / ações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C7E22AFA-EBE2-445C-A7AB-9047926E4107}"/>
              </a:ext>
            </a:extLst>
          </ns0:cNvPr>
          <ns0:cNvSpPr>
            <a:spLocks noGrp="1"/>
          </ns0:cNvSpPr>
          <ns0:nvPr/>
        </ns0:nvSpPr>
        <ns0:spPr>
          <a:xfrm>
            <a:off x="762000" y="3643313"/>
            <a:ext cx="66675" cy="66675"/>
          </a:xfrm>
          <a:prstGeom prst="rect">
            <a:avLst/>
          </a:prstGeom>
          <a:solidFill>
            <a:srgbClr val="8D9399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541B970F-55F1-4BEE-9C47-A0F4D381079A}"/>
              </a:ext>
            </a:extLst>
          </ns0:cNvPr>
          <ns0:cNvSpPr>
            <a:spLocks noGrp="1"/>
          </ns0:cNvSpPr>
          <ns0:nvPr/>
        </ns0:nvSpPr>
        <ns0:spPr>
          <a:xfrm>
            <a:off x="876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Multicedente / multisacado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6C9BAF82-903B-4DD5-8D47-58D3A7017229}"/>
              </a:ext>
            </a:extLst>
          </ns0:cNvPr>
          <ns0:cNvSpPr>
            <a:spLocks noGrp="1"/>
          </ns0:cNvSpPr>
          <ns0:nvPr/>
        </ns0:nvSpPr>
        <ns0:spPr>
          <a:xfrm>
            <a:off x="3429000" y="3643313"/>
            <a:ext cx="66675" cy="66675"/>
          </a:xfrm>
          <a:prstGeom prst="rect">
            <a:avLst/>
          </a:prstGeom>
          <a:solidFill>
            <a:srgbClr val="E7E9EB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F3E2D41A-7449-406F-B485-5E1C9590DA05}"/>
              </a:ext>
            </a:extLst>
          </ns0:cNvPr>
          <ns0:cNvSpPr>
            <a:spLocks noGrp="1"/>
          </ns0:cNvSpPr>
          <ns0:nvPr/>
        </ns0:nvSpPr>
        <ns0:spPr>
          <a:xfrm>
            <a:off x="3543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Recuperação / NP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8DE7A69C-A8EF-4CAB-9457-9B3877D197F0}"/>
              </a:ext>
            </a:extLst>
          </ns0:cNvPr>
          <ns0:cNvSpPr>
            <a:spLocks noGrp="1"/>
          </ns0:cNvSpPr>
          <ns0:nvPr/>
        </ns0:nvSpPr>
        <ns0:spPr>
          <a:xfrm>
            <a:off x="6096000" y="3643313"/>
            <a:ext cx="66675" cy="6667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259B6F06-7160-4309-8615-FBC28CDD8C00}"/>
              </a:ext>
            </a:extLst>
          </ns0:cNvPr>
          <ns0:cNvSpPr>
            <a:spLocks noGrp="1"/>
          </ns0:cNvSpPr>
          <ns0:nvPr/>
        </ns0:nvSpPr>
        <ns0:spPr>
          <a:xfrm>
            <a:off x="6210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N/D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4862174A-BAD3-4B7B-AE7C-805690ADAD87}"/>
              </a:ext>
            </a:extLst>
          </ns0:cNvPr>
          <ns0:cNvSpPr>
            <a:spLocks noGrp="1"/>
          </ns0:cNvSpPr>
          <ns0:nvPr/>
        </ns0:nvSpPr>
        <ns0:spPr>
          <a:xfrm>
            <a:off x="57150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R$ bi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F23EE52D-4B18-40CA-8814-BE7C915CD00A}"/>
              </a:ext>
            </a:extLst>
          </ns0:cNvPr>
          <ns0:cNvSpPr>
            <a:spLocks noGrp="1"/>
          </ns0:cNvSpPr>
          <ns0:nvPr/>
        </ns0:nvSpPr>
        <ns0:spPr>
          <a:xfrm>
            <a:off x="57150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1" name="Chart"/>
          <ns0:cNvGraphicFramePr/>
          <ns0:nvPr/>
        </ns0:nvGraphicFramePr>
        <ns0:xfrm>
          <a:off x="571500" y="4067175"/>
          <a:ext cx="5238750" cy="1809750"/>
        </ns0:xfrm>
        <a:graphic>
          <a:graphicData uri="http://schemas.openxmlformats.org/drawingml/2006/chart">
            <c:chart ns4:id="R9f5068e342ae46d3"/>
          </a:graphicData>
        </a:graphic>
      </ns0:graphicFrame>
      <ns0:sp>
        <ns0:nvSpPr>
          <ns0:cNvPr id="30" name="">
            <a:extLst>
              <a:ext uri="{FF2B5EF4-FFF2-40B4-BE49-F238E27FC236}">
                <ns2:creationId id="{2DCC7CBE-3878-41C0-AA5B-43DC1DEE9F5E}"/>
              </a:ext>
            </a:extLst>
          </ns0:cNvPr>
          <ns0:cNvSpPr>
            <a:spLocks noGrp="1"/>
          </ns0:cNvSpPr>
          <ns0:nvPr/>
        </ns0:nvSpPr>
        <ns0:spPr>
          <a:xfrm>
            <a:off x="638175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%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E6FE51B1-E851-4E9B-9C6D-50803707DCC2}"/>
              </a:ext>
            </a:extLst>
          </ns0:cNvPr>
          <ns0:cNvSpPr>
            <a:spLocks noGrp="1"/>
          </ns0:cNvSpPr>
          <ns0:nvPr/>
        </ns0:nvSpPr>
        <ns0:spPr>
          <a:xfrm>
            <a:off x="638175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4" name="Chart"/>
          <ns0:cNvGraphicFramePr/>
          <ns0:nvPr/>
        </ns0:nvGraphicFramePr>
        <ns0:xfrm>
          <a:off x="6381750" y="4067175"/>
          <a:ext cx="5238750" cy="1809750"/>
        </ns0:xfrm>
        <a:graphic>
          <a:graphicData uri="http://schemas.openxmlformats.org/drawingml/2006/chart">
            <c:chart ns4:id="R3be7ec4e74684946"/>
          </a:graphicData>
        </a:graphic>
      </ns0:graphicFrame>
    </ns0:spTree>
    <ns0:extLst>
      <ns0:ext uri="{BB962C8B-B14F-4D97-AF65-F5344CB8AC3E}">
        <ns5:creationId val="410054985"/>
      </ns0:ext>
    </ns0:extLst>
  </ns0:cSld>
</ns0:sld>
</file>

<file path=ppt/slides/slide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20AAD504-6381-4949-8383-42E0B155C11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E7404A1-7DC6-45B9-97D5-FA05E265A2B2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por setor | Financeiro respondeu por 64,4% do volume no 1S26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E393AF8-7DAD-4307-A56C-2D686EE94AF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6ABB066-5FD3-460D-99CA-778CC2FD43E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38DF131-83B6-4119-AA78-573D0A502DF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CVM/SRE; FIDCs 2023 corrigidos pelo valor encerrado ANBIMA. Quatro tipos + FIC-FIDC reconciliam com o volume emitido.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EEB710B-2AA2-45C1-82FD-BF93C1448DF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4858D0E-584E-4C13-AE49-C7F670151601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7E749653-8032-4450-A571-7DC18ED9EC8B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71500" y="1562100"/>
          <a:ext cx="5238750" cy="1857375"/>
        </ns0:xfrm>
        <a:graphic>
          <a:graphicData uri="http://schemas.openxmlformats.org/drawingml/2006/chart">
            <c:chart ns4:id="R906373471dd5425f"/>
          </a:graphicData>
        </a:graphic>
      </ns0:graphicFrame>
      <ns0:sp>
        <ns0:nvSpPr>
          <ns0:cNvPr id="10" name="">
            <a:extLst>
              <a:ext uri="{FF2B5EF4-FFF2-40B4-BE49-F238E27FC236}">
                <ns2:creationId id="{57AB4763-2D3D-4AEB-8730-F8DC14A17479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% do total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BDDC4AD7-FB04-4D43-B5D1-731151D96D1B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6381750" y="1562100"/>
          <a:ext cx="5238750" cy="1857375"/>
        </ns0:xfrm>
        <a:graphic>
          <a:graphicData uri="http://schemas.openxmlformats.org/drawingml/2006/chart">
            <c:chart ns4:id="R2713c6167988448f"/>
          </a:graphicData>
        </a:graphic>
      </ns0:graphicFrame>
      <ns0:sp>
        <ns0:nvSpPr>
          <ns0:cNvPr id="13" name="">
            <a:extLst>
              <a:ext uri="{FF2B5EF4-FFF2-40B4-BE49-F238E27FC236}">
                <ns2:creationId id="{98418CEB-310A-4B23-83A0-34AF8BD76764}"/>
              </a:ext>
            </a:extLst>
          </ns0:cNvPr>
          <ns0:cNvSpPr>
            <a:spLocks noGrp="1"/>
          </ns0:cNvSpPr>
          <ns0:nvPr/>
        </ns0:nvSpPr>
        <ns0:spPr>
          <a:xfrm>
            <a:off x="571500" y="356235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F1AA692C-65FE-4BB6-96CA-57BCAE58417C}"/>
              </a:ext>
            </a:extLst>
          </ns0:cNvPr>
          <ns0:cNvSpPr>
            <a:spLocks noGrp="1"/>
          </ns0:cNvSpPr>
          <ns0:nvPr/>
        </ns0:nvSpPr>
        <ns0:spPr>
          <a:xfrm>
            <a:off x="571500" y="377190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"/>
          <ns0:cNvGraphicFramePr/>
          <ns0:nvPr/>
        </ns0:nvGraphicFramePr>
        <ns0:xfrm>
          <a:off x="571500" y="3810000"/>
          <a:ext cx="11049000" cy="2038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190750"/>
                <a:gridCol w="1000125"/>
                <a:gridCol w="1000125"/>
                <a:gridCol w="1000125"/>
                <a:gridCol w="1000125"/>
                <a:gridCol w="1000125"/>
                <a:gridCol w="1524000"/>
                <a:gridCol w="2333625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+40,5%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+87,0%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-21,6%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emitido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95,4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116,9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6D8D3AE5-3925-4200-B177-4787FA252E7C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11049000" cy="34290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CACFBDB6-7191-4652-BD8B-A2225A6CDAB1}"/>
              </a:ext>
            </a:extLst>
          </ns0:cNvPr>
          <ns0:cNvSpPr>
            <a:spLocks noGrp="1"/>
          </ns0:cNvSpPr>
          <ns0:nvPr/>
        </ns0:nvSpPr>
        <ns0:spPr>
          <a:xfrm>
            <a:off x="704850" y="5962650"/>
            <a:ext cx="107823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I · 0 CNPJs oficiais em Outros somam R$ 0,0 bi; o ledger os redistribui em 5 Agro e 1 Financeiro. Nas emissões, Outros permanece positivo: R$ 5,8 bi no 1S26.</a:t>
            </a:r>
          </a:p>
        </ns0:txBody>
      </ns0:sp>
    </ns0:spTree>
    <ns0:extLst>
      <ns0:ext uri="{BB962C8B-B14F-4D97-AF65-F5344CB8AC3E}">
        <ns5:creationId val="523121818"/>
      </ns0:ext>
    </ns0:extLst>
  </ns0:cSld>
</ns0:sld>
</file>

<file path=ppt/slides/slide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0B478185-FBA0-4078-87DB-EBBB03274ED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Abrir "Outros" revela que 63% do mercado é crédito financeiro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F578CE1-4190-4542-8BB8-8B172D1F0CD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 somado aos componentes de Outros,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67EDDCD-71AC-431E-8025-63EC3E3D2A8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70F4960-DA99-4FCC-BD6C-6CEEDB87CFE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67DFF9F-D5B1-473C-860E-7EC73A5AF34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dez/25), Informe Mensal CVM (jun/26) e ledger documental aprovado; classificação oficial preservada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D434663-BD2E-48D6-BEEE-F497DBC045D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E188A4C4-CC17-4F35-BF37-226C7DE70749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869C999-168D-4B27-BC8F-B90BA06253F1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62125"/>
          <a:ext cx="5238750" cy="3381375"/>
        </ns0:xfrm>
        <a:graphic>
          <a:graphicData uri="http://schemas.openxmlformats.org/drawingml/2006/chart">
            <c:chart ns4:id="R8e9346da3fef4fb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E5A2CFB2-603D-48E5-96D8-E27D7FB44648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072E7C78-72A6-4539-AA78-F62B3C5DB045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62125"/>
          <a:ext cx="5238750" cy="3381375"/>
        </ns0:xfrm>
        <a:graphic>
          <a:graphicData uri="http://schemas.openxmlformats.org/drawingml/2006/chart">
            <c:chart ns4:id="Re8b88fdf7a424684"/>
          </a:graphicData>
        </a:graphic>
      </ns0:graphicFrame>
      <ns0:graphicFrame>
        <ns0:nvGraphicFramePr>
          <ns0:cNvPr id="28" name="Chart"/>
          <ns0:cNvGraphicFramePr/>
          <ns0:nvPr/>
        </ns0:nvGraphicFramePr>
        <ns0:xfrm>
          <a:off x="857250" y="5219700"/>
          <a:ext cx="10477500" cy="428625"/>
        </ns0:xfrm>
        <a:graphic>
          <a:graphicData uri="http://schemas.openxmlformats.org/drawingml/2006/chart">
            <c:chart ns4:id="Re79c5c9d672b4f3b"/>
          </a:graphicData>
        </a:graphic>
      </ns0:graphicFrame>
      <ns0:sp>
        <ns0:nvSpPr>
          <ns0:cNvPr id="14" name="">
            <a:extLst>
              <a:ext uri="{FF2B5EF4-FFF2-40B4-BE49-F238E27FC236}">
                <ns2:creationId id="{0761E883-1A09-4A40-ABCB-794A66E4C2F8}"/>
              </a:ext>
            </a:extLst>
          </ns0:cNvPr>
          <ns0:cNvSpPr>
            <a:spLocks noGrp="1"/>
          </ns0:cNvSpPr>
          <ns0:nvPr/>
        </ns0:nvSpPr>
        <ns0:spPr>
          <a:xfrm>
            <a:off x="1143000" y="5676900"/>
            <a:ext cx="9906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Os sete blocos somam R$ 821,4 bi e fecham 100% do PL ex-FIC de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71B3F496-C731-44E8-B656-64E9E0325FD7}"/>
              </a:ext>
            </a:extLst>
          </ns0:cNvPr>
          <ns0:cNvSpPr>
            <a:spLocks noGrp="1"/>
          </ns0:cNvSpPr>
          <ns0:nvPr/>
        </ns0:nvSpPr>
        <ns0:spPr>
          <a:xfrm>
            <a:off x="666750" y="5905500"/>
            <a:ext cx="10858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Rótulos de exibição: Poder Público → Precatórios e/ou Ações Judiciais; Multicarteira Outros e Multicedente/Multissacado → Multicedente/Multisacado; Recuperação → Recuperação / FIDCs NP. Recuperação e N/D ficam detalhados no workbook para evitar sobreposição.</a:t>
            </a:r>
          </a:p>
        </ns0:txBody>
      </ns0:sp>
    </ns0:spTree>
    <ns0:extLst>
      <ns0:ext uri="{BB962C8B-B14F-4D97-AF65-F5344CB8AC3E}">
        <ns5:creationId val="1989433570"/>
      </ns0:ext>
    </ns0:extLst>
  </ns0:cSld>
</ns0:sld>
</file>

<file path=ppt/slides/slide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B346CA74-4E9A-455F-83AD-E402BEC3EE9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é R$ 99 bi que a taxonomia oficial não mostra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746323A-7A4A-49DD-90EF-7203708A29A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33 CNPJs reclassificados, 12,1% do PL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0B7EA4C-26FD-41D0-8F08-964EF0B7B17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1EF77F8-3709-4313-8FDE-3262C910051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1078F7C-457E-4311-AED5-8BD82A599DD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FCD05E8-06E1-434C-8BA4-F9C659D8AEC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C7531B6-BCE6-487A-A361-FDBCD162B43C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3D5C240-72A3-4447-BAB3-EF3A51344509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Chart"/>
          <ns0:cNvGraphicFramePr/>
          <ns0:nvPr/>
        </ns0:nvGraphicFramePr>
        <ns0:xfrm>
          <a:off x="571500" y="1762125"/>
          <a:ext cx="5238750" cy="3810000"/>
        </ns0:xfrm>
        <a:graphic>
          <a:graphicData uri="http://schemas.openxmlformats.org/drawingml/2006/chart">
            <c:chart ns4:id="Rd7f9b897098445b0"/>
          </a:graphicData>
        </a:graphic>
      </ns0:graphicFrame>
      <ns0:sp>
        <ns0:nvSpPr>
          <ns0:cNvPr id="10" name="">
            <a:extLst>
              <a:ext uri="{FF2B5EF4-FFF2-40B4-BE49-F238E27FC236}">
                <ns2:creationId id="{EA224F95-1157-44A1-BA35-423F36792241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A2950454-BAEE-4EA7-92FD-05942887054F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6381750" y="1762125"/>
          <a:ext cx="5238750" cy="3810000"/>
        </ns0:xfrm>
        <a:graphic>
          <a:graphicData uri="http://schemas.openxmlformats.org/drawingml/2006/chart">
            <c:chart ns4:id="R91af550869fc48eb"/>
          </a:graphicData>
        </a:graphic>
      </ns0:graphicFrame>
      <ns0:graphicFrame>
        <ns0:nvGraphicFramePr>
          <ns0:cNvPr id="27" name="Chart"/>
          <ns0:cNvGraphicFramePr/>
          <ns0:nvPr/>
        </ns0:nvGraphicFramePr>
        <ns0:xfrm>
          <a:off x="8858250" y="1200150"/>
          <a:ext cx="2762250" cy="209550"/>
        </ns0:xfrm>
        <a:graphic>
          <a:graphicData uri="http://schemas.openxmlformats.org/drawingml/2006/chart">
            <c:chart ns4:id="R16661cbb55e04375"/>
          </a:graphicData>
        </a:graphic>
      </ns0:graphicFrame>
      <ns0:sp>
        <ns0:nvSpPr>
          <ns0:cNvPr id="14" name="">
            <a:extLst>
              <a:ext uri="{FF2B5EF4-FFF2-40B4-BE49-F238E27FC236}">
                <ns2:creationId id="{74E5A7C6-A050-44D9-9765-41F7420D2FA2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4 pendentes. Em jun/26, 31 dos 33 CNPJs selecionados têm reporte ativo; 2 não reportam.</a:t>
            </a:r>
          </a:p>
        </ns0:txBody>
      </ns0:sp>
    </ns0:spTree>
    <ns0:extLst>
      <ns0:ext uri="{BB962C8B-B14F-4D97-AF65-F5344CB8AC3E}">
        <ns5:creationId val="640810654"/>
      </ns0:ext>
    </ns0:extLst>
  </ns0:cSld>
</ns0:sld>
</file>

<file path=ppt/slides/slide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48A13EA0-B032-4378-B03C-2DB003F7D9F7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explicou 70% do crescimento da carteira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7E2F596-79E3-4E21-90CB-89C9A6532D1D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Ganho de 17,5 p.p. de participação no período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4552318-E781-449A-9A67-D84F9DD21A0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C181185-FE04-4244-9D85-067FBAD9355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3FEEC58-D107-4147-BD9B-A19587F535C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DF22EC3-953E-4F3B-8668-7011ADE994A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C76C36E-3509-46D2-9DBE-7AA9A7335A61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A60AE26-74DB-431D-BE7F-7FBC495C9E6D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43075"/>
          <a:ext cx="5238750" cy="4238625"/>
        </ns0:xfrm>
        <a:graphic>
          <a:graphicData uri="http://schemas.openxmlformats.org/drawingml/2006/chart">
            <c:chart ns4:id="R9a49805035cf41d5"/>
          </a:graphicData>
        </a:graphic>
      </ns0:graphicFrame>
      <ns0:sp>
        <ns0:nvSpPr>
          <ns0:cNvPr id="10" name="">
            <a:extLst>
              <a:ext uri="{FF2B5EF4-FFF2-40B4-BE49-F238E27FC236}">
                <ns2:creationId id="{3DAF58B6-562C-46C0-8596-FE5C421E698E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3F6D5C41-5FC8-478E-BA59-0F9D287CB6C4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43075"/>
          <a:ext cx="5238750" cy="4238625"/>
        </ns0:xfrm>
        <a:graphic>
          <a:graphicData uri="http://schemas.openxmlformats.org/drawingml/2006/chart">
            <c:chart ns4:id="R56ab6ad131874441"/>
          </a:graphicData>
        </a:graphic>
      </ns0:graphicFrame>
      <ns0:sp>
        <ns0:nvSpPr>
          <ns0:cNvPr id="13" name="">
            <a:extLst>
              <a:ext uri="{FF2B5EF4-FFF2-40B4-BE49-F238E27FC236}">
                <ns2:creationId id="{6DB58701-76DA-41B2-8058-83D2CCC2A43F}"/>
              </a:ext>
            </a:extLst>
          </ns0:cNvPr>
          <ns0:cNvSpPr>
            <a:spLocks noGrp="1"/>
          </ns0:cNvSpPr>
          <ns0:nvPr/>
        </ns0:nvSpPr>
        <ns0:spPr>
          <a:xfrm>
            <a:off x="7239000" y="5715000"/>
            <a:ext cx="438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A3CEB4E1-69BE-4E3E-A839-3C6CA3528F0D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ns0:txBody>
      </ns0:sp>
      <ns0:graphicFrame>
        <ns0:nvGraphicFramePr>
          <ns0:cNvPr id="30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641ef4c27e6f4a5e"/>
          </a:graphicData>
        </a:graphic>
      </ns0:graphicFrame>
    </ns0:spTree>
    <ns0:extLst>
      <ns0:ext uri="{BB962C8B-B14F-4D97-AF65-F5344CB8AC3E}">
        <ns5:creationId val="215310520"/>
      </ns0:ext>
    </ns0:extLst>
  </ns0:cSld>
</ns0:sld>
</file>

<file path=ppt/slides/slide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059FA803-9D5D-4070-B745-C9EC39127350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9BC51BD-770F-4A47-9A50-4E80B7FD465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27,5% do PL ex-FIC; Petrobras e TAPSO são 45,5% do bloco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2957A13-6221-4D7E-AAB3-74A22616041E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7534201-38FC-42FC-913B-9F777082BE7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9D98322-3895-47D6-9A8D-E085EF287C9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ANBIMA, ledger analítico e base Carteira 101, jun/26. * = foto manual confirmada; N/D = originador/cedente não localizado.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96BE14F-2F0D-4DC7-9E30-E1EED377627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ns0:txBody>
      </ns0:sp>
      <ns0:graphicFrame>
        <ns0:nvGraphicFramePr>
          <ns0:cNvPr id="16" name=""/>
          <ns0:cNvGraphicFramePr/>
          <ns0:nvPr/>
        </ns0:nvGraphicFramePr>
        <ns0:xfrm>
          <a:off x="57150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Cielo*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graphicFrame>
        <ns0:nvGraphicFramePr>
          <ns0:cNvPr id="17" name=""/>
          <ns0:cNvGraphicFramePr/>
          <ns0:nvPr/>
        </ns0:nvGraphicFramePr>
        <ns0:xfrm>
          <a:off x="619125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PagBank · C: 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Shopee*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Nissan, Renault e Geely*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Havan*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406BF475-D97C-493A-90F6-B5B6188C3230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Fonte manual confirmada nas imagens da Carteira 101; o dado documental permanece prioritário. N/D não é inferido pelo nome do fundo.</a:t>
            </a:r>
          </a:p>
        </ns0:txBody>
      </ns0:sp>
    </ns0:spTree>
    <ns0:extLst>
      <ns0:ext uri="{BB962C8B-B14F-4D97-AF65-F5344CB8AC3E}">
        <ns3:creationId val="116439640"/>
      </ns0:ext>
    </ns0:extLst>
  </ns0:cSld>
</ns0:sld>
</file>

<file path=ppt/slides/slide1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4" name="">
            <a:extLst>
              <a:ext uri="{FF2B5EF4-FFF2-40B4-BE49-F238E27FC236}">
                <ns2:creationId id="{619C8F70-7353-42BF-A28A-2FD6E0167BB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22BE8DF-34D6-4D09-A5B6-1F29E61EE0A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D9BBF81-A411-43A0-9E4C-D063B6A387F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0598D5D-91F9-4E78-845A-39F3426F487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EBAAC65-1847-4138-A00F-C97ACD14886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R$ 27,4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7F14E263-CDE8-4976-9AAA-BA56D87C884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017E621-77C4-48D1-B686-CE28B9E3AAEF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EA7B658-C437-4A89-91FB-A13511FDFAE4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2" name=""/>
          <ns0:cNvGraphicFramePr/>
          <ns0:nvPr/>
        </ns0:nvGraphicFramePr>
        <ns0:xfrm>
          <a:off x="571500" y="1438275"/>
          <a:ext cx="11049000" cy="4286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ARC Logística E ALIMENTOS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19388423000159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CDI+6,0% · 19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5DC5264F-E194-4B2C-9D5F-F968DB16FA26}"/>
              </a:ext>
            </a:extLst>
          </ns0:cNvPr>
          <ns0:cNvSpPr>
            <a:spLocks noGrp="1"/>
          </ns0:cNvSpPr>
          <ns0:nvPr/>
        </ns0:nvSpPr>
        <ns0:spPr>
          <a:xfrm>
            <a:off x="571500" y="5781675"/>
            <a:ext cx="11049000" cy="342900"/>
          </a:xfrm>
          <a:prstGeom prst="rect">
            <a:avLst/>
          </a:prstGeom>
          <a:solidFill>
            <a:srgbClr val="F5F6F7"/>
          </a:solidFill>
          <a:ln w="5715">
            <a:solidFill>
              <a:srgbClr val="D7DADD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05CC5D00-4813-419B-9E98-6407B407180D}"/>
              </a:ext>
            </a:extLst>
          </ns0:cNvPr>
          <ns0:cNvSpPr>
            <a:spLocks noGrp="1"/>
          </ns0:cNvSpPr>
          <ns0:nvPr/>
        </ns0:nvSpPr>
        <ns0:spPr>
          <a:xfrm>
            <a:off x="647700" y="5810250"/>
            <a:ext cx="10896600" cy="114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5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Prêmio de remuneração Mz.–Sr. · mesmo fundo e corte · base dos slides 10–17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1BB51D23-3ABF-40D5-884D-A7583B6686BE}"/>
              </a:ext>
            </a:extLst>
          </ns0:cNvPr>
          <ns0:cNvSpPr>
            <a:spLocks noGrp="1"/>
          </ns0:cNvSpPr>
          <ns0:nvPr/>
        </ns0:nvSpPr>
        <ns0:spPr>
          <a:xfrm>
            <a:off x="647700" y="5943600"/>
            <a:ext cx="108966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N=20 fundo-corte · mediana +100 bps · faixa +50–300 bps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C9580CA0-3E7B-44DC-A90C-235C7B15FA0B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843661774"/>
      </ns0:ext>
    </ns0:extLst>
  </ns0:cSld>
</ns0:sld>
</file>

<file path=ppt/slides/slide1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4" name="">
            <a:extLst>
              <a:ext uri="{FF2B5EF4-FFF2-40B4-BE49-F238E27FC236}">
                <ns2:creationId id="{6E2BDACC-0CE7-459B-AAFD-19DDF8FB3A3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05F1746-374D-4076-B460-6FD5DA4F5D0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BFBCB0B-2C70-4459-8419-A10879F31B6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BFAD63E-6E8F-44BA-9BD7-7E9C26B529B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24EF4D9-F89C-44AA-ADDD-A1CCC59B3E9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R$ 26,7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88E2133-2660-4B77-904A-570461D184F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C639972-AA1A-445F-9084-3DF94493A230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97B480C-C996-4D51-8665-DE8169C7CA4D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2" name=""/>
          <ns0:cNvGraphicFramePr/>
          <ns0:nvPr/>
        </ns0:nvGraphicFramePr>
        <ns0:xfrm>
          <a:off x="571500" y="1438275"/>
          <a:ext cx="11049000" cy="4286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RHODONITE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41776416000183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ARC Logística E ALIMENTOS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BE5BAE1-3BD5-4A45-82CF-8CE64A9B4423}"/>
              </a:ext>
            </a:extLst>
          </ns0:cNvPr>
          <ns0:cNvSpPr>
            <a:spLocks noGrp="1"/>
          </ns0:cNvSpPr>
          <ns0:nvPr/>
        </ns0:nvSpPr>
        <ns0:spPr>
          <a:xfrm>
            <a:off x="571500" y="5781675"/>
            <a:ext cx="11049000" cy="342900"/>
          </a:xfrm>
          <a:prstGeom prst="rect">
            <a:avLst/>
          </a:prstGeom>
          <a:solidFill>
            <a:srgbClr val="F5F6F7"/>
          </a:solidFill>
          <a:ln w="5715">
            <a:solidFill>
              <a:srgbClr val="D7DADD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852B9B7F-777C-43B5-8770-FA4D48352213}"/>
              </a:ext>
            </a:extLst>
          </ns0:cNvPr>
          <ns0:cNvSpPr>
            <a:spLocks noGrp="1"/>
          </ns0:cNvSpPr>
          <ns0:nvPr/>
        </ns0:nvSpPr>
        <ns0:spPr>
          <a:xfrm>
            <a:off x="647700" y="5810250"/>
            <a:ext cx="10896600" cy="114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5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Movimento semestral · mesma classe e CNPJ · amostra casada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D57E35D4-888F-4584-84A2-0A7F4638F4EF}"/>
              </a:ext>
            </a:extLst>
          </ns0:cNvPr>
          <ns0:cNvSpPr>
            <a:spLocks noGrp="1"/>
          </ns0:cNvSpPr>
          <ns0:nvPr/>
        </ns0:nvSpPr>
        <ns0:spPr>
          <a:xfrm>
            <a:off x="647700" y="5943600"/>
            <a:ext cx="108966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N=22 fundo-classe · 1 mudança · SIFRA PLUS Sênior −50 bps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20A943D2-53B9-4893-BE27-E442BB7B6F38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535183849"/>
      </ns0:ext>
    </ns0:extLst>
  </ns0:cSld>
</ns0:sld>
</file>

<file path=ppt/slides/slide1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6BE12072-B3D9-4E33-A6EA-64CEB015FBE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FEFAF55-D7DD-460A-AB74-91200D14120D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C40AC33-F6D0-4C59-B4C9-3BB5D8506D5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FDA9782-382F-4CA3-9C46-C2BFD5237D79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35DF2C7-DB2C-4B17-9CB5-EC8B84B2036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R$ 102,0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A894162-FD1B-4C24-819F-30E0E988F44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713E857-9DB5-40F4-9C7D-7412007C7570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70D45C6-1CDC-4336-BCA1-8ACE8221BE60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Framento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53300525000109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Casas Bahia S.A +1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Grupo Casas Bahia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05754060000113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37F52895-C065-4B3C-BB52-D26983BACC8D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29164263"/>
      </ns0:ext>
    </ns0:extLst>
  </ns0:cSld>
</ns0:sld>
</file>

<file path=ppt/slides/slide1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67EEA8F6-7FEF-404D-AD65-B604DE1A7D6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9C0376B-4CF0-4B29-A740-BCB88CFED41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53F4762-99A2-4AEF-B72A-0525FE56189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248C5DF-ABED-4CA5-99D3-AA7E8ABCDE20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43DA90D-054B-4FEB-AFB7-EA4138FB848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R$ 98,4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43A4F3E-C604-4D45-A19F-4BD2E7F0952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735E611-73C0-4EAA-8006-D3A22E5285D1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0265413-C6E2-49E2-B718-6D4FA9F0748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Framento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FRANQUIAS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09217024000171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34218864000104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015FEFCD-EB5C-464A-A1D3-1D8E08709E8B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603555458"/>
      </ns0:ext>
    </ns0:extLst>
  </ns0:cSld>
</ns0:sld>
</file>

<file path=ppt/slides/slide14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256C4196-0687-4B4E-97A7-4B8218D8AD9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5DE5F00-1D1C-4704-8602-DEAA8856988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B283192-40EE-42FA-9AA4-6005EB96B79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0523D15-47E7-4D61-B82A-8141C64C90C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D57256F-D779-4540-B70E-465692763EF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R$ 120,0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CFF2242-7768-49C7-856E-0E7876B2721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CB4145C-6AD9-4448-93C0-403E4AD4AAC7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4AAEA4C0-5BDF-438D-AE53-9340732C4E8B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CDI+1,35% · 3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63953619000130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 · 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Empregados CLT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50906397000153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INSS/FGTS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 SCD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61285603000171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Facta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EB3810AF-5AE3-42DC-A65E-CF1DA6F09DD7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556327933"/>
      </ns0:ext>
    </ns0:extLst>
  </ns0:cSld>
</ns0:sld>
</file>

<file path=ppt/slides/slide1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6EBDC2DD-F803-4536-88A7-A0CDEF0BEC60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8F8EAB6-8357-44EC-8B85-06937D81180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998BB03-4563-4662-94FF-757719170E9E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03B7E0D-A251-41D6-A3A3-47D7964A132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41D204C-A7C7-4108-90E4-D632A3D6C52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R$ 105,2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DEFC427-5959-40A1-A677-0C0436C2A40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7269B8F-DBDA-437A-AF59-CABDBB0076C6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71B1EA9-BA81-4853-AB36-A311A7D717DA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ALEPO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36886028000115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DI+0,75%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60010416000112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 SCD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SANTANDER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Santander SCFI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A.I.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CDI+3,85%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C6B34488-9E77-472D-AF6E-8D1627ED54CA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973813896"/>
      </ns0:ext>
    </ns0:extLst>
  </ns0:cSld>
</ns0:sld>
</file>

<file path=ppt/slides/slide16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C4DFF8D3-3A93-4726-A4A9-6D7059D4404E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35B30C6-A3A6-4E6C-A6E5-03F8255FC48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0F41384-A45E-48D6-84AD-A069916F1CE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6EED68F-B623-4931-87C0-7CF766FC3AC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5CC0041-4A7C-4F9C-9098-170CB7D2AF6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R$ 70,9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FA690DA-1BB3-4E55-8672-94A90FBC0B5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DA3AC88-AAB0-4DD5-8251-30B65FFD1B17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70E41EE3-4260-45D0-B03A-D979F4235DC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65473848000183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púb./precat.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Comexport +3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CDI+2,75%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49826785000145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ASA SCD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STM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26405883000103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USINA CAMBAHYBA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55720253000121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57719370000109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EBD3E8D-D442-4E18-881C-91FEBAAECA2C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930405514"/>
      </ns0:ext>
    </ns0:extLst>
  </ns0:cSld>
</ns0:sld>
</file>

<file path=ppt/slides/slide1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8AD43A59-236A-4BFA-BC76-D7338037FB7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1F36342-76A6-4B55-B53C-957519BEA98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C42C2FD-9B39-45CA-9F78-E4F85CE282C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23DBE77-7E4A-4BF0-B498-46F7562B52B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5893DF0-2642-40DC-B70F-F45D6713641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R$ 61,3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1FBA25B-AE29-4D95-94F4-EEE6762D035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BD050CA-0681-460F-9191-6473EBB64231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279D9E7-21AE-4A7C-9554-43DF04652268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ESPERANZA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53263761000100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púb./deved.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NC 2025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63700113000110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HIGH TOWER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51152102000163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das ced.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USINA CAMBAHYBA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Comexport +3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JC DIVERSIFICADO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29109350000172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STM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SCARLET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55344996000144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D5ECB04-B05A-4A0A-B8BF-E907F4323061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85143122"/>
      </ns0:ext>
    </ns0:extLst>
  </ns0:cSld>
</ns0:sld>
</file>

<file path=ppt/slides/slide1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8" name="">
            <a:extLst>
              <a:ext uri="{FF2B5EF4-FFF2-40B4-BE49-F238E27FC236}">
                <ns2:creationId id="{852D1506-35E6-4DEF-A0DC-F574C8E07C2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FINANCEIRO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4D03A79-2FE4-43A6-A636-A7EC37CFE002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6225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| Sub atual e mínimos documentais por veículo; 12 estruturas exigem leitura separada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5AD0F43-FF9A-4C7A-85C5-F1AFFA440F4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067BFDB-5935-4B87-979F-D27ADB242AC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216BAD4-03A0-440F-A82C-96DA102FACB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6F79639-6DEB-4368-B625-4EA4B3967AF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ns0:txBody>
      </ns0:sp>
      <ns0:sp>
        <ns0:nvSpPr>
          <ns0:cNvPr id="7" name="mvp-summary-structural_mvp_financeiro-1">
            <a:extLst>
              <a:ext uri="{FF2B5EF4-FFF2-40B4-BE49-F238E27FC236}">
                <ns2:creationId id="{82034C76-AC30-4CB5-9CAC-CA4A99977DA0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15/18 CNPJs · R$ 10,9 bi de R$ 11,4 bi</a:t>
            </a:r>
          </a:p>
        </ns0:txBody>
      </ns0:sp>
      <ns0:sp>
        <ns0:nvSpPr>
          <ns0:cNvPr id="8" name="mvp-summary-structural_mvp_financeiro-2">
            <a:extLst>
              <a:ext uri="{FF2B5EF4-FFF2-40B4-BE49-F238E27FC236}">
                <ns2:creationId id="{E522CC44-DE0C-4CC8-9EC4-C394D19317CA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ampla · 12 pares · med. carteira 31,8% vs. mercado 30,1%</a:t>
            </a:r>
          </a:p>
        </ns0:txBody>
      </ns0:sp>
      <ns0:sp>
        <ns0:nvSpPr>
          <ns0:cNvPr id="9" name="mvp-summary-structural_mvp_financeiro-3">
            <a:extLst>
              <a:ext uri="{FF2B5EF4-FFF2-40B4-BE49-F238E27FC236}">
                <ns2:creationId id="{1BD52608-40E6-448C-8ED3-1E974E513B4C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≈ Em linha na referência ampla*</a:t>
            </a:r>
          </a:p>
        </ns0:txBody>
      </ns0:sp>
      <ns0:sp>
        <ns0:nvSpPr>
          <ns0:cNvPr id="10" name="mvp-band-structural_mvp_financeiro-1">
            <a:extLst>
              <a:ext uri="{FF2B5EF4-FFF2-40B4-BE49-F238E27FC236}">
                <ns2:creationId id="{9D893399-D8BC-4447-B5A5-EF86C5BAC390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CFF4AB1-EC31-49D5-88F6-AF79AF157955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card-structural_mvp_financeiro-62838025000116">
            <a:extLst>
              <a:ext uri="{FF2B5EF4-FFF2-40B4-BE49-F238E27FC236}">
                <ns2:creationId id="{A3E9F1B7-D8C9-47B0-9854-CAAD02749961}"/>
              </a:ext>
            </a:extLst>
          </ns0:cNvPr>
          <ns0:cNvSpPr>
            <a:spLocks noGrp="1"/>
          </ns0:cNvSpPr>
          <ns0:nvPr/>
        </ns0:nvSpPr>
        <ns0:spPr>
          <a:xfrm>
            <a:off x="5715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ENDURANCE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R$ 2,0 bi · Sub atual 9,5%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13" name="mvp-card-structural_mvp_financeiro-50988212000105">
            <a:extLst>
              <a:ext uri="{FF2B5EF4-FFF2-40B4-BE49-F238E27FC236}">
                <ns2:creationId id="{735B3432-0D0E-4D1C-82CD-B10F09D49473}"/>
              </a:ext>
            </a:extLst>
          </ns0:cNvPr>
          <ns0:cNvSpPr>
            <a:spLocks noGrp="1"/>
          </ns0:cNvSpPr>
          <ns0:nvPr/>
        </ns0:nvSpPr>
        <ns0:spPr>
          <a:xfrm>
            <a:off x="5715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CARTÃO DE COMPRA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R$ 193,6 mi · Sub atual 7,0%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4,5%* · Estr. N/D*</a:t>
            </a:r>
          </a:p>
        </ns0:txBody>
      </ns0:sp>
      <ns0:sp>
        <ns0:nvSpPr>
          <ns0:cNvPr id="14" name="mvp-band-structural_mvp_financeiro-2">
            <a:extLst>
              <a:ext uri="{FF2B5EF4-FFF2-40B4-BE49-F238E27FC236}">
                <ns2:creationId id="{9A3CB780-AA9B-42B0-B8D4-F3BAF62A305A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C36DC558-152F-4CAB-9C3B-6A6A840C05FB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6" name="mvp-band-structural_mvp_financeiro-3">
            <a:extLst>
              <a:ext uri="{FF2B5EF4-FFF2-40B4-BE49-F238E27FC236}">
                <ns2:creationId id="{7043ADFD-FB52-40FA-86B6-FE33F6067321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B5C8D6C3-243C-4113-B350-23D63FFDB428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8" name="mvp-band-structural_mvp_financeiro-4">
            <a:extLst>
              <a:ext uri="{FF2B5EF4-FFF2-40B4-BE49-F238E27FC236}">
                <ns2:creationId id="{2E3AF46D-0A19-4260-908C-1BBE3E60207E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D3F6291F-13F0-45CF-B5B6-9B8CDA84B19D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0" name="mvp-card-structural_mvp_financeiro-57816252000100">
            <a:extLst>
              <a:ext uri="{FF2B5EF4-FFF2-40B4-BE49-F238E27FC236}">
                <ns2:creationId id="{C44888FB-42B4-4DC1-BC2E-E8E72A5C31E2}"/>
              </a:ext>
            </a:extLst>
          </ns0:cNvPr>
          <ns0:cNvSpPr>
            <a:spLocks noGrp="1"/>
          </ns0:cNvSpPr>
          <ns0:nvPr/>
        </ns0:nvSpPr>
        <ns0:spPr>
          <a:xfrm>
            <a:off x="6134100" y="21812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NATURA PAY CRÉDITO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R$ 1,0 bi · Sub atual 28,3%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25,3% · Estr. 25,3%</a:t>
            </a:r>
          </a:p>
        </ns0:txBody>
      </ns0:sp>
      <ns0:sp>
        <ns0:nvSpPr>
          <ns0:cNvPr id="21" name="mvp-card-structural_mvp_financeiro-61288838000117">
            <a:extLst>
              <a:ext uri="{FF2B5EF4-FFF2-40B4-BE49-F238E27FC236}">
                <ns2:creationId id="{3BA56D2F-9780-4649-A59E-89AB3BF28E5A}"/>
              </a:ext>
            </a:extLst>
          </ns0:cNvPr>
          <ns0:cNvSpPr>
            <a:spLocks noGrp="1"/>
          </ns0:cNvSpPr>
          <ns0:nvPr/>
        </ns0:nvSpPr>
        <ns0:spPr>
          <a:xfrm>
            <a:off x="61341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IFOOD PAGO CRÉDITO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R$ 722,5 mi · Sub atual 30,3%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 · Estr. N/D*</a:t>
            </a:r>
          </a:p>
        </ns0:txBody>
      </ns0:sp>
      <ns0:sp>
        <ns0:nvSpPr>
          <ns0:cNvPr id="22" name="mvp-card-structural_mvp_financeiro-37294759000134">
            <a:extLst>
              <a:ext uri="{FF2B5EF4-FFF2-40B4-BE49-F238E27FC236}">
                <ns2:creationId id="{6A23403E-0DD3-4929-B952-C86392871985}"/>
              </a:ext>
            </a:extLst>
          </ns0:cNvPr>
          <ns0:cNvSpPr>
            <a:spLocks noGrp="1"/>
          </ns0:cNvSpPr>
          <ns0:nvPr/>
        </ns0:nvSpPr>
        <ns0:spPr>
          <a:xfrm>
            <a:off x="6134100" y="30956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GALLERIA HOME EQUITY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R$ 513,2 mi · Sub atual 31,8%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N/D · Estr. 4,8%*</a:t>
            </a:r>
          </a:p>
        </ns0:txBody>
      </ns0:sp>
      <ns0:sp>
        <ns0:nvSpPr>
          <ns0:cNvPr id="23" name="mvp-card-structural_mvp_financeiro-57028406000108">
            <a:extLst>
              <a:ext uri="{FF2B5EF4-FFF2-40B4-BE49-F238E27FC236}">
                <ns2:creationId id="{9575A480-ED11-498D-9146-6235D3E84108}"/>
              </a:ext>
            </a:extLst>
          </ns0:cNvPr>
          <ns0:cNvSpPr>
            <a:spLocks noGrp="1"/>
          </ns0:cNvSpPr>
          <ns0:nvPr/>
        </ns0:nvSpPr>
        <ns0:spPr>
          <a:xfrm>
            <a:off x="6134100" y="35528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IS GREEN SOLFÁCIL VI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R$ 437,4 mi · Sub atual 26,6%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2,0% · Estr. N/D*</a:t>
            </a:r>
          </a:p>
        </ns0:txBody>
      </ns0:sp>
      <ns0:sp>
        <ns0:nvSpPr>
          <ns0:cNvPr id="24" name="mvp-card-structural_mvp_financeiro-47640584000123">
            <a:extLst>
              <a:ext uri="{FF2B5EF4-FFF2-40B4-BE49-F238E27FC236}">
                <ns2:creationId id="{0E278351-F8B9-4DEA-B4F1-8F22A10C622F}"/>
              </a:ext>
            </a:extLst>
          </ns0:cNvPr>
          <ns0:cNvSpPr>
            <a:spLocks noGrp="1"/>
          </ns0:cNvSpPr>
          <ns0:nvPr/>
        </ns0:nvSpPr>
        <ns0:spPr>
          <a:xfrm>
            <a:off x="6134100" y="40100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SOL AGORA GREEN ESG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R$ 285,1 mi · Sub atual 30,4%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25" name="mvp-card-structural_mvp_financeiro-42462306000100">
            <a:extLst>
              <a:ext uri="{FF2B5EF4-FFF2-40B4-BE49-F238E27FC236}">
                <ns2:creationId id="{C2749FB2-F653-423F-9A85-22CEE6B06F43}"/>
              </a:ext>
            </a:extLst>
          </ns0:cNvPr>
          <ns0:cNvSpPr>
            <a:spLocks noGrp="1"/>
          </ns0:cNvSpPr>
          <ns0:nvPr/>
        </ns0:nvSpPr>
        <ns0:spPr>
          <a:xfrm>
            <a:off x="6134100" y="4467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IS GREEN SOLFÁCIL 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R$ 96,1 mi · Sub atual 24,7%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4,5% · Estr. N/D*</a:t>
            </a:r>
          </a:p>
        </ns0:txBody>
      </ns0:sp>
      <ns0:sp>
        <ns0:nvSpPr>
          <ns0:cNvPr id="26" name="mvp-band-structural_mvp_financeiro-5">
            <a:extLst>
              <a:ext uri="{FF2B5EF4-FFF2-40B4-BE49-F238E27FC236}">
                <ns2:creationId id="{3B9E60BF-8DEA-4EA4-A72E-9C073750A691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875AA999-1C93-4CE0-BBBC-AD8C5A4D6BA4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8" name="mvp-card-structural_mvp_financeiro-42154687000160">
            <a:extLst>
              <a:ext uri="{FF2B5EF4-FFF2-40B4-BE49-F238E27FC236}">
                <ns2:creationId id="{40529C93-9476-4462-B604-ECAB7472C0AA}"/>
              </a:ext>
            </a:extLst>
          </ns0:cNvPr>
          <ns0:cNvSpPr>
            <a:spLocks noGrp="1"/>
          </ns0:cNvSpPr>
          <ns0:nvPr/>
        </ns0:nvSpPr>
        <ns0:spPr>
          <a:xfrm>
            <a:off x="79883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MULTIPLIKE PLUS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R$ 2,1 bi · Sub atual 42,3%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20,0% · Estr. N/D*</a:t>
            </a:r>
          </a:p>
        </ns0:txBody>
      </ns0:sp>
      <ns0:sp>
        <ns0:nvSpPr>
          <ns0:cNvPr id="29" name="mvp-card-structural_mvp_financeiro-41197066000109">
            <a:extLst>
              <a:ext uri="{FF2B5EF4-FFF2-40B4-BE49-F238E27FC236}">
                <ns2:creationId id="{08C9923C-0572-4604-B54D-8037152A4CBB}"/>
              </a:ext>
            </a:extLst>
          </ns0:cNvPr>
          <ns0:cNvSpPr>
            <a:spLocks noGrp="1"/>
          </ns0:cNvSpPr>
          <ns0:nvPr/>
        </ns0:nvSpPr>
        <ns0:spPr>
          <a:xfrm>
            <a:off x="79883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IFOOD PAGO CRÉDITO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R$ 657,1 mi · Sub atual 36,5%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30" name="mvp-card-structural_mvp_financeiro-58152340000118">
            <a:extLst>
              <a:ext uri="{FF2B5EF4-FFF2-40B4-BE49-F238E27FC236}">
                <ns2:creationId id="{91022481-15E7-42E5-B7EE-F78C44267B91}"/>
              </a:ext>
            </a:extLst>
          </ns0:cNvPr>
          <ns0:cNvSpPr>
            <a:spLocks noGrp="1"/>
          </ns0:cNvSpPr>
          <ns0:nvPr/>
        </ns0:nvSpPr>
        <ns0:spPr>
          <a:xfrm>
            <a:off x="7988300" y="30956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MONEE II SEGMENTO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R$ 442,2 mi · Sub atual 40,6%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30,0% · Estr. 30,0%</a:t>
            </a:r>
          </a:p>
        </ns0:txBody>
      </ns0:sp>
      <ns0:sp>
        <ns0:nvSpPr>
          <ns0:cNvPr id="31" name="mvp-card-structural_mvp_financeiro-63066147000102">
            <a:extLst>
              <a:ext uri="{FF2B5EF4-FFF2-40B4-BE49-F238E27FC236}">
                <ns2:creationId id="{5C71E2CB-7988-426A-A7EA-CC940AB1D67A}"/>
              </a:ext>
            </a:extLst>
          </ns0:cNvPr>
          <ns0:cNvSpPr>
            <a:spLocks noGrp="1"/>
          </ns0:cNvSpPr>
          <ns0:nvPr/>
        </ns0:nvSpPr>
        <ns0:spPr>
          <a:xfrm>
            <a:off x="7988300" y="35528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INCLUSÃO CREDIÁRIA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R$ 156,4 mi · Sub atual 52,0%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12,5% · Estr. N/D*</a:t>
            </a:r>
          </a:p>
        </ns0:txBody>
      </ns0:sp>
      <ns0:sp>
        <ns0:nvSpPr>
          <ns0:cNvPr id="32" name="mvp-card-structural_mvp_financeiro-49113994000141">
            <a:extLst>
              <a:ext uri="{FF2B5EF4-FFF2-40B4-BE49-F238E27FC236}">
                <ns2:creationId id="{10FE2607-571C-411C-9FFF-12C0CE92BBF2}"/>
              </a:ext>
            </a:extLst>
          </ns0:cNvPr>
          <ns0:cNvSpPr>
            <a:spLocks noGrp="1"/>
          </ns0:cNvSpPr>
          <ns0:nvPr/>
        </ns0:nvSpPr>
        <ns0:spPr>
          <a:xfrm>
            <a:off x="7988300" y="40100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CAP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R$ 99,3 mi · Sub atual 44,1%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14,0% · Estr. N/D*</a:t>
            </a:r>
          </a:p>
        </ns0:txBody>
      </ns0:sp>
      <ns0:sp>
        <ns0:nvSpPr>
          <ns0:cNvPr id="33" name="mvp-band-structural_mvp_financeiro-6">
            <a:extLst>
              <a:ext uri="{FF2B5EF4-FFF2-40B4-BE49-F238E27FC236}">
                <ns2:creationId id="{979E723A-F484-46AC-93BF-6827C114C28A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34" name="">
            <a:extLst>
              <a:ext uri="{FF2B5EF4-FFF2-40B4-BE49-F238E27FC236}">
                <ns2:creationId id="{5B004135-7590-4BEC-88AF-0D951FB082AB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35" name="mvp-card-structural_mvp_financeiro-32526025000110">
            <a:extLst>
              <a:ext uri="{FF2B5EF4-FFF2-40B4-BE49-F238E27FC236}">
                <ns2:creationId id="{F70FB751-FFE1-41CC-95F9-F0F36B187023}"/>
              </a:ext>
            </a:extLst>
          </ns0:cNvPr>
          <ns0:cNvSpPr>
            <a:spLocks noGrp="1"/>
          </ns0:cNvSpPr>
          <ns0:nvPr/>
        </ns0:nvSpPr>
        <ns0:spPr>
          <a:xfrm>
            <a:off x="98425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COBUCCIO DE RESPONS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R$ 1,8 bi · Sub atual 75,6%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75,0% · Estr. N/D*</a:t>
            </a:r>
          </a:p>
        </ns0:txBody>
      </ns0:sp>
      <ns0:sp>
        <ns0:nvSpPr>
          <ns0:cNvPr id="36" name="mvp-card-structural_mvp_financeiro-43193260000133">
            <a:extLst>
              <a:ext uri="{FF2B5EF4-FFF2-40B4-BE49-F238E27FC236}">
                <ns2:creationId id="{EF67B530-7B04-4B43-BCC0-73A58E4F1911}"/>
              </a:ext>
            </a:extLst>
          </ns0:cNvPr>
          <ns0:cNvSpPr>
            <a:spLocks noGrp="1"/>
          </ns0:cNvSpPr>
          <ns0:nvPr/>
        </ns0:nvSpPr>
        <ns0:spPr>
          <a:xfrm>
            <a:off x="98425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RESIDENCE CLUB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R$ 403,4 mi · Sub atual 69,1%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15,0%* · Estr. 50,0%*</a:t>
            </a:r>
          </a:p>
        </ns0:txBody>
      </ns0:sp>
      <ns0:sp>
        <ns0:nvSpPr>
          <ns0:cNvPr id="37" name="">
            <a:extLst>
              <a:ext uri="{FF2B5EF4-FFF2-40B4-BE49-F238E27FC236}">
                <ns2:creationId id="{3048B9EB-B509-4DE2-970D-A777DC073220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2051642507"/>
      </ns0:ext>
    </ns0:extLst>
  </ns0:cSld>
</ns0:sld>
</file>

<file path=ppt/slides/slide1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5" name="">
            <a:extLst>
              <a:ext uri="{FF2B5EF4-FFF2-40B4-BE49-F238E27FC236}">
                <ns2:creationId id="{3F919408-CDB8-43F9-A217-B72725C15CF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ADQUIRÊNCIA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B5742CD-D122-4263-A494-70A1A471A094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| 2 veículos comparáveis estão até 2 p.p. acima do mínimo estrutural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ADDBF24-D6F9-4477-BC52-8777A85E2E92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AB6B3EB-95D3-486A-AC6F-8D669611BCF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3C5B561-B4B8-4A31-844B-A078FC5737B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6497DE4-8D8C-49A6-B812-5CCE302B862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ns0:txBody>
      </ns0:sp>
      <ns0:sp>
        <ns0:nvSpPr>
          <ns0:cNvPr id="7" name="mvp-summary-structural_mvp_adquirencia-1">
            <a:extLst>
              <a:ext uri="{FF2B5EF4-FFF2-40B4-BE49-F238E27FC236}">
                <ns2:creationId id="{786690E7-1E6C-4CD5-938F-67408CA5F430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12/17 CNPJs · R$ 15,1 bi de R$ 15,1 bi</a:t>
            </a:r>
          </a:p>
        </ns0:txBody>
      </ns0:sp>
      <ns0:sp>
        <ns0:nvSpPr>
          <ns0:cNvPr id="8" name="mvp-summary-structural_mvp_adquirencia-2">
            <a:extLst>
              <a:ext uri="{FF2B5EF4-FFF2-40B4-BE49-F238E27FC236}">
                <ns2:creationId id="{B38B946B-B088-4E8D-80D9-3C34DC5FEAC6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15 pares · med. agregada carteira 11,7% vs. mercado 15,5%</a:t>
            </a:r>
          </a:p>
        </ns0:txBody>
      </ns0:sp>
      <ns0:sp>
        <ns0:nvSpPr>
          <ns0:cNvPr id="9" name="mvp-summary-structural_mvp_adquirencia-3">
            <a:extLst>
              <a:ext uri="{FF2B5EF4-FFF2-40B4-BE49-F238E27FC236}">
                <ns2:creationId id="{7B826C8D-17DB-4C82-8486-9083E595D1B4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N/D · mistura risco emissor e adquirente*</a:t>
            </a:r>
          </a:p>
        </ns0:txBody>
      </ns0:sp>
      <ns0:sp>
        <ns0:nvSpPr>
          <ns0:cNvPr id="10" name="mvp-band-structural_mvp_adquirencia-1">
            <a:extLst>
              <a:ext uri="{FF2B5EF4-FFF2-40B4-BE49-F238E27FC236}">
                <ns2:creationId id="{D5BA5785-982D-49BE-B91B-8B2B35053B37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D95F21A6-A10D-48EB-923D-C6A3DE9FFDBA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card-structural_mvp_adquirencia-48967719000122">
            <a:extLst>
              <a:ext uri="{FF2B5EF4-FFF2-40B4-BE49-F238E27FC236}">
                <ns2:creationId id="{CBC8C3ED-469B-4128-ABEB-DE1FA6E6F16C}"/>
              </a:ext>
            </a:extLst>
          </ns0:cNvPr>
          <ns0:cNvSpPr>
            <a:spLocks noGrp="1"/>
          </ns0:cNvSpPr>
          <ns0:nvPr/>
        </ns0:nvSpPr>
        <ns0:spPr>
          <a:xfrm>
            <a:off x="571500" y="2181225"/>
            <a:ext cx="1778000" cy="438150"/>
          </a:xfrm>
          <a:prstGeom prst="rect">
            <a:avLst/>
          </a:prstGeom>
          <a:solidFill>
            <a:srgbClr val="FFF0D6"/>
          </a:solidFill>
          <a:ln w="9525">
            <a:solidFill>
              <a:srgbClr val="EC7000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SOULPAY*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R$ 78,4 mi · Sub atual 6,0%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Jr 5,0% · Estr. 5,0%</a:t>
            </a:r>
          </a:p>
        </ns0:txBody>
      </ns0:sp>
      <ns0:sp>
        <ns0:nvSpPr>
          <ns0:cNvPr id="13" name="mvp-card-structural_mvp_adquirencia-31739396000117">
            <a:extLst>
              <a:ext uri="{FF2B5EF4-FFF2-40B4-BE49-F238E27FC236}">
                <ns2:creationId id="{AE7C5AC7-9473-4E64-962F-4D5C4C05F38D}"/>
              </a:ext>
            </a:extLst>
          </ns0:cNvPr>
          <ns0:cNvSpPr>
            <a:spLocks noGrp="1"/>
          </ns0:cNvSpPr>
          <ns0:nvPr/>
        </ns0:nvSpPr>
        <ns0:spPr>
          <a:xfrm>
            <a:off x="5715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LF III*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R$ 1,4 bi · Sub atual 8,0%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0,5% · Estr. N/D*</a:t>
            </a:r>
          </a:p>
        </ns0:txBody>
      </ns0:sp>
      <ns0:sp>
        <ns0:nvSpPr>
          <ns0:cNvPr id="14" name="mvp-card-structural_mvp_adquirencia-62626887000185">
            <a:extLst>
              <a:ext uri="{FF2B5EF4-FFF2-40B4-BE49-F238E27FC236}">
                <ns2:creationId id="{720FB7C4-1192-4D5B-9E1F-4203C2C267AF}"/>
              </a:ext>
            </a:extLst>
          </ns0:cNvPr>
          <ns0:cNvSpPr>
            <a:spLocks noGrp="1"/>
          </ns0:cNvSpPr>
          <ns0:nvPr/>
        </ns0:nvSpPr>
        <ns0:spPr>
          <a:xfrm>
            <a:off x="5715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SUMUP SMART IV FIDC*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R$ 356,8 mi · Sub atual 4,0%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2,9% · Estr. N/D*</a:t>
            </a:r>
          </a:p>
        </ns0:txBody>
      </ns0:sp>
      <ns0:sp>
        <ns0:nvSpPr>
          <ns0:cNvPr id="15" name="mvp-card-structural_mvp_adquirencia-42085830000109">
            <a:extLst>
              <a:ext uri="{FF2B5EF4-FFF2-40B4-BE49-F238E27FC236}">
                <ns2:creationId id="{E8C40686-0D23-47E4-A3D3-70E82E6C658F}"/>
              </a:ext>
            </a:extLst>
          </ns0:cNvPr>
          <ns0:cNvSpPr>
            <a:spLocks noGrp="1"/>
          </ns0:cNvSpPr>
          <ns0:nvPr/>
        </ns0:nvSpPr>
        <ns0:spPr>
          <a:xfrm>
            <a:off x="571500" y="35528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CLOUDWALK AKIRA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R$ 308,2 mi · Sub atual 5,3%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3,0% · Estr. 3,0%</a:t>
            </a:r>
          </a:p>
        </ns0:txBody>
      </ns0:sp>
      <ns0:sp>
        <ns0:nvSpPr>
          <ns0:cNvPr id="16" name="mvp-band-structural_mvp_adquirencia-2">
            <a:extLst>
              <a:ext uri="{FF2B5EF4-FFF2-40B4-BE49-F238E27FC236}">
                <ns2:creationId id="{FB65A0F0-4867-4345-9D2A-2FEFDFAB04D6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C2F1F9D7-7A8E-47C8-BF5F-A01FA128881F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8" name="mvp-card-structural_mvp_adquirencia-54083697000130">
            <a:extLst>
              <a:ext uri="{FF2B5EF4-FFF2-40B4-BE49-F238E27FC236}">
                <ns2:creationId id="{0528C8FF-2B6C-4C47-862B-592EAE2264AF}"/>
              </a:ext>
            </a:extLst>
          </ns0:cNvPr>
          <ns0:cNvSpPr>
            <a:spLocks noGrp="1"/>
          </ns0:cNvSpPr>
          <ns0:nvPr/>
        </ns0:nvSpPr>
        <ns0:spPr>
          <a:xfrm>
            <a:off x="2425700" y="2181225"/>
            <a:ext cx="1778000" cy="438150"/>
          </a:xfrm>
          <a:prstGeom prst="rect">
            <a:avLst/>
          </a:prstGeom>
          <a:solidFill>
            <a:srgbClr val="FFF0D6"/>
          </a:solidFill>
          <a:ln w="9525">
            <a:solidFill>
              <a:srgbClr val="EC7000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PERNAMBUCANAS FIDC*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R$ 226,6 mi · Sub atual 10,9%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Jr 10,0% · Estr. 10,0%</a:t>
            </a:r>
          </a:p>
        </ns0:txBody>
      </ns0:sp>
      <ns0:sp>
        <ns0:nvSpPr>
          <ns0:cNvPr id="19" name="mvp-card-structural_mvp_adquirencia-45598747000121">
            <a:extLst>
              <a:ext uri="{FF2B5EF4-FFF2-40B4-BE49-F238E27FC236}">
                <ns2:creationId id="{8FBC9F17-A551-401E-A429-8DD8E1DF5361}"/>
              </a:ext>
            </a:extLst>
          </ns0:cNvPr>
          <ns0:cNvSpPr>
            <a:spLocks noGrp="1"/>
          </ns0:cNvSpPr>
          <ns0:nvPr/>
        </ns0:nvSpPr>
        <ns0:spPr>
          <a:xfrm>
            <a:off x="2425700" y="26384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SUMUP SOLO SEGMENTO*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R$ 378,1 mi · Sub atual 10,2%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4,8%* · Estr. 4,8%*</a:t>
            </a:r>
          </a:p>
        </ns0:txBody>
      </ns0:sp>
      <ns0:sp>
        <ns0:nvSpPr>
          <ns0:cNvPr id="20" name="mvp-card-structural_mvp_adquirencia-50857998000113">
            <a:extLst>
              <a:ext uri="{FF2B5EF4-FFF2-40B4-BE49-F238E27FC236}">
                <ns2:creationId id="{7593A928-47C2-4DB8-9801-851BE1B296F0}"/>
              </a:ext>
            </a:extLst>
          </ns0:cNvPr>
          <ns0:cNvSpPr>
            <a:spLocks noGrp="1"/>
          </ns0:cNvSpPr>
          <ns0:nvPr/>
        </ns0:nvSpPr>
        <ns0:spPr>
          <a:xfrm>
            <a:off x="24257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LEO MADEIRAS FIDC*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R$ 177,0 mi · Sub atual 12,6%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21" name="mvp-band-structural_mvp_adquirencia-3">
            <a:extLst>
              <a:ext uri="{FF2B5EF4-FFF2-40B4-BE49-F238E27FC236}">
                <ns2:creationId id="{0D5AEE02-2645-4BCF-93D5-D3E822367F03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AFA589B9-00AE-4592-949D-58DD0837AB40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3" name="mvp-band-structural_mvp_adquirencia-4">
            <a:extLst>
              <a:ext uri="{FF2B5EF4-FFF2-40B4-BE49-F238E27FC236}">
                <ns2:creationId id="{13A856EB-61C5-4399-9A86-8D6E2DD95173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D7861D76-D316-4B5F-AD63-1F3A4D5B7E70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5" name="mvp-card-structural_mvp_adquirencia-52271464000136">
            <a:extLst>
              <a:ext uri="{FF2B5EF4-FFF2-40B4-BE49-F238E27FC236}">
                <ns2:creationId id="{A212294E-20FE-451A-BDB6-6BA751E4AC99}"/>
              </a:ext>
            </a:extLst>
          </ns0:cNvPr>
          <ns0:cNvSpPr>
            <a:spLocks noGrp="1"/>
          </ns0:cNvSpPr>
          <ns0:nvPr/>
        </ns0:nvSpPr>
        <ns0:spPr>
          <a:xfrm>
            <a:off x="61341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KIWIFY SEGMENTO*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R$ 347,3 mi · Sub atual 20,2%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6,0% · Estr. N/D*</a:t>
            </a:r>
          </a:p>
        </ns0:txBody>
      </ns0:sp>
      <ns0:sp>
        <ns0:nvSpPr>
          <ns0:cNvPr id="26" name="mvp-band-structural_mvp_adquirencia-5">
            <a:extLst>
              <a:ext uri="{FF2B5EF4-FFF2-40B4-BE49-F238E27FC236}">
                <ns2:creationId id="{F14F60D2-1561-4BB0-916E-426AF3FA1A60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90EC14B1-2552-4311-A596-167B22BE8494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8" name="mvp-card-structural_mvp_adquirencia-50473039000102">
            <a:extLst>
              <a:ext uri="{FF2B5EF4-FFF2-40B4-BE49-F238E27FC236}">
                <ns2:creationId id="{9150E854-E9DB-4520-97A0-6B2389FCD671}"/>
              </a:ext>
            </a:extLst>
          </ns0:cNvPr>
          <ns0:cNvSpPr>
            <a:spLocks noGrp="1"/>
          </ns0:cNvSpPr>
          <ns0:nvPr/>
        </ns0:nvSpPr>
        <ns0:spPr>
          <a:xfrm>
            <a:off x="79883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SELLER FIDC SEGMENTO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R$ 3,7 bi · Sub atual 51,3%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29" name="mvp-band-structural_mvp_adquirencia-6">
            <a:extLst>
              <a:ext uri="{FF2B5EF4-FFF2-40B4-BE49-F238E27FC236}">
                <ns2:creationId id="{F674EB4D-D13A-4B15-B6AB-22F3E8285D30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30" name="">
            <a:extLst>
              <a:ext uri="{FF2B5EF4-FFF2-40B4-BE49-F238E27FC236}">
                <ns2:creationId id="{793ECA48-7E6B-42B1-B213-5C5E83CA9F37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31" name="mvp-card-structural_mvp_adquirencia-28169275000172">
            <a:extLst>
              <a:ext uri="{FF2B5EF4-FFF2-40B4-BE49-F238E27FC236}">
                <ns2:creationId id="{F07194D7-042A-4994-B8F8-A50A0B195BF5}"/>
              </a:ext>
            </a:extLst>
          </ns0:cNvPr>
          <ns0:cNvSpPr>
            <a:spLocks noGrp="1"/>
          </ns0:cNvSpPr>
          <ns0:nvPr/>
        </ns0:nvSpPr>
        <ns0:spPr>
          <a:xfrm>
            <a:off x="98425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PAGSEGURO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R$ 6,2 bi · Sub atual 63,2%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50,0% · Estr. N/D*</a:t>
            </a:r>
          </a:p>
        </ns0:txBody>
      </ns0:sp>
      <ns0:sp>
        <ns0:nvSpPr>
          <ns0:cNvPr id="32" name="mvp-card-structural_mvp_adquirencia-38376526000143">
            <a:extLst>
              <a:ext uri="{FF2B5EF4-FFF2-40B4-BE49-F238E27FC236}">
                <ns2:creationId id="{4CC5A7E1-D3F3-4EA6-8152-C47618B268B8}"/>
              </a:ext>
            </a:extLst>
          </ns0:cNvPr>
          <ns0:cNvSpPr>
            <a:spLocks noGrp="1"/>
          </ns0:cNvSpPr>
          <ns0:nvPr/>
        </ns0:nvSpPr>
        <ns0:spPr>
          <a:xfrm>
            <a:off x="98425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HOTFUND SEGMENTO*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R$ 1,7 bi · Sub atual 76,4%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21,0% · Estr. N/D*</a:t>
            </a:r>
          </a:p>
        </ns0:txBody>
      </ns0:sp>
      <ns0:sp>
        <ns0:nvSpPr>
          <ns0:cNvPr id="33" name="mvp-card-structural_mvp_adquirencia-40919667000107">
            <a:extLst>
              <a:ext uri="{FF2B5EF4-FFF2-40B4-BE49-F238E27FC236}">
                <ns2:creationId id="{331D3201-345A-4E3C-89F0-9A1E9BCA1F0C}"/>
              </a:ext>
            </a:extLst>
          </ns0:cNvPr>
          <ns0:cNvSpPr>
            <a:spLocks noGrp="1"/>
          </ns0:cNvSpPr>
          <ns0:nvPr/>
        </ns0:nvSpPr>
        <ns0:spPr>
          <a:xfrm>
            <a:off x="9842500" y="30956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RECARGAPAY I*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R$ 281,5 mi · Sub atual 98,0%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50,0% · Estr. 50,0%</a:t>
            </a:r>
          </a:p>
        </ns0:txBody>
      </ns0:sp>
      <ns0:sp>
        <ns0:nvSpPr>
          <ns0:cNvPr id="34" name="">
            <a:extLst>
              <a:ext uri="{FF2B5EF4-FFF2-40B4-BE49-F238E27FC236}">
                <ns2:creationId id="{752AAE77-DC37-4EC4-8CBD-CE1F3AE9D9FC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2044279568"/>
      </ns0:ext>
    </ns0:extLst>
  </ns0:cSld>
</ns0:sld>
</file>

<file path=ppt/slides/slide2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40" name="">
            <a:extLst>
              <a:ext uri="{FF2B5EF4-FFF2-40B4-BE49-F238E27FC236}">
                <ns2:creationId id="{126F1A72-AEC4-403A-AB5F-65BC76D5041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AGRO / REVENDA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EF40316-60E4-41E6-B9C6-2633E28BC46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 / Revenda | 2 veículos comparáveis estão abaixo do mínimo estrutural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A92221F-4703-492D-816D-1CB7263ECFDA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F7616C7-6FFB-4061-A7C5-278203AA6A0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7B940C0-E69B-42BA-B17F-AF7295E9B8F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41543FD-6E20-4435-853C-BF3070E79BC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ns0:txBody>
      </ns0:sp>
      <ns0:sp>
        <ns0:nvSpPr>
          <ns0:cNvPr id="7" name="mvp-summary-structural_mvp_agro_revenda-1">
            <a:extLst>
              <a:ext uri="{FF2B5EF4-FFF2-40B4-BE49-F238E27FC236}">
                <ns2:creationId id="{990AC7B9-271D-43C3-AC11-EE24E994360B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17/35 CNPJs · R$ 6,5 bi de R$ 7,1 bi</a:t>
            </a:r>
          </a:p>
        </ns0:txBody>
      </ns0:sp>
      <ns0:sp>
        <ns0:nvSpPr>
          <ns0:cNvPr id="8" name="mvp-summary-structural_mvp_agro_revenda-2">
            <a:extLst>
              <a:ext uri="{FF2B5EF4-FFF2-40B4-BE49-F238E27FC236}">
                <ns2:creationId id="{0A796EC9-F324-4CFB-ADDA-407170A6CD89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0 pares com Sub/PL atual</a:t>
            </a:r>
          </a:p>
        </ns0:txBody>
      </ns0:sp>
      <ns0:sp>
        <ns0:nvSpPr>
          <ns0:cNvPr id="9" name="mvp-summary-structural_mvp_agro_revenda-3">
            <a:extLst>
              <a:ext uri="{FF2B5EF4-FFF2-40B4-BE49-F238E27FC236}">
                <ns2:creationId id="{E75D3259-D0E4-4AF0-AA65-FD87B8B715CA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N/D · benchmark insuficiente</a:t>
            </a:r>
          </a:p>
        </ns0:txBody>
      </ns0:sp>
      <ns0:sp>
        <ns0:nvSpPr>
          <ns0:cNvPr id="10" name="mvp-band-structural_mvp_agro_revenda-1">
            <a:extLst>
              <a:ext uri="{FF2B5EF4-FFF2-40B4-BE49-F238E27FC236}">
                <ns2:creationId id="{B7C6A106-3DA4-4B06-B815-8D7A2FEA996D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B4590414-98EE-4C4E-9C0F-ED57F6139F46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card-structural_mvp_agro_revenda-52968533000165">
            <a:extLst>
              <a:ext uri="{FF2B5EF4-FFF2-40B4-BE49-F238E27FC236}">
                <ns2:creationId id="{47A2086E-91EA-4BC9-9D96-607112D807C0}"/>
              </a:ext>
            </a:extLst>
          </ns0:cNvPr>
          <ns0:cNvSpPr>
            <a:spLocks noGrp="1"/>
          </ns0:cNvSpPr>
          <ns0:nvPr/>
        </ns0:nvSpPr>
        <ns0:spPr>
          <a:xfrm>
            <a:off x="571500" y="2181225"/>
            <a:ext cx="1778000" cy="438150"/>
          </a:xfrm>
          <a:prstGeom prst="rect">
            <a:avLst/>
          </a:prstGeom>
          <a:solidFill>
            <a:srgbClr val="7A1F3D"/>
          </a:solidFill>
          <a:ln w="9525">
            <a:solidFill>
              <a:srgbClr val="7A1F3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MCPO*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R$ 113,3 mi · Sub atual 0,0%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Jr N/D · Estr. 20,0%*</a:t>
            </a:r>
          </a:p>
        </ns0:txBody>
      </ns0:sp>
      <ns0:sp>
        <ns0:nvSpPr>
          <ns0:cNvPr id="13" name="mvp-band-structural_mvp_agro_revenda-2">
            <a:extLst>
              <a:ext uri="{FF2B5EF4-FFF2-40B4-BE49-F238E27FC236}">
                <ns2:creationId id="{E5E5CEAE-1C00-443C-A587-BF69E19EA703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5BC612E0-2779-48CB-B27A-6EC913087B94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5" name="mvp-band-structural_mvp_agro_revenda-3">
            <a:extLst>
              <a:ext uri="{FF2B5EF4-FFF2-40B4-BE49-F238E27FC236}">
                <ns2:creationId id="{641D356C-7C7F-4A37-B31C-CFA7C2977251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52E01AA2-4170-429E-A5C8-29646276D244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7" name="mvp-card-structural_mvp_agro_revenda-57270666000187">
            <a:extLst>
              <a:ext uri="{FF2B5EF4-FFF2-40B4-BE49-F238E27FC236}">
                <ns2:creationId id="{2CBB7B2C-C1D5-468A-87D6-14923672D2C0}"/>
              </a:ext>
            </a:extLst>
          </ns0:cNvPr>
          <ns0:cNvSpPr>
            <a:spLocks noGrp="1"/>
          </ns0:cNvSpPr>
          <ns0:nvPr/>
        </ns0:nvSpPr>
        <ns0:spPr>
          <a:xfrm>
            <a:off x="42799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MOBILITAS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R$ 53,0 mi · Sub atual 15,1%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18" name="mvp-band-structural_mvp_agro_revenda-4">
            <a:extLst>
              <a:ext uri="{FF2B5EF4-FFF2-40B4-BE49-F238E27FC236}">
                <ns2:creationId id="{080C387A-A376-444E-84FB-F4FA40D9ED75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A21AC308-89C8-4A92-8BF2-CC7BCF16C6C3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0" name="mvp-card-structural_mvp_agro_revenda-33076242000118">
            <a:extLst>
              <a:ext uri="{FF2B5EF4-FFF2-40B4-BE49-F238E27FC236}">
                <ns2:creationId id="{DFAB43B4-244A-45C2-9093-2DDF975DAD1F}"/>
              </a:ext>
            </a:extLst>
          </ns0:cNvPr>
          <ns0:cNvSpPr>
            <a:spLocks noGrp="1"/>
          </ns0:cNvSpPr>
          <ns0:nvPr/>
        </ns0:nvSpPr>
        <ns0:spPr>
          <a:xfrm>
            <a:off x="6134100" y="2181225"/>
            <a:ext cx="1778000" cy="438150"/>
          </a:xfrm>
          <a:prstGeom prst="rect">
            <a:avLst/>
          </a:prstGeom>
          <a:solidFill>
            <a:srgbClr val="FFF0D6"/>
          </a:solidFill>
          <a:ln w="9525">
            <a:solidFill>
              <a:srgbClr val="EC7000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WORKCAP AGRO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R$ 443,2 mi · Sub atual 21,6%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Jr 20,0% · Estr. 20,0%</a:t>
            </a:r>
          </a:p>
        </ns0:txBody>
      </ns0:sp>
      <ns0:sp>
        <ns0:nvSpPr>
          <ns0:cNvPr id="21" name="mvp-card-structural_mvp_agro_revenda-47280025000150">
            <a:extLst>
              <a:ext uri="{FF2B5EF4-FFF2-40B4-BE49-F238E27FC236}">
                <ns2:creationId id="{C2B39F37-A57F-48C2-BE71-4133AD7DA3E6}"/>
              </a:ext>
            </a:extLst>
          </ns0:cNvPr>
          <ns0:cNvSpPr>
            <a:spLocks noGrp="1"/>
          </ns0:cNvSpPr>
          <ns0:nvPr/>
        </ns0:nvSpPr>
        <ns0:spPr>
          <a:xfrm>
            <a:off x="6134100" y="26384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FIDC AGRO CAPITAL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R$ 522,1 mi · Sub atual 32,2%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30,0% · Estr. 30,0%</a:t>
            </a:r>
          </a:p>
        </ns0:txBody>
      </ns0:sp>
      <ns0:sp>
        <ns0:nvSpPr>
          <ns0:cNvPr id="22" name="mvp-card-structural_mvp_agro_revenda-58171340000165">
            <a:extLst>
              <a:ext uri="{FF2B5EF4-FFF2-40B4-BE49-F238E27FC236}">
                <ns2:creationId id="{DF395EB4-521D-4539-90B9-1EC6F20839F7}"/>
              </a:ext>
            </a:extLst>
          </ns0:cNvPr>
          <ns0:cNvSpPr>
            <a:spLocks noGrp="1"/>
          </ns0:cNvSpPr>
          <ns0:nvPr/>
        </ns0:nvSpPr>
        <ns0:spPr>
          <a:xfrm>
            <a:off x="61341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FRIMESA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R$ 357,7 mi · Sub atual 21,0%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1,0% · Estr. N/D*</a:t>
            </a:r>
          </a:p>
        </ns0:txBody>
      </ns0:sp>
      <ns0:sp>
        <ns0:nvSpPr>
          <ns0:cNvPr id="23" name="mvp-card-structural_mvp_agro_revenda-54857414000160">
            <a:extLst>
              <a:ext uri="{FF2B5EF4-FFF2-40B4-BE49-F238E27FC236}">
                <ns2:creationId id="{B04EF292-B1B8-4255-BCA0-18741FD80D74}"/>
              </a:ext>
            </a:extLst>
          </ns0:cNvPr>
          <ns0:cNvSpPr>
            <a:spLocks noGrp="1"/>
          </ns0:cNvSpPr>
          <ns0:nvPr/>
        </ns0:nvSpPr>
        <ns0:spPr>
          <a:xfrm>
            <a:off x="6134100" y="35528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INDIE MERX RAIZ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R$ 104,2 mi · Sub atual 27,5%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 · Estr. N/D*</a:t>
            </a:r>
          </a:p>
        </ns0:txBody>
      </ns0:sp>
      <ns0:sp>
        <ns0:nvSpPr>
          <ns0:cNvPr id="24" name="mvp-card-structural_mvp_agro_revenda-57752597000148">
            <a:extLst>
              <a:ext uri="{FF2B5EF4-FFF2-40B4-BE49-F238E27FC236}">
                <ns2:creationId id="{CF83779D-B63E-45E0-B390-371EFA1E5192}"/>
              </a:ext>
            </a:extLst>
          </ns0:cNvPr>
          <ns0:cNvSpPr>
            <a:spLocks noGrp="1"/>
          </ns0:cNvSpPr>
          <ns0:nvPr/>
        </ns0:nvSpPr>
        <ns0:spPr>
          <a:xfrm>
            <a:off x="6134100" y="40100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AGROMERCANTIL CRÉDITO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R$ 68,7 mi · Sub atual 32,5%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30,0% · Estr. N/D*</a:t>
            </a:r>
          </a:p>
        </ns0:txBody>
      </ns0:sp>
      <ns0:sp>
        <ns0:nvSpPr>
          <ns0:cNvPr id="25" name="mvp-band-structural_mvp_agro_revenda-5">
            <a:extLst>
              <a:ext uri="{FF2B5EF4-FFF2-40B4-BE49-F238E27FC236}">
                <ns2:creationId id="{743B5D64-9FB5-4CB2-A6D3-47DBD961DF26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DD451654-5C77-45F4-9B52-99C5ECB8C9AD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7" name="mvp-card-structural_mvp_agro_revenda-50536324000117">
            <a:extLst>
              <a:ext uri="{FF2B5EF4-FFF2-40B4-BE49-F238E27FC236}">
                <ns2:creationId id="{E21714E8-129C-4C18-92B2-FDF185FD0173}"/>
              </a:ext>
            </a:extLst>
          </ns0:cNvPr>
          <ns0:cNvSpPr>
            <a:spLocks noGrp="1"/>
          </ns0:cNvSpPr>
          <ns0:nvPr/>
        </ns0:nvSpPr>
        <ns0:spPr>
          <a:xfrm>
            <a:off x="7988300" y="2181225"/>
            <a:ext cx="1778000" cy="438150"/>
          </a:xfrm>
          <a:prstGeom prst="rect">
            <a:avLst/>
          </a:prstGeom>
          <a:solidFill>
            <a:srgbClr val="7A1F3D"/>
          </a:solidFill>
          <a:ln w="9525">
            <a:solidFill>
              <a:srgbClr val="7A1F3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MAQNELSON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R$ 100,0 mi · Sub atual 49,2%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Jr 50,0% · Estr. 50,0%</a:t>
            </a:r>
          </a:p>
        </ns0:txBody>
      </ns0:sp>
      <ns0:sp>
        <ns0:nvSpPr>
          <ns0:cNvPr id="28" name="mvp-card-structural_mvp_agro_revenda-37035970000132">
            <a:extLst>
              <a:ext uri="{FF2B5EF4-FFF2-40B4-BE49-F238E27FC236}">
                <ns2:creationId id="{B9F81088-3AA5-41C7-ABC4-1DF0A845199F}"/>
              </a:ext>
            </a:extLst>
          </ns0:cNvPr>
          <ns0:cNvSpPr>
            <a:spLocks noGrp="1"/>
          </ns0:cNvSpPr>
          <ns0:nvPr/>
        </ns0:nvSpPr>
        <ns0:spPr>
          <a:xfrm>
            <a:off x="79883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CD CASH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R$ 291,8 mi · Sub atual 46,8%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30,0% · Estr. N/D*</a:t>
            </a:r>
          </a:p>
        </ns0:txBody>
      </ns0:sp>
      <ns0:sp>
        <ns0:nvSpPr>
          <ns0:cNvPr id="29" name="mvp-card-structural_mvp_agro_revenda-45523699000102">
            <a:extLst>
              <a:ext uri="{FF2B5EF4-FFF2-40B4-BE49-F238E27FC236}">
                <ns2:creationId id="{D4C4E8CA-8B57-403C-AAC2-14FF334CE647}"/>
              </a:ext>
            </a:extLst>
          </ns0:cNvPr>
          <ns0:cNvSpPr>
            <a:spLocks noGrp="1"/>
          </ns0:cNvSpPr>
          <ns0:nvPr/>
        </ns0:nvSpPr>
        <ns0:spPr>
          <a:xfrm>
            <a:off x="79883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VIXTRA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R$ 233,6 mi · Sub atual 38,2%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30" name="mvp-card-structural_mvp_agro_revenda-47425750000179">
            <a:extLst>
              <a:ext uri="{FF2B5EF4-FFF2-40B4-BE49-F238E27FC236}">
                <ns2:creationId id="{E328B53C-D462-48FA-8D50-32932BFBC68A}"/>
              </a:ext>
            </a:extLst>
          </ns0:cNvPr>
          <ns0:cNvSpPr>
            <a:spLocks noGrp="1"/>
          </ns0:cNvSpPr>
          <ns0:nvPr/>
        </ns0:nvSpPr>
        <ns0:spPr>
          <a:xfrm>
            <a:off x="7988300" y="35528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CEREALIS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R$ 215,3 mi · Sub atual 53,0%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25,0% · Estr. N/D*</a:t>
            </a:r>
          </a:p>
        </ns0:txBody>
      </ns0:sp>
      <ns0:sp>
        <ns0:nvSpPr>
          <ns0:cNvPr id="31" name="mvp-band-structural_mvp_agro_revenda-6">
            <a:extLst>
              <a:ext uri="{FF2B5EF4-FFF2-40B4-BE49-F238E27FC236}">
                <ns2:creationId id="{BB8E0F2B-31AB-42AB-A65B-48713B395CA4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32" name="">
            <a:extLst>
              <a:ext uri="{FF2B5EF4-FFF2-40B4-BE49-F238E27FC236}">
                <ns2:creationId id="{C72DE18D-90DD-40D9-943F-8629570A5DE0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33" name="mvp-card-structural_mvp_agro_revenda-29492605000129">
            <a:extLst>
              <a:ext uri="{FF2B5EF4-FFF2-40B4-BE49-F238E27FC236}">
                <ns2:creationId id="{92D80F1C-03AA-476B-8A10-433FAB4D36B5}"/>
              </a:ext>
            </a:extLst>
          </ns0:cNvPr>
          <ns0:cNvSpPr>
            <a:spLocks noGrp="1"/>
          </ns0:cNvSpPr>
          <ns0:nvPr/>
        </ns0:nvSpPr>
        <ns0:spPr>
          <a:xfrm>
            <a:off x="9842500" y="21812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GAZIN MULTISSEGMENTOS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R$ 2,5 bi · Sub atual 67,6%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51,0% · Estr. 51,0%</a:t>
            </a:r>
          </a:p>
        </ns0:txBody>
      </ns0:sp>
      <ns0:sp>
        <ns0:nvSpPr>
          <ns0:cNvPr id="34" name="mvp-card-structural_mvp_agro_revenda-29226654000110">
            <a:extLst>
              <a:ext uri="{FF2B5EF4-FFF2-40B4-BE49-F238E27FC236}">
                <ns2:creationId id="{99DE194E-FCBF-4DA4-AF27-067DE874093E}"/>
              </a:ext>
            </a:extLst>
          </ns0:cNvPr>
          <ns0:cNvSpPr>
            <a:spLocks noGrp="1"/>
          </ns0:cNvSpPr>
          <ns0:nvPr/>
        </ns0:nvSpPr>
        <ns0:spPr>
          <a:xfrm>
            <a:off x="9842500" y="26384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INVESTCRED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R$ 1,2 bi · Sub atual 79,6%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67,4%* · Estr. 67,4%*</a:t>
            </a:r>
          </a:p>
        </ns0:txBody>
      </ns0:sp>
      <ns0:sp>
        <ns0:nvSpPr>
          <ns0:cNvPr id="35" name="mvp-card-structural_mvp_agro_revenda-43866348000179">
            <a:extLst>
              <a:ext uri="{FF2B5EF4-FFF2-40B4-BE49-F238E27FC236}">
                <ns2:creationId id="{C2B2A81C-0751-420F-A935-20DA40F56DB2}"/>
              </a:ext>
            </a:extLst>
          </ns0:cNvPr>
          <ns0:cNvSpPr>
            <a:spLocks noGrp="1"/>
          </ns0:cNvSpPr>
          <ns0:nvPr/>
        </ns0:nvSpPr>
        <ns0:spPr>
          <a:xfrm>
            <a:off x="98425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OPEA AGRO SUMITOMO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R$ 256,0 mi · Sub atual 65,4%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36" name="mvp-card-structural_mvp_agro_revenda-51554551000138">
            <a:extLst>
              <a:ext uri="{FF2B5EF4-FFF2-40B4-BE49-F238E27FC236}">
                <ns2:creationId id="{4023C586-3408-41DC-AAF8-4883892BE8B9}"/>
              </a:ext>
            </a:extLst>
          </ns0:cNvPr>
          <ns0:cNvSpPr>
            <a:spLocks noGrp="1"/>
          </ns0:cNvSpPr>
          <ns0:nvPr/>
        </ns0:nvSpPr>
        <ns0:spPr>
          <a:xfrm>
            <a:off x="9842500" y="35528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CLASSE ÚNICA DO FIDC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R$ 64,5 mi · Sub atual 100,0%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N/D · Estr. 25,0%*</a:t>
            </a:r>
          </a:p>
        </ns0:txBody>
      </ns0:sp>
      <ns0:sp>
        <ns0:nvSpPr>
          <ns0:cNvPr id="37" name="mvp-card-structural_mvp_agro_revenda-47151680000108">
            <a:extLst>
              <a:ext uri="{FF2B5EF4-FFF2-40B4-BE49-F238E27FC236}">
                <ns2:creationId id="{ED3AC4BB-A8FB-468E-B3E3-979511D6EBC2}"/>
              </a:ext>
            </a:extLst>
          </ns0:cNvPr>
          <ns0:cNvSpPr>
            <a:spLocks noGrp="1"/>
          </ns0:cNvSpPr>
          <ns0:nvPr/>
        </ns0:nvSpPr>
        <ns0:spPr>
          <a:xfrm>
            <a:off x="9842500" y="40100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FARM TECH IBBA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R$ 9,4 mi · Sub atual 100,1%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N/D · Estr. 20,0%*</a:t>
            </a:r>
          </a:p>
        </ns0:txBody>
      </ns0:sp>
      <ns0:sp>
        <ns0:nvSpPr>
          <ns0:cNvPr id="38" name="mvp-card-structural_mvp_agro_revenda-43616659000180">
            <a:extLst>
              <a:ext uri="{FF2B5EF4-FFF2-40B4-BE49-F238E27FC236}">
                <ns2:creationId id="{34D11AED-4BEF-462A-8390-18ABCFEF39A4}"/>
              </a:ext>
            </a:extLst>
          </ns0:cNvPr>
          <ns0:cNvSpPr>
            <a:spLocks noGrp="1"/>
          </ns0:cNvSpPr>
          <ns0:nvPr/>
        </ns0:nvSpPr>
        <ns0:spPr>
          <a:xfrm>
            <a:off x="9842500" y="44672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TALÓ 1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R$ 7,0 mi · Sub atual 100,0%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N/D · Estr. 25,0%*</a:t>
            </a:r>
          </a:p>
        </ns0:txBody>
      </ns0:sp>
      <ns0:sp>
        <ns0:nvSpPr>
          <ns0:cNvPr id="39" name="">
            <a:extLst>
              <a:ext uri="{FF2B5EF4-FFF2-40B4-BE49-F238E27FC236}">
                <ns2:creationId id="{489D8587-05BB-4686-8488-50F6B4ABD5DC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1947097838"/>
      </ns0:ext>
    </ns0:extLst>
  </ns0:cSld>
</ns0:sld>
</file>

<file path=ppt/slides/slide2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4" name="">
            <a:extLst>
              <a:ext uri="{FF2B5EF4-FFF2-40B4-BE49-F238E27FC236}">
                <ns2:creationId id="{E8123576-88BE-4638-8A25-EEF8CD26A41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RISCO CORPORATIVO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65C0F84-76D7-488D-B39B-4462DA055A5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Risco Corporativo | 1 veículo comparável está abaixo do mínimo estrutural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4C02A9D-C7E4-447B-A3A7-6F887E0EAEC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A81CFF4-973C-4D9C-BB51-3B24CAA4333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D826EC3-EB25-43CC-A793-32E5678CA76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99C6599-9F23-4D98-A52A-A775FBDF8BE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ns0:txBody>
      </ns0:sp>
      <ns0:sp>
        <ns0:nvSpPr>
          <ns0:cNvPr id="7" name="mvp-summary-structural_mvp_risco_corporativo-1">
            <a:extLst>
              <a:ext uri="{FF2B5EF4-FFF2-40B4-BE49-F238E27FC236}">
                <ns2:creationId id="{0B6FDA56-6900-4FC7-AD83-B9D12B6F898F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11/13 CNPJs · R$ 5,5 bi de R$ 6,7 bi</a:t>
            </a:r>
          </a:p>
        </ns0:txBody>
      </ns0:sp>
      <ns0:sp>
        <ns0:nvSpPr>
          <ns0:cNvPr id="8" name="mvp-summary-structural_mvp_risco_corporativo-2">
            <a:extLst>
              <a:ext uri="{FF2B5EF4-FFF2-40B4-BE49-F238E27FC236}">
                <ns2:creationId id="{62AF5860-1C1D-4AC1-A569-94CF2FA9C2E7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0 pares com Sub/PL atual</a:t>
            </a:r>
          </a:p>
        </ns0:txBody>
      </ns0:sp>
      <ns0:sp>
        <ns0:nvSpPr>
          <ns0:cNvPr id="9" name="mvp-summary-structural_mvp_risco_corporativo-3">
            <a:extLst>
              <a:ext uri="{FF2B5EF4-FFF2-40B4-BE49-F238E27FC236}">
                <ns2:creationId id="{2B782111-775E-4421-BFFA-120D6B29DE14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N/D · benchmark insuficiente</a:t>
            </a:r>
          </a:p>
        </ns0:txBody>
      </ns0:sp>
      <ns0:sp>
        <ns0:nvSpPr>
          <ns0:cNvPr id="10" name="mvp-band-structural_mvp_risco_corporativo-1">
            <a:extLst>
              <a:ext uri="{FF2B5EF4-FFF2-40B4-BE49-F238E27FC236}">
                <ns2:creationId id="{9FA43E65-AD17-416D-99B5-22E725353FA8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0D3FB087-A081-413F-932F-DA4E485E7C14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card-structural_mvp_risco_corporativo-62393829000159">
            <a:extLst>
              <a:ext uri="{FF2B5EF4-FFF2-40B4-BE49-F238E27FC236}">
                <ns2:creationId id="{61751DEB-2376-4A3D-9D56-9E8A14BD12EC}"/>
              </a:ext>
            </a:extLst>
          </ns0:cNvPr>
          <ns0:cNvSpPr>
            <a:spLocks noGrp="1"/>
          </ns0:cNvSpPr>
          <ns0:nvPr/>
        </ns0:nvSpPr>
        <ns0:spPr>
          <a:xfrm>
            <a:off x="571500" y="2181225"/>
            <a:ext cx="1778000" cy="438150"/>
          </a:xfrm>
          <a:prstGeom prst="rect">
            <a:avLst/>
          </a:prstGeom>
          <a:solidFill>
            <a:srgbClr val="FFF0D6"/>
          </a:solidFill>
          <a:ln w="9525">
            <a:solidFill>
              <a:srgbClr val="EC7000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MÉDICI · BRF/MARFRIG*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R$ 3,1 bi · Sub atual 5,5%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Jr 5,0% · Estr. 5,0%</a:t>
            </a:r>
          </a:p>
        </ns0:txBody>
      </ns0:sp>
      <ns0:sp>
        <ns0:nvSpPr>
          <ns0:cNvPr id="13" name="mvp-band-structural_mvp_risco_corporativo-2">
            <a:extLst>
              <a:ext uri="{FF2B5EF4-FFF2-40B4-BE49-F238E27FC236}">
                <ns2:creationId id="{65C9D28C-E92E-432D-8781-135126688B18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6098B4FE-1DD9-414B-9406-0AECD571722C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5" name="mvp-band-structural_mvp_risco_corporativo-3">
            <a:extLst>
              <a:ext uri="{FF2B5EF4-FFF2-40B4-BE49-F238E27FC236}">
                <ns2:creationId id="{B1D3671C-1875-4964-AA6D-FCEFC1F83D91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8394014E-0806-42AF-B9A7-EDCA86665D15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7" name="mvp-card-structural_mvp_risco_corporativo-65873297000145">
            <a:extLst>
              <a:ext uri="{FF2B5EF4-FFF2-40B4-BE49-F238E27FC236}">
                <ns2:creationId id="{7731E727-20A1-46C2-A1D2-DF418C516551}"/>
              </a:ext>
            </a:extLst>
          </ns0:cNvPr>
          <ns0:cNvSpPr>
            <a:spLocks noGrp="1"/>
          </ns0:cNvSpPr>
          <ns0:nvPr/>
        </ns0:nvSpPr>
        <ns0:spPr>
          <a:xfrm>
            <a:off x="4279900" y="21812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ARCELORMITTAL*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R$ 162,6 mi · Sub atual 18,6%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12,0% · Estr. 12,0%</a:t>
            </a:r>
          </a:p>
        </ns0:txBody>
      </ns0:sp>
      <ns0:sp>
        <ns0:nvSpPr>
          <ns0:cNvPr id="18" name="mvp-card-structural_mvp_risco_corporativo-63679792000192">
            <a:extLst>
              <a:ext uri="{FF2B5EF4-FFF2-40B4-BE49-F238E27FC236}">
                <ns2:creationId id="{136A1DBE-1C23-4633-BA8C-38D2D18EE250}"/>
              </a:ext>
            </a:extLst>
          </ns0:cNvPr>
          <ns0:cNvSpPr>
            <a:spLocks noGrp="1"/>
          </ns0:cNvSpPr>
          <ns0:nvPr/>
        </ns0:nvSpPr>
        <ns0:spPr>
          <a:xfrm>
            <a:off x="42799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BLUE HEALTH FIDC*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R$ 142,2 mi · Sub atual 19,3%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20,0% · Estr. N/D*</a:t>
            </a:r>
          </a:p>
        </ns0:txBody>
      </ns0:sp>
      <ns0:sp>
        <ns0:nvSpPr>
          <ns0:cNvPr id="19" name="mvp-band-structural_mvp_risco_corporativo-4">
            <a:extLst>
              <a:ext uri="{FF2B5EF4-FFF2-40B4-BE49-F238E27FC236}">
                <ns2:creationId id="{B685C42F-FA42-4247-9C02-D1C0C493FFBD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541D7999-C7FB-4EC2-9EDA-F0B16CEF1309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1" name="mvp-card-structural_mvp_risco_corporativo-52100879000147">
            <a:extLst>
              <a:ext uri="{FF2B5EF4-FFF2-40B4-BE49-F238E27FC236}">
                <ns2:creationId id="{A52C6BC0-34A8-4AA2-98D1-8C281DC49D13}"/>
              </a:ext>
            </a:extLst>
          </ns0:cNvPr>
          <ns0:cNvSpPr>
            <a:spLocks noGrp="1"/>
          </ns0:cNvSpPr>
          <ns0:nvPr/>
        </ns0:nvSpPr>
        <ns0:spPr>
          <a:xfrm>
            <a:off x="6134100" y="2181225"/>
            <a:ext cx="1778000" cy="438150"/>
          </a:xfrm>
          <a:prstGeom prst="rect">
            <a:avLst/>
          </a:prstGeom>
          <a:solidFill>
            <a:srgbClr val="7A1F3D"/>
          </a:solidFill>
          <a:ln w="9525">
            <a:solidFill>
              <a:srgbClr val="7A1F3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SOTREQ*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R$ 205,2 mi · Sub atual 23,6%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Jr N/D · Estr. 25,0%*</a:t>
            </a:r>
          </a:p>
        </ns0:txBody>
      </ns0:sp>
      <ns0:sp>
        <ns0:nvSpPr>
          <ns0:cNvPr id="22" name="mvp-card-structural_mvp_risco_corporativo-31570767000180">
            <a:extLst>
              <a:ext uri="{FF2B5EF4-FFF2-40B4-BE49-F238E27FC236}">
                <ns2:creationId id="{63AD7C83-B942-4878-B55A-7D17744184C5}"/>
              </a:ext>
            </a:extLst>
          </ns0:cNvPr>
          <ns0:cNvSpPr>
            <a:spLocks noGrp="1"/>
          </ns0:cNvSpPr>
          <ns0:nvPr/>
        </ns0:nvSpPr>
        <ns0:spPr>
          <a:xfrm>
            <a:off x="61341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TRADEPAY VAREJO I*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R$ 702,1 mi · Sub atual 23,3%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23" name="mvp-card-structural_mvp_risco_corporativo-52340225000190">
            <a:extLst>
              <a:ext uri="{FF2B5EF4-FFF2-40B4-BE49-F238E27FC236}">
                <ns2:creationId id="{133A56DF-A55C-4BCD-9593-779A47DD9590}"/>
              </a:ext>
            </a:extLst>
          </ns0:cNvPr>
          <ns0:cNvSpPr>
            <a:spLocks noGrp="1"/>
          </ns0:cNvSpPr>
          <ns0:nvPr/>
        </ns0:nvSpPr>
        <ns0:spPr>
          <a:xfrm>
            <a:off x="61341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INOVA CREDTECH III*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R$ 86,1 mi · Sub atual 22,2%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7,5% · Estr. N/D*</a:t>
            </a:r>
          </a:p>
        </ns0:txBody>
      </ns0:sp>
      <ns0:sp>
        <ns0:nvSpPr>
          <ns0:cNvPr id="24" name="mvp-band-structural_mvp_risco_corporativo-5">
            <a:extLst>
              <a:ext uri="{FF2B5EF4-FFF2-40B4-BE49-F238E27FC236}">
                <ns2:creationId id="{CC02C8FE-1908-4C26-ADB7-D27D6A6B10B5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0ED5D595-F21F-43AF-B1C7-DE2EC46CDBE8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6" name="mvp-card-structural_mvp_risco_corporativo-63622842000103">
            <a:extLst>
              <a:ext uri="{FF2B5EF4-FFF2-40B4-BE49-F238E27FC236}">
                <ns2:creationId id="{01F2B7F6-3006-4661-84D0-CCEA13056A61}"/>
              </a:ext>
            </a:extLst>
          </ns0:cNvPr>
          <ns0:cNvSpPr>
            <a:spLocks noGrp="1"/>
          </ns0:cNvSpPr>
          <ns0:nvPr/>
        </ns0:nvSpPr>
        <ns0:spPr>
          <a:xfrm>
            <a:off x="7988300" y="2181225"/>
            <a:ext cx="1778000" cy="438150"/>
          </a:xfrm>
          <a:prstGeom prst="rect">
            <a:avLst/>
          </a:prstGeom>
          <a:solidFill>
            <a:srgbClr val="FFF0D6"/>
          </a:solidFill>
          <a:ln w="9525">
            <a:solidFill>
              <a:srgbClr val="EC7000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DESBRAVA UNO ARTIGOS*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R$ 343,6 mi · Sub atual 50,4%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Jr 50,0% · Estr. 50,0%</a:t>
            </a:r>
          </a:p>
        </ns0:txBody>
      </ns0:sp>
      <ns0:sp>
        <ns0:nvSpPr>
          <ns0:cNvPr id="27" name="mvp-card-structural_mvp_risco_corporativo-63657457000193">
            <a:extLst>
              <a:ext uri="{FF2B5EF4-FFF2-40B4-BE49-F238E27FC236}">
                <ns2:creationId id="{22A3E820-8236-44F2-AAC0-042F9FDAC459}"/>
              </a:ext>
            </a:extLst>
          </ns0:cNvPr>
          <ns0:cNvSpPr>
            <a:spLocks noGrp="1"/>
          </ns0:cNvSpPr>
          <ns0:nvPr/>
        </ns0:nvSpPr>
        <ns0:spPr>
          <a:xfrm>
            <a:off x="79883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MSV3 RECEBÍVEIS*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R$ 311,5 mi · Sub atual 36,3%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25,0% · Estr. N/D*</a:t>
            </a:r>
          </a:p>
        </ns0:txBody>
      </ns0:sp>
      <ns0:sp>
        <ns0:nvSpPr>
          <ns0:cNvPr id="28" name="mvp-card-structural_mvp_risco_corporativo-38658727000133">
            <a:extLst>
              <a:ext uri="{FF2B5EF4-FFF2-40B4-BE49-F238E27FC236}">
                <ns2:creationId id="{A935D09F-4CEB-4414-B6D0-D23708EB3AB1}"/>
              </a:ext>
            </a:extLst>
          </ns0:cNvPr>
          <ns0:cNvSpPr>
            <a:spLocks noGrp="1"/>
          </ns0:cNvSpPr>
          <ns0:nvPr/>
        </ns0:nvSpPr>
        <ns0:spPr>
          <a:xfrm>
            <a:off x="7988300" y="30956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FORNECEDORES MADEIRA*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R$ 196,7 mi · Sub atual 46,9%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26,7%* · Estr. 26,7%*</a:t>
            </a:r>
          </a:p>
        </ns0:txBody>
      </ns0:sp>
      <ns0:sp>
        <ns0:nvSpPr>
          <ns0:cNvPr id="29" name="mvp-card-structural_mvp_risco_corporativo-58476088000100">
            <a:extLst>
              <a:ext uri="{FF2B5EF4-FFF2-40B4-BE49-F238E27FC236}">
                <ns2:creationId id="{25CDF3F9-9C1D-4A20-A310-08E4481D011A}"/>
              </a:ext>
            </a:extLst>
          </ns0:cNvPr>
          <ns0:cNvSpPr>
            <a:spLocks noGrp="1"/>
          </ns0:cNvSpPr>
          <ns0:nvPr/>
        </ns0:nvSpPr>
        <ns0:spPr>
          <a:xfrm>
            <a:off x="7988300" y="35528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SAGA CRÉDITO PRIVADO*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R$ 167,6 mi · Sub atual 38,7%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33,3% · Estr. 33,3%</a:t>
            </a:r>
          </a:p>
        </ns0:txBody>
      </ns0:sp>
      <ns0:sp>
        <ns0:nvSpPr>
          <ns0:cNvPr id="30" name="mvp-band-structural_mvp_risco_corporativo-6">
            <a:extLst>
              <a:ext uri="{FF2B5EF4-FFF2-40B4-BE49-F238E27FC236}">
                <ns2:creationId id="{706DBDA4-7C66-4357-9DA8-AB86AD466754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49FD56E5-60A3-49A0-9C7B-A3A6BBA28BE2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32" name="mvp-card-structural_mvp_risco_corporativo-58288437000152">
            <a:extLst>
              <a:ext uri="{FF2B5EF4-FFF2-40B4-BE49-F238E27FC236}">
                <ns2:creationId id="{8A9FDCBB-73BB-48C2-8BE6-DE19F9658C1D}"/>
              </a:ext>
            </a:extLst>
          </ns0:cNvPr>
          <ns0:cNvSpPr>
            <a:spLocks noGrp="1"/>
          </ns0:cNvSpPr>
          <ns0:nvPr/>
        </ns0:nvSpPr>
        <ns0:spPr>
          <a:xfrm>
            <a:off x="98425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ALTOMAX SEGMENTO*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R$ 89,9 mi · Sub atual 64,6%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20,0% · Estr. N/D*</a:t>
            </a:r>
          </a:p>
        </ns0:txBody>
      </ns0:sp>
      <ns0:sp>
        <ns0:nvSpPr>
          <ns0:cNvPr id="33" name="">
            <a:extLst>
              <a:ext uri="{FF2B5EF4-FFF2-40B4-BE49-F238E27FC236}">
                <ns2:creationId id="{6C1BA741-090F-445F-B9EC-C0FBE2FC9B78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1512809135"/>
      </ns0:ext>
    </ns0:extLst>
  </ns0:cSld>
</ns0:sld>
</file>

<file path=ppt/slides/slide2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2" name="">
            <a:extLst>
              <a:ext uri="{FF2B5EF4-FFF2-40B4-BE49-F238E27FC236}">
                <ns2:creationId id="{3F91ECB1-73E9-4CF3-A7AB-6F1D2A1EA997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CONSIGNADO INSS E FGTS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EAF693A-5DEB-4D3F-A593-A20584E559A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1523"/>
          </a:bodyPr>
          <a:lstStyle/>
          <a:p>
            <a:pPr algn="l">
              <a:lnSpc>
                <a:spcPct val="100000"/>
              </a:lnSpc>
              <a:buNone/>
              <a:defRPr sz="18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Consignado INSS e FGTS | Sub atual e mínimos documentais por veículo; 9 estruturas exigem leitura separada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8A9D662-28A9-4EA7-9B23-E7EF3310EDB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C48D8AA-4890-435E-AD2D-52971FE19B8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5F2DACA-6404-42DD-8929-8C75FF0E3BF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43C6680-3ED8-4A0A-88ED-69C799F1C36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ns0:txBody>
      </ns0:sp>
      <ns0:sp>
        <ns0:nvSpPr>
          <ns0:cNvPr id="7" name="mvp-summary-structural_mvp_consignado-1">
            <a:extLst>
              <a:ext uri="{FF2B5EF4-FFF2-40B4-BE49-F238E27FC236}">
                <ns2:creationId id="{FFB9D843-3402-4F48-9960-8ACB383D8DBD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9/12 CNPJs · R$ 7,2 bi de R$ 10,5 bi</a:t>
            </a:r>
          </a:p>
        </ns0:txBody>
      </ns0:sp>
      <ns0:sp>
        <ns0:nvSpPr>
          <ns0:cNvPr id="8" name="mvp-summary-structural_mvp_consignado-2">
            <a:extLst>
              <a:ext uri="{FF2B5EF4-FFF2-40B4-BE49-F238E27FC236}">
                <ns2:creationId id="{DEFCD959-BE43-445A-9C70-5D00C0280514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INSS carteira 14,9% vs. pares 16,1% | FGTS carteira 18,3% vs. pares 17,2%</a:t>
            </a:r>
          </a:p>
        </ns0:txBody>
      </ns0:sp>
      <ns0:sp>
        <ns0:nvSpPr>
          <ns0:cNvPr id="9" name="mvp-summary-structural_mvp_consignado-3">
            <a:extLst>
              <a:ext uri="{FF2B5EF4-FFF2-40B4-BE49-F238E27FC236}">
                <ns2:creationId id="{23FC0024-56E6-4EF7-AFBE-0D7A84A3BE58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≈ Em linha nos dois grupos</a:t>
            </a:r>
          </a:p>
        </ns0:txBody>
      </ns0:sp>
      <ns0:sp>
        <ns0:nvSpPr>
          <ns0:cNvPr id="10" name="mvp-band-structural_mvp_consignado-1">
            <a:extLst>
              <a:ext uri="{FF2B5EF4-FFF2-40B4-BE49-F238E27FC236}">
                <ns2:creationId id="{FC0CB8EA-6F62-4F0E-88D3-A948531DBD2F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5178FAE0-9BD5-4C02-953A-176EFB228E9A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band-structural_mvp_consignado-2">
            <a:extLst>
              <a:ext uri="{FF2B5EF4-FFF2-40B4-BE49-F238E27FC236}">
                <ns2:creationId id="{508B98CC-6424-4FB8-96B0-C18F8F18E913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88390A83-29BD-4449-91F9-50EABB8E5554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4" name="mvp-card-structural_mvp_consignado-63546406000194">
            <a:extLst>
              <a:ext uri="{FF2B5EF4-FFF2-40B4-BE49-F238E27FC236}">
                <ns2:creationId id="{D863AB3B-7253-41FB-BA4B-6C48094FF870}"/>
              </a:ext>
            </a:extLst>
          </ns0:cNvPr>
          <ns0:cNvSpPr>
            <a:spLocks noGrp="1"/>
          </ns0:cNvSpPr>
          <ns0:nvPr/>
        </ns0:nvSpPr>
        <ns0:spPr>
          <a:xfrm>
            <a:off x="24257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PINE INSS III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R$ 1,2 bi · Sub atual 14,9%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1,5% · Estr. N/D*</a:t>
            </a:r>
          </a:p>
        </ns0:txBody>
      </ns0:sp>
      <ns0:sp>
        <ns0:nvSpPr>
          <ns0:cNvPr id="15" name="mvp-card-structural_mvp_consignado-65347578000164">
            <a:extLst>
              <a:ext uri="{FF2B5EF4-FFF2-40B4-BE49-F238E27FC236}">
                <ns2:creationId id="{84CEC7CC-8374-4370-B5FC-CFCCE79F1B54}"/>
              </a:ext>
            </a:extLst>
          </ns0:cNvPr>
          <ns0:cNvSpPr>
            <a:spLocks noGrp="1"/>
          </ns0:cNvSpPr>
          <ns0:nvPr/>
        </ns0:nvSpPr>
        <ns0:spPr>
          <a:xfrm>
            <a:off x="24257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ICRED INSS III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R$ 664,8 mi · Sub atual 13,5%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2,5% · Estr. N/D*</a:t>
            </a:r>
          </a:p>
        </ns0:txBody>
      </ns0:sp>
      <ns0:sp>
        <ns0:nvSpPr>
          <ns0:cNvPr id="16" name="mvp-band-structural_mvp_consignado-3">
            <a:extLst>
              <a:ext uri="{FF2B5EF4-FFF2-40B4-BE49-F238E27FC236}">
                <ns2:creationId id="{EA234642-FC07-41DA-A59A-500A7927521C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85EA7575-B021-4C1F-9DFD-6563C72CA58B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8" name="mvp-card-structural_mvp_consignado-65976848000104">
            <a:extLst>
              <a:ext uri="{FF2B5EF4-FFF2-40B4-BE49-F238E27FC236}">
                <ns2:creationId id="{4F407822-42EC-4445-97DE-9D75B548DFFB}"/>
              </a:ext>
            </a:extLst>
          </ns0:cNvPr>
          <ns0:cNvSpPr>
            <a:spLocks noGrp="1"/>
          </ns0:cNvSpPr>
          <ns0:nvPr/>
        </ns0:nvSpPr>
        <ns0:spPr>
          <a:xfrm>
            <a:off x="42799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AGIBANK 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R$ 3,0 bi · Sub atual 15,2%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19" name="mvp-card-structural_mvp_consignado-54810968000102">
            <a:extLst>
              <a:ext uri="{FF2B5EF4-FFF2-40B4-BE49-F238E27FC236}">
                <ns2:creationId id="{CA1FF463-8A59-49ED-BCE5-78D646120329}"/>
              </a:ext>
            </a:extLst>
          </ns0:cNvPr>
          <ns0:cNvSpPr>
            <a:spLocks noGrp="1"/>
          </ns0:cNvSpPr>
          <ns0:nvPr/>
        </ns0:nvSpPr>
        <ns0:spPr>
          <a:xfrm>
            <a:off x="42799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ANGÁ FGTS III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R$ 965,3 mi · Sub atual 16,1%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20" name="mvp-card-structural_mvp_consignado-54464892000100">
            <a:extLst>
              <a:ext uri="{FF2B5EF4-FFF2-40B4-BE49-F238E27FC236}">
                <ns2:creationId id="{648B8125-4E2D-40F3-9EA8-153185A96A7F}"/>
              </a:ext>
            </a:extLst>
          </ns0:cNvPr>
          <ns0:cNvSpPr>
            <a:spLocks noGrp="1"/>
          </ns0:cNvSpPr>
          <ns0:nvPr/>
        </ns0:nvSpPr>
        <ns0:spPr>
          <a:xfrm>
            <a:off x="42799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MT FGTS RECEIVABLES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R$ 697,5 mi · Sub atual 19,4%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3,5% · Estr. N/D*</a:t>
            </a:r>
          </a:p>
        </ns0:txBody>
      </ns0:sp>
      <ns0:sp>
        <ns0:nvSpPr>
          <ns0:cNvPr id="21" name="mvp-card-structural_mvp_consignado-55401645000128">
            <a:extLst>
              <a:ext uri="{FF2B5EF4-FFF2-40B4-BE49-F238E27FC236}">
                <ns2:creationId id="{B6DB1DB1-463D-4D1F-A1B1-238D16E0FAC1}"/>
              </a:ext>
            </a:extLst>
          </ns0:cNvPr>
          <ns0:cNvSpPr>
            <a:spLocks noGrp="1"/>
          </ns0:cNvSpPr>
          <ns0:nvPr/>
        </ns0:nvSpPr>
        <ns0:spPr>
          <a:xfrm>
            <a:off x="4279900" y="35528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QUATÁ FDC FGTS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R$ 225,0 mi · Sub atual 17,3%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3,0% · Estr. N/D*</a:t>
            </a:r>
          </a:p>
        </ns0:txBody>
      </ns0:sp>
      <ns0:sp>
        <ns0:nvSpPr>
          <ns0:cNvPr id="22" name="mvp-card-structural_mvp_consignado-54252144000164">
            <a:extLst>
              <a:ext uri="{FF2B5EF4-FFF2-40B4-BE49-F238E27FC236}">
                <ns2:creationId id="{561782F3-4199-413C-B837-3265064E7094}"/>
              </a:ext>
            </a:extLst>
          </ns0:cNvPr>
          <ns0:cNvSpPr>
            <a:spLocks noGrp="1"/>
          </ns0:cNvSpPr>
          <ns0:nvPr/>
        </ns0:nvSpPr>
        <ns0:spPr>
          <a:xfrm>
            <a:off x="4279900" y="40100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J17 FGTS FINANCEIRO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R$ 213,6 mi · Sub atual 15,0%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23" name="mvp-band-structural_mvp_consignado-4">
            <a:extLst>
              <a:ext uri="{FF2B5EF4-FFF2-40B4-BE49-F238E27FC236}">
                <ns2:creationId id="{12C39644-4976-4930-AF0B-487EA1246DD5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FDBB484F-7E02-435C-A8F2-0342AC49BA7B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5" name="mvp-card-structural_mvp_consignado-53577135000180">
            <a:extLst>
              <a:ext uri="{FF2B5EF4-FFF2-40B4-BE49-F238E27FC236}">
                <ns2:creationId id="{A1F98EC7-92F7-4D4A-8B20-C73380699D87}"/>
              </a:ext>
            </a:extLst>
          </ns0:cNvPr>
          <ns0:cNvSpPr>
            <a:spLocks noGrp="1"/>
          </ns0:cNvSpPr>
          <ns0:nvPr/>
        </ns0:nvSpPr>
        <ns0:spPr>
          <a:xfrm>
            <a:off x="61341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ANGÁ FGTS 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R$ 249,7 mi · Sub atual 22,0%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 · Estr. N/D*</a:t>
            </a:r>
          </a:p>
        </ns0:txBody>
      </ns0:sp>
      <ns0:sp>
        <ns0:nvSpPr>
          <ns0:cNvPr id="26" name="mvp-card-structural_mvp_consignado-53270983000142">
            <a:extLst>
              <a:ext uri="{FF2B5EF4-FFF2-40B4-BE49-F238E27FC236}">
                <ns2:creationId id="{8DD0B4B5-AB32-4064-9066-F9292B3C2C1C}"/>
              </a:ext>
            </a:extLst>
          </ns0:cNvPr>
          <ns0:cNvSpPr>
            <a:spLocks noGrp="1"/>
          </ns0:cNvSpPr>
          <ns0:nvPr/>
        </ns0:nvSpPr>
        <ns0:spPr>
          <a:xfrm>
            <a:off x="61341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ANGÁ FGTS +AG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R$ 71,1 mi · Sub atual 20,2%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8,0% · Estr. N/D*</a:t>
            </a:r>
          </a:p>
        </ns0:txBody>
      </ns0:sp>
      <ns0:sp>
        <ns0:nvSpPr>
          <ns0:cNvPr id="27" name="mvp-band-structural_mvp_consignado-5">
            <a:extLst>
              <a:ext uri="{FF2B5EF4-FFF2-40B4-BE49-F238E27FC236}">
                <ns2:creationId id="{FF694E72-7C1C-483C-8455-AD50947E60E6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8E8842D8-D4E5-41C3-8F65-6855AA902DEE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9" name="mvp-band-structural_mvp_consignado-6">
            <a:extLst>
              <a:ext uri="{FF2B5EF4-FFF2-40B4-BE49-F238E27FC236}">
                <ns2:creationId id="{E048DF78-57B5-489A-8250-ED61C3915509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30" name="">
            <a:extLst>
              <a:ext uri="{FF2B5EF4-FFF2-40B4-BE49-F238E27FC236}">
                <ns2:creationId id="{17AEBD31-07CB-40DE-8904-79782B92D125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31" name="">
            <a:extLst>
              <a:ext uri="{FF2B5EF4-FFF2-40B4-BE49-F238E27FC236}">
                <ns2:creationId id="{F8503731-5448-49EF-9B03-14CD2B2E4CE5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807656251"/>
      </ns0:ext>
    </ns0:extLst>
  </ns0:cSld>
</ns0:sld>
</file>

<file path=ppt/slides/slide2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6DD278B1-C44A-4C64-80C5-AC994A9EF6E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FACTORING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BDEAB84-CCAC-4BDD-85F6-DB844D6B739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8525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Factoring | Sub atual e mínimos documentais por veículo; 3 estruturas exigem leitura separada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C22DD9B-F6CA-4F93-BDDF-DBA56CF1F28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867C269-88E6-4615-A97A-3780C37CFCF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58397D3-7868-4039-A502-CA39933EDB9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EAAC7F7-21D2-4C39-BBEF-EE01BC9B463F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ns0:txBody>
      </ns0:sp>
      <ns0:sp>
        <ns0:nvSpPr>
          <ns0:cNvPr id="7" name="mvp-summary-structural_mvp_factoring-1">
            <a:extLst>
              <a:ext uri="{FF2B5EF4-FFF2-40B4-BE49-F238E27FC236}">
                <ns2:creationId id="{C6EC603F-80FD-4BAD-9541-F7F3DFB6924B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3/4 CNPJs · R$ 4,2 bi de R$ 4,4 bi</a:t>
            </a:r>
          </a:p>
        </ns0:txBody>
      </ns0:sp>
      <ns0:sp>
        <ns0:nvSpPr>
          <ns0:cNvPr id="8" name="mvp-summary-structural_mvp_factoring-2">
            <a:extLst>
              <a:ext uri="{FF2B5EF4-FFF2-40B4-BE49-F238E27FC236}">
                <ns2:creationId id="{1C856C49-E0A0-4D4D-9563-5A8B980D536F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 pares com Sub/PL atual</a:t>
            </a:r>
          </a:p>
        </ns0:txBody>
      </ns0:sp>
      <ns0:sp>
        <ns0:nvSpPr>
          <ns0:cNvPr id="9" name="mvp-summary-structural_mvp_factoring-3">
            <a:extLst>
              <a:ext uri="{FF2B5EF4-FFF2-40B4-BE49-F238E27FC236}">
                <ns2:creationId id="{9BF56219-5C42-414C-A518-0B57C49D2877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N/D · benchmark insuficiente</a:t>
            </a:r>
          </a:p>
        </ns0:txBody>
      </ns0:sp>
      <ns0:sp>
        <ns0:nvSpPr>
          <ns0:cNvPr id="10" name="mvp-band-structural_mvp_factoring-1">
            <a:extLst>
              <a:ext uri="{FF2B5EF4-FFF2-40B4-BE49-F238E27FC236}">
                <ns2:creationId id="{D65D66B5-8C1C-4119-B889-67AA89778AF8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E94AEFB-58F3-49C3-96FD-823DACC41363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band-structural_mvp_factoring-2">
            <a:extLst>
              <a:ext uri="{FF2B5EF4-FFF2-40B4-BE49-F238E27FC236}">
                <ns2:creationId id="{B5F6463E-5E39-4EEC-8F78-C789C5FE71CA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69909D9F-F821-41C8-B0EA-E66E35B1EA54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4" name="mvp-band-structural_mvp_factoring-3">
            <a:extLst>
              <a:ext uri="{FF2B5EF4-FFF2-40B4-BE49-F238E27FC236}">
                <ns2:creationId id="{87D45AEE-782F-4E0A-B504-F22EE2F97CBF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17EE6EB5-ABA1-4A38-8DD8-3B91A5F4DC2B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6" name="mvp-band-structural_mvp_factoring-4">
            <a:extLst>
              <a:ext uri="{FF2B5EF4-FFF2-40B4-BE49-F238E27FC236}">
                <ns2:creationId id="{35697CD8-1C08-4140-84C9-CFD87E8CFF19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3179C640-DE04-4045-A066-6990A999E803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8" name="mvp-band-structural_mvp_factoring-5">
            <a:extLst>
              <a:ext uri="{FF2B5EF4-FFF2-40B4-BE49-F238E27FC236}">
                <ns2:creationId id="{1ECB968F-92F7-44DA-8B95-36DDD7D0B376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9B833E8A-E88E-493B-BE71-2493184A764F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0" name="mvp-card-structural_mvp_factoring-18185812000114">
            <a:extLst>
              <a:ext uri="{FF2B5EF4-FFF2-40B4-BE49-F238E27FC236}">
                <ns2:creationId id="{F77535AB-11C4-4A96-826D-0293D62E211C}"/>
              </a:ext>
            </a:extLst>
          </ns0:cNvPr>
          <ns0:cNvSpPr>
            <a:spLocks noGrp="1"/>
          </ns0:cNvSpPr>
          <ns0:nvPr/>
        </ns0:nvSpPr>
        <ns0:spPr>
          <a:xfrm>
            <a:off x="79883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GAVEA SUL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R$ 562,0 mi · Sub atual 45,8%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22,0% · Estr. N/D*</a:t>
            </a:r>
          </a:p>
        </ns0:txBody>
      </ns0:sp>
      <ns0:sp>
        <ns0:nvSpPr>
          <ns0:cNvPr id="21" name="mvp-card-structural_mvp_factoring-17468142000180">
            <a:extLst>
              <a:ext uri="{FF2B5EF4-FFF2-40B4-BE49-F238E27FC236}">
                <ns2:creationId id="{B65EB38A-152B-4667-B24F-C56ECA71B3E3}"/>
              </a:ext>
            </a:extLst>
          </ns0:cNvPr>
          <ns0:cNvSpPr>
            <a:spLocks noGrp="1"/>
          </ns0:cNvSpPr>
          <ns0:nvPr/>
        </ns0:nvSpPr>
        <ns0:spPr>
          <a:xfrm>
            <a:off x="79883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VALOREM MULTISETORIAL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R$ 511,8 mi · Sub atual 47,1%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 · Estr. N/D*</a:t>
            </a:r>
          </a:p>
        </ns0:txBody>
      </ns0:sp>
      <ns0:sp>
        <ns0:nvSpPr>
          <ns0:cNvPr id="22" name="mvp-band-structural_mvp_factoring-6">
            <a:extLst>
              <a:ext uri="{FF2B5EF4-FFF2-40B4-BE49-F238E27FC236}">
                <ns2:creationId id="{84CA90AA-DA75-4F7D-9C19-1DB99CD0D089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D25046EC-F460-491E-A8C7-E3ED40BA0FE4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4" name="mvp-card-structural_mvp_factoring-11468186000124">
            <a:extLst>
              <a:ext uri="{FF2B5EF4-FFF2-40B4-BE49-F238E27FC236}">
                <ns2:creationId id="{DB5C9D00-0BEB-4FF8-ACB2-73B496D2678C}"/>
              </a:ext>
            </a:extLst>
          </ns0:cNvPr>
          <ns0:cNvSpPr>
            <a:spLocks noGrp="1"/>
          </ns0:cNvSpPr>
          <ns0:nvPr/>
        </ns0:nvSpPr>
        <ns0:spPr>
          <a:xfrm>
            <a:off x="98425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ATLANTA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R$ 3,1 bi · Sub atual 79,7%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50,0% · Estr. N/D*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7E61B742-DDE3-466E-91A7-32D2E1128C74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12001493"/>
      </ns0:ext>
    </ns0:extLst>
  </ns0:cSld>
</ns0:sld>
</file>

<file path=ppt/slides/slide2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2E00E2AB-56AC-42D1-8556-CFAB1C0BD7C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crescem 15% no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C481537-7AEE-4501-92DE-0EC38234D53C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R$ 65,5 bi em 771 ofertas no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5CF981E-EB2B-49C9-A4BB-68AFE4794B7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E0EDC1A-75E9-4FC0-B031-D694CB0566E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C02FCF7-4EFA-438C-A861-EDF8263C20B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2F06F59-4F3C-4CB5-B6AF-0BF3B7E7830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CA43C80-834B-412F-9A8E-BE6EC8CB4CF6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73A43BE3-A6A8-4C94-986C-C5BEB237C0FC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714500"/>
          <a:ext cx="5238750" cy="2333625"/>
        </ns0:xfrm>
        <a:graphic>
          <a:graphicData uri="http://schemas.openxmlformats.org/drawingml/2006/chart">
            <c:chart ns4:id="R3f4aabb050e14ea0"/>
          </a:graphicData>
        </a:graphic>
      </ns0:graphicFrame>
      <ns0:sp>
        <ns0:nvSpPr>
          <ns0:cNvPr id="10" name="">
            <a:extLst>
              <a:ext uri="{FF2B5EF4-FFF2-40B4-BE49-F238E27FC236}">
                <ns2:creationId id="{902F0440-2278-40F6-B833-1318281A9CEF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50F08F79-06E1-480A-8FC9-05FD17F5F69C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6381750" y="1714500"/>
          <a:ext cx="5238750" cy="2333625"/>
        </ns0:xfrm>
        <a:graphic>
          <a:graphicData uri="http://schemas.openxmlformats.org/drawingml/2006/chart">
            <c:chart ns4:id="R6b7d937cc61a4970"/>
          </a:graphicData>
        </a:graphic>
      </ns0:graphicFrame>
      <ns0:graphicFrame>
        <ns0:nvGraphicFramePr>
          <ns0:cNvPr id="29" name="Chart"/>
          <ns0:cNvGraphicFramePr/>
          <ns0:nvPr/>
        </ns0:nvGraphicFramePr>
        <ns0:xfrm>
          <a:off x="7715250" y="4000500"/>
          <a:ext cx="3905250" cy="209550"/>
        </ns0:xfrm>
        <a:graphic>
          <a:graphicData uri="http://schemas.openxmlformats.org/drawingml/2006/chart">
            <c:chart ns4:id="Re9d1abc8e001425e"/>
          </a:graphicData>
        </a:graphic>
      </ns0:graphicFrame>
      <ns0:sp>
        <ns0:nvSpPr>
          <ns0:cNvPr id="14" name="">
            <a:extLst>
              <a:ext uri="{FF2B5EF4-FFF2-40B4-BE49-F238E27FC236}">
                <ns2:creationId id="{B355C3E9-926C-42D7-97E5-3C943B202D10}"/>
              </a:ext>
            </a:extLst>
          </ns0:cNvPr>
          <ns0:cNvSpPr>
            <a:spLocks noGrp="1"/>
          </ns0:cNvSpPr>
          <ns0:nvPr/>
        </ns0:nvSpPr>
        <ns0:spPr>
          <a:xfrm>
            <a:off x="6381750" y="4219575"/>
            <a:ext cx="523875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ns0:txBody>
      </ns0:sp>
      <ns0:graphicFrame>
        <ns0:nvGraphicFramePr>
          <ns0:cNvPr id="31" name=""/>
          <ns0:cNvGraphicFramePr/>
          <ns0:nvPr/>
        </ns0:nvGraphicFramePr>
        <ns0:xfrm>
          <a:off x="571500" y="4286250"/>
          <a:ext cx="11049000" cy="1619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286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YTD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C5B21E50-19CE-460E-8266-E0828D6B9907}"/>
              </a:ext>
            </a:extLst>
          </ns0:cNvPr>
          <ns0:cNvSpPr>
            <a:spLocks noGrp="1"/>
          </ns0:cNvSpPr>
          <ns0:nvPr/>
        </ns0:nvSpPr>
        <ns0:spPr>
          <a:xfrm>
            <a:off x="571500" y="5962650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ns0:txBody>
      </ns0:sp>
    </ns0:spTree>
    <ns0:extLst>
      <ns0:ext uri="{BB962C8B-B14F-4D97-AF65-F5344CB8AC3E}">
        <ns5:creationId val="310974276"/>
      </ns0:ext>
    </ns0:extLst>
  </ns0:cSld>
</ns0:sld>
</file>

<file path=ppt/slides/slide2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22A6F2FB-FC06-4F1B-A970-D89599F84D27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concentram 42% de todo o volume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8661E11-686D-45DF-BF30-E6ADDD6B95CC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Tickets acima de R$ 500 mi,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E3C273A-6EE5-4CCF-86F8-7E182E47FAC2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CCB7DDB-F9CC-48DB-86FB-6C1E7CECCB3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417BD9B-CD97-4FE8-85BF-B94324B0D9D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50989F4-6050-45EB-985C-8E055355053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E628FC22-D2D7-488F-B774-52E2424F131A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E09F5F56-56FB-4DDB-AAB8-1E68C26BD7ED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4" name="Chart"/>
          <ns0:cNvGraphicFramePr/>
          <ns0:nvPr/>
        </ns0:nvGraphicFramePr>
        <ns0:xfrm>
          <a:off x="571500" y="1743075"/>
          <a:ext cx="3429000" cy="3714750"/>
        </ns0:xfrm>
        <a:graphic>
          <a:graphicData uri="http://schemas.openxmlformats.org/drawingml/2006/chart">
            <c:chart ns4:id="R1040208e42d340bf"/>
          </a:graphicData>
        </a:graphic>
      </ns0:graphicFrame>
      <ns0:sp>
        <ns0:nvSpPr>
          <ns0:cNvPr id="10" name="">
            <a:extLst>
              <a:ext uri="{FF2B5EF4-FFF2-40B4-BE49-F238E27FC236}">
                <ns2:creationId id="{DDB9C0ED-E143-4E9C-A889-E2AE3D41E1E5}"/>
              </a:ext>
            </a:extLst>
          </ns0:cNvPr>
          <ns0:cNvSpPr>
            <a:spLocks noGrp="1"/>
          </ns0:cNvSpPr>
          <ns0:nvPr/>
        </ns0:nvSpPr>
        <ns0:spPr>
          <a:xfrm>
            <a:off x="428625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01E23A3A-35ED-4E65-BF0E-628C6B54605E}"/>
              </a:ext>
            </a:extLst>
          </ns0:cNvPr>
          <ns0:cNvSpPr>
            <a:spLocks noGrp="1"/>
          </ns0:cNvSpPr>
          <ns0:nvPr/>
        </ns0:nvSpPr>
        <ns0:spPr>
          <a:xfrm>
            <a:off x="428625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7" name="Chart"/>
          <ns0:cNvGraphicFramePr/>
          <ns0:nvPr/>
        </ns0:nvGraphicFramePr>
        <ns0:xfrm>
          <a:off x="4286250" y="1743075"/>
          <a:ext cx="3429000" cy="3714750"/>
        </ns0:xfrm>
        <a:graphic>
          <a:graphicData uri="http://schemas.openxmlformats.org/drawingml/2006/chart">
            <c:chart ns4:id="R69e05383099440f7"/>
          </a:graphicData>
        </a:graphic>
      </ns0:graphicFrame>
      <ns0:sp>
        <ns0:nvSpPr>
          <ns0:cNvPr id="13" name="">
            <a:extLst>
              <a:ext uri="{FF2B5EF4-FFF2-40B4-BE49-F238E27FC236}">
                <ns2:creationId id="{48A31314-93D3-4F93-A6D5-746B2C1EF8DC}"/>
              </a:ext>
            </a:extLst>
          </ns0:cNvPr>
          <ns0:cNvSpPr>
            <a:spLocks noGrp="1"/>
          </ns0:cNvSpPr>
          <ns0:nvPr/>
        </ns0:nvSpPr>
        <ns0:spPr>
          <a:xfrm>
            <a:off x="8001000" y="1381125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60A36BAF-9812-44A5-A888-6874ACDD142B}"/>
              </a:ext>
            </a:extLst>
          </ns0:cNvPr>
          <ns0:cNvSpPr>
            <a:spLocks noGrp="1"/>
          </ns0:cNvSpPr>
          <ns0:nvPr/>
        </ns0:nvSpPr>
        <ns0:spPr>
          <a:xfrm>
            <a:off x="8001000" y="1647825"/>
            <a:ext cx="3619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0" name="Chart"/>
          <ns0:cNvGraphicFramePr/>
          <ns0:nvPr/>
        </ns0:nvGraphicFramePr>
        <ns0:xfrm>
          <a:off x="8001000" y="1743075"/>
          <a:ext cx="3619500" cy="3714750"/>
        </ns0:xfrm>
        <a:graphic>
          <a:graphicData uri="http://schemas.openxmlformats.org/drawingml/2006/chart">
            <c:chart ns4:id="Rb0ff351f77d040e9"/>
          </a:graphicData>
        </a:graphic>
      </ns0:graphicFrame>
      <ns0:graphicFrame>
        <ns0:nvGraphicFramePr>
          <ns0:cNvPr id="41" name="Chart"/>
          <ns0:cNvGraphicFramePr/>
          <ns0:nvPr/>
        </ns0:nvGraphicFramePr>
        <ns0:xfrm>
          <a:off x="4048125" y="5486400"/>
          <a:ext cx="4095750" cy="209550"/>
        </ns0:xfrm>
        <a:graphic>
          <a:graphicData uri="http://schemas.openxmlformats.org/drawingml/2006/chart">
            <c:chart ns4:id="R87c6bd0bac104045"/>
          </a:graphicData>
        </a:graphic>
      </ns0:graphicFrame>
      <ns0:sp>
        <ns0:nvSpPr>
          <ns0:cNvPr id="17" name="">
            <a:extLst>
              <a:ext uri="{FF2B5EF4-FFF2-40B4-BE49-F238E27FC236}">
                <ns2:creationId id="{D1AFC373-DC37-45DC-A64A-B30CC3621B11}"/>
              </a:ext>
            </a:extLst>
          </ns0:cNvPr>
          <ns0:cNvSpPr>
            <a:spLocks noGrp="1"/>
          </ns0:cNvSpPr>
          <ns0:nvPr/>
        </ns0:nvSpPr>
        <ns0:spPr>
          <a:xfrm>
            <a:off x="571500" y="5705475"/>
            <a:ext cx="110490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do eixo em R$ mi; fecham no limite inferior. “&gt; R$ 100 mi” é estrito e exclui ofertas exatamente iguais a R$ 100 mi.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02AD0DD0-769D-4783-BA02-1E200F0A647F}"/>
              </a:ext>
            </a:extLst>
          </ns0:cNvPr>
          <ns0:cNvSpPr>
            <a:spLocks noGrp="1"/>
          </ns0:cNvSpPr>
          <ns0:nvPr/>
        </ns0:nvSpPr>
        <ns0:spPr>
          <a:xfrm>
            <a:off x="5715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4691643F-1EF3-4C5A-8FE2-9837D09AA813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9DA7F692-9F48-4AE8-90CA-57C39F8C00DF}"/>
              </a:ext>
            </a:extLst>
          </ns0:cNvPr>
          <ns0:cNvSpPr>
            <a:spLocks noGrp="1"/>
          </ns0:cNvSpPr>
          <ns0:nvPr/>
        </ns0:nvSpPr>
        <ns0:spPr>
          <a:xfrm>
            <a:off x="414337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C7BF1CCB-DEF0-4F80-BB29-FFE63FDE6DF1}"/>
              </a:ext>
            </a:extLst>
          </ns0:cNvPr>
          <ns0:cNvSpPr>
            <a:spLocks noGrp="1"/>
          </ns0:cNvSpPr>
          <ns0:nvPr/>
        </ns0:nvSpPr>
        <ns0:spPr>
          <a:xfrm>
            <a:off x="428625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6D3B683A-0AB5-4A3A-ABD0-1CA65753782F}"/>
              </a:ext>
            </a:extLst>
          </ns0:cNvPr>
          <ns0:cNvSpPr>
            <a:spLocks noGrp="1"/>
          </ns0:cNvSpPr>
          <ns0:nvPr/>
        </ns0:nvSpPr>
        <ns0:spPr>
          <a:xfrm>
            <a:off x="428625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D5B5215C-0961-41B7-A79B-0E6350602F2F}"/>
              </a:ext>
            </a:extLst>
          </ns0:cNvPr>
          <ns0:cNvSpPr>
            <a:spLocks noGrp="1"/>
          </ns0:cNvSpPr>
          <ns0:nvPr/>
        </ns0:nvSpPr>
        <ns0:spPr>
          <a:xfrm>
            <a:off x="785812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4D942C47-1F6B-4EC7-BF8D-CC7AA3778FCF}"/>
              </a:ext>
            </a:extLst>
          </ns0:cNvPr>
          <ns0:cNvSpPr>
            <a:spLocks noGrp="1"/>
          </ns0:cNvSpPr>
          <ns0:nvPr/>
        </ns0:nvSpPr>
        <ns0:spPr>
          <a:xfrm>
            <a:off x="80010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D4DF613E-82E8-4C70-BD9D-CEEAB071E252}"/>
              </a:ext>
            </a:extLst>
          </ns0:cNvPr>
          <ns0:cNvSpPr>
            <a:spLocks noGrp="1"/>
          </ns0:cNvSpPr>
          <ns0:nvPr/>
        </ns0:nvSpPr>
        <ns0:spPr>
          <a:xfrm>
            <a:off x="80010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ns0:txBody>
      </ns0:sp>
    </ns0:spTree>
    <ns0:extLst>
      <ns0:ext uri="{BB962C8B-B14F-4D97-AF65-F5344CB8AC3E}">
        <ns5:creationId val="685753973"/>
      </ns0:ext>
    </ns0:extLst>
  </ns0:cSld>
</ns0:sld>
</file>

<file path=ppt/slides/slide2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9030EF5C-6A75-466E-851A-5AB6AFB1FFC7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C78C973-F12C-41EF-9B8D-91E25FB3A77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Garantia firme cresceu 37% YoY YTD, de R$ 10,4 bi para R$ 14,3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3BE9C8D-7476-47DE-93B4-C80C67C3E19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EA1843A-0C01-4742-99D4-0D63D34F84C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1868278-50F7-4194-8B53-A17DC12ECD2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67AA833-04A8-4F43-8E09-9C608381295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6C0F276-FAD9-4D6D-86FC-77FA33822599}"/>
              </a:ext>
            </a:extLst>
          </ns0:cNvPr>
          <ns0:cNvSpPr>
            <a:spLocks noGrp="1"/>
          </ns0:cNvSpPr>
          <ns0:nvPr/>
        </ns0:nvSpPr>
        <ns0:spPr>
          <a:xfrm>
            <a:off x="571500" y="107632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Melhores esforços repr. 70% do volume em 2026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2FC0F68-4D1C-4BF3-BD89-D7A9A0AA0605}"/>
              </a:ext>
            </a:extLst>
          </ns0:cNvPr>
          <ns0:cNvSpPr>
            <a:spLocks noGrp="1"/>
          </ns0:cNvSpPr>
          <ns0:nvPr/>
        </ns0:nvSpPr>
        <ns0:spPr>
          <a:xfrm>
            <a:off x="571500" y="130492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Número de ofertas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39C9B8F4-8E79-4B33-A034-919520AC5EF8}"/>
              </a:ext>
            </a:extLst>
          </ns0:cNvPr>
          <ns0:cNvSpPr>
            <a:spLocks noGrp="1"/>
          </ns0:cNvSpPr>
          <ns0:nvPr/>
        </ns0:nvSpPr>
        <ns0:spPr>
          <a:xfrm>
            <a:off x="571500" y="157162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571500" y="1628775"/>
          <a:ext cx="5286375" cy="1885950"/>
        </ns0:xfrm>
        <a:graphic>
          <a:graphicData uri="http://schemas.openxmlformats.org/drawingml/2006/chart">
            <c:chart ns4:id="R8032898937cd4347"/>
          </a:graphicData>
        </a:graphic>
      </ns0:graphicFrame>
      <ns0:sp>
        <ns0:nvSpPr>
          <ns0:cNvPr id="11" name="">
            <a:extLst>
              <a:ext uri="{FF2B5EF4-FFF2-40B4-BE49-F238E27FC236}">
                <ns2:creationId id="{0EB47B7E-8449-4907-A8DE-F5FA2736DD36}"/>
              </a:ext>
            </a:extLst>
          </ns0:cNvPr>
          <ns0:cNvSpPr>
            <a:spLocks noGrp="1"/>
          </ns0:cNvSpPr>
          <ns0:nvPr/>
        </ns0:nvSpPr>
        <ns0:spPr>
          <a:xfrm>
            <a:off x="6334125" y="130492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EAC717CA-3D63-418B-A3CF-8CFCFB74C01D}"/>
              </a:ext>
            </a:extLst>
          </ns0:cNvPr>
          <ns0:cNvSpPr>
            <a:spLocks noGrp="1"/>
          </ns0:cNvSpPr>
          <ns0:nvPr/>
        </ns0:nvSpPr>
        <ns0:spPr>
          <a:xfrm>
            <a:off x="6334125" y="157162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4" name="Chart"/>
          <ns0:cNvGraphicFramePr/>
          <ns0:nvPr/>
        </ns0:nvGraphicFramePr>
        <ns0:xfrm>
          <a:off x="6334125" y="1628775"/>
          <a:ext cx="5286375" cy="1885950"/>
        </ns0:xfrm>
        <a:graphic>
          <a:graphicData uri="http://schemas.openxmlformats.org/drawingml/2006/chart">
            <c:chart ns4:id="R41b57303c2e44477"/>
          </a:graphicData>
        </a:graphic>
      </ns0:graphicFrame>
      <ns0:graphicFrame>
        <ns0:nvGraphicFramePr>
          <ns0:cNvPr id="35" name="Chart"/>
          <ns0:cNvGraphicFramePr/>
          <ns0:nvPr/>
        </ns0:nvGraphicFramePr>
        <ns0:xfrm>
          <a:off x="4333875" y="3552825"/>
          <a:ext cx="3524250" cy="209550"/>
        </ns0:xfrm>
        <a:graphic>
          <a:graphicData uri="http://schemas.openxmlformats.org/drawingml/2006/chart">
            <c:chart ns4:id="R6b269dfd856d473d"/>
          </a:graphicData>
        </a:graphic>
      </ns0:graphicFrame>
      <ns0:sp>
        <ns0:nvSpPr>
          <ns0:cNvPr id="15" name="">
            <a:extLst>
              <a:ext uri="{FF2B5EF4-FFF2-40B4-BE49-F238E27FC236}">
                <ns2:creationId id="{915D1DAE-4CD3-44AE-8456-F055309BF292}"/>
              </a:ext>
            </a:extLst>
          </ns0:cNvPr>
          <ns0:cNvSpPr>
            <a:spLocks noGrp="1"/>
          </ns0:cNvSpPr>
          <ns0:nvPr/>
        </ns0:nvSpPr>
        <ns0:spPr>
          <a:xfrm>
            <a:off x="571500" y="3724275"/>
            <a:ext cx="528637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70519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% do período (Melhores esforços / Garantia firme / Misto) · 2024FY: 94 / 4 / 3%   ·   2025FY: 95 / 3 / 1%   ·   2026 jan–jun: 96 / 3 / 2%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0CC59D91-1812-438B-8CA1-F29C83AEB17C}"/>
              </a:ext>
            </a:extLst>
          </ns0:cNvPr>
          <ns0:cNvSpPr>
            <a:spLocks noGrp="1"/>
          </ns0:cNvSpPr>
          <ns0:nvPr/>
        </ns0:nvSpPr>
        <ns0:spPr>
          <a:xfrm>
            <a:off x="571500" y="386715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número de ofertas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2FB6CE8C-9D64-412B-BBB6-309DAE5DDAD4}"/>
              </a:ext>
            </a:extLst>
          </ns0:cNvPr>
          <ns0:cNvSpPr>
            <a:spLocks noGrp="1"/>
          </ns0:cNvSpPr>
          <ns0:nvPr/>
        </ns0:nvSpPr>
        <ns0:spPr>
          <a:xfrm>
            <a:off x="571500" y="413385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9" name="Chart"/>
          <ns0:cNvGraphicFramePr/>
          <ns0:nvPr/>
        </ns0:nvGraphicFramePr>
        <ns0:xfrm>
          <a:off x="571500" y="4171950"/>
          <a:ext cx="5286375" cy="1857375"/>
        </ns0:xfrm>
        <a:graphic>
          <a:graphicData uri="http://schemas.openxmlformats.org/drawingml/2006/chart">
            <c:chart ns4:id="R8d8928e97523468f"/>
          </a:graphicData>
        </a:graphic>
      </ns0:graphicFrame>
      <ns0:sp>
        <ns0:nvSpPr>
          <ns0:cNvPr id="19" name="">
            <a:extLst>
              <a:ext uri="{FF2B5EF4-FFF2-40B4-BE49-F238E27FC236}">
                <ns2:creationId id="{E47E28BB-C1E3-4520-A2A2-958A98A95E55}"/>
              </a:ext>
            </a:extLst>
          </ns0:cNvPr>
          <ns0:cNvSpPr>
            <a:spLocks noGrp="1"/>
          </ns0:cNvSpPr>
          <ns0:nvPr/>
        </ns0:nvSpPr>
        <ns0:spPr>
          <a:xfrm>
            <a:off x="6334125" y="386715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volume · R$ bi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47CA5ED1-769B-4EB6-A4F4-0FCA7701A573}"/>
              </a:ext>
            </a:extLst>
          </ns0:cNvPr>
          <ns0:cNvSpPr>
            <a:spLocks noGrp="1"/>
          </ns0:cNvSpPr>
          <ns0:nvPr/>
        </ns0:nvSpPr>
        <ns0:spPr>
          <a:xfrm>
            <a:off x="6334125" y="413385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2" name="Chart"/>
          <ns0:cNvGraphicFramePr/>
          <ns0:nvPr/>
        </ns0:nvGraphicFramePr>
        <ns0:xfrm>
          <a:off x="6334125" y="4171950"/>
          <a:ext cx="5286375" cy="1857375"/>
        </ns0:xfrm>
        <a:graphic>
          <a:graphicData uri="http://schemas.openxmlformats.org/drawingml/2006/chart">
            <c:chart ns4:id="Rf381e82b8a8b4118"/>
          </a:graphicData>
        </a:graphic>
      </ns0:graphicFrame>
    </ns0:spTree>
    <ns0:extLst>
      <ns0:ext uri="{BB962C8B-B14F-4D97-AF65-F5344CB8AC3E}">
        <ns5:creationId val="1282768107"/>
      </ns0:ext>
    </ns0:extLst>
  </ns0:cSld>
</ns0:sld>
</file>

<file path=ppt/slides/slide2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31785CB7-875D-455F-83C1-90DF7EE9931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esteve em 8 das 15 maiores ofertas do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62816E2-7C67-462A-94AF-B73543190CA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Liderou 5 delas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1551627-05D1-4B98-982F-F4A46164BD9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E9411A8-0BD0-4956-AF71-69E29321AB5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347F925-46D7-41EA-A845-7CFC9686985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jan–jun/26,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01F667B-DB8C-4B4F-AF34-5CF6DFDA480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13DB19D-E062-4246-A065-A5CFCFD07174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98B1222-AFA5-4F02-9BCA-3C6496997CCA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24947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 até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22244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25826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65976848000104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24712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63572282000111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25379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63546406000194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65839682000176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23614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63733796000101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24212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64118207000148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24371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25708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24266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63505455000189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26532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66226355000101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23529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61669748000176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23032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44302112000172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0DD5A512-E068-4D29-96DE-F1734FA454BE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R$ 23,82 bi · 36,4%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071552694"/>
      </ns0:ext>
    </ns0:extLst>
  </ns0:cSld>
</ns0:sld>
</file>

<file path=ppt/slides/slide2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38FACFB-5880-452F-AA55-4D17F3024CBE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15 maiores ofertas de 2025 mantêm a base anual de comparação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E89A887-6A8D-4CDC-9767-5EBA9F23A649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 · ofertas primárias encerradas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C69E6A0-4C88-429E-A8A5-EB232289A76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7DF8627-DB82-415A-8F90-A11C48EF5292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3C640C9-C41B-42FE-9EF7-C50C50CC50E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2025FY,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2A341F5-C860-453A-84BA-3CCD0C9F3CDF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2412EE1-5E62-4228-B2E9-7673D950542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 FY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E38BE32-CA37-4ABC-85EB-D4B9309A448D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17862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20185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23734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20351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60528786000146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19640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56924942000110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20694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Livre*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21550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60598366000136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22987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63321684000143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19298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58349979000198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TERA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61188091000125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61271872000189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745B63D0-0274-445F-A6AA-69434D4E32C2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R$ 26,23 bi · 22,4%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689726509"/>
      </ns0:ext>
    </ns0:extLst>
  </ns0:cSld>
</ns0:sld>
</file>

<file path=ppt/slides/slide2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26BC475B-2774-4E58-8688-98E143E4CA6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392DC83-64A5-4D3F-A655-D3273BE6A194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DABD588-7C46-48EB-A910-F5E69586F37A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71E2EA4-D494-4C2C-A7D2-67AE14525F9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A6E75E56-D86B-41D1-8E8D-12965BB621B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51F5408-ADA9-4697-94B0-8506E482BF6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A11C2BC-8F2E-45FA-B0D6-F0A3A82A98D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B325FC4-D862-4C8C-A5F0-A6A7CB084218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57532556000146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15612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Liberum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CCC(FE)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52256912000122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17739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54810968000102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BMG*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5658ABA5-89C9-42F2-B58B-1B07787C7F9E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1727869050"/>
      </ns0:ext>
    </ns0:extLst>
  </ns0:cSld>
</ns0:sld>
</file>

<file path=ppt/slides/slide3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97E68D8-2863-49E3-836A-67B8495D1D7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00E0117-993F-4B20-854D-F9D21C708F0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0A9F1FE-23E2-44C8-B2AF-9266EF03BF9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A1D419A-1092-4E0C-86BE-B9A12C18199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D54BB69-DDD8-4189-9D6D-3772A077849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4C59758-BBBC-4F26-A1FB-2986AE37F90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B8BD04D2-E411-4662-ADF7-6091CBACE063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E7674F6F-1247-43C6-A04D-0B624E385E14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46450551000158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16416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55471753000177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18027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46073195000109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57028406000108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14966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54218673000141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15820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55070804000159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IBM*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CBD5527-B318-47F5-A836-933CBA0923DD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R$ 28,93 bi · 30,3% do período. * = exceção ou múltiplas classes.</a:t>
            </a:r>
          </a:p>
        </ns0:txBody>
      </ns0:sp>
    </ns0:spTree>
    <ns0:extLst>
      <ns0:ext uri="{BB962C8B-B14F-4D97-AF65-F5344CB8AC3E}">
        <ns3:creationId val="1969888237"/>
      </ns0:ext>
    </ns0:extLst>
  </ns0:cSld>
</ns0:sld>
</file>

<file path=ppt/slides/slide3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53985602-76A3-487D-BA10-196F5B4AD64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802F34D-8CDA-491D-9D31-E43FEC65DD1B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0665A99-758C-4058-BB03-9D72597CF49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5A62696-531C-4707-BB93-E670426D4B2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30149DF-FEA2-4A57-9885-4433645B6051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47CE933-B6CA-4D00-8390-898E7838FE2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C600940-1772-416A-BD80-A13A13B9AC6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B430E57-8E98-41E4-992A-70F882122D19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51983832000106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816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48905593000161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51957370000152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brAA+(sf)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49306883000151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3491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47936340000192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BASF*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3EC2DA36-DA24-4ECE-8B54-905D38670FBA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469835294"/>
      </ns0:ext>
    </ns0:extLst>
  </ns0:cSld>
</ns0:sld>
</file>

<file path=ppt/slides/slide3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15D4ED7E-B637-46EF-A403-C46C240B84F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C4B47E0-5FD5-4ABE-A3A0-76F4E9F52BCC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C65331C-C583-491D-97DA-D953356F1AA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F420FF8-D630-4CE0-921A-71CD2771299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25B42D8-087E-4CB7-B617-C784FBF7CD6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D1C9C3A-B716-4E7C-9A44-62D68918DB8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979D4D3-F054-4994-8821-CCF2323063F9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4486C73B-F3FA-40F6-8412-3E270FDD798A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3865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34850088000152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49920525000134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2004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50098465000103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Braskem*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1131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24761946000139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50988212000105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50440392000188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35159296000172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333CFB0C-7B03-4499-A6F7-69BAE47A9F9C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R$ 9,65 bi · 36,5% do período. * = exceção ou múltiplas classes.</a:t>
            </a:r>
          </a:p>
        </ns0:txBody>
      </ns0:sp>
    </ns0:spTree>
    <ns0:extLst>
      <ns0:ext uri="{BB962C8B-B14F-4D97-AF65-F5344CB8AC3E}">
        <ns3:creationId val="977681061"/>
      </ns0:ext>
    </ns0:extLst>
  </ns0:cSld>
</ns0:sld>
</file>

<file path=ppt/slides/slide3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8" name="">
            <a:extLst>
              <a:ext uri="{FF2B5EF4-FFF2-40B4-BE49-F238E27FC236}">
                <ns2:creationId id="{60D0245F-7402-4D4F-A7E3-59E02192E23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 que muda a leitura do mercado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4CFAEE6-3734-44E3-8255-627B18ADC65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FF9E637-564A-40BA-B2C2-A372EF69611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6CCE441-D07D-4D47-8CEE-29978656F4D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666FF43-0D96-40CF-B258-B3AA906F6B1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56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no universo elegível; Top 10 ex-Petrobras/TAPSO. BTG: 30/32 raízes observadas; ofertas CVM e ANBIMA até 30/jun/26.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5D419CB-4CDA-4331-88C3-6A903DEC7D7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403A9AD-22B3-4C6A-B09A-1A6207F5D990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7D2A0843-CB03-43DA-914E-BF5880728F12}"/>
              </a:ext>
            </a:extLst>
          </ns0:cNvPr>
          <ns0:cNvSpPr>
            <a:spLocks noGrp="1"/>
          </ns0:cNvSpPr>
          <ns0:nvPr/>
        </ns0:nvSpPr>
        <ns0:spPr>
          <a:xfrm>
            <a:off x="571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C6927A46-F35B-4349-A4AC-20B56FD2A0CD}"/>
              </a:ext>
            </a:extLst>
          </ns0:cNvPr>
          <ns0:cNvSpPr>
            <a:spLocks noGrp="1"/>
          </ns0:cNvSpPr>
          <ns0:nvPr/>
        </ns0:nvSpPr>
        <ns0:spPr>
          <a:xfrm>
            <a:off x="571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C85AD029-4E11-4A64-B57A-2A5ADD35EE2F}"/>
              </a:ext>
            </a:extLst>
          </ns0:cNvPr>
          <ns0:cNvSpPr>
            <a:spLocks noGrp="1"/>
          </ns0:cNvSpPr>
          <ns0:nvPr/>
        </ns0:nvSpPr>
        <ns0:spPr>
          <a:xfrm>
            <a:off x="6286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D8FD3294-E2D8-4617-A3FF-26B49D2E7499}"/>
              </a:ext>
            </a:extLst>
          </ns0:cNvPr>
          <ns0:cNvSpPr>
            <a:spLocks noGrp="1"/>
          </ns0:cNvSpPr>
          <ns0:nvPr/>
        </ns0:nvSpPr>
        <ns0:spPr>
          <a:xfrm>
            <a:off x="6286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90,7% do PL: nove em cada dez reais da indústria.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40,4% do PL.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2FD86EB-9EFF-4B5E-BC69-8980FBB4A9A1}"/>
              </a:ext>
            </a:extLst>
          </ns0:cNvPr>
          <ns0:cNvSpPr>
            <a:spLocks noGrp="1"/>
          </ns0:cNvSpPr>
          <ns0:nvPr/>
        </ns0:nvSpPr>
        <ns0:spPr>
          <a:xfrm>
            <a:off x="6286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9336CD55-340E-4973-931F-3F2B1A701E2F}"/>
              </a:ext>
            </a:extLst>
          </ns0:cNvPr>
          <ns0:cNvSpPr>
            <a:spLocks noGrp="1"/>
          </ns0:cNvSpPr>
          <ns0:nvPr/>
        </ns0:nvSpPr>
        <ns0:spPr>
          <a:xfrm>
            <a:off x="571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1197C29A-F107-4A86-BC9E-635E43CDEEC4}"/>
              </a:ext>
            </a:extLst>
          </ns0:cNvPr>
          <ns0:cNvSpPr>
            <a:spLocks noGrp="1"/>
          </ns0:cNvSpPr>
          <ns0:nvPr/>
        </ns0:nvSpPr>
        <ns0:spPr>
          <a:xfrm>
            <a:off x="571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35,1% do PL continuante já havia migrado de administrador até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A62E5B78-901D-4F17-BEB5-B820615B9D30}"/>
              </a:ext>
            </a:extLst>
          </ns0:cNvPr>
          <ns0:cNvSpPr>
            <a:spLocks noGrp="1"/>
          </ns0:cNvSpPr>
          <ns0:nvPr/>
        </ns0:nvSpPr>
        <ns0:spPr>
          <a:xfrm>
            <a:off x="571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A46A7CBC-C9AC-4951-B62E-8C8D5AE3F168}"/>
              </a:ext>
            </a:extLst>
          </ns0:cNvPr>
          <ns0:cNvSpPr>
            <a:spLocks noGrp="1"/>
          </ns0:cNvSpPr>
          <ns0:nvPr/>
        </ns0:nvSpPr>
        <ns0:spPr>
          <a:xfrm>
            <a:off x="6286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BEE40076-94BB-4FF1-851D-65E5CDBFCE77}"/>
              </a:ext>
            </a:extLst>
          </ns0:cNvPr>
          <ns0:cNvSpPr>
            <a:spLocks noGrp="1"/>
          </ns0:cNvSpPr>
          <ns0:nvPr/>
        </ns0:nvSpPr>
        <ns0:spPr>
          <a:xfrm>
            <a:off x="6286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7,6% do PL comparável trocou de administrador entre dez/24 e dez/25: R$ 32,4 bi em 243 fundos.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28% do volume migrado, com R$ 8,9 bi transferidos de Oliveira Trust para Bradesco.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4A04EF9A-6B03-4932-8CCB-D0806ADAFB43}"/>
              </a:ext>
            </a:extLst>
          </ns0:cNvPr>
          <ns0:cNvSpPr>
            <a:spLocks noGrp="1"/>
          </ns0:cNvSpPr>
          <ns0:nvPr/>
        </ns0:nvSpPr>
        <ns0:spPr>
          <a:xfrm>
            <a:off x="6286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A56D30A6-8E74-416B-A333-CB6947DB70C5}"/>
              </a:ext>
            </a:extLst>
          </ns0:cNvPr>
          <ns0:cNvSpPr>
            <a:spLocks noGrp="1"/>
          </ns0:cNvSpPr>
          <ns0:nvPr/>
        </ns0:nvSpPr>
        <ns0:spPr>
          <a:xfrm>
            <a:off x="571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E1335F16-32CD-4BB9-921C-277124C38730}"/>
              </a:ext>
            </a:extLst>
          </ns0:cNvPr>
          <ns0:cNvSpPr>
            <a:spLocks noGrp="1"/>
          </ns0:cNvSpPr>
          <ns0:nvPr/>
        </ns0:nvSpPr>
        <ns0:spPr>
          <a:xfrm>
            <a:off x="571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38,9% do PL ex-FIC; a líder, BTG, tem 11,0%.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71,5% e 73,5% do PL nos dez maiores grupos, praticamente o dobro da concentração em gestão.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05A99941-FD9E-440C-8ABB-B61D48878D0A}"/>
              </a:ext>
            </a:extLst>
          </ns0:cNvPr>
          <ns0:cNvSpPr>
            <a:spLocks noGrp="1"/>
          </ns0:cNvSpPr>
          <ns0:nvPr/>
        </ns0:nvSpPr>
        <ns0:spPr>
          <a:xfrm>
            <a:off x="571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0DA85439-B0BB-484F-B8CA-041075E4BBC5}"/>
              </a:ext>
            </a:extLst>
          </ns0:cNvPr>
          <ns0:cNvSpPr>
            <a:spLocks noGrp="1"/>
          </ns0:cNvSpPr>
          <ns0:nvPr/>
        </ns0:nvSpPr>
        <ns0:spPr>
          <a:xfrm>
            <a:off x="6286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8ADEC5AA-ABB2-4083-93E7-AF33EF7648C5}"/>
              </a:ext>
            </a:extLst>
          </ns0:cNvPr>
          <ns0:cNvSpPr>
            <a:spLocks noGrp="1"/>
          </ns0:cNvSpPr>
          <ns0:nvPr/>
        </ns0:nvSpPr>
        <ns0:spPr>
          <a:xfrm>
            <a:off x="6286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66,0% dos R$ 77,7 bi de PL ex-FIC atendidos pelo BTG nas três funções.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3D4C76EB-B4BD-4658-ABE7-341F41D7611A}"/>
              </a:ext>
            </a:extLst>
          </ns0:cNvPr>
          <ns0:cNvSpPr>
            <a:spLocks noGrp="1"/>
          </ns0:cNvSpPr>
          <ns0:nvPr/>
        </ns0:nvSpPr>
        <ns0:spPr>
          <a:xfrm>
            <a:off x="6286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65BE49B6-2CCF-42AE-8C89-5DC7214DDE74}"/>
              </a:ext>
            </a:extLst>
          </ns0:cNvPr>
          <ns0:cNvSpPr>
            <a:spLocks noGrp="1"/>
          </ns0:cNvSpPr>
          <ns0:nvPr/>
        </ns0:nvSpPr>
        <ns0:spPr>
          <a:xfrm>
            <a:off x="571500" y="49149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09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8195F416-A82B-4499-AB9B-003D4AED3579}"/>
              </a:ext>
            </a:extLst>
          </ns0:cNvPr>
          <ns0:cNvSpPr>
            <a:spLocks noGrp="1"/>
          </ns0:cNvSpPr>
          <ns0:nvPr/>
        </ns0:nvSpPr>
        <ns0:spPr>
          <a:xfrm>
            <a:off x="571500" y="51530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178FC20F-8316-4CE5-B004-7515631A4B80}"/>
              </a:ext>
            </a:extLst>
          </ns0:cNvPr>
          <ns0:cNvSpPr>
            <a:spLocks noGrp="1"/>
          </ns0:cNvSpPr>
          <ns0:nvPr/>
        </ns0:nvSpPr>
        <ns0:spPr>
          <a:xfrm>
            <a:off x="571500" y="60293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</ns0:spTree>
    <ns0:extLst>
      <ns0:ext uri="{BB962C8B-B14F-4D97-AF65-F5344CB8AC3E}">
        <ns3:creationId val="352969318"/>
      </ns0:ext>
    </ns0:extLst>
  </ns0:cSld>
</ns0:sld>
</file>

<file path=ppt/slides/slide3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7D9394A5-0EB9-4912-B874-6B27AD51241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0033EBA-E732-457F-992B-575F5E5F118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Ranking geral de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03F57C3-4E5D-4448-9775-7D726A87656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80DCA66-B4CE-40D5-BF8D-F0870F6BB94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91290C1-F04B-4200-95F1-E1FC98B2747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0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5EF9D08-CC2E-41F6-A27F-CBD0D618FFD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ns0:txBody>
      </ns0:sp>
      <ns0:graphicFrame>
        <ns0:nvGraphicFramePr>
          <ns0:cNvPr id="28" name="Chart"/>
          <ns0:cNvGraphicFramePr/>
          <ns0:nvPr/>
        </ns0:nvGraphicFramePr>
        <ns0:xfrm>
          <a:off x="1524000" y="1133475"/>
          <a:ext cx="9144000" cy="209550"/>
        </ns0:xfrm>
        <a:graphic>
          <a:graphicData uri="http://schemas.openxmlformats.org/drawingml/2006/chart">
            <c:chart ns4:id="Re6e293c0411b476b"/>
          </a:graphicData>
        </a:graphic>
      </ns0:graphicFrame>
      <ns0:sp>
        <ns0:nvSpPr>
          <ns0:cNvPr id="8" name="">
            <a:extLst>
              <a:ext uri="{FF2B5EF4-FFF2-40B4-BE49-F238E27FC236}">
                <ns2:creationId id="{0F910057-E5D3-4014-8E64-A4DB65731488}"/>
              </a:ext>
            </a:extLst>
          </ns0:cNvPr>
          <ns0:cNvSpPr>
            <a:spLocks noGrp="1"/>
          </ns0:cNvSpPr>
          <ns0:nvPr/>
        </ns0:nvSpPr>
        <ns0:spPr>
          <a:xfrm>
            <a:off x="571500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5F432A8E-8233-4198-8F88-6156BF0DB3E9}"/>
              </a:ext>
            </a:extLst>
          </ns0:cNvPr>
          <ns0:cNvSpPr>
            <a:spLocks noGrp="1"/>
          </ns0:cNvSpPr>
          <ns0:nvPr/>
        </ns0:nvSpPr>
        <ns0:spPr>
          <a:xfrm>
            <a:off x="6334125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88AE8F23-35FF-4036-8EF8-9468F151AA5C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ns0:txBody>
      </ns0:sp>
      <ns0:graphicFrame>
        <ns0:nvGraphicFramePr>
          <ns0:cNvPr id="32" name="Chart"/>
          <ns0:cNvGraphicFramePr/>
          <ns0:nvPr/>
        </ns0:nvGraphicFramePr>
        <ns0:xfrm>
          <a:off x="571500" y="1752600"/>
          <a:ext cx="5286375" cy="1333500"/>
        </ns0:xfrm>
        <a:graphic>
          <a:graphicData uri="http://schemas.openxmlformats.org/drawingml/2006/chart">
            <c:chart ns4:id="R69e2e272add64d8e"/>
          </a:graphicData>
        </a:graphic>
      </ns0:graphicFrame>
      <ns0:sp>
        <ns0:nvSpPr>
          <ns0:cNvPr id="12" name="">
            <a:extLst>
              <a:ext uri="{FF2B5EF4-FFF2-40B4-BE49-F238E27FC236}">
                <ns2:creationId id="{94783C41-65F0-4EF2-8A59-A4551ECE6C43}"/>
              </a:ext>
            </a:extLst>
          </ns0:cNvPr>
          <ns0:cNvSpPr>
            <a:spLocks noGrp="1"/>
          </ns0:cNvSpPr>
          <ns0:nvPr/>
        </ns0:nvSpPr>
        <ns0:spPr>
          <a:xfrm>
            <a:off x="6334125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ns0:txBody>
      </ns0:sp>
      <ns0:graphicFrame>
        <ns0:nvGraphicFramePr>
          <ns0:cNvPr id="34" name="Chart"/>
          <ns0:cNvGraphicFramePr/>
          <ns0:nvPr/>
        </ns0:nvGraphicFramePr>
        <ns0:xfrm>
          <a:off x="6334125" y="1752600"/>
          <a:ext cx="5286375" cy="1333500"/>
        </ns0:xfrm>
        <a:graphic>
          <a:graphicData uri="http://schemas.openxmlformats.org/drawingml/2006/chart">
            <c:chart ns4:id="R7a631feebbdf49b2"/>
          </a:graphicData>
        </a:graphic>
      </ns0:graphicFrame>
      <ns0:sp>
        <ns0:nvSpPr>
          <ns0:cNvPr id="14" name="">
            <a:extLst>
              <a:ext uri="{FF2B5EF4-FFF2-40B4-BE49-F238E27FC236}">
                <ns2:creationId id="{17FDF7BF-A762-4CE1-95F2-E34E8A44B188}"/>
              </a:ext>
            </a:extLst>
          </ns0:cNvPr>
          <ns0:cNvSpPr>
            <a:spLocks noGrp="1"/>
          </ns0:cNvSpPr>
          <ns0:nvPr/>
        </ns0:nvSpPr>
        <ns0:spPr>
          <a:xfrm>
            <a:off x="571500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ns0:txBody>
      </ns0:sp>
      <ns0:graphicFrame>
        <ns0:nvGraphicFramePr>
          <ns0:cNvPr id="36" name="Chart"/>
          <ns0:cNvGraphicFramePr/>
          <ns0:nvPr/>
        </ns0:nvGraphicFramePr>
        <ns0:xfrm>
          <a:off x="571500" y="3286125"/>
          <a:ext cx="5286375" cy="1333500"/>
        </ns0:xfrm>
        <a:graphic>
          <a:graphicData uri="http://schemas.openxmlformats.org/drawingml/2006/chart">
            <c:chart ns4:id="Reed86e5aaab54342"/>
          </a:graphicData>
        </a:graphic>
      </ns0:graphicFrame>
      <ns0:sp>
        <ns0:nvSpPr>
          <ns0:cNvPr id="16" name="">
            <a:extLst>
              <a:ext uri="{FF2B5EF4-FFF2-40B4-BE49-F238E27FC236}">
                <ns2:creationId id="{3F2DEB5B-0771-45DB-9210-E5E9E4B7A6BE}"/>
              </a:ext>
            </a:extLst>
          </ns0:cNvPr>
          <ns0:cNvSpPr>
            <a:spLocks noGrp="1"/>
          </ns0:cNvSpPr>
          <ns0:nvPr/>
        </ns0:nvSpPr>
        <ns0:spPr>
          <a:xfrm>
            <a:off x="6334125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ns0:txBody>
      </ns0:sp>
      <ns0:graphicFrame>
        <ns0:nvGraphicFramePr>
          <ns0:cNvPr id="38" name="Chart"/>
          <ns0:cNvGraphicFramePr/>
          <ns0:nvPr/>
        </ns0:nvGraphicFramePr>
        <ns0:xfrm>
          <a:off x="6334125" y="3286125"/>
          <a:ext cx="5286375" cy="1333500"/>
        </ns0:xfrm>
        <a:graphic>
          <a:graphicData uri="http://schemas.openxmlformats.org/drawingml/2006/chart">
            <c:chart ns4:id="R4fd43df48c56492e"/>
          </a:graphicData>
        </a:graphic>
      </ns0:graphicFrame>
      <ns0:sp>
        <ns0:nvSpPr>
          <ns0:cNvPr id="18" name="">
            <a:extLst>
              <a:ext uri="{FF2B5EF4-FFF2-40B4-BE49-F238E27FC236}">
                <ns2:creationId id="{88DF6F78-8CDD-4DA8-B985-DDF19BB474BC}"/>
              </a:ext>
            </a:extLst>
          </ns0:cNvPr>
          <ns0:cNvSpPr>
            <a:spLocks noGrp="1"/>
          </ns0:cNvSpPr>
          <ns0:nvPr/>
        </ns0:nvSpPr>
        <ns0:spPr>
          <a:xfrm>
            <a:off x="571500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ns0:txBody>
      </ns0:sp>
      <ns0:graphicFrame>
        <ns0:nvGraphicFramePr>
          <ns0:cNvPr id="40" name="Chart"/>
          <ns0:cNvGraphicFramePr/>
          <ns0:nvPr/>
        </ns0:nvGraphicFramePr>
        <ns0:xfrm>
          <a:off x="571500" y="4819650"/>
          <a:ext cx="5286375" cy="1333500"/>
        </ns0:xfrm>
        <a:graphic>
          <a:graphicData uri="http://schemas.openxmlformats.org/drawingml/2006/chart">
            <c:chart ns4:id="R945a44dbd922409d"/>
          </a:graphicData>
        </a:graphic>
      </ns0:graphicFrame>
      <ns0:sp>
        <ns0:nvSpPr>
          <ns0:cNvPr id="20" name="">
            <a:extLst>
              <a:ext uri="{FF2B5EF4-FFF2-40B4-BE49-F238E27FC236}">
                <ns2:creationId id="{E5CB1CFB-E4F4-475E-908A-655A64519F8D}"/>
              </a:ext>
            </a:extLst>
          </ns0:cNvPr>
          <ns0:cNvSpPr>
            <a:spLocks noGrp="1"/>
          </ns0:cNvSpPr>
          <ns0:nvPr/>
        </ns0:nvSpPr>
        <ns0:spPr>
          <a:xfrm>
            <a:off x="6334125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ns0:txBody>
      </ns0:sp>
      <ns0:graphicFrame>
        <ns0:nvGraphicFramePr>
          <ns0:cNvPr id="42" name="Chart"/>
          <ns0:cNvGraphicFramePr/>
          <ns0:nvPr/>
        </ns0:nvGraphicFramePr>
        <ns0:xfrm>
          <a:off x="6334125" y="4819650"/>
          <a:ext cx="5286375" cy="1333500"/>
        </ns0:xfrm>
        <a:graphic>
          <a:graphicData uri="http://schemas.openxmlformats.org/drawingml/2006/chart">
            <c:chart ns4:id="R0c8fe5bcdef6413d"/>
          </a:graphicData>
        </a:graphic>
      </ns0:graphicFrame>
    </ns0:spTree>
    <ns0:extLst>
      <ns0:ext uri="{BB962C8B-B14F-4D97-AF65-F5344CB8AC3E}">
        <ns5:creationId val="2147358112"/>
      </ns0:ext>
    </ns0:extLst>
  </ns0:cSld>
</ns0:sld>
</file>

<file path=ppt/slides/slide3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1" name="">
            <a:extLst>
              <a:ext uri="{FF2B5EF4-FFF2-40B4-BE49-F238E27FC236}">
                <ns2:creationId id="{91A82F80-ADD3-41C3-B09C-023B7ECC6582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A5BFF8F-A83A-4BED-B114-B7385FA165D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38,9%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D3E4DF4-2549-4C5F-B6F0-2AE08B24B33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6268DED-DF67-4BA0-BCA8-65B9A8375DA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DDB5413-21E8-4462-9CF6-F7ED99E004B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763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2758A58-02EC-441B-8DC8-046043FF6AAF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62D564C-B8B2-473A-8723-3563746679BE}"/>
              </a:ext>
            </a:extLst>
          </ns0:cNvPr>
          <ns0:cNvSpPr>
            <a:spLocks noGrp="1"/>
          </ns0:cNvSpPr>
          <ns0:nvPr/>
        </ns0:nvSpPr>
        <ns0:spPr>
          <a:xfrm>
            <a:off x="5715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817A77D-68E3-4E38-816E-086808D471B2}"/>
              </a:ext>
            </a:extLst>
          </ns0:cNvPr>
          <ns0:cNvSpPr>
            <a:spLocks noGrp="1"/>
          </ns0:cNvSpPr>
          <ns0:nvPr/>
        </ns0:nvSpPr>
        <ns0:spPr>
          <a:xfrm>
            <a:off x="5715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571500" y="1857375"/>
          <a:ext cx="5143500" cy="3000375"/>
        </ns0:xfrm>
        <a:graphic>
          <a:graphicData uri="http://schemas.openxmlformats.org/drawingml/2006/chart">
            <c:chart ns4:id="Re990aa5885fa40e3"/>
          </a:graphicData>
        </a:graphic>
      </ns0:graphicFrame>
      <ns0:sp>
        <ns0:nvSpPr>
          <ns0:cNvPr id="10" name="">
            <a:extLst>
              <a:ext uri="{FF2B5EF4-FFF2-40B4-BE49-F238E27FC236}">
                <ns2:creationId id="{98716B41-9D45-4EAE-8298-5AC4122EAD8D}"/>
              </a:ext>
            </a:extLst>
          </ns0:cNvPr>
          <ns0:cNvSpPr>
            <a:spLocks noGrp="1"/>
          </ns0:cNvSpPr>
          <ns0:nvPr/>
        </ns0:nvSpPr>
        <ns0:spPr>
          <a:xfrm>
            <a:off x="5715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A10E9AC9-63A1-4BA5-B781-5BEAC5BD9744}"/>
              </a:ext>
            </a:extLst>
          </ns0:cNvPr>
          <ns0:cNvSpPr>
            <a:spLocks noGrp="1"/>
          </ns0:cNvSpPr>
          <ns0:nvPr/>
        </ns0:nvSpPr>
        <ns0:spPr>
          <a:xfrm>
            <a:off x="64770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5AD5DFCF-51F8-4D3F-840C-C71B5A30E206}"/>
              </a:ext>
            </a:extLst>
          </ns0:cNvPr>
          <ns0:cNvSpPr>
            <a:spLocks noGrp="1"/>
          </ns0:cNvSpPr>
          <ns0:nvPr/>
        </ns0:nvSpPr>
        <ns0:spPr>
          <a:xfrm>
            <a:off x="64770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3" name="Chart"/>
          <ns0:cNvGraphicFramePr/>
          <ns0:nvPr/>
        </ns0:nvGraphicFramePr>
        <ns0:xfrm>
          <a:off x="6477000" y="1857375"/>
          <a:ext cx="5143500" cy="3000375"/>
        </ns0:xfrm>
        <a:graphic>
          <a:graphicData uri="http://schemas.openxmlformats.org/drawingml/2006/chart">
            <c:chart ns4:id="Rbf76bd4b9db7433f"/>
          </a:graphicData>
        </a:graphic>
      </ns0:graphicFrame>
      <ns0:sp>
        <ns0:nvSpPr>
          <ns0:cNvPr id="14" name="">
            <a:extLst>
              <a:ext uri="{FF2B5EF4-FFF2-40B4-BE49-F238E27FC236}">
                <ns2:creationId id="{C65016CF-910E-4799-91CF-05B8FB5A4E16}"/>
              </a:ext>
            </a:extLst>
          </ns0:cNvPr>
          <ns0:cNvSpPr>
            <a:spLocks noGrp="1"/>
          </ns0:cNvSpPr>
          <ns0:nvPr/>
        </ns0:nvSpPr>
        <ns0:spPr>
          <a:xfrm>
            <a:off x="64770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2523E2ED-437A-4646-97F5-617AEEE54382}"/>
              </a:ext>
            </a:extLst>
          </ns0:cNvPr>
          <ns0:cNvSpPr>
            <a:spLocks noGrp="1"/>
          </ns0:cNvSpPr>
          <ns0:nvPr/>
        </ns0:nvSpPr>
        <ns0:spPr>
          <a:xfrm>
            <a:off x="571500" y="51911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67253567-8EA6-4704-8D1B-2307E076F5EB}"/>
              </a:ext>
            </a:extLst>
          </ns0:cNvPr>
          <ns0:cNvSpPr>
            <a:spLocks noGrp="1"/>
          </ns0:cNvSpPr>
          <ns0:nvPr/>
        </ns0:nvSpPr>
        <ns0:spPr>
          <a:xfrm>
            <a:off x="571500" y="5429250"/>
            <a:ext cx="110490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98,9% → 99,8%; custódia 97,8% → 98,8%.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C87DFC7E-3BEA-46F7-8338-2C342AF5D4B3}"/>
              </a:ext>
            </a:extLst>
          </ns0:cNvPr>
          <ns0:cNvSpPr>
            <a:spLocks noGrp="1"/>
          </ns0:cNvSpPr>
          <ns0:nvPr/>
        </ns0:nvSpPr>
        <ns0:spPr>
          <a:xfrm>
            <a:off x="9239250" y="1285875"/>
            <a:ext cx="76200" cy="76200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D0C7AAF4-5C9A-4B52-BC21-359EB228776D}"/>
              </a:ext>
            </a:extLst>
          </ns0:cNvPr>
          <ns0:cNvSpPr>
            <a:spLocks noGrp="1"/>
          </ns0:cNvSpPr>
          <ns0:nvPr/>
        </ns0:nvSpPr>
        <ns0:spPr>
          <a:xfrm>
            <a:off x="9363075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2CF15596-7B82-444A-9433-99133A3FF25C}"/>
              </a:ext>
            </a:extLst>
          </ns0:cNvPr>
          <ns0:cNvSpPr>
            <a:spLocks noGrp="1"/>
          </ns0:cNvSpPr>
          <ns0:nvPr/>
        </ns0:nvSpPr>
        <ns0:spPr>
          <a:xfrm>
            <a:off x="10429875" y="128587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7EFB035B-60CA-4A86-B394-819D0EA15C56}"/>
              </a:ext>
            </a:extLst>
          </ns0:cNvPr>
          <ns0:cNvSpPr>
            <a:spLocks noGrp="1"/>
          </ns0:cNvSpPr>
          <ns0:nvPr/>
        </ns0:nvSpPr>
        <ns0:spPr>
          <a:xfrm>
            <a:off x="10553700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ns0:txBody>
      </ns0:sp>
    </ns0:spTree>
    <ns0:extLst>
      <ns0:ext uri="{BB962C8B-B14F-4D97-AF65-F5344CB8AC3E}">
        <ns5:creationId val="100198366"/>
      </ns0:ext>
    </ns0:extLst>
  </ns0:cSld>
</ns0:sld>
</file>

<file path=ppt/slides/slide3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651779FE-1836-4ADF-80A0-5DD54D1FB5A0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Quase todo o volume vai para o investidor profissional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89BFC8E-26B7-40A1-B30F-86065A06802C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Entre 93% e 97% ao ano; a classificação mede elegibilidade, não alocação efetiva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6A4F843-47C5-48D0-A03B-BD1935938A7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52E9B1F-56DA-40F2-A33F-4A272C5423A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9EC2DA0-6A42-47B8-B4FE-D79AFEA6519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8BFEA1E-01C8-4512-827F-824B19A2E0F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9E557AD-4E2B-4381-BDB0-46146AEBA765}"/>
              </a:ext>
            </a:extLst>
          </ns0:cNvPr>
          <ns0:cNvSpPr>
            <a:spLocks noGrp="1"/>
          </ns0:cNvSpPr>
          <ns0:nvPr/>
        </ns0:nvSpPr>
        <ns0:spPr>
          <a:xfrm>
            <a:off x="571500" y="133350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634F777C-8B77-4CA5-981D-9D220FBB02ED}"/>
              </a:ext>
            </a:extLst>
          </ns0:cNvPr>
          <ns0:cNvSpPr>
            <a:spLocks noGrp="1"/>
          </ns0:cNvSpPr>
          <ns0:nvPr/>
        </ns0:nvSpPr>
        <ns0:spPr>
          <a:xfrm>
            <a:off x="571500" y="160020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666875"/>
          <a:ext cx="6572250" cy="1809750"/>
        </ns0:xfrm>
        <a:graphic>
          <a:graphicData uri="http://schemas.openxmlformats.org/drawingml/2006/chart">
            <c:chart ns4:id="R1edc54ab1be94cbc"/>
          </a:graphicData>
        </a:graphic>
      </ns0:graphicFrame>
      <ns0:sp>
        <ns0:nvSpPr>
          <ns0:cNvPr id="10" name="">
            <a:extLst>
              <a:ext uri="{FF2B5EF4-FFF2-40B4-BE49-F238E27FC236}">
                <ns2:creationId id="{AE168434-4903-478D-961F-42EBFB3E92AC}"/>
              </a:ext>
            </a:extLst>
          </ns0:cNvPr>
          <ns0:cNvSpPr>
            <a:spLocks noGrp="1"/>
          </ns0:cNvSpPr>
          <ns0:nvPr/>
        </ns0:nvSpPr>
        <ns0:spPr>
          <a:xfrm>
            <a:off x="571500" y="363855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1933BEFD-5726-4F47-A6AB-3DDFE4943A4A}"/>
              </a:ext>
            </a:extLst>
          </ns0:cNvPr>
          <ns0:cNvSpPr>
            <a:spLocks noGrp="1"/>
          </ns0:cNvSpPr>
          <ns0:nvPr/>
        </ns0:nvSpPr>
        <ns0:spPr>
          <a:xfrm>
            <a:off x="571500" y="390525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571500" y="3971925"/>
          <a:ext cx="6572250" cy="1809750"/>
        </ns0:xfrm>
        <a:graphic>
          <a:graphicData uri="http://schemas.openxmlformats.org/drawingml/2006/chart">
            <c:chart ns4:id="R6c3de0e8acd54a1d"/>
          </a:graphicData>
        </a:graphic>
      </ns0:graphicFrame>
      <ns0:sp>
        <ns0:nvSpPr>
          <ns0:cNvPr id="13" name="">
            <a:extLst>
              <a:ext uri="{FF2B5EF4-FFF2-40B4-BE49-F238E27FC236}">
                <ns2:creationId id="{5B63B172-2760-4801-A3F0-6F46AC1217D4}"/>
              </a:ext>
            </a:extLst>
          </ns0:cNvPr>
          <ns0:cNvSpPr>
            <a:spLocks noGrp="1"/>
          </ns0:cNvSpPr>
          <ns0:nvPr/>
        </ns0:nvSpPr>
        <ns0:spPr>
          <a:xfrm>
            <a:off x="7572375" y="1333500"/>
            <a:ext cx="4048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F5450798-F92B-4825-B7A1-D9FC18CBD63B}"/>
              </a:ext>
            </a:extLst>
          </ns0:cNvPr>
          <ns0:cNvSpPr>
            <a:spLocks noGrp="1"/>
          </ns0:cNvSpPr>
          <ns0:nvPr/>
        </ns0:nvSpPr>
        <ns0:spPr>
          <a:xfrm>
            <a:off x="7572375" y="1600200"/>
            <a:ext cx="4048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7524750" y="1714500"/>
          <a:ext cx="4095750" cy="3190875"/>
        </ns0:xfrm>
        <a:graphic>
          <a:graphicData uri="http://schemas.openxmlformats.org/drawingml/2006/chart">
            <c:chart ns4:id="R7e312d7d67464c10"/>
          </a:graphicData>
        </a:graphic>
      </ns0:graphicFrame>
      <ns0:sp>
        <ns0:nvSpPr>
          <ns0:cNvPr id="16" name="">
            <a:extLst>
              <a:ext uri="{FF2B5EF4-FFF2-40B4-BE49-F238E27FC236}">
                <ns2:creationId id="{7BE0C6A9-4677-4E60-AF0D-BCF9F3582099}"/>
              </a:ext>
            </a:extLst>
          </ns0:cNvPr>
          <ns0:cNvSpPr>
            <a:spLocks noGrp="1"/>
          </ns0:cNvSpPr>
          <ns0:nvPr/>
        </ns0:nvSpPr>
        <ns0:spPr>
          <a:xfrm>
            <a:off x="7572375" y="5095875"/>
            <a:ext cx="404812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76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ns0:txBody>
      </ns0:sp>
    </ns0:spTree>
    <ns0:extLst>
      <ns0:ext uri="{BB962C8B-B14F-4D97-AF65-F5344CB8AC3E}">
        <ns5:creationId val="1252373344"/>
      </ns0:ext>
    </ns0:extLst>
  </ns0:cSld>
</ns0:sld>
</file>

<file path=ppt/slides/slide3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3" name="">
            <a:extLst>
              <a:ext uri="{FF2B5EF4-FFF2-40B4-BE49-F238E27FC236}">
                <ns2:creationId id="{3442293D-5CC3-42F0-8C14-2135CB068AD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46B28DD-89FC-49AF-B479-0865DAD1C60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9702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4D99BA8-7494-4FE1-86C8-E53BF658BEE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3432471-E7D1-4291-B507-524B59FCD5C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218B481-BC6D-4C45-ADAB-985F2BD2201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B4E687B-C952-4A6E-9CD2-F3A53DAFD03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ns0:txBody>
      </ns0:sp>
      <ns0:graphicFrame>
        <ns0:nvGraphicFramePr>
          <ns0:cNvPr id="29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fff4a973fc574938"/>
          </a:graphicData>
        </a:graphic>
      </ns0:graphicFrame>
      <ns0:sp>
        <ns0:nvSpPr>
          <ns0:cNvPr id="8" name="">
            <a:extLst>
              <a:ext uri="{FF2B5EF4-FFF2-40B4-BE49-F238E27FC236}">
                <ns2:creationId id="{0A78CAA2-9093-4A1A-9705-1FB1EC7F5C37}"/>
              </a:ext>
            </a:extLst>
          </ns0:cNvPr>
          <ns0:cNvSpPr>
            <a:spLocks noGrp="1"/>
          </ns0:cNvSpPr>
          <ns0:nvPr/>
        </ns0:nvSpPr>
        <ns0:spPr>
          <a:xfrm>
            <a:off x="571500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785789C4-B7BB-436A-9117-96690C77C1ED}"/>
              </a:ext>
            </a:extLst>
          </ns0:cNvPr>
          <ns0:cNvSpPr>
            <a:spLocks noGrp="1"/>
          </ns0:cNvSpPr>
          <ns0:nvPr/>
        </ns0:nvSpPr>
        <ns0:spPr>
          <a:xfrm>
            <a:off x="571500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724025"/>
          <a:ext cx="5286375" cy="1809750"/>
        </ns0:xfrm>
        <a:graphic>
          <a:graphicData uri="http://schemas.openxmlformats.org/drawingml/2006/chart">
            <c:chart ns4:id="R6377681d9313460c"/>
          </a:graphicData>
        </a:graphic>
      </ns0:graphicFrame>
      <ns0:sp>
        <ns0:nvSpPr>
          <ns0:cNvPr id="11" name="">
            <a:extLst>
              <a:ext uri="{FF2B5EF4-FFF2-40B4-BE49-F238E27FC236}">
                <ns2:creationId id="{50ABC648-1BB3-48A5-ACD8-1BC113CF35CF}"/>
              </a:ext>
            </a:extLst>
          </ns0:cNvPr>
          <ns0:cNvSpPr>
            <a:spLocks noGrp="1"/>
          </ns0:cNvSpPr>
          <ns0:nvPr/>
        </ns0:nvSpPr>
        <ns0:spPr>
          <a:xfrm>
            <a:off x="6334125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E1FDC45D-80C7-4A26-9C38-CCBA1DE50C54}"/>
              </a:ext>
            </a:extLst>
          </ns0:cNvPr>
          <ns0:cNvSpPr>
            <a:spLocks noGrp="1"/>
          </ns0:cNvSpPr>
          <ns0:nvPr/>
        </ns0:nvSpPr>
        <ns0:spPr>
          <a:xfrm>
            <a:off x="6334125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5" name="Chart"/>
          <ns0:cNvGraphicFramePr/>
          <ns0:nvPr/>
        </ns0:nvGraphicFramePr>
        <ns0:xfrm>
          <a:off x="6334125" y="1724025"/>
          <a:ext cx="5286375" cy="1809750"/>
        </ns0:xfrm>
        <a:graphic>
          <a:graphicData uri="http://schemas.openxmlformats.org/drawingml/2006/chart">
            <c:chart ns4:id="R4062c82fc64d4aa7"/>
          </a:graphicData>
        </a:graphic>
      </ns0:graphicFrame>
      <ns0:sp>
        <ns0:nvSpPr>
          <ns0:cNvPr id="14" name="">
            <a:extLst>
              <a:ext uri="{FF2B5EF4-FFF2-40B4-BE49-F238E27FC236}">
                <ns2:creationId id="{D5761343-A51B-4D60-A03E-6A2CBEBD8FEE}"/>
              </a:ext>
            </a:extLst>
          </ns0:cNvPr>
          <ns0:cNvSpPr>
            <a:spLocks noGrp="1"/>
          </ns0:cNvSpPr>
          <ns0:nvPr/>
        </ns0:nvSpPr>
        <ns0:spPr>
          <a:xfrm>
            <a:off x="571500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77BC1897-66B6-4E2D-8840-0CE0CCCFD55E}"/>
              </a:ext>
            </a:extLst>
          </ns0:cNvPr>
          <ns0:cNvSpPr>
            <a:spLocks noGrp="1"/>
          </ns0:cNvSpPr>
          <ns0:nvPr/>
        </ns0:nvSpPr>
        <ns0:spPr>
          <a:xfrm>
            <a:off x="571500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8" name="Chart"/>
          <ns0:cNvGraphicFramePr/>
          <ns0:nvPr/>
        </ns0:nvGraphicFramePr>
        <ns0:xfrm>
          <a:off x="571500" y="4076700"/>
          <a:ext cx="5286375" cy="1809750"/>
        </ns0:xfrm>
        <a:graphic>
          <a:graphicData uri="http://schemas.openxmlformats.org/drawingml/2006/chart">
            <c:chart ns4:id="R4f0042f60bbe4922"/>
          </a:graphicData>
        </a:graphic>
      </ns0:graphicFrame>
      <ns0:sp>
        <ns0:nvSpPr>
          <ns0:cNvPr id="17" name="">
            <a:extLst>
              <a:ext uri="{FF2B5EF4-FFF2-40B4-BE49-F238E27FC236}">
                <ns2:creationId id="{9AC68FFD-E352-4C76-B638-C945C1203399}"/>
              </a:ext>
            </a:extLst>
          </ns0:cNvPr>
          <ns0:cNvSpPr>
            <a:spLocks noGrp="1"/>
          </ns0:cNvSpPr>
          <ns0:nvPr/>
        </ns0:nvSpPr>
        <ns0:spPr>
          <a:xfrm>
            <a:off x="3905250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B6DABA7E-403E-41A9-9D91-D24FACEF1DB5}"/>
              </a:ext>
            </a:extLst>
          </ns0:cNvPr>
          <ns0:cNvSpPr>
            <a:spLocks noGrp="1"/>
          </ns0:cNvSpPr>
          <ns0:nvPr/>
        </ns0:nvSpPr>
        <ns0:spPr>
          <a:xfrm>
            <a:off x="6334125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D3F44160-CF11-4761-9A0D-3677B4FE900B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2" name="Chart"/>
          <ns0:cNvGraphicFramePr/>
          <ns0:nvPr/>
        </ns0:nvGraphicFramePr>
        <ns0:xfrm>
          <a:off x="6334125" y="4076700"/>
          <a:ext cx="5286375" cy="1809750"/>
        </ns0:xfrm>
        <a:graphic>
          <a:graphicData uri="http://schemas.openxmlformats.org/drawingml/2006/chart">
            <c:chart ns4:id="R0480966f92284835"/>
          </a:graphicData>
        </a:graphic>
      </ns0:graphicFrame>
      <ns0:sp>
        <ns0:nvSpPr>
          <ns0:cNvPr id="21" name="">
            <a:extLst>
              <a:ext uri="{FF2B5EF4-FFF2-40B4-BE49-F238E27FC236}">
                <ns2:creationId id="{751300A3-8272-435B-B082-44F32A0F0C9B}"/>
              </a:ext>
            </a:extLst>
          </ns0:cNvPr>
          <ns0:cNvSpPr>
            <a:spLocks noGrp="1"/>
          </ns0:cNvSpPr>
          <ns0:nvPr/>
        </ns0:nvSpPr>
        <ns0:spPr>
          <a:xfrm>
            <a:off x="9667875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E0F7AE46-5016-4812-805C-E987C249360C}"/>
              </a:ext>
            </a:extLst>
          </ns0:cNvPr>
          <ns0:cNvSpPr>
            <a:spLocks noGrp="1"/>
          </ns0:cNvSpPr>
          <ns0:nvPr/>
        </ns0:nvSpPr>
        <ns0:spPr>
          <a:xfrm>
            <a:off x="571500" y="609600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ns0:txBody>
      </ns0:sp>
    </ns0:spTree>
    <ns0:extLst>
      <ns0:ext uri="{BB962C8B-B14F-4D97-AF65-F5344CB8AC3E}">
        <ns5:creationId val="554228956"/>
      </ns0:ext>
    </ns0:extLst>
  </ns0:cSld>
</ns0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2026-08-04T20:28:27.2470000Z</dcterms:created>
  <dcterms:modified xsi:type="dcterms:W3CDTF">2026-08-04T20:28:27.2470000Z</dcterms:modified>
</coreProperties>
</file>