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8ab13384c54863" /><Relationship Type="http://schemas.openxmlformats.org/officeDocument/2006/relationships/extended-properties" Target="/docProps/app.xml" Id="R12c52dc543664cf8" /><Relationship Type="http://schemas.openxmlformats.org/officeDocument/2006/relationships/officeDocument" Target="/ppt/presentation.xml" Id="R5fdda2edd5f74a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119322a6ec4d4c"/>
  </p:sldMasterIdLst>
  <p:notesMasterIdLst>
    <p:notesMasterId xmlns:r="http://schemas.openxmlformats.org/officeDocument/2006/relationships" r:id="R1cfe7ef0cbf343ac"/>
  </p:notesMasterIdLst>
  <p:sldIdLst>
    <p:sldId xmlns:r="http://schemas.openxmlformats.org/officeDocument/2006/relationships" id="256" r:id="R87b88d4a436c4740"/>
    <p:sldId xmlns:r="http://schemas.openxmlformats.org/officeDocument/2006/relationships" id="257" r:id="Rad6c8b32990c4898"/>
    <p:sldId xmlns:r="http://schemas.openxmlformats.org/officeDocument/2006/relationships" id="258" r:id="Rc581bfa4c8924d4e"/>
    <p:sldId xmlns:r="http://schemas.openxmlformats.org/officeDocument/2006/relationships" id="259" r:id="R60909cda8da3400c"/>
    <p:sldId xmlns:r="http://schemas.openxmlformats.org/officeDocument/2006/relationships" id="260" r:id="Reb64fa9f6581462d"/>
    <p:sldId xmlns:r="http://schemas.openxmlformats.org/officeDocument/2006/relationships" id="261" r:id="R6719e19b52b64765"/>
    <p:sldId xmlns:r="http://schemas.openxmlformats.org/officeDocument/2006/relationships" id="262" r:id="R8af5179916394a9b"/>
    <p:sldId xmlns:r="http://schemas.openxmlformats.org/officeDocument/2006/relationships" id="263" r:id="R66925595453e48fa"/>
    <p:sldId xmlns:r="http://schemas.openxmlformats.org/officeDocument/2006/relationships" id="264" r:id="R607325df26cd4934"/>
    <p:sldId xmlns:r="http://schemas.openxmlformats.org/officeDocument/2006/relationships" id="265" r:id="Rf323582c6d9445ba"/>
    <p:sldId xmlns:r="http://schemas.openxmlformats.org/officeDocument/2006/relationships" id="266" r:id="R111d09fdfdd54211"/>
    <p:sldId xmlns:r="http://schemas.openxmlformats.org/officeDocument/2006/relationships" id="267" r:id="R3381ac5ce52e4043"/>
    <p:sldId xmlns:r="http://schemas.openxmlformats.org/officeDocument/2006/relationships" id="268" r:id="Rcb284f967523438c"/>
    <p:sldId xmlns:r="http://schemas.openxmlformats.org/officeDocument/2006/relationships" id="269" r:id="R48b957cbdefb4436"/>
    <p:sldId xmlns:r="http://schemas.openxmlformats.org/officeDocument/2006/relationships" id="270" r:id="Re4e12163119d43ae"/>
    <p:sldId xmlns:r="http://schemas.openxmlformats.org/officeDocument/2006/relationships" id="271" r:id="R17d4b4c8cda548f9"/>
    <p:sldId xmlns:r="http://schemas.openxmlformats.org/officeDocument/2006/relationships" id="272" r:id="R6dd9b9f8117444f2"/>
    <p:sldId xmlns:r="http://schemas.openxmlformats.org/officeDocument/2006/relationships" id="273" r:id="R85f8472b65f24708"/>
    <p:sldId xmlns:r="http://schemas.openxmlformats.org/officeDocument/2006/relationships" id="274" r:id="R72203c7642d44244"/>
    <p:sldId xmlns:r="http://schemas.openxmlformats.org/officeDocument/2006/relationships" id="275" r:id="R31d894ba721646a2"/>
    <p:sldId xmlns:r="http://schemas.openxmlformats.org/officeDocument/2006/relationships" id="276" r:id="R91cfb170a1894a82"/>
    <p:sldId xmlns:r="http://schemas.openxmlformats.org/officeDocument/2006/relationships" id="277" r:id="R2947673ca28b4ed2"/>
    <p:sldId xmlns:r="http://schemas.openxmlformats.org/officeDocument/2006/relationships" id="278" r:id="Rb396daf1152240d6"/>
    <p:sldId xmlns:r="http://schemas.openxmlformats.org/officeDocument/2006/relationships" id="279" r:id="Rb7e5708a3b754c83"/>
    <p:sldId xmlns:r="http://schemas.openxmlformats.org/officeDocument/2006/relationships" id="280" r:id="Rb52516af3b0548c8"/>
    <p:sldId xmlns:r="http://schemas.openxmlformats.org/officeDocument/2006/relationships" id="281" r:id="R5b1a3d4470444c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63d159a89f40fc" /><Relationship Type="http://schemas.openxmlformats.org/officeDocument/2006/relationships/slideMaster" Target="/ppt/slideMasters/slideMaster1.xml" Id="R3c119322a6ec4d4c" /><Relationship Type="http://schemas.openxmlformats.org/officeDocument/2006/relationships/notesMaster" Target="/ppt/notesMasters/notesMaster1.xml" Id="R1cfe7ef0cbf343ac" /><Relationship Type="http://schemas.openxmlformats.org/officeDocument/2006/relationships/presProps" Target="/ppt/presProps.xml" Id="Raeea70841d28464a" /><Relationship Type="http://schemas.openxmlformats.org/officeDocument/2006/relationships/tableStyles" Target="/ppt/tableStyles.xml" Id="R68846ca1d0684d55" /><Relationship Type="http://schemas.openxmlformats.org/officeDocument/2006/relationships/slide" Target="/ppt/slides/slide1.xml" Id="R87b88d4a436c4740" /><Relationship Type="http://schemas.openxmlformats.org/officeDocument/2006/relationships/slide" Target="/ppt/slides/slide2.xml" Id="Rad6c8b32990c4898" /><Relationship Type="http://schemas.openxmlformats.org/officeDocument/2006/relationships/slide" Target="/ppt/slides/slide3.xml" Id="Rc581bfa4c8924d4e" /><Relationship Type="http://schemas.openxmlformats.org/officeDocument/2006/relationships/slide" Target="/ppt/slides/slide4.xml" Id="R60909cda8da3400c" /><Relationship Type="http://schemas.openxmlformats.org/officeDocument/2006/relationships/slide" Target="/ppt/slides/slide5.xml" Id="Reb64fa9f6581462d" /><Relationship Type="http://schemas.openxmlformats.org/officeDocument/2006/relationships/slide" Target="/ppt/slides/slide6.xml" Id="R6719e19b52b64765" /><Relationship Type="http://schemas.openxmlformats.org/officeDocument/2006/relationships/slide" Target="/ppt/slides/slide7.xml" Id="R8af5179916394a9b" /><Relationship Type="http://schemas.openxmlformats.org/officeDocument/2006/relationships/slide" Target="/ppt/slides/slide8.xml" Id="R66925595453e48fa" /><Relationship Type="http://schemas.openxmlformats.org/officeDocument/2006/relationships/slide" Target="/ppt/slides/slide9.xml" Id="R607325df26cd4934" /><Relationship Type="http://schemas.openxmlformats.org/officeDocument/2006/relationships/slide" Target="/ppt/slides/slide10.xml" Id="Rf323582c6d9445ba" /><Relationship Type="http://schemas.openxmlformats.org/officeDocument/2006/relationships/slide" Target="/ppt/slides/slide11.xml" Id="R111d09fdfdd54211" /><Relationship Type="http://schemas.openxmlformats.org/officeDocument/2006/relationships/slide" Target="/ppt/slides/slide12.xml" Id="R3381ac5ce52e4043" /><Relationship Type="http://schemas.openxmlformats.org/officeDocument/2006/relationships/slide" Target="/ppt/slides/slide13.xml" Id="Rcb284f967523438c" /><Relationship Type="http://schemas.openxmlformats.org/officeDocument/2006/relationships/slide" Target="/ppt/slides/slide14.xml" Id="R48b957cbdefb4436" /><Relationship Type="http://schemas.openxmlformats.org/officeDocument/2006/relationships/slide" Target="/ppt/slides/slide15.xml" Id="Re4e12163119d43ae" /><Relationship Type="http://schemas.openxmlformats.org/officeDocument/2006/relationships/slide" Target="/ppt/slides/slide16.xml" Id="R17d4b4c8cda548f9" /><Relationship Type="http://schemas.openxmlformats.org/officeDocument/2006/relationships/slide" Target="/ppt/slides/slide17.xml" Id="R6dd9b9f8117444f2" /><Relationship Type="http://schemas.openxmlformats.org/officeDocument/2006/relationships/slide" Target="/ppt/slides/slide18.xml" Id="R85f8472b65f24708" /><Relationship Type="http://schemas.openxmlformats.org/officeDocument/2006/relationships/slide" Target="/ppt/slides/slide19.xml" Id="R72203c7642d44244" /><Relationship Type="http://schemas.openxmlformats.org/officeDocument/2006/relationships/slide" Target="/ppt/slides/slide20.xml" Id="R31d894ba721646a2" /><Relationship Type="http://schemas.openxmlformats.org/officeDocument/2006/relationships/slide" Target="/ppt/slides/slide21.xml" Id="R91cfb170a1894a82" /><Relationship Type="http://schemas.openxmlformats.org/officeDocument/2006/relationships/slide" Target="/ppt/slides/slide22.xml" Id="R2947673ca28b4ed2" /><Relationship Type="http://schemas.openxmlformats.org/officeDocument/2006/relationships/slide" Target="/ppt/slides/slide23.xml" Id="Rb396daf1152240d6" /><Relationship Type="http://schemas.openxmlformats.org/officeDocument/2006/relationships/slide" Target="/ppt/slides/slide24.xml" Id="Rb7e5708a3b754c83" /><Relationship Type="http://schemas.openxmlformats.org/officeDocument/2006/relationships/slide" Target="/ppt/slides/slide25.xml" Id="Rb52516af3b0548c8" /><Relationship Type="http://schemas.openxmlformats.org/officeDocument/2006/relationships/slide" Target="/ppt/slides/slide26.xml" Id="R5b1a3d4470444c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98ad1599804c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5e541468e94d83" /><Relationship Type="http://schemas.openxmlformats.org/officeDocument/2006/relationships/notesMaster" Target="/ppt/notesMasters/notesMaster1.xml" Id="R33292404e0f140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c81d3e4b4b4da4" /><Relationship Type="http://schemas.openxmlformats.org/officeDocument/2006/relationships/notesMaster" Target="/ppt/notesMasters/notesMaster1.xml" Id="R79624a45bde046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749e40aa21452b" /><Relationship Type="http://schemas.openxmlformats.org/officeDocument/2006/relationships/notesMaster" Target="/ppt/notesMasters/notesMaster1.xml" Id="Rc671f6f2e4b543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7cdd65e77e49ca" /><Relationship Type="http://schemas.openxmlformats.org/officeDocument/2006/relationships/notesMaster" Target="/ppt/notesMasters/notesMaster1.xml" Id="Ra2678d16804e41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6dbdbd57614d52" /><Relationship Type="http://schemas.openxmlformats.org/officeDocument/2006/relationships/notesMaster" Target="/ppt/notesMasters/notesMaster1.xml" Id="R6b2fddbbb3d741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d5b8ae72b94465" /><Relationship Type="http://schemas.openxmlformats.org/officeDocument/2006/relationships/notesMaster" Target="/ppt/notesMasters/notesMaster1.xml" Id="Rabb4b7b0100643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5f01d7d3c945d1" /><Relationship Type="http://schemas.openxmlformats.org/officeDocument/2006/relationships/notesMaster" Target="/ppt/notesMasters/notesMaster1.xml" Id="R080b06e5603842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fe48b62231418e" /><Relationship Type="http://schemas.openxmlformats.org/officeDocument/2006/relationships/notesMaster" Target="/ppt/notesMasters/notesMaster1.xml" Id="R37601ba15a0d4f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f56cd03e3a403f" /><Relationship Type="http://schemas.openxmlformats.org/officeDocument/2006/relationships/notesMaster" Target="/ppt/notesMasters/notesMaster1.xml" Id="Rc616894ddcd94c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9a177d68d542eb" /><Relationship Type="http://schemas.openxmlformats.org/officeDocument/2006/relationships/notesMaster" Target="/ppt/notesMasters/notesMaster1.xml" Id="Re7476e3e21fb4ad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90014aceab4780" /><Relationship Type="http://schemas.openxmlformats.org/officeDocument/2006/relationships/notesMaster" Target="/ppt/notesMasters/notesMaster1.xml" Id="R15442f9862474f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5f4685c3244ef3" /><Relationship Type="http://schemas.openxmlformats.org/officeDocument/2006/relationships/notesMaster" Target="/ppt/notesMasters/notesMaster1.xml" Id="R739d9562c98c4c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41f008cd094c7e" /><Relationship Type="http://schemas.openxmlformats.org/officeDocument/2006/relationships/notesMaster" Target="/ppt/notesMasters/notesMaster1.xml" Id="Rd5bf0ae517c946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dc6acee1af4fc6" /><Relationship Type="http://schemas.openxmlformats.org/officeDocument/2006/relationships/notesMaster" Target="/ppt/notesMasters/notesMaster1.xml" Id="Rbc86535532cb4b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9158bb67de4b4b" /><Relationship Type="http://schemas.openxmlformats.org/officeDocument/2006/relationships/notesMaster" Target="/ppt/notesMasters/notesMaster1.xml" Id="Rb9ecd314d973413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bb9421baf34983" /><Relationship Type="http://schemas.openxmlformats.org/officeDocument/2006/relationships/notesMaster" Target="/ppt/notesMasters/notesMaster1.xml" Id="Rd5d80b69d11f441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b3baaf120654563" /><Relationship Type="http://schemas.openxmlformats.org/officeDocument/2006/relationships/notesMaster" Target="/ppt/notesMasters/notesMaster1.xml" Id="R30b8d3b4e5c74f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84c06640284e76" /><Relationship Type="http://schemas.openxmlformats.org/officeDocument/2006/relationships/notesMaster" Target="/ppt/notesMasters/notesMaster1.xml" Id="R98cfe413de9f4bc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c0cfcb7041a49e2" /><Relationship Type="http://schemas.openxmlformats.org/officeDocument/2006/relationships/notesMaster" Target="/ppt/notesMasters/notesMaster1.xml" Id="Re443064fff054dc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1860e7639914a12" /><Relationship Type="http://schemas.openxmlformats.org/officeDocument/2006/relationships/notesMaster" Target="/ppt/notesMasters/notesMaster1.xml" Id="R26672e5499b14c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711e22afd114535" /><Relationship Type="http://schemas.openxmlformats.org/officeDocument/2006/relationships/notesMaster" Target="/ppt/notesMasters/notesMaster1.xml" Id="Rb70db2598c3f4d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2f8f86388cd435a" /><Relationship Type="http://schemas.openxmlformats.org/officeDocument/2006/relationships/notesMaster" Target="/ppt/notesMasters/notesMaster1.xml" Id="R2553fc3dc5ee403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9d708977d2047f7" /><Relationship Type="http://schemas.openxmlformats.org/officeDocument/2006/relationships/notesMaster" Target="/ppt/notesMasters/notesMaster1.xml" Id="R0dc3a4322fe44fb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4413efea304afc" /><Relationship Type="http://schemas.openxmlformats.org/officeDocument/2006/relationships/notesMaster" Target="/ppt/notesMasters/notesMaster1.xml" Id="R66308b35c43c48e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f1347faa6f1459e" /><Relationship Type="http://schemas.openxmlformats.org/officeDocument/2006/relationships/notesMaster" Target="/ppt/notesMasters/notesMaster1.xml" Id="R8a83f724d4694ce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70ffd2c9d164c2e" /><Relationship Type="http://schemas.openxmlformats.org/officeDocument/2006/relationships/notesMaster" Target="/ppt/notesMasters/notesMaster1.xml" Id="R594fdddf685841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o detalhe de 101 CNPJs; a aba Carteira 1 vs flagships documenta os sete grupos comparáveis e a fórmula de leitura estrutural.</a:t>
            </a:r>
          </a:p>
          <a:p xmlns:a="http://schemas.openxmlformats.org/drawingml/2006/main">
            <a:r>
              <a:t>- Carteira I e os 47 CNPJs flagship usam o mesmo PL e a mesma subordinação atual reconciliados por CNPJ.</a:t>
            </a:r>
          </a:p>
          <a:p xmlns:a="http://schemas.openxmlformats.org/drawingml/2006/main">
            <a:r>
              <a:t>- A posição de risco estrutural usa a mediana da subordinação atual dentro de cada tipo; N/D não entra na mediana.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95c8ed7d9c44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782208f7ca496a" /><Relationship Type="http://schemas.openxmlformats.org/officeDocument/2006/relationships/slideLayout" Target="/ppt/slideLayouts/slideLayout1.xml" Id="Re88766aa3e4f43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8766aa3e4f43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418795731466b" /><Relationship Type="http://schemas.openxmlformats.org/officeDocument/2006/relationships/notesSlide" Target="/ppt/notesSlides/notesSlide1.xml" Id="Rf06f0c6969e24e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2b32cc0b442b7" /><Relationship Type="http://schemas.openxmlformats.org/officeDocument/2006/relationships/chart" Target="/ppt/slides/charts/chart1.xml" Id="Rd962c1afe2f74838" /><Relationship Type="http://schemas.openxmlformats.org/officeDocument/2006/relationships/chart" Target="/ppt/slides/charts/chart2.xml" Id="R08c5f5e85d2e48b5" /><Relationship Type="http://schemas.openxmlformats.org/officeDocument/2006/relationships/chart" Target="/ppt/slides/charts/chart3.xml" Id="R79cbe74121894ede" /><Relationship Type="http://schemas.openxmlformats.org/officeDocument/2006/relationships/notesSlide" Target="/ppt/notesSlides/notesSlide2.xml" Id="Rbdbb242d76d147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f10e043d44d80" /><Relationship Type="http://schemas.openxmlformats.org/officeDocument/2006/relationships/chart" Target="/ppt/slides/charts/chart4.xml" Id="Rbc471af7f9594ee5" /><Relationship Type="http://schemas.openxmlformats.org/officeDocument/2006/relationships/chart" Target="/ppt/slides/charts/chart5.xml" Id="Ree5c2dd270dd4ff8" /><Relationship Type="http://schemas.openxmlformats.org/officeDocument/2006/relationships/notesSlide" Target="/ppt/notesSlides/notesSlide3.xml" Id="R5ff9423d42e34f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aafc37038440f" /><Relationship Type="http://schemas.openxmlformats.org/officeDocument/2006/relationships/chart" Target="/ppt/slides/charts/chart6.xml" Id="Rd7141d0f1a0f4bc6" /><Relationship Type="http://schemas.openxmlformats.org/officeDocument/2006/relationships/chart" Target="/ppt/slides/charts/chart7.xml" Id="R5df4be363f024cb6" /><Relationship Type="http://schemas.openxmlformats.org/officeDocument/2006/relationships/notesSlide" Target="/ppt/notesSlides/notesSlide4.xml" Id="Re353c6ec7c5f46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ab362580647bc" /><Relationship Type="http://schemas.openxmlformats.org/officeDocument/2006/relationships/chart" Target="/ppt/slides/charts/chart8.xml" Id="R79930a93eca24dcf" /><Relationship Type="http://schemas.openxmlformats.org/officeDocument/2006/relationships/chart" Target="/ppt/slides/charts/chart9.xml" Id="Rc05a2d33ef2c4526" /><Relationship Type="http://schemas.openxmlformats.org/officeDocument/2006/relationships/chart" Target="/ppt/slides/charts/chart10.xml" Id="Rcd24beb81c84420a" /><Relationship Type="http://schemas.openxmlformats.org/officeDocument/2006/relationships/notesSlide" Target="/ppt/notesSlides/notesSlide5.xml" Id="R269231badbf240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50a6aa24749d9" /><Relationship Type="http://schemas.openxmlformats.org/officeDocument/2006/relationships/chart" Target="/ppt/slides/charts/chart11.xml" Id="Re1c86bda37764876" /><Relationship Type="http://schemas.openxmlformats.org/officeDocument/2006/relationships/chart" Target="/ppt/slides/charts/chart12.xml" Id="R247db7cda42047d1" /><Relationship Type="http://schemas.openxmlformats.org/officeDocument/2006/relationships/chart" Target="/ppt/slides/charts/chart13.xml" Id="Rf688371c4e3b4982" /><Relationship Type="http://schemas.openxmlformats.org/officeDocument/2006/relationships/notesSlide" Target="/ppt/notesSlides/notesSlide6.xml" Id="R533f470251c045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305401b5c45c8" /><Relationship Type="http://schemas.openxmlformats.org/officeDocument/2006/relationships/chart" Target="/ppt/slides/charts/chart14.xml" Id="R323841fc0f4146d9" /><Relationship Type="http://schemas.openxmlformats.org/officeDocument/2006/relationships/chart" Target="/ppt/slides/charts/chart15.xml" Id="Rd049f73464e04bab" /><Relationship Type="http://schemas.openxmlformats.org/officeDocument/2006/relationships/chart" Target="/ppt/slides/charts/chart16.xml" Id="R4f44d143d8aa4a81" /><Relationship Type="http://schemas.openxmlformats.org/officeDocument/2006/relationships/notesSlide" Target="/ppt/notesSlides/notesSlide7.xml" Id="R33e1b886886f42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20d5997d34a62" /><Relationship Type="http://schemas.openxmlformats.org/officeDocument/2006/relationships/chart" Target="/ppt/slides/charts/chart17.xml" Id="R4f62e2be95c24922" /><Relationship Type="http://schemas.openxmlformats.org/officeDocument/2006/relationships/chart" Target="/ppt/slides/charts/chart18.xml" Id="R055288353e1e42dd" /><Relationship Type="http://schemas.openxmlformats.org/officeDocument/2006/relationships/chart" Target="/ppt/slides/charts/chart19.xml" Id="R62baf200d8a243f0" /><Relationship Type="http://schemas.openxmlformats.org/officeDocument/2006/relationships/notesSlide" Target="/ppt/notesSlides/notesSlide8.xml" Id="R6f439d0400e045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c2cd3280e4a84" /><Relationship Type="http://schemas.openxmlformats.org/officeDocument/2006/relationships/notesSlide" Target="/ppt/notesSlides/notesSlide9.xml" Id="Rf7f018a2479b44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4145c02a94602" /><Relationship Type="http://schemas.openxmlformats.org/officeDocument/2006/relationships/notesSlide" Target="/ppt/notesSlides/notesSlide10.xml" Id="R1aadb5a50b2b4e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4c0d4ab0a45e0" /><Relationship Type="http://schemas.openxmlformats.org/officeDocument/2006/relationships/notesSlide" Target="/ppt/notesSlides/notesSlide11.xml" Id="R0b37b5a2eb7247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a5fe3c3394c9a" /><Relationship Type="http://schemas.openxmlformats.org/officeDocument/2006/relationships/notesSlide" Target="/ppt/notesSlides/notesSlide12.xml" Id="Rf9a42ef60c1046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9dac937664463" /><Relationship Type="http://schemas.openxmlformats.org/officeDocument/2006/relationships/notesSlide" Target="/ppt/notesSlides/notesSlide13.xml" Id="R7d3aac1870084ca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56cf7670b4d87" /><Relationship Type="http://schemas.openxmlformats.org/officeDocument/2006/relationships/notesSlide" Target="/ppt/notesSlides/notesSlide14.xml" Id="Rc017fab36c1a4d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a42ca8f9a44dd" /><Relationship Type="http://schemas.openxmlformats.org/officeDocument/2006/relationships/notesSlide" Target="/ppt/notesSlides/notesSlide15.xml" Id="R5037ae9806f14d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2a1a2c6514ea4" /><Relationship Type="http://schemas.openxmlformats.org/officeDocument/2006/relationships/chart" Target="/ppt/slides/charts/chart20.xml" Id="R5a4a749ada4e4686" /><Relationship Type="http://schemas.openxmlformats.org/officeDocument/2006/relationships/chart" Target="/ppt/slides/charts/chart21.xml" Id="Rbf86bf93fe744fb8" /><Relationship Type="http://schemas.openxmlformats.org/officeDocument/2006/relationships/chart" Target="/ppt/slides/charts/chart22.xml" Id="Rf3659527ea62489b" /><Relationship Type="http://schemas.openxmlformats.org/officeDocument/2006/relationships/notesSlide" Target="/ppt/notesSlides/notesSlide16.xml" Id="Rc3a2200f8c504fc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03c85fd704b29" /><Relationship Type="http://schemas.openxmlformats.org/officeDocument/2006/relationships/chart" Target="/ppt/slides/charts/chart23.xml" Id="R43537eacd3d94066" /><Relationship Type="http://schemas.openxmlformats.org/officeDocument/2006/relationships/chart" Target="/ppt/slides/charts/chart24.xml" Id="R707b8c717d474cbe" /><Relationship Type="http://schemas.openxmlformats.org/officeDocument/2006/relationships/chart" Target="/ppt/slides/charts/chart25.xml" Id="Rcb5e1a771ea946f5" /><Relationship Type="http://schemas.openxmlformats.org/officeDocument/2006/relationships/notesSlide" Target="/ppt/notesSlides/notesSlide17.xml" Id="R9ddcca41e73a49e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75f5dace94483" /><Relationship Type="http://schemas.openxmlformats.org/officeDocument/2006/relationships/chart" Target="/ppt/slides/charts/chart26.xml" Id="Rb178a8689f934d60" /><Relationship Type="http://schemas.openxmlformats.org/officeDocument/2006/relationships/chart" Target="/ppt/slides/charts/chart27.xml" Id="Rb292731ca0834edd" /><Relationship Type="http://schemas.openxmlformats.org/officeDocument/2006/relationships/chart" Target="/ppt/slides/charts/chart28.xml" Id="R2ddf2ba58c184cdc" /><Relationship Type="http://schemas.openxmlformats.org/officeDocument/2006/relationships/chart" Target="/ppt/slides/charts/chart29.xml" Id="R140ef5cb439e4556" /><Relationship Type="http://schemas.openxmlformats.org/officeDocument/2006/relationships/notesSlide" Target="/ppt/notesSlides/notesSlide18.xml" Id="Ra72ab558585846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b55c522b747a2" /><Relationship Type="http://schemas.openxmlformats.org/officeDocument/2006/relationships/chart" Target="/ppt/slides/charts/chart30.xml" Id="R7a389a9f98674ca5" /><Relationship Type="http://schemas.openxmlformats.org/officeDocument/2006/relationships/chart" Target="/ppt/slides/charts/chart31.xml" Id="Rb573eb7d2de74a15" /><Relationship Type="http://schemas.openxmlformats.org/officeDocument/2006/relationships/chart" Target="/ppt/slides/charts/chart32.xml" Id="Rb076829a1ae448b9" /><Relationship Type="http://schemas.openxmlformats.org/officeDocument/2006/relationships/chart" Target="/ppt/slides/charts/chart33.xml" Id="R5f05abd41d5f42f4" /><Relationship Type="http://schemas.openxmlformats.org/officeDocument/2006/relationships/chart" Target="/ppt/slides/charts/chart34.xml" Id="R24dbd0645a934a47" /><Relationship Type="http://schemas.openxmlformats.org/officeDocument/2006/relationships/notesSlide" Target="/ppt/notesSlides/notesSlide19.xml" Id="R074723362cb840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d9dad2aad4148" /><Relationship Type="http://schemas.openxmlformats.org/officeDocument/2006/relationships/notesSlide" Target="/ppt/notesSlides/notesSlide20.xml" Id="Re9b920828b3d45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53fb8662346af" /><Relationship Type="http://schemas.openxmlformats.org/officeDocument/2006/relationships/notesSlide" Target="/ppt/notesSlides/notesSlide21.xml" Id="Rdaf04458b76a4b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1e5d02c0c48ee" /><Relationship Type="http://schemas.openxmlformats.org/officeDocument/2006/relationships/notesSlide" Target="/ppt/notesSlides/notesSlide22.xml" Id="R0e497c24e2674d7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6470316564761" /><Relationship Type="http://schemas.openxmlformats.org/officeDocument/2006/relationships/chart" Target="/ppt/slides/charts/chart35.xml" Id="R93364caf50ec4cf9" /><Relationship Type="http://schemas.openxmlformats.org/officeDocument/2006/relationships/chart" Target="/ppt/slides/charts/chart36.xml" Id="R6139c81550664e59" /><Relationship Type="http://schemas.openxmlformats.org/officeDocument/2006/relationships/chart" Target="/ppt/slides/charts/chart37.xml" Id="Rc93524e1fb4947f9" /><Relationship Type="http://schemas.openxmlformats.org/officeDocument/2006/relationships/chart" Target="/ppt/slides/charts/chart38.xml" Id="R060d209fc5b045ee" /><Relationship Type="http://schemas.openxmlformats.org/officeDocument/2006/relationships/chart" Target="/ppt/slides/charts/chart39.xml" Id="Rb3719525bd4d40ab" /><Relationship Type="http://schemas.openxmlformats.org/officeDocument/2006/relationships/chart" Target="/ppt/slides/charts/chart40.xml" Id="R15e76949848a48ed" /><Relationship Type="http://schemas.openxmlformats.org/officeDocument/2006/relationships/chart" Target="/ppt/slides/charts/chart41.xml" Id="R8d44bc89de48470c" /><Relationship Type="http://schemas.openxmlformats.org/officeDocument/2006/relationships/notesSlide" Target="/ppt/notesSlides/notesSlide23.xml" Id="R7ec73d4280064b4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c4e575b124591" /><Relationship Type="http://schemas.openxmlformats.org/officeDocument/2006/relationships/chart" Target="/ppt/slides/charts/chart42.xml" Id="R91ad7c79f0e546cd" /><Relationship Type="http://schemas.openxmlformats.org/officeDocument/2006/relationships/chart" Target="/ppt/slides/charts/chart43.xml" Id="Re70639ee85de4668" /><Relationship Type="http://schemas.openxmlformats.org/officeDocument/2006/relationships/notesSlide" Target="/ppt/notesSlides/notesSlide24.xml" Id="Rcaef8694386141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2fcbb0ee347e9" /><Relationship Type="http://schemas.openxmlformats.org/officeDocument/2006/relationships/chart" Target="/ppt/slides/charts/chart44.xml" Id="Rfbc11775c9a54752" /><Relationship Type="http://schemas.openxmlformats.org/officeDocument/2006/relationships/chart" Target="/ppt/slides/charts/chart45.xml" Id="R3cc32eb7a1d84162" /><Relationship Type="http://schemas.openxmlformats.org/officeDocument/2006/relationships/chart" Target="/ppt/slides/charts/chart46.xml" Id="R8780fd343b774777" /><Relationship Type="http://schemas.openxmlformats.org/officeDocument/2006/relationships/notesSlide" Target="/ppt/notesSlides/notesSlide25.xml" Id="Rd5a1f47014b44b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9b37b58d44a6c" /><Relationship Type="http://schemas.openxmlformats.org/officeDocument/2006/relationships/chart" Target="/ppt/slides/charts/chart47.xml" Id="Rbfb20646a50c45f1" /><Relationship Type="http://schemas.openxmlformats.org/officeDocument/2006/relationships/chart" Target="/ppt/slides/charts/chart48.xml" Id="R0128d59457ac4232" /><Relationship Type="http://schemas.openxmlformats.org/officeDocument/2006/relationships/chart" Target="/ppt/slides/charts/chart49.xml" Id="R0547d120b205452a" /><Relationship Type="http://schemas.openxmlformats.org/officeDocument/2006/relationships/chart" Target="/ppt/slides/charts/chart50.xml" Id="R4d3f9a6ed39b45ff" /><Relationship Type="http://schemas.openxmlformats.org/officeDocument/2006/relationships/chart" Target="/ppt/slides/charts/chart51.xml" Id="R0b846c8358dc40f1" /><Relationship Type="http://schemas.openxmlformats.org/officeDocument/2006/relationships/notesSlide" Target="/ppt/notesSlides/notesSlide26.xml" Id="R2eea3d6d9a3749ae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42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2.6883485713899997</c:v>
              </c:pt>
              <c:pt idx="1">
                <c:v>3.73037157608</c:v>
              </c:pt>
              <c:pt idx="2">
                <c:v>6.132048663440001</c:v>
              </c:pt>
              <c:pt idx="3">
                <c:v>7.52600916192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8.02374481533</c:v>
              </c:pt>
              <c:pt idx="1">
                <c:v>11.105532948530001</c:v>
              </c:pt>
              <c:pt idx="2">
                <c:v>12.57331732135</c:v>
              </c:pt>
              <c:pt idx="3">
                <c:v>13.46173597008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17.29241994543</c:v>
              </c:pt>
              <c:pt idx="1">
                <c:v>23.74343085454</c:v>
              </c:pt>
              <c:pt idx="2">
                <c:v>28.29113812409</c:v>
              </c:pt>
              <c:pt idx="3">
                <c:v>34.29257180375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0.09599697518412852</c:v>
              </c:pt>
              <c:pt idx="1">
                <c:v>0.09669351582702639</c:v>
              </c:pt>
              <c:pt idx="2">
                <c:v>0.1304788256001652</c:v>
              </c:pt>
              <c:pt idx="3">
                <c:v>0.1361426558148566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0.28651613117370284</c:v>
              </c:pt>
              <c:pt idx="1">
                <c:v>0.28786221533852363</c:v>
              </c:pt>
              <c:pt idx="2">
                <c:v>0.2675372894166881</c:v>
              </c:pt>
              <c:pt idx="3">
                <c:v>0.24351770605306067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0.6174868936421686</c:v>
              </c:pt>
              <c:pt idx="1">
                <c:v>0.61544426883445</c:v>
              </c:pt>
              <c:pt idx="2">
                <c:v>0.6019838849831467</c:v>
              </c:pt>
              <c:pt idx="3">
                <c:v>0.6203396381320827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85657F73-01C1-4617-9A03-C1D7FF96D20D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7D4D453D-A346-4ACB-AB7A-A34C0D22AFFB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0D72C84-C076-4C65-AF4D-4EB3490A7F9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FAB31E-8CF5-4303-B203-C935ED8915BC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DFB95321-69D6-453B-ACBA-B29FCE676BE8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82BCC90-26B6-4B2A-8254-ED7A4863D42B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67749827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B54FACD6-AE79-42C7-B786-1B9C0A81F4D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E30C00-EFC6-4415-A661-A3FD17C1623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0897BD3-FF3D-4EA7-B294-213A452B907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DCA77D0-2634-43FB-82C0-B478B4212E6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48FC846-AEF4-4CE8-AA06-A88E412BA0E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AB508F5-8DD2-4455-82C4-18909B6D1BF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C4BEFA8-CC6E-4D14-8E1E-53B71FE592A6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895E10C-C1D9-44E9-9115-7B694188F0C7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d962c1afe2f7483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C870048-DD92-4593-9435-3474C691BB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38D85B0-E8B5-4E9F-B18D-C631755A04F4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5D6345D-7385-43E6-AE49-8FDA16074788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08c5f5e85d2e48b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9588115-0EB4-4254-BF9D-5BB945C4814A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5C28BA58-A76D-4B2E-A5C8-9FA0A34C95C3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79cbe74121894ede"/>
          </a:graphicData>
        </a:graphic>
      </ns0:graphicFrame>
      <ns0:sp>
        <ns0:nvSpPr>
          <ns0:cNvPr id="17" name="">
            <a:extLst>
              <a:ext uri="{FF2B5EF4-FFF2-40B4-BE49-F238E27FC236}">
                <ns2:creationId id="{5DE429E1-90C1-4783-847C-1EE722E9F425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B0626A8-DFFC-4A92-935C-E327958EC0F3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847F8F9-671F-421F-A5FB-27ED72CEEE8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650924903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738C096C-3D82-43F9-A312-A1793BB6F32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CVM E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CB9042C-9335-4DDB-B424-E61996E63AA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671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mantêm ganho de escala; a abertura por instrumento usa o valor encerrado da ANBIMA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D854D83-CA6F-4C40-A119-BD3857CF1A1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B291883-1D00-4C5A-911B-268F9F3EC8D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06B3F3-F839-4686-8C4B-8B3FB29936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snapshot 24/jul/26; ANBIMA Data, Boletim de Mercado de Capitais,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6356883-88D2-400B-B677-CB2855476C6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33F6813-429F-4279-96F0-76A599EBCE6C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2298767-4585-4C25-B2E1-89572FF4DEC5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Chart"/>
          <ns0:cNvGraphicFramePr/>
          <ns0:nvPr/>
        </ns0:nvGraphicFramePr>
        <ns0:xfrm>
          <a:off x="571500" y="1666875"/>
          <a:ext cx="5238750" cy="3857625"/>
        </ns0:xfrm>
        <a:graphic>
          <a:graphicData uri="http://schemas.openxmlformats.org/drawingml/2006/chart">
            <c:chart ns4:id="Rbc471af7f9594e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FA3988-0074-49D0-A853-2B46B3D64D94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4BA7C36-5F58-4182-95D2-8B93BFCF76B3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6381750" y="1666875"/>
          <a:ext cx="5238750" cy="3857625"/>
        </ns0:xfrm>
        <a:graphic>
          <a:graphicData uri="http://schemas.openxmlformats.org/drawingml/2006/chart">
            <c:chart ns4:id="Ree5c2dd270dd4ff8"/>
          </a:graphicData>
        </a:graphic>
      </ns0:graphicFrame>
    </ns0:spTree>
    <ns0:extLst>
      <ns0:ext uri="{BB962C8B-B14F-4D97-AF65-F5344CB8AC3E}">
        <ns5:creationId val="680303517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397510D7-6B14-44E4-9B4E-0E0B1B4CA1E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3477D1C-49C8-415C-9A27-A6846679900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70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lidera o 1S26; a composição mostra quais categorias explicam o aumento dos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706A0F4-4D46-4D18-9550-B9A05663EF5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22895DF-03AD-4969-AE6E-EC38824AC5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87CA60E-F8B7-4886-9BE6-5C28408AC09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7E70835-4D6A-429F-A17D-ADE9B89C478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226D9E-8068-4E5A-8EEA-88FB9E164C5D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2C8521D-0C5D-4CBF-926A-DD81AE188713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d7141d0f1a0f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2EF441A-241B-4023-B65C-D9B3FC83C6E5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5EC54D-01CC-4181-8F3D-6E5D7FA353E8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5df4be363f024c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F3F7BB4-E60B-459C-8AA1-BD6562DE8A7F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304B284-56A3-4893-AE59-91E263DF0FF2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571500" y="3810000"/>
          <a:ext cx="11049000" cy="22383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56141895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6034194-3A2F-4CA0-AB42-2659F1E140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OUTROS ABERTO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A8B7E00-7160-4C06-A592-1CEFEC14F94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componentes de Outros = 62,8% do PL ex-FIC ·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F84E4EF-846E-4876-A8A9-EB25ED4A807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AA0C3B2-4947-47D1-863E-300F7B34792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9CFFAAA-A969-4998-9392-53FF5C31DC4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5BC140F-4743-44EC-A34E-775987F875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AAEA9E-73C1-41EC-8F36-696C5E26B40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0B3DAFF-45B6-4638-9110-16E4C05B6DE9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79930a93eca24dc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203915E-3EA0-4FE8-9E5F-053823687B39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19012F1-0096-410F-95C9-B961DCF175A2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c05a2d33ef2c4526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cd24beb81c84420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0D59689-1588-401B-B636-016A684258DA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88A7CB9-313F-4B73-8EDF-E96908F4BACC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1349767212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DA40168-54AE-41ED-86FD-5BF706BEBFC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51E36F-D7B2-48C0-9E15-D57F4381500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1CA2C2-EF8C-4C4A-BD6F-00A8DCE480D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8359FE9-100B-4936-98AB-937701C29B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FBFFB9E-8949-4827-A782-6A4AC0157E3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58790D7-1965-4862-BC03-C93570BABC3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1FEA9A0-1609-4803-9F3E-2CD6FDF6ACD8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1FA0511-44AA-4FD6-9B41-6F932CF3ECFC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e1c86bda3776487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B4134C9-BD8F-44DF-90DE-C192352DCE85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1BFAB17-0374-486D-B9AA-584DA133BBC0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247db7cda42047d1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f688371c4e3b498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8DFE67A-B5CA-4511-BDD1-11615CA62441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833913374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A39E05E-DCAD-46BB-A4E3-E0F767FE712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3833D02-08CF-4388-ADDB-28BF0AD97A8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2DF7D7C-1449-42B7-BF1E-0F7F4573520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27B203F-78EE-47FA-896E-86FBD1A424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346F8F-574B-4D6B-BC02-2F1A840462B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216DC30-E97E-4693-B59B-35D5DB2D9AE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D88F381-53D3-4E6E-AC2B-03E220285194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77BCA7C-A0C0-4F64-8521-2240961AAD9D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323841fc0f4146d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CF3E924-FE17-4EA9-97F8-BD40FE674F06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7B1E0B2-BC48-4072-8ED1-A9B54D775F72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049f73464e04ba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76D5886-ACA1-4E68-A8B6-09AC52105C92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226A15CC-4A2E-4B0B-9F01-FB5DD62FCDFF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4f44d143d8aa4a81"/>
          </a:graphicData>
        </a:graphic>
      </ns0:graphicFrame>
    </ns0:spTree>
    <ns0:extLst>
      <ns0:ext uri="{BB962C8B-B14F-4D97-AF65-F5344CB8AC3E}">
        <ns5:creationId val="1660805125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38EF8BEF-56EA-4C7C-A66A-E84D1942BA2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70EB4F9-DCC7-4514-9BF4-D07729150B0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95BF52D-BB08-4928-8B87-3914F44B6C0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BE488D6-6EE1-41EE-B07E-79791C620D4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E19C5A4-7C04-49C1-AD66-3C588D53B5D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EEF08A-889C-4CDF-9E76-74D785D510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6C88458-3FC5-4CFD-865C-42B9493C90D9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7453458-388D-4466-B93F-E1279A0C8BCF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4f62e2be95c2492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E42BFCD-2D37-4542-BE79-50CBA4D47B7C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123AD3E-F87F-4934-B7B5-1495A931EFF0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1344AA5-3C5F-4FB4-91BD-F6D23E6C81EB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055288353e1e42d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DF0EA08-CDEC-4612-963E-020364A391CF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F433E56-EF50-4675-A2FD-E63D8CF1E929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FC61C77A-BB0E-4840-8080-7B2CAEA5142B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2baf200d8a243f0"/>
          </a:graphicData>
        </a:graphic>
      </ns0:graphicFrame>
    </ns0:spTree>
    <ns0:extLst>
      <ns0:ext uri="{BB962C8B-B14F-4D97-AF65-F5344CB8AC3E}">
        <ns5:creationId val="2067434319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A20D6C80-8C17-4AA2-ACA6-330E93D0514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6B46FC-8F6C-47B6-BDE1-AAC8403413B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D08FEF7-B0B0-43AD-B933-952384FD016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1E1E053-6996-4A7D-920C-5142ABF2B4B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8586F2B-D032-4E40-A248-27C3A85A7C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586AD60-7922-4BEB-90E0-D029A7ABED9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319634965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C28F0E76-4109-4EC9-958C-CF94F03364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171A5E0-2BBE-4F29-A2CE-19B209DA716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Top 15: R$ 31,9 bi em jun/26 e R$ 30,4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8FDA737-1B4B-4D86-8365-818A6C88576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7200616-DC8D-4175-80A4-2FFD35EDE2B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4FBE2F2-AA68-4EFB-B25D-5D4625BF7F6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B0403D-0675-44DC-B202-F5147F4A08F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D79AAA6-A458-4DA3-9C4B-240B00BD2AAB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7B2E193-A60D-46F1-A0DC-0D9BBFF1AB2A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BF647F6-2348-4F40-BFBB-EB7A163AB563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R$ 31,9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C4EA465-1697-4C48-B2BF-6830AD9CF12A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3640586-CF6B-4A78-BD19-0B667F4499E8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E5B5B6DE-1706-4C62-9837-953CB8C74AE1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R$ 30,4 bi</a:t>
            </a:r>
          </a:p>
        </ns0:txBody>
      </ns0:sp>
    </ns0:spTree>
    <ns0:extLst>
      <ns0:ext uri="{BB962C8B-B14F-4D97-AF65-F5344CB8AC3E}">
        <ns3:creationId val="1330653518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B2191ABF-8D4E-443E-86D4-CDE1E8A6A59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D74B5EC-1422-4488-863D-C6535D6F72F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Top 15: R$ 112,2 bi em jun/26 e R$ 94,0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8F01938-EAF1-48EB-B399-05B0292C03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C9F1532-48E6-4E56-8C42-187A216518A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93E38A-BD3F-420C-9A82-ACC69F3A415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94B1F02-C684-447E-BFCD-C79B67430FA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11628C-9A2F-47F2-922F-FB78372AA8D3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E72EC40-8D9E-44AC-9818-4F9553A32FEE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3C787A3-82C7-428E-B387-4F052932B62C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R$ 112,2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00FF73C-FF9C-46FE-B4CE-E182C9486E90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726AF82-68DE-4000-89A9-B331D85BB6F6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49374536-179F-4505-BB62-6DB06BCFFA6E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R$ 94,0 bi</a:t>
            </a:r>
          </a:p>
        </ns0:txBody>
      </ns0:sp>
    </ns0:spTree>
    <ns0:extLst>
      <ns0:ext uri="{BB962C8B-B14F-4D97-AF65-F5344CB8AC3E}">
        <ns3:creationId val="1823560800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3CFE8F20-7ED5-43DC-9BA6-916BC36F593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FC16B3-BE56-4905-A58E-5520F6E7A6A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Top 15: R$ 121,1 bi em jun/26 e R$ 106,3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9BC7BFC-714F-40E4-B94C-9A6DA54AB2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8FD6F8-3014-47E9-A60F-E69D593F018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63B8D2-7BE0-4E8A-83F3-C4F8038CA98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D658198-54C8-49B8-A95F-CD15C04668B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F5C5E7-CB0E-4B39-9B33-0134CE66BB41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6B095AD-1946-48F0-A166-AA2070FEF430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2C76E96-8976-498E-9AB8-558527AFD817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2741ACD-D219-407A-ACA8-9C2678E6C45F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D968C35-8D94-4FAD-AFF2-A199A1356D30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Parati Crédito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5,0%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59CBC8A0-CF56-471E-A713-D6D23CEE3381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532124280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12611C30-5B2B-4D96-BDBA-20B262AC378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827B3A-7A2A-49FA-8B26-36EE1B218AC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Top 15: R$ 55,1 bi em jun/26 e R$ 60,9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C6EF78-7757-44BF-A01F-CF5E7006592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AE9745-8D04-4D14-A98D-7275C1BA1E1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FE1942D-F445-4651-8914-759199367DC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3594569-92AA-48E3-A8CA-4A038669CC0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7350B0F-AC10-4DEC-87D7-1A37F33185B5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5E4BBE-29CB-45CA-8792-BF84F91497F8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F59FAFE-83CA-486C-86DB-FA4FE84F896D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R$ 55,1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8D0C792-B022-456E-8D62-3B6984B73D87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3B380ED-7A8C-44A7-A99B-50D9604274BB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E15A7573-7A20-48F1-AA5E-E10735B2F595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R$ 60,9 bi</a:t>
            </a:r>
          </a:p>
        </ns0:txBody>
      </ns0:sp>
    </ns0:spTree>
    <ns0:extLst>
      <ns0:ext uri="{BB962C8B-B14F-4D97-AF65-F5344CB8AC3E}">
        <ns3:creationId val="2070673679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D3522D5D-AE9B-4143-9D61-0E4EC07796E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226DE5D-DFC4-4C94-BC74-BE1400BDECC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24DE303-BC7F-4342-A817-8BD5E4046DA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8490E84-28EC-4DD5-8973-B34DEF27705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00BA793-6B83-40BA-AF3F-A04EB44004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1FFA159-1082-409D-9047-F339C7A9C4E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EDFCBC0-1B61-46EE-B754-445EE26659A1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D9B517EE-1AAB-4382-82C7-FFC8B2507046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5D10C1B-413D-4FA7-98BD-ECAABF439CCD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E34E16E-9FA0-46C1-B3DC-A2B7B251F678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5738F11-4D49-40FF-B47A-DF07BF0984A6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80502718-EC1B-4709-996E-7EA74E2D553A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E8240C1-1658-461D-9DCD-01D8FEA665C8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BE0BFED4-3336-49A3-A9DE-AD9093F3FC93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37529A8-EE42-41E4-A1BF-1594176CDBF5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05374FD-07B9-40B1-9BBB-332706823505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3F94117-2659-488E-8732-C3424AE99EA4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B352A999-9726-4ABE-8CB2-784D5976C191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4FE8AB4-51B2-4A98-A49D-B7F32DE73D90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0589EE0-28D9-4A76-889B-91C37F6A51C3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6559C51E-7E62-49BC-AED2-99FAA478A325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AA9B79F-EB40-47F0-B9F4-1D102372519E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67114D3-0CF5-4866-B27C-50CFE685A59F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EFFCE78-E07F-462C-BEE3-D85AEE7D2109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F888FB70-2817-4444-BBA5-9C3B1FE3AA7F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574A6A45-31EC-41D7-98BF-9C780A609777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796456F2-7293-4C36-8877-1C3DC6FA08EB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1C7B096C-8A55-4D21-A275-8275B3EFD894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2BCC0B16-1143-4AFE-B8B3-A98DD352ACDB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BF485569-3115-4618-ACCD-B3B07703A60E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D3E912F3-A40E-4AD8-9789-E542A7DC75D5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B2676F16-5467-4F01-BFB7-9E9669C190A6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936BB1D1-5294-49C8-A126-4B039C2C1943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FDFCC778-8D66-4DFA-A075-F805FDDF16D6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B6FBEFB8-254D-43C8-882E-12F41724BE32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74DE2479-BE46-4281-AA2C-5005EA1EA1F6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6C67D8C2-AA5D-4A62-AC32-80D1F959A648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3D1FF73D-1C67-49A5-9070-67FB03EE94D8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C61B594B-8BDB-4C1A-A320-1AB8AD9141DC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45B29A0E-D68F-4047-A23E-83CB20F4CD4A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7C34E5FE-38D6-471B-9BD1-3BA78F5E992A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45D4E709-7A89-4AAA-B92C-AB2F58230E0B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32CB3B10-CC80-4CBE-8E60-E8A6A3CC7335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6505AF5E-4F65-4BA0-A25D-8502C20009D4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31269E09-35C2-4238-A1F9-E1C4AD8E41C6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4780DDA3-43F6-411D-AE91-D83594E36F85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25A70ADC-A089-48B1-89AF-F7CD44B08734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44F66460-B6AC-45B0-BAF7-A7B7F9B8EC9C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7CB29D29-0174-416E-BFFB-6152B8760152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1C6BC7E5-5FF8-4AF1-A07F-E82F7C843681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05E5B7D1-7A3B-4DAD-ABEA-FC494B2DE475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4EBD488C-D1DC-49CC-B1DE-5308D3A5BC26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370C1B12-FBFB-4392-9636-37D20551A73B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4414A453-FC14-4155-8E0E-A850082F5F1C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F4B08A6B-B2EA-4754-86E5-04F12C168C94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59A34073-F8EB-4407-B16E-CF67C372A43C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88FE05FA-60DA-4E81-8CF8-7CCF1507F9C6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2C201D4F-F777-46E8-9F0C-F520FA451CD5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9B78858D-E686-40E8-A2B8-A4F138D93610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433C66F9-191F-45E4-A9F7-6662140DED63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F17B20D1-EE49-4FC2-8251-ECB4B502C27D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C96B382E-5D4A-44F1-A534-20DF3BEA4A0B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69FC2094-08BD-4F23-B8AA-BD2977BB1ABB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CAE268EF-ECAF-443F-BAEF-E2F501A60AA0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13989961-7801-46E0-973F-7FE8DBADC620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61C638C6-19CF-4D24-A2C3-C67CE96C5FFC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39D3273D-C565-4931-A18F-2C2D25AD17F3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885BE993-4949-4003-B6E1-75E56BD15E75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F353E202-8126-4A00-B98C-01FDE589E279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CF65EB15-71B3-4AB7-859A-779B6D547C15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CB220742-54C7-4B26-841B-1FEC4553B141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D6B2BEC6-D6A8-4D0A-B7C8-0DDAA9CCAB33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55D7B274-ABFF-49E6-96CB-2461891F83C6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DC0FC0AB-C117-491E-9032-7A7D082A0874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B8A57616-F34F-4214-BF4D-246E9B4B6303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3CBA5107-1F18-42D6-8ED9-5EA3B9138243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825991DF-866D-4E0E-B8C6-99524664986D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9BEBC901-6BC1-461C-BF6B-976CD649E556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9F09B4BA-4A64-47E1-BD96-8F7C339C56F2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DDAB6885-8B16-4339-BEAB-33D6CFB1BBF2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81D44785-6768-4121-936B-DE30BE2A2FF9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763E8B4E-EE64-44AC-8BC4-CB7AA2A1D113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B8D60F63-AB66-43A6-841F-4DB6D25E27DF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F2E208B8-C1B2-443D-BECD-1383D2DBF2F1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3A5B302F-5AD1-4298-A3FE-E9501137056D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18B45985-0D28-4DFA-AD2A-46D2326D8846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8F7A9177-7739-4A29-AAC4-719C51878CA2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E5399ED2-B8BA-4EFF-8A36-9E15A297F9CC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E0D34D9A-65A5-408B-B95A-64BC050AEC76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3FEEFBBF-94E8-4976-86F8-73599EBF2FC1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0DC2F53F-07A6-4E03-9BE6-DF612FE98C1E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29EF26EC-6685-48A2-9E5B-79306B047D78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2C7E2B8A-66C4-4586-B4B4-AC8596EF18B5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5C70B866-01AC-4A5F-B845-907BA6F1ED11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32D523E8-0E73-4C36-85C8-B4B7B9E44859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CBCDF427-1F1A-42C4-8098-63388296C454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298CE8B5-2AD2-4E6F-959A-64132C0AF36D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E23D0DE8-D938-4DD3-AED3-112A45747D52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24400C65-5EF3-433A-9372-6F47EF981962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B0CE2E69-075B-4231-8CF0-B23FF1B8950E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99724D8F-00E6-4590-9E42-8D310EC00C2B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2FD125C0-195B-48E8-8305-7226C4EE9233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F8E47228-635F-4859-BAF4-28048BC9BD7D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83EC3345-29FC-4172-9B67-11C7B942EAE7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0BBB1F6B-5A79-462D-8DA0-BA0877D113F4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2223BFCC-AC16-45E1-AB11-D8BC6B019BC7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087730E6-AD3A-4255-807D-E092BBF02C52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CF212C76-6B8A-4AAA-B3EC-371607843E0A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8D200181-9CB4-4F47-A0CD-463AF48BCA65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5D301DA2-249D-4D34-95F2-5CE2B0E9C801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C436044C-BFC8-4483-8ED7-68EAD0B3CBDC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191AC15C-C430-4C0C-B568-110C0ABC11A4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F3AAA90C-E1D3-44AF-A4DE-E436E158663A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35500264-80DA-41CB-B726-C87094EE7E6C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78B98D87-87E5-4E3C-B920-26CDF9ACD75B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B3E52E90-5E59-41EF-8FC2-E619EA472F05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5D459ADD-C52C-4849-AA56-AF4AA425CFCB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4EE22722-3E58-4838-B04D-569384F5C74E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EE863154-46D0-4171-A00C-B0FDCEFE2F15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BCCC9D4F-A944-4CD8-8684-8E11FBFD7A41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A93CACDA-08C0-475E-A2BC-9F9FEE38E1E4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E7E4544F-6A34-444D-A4C3-0B60AD761D78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51CD854A-53C3-4303-A4C1-4B97699555B6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95ABC90F-BEED-4ABF-BEFC-28749B280226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2E04AC71-30A1-4782-BB5D-A17FD27479B3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D6CD9A55-C025-43AD-9747-139A8E63F5F2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F59A8BF2-47C4-435F-80C9-FB54A3E53BA5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2CC2BF21-1378-4C4C-9418-3EA90A47FF31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857E4B0F-42EA-41FF-9A5F-57648CE76888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B79ECB50-B5F4-43A1-9787-E60FCED40FEB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F767158C-BB4A-4E0E-BA83-7F19DDA6C4F3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8DE17704-811D-4141-A89B-BB4127FF398D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E14E216A-9044-4F69-83B6-3ADE9D713230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8DD2E50B-2DAA-4933-A0E2-EC7F6B90BA27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F26F40EA-0907-4E24-B681-89306379C56F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7B934785-0D8F-4902-BAB6-07D9A8D5E762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5A4D1636-75A1-4C44-949F-570BE076C85A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BFEF7F50-D70C-43B7-85DE-05ACDF1D10CD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728DA6D0-F511-40F1-A4D5-9489A6E56469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0CB21B15-D4C5-42A4-9724-7C2E0FD3B96F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7D8343F2-69BB-4378-9B32-D368A75E33CE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250D600D-3FFB-4449-9997-50A494D4C54A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BEE80425-82A0-4B30-B3CA-9FFDE192B8EF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4C443CFE-44D2-4D21-AFBD-0CB725258072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0A4D097D-F5CB-42A4-AB87-E9D24A6BDD9A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11DCB0DD-F745-4B93-B338-AA9E94F93716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00EA01FE-8691-4BFE-B669-21A4AA222C0D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BA908E55-0AA6-4ACF-943A-539CCCEF4E42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27B4DCF5-F73A-4160-8ECE-543D576AFB7B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483A90CA-3EE5-4E50-BB89-6AB52AAC88F1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C7F665FD-C340-4687-9821-974016D463A3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82A04D35-900B-4A95-812B-1B53CAF32573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61F87BE2-EEB6-4617-8713-AD14F392ED2A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0FC4E65D-8055-41D7-B7D3-DEF828B135B3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7AC80FE9-9A22-4593-8F9C-C736E7352935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881FEBCF-8A5B-4785-8778-759199BFD0D1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849114E0-8764-4222-A6AD-4C4169C023A2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FC4424FA-0E8D-41B8-BAAF-7A03AF7B5E20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972C9EC3-76D7-4849-93C9-787073A80BD9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81CB5DDE-70FF-47A7-901D-11D145E79D23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7DC7DD59-71D2-4881-9D77-4A762EF59336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030E4DA0-0ED3-4AE8-9317-2E2FA5F5BD43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BD1C5292-3426-4367-BD59-208B8073ED94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4A619F9B-857D-4C71-AA5E-7AFC81A35766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22A8FDE1-836B-40B7-A8D9-1B70306CCB40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8A942E1C-2098-4B3B-AF31-B0CA283DDC30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7C0D4B06-8158-4704-839D-31BA0658AB32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3877E407-A8A7-4C71-8514-C7B1DB8AD6F8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6E4903D5-4152-40BA-91AC-2F65F53A2703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50534619-ACA0-4614-A1AD-035A73E4FC49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2D896249-ACEB-4CC0-8AFA-B53D1F3BC1B1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CA01CE5B-351E-45AE-B24A-07E8520B4FD2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7A101B52-AD58-4DB3-8E74-1255E0DE1C81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3E685F4F-059B-4963-9E9E-1BEAA93BE195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41496A87-2E9B-433A-88A5-73C3AB625E06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21074BC4-F00B-4673-A408-70E70DC40B0B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2C5D16EE-622B-4F84-A921-888A40BCE447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46650009-D83D-4EEF-9F37-A7842831064C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02258FED-8C7A-4B40-BD07-FA99E9DADA64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B0FA7E25-D492-480F-8499-65C437924E55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BD29DCEF-B562-4370-88CC-4D93BDE024B7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8F21D77D-03EF-4125-9457-CA0DCD5F0837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04F44829-FED2-4E7A-9759-84C01C4ADD0B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2E0879A9-3ABD-4C51-88FE-095C20BA41B0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8504A964-E0AF-46BC-BBF4-47C811AC9F0A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BB020F7D-97E6-493D-9F5F-EB0DB36D5267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ED6BB8CA-E479-460E-A47F-10B4989F83AB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C5AF1A3C-F88A-401D-8A78-6E36960D016E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255921D8-32B2-4FE1-A267-D3C0CB01E753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10DF61C5-9CD4-4081-A1FD-A07402F7EB59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A6DE8F50-8A6C-45BB-AD09-807F883A24DC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09A9D880-7C6C-4738-9719-C7C8A5CD45A3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3F7BB5E0-EFF0-475C-A67D-742C585A4517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1898960939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4" name="">
            <a:extLst>
              <a:ext uri="{FF2B5EF4-FFF2-40B4-BE49-F238E27FC236}">
                <ns2:creationId id="{6639E065-3B08-45AC-8C73-161C83FDD78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VS. 47 CNPJS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6EE3086-1985-4F2A-867B-B4F8638357B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729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perfil aceito é comparado por sacado e pela mediana da subordinação atual dentro de cada tipo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EE3BB3D-F7FE-4243-B29F-2C3E76462A9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8B2BEC8-79DB-449C-99A2-313B3C12B75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D22BD5B-72D3-41B4-BC0D-351261C0B98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taxonomia analítica e curadoria documental por CNPJ. N/D permanece ausente.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DAAAFB3-4CA2-425C-B76E-14FEA673DBC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DFDE912-90C1-456E-AD98-A3734E9CCDD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334000" cy="11334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69F23245-37AB-45BF-9793-C11E6762F7A2}"/>
              </a:ext>
            </a:extLst>
          </ns0:cNvPr>
          <ns0:cNvSpPr>
            <a:spLocks noGrp="1"/>
          </ns0:cNvSpPr>
          <ns0:nvPr/>
        </ns0:nvSpPr>
        <ns0:spPr>
          <a:xfrm>
            <a:off x="666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FOMENTO MERCANTIL · FACTORING</a:t>
            </a:r>
          </a:p>
        </ns0:txBody>
      </ns0:sp>
      <ns0:graphicFrame>
        <ns0:nvGraphicFramePr>
          <ns0:cNvPr id="52" name=""/>
          <ns0:cNvGraphicFramePr/>
          <ns0:nvPr/>
        </ns0:nvGraphicFramePr>
        <ns0:xfrm>
          <a:off x="666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CB48CB2-0674-4216-A1E7-9EF6E3561C33}"/>
              </a:ext>
            </a:extLst>
          </ns0:cNvPr>
          <ns0:cNvSpPr>
            <a:spLocks noGrp="1"/>
          </ns0:cNvSpPr>
          <ns0:nvPr/>
        </ns0:nvSpPr>
        <ns0:spPr>
          <a:xfrm>
            <a:off x="666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Multicedente / multisacado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89A16EE-05CC-4BB0-8945-2EBC669DFE07}"/>
              </a:ext>
            </a:extLst>
          </ns0:cNvPr>
          <ns0:cNvSpPr>
            <a:spLocks noGrp="1"/>
          </ns0:cNvSpPr>
          <ns0:nvPr/>
        </ns0:nvSpPr>
        <ns0:spPr>
          <a:xfrm>
            <a:off x="666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6E31888-D104-4702-BCD3-A7EE7BEF2ED6}"/>
              </a:ext>
            </a:extLst>
          </ns0:cNvPr>
          <ns0:cNvSpPr>
            <a:spLocks noGrp="1"/>
          </ns0:cNvSpPr>
          <ns0:nvPr/>
        </ns0:nvSpPr>
        <ns0:spPr>
          <a:xfrm>
            <a:off x="571500" y="2457450"/>
            <a:ext cx="5334000" cy="11334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F9C7F4B-DDAA-4386-8D47-FE41745E2392}"/>
              </a:ext>
            </a:extLst>
          </ns0:cNvPr>
          <ns0:cNvSpPr>
            <a:spLocks noGrp="1"/>
          </ns0:cNvSpPr>
          <ns0:nvPr/>
        </ns0:nvSpPr>
        <ns0:spPr>
          <a:xfrm>
            <a:off x="666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AGRO / REVENDA</a:t>
            </a:r>
          </a:p>
        </ns0:txBody>
      </ns0:sp>
      <ns0:graphicFrame>
        <ns0:nvGraphicFramePr>
          <ns0:cNvPr id="57" name=""/>
          <ns0:cNvGraphicFramePr/>
          <ns0:nvPr/>
        </ns0:nvGraphicFramePr>
        <ns0:xfrm>
          <a:off x="666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34/54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5" name="">
            <a:extLst>
              <a:ext uri="{FF2B5EF4-FFF2-40B4-BE49-F238E27FC236}">
                <ns2:creationId id="{7C1622E2-E8EB-4D53-AA8C-30769A895961}"/>
              </a:ext>
            </a:extLst>
          </ns0:cNvPr>
          <ns0:cNvSpPr>
            <a:spLocks noGrp="1"/>
          </ns0:cNvSpPr>
          <ns0:nvPr/>
        </ns0:nvSpPr>
        <ns0:spPr>
          <a:xfrm>
            <a:off x="666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Sacado corporativo / revenda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9967694-D92A-4BC8-B818-CF67C54BA879}"/>
              </a:ext>
            </a:extLst>
          </ns0:cNvPr>
          <ns0:cNvSpPr>
            <a:spLocks noGrp="1"/>
          </ns0:cNvSpPr>
          <ns0:nvPr/>
        </ns0:nvSpPr>
        <ns0:spPr>
          <a:xfrm>
            <a:off x="666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22E4FD8-F1BC-4F5C-8B35-3A720370C048}"/>
              </a:ext>
            </a:extLst>
          </ns0:cNvPr>
          <ns0:cNvSpPr>
            <a:spLocks noGrp="1"/>
          </ns0:cNvSpPr>
          <ns0:nvPr/>
        </ns0:nvSpPr>
        <ns0:spPr>
          <a:xfrm>
            <a:off x="571500" y="3657600"/>
            <a:ext cx="5334000" cy="11334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13AD7F26-A308-4893-96B7-6553037303B3}"/>
              </a:ext>
            </a:extLst>
          </ns0:cNvPr>
          <ns0:cNvSpPr>
            <a:spLocks noGrp="1"/>
          </ns0:cNvSpPr>
          <ns0:nvPr/>
        </ns0:nvSpPr>
        <ns0:spPr>
          <a:xfrm>
            <a:off x="666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ADQUIRÊNCIA</a:t>
            </a:r>
          </a:p>
        </ns0:txBody>
      </ns0:sp>
      <ns0:graphicFrame>
        <ns0:nvGraphicFramePr>
          <ns0:cNvPr id="62" name=""/>
          <ns0:cNvGraphicFramePr/>
          <ns0:nvPr/>
        </ns0:nvGraphicFramePr>
        <ns0:xfrm>
          <a:off x="666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0" name="">
            <a:extLst>
              <a:ext uri="{FF2B5EF4-FFF2-40B4-BE49-F238E27FC236}">
                <ns2:creationId id="{5F4F4593-4104-4ACF-8546-A101E983C7C5}"/>
              </a:ext>
            </a:extLst>
          </ns0:cNvPr>
          <ns0:cNvSpPr>
            <a:spLocks noGrp="1"/>
          </ns0:cNvSpPr>
          <ns0:nvPr/>
        </ns0:nvSpPr>
        <ns0:spPr>
          <a:xfrm>
            <a:off x="666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Banco emissor e adquirente corporativo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D3ADFD8-8AA2-4DF5-B99C-0FE1F3CE20A0}"/>
              </a:ext>
            </a:extLst>
          </ns0:cNvPr>
          <ns0:cNvSpPr>
            <a:spLocks noGrp="1"/>
          </ns0:cNvSpPr>
          <ns0:nvPr/>
        </ns0:nvSpPr>
        <ns0:spPr>
          <a:xfrm>
            <a:off x="666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Menos risco estrutural · maior subordinação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CD2D431-4B2B-4D46-B80E-0C45E9AEC982}"/>
              </a:ext>
            </a:extLst>
          </ns0:cNvPr>
          <ns0:cNvSpPr>
            <a:spLocks noGrp="1"/>
          </ns0:cNvSpPr>
          <ns0:nvPr/>
        </ns0:nvSpPr>
        <ns0:spPr>
          <a:xfrm>
            <a:off x="571500" y="4857750"/>
            <a:ext cx="5334000" cy="11334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7A254A80-AEC0-4DB4-8A3D-43773653EF42}"/>
              </a:ext>
            </a:extLst>
          </ns0:cNvPr>
          <ns0:cNvSpPr>
            <a:spLocks noGrp="1"/>
          </ns0:cNvSpPr>
          <ns0:nvPr/>
        </ns0:nvSpPr>
        <ns0:spPr>
          <a:xfrm>
            <a:off x="666750" y="49244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INSS</a:t>
            </a:r>
          </a:p>
        </ns0:txBody>
      </ns0:sp>
      <ns0:graphicFrame>
        <ns0:nvGraphicFramePr>
          <ns0:cNvPr id="67" name=""/>
          <ns0:cNvGraphicFramePr/>
          <ns0:nvPr/>
        </ns0:nvGraphicFramePr>
        <ns0:xfrm>
          <a:off x="666750" y="51149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5" name="">
            <a:extLst>
              <a:ext uri="{FF2B5EF4-FFF2-40B4-BE49-F238E27FC236}">
                <ns2:creationId id="{9A96E042-1B62-4B7E-9D8D-B2318CE81EB2}"/>
              </a:ext>
            </a:extLst>
          </ns0:cNvPr>
          <ns0:cNvSpPr>
            <a:spLocks noGrp="1"/>
          </ns0:cNvSpPr>
          <ns0:nvPr/>
        </ns0:nvSpPr>
        <ns0:spPr>
          <a:xfrm>
            <a:off x="666750" y="56673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Crédito consignado INSS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83A6883-A0B9-411D-802E-5436580D8784}"/>
              </a:ext>
            </a:extLst>
          </ns0:cNvPr>
          <ns0:cNvSpPr>
            <a:spLocks noGrp="1"/>
          </ns0:cNvSpPr>
          <ns0:nvPr/>
        </ns0:nvSpPr>
        <ns0:spPr>
          <a:xfrm>
            <a:off x="666750" y="58197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00A1208-F15B-4B5D-A182-1B1AB19B73D9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334000" cy="11334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244D1599-FC00-43E6-A21B-97473028EE45}"/>
              </a:ext>
            </a:extLst>
          </ns0:cNvPr>
          <ns0:cNvSpPr>
            <a:spLocks noGrp="1"/>
          </ns0:cNvSpPr>
          <ns0:nvPr/>
        </ns0:nvSpPr>
        <ns0:spPr>
          <a:xfrm>
            <a:off x="6381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FGTS</a:t>
            </a:r>
          </a:p>
        </ns0:txBody>
      </ns0:sp>
      <ns0:graphicFrame>
        <ns0:nvGraphicFramePr>
          <ns0:cNvPr id="72" name=""/>
          <ns0:cNvGraphicFramePr/>
          <ns0:nvPr/>
        </ns0:nvGraphicFramePr>
        <ns0:xfrm>
          <a:off x="6381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0" name="">
            <a:extLst>
              <a:ext uri="{FF2B5EF4-FFF2-40B4-BE49-F238E27FC236}">
                <ns2:creationId id="{1FA3AD8E-FF19-47B7-8855-C8A218838B22}"/>
              </a:ext>
            </a:extLst>
          </ns0:cNvPr>
          <ns0:cNvSpPr>
            <a:spLocks noGrp="1"/>
          </ns0:cNvSpPr>
          <ns0:nvPr/>
        </ns0:nvSpPr>
        <ns0:spPr>
          <a:xfrm>
            <a:off x="6381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Antecipação de saque FGTS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C1E58B66-B774-4C65-8AF7-57A91899F2D7}"/>
              </a:ext>
            </a:extLst>
          </ns0:cNvPr>
          <ns0:cNvSpPr>
            <a:spLocks noGrp="1"/>
          </ns0:cNvSpPr>
          <ns0:nvPr/>
        </ns0:nvSpPr>
        <ns0:spPr>
          <a:xfrm>
            <a:off x="6381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12B9B1B1-DE17-472A-B244-1052AD4C66A4}"/>
              </a:ext>
            </a:extLst>
          </ns0:cNvPr>
          <ns0:cNvSpPr>
            <a:spLocks noGrp="1"/>
          </ns0:cNvSpPr>
          <ns0:nvPr/>
        </ns0:nvSpPr>
        <ns0:spPr>
          <a:xfrm>
            <a:off x="6286500" y="2457450"/>
            <a:ext cx="5334000" cy="11334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3C324D46-F151-48D6-A096-C3364A51C41A}"/>
              </a:ext>
            </a:extLst>
          </ns0:cNvPr>
          <ns0:cNvSpPr>
            <a:spLocks noGrp="1"/>
          </ns0:cNvSpPr>
          <ns0:nvPr/>
        </ns0:nvSpPr>
        <ns0:spPr>
          <a:xfrm>
            <a:off x="6381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VEÍCULOS</a:t>
            </a:r>
          </a:p>
        </ns0:txBody>
      </ns0:sp>
      <ns0:graphicFrame>
        <ns0:nvGraphicFramePr>
          <ns0:cNvPr id="77" name=""/>
          <ns0:cNvGraphicFramePr/>
          <ns0:nvPr/>
        </ns0:nvGraphicFramePr>
        <ns0:xfrm>
          <a:off x="6381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5" name="">
            <a:extLst>
              <a:ext uri="{FF2B5EF4-FFF2-40B4-BE49-F238E27FC236}">
                <ns2:creationId id="{11ABA162-ADFE-4667-B76E-CAD27B7BD965}"/>
              </a:ext>
            </a:extLst>
          </ns0:cNvPr>
          <ns0:cNvSpPr>
            <a:spLocks noGrp="1"/>
          </ns0:cNvSpPr>
          <ns0:nvPr/>
        </ns0:nvSpPr>
        <ns0:spPr>
          <a:xfrm>
            <a:off x="6381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Devedor PF do crédito de veículo (FIDC BV)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EA0B2917-DFB5-4FE0-AEAC-E5CD4DBB382D}"/>
              </a:ext>
            </a:extLst>
          </ns0:cNvPr>
          <ns0:cNvSpPr>
            <a:spLocks noGrp="1"/>
          </ns0:cNvSpPr>
          <ns0:nvPr/>
        </ns0:nvSpPr>
        <ns0:spPr>
          <a:xfrm>
            <a:off x="6381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4150A37A-D184-44B2-97B4-069F091153BB}"/>
              </a:ext>
            </a:extLst>
          </ns0:cNvPr>
          <ns0:cNvSpPr>
            <a:spLocks noGrp="1"/>
          </ns0:cNvSpPr>
          <ns0:nvPr/>
        </ns0:nvSpPr>
        <ns0:spPr>
          <a:xfrm>
            <a:off x="6286500" y="3657600"/>
            <a:ext cx="5334000" cy="11334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49BB45B6-4936-4ED7-A3E7-E1B94ABC482F}"/>
              </a:ext>
            </a:extLst>
          </ns0:cNvPr>
          <ns0:cNvSpPr>
            <a:spLocks noGrp="1"/>
          </ns0:cNvSpPr>
          <ns0:nvPr/>
        </ns0:nvSpPr>
        <ns0:spPr>
          <a:xfrm>
            <a:off x="6381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FINANCEIRO</a:t>
            </a:r>
          </a:p>
        </ns0:txBody>
      </ns0:sp>
      <ns0:graphicFrame>
        <ns0:nvGraphicFramePr>
          <ns0:cNvPr id="82" name=""/>
          <ns0:cNvGraphicFramePr/>
          <ns0:nvPr/>
        </ns0:nvGraphicFramePr>
        <ns0:xfrm>
          <a:off x="6381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18/23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40" name="">
            <a:extLst>
              <a:ext uri="{FF2B5EF4-FFF2-40B4-BE49-F238E27FC236}">
                <ns2:creationId id="{5EF7C46D-0F4A-4A3B-9785-0CE1D8284FE6}"/>
              </a:ext>
            </a:extLst>
          </ns0:cNvPr>
          <ns0:cNvSpPr>
            <a:spLocks noGrp="1"/>
          </ns0:cNvSpPr>
          <ns0:nvPr/>
        </ns0:nvSpPr>
        <ns0:spPr>
          <a:xfrm>
            <a:off x="6381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Demais riscos PF/PJ e multicarteira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806146F7-D9B3-429C-BA09-5457243B68F9}"/>
              </a:ext>
            </a:extLst>
          </ns0:cNvPr>
          <ns0:cNvSpPr>
            <a:spLocks noGrp="1"/>
          </ns0:cNvSpPr>
          <ns0:nvPr/>
        </ns0:nvSpPr>
        <ns0:spPr>
          <a:xfrm>
            <a:off x="6381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B3C14E52-3BE9-4357-82E5-D3566E6EE609}"/>
              </a:ext>
            </a:extLst>
          </ns0:cNvPr>
          <ns0:cNvSpPr>
            <a:spLocks noGrp="1"/>
          </ns0:cNvSpPr>
          <ns0:nvPr/>
        </ns0:nvSpPr>
        <ns0:spPr>
          <a:xfrm>
            <a:off x="6286500" y="4962525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100/101 CNPJs da Carteira I classificados; 1 fora do perímetro FIDC. A comparação mede proteção estrutural, com tolerância de ±2 p.p.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37E987F4-6B35-4AD9-B414-FB8755C14C38}"/>
              </a:ext>
            </a:extLst>
          </ns0:cNvPr>
          <ns0:cNvSpPr>
            <a:spLocks noGrp="1"/>
          </ns0:cNvSpPr>
          <ns0:nvPr/>
        </ns0:nvSpPr>
        <ns0:spPr>
          <a:xfrm>
            <a:off x="6286500" y="5457825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Risco estrutural compara a mediana da subordinação atual por tipo. Diferenças acima de 2 p.p. indicam maior ou menor proteção; dentro de ±2 p.p. ficam em linha. A leitura não substitui análise de lastro, sacado, garantias, liquidez ou gatilhos.</a:t>
            </a:r>
          </a:p>
        </ns0:txBody>
      </ns0:sp>
    </ns0:spTree>
    <ns0:extLst>
      <ns0:ext uri="{BB962C8B-B14F-4D97-AF65-F5344CB8AC3E}">
        <ns3:creationId val="2046466534"/>
      </ns0:ext>
    </ns0:extLst>
  </ns0:cSld>
</ns0:sld>
</file>

<file path=ppt/slides/slide1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D6D3CCF-468B-4B9E-8F46-3ACAE251260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· TAXONOMIA ANALÍTICA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15D3CA-F4C2-424C-B728-589C67652C8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0044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PL observado chegou a R$ 55,3 bi; composição e crescimento usam o mesmo critério reclassificado do mercado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BE6F08E-B5EF-4A2B-ADD0-F8A0D9DDE2B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9B0A475-7E08-421A-B625-952912A245A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C4613BF-51C4-44BE-82B6-3DE9E93FB1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FIDC, e ledger aprovado. 60 CNPJs observados em dez/23 e 78 em jun/26; ausências não recebem PL imputado.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526A350-C0CD-4818-8A3A-5BF65417654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D444DB8-236F-489B-A816-790336C89B0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EVOLUÇÃO DO PL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B62D290-8675-4959-A3F9-65DDDB32D26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5a4a749ada4e468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EAB6C6F-24B5-4CB4-9A92-C6F60B67101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OBSERVADO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6C04846-C45E-4E5D-986C-16AB1CB421CB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bf86bf93fe744fb8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00250" y="5181600"/>
          <a:ext cx="8191500" cy="247650"/>
        </ns0:xfrm>
        <a:graphic>
          <a:graphicData uri="http://schemas.openxmlformats.org/drawingml/2006/chart">
            <c:chart ns4:id="Rf3659527ea62489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93AEDCE-2E9F-416A-8089-F85B4BADC9DB}"/>
              </a:ext>
            </a:extLst>
          </ns0:cNvPr>
          <ns0:cNvSpPr>
            <a:spLocks noGrp="1"/>
          </ns0:cNvSpPr>
          <ns0:nvPr/>
        </ns0:nvSpPr>
        <ns0:spPr>
          <a:xfrm>
            <a:off x="571500" y="55340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DEZ/23 → JUN/26 · Fomento Mercantil: carteira +179,9% · mercado +71,1%   |   Agro/Ind./Com.: carteira +67,8% · mercado +73,6%   |   Financeiro: carteira +98,3% · mercado +108,1%   |   Outros: carteira N/D · mercado +59,5%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D0DF4DE-7418-4830-A132-33C509D93721}"/>
              </a:ext>
            </a:extLst>
          </ns0:cNvPr>
          <ns0:cNvSpPr>
            <a:spLocks noGrp="1"/>
          </ns0:cNvSpPr>
          <ns0:nvPr/>
        </ns0:nvSpPr>
        <ns0:spPr>
          <a:xfrm>
            <a:off x="666750" y="588645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CNPJs salvos da Carteira 1, ex-FIC, com classificação analítica aprovada retroaplicada às competências observadas. CNPJ ausente em uma competência permanece ausente e não recebe PL imputado. O mercado usa o mesmo Tipo ANBIMA reclassificado e o denominador ex-FIC.</a:t>
            </a:r>
          </a:p>
        </ns0:txBody>
      </ns0:sp>
    </ns0:spTree>
    <ns0:extLst>
      <ns0:ext uri="{BB962C8B-B14F-4D97-AF65-F5344CB8AC3E}">
        <ns5:creationId val="1138114512"/>
      </ns0:ext>
    </ns0:extLst>
  </ns0:cSld>
</ns0:sld>
</file>

<file path=ppt/slides/slide1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0FCF4263-8F6F-4F89-AC1B-707B87E6E31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C51687B-6EB8-49DD-8748-5B3A2CE4CDD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CD2CB1-0F78-4562-A255-4ADAC68AB7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728952D-DBB2-4F6B-8C9E-1408F2503FA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5D5543D-5F74-4EA3-A9F2-5B778C206FE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5284F2-5BC2-486F-8A7B-5F3F4C25E0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22E9F50-5DA8-4CFE-B9FE-A835C91A78F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466857B-96C7-4B49-8781-0B0D2925E0E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43537eacd3d9406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5A946DC-80A6-4A4B-8742-17626250C014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C2F7858-7B04-491B-941E-25349AC4AE36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707b8c717d474cbe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b5e1a771ea946f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04CA6E4-19A3-4EF0-B900-F4851AA0F2F4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4F7336C2-17B4-4F11-A30F-FBF598E06F0D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752515696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1D284416-1C1C-484E-8687-96BBE9D003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1DAD922-72D5-4E5D-A15A-A92AAE90CBD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F2694DB-4A18-42EA-8635-76BE01F643A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2CD74A5-02CF-417C-A3A5-7F1BB89BD90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DD9FC71-6236-4673-A208-DAF0BBF5BB2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87CFF40-5FF4-436B-90A8-76252A344BD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7CC610B-1C78-43F4-9AAB-21AFE69735DA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BCA486-E965-4FA2-BE0D-EF234A4CB8A9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b178a8689f934d6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67E5008-647C-44B4-9618-3430DE805C98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D0ACF7F-FDD2-459F-B855-B7F918D18856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b292731ca0834ed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3BBD3F24-B0A7-42DF-B887-C703B2881A6D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1EE374F-76E9-4854-879F-11EEF056A24A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2ddf2ba58c184c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140ef5cb439e4556"/>
          </a:graphicData>
        </a:graphic>
      </ns0:graphicFrame>
      <ns0:sp>
        <ns0:nvSpPr>
          <ns0:cNvPr id="17" name="">
            <a:extLst>
              <a:ext uri="{FF2B5EF4-FFF2-40B4-BE49-F238E27FC236}">
                <ns2:creationId id="{892C674C-6DEA-4CB4-80EA-C4D984A62E79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6DA2FE6-7311-443B-BB1E-C61FB72F0F82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EA858E5-E3BA-4992-BE81-0E4C27FEA466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A584E37-1C3C-4ED4-8B83-DCFEC1900A70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9DCBBC27-FEFD-4C9B-AADA-910954DCE56E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EA53C9A-9B9F-402A-A5E9-17BF0C91CE8F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2440577-C997-4726-8D55-603F932F4F64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1D159C59-CB2B-4312-8B69-1F29300A384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3AEE06EA-A27E-46FA-BBE6-7C91A4289F9F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863973560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26889724-C447-4636-A3F5-A54C75943E3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AC175A-6EAB-4B07-91AB-7870C271C6D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1DCC5DA-D412-4C03-B170-8203F6B1119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94FEE65-D951-4829-BB69-DC3E4D58DB1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BD246F-B602-4CBB-9095-5A35957DD5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91DA612-A364-44E2-A7CC-0AC92EF222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38BE74-9E15-4C29-86CC-F0910008AE1C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AC0399E-058C-4546-8E84-B7637CE66991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7a389a9f98674c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E5BD556-8FC0-4012-833E-C3DE0B3ACA7D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A8DE98A-AE02-4A36-BC24-BB60CD5E86F8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b573eb7d2de74a15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b076829a1ae448b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1642263-633F-47DD-83FA-9955C23869EC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7DB038D-1333-4F66-8FA4-A9E5352DD1AD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4C27EB6-75BC-47EE-AA75-3839C781A18C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5f05abd41d5f42f4"/>
          </a:graphicData>
        </a:graphic>
      </ns0:graphicFrame>
      <ns0:sp>
        <ns0:nvSpPr>
          <ns0:cNvPr id="18" name="">
            <a:extLst>
              <a:ext uri="{FF2B5EF4-FFF2-40B4-BE49-F238E27FC236}">
                <ns2:creationId id="{E391D2A5-B29A-480A-86A9-12CD5F9C3BD4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A201CCD-29EE-4BD4-9485-279B0BC12206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24dbd0645a934a47"/>
          </a:graphicData>
        </a:graphic>
      </ns0:graphicFrame>
    </ns0:spTree>
    <ns0:extLst>
      <ns0:ext uri="{BB962C8B-B14F-4D97-AF65-F5344CB8AC3E}">
        <ns5:creationId val="104823603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7F331FA-FADF-4888-9519-658F5A4603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F764CE-1E6D-407E-8474-7ACED2E92E9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B4C1B4A-97B5-4AB6-86F8-D10C3583754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5198F7A-629A-4F4E-92BA-6921857BA52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260B0B-7AF0-4FFC-9381-839643A61B9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BDC0CF3-4315-47A8-B639-1870CC95B5D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4D84466-8148-455A-B4BC-DE30CCEF5D22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86C9C95-52AE-4CC4-AAC7-401CECE59C97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24947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22244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62.588.266/0001-54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25826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65.976.848/0001-04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24712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63.572.282/0001-11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25379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63.546.406/0001-94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1,5% inicial;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26277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65.839.682/0001-76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23614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63.733.796/0001-01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ICred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24212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64.118.207/0001-48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24371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62.393.829/0001-59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Fornecedores de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25708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24266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63.505.455/0001-89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26532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66.226.355/0001-01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23529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61.669.748/0001-76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Lavoro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23032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44.302.112/0001-72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Bayer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68EE6DE-1199-4FA3-8258-61F4573BB45E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A8E01D3-817B-42C6-AD3F-0FC5F5583827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17862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20185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60.356.171/0001-80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23734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63.662.224/0001-89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Santander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20351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60.528.786/0001-46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19640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59.356.753/0001-87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56.924.942/0001-10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aplicável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18230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20694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21550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60.598.366/0001-36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22987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63.321.684/0001-43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19298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58.349.979/0001-98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21006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61.188.091/0001-25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61.271.872/0001-89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21208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17.250.006/0001-10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EAD975E0-0CCB-4E8B-9EFD-C7E1A60D9F5C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3B1191B-D566-4CD2-B0C6-3FC87ECB6B51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85E20B1-C7D8-4571-8FE8-94179C3A07B6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CNPJ e emissão formam a chave de cada linha; N/D indica lacuna documental.</a:t>
            </a:r>
          </a:p>
        </ns0:txBody>
      </ns0:sp>
    </ns0:spTree>
    <ns0:extLst>
      <ns0:ext uri="{BB962C8B-B14F-4D97-AF65-F5344CB8AC3E}">
        <ns3:creationId val="94480481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24A80A5-4161-4D26-AE2C-E4A0CCBCE4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4994CC-F237-460D-8725-19E1CC11D52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campos documentais por CNPJ e emissão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CBB84EB-0FF7-4FEE-ABE1-9D4744883CE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4365AA0-CD75-4130-ACF0-DEB1976654B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1CC7F9B-1D0E-481F-8326-451565B46DC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A826055-D1DE-4C69-81B8-848390724B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5A059D-30EF-4724-B2AE-AB8D7FF6E95C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817FAAD-DEE9-4853-B535-D93FBCAEB35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57.532.556/0001-46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15612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54.979.779/0001-68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3794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32.321.307/0001-80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4203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52.256.912/0001-22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17739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57.609.282/0001-46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15753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54.810.968/0001-02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18270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46.450.551/0001-58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D365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16416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55.471.753/0001-77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33,3%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18027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3687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46.073.195/0001-09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18122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57.028.406/0001-08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14966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54.218.673/0001-41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15820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55.070.804/0001-59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6A72800-1088-4F7D-B131-393106BA77A8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8598B0D-3B5A-4FD4-B5CB-6B5BB25F5C2C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3412E8E-9794-4C27-AAC8-0FA0A2B0932E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3483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51.983.832/0001-06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816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48.905.593/0001-61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3468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52.720.932/0001-02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1744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2925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51.957.370/0001-52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578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49.306.883/0001-51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3491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47.936.340/0001-92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3865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34.850.088/0001-52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49.920.525/0001-34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2004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50.098.465/0001-03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1131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24.761.946/0001-39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3138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50.988.212/0001-05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1519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50.440.392/0001-88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35.159.296/0001-72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5FB39DE1-B437-43F4-9DC4-C0A90503BA68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7085A6A-A0A4-400C-9613-B3E49C297049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Cada linha usa CNPJ e emissão como chave; lacuna documental permanece N/D.</a:t>
            </a:r>
          </a:p>
        </ns0:txBody>
      </ns0:sp>
    </ns0:spTree>
    <ns0:extLst>
      <ns0:ext uri="{BB962C8B-B14F-4D97-AF65-F5344CB8AC3E}">
        <ns3:creationId val="1651705795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5DCE6A40-CA01-4FBD-A8C5-3316ACCA3FE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246273-89B3-4F81-AC4D-FB541280DB3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7E64404-F673-4B57-9758-A8780963067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6F5D938-6F1E-45FC-A10E-0B6CB15C682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9F5F71A-547F-4E1F-8A3C-62534235D59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642B1D-2624-4267-9132-7FC199981BD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797BBE-5D15-48C7-ADCA-E4C012E841C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D809710-FD9E-4351-8BA8-7FE7AA4268DF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C3E65AB-1D72-48C9-81FE-11E5B567A186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2114EF61-88DB-4C30-915D-AC1FD437D2B7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B24DAD0-3E77-485C-9D97-6D1D570BE1D4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FF2C88E-2B19-43DB-AC8C-EFB3833E3E68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BA4CF412-6227-4521-BE34-3FC09771D11E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787188B-BD9C-48F5-81F9-4BEF92E27044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6A55354-A377-47FC-A1CE-DA59DCA8E7EA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470D3DEB-BFB8-4F5B-AE68-F7FC0E1A1775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14F528B-3986-4A3D-8393-7E58663E4B7F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162557-F66A-4BD5-8376-1A96202DA58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87B48FA2-BBD1-4952-9AD8-BA4ED6A41EAF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EE2E102-0349-4380-9A4C-80312ECAEA85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4222CEB-DD98-449B-A14A-8C11F60835E1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51807AF0-CAF3-4DF5-B28F-C0EE356BDA54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053CCFC-5A49-4A3E-932B-24DB32BF883C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CF66E7E4-8FA3-4A8A-911E-9D693405FF88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A0B8199F-50C5-4F3A-B056-0947A2915051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1490F4A5-B71B-45C0-8F62-341D4A22A438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291328F3-CDAB-4001-9BE1-06FCE006143B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091683405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205E0D2-948F-4F9A-9110-95442216115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E954DBA-94A5-459D-8C80-A738526FD9A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C818E7-D530-4432-B24D-40ACA39A472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EC63B80-0206-40ED-8F32-89BBD071593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8487DD9-84FA-4680-91F4-1D0A1BFBDD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38D5FE-A5E6-4AE3-B011-F42B17FFCF5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93364caf50ec4cf9"/>
          </a:graphicData>
        </a:graphic>
      </ns0:graphicFrame>
      <ns0:sp>
        <ns0:nvSpPr>
          <ns0:cNvPr id="8" name="">
            <a:extLst>
              <a:ext uri="{FF2B5EF4-FFF2-40B4-BE49-F238E27FC236}">
                <ns2:creationId id="{DFCEC4BF-C26D-4B44-9888-085AF8AAB061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C7DF72B-9296-4ED9-ABB7-146A77196080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4379764C-784A-4108-A04C-2D0CD071A8DD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6139c81550664e59"/>
          </a:graphicData>
        </a:graphic>
      </ns0:graphicFrame>
      <ns0:sp>
        <ns0:nvSpPr>
          <ns0:cNvPr id="12" name="">
            <a:extLst>
              <a:ext uri="{FF2B5EF4-FFF2-40B4-BE49-F238E27FC236}">
                <ns2:creationId id="{58D43651-EFD2-4C22-B864-92EFC2471929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93524e1fb4947f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5282A32-97F1-4C65-B742-A89466B0C17D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060d209fc5b045ee"/>
          </a:graphicData>
        </a:graphic>
      </ns0:graphicFrame>
      <ns0:sp>
        <ns0:nvSpPr>
          <ns0:cNvPr id="16" name="">
            <a:extLst>
              <a:ext uri="{FF2B5EF4-FFF2-40B4-BE49-F238E27FC236}">
                <ns2:creationId id="{14E20ECD-0D43-49B6-B0BB-5B561CFDAB98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3719525bd4d40ab"/>
          </a:graphicData>
        </a:graphic>
      </ns0:graphicFrame>
      <ns0:sp>
        <ns0:nvSpPr>
          <ns0:cNvPr id="18" name="">
            <a:extLst>
              <a:ext uri="{FF2B5EF4-FFF2-40B4-BE49-F238E27FC236}">
                <ns2:creationId id="{902F9E91-4D05-4CA3-A948-D7EBB10EEEB6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15e76949848a48ed"/>
          </a:graphicData>
        </a:graphic>
      </ns0:graphicFrame>
      <ns0:sp>
        <ns0:nvSpPr>
          <ns0:cNvPr id="20" name="">
            <a:extLst>
              <a:ext uri="{FF2B5EF4-FFF2-40B4-BE49-F238E27FC236}">
                <ns2:creationId id="{31B60832-A596-471D-928B-8AE2D0D9AF1E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8d44bc89de48470c"/>
          </a:graphicData>
        </a:graphic>
      </ns0:graphicFrame>
    </ns0:spTree>
    <ns0:extLst>
      <ns0:ext uri="{BB962C8B-B14F-4D97-AF65-F5344CB8AC3E}">
        <ns5:creationId val="1052609595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832B83EB-7155-41F5-B33B-AA72237F791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E0CACC5-9BC5-4E58-BF83-FD417F1BC3C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CB4D7B5-70EF-4918-8BF4-B3EC0F6F354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F627166-9E50-442C-8E8D-11B1D2AF7AB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513B2FA-7BC2-49B5-9525-BF8F8402B20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11CD68F-9B66-4D41-82B3-A2C9776250E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A6E712-FB9A-4369-A434-94DBD8CD2365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81C4CB3-E25E-4FD0-8F25-3F3868537F53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91ad7c79f0e546c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9027C86-0ADB-4614-B2BD-053669518070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3E3B368-4625-4A9E-ADAF-DE8ED9B2F327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FE808E6-EF76-4487-8D50-C114FAC15A4D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91708EE-89E2-4D49-A584-49398FE08327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e70639ee85de4668"/>
          </a:graphicData>
        </a:graphic>
      </ns0:graphicFrame>
      <ns0:sp>
        <ns0:nvSpPr>
          <ns0:cNvPr id="15" name="">
            <a:extLst>
              <a:ext uri="{FF2B5EF4-FFF2-40B4-BE49-F238E27FC236}">
                <ns2:creationId id="{6C93AB0F-0453-4730-8CC6-FD646EC1B995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878024D-891E-4FC2-B826-8C80AB3FA5AD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01A0F0-FC46-4967-8F13-903322D02773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454536137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37BE6A35-9C4E-4DE4-B50F-3A1798BC88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D004248-E2B8-4CA9-9074-A4AF8D6FE8F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8606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F03F1ED-F090-4BEA-8794-D17A2C23E13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AB1523F-32D1-4CCB-8C63-19EDB85665E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35E050-4EDC-49C6-B08F-5CF9A4F4DB7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E4B3D43-51F9-4E46-9C8C-3BE3CC0A281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0B67236-5C43-42C1-901F-01F6867299DA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1BB2F55-93FC-41F5-89E6-4E128C5D0348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fbc11775c9a5475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1F12E33-3A70-422B-A9A1-D449FF848E36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C490F3F-26FA-42AE-B7F2-5179E4EEB0E8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3cc32eb7a1d8416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21F8AE8-09E8-4EDE-8F34-14272F9CB2B9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6A973B7-5823-44F6-8EE9-E986939FF5F8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8780fd343b774777"/>
          </a:graphicData>
        </a:graphic>
      </ns0:graphicFrame>
      <ns0:sp>
        <ns0:nvSpPr>
          <ns0:cNvPr id="16" name="">
            <a:extLst>
              <a:ext uri="{FF2B5EF4-FFF2-40B4-BE49-F238E27FC236}">
                <ns2:creationId id="{0583CFD8-87DE-4CA1-B15E-4DBAAE03B04E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309545583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0E89E862-07DA-4CEC-A0F6-41314D091E3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E90CD6-F340-4870-AA82-A46A5BDF67A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D580BA-93B6-48BC-A305-17673154025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7A34590-3BFD-4169-BBEF-D99BDDD3F16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6102824-44BA-4DB3-BE45-72AE507B6BA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016A417-48CF-47B9-8BDA-74BFB2B42A4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bfb20646a50c45f1"/>
          </a:graphicData>
        </a:graphic>
      </ns0:graphicFrame>
      <ns0:sp>
        <ns0:nvSpPr>
          <ns0:cNvPr id="8" name="">
            <a:extLst>
              <a:ext uri="{FF2B5EF4-FFF2-40B4-BE49-F238E27FC236}">
                <ns2:creationId id="{0280955E-2A55-4B99-B8A3-120A00B77983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8A157DB-D062-4A39-8262-22409985B2BB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0128d59457ac423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0B79200B-31B6-485A-8072-DC9FFF0DDF89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9DD75C8-5165-45DF-9F44-2ABF4CF2213B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0547d120b205452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9320344-1C25-41A6-8C25-F982CEED65D1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4F7ECD8-A22E-46D4-B7C5-B286CB8099A3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4d3f9a6ed39b45ff"/>
          </a:graphicData>
        </a:graphic>
      </ns0:graphicFrame>
      <ns0:sp>
        <ns0:nvSpPr>
          <ns0:cNvPr id="17" name="">
            <a:extLst>
              <a:ext uri="{FF2B5EF4-FFF2-40B4-BE49-F238E27FC236}">
                <ns2:creationId id="{A38EB002-D4D8-4AC5-9123-1D0C39E65320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B890078-4FEE-4393-87D0-2FD4FF48BB0B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7F8457B-4FEF-42D9-9C77-51217EE784D6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0b846c8358dc40f1"/>
          </a:graphicData>
        </a:graphic>
      </ns0:graphicFrame>
      <ns0:sp>
        <ns0:nvSpPr>
          <ns0:cNvPr id="21" name="">
            <a:extLst>
              <a:ext uri="{FF2B5EF4-FFF2-40B4-BE49-F238E27FC236}">
                <ns2:creationId id="{5B71D933-4088-48D1-A3D7-F135A35A6947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6AEB307-641C-4661-84CA-1481830EC075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919997310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2026-08-01T02:56:03.9520000Z</dcterms:created>
  <dcterms:modified xsi:type="dcterms:W3CDTF">2026-08-01T02:56:03.9520000Z</dcterms:modified>
</coreProperties>
</file>